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5" r:id="rId1"/>
  </p:sldMasterIdLst>
  <p:notesMasterIdLst>
    <p:notesMasterId r:id="rId54"/>
  </p:notesMasterIdLst>
  <p:handoutMasterIdLst>
    <p:handoutMasterId r:id="rId55"/>
  </p:handoutMasterIdLst>
  <p:sldIdLst>
    <p:sldId id="479" r:id="rId2"/>
    <p:sldId id="553" r:id="rId3"/>
    <p:sldId id="630" r:id="rId4"/>
    <p:sldId id="690" r:id="rId5"/>
    <p:sldId id="691" r:id="rId6"/>
    <p:sldId id="647" r:id="rId7"/>
    <p:sldId id="692" r:id="rId8"/>
    <p:sldId id="669" r:id="rId9"/>
    <p:sldId id="694" r:id="rId10"/>
    <p:sldId id="696" r:id="rId11"/>
    <p:sldId id="695" r:id="rId12"/>
    <p:sldId id="671" r:id="rId13"/>
    <p:sldId id="698" r:id="rId14"/>
    <p:sldId id="697" r:id="rId15"/>
    <p:sldId id="667" r:id="rId16"/>
    <p:sldId id="674" r:id="rId17"/>
    <p:sldId id="672" r:id="rId18"/>
    <p:sldId id="676" r:id="rId19"/>
    <p:sldId id="673" r:id="rId20"/>
    <p:sldId id="675" r:id="rId21"/>
    <p:sldId id="635" r:id="rId22"/>
    <p:sldId id="699" r:id="rId23"/>
    <p:sldId id="649" r:id="rId24"/>
    <p:sldId id="653" r:id="rId25"/>
    <p:sldId id="677" r:id="rId26"/>
    <p:sldId id="678" r:id="rId27"/>
    <p:sldId id="581" r:id="rId28"/>
    <p:sldId id="681" r:id="rId29"/>
    <p:sldId id="700" r:id="rId30"/>
    <p:sldId id="679" r:id="rId31"/>
    <p:sldId id="632" r:id="rId32"/>
    <p:sldId id="634" r:id="rId33"/>
    <p:sldId id="652" r:id="rId34"/>
    <p:sldId id="633" r:id="rId35"/>
    <p:sldId id="702" r:id="rId36"/>
    <p:sldId id="701" r:id="rId37"/>
    <p:sldId id="703" r:id="rId38"/>
    <p:sldId id="680" r:id="rId39"/>
    <p:sldId id="625" r:id="rId40"/>
    <p:sldId id="650" r:id="rId41"/>
    <p:sldId id="631" r:id="rId42"/>
    <p:sldId id="704" r:id="rId43"/>
    <p:sldId id="654" r:id="rId44"/>
    <p:sldId id="683" r:id="rId45"/>
    <p:sldId id="656" r:id="rId46"/>
    <p:sldId id="658" r:id="rId47"/>
    <p:sldId id="684" r:id="rId48"/>
    <p:sldId id="689" r:id="rId49"/>
    <p:sldId id="687" r:id="rId50"/>
    <p:sldId id="685" r:id="rId51"/>
    <p:sldId id="686" r:id="rId52"/>
    <p:sldId id="688"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9E4"/>
    <a:srgbClr val="9E0000"/>
    <a:srgbClr val="FDD5D5"/>
    <a:srgbClr val="640E00"/>
    <a:srgbClr val="FED5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37" autoAdjust="0"/>
    <p:restoredTop sz="95657" autoAdjust="0"/>
  </p:normalViewPr>
  <p:slideViewPr>
    <p:cSldViewPr snapToGrid="0">
      <p:cViewPr varScale="1">
        <p:scale>
          <a:sx n="92" d="100"/>
          <a:sy n="92" d="100"/>
        </p:scale>
        <p:origin x="1392"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FED03B-8713-423C-851D-50A6C1177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EEF400-8678-4702-8C69-AC0124F656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88B7A2-AE07-4777-BD5F-9EA6CD7E243A}" type="datetimeFigureOut">
              <a:rPr lang="en-US" smtClean="0"/>
              <a:t>3/13/2025</a:t>
            </a:fld>
            <a:endParaRPr lang="en-US"/>
          </a:p>
        </p:txBody>
      </p:sp>
      <p:sp>
        <p:nvSpPr>
          <p:cNvPr id="4" name="Footer Placeholder 3">
            <a:extLst>
              <a:ext uri="{FF2B5EF4-FFF2-40B4-BE49-F238E27FC236}">
                <a16:creationId xmlns:a16="http://schemas.microsoft.com/office/drawing/2014/main" id="{AE16B06D-7168-4094-AAF2-34BDECE207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2B5E041-D031-4590-9BD2-066A45256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F77D9D-0B32-498F-BF2A-3621F9DDCD43}" type="slidenum">
              <a:rPr lang="en-US" smtClean="0"/>
              <a:t>‹#›</a:t>
            </a:fld>
            <a:endParaRPr lang="en-US"/>
          </a:p>
        </p:txBody>
      </p:sp>
    </p:spTree>
    <p:extLst>
      <p:ext uri="{BB962C8B-B14F-4D97-AF65-F5344CB8AC3E}">
        <p14:creationId xmlns:p14="http://schemas.microsoft.com/office/powerpoint/2010/main" val="349961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AF2513-D640-4369-B0B6-06CC860D0AC5}" type="datetimeFigureOut">
              <a:rPr lang="en-US" smtClean="0"/>
              <a:t>3/13/2025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D961B-05A6-47CD-9654-EAA20B766657}" type="slidenum">
              <a:rPr lang="en-US" smtClean="0"/>
              <a:t>‹#›</a:t>
            </a:fld>
            <a:endParaRPr lang="en-US"/>
          </a:p>
        </p:txBody>
      </p:sp>
    </p:spTree>
    <p:extLst>
      <p:ext uri="{BB962C8B-B14F-4D97-AF65-F5344CB8AC3E}">
        <p14:creationId xmlns:p14="http://schemas.microsoft.com/office/powerpoint/2010/main" val="230595508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88984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4642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kern="1200" dirty="0">
                <a:solidFill>
                  <a:schemeClr val="tx1"/>
                </a:solidFill>
                <a:effectLst/>
                <a:latin typeface="+mn-lt"/>
                <a:ea typeface="+mn-ea"/>
                <a:cs typeface="+mn-cs"/>
              </a:rPr>
              <a:t>1638</a:t>
            </a:r>
            <a:r>
              <a:rPr lang="zh-CN" altLang="en-US" kern="1200" dirty="0">
                <a:solidFill>
                  <a:schemeClr val="tx1"/>
                </a:solidFill>
                <a:effectLst/>
                <a:latin typeface="+mn-lt"/>
                <a:ea typeface="+mn-ea"/>
                <a:cs typeface="+mn-cs"/>
              </a:rPr>
              <a:t>年法国数学家皮埃尔</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伽森荻提出物体是由大量坚硬粒子组成的。牛顿随后对于伽森荻的这种观点进行研究，于</a:t>
            </a:r>
            <a:r>
              <a:rPr lang="en-US" altLang="zh-CN" kern="1200" dirty="0">
                <a:solidFill>
                  <a:schemeClr val="tx1"/>
                </a:solidFill>
                <a:effectLst/>
                <a:latin typeface="+mn-lt"/>
                <a:ea typeface="+mn-ea"/>
                <a:cs typeface="+mn-cs"/>
              </a:rPr>
              <a:t>1675</a:t>
            </a:r>
            <a:r>
              <a:rPr lang="zh-CN" altLang="en-US" kern="1200" dirty="0">
                <a:solidFill>
                  <a:schemeClr val="tx1"/>
                </a:solidFill>
                <a:effectLst/>
                <a:latin typeface="+mn-lt"/>
                <a:ea typeface="+mn-ea"/>
                <a:cs typeface="+mn-cs"/>
              </a:rPr>
              <a:t>年提出假设，认为光是从光源发出的一种物质微粒。惠更斯认为，光是一种机械波；光波是一种靠物质载体来传播的纵向波，传播它的物质载体是“以太”；波面上的各点本身就是引起媒质振动的波源。根据这一理论，惠更斯证明了光的反射定律和折射定律，也比较好的解释了光的衍射、双折射现象和著名的“牛顿环”实验。</a:t>
            </a:r>
            <a:r>
              <a:rPr lang="en-US" altLang="zh-CN" kern="1200" dirty="0">
                <a:solidFill>
                  <a:schemeClr val="tx1"/>
                </a:solidFill>
                <a:effectLst/>
                <a:latin typeface="+mn-lt"/>
                <a:ea typeface="+mn-ea"/>
                <a:cs typeface="+mn-cs"/>
              </a:rPr>
              <a:t>1817</a:t>
            </a:r>
            <a:r>
              <a:rPr lang="zh-CN" altLang="en-US" kern="1200" dirty="0">
                <a:solidFill>
                  <a:schemeClr val="tx1"/>
                </a:solidFill>
                <a:effectLst/>
                <a:latin typeface="+mn-lt"/>
                <a:ea typeface="+mn-ea"/>
                <a:cs typeface="+mn-cs"/>
              </a:rPr>
              <a:t>年，托马斯</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杨放弃了惠更斯的光是一种纵波的说法，提出了光是一种横波的假说，比较成功的解释了光的偏振现象。</a:t>
            </a:r>
            <a:r>
              <a:rPr lang="en-US" altLang="zh-CN" kern="1200" dirty="0">
                <a:solidFill>
                  <a:schemeClr val="tx1"/>
                </a:solidFill>
                <a:effectLst/>
                <a:latin typeface="+mn-lt"/>
                <a:ea typeface="+mn-ea"/>
                <a:cs typeface="+mn-cs"/>
              </a:rPr>
              <a:t>1905</a:t>
            </a:r>
            <a:r>
              <a:rPr lang="zh-CN" altLang="en-US" kern="1200" dirty="0">
                <a:solidFill>
                  <a:schemeClr val="tx1"/>
                </a:solidFill>
                <a:effectLst/>
                <a:latin typeface="+mn-lt"/>
                <a:ea typeface="+mn-ea"/>
                <a:cs typeface="+mn-cs"/>
              </a:rPr>
              <a:t>年</a:t>
            </a:r>
            <a:r>
              <a:rPr lang="en-US" altLang="zh-CN" kern="1200" dirty="0">
                <a:solidFill>
                  <a:schemeClr val="tx1"/>
                </a:solidFill>
                <a:effectLst/>
                <a:latin typeface="+mn-lt"/>
                <a:ea typeface="+mn-ea"/>
                <a:cs typeface="+mn-cs"/>
              </a:rPr>
              <a:t>3</a:t>
            </a:r>
            <a:r>
              <a:rPr lang="zh-CN" altLang="en-US" kern="1200" dirty="0">
                <a:solidFill>
                  <a:schemeClr val="tx1"/>
                </a:solidFill>
                <a:effectLst/>
                <a:latin typeface="+mn-lt"/>
                <a:ea typeface="+mn-ea"/>
                <a:cs typeface="+mn-cs"/>
              </a:rPr>
              <a:t>月，爱因斯坦在德国</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物理年报</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上发表了题为</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关于光的产生和转化的一个推测性观点</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的论文他认为对于时间的平均值，光表现为波动；对于时间的瞬间值，光表现为粒子性。</a:t>
            </a:r>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88928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1BE74-7C02-0474-1771-28CD65481F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F271BA-9F78-6E92-FC3E-8008F607D6AE}"/>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0DC93445-52BC-B4CE-EDDD-25159C4D0F95}"/>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D84DBBC-C567-2F6D-A4CF-E24D2D30131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55590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EB72-F61A-B694-E549-9FD5581939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D0CEB0-2602-24E2-0735-57343696CC5D}"/>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A52E1E8-EBB8-0A08-3EB6-610646682FD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C20ECA8-C5E5-6E3C-6361-C079E282422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5194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7A9C-6709-5545-640A-4EA7EF32CA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85BD55-AE8E-E4DE-77B9-5B9C4B8B5F97}"/>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263040E4-5B58-6DEB-DC62-4A9F085F5AAB}"/>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33A5264-171A-F5BE-5E08-ADAE8AA86F9D}"/>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30472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CE35A-EF92-E4E6-DA4B-40B4A5CBEB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D8F372-F872-63EA-73E5-330185DB8370}"/>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982F9813-8F60-306D-0CFE-46871AAFF0D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DF09ADA-765B-92D4-A49D-728BA6A048E6}"/>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72966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9562-027C-4D15-2B37-A8BAE5EAC1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21B5B2-0B30-B68A-165A-E3E885A82B18}"/>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C54C8507-53C2-6D01-5C7E-45F0981AB72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DE3901D-391E-36D0-F5D7-0F504D0DEDB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96041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DF94-24A4-801D-A04E-CB7A2BAC58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4CC798-F4C2-F8C1-82F9-54598E1BAEE9}"/>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D9953062-D376-974D-A5CD-FA1FEBE51C25}"/>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72981E6-5E18-5DBD-25F9-9798A3456B9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66261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FDF5-A728-5CD7-BEEA-920F3E3850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7F4E18-20CA-74AF-1BCA-89E5DA16EFF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90DBA1FB-DEEF-4988-A8F6-9BFE629A5E81}"/>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1F5DA7F-BF74-C354-4B88-0E28581FC76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10991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EB72-F61A-B694-E549-9FD5581939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D0CEB0-2602-24E2-0735-57343696CC5D}"/>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A52E1E8-EBB8-0A08-3EB6-610646682FD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C20ECA8-C5E5-6E3C-6361-C079E282422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9866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FD5D0-E1B1-C0C7-E5EB-5417C6261C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AB31B6-1EDE-44D9-1364-7D1A280DA54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E1F079B3-5527-CC46-F385-DF60F9B95B74}"/>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77608E2-57D4-571F-4AEE-539119D9906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10527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3DA0-9BDA-8582-5992-C9F9F5CE10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38C760-3D83-E308-0D0A-DB0F8111951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4CC4F85-2DCD-EF5F-C4CB-070416B3A1B4}"/>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46E30F6-E716-1187-C268-80BF40CB383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84743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3CFB-82A8-F855-C0D2-725C1E3FAD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C8CCA6-7D86-AB04-9A04-1EFAFC2A43CD}"/>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387C82A4-DA15-09A9-379B-7046150ABD1B}"/>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48E61A3-C8EA-62AE-59EC-49FDC2D0904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00305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3F4B-CE4C-F986-4600-BD830A27BC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E316CA-2612-4D16-FB67-AA23625DE6B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969FD79-FBB4-6B7D-292D-A15FFC0731E9}"/>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4439D4A-1059-2C2E-AF50-8CC84FA4F99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66574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F059-9EAE-2F1B-34FB-C4F35152C6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566FDB-63C1-A3FE-0B43-29A2AE9C6DCE}"/>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CF79C857-ADA8-1B80-A02C-670C07CC6EA8}"/>
              </a:ext>
            </a:extLst>
          </p:cNvPr>
          <p:cNvSpPr>
            <a:spLocks noGrp="1"/>
          </p:cNvSpPr>
          <p:nvPr>
            <p:ph type="body" idx="1"/>
          </p:nvPr>
        </p:nvSpPr>
        <p:spPr/>
        <p:txBody>
          <a:bodyPr/>
          <a:lstStyle/>
          <a:p>
            <a:r>
              <a:rPr lang="en-US" altLang="en-US" kern="1200" dirty="0">
                <a:solidFill>
                  <a:schemeClr val="tx1"/>
                </a:solidFill>
                <a:effectLst/>
                <a:latin typeface="+mn-lt"/>
                <a:ea typeface="+mn-ea"/>
                <a:cs typeface="+mn-cs"/>
              </a:rPr>
              <a:t>Let’s construct the wave equation using a guitar string.</a:t>
            </a:r>
          </a:p>
          <a:p>
            <a:r>
              <a:rPr lang="en-US" altLang="en-US" kern="1200" dirty="0">
                <a:solidFill>
                  <a:schemeClr val="tx1"/>
                </a:solidFill>
                <a:effectLst/>
                <a:latin typeface="+mn-lt"/>
                <a:ea typeface="+mn-ea"/>
                <a:cs typeface="+mn-cs"/>
              </a:rPr>
              <a:t>A guitar string wants to be straight, but, if we pluck it, there’ll be a force pulling it back to its desired straight shape, which is called the restoring force and is proportional to how much it’s stretched, that is, its curvature, which is given by some constant </a:t>
            </a:r>
            <a:r>
              <a:rPr lang="en-US" altLang="en-US" sz="1200" dirty="0"/>
              <a:t>γ</a:t>
            </a:r>
            <a:r>
              <a:rPr lang="en-US" altLang="en-US" kern="1200" dirty="0">
                <a:solidFill>
                  <a:schemeClr val="tx1"/>
                </a:solidFill>
                <a:effectLst/>
                <a:latin typeface="+mn-lt"/>
                <a:ea typeface="+mn-ea"/>
                <a:cs typeface="+mn-cs"/>
              </a:rPr>
              <a:t> times ∂2f/∂x2, where f(</a:t>
            </a:r>
            <a:r>
              <a:rPr lang="en-US" altLang="en-US" kern="1200" dirty="0" err="1">
                <a:solidFill>
                  <a:schemeClr val="tx1"/>
                </a:solidFill>
                <a:effectLst/>
                <a:latin typeface="+mn-lt"/>
                <a:ea typeface="+mn-ea"/>
                <a:cs typeface="+mn-cs"/>
              </a:rPr>
              <a:t>x,t</a:t>
            </a:r>
            <a:r>
              <a:rPr lang="en-US" altLang="en-US" kern="1200" dirty="0">
                <a:solidFill>
                  <a:schemeClr val="tx1"/>
                </a:solidFill>
                <a:effectLst/>
                <a:latin typeface="+mn-lt"/>
                <a:ea typeface="+mn-ea"/>
                <a:cs typeface="+mn-cs"/>
              </a:rPr>
              <a:t>) is the displacement from straight at the point x at time t.</a:t>
            </a:r>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A41EA51-C58A-2F99-34A3-AD3843DAC2F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97436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994E-69FF-843D-D110-8553128717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6850B9-6BF9-536E-4FC1-2117900DFAE4}"/>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71DB6A44-81ED-6E2E-2207-126329082B07}"/>
              </a:ext>
            </a:extLst>
          </p:cNvPr>
          <p:cNvSpPr>
            <a:spLocks noGrp="1"/>
          </p:cNvSpPr>
          <p:nvPr>
            <p:ph type="body" idx="1"/>
          </p:nvPr>
        </p:nvSpPr>
        <p:spPr/>
        <p:txBody>
          <a:bodyPr/>
          <a:lstStyle/>
          <a:p>
            <a:r>
              <a:rPr lang="en-US" altLang="en-US" kern="1200" dirty="0">
                <a:solidFill>
                  <a:schemeClr val="tx1"/>
                </a:solidFill>
                <a:effectLst/>
                <a:latin typeface="+mn-lt"/>
                <a:ea typeface="+mn-ea"/>
                <a:cs typeface="+mn-cs"/>
              </a:rPr>
              <a:t>Let’s construct the wave equation using a guitar string.</a:t>
            </a:r>
          </a:p>
          <a:p>
            <a:r>
              <a:rPr lang="en-US" altLang="en-US" kern="1200" dirty="0">
                <a:solidFill>
                  <a:schemeClr val="tx1"/>
                </a:solidFill>
                <a:effectLst/>
                <a:latin typeface="+mn-lt"/>
                <a:ea typeface="+mn-ea"/>
                <a:cs typeface="+mn-cs"/>
              </a:rPr>
              <a:t>A guitar string wants to be straight, but, if we pluck it, there’ll be a force pulling it back to its desired straight shape, which is called the restoring force and is proportional to how much it’s stretched, that is, its curvature, which is given by some constant </a:t>
            </a:r>
            <a:r>
              <a:rPr lang="en-US" altLang="en-US" sz="1200" dirty="0"/>
              <a:t>γ</a:t>
            </a:r>
            <a:r>
              <a:rPr lang="en-US" altLang="en-US" kern="1200" dirty="0">
                <a:solidFill>
                  <a:schemeClr val="tx1"/>
                </a:solidFill>
                <a:effectLst/>
                <a:latin typeface="+mn-lt"/>
                <a:ea typeface="+mn-ea"/>
                <a:cs typeface="+mn-cs"/>
              </a:rPr>
              <a:t> times ∂2f/∂x2, where f(</a:t>
            </a:r>
            <a:r>
              <a:rPr lang="en-US" altLang="en-US" kern="1200" dirty="0" err="1">
                <a:solidFill>
                  <a:schemeClr val="tx1"/>
                </a:solidFill>
                <a:effectLst/>
                <a:latin typeface="+mn-lt"/>
                <a:ea typeface="+mn-ea"/>
                <a:cs typeface="+mn-cs"/>
              </a:rPr>
              <a:t>x,t</a:t>
            </a:r>
            <a:r>
              <a:rPr lang="en-US" altLang="en-US" kern="1200" dirty="0">
                <a:solidFill>
                  <a:schemeClr val="tx1"/>
                </a:solidFill>
                <a:effectLst/>
                <a:latin typeface="+mn-lt"/>
                <a:ea typeface="+mn-ea"/>
                <a:cs typeface="+mn-cs"/>
              </a:rPr>
              <a:t>) is the displacement from straight at the point x at time t.</a:t>
            </a:r>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572BEA2-69D6-38EE-0094-31F4580E5AB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749443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6F0F6-EAC7-B65B-23BA-DE13A52932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6A895A-E852-5CBC-C291-1EAA7635D870}"/>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0222659-7334-9E55-A910-51EF4544F5C8}"/>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D2A6DCF-86F6-E9A5-34EF-6790CFD5691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13824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36A77-6903-84D3-85A6-6EF7ADB44B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1B69EA-F0DE-CBA1-DECD-27758DCBCA02}"/>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553CF06-A6AC-BEA0-A033-FAF1A07A1D5E}"/>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92E9313-ABC2-21EA-DDB8-E65E65D1D0A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9961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315549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B197A-83B3-B7EF-83DD-84BBE63D30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D98570-AD2F-F5B2-D013-D8C6F6F66EFB}"/>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3BDF59DB-7C52-CDE5-5C34-C81B7859FCC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90642C8-68F7-C3B8-3489-FACB2DF72D8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37379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91929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552605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C3C0-E31A-8091-BF1D-EB024FBEAD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207DB5-265D-5680-D9F0-FE3CA7A273D1}"/>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0A5D7811-B4ED-95C0-7FB8-D98A097D598C}"/>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E636329-F9B1-D127-D978-0CFDF57019D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60644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83D1-D05B-12AC-A8B8-8FAED8595A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08F88B-E43C-2D3A-9809-7C171820DF9E}"/>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D0C53C3D-B821-065F-153D-A4550CC1D24E}"/>
              </a:ext>
            </a:extLst>
          </p:cNvPr>
          <p:cNvSpPr>
            <a:spLocks noGrp="1"/>
          </p:cNvSpPr>
          <p:nvPr>
            <p:ph type="body" idx="1"/>
          </p:nvPr>
        </p:nvSpPr>
        <p:spPr/>
        <p:txBody>
          <a:bodyPr/>
          <a:lstStyle/>
          <a:p>
            <a:r>
              <a:rPr lang="en-US" altLang="en-US" kern="1200" dirty="0">
                <a:solidFill>
                  <a:schemeClr val="tx1"/>
                </a:solidFill>
                <a:effectLst/>
                <a:latin typeface="+mn-lt"/>
                <a:ea typeface="+mn-ea"/>
                <a:cs typeface="+mn-cs"/>
              </a:rPr>
              <a:t>Next, we’ll define some temporal quantities using this plot of the wave vs. time for a given position x0.</a:t>
            </a:r>
          </a:p>
          <a:p>
            <a:r>
              <a:rPr lang="en-US" altLang="en-US" kern="1200" dirty="0">
                <a:solidFill>
                  <a:schemeClr val="tx1"/>
                </a:solidFill>
                <a:effectLst/>
                <a:latin typeface="+mn-lt"/>
                <a:ea typeface="+mn-ea"/>
                <a:cs typeface="+mn-cs"/>
              </a:rPr>
              <a:t>The time between peaks is called the period, usually denoted by the Greek character tau.</a:t>
            </a:r>
          </a:p>
          <a:p>
            <a:r>
              <a:rPr lang="en-US" altLang="en-US" kern="1200" dirty="0">
                <a:solidFill>
                  <a:schemeClr val="tx1"/>
                </a:solidFill>
                <a:effectLst/>
                <a:latin typeface="+mn-lt"/>
                <a:ea typeface="+mn-ea"/>
                <a:cs typeface="+mn-cs"/>
              </a:rPr>
              <a:t>We can write the constant omega that we’ve been talking about, which we call the “angular frequency”, in terms of tau:  it’s 2π/tau.</a:t>
            </a:r>
          </a:p>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BC8204A-780C-19E8-C5BA-4C1F2D127707}"/>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75403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990762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09D38-9861-F172-F93A-6A82FEE1F6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0A1159-530D-E76A-8BF1-2A9A68ED2A4A}"/>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9ED609DD-21CF-E041-CBF6-51C839A017F1}"/>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CC38D8E-BCF9-6BE0-1BBF-5B64169B71C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621207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71AAA-6777-87B3-82EF-880EED58FA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46B88D-75E5-8877-5602-27EDFD42E0E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5B57E198-96F0-31E6-928F-E27143AF31E0}"/>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B551202-B25A-7B57-FD73-06DB82F0186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911200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4EF8A-66BD-1564-054C-3158FEE12F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4200EF-5F6A-2AAC-71CD-5915F270386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AE4DF78E-26B6-AB42-B178-B0EB1AFDA467}"/>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D719366-A61C-423D-ADE5-E248421D567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62375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064601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89447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0990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912912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506AA-9215-A0B7-3341-D6CE88984C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D6932C-F6C6-A643-62C5-6B83CB17BED2}"/>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8C67F359-800D-D7C7-1B65-C7DF8D5F79E2}"/>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686C9F8-0B5B-EA1E-8E4D-EF5CFBA4E62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93619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E03B9-2D84-D0BF-8B30-C09F6ADCD7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EB10FF-6354-0515-3E24-E4178E0C9812}"/>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F5360869-BD01-6F8F-EA4A-670F4A07396B}"/>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654BC21-CB97-A16C-6E88-E6DD49C6BE0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006387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0A281-EF1D-1749-F4A0-9259184979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D60AA9-6066-0B63-B3BF-BC994152428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9454987C-6792-7A5B-5BF9-DD877E4130D4}"/>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2D89E53-2662-AC30-7765-7DFE7725CB03}"/>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08091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A0CE-2FF1-526C-CFDF-6D08FC78CD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B98F40-4FFD-D0FC-6C7A-ECE043461D72}"/>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70F95F28-1EC6-5DBC-0EFB-433CBC18DE2C}"/>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F1C062F-C815-80AA-A736-EE0A12A3597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133064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077872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996346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404683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8EAC4-5BC4-B9DA-1637-556103D40F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7D8719-03EA-7EC9-17D4-0F36E381EE78}"/>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F3CD3133-123B-C695-A4A1-A4F133C80EF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5268D41-50FB-CABF-7B1C-41B971961096}"/>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413606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373068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34406-8D65-D31C-942F-7D9A6BAD08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617B16-EAB6-1B23-B841-93764EA7102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D762243-9B67-7498-6F13-BE0D55439488}"/>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0507881-E3B3-26E9-3856-96BF83A3E6D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068474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656654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338739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0960-C327-9CB8-4F5C-B7F50010F6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8C8C-59FA-6DA0-57DC-A7380CA133A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3437A3C-20D7-7017-EA2C-8365F5870AD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FF51659-14DA-8838-2C34-852D27F5756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365189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0960-C327-9CB8-4F5C-B7F50010F6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8C8C-59FA-6DA0-57DC-A7380CA133A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3437A3C-20D7-7017-EA2C-8365F5870AD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FF51659-14DA-8838-2C34-852D27F5756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622208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0960-C327-9CB8-4F5C-B7F50010F6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8C8C-59FA-6DA0-57DC-A7380CA133A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3437A3C-20D7-7017-EA2C-8365F5870AD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FF51659-14DA-8838-2C34-852D27F5756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043726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0960-C327-9CB8-4F5C-B7F50010F6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8C8C-59FA-6DA0-57DC-A7380CA133A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3437A3C-20D7-7017-EA2C-8365F5870AD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FF51659-14DA-8838-2C34-852D27F5756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066964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0960-C327-9CB8-4F5C-B7F50010F6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8C8C-59FA-6DA0-57DC-A7380CA133A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3437A3C-20D7-7017-EA2C-8365F5870AD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FF51659-14DA-8838-2C34-852D27F5756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407328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0960-C327-9CB8-4F5C-B7F50010F6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8C8C-59FA-6DA0-57DC-A7380CA133A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3437A3C-20D7-7017-EA2C-8365F5870AD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FF51659-14DA-8838-2C34-852D27F5756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56771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1"/>
            <a:ext cx="9144000" cy="535633"/>
          </a:xfrm>
          <a:prstGeom prst="rect">
            <a:avLst/>
          </a:prstGeom>
          <a:solidFill>
            <a:srgbClr val="255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5" name="文本框 4">
            <a:extLst>
              <a:ext uri="{FF2B5EF4-FFF2-40B4-BE49-F238E27FC236}">
                <a16:creationId xmlns:a16="http://schemas.microsoft.com/office/drawing/2014/main" id="{2DC5DAE3-429C-42DB-97F0-AD39CBCD7152}"/>
              </a:ext>
            </a:extLst>
          </p:cNvPr>
          <p:cNvSpPr txBox="1"/>
          <p:nvPr userDrawn="1"/>
        </p:nvSpPr>
        <p:spPr>
          <a:xfrm>
            <a:off x="7032349" y="6564442"/>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30209" y="6572154"/>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888123" y="6568347"/>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38094" y="6515890"/>
            <a:ext cx="1448927" cy="261160"/>
          </a:xfrm>
          <a:prstGeom prst="rect">
            <a:avLst/>
          </a:prstGeom>
        </p:spPr>
      </p:pic>
      <p:sp>
        <p:nvSpPr>
          <p:cNvPr id="2" name="TextBox 1">
            <a:extLst>
              <a:ext uri="{FF2B5EF4-FFF2-40B4-BE49-F238E27FC236}">
                <a16:creationId xmlns:a16="http://schemas.microsoft.com/office/drawing/2014/main" id="{59F6D9F7-53B9-4D42-A324-14F37B1BDADD}"/>
              </a:ext>
            </a:extLst>
          </p:cNvPr>
          <p:cNvSpPr txBox="1"/>
          <p:nvPr userDrawn="1"/>
        </p:nvSpPr>
        <p:spPr>
          <a:xfrm>
            <a:off x="8485123" y="6500051"/>
            <a:ext cx="609140" cy="276999"/>
          </a:xfrm>
          <a:prstGeom prst="rect">
            <a:avLst/>
          </a:prstGeom>
          <a:noFill/>
        </p:spPr>
        <p:txBody>
          <a:bodyPr wrap="square" rtlCol="0">
            <a:spAutoFit/>
          </a:bodyPr>
          <a:lstStyle/>
          <a:p>
            <a:fld id="{5DC27B55-73FB-40DB-940F-0D374B25B093}" type="slidenum">
              <a:rPr lang="en-US" sz="1200" smtClean="0">
                <a:solidFill>
                  <a:schemeClr val="bg2">
                    <a:lumMod val="50000"/>
                  </a:schemeClr>
                </a:solidFill>
                <a:latin typeface="Arial" panose="020B0604020202020204" pitchFamily="34" charset="0"/>
                <a:cs typeface="Arial" panose="020B0604020202020204" pitchFamily="34" charset="0"/>
              </a:rPr>
              <a:t>‹#›</a:t>
            </a:fld>
            <a:endParaRPr lang="en-US" sz="1200"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595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DC5DAE3-429C-42DB-97F0-AD39CBCD7152}"/>
              </a:ext>
            </a:extLst>
          </p:cNvPr>
          <p:cNvSpPr txBox="1"/>
          <p:nvPr userDrawn="1"/>
        </p:nvSpPr>
        <p:spPr>
          <a:xfrm>
            <a:off x="7047656" y="6438186"/>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45516" y="6445898"/>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903430" y="6442091"/>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53401" y="6389634"/>
            <a:ext cx="1448927" cy="261160"/>
          </a:xfrm>
          <a:prstGeom prst="rect">
            <a:avLst/>
          </a:prstGeom>
        </p:spPr>
      </p:pic>
      <p:pic>
        <p:nvPicPr>
          <p:cNvPr id="11" name="Picture 10">
            <a:extLst>
              <a:ext uri="{FF2B5EF4-FFF2-40B4-BE49-F238E27FC236}">
                <a16:creationId xmlns:a16="http://schemas.microsoft.com/office/drawing/2014/main" id="{4BC586DF-A652-4DEE-BFED-C9A13C22D1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489765" y="6234797"/>
            <a:ext cx="528933" cy="528933"/>
          </a:xfrm>
          <a:prstGeom prst="rect">
            <a:avLst/>
          </a:prstGeom>
        </p:spPr>
      </p:pic>
    </p:spTree>
    <p:extLst>
      <p:ext uri="{BB962C8B-B14F-4D97-AF65-F5344CB8AC3E}">
        <p14:creationId xmlns:p14="http://schemas.microsoft.com/office/powerpoint/2010/main" val="170083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933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56881"/>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3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 Id="rId6" Type="http://schemas.openxmlformats.org/officeDocument/2006/relationships/hyperlink" Target="optoelectronicszju.com" TargetMode="External"/><Relationship Id="rId5" Type="http://schemas.openxmlformats.org/officeDocument/2006/relationships/hyperlink" Target="mailto:yangzongyin@zju.edu.c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youtube.com/watch?v=a-V7zVKYPlo"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30.png"/><Relationship Id="rId7"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8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5.jpe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40.png"/></Relationships>
</file>

<file path=ppt/slides/_rels/slide16.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90.png"/><Relationship Id="rId4" Type="http://schemas.openxmlformats.org/officeDocument/2006/relationships/image" Target="../media/image380.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37.jpg"/><Relationship Id="rId7"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9" Type="http://schemas.openxmlformats.org/officeDocument/2006/relationships/image" Target="../media/image38.wmf"/></Relationships>
</file>

<file path=ppt/slides/_rels/slide18.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7.bin"/><Relationship Id="rId18" Type="http://schemas.openxmlformats.org/officeDocument/2006/relationships/image" Target="../media/image46.wmf"/><Relationship Id="rId3" Type="http://schemas.openxmlformats.org/officeDocument/2006/relationships/oleObject" Target="../embeddings/oleObject2.bin"/><Relationship Id="rId21" Type="http://schemas.openxmlformats.org/officeDocument/2006/relationships/oleObject" Target="../embeddings/oleObject11.bin"/><Relationship Id="rId7" Type="http://schemas.openxmlformats.org/officeDocument/2006/relationships/oleObject" Target="../embeddings/oleObject4.bin"/><Relationship Id="rId12" Type="http://schemas.openxmlformats.org/officeDocument/2006/relationships/image" Target="../media/image43.wmf"/><Relationship Id="rId17" Type="http://schemas.openxmlformats.org/officeDocument/2006/relationships/oleObject" Target="../embeddings/oleObject9.bin"/><Relationship Id="rId2" Type="http://schemas.openxmlformats.org/officeDocument/2006/relationships/notesSlide" Target="../notesSlides/notesSlide17.xml"/><Relationship Id="rId16" Type="http://schemas.openxmlformats.org/officeDocument/2006/relationships/image" Target="../media/image45.wmf"/><Relationship Id="rId20" Type="http://schemas.openxmlformats.org/officeDocument/2006/relationships/image" Target="../media/image47.wmf"/><Relationship Id="rId1" Type="http://schemas.openxmlformats.org/officeDocument/2006/relationships/slideLayout" Target="../slideLayouts/slideLayout1.xml"/><Relationship Id="rId6" Type="http://schemas.openxmlformats.org/officeDocument/2006/relationships/image" Target="../media/image40.wmf"/><Relationship Id="rId11" Type="http://schemas.openxmlformats.org/officeDocument/2006/relationships/oleObject" Target="../embeddings/oleObject6.bin"/><Relationship Id="rId24" Type="http://schemas.openxmlformats.org/officeDocument/2006/relationships/image" Target="../media/image49.wmf"/><Relationship Id="rId5" Type="http://schemas.openxmlformats.org/officeDocument/2006/relationships/oleObject" Target="../embeddings/oleObject3.bin"/><Relationship Id="rId15" Type="http://schemas.openxmlformats.org/officeDocument/2006/relationships/oleObject" Target="../embeddings/oleObject8.bin"/><Relationship Id="rId23" Type="http://schemas.openxmlformats.org/officeDocument/2006/relationships/oleObject" Target="../embeddings/oleObject12.bin"/><Relationship Id="rId10" Type="http://schemas.openxmlformats.org/officeDocument/2006/relationships/image" Target="../media/image42.wmf"/><Relationship Id="rId19" Type="http://schemas.openxmlformats.org/officeDocument/2006/relationships/oleObject" Target="../embeddings/oleObject10.bin"/><Relationship Id="rId4" Type="http://schemas.openxmlformats.org/officeDocument/2006/relationships/image" Target="../media/image39.wmf"/><Relationship Id="rId9" Type="http://schemas.openxmlformats.org/officeDocument/2006/relationships/oleObject" Target="../embeddings/oleObject5.bin"/><Relationship Id="rId14" Type="http://schemas.openxmlformats.org/officeDocument/2006/relationships/image" Target="../media/image44.wmf"/><Relationship Id="rId22" Type="http://schemas.openxmlformats.org/officeDocument/2006/relationships/image" Target="../media/image48.wmf"/></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0.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470.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1.png"/><Relationship Id="rId10" Type="http://schemas.openxmlformats.org/officeDocument/2006/relationships/image" Target="../media/image64.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2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3.xml.rels><?xml version="1.0" encoding="UTF-8" standalone="yes"?>
<Relationships xmlns="http://schemas.openxmlformats.org/package/2006/relationships"><Relationship Id="rId13" Type="http://schemas.openxmlformats.org/officeDocument/2006/relationships/image" Target="../media/image700.png"/><Relationship Id="rId3" Type="http://schemas.openxmlformats.org/officeDocument/2006/relationships/image" Target="../media/image56.png"/><Relationship Id="rId7"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730.png"/><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52.gif"/><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7.jpg"/></Relationships>
</file>

<file path=ppt/slides/_rels/slide28.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30.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3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82.png"/><Relationship Id="rId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26.png"/><Relationship Id="rId4" Type="http://schemas.openxmlformats.org/officeDocument/2006/relationships/image" Target="../media/image84.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85.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12.png"/><Relationship Id="rId5" Type="http://schemas.openxmlformats.org/officeDocument/2006/relationships/image" Target="../media/image100.png"/><Relationship Id="rId4"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92.png"/></Relationships>
</file>

<file path=ppt/slides/_rels/slide36.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94.wmf"/><Relationship Id="rId17" Type="http://schemas.openxmlformats.org/officeDocument/2006/relationships/hyperlink" Target="https://www.youtube.com/watch?v=3d6DsjIBzJ4" TargetMode="External"/><Relationship Id="rId2" Type="http://schemas.openxmlformats.org/officeDocument/2006/relationships/notesSlide" Target="../notesSlides/notesSlide35.xml"/><Relationship Id="rId16" Type="http://schemas.openxmlformats.org/officeDocument/2006/relationships/image" Target="../media/image96.wmf"/><Relationship Id="rId1" Type="http://schemas.openxmlformats.org/officeDocument/2006/relationships/slideLayout" Target="../slideLayouts/slideLayout1.xml"/><Relationship Id="rId6" Type="http://schemas.openxmlformats.org/officeDocument/2006/relationships/image" Target="../media/image91.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oleObject" Target="../embeddings/oleObject19.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16.bin"/><Relationship Id="rId14" Type="http://schemas.openxmlformats.org/officeDocument/2006/relationships/image" Target="../media/image95.wmf"/></Relationships>
</file>

<file path=ppt/slides/_rels/slide37.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101.wmf"/><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98.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100.wmf"/><Relationship Id="rId4" Type="http://schemas.openxmlformats.org/officeDocument/2006/relationships/image" Target="../media/image97.wmf"/><Relationship Id="rId9" Type="http://schemas.openxmlformats.org/officeDocument/2006/relationships/oleObject" Target="../embeddings/oleObject23.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2.wmf"/></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03.png"/><Relationship Id="rId4"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3" Type="http://schemas.openxmlformats.org/officeDocument/2006/relationships/image" Target="../media/image104.gif"/><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230.png"/><Relationship Id="rId4" Type="http://schemas.openxmlformats.org/officeDocument/2006/relationships/image" Target="../media/image220.png"/></Relationships>
</file>

<file path=ppt/slides/_rels/slide41.xml.rels><?xml version="1.0" encoding="UTF-8" standalone="yes"?>
<Relationships xmlns="http://schemas.openxmlformats.org/package/2006/relationships"><Relationship Id="rId3" Type="http://schemas.openxmlformats.org/officeDocument/2006/relationships/image" Target="../media/image105.gif"/><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260.png"/><Relationship Id="rId4" Type="http://schemas.openxmlformats.org/officeDocument/2006/relationships/image" Target="../media/image250.png"/></Relationships>
</file>

<file path=ppt/slides/_rels/slide42.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43.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7.png"/><Relationship Id="rId7" Type="http://schemas.openxmlformats.org/officeDocument/2006/relationships/image" Target="../media/image114.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1.png"/><Relationship Id="rId10" Type="http://schemas.openxmlformats.org/officeDocument/2006/relationships/image" Target="../media/image117.png"/><Relationship Id="rId4" Type="http://schemas.openxmlformats.org/officeDocument/2006/relationships/image" Target="../media/image110.png"/><Relationship Id="rId9" Type="http://schemas.openxmlformats.org/officeDocument/2006/relationships/image" Target="../media/image116.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06.wmf"/></Relationships>
</file>

<file path=ppt/slides/_rels/slide45.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510.png"/><Relationship Id="rId7" Type="http://schemas.openxmlformats.org/officeDocument/2006/relationships/image" Target="../media/image107.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40.png"/><Relationship Id="rId11" Type="http://schemas.openxmlformats.org/officeDocument/2006/relationships/image" Target="../media/image108.jpg"/><Relationship Id="rId5" Type="http://schemas.openxmlformats.org/officeDocument/2006/relationships/image" Target="../media/image530.png"/><Relationship Id="rId10" Type="http://schemas.openxmlformats.org/officeDocument/2006/relationships/image" Target="../media/image123.png"/><Relationship Id="rId4" Type="http://schemas.openxmlformats.org/officeDocument/2006/relationships/image" Target="../media/image119.png"/><Relationship Id="rId9" Type="http://schemas.openxmlformats.org/officeDocument/2006/relationships/image" Target="../media/image122.png"/></Relationships>
</file>

<file path=ppt/slides/_rels/slide46.xml.rels><?xml version="1.0" encoding="UTF-8" standalone="yes"?>
<Relationships xmlns="http://schemas.openxmlformats.org/package/2006/relationships"><Relationship Id="rId8" Type="http://schemas.openxmlformats.org/officeDocument/2006/relationships/image" Target="../media/image650.png"/><Relationship Id="rId3" Type="http://schemas.openxmlformats.org/officeDocument/2006/relationships/image" Target="../media/image600.png"/><Relationship Id="rId7" Type="http://schemas.openxmlformats.org/officeDocument/2006/relationships/image" Target="../media/image640.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630.png"/><Relationship Id="rId11" Type="http://schemas.openxmlformats.org/officeDocument/2006/relationships/hyperlink" Target="https://refractiveindex.info/?shelf=3d&amp;book=metals&amp;page=aluminium" TargetMode="External"/><Relationship Id="rId5" Type="http://schemas.openxmlformats.org/officeDocument/2006/relationships/image" Target="../media/image620.png"/><Relationship Id="rId10" Type="http://schemas.openxmlformats.org/officeDocument/2006/relationships/image" Target="../media/image670.png"/><Relationship Id="rId4" Type="http://schemas.openxmlformats.org/officeDocument/2006/relationships/image" Target="../media/image610.png"/><Relationship Id="rId9" Type="http://schemas.openxmlformats.org/officeDocument/2006/relationships/image" Target="../media/image660.png"/></Relationships>
</file>

<file path=ppt/slides/_rels/slide4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95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19.gif"/><Relationship Id="rId4" Type="http://schemas.openxmlformats.org/officeDocument/2006/relationships/image" Target="../media/image96.png"/></Relationships>
</file>

<file path=ppt/slides/_rels/slide50.xml.rels><?xml version="1.0" encoding="UTF-8" standalone="yes"?>
<Relationships xmlns="http://schemas.openxmlformats.org/package/2006/relationships"><Relationship Id="rId3" Type="http://schemas.openxmlformats.org/officeDocument/2006/relationships/image" Target="../media/image950.png"/><Relationship Id="rId7" Type="http://schemas.openxmlformats.org/officeDocument/2006/relationships/image" Target="../media/image1070.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060.png"/><Relationship Id="rId5" Type="http://schemas.openxmlformats.org/officeDocument/2006/relationships/image" Target="../media/image1050.png"/><Relationship Id="rId4" Type="http://schemas.openxmlformats.org/officeDocument/2006/relationships/image" Target="../media/image960.png"/></Relationships>
</file>

<file path=ppt/slides/_rels/slide51.xml.rels><?xml version="1.0" encoding="UTF-8" standalone="yes"?>
<Relationships xmlns="http://schemas.openxmlformats.org/package/2006/relationships"><Relationship Id="rId3" Type="http://schemas.openxmlformats.org/officeDocument/2006/relationships/image" Target="../media/image1080.png"/><Relationship Id="rId7" Type="http://schemas.openxmlformats.org/officeDocument/2006/relationships/image" Target="../media/image1130.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1110.png"/><Relationship Id="rId5" Type="http://schemas.openxmlformats.org/officeDocument/2006/relationships/image" Target="../media/image1100.png"/><Relationship Id="rId4" Type="http://schemas.openxmlformats.org/officeDocument/2006/relationships/image" Target="../media/image1090.png"/></Relationships>
</file>

<file path=ppt/slides/_rels/slide52.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image" Target="../media/image1200.png"/><Relationship Id="rId18" Type="http://schemas.openxmlformats.org/officeDocument/2006/relationships/image" Target="../media/image1250.png"/><Relationship Id="rId7" Type="http://schemas.openxmlformats.org/officeDocument/2006/relationships/oleObject" Target="../embeddings/oleObject27.bin"/><Relationship Id="rId12" Type="http://schemas.openxmlformats.org/officeDocument/2006/relationships/image" Target="../media/image122.wmf"/><Relationship Id="rId17" Type="http://schemas.openxmlformats.org/officeDocument/2006/relationships/image" Target="../media/image1240.png"/><Relationship Id="rId2" Type="http://schemas.openxmlformats.org/officeDocument/2006/relationships/notesSlide" Target="../notesSlides/notesSlide51.xml"/><Relationship Id="rId16" Type="http://schemas.openxmlformats.org/officeDocument/2006/relationships/image" Target="../media/image1230.png"/><Relationship Id="rId1" Type="http://schemas.openxmlformats.org/officeDocument/2006/relationships/slideLayout" Target="../slideLayouts/slideLayout1.xml"/><Relationship Id="rId6" Type="http://schemas.openxmlformats.org/officeDocument/2006/relationships/image" Target="../media/image1160.png"/><Relationship Id="rId11" Type="http://schemas.openxmlformats.org/officeDocument/2006/relationships/oleObject" Target="../embeddings/oleObject29.bin"/><Relationship Id="rId5" Type="http://schemas.openxmlformats.org/officeDocument/2006/relationships/image" Target="../media/image1150.png"/><Relationship Id="rId15" Type="http://schemas.openxmlformats.org/officeDocument/2006/relationships/image" Target="../media/image1220.png"/><Relationship Id="rId10" Type="http://schemas.openxmlformats.org/officeDocument/2006/relationships/image" Target="../media/image121.wmf"/><Relationship Id="rId4" Type="http://schemas.openxmlformats.org/officeDocument/2006/relationships/image" Target="../media/image1140.png"/><Relationship Id="rId9" Type="http://schemas.openxmlformats.org/officeDocument/2006/relationships/oleObject" Target="../embeddings/oleObject28.bin"/><Relationship Id="rId14" Type="http://schemas.openxmlformats.org/officeDocument/2006/relationships/image" Target="../media/image12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28681D-1331-4A4D-B3D4-917B209F5B69}"/>
              </a:ext>
            </a:extLst>
          </p:cNvPr>
          <p:cNvPicPr>
            <a:picLocks noChangeAspect="1"/>
          </p:cNvPicPr>
          <p:nvPr/>
        </p:nvPicPr>
        <p:blipFill rotWithShape="1">
          <a:blip r:embed="rId2">
            <a:extLst>
              <a:ext uri="{28A0092B-C50C-407E-A947-70E740481C1C}">
                <a14:useLocalDpi xmlns:a14="http://schemas.microsoft.com/office/drawing/2010/main" val="0"/>
              </a:ext>
            </a:extLst>
          </a:blip>
          <a:srcRect t="17968" b="9757"/>
          <a:stretch/>
        </p:blipFill>
        <p:spPr>
          <a:xfrm>
            <a:off x="0" y="957600"/>
            <a:ext cx="9144000" cy="1116733"/>
          </a:xfrm>
          <a:prstGeom prst="rect">
            <a:avLst/>
          </a:prstGeom>
        </p:spPr>
      </p:pic>
      <p:pic>
        <p:nvPicPr>
          <p:cNvPr id="3" name="Picture 2">
            <a:extLst>
              <a:ext uri="{FF2B5EF4-FFF2-40B4-BE49-F238E27FC236}">
                <a16:creationId xmlns:a16="http://schemas.microsoft.com/office/drawing/2014/main" id="{2E37FF98-0CEF-4B09-ADEE-D9C3C08E8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262" y="367392"/>
            <a:ext cx="1803065" cy="515161"/>
          </a:xfrm>
          <a:prstGeom prst="rect">
            <a:avLst/>
          </a:prstGeom>
        </p:spPr>
      </p:pic>
      <p:pic>
        <p:nvPicPr>
          <p:cNvPr id="10" name="Picture 9">
            <a:extLst>
              <a:ext uri="{FF2B5EF4-FFF2-40B4-BE49-F238E27FC236}">
                <a16:creationId xmlns:a16="http://schemas.microsoft.com/office/drawing/2014/main" id="{BC6DB705-7990-41D0-9679-E670917E46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420003"/>
            <a:ext cx="2274358" cy="409938"/>
          </a:xfrm>
          <a:prstGeom prst="rect">
            <a:avLst/>
          </a:prstGeom>
        </p:spPr>
      </p:pic>
      <p:sp>
        <p:nvSpPr>
          <p:cNvPr id="8" name="object 3">
            <a:extLst>
              <a:ext uri="{FF2B5EF4-FFF2-40B4-BE49-F238E27FC236}">
                <a16:creationId xmlns:a16="http://schemas.microsoft.com/office/drawing/2014/main" id="{7D84DD68-DA40-4669-8F41-E077D801DCB5}"/>
              </a:ext>
            </a:extLst>
          </p:cNvPr>
          <p:cNvSpPr txBox="1">
            <a:spLocks noChangeArrowheads="1"/>
          </p:cNvSpPr>
          <p:nvPr/>
        </p:nvSpPr>
        <p:spPr bwMode="auto">
          <a:xfrm>
            <a:off x="0" y="2469215"/>
            <a:ext cx="9144000"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2800" b="1" dirty="0">
                <a:solidFill>
                  <a:srgbClr val="0070C0"/>
                </a:solidFill>
                <a:latin typeface="微软雅黑" panose="020B0503020204020204" pitchFamily="34" charset="-122"/>
                <a:ea typeface="微软雅黑" panose="020B0503020204020204" pitchFamily="34" charset="-122"/>
                <a:cs typeface="Microsoft YaHei" charset="0"/>
              </a:rPr>
              <a:t>Fundamentals of Optoelectronics</a:t>
            </a:r>
          </a:p>
          <a:p>
            <a:pPr algn="ctr"/>
            <a:r>
              <a:rPr lang="zh-CN" altLang="en-US" sz="2800" b="1" dirty="0">
                <a:solidFill>
                  <a:srgbClr val="0070C0"/>
                </a:solidFill>
                <a:latin typeface="微软雅黑" panose="020B0503020204020204" pitchFamily="34" charset="-122"/>
                <a:ea typeface="微软雅黑" panose="020B0503020204020204" pitchFamily="34" charset="-122"/>
                <a:cs typeface="Microsoft YaHei" charset="0"/>
              </a:rPr>
              <a:t>（光电子学基础）</a:t>
            </a:r>
            <a:endParaRPr lang="en-US" altLang="zh-CN" sz="28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endParaRPr lang="en-US" altLang="zh-CN" sz="24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Prof. Zongyin Yang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杨宗银</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 College of Information Science and Electronic Engineering, </a:t>
            </a: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Zhejiang University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浙江大学信息与电子工程学院</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object 3">
            <a:extLst>
              <a:ext uri="{FF2B5EF4-FFF2-40B4-BE49-F238E27FC236}">
                <a16:creationId xmlns:a16="http://schemas.microsoft.com/office/drawing/2014/main" id="{74D597F1-A8DA-DD99-AD4F-8CF28C8135E2}"/>
              </a:ext>
            </a:extLst>
          </p:cNvPr>
          <p:cNvSpPr txBox="1">
            <a:spLocks noChangeArrowheads="1"/>
          </p:cNvSpPr>
          <p:nvPr/>
        </p:nvSpPr>
        <p:spPr bwMode="auto">
          <a:xfrm>
            <a:off x="0" y="5900399"/>
            <a:ext cx="914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2025</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春夏学期</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object 3">
            <a:extLst>
              <a:ext uri="{FF2B5EF4-FFF2-40B4-BE49-F238E27FC236}">
                <a16:creationId xmlns:a16="http://schemas.microsoft.com/office/drawing/2014/main" id="{6C4B7BDA-A0F4-689F-FDEC-11F407361EDB}"/>
              </a:ext>
            </a:extLst>
          </p:cNvPr>
          <p:cNvSpPr txBox="1">
            <a:spLocks noChangeArrowheads="1"/>
          </p:cNvSpPr>
          <p:nvPr/>
        </p:nvSpPr>
        <p:spPr bwMode="auto">
          <a:xfrm>
            <a:off x="0" y="5006763"/>
            <a:ext cx="9144000"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Email</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5"/>
              </a:rPr>
              <a:t>yangzongyin@zju.edu.cn</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Website: </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6" action="ppaction://hlinkfile"/>
              </a:rPr>
              <a:t>optoelectronicszju.com</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087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Greek Letters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025" name="Picture 1">
            <a:extLst>
              <a:ext uri="{FF2B5EF4-FFF2-40B4-BE49-F238E27FC236}">
                <a16:creationId xmlns:a16="http://schemas.microsoft.com/office/drawing/2014/main" id="{7CA40DF6-637F-6005-2DDE-FFFB903726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52" t="4952" r="4945" b="47599"/>
          <a:stretch/>
        </p:blipFill>
        <p:spPr bwMode="auto">
          <a:xfrm>
            <a:off x="180109" y="1594591"/>
            <a:ext cx="4370522" cy="37891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AFA626B-6F26-EFA3-6151-BE581ECB6C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52401" r="4728" b="3921"/>
          <a:stretch/>
        </p:blipFill>
        <p:spPr bwMode="auto">
          <a:xfrm>
            <a:off x="4639550" y="1941957"/>
            <a:ext cx="4370522" cy="348791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44A5A6CE-D969-49C7-B637-17520C8B37EA}"/>
              </a:ext>
            </a:extLst>
          </p:cNvPr>
          <p:cNvSpPr/>
          <p:nvPr/>
        </p:nvSpPr>
        <p:spPr>
          <a:xfrm>
            <a:off x="2859724" y="759688"/>
            <a:ext cx="3382080" cy="369332"/>
          </a:xfrm>
          <a:prstGeom prst="rect">
            <a:avLst/>
          </a:prstGeom>
        </p:spPr>
        <p:txBody>
          <a:bodyPr wrap="none">
            <a:spAutoFit/>
          </a:bodyPr>
          <a:lstStyle/>
          <a:p>
            <a:r>
              <a:rPr lang="en-US" altLang="zh-CN" b="1" dirty="0">
                <a:hlinkClick r:id="rId4"/>
              </a:rPr>
              <a:t>Greek Alphabet Symbols List</a:t>
            </a:r>
            <a:endParaRPr lang="zh-CN" altLang="en-US" b="1" dirty="0"/>
          </a:p>
        </p:txBody>
      </p:sp>
    </p:spTree>
    <p:extLst>
      <p:ext uri="{BB962C8B-B14F-4D97-AF65-F5344CB8AC3E}">
        <p14:creationId xmlns:p14="http://schemas.microsoft.com/office/powerpoint/2010/main" val="1445643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Quiz:</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Greek letters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B0B080BD-126E-2703-3475-35B28A52B80A}"/>
              </a:ext>
            </a:extLst>
          </p:cNvPr>
          <p:cNvSpPr txBox="1"/>
          <p:nvPr/>
        </p:nvSpPr>
        <p:spPr>
          <a:xfrm>
            <a:off x="1042193" y="1355324"/>
            <a:ext cx="411841" cy="2246769"/>
          </a:xfrm>
          <a:prstGeom prst="rect">
            <a:avLst/>
          </a:prstGeom>
          <a:noFill/>
        </p:spPr>
        <p:txBody>
          <a:bodyPr wrap="square">
            <a:spAutoFit/>
          </a:bodyPr>
          <a:lstStyle/>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Γ</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Ε</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Ι </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Λ</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H</a:t>
            </a:r>
            <a:endParaRPr lang="en-US" altLang="zh-CN" sz="2800" dirty="0">
              <a:latin typeface="Cambria Math" panose="02040503050406030204" pitchFamily="18" charset="0"/>
              <a:ea typeface="Cambria Math" panose="02040503050406030204" pitchFamily="18" charset="0"/>
              <a:cs typeface="Arial" panose="020B0604020202020204" pitchFamily="34" charset="0"/>
            </a:endParaRPr>
          </a:p>
        </p:txBody>
      </p:sp>
      <p:sp>
        <p:nvSpPr>
          <p:cNvPr id="5" name="文本框 4">
            <a:extLst>
              <a:ext uri="{FF2B5EF4-FFF2-40B4-BE49-F238E27FC236}">
                <a16:creationId xmlns:a16="http://schemas.microsoft.com/office/drawing/2014/main" id="{DE3E4BBC-A838-F959-8BEE-C524E4F48658}"/>
              </a:ext>
            </a:extLst>
          </p:cNvPr>
          <p:cNvSpPr txBox="1"/>
          <p:nvPr/>
        </p:nvSpPr>
        <p:spPr>
          <a:xfrm>
            <a:off x="6351589" y="3585806"/>
            <a:ext cx="504836" cy="2246769"/>
          </a:xfrm>
          <a:prstGeom prst="rect">
            <a:avLst/>
          </a:prstGeom>
          <a:noFill/>
        </p:spPr>
        <p:txBody>
          <a:bodyPr wrap="square">
            <a:spAutoFit/>
          </a:bodyPr>
          <a:lstStyle/>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ξ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σ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υ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χ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ψ</a:t>
            </a:r>
            <a:endParaRPr lang="en-US" altLang="zh-CN" sz="2800"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76D093CA-7952-4698-C918-842282210DFC}"/>
              </a:ext>
            </a:extLst>
          </p:cNvPr>
          <p:cNvSpPr txBox="1"/>
          <p:nvPr/>
        </p:nvSpPr>
        <p:spPr>
          <a:xfrm>
            <a:off x="3874431" y="1355324"/>
            <a:ext cx="504837" cy="1815882"/>
          </a:xfrm>
          <a:prstGeom prst="rect">
            <a:avLst/>
          </a:prstGeom>
          <a:noFill/>
        </p:spPr>
        <p:txBody>
          <a:bodyPr wrap="square">
            <a:spAutoFit/>
          </a:bodyPr>
          <a:lstStyle/>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Μ</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Ν</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Ξ</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Ο</a:t>
            </a:r>
            <a:endParaRPr lang="en-US" altLang="zh-CN" sz="2800" dirty="0">
              <a:latin typeface="Cambria Math" panose="02040503050406030204" pitchFamily="18" charset="0"/>
              <a:ea typeface="Cambria Math" panose="02040503050406030204" pitchFamily="18" charset="0"/>
              <a:cs typeface="Arial" panose="020B0604020202020204" pitchFamily="34" charset="0"/>
            </a:endParaRPr>
          </a:p>
        </p:txBody>
      </p:sp>
      <p:sp>
        <p:nvSpPr>
          <p:cNvPr id="7" name="文本框 6">
            <a:extLst>
              <a:ext uri="{FF2B5EF4-FFF2-40B4-BE49-F238E27FC236}">
                <a16:creationId xmlns:a16="http://schemas.microsoft.com/office/drawing/2014/main" id="{C991FD9B-7668-D02A-4341-41FED5C3CFD0}"/>
              </a:ext>
            </a:extLst>
          </p:cNvPr>
          <p:cNvSpPr txBox="1"/>
          <p:nvPr/>
        </p:nvSpPr>
        <p:spPr>
          <a:xfrm>
            <a:off x="6316550" y="1355324"/>
            <a:ext cx="400905" cy="1815882"/>
          </a:xfrm>
          <a:prstGeom prst="rect">
            <a:avLst/>
          </a:prstGeom>
          <a:noFill/>
        </p:spPr>
        <p:txBody>
          <a:bodyPr wrap="square">
            <a:spAutoFit/>
          </a:bodyPr>
          <a:lstStyle/>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Σ</a:t>
            </a:r>
          </a:p>
          <a:p>
            <a:pPr algn="just"/>
            <a:r>
              <a:rPr lang="en-US" altLang="zh-CN" sz="2800" b="1" dirty="0">
                <a:latin typeface="Calibri" panose="020F0502020204030204" pitchFamily="34" charset="0"/>
                <a:ea typeface="Cambria Math" panose="02040503050406030204" pitchFamily="18" charset="0"/>
                <a:cs typeface="Calibri" panose="020F0502020204030204" pitchFamily="34" charset="0"/>
              </a:rPr>
              <a:t>Υ</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Χ</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Ψ</a:t>
            </a:r>
            <a:endParaRPr lang="en-US" altLang="zh-CN" sz="2800" dirty="0">
              <a:latin typeface="Cambria Math" panose="02040503050406030204" pitchFamily="18" charset="0"/>
              <a:ea typeface="Cambria Math" panose="02040503050406030204" pitchFamily="18" charset="0"/>
              <a:cs typeface="Arial" panose="020B0604020202020204" pitchFamily="34" charset="0"/>
            </a:endParaRPr>
          </a:p>
        </p:txBody>
      </p:sp>
      <p:sp>
        <p:nvSpPr>
          <p:cNvPr id="10" name="文本框 9">
            <a:extLst>
              <a:ext uri="{FF2B5EF4-FFF2-40B4-BE49-F238E27FC236}">
                <a16:creationId xmlns:a16="http://schemas.microsoft.com/office/drawing/2014/main" id="{BCB1BC9C-C132-B546-979B-69511B45C6CD}"/>
              </a:ext>
            </a:extLst>
          </p:cNvPr>
          <p:cNvSpPr txBox="1"/>
          <p:nvPr/>
        </p:nvSpPr>
        <p:spPr>
          <a:xfrm>
            <a:off x="1042193" y="3949363"/>
            <a:ext cx="466795" cy="1815882"/>
          </a:xfrm>
          <a:prstGeom prst="rect">
            <a:avLst/>
          </a:prstGeom>
          <a:noFill/>
        </p:spPr>
        <p:txBody>
          <a:bodyPr wrap="square">
            <a:spAutoFit/>
          </a:bodyPr>
          <a:lstStyle/>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γ </a:t>
            </a:r>
          </a:p>
          <a:p>
            <a:r>
              <a:rPr lang="el-GR" altLang="zh-CN" sz="2800" b="1" dirty="0">
                <a:latin typeface="Times New Roman" panose="02020603050405020304" pitchFamily="18" charset="0"/>
                <a:ea typeface="Cambria Math" panose="02040503050406030204" pitchFamily="18" charset="0"/>
                <a:cs typeface="Times New Roman" panose="02020603050405020304" pitchFamily="18" charset="0"/>
              </a:rPr>
              <a:t>Δ</a:t>
            </a:r>
            <a:endParaRPr lang="en-US" altLang="zh-CN" sz="2800" b="1" dirty="0">
              <a:latin typeface="Times New Roman" panose="02020603050405020304" pitchFamily="18" charset="0"/>
              <a:ea typeface="Cambria Math" panose="02040503050406030204" pitchFamily="18" charset="0"/>
              <a:cs typeface="Times New Roman" panose="02020603050405020304" pitchFamily="18" charset="0"/>
            </a:endParaRP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ε </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ζ</a:t>
            </a:r>
            <a:endParaRPr lang="zh-CN" altLang="en-US" sz="28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6F4924EF-A081-6BE7-9B27-616D5F4B5706}"/>
              </a:ext>
            </a:extLst>
          </p:cNvPr>
          <p:cNvSpPr txBox="1"/>
          <p:nvPr/>
        </p:nvSpPr>
        <p:spPr>
          <a:xfrm>
            <a:off x="3874432" y="3949363"/>
            <a:ext cx="504836" cy="1815882"/>
          </a:xfrm>
          <a:prstGeom prst="rect">
            <a:avLst/>
          </a:prstGeom>
          <a:noFill/>
        </p:spPr>
        <p:txBody>
          <a:bodyPr wrap="square">
            <a:spAutoFit/>
          </a:bodyPr>
          <a:lstStyle/>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η</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ι </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κ </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ν</a:t>
            </a:r>
            <a:endParaRPr lang="zh-CN" altLang="en-US" sz="28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ED4ED2DB-9A91-CD44-572F-D840A12251BB}"/>
              </a:ext>
            </a:extLst>
          </p:cNvPr>
          <p:cNvSpPr txBox="1"/>
          <p:nvPr/>
        </p:nvSpPr>
        <p:spPr>
          <a:xfrm>
            <a:off x="1825213" y="1378891"/>
            <a:ext cx="1701761" cy="2246769"/>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Gamma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Iota</a:t>
            </a:r>
          </a:p>
          <a:p>
            <a:pPr algn="just"/>
            <a:r>
              <a:rPr lang="en-US" altLang="zh-CN" sz="2800" b="1" dirty="0" err="1">
                <a:solidFill>
                  <a:schemeClr val="accent1"/>
                </a:solidFill>
                <a:latin typeface="Cambria Math" panose="02040503050406030204" pitchFamily="18" charset="0"/>
                <a:ea typeface="Cambria Math" panose="02040503050406030204" pitchFamily="18" charset="0"/>
                <a:cs typeface="Arial" panose="020B0604020202020204" pitchFamily="34" charset="0"/>
              </a:rPr>
              <a:t>Lamda</a:t>
            </a:r>
            <a:endPar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Eta</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3" name="文本框 2">
            <a:extLst>
              <a:ext uri="{FF2B5EF4-FFF2-40B4-BE49-F238E27FC236}">
                <a16:creationId xmlns:a16="http://schemas.microsoft.com/office/drawing/2014/main" id="{797D3204-7A03-0E53-C6E5-281C8AC6AA4A}"/>
              </a:ext>
            </a:extLst>
          </p:cNvPr>
          <p:cNvSpPr txBox="1"/>
          <p:nvPr/>
        </p:nvSpPr>
        <p:spPr>
          <a:xfrm>
            <a:off x="4522618" y="1355324"/>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Mu</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Nu</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ξ </a:t>
            </a:r>
            <a:r>
              <a:rPr lang="zh-CN" altLang="en-US"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克西</a:t>
            </a:r>
            <a:endPar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Omicron</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9" name="文本框 8">
            <a:extLst>
              <a:ext uri="{FF2B5EF4-FFF2-40B4-BE49-F238E27FC236}">
                <a16:creationId xmlns:a16="http://schemas.microsoft.com/office/drawing/2014/main" id="{B3DADDDB-3007-9AB7-1BA3-C03DBD4DFAD1}"/>
              </a:ext>
            </a:extLst>
          </p:cNvPr>
          <p:cNvSpPr txBox="1"/>
          <p:nvPr/>
        </p:nvSpPr>
        <p:spPr>
          <a:xfrm>
            <a:off x="6809626" y="1355324"/>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Sigma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Upsilon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Kai</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Psi</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11" name="文本框 10">
            <a:extLst>
              <a:ext uri="{FF2B5EF4-FFF2-40B4-BE49-F238E27FC236}">
                <a16:creationId xmlns:a16="http://schemas.microsoft.com/office/drawing/2014/main" id="{4631432A-B734-2993-2335-274525D1EE44}"/>
              </a:ext>
            </a:extLst>
          </p:cNvPr>
          <p:cNvSpPr txBox="1"/>
          <p:nvPr/>
        </p:nvSpPr>
        <p:spPr>
          <a:xfrm>
            <a:off x="1784967" y="4016693"/>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Gamma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Delta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Zeta</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12" name="文本框 11">
            <a:extLst>
              <a:ext uri="{FF2B5EF4-FFF2-40B4-BE49-F238E27FC236}">
                <a16:creationId xmlns:a16="http://schemas.microsoft.com/office/drawing/2014/main" id="{FF3BF8B4-321E-C823-940E-F0ECCF46213F}"/>
              </a:ext>
            </a:extLst>
          </p:cNvPr>
          <p:cNvSpPr txBox="1"/>
          <p:nvPr/>
        </p:nvSpPr>
        <p:spPr>
          <a:xfrm>
            <a:off x="4566912" y="3949363"/>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Eta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Iota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Kappa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Nu</a:t>
            </a:r>
          </a:p>
        </p:txBody>
      </p:sp>
      <p:sp>
        <p:nvSpPr>
          <p:cNvPr id="13" name="文本框 12">
            <a:extLst>
              <a:ext uri="{FF2B5EF4-FFF2-40B4-BE49-F238E27FC236}">
                <a16:creationId xmlns:a16="http://schemas.microsoft.com/office/drawing/2014/main" id="{B7111AFB-C20D-2CB9-5209-D4628B10A6B9}"/>
              </a:ext>
            </a:extLst>
          </p:cNvPr>
          <p:cNvSpPr txBox="1"/>
          <p:nvPr/>
        </p:nvSpPr>
        <p:spPr>
          <a:xfrm>
            <a:off x="6809625" y="3602093"/>
            <a:ext cx="1701761" cy="2246769"/>
          </a:xfrm>
          <a:prstGeom prst="rect">
            <a:avLst/>
          </a:prstGeom>
          <a:noFill/>
        </p:spPr>
        <p:txBody>
          <a:bodyPr wrap="square">
            <a:spAutoFit/>
          </a:bodyPr>
          <a:lstStyle/>
          <a:p>
            <a:pPr algn="just"/>
            <a:r>
              <a:rPr lang="zh-CN" altLang="en-US"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克西</a:t>
            </a:r>
            <a:endPar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Sigma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Upsilon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Kai</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Psi</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106771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14" grpId="0"/>
      <p:bldP spid="2" grpId="0"/>
      <p:bldP spid="3" grpId="0"/>
      <p:bldP spid="9" grpId="0"/>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What is light?</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3">
            <a:extLst>
              <a:ext uri="{FF2B5EF4-FFF2-40B4-BE49-F238E27FC236}">
                <a16:creationId xmlns:a16="http://schemas.microsoft.com/office/drawing/2014/main" id="{246C8F8A-A598-6BB7-82D4-3B57324AF64E}"/>
              </a:ext>
            </a:extLst>
          </p:cNvPr>
          <p:cNvSpPr txBox="1"/>
          <p:nvPr/>
        </p:nvSpPr>
        <p:spPr>
          <a:xfrm>
            <a:off x="3753098" y="5345647"/>
            <a:ext cx="4286774"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Ray optics</a:t>
            </a:r>
            <a:r>
              <a:rPr lang="en-US" altLang="zh-CN" dirty="0"/>
              <a:t>: the limit of wave optics when the wavelength is very short</a:t>
            </a:r>
            <a:endParaRPr lang="zh-CN" altLang="en-US" dirty="0"/>
          </a:p>
        </p:txBody>
      </p:sp>
      <p:sp>
        <p:nvSpPr>
          <p:cNvPr id="3" name="椭圆 2">
            <a:extLst>
              <a:ext uri="{FF2B5EF4-FFF2-40B4-BE49-F238E27FC236}">
                <a16:creationId xmlns:a16="http://schemas.microsoft.com/office/drawing/2014/main" id="{FE37DF86-15E2-22EE-956D-32C6BAC2A4A9}"/>
              </a:ext>
            </a:extLst>
          </p:cNvPr>
          <p:cNvSpPr/>
          <p:nvPr/>
        </p:nvSpPr>
        <p:spPr>
          <a:xfrm>
            <a:off x="409951" y="3477092"/>
            <a:ext cx="3112315" cy="3021621"/>
          </a:xfrm>
          <a:prstGeom prst="ellipse">
            <a:avLst/>
          </a:prstGeom>
          <a:solidFill>
            <a:srgbClr val="FED5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3F484BA-AA55-5030-5560-1F11ACE58502}"/>
              </a:ext>
            </a:extLst>
          </p:cNvPr>
          <p:cNvSpPr/>
          <p:nvPr/>
        </p:nvSpPr>
        <p:spPr>
          <a:xfrm>
            <a:off x="939856" y="4132833"/>
            <a:ext cx="1971133" cy="191369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C996BA00-B40D-67EE-6F76-397654AE19A7}"/>
              </a:ext>
            </a:extLst>
          </p:cNvPr>
          <p:cNvSpPr/>
          <p:nvPr/>
        </p:nvSpPr>
        <p:spPr>
          <a:xfrm>
            <a:off x="1456901" y="4825060"/>
            <a:ext cx="937041" cy="90973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431D88A1-1ACC-C304-57B8-5E5BB1D2092A}"/>
              </a:ext>
            </a:extLst>
          </p:cNvPr>
          <p:cNvCxnSpPr>
            <a:cxnSpLocks/>
          </p:cNvCxnSpPr>
          <p:nvPr/>
        </p:nvCxnSpPr>
        <p:spPr>
          <a:xfrm>
            <a:off x="1966108" y="5558306"/>
            <a:ext cx="17868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80FF22A6-A7A3-93A3-AD79-820DB49A0893}"/>
              </a:ext>
            </a:extLst>
          </p:cNvPr>
          <p:cNvCxnSpPr>
            <a:cxnSpLocks/>
          </p:cNvCxnSpPr>
          <p:nvPr/>
        </p:nvCxnSpPr>
        <p:spPr>
          <a:xfrm>
            <a:off x="1966108" y="4552283"/>
            <a:ext cx="17868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D2505B41-F028-3C44-01DB-79BFFE062A85}"/>
              </a:ext>
            </a:extLst>
          </p:cNvPr>
          <p:cNvSpPr txBox="1"/>
          <p:nvPr/>
        </p:nvSpPr>
        <p:spPr>
          <a:xfrm>
            <a:off x="3799104" y="4090618"/>
            <a:ext cx="5037588"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Wave optics</a:t>
            </a:r>
            <a:r>
              <a:rPr lang="en-US" altLang="zh-CN" dirty="0"/>
              <a:t>: approximation to electromagnetic optics that relies on the wavefunction, a scalar function of time and space.</a:t>
            </a:r>
            <a:endParaRPr lang="zh-CN" altLang="en-US" dirty="0"/>
          </a:p>
        </p:txBody>
      </p:sp>
      <p:cxnSp>
        <p:nvCxnSpPr>
          <p:cNvPr id="19" name="直接箭头连接符 18">
            <a:extLst>
              <a:ext uri="{FF2B5EF4-FFF2-40B4-BE49-F238E27FC236}">
                <a16:creationId xmlns:a16="http://schemas.microsoft.com/office/drawing/2014/main" id="{0720EB48-3EFF-491C-734A-3560A1DE55CB}"/>
              </a:ext>
            </a:extLst>
          </p:cNvPr>
          <p:cNvCxnSpPr>
            <a:cxnSpLocks/>
          </p:cNvCxnSpPr>
          <p:nvPr/>
        </p:nvCxnSpPr>
        <p:spPr>
          <a:xfrm>
            <a:off x="1966108" y="3639281"/>
            <a:ext cx="17868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3">
            <a:extLst>
              <a:ext uri="{FF2B5EF4-FFF2-40B4-BE49-F238E27FC236}">
                <a16:creationId xmlns:a16="http://schemas.microsoft.com/office/drawing/2014/main" id="{E4BCFD42-6A4D-4C4C-9D40-DD473F34FCDA}"/>
              </a:ext>
            </a:extLst>
          </p:cNvPr>
          <p:cNvSpPr txBox="1"/>
          <p:nvPr/>
        </p:nvSpPr>
        <p:spPr>
          <a:xfrm>
            <a:off x="3799104" y="2945876"/>
            <a:ext cx="5037588"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Electromagnetic optics</a:t>
            </a:r>
            <a:r>
              <a:rPr lang="en-US" altLang="zh-CN" dirty="0"/>
              <a:t>: vector theory comprising an electric field and magnetic field that vary in time and space.</a:t>
            </a:r>
            <a:endParaRPr lang="zh-CN" altLang="en-US" dirty="0"/>
          </a:p>
        </p:txBody>
      </p:sp>
      <p:sp>
        <p:nvSpPr>
          <p:cNvPr id="4" name="文本框 3">
            <a:extLst>
              <a:ext uri="{FF2B5EF4-FFF2-40B4-BE49-F238E27FC236}">
                <a16:creationId xmlns:a16="http://schemas.microsoft.com/office/drawing/2014/main" id="{084C0BC6-3159-FD04-5B05-F248DE006EDF}"/>
              </a:ext>
            </a:extLst>
          </p:cNvPr>
          <p:cNvSpPr txBox="1"/>
          <p:nvPr/>
        </p:nvSpPr>
        <p:spPr>
          <a:xfrm>
            <a:off x="409951"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几何光学</a:t>
            </a:r>
            <a:endParaRPr lang="zh-CN" altLang="en-US" dirty="0"/>
          </a:p>
        </p:txBody>
      </p:sp>
      <p:sp>
        <p:nvSpPr>
          <p:cNvPr id="7" name="文本框 6">
            <a:extLst>
              <a:ext uri="{FF2B5EF4-FFF2-40B4-BE49-F238E27FC236}">
                <a16:creationId xmlns:a16="http://schemas.microsoft.com/office/drawing/2014/main" id="{5B8DDFF5-998A-0331-D753-9BDFABB0678F}"/>
              </a:ext>
            </a:extLst>
          </p:cNvPr>
          <p:cNvSpPr txBox="1"/>
          <p:nvPr/>
        </p:nvSpPr>
        <p:spPr>
          <a:xfrm>
            <a:off x="2162551"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粒子学说</a:t>
            </a:r>
            <a:endParaRPr lang="zh-CN" altLang="en-US" dirty="0"/>
          </a:p>
        </p:txBody>
      </p:sp>
      <p:sp>
        <p:nvSpPr>
          <p:cNvPr id="11" name="文本框 10">
            <a:extLst>
              <a:ext uri="{FF2B5EF4-FFF2-40B4-BE49-F238E27FC236}">
                <a16:creationId xmlns:a16="http://schemas.microsoft.com/office/drawing/2014/main" id="{9C668CBB-88CF-F952-FBED-5C322EB53318}"/>
              </a:ext>
            </a:extLst>
          </p:cNvPr>
          <p:cNvSpPr txBox="1"/>
          <p:nvPr/>
        </p:nvSpPr>
        <p:spPr>
          <a:xfrm>
            <a:off x="3822172"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波动光学</a:t>
            </a:r>
            <a:endParaRPr lang="zh-CN" altLang="en-US" dirty="0"/>
          </a:p>
        </p:txBody>
      </p:sp>
      <p:sp>
        <p:nvSpPr>
          <p:cNvPr id="12" name="文本框 11">
            <a:extLst>
              <a:ext uri="{FF2B5EF4-FFF2-40B4-BE49-F238E27FC236}">
                <a16:creationId xmlns:a16="http://schemas.microsoft.com/office/drawing/2014/main" id="{211B0751-0A18-0139-1003-2143DDE90C74}"/>
              </a:ext>
            </a:extLst>
          </p:cNvPr>
          <p:cNvSpPr txBox="1"/>
          <p:nvPr/>
        </p:nvSpPr>
        <p:spPr>
          <a:xfrm>
            <a:off x="5401601"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电磁光学</a:t>
            </a:r>
            <a:endParaRPr lang="zh-CN" altLang="en-US" dirty="0"/>
          </a:p>
        </p:txBody>
      </p:sp>
      <p:sp>
        <p:nvSpPr>
          <p:cNvPr id="13" name="文本框 12">
            <a:extLst>
              <a:ext uri="{FF2B5EF4-FFF2-40B4-BE49-F238E27FC236}">
                <a16:creationId xmlns:a16="http://schemas.microsoft.com/office/drawing/2014/main" id="{2AAC9757-00D6-0ED1-B750-6FCAE071BAF6}"/>
              </a:ext>
            </a:extLst>
          </p:cNvPr>
          <p:cNvSpPr txBox="1"/>
          <p:nvPr/>
        </p:nvSpPr>
        <p:spPr>
          <a:xfrm>
            <a:off x="7309722" y="1867349"/>
            <a:ext cx="1416141"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波粒二象性</a:t>
            </a:r>
            <a:endParaRPr lang="zh-CN" altLang="en-US" dirty="0"/>
          </a:p>
        </p:txBody>
      </p:sp>
      <p:cxnSp>
        <p:nvCxnSpPr>
          <p:cNvPr id="15" name="直接箭头连接符 14">
            <a:extLst>
              <a:ext uri="{FF2B5EF4-FFF2-40B4-BE49-F238E27FC236}">
                <a16:creationId xmlns:a16="http://schemas.microsoft.com/office/drawing/2014/main" id="{0437B49C-2843-6DA9-771C-08E8CBF3DD43}"/>
              </a:ext>
            </a:extLst>
          </p:cNvPr>
          <p:cNvCxnSpPr/>
          <p:nvPr/>
        </p:nvCxnSpPr>
        <p:spPr>
          <a:xfrm>
            <a:off x="1547124" y="2033122"/>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E49290C-4576-056B-AFAC-21E032D61BFA}"/>
              </a:ext>
            </a:extLst>
          </p:cNvPr>
          <p:cNvSpPr txBox="1"/>
          <p:nvPr/>
        </p:nvSpPr>
        <p:spPr>
          <a:xfrm>
            <a:off x="1097270" y="722625"/>
            <a:ext cx="1498129"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17</a:t>
            </a:r>
            <a:r>
              <a:rPr lang="zh-CN" altLang="en-US" sz="1600" dirty="0"/>
              <a:t>世纪，牛顿力学，光是粒子，解释反射、折射、色散</a:t>
            </a:r>
          </a:p>
        </p:txBody>
      </p:sp>
      <p:cxnSp>
        <p:nvCxnSpPr>
          <p:cNvPr id="17" name="直接箭头连接符 16">
            <a:extLst>
              <a:ext uri="{FF2B5EF4-FFF2-40B4-BE49-F238E27FC236}">
                <a16:creationId xmlns:a16="http://schemas.microsoft.com/office/drawing/2014/main" id="{9D4592B8-0758-5114-448E-DD570DF85F65}"/>
              </a:ext>
            </a:extLst>
          </p:cNvPr>
          <p:cNvCxnSpPr/>
          <p:nvPr/>
        </p:nvCxnSpPr>
        <p:spPr>
          <a:xfrm>
            <a:off x="3262074" y="2033122"/>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E1CFF8F-B704-3126-0CB9-2DDF40F0A861}"/>
              </a:ext>
            </a:extLst>
          </p:cNvPr>
          <p:cNvSpPr txBox="1"/>
          <p:nvPr/>
        </p:nvSpPr>
        <p:spPr>
          <a:xfrm>
            <a:off x="2772070" y="719625"/>
            <a:ext cx="1575742"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t>杨氏双缝干涉，为什么光变暗。惠更斯原理光是波</a:t>
            </a:r>
          </a:p>
        </p:txBody>
      </p:sp>
      <p:cxnSp>
        <p:nvCxnSpPr>
          <p:cNvPr id="21" name="直接箭头连接符 20">
            <a:extLst>
              <a:ext uri="{FF2B5EF4-FFF2-40B4-BE49-F238E27FC236}">
                <a16:creationId xmlns:a16="http://schemas.microsoft.com/office/drawing/2014/main" id="{9B19B060-F64C-7F9F-3A7B-294E27A23EC3}"/>
              </a:ext>
            </a:extLst>
          </p:cNvPr>
          <p:cNvCxnSpPr/>
          <p:nvPr/>
        </p:nvCxnSpPr>
        <p:spPr>
          <a:xfrm>
            <a:off x="4870599" y="2043225"/>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14E0CAF-F4E6-77F3-27BD-8AA2305293C7}"/>
              </a:ext>
            </a:extLst>
          </p:cNvPr>
          <p:cNvSpPr txBox="1"/>
          <p:nvPr/>
        </p:nvSpPr>
        <p:spPr>
          <a:xfrm>
            <a:off x="4394845" y="685487"/>
            <a:ext cx="1891880"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t>光偏振无法机械波解释，传播介质解释，麦克斯韦推导电磁波速等于光速</a:t>
            </a:r>
          </a:p>
        </p:txBody>
      </p:sp>
      <p:cxnSp>
        <p:nvCxnSpPr>
          <p:cNvPr id="23" name="直接箭头连接符 22">
            <a:extLst>
              <a:ext uri="{FF2B5EF4-FFF2-40B4-BE49-F238E27FC236}">
                <a16:creationId xmlns:a16="http://schemas.microsoft.com/office/drawing/2014/main" id="{8DD55648-D03B-B6FC-8113-332B5353F941}"/>
              </a:ext>
            </a:extLst>
          </p:cNvPr>
          <p:cNvCxnSpPr/>
          <p:nvPr/>
        </p:nvCxnSpPr>
        <p:spPr>
          <a:xfrm>
            <a:off x="6712538" y="2054111"/>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DD04625F-742D-2F97-F705-5C2223355F64}"/>
              </a:ext>
            </a:extLst>
          </p:cNvPr>
          <p:cNvSpPr txBox="1"/>
          <p:nvPr/>
        </p:nvSpPr>
        <p:spPr>
          <a:xfrm>
            <a:off x="6266313" y="562312"/>
            <a:ext cx="1891879"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t>光电效应不满足波动理论的光强对应能量，黑体辐射紫外灾难，杰弗里泰勒单光子双缝干涉</a:t>
            </a:r>
          </a:p>
        </p:txBody>
      </p:sp>
      <p:sp>
        <p:nvSpPr>
          <p:cNvPr id="28" name="矩形 27">
            <a:extLst>
              <a:ext uri="{FF2B5EF4-FFF2-40B4-BE49-F238E27FC236}">
                <a16:creationId xmlns:a16="http://schemas.microsoft.com/office/drawing/2014/main" id="{E6CCFF63-12C5-34FB-EBE0-2BCDA92BBDAB}"/>
              </a:ext>
            </a:extLst>
          </p:cNvPr>
          <p:cNvSpPr/>
          <p:nvPr/>
        </p:nvSpPr>
        <p:spPr>
          <a:xfrm>
            <a:off x="3799104" y="4147400"/>
            <a:ext cx="5116090" cy="86152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962753BC-8963-67EA-23C1-5C4310C996AE}"/>
              </a:ext>
            </a:extLst>
          </p:cNvPr>
          <p:cNvSpPr txBox="1"/>
          <p:nvPr/>
        </p:nvSpPr>
        <p:spPr>
          <a:xfrm>
            <a:off x="5023386" y="3758919"/>
            <a:ext cx="2916183" cy="369332"/>
          </a:xfrm>
          <a:prstGeom prst="rect">
            <a:avLst/>
          </a:prstGeom>
          <a:noFill/>
        </p:spPr>
        <p:txBody>
          <a:bodyPr wrap="none" rtlCol="0">
            <a:spAutoFit/>
          </a:bodyPr>
          <a:lstStyle/>
          <a:p>
            <a:r>
              <a:rPr lang="en-US" altLang="zh-CN" b="1" dirty="0">
                <a:solidFill>
                  <a:srgbClr val="C00000"/>
                </a:solidFill>
              </a:rPr>
              <a:t>1. Our course starts here</a:t>
            </a:r>
            <a:endParaRPr lang="zh-CN" altLang="en-US" b="1" dirty="0">
              <a:solidFill>
                <a:srgbClr val="C00000"/>
              </a:solidFill>
            </a:endParaRPr>
          </a:p>
        </p:txBody>
      </p:sp>
      <p:sp>
        <p:nvSpPr>
          <p:cNvPr id="30" name="矩形 29">
            <a:extLst>
              <a:ext uri="{FF2B5EF4-FFF2-40B4-BE49-F238E27FC236}">
                <a16:creationId xmlns:a16="http://schemas.microsoft.com/office/drawing/2014/main" id="{36FD32BD-AE65-8FC4-C961-D0384D910B4F}"/>
              </a:ext>
            </a:extLst>
          </p:cNvPr>
          <p:cNvSpPr/>
          <p:nvPr/>
        </p:nvSpPr>
        <p:spPr>
          <a:xfrm>
            <a:off x="3799104" y="2951302"/>
            <a:ext cx="5116090" cy="86152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3E5CE370-4E7C-EF15-6307-DCB5F2100ADB}"/>
              </a:ext>
            </a:extLst>
          </p:cNvPr>
          <p:cNvSpPr txBox="1"/>
          <p:nvPr/>
        </p:nvSpPr>
        <p:spPr>
          <a:xfrm>
            <a:off x="5666924" y="4971295"/>
            <a:ext cx="1608133" cy="369332"/>
          </a:xfrm>
          <a:prstGeom prst="rect">
            <a:avLst/>
          </a:prstGeom>
          <a:noFill/>
        </p:spPr>
        <p:txBody>
          <a:bodyPr wrap="none" rtlCol="0">
            <a:spAutoFit/>
          </a:bodyPr>
          <a:lstStyle/>
          <a:p>
            <a:r>
              <a:rPr lang="en-US" altLang="zh-CN" b="1" dirty="0">
                <a:solidFill>
                  <a:srgbClr val="C00000"/>
                </a:solidFill>
              </a:rPr>
              <a:t>2. Next stage</a:t>
            </a:r>
            <a:endParaRPr lang="zh-CN" altLang="en-US" b="1" dirty="0">
              <a:solidFill>
                <a:srgbClr val="C00000"/>
              </a:solidFill>
            </a:endParaRPr>
          </a:p>
        </p:txBody>
      </p:sp>
      <p:pic>
        <p:nvPicPr>
          <p:cNvPr id="25" name="a414a6fc17619b1be4f20af307c32bad">
            <a:hlinkClick r:id="" action="ppaction://media"/>
            <a:extLst>
              <a:ext uri="{FF2B5EF4-FFF2-40B4-BE49-F238E27FC236}">
                <a16:creationId xmlns:a16="http://schemas.microsoft.com/office/drawing/2014/main" id="{1DE2DBDF-CC0B-0DF0-3AEE-B10DE7F0F269}"/>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2594" b="12579"/>
          <a:stretch/>
        </p:blipFill>
        <p:spPr>
          <a:xfrm>
            <a:off x="8083488" y="610332"/>
            <a:ext cx="771175" cy="1332202"/>
          </a:xfrm>
          <a:prstGeom prst="rect">
            <a:avLst/>
          </a:prstGeom>
        </p:spPr>
      </p:pic>
      <p:sp>
        <p:nvSpPr>
          <p:cNvPr id="32" name="文本框 31">
            <a:extLst>
              <a:ext uri="{FF2B5EF4-FFF2-40B4-BE49-F238E27FC236}">
                <a16:creationId xmlns:a16="http://schemas.microsoft.com/office/drawing/2014/main" id="{7DCC379C-9911-AB8F-9252-3FF5DC421688}"/>
              </a:ext>
            </a:extLst>
          </p:cNvPr>
          <p:cNvSpPr txBox="1"/>
          <p:nvPr/>
        </p:nvSpPr>
        <p:spPr>
          <a:xfrm>
            <a:off x="1649314" y="2315517"/>
            <a:ext cx="6719023" cy="369332"/>
          </a:xfrm>
          <a:prstGeom prst="rect">
            <a:avLst/>
          </a:prstGeom>
          <a:noFill/>
        </p:spPr>
        <p:txBody>
          <a:bodyPr wrap="square">
            <a:spAutoFit/>
          </a:bodyPr>
          <a:lstStyle/>
          <a:p>
            <a:r>
              <a:rPr lang="zh-CN" altLang="en-US" dirty="0"/>
              <a:t> 光被视为电磁场的量子化激发态，表现为离散的能量包，即光子。</a:t>
            </a:r>
          </a:p>
        </p:txBody>
      </p:sp>
      <p:sp>
        <p:nvSpPr>
          <p:cNvPr id="26" name="文本框 25">
            <a:extLst>
              <a:ext uri="{FF2B5EF4-FFF2-40B4-BE49-F238E27FC236}">
                <a16:creationId xmlns:a16="http://schemas.microsoft.com/office/drawing/2014/main" id="{B7E60943-AD5D-734C-833B-1057E5742E09}"/>
              </a:ext>
            </a:extLst>
          </p:cNvPr>
          <p:cNvSpPr txBox="1"/>
          <p:nvPr/>
        </p:nvSpPr>
        <p:spPr>
          <a:xfrm>
            <a:off x="545226" y="2299091"/>
            <a:ext cx="1104088" cy="369332"/>
          </a:xfrm>
          <a:prstGeom prst="rect">
            <a:avLst/>
          </a:prstGeom>
          <a:noFill/>
        </p:spPr>
        <p:txBody>
          <a:bodyPr wrap="square">
            <a:spAutoFit/>
          </a:bodyPr>
          <a:lstStyle/>
          <a:p>
            <a:r>
              <a:rPr lang="zh-CN" altLang="en-US" b="1" dirty="0"/>
              <a:t>量子场论：</a:t>
            </a:r>
          </a:p>
        </p:txBody>
      </p:sp>
      <p:cxnSp>
        <p:nvCxnSpPr>
          <p:cNvPr id="34" name="连接符: 肘形 33">
            <a:extLst>
              <a:ext uri="{FF2B5EF4-FFF2-40B4-BE49-F238E27FC236}">
                <a16:creationId xmlns:a16="http://schemas.microsoft.com/office/drawing/2014/main" id="{9C63BE33-F9E2-F2C9-4137-7CDB2DB7F34F}"/>
              </a:ext>
            </a:extLst>
          </p:cNvPr>
          <p:cNvCxnSpPr>
            <a:cxnSpLocks/>
            <a:stCxn id="13" idx="2"/>
            <a:endCxn id="26" idx="1"/>
          </p:cNvCxnSpPr>
          <p:nvPr/>
        </p:nvCxnSpPr>
        <p:spPr>
          <a:xfrm rot="5400000">
            <a:off x="4157972" y="-1376064"/>
            <a:ext cx="247076" cy="7472567"/>
          </a:xfrm>
          <a:prstGeom prst="bentConnector4">
            <a:avLst>
              <a:gd name="adj1" fmla="val 12630"/>
              <a:gd name="adj2" fmla="val 10305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98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183"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25"/>
                </p:tgtEl>
              </p:cMediaNode>
            </p:video>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59756-AADD-B50E-2AC1-5D19C0038F8F}"/>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379989FF-09A8-0617-CE09-86B64384D13B}"/>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in free space</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B9BCFFF-40C8-F94A-309F-06DAB959342C}"/>
                  </a:ext>
                </a:extLst>
              </p:cNvPr>
              <p:cNvSpPr txBox="1"/>
              <p:nvPr/>
            </p:nvSpPr>
            <p:spPr>
              <a:xfrm>
                <a:off x="1294420" y="3105049"/>
                <a:ext cx="1271438" cy="41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19" name="文本框 18">
                <a:extLst>
                  <a:ext uri="{FF2B5EF4-FFF2-40B4-BE49-F238E27FC236}">
                    <a16:creationId xmlns:a16="http://schemas.microsoft.com/office/drawing/2014/main" id="{9B9BCFFF-40C8-F94A-309F-06DAB959342C}"/>
                  </a:ext>
                </a:extLst>
              </p:cNvPr>
              <p:cNvSpPr txBox="1">
                <a:spLocks noRot="1" noChangeAspect="1" noMove="1" noResize="1" noEditPoints="1" noAdjustHandles="1" noChangeArrowheads="1" noChangeShapeType="1" noTextEdit="1"/>
              </p:cNvSpPr>
              <p:nvPr/>
            </p:nvSpPr>
            <p:spPr>
              <a:xfrm>
                <a:off x="1294420" y="3105049"/>
                <a:ext cx="1271438" cy="41408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B0F6D11-5E54-E788-698E-8C6C257305F2}"/>
                  </a:ext>
                </a:extLst>
              </p:cNvPr>
              <p:cNvSpPr txBox="1"/>
              <p:nvPr/>
            </p:nvSpPr>
            <p:spPr>
              <a:xfrm>
                <a:off x="1296119" y="3818474"/>
                <a:ext cx="1380955" cy="695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𝜌</m:t>
                          </m:r>
                        </m:num>
                        <m:den>
                          <m:sSub>
                            <m:sSubPr>
                              <m:ctrlPr>
                                <a:rPr lang="en-US" altLang="zh-CN"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en-US" altLang="zh-CN" sz="2400" b="0" i="1" smtClean="0">
                                  <a:solidFill>
                                    <a:schemeClr val="tx1"/>
                                  </a:solidFill>
                                  <a:latin typeface="Cambria Math" panose="02040503050406030204" pitchFamily="18" charset="0"/>
                                </a:rPr>
                                <m:t>0</m:t>
                              </m:r>
                            </m:sub>
                          </m:sSub>
                        </m:den>
                      </m:f>
                    </m:oMath>
                  </m:oMathPara>
                </a14:m>
                <a:endParaRPr lang="zh-CN" altLang="en-US" sz="2400" dirty="0"/>
              </a:p>
            </p:txBody>
          </p:sp>
        </mc:Choice>
        <mc:Fallback xmlns="">
          <p:sp>
            <p:nvSpPr>
              <p:cNvPr id="20" name="文本框 19">
                <a:extLst>
                  <a:ext uri="{FF2B5EF4-FFF2-40B4-BE49-F238E27FC236}">
                    <a16:creationId xmlns:a16="http://schemas.microsoft.com/office/drawing/2014/main" id="{FB0F6D11-5E54-E788-698E-8C6C257305F2}"/>
                  </a:ext>
                </a:extLst>
              </p:cNvPr>
              <p:cNvSpPr txBox="1">
                <a:spLocks noRot="1" noChangeAspect="1" noMove="1" noResize="1" noEditPoints="1" noAdjustHandles="1" noChangeArrowheads="1" noChangeShapeType="1" noTextEdit="1"/>
              </p:cNvSpPr>
              <p:nvPr/>
            </p:nvSpPr>
            <p:spPr>
              <a:xfrm>
                <a:off x="1296119" y="3818474"/>
                <a:ext cx="1380955" cy="69512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480851-A2A7-B812-25E5-40FF235F5A5C}"/>
                  </a:ext>
                </a:extLst>
              </p:cNvPr>
              <p:cNvSpPr txBox="1"/>
              <p:nvPr/>
            </p:nvSpPr>
            <p:spPr>
              <a:xfrm>
                <a:off x="1294420" y="4561827"/>
                <a:ext cx="1887824"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1" name="文本框 20">
                <a:extLst>
                  <a:ext uri="{FF2B5EF4-FFF2-40B4-BE49-F238E27FC236}">
                    <a16:creationId xmlns:a16="http://schemas.microsoft.com/office/drawing/2014/main" id="{5B480851-A2A7-B812-25E5-40FF235F5A5C}"/>
                  </a:ext>
                </a:extLst>
              </p:cNvPr>
              <p:cNvSpPr txBox="1">
                <a:spLocks noRot="1" noChangeAspect="1" noMove="1" noResize="1" noEditPoints="1" noAdjustHandles="1" noChangeArrowheads="1" noChangeShapeType="1" noTextEdit="1"/>
              </p:cNvSpPr>
              <p:nvPr/>
            </p:nvSpPr>
            <p:spPr>
              <a:xfrm>
                <a:off x="1294420" y="4561827"/>
                <a:ext cx="1887824" cy="78694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3ED07311-EBE3-6BF6-E389-0BEF4C194180}"/>
                  </a:ext>
                </a:extLst>
              </p:cNvPr>
              <p:cNvSpPr txBox="1"/>
              <p:nvPr/>
            </p:nvSpPr>
            <p:spPr>
              <a:xfrm>
                <a:off x="1294420" y="5397000"/>
                <a:ext cx="3046219"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𝜇</m:t>
                          </m:r>
                        </m:e>
                        <m:sub>
                          <m:r>
                            <a:rPr lang="zh-CN" altLang="en-US" sz="2400">
                              <a:solidFill>
                                <a:schemeClr val="tx1"/>
                              </a:solidFill>
                              <a:latin typeface="Cambria Math" panose="02040503050406030204" pitchFamily="18" charset="0"/>
                            </a:rPr>
                            <m:t>0</m:t>
                          </m:r>
                        </m:sub>
                      </m:sSub>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𝜀</m:t>
                          </m:r>
                        </m:e>
                        <m:sub>
                          <m:r>
                            <a:rPr lang="en-US" altLang="zh-CN" sz="2400" i="1">
                              <a:solidFill>
                                <a:schemeClr val="tx1"/>
                              </a:solidFill>
                              <a:latin typeface="Cambria Math" panose="02040503050406030204" pitchFamily="18" charset="0"/>
                            </a:rPr>
                            <m:t>0</m:t>
                          </m:r>
                        </m:sub>
                      </m:sSub>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2" name="文本框 21">
                <a:extLst>
                  <a:ext uri="{FF2B5EF4-FFF2-40B4-BE49-F238E27FC236}">
                    <a16:creationId xmlns:a16="http://schemas.microsoft.com/office/drawing/2014/main" id="{3ED07311-EBE3-6BF6-E389-0BEF4C194180}"/>
                  </a:ext>
                </a:extLst>
              </p:cNvPr>
              <p:cNvSpPr txBox="1">
                <a:spLocks noRot="1" noChangeAspect="1" noMove="1" noResize="1" noEditPoints="1" noAdjustHandles="1" noChangeArrowheads="1" noChangeShapeType="1" noTextEdit="1"/>
              </p:cNvSpPr>
              <p:nvPr/>
            </p:nvSpPr>
            <p:spPr>
              <a:xfrm>
                <a:off x="1294420" y="5397000"/>
                <a:ext cx="3046219" cy="786947"/>
              </a:xfrm>
              <a:prstGeom prst="rect">
                <a:avLst/>
              </a:prstGeom>
              <a:blipFill>
                <a:blip r:embed="rId6"/>
                <a:stretch>
                  <a:fillRect/>
                </a:stretch>
              </a:blipFill>
            </p:spPr>
            <p:txBody>
              <a:bodyPr/>
              <a:lstStyle/>
              <a:p>
                <a:r>
                  <a:rPr lang="zh-CN" altLang="en-US">
                    <a:noFill/>
                  </a:rPr>
                  <a:t> </a:t>
                </a:r>
              </a:p>
            </p:txBody>
          </p:sp>
        </mc:Fallback>
      </mc:AlternateContent>
      <p:sp>
        <p:nvSpPr>
          <p:cNvPr id="23" name="文本框 3">
            <a:extLst>
              <a:ext uri="{FF2B5EF4-FFF2-40B4-BE49-F238E27FC236}">
                <a16:creationId xmlns:a16="http://schemas.microsoft.com/office/drawing/2014/main" id="{1A14A500-B6AA-46D7-F5D3-CA72A1D62364}"/>
              </a:ext>
            </a:extLst>
          </p:cNvPr>
          <p:cNvSpPr txBox="1"/>
          <p:nvPr/>
        </p:nvSpPr>
        <p:spPr>
          <a:xfrm>
            <a:off x="4481496" y="3105049"/>
            <a:ext cx="3502162"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Gauss’s law of magnetism</a:t>
            </a:r>
          </a:p>
          <a:p>
            <a:r>
              <a:rPr lang="zh-CN" altLang="en-US" dirty="0"/>
              <a:t>（高斯磁定律</a:t>
            </a:r>
            <a:r>
              <a:rPr lang="en-US" altLang="zh-CN" dirty="0"/>
              <a:t>: </a:t>
            </a:r>
            <a:r>
              <a:rPr lang="zh-CN" altLang="en-US" dirty="0"/>
              <a:t>磁单极不存在）</a:t>
            </a:r>
          </a:p>
        </p:txBody>
      </p:sp>
      <p:sp>
        <p:nvSpPr>
          <p:cNvPr id="24" name="文本框 3">
            <a:extLst>
              <a:ext uri="{FF2B5EF4-FFF2-40B4-BE49-F238E27FC236}">
                <a16:creationId xmlns:a16="http://schemas.microsoft.com/office/drawing/2014/main" id="{F808F628-02C5-377B-ACBB-E4B16841FB10}"/>
              </a:ext>
            </a:extLst>
          </p:cNvPr>
          <p:cNvSpPr txBox="1"/>
          <p:nvPr/>
        </p:nvSpPr>
        <p:spPr>
          <a:xfrm>
            <a:off x="4481496" y="3898480"/>
            <a:ext cx="4214764"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Gauss’s law of electrostatic</a:t>
            </a:r>
          </a:p>
          <a:p>
            <a:r>
              <a:rPr lang="zh-CN" altLang="en-US" dirty="0"/>
              <a:t>（高斯静电定律：电荷如何产生电场）</a:t>
            </a:r>
          </a:p>
        </p:txBody>
      </p:sp>
      <p:sp>
        <p:nvSpPr>
          <p:cNvPr id="25" name="文本框 3">
            <a:extLst>
              <a:ext uri="{FF2B5EF4-FFF2-40B4-BE49-F238E27FC236}">
                <a16:creationId xmlns:a16="http://schemas.microsoft.com/office/drawing/2014/main" id="{015511F8-E9D5-AA9A-2E54-BC13A78273A0}"/>
              </a:ext>
            </a:extLst>
          </p:cNvPr>
          <p:cNvSpPr txBox="1"/>
          <p:nvPr/>
        </p:nvSpPr>
        <p:spPr>
          <a:xfrm>
            <a:off x="4481496" y="4691911"/>
            <a:ext cx="4069866"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Faraday’s law of  </a:t>
            </a:r>
            <a:r>
              <a:rPr lang="en-US" altLang="zh-CN" dirty="0" err="1"/>
              <a:t>of</a:t>
            </a:r>
            <a:r>
              <a:rPr lang="en-US" altLang="zh-CN" dirty="0"/>
              <a:t> Induction</a:t>
            </a:r>
          </a:p>
          <a:p>
            <a:r>
              <a:rPr lang="zh-CN" altLang="en-US" dirty="0"/>
              <a:t>（法拉第感应定律：时变磁场产生电场）</a:t>
            </a:r>
          </a:p>
        </p:txBody>
      </p:sp>
      <p:sp>
        <p:nvSpPr>
          <p:cNvPr id="26" name="文本框 3">
            <a:extLst>
              <a:ext uri="{FF2B5EF4-FFF2-40B4-BE49-F238E27FC236}">
                <a16:creationId xmlns:a16="http://schemas.microsoft.com/office/drawing/2014/main" id="{95940FC8-1DF6-432B-35B1-EC84A9D03B8B}"/>
              </a:ext>
            </a:extLst>
          </p:cNvPr>
          <p:cNvSpPr txBox="1"/>
          <p:nvPr/>
        </p:nvSpPr>
        <p:spPr>
          <a:xfrm>
            <a:off x="4549072" y="5537808"/>
            <a:ext cx="3585935"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Ampere’s Circuital law </a:t>
            </a:r>
          </a:p>
          <a:p>
            <a:r>
              <a:rPr lang="zh-CN" altLang="en-US" dirty="0"/>
              <a:t>（安培定律：时变电场产生磁场）</a:t>
            </a:r>
          </a:p>
        </p:txBody>
      </p:sp>
      <p:sp>
        <p:nvSpPr>
          <p:cNvPr id="4" name="文本框 3">
            <a:extLst>
              <a:ext uri="{FF2B5EF4-FFF2-40B4-BE49-F238E27FC236}">
                <a16:creationId xmlns:a16="http://schemas.microsoft.com/office/drawing/2014/main" id="{93B1DE7B-85E3-A8AB-5C19-9387DD699BEA}"/>
              </a:ext>
            </a:extLst>
          </p:cNvPr>
          <p:cNvSpPr txBox="1"/>
          <p:nvPr/>
        </p:nvSpPr>
        <p:spPr>
          <a:xfrm>
            <a:off x="127699" y="589721"/>
            <a:ext cx="8888599" cy="2215991"/>
          </a:xfrm>
          <a:prstGeom prst="rect">
            <a:avLst/>
          </a:prstGeom>
          <a:noFill/>
        </p:spPr>
        <p:txBody>
          <a:bodyPr wrap="square">
            <a:spAutoFit/>
          </a:bodyPr>
          <a:lstStyle/>
          <a:p>
            <a:r>
              <a:rPr lang="en-US" altLang="zh-CN" sz="1600" dirty="0"/>
              <a:t>James Clerk Maxwell synthesized the existing knowledge of electricity and magnetism into a coherent theoretical framework. His key contributions include:</a:t>
            </a:r>
          </a:p>
          <a:p>
            <a:pPr>
              <a:spcBef>
                <a:spcPts val="600"/>
              </a:spcBef>
            </a:pPr>
            <a:r>
              <a:rPr lang="en-US" altLang="zh-CN" sz="1600" dirty="0"/>
              <a:t>(1) Unification of Electric and Magnetic Fields</a:t>
            </a:r>
          </a:p>
          <a:p>
            <a:r>
              <a:rPr lang="en-US" altLang="zh-CN" sz="1600" dirty="0"/>
              <a:t>Maxwell combined the works of Gauss, Faraday, and Ampère into a single set of equations.</a:t>
            </a:r>
          </a:p>
          <a:p>
            <a:pPr>
              <a:spcBef>
                <a:spcPts val="600"/>
              </a:spcBef>
            </a:pPr>
            <a:r>
              <a:rPr lang="en-US" altLang="zh-CN" sz="1600" dirty="0"/>
              <a:t>(2) Prediction of Electromagnetic Waves</a:t>
            </a:r>
          </a:p>
          <a:p>
            <a:r>
              <a:rPr lang="en-US" altLang="zh-CN" sz="1600" dirty="0"/>
              <a:t>Maxwell's equations predicted that electric and magnetic fields could propagate through space as waves. He calculated the speed of these waves and found it to be equal to the speed of light, leading him to conclude that light is an electromagnetic wave .</a:t>
            </a:r>
            <a:endParaRPr lang="zh-CN" altLang="en-US" sz="1600" dirty="0"/>
          </a:p>
        </p:txBody>
      </p:sp>
    </p:spTree>
    <p:extLst>
      <p:ext uri="{BB962C8B-B14F-4D97-AF65-F5344CB8AC3E}">
        <p14:creationId xmlns:p14="http://schemas.microsoft.com/office/powerpoint/2010/main" val="1680171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FED9-76D1-77A3-D6C4-7A3D7F58B60A}"/>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BD87FA85-66BB-0A1B-F71F-354358E351F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1: Gauss’s law of magnetism</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1124464-F655-537C-3F8C-04CD0D0966E7}"/>
                  </a:ext>
                </a:extLst>
              </p:cNvPr>
              <p:cNvSpPr txBox="1"/>
              <p:nvPr/>
            </p:nvSpPr>
            <p:spPr>
              <a:xfrm>
                <a:off x="1228014" y="652136"/>
                <a:ext cx="1271438" cy="41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3" name="文本框 2">
                <a:extLst>
                  <a:ext uri="{FF2B5EF4-FFF2-40B4-BE49-F238E27FC236}">
                    <a16:creationId xmlns:a16="http://schemas.microsoft.com/office/drawing/2014/main" id="{B1124464-F655-537C-3F8C-04CD0D0966E7}"/>
                  </a:ext>
                </a:extLst>
              </p:cNvPr>
              <p:cNvSpPr txBox="1">
                <a:spLocks noRot="1" noChangeAspect="1" noMove="1" noResize="1" noEditPoints="1" noAdjustHandles="1" noChangeArrowheads="1" noChangeShapeType="1" noTextEdit="1"/>
              </p:cNvSpPr>
              <p:nvPr/>
            </p:nvSpPr>
            <p:spPr>
              <a:xfrm>
                <a:off x="1228014" y="652136"/>
                <a:ext cx="1271438" cy="414088"/>
              </a:xfrm>
              <a:prstGeom prst="rect">
                <a:avLst/>
              </a:prstGeom>
              <a:blipFill>
                <a:blip r:embed="rId3"/>
                <a:stretch>
                  <a:fillRect/>
                </a:stretch>
              </a:blipFill>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94DD96BF-22D9-615F-C0B9-F93A6DF97EFC}"/>
              </a:ext>
            </a:extLst>
          </p:cNvPr>
          <p:cNvCxnSpPr>
            <a:cxnSpLocks/>
          </p:cNvCxnSpPr>
          <p:nvPr/>
        </p:nvCxnSpPr>
        <p:spPr>
          <a:xfrm flipH="1" flipV="1">
            <a:off x="1777493" y="1066225"/>
            <a:ext cx="133288" cy="21343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970DD613-B2A6-6236-0F28-4017FB16DA16}"/>
              </a:ext>
            </a:extLst>
          </p:cNvPr>
          <p:cNvSpPr txBox="1"/>
          <p:nvPr/>
        </p:nvSpPr>
        <p:spPr>
          <a:xfrm>
            <a:off x="1861506" y="1066224"/>
            <a:ext cx="1454388"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Magnetic flux density</a:t>
            </a:r>
            <a:endParaRPr lang="zh-CN" altLang="en-US" sz="1600" dirty="0">
              <a:solidFill>
                <a:schemeClr val="accent2">
                  <a:lumMod val="75000"/>
                </a:schemeClr>
              </a:solidFill>
            </a:endParaRPr>
          </a:p>
        </p:txBody>
      </p:sp>
      <p:sp>
        <p:nvSpPr>
          <p:cNvPr id="8" name="文本框 3">
            <a:extLst>
              <a:ext uri="{FF2B5EF4-FFF2-40B4-BE49-F238E27FC236}">
                <a16:creationId xmlns:a16="http://schemas.microsoft.com/office/drawing/2014/main" id="{931A5E8D-6C9C-2180-79A6-03964920F5C6}"/>
              </a:ext>
            </a:extLst>
          </p:cNvPr>
          <p:cNvSpPr txBox="1"/>
          <p:nvPr/>
        </p:nvSpPr>
        <p:spPr>
          <a:xfrm>
            <a:off x="221337" y="1179324"/>
            <a:ext cx="2023667"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Divergence</a:t>
            </a:r>
          </a:p>
          <a:p>
            <a:r>
              <a:rPr lang="en-US" altLang="zh-CN" sz="1600" dirty="0">
                <a:solidFill>
                  <a:schemeClr val="accent5">
                    <a:lumMod val="75000"/>
                  </a:schemeClr>
                </a:solidFill>
              </a:rPr>
              <a:t>(</a:t>
            </a:r>
            <a:r>
              <a:rPr lang="zh-CN" altLang="en-US" sz="1600" dirty="0">
                <a:solidFill>
                  <a:schemeClr val="accent5">
                    <a:lumMod val="75000"/>
                  </a:schemeClr>
                </a:solidFill>
              </a:rPr>
              <a:t>散度）读</a:t>
            </a:r>
            <a:r>
              <a:rPr lang="en-US" altLang="zh-CN" sz="1600" dirty="0">
                <a:solidFill>
                  <a:schemeClr val="accent5">
                    <a:lumMod val="75000"/>
                  </a:schemeClr>
                </a:solidFill>
              </a:rPr>
              <a:t>del</a:t>
            </a:r>
            <a:r>
              <a:rPr lang="zh-CN" altLang="en-US" sz="1600" dirty="0">
                <a:solidFill>
                  <a:schemeClr val="accent5">
                    <a:lumMod val="75000"/>
                  </a:schemeClr>
                </a:solidFill>
              </a:rPr>
              <a:t>或</a:t>
            </a:r>
            <a:r>
              <a:rPr lang="en-US" altLang="zh-CN" sz="1600" dirty="0" err="1">
                <a:solidFill>
                  <a:schemeClr val="accent5">
                    <a:lumMod val="75000"/>
                  </a:schemeClr>
                </a:solidFill>
              </a:rPr>
              <a:t>nabla</a:t>
            </a:r>
            <a:r>
              <a:rPr lang="en-US" altLang="zh-CN" sz="1600" dirty="0">
                <a:solidFill>
                  <a:schemeClr val="accent5">
                    <a:lumMod val="75000"/>
                  </a:schemeClr>
                </a:solidFill>
              </a:rPr>
              <a:t> /ˈ</a:t>
            </a:r>
            <a:r>
              <a:rPr lang="en-US" altLang="zh-CN" sz="1600" dirty="0" err="1">
                <a:solidFill>
                  <a:schemeClr val="accent5">
                    <a:lumMod val="75000"/>
                  </a:schemeClr>
                </a:solidFill>
              </a:rPr>
              <a:t>næblə</a:t>
            </a:r>
            <a:r>
              <a:rPr lang="en-US" altLang="zh-CN" sz="1600" dirty="0">
                <a:solidFill>
                  <a:schemeClr val="accent5">
                    <a:lumMod val="75000"/>
                  </a:schemeClr>
                </a:solidFill>
              </a:rPr>
              <a:t>/</a:t>
            </a:r>
            <a:r>
              <a:rPr lang="zh-CN" altLang="en-US" sz="1600" dirty="0">
                <a:solidFill>
                  <a:schemeClr val="accent5">
                    <a:lumMod val="75000"/>
                  </a:schemeClr>
                </a:solidFill>
              </a:rPr>
              <a:t>算子，黑体代表矢量算符</a:t>
            </a:r>
          </a:p>
        </p:txBody>
      </p:sp>
      <p:cxnSp>
        <p:nvCxnSpPr>
          <p:cNvPr id="9" name="直接箭头连接符 8">
            <a:extLst>
              <a:ext uri="{FF2B5EF4-FFF2-40B4-BE49-F238E27FC236}">
                <a16:creationId xmlns:a16="http://schemas.microsoft.com/office/drawing/2014/main" id="{F0C8CEEF-9044-AEB8-AE8D-73F34FB2BBE4}"/>
              </a:ext>
            </a:extLst>
          </p:cNvPr>
          <p:cNvCxnSpPr>
            <a:cxnSpLocks/>
          </p:cNvCxnSpPr>
          <p:nvPr/>
        </p:nvCxnSpPr>
        <p:spPr>
          <a:xfrm flipV="1">
            <a:off x="1367830" y="1066224"/>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3EBA61B5-E5FA-D119-18E4-19F49D937903}"/>
              </a:ext>
            </a:extLst>
          </p:cNvPr>
          <p:cNvSpPr txBox="1"/>
          <p:nvPr/>
        </p:nvSpPr>
        <p:spPr>
          <a:xfrm>
            <a:off x="221337" y="2286855"/>
            <a:ext cx="3112312" cy="403187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Divergence of a vector field at a particular point of the plane tells you how much the fluid tends to flow out of or into small regions near it.</a:t>
            </a:r>
          </a:p>
          <a:p>
            <a:r>
              <a:rPr lang="zh-CN" altLang="en-US" sz="1600" dirty="0"/>
              <a:t>散度（</a:t>
            </a:r>
            <a:r>
              <a:rPr lang="en-US" altLang="zh-CN" sz="1600" dirty="0"/>
              <a:t>divergence</a:t>
            </a:r>
            <a:r>
              <a:rPr lang="zh-CN" altLang="en-US" sz="1600" dirty="0"/>
              <a:t>）可用于表征空间各点矢量场发散的强弱程度，能够反映该点通量体积变化率的重要度量。</a:t>
            </a:r>
            <a:endParaRPr lang="en-US" altLang="zh-CN" sz="1600" dirty="0"/>
          </a:p>
          <a:p>
            <a:r>
              <a:rPr lang="zh-CN" altLang="en-US" sz="1600" dirty="0"/>
              <a:t>物理上，散度的意义是场的有源性。当</a:t>
            </a:r>
            <a:r>
              <a:rPr lang="en-US" altLang="zh-CN" sz="1600" dirty="0"/>
              <a:t>div F&gt;0 </a:t>
            </a:r>
            <a:r>
              <a:rPr lang="zh-CN" altLang="en-US" sz="1600" dirty="0"/>
              <a:t>，表示该点有散发通量的正源（发散源）；当</a:t>
            </a:r>
            <a:r>
              <a:rPr lang="en-US" altLang="zh-CN" sz="1600" dirty="0"/>
              <a:t>div F&lt;0 </a:t>
            </a:r>
            <a:r>
              <a:rPr lang="zh-CN" altLang="en-US" sz="1600" dirty="0"/>
              <a:t>表示该点有吸收通量的负源（洞或汇）；当</a:t>
            </a:r>
            <a:r>
              <a:rPr lang="en-US" altLang="zh-CN" sz="1600" dirty="0"/>
              <a:t>div F=0</a:t>
            </a:r>
            <a:r>
              <a:rPr lang="zh-CN" altLang="en-US" sz="1600" dirty="0"/>
              <a:t>，表示该点的矢量场场线没有发出也没有汇聚。</a:t>
            </a:r>
          </a:p>
        </p:txBody>
      </p:sp>
      <p:pic>
        <p:nvPicPr>
          <p:cNvPr id="12" name="图片 11">
            <a:extLst>
              <a:ext uri="{FF2B5EF4-FFF2-40B4-BE49-F238E27FC236}">
                <a16:creationId xmlns:a16="http://schemas.microsoft.com/office/drawing/2014/main" id="{6CE70E15-AACF-2173-B3E3-2C0EA20742DF}"/>
              </a:ext>
            </a:extLst>
          </p:cNvPr>
          <p:cNvPicPr>
            <a:picLocks noChangeAspect="1"/>
          </p:cNvPicPr>
          <p:nvPr/>
        </p:nvPicPr>
        <p:blipFill rotWithShape="1">
          <a:blip r:embed="rId4"/>
          <a:srcRect l="2818" r="7002"/>
          <a:stretch/>
        </p:blipFill>
        <p:spPr>
          <a:xfrm>
            <a:off x="3381308" y="1670773"/>
            <a:ext cx="2662990" cy="2188659"/>
          </a:xfrm>
          <a:prstGeom prst="rect">
            <a:avLst/>
          </a:prstGeom>
        </p:spPr>
      </p:pic>
      <p:pic>
        <p:nvPicPr>
          <p:cNvPr id="14" name="图片 13">
            <a:extLst>
              <a:ext uri="{FF2B5EF4-FFF2-40B4-BE49-F238E27FC236}">
                <a16:creationId xmlns:a16="http://schemas.microsoft.com/office/drawing/2014/main" id="{2AEFE9E1-D281-8A8B-3DBD-8FEA6DDE0204}"/>
              </a:ext>
            </a:extLst>
          </p:cNvPr>
          <p:cNvPicPr>
            <a:picLocks noChangeAspect="1"/>
          </p:cNvPicPr>
          <p:nvPr/>
        </p:nvPicPr>
        <p:blipFill rotWithShape="1">
          <a:blip r:embed="rId5"/>
          <a:srcRect l="2422" r="4317"/>
          <a:stretch/>
        </p:blipFill>
        <p:spPr>
          <a:xfrm>
            <a:off x="6131043" y="1670774"/>
            <a:ext cx="2902591" cy="2188658"/>
          </a:xfrm>
          <a:prstGeom prst="rect">
            <a:avLst/>
          </a:prstGeom>
        </p:spPr>
      </p:pic>
      <p:pic>
        <p:nvPicPr>
          <p:cNvPr id="17" name="图片 16">
            <a:extLst>
              <a:ext uri="{FF2B5EF4-FFF2-40B4-BE49-F238E27FC236}">
                <a16:creationId xmlns:a16="http://schemas.microsoft.com/office/drawing/2014/main" id="{511B759D-735A-03CA-6C9E-3673D847FB4F}"/>
              </a:ext>
            </a:extLst>
          </p:cNvPr>
          <p:cNvPicPr>
            <a:picLocks noChangeAspect="1"/>
          </p:cNvPicPr>
          <p:nvPr/>
        </p:nvPicPr>
        <p:blipFill>
          <a:blip r:embed="rId6"/>
          <a:stretch>
            <a:fillRect/>
          </a:stretch>
        </p:blipFill>
        <p:spPr>
          <a:xfrm>
            <a:off x="3381307" y="3999451"/>
            <a:ext cx="2662989" cy="2110293"/>
          </a:xfrm>
          <a:prstGeom prst="rect">
            <a:avLst/>
          </a:prstGeom>
        </p:spPr>
      </p:pic>
      <p:pic>
        <p:nvPicPr>
          <p:cNvPr id="2050" name="Picture 2" descr="遠得要命的數學王國: Maxwell's Equations">
            <a:extLst>
              <a:ext uri="{FF2B5EF4-FFF2-40B4-BE49-F238E27FC236}">
                <a16:creationId xmlns:a16="http://schemas.microsoft.com/office/drawing/2014/main" id="{582BAB62-FFB9-466C-726C-D544443B06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4282909"/>
            <a:ext cx="2937634" cy="154337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436EA01-5360-AA88-D0B7-3C27A295BA77}"/>
                  </a:ext>
                </a:extLst>
              </p:cNvPr>
              <p:cNvSpPr txBox="1"/>
              <p:nvPr/>
            </p:nvSpPr>
            <p:spPr>
              <a:xfrm>
                <a:off x="4096140" y="834529"/>
                <a:ext cx="3298018" cy="581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mtClean="0">
                          <a:solidFill>
                            <a:schemeClr val="tx1"/>
                          </a:solidFill>
                          <a:latin typeface="Cambria Math" panose="02040503050406030204" pitchFamily="18" charset="0"/>
                        </a:rPr>
                        <m:t>∇</m:t>
                      </m:r>
                      <m:r>
                        <a:rPr lang="zh-CN" altLang="en-US" i="0">
                          <a:solidFill>
                            <a:schemeClr val="tx1"/>
                          </a:solidFill>
                          <a:latin typeface="Cambria Math" panose="02040503050406030204" pitchFamily="18" charset="0"/>
                        </a:rPr>
                        <m:t>⋅</m:t>
                      </m:r>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𝐵</m:t>
                          </m:r>
                        </m:e>
                      </m:acc>
                      <m:r>
                        <a:rPr lang="zh-CN" altLang="en-US" i="0">
                          <a:solidFill>
                            <a:schemeClr val="tx1"/>
                          </a:solidFill>
                          <a:latin typeface="Cambria Math" panose="02040503050406030204" pitchFamily="18" charset="0"/>
                        </a:rPr>
                        <m:t>=</m:t>
                      </m:r>
                      <m:func>
                        <m:funcPr>
                          <m:ctrlPr>
                            <a:rPr lang="zh-CN" altLang="en-US" i="1">
                              <a:solidFill>
                                <a:schemeClr val="tx1"/>
                              </a:solidFill>
                              <a:latin typeface="Cambria Math" panose="02040503050406030204" pitchFamily="18" charset="0"/>
                            </a:rPr>
                          </m:ctrlPr>
                        </m:funcPr>
                        <m:fName>
                          <m:r>
                            <m:rPr>
                              <m:sty m:val="p"/>
                            </m:rPr>
                            <a:rPr lang="zh-CN" altLang="en-US" i="0">
                              <a:solidFill>
                                <a:schemeClr val="tx1"/>
                              </a:solidFill>
                              <a:latin typeface="Cambria Math" panose="02040503050406030204" pitchFamily="18" charset="0"/>
                            </a:rPr>
                            <m:t>div</m:t>
                          </m:r>
                        </m:fName>
                        <m:e>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𝐵</m:t>
                              </m:r>
                            </m:e>
                          </m:acc>
                        </m:e>
                      </m:func>
                      <m:r>
                        <a:rPr lang="zh-CN" altLang="en-US" i="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𝐵</m:t>
                              </m:r>
                            </m:e>
                            <m:sub>
                              <m:r>
                                <a:rPr lang="zh-CN" altLang="en-US" i="1">
                                  <a:solidFill>
                                    <a:schemeClr val="tx1"/>
                                  </a:solidFill>
                                  <a:latin typeface="Cambria Math" panose="02040503050406030204" pitchFamily="18" charset="0"/>
                                </a:rPr>
                                <m:t>𝑥</m:t>
                              </m:r>
                            </m:sub>
                          </m:sSub>
                        </m:num>
                        <m:den>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𝑥</m:t>
                          </m:r>
                        </m:den>
                      </m:f>
                      <m:r>
                        <a:rPr lang="zh-CN" altLang="en-US" i="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0">
                              <a:solidFill>
                                <a:schemeClr val="tx1"/>
                              </a:solidFill>
                              <a:latin typeface="Cambria Math" panose="02040503050406030204" pitchFamily="18" charset="0"/>
                            </a:rPr>
                            <m:t>𝜕</m:t>
                          </m:r>
                          <m:sSub>
                            <m:sSubPr>
                              <m:ctrlPr>
                                <a:rPr lang="en-US" altLang="zh-CN" i="1" smtClean="0">
                                  <a:solidFill>
                                    <a:schemeClr val="tx1"/>
                                  </a:solidFill>
                                  <a:latin typeface="Cambria Math" panose="02040503050406030204" pitchFamily="18" charset="0"/>
                                </a:rPr>
                              </m:ctrlPr>
                            </m:sSubPr>
                            <m:e>
                              <m:r>
                                <a:rPr lang="zh-CN" altLang="en-US" i="1">
                                  <a:latin typeface="Cambria Math" panose="02040503050406030204" pitchFamily="18" charset="0"/>
                                </a:rPr>
                                <m:t>𝐵</m:t>
                              </m:r>
                            </m:e>
                            <m:sub>
                              <m:r>
                                <a:rPr lang="zh-CN" altLang="en-US" i="1">
                                  <a:latin typeface="Cambria Math" panose="02040503050406030204" pitchFamily="18" charset="0"/>
                                </a:rPr>
                                <m:t>𝑦</m:t>
                              </m:r>
                            </m:sub>
                          </m:sSub>
                        </m:num>
                        <m:den>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𝑦</m:t>
                          </m:r>
                        </m:den>
                      </m:f>
                      <m:r>
                        <a:rPr lang="zh-CN" altLang="en-US" i="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𝐵</m:t>
                              </m:r>
                            </m:e>
                            <m:sub>
                              <m:r>
                                <a:rPr lang="zh-CN" altLang="en-US" i="1">
                                  <a:solidFill>
                                    <a:schemeClr val="tx1"/>
                                  </a:solidFill>
                                  <a:latin typeface="Cambria Math" panose="02040503050406030204" pitchFamily="18" charset="0"/>
                                </a:rPr>
                                <m:t>𝑧</m:t>
                              </m:r>
                            </m:sub>
                          </m:sSub>
                        </m:num>
                        <m:den>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𝑧</m:t>
                          </m:r>
                        </m:den>
                      </m:f>
                    </m:oMath>
                  </m:oMathPara>
                </a14:m>
                <a:endParaRPr lang="zh-CN" altLang="en-US" dirty="0">
                  <a:solidFill>
                    <a:schemeClr val="tx1"/>
                  </a:solidFill>
                </a:endParaRPr>
              </a:p>
            </p:txBody>
          </p:sp>
        </mc:Choice>
        <mc:Fallback xmlns="">
          <p:sp>
            <p:nvSpPr>
              <p:cNvPr id="4" name="文本框 3">
                <a:extLst>
                  <a:ext uri="{FF2B5EF4-FFF2-40B4-BE49-F238E27FC236}">
                    <a16:creationId xmlns:a16="http://schemas.microsoft.com/office/drawing/2014/main" id="{3436EA01-5360-AA88-D0B7-3C27A295BA77}"/>
                  </a:ext>
                </a:extLst>
              </p:cNvPr>
              <p:cNvSpPr txBox="1">
                <a:spLocks noRot="1" noChangeAspect="1" noMove="1" noResize="1" noEditPoints="1" noAdjustHandles="1" noChangeArrowheads="1" noChangeShapeType="1" noTextEdit="1"/>
              </p:cNvSpPr>
              <p:nvPr/>
            </p:nvSpPr>
            <p:spPr>
              <a:xfrm>
                <a:off x="4096140" y="834529"/>
                <a:ext cx="3298018" cy="581569"/>
              </a:xfrm>
              <a:prstGeom prst="rect">
                <a:avLst/>
              </a:prstGeom>
              <a:blipFill>
                <a:blip r:embed="rId8"/>
                <a:stretch>
                  <a:fillRect/>
                </a:stretch>
              </a:blipFill>
            </p:spPr>
            <p:txBody>
              <a:bodyPr/>
              <a:lstStyle/>
              <a:p>
                <a:r>
                  <a:rPr lang="zh-CN" altLang="en-US">
                    <a:noFill/>
                  </a:rPr>
                  <a:t> </a:t>
                </a:r>
              </a:p>
            </p:txBody>
          </p:sp>
        </mc:Fallback>
      </mc:AlternateContent>
      <p:sp>
        <p:nvSpPr>
          <p:cNvPr id="6" name="文本框 3">
            <a:extLst>
              <a:ext uri="{FF2B5EF4-FFF2-40B4-BE49-F238E27FC236}">
                <a16:creationId xmlns:a16="http://schemas.microsoft.com/office/drawing/2014/main" id="{2B483E37-7EA9-661F-9BF6-9A49D8AE2C27}"/>
              </a:ext>
            </a:extLst>
          </p:cNvPr>
          <p:cNvSpPr txBox="1"/>
          <p:nvPr/>
        </p:nvSpPr>
        <p:spPr>
          <a:xfrm>
            <a:off x="7500263" y="940647"/>
            <a:ext cx="1130131"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dirty="0"/>
              <a:t>一阶偏导</a:t>
            </a:r>
          </a:p>
        </p:txBody>
      </p:sp>
    </p:spTree>
    <p:extLst>
      <p:ext uri="{BB962C8B-B14F-4D97-AF65-F5344CB8AC3E}">
        <p14:creationId xmlns:p14="http://schemas.microsoft.com/office/powerpoint/2010/main" val="1134647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5C4DC-9B18-4815-45CC-A8E12070F5F3}"/>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F62D4CC6-8DFF-195B-929A-2343571FAAB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1: Gauss’s law of magnetism</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F34029B-BEED-04B3-1097-446EC7F8F992}"/>
                  </a:ext>
                </a:extLst>
              </p:cNvPr>
              <p:cNvSpPr txBox="1"/>
              <p:nvPr/>
            </p:nvSpPr>
            <p:spPr>
              <a:xfrm>
                <a:off x="548840" y="2030541"/>
                <a:ext cx="2859821" cy="459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m:t>
                          </m:r>
                        </m:e>
                        <m:sub>
                          <m:r>
                            <a:rPr lang="en-US" altLang="zh-CN" sz="2400" b="0" i="1" smtClean="0">
                              <a:latin typeface="Cambria Math" panose="02040503050406030204" pitchFamily="18" charset="0"/>
                            </a:rPr>
                            <m:t>𝑠</m:t>
                          </m:r>
                        </m:sub>
                      </m:sSub>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𝐵</m:t>
                          </m:r>
                        </m:e>
                      </m:acc>
                      <m:r>
                        <a:rPr lang="en-US" altLang="zh-CN" sz="2400" i="1">
                          <a:latin typeface="Cambria Math" panose="02040503050406030204" pitchFamily="18" charset="0"/>
                        </a:rPr>
                        <m:t>⋅</m:t>
                      </m:r>
                      <m:r>
                        <a:rPr lang="en-US" altLang="zh-CN" sz="2400" i="1">
                          <a:latin typeface="Cambria Math" panose="02040503050406030204" pitchFamily="18" charset="0"/>
                        </a:rPr>
                        <m:t>𝑑𝐴</m:t>
                      </m:r>
                      <m:r>
                        <a:rPr lang="en-US" altLang="zh-CN" sz="2400" i="1">
                          <a:latin typeface="Cambria Math" panose="02040503050406030204" pitchFamily="18" charset="0"/>
                        </a:rPr>
                        <m:t>=</m:t>
                      </m:r>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3" name="文本框 2">
                <a:extLst>
                  <a:ext uri="{FF2B5EF4-FFF2-40B4-BE49-F238E27FC236}">
                    <a16:creationId xmlns:a16="http://schemas.microsoft.com/office/drawing/2014/main" id="{3F34029B-BEED-04B3-1097-446EC7F8F992}"/>
                  </a:ext>
                </a:extLst>
              </p:cNvPr>
              <p:cNvSpPr txBox="1">
                <a:spLocks noRot="1" noChangeAspect="1" noMove="1" noResize="1" noEditPoints="1" noAdjustHandles="1" noChangeArrowheads="1" noChangeShapeType="1" noTextEdit="1"/>
              </p:cNvSpPr>
              <p:nvPr/>
            </p:nvSpPr>
            <p:spPr>
              <a:xfrm>
                <a:off x="548840" y="2030541"/>
                <a:ext cx="2859821" cy="459100"/>
              </a:xfrm>
              <a:prstGeom prst="rect">
                <a:avLst/>
              </a:prstGeom>
              <a:blipFill>
                <a:blip r:embed="rId3"/>
                <a:stretch>
                  <a:fillRect/>
                </a:stretch>
              </a:blipFill>
            </p:spPr>
            <p:txBody>
              <a:bodyPr/>
              <a:lstStyle/>
              <a:p>
                <a:r>
                  <a:rPr lang="zh-CN" altLang="en-US">
                    <a:noFill/>
                  </a:rPr>
                  <a:t> </a:t>
                </a:r>
              </a:p>
            </p:txBody>
          </p:sp>
        </mc:Fallback>
      </mc:AlternateContent>
      <p:sp>
        <p:nvSpPr>
          <p:cNvPr id="7" name="文本框 3">
            <a:extLst>
              <a:ext uri="{FF2B5EF4-FFF2-40B4-BE49-F238E27FC236}">
                <a16:creationId xmlns:a16="http://schemas.microsoft.com/office/drawing/2014/main" id="{9D4FE825-C8C7-92FB-74CE-08B3DAE891B9}"/>
              </a:ext>
            </a:extLst>
          </p:cNvPr>
          <p:cNvSpPr txBox="1"/>
          <p:nvPr/>
        </p:nvSpPr>
        <p:spPr>
          <a:xfrm>
            <a:off x="3591300" y="2093081"/>
            <a:ext cx="5256309"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 Total magnetic flux through any closed surface is zero.</a:t>
            </a:r>
            <a:endParaRPr lang="zh-CN" altLang="en-US" sz="1600" dirty="0">
              <a:solidFill>
                <a:schemeClr val="accent2">
                  <a:lumMod val="75000"/>
                </a:schemeClr>
              </a:solidFill>
            </a:endParaRPr>
          </a:p>
        </p:txBody>
      </p:sp>
      <p:sp>
        <p:nvSpPr>
          <p:cNvPr id="8" name="文本框 3">
            <a:extLst>
              <a:ext uri="{FF2B5EF4-FFF2-40B4-BE49-F238E27FC236}">
                <a16:creationId xmlns:a16="http://schemas.microsoft.com/office/drawing/2014/main" id="{61374F3C-DEA9-8DED-249C-74074B0738B9}"/>
              </a:ext>
            </a:extLst>
          </p:cNvPr>
          <p:cNvSpPr txBox="1"/>
          <p:nvPr/>
        </p:nvSpPr>
        <p:spPr>
          <a:xfrm>
            <a:off x="383004" y="2598490"/>
            <a:ext cx="6416592"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Flux of the magnetic field through an infinitesimal area element </a:t>
            </a:r>
            <a:r>
              <a:rPr lang="en-US" altLang="zh-CN" sz="1600" dirty="0" err="1">
                <a:solidFill>
                  <a:schemeClr val="accent5">
                    <a:lumMod val="75000"/>
                  </a:schemeClr>
                </a:solidFill>
              </a:rPr>
              <a:t>dA</a:t>
            </a:r>
            <a:endParaRPr lang="zh-CN" altLang="en-US" sz="1600" dirty="0">
              <a:solidFill>
                <a:schemeClr val="accent5">
                  <a:lumMod val="75000"/>
                </a:schemeClr>
              </a:solidFill>
            </a:endParaRPr>
          </a:p>
        </p:txBody>
      </p:sp>
      <p:cxnSp>
        <p:nvCxnSpPr>
          <p:cNvPr id="9" name="直接箭头连接符 8">
            <a:extLst>
              <a:ext uri="{FF2B5EF4-FFF2-40B4-BE49-F238E27FC236}">
                <a16:creationId xmlns:a16="http://schemas.microsoft.com/office/drawing/2014/main" id="{BFFCA801-AD5E-7DB4-7D0C-3C075622D8EF}"/>
              </a:ext>
            </a:extLst>
          </p:cNvPr>
          <p:cNvCxnSpPr>
            <a:cxnSpLocks/>
          </p:cNvCxnSpPr>
          <p:nvPr/>
        </p:nvCxnSpPr>
        <p:spPr>
          <a:xfrm flipV="1">
            <a:off x="1248013" y="2381660"/>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遠得要命的數學王國: Maxwell's Equations">
            <a:extLst>
              <a:ext uri="{FF2B5EF4-FFF2-40B4-BE49-F238E27FC236}">
                <a16:creationId xmlns:a16="http://schemas.microsoft.com/office/drawing/2014/main" id="{FB2F975E-3A54-4A68-69E1-B32DC59B29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9975" y="3376783"/>
            <a:ext cx="2937634" cy="154337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825E4ED1-0DA1-4F87-4D90-F7C55F66A63B}"/>
              </a:ext>
            </a:extLst>
          </p:cNvPr>
          <p:cNvSpPr txBox="1"/>
          <p:nvPr/>
        </p:nvSpPr>
        <p:spPr>
          <a:xfrm>
            <a:off x="383004" y="3376783"/>
            <a:ext cx="5380869" cy="1754326"/>
          </a:xfrm>
          <a:prstGeom prst="rect">
            <a:avLst/>
          </a:prstGeom>
          <a:noFill/>
        </p:spPr>
        <p:txBody>
          <a:bodyPr wrap="square">
            <a:spAutoFit/>
          </a:bodyPr>
          <a:lstStyle/>
          <a:p>
            <a:r>
              <a:rPr lang="en-US" altLang="zh-CN" dirty="0"/>
              <a:t>Consider a bar magnet enclosed by a Gaussian surface. The magnetic field lines form closed loops, and the total flux through the surface is zero.</a:t>
            </a:r>
          </a:p>
          <a:p>
            <a:r>
              <a:rPr lang="en-US" altLang="zh-CN" dirty="0"/>
              <a:t>No matter how you position the surface, the number of field lines entering equals the number leaving.</a:t>
            </a:r>
            <a:endParaRPr lang="zh-CN" altLang="en-US" dirty="0"/>
          </a:p>
        </p:txBody>
      </p:sp>
      <p:sp>
        <p:nvSpPr>
          <p:cNvPr id="15" name="文本框 14">
            <a:extLst>
              <a:ext uri="{FF2B5EF4-FFF2-40B4-BE49-F238E27FC236}">
                <a16:creationId xmlns:a16="http://schemas.microsoft.com/office/drawing/2014/main" id="{27671906-B09F-CCF4-7C14-87F65B59ABAB}"/>
              </a:ext>
            </a:extLst>
          </p:cNvPr>
          <p:cNvSpPr txBox="1"/>
          <p:nvPr/>
        </p:nvSpPr>
        <p:spPr>
          <a:xfrm>
            <a:off x="909273" y="1478473"/>
            <a:ext cx="1203221" cy="523220"/>
          </a:xfrm>
          <a:prstGeom prst="rect">
            <a:avLst/>
          </a:prstGeom>
          <a:noFill/>
        </p:spPr>
        <p:txBody>
          <a:bodyPr wrap="square">
            <a:spAutoFit/>
          </a:bodyPr>
          <a:lstStyle/>
          <a:p>
            <a:r>
              <a:rPr lang="en-US" altLang="zh-CN" sz="1400" dirty="0"/>
              <a:t>Integral Form</a:t>
            </a:r>
            <a:endParaRPr lang="zh-CN" altLang="en-US" sz="1400" dirty="0"/>
          </a:p>
        </p:txBody>
      </p:sp>
      <p:sp>
        <p:nvSpPr>
          <p:cNvPr id="18" name="文本框 17">
            <a:extLst>
              <a:ext uri="{FF2B5EF4-FFF2-40B4-BE49-F238E27FC236}">
                <a16:creationId xmlns:a16="http://schemas.microsoft.com/office/drawing/2014/main" id="{B69164B5-2E5B-2CD4-72DC-144EC466F5E2}"/>
              </a:ext>
            </a:extLst>
          </p:cNvPr>
          <p:cNvSpPr txBox="1"/>
          <p:nvPr/>
        </p:nvSpPr>
        <p:spPr>
          <a:xfrm>
            <a:off x="2112494" y="1478473"/>
            <a:ext cx="1478806" cy="523220"/>
          </a:xfrm>
          <a:prstGeom prst="rect">
            <a:avLst/>
          </a:prstGeom>
          <a:noFill/>
        </p:spPr>
        <p:txBody>
          <a:bodyPr wrap="square">
            <a:spAutoFit/>
          </a:bodyPr>
          <a:lstStyle/>
          <a:p>
            <a:r>
              <a:rPr lang="en-US" altLang="zh-CN" sz="1400" dirty="0"/>
              <a:t>Differential Form</a:t>
            </a:r>
            <a:endParaRPr lang="zh-CN" altLang="en-US" sz="1400" dirty="0"/>
          </a:p>
        </p:txBody>
      </p:sp>
    </p:spTree>
    <p:extLst>
      <p:ext uri="{BB962C8B-B14F-4D97-AF65-F5344CB8AC3E}">
        <p14:creationId xmlns:p14="http://schemas.microsoft.com/office/powerpoint/2010/main" val="65366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1BA8-A671-B406-5BF1-94A928512BC2}"/>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705910A8-B244-357E-CC57-26B22D821F05}"/>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2</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Gauss’s law of electrostatic</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箭头连接符 4">
            <a:extLst>
              <a:ext uri="{FF2B5EF4-FFF2-40B4-BE49-F238E27FC236}">
                <a16:creationId xmlns:a16="http://schemas.microsoft.com/office/drawing/2014/main" id="{1D86B009-7FA2-F384-101F-F66C549B764E}"/>
              </a:ext>
            </a:extLst>
          </p:cNvPr>
          <p:cNvCxnSpPr>
            <a:cxnSpLocks/>
          </p:cNvCxnSpPr>
          <p:nvPr/>
        </p:nvCxnSpPr>
        <p:spPr>
          <a:xfrm flipV="1">
            <a:off x="1893325" y="1387948"/>
            <a:ext cx="0" cy="26425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EE685ADE-8E71-4795-240C-2745F534B23A}"/>
              </a:ext>
            </a:extLst>
          </p:cNvPr>
          <p:cNvSpPr txBox="1"/>
          <p:nvPr/>
        </p:nvSpPr>
        <p:spPr>
          <a:xfrm>
            <a:off x="1185706" y="1643761"/>
            <a:ext cx="1380955"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Electric field</a:t>
            </a:r>
            <a:endParaRPr lang="zh-CN" altLang="en-US" sz="1600" dirty="0">
              <a:solidFill>
                <a:schemeClr val="accent2">
                  <a:lumMod val="75000"/>
                </a:schemeClr>
              </a:solidFill>
            </a:endParaRPr>
          </a:p>
        </p:txBody>
      </p:sp>
      <mc:AlternateContent xmlns:mc="http://schemas.openxmlformats.org/markup-compatibility/2006" xmlns:a14="http://schemas.microsoft.com/office/drawing/2010/main">
        <mc:Choice Requires="a14">
          <p:sp>
            <p:nvSpPr>
              <p:cNvPr id="8" name="文本框 3">
                <a:extLst>
                  <a:ext uri="{FF2B5EF4-FFF2-40B4-BE49-F238E27FC236}">
                    <a16:creationId xmlns:a16="http://schemas.microsoft.com/office/drawing/2014/main" id="{C37BD855-69FF-30D0-BEBA-F45F288EE553}"/>
                  </a:ext>
                </a:extLst>
              </p:cNvPr>
              <p:cNvSpPr txBox="1"/>
              <p:nvPr/>
            </p:nvSpPr>
            <p:spPr>
              <a:xfrm>
                <a:off x="3147096" y="606932"/>
                <a:ext cx="3773913" cy="45352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Charge density </a:t>
                </a:r>
                <a14:m>
                  <m:oMath xmlns:m="http://schemas.openxmlformats.org/officeDocument/2006/math">
                    <m:r>
                      <m:rPr>
                        <m:nor/>
                      </m:rPr>
                      <a:rPr lang="en-US" altLang="zh-CN" sz="1600" dirty="0">
                        <a:solidFill>
                          <a:schemeClr val="accent5">
                            <a:lumMod val="75000"/>
                          </a:schemeClr>
                        </a:solidFill>
                      </a:rPr>
                      <m:t>(</m:t>
                    </m:r>
                    <m:r>
                      <m:rPr>
                        <m:nor/>
                      </m:rPr>
                      <a:rPr lang="zh-CN" altLang="en-US" sz="1600" dirty="0">
                        <a:solidFill>
                          <a:schemeClr val="accent5">
                            <a:lumMod val="75000"/>
                          </a:schemeClr>
                        </a:solidFill>
                      </a:rPr>
                      <m:t>电荷密度）</m:t>
                    </m:r>
                    <m:r>
                      <a:rPr lang="en-US" altLang="zh-CN" sz="1600" i="1" dirty="0" smtClean="0">
                        <a:solidFill>
                          <a:schemeClr val="accent5">
                            <a:lumMod val="75000"/>
                          </a:schemeClr>
                        </a:solidFill>
                        <a:latin typeface="Cambria Math" panose="02040503050406030204" pitchFamily="18" charset="0"/>
                      </a:rPr>
                      <m:t>𝜌</m:t>
                    </m:r>
                    <m:r>
                      <a:rPr lang="en-US" altLang="zh-CN" sz="1600" i="0" dirty="0" smtClean="0">
                        <a:solidFill>
                          <a:schemeClr val="accent5">
                            <a:lumMod val="75000"/>
                          </a:schemeClr>
                        </a:solidFill>
                        <a:latin typeface="Cambria Math" panose="02040503050406030204" pitchFamily="18" charset="0"/>
                      </a:rPr>
                      <m:t>=</m:t>
                    </m:r>
                    <m:f>
                      <m:fPr>
                        <m:ctrlPr>
                          <a:rPr lang="en-US" altLang="zh-CN" sz="1600" i="1" dirty="0" smtClean="0">
                            <a:solidFill>
                              <a:schemeClr val="accent5">
                                <a:lumMod val="75000"/>
                              </a:schemeClr>
                            </a:solidFill>
                            <a:latin typeface="Cambria Math" panose="02040503050406030204" pitchFamily="18" charset="0"/>
                          </a:rPr>
                        </m:ctrlPr>
                      </m:fPr>
                      <m:num>
                        <m:r>
                          <a:rPr lang="en-US" altLang="zh-CN" sz="1600" i="0" dirty="0" smtClean="0">
                            <a:solidFill>
                              <a:schemeClr val="accent5">
                                <a:lumMod val="75000"/>
                              </a:schemeClr>
                            </a:solidFill>
                            <a:latin typeface="Cambria Math" panose="02040503050406030204" pitchFamily="18" charset="0"/>
                          </a:rPr>
                          <m:t>ⅆ</m:t>
                        </m:r>
                        <m:r>
                          <a:rPr lang="en-US" altLang="zh-CN" sz="1600" i="1" dirty="0" smtClean="0">
                            <a:solidFill>
                              <a:schemeClr val="accent5">
                                <a:lumMod val="75000"/>
                              </a:schemeClr>
                            </a:solidFill>
                            <a:latin typeface="Cambria Math" panose="02040503050406030204" pitchFamily="18" charset="0"/>
                          </a:rPr>
                          <m:t>𝑞</m:t>
                        </m:r>
                      </m:num>
                      <m:den>
                        <m:r>
                          <a:rPr lang="en-US" altLang="zh-CN" sz="1600" i="0" dirty="0" smtClean="0">
                            <a:solidFill>
                              <a:schemeClr val="accent5">
                                <a:lumMod val="75000"/>
                              </a:schemeClr>
                            </a:solidFill>
                            <a:latin typeface="Cambria Math" panose="02040503050406030204" pitchFamily="18" charset="0"/>
                          </a:rPr>
                          <m:t>ⅆ</m:t>
                        </m:r>
                        <m:r>
                          <a:rPr lang="en-US" altLang="zh-CN" sz="1600" i="1" dirty="0" smtClean="0">
                            <a:solidFill>
                              <a:schemeClr val="accent5">
                                <a:lumMod val="75000"/>
                              </a:schemeClr>
                            </a:solidFill>
                            <a:latin typeface="Cambria Math" panose="02040503050406030204" pitchFamily="18" charset="0"/>
                          </a:rPr>
                          <m:t>𝑣</m:t>
                        </m:r>
                      </m:den>
                    </m:f>
                  </m:oMath>
                </a14:m>
                <a:endParaRPr lang="zh-CN" altLang="en-US" sz="1600" dirty="0">
                  <a:solidFill>
                    <a:schemeClr val="accent5">
                      <a:lumMod val="75000"/>
                    </a:schemeClr>
                  </a:solidFill>
                </a:endParaRPr>
              </a:p>
            </p:txBody>
          </p:sp>
        </mc:Choice>
        <mc:Fallback xmlns="">
          <p:sp>
            <p:nvSpPr>
              <p:cNvPr id="8" name="文本框 3">
                <a:extLst>
                  <a:ext uri="{FF2B5EF4-FFF2-40B4-BE49-F238E27FC236}">
                    <a16:creationId xmlns:a16="http://schemas.microsoft.com/office/drawing/2014/main" id="{C37BD855-69FF-30D0-BEBA-F45F288EE553}"/>
                  </a:ext>
                </a:extLst>
              </p:cNvPr>
              <p:cNvSpPr txBox="1">
                <a:spLocks noRot="1" noChangeAspect="1" noMove="1" noResize="1" noEditPoints="1" noAdjustHandles="1" noChangeArrowheads="1" noChangeShapeType="1" noTextEdit="1"/>
              </p:cNvSpPr>
              <p:nvPr/>
            </p:nvSpPr>
            <p:spPr>
              <a:xfrm>
                <a:off x="3147096" y="606932"/>
                <a:ext cx="3773913" cy="453522"/>
              </a:xfrm>
              <a:prstGeom prst="rect">
                <a:avLst/>
              </a:prstGeom>
              <a:blipFill>
                <a:blip r:embed="rId3"/>
                <a:stretch>
                  <a:fillRect l="-808" b="-5405"/>
                </a:stretch>
              </a:blipFill>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A9D117B3-0480-F1E3-EE98-309A2D6F57E4}"/>
              </a:ext>
            </a:extLst>
          </p:cNvPr>
          <p:cNvCxnSpPr>
            <a:cxnSpLocks/>
          </p:cNvCxnSpPr>
          <p:nvPr/>
        </p:nvCxnSpPr>
        <p:spPr>
          <a:xfrm flipH="1">
            <a:off x="2799376" y="1024642"/>
            <a:ext cx="347720"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F0D822F4-4392-763A-657D-A314F7701CF9}"/>
              </a:ext>
            </a:extLst>
          </p:cNvPr>
          <p:cNvSpPr txBox="1"/>
          <p:nvPr/>
        </p:nvSpPr>
        <p:spPr>
          <a:xfrm>
            <a:off x="460682" y="5339237"/>
            <a:ext cx="8572339"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The integral of electric flux density is always equal to charge enclosed over a closed surface.</a:t>
            </a:r>
            <a:r>
              <a:rPr lang="zh-CN" altLang="en-US" dirty="0"/>
              <a:t> </a:t>
            </a:r>
            <a:r>
              <a:rPr lang="en-US" altLang="zh-CN" dirty="0"/>
              <a:t>It implies that electric field lines originate from positive charges and terminate on negative charges.</a:t>
            </a:r>
            <a:r>
              <a:rPr lang="zh-CN" altLang="en-US" dirty="0"/>
              <a:t>（电场的</a:t>
            </a:r>
            <a:r>
              <a:rPr lang="zh-CN" altLang="en-US" b="1" dirty="0"/>
              <a:t>源</a:t>
            </a:r>
            <a:r>
              <a:rPr lang="zh-CN" altLang="en-US" dirty="0"/>
              <a:t>与</a:t>
            </a:r>
            <a:r>
              <a:rPr lang="zh-CN" altLang="en-US" b="1" dirty="0"/>
              <a:t>汇</a:t>
            </a:r>
            <a:r>
              <a:rPr lang="zh-CN" altLang="en-US" dirty="0"/>
              <a:t>大小正比于电荷密度）</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21E44E4-8823-266F-9636-EDE265018978}"/>
                  </a:ext>
                </a:extLst>
              </p:cNvPr>
              <p:cNvSpPr txBox="1"/>
              <p:nvPr/>
            </p:nvSpPr>
            <p:spPr>
              <a:xfrm>
                <a:off x="1331218" y="879004"/>
                <a:ext cx="1380955" cy="695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𝜌</m:t>
                          </m:r>
                        </m:num>
                        <m:den>
                          <m:sSub>
                            <m:sSubPr>
                              <m:ctrlPr>
                                <a:rPr lang="en-US" altLang="zh-CN"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en-US" altLang="zh-CN" sz="2400" b="0" i="1" smtClean="0">
                                  <a:solidFill>
                                    <a:schemeClr val="tx1"/>
                                  </a:solidFill>
                                  <a:latin typeface="Cambria Math" panose="02040503050406030204" pitchFamily="18" charset="0"/>
                                </a:rPr>
                                <m:t>0</m:t>
                              </m:r>
                            </m:sub>
                          </m:sSub>
                        </m:den>
                      </m:f>
                    </m:oMath>
                  </m:oMathPara>
                </a14:m>
                <a:endParaRPr lang="zh-CN" altLang="en-US" sz="2400" dirty="0"/>
              </a:p>
            </p:txBody>
          </p:sp>
        </mc:Choice>
        <mc:Fallback xmlns="">
          <p:sp>
            <p:nvSpPr>
              <p:cNvPr id="6" name="文本框 5">
                <a:extLst>
                  <a:ext uri="{FF2B5EF4-FFF2-40B4-BE49-F238E27FC236}">
                    <a16:creationId xmlns:a16="http://schemas.microsoft.com/office/drawing/2014/main" id="{A21E44E4-8823-266F-9636-EDE265018978}"/>
                  </a:ext>
                </a:extLst>
              </p:cNvPr>
              <p:cNvSpPr txBox="1">
                <a:spLocks noRot="1" noChangeAspect="1" noMove="1" noResize="1" noEditPoints="1" noAdjustHandles="1" noChangeArrowheads="1" noChangeShapeType="1" noTextEdit="1"/>
              </p:cNvSpPr>
              <p:nvPr/>
            </p:nvSpPr>
            <p:spPr>
              <a:xfrm>
                <a:off x="1331218" y="879004"/>
                <a:ext cx="1380955" cy="695127"/>
              </a:xfrm>
              <a:prstGeom prst="rect">
                <a:avLst/>
              </a:prstGeom>
              <a:blipFill>
                <a:blip r:embed="rId4"/>
                <a:stretch>
                  <a:fillRect/>
                </a:stretch>
              </a:blipFill>
            </p:spPr>
            <p:txBody>
              <a:bodyPr/>
              <a:lstStyle/>
              <a:p>
                <a:r>
                  <a:rPr lang="zh-CN" altLang="en-US">
                    <a:noFill/>
                  </a:rPr>
                  <a:t> </a:t>
                </a:r>
              </a:p>
            </p:txBody>
          </p:sp>
        </mc:Fallback>
      </mc:AlternateContent>
      <p:sp>
        <p:nvSpPr>
          <p:cNvPr id="15" name="文本框 3">
            <a:extLst>
              <a:ext uri="{FF2B5EF4-FFF2-40B4-BE49-F238E27FC236}">
                <a16:creationId xmlns:a16="http://schemas.microsoft.com/office/drawing/2014/main" id="{DC49E0BC-39DD-4AF8-9101-EA29FD078CBC}"/>
              </a:ext>
            </a:extLst>
          </p:cNvPr>
          <p:cNvSpPr txBox="1"/>
          <p:nvPr/>
        </p:nvSpPr>
        <p:spPr>
          <a:xfrm>
            <a:off x="3165682" y="1054357"/>
            <a:ext cx="5891731"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Permittivity (</a:t>
            </a:r>
            <a:r>
              <a:rPr lang="zh-CN" altLang="en-US" sz="1600" dirty="0">
                <a:solidFill>
                  <a:schemeClr val="accent5">
                    <a:lumMod val="75000"/>
                  </a:schemeClr>
                </a:solidFill>
              </a:rPr>
              <a:t>介电常数，电容率，诱电率）电介质是在电场作用下能建立极化的物质。介电常数是描述某种材料放入电容器中增加电容器存储电荷能力的物理量，是相对介电常数与真空中绝对介电常数乘积。</a:t>
            </a:r>
          </a:p>
        </p:txBody>
      </p:sp>
      <p:cxnSp>
        <p:nvCxnSpPr>
          <p:cNvPr id="16" name="直接箭头连接符 15">
            <a:extLst>
              <a:ext uri="{FF2B5EF4-FFF2-40B4-BE49-F238E27FC236}">
                <a16:creationId xmlns:a16="http://schemas.microsoft.com/office/drawing/2014/main" id="{1D95E50D-C062-4B7B-9FD1-8257BFE017F6}"/>
              </a:ext>
            </a:extLst>
          </p:cNvPr>
          <p:cNvCxnSpPr>
            <a:cxnSpLocks/>
          </p:cNvCxnSpPr>
          <p:nvPr/>
        </p:nvCxnSpPr>
        <p:spPr>
          <a:xfrm flipH="1">
            <a:off x="2817962" y="1478124"/>
            <a:ext cx="347720"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AD43069-E4BD-4292-801D-C34C85BF83F8}"/>
                  </a:ext>
                </a:extLst>
              </p:cNvPr>
              <p:cNvSpPr txBox="1"/>
              <p:nvPr/>
            </p:nvSpPr>
            <p:spPr>
              <a:xfrm>
                <a:off x="3535215" y="2163411"/>
                <a:ext cx="1290417" cy="41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smtClean="0">
                          <a:latin typeface="Cambria Math" panose="02040503050406030204" pitchFamily="18" charset="0"/>
                        </a:rPr>
                        <m:t>∇</m:t>
                      </m:r>
                      <m:r>
                        <a:rPr lang="zh-CN" altLang="en-US" sz="2400" i="0">
                          <a:latin typeface="Cambria Math" panose="02040503050406030204" pitchFamily="18" charset="0"/>
                        </a:rPr>
                        <m:t>⋅</m:t>
                      </m:r>
                      <m:acc>
                        <m:accPr>
                          <m:chr m:val="⃗"/>
                          <m:ctrlPr>
                            <a:rPr lang="zh-CN" altLang="en-US" sz="2400" i="1">
                              <a:latin typeface="Cambria Math" panose="02040503050406030204" pitchFamily="18" charset="0"/>
                            </a:rPr>
                          </m:ctrlPr>
                        </m:accPr>
                        <m:e>
                          <m:r>
                            <a:rPr lang="en-US" altLang="zh-CN" sz="2400" b="0" i="1" smtClean="0">
                              <a:latin typeface="Cambria Math" panose="02040503050406030204" pitchFamily="18" charset="0"/>
                            </a:rPr>
                            <m:t>𝐷</m:t>
                          </m:r>
                        </m:e>
                      </m:acc>
                      <m:r>
                        <a:rPr lang="zh-CN" altLang="en-US" sz="2400" i="0">
                          <a:latin typeface="Cambria Math" panose="02040503050406030204" pitchFamily="18" charset="0"/>
                        </a:rPr>
                        <m:t>=</m:t>
                      </m:r>
                      <m:r>
                        <a:rPr lang="zh-CN" altLang="en-US" sz="2400" i="1">
                          <a:latin typeface="Cambria Math" panose="02040503050406030204" pitchFamily="18" charset="0"/>
                        </a:rPr>
                        <m:t>𝜌</m:t>
                      </m:r>
                    </m:oMath>
                  </m:oMathPara>
                </a14:m>
                <a:endParaRPr lang="zh-CN" altLang="en-US" sz="2400" dirty="0"/>
              </a:p>
            </p:txBody>
          </p:sp>
        </mc:Choice>
        <mc:Fallback xmlns="">
          <p:sp>
            <p:nvSpPr>
              <p:cNvPr id="3" name="文本框 2">
                <a:extLst>
                  <a:ext uri="{FF2B5EF4-FFF2-40B4-BE49-F238E27FC236}">
                    <a16:creationId xmlns:a16="http://schemas.microsoft.com/office/drawing/2014/main" id="{2AD43069-E4BD-4292-801D-C34C85BF83F8}"/>
                  </a:ext>
                </a:extLst>
              </p:cNvPr>
              <p:cNvSpPr txBox="1">
                <a:spLocks noRot="1" noChangeAspect="1" noMove="1" noResize="1" noEditPoints="1" noAdjustHandles="1" noChangeArrowheads="1" noChangeShapeType="1" noTextEdit="1"/>
              </p:cNvSpPr>
              <p:nvPr/>
            </p:nvSpPr>
            <p:spPr>
              <a:xfrm>
                <a:off x="3535215" y="2163411"/>
                <a:ext cx="1290417" cy="414088"/>
              </a:xfrm>
              <a:prstGeom prst="rect">
                <a:avLst/>
              </a:prstGeom>
              <a:blipFill>
                <a:blip r:embed="rId5"/>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5206DD2B-4404-44BF-A7BE-7CF20ADBF231}"/>
              </a:ext>
            </a:extLst>
          </p:cNvPr>
          <p:cNvSpPr/>
          <p:nvPr/>
        </p:nvSpPr>
        <p:spPr>
          <a:xfrm>
            <a:off x="1733087" y="2143834"/>
            <a:ext cx="1802128" cy="369332"/>
          </a:xfrm>
          <a:prstGeom prst="rect">
            <a:avLst/>
          </a:prstGeom>
        </p:spPr>
        <p:txBody>
          <a:bodyPr wrap="square">
            <a:spAutoFit/>
          </a:bodyPr>
          <a:lstStyle/>
          <a:p>
            <a:r>
              <a:rPr lang="en-US" altLang="zh-CN" dirty="0"/>
              <a:t>In general form:</a:t>
            </a:r>
            <a:endParaRPr lang="zh-CN" altLang="en-US" dirty="0"/>
          </a:p>
        </p:txBody>
      </p:sp>
      <mc:AlternateContent xmlns:mc="http://schemas.openxmlformats.org/markup-compatibility/2006" xmlns:a14="http://schemas.microsoft.com/office/drawing/2010/main">
        <mc:Choice Requires="a14">
          <p:sp>
            <p:nvSpPr>
              <p:cNvPr id="20" name="文本框 3">
                <a:extLst>
                  <a:ext uri="{FF2B5EF4-FFF2-40B4-BE49-F238E27FC236}">
                    <a16:creationId xmlns:a16="http://schemas.microsoft.com/office/drawing/2014/main" id="{80D97D09-453E-4DD6-909C-BDFBDCD98498}"/>
                  </a:ext>
                </a:extLst>
              </p:cNvPr>
              <p:cNvSpPr txBox="1"/>
              <p:nvPr/>
            </p:nvSpPr>
            <p:spPr>
              <a:xfrm>
                <a:off x="4847939" y="2163411"/>
                <a:ext cx="2060092" cy="36849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电感应强度 </a:t>
                </a:r>
                <a14:m>
                  <m:oMath xmlns:m="http://schemas.openxmlformats.org/officeDocument/2006/math">
                    <m:acc>
                      <m:accPr>
                        <m:chr m:val="⃗"/>
                        <m:ctrlPr>
                          <a:rPr lang="zh-CN" altLang="en-US" sz="1600" i="1" dirty="0" smtClean="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𝐷</m:t>
                        </m:r>
                      </m:e>
                    </m:acc>
                    <m:r>
                      <a:rPr lang="zh-CN" altLang="en-US" sz="1600" i="0" dirty="0">
                        <a:solidFill>
                          <a:schemeClr val="accent2">
                            <a:lumMod val="75000"/>
                          </a:schemeClr>
                        </a:solidFill>
                        <a:latin typeface="Cambria Math" panose="02040503050406030204" pitchFamily="18" charset="0"/>
                      </a:rPr>
                      <m:t>=</m:t>
                    </m:r>
                    <m:sSub>
                      <m:sSubPr>
                        <m:ctrlPr>
                          <a:rPr lang="zh-CN" altLang="en-US" sz="1600" i="1" dirty="0">
                            <a:solidFill>
                              <a:schemeClr val="accent2">
                                <a:lumMod val="75000"/>
                              </a:schemeClr>
                            </a:solidFill>
                            <a:latin typeface="Cambria Math" panose="02040503050406030204" pitchFamily="18" charset="0"/>
                          </a:rPr>
                        </m:ctrlPr>
                      </m:sSubPr>
                      <m:e>
                        <m:r>
                          <a:rPr lang="zh-CN" altLang="en-US" sz="1600" i="1" dirty="0">
                            <a:solidFill>
                              <a:schemeClr val="accent2">
                                <a:lumMod val="75000"/>
                              </a:schemeClr>
                            </a:solidFill>
                            <a:latin typeface="Cambria Math" panose="02040503050406030204" pitchFamily="18" charset="0"/>
                          </a:rPr>
                          <m:t>𝜀</m:t>
                        </m:r>
                      </m:e>
                      <m:sub>
                        <m:r>
                          <a:rPr lang="zh-CN" altLang="en-US" sz="1600" i="0" dirty="0">
                            <a:solidFill>
                              <a:schemeClr val="accent2">
                                <a:lumMod val="75000"/>
                              </a:schemeClr>
                            </a:solidFill>
                            <a:latin typeface="Cambria Math" panose="02040503050406030204" pitchFamily="18" charset="0"/>
                          </a:rPr>
                          <m:t>0</m:t>
                        </m:r>
                      </m:sub>
                    </m:sSub>
                    <m:acc>
                      <m:accPr>
                        <m:chr m:val="⃗"/>
                        <m:ctrlPr>
                          <a:rPr lang="zh-CN" altLang="en-US" sz="1600" i="1" dirty="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𝐸</m:t>
                        </m:r>
                      </m:e>
                    </m:acc>
                  </m:oMath>
                </a14:m>
                <a:endParaRPr lang="zh-CN" altLang="en-US" sz="1600" dirty="0">
                  <a:solidFill>
                    <a:schemeClr val="accent2">
                      <a:lumMod val="75000"/>
                    </a:schemeClr>
                  </a:solidFill>
                </a:endParaRPr>
              </a:p>
            </p:txBody>
          </p:sp>
        </mc:Choice>
        <mc:Fallback xmlns="">
          <p:sp>
            <p:nvSpPr>
              <p:cNvPr id="20" name="文本框 3">
                <a:extLst>
                  <a:ext uri="{FF2B5EF4-FFF2-40B4-BE49-F238E27FC236}">
                    <a16:creationId xmlns:a16="http://schemas.microsoft.com/office/drawing/2014/main" id="{80D97D09-453E-4DD6-909C-BDFBDCD98498}"/>
                  </a:ext>
                </a:extLst>
              </p:cNvPr>
              <p:cNvSpPr txBox="1">
                <a:spLocks noRot="1" noChangeAspect="1" noMove="1" noResize="1" noEditPoints="1" noAdjustHandles="1" noChangeArrowheads="1" noChangeShapeType="1" noTextEdit="1"/>
              </p:cNvSpPr>
              <p:nvPr/>
            </p:nvSpPr>
            <p:spPr>
              <a:xfrm>
                <a:off x="4847939" y="2163411"/>
                <a:ext cx="2060092" cy="368499"/>
              </a:xfrm>
              <a:prstGeom prst="rect">
                <a:avLst/>
              </a:prstGeom>
              <a:blipFill>
                <a:blip r:embed="rId6"/>
                <a:stretch>
                  <a:fillRect l="-1479" b="-21667"/>
                </a:stretch>
              </a:blipFill>
            </p:spPr>
            <p:txBody>
              <a:bodyPr/>
              <a:lstStyle/>
              <a:p>
                <a:r>
                  <a:rPr lang="zh-CN" altLang="en-US">
                    <a:noFill/>
                  </a:rPr>
                  <a:t> </a:t>
                </a:r>
              </a:p>
            </p:txBody>
          </p:sp>
        </mc:Fallback>
      </mc:AlternateContent>
      <p:pic>
        <p:nvPicPr>
          <p:cNvPr id="21" name="图片 20">
            <a:extLst>
              <a:ext uri="{FF2B5EF4-FFF2-40B4-BE49-F238E27FC236}">
                <a16:creationId xmlns:a16="http://schemas.microsoft.com/office/drawing/2014/main" id="{FA55E751-FB14-49C2-90A1-0A81963DE4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29170" y="2845152"/>
            <a:ext cx="3088866" cy="1811080"/>
          </a:xfrm>
          <a:prstGeom prst="rect">
            <a:avLst/>
          </a:prstGeom>
        </p:spPr>
      </p:pic>
      <p:sp>
        <p:nvSpPr>
          <p:cNvPr id="22" name="椭圆 21">
            <a:extLst>
              <a:ext uri="{FF2B5EF4-FFF2-40B4-BE49-F238E27FC236}">
                <a16:creationId xmlns:a16="http://schemas.microsoft.com/office/drawing/2014/main" id="{231D2FA4-F60E-4697-802E-048DAB747322}"/>
              </a:ext>
            </a:extLst>
          </p:cNvPr>
          <p:cNvSpPr/>
          <p:nvPr/>
        </p:nvSpPr>
        <p:spPr>
          <a:xfrm>
            <a:off x="6753529" y="3948577"/>
            <a:ext cx="309004" cy="615343"/>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a:extLst>
              <a:ext uri="{FF2B5EF4-FFF2-40B4-BE49-F238E27FC236}">
                <a16:creationId xmlns:a16="http://schemas.microsoft.com/office/drawing/2014/main" id="{F24E592A-0996-46BA-A85E-7AAE6D37A502}"/>
              </a:ext>
            </a:extLst>
          </p:cNvPr>
          <p:cNvCxnSpPr>
            <a:cxnSpLocks/>
            <a:endCxn id="22" idx="3"/>
          </p:cNvCxnSpPr>
          <p:nvPr/>
        </p:nvCxnSpPr>
        <p:spPr>
          <a:xfrm flipV="1">
            <a:off x="5858466" y="4473805"/>
            <a:ext cx="940316" cy="241805"/>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EB0C4DF5-CA1A-4A88-938B-555368672497}"/>
              </a:ext>
            </a:extLst>
          </p:cNvPr>
          <p:cNvSpPr/>
          <p:nvPr/>
        </p:nvSpPr>
        <p:spPr>
          <a:xfrm>
            <a:off x="1733087" y="2163411"/>
            <a:ext cx="5266803" cy="4080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09C52108-AD9D-B773-8586-17B4612D1EDA}"/>
              </a:ext>
            </a:extLst>
          </p:cNvPr>
          <p:cNvSpPr txBox="1"/>
          <p:nvPr/>
        </p:nvSpPr>
        <p:spPr>
          <a:xfrm>
            <a:off x="513376" y="2899728"/>
            <a:ext cx="4572000" cy="1815882"/>
          </a:xfrm>
          <a:prstGeom prst="rect">
            <a:avLst/>
          </a:prstGeom>
          <a:noFill/>
        </p:spPr>
        <p:txBody>
          <a:bodyPr wrap="square">
            <a:spAutoFit/>
          </a:bodyPr>
          <a:lstStyle/>
          <a:p>
            <a:r>
              <a:rPr lang="en-US" altLang="zh-CN" sz="1400" dirty="0"/>
              <a:t>Positive charges act as sources of electric field lines (field lines radiate outward).</a:t>
            </a:r>
          </a:p>
          <a:p>
            <a:r>
              <a:rPr lang="en-US" altLang="zh-CN" sz="1400" dirty="0"/>
              <a:t>Negative charges act as sinks of electric field lines (field lines converge inward).</a:t>
            </a:r>
          </a:p>
          <a:p>
            <a:endParaRPr lang="en-US" altLang="zh-CN" sz="1400" dirty="0"/>
          </a:p>
          <a:p>
            <a:r>
              <a:rPr lang="en-US" altLang="zh-CN" sz="1400" dirty="0"/>
              <a:t>If there is no net charge inside the closed surface, the total electric flux through the surface is zero. This does not mean the electric field is zero everywhere.</a:t>
            </a:r>
            <a:endParaRPr lang="zh-CN" altLang="en-US" sz="1400" dirty="0"/>
          </a:p>
        </p:txBody>
      </p:sp>
      <p:sp>
        <p:nvSpPr>
          <p:cNvPr id="19" name="文本框 18">
            <a:extLst>
              <a:ext uri="{FF2B5EF4-FFF2-40B4-BE49-F238E27FC236}">
                <a16:creationId xmlns:a16="http://schemas.microsoft.com/office/drawing/2014/main" id="{F565A669-79DF-5ECB-241D-BDD7111A0C66}"/>
              </a:ext>
            </a:extLst>
          </p:cNvPr>
          <p:cNvSpPr txBox="1"/>
          <p:nvPr/>
        </p:nvSpPr>
        <p:spPr>
          <a:xfrm>
            <a:off x="368235" y="613667"/>
            <a:ext cx="1586690" cy="307777"/>
          </a:xfrm>
          <a:prstGeom prst="rect">
            <a:avLst/>
          </a:prstGeom>
          <a:noFill/>
        </p:spPr>
        <p:txBody>
          <a:bodyPr wrap="square">
            <a:spAutoFit/>
          </a:bodyPr>
          <a:lstStyle/>
          <a:p>
            <a:r>
              <a:rPr lang="en-US" altLang="zh-CN" sz="1400" dirty="0"/>
              <a:t>Differential Form</a:t>
            </a:r>
            <a:endParaRPr lang="zh-CN" altLang="en-US" sz="1400" dirty="0"/>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00D190FD-F533-B7CD-B05D-00079C397FED}"/>
                  </a:ext>
                </a:extLst>
              </p:cNvPr>
              <p:cNvSpPr/>
              <p:nvPr/>
            </p:nvSpPr>
            <p:spPr>
              <a:xfrm>
                <a:off x="4795478" y="4622592"/>
                <a:ext cx="4225106" cy="614720"/>
              </a:xfrm>
              <a:prstGeom prst="rect">
                <a:avLst/>
              </a:prstGeom>
            </p:spPr>
            <p:txBody>
              <a:bodyPr wrap="square">
                <a:spAutoFit/>
              </a:bodyPr>
              <a:lstStyle/>
              <a:p>
                <a14:m>
                  <m:oMath xmlns:m="http://schemas.openxmlformats.org/officeDocument/2006/math">
                    <m:r>
                      <m:rPr>
                        <m:sty m:val="p"/>
                      </m:rPr>
                      <a:rPr lang="zh-CN" altLang="en-US" sz="1600">
                        <a:latin typeface="Cambria Math" panose="02040503050406030204" pitchFamily="18" charset="0"/>
                      </a:rPr>
                      <m:t>∇</m:t>
                    </m:r>
                    <m:r>
                      <a:rPr lang="zh-CN" altLang="en-US" sz="1600">
                        <a:latin typeface="Cambria Math" panose="02040503050406030204" pitchFamily="18" charset="0"/>
                      </a:rPr>
                      <m:t>⋅</m:t>
                    </m:r>
                    <m:acc>
                      <m:accPr>
                        <m:chr m:val="⃗"/>
                        <m:ctrlPr>
                          <a:rPr lang="zh-CN" altLang="en-US" sz="1600" i="1">
                            <a:latin typeface="Cambria Math" panose="02040503050406030204" pitchFamily="18" charset="0"/>
                          </a:rPr>
                        </m:ctrlPr>
                      </m:accPr>
                      <m:e>
                        <m:r>
                          <a:rPr lang="en-US" altLang="zh-CN" sz="1600">
                            <a:latin typeface="Cambria Math" panose="02040503050406030204" pitchFamily="18" charset="0"/>
                          </a:rPr>
                          <m:t>𝐸</m:t>
                        </m:r>
                      </m:e>
                    </m:acc>
                    <m:r>
                      <a:rPr lang="zh-CN" altLang="en-US" sz="1600">
                        <a:latin typeface="Cambria Math" panose="02040503050406030204" pitchFamily="18" charset="0"/>
                      </a:rPr>
                      <m:t>=</m:t>
                    </m:r>
                    <m:r>
                      <a:rPr lang="en-US" altLang="zh-CN" sz="1600">
                        <a:latin typeface="Cambria Math" panose="02040503050406030204" pitchFamily="18" charset="0"/>
                      </a:rPr>
                      <m:t>0 </m:t>
                    </m:r>
                  </m:oMath>
                </a14:m>
                <a:r>
                  <a:rPr lang="en-US" altLang="zh-CN" sz="1600" dirty="0"/>
                  <a:t>means no charge inside the closed surface S, </a:t>
                </a:r>
                <a:r>
                  <a:rPr lang="zh-CN" altLang="en-US" sz="1600" dirty="0"/>
                  <a:t>闭合曲面形成体积</a:t>
                </a:r>
                <a:r>
                  <a:rPr lang="en-US" altLang="zh-CN" sz="1600" dirty="0"/>
                  <a:t>(</a:t>
                </a:r>
                <a:r>
                  <a:rPr lang="zh-CN" altLang="en-US" sz="1600" dirty="0"/>
                  <a:t>气球</a:t>
                </a:r>
                <a:r>
                  <a:rPr lang="en-US" altLang="zh-CN" sz="1600" dirty="0"/>
                  <a:t>)</a:t>
                </a:r>
                <a:r>
                  <a:rPr lang="zh-CN" altLang="en-US" sz="1600" dirty="0"/>
                  <a:t>内无电荷</a:t>
                </a:r>
              </a:p>
            </p:txBody>
          </p:sp>
        </mc:Choice>
        <mc:Fallback xmlns="">
          <p:sp>
            <p:nvSpPr>
              <p:cNvPr id="23" name="矩形 22">
                <a:extLst>
                  <a:ext uri="{FF2B5EF4-FFF2-40B4-BE49-F238E27FC236}">
                    <a16:creationId xmlns:a16="http://schemas.microsoft.com/office/drawing/2014/main" id="{00D190FD-F533-B7CD-B05D-00079C397FED}"/>
                  </a:ext>
                </a:extLst>
              </p:cNvPr>
              <p:cNvSpPr>
                <a:spLocks noRot="1" noChangeAspect="1" noMove="1" noResize="1" noEditPoints="1" noAdjustHandles="1" noChangeArrowheads="1" noChangeShapeType="1" noTextEdit="1"/>
              </p:cNvSpPr>
              <p:nvPr/>
            </p:nvSpPr>
            <p:spPr>
              <a:xfrm>
                <a:off x="4795478" y="4622592"/>
                <a:ext cx="4225106" cy="614720"/>
              </a:xfrm>
              <a:prstGeom prst="rect">
                <a:avLst/>
              </a:prstGeom>
              <a:blipFill>
                <a:blip r:embed="rId8"/>
                <a:stretch>
                  <a:fillRect l="-866" r="-144" b="-118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0108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07807-9D81-0FC0-B3AC-FFCA1373053E}"/>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020AD3BD-29C7-C323-1E33-84AB26B69293}"/>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2</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Gauss’s law of electrostatic</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文本框 3">
            <a:extLst>
              <a:ext uri="{FF2B5EF4-FFF2-40B4-BE49-F238E27FC236}">
                <a16:creationId xmlns:a16="http://schemas.microsoft.com/office/drawing/2014/main" id="{929BC8E7-D17F-2B65-BA26-66B317771FDA}"/>
              </a:ext>
            </a:extLst>
          </p:cNvPr>
          <p:cNvSpPr txBox="1"/>
          <p:nvPr/>
        </p:nvSpPr>
        <p:spPr>
          <a:xfrm>
            <a:off x="166665" y="1957718"/>
            <a:ext cx="9144001"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The integral form states that the electric flux through any closed surface is proportional to the net charge enclosed by the surface.</a:t>
            </a:r>
            <a:endParaRPr lang="zh-CN" altLang="en-US" dirty="0"/>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C1DFFB55-23D1-14DE-A62D-ADCCF35D2B51}"/>
                  </a:ext>
                </a:extLst>
              </p:cNvPr>
              <p:cNvSpPr txBox="1"/>
              <p:nvPr/>
            </p:nvSpPr>
            <p:spPr>
              <a:xfrm>
                <a:off x="2885229" y="764485"/>
                <a:ext cx="1389483" cy="8135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subSup"/>
                          <m:grow m:val="on"/>
                          <m:supHide m:val="on"/>
                          <m:ctrlPr>
                            <a:rPr lang="zh-CN" altLang="en-US" i="1">
                              <a:latin typeface="Cambria Math" panose="02040503050406030204" pitchFamily="18" charset="0"/>
                            </a:rPr>
                          </m:ctrlPr>
                        </m:naryPr>
                        <m:sub>
                          <m:r>
                            <a:rPr lang="zh-CN" altLang="en-US" i="1">
                              <a:latin typeface="Cambria Math" panose="02040503050406030204" pitchFamily="18" charset="0"/>
                            </a:rPr>
                            <m:t>𝑆</m:t>
                          </m:r>
                        </m:sub>
                        <m:sup/>
                        <m:e>
                          <m:r>
                            <a:rPr lang="zh-CN" altLang="en-US" i="1">
                              <a:latin typeface="Cambria Math" panose="02040503050406030204" pitchFamily="18" charset="0"/>
                            </a:rPr>
                            <m:t>𝐸</m:t>
                          </m:r>
                          <m:r>
                            <a:rPr lang="zh-CN" altLang="en-US" i="0">
                              <a:latin typeface="Cambria Math" panose="02040503050406030204" pitchFamily="18" charset="0"/>
                            </a:rPr>
                            <m:t>⋅ⅆ</m:t>
                          </m:r>
                          <m:r>
                            <a:rPr lang="zh-CN" altLang="en-US" i="1">
                              <a:latin typeface="Cambria Math" panose="02040503050406030204" pitchFamily="18" charset="0"/>
                            </a:rPr>
                            <m:t>𝑆</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𝑄</m:t>
                              </m:r>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𝜀</m:t>
                                  </m:r>
                                </m:e>
                                <m:sub>
                                  <m:r>
                                    <a:rPr lang="en-US" altLang="zh-CN" b="0" i="1" smtClean="0">
                                      <a:latin typeface="Cambria Math" panose="02040503050406030204" pitchFamily="18" charset="0"/>
                                    </a:rPr>
                                    <m:t>0</m:t>
                                  </m:r>
                                </m:sub>
                              </m:sSub>
                            </m:den>
                          </m:f>
                        </m:e>
                      </m:nary>
                    </m:oMath>
                  </m:oMathPara>
                </a14:m>
                <a:endParaRPr lang="zh-CN" altLang="en-US" dirty="0"/>
              </a:p>
            </p:txBody>
          </p:sp>
        </mc:Choice>
        <mc:Fallback xmlns="">
          <p:sp>
            <p:nvSpPr>
              <p:cNvPr id="30" name="文本框 29">
                <a:extLst>
                  <a:ext uri="{FF2B5EF4-FFF2-40B4-BE49-F238E27FC236}">
                    <a16:creationId xmlns:a16="http://schemas.microsoft.com/office/drawing/2014/main" id="{C1DFFB55-23D1-14DE-A62D-ADCCF35D2B51}"/>
                  </a:ext>
                </a:extLst>
              </p:cNvPr>
              <p:cNvSpPr txBox="1">
                <a:spLocks noRot="1" noChangeAspect="1" noMove="1" noResize="1" noEditPoints="1" noAdjustHandles="1" noChangeArrowheads="1" noChangeShapeType="1" noTextEdit="1"/>
              </p:cNvSpPr>
              <p:nvPr/>
            </p:nvSpPr>
            <p:spPr>
              <a:xfrm>
                <a:off x="2885229" y="764485"/>
                <a:ext cx="1389483" cy="813556"/>
              </a:xfrm>
              <a:prstGeom prst="rect">
                <a:avLst/>
              </a:prstGeom>
              <a:blipFill>
                <a:blip r:embed="rId3"/>
                <a:stretch>
                  <a:fillRect/>
                </a:stretch>
              </a:blipFill>
            </p:spPr>
            <p:txBody>
              <a:bodyPr/>
              <a:lstStyle/>
              <a:p>
                <a:r>
                  <a:rPr lang="zh-CN" altLang="en-US">
                    <a:noFill/>
                  </a:rPr>
                  <a:t> </a:t>
                </a:r>
              </a:p>
            </p:txBody>
          </p:sp>
        </mc:Fallback>
      </mc:AlternateContent>
      <p:sp>
        <p:nvSpPr>
          <p:cNvPr id="34" name="文本框 3">
            <a:extLst>
              <a:ext uri="{FF2B5EF4-FFF2-40B4-BE49-F238E27FC236}">
                <a16:creationId xmlns:a16="http://schemas.microsoft.com/office/drawing/2014/main" id="{E3152360-12F4-42AA-0E53-333890D8A32B}"/>
              </a:ext>
            </a:extLst>
          </p:cNvPr>
          <p:cNvSpPr txBox="1"/>
          <p:nvPr/>
        </p:nvSpPr>
        <p:spPr>
          <a:xfrm>
            <a:off x="509692" y="783792"/>
            <a:ext cx="2753763"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Integral Form</a:t>
            </a:r>
            <a:endParaRPr lang="zh-CN" altLang="en-US" sz="1600" dirty="0"/>
          </a:p>
        </p:txBody>
      </p:sp>
      <p:cxnSp>
        <p:nvCxnSpPr>
          <p:cNvPr id="35" name="直接箭头连接符 34">
            <a:extLst>
              <a:ext uri="{FF2B5EF4-FFF2-40B4-BE49-F238E27FC236}">
                <a16:creationId xmlns:a16="http://schemas.microsoft.com/office/drawing/2014/main" id="{31ADD183-31CF-D773-83CC-D5557CBA0FDA}"/>
              </a:ext>
            </a:extLst>
          </p:cNvPr>
          <p:cNvCxnSpPr>
            <a:cxnSpLocks/>
          </p:cNvCxnSpPr>
          <p:nvPr/>
        </p:nvCxnSpPr>
        <p:spPr>
          <a:xfrm flipV="1">
            <a:off x="3441307" y="1308936"/>
            <a:ext cx="0" cy="26425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
            <a:extLst>
              <a:ext uri="{FF2B5EF4-FFF2-40B4-BE49-F238E27FC236}">
                <a16:creationId xmlns:a16="http://schemas.microsoft.com/office/drawing/2014/main" id="{1F01625E-0F93-77DD-1B0C-5A0865685E1C}"/>
              </a:ext>
            </a:extLst>
          </p:cNvPr>
          <p:cNvSpPr txBox="1"/>
          <p:nvPr/>
        </p:nvSpPr>
        <p:spPr>
          <a:xfrm>
            <a:off x="2770772" y="1633365"/>
            <a:ext cx="4411998"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面积分，表示电场穿过闭合曲面</a:t>
            </a:r>
            <a:r>
              <a:rPr lang="en-US" altLang="zh-CN" sz="1600" dirty="0">
                <a:solidFill>
                  <a:schemeClr val="accent2">
                    <a:lumMod val="75000"/>
                  </a:schemeClr>
                </a:solidFill>
              </a:rPr>
              <a:t>S</a:t>
            </a:r>
            <a:r>
              <a:rPr lang="zh-CN" altLang="en-US" sz="1600" dirty="0">
                <a:solidFill>
                  <a:schemeClr val="accent2">
                    <a:lumMod val="75000"/>
                  </a:schemeClr>
                </a:solidFill>
              </a:rPr>
              <a:t>的通量</a:t>
            </a:r>
          </a:p>
        </p:txBody>
      </p:sp>
      <p:sp>
        <p:nvSpPr>
          <p:cNvPr id="37" name="文本框 3">
            <a:extLst>
              <a:ext uri="{FF2B5EF4-FFF2-40B4-BE49-F238E27FC236}">
                <a16:creationId xmlns:a16="http://schemas.microsoft.com/office/drawing/2014/main" id="{8373179F-70D8-E1DB-B7BD-C4A5E7A2D107}"/>
              </a:ext>
            </a:extLst>
          </p:cNvPr>
          <p:cNvSpPr txBox="1"/>
          <p:nvPr/>
        </p:nvSpPr>
        <p:spPr>
          <a:xfrm>
            <a:off x="5139665" y="672659"/>
            <a:ext cx="1948509"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Total electric charge enclosed by the surface S</a:t>
            </a:r>
            <a:endParaRPr lang="zh-CN" altLang="en-US" sz="1600" dirty="0">
              <a:solidFill>
                <a:schemeClr val="accent5">
                  <a:lumMod val="75000"/>
                </a:schemeClr>
              </a:solidFill>
            </a:endParaRPr>
          </a:p>
        </p:txBody>
      </p:sp>
      <p:cxnSp>
        <p:nvCxnSpPr>
          <p:cNvPr id="38" name="直接箭头连接符 37">
            <a:extLst>
              <a:ext uri="{FF2B5EF4-FFF2-40B4-BE49-F238E27FC236}">
                <a16:creationId xmlns:a16="http://schemas.microsoft.com/office/drawing/2014/main" id="{E607AE9C-C351-685E-9F02-51629985ED9F}"/>
              </a:ext>
            </a:extLst>
          </p:cNvPr>
          <p:cNvCxnSpPr>
            <a:cxnSpLocks/>
          </p:cNvCxnSpPr>
          <p:nvPr/>
        </p:nvCxnSpPr>
        <p:spPr>
          <a:xfrm flipH="1">
            <a:off x="4274712" y="819809"/>
            <a:ext cx="927909" cy="157655"/>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F7E51CF-3EA2-82A4-4EFE-F7CA2CE5882F}"/>
                  </a:ext>
                </a:extLst>
              </p:cNvPr>
              <p:cNvSpPr txBox="1"/>
              <p:nvPr/>
            </p:nvSpPr>
            <p:spPr>
              <a:xfrm>
                <a:off x="721062" y="3080027"/>
                <a:ext cx="1326576" cy="7086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𝜌</m:t>
                          </m:r>
                        </m:num>
                        <m:den>
                          <m:sSub>
                            <m:sSubPr>
                              <m:ctrlPr>
                                <a:rPr lang="en-US" altLang="zh-CN"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en-US" altLang="zh-CN" sz="2400" b="0" i="1" smtClean="0">
                                  <a:solidFill>
                                    <a:schemeClr val="tx1"/>
                                  </a:solidFill>
                                  <a:latin typeface="Cambria Math" panose="02040503050406030204" pitchFamily="18" charset="0"/>
                                </a:rPr>
                                <m:t>0</m:t>
                              </m:r>
                            </m:sub>
                          </m:sSub>
                        </m:den>
                      </m:f>
                    </m:oMath>
                  </m:oMathPara>
                </a14:m>
                <a:endParaRPr lang="zh-CN" altLang="en-US" sz="2400" dirty="0"/>
              </a:p>
            </p:txBody>
          </p:sp>
        </mc:Choice>
        <mc:Fallback xmlns="">
          <p:sp>
            <p:nvSpPr>
              <p:cNvPr id="14" name="文本框 13">
                <a:extLst>
                  <a:ext uri="{FF2B5EF4-FFF2-40B4-BE49-F238E27FC236}">
                    <a16:creationId xmlns:a16="http://schemas.microsoft.com/office/drawing/2014/main" id="{AF7E51CF-3EA2-82A4-4EFE-F7CA2CE5882F}"/>
                  </a:ext>
                </a:extLst>
              </p:cNvPr>
              <p:cNvSpPr txBox="1">
                <a:spLocks noRot="1" noChangeAspect="1" noMove="1" noResize="1" noEditPoints="1" noAdjustHandles="1" noChangeArrowheads="1" noChangeShapeType="1" noTextEdit="1"/>
              </p:cNvSpPr>
              <p:nvPr/>
            </p:nvSpPr>
            <p:spPr>
              <a:xfrm>
                <a:off x="721062" y="3080027"/>
                <a:ext cx="1326576" cy="70866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2F7307A-8BFF-8F90-468E-378D19FA53D2}"/>
                  </a:ext>
                </a:extLst>
              </p:cNvPr>
              <p:cNvSpPr txBox="1"/>
              <p:nvPr/>
            </p:nvSpPr>
            <p:spPr>
              <a:xfrm>
                <a:off x="2638480" y="3668007"/>
                <a:ext cx="3712683" cy="8135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subSup"/>
                          <m:grow m:val="on"/>
                          <m:supHide m:val="on"/>
                          <m:ctrlPr>
                            <a:rPr lang="zh-CN" altLang="en-US" i="1" smtClean="0">
                              <a:latin typeface="Cambria Math" panose="02040503050406030204" pitchFamily="18" charset="0"/>
                            </a:rPr>
                          </m:ctrlPr>
                        </m:naryPr>
                        <m:sub>
                          <m:r>
                            <a:rPr lang="zh-CN" altLang="en-US" i="1">
                              <a:latin typeface="Cambria Math" panose="02040503050406030204" pitchFamily="18" charset="0"/>
                            </a:rPr>
                            <m:t>𝜈</m:t>
                          </m:r>
                        </m:sub>
                        <m:sup/>
                        <m:e>
                          <m:r>
                            <m:rPr>
                              <m:sty m:val="p"/>
                            </m:rPr>
                            <a:rPr lang="zh-CN" altLang="en-US" i="0">
                              <a:latin typeface="Cambria Math" panose="02040503050406030204" pitchFamily="18" charset="0"/>
                            </a:rPr>
                            <m:t>∇</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𝐸</m:t>
                              </m:r>
                            </m:e>
                          </m:acc>
                          <m:r>
                            <a:rPr lang="zh-CN" altLang="en-US" i="0">
                              <a:latin typeface="Cambria Math" panose="02040503050406030204" pitchFamily="18" charset="0"/>
                            </a:rPr>
                            <m:t>ⅆ</m:t>
                          </m:r>
                          <m:r>
                            <a:rPr lang="zh-CN" altLang="en-US" i="1">
                              <a:latin typeface="Cambria Math" panose="02040503050406030204" pitchFamily="18" charset="0"/>
                            </a:rPr>
                            <m:t>𝑉</m:t>
                          </m:r>
                        </m:e>
                      </m:nary>
                      <m:r>
                        <a:rPr lang="zh-CN" altLang="en-US" i="0">
                          <a:latin typeface="Cambria Math" panose="02040503050406030204" pitchFamily="18" charset="0"/>
                        </a:rPr>
                        <m:t>=</m:t>
                      </m:r>
                      <m:nary>
                        <m:naryPr>
                          <m:limLoc m:val="subSup"/>
                          <m:grow m:val="on"/>
                          <m:supHide m:val="on"/>
                          <m:ctrlPr>
                            <a:rPr lang="zh-CN" altLang="en-US" i="1">
                              <a:latin typeface="Cambria Math" panose="02040503050406030204" pitchFamily="18" charset="0"/>
                            </a:rPr>
                          </m:ctrlPr>
                        </m:naryPr>
                        <m:sub>
                          <m:r>
                            <a:rPr lang="zh-CN" altLang="en-US" i="1">
                              <a:latin typeface="Cambria Math" panose="02040503050406030204" pitchFamily="18" charset="0"/>
                            </a:rPr>
                            <m:t>𝜈</m:t>
                          </m:r>
                        </m:sub>
                        <m:sup/>
                        <m:e>
                          <m:f>
                            <m:fPr>
                              <m:ctrlPr>
                                <a:rPr lang="en-US" altLang="zh-CN" i="1">
                                  <a:latin typeface="Cambria Math" panose="02040503050406030204" pitchFamily="18" charset="0"/>
                                </a:rPr>
                              </m:ctrlPr>
                            </m:fPr>
                            <m:num>
                              <m:r>
                                <a:rPr lang="zh-CN" altLang="en-US" i="1">
                                  <a:latin typeface="Cambria Math" panose="02040503050406030204" pitchFamily="18" charset="0"/>
                                </a:rPr>
                                <m:t>𝜌</m:t>
                              </m:r>
                            </m:num>
                            <m:den>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i="1">
                                      <a:latin typeface="Cambria Math" panose="02040503050406030204" pitchFamily="18" charset="0"/>
                                    </a:rPr>
                                    <m:t>0</m:t>
                                  </m:r>
                                </m:sub>
                              </m:sSub>
                            </m:den>
                          </m:f>
                          <m:r>
                            <a:rPr lang="zh-CN" altLang="en-US">
                              <a:latin typeface="Cambria Math" panose="02040503050406030204" pitchFamily="18" charset="0"/>
                            </a:rPr>
                            <m:t>ⅆ</m:t>
                          </m:r>
                          <m:r>
                            <a:rPr lang="zh-CN" altLang="en-US" i="1">
                              <a:latin typeface="Cambria Math" panose="02040503050406030204" pitchFamily="18" charset="0"/>
                            </a:rPr>
                            <m:t>𝑉</m:t>
                          </m:r>
                          <m:r>
                            <a:rPr lang="en-US" altLang="zh-CN" b="0" i="1" smtClean="0">
                              <a:latin typeface="Cambria Math" panose="02040503050406030204" pitchFamily="18" charset="0"/>
                            </a:rPr>
                            <m:t>=</m:t>
                          </m:r>
                        </m:e>
                      </m:nary>
                      <m:nary>
                        <m:naryPr>
                          <m:chr m:val="∮"/>
                          <m:limLoc m:val="subSup"/>
                          <m:grow m:val="on"/>
                          <m:supHide m:val="on"/>
                          <m:ctrlPr>
                            <a:rPr lang="zh-CN" altLang="en-US" i="1">
                              <a:latin typeface="Cambria Math" panose="02040503050406030204" pitchFamily="18" charset="0"/>
                            </a:rPr>
                          </m:ctrlPr>
                        </m:naryPr>
                        <m:sub>
                          <m:r>
                            <a:rPr lang="zh-CN" altLang="en-US" i="1">
                              <a:latin typeface="Cambria Math" panose="02040503050406030204" pitchFamily="18" charset="0"/>
                            </a:rPr>
                            <m:t>𝑆</m:t>
                          </m:r>
                        </m:sub>
                        <m:sup/>
                        <m:e>
                          <m:r>
                            <a:rPr lang="zh-CN" altLang="en-US" i="1">
                              <a:latin typeface="Cambria Math" panose="02040503050406030204" pitchFamily="18" charset="0"/>
                            </a:rPr>
                            <m:t>𝐸</m:t>
                          </m:r>
                          <m:r>
                            <a:rPr lang="zh-CN" altLang="en-US">
                              <a:latin typeface="Cambria Math" panose="02040503050406030204" pitchFamily="18" charset="0"/>
                            </a:rPr>
                            <m:t>⋅ⅆ</m:t>
                          </m:r>
                          <m:r>
                            <a:rPr lang="zh-CN" altLang="en-US" i="1">
                              <a:latin typeface="Cambria Math" panose="02040503050406030204" pitchFamily="18" charset="0"/>
                            </a:rPr>
                            <m:t>𝑆</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𝑄</m:t>
                              </m:r>
                            </m:num>
                            <m:den>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i="1">
                                      <a:latin typeface="Cambria Math" panose="02040503050406030204" pitchFamily="18" charset="0"/>
                                    </a:rPr>
                                    <m:t>0</m:t>
                                  </m:r>
                                </m:sub>
                              </m:sSub>
                            </m:den>
                          </m:f>
                        </m:e>
                      </m:nary>
                    </m:oMath>
                  </m:oMathPara>
                </a14:m>
                <a:endParaRPr lang="zh-CN" altLang="en-US" dirty="0"/>
              </a:p>
            </p:txBody>
          </p:sp>
        </mc:Choice>
        <mc:Fallback xmlns="">
          <p:sp>
            <p:nvSpPr>
              <p:cNvPr id="17" name="文本框 16">
                <a:extLst>
                  <a:ext uri="{FF2B5EF4-FFF2-40B4-BE49-F238E27FC236}">
                    <a16:creationId xmlns:a16="http://schemas.microsoft.com/office/drawing/2014/main" id="{E2F7307A-8BFF-8F90-468E-378D19FA53D2}"/>
                  </a:ext>
                </a:extLst>
              </p:cNvPr>
              <p:cNvSpPr txBox="1">
                <a:spLocks noRot="1" noChangeAspect="1" noMove="1" noResize="1" noEditPoints="1" noAdjustHandles="1" noChangeArrowheads="1" noChangeShapeType="1" noTextEdit="1"/>
              </p:cNvSpPr>
              <p:nvPr/>
            </p:nvSpPr>
            <p:spPr>
              <a:xfrm>
                <a:off x="2638480" y="3668007"/>
                <a:ext cx="3712683" cy="813556"/>
              </a:xfrm>
              <a:prstGeom prst="rect">
                <a:avLst/>
              </a:prstGeom>
              <a:blipFill>
                <a:blip r:embed="rId5"/>
                <a:stretch>
                  <a:fillRect/>
                </a:stretch>
              </a:blipFill>
            </p:spPr>
            <p:txBody>
              <a:bodyPr/>
              <a:lstStyle/>
              <a:p>
                <a:r>
                  <a:rPr lang="zh-CN" altLang="en-US">
                    <a:noFill/>
                  </a:rPr>
                  <a:t> </a:t>
                </a:r>
              </a:p>
            </p:txBody>
          </p:sp>
        </mc:Fallback>
      </mc:AlternateContent>
      <p:sp>
        <p:nvSpPr>
          <p:cNvPr id="18" name="文本框 3">
            <a:extLst>
              <a:ext uri="{FF2B5EF4-FFF2-40B4-BE49-F238E27FC236}">
                <a16:creationId xmlns:a16="http://schemas.microsoft.com/office/drawing/2014/main" id="{31DF9DED-7C51-E87A-428E-8EC4AE0E31BA}"/>
              </a:ext>
            </a:extLst>
          </p:cNvPr>
          <p:cNvSpPr txBox="1"/>
          <p:nvPr/>
        </p:nvSpPr>
        <p:spPr>
          <a:xfrm>
            <a:off x="2428510" y="4536438"/>
            <a:ext cx="2666905"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5">
                    <a:lumMod val="75000"/>
                  </a:schemeClr>
                </a:solidFill>
              </a:rPr>
              <a:t>散度的体积分，即体积</a:t>
            </a:r>
            <a:r>
              <a:rPr lang="en-US" altLang="zh-CN" sz="1600" dirty="0">
                <a:solidFill>
                  <a:schemeClr val="accent5">
                    <a:lumMod val="75000"/>
                  </a:schemeClr>
                </a:solidFill>
              </a:rPr>
              <a:t>V</a:t>
            </a:r>
            <a:r>
              <a:rPr lang="zh-CN" altLang="en-US" sz="1600" dirty="0">
                <a:solidFill>
                  <a:schemeClr val="accent5">
                    <a:lumMod val="75000"/>
                  </a:schemeClr>
                </a:solidFill>
              </a:rPr>
              <a:t>中所有源点和汇点的总流量</a:t>
            </a:r>
          </a:p>
        </p:txBody>
      </p:sp>
      <p:cxnSp>
        <p:nvCxnSpPr>
          <p:cNvPr id="19" name="直接箭头连接符 18">
            <a:extLst>
              <a:ext uri="{FF2B5EF4-FFF2-40B4-BE49-F238E27FC236}">
                <a16:creationId xmlns:a16="http://schemas.microsoft.com/office/drawing/2014/main" id="{38F8DDB3-7CBF-9627-A6FB-A86B45CD7B01}"/>
              </a:ext>
            </a:extLst>
          </p:cNvPr>
          <p:cNvCxnSpPr>
            <a:cxnSpLocks/>
          </p:cNvCxnSpPr>
          <p:nvPr/>
        </p:nvCxnSpPr>
        <p:spPr>
          <a:xfrm flipV="1">
            <a:off x="2770772" y="4395017"/>
            <a:ext cx="0" cy="26333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9EDE7D6-F567-09F9-E122-211670B4EC4C}"/>
                  </a:ext>
                </a:extLst>
              </p:cNvPr>
              <p:cNvSpPr txBox="1"/>
              <p:nvPr/>
            </p:nvSpPr>
            <p:spPr>
              <a:xfrm>
                <a:off x="6605846" y="3022841"/>
                <a:ext cx="2023473" cy="9058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subSup"/>
                          <m:grow m:val="on"/>
                          <m:supHide m:val="on"/>
                          <m:ctrlPr>
                            <a:rPr lang="zh-CN" altLang="en-US" i="1" smtClean="0">
                              <a:latin typeface="Cambria Math" panose="02040503050406030204" pitchFamily="18" charset="0"/>
                            </a:rPr>
                          </m:ctrlPr>
                        </m:naryPr>
                        <m:sub>
                          <m:r>
                            <a:rPr lang="zh-CN" altLang="en-US" i="1">
                              <a:latin typeface="Cambria Math" panose="02040503050406030204" pitchFamily="18" charset="0"/>
                            </a:rPr>
                            <m:t>𝑆</m:t>
                          </m:r>
                        </m:sub>
                        <m:sup/>
                        <m:e>
                          <m:r>
                            <a:rPr lang="zh-CN" altLang="en-US" i="1">
                              <a:latin typeface="Cambria Math" panose="02040503050406030204" pitchFamily="18" charset="0"/>
                            </a:rPr>
                            <m:t>𝐸</m:t>
                          </m:r>
                          <m:r>
                            <a:rPr lang="zh-CN" altLang="en-US" i="0">
                              <a:latin typeface="Cambria Math" panose="02040503050406030204" pitchFamily="18" charset="0"/>
                            </a:rPr>
                            <m:t>⋅ⅆ</m:t>
                          </m:r>
                          <m:r>
                            <a:rPr lang="zh-CN" altLang="en-US" i="1">
                              <a:latin typeface="Cambria Math" panose="02040503050406030204" pitchFamily="18" charset="0"/>
                            </a:rPr>
                            <m:t>𝑆</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𝑄</m:t>
                              </m:r>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𝜀</m:t>
                                  </m:r>
                                </m:e>
                                <m:sub>
                                  <m:r>
                                    <a:rPr lang="en-US" altLang="zh-CN" b="0" i="1" smtClean="0">
                                      <a:latin typeface="Cambria Math" panose="02040503050406030204" pitchFamily="18" charset="0"/>
                                    </a:rPr>
                                    <m:t>0</m:t>
                                  </m:r>
                                </m:sub>
                              </m:sSub>
                            </m:den>
                          </m:f>
                        </m:e>
                      </m:nary>
                    </m:oMath>
                  </m:oMathPara>
                </a14:m>
                <a:endParaRPr lang="zh-CN" altLang="en-US" dirty="0"/>
              </a:p>
            </p:txBody>
          </p:sp>
        </mc:Choice>
        <mc:Fallback xmlns="">
          <p:sp>
            <p:nvSpPr>
              <p:cNvPr id="24" name="文本框 23">
                <a:extLst>
                  <a:ext uri="{FF2B5EF4-FFF2-40B4-BE49-F238E27FC236}">
                    <a16:creationId xmlns:a16="http://schemas.microsoft.com/office/drawing/2014/main" id="{A9EDE7D6-F567-09F9-E122-211670B4EC4C}"/>
                  </a:ext>
                </a:extLst>
              </p:cNvPr>
              <p:cNvSpPr txBox="1">
                <a:spLocks noRot="1" noChangeAspect="1" noMove="1" noResize="1" noEditPoints="1" noAdjustHandles="1" noChangeArrowheads="1" noChangeShapeType="1" noTextEdit="1"/>
              </p:cNvSpPr>
              <p:nvPr/>
            </p:nvSpPr>
            <p:spPr>
              <a:xfrm>
                <a:off x="6605846" y="3022841"/>
                <a:ext cx="2023473" cy="905889"/>
              </a:xfrm>
              <a:prstGeom prst="rect">
                <a:avLst/>
              </a:prstGeom>
              <a:blipFill>
                <a:blip r:embed="rId6"/>
                <a:stretch>
                  <a:fillRect/>
                </a:stretch>
              </a:blipFill>
            </p:spPr>
            <p:txBody>
              <a:bodyPr/>
              <a:lstStyle/>
              <a:p>
                <a:r>
                  <a:rPr lang="zh-CN" altLang="en-US">
                    <a:noFill/>
                  </a:rPr>
                  <a:t> </a:t>
                </a:r>
              </a:p>
            </p:txBody>
          </p:sp>
        </mc:Fallback>
      </mc:AlternateContent>
      <p:sp>
        <p:nvSpPr>
          <p:cNvPr id="27" name="文本框 3">
            <a:extLst>
              <a:ext uri="{FF2B5EF4-FFF2-40B4-BE49-F238E27FC236}">
                <a16:creationId xmlns:a16="http://schemas.microsoft.com/office/drawing/2014/main" id="{88D9A19B-163E-7EB6-CD5C-BD6B09F7C390}"/>
              </a:ext>
            </a:extLst>
          </p:cNvPr>
          <p:cNvSpPr txBox="1"/>
          <p:nvPr/>
        </p:nvSpPr>
        <p:spPr>
          <a:xfrm>
            <a:off x="6830776" y="2638014"/>
            <a:ext cx="160693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Integral Form</a:t>
            </a:r>
            <a:endParaRPr lang="zh-CN" altLang="en-US" sz="1600" dirty="0"/>
          </a:p>
        </p:txBody>
      </p:sp>
      <p:sp>
        <p:nvSpPr>
          <p:cNvPr id="28" name="文本框 27">
            <a:extLst>
              <a:ext uri="{FF2B5EF4-FFF2-40B4-BE49-F238E27FC236}">
                <a16:creationId xmlns:a16="http://schemas.microsoft.com/office/drawing/2014/main" id="{D598E63B-6D7D-FEDC-8E67-253E317B818F}"/>
              </a:ext>
            </a:extLst>
          </p:cNvPr>
          <p:cNvSpPr txBox="1"/>
          <p:nvPr/>
        </p:nvSpPr>
        <p:spPr>
          <a:xfrm>
            <a:off x="631854" y="2656754"/>
            <a:ext cx="2006626" cy="338554"/>
          </a:xfrm>
          <a:prstGeom prst="rect">
            <a:avLst/>
          </a:prstGeom>
          <a:noFill/>
        </p:spPr>
        <p:txBody>
          <a:bodyPr wrap="square">
            <a:spAutoFit/>
          </a:bodyPr>
          <a:lstStyle/>
          <a:p>
            <a:r>
              <a:rPr lang="en-US" altLang="zh-CN" sz="1600" dirty="0"/>
              <a:t>Differential Form</a:t>
            </a:r>
            <a:endParaRPr lang="zh-CN" altLang="en-US" sz="16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C4A3474-2D46-B99D-E066-F46D6B80827B}"/>
                  </a:ext>
                </a:extLst>
              </p:cNvPr>
              <p:cNvSpPr txBox="1"/>
              <p:nvPr/>
            </p:nvSpPr>
            <p:spPr>
              <a:xfrm>
                <a:off x="6928986" y="6001091"/>
                <a:ext cx="2060092" cy="36849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电感应强度 </a:t>
                </a:r>
                <a14:m>
                  <m:oMath xmlns:m="http://schemas.openxmlformats.org/officeDocument/2006/math">
                    <m:acc>
                      <m:accPr>
                        <m:chr m:val="⃗"/>
                        <m:ctrlPr>
                          <a:rPr lang="zh-CN" altLang="en-US" sz="1600" i="1" dirty="0" smtClean="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𝐷</m:t>
                        </m:r>
                      </m:e>
                    </m:acc>
                    <m:r>
                      <a:rPr lang="zh-CN" altLang="en-US" sz="1600" i="0" dirty="0">
                        <a:solidFill>
                          <a:schemeClr val="accent2">
                            <a:lumMod val="75000"/>
                          </a:schemeClr>
                        </a:solidFill>
                        <a:latin typeface="Cambria Math" panose="02040503050406030204" pitchFamily="18" charset="0"/>
                      </a:rPr>
                      <m:t>=</m:t>
                    </m:r>
                    <m:sSub>
                      <m:sSubPr>
                        <m:ctrlPr>
                          <a:rPr lang="zh-CN" altLang="en-US" sz="1600" i="1" dirty="0">
                            <a:solidFill>
                              <a:schemeClr val="accent2">
                                <a:lumMod val="75000"/>
                              </a:schemeClr>
                            </a:solidFill>
                            <a:latin typeface="Cambria Math" panose="02040503050406030204" pitchFamily="18" charset="0"/>
                          </a:rPr>
                        </m:ctrlPr>
                      </m:sSubPr>
                      <m:e>
                        <m:r>
                          <a:rPr lang="zh-CN" altLang="en-US" sz="1600" i="1" dirty="0">
                            <a:solidFill>
                              <a:schemeClr val="accent2">
                                <a:lumMod val="75000"/>
                              </a:schemeClr>
                            </a:solidFill>
                            <a:latin typeface="Cambria Math" panose="02040503050406030204" pitchFamily="18" charset="0"/>
                          </a:rPr>
                          <m:t>𝜀</m:t>
                        </m:r>
                      </m:e>
                      <m:sub>
                        <m:r>
                          <a:rPr lang="zh-CN" altLang="en-US" sz="1600" i="0" dirty="0">
                            <a:solidFill>
                              <a:schemeClr val="accent2">
                                <a:lumMod val="75000"/>
                              </a:schemeClr>
                            </a:solidFill>
                            <a:latin typeface="Cambria Math" panose="02040503050406030204" pitchFamily="18" charset="0"/>
                          </a:rPr>
                          <m:t>0</m:t>
                        </m:r>
                      </m:sub>
                    </m:sSub>
                    <m:acc>
                      <m:accPr>
                        <m:chr m:val="⃗"/>
                        <m:ctrlPr>
                          <a:rPr lang="zh-CN" altLang="en-US" sz="1600" i="1" dirty="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𝐸</m:t>
                        </m:r>
                      </m:e>
                    </m:acc>
                  </m:oMath>
                </a14:m>
                <a:endParaRPr lang="zh-CN" altLang="en-US" sz="1600" dirty="0">
                  <a:solidFill>
                    <a:schemeClr val="accent2">
                      <a:lumMod val="75000"/>
                    </a:schemeClr>
                  </a:solidFill>
                </a:endParaRPr>
              </a:p>
            </p:txBody>
          </p:sp>
        </mc:Choice>
        <mc:Fallback xmlns="">
          <p:sp>
            <p:nvSpPr>
              <p:cNvPr id="4" name="文本框 3">
                <a:extLst>
                  <a:ext uri="{FF2B5EF4-FFF2-40B4-BE49-F238E27FC236}">
                    <a16:creationId xmlns:a16="http://schemas.microsoft.com/office/drawing/2014/main" id="{FC4A3474-2D46-B99D-E066-F46D6B80827B}"/>
                  </a:ext>
                </a:extLst>
              </p:cNvPr>
              <p:cNvSpPr txBox="1">
                <a:spLocks noRot="1" noChangeAspect="1" noMove="1" noResize="1" noEditPoints="1" noAdjustHandles="1" noChangeArrowheads="1" noChangeShapeType="1" noTextEdit="1"/>
              </p:cNvSpPr>
              <p:nvPr/>
            </p:nvSpPr>
            <p:spPr>
              <a:xfrm>
                <a:off x="6928986" y="6001091"/>
                <a:ext cx="2060092" cy="368499"/>
              </a:xfrm>
              <a:prstGeom prst="rect">
                <a:avLst/>
              </a:prstGeom>
              <a:blipFill>
                <a:blip r:embed="rId7"/>
                <a:stretch>
                  <a:fillRect l="-1775" b="-19672"/>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E1CD4136-5ABC-6253-C792-FDECC4A39CB1}"/>
              </a:ext>
            </a:extLst>
          </p:cNvPr>
          <p:cNvSpPr txBox="1"/>
          <p:nvPr/>
        </p:nvSpPr>
        <p:spPr>
          <a:xfrm>
            <a:off x="166665" y="5169261"/>
            <a:ext cx="6453977" cy="1200329"/>
          </a:xfrm>
          <a:prstGeom prst="rect">
            <a:avLst/>
          </a:prstGeom>
          <a:noFill/>
        </p:spPr>
        <p:txBody>
          <a:bodyPr wrap="square">
            <a:spAutoFit/>
          </a:bodyPr>
          <a:lstStyle/>
          <a:p>
            <a:r>
              <a:rPr lang="en-US" altLang="zh-CN" dirty="0"/>
              <a:t>Divergence Theorem</a:t>
            </a:r>
            <a:r>
              <a:rPr lang="zh-CN" altLang="en-US" dirty="0"/>
              <a:t>（散度定理）：散度体积分等效于面积分。</a:t>
            </a:r>
            <a:endParaRPr lang="en-US" altLang="zh-CN" dirty="0"/>
          </a:p>
          <a:p>
            <a:r>
              <a:rPr lang="en-US" altLang="zh-CN" dirty="0"/>
              <a:t>Total net flow generated inside the volume (volume integral of divergence) equals the total flow exiting or entering the surface enclosing the volume (surface integral of the field).</a:t>
            </a:r>
            <a:endParaRPr lang="zh-CN" altLang="en-US" dirty="0"/>
          </a:p>
        </p:txBody>
      </p:sp>
      <p:sp>
        <p:nvSpPr>
          <p:cNvPr id="15" name="箭头: 丁字 14">
            <a:extLst>
              <a:ext uri="{FF2B5EF4-FFF2-40B4-BE49-F238E27FC236}">
                <a16:creationId xmlns:a16="http://schemas.microsoft.com/office/drawing/2014/main" id="{5DC0A115-C676-F321-4481-C37EDCD9BE2D}"/>
              </a:ext>
            </a:extLst>
          </p:cNvPr>
          <p:cNvSpPr/>
          <p:nvPr/>
        </p:nvSpPr>
        <p:spPr>
          <a:xfrm flipV="1">
            <a:off x="2329565" y="3349661"/>
            <a:ext cx="4484867" cy="252248"/>
          </a:xfrm>
          <a:prstGeom prst="leftRightUpArrow">
            <a:avLst>
              <a:gd name="adj1" fmla="val 10000"/>
              <a:gd name="adj2" fmla="val 25000"/>
              <a:gd name="adj3" fmla="val 25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26" name="Picture 2" descr="Gauss' Law for Electric Fields">
            <a:extLst>
              <a:ext uri="{FF2B5EF4-FFF2-40B4-BE49-F238E27FC236}">
                <a16:creationId xmlns:a16="http://schemas.microsoft.com/office/drawing/2014/main" id="{A543B33B-38B1-A91E-2DA4-E26F631ACC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56491" y="5070892"/>
            <a:ext cx="1272828" cy="922111"/>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2F44A3FE-422C-4DD6-5313-07101CB60C1B}"/>
              </a:ext>
            </a:extLst>
          </p:cNvPr>
          <p:cNvSpPr/>
          <p:nvPr/>
        </p:nvSpPr>
        <p:spPr>
          <a:xfrm>
            <a:off x="6830776" y="4654956"/>
            <a:ext cx="2262774" cy="17836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74F66F6F-4458-949A-60C3-4C60BA862623}"/>
              </a:ext>
            </a:extLst>
          </p:cNvPr>
          <p:cNvSpPr txBox="1"/>
          <p:nvPr/>
        </p:nvSpPr>
        <p:spPr>
          <a:xfrm>
            <a:off x="6856987" y="4688921"/>
            <a:ext cx="2132091" cy="338554"/>
          </a:xfrm>
          <a:prstGeom prst="rect">
            <a:avLst/>
          </a:prstGeom>
          <a:noFill/>
        </p:spPr>
        <p:txBody>
          <a:bodyPr wrap="square">
            <a:spAutoFit/>
          </a:bodyPr>
          <a:lstStyle/>
          <a:p>
            <a:r>
              <a:rPr lang="en-US" altLang="zh-CN" sz="1600" dirty="0"/>
              <a:t>Other form derivation</a:t>
            </a:r>
            <a:endParaRPr lang="zh-CN" altLang="en-US" sz="1600" dirty="0"/>
          </a:p>
        </p:txBody>
      </p:sp>
    </p:spTree>
    <p:extLst>
      <p:ext uri="{BB962C8B-B14F-4D97-AF65-F5344CB8AC3E}">
        <p14:creationId xmlns:p14="http://schemas.microsoft.com/office/powerpoint/2010/main" val="1187950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E4FB1-1F49-12CE-E41C-28A00F914FAA}"/>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8E949DDE-4E59-D81A-F6D8-C5F7E3AB03DC}"/>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3</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文本框 3">
            <a:extLst>
              <a:ext uri="{FF2B5EF4-FFF2-40B4-BE49-F238E27FC236}">
                <a16:creationId xmlns:a16="http://schemas.microsoft.com/office/drawing/2014/main" id="{7C910798-D1EF-6124-7BCD-00D145E479BA}"/>
              </a:ext>
            </a:extLst>
          </p:cNvPr>
          <p:cNvSpPr txBox="1"/>
          <p:nvPr/>
        </p:nvSpPr>
        <p:spPr>
          <a:xfrm>
            <a:off x="510811" y="575921"/>
            <a:ext cx="8185448"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Faraday’s law of electromotive force </a:t>
            </a:r>
            <a:r>
              <a:rPr lang="zh-CN" altLang="en-US" b="1" dirty="0"/>
              <a:t>（法拉第感应定律：时变磁场产生电场）</a:t>
            </a:r>
          </a:p>
        </p:txBody>
      </p:sp>
      <p:pic>
        <p:nvPicPr>
          <p:cNvPr id="2050" name="Picture 2" descr="https://pic2.zhimg.com/v2-f36676cd96b0616dd40c357f2375e6a1_r.jpg">
            <a:extLst>
              <a:ext uri="{FF2B5EF4-FFF2-40B4-BE49-F238E27FC236}">
                <a16:creationId xmlns:a16="http://schemas.microsoft.com/office/drawing/2014/main" id="{B4A0045C-AEAB-0D59-A74D-2B611EF17A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72" b="2642"/>
          <a:stretch/>
        </p:blipFill>
        <p:spPr bwMode="auto">
          <a:xfrm>
            <a:off x="6973269" y="4764252"/>
            <a:ext cx="2170731" cy="1557105"/>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extLst>
              <a:ext uri="{FF2B5EF4-FFF2-40B4-BE49-F238E27FC236}">
                <a16:creationId xmlns:a16="http://schemas.microsoft.com/office/drawing/2014/main" id="{8AE1A16C-FD71-C5F5-C72C-E447CFEC94A0}"/>
              </a:ext>
            </a:extLst>
          </p:cNvPr>
          <p:cNvSpPr/>
          <p:nvPr/>
        </p:nvSpPr>
        <p:spPr>
          <a:xfrm>
            <a:off x="510811" y="4997918"/>
            <a:ext cx="6710498" cy="1323439"/>
          </a:xfrm>
          <a:prstGeom prst="rect">
            <a:avLst/>
          </a:prstGeom>
        </p:spPr>
        <p:txBody>
          <a:bodyPr wrap="square">
            <a:spAutoFit/>
          </a:bodyPr>
          <a:lstStyle/>
          <a:p>
            <a:r>
              <a:rPr lang="zh-CN" altLang="en-US" sz="1600" dirty="0"/>
              <a:t>楞次总结了安培的电动力学与法拉第的电磁感应现象后，于</a:t>
            </a:r>
            <a:r>
              <a:rPr lang="en-US" altLang="zh-CN" sz="1600" dirty="0"/>
              <a:t>1833</a:t>
            </a:r>
            <a:r>
              <a:rPr lang="zh-CN" altLang="en-US" sz="1600" dirty="0"/>
              <a:t>年在圣彼得堡科学院宣读了题为“关于用电动力学方法决定感生电流方向”的论文，提出了感应电动势阻止产生电磁感应的磁铁或线圈的运动，后来这条定律被称为楞次定律，在</a:t>
            </a:r>
            <a:r>
              <a:rPr lang="en-US" altLang="zh-CN" sz="1600" dirty="0"/>
              <a:t>1834</a:t>
            </a:r>
            <a:r>
              <a:rPr lang="zh-CN" altLang="en-US" sz="1600" dirty="0"/>
              <a:t>年的</a:t>
            </a:r>
            <a:r>
              <a:rPr lang="en-US" altLang="zh-CN" sz="1600" dirty="0"/>
              <a:t>《</a:t>
            </a:r>
            <a:r>
              <a:rPr lang="zh-CN" altLang="en-US" sz="1600" dirty="0"/>
              <a:t>物理学和化学年鉴</a:t>
            </a:r>
            <a:r>
              <a:rPr lang="en-US" altLang="zh-CN" sz="1600" dirty="0"/>
              <a:t>》</a:t>
            </a:r>
            <a:r>
              <a:rPr lang="zh-CN" altLang="en-US" sz="1600" dirty="0"/>
              <a:t>上发表。随后德国物理学家亥姆霍兹证明楞次定律实际上是电磁现象的能量守恒定律。</a:t>
            </a:r>
          </a:p>
        </p:txBody>
      </p:sp>
      <p:sp>
        <p:nvSpPr>
          <p:cNvPr id="6" name="文本框 5">
            <a:extLst>
              <a:ext uri="{FF2B5EF4-FFF2-40B4-BE49-F238E27FC236}">
                <a16:creationId xmlns:a16="http://schemas.microsoft.com/office/drawing/2014/main" id="{762B01AA-574E-3279-D37A-63D5F2A619DE}"/>
              </a:ext>
            </a:extLst>
          </p:cNvPr>
          <p:cNvSpPr txBox="1"/>
          <p:nvPr/>
        </p:nvSpPr>
        <p:spPr>
          <a:xfrm>
            <a:off x="510812" y="945253"/>
            <a:ext cx="8185447" cy="3031599"/>
          </a:xfrm>
          <a:prstGeom prst="rect">
            <a:avLst/>
          </a:prstGeom>
          <a:noFill/>
        </p:spPr>
        <p:txBody>
          <a:bodyPr wrap="square">
            <a:spAutoFit/>
          </a:bodyPr>
          <a:lstStyle/>
          <a:p>
            <a:r>
              <a:rPr lang="en-US" altLang="zh-CN" sz="1600" dirty="0"/>
              <a:t>Michael Faraday, a self-taught scientist, conducted a series of experiments </a:t>
            </a:r>
          </a:p>
          <a:p>
            <a:r>
              <a:rPr lang="en-US" altLang="zh-CN" sz="1600" dirty="0"/>
              <a:t>(1831) that led to the discovery of electromagnetic induction. </a:t>
            </a:r>
          </a:p>
          <a:p>
            <a:pPr>
              <a:spcBef>
                <a:spcPts val="600"/>
              </a:spcBef>
            </a:pPr>
            <a:r>
              <a:rPr lang="en-US" altLang="zh-CN" sz="1600" dirty="0"/>
              <a:t>(1)The Induction Ring: Faraday wound two coils of wire around an iron ring. When he connected one coil to a battery, creating a current, he observed a transient current in the second coil, even though it was not directly connected to the battery.</a:t>
            </a:r>
          </a:p>
          <a:p>
            <a:pPr>
              <a:spcBef>
                <a:spcPts val="600"/>
              </a:spcBef>
            </a:pPr>
            <a:r>
              <a:rPr lang="en-US" altLang="zh-CN" sz="1600" dirty="0"/>
              <a:t>(2) Magnetic Flux and Motion: Faraday also experimented with moving magnets near coils of wire. He found that moving a magnet through a coil or moving a coil relative to a magnet induced an EMF in the coil.</a:t>
            </a:r>
          </a:p>
          <a:p>
            <a:pPr>
              <a:spcBef>
                <a:spcPts val="600"/>
              </a:spcBef>
            </a:pPr>
            <a:r>
              <a:rPr lang="en-US" altLang="zh-CN" sz="1600" dirty="0"/>
              <a:t>Based on his experiments, Faraday formulated the principle of electromagnetic induction: "An electromotive force is induced in a conductor whenever there is a change in the magnetic flux linked with the conductor."</a:t>
            </a:r>
            <a:endParaRPr lang="zh-CN" altLang="en-US" sz="1600" dirty="0"/>
          </a:p>
        </p:txBody>
      </p:sp>
      <p:sp>
        <p:nvSpPr>
          <p:cNvPr id="17" name="文本框 16">
            <a:extLst>
              <a:ext uri="{FF2B5EF4-FFF2-40B4-BE49-F238E27FC236}">
                <a16:creationId xmlns:a16="http://schemas.microsoft.com/office/drawing/2014/main" id="{F4A93392-4D00-FBA2-83D1-9D6CB5EAFE53}"/>
              </a:ext>
            </a:extLst>
          </p:cNvPr>
          <p:cNvSpPr txBox="1"/>
          <p:nvPr/>
        </p:nvSpPr>
        <p:spPr>
          <a:xfrm>
            <a:off x="510811" y="3910277"/>
            <a:ext cx="8317879" cy="1077218"/>
          </a:xfrm>
          <a:prstGeom prst="rect">
            <a:avLst/>
          </a:prstGeom>
          <a:noFill/>
        </p:spPr>
        <p:txBody>
          <a:bodyPr wrap="square">
            <a:spAutoFit/>
          </a:bodyPr>
          <a:lstStyle/>
          <a:p>
            <a:r>
              <a:rPr lang="en-US" altLang="zh-CN" sz="1600" b="1" dirty="0"/>
              <a:t>Lenz's Law</a:t>
            </a:r>
          </a:p>
          <a:p>
            <a:r>
              <a:rPr lang="en-US" altLang="zh-CN" sz="1600" dirty="0"/>
              <a:t>Heinrich Lenz later clarified the direction of the induced current, stating that the induced EMF always opposes the change in magnetic flux that caused it. This is now known as Lenz's Law , which explains the negative sign in Faraday's equation.</a:t>
            </a:r>
            <a:endParaRPr lang="zh-CN" altLang="en-US" sz="1600" dirty="0"/>
          </a:p>
        </p:txBody>
      </p:sp>
    </p:spTree>
    <p:extLst>
      <p:ext uri="{BB962C8B-B14F-4D97-AF65-F5344CB8AC3E}">
        <p14:creationId xmlns:p14="http://schemas.microsoft.com/office/powerpoint/2010/main" val="2078566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CE01-B129-23FF-BE26-9AC55A799FFF}"/>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E3E70C59-58D9-06A2-6DAD-0E4AE39AC1CC}"/>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3</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箭头连接符 4">
            <a:extLst>
              <a:ext uri="{FF2B5EF4-FFF2-40B4-BE49-F238E27FC236}">
                <a16:creationId xmlns:a16="http://schemas.microsoft.com/office/drawing/2014/main" id="{FC89550A-FFEF-C366-6C3A-BF7172607219}"/>
              </a:ext>
            </a:extLst>
          </p:cNvPr>
          <p:cNvCxnSpPr>
            <a:cxnSpLocks/>
          </p:cNvCxnSpPr>
          <p:nvPr/>
        </p:nvCxnSpPr>
        <p:spPr>
          <a:xfrm flipV="1">
            <a:off x="4166104" y="2055042"/>
            <a:ext cx="0" cy="26425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416593AE-6EAE-525A-2F56-530FDD547D2F}"/>
              </a:ext>
            </a:extLst>
          </p:cNvPr>
          <p:cNvSpPr txBox="1"/>
          <p:nvPr/>
        </p:nvSpPr>
        <p:spPr>
          <a:xfrm>
            <a:off x="3650474" y="2300964"/>
            <a:ext cx="1887811"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叉乘将微分算子</a:t>
            </a:r>
            <a:r>
              <a:rPr lang="en-US" altLang="zh-CN" sz="1600" dirty="0">
                <a:solidFill>
                  <a:schemeClr val="accent2">
                    <a:lumMod val="75000"/>
                  </a:schemeClr>
                </a:solidFill>
              </a:rPr>
              <a:t>del</a:t>
            </a:r>
            <a:r>
              <a:rPr lang="zh-CN" altLang="en-US" sz="1600" dirty="0">
                <a:solidFill>
                  <a:schemeClr val="accent2">
                    <a:lumMod val="75000"/>
                  </a:schemeClr>
                </a:solidFill>
              </a:rPr>
              <a:t>转换为</a:t>
            </a:r>
            <a:r>
              <a:rPr lang="en-US" altLang="zh-CN" sz="1600" dirty="0">
                <a:solidFill>
                  <a:schemeClr val="accent2">
                    <a:lumMod val="75000"/>
                  </a:schemeClr>
                </a:solidFill>
              </a:rPr>
              <a:t>Curl </a:t>
            </a:r>
            <a:r>
              <a:rPr lang="zh-CN" altLang="en-US" sz="1600" dirty="0">
                <a:solidFill>
                  <a:schemeClr val="accent2">
                    <a:lumMod val="75000"/>
                  </a:schemeClr>
                </a:solidFill>
              </a:rPr>
              <a:t>旋度</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26B577F-A87E-9B7B-EEAD-C4788993EDD0}"/>
                  </a:ext>
                </a:extLst>
              </p:cNvPr>
              <p:cNvSpPr txBox="1"/>
              <p:nvPr/>
            </p:nvSpPr>
            <p:spPr>
              <a:xfrm>
                <a:off x="3759210" y="1429146"/>
                <a:ext cx="1887824"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11" name="文本框 10">
                <a:extLst>
                  <a:ext uri="{FF2B5EF4-FFF2-40B4-BE49-F238E27FC236}">
                    <a16:creationId xmlns:a16="http://schemas.microsoft.com/office/drawing/2014/main" id="{926B577F-A87E-9B7B-EEAD-C4788993EDD0}"/>
                  </a:ext>
                </a:extLst>
              </p:cNvPr>
              <p:cNvSpPr txBox="1">
                <a:spLocks noRot="1" noChangeAspect="1" noMove="1" noResize="1" noEditPoints="1" noAdjustHandles="1" noChangeArrowheads="1" noChangeShapeType="1" noTextEdit="1"/>
              </p:cNvSpPr>
              <p:nvPr/>
            </p:nvSpPr>
            <p:spPr>
              <a:xfrm>
                <a:off x="3759210" y="1429146"/>
                <a:ext cx="1887824" cy="786947"/>
              </a:xfrm>
              <a:prstGeom prst="rect">
                <a:avLst/>
              </a:prstGeom>
              <a:blipFill>
                <a:blip r:embed="rId3"/>
                <a:stretch>
                  <a:fillRect/>
                </a:stretch>
              </a:blipFill>
            </p:spPr>
            <p:txBody>
              <a:bodyPr/>
              <a:lstStyle/>
              <a:p>
                <a:r>
                  <a:rPr lang="zh-CN" altLang="en-US">
                    <a:noFill/>
                  </a:rPr>
                  <a:t> </a:t>
                </a:r>
              </a:p>
            </p:txBody>
          </p:sp>
        </mc:Fallback>
      </mc:AlternateContent>
      <p:sp>
        <p:nvSpPr>
          <p:cNvPr id="12" name="文本框 3">
            <a:extLst>
              <a:ext uri="{FF2B5EF4-FFF2-40B4-BE49-F238E27FC236}">
                <a16:creationId xmlns:a16="http://schemas.microsoft.com/office/drawing/2014/main" id="{B74EB742-9431-9938-CBAE-EFDEE1191817}"/>
              </a:ext>
            </a:extLst>
          </p:cNvPr>
          <p:cNvSpPr txBox="1"/>
          <p:nvPr/>
        </p:nvSpPr>
        <p:spPr>
          <a:xfrm>
            <a:off x="510811" y="575921"/>
            <a:ext cx="8185448"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Faraday’s law of electromotive force </a:t>
            </a:r>
            <a:r>
              <a:rPr lang="zh-CN" altLang="en-US" b="1" dirty="0"/>
              <a:t>（法拉第感应定律：时变磁场产生电场）</a:t>
            </a:r>
          </a:p>
        </p:txBody>
      </p:sp>
      <p:sp>
        <p:nvSpPr>
          <p:cNvPr id="3" name="矩形 2">
            <a:extLst>
              <a:ext uri="{FF2B5EF4-FFF2-40B4-BE49-F238E27FC236}">
                <a16:creationId xmlns:a16="http://schemas.microsoft.com/office/drawing/2014/main" id="{42C41B76-2407-3F06-8ED3-6EC2403471BC}"/>
              </a:ext>
            </a:extLst>
          </p:cNvPr>
          <p:cNvSpPr/>
          <p:nvPr/>
        </p:nvSpPr>
        <p:spPr>
          <a:xfrm>
            <a:off x="6529185" y="3313674"/>
            <a:ext cx="1653972" cy="1077218"/>
          </a:xfrm>
          <a:prstGeom prst="rect">
            <a:avLst/>
          </a:prstGeom>
        </p:spPr>
        <p:txBody>
          <a:bodyPr wrap="square">
            <a:spAutoFit/>
          </a:bodyPr>
          <a:lstStyle/>
          <a:p>
            <a:r>
              <a:rPr lang="zh-CN" altLang="en-US" sz="1600" dirty="0"/>
              <a:t>一侧快，另一侧慢（颜色代表速度），则该点也是有旋的。</a:t>
            </a:r>
          </a:p>
        </p:txBody>
      </p:sp>
      <p:pic>
        <p:nvPicPr>
          <p:cNvPr id="4" name="图片 3">
            <a:extLst>
              <a:ext uri="{FF2B5EF4-FFF2-40B4-BE49-F238E27FC236}">
                <a16:creationId xmlns:a16="http://schemas.microsoft.com/office/drawing/2014/main" id="{551D25B5-3565-B5C2-02CA-7FAD7687E6CB}"/>
              </a:ext>
            </a:extLst>
          </p:cNvPr>
          <p:cNvPicPr>
            <a:picLocks noChangeAspect="1"/>
          </p:cNvPicPr>
          <p:nvPr/>
        </p:nvPicPr>
        <p:blipFill>
          <a:blip r:embed="rId4"/>
          <a:stretch>
            <a:fillRect/>
          </a:stretch>
        </p:blipFill>
        <p:spPr>
          <a:xfrm>
            <a:off x="806486" y="3065117"/>
            <a:ext cx="3194645" cy="2058006"/>
          </a:xfrm>
          <a:prstGeom prst="rect">
            <a:avLst/>
          </a:prstGeom>
        </p:spPr>
      </p:pic>
      <p:pic>
        <p:nvPicPr>
          <p:cNvPr id="13" name="图片 12">
            <a:extLst>
              <a:ext uri="{FF2B5EF4-FFF2-40B4-BE49-F238E27FC236}">
                <a16:creationId xmlns:a16="http://schemas.microsoft.com/office/drawing/2014/main" id="{FC8D262C-995D-E49B-B052-905A64736DA0}"/>
              </a:ext>
            </a:extLst>
          </p:cNvPr>
          <p:cNvPicPr>
            <a:picLocks noChangeAspect="1"/>
          </p:cNvPicPr>
          <p:nvPr/>
        </p:nvPicPr>
        <p:blipFill>
          <a:blip r:embed="rId5"/>
          <a:srcRect l="8609" r="11321"/>
          <a:stretch/>
        </p:blipFill>
        <p:spPr>
          <a:xfrm>
            <a:off x="4118865" y="3062658"/>
            <a:ext cx="2199359" cy="1579250"/>
          </a:xfrm>
          <a:prstGeom prst="rect">
            <a:avLst/>
          </a:prstGeom>
        </p:spPr>
      </p:pic>
      <p:pic>
        <p:nvPicPr>
          <p:cNvPr id="15" name="图片 14">
            <a:extLst>
              <a:ext uri="{FF2B5EF4-FFF2-40B4-BE49-F238E27FC236}">
                <a16:creationId xmlns:a16="http://schemas.microsoft.com/office/drawing/2014/main" id="{34B05CA1-D65D-3969-C329-E7EA21F4BCA5}"/>
              </a:ext>
            </a:extLst>
          </p:cNvPr>
          <p:cNvPicPr>
            <a:picLocks noChangeAspect="1"/>
          </p:cNvPicPr>
          <p:nvPr/>
        </p:nvPicPr>
        <p:blipFill>
          <a:blip r:embed="rId6"/>
          <a:stretch>
            <a:fillRect/>
          </a:stretch>
        </p:blipFill>
        <p:spPr>
          <a:xfrm>
            <a:off x="510811" y="1651520"/>
            <a:ext cx="2894256" cy="1016165"/>
          </a:xfrm>
          <a:prstGeom prst="rect">
            <a:avLst/>
          </a:prstGeom>
        </p:spPr>
      </p:pic>
      <p:sp>
        <p:nvSpPr>
          <p:cNvPr id="6" name="文本框 5">
            <a:extLst>
              <a:ext uri="{FF2B5EF4-FFF2-40B4-BE49-F238E27FC236}">
                <a16:creationId xmlns:a16="http://schemas.microsoft.com/office/drawing/2014/main" id="{EE0B5222-68CA-C720-97E2-F528FFC8C923}"/>
              </a:ext>
            </a:extLst>
          </p:cNvPr>
          <p:cNvSpPr txBox="1"/>
          <p:nvPr/>
        </p:nvSpPr>
        <p:spPr>
          <a:xfrm>
            <a:off x="352131" y="905080"/>
            <a:ext cx="8634213" cy="646331"/>
          </a:xfrm>
          <a:prstGeom prst="rect">
            <a:avLst/>
          </a:prstGeom>
          <a:noFill/>
        </p:spPr>
        <p:txBody>
          <a:bodyPr wrap="square">
            <a:spAutoFit/>
          </a:bodyPr>
          <a:lstStyle/>
          <a:p>
            <a:r>
              <a:rPr lang="en-US" altLang="zh-CN" dirty="0"/>
              <a:t>Faraday's experimental findings were later formalized mathematically by James Clerk Maxwell in the 1860s. </a:t>
            </a:r>
            <a:endParaRPr lang="zh-CN" altLang="en-US" dirty="0"/>
          </a:p>
        </p:txBody>
      </p:sp>
      <p:sp>
        <p:nvSpPr>
          <p:cNvPr id="9" name="文本框 8">
            <a:extLst>
              <a:ext uri="{FF2B5EF4-FFF2-40B4-BE49-F238E27FC236}">
                <a16:creationId xmlns:a16="http://schemas.microsoft.com/office/drawing/2014/main" id="{24AEFFFE-51E5-F33C-B671-C3A4A0ECFEC5}"/>
              </a:ext>
            </a:extLst>
          </p:cNvPr>
          <p:cNvSpPr txBox="1"/>
          <p:nvPr/>
        </p:nvSpPr>
        <p:spPr>
          <a:xfrm>
            <a:off x="5892427" y="1803676"/>
            <a:ext cx="3161671" cy="646331"/>
          </a:xfrm>
          <a:prstGeom prst="rect">
            <a:avLst/>
          </a:prstGeom>
          <a:noFill/>
        </p:spPr>
        <p:txBody>
          <a:bodyPr wrap="square">
            <a:spAutoFit/>
          </a:bodyPr>
          <a:lstStyle/>
          <a:p>
            <a:r>
              <a:rPr lang="zh-CN" altLang="en-US" dirty="0"/>
              <a:t>旋度是描述向量场中是否存在“旋转”或“涡旋”的趋势。</a:t>
            </a:r>
          </a:p>
        </p:txBody>
      </p:sp>
      <p:pic>
        <p:nvPicPr>
          <p:cNvPr id="16" name="图片 15">
            <a:extLst>
              <a:ext uri="{FF2B5EF4-FFF2-40B4-BE49-F238E27FC236}">
                <a16:creationId xmlns:a16="http://schemas.microsoft.com/office/drawing/2014/main" id="{C1B8880C-90CC-8236-6DF6-7A7FFA95B975}"/>
              </a:ext>
            </a:extLst>
          </p:cNvPr>
          <p:cNvPicPr>
            <a:picLocks noChangeAspect="1"/>
          </p:cNvPicPr>
          <p:nvPr/>
        </p:nvPicPr>
        <p:blipFill>
          <a:blip r:embed="rId7"/>
          <a:stretch>
            <a:fillRect/>
          </a:stretch>
        </p:blipFill>
        <p:spPr>
          <a:xfrm>
            <a:off x="1249084" y="5513511"/>
            <a:ext cx="6840305" cy="768163"/>
          </a:xfrm>
          <a:prstGeom prst="rect">
            <a:avLst/>
          </a:prstGeom>
        </p:spPr>
      </p:pic>
    </p:spTree>
    <p:extLst>
      <p:ext uri="{BB962C8B-B14F-4D97-AF65-F5344CB8AC3E}">
        <p14:creationId xmlns:p14="http://schemas.microsoft.com/office/powerpoint/2010/main" val="1426465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FED9-76D1-77A3-D6C4-7A3D7F58B60A}"/>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BD87FA85-66BB-0A1B-F71F-354358E351F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4</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文本框 3">
            <a:extLst>
              <a:ext uri="{FF2B5EF4-FFF2-40B4-BE49-F238E27FC236}">
                <a16:creationId xmlns:a16="http://schemas.microsoft.com/office/drawing/2014/main" id="{8DB19C42-6F64-4AE6-8555-59313D38AFAD}"/>
              </a:ext>
            </a:extLst>
          </p:cNvPr>
          <p:cNvSpPr txBox="1"/>
          <p:nvPr/>
        </p:nvSpPr>
        <p:spPr>
          <a:xfrm>
            <a:off x="1296880" y="594272"/>
            <a:ext cx="6713803"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Ampere’s Circuital law </a:t>
            </a:r>
            <a:r>
              <a:rPr lang="zh-CN" altLang="en-US" b="1" dirty="0"/>
              <a:t>（安培定律：时变电场产生磁场）</a:t>
            </a:r>
          </a:p>
        </p:txBody>
      </p:sp>
      <p:sp>
        <p:nvSpPr>
          <p:cNvPr id="3" name="文本框 2">
            <a:extLst>
              <a:ext uri="{FF2B5EF4-FFF2-40B4-BE49-F238E27FC236}">
                <a16:creationId xmlns:a16="http://schemas.microsoft.com/office/drawing/2014/main" id="{2C3F5385-AC1C-D21C-051F-B03F53099DA4}"/>
              </a:ext>
            </a:extLst>
          </p:cNvPr>
          <p:cNvSpPr txBox="1"/>
          <p:nvPr/>
        </p:nvSpPr>
        <p:spPr>
          <a:xfrm>
            <a:off x="274319" y="927358"/>
            <a:ext cx="8595360" cy="2631490"/>
          </a:xfrm>
          <a:prstGeom prst="rect">
            <a:avLst/>
          </a:prstGeom>
          <a:noFill/>
        </p:spPr>
        <p:txBody>
          <a:bodyPr wrap="square">
            <a:spAutoFit/>
          </a:bodyPr>
          <a:lstStyle/>
          <a:p>
            <a:pPr algn="l"/>
            <a:r>
              <a:rPr lang="en-US" altLang="zh-CN" sz="1600" b="1" i="0" dirty="0">
                <a:effectLst/>
              </a:rPr>
              <a:t>1820s</a:t>
            </a:r>
            <a:r>
              <a:rPr lang="zh-CN" altLang="en-US" sz="1600" b="1" i="0" dirty="0">
                <a:effectLst/>
              </a:rPr>
              <a:t>，</a:t>
            </a:r>
            <a:r>
              <a:rPr lang="en-US" altLang="zh-CN" sz="1600" b="1" i="0" dirty="0">
                <a:effectLst/>
              </a:rPr>
              <a:t>Ampère conducted experiments with two parallel current-carrying wires and observed that they exerted forces on each other. </a:t>
            </a:r>
            <a:r>
              <a:rPr lang="en-US" altLang="zh-CN" sz="1600" b="0" i="0" dirty="0">
                <a:effectLst/>
              </a:rPr>
              <a:t>Ampère generalized his findings into a mathematical law, now known as </a:t>
            </a:r>
            <a:r>
              <a:rPr lang="en-US" altLang="zh-CN" sz="1600" b="1" i="0" dirty="0">
                <a:effectLst/>
              </a:rPr>
              <a:t>Ampère's Circuital Law </a:t>
            </a:r>
            <a:r>
              <a:rPr lang="en-US" altLang="zh-CN" sz="1600" b="0" i="0" dirty="0">
                <a:effectLst/>
              </a:rPr>
              <a:t>: ​</a:t>
            </a:r>
          </a:p>
          <a:p>
            <a:pPr algn="l"/>
            <a:endParaRPr lang="en-US" altLang="zh-CN" sz="1600" dirty="0"/>
          </a:p>
          <a:p>
            <a:pPr algn="l"/>
            <a:endParaRPr lang="en-US" altLang="zh-CN" sz="1600" b="0" i="0" dirty="0">
              <a:effectLst/>
            </a:endParaRPr>
          </a:p>
          <a:p>
            <a:pPr algn="l"/>
            <a:endParaRPr lang="en-US" altLang="zh-CN" sz="1600" dirty="0"/>
          </a:p>
          <a:p>
            <a:pPr algn="l"/>
            <a:r>
              <a:rPr lang="en-US" altLang="zh-CN" sz="1600" b="0" i="0" dirty="0">
                <a:effectLst/>
              </a:rPr>
              <a:t>where: </a:t>
            </a:r>
            <a:r>
              <a:rPr lang="en-US" altLang="zh-CN" sz="1600" b="1" i="0" dirty="0">
                <a:effectLst/>
              </a:rPr>
              <a:t>B</a:t>
            </a:r>
            <a:r>
              <a:rPr lang="en-US" altLang="zh-CN" sz="1600" b="0" i="0" dirty="0">
                <a:effectLst/>
              </a:rPr>
              <a:t> is the magnetic field, </a:t>
            </a:r>
            <a:r>
              <a:rPr lang="en-US" altLang="zh-CN" sz="1600" b="0" i="1" dirty="0">
                <a:effectLst/>
              </a:rPr>
              <a:t>C</a:t>
            </a:r>
            <a:r>
              <a:rPr lang="en-US" altLang="zh-CN" sz="1600" b="0" i="0" dirty="0">
                <a:effectLst/>
              </a:rPr>
              <a:t> is a closed loop, </a:t>
            </a:r>
            <a:r>
              <a:rPr lang="en-US" altLang="zh-CN" sz="1600" b="0" i="1" dirty="0">
                <a:effectLst/>
              </a:rPr>
              <a:t>d</a:t>
            </a:r>
            <a:r>
              <a:rPr lang="en-US" altLang="zh-CN" sz="1600" b="1" i="0" dirty="0">
                <a:effectLst/>
              </a:rPr>
              <a:t>l</a:t>
            </a:r>
            <a:r>
              <a:rPr lang="en-US" altLang="zh-CN" sz="1600" b="0" i="0" dirty="0">
                <a:effectLst/>
              </a:rPr>
              <a:t> is an infinitesimal segment of the loop, </a:t>
            </a:r>
            <a:r>
              <a:rPr lang="en-US" altLang="zh-CN" sz="1600" b="0" i="1" dirty="0" err="1">
                <a:effectLst/>
              </a:rPr>
              <a:t>I</a:t>
            </a:r>
            <a:r>
              <a:rPr lang="en-US" altLang="zh-CN" sz="1600" b="0" i="0" baseline="-25000" dirty="0" err="1">
                <a:effectLst/>
              </a:rPr>
              <a:t>enc</a:t>
            </a:r>
            <a:r>
              <a:rPr lang="en-US" altLang="zh-CN" sz="1600" b="0" i="0" dirty="0">
                <a:effectLst/>
              </a:rPr>
              <a:t>​ is the total current enclosed by the loop, </a:t>
            </a:r>
            <a:r>
              <a:rPr lang="en-US" altLang="zh-CN" sz="1600" b="0" i="1" dirty="0">
                <a:effectLst/>
              </a:rPr>
              <a:t>μ</a:t>
            </a:r>
            <a:r>
              <a:rPr lang="en-US" altLang="zh-CN" sz="1600" b="0" i="0" baseline="-25000" dirty="0">
                <a:effectLst/>
              </a:rPr>
              <a:t>0</a:t>
            </a:r>
            <a:r>
              <a:rPr lang="en-US" altLang="zh-CN" sz="1600" b="0" i="0" dirty="0">
                <a:effectLst/>
              </a:rPr>
              <a:t>​ is the permeability of free space.</a:t>
            </a:r>
          </a:p>
          <a:p>
            <a:pPr algn="l">
              <a:spcBef>
                <a:spcPts val="600"/>
              </a:spcBef>
            </a:pPr>
            <a:r>
              <a:rPr lang="en-US" altLang="zh-CN" sz="1600" b="0" i="0" dirty="0">
                <a:effectLst/>
              </a:rPr>
              <a:t>The law states that the line integral of the magnetic field around a closed loop is proportional to the total current passing through the surface bounded by the loop.</a:t>
            </a:r>
          </a:p>
        </p:txBody>
      </p:sp>
      <p:pic>
        <p:nvPicPr>
          <p:cNvPr id="6" name="图片 5">
            <a:extLst>
              <a:ext uri="{FF2B5EF4-FFF2-40B4-BE49-F238E27FC236}">
                <a16:creationId xmlns:a16="http://schemas.microsoft.com/office/drawing/2014/main" id="{D635603E-0D79-6CDF-7EBE-62B08E422E4C}"/>
              </a:ext>
            </a:extLst>
          </p:cNvPr>
          <p:cNvPicPr>
            <a:picLocks noChangeAspect="1"/>
          </p:cNvPicPr>
          <p:nvPr/>
        </p:nvPicPr>
        <p:blipFill>
          <a:blip r:embed="rId3"/>
          <a:stretch>
            <a:fillRect/>
          </a:stretch>
        </p:blipFill>
        <p:spPr>
          <a:xfrm>
            <a:off x="3844086" y="1716727"/>
            <a:ext cx="1619390" cy="628704"/>
          </a:xfrm>
          <a:prstGeom prst="rect">
            <a:avLst/>
          </a:prstGeom>
        </p:spPr>
      </p:pic>
      <p:sp>
        <p:nvSpPr>
          <p:cNvPr id="12" name="文本框 11">
            <a:extLst>
              <a:ext uri="{FF2B5EF4-FFF2-40B4-BE49-F238E27FC236}">
                <a16:creationId xmlns:a16="http://schemas.microsoft.com/office/drawing/2014/main" id="{5B6E9D40-B438-2F1E-B93B-738C7D5B738E}"/>
              </a:ext>
            </a:extLst>
          </p:cNvPr>
          <p:cNvSpPr txBox="1"/>
          <p:nvPr/>
        </p:nvSpPr>
        <p:spPr>
          <a:xfrm>
            <a:off x="274319" y="3697923"/>
            <a:ext cx="8270590" cy="646331"/>
          </a:xfrm>
          <a:prstGeom prst="rect">
            <a:avLst/>
          </a:prstGeom>
          <a:noFill/>
        </p:spPr>
        <p:txBody>
          <a:bodyPr wrap="square">
            <a:spAutoFit/>
          </a:bodyPr>
          <a:lstStyle/>
          <a:p>
            <a:r>
              <a:rPr lang="en-US" altLang="zh-CN" b="1" dirty="0"/>
              <a:t>The original form of Ampère's law did not account for the displacement current, which arises when electric fields change with time.</a:t>
            </a:r>
            <a:endParaRPr lang="zh-CN" altLang="en-US" b="1" dirty="0"/>
          </a:p>
        </p:txBody>
      </p:sp>
      <p:sp>
        <p:nvSpPr>
          <p:cNvPr id="16" name="文本框 15">
            <a:extLst>
              <a:ext uri="{FF2B5EF4-FFF2-40B4-BE49-F238E27FC236}">
                <a16:creationId xmlns:a16="http://schemas.microsoft.com/office/drawing/2014/main" id="{8AD701E9-E381-824F-DDC0-D09ECA21A050}"/>
              </a:ext>
            </a:extLst>
          </p:cNvPr>
          <p:cNvSpPr txBox="1"/>
          <p:nvPr/>
        </p:nvSpPr>
        <p:spPr>
          <a:xfrm>
            <a:off x="275697" y="4483329"/>
            <a:ext cx="8756168" cy="646331"/>
          </a:xfrm>
          <a:prstGeom prst="rect">
            <a:avLst/>
          </a:prstGeom>
          <a:noFill/>
        </p:spPr>
        <p:txBody>
          <a:bodyPr wrap="square">
            <a:spAutoFit/>
          </a:bodyPr>
          <a:lstStyle/>
          <a:p>
            <a:r>
              <a:rPr lang="en-US" altLang="zh-CN" dirty="0">
                <a:effectLst/>
              </a:rPr>
              <a:t>Maxwell introduced the concept of </a:t>
            </a:r>
            <a:r>
              <a:rPr lang="en-US" altLang="zh-CN" b="1" dirty="0">
                <a:effectLst/>
              </a:rPr>
              <a:t>displacement current </a:t>
            </a:r>
            <a:r>
              <a:rPr lang="en-US" altLang="zh-CN" dirty="0">
                <a:effectLst/>
              </a:rPr>
              <a:t>, which accounts for the changing electric flux through a surface:</a:t>
            </a:r>
            <a:endParaRPr lang="zh-CN" altLang="en-US" dirty="0"/>
          </a:p>
        </p:txBody>
      </p:sp>
      <p:pic>
        <p:nvPicPr>
          <p:cNvPr id="19" name="图片 18">
            <a:extLst>
              <a:ext uri="{FF2B5EF4-FFF2-40B4-BE49-F238E27FC236}">
                <a16:creationId xmlns:a16="http://schemas.microsoft.com/office/drawing/2014/main" id="{D7A169CC-C4EA-8D64-5C95-6A71D9C68B83}"/>
              </a:ext>
            </a:extLst>
          </p:cNvPr>
          <p:cNvPicPr>
            <a:picLocks noChangeAspect="1"/>
          </p:cNvPicPr>
          <p:nvPr/>
        </p:nvPicPr>
        <p:blipFill>
          <a:blip r:embed="rId4"/>
          <a:stretch>
            <a:fillRect/>
          </a:stretch>
        </p:blipFill>
        <p:spPr>
          <a:xfrm>
            <a:off x="3953912" y="5166498"/>
            <a:ext cx="1828958" cy="533446"/>
          </a:xfrm>
          <a:prstGeom prst="rect">
            <a:avLst/>
          </a:prstGeom>
        </p:spPr>
      </p:pic>
      <p:sp>
        <p:nvSpPr>
          <p:cNvPr id="23" name="文本框 22">
            <a:extLst>
              <a:ext uri="{FF2B5EF4-FFF2-40B4-BE49-F238E27FC236}">
                <a16:creationId xmlns:a16="http://schemas.microsoft.com/office/drawing/2014/main" id="{216DF34C-4926-6410-AB54-737DEA29BC0C}"/>
              </a:ext>
            </a:extLst>
          </p:cNvPr>
          <p:cNvSpPr txBox="1"/>
          <p:nvPr/>
        </p:nvSpPr>
        <p:spPr>
          <a:xfrm>
            <a:off x="435128" y="5793497"/>
            <a:ext cx="4723349" cy="646331"/>
          </a:xfrm>
          <a:prstGeom prst="rect">
            <a:avLst/>
          </a:prstGeom>
          <a:noFill/>
        </p:spPr>
        <p:txBody>
          <a:bodyPr wrap="square">
            <a:spAutoFit/>
          </a:bodyPr>
          <a:lstStyle/>
          <a:p>
            <a:r>
              <a:rPr lang="en-US" altLang="zh-CN" dirty="0"/>
              <a:t>Leading to the modern (integral) form of the equation</a:t>
            </a:r>
            <a:r>
              <a:rPr lang="zh-CN" altLang="en-US" dirty="0"/>
              <a:t>：</a:t>
            </a:r>
          </a:p>
        </p:txBody>
      </p:sp>
      <p:pic>
        <p:nvPicPr>
          <p:cNvPr id="31" name="图片 30">
            <a:extLst>
              <a:ext uri="{FF2B5EF4-FFF2-40B4-BE49-F238E27FC236}">
                <a16:creationId xmlns:a16="http://schemas.microsoft.com/office/drawing/2014/main" id="{C77D2954-C3C3-B4C4-A54F-6923596C8C41}"/>
              </a:ext>
            </a:extLst>
          </p:cNvPr>
          <p:cNvPicPr>
            <a:picLocks noChangeAspect="1"/>
          </p:cNvPicPr>
          <p:nvPr/>
        </p:nvPicPr>
        <p:blipFill>
          <a:blip r:embed="rId5"/>
          <a:stretch>
            <a:fillRect/>
          </a:stretch>
        </p:blipFill>
        <p:spPr>
          <a:xfrm>
            <a:off x="5404418" y="5699944"/>
            <a:ext cx="2571973" cy="647756"/>
          </a:xfrm>
          <a:prstGeom prst="rect">
            <a:avLst/>
          </a:prstGeom>
        </p:spPr>
      </p:pic>
    </p:spTree>
    <p:extLst>
      <p:ext uri="{BB962C8B-B14F-4D97-AF65-F5344CB8AC3E}">
        <p14:creationId xmlns:p14="http://schemas.microsoft.com/office/powerpoint/2010/main" val="3023847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7E416-87F0-B05B-8D67-7D5A33D0F85B}"/>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A9617788-717C-A021-BF42-DA720FCA221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4</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170EDFA-1637-CE2D-2B75-4440E8B033E2}"/>
                  </a:ext>
                </a:extLst>
              </p:cNvPr>
              <p:cNvSpPr txBox="1"/>
              <p:nvPr/>
            </p:nvSpPr>
            <p:spPr>
              <a:xfrm>
                <a:off x="4953436" y="623071"/>
                <a:ext cx="3057247"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𝜇</m:t>
                          </m:r>
                        </m:e>
                        <m:sub>
                          <m:r>
                            <a:rPr lang="zh-CN" altLang="en-US" sz="2400">
                              <a:solidFill>
                                <a:schemeClr val="tx1"/>
                              </a:solidFill>
                              <a:latin typeface="Cambria Math" panose="02040503050406030204" pitchFamily="18" charset="0"/>
                            </a:rPr>
                            <m:t>0</m:t>
                          </m:r>
                        </m:sub>
                      </m:sSub>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𝜀</m:t>
                          </m:r>
                        </m:e>
                        <m:sub>
                          <m:r>
                            <a:rPr lang="en-US" altLang="zh-CN" sz="2400" i="1">
                              <a:solidFill>
                                <a:schemeClr val="tx1"/>
                              </a:solidFill>
                              <a:latin typeface="Cambria Math" panose="02040503050406030204" pitchFamily="18" charset="0"/>
                            </a:rPr>
                            <m:t>0</m:t>
                          </m:r>
                        </m:sub>
                      </m:sSub>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15" name="文本框 14">
                <a:extLst>
                  <a:ext uri="{FF2B5EF4-FFF2-40B4-BE49-F238E27FC236}">
                    <a16:creationId xmlns:a16="http://schemas.microsoft.com/office/drawing/2014/main" id="{D170EDFA-1637-CE2D-2B75-4440E8B033E2}"/>
                  </a:ext>
                </a:extLst>
              </p:cNvPr>
              <p:cNvSpPr txBox="1">
                <a:spLocks noRot="1" noChangeAspect="1" noMove="1" noResize="1" noEditPoints="1" noAdjustHandles="1" noChangeArrowheads="1" noChangeShapeType="1" noTextEdit="1"/>
              </p:cNvSpPr>
              <p:nvPr/>
            </p:nvSpPr>
            <p:spPr>
              <a:xfrm>
                <a:off x="4953436" y="623071"/>
                <a:ext cx="3057247" cy="786947"/>
              </a:xfrm>
              <a:prstGeom prst="rect">
                <a:avLst/>
              </a:prstGeom>
              <a:blipFill>
                <a:blip r:embed="rId3"/>
                <a:stretch>
                  <a:fillRect/>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ACC30498-8FAB-FFC4-5AB5-66889209EC25}"/>
              </a:ext>
            </a:extLst>
          </p:cNvPr>
          <p:cNvSpPr txBox="1"/>
          <p:nvPr/>
        </p:nvSpPr>
        <p:spPr>
          <a:xfrm>
            <a:off x="811417" y="899882"/>
            <a:ext cx="3610958" cy="369332"/>
          </a:xfrm>
          <a:prstGeom prst="rect">
            <a:avLst/>
          </a:prstGeom>
          <a:noFill/>
        </p:spPr>
        <p:txBody>
          <a:bodyPr wrap="square">
            <a:spAutoFit/>
          </a:bodyPr>
          <a:lstStyle/>
          <a:p>
            <a:r>
              <a:rPr lang="en-US" altLang="zh-CN" dirty="0"/>
              <a:t>Differential Form of the equation</a:t>
            </a:r>
            <a:r>
              <a:rPr lang="zh-CN" altLang="en-US" dirty="0"/>
              <a:t>：</a:t>
            </a:r>
          </a:p>
        </p:txBody>
      </p:sp>
      <p:pic>
        <p:nvPicPr>
          <p:cNvPr id="4" name="图片 3">
            <a:extLst>
              <a:ext uri="{FF2B5EF4-FFF2-40B4-BE49-F238E27FC236}">
                <a16:creationId xmlns:a16="http://schemas.microsoft.com/office/drawing/2014/main" id="{49213CB2-2661-EAE8-0697-74DA2BD91F0D}"/>
              </a:ext>
            </a:extLst>
          </p:cNvPr>
          <p:cNvPicPr>
            <a:picLocks noChangeAspect="1"/>
          </p:cNvPicPr>
          <p:nvPr/>
        </p:nvPicPr>
        <p:blipFill>
          <a:blip r:embed="rId4"/>
          <a:stretch>
            <a:fillRect/>
          </a:stretch>
        </p:blipFill>
        <p:spPr>
          <a:xfrm>
            <a:off x="1533261" y="1938230"/>
            <a:ext cx="6077477" cy="4290795"/>
          </a:xfrm>
          <a:prstGeom prst="rect">
            <a:avLst/>
          </a:prstGeom>
        </p:spPr>
      </p:pic>
      <p:sp>
        <p:nvSpPr>
          <p:cNvPr id="7" name="文本框 6">
            <a:extLst>
              <a:ext uri="{FF2B5EF4-FFF2-40B4-BE49-F238E27FC236}">
                <a16:creationId xmlns:a16="http://schemas.microsoft.com/office/drawing/2014/main" id="{C18F6525-4E96-93B6-75F8-686AF0B2CC13}"/>
              </a:ext>
            </a:extLst>
          </p:cNvPr>
          <p:cNvSpPr txBox="1"/>
          <p:nvPr/>
        </p:nvSpPr>
        <p:spPr>
          <a:xfrm>
            <a:off x="811417" y="1419056"/>
            <a:ext cx="4572000" cy="369332"/>
          </a:xfrm>
          <a:prstGeom prst="rect">
            <a:avLst/>
          </a:prstGeom>
          <a:noFill/>
        </p:spPr>
        <p:txBody>
          <a:bodyPr wrap="square">
            <a:spAutoFit/>
          </a:bodyPr>
          <a:lstStyle/>
          <a:p>
            <a:r>
              <a:rPr lang="zh-CN" altLang="en-US" dirty="0"/>
              <a:t>从积分形式到微分形式的转换</a:t>
            </a:r>
          </a:p>
        </p:txBody>
      </p:sp>
    </p:spTree>
    <p:extLst>
      <p:ext uri="{BB962C8B-B14F-4D97-AF65-F5344CB8AC3E}">
        <p14:creationId xmlns:p14="http://schemas.microsoft.com/office/powerpoint/2010/main" val="745517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630C-7072-664B-D7EC-21E8052D3827}"/>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9F871397-5735-8014-AB62-5684C1BC48A3}"/>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4</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箭头连接符 4">
            <a:extLst>
              <a:ext uri="{FF2B5EF4-FFF2-40B4-BE49-F238E27FC236}">
                <a16:creationId xmlns:a16="http://schemas.microsoft.com/office/drawing/2014/main" id="{D55933BF-5B4F-C219-036A-B4C1FF8384FD}"/>
              </a:ext>
            </a:extLst>
          </p:cNvPr>
          <p:cNvCxnSpPr>
            <a:cxnSpLocks/>
          </p:cNvCxnSpPr>
          <p:nvPr/>
        </p:nvCxnSpPr>
        <p:spPr>
          <a:xfrm flipV="1">
            <a:off x="4445874" y="1618425"/>
            <a:ext cx="0" cy="264252"/>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B3ABFE32-7D4C-1C4E-594D-D89428204B42}"/>
              </a:ext>
            </a:extLst>
          </p:cNvPr>
          <p:cNvSpPr txBox="1"/>
          <p:nvPr/>
        </p:nvSpPr>
        <p:spPr>
          <a:xfrm>
            <a:off x="4348526" y="1805471"/>
            <a:ext cx="910072"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Current density</a:t>
            </a:r>
            <a:endParaRPr lang="zh-CN" altLang="en-US" sz="1600" dirty="0">
              <a:solidFill>
                <a:schemeClr val="accent2">
                  <a:lumMod val="75000"/>
                </a:schemeClr>
              </a:solidFill>
            </a:endParaRPr>
          </a:p>
        </p:txBody>
      </p:sp>
      <p:sp>
        <p:nvSpPr>
          <p:cNvPr id="8" name="文本框 3">
            <a:extLst>
              <a:ext uri="{FF2B5EF4-FFF2-40B4-BE49-F238E27FC236}">
                <a16:creationId xmlns:a16="http://schemas.microsoft.com/office/drawing/2014/main" id="{B2C0439E-7E54-5EBB-D53A-1B3C8C02127F}"/>
              </a:ext>
            </a:extLst>
          </p:cNvPr>
          <p:cNvSpPr txBox="1"/>
          <p:nvPr/>
        </p:nvSpPr>
        <p:spPr>
          <a:xfrm>
            <a:off x="385521" y="1631488"/>
            <a:ext cx="4037308"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Permeability /ˌ</a:t>
            </a:r>
            <a:r>
              <a:rPr lang="en-US" altLang="zh-CN" sz="1600" dirty="0" err="1">
                <a:solidFill>
                  <a:schemeClr val="accent5">
                    <a:lumMod val="75000"/>
                  </a:schemeClr>
                </a:solidFill>
              </a:rPr>
              <a:t>pɜːmiəˈbɪləti</a:t>
            </a:r>
            <a:r>
              <a:rPr lang="en-US" altLang="zh-CN" sz="1600" dirty="0">
                <a:solidFill>
                  <a:schemeClr val="accent5">
                    <a:lumMod val="75000"/>
                  </a:schemeClr>
                </a:solidFill>
              </a:rPr>
              <a:t>/ (</a:t>
            </a:r>
            <a:r>
              <a:rPr lang="zh-CN" altLang="en-US" sz="1600" dirty="0">
                <a:solidFill>
                  <a:schemeClr val="accent5">
                    <a:lumMod val="75000"/>
                  </a:schemeClr>
                </a:solidFill>
              </a:rPr>
              <a:t>磁导率</a:t>
            </a:r>
            <a:r>
              <a:rPr lang="en-US" altLang="zh-CN" sz="1600" dirty="0">
                <a:solidFill>
                  <a:schemeClr val="accent5">
                    <a:lumMod val="75000"/>
                  </a:schemeClr>
                </a:solidFill>
              </a:rPr>
              <a:t>): </a:t>
            </a:r>
          </a:p>
          <a:p>
            <a:r>
              <a:rPr lang="en-US" altLang="zh-CN" sz="1600" dirty="0">
                <a:solidFill>
                  <a:schemeClr val="accent5">
                    <a:lumMod val="75000"/>
                  </a:schemeClr>
                </a:solidFill>
              </a:rPr>
              <a:t>the measure of magnetization produced in a material in response to magnetic field. </a:t>
            </a:r>
            <a:endParaRPr lang="zh-CN" altLang="en-US" sz="1600" dirty="0">
              <a:solidFill>
                <a:schemeClr val="accent5">
                  <a:lumMod val="75000"/>
                </a:schemeClr>
              </a:solidFill>
            </a:endParaRPr>
          </a:p>
        </p:txBody>
      </p:sp>
      <p:cxnSp>
        <p:nvCxnSpPr>
          <p:cNvPr id="9" name="直接箭头连接符 8">
            <a:extLst>
              <a:ext uri="{FF2B5EF4-FFF2-40B4-BE49-F238E27FC236}">
                <a16:creationId xmlns:a16="http://schemas.microsoft.com/office/drawing/2014/main" id="{D672EF96-B5EE-844C-52D3-04A47B4D6C03}"/>
              </a:ext>
            </a:extLst>
          </p:cNvPr>
          <p:cNvCxnSpPr>
            <a:cxnSpLocks/>
          </p:cNvCxnSpPr>
          <p:nvPr/>
        </p:nvCxnSpPr>
        <p:spPr>
          <a:xfrm flipV="1">
            <a:off x="4221288" y="1618425"/>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4BD82C61-90E7-8AD0-E002-780753568C8C}"/>
              </a:ext>
            </a:extLst>
          </p:cNvPr>
          <p:cNvSpPr txBox="1"/>
          <p:nvPr/>
        </p:nvSpPr>
        <p:spPr>
          <a:xfrm>
            <a:off x="1424863" y="2517405"/>
            <a:ext cx="6457835"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dirty="0"/>
              <a:t>电流和随时间变化的电场</a:t>
            </a:r>
            <a:r>
              <a:rPr lang="en-US" altLang="zh-CN" dirty="0"/>
              <a:t>(</a:t>
            </a:r>
            <a:r>
              <a:rPr lang="zh-CN" altLang="en-US" dirty="0"/>
              <a:t>移动电场</a:t>
            </a:r>
            <a:r>
              <a:rPr lang="en-US" altLang="zh-CN" dirty="0"/>
              <a:t>)</a:t>
            </a:r>
            <a:r>
              <a:rPr lang="zh-CN" altLang="en-US" dirty="0"/>
              <a:t>会激发出环绕的涡旋磁场</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E1459B9-B088-BA0A-DD1A-2C986757A80B}"/>
                  </a:ext>
                </a:extLst>
              </p:cNvPr>
              <p:cNvSpPr txBox="1"/>
              <p:nvPr/>
            </p:nvSpPr>
            <p:spPr>
              <a:xfrm>
                <a:off x="2922765" y="963604"/>
                <a:ext cx="3046219"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𝜇</m:t>
                          </m:r>
                        </m:e>
                        <m:sub>
                          <m:r>
                            <a:rPr lang="zh-CN" altLang="en-US" sz="2400">
                              <a:solidFill>
                                <a:schemeClr val="tx1"/>
                              </a:solidFill>
                              <a:latin typeface="Cambria Math" panose="02040503050406030204" pitchFamily="18" charset="0"/>
                            </a:rPr>
                            <m:t>0</m:t>
                          </m:r>
                        </m:sub>
                      </m:sSub>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𝜀</m:t>
                          </m:r>
                        </m:e>
                        <m:sub>
                          <m:r>
                            <a:rPr lang="en-US" altLang="zh-CN" sz="2400" i="1">
                              <a:solidFill>
                                <a:schemeClr val="tx1"/>
                              </a:solidFill>
                              <a:latin typeface="Cambria Math" panose="02040503050406030204" pitchFamily="18" charset="0"/>
                            </a:rPr>
                            <m:t>0</m:t>
                          </m:r>
                        </m:sub>
                      </m:sSub>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15" name="文本框 14">
                <a:extLst>
                  <a:ext uri="{FF2B5EF4-FFF2-40B4-BE49-F238E27FC236}">
                    <a16:creationId xmlns:a16="http://schemas.microsoft.com/office/drawing/2014/main" id="{7E1459B9-B088-BA0A-DD1A-2C986757A80B}"/>
                  </a:ext>
                </a:extLst>
              </p:cNvPr>
              <p:cNvSpPr txBox="1">
                <a:spLocks noRot="1" noChangeAspect="1" noMove="1" noResize="1" noEditPoints="1" noAdjustHandles="1" noChangeArrowheads="1" noChangeShapeType="1" noTextEdit="1"/>
              </p:cNvSpPr>
              <p:nvPr/>
            </p:nvSpPr>
            <p:spPr>
              <a:xfrm>
                <a:off x="2922765" y="963604"/>
                <a:ext cx="3046219" cy="786947"/>
              </a:xfrm>
              <a:prstGeom prst="rect">
                <a:avLst/>
              </a:prstGeom>
              <a:blipFill>
                <a:blip r:embed="rId3"/>
                <a:stretch>
                  <a:fillRect/>
                </a:stretch>
              </a:blipFill>
            </p:spPr>
            <p:txBody>
              <a:bodyPr/>
              <a:lstStyle/>
              <a:p>
                <a:r>
                  <a:rPr lang="zh-CN" altLang="en-US">
                    <a:noFill/>
                  </a:rPr>
                  <a:t> </a:t>
                </a:r>
              </a:p>
            </p:txBody>
          </p:sp>
        </mc:Fallback>
      </mc:AlternateContent>
      <p:sp>
        <p:nvSpPr>
          <p:cNvPr id="18" name="文本框 3">
            <a:extLst>
              <a:ext uri="{FF2B5EF4-FFF2-40B4-BE49-F238E27FC236}">
                <a16:creationId xmlns:a16="http://schemas.microsoft.com/office/drawing/2014/main" id="{98EE51A8-BCBA-1113-D0D1-D4BB005E9AF7}"/>
              </a:ext>
            </a:extLst>
          </p:cNvPr>
          <p:cNvSpPr txBox="1"/>
          <p:nvPr/>
        </p:nvSpPr>
        <p:spPr>
          <a:xfrm>
            <a:off x="1296880" y="594272"/>
            <a:ext cx="6713803"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Ampere’s Circuital law </a:t>
            </a:r>
            <a:r>
              <a:rPr lang="zh-CN" altLang="en-US" b="1" dirty="0"/>
              <a:t>（安培定律：时变电场产生磁场）</a:t>
            </a:r>
          </a:p>
        </p:txBody>
      </p:sp>
      <p:cxnSp>
        <p:nvCxnSpPr>
          <p:cNvPr id="13" name="直接箭头连接符 12">
            <a:extLst>
              <a:ext uri="{FF2B5EF4-FFF2-40B4-BE49-F238E27FC236}">
                <a16:creationId xmlns:a16="http://schemas.microsoft.com/office/drawing/2014/main" id="{CACE3232-06CD-0080-FC2C-BF36A9100529}"/>
              </a:ext>
            </a:extLst>
          </p:cNvPr>
          <p:cNvCxnSpPr/>
          <p:nvPr/>
        </p:nvCxnSpPr>
        <p:spPr>
          <a:xfrm>
            <a:off x="6022428" y="1218859"/>
            <a:ext cx="22702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0" name="文本框 3">
            <a:extLst>
              <a:ext uri="{FF2B5EF4-FFF2-40B4-BE49-F238E27FC236}">
                <a16:creationId xmlns:a16="http://schemas.microsoft.com/office/drawing/2014/main" id="{57031DEA-8289-8CD5-0A70-61F920191973}"/>
              </a:ext>
            </a:extLst>
          </p:cNvPr>
          <p:cNvSpPr txBox="1"/>
          <p:nvPr/>
        </p:nvSpPr>
        <p:spPr>
          <a:xfrm>
            <a:off x="6380680" y="992547"/>
            <a:ext cx="910072"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电场随时间变化率</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CD1AF3-C56E-3EBC-A2DA-31E879849BAB}"/>
                  </a:ext>
                </a:extLst>
              </p:cNvPr>
              <p:cNvSpPr txBox="1"/>
              <p:nvPr/>
            </p:nvSpPr>
            <p:spPr>
              <a:xfrm>
                <a:off x="692182" y="3521465"/>
                <a:ext cx="2768322" cy="7871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𝑐</m:t>
                              </m:r>
                            </m:e>
                            <m:sup>
                              <m:r>
                                <a:rPr lang="en-US" altLang="zh-CN" sz="2400" b="0" i="1" smtClean="0">
                                  <a:solidFill>
                                    <a:schemeClr val="tx1"/>
                                  </a:solidFill>
                                  <a:latin typeface="Cambria Math" panose="02040503050406030204" pitchFamily="18" charset="0"/>
                                </a:rPr>
                                <m:t>2</m:t>
                              </m:r>
                            </m:sup>
                          </m:sSup>
                        </m:den>
                      </m:f>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1" name="文本框 20">
                <a:extLst>
                  <a:ext uri="{FF2B5EF4-FFF2-40B4-BE49-F238E27FC236}">
                    <a16:creationId xmlns:a16="http://schemas.microsoft.com/office/drawing/2014/main" id="{5BCD1AF3-C56E-3EBC-A2DA-31E879849BAB}"/>
                  </a:ext>
                </a:extLst>
              </p:cNvPr>
              <p:cNvSpPr txBox="1">
                <a:spLocks noRot="1" noChangeAspect="1" noMove="1" noResize="1" noEditPoints="1" noAdjustHandles="1" noChangeArrowheads="1" noChangeShapeType="1" noTextEdit="1"/>
              </p:cNvSpPr>
              <p:nvPr/>
            </p:nvSpPr>
            <p:spPr>
              <a:xfrm>
                <a:off x="692182" y="3521465"/>
                <a:ext cx="2768322" cy="787139"/>
              </a:xfrm>
              <a:prstGeom prst="rect">
                <a:avLst/>
              </a:prstGeom>
              <a:blipFill>
                <a:blip r:embed="rId4"/>
                <a:stretch>
                  <a:fillRect/>
                </a:stretch>
              </a:blipFill>
            </p:spPr>
            <p:txBody>
              <a:bodyPr/>
              <a:lstStyle/>
              <a:p>
                <a:r>
                  <a:rPr lang="zh-CN" altLang="en-US">
                    <a:noFill/>
                  </a:rPr>
                  <a:t> </a:t>
                </a:r>
              </a:p>
            </p:txBody>
          </p:sp>
        </mc:Fallback>
      </mc:AlternateContent>
      <p:pic>
        <p:nvPicPr>
          <p:cNvPr id="3074" name="Picture 2" descr="si units - Speed of light definition - Physics Stack Exchange">
            <a:extLst>
              <a:ext uri="{FF2B5EF4-FFF2-40B4-BE49-F238E27FC236}">
                <a16:creationId xmlns:a16="http://schemas.microsoft.com/office/drawing/2014/main" id="{193228F9-6406-DCFA-B1AF-BC30C6A8FF7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573" b="22144"/>
          <a:stretch/>
        </p:blipFill>
        <p:spPr bwMode="auto">
          <a:xfrm>
            <a:off x="4611637" y="2976587"/>
            <a:ext cx="3646306" cy="1305266"/>
          </a:xfrm>
          <a:prstGeom prst="rect">
            <a:avLst/>
          </a:prstGeom>
          <a:noFill/>
          <a:extLst>
            <a:ext uri="{909E8E84-426E-40DD-AFC4-6F175D3DCCD1}">
              <a14:hiddenFill xmlns:a14="http://schemas.microsoft.com/office/drawing/2010/main">
                <a:solidFill>
                  <a:srgbClr val="FFFFFF"/>
                </a:solidFill>
              </a14:hiddenFill>
            </a:ext>
          </a:extLst>
        </p:spPr>
      </p:pic>
      <p:sp>
        <p:nvSpPr>
          <p:cNvPr id="25" name="矩形 24">
            <a:extLst>
              <a:ext uri="{FF2B5EF4-FFF2-40B4-BE49-F238E27FC236}">
                <a16:creationId xmlns:a16="http://schemas.microsoft.com/office/drawing/2014/main" id="{81793973-0131-7AA8-1CEA-62AF6C08C97E}"/>
              </a:ext>
            </a:extLst>
          </p:cNvPr>
          <p:cNvSpPr/>
          <p:nvPr/>
        </p:nvSpPr>
        <p:spPr>
          <a:xfrm>
            <a:off x="4516347" y="3762672"/>
            <a:ext cx="2768322" cy="584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456D858-7B65-FCE2-1F5A-340550F240FC}"/>
              </a:ext>
            </a:extLst>
          </p:cNvPr>
          <p:cNvSpPr/>
          <p:nvPr/>
        </p:nvSpPr>
        <p:spPr>
          <a:xfrm>
            <a:off x="418454" y="2961980"/>
            <a:ext cx="8422848" cy="31361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7" name="文本框 3">
                <a:extLst>
                  <a:ext uri="{FF2B5EF4-FFF2-40B4-BE49-F238E27FC236}">
                    <a16:creationId xmlns:a16="http://schemas.microsoft.com/office/drawing/2014/main" id="{2A0B26AA-6FA4-EB60-9E29-7EE299DAF161}"/>
                  </a:ext>
                </a:extLst>
              </p:cNvPr>
              <p:cNvSpPr txBox="1"/>
              <p:nvPr/>
            </p:nvSpPr>
            <p:spPr>
              <a:xfrm>
                <a:off x="434616" y="4788235"/>
                <a:ext cx="8298126"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i="1" dirty="0"/>
                  <a:t>μ</a:t>
                </a:r>
                <a:r>
                  <a:rPr lang="en-US" altLang="zh-CN" sz="1600" dirty="0"/>
                  <a:t> </a:t>
                </a:r>
                <a:r>
                  <a:rPr lang="zh-CN" altLang="en-US" sz="1600" dirty="0"/>
                  <a:t>和 </a:t>
                </a:r>
                <a:r>
                  <a:rPr lang="en-US" altLang="zh-CN" sz="1600" i="1" dirty="0"/>
                  <a:t>ε</a:t>
                </a:r>
                <a:r>
                  <a:rPr lang="en-US" altLang="zh-CN" sz="1600" dirty="0"/>
                  <a:t> </a:t>
                </a:r>
                <a:r>
                  <a:rPr lang="zh-CN" altLang="en-US" sz="1600" dirty="0"/>
                  <a:t>分别反映了电场和磁场在空间中的“惯性”和“弹性”，它们的乘积决定了电磁波传播的时间尺度。</a:t>
                </a:r>
                <a:endParaRPr lang="en-US" altLang="zh-CN" sz="1600" dirty="0"/>
              </a:p>
              <a:p>
                <a:r>
                  <a:rPr lang="en-US" altLang="zh-CN" sz="1600" dirty="0"/>
                  <a:t>Permittivity </a:t>
                </a:r>
                <a14:m>
                  <m:oMath xmlns:m="http://schemas.openxmlformats.org/officeDocument/2006/math">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𝜀</m:t>
                        </m:r>
                      </m:e>
                      <m:sub>
                        <m:r>
                          <a:rPr lang="en-US" altLang="zh-CN" sz="1600" i="1">
                            <a:latin typeface="Cambria Math" panose="02040503050406030204" pitchFamily="18" charset="0"/>
                          </a:rPr>
                          <m:t>0</m:t>
                        </m:r>
                      </m:sub>
                    </m:sSub>
                  </m:oMath>
                </a14:m>
                <a:r>
                  <a:rPr lang="en-US" altLang="zh-CN" sz="1600" dirty="0"/>
                  <a:t> and Permeability</a:t>
                </a:r>
                <a:r>
                  <a:rPr lang="zh-CN" altLang="en-US" sz="1600" dirty="0"/>
                  <a:t> </a:t>
                </a:r>
                <a14:m>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𝜇</m:t>
                        </m:r>
                      </m:e>
                      <m:sub>
                        <m:r>
                          <a:rPr lang="zh-CN" altLang="en-US" sz="1600">
                            <a:latin typeface="Cambria Math" panose="02040503050406030204" pitchFamily="18" charset="0"/>
                          </a:rPr>
                          <m:t>0</m:t>
                        </m:r>
                      </m:sub>
                    </m:sSub>
                  </m:oMath>
                </a14:m>
                <a:r>
                  <a:rPr lang="en-US" altLang="zh-CN" sz="1600" dirty="0"/>
                  <a:t> can be thought as the resistance of free space against the formation of electric fields and magnetic fields, respectively. Like viscosity in water.</a:t>
                </a:r>
                <a:endParaRPr lang="zh-CN" altLang="en-US" sz="1600" dirty="0"/>
              </a:p>
            </p:txBody>
          </p:sp>
        </mc:Choice>
        <mc:Fallback xmlns="">
          <p:sp>
            <p:nvSpPr>
              <p:cNvPr id="27" name="文本框 3">
                <a:extLst>
                  <a:ext uri="{FF2B5EF4-FFF2-40B4-BE49-F238E27FC236}">
                    <a16:creationId xmlns:a16="http://schemas.microsoft.com/office/drawing/2014/main" id="{2A0B26AA-6FA4-EB60-9E29-7EE299DAF161}"/>
                  </a:ext>
                </a:extLst>
              </p:cNvPr>
              <p:cNvSpPr txBox="1">
                <a:spLocks noRot="1" noChangeAspect="1" noMove="1" noResize="1" noEditPoints="1" noAdjustHandles="1" noChangeArrowheads="1" noChangeShapeType="1" noTextEdit="1"/>
              </p:cNvSpPr>
              <p:nvPr/>
            </p:nvSpPr>
            <p:spPr>
              <a:xfrm>
                <a:off x="434616" y="4788235"/>
                <a:ext cx="8298126" cy="1077218"/>
              </a:xfrm>
              <a:prstGeom prst="rect">
                <a:avLst/>
              </a:prstGeom>
              <a:blipFill>
                <a:blip r:embed="rId6"/>
                <a:stretch>
                  <a:fillRect l="-367" t="-1695" b="-6215"/>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020770AE-9B26-6AB8-D550-627D208ABB4F}"/>
              </a:ext>
            </a:extLst>
          </p:cNvPr>
          <p:cNvSpPr/>
          <p:nvPr/>
        </p:nvSpPr>
        <p:spPr>
          <a:xfrm>
            <a:off x="1296880" y="3037186"/>
            <a:ext cx="1710725" cy="369332"/>
          </a:xfrm>
          <a:prstGeom prst="rect">
            <a:avLst/>
          </a:prstGeom>
        </p:spPr>
        <p:txBody>
          <a:bodyPr wrap="none">
            <a:spAutoFit/>
          </a:bodyPr>
          <a:lstStyle/>
          <a:p>
            <a:r>
              <a:rPr lang="en-US" altLang="zh-CN" b="1" dirty="0"/>
              <a:t>Speed of light</a:t>
            </a:r>
            <a:endParaRPr lang="zh-CN" altLang="en-US" b="1" dirty="0"/>
          </a:p>
        </p:txBody>
      </p:sp>
      <p:sp>
        <p:nvSpPr>
          <p:cNvPr id="3" name="文本框 2">
            <a:extLst>
              <a:ext uri="{FF2B5EF4-FFF2-40B4-BE49-F238E27FC236}">
                <a16:creationId xmlns:a16="http://schemas.microsoft.com/office/drawing/2014/main" id="{880C64D4-4B47-7A73-8E7A-B1046732AF16}"/>
              </a:ext>
            </a:extLst>
          </p:cNvPr>
          <p:cNvSpPr txBox="1"/>
          <p:nvPr/>
        </p:nvSpPr>
        <p:spPr>
          <a:xfrm>
            <a:off x="5342209" y="1867497"/>
            <a:ext cx="2185161" cy="338554"/>
          </a:xfrm>
          <a:prstGeom prst="rect">
            <a:avLst/>
          </a:prstGeom>
          <a:noFill/>
        </p:spPr>
        <p:txBody>
          <a:bodyPr wrap="square">
            <a:spAutoFit/>
          </a:bodyPr>
          <a:lstStyle/>
          <a:p>
            <a:r>
              <a:rPr lang="en-US" altLang="zh-CN" sz="1600" dirty="0">
                <a:solidFill>
                  <a:schemeClr val="accent5">
                    <a:lumMod val="75000"/>
                  </a:schemeClr>
                </a:solidFill>
              </a:rPr>
              <a:t>Permittivity (</a:t>
            </a:r>
            <a:r>
              <a:rPr lang="zh-CN" altLang="en-US" sz="1600" dirty="0">
                <a:solidFill>
                  <a:schemeClr val="accent5">
                    <a:lumMod val="75000"/>
                  </a:schemeClr>
                </a:solidFill>
              </a:rPr>
              <a:t>介电常数）</a:t>
            </a:r>
            <a:endParaRPr lang="zh-CN" altLang="en-US" sz="1600" dirty="0"/>
          </a:p>
        </p:txBody>
      </p:sp>
      <p:cxnSp>
        <p:nvCxnSpPr>
          <p:cNvPr id="4" name="直接箭头连接符 3">
            <a:extLst>
              <a:ext uri="{FF2B5EF4-FFF2-40B4-BE49-F238E27FC236}">
                <a16:creationId xmlns:a16="http://schemas.microsoft.com/office/drawing/2014/main" id="{50A58A4A-561A-DDFE-0C91-AECB2CBF742E}"/>
              </a:ext>
            </a:extLst>
          </p:cNvPr>
          <p:cNvCxnSpPr>
            <a:cxnSpLocks/>
          </p:cNvCxnSpPr>
          <p:nvPr/>
        </p:nvCxnSpPr>
        <p:spPr>
          <a:xfrm flipV="1">
            <a:off x="5437729" y="1618424"/>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675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6E3FD-579B-0338-F196-FCCC41DEC9B2}"/>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8E08281-51F4-5C17-5436-5A8B3DBA929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 optics</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What is a wave?</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文本框 3">
            <a:extLst>
              <a:ext uri="{FF2B5EF4-FFF2-40B4-BE49-F238E27FC236}">
                <a16:creationId xmlns:a16="http://schemas.microsoft.com/office/drawing/2014/main" id="{31A084EB-65ED-1598-36DC-B8550958DBD6}"/>
              </a:ext>
            </a:extLst>
          </p:cNvPr>
          <p:cNvSpPr txBox="1"/>
          <p:nvPr/>
        </p:nvSpPr>
        <p:spPr>
          <a:xfrm>
            <a:off x="402595" y="3410983"/>
            <a:ext cx="8436779"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One space dimensional</a:t>
            </a:r>
            <a:r>
              <a:rPr lang="zh-CN" altLang="en-US" b="1" dirty="0"/>
              <a:t>（</a:t>
            </a:r>
            <a:r>
              <a:rPr lang="en-US" altLang="zh-CN" b="1" dirty="0"/>
              <a:t>only in x direction</a:t>
            </a:r>
            <a:r>
              <a:rPr lang="zh-CN" altLang="en-US" b="1" dirty="0"/>
              <a:t>）</a:t>
            </a:r>
            <a:r>
              <a:rPr lang="en-US" altLang="zh-CN" b="1" dirty="0"/>
              <a:t>wave equation in simple</a:t>
            </a:r>
            <a:r>
              <a:rPr lang="zh-CN" altLang="en-US" b="1" dirty="0"/>
              <a:t> </a:t>
            </a:r>
            <a:r>
              <a:rPr lang="en-US" altLang="zh-CN" b="1" dirty="0"/>
              <a:t>form</a:t>
            </a:r>
            <a:r>
              <a:rPr lang="en-US" altLang="zh-CN" dirty="0"/>
              <a:t>: </a:t>
            </a:r>
          </a:p>
          <a:p>
            <a:r>
              <a:rPr lang="en-US" altLang="zh-CN" dirty="0"/>
              <a:t>Forward f(x-</a:t>
            </a:r>
            <a:r>
              <a:rPr lang="en-US" altLang="zh-CN" dirty="0" err="1"/>
              <a:t>vt</a:t>
            </a:r>
            <a:r>
              <a:rPr lang="en-US" altLang="zh-CN" dirty="0"/>
              <a:t>) and backward f(</a:t>
            </a:r>
            <a:r>
              <a:rPr lang="en-US" altLang="zh-CN" dirty="0" err="1"/>
              <a:t>x+vt</a:t>
            </a:r>
            <a:r>
              <a:rPr lang="en-US" altLang="zh-CN" dirty="0"/>
              <a:t>)</a:t>
            </a:r>
            <a:r>
              <a:rPr lang="zh-CN" altLang="en-US" dirty="0"/>
              <a:t>，</a:t>
            </a:r>
            <a:r>
              <a:rPr lang="en-US" altLang="zh-CN" dirty="0"/>
              <a:t>where v is phase velocity of the wave. </a:t>
            </a:r>
            <a:endParaRPr lang="zh-CN" altLang="en-US" dirty="0"/>
          </a:p>
        </p:txBody>
      </p:sp>
      <p:pic>
        <p:nvPicPr>
          <p:cNvPr id="5" name="图片 4">
            <a:extLst>
              <a:ext uri="{FF2B5EF4-FFF2-40B4-BE49-F238E27FC236}">
                <a16:creationId xmlns:a16="http://schemas.microsoft.com/office/drawing/2014/main" id="{D1085BD4-7B97-E46C-56F0-281BFE8086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7537" y="611544"/>
            <a:ext cx="4068926" cy="2063105"/>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13D1452-899F-730C-BC6A-6453E54FFFA1}"/>
                  </a:ext>
                </a:extLst>
              </p:cNvPr>
              <p:cNvSpPr txBox="1"/>
              <p:nvPr/>
            </p:nvSpPr>
            <p:spPr>
              <a:xfrm>
                <a:off x="4554747" y="5189795"/>
                <a:ext cx="34527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b="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b="0" i="1">
                              <a:latin typeface="Cambria Math" panose="02040503050406030204" pitchFamily="18" charset="0"/>
                            </a:rPr>
                            <m:t>,</m:t>
                          </m:r>
                          <m:r>
                            <a:rPr lang="zh-CN" altLang="en-US" sz="2000" b="0" i="1">
                              <a:latin typeface="Cambria Math" panose="02040503050406030204" pitchFamily="18" charset="0"/>
                            </a:rPr>
                            <m:t>𝑡</m:t>
                          </m:r>
                        </m:e>
                      </m:d>
                      <m:r>
                        <a:rPr lang="zh-CN" altLang="en-US" sz="2000" b="0" i="1">
                          <a:latin typeface="Cambria Math" panose="02040503050406030204" pitchFamily="18" charset="0"/>
                        </a:rPr>
                        <m:t>=</m:t>
                      </m:r>
                      <m:r>
                        <a:rPr lang="zh-CN" altLang="en-US" sz="2000" b="0" i="1">
                          <a:latin typeface="Cambria Math" panose="02040503050406030204" pitchFamily="18" charset="0"/>
                        </a:rPr>
                        <m:t>𝐴</m:t>
                      </m:r>
                      <m:func>
                        <m:funcPr>
                          <m:ctrlPr>
                            <a:rPr lang="zh-CN" altLang="en-US" sz="2000" i="1">
                              <a:latin typeface="Cambria Math" panose="02040503050406030204" pitchFamily="18" charset="0"/>
                            </a:rPr>
                          </m:ctrlPr>
                        </m:funcPr>
                        <m:fName>
                          <m:r>
                            <a:rPr lang="zh-CN" altLang="en-US" sz="2000" b="0" i="1">
                              <a:latin typeface="Cambria Math" panose="02040503050406030204" pitchFamily="18" charset="0"/>
                            </a:rPr>
                            <m:t>𝑐𝑜𝑠</m:t>
                          </m:r>
                        </m:fName>
                        <m:e>
                          <m:d>
                            <m:dPr>
                              <m:begChr m:val="["/>
                              <m:endChr m:val="]"/>
                              <m:ctrlPr>
                                <a:rPr lang="zh-CN" altLang="en-US" sz="2000" i="1">
                                  <a:solidFill>
                                    <a:srgbClr val="836967"/>
                                  </a:solidFill>
                                  <a:latin typeface="Cambria Math" panose="02040503050406030204" pitchFamily="18" charset="0"/>
                                </a:rPr>
                              </m:ctrlPr>
                            </m:dPr>
                            <m:e>
                              <m:d>
                                <m:dPr>
                                  <m:ctrlPr>
                                    <a:rPr lang="zh-CN" altLang="en-US" sz="2000" i="1">
                                      <a:solidFill>
                                        <a:srgbClr val="836967"/>
                                      </a:solidFill>
                                      <a:latin typeface="Cambria Math" panose="02040503050406030204" pitchFamily="18" charset="0"/>
                                    </a:rPr>
                                  </m:ctrlPr>
                                </m:dPr>
                                <m:e>
                                  <m:r>
                                    <a:rPr lang="zh-CN" altLang="en-US" sz="2000" b="0" i="1">
                                      <a:latin typeface="Cambria Math" panose="02040503050406030204" pitchFamily="18" charset="0"/>
                                    </a:rPr>
                                    <m:t>𝑘</m:t>
                                  </m:r>
                                  <m:r>
                                    <a:rPr lang="en-US" altLang="zh-CN" sz="2000" b="0" i="1" smtClean="0">
                                      <a:latin typeface="Cambria Math" panose="02040503050406030204" pitchFamily="18" charset="0"/>
                                    </a:rPr>
                                    <m:t>𝑥</m:t>
                                  </m:r>
                                  <m:r>
                                    <a:rPr lang="en-US" altLang="zh-CN" sz="2000" b="0" i="1">
                                      <a:latin typeface="Cambria Math" panose="02040503050406030204" pitchFamily="18" charset="0"/>
                                    </a:rPr>
                                    <m:t>−</m:t>
                                  </m:r>
                                  <m:r>
                                    <a:rPr lang="en-US" altLang="zh-CN" sz="2000" b="0" i="1" dirty="0">
                                      <a:latin typeface="Cambria Math" panose="02040503050406030204" pitchFamily="18" charset="0"/>
                                      <a:ea typeface="Cambria Math" panose="02040503050406030204" pitchFamily="18" charset="0"/>
                                    </a:rPr>
                                    <m:t>𝜔</m:t>
                                  </m:r>
                                  <m:r>
                                    <a:rPr lang="en-US" altLang="zh-CN" sz="2000" b="0" i="1">
                                      <a:latin typeface="Cambria Math" panose="02040503050406030204" pitchFamily="18" charset="0"/>
                                    </a:rPr>
                                    <m:t>𝑡</m:t>
                                  </m:r>
                                </m:e>
                              </m:d>
                              <m:r>
                                <a:rPr lang="en-US" altLang="zh-CN" sz="2000" b="0" i="1" smtClean="0">
                                  <a:latin typeface="Cambria Math" panose="02040503050406030204" pitchFamily="18" charset="0"/>
                                </a:rPr>
                                <m:t>−</m:t>
                              </m:r>
                              <m:r>
                                <a:rPr lang="zh-CN" altLang="en-US" sz="2000" b="0" i="1">
                                  <a:latin typeface="Cambria Math" panose="02040503050406030204" pitchFamily="18" charset="0"/>
                                </a:rPr>
                                <m:t>𝛿</m:t>
                              </m:r>
                            </m:e>
                          </m:d>
                        </m:e>
                      </m:func>
                    </m:oMath>
                  </m:oMathPara>
                </a14:m>
                <a:endParaRPr lang="zh-CN" altLang="en-US" sz="2000" i="1" dirty="0"/>
              </a:p>
            </p:txBody>
          </p:sp>
        </mc:Choice>
        <mc:Fallback xmlns="">
          <p:sp>
            <p:nvSpPr>
              <p:cNvPr id="2" name="文本框 1">
                <a:extLst>
                  <a:ext uri="{FF2B5EF4-FFF2-40B4-BE49-F238E27FC236}">
                    <a16:creationId xmlns:a16="http://schemas.microsoft.com/office/drawing/2014/main" id="{613D1452-899F-730C-BC6A-6453E54FFFA1}"/>
                  </a:ext>
                </a:extLst>
              </p:cNvPr>
              <p:cNvSpPr txBox="1">
                <a:spLocks noRot="1" noChangeAspect="1" noMove="1" noResize="1" noEditPoints="1" noAdjustHandles="1" noChangeArrowheads="1" noChangeShapeType="1" noTextEdit="1"/>
              </p:cNvSpPr>
              <p:nvPr/>
            </p:nvSpPr>
            <p:spPr>
              <a:xfrm>
                <a:off x="4554747" y="5189795"/>
                <a:ext cx="3452740" cy="307777"/>
              </a:xfrm>
              <a:prstGeom prst="rect">
                <a:avLst/>
              </a:prstGeom>
              <a:blipFill>
                <a:blip r:embed="rId4"/>
                <a:stretch>
                  <a:fillRect l="-1058"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3754E2E-A039-29BC-F67F-A64F69B199B8}"/>
                  </a:ext>
                </a:extLst>
              </p:cNvPr>
              <p:cNvSpPr txBox="1"/>
              <p:nvPr/>
            </p:nvSpPr>
            <p:spPr>
              <a:xfrm>
                <a:off x="4554747" y="5851383"/>
                <a:ext cx="2398029" cy="328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0">
                              <a:latin typeface="Cambria Math" panose="02040503050406030204" pitchFamily="18" charset="0"/>
                            </a:rPr>
                            <m:t>0</m:t>
                          </m:r>
                        </m:sub>
                      </m:sSub>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zh-CN" altLang="en-US" sz="2000" i="1">
                              <a:latin typeface="Cambria Math" panose="02040503050406030204" pitchFamily="18" charset="0"/>
                            </a:rPr>
                            <m:t>𝑗</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sup>
                      </m:sSup>
                    </m:oMath>
                  </m:oMathPara>
                </a14:m>
                <a:endParaRPr lang="zh-CN" altLang="en-US" sz="2000" dirty="0"/>
              </a:p>
            </p:txBody>
          </p:sp>
        </mc:Choice>
        <mc:Fallback xmlns="">
          <p:sp>
            <p:nvSpPr>
              <p:cNvPr id="3" name="文本框 2">
                <a:extLst>
                  <a:ext uri="{FF2B5EF4-FFF2-40B4-BE49-F238E27FC236}">
                    <a16:creationId xmlns:a16="http://schemas.microsoft.com/office/drawing/2014/main" id="{A3754E2E-A039-29BC-F67F-A64F69B199B8}"/>
                  </a:ext>
                </a:extLst>
              </p:cNvPr>
              <p:cNvSpPr txBox="1">
                <a:spLocks noRot="1" noChangeAspect="1" noMove="1" noResize="1" noEditPoints="1" noAdjustHandles="1" noChangeArrowheads="1" noChangeShapeType="1" noTextEdit="1"/>
              </p:cNvSpPr>
              <p:nvPr/>
            </p:nvSpPr>
            <p:spPr>
              <a:xfrm>
                <a:off x="4554747" y="5851383"/>
                <a:ext cx="2398029" cy="328680"/>
              </a:xfrm>
              <a:prstGeom prst="rect">
                <a:avLst/>
              </a:prstGeom>
              <a:blipFill>
                <a:blip r:embed="rId5"/>
                <a:stretch>
                  <a:fillRect l="-1523" b="-16667"/>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54C0595-7A0C-C601-455F-51A0FD073094}"/>
              </a:ext>
            </a:extLst>
          </p:cNvPr>
          <p:cNvSpPr txBox="1"/>
          <p:nvPr/>
        </p:nvSpPr>
        <p:spPr>
          <a:xfrm>
            <a:off x="1295401" y="2708842"/>
            <a:ext cx="7696200" cy="646331"/>
          </a:xfrm>
          <a:prstGeom prst="rect">
            <a:avLst/>
          </a:prstGeom>
          <a:noFill/>
        </p:spPr>
        <p:txBody>
          <a:bodyPr wrap="square">
            <a:spAutoFit/>
          </a:bodyPr>
          <a:lstStyle/>
          <a:p>
            <a:r>
              <a:rPr lang="en-US" altLang="zh-CN" dirty="0"/>
              <a:t>In the mathematical sense, a wave is any function that moves. </a:t>
            </a:r>
          </a:p>
          <a:p>
            <a:r>
              <a:rPr lang="en-US" altLang="zh-CN" dirty="0"/>
              <a:t>Define the concept of a wave: function of space (x) and time (t).</a:t>
            </a:r>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5B4289-B880-81B6-509A-52904ED3AC3A}"/>
                  </a:ext>
                </a:extLst>
              </p:cNvPr>
              <p:cNvSpPr txBox="1"/>
              <p:nvPr/>
            </p:nvSpPr>
            <p:spPr>
              <a:xfrm>
                <a:off x="4572000" y="4218380"/>
                <a:ext cx="2051716" cy="617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000" i="1" smtClean="0">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m:t>
                      </m:r>
                      <m:r>
                        <a:rPr lang="en-US" altLang="zh-CN" sz="2000" i="1" smtClean="0">
                          <a:latin typeface="Cambria Math" panose="02040503050406030204" pitchFamily="18" charset="0"/>
                        </a:rPr>
                        <m:t>𝜇</m:t>
                      </m:r>
                      <m:r>
                        <a:rPr lang="zh-CN" altLang="en-US" sz="2000" i="1">
                          <a:latin typeface="Cambria Math" panose="02040503050406030204" pitchFamily="18" charset="0"/>
                        </a:rPr>
                        <m:t>𝜀</m:t>
                      </m:r>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=0</m:t>
                      </m:r>
                    </m:oMath>
                  </m:oMathPara>
                </a14:m>
                <a:endParaRPr lang="zh-CN" altLang="en-US" sz="2000" dirty="0"/>
              </a:p>
            </p:txBody>
          </p:sp>
        </mc:Choice>
        <mc:Fallback xmlns="">
          <p:sp>
            <p:nvSpPr>
              <p:cNvPr id="7" name="文本框 6">
                <a:extLst>
                  <a:ext uri="{FF2B5EF4-FFF2-40B4-BE49-F238E27FC236}">
                    <a16:creationId xmlns:a16="http://schemas.microsoft.com/office/drawing/2014/main" id="{4D5B4289-B880-81B6-509A-52904ED3AC3A}"/>
                  </a:ext>
                </a:extLst>
              </p:cNvPr>
              <p:cNvSpPr txBox="1">
                <a:spLocks noRot="1" noChangeAspect="1" noMove="1" noResize="1" noEditPoints="1" noAdjustHandles="1" noChangeArrowheads="1" noChangeShapeType="1" noTextEdit="1"/>
              </p:cNvSpPr>
              <p:nvPr/>
            </p:nvSpPr>
            <p:spPr>
              <a:xfrm>
                <a:off x="4572000" y="4218380"/>
                <a:ext cx="2051716" cy="617605"/>
              </a:xfrm>
              <a:prstGeom prst="rect">
                <a:avLst/>
              </a:prstGeom>
              <a:blipFill>
                <a:blip r:embed="rId6"/>
                <a:stretch>
                  <a:fillRect/>
                </a:stretch>
              </a:blipFill>
            </p:spPr>
            <p:txBody>
              <a:bodyPr/>
              <a:lstStyle/>
              <a:p>
                <a:r>
                  <a:rPr lang="zh-CN" altLang="en-US">
                    <a:noFill/>
                  </a:rPr>
                  <a:t> </a:t>
                </a:r>
              </a:p>
            </p:txBody>
          </p:sp>
        </mc:Fallback>
      </mc:AlternateContent>
      <p:sp>
        <p:nvSpPr>
          <p:cNvPr id="8" name="文本框 3">
            <a:extLst>
              <a:ext uri="{FF2B5EF4-FFF2-40B4-BE49-F238E27FC236}">
                <a16:creationId xmlns:a16="http://schemas.microsoft.com/office/drawing/2014/main" id="{A83FCC1D-086E-600E-BC6C-C981CD675461}"/>
              </a:ext>
            </a:extLst>
          </p:cNvPr>
          <p:cNvSpPr txBox="1"/>
          <p:nvPr/>
        </p:nvSpPr>
        <p:spPr>
          <a:xfrm>
            <a:off x="1349816" y="4590491"/>
            <a:ext cx="2770766" cy="147732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But…why do I always see wave equations like these</a:t>
            </a:r>
          </a:p>
          <a:p>
            <a:endParaRPr lang="en-US" altLang="zh-CN" b="1" dirty="0"/>
          </a:p>
          <a:p>
            <a:r>
              <a:rPr lang="en-US" altLang="zh-CN" b="1" dirty="0"/>
              <a:t>What are they???</a:t>
            </a:r>
            <a:endParaRPr lang="zh-CN" altLang="en-US" dirty="0"/>
          </a:p>
        </p:txBody>
      </p:sp>
      <p:sp>
        <p:nvSpPr>
          <p:cNvPr id="9" name="左大括号 8">
            <a:extLst>
              <a:ext uri="{FF2B5EF4-FFF2-40B4-BE49-F238E27FC236}">
                <a16:creationId xmlns:a16="http://schemas.microsoft.com/office/drawing/2014/main" id="{A8493978-4871-084E-DD69-1914832D2E8E}"/>
              </a:ext>
            </a:extLst>
          </p:cNvPr>
          <p:cNvSpPr/>
          <p:nvPr/>
        </p:nvSpPr>
        <p:spPr>
          <a:xfrm>
            <a:off x="4044382" y="4462949"/>
            <a:ext cx="364671" cy="160487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3772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A6340-1B85-4079-EB29-AA407163F51F}"/>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7C2D297F-E9E4-8BEF-5527-1B26758A2FCC}"/>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Partial derivatives </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7" name="Text Box 8">
                <a:extLst>
                  <a:ext uri="{FF2B5EF4-FFF2-40B4-BE49-F238E27FC236}">
                    <a16:creationId xmlns:a16="http://schemas.microsoft.com/office/drawing/2014/main" id="{A239921B-8265-0EE9-99C1-1EF16FE1331F}"/>
                  </a:ext>
                </a:extLst>
              </p:cNvPr>
              <p:cNvSpPr txBox="1">
                <a:spLocks noChangeArrowheads="1"/>
              </p:cNvSpPr>
              <p:nvPr/>
            </p:nvSpPr>
            <p:spPr bwMode="auto">
              <a:xfrm>
                <a:off x="710293" y="2019120"/>
                <a:ext cx="8030937" cy="380777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14:m>
                  <m:oMath xmlns:m="http://schemas.openxmlformats.org/officeDocument/2006/math">
                    <m:f>
                      <m:fPr>
                        <m:ctrlPr>
                          <a:rPr lang="zh-CN" altLang="en-US" sz="2400" i="1" smtClean="0">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𝑓</m:t>
                        </m:r>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den>
                    </m:f>
                    <m:r>
                      <a:rPr lang="zh-CN" altLang="en-US" sz="2400" i="1">
                        <a:solidFill>
                          <a:srgbClr val="000000"/>
                        </a:solidFill>
                        <a:latin typeface="Cambria Math" panose="02040503050406030204" pitchFamily="18" charset="0"/>
                      </a:rPr>
                      <m:t> </m:t>
                    </m:r>
                  </m:oMath>
                </a14:m>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This is called a partial derivative (</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偏导</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14:m>
                  <m:oMath xmlns:m="http://schemas.openxmlformats.org/officeDocument/2006/math">
                    <m:f>
                      <m:fPr>
                        <m:ctrlPr>
                          <a:rPr lang="zh-CN" altLang="en-US" sz="2400" i="1" smtClean="0">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a:latin typeface="Cambria Math" panose="02040503050406030204" pitchFamily="18" charset="0"/>
                              </a:rPr>
                              <m:t>𝜕</m:t>
                            </m:r>
                          </m:e>
                          <m:sup>
                            <m:r>
                              <a:rPr lang="zh-CN" altLang="en-US" sz="2400" i="0">
                                <a:latin typeface="Cambria Math" panose="02040503050406030204" pitchFamily="18" charset="0"/>
                              </a:rPr>
                              <m:t>2</m:t>
                            </m:r>
                          </m:sup>
                        </m:sSup>
                        <m:r>
                          <a:rPr lang="zh-CN" altLang="en-US" sz="2400" i="1">
                            <a:latin typeface="Cambria Math" panose="02040503050406030204" pitchFamily="18" charset="0"/>
                          </a:rPr>
                          <m:t>𝐸</m:t>
                        </m:r>
                      </m:num>
                      <m:den>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den>
                    </m:f>
                    <m:r>
                      <a:rPr lang="zh-CN" altLang="en-US" sz="2400" i="1">
                        <a:latin typeface="Cambria Math" panose="02040503050406030204" pitchFamily="18" charset="0"/>
                      </a:rPr>
                      <m:t> </m:t>
                    </m:r>
                  </m:oMath>
                </a14:m>
                <a:r>
                  <a:rPr kumimoji="0" lang="en-US" altLang="en-US" sz="2400" b="0" i="0" u="none" strike="noStrike" kern="1200" cap="none" spc="0" normalizeH="0" baseline="0" noProof="0" dirty="0">
                    <a:ln>
                      <a:noFill/>
                    </a:ln>
                    <a:solidFill>
                      <a:srgbClr val="000000"/>
                    </a:solidFill>
                    <a:effectLst/>
                    <a:uLnTx/>
                    <a:uFillTx/>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Second partial derivatives </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二阶偏导数</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This d-like character has been around for two hundred years, but, strangely, it has no actual name, so we just say, “the partial derivative of f with respect to x or 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Tha</a:t>
                </a:r>
                <a:r>
                  <a:rPr lang="en-US" altLang="en-US" dirty="0">
                    <a:solidFill>
                      <a:srgbClr val="000000"/>
                    </a:solidFill>
                  </a:rPr>
                  <a:t>t is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 mouthful</a:t>
                </a:r>
                <a:r>
                  <a:rPr lang="en-US" altLang="en-US" dirty="0">
                    <a:solidFill>
                      <a:srgbClr val="000000"/>
                    </a:solidFill>
                  </a:rPr>
                  <a:t>, so we can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just call it “d” because it’ll usually be clear from the slide what it means. </a:t>
                </a:r>
              </a:p>
            </p:txBody>
          </p:sp>
        </mc:Choice>
        <mc:Fallback xmlns="">
          <p:sp>
            <p:nvSpPr>
              <p:cNvPr id="37" name="Text Box 8">
                <a:extLst>
                  <a:ext uri="{FF2B5EF4-FFF2-40B4-BE49-F238E27FC236}">
                    <a16:creationId xmlns:a16="http://schemas.microsoft.com/office/drawing/2014/main" id="{A239921B-8265-0EE9-99C1-1EF16FE1331F}"/>
                  </a:ext>
                </a:extLst>
              </p:cNvPr>
              <p:cNvSpPr txBox="1">
                <a:spLocks noRot="1" noChangeAspect="1" noMove="1" noResize="1" noEditPoints="1" noAdjustHandles="1" noChangeArrowheads="1" noChangeShapeType="1" noTextEdit="1"/>
              </p:cNvSpPr>
              <p:nvPr/>
            </p:nvSpPr>
            <p:spPr bwMode="auto">
              <a:xfrm>
                <a:off x="710293" y="2019120"/>
                <a:ext cx="8030937" cy="3807774"/>
              </a:xfrm>
              <a:prstGeom prst="rect">
                <a:avLst/>
              </a:prstGeom>
              <a:blipFill>
                <a:blip r:embed="rId3"/>
                <a:stretch>
                  <a:fillRect l="-835" r="-759" b="-19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Object 4">
                <a:extLst>
                  <a:ext uri="{FF2B5EF4-FFF2-40B4-BE49-F238E27FC236}">
                    <a16:creationId xmlns:a16="http://schemas.microsoft.com/office/drawing/2014/main" id="{D14FC27C-DF30-FC7D-C9B2-6EE8D18B123B}"/>
                  </a:ext>
                </a:extLst>
              </p:cNvPr>
              <p:cNvSpPr txBox="1"/>
              <p:nvPr/>
            </p:nvSpPr>
            <p:spPr bwMode="auto">
              <a:xfrm>
                <a:off x="4829175" y="1049338"/>
                <a:ext cx="2104285" cy="8064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𝑥</m:t>
                          </m:r>
                        </m:den>
                      </m:f>
                      <m:r>
                        <a:rPr lang="zh-CN" altLang="en-US" sz="2000" i="1">
                          <a:solidFill>
                            <a:srgbClr val="000000"/>
                          </a:solidFill>
                          <a:latin typeface="Cambria Math" panose="02040503050406030204" pitchFamily="18" charset="0"/>
                        </a:rPr>
                        <m:t>  =  </m:t>
                      </m:r>
                      <m:r>
                        <a:rPr lang="zh-CN" altLang="en-US" sz="2000" i="1">
                          <a:solidFill>
                            <a:srgbClr val="000000"/>
                          </a:solidFill>
                          <a:latin typeface="Cambria Math" panose="02040503050406030204" pitchFamily="18" charset="0"/>
                        </a:rPr>
                        <m:t>𝑎</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r>
                            <a:rPr lang="zh-CN" altLang="en-US" sz="2000" i="1">
                              <a:solidFill>
                                <a:srgbClr val="000000"/>
                              </a:solidFill>
                              <a:latin typeface="Cambria Math" panose="02040503050406030204" pitchFamily="18" charset="0"/>
                            </a:rPr>
                            <m:t>𝑎𝑥</m:t>
                          </m:r>
                        </m:sup>
                      </m:sSup>
                      <m:r>
                        <a:rPr lang="zh-CN" altLang="en-US" sz="2000" i="1">
                          <a:solidFill>
                            <a:srgbClr val="000000"/>
                          </a:solidFill>
                          <a:latin typeface="Cambria Math" panose="02040503050406030204" pitchFamily="18" charset="0"/>
                        </a:rPr>
                        <m:t> </m:t>
                      </m:r>
                    </m:oMath>
                  </m:oMathPara>
                </a14:m>
                <a:endParaRPr lang="zh-CN" altLang="en-US" sz="2000" dirty="0"/>
              </a:p>
            </p:txBody>
          </p:sp>
        </mc:Choice>
        <mc:Fallback xmlns="">
          <p:sp>
            <p:nvSpPr>
              <p:cNvPr id="2" name="Object 4">
                <a:extLst>
                  <a:ext uri="{FF2B5EF4-FFF2-40B4-BE49-F238E27FC236}">
                    <a16:creationId xmlns:a16="http://schemas.microsoft.com/office/drawing/2014/main" id="{D14FC27C-DF30-FC7D-C9B2-6EE8D18B123B}"/>
                  </a:ext>
                </a:extLst>
              </p:cNvPr>
              <p:cNvSpPr txBox="1">
                <a:spLocks noRot="1" noChangeAspect="1" noMove="1" noResize="1" noEditPoints="1" noAdjustHandles="1" noChangeArrowheads="1" noChangeShapeType="1" noTextEdit="1"/>
              </p:cNvSpPr>
              <p:nvPr/>
            </p:nvSpPr>
            <p:spPr bwMode="auto">
              <a:xfrm>
                <a:off x="4829175" y="1049338"/>
                <a:ext cx="2104285" cy="806450"/>
              </a:xfrm>
              <a:prstGeom prst="rect">
                <a:avLst/>
              </a:prstGeom>
              <a:blipFill>
                <a:blip r:embed="rId4"/>
                <a:stretch>
                  <a:fillRect/>
                </a:stretch>
              </a:blipFill>
              <a:ln>
                <a:noFill/>
              </a:ln>
            </p:spPr>
            <p:txBody>
              <a:bodyPr/>
              <a:lstStyle/>
              <a:p>
                <a:r>
                  <a:rPr lang="zh-CN" altLang="en-US">
                    <a:noFill/>
                  </a:rPr>
                  <a:t> </a:t>
                </a:r>
              </a:p>
            </p:txBody>
          </p:sp>
        </mc:Fallback>
      </mc:AlternateContent>
      <p:sp>
        <p:nvSpPr>
          <p:cNvPr id="3" name="TextBox 8">
            <a:extLst>
              <a:ext uri="{FF2B5EF4-FFF2-40B4-BE49-F238E27FC236}">
                <a16:creationId xmlns:a16="http://schemas.microsoft.com/office/drawing/2014/main" id="{8D8DA4CD-7B13-7FD1-FA76-1CEEDC24BDC3}"/>
              </a:ext>
            </a:extLst>
          </p:cNvPr>
          <p:cNvSpPr txBox="1"/>
          <p:nvPr/>
        </p:nvSpPr>
        <p:spPr bwMode="auto">
          <a:xfrm>
            <a:off x="526653" y="1175597"/>
            <a:ext cx="4492625" cy="430213"/>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For example, if </a:t>
            </a:r>
            <a:r>
              <a:rPr kumimoji="0" lang="en-US" sz="22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f</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x</a:t>
            </a:r>
            <a:r>
              <a:rPr kumimoji="0" lang="en-US" sz="22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t</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200" b="0" i="0" u="none" strike="noStrike" kern="1200" cap="none" spc="0" normalizeH="0" baseline="0" noProof="0" dirty="0">
                <a:ln>
                  <a:noFill/>
                </a:ln>
                <a:solidFill>
                  <a:srgbClr val="000000"/>
                </a:solidFill>
                <a:effectLst/>
                <a:uLnTx/>
                <a:uFillTx/>
                <a:latin typeface="Arial"/>
                <a:ea typeface="+mn-ea"/>
                <a:cs typeface="Times New Roman" panose="02020603050405020304" pitchFamily="18" charset="0"/>
              </a:rPr>
              <a:t> </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en-US" sz="2200" b="0" i="1" u="none" strike="noStrike" kern="1200" cap="none" spc="0" normalizeH="0" baseline="3000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ax</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en-US" sz="2200" b="0" i="1" u="none" strike="noStrike" kern="1200" cap="none" spc="0" normalizeH="0" baseline="3000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bt</a:t>
            </a:r>
            <a:r>
              <a:rPr kumimoji="0" lang="en-US" sz="2000" b="0" i="0" u="none" strike="noStrike" kern="1200" cap="none" spc="0" normalizeH="0" baseline="0" noProof="0" dirty="0">
                <a:ln>
                  <a:noFill/>
                </a:ln>
                <a:solidFill>
                  <a:srgbClr val="000000"/>
                </a:solidFill>
                <a:effectLst/>
                <a:uLnTx/>
                <a:uFillTx/>
                <a:latin typeface="Arial"/>
                <a:ea typeface="+mn-ea"/>
                <a:cs typeface="Times New Roman" panose="02020603050405020304" pitchFamily="18" charset="0"/>
              </a:rPr>
              <a:t>, then: </a:t>
            </a:r>
            <a:endParaRPr kumimoji="0" lang="en-US" sz="2000" b="0" i="0" u="none" strike="noStrike" kern="1200" cap="none" spc="0" normalizeH="0" baseline="3000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A59BCE04-4D6D-A98C-FD30-1F384020E812}"/>
                  </a:ext>
                </a:extLst>
              </p:cNvPr>
              <p:cNvSpPr txBox="1"/>
              <p:nvPr/>
            </p:nvSpPr>
            <p:spPr bwMode="auto">
              <a:xfrm>
                <a:off x="7166199" y="1056248"/>
                <a:ext cx="1901599" cy="8064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den>
                      </m:f>
                      <m:r>
                        <a:rPr lang="zh-CN" altLang="en-US" sz="2000" i="1">
                          <a:solidFill>
                            <a:srgbClr val="000000"/>
                          </a:solidFill>
                          <a:latin typeface="Cambria Math" panose="02040503050406030204" pitchFamily="18" charset="0"/>
                        </a:rPr>
                        <m:t>  =  </m:t>
                      </m:r>
                      <m:r>
                        <a:rPr lang="zh-CN" altLang="en-US" sz="2000" i="1">
                          <a:solidFill>
                            <a:srgbClr val="000000"/>
                          </a:solidFill>
                          <a:latin typeface="Cambria Math" panose="02040503050406030204" pitchFamily="18" charset="0"/>
                        </a:rPr>
                        <m:t>𝑏</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r>
                            <a:rPr lang="zh-CN" altLang="en-US" sz="2000" i="1">
                              <a:solidFill>
                                <a:srgbClr val="000000"/>
                              </a:solidFill>
                              <a:latin typeface="Cambria Math" panose="02040503050406030204" pitchFamily="18" charset="0"/>
                            </a:rPr>
                            <m:t>𝑏𝑡</m:t>
                          </m:r>
                        </m:sup>
                      </m:sSup>
                      <m:r>
                        <a:rPr lang="zh-CN" altLang="en-US" sz="2000" i="1">
                          <a:solidFill>
                            <a:srgbClr val="000000"/>
                          </a:solidFill>
                          <a:latin typeface="Cambria Math" panose="02040503050406030204" pitchFamily="18" charset="0"/>
                        </a:rPr>
                        <m:t> </m:t>
                      </m:r>
                    </m:oMath>
                  </m:oMathPara>
                </a14:m>
                <a:endParaRPr lang="zh-CN" altLang="en-US" sz="1400" dirty="0"/>
              </a:p>
            </p:txBody>
          </p:sp>
        </mc:Choice>
        <mc:Fallback xmlns="">
          <p:sp>
            <p:nvSpPr>
              <p:cNvPr id="4" name="Object 4">
                <a:extLst>
                  <a:ext uri="{FF2B5EF4-FFF2-40B4-BE49-F238E27FC236}">
                    <a16:creationId xmlns:a16="http://schemas.microsoft.com/office/drawing/2014/main" id="{A59BCE04-4D6D-A98C-FD30-1F384020E812}"/>
                  </a:ext>
                </a:extLst>
              </p:cNvPr>
              <p:cNvSpPr txBox="1">
                <a:spLocks noRot="1" noChangeAspect="1" noMove="1" noResize="1" noEditPoints="1" noAdjustHandles="1" noChangeArrowheads="1" noChangeShapeType="1" noTextEdit="1"/>
              </p:cNvSpPr>
              <p:nvPr/>
            </p:nvSpPr>
            <p:spPr bwMode="auto">
              <a:xfrm>
                <a:off x="7166199" y="1056248"/>
                <a:ext cx="1901599" cy="806450"/>
              </a:xfrm>
              <a:prstGeom prst="rect">
                <a:avLst/>
              </a:prstGeom>
              <a:blipFill>
                <a:blip r:embed="rId5"/>
                <a:stretch>
                  <a:fillRect/>
                </a:stretch>
              </a:blipFill>
              <a:ln>
                <a:noFill/>
              </a:ln>
            </p:spPr>
            <p:txBody>
              <a:bodyPr/>
              <a:lstStyle/>
              <a:p>
                <a:r>
                  <a:rPr lang="zh-CN" altLang="en-US">
                    <a:noFill/>
                  </a:rPr>
                  <a:t> </a:t>
                </a:r>
              </a:p>
            </p:txBody>
          </p:sp>
        </mc:Fallback>
      </mc:AlternateContent>
      <p:sp>
        <p:nvSpPr>
          <p:cNvPr id="9" name="Rectangle 13">
            <a:extLst>
              <a:ext uri="{FF2B5EF4-FFF2-40B4-BE49-F238E27FC236}">
                <a16:creationId xmlns:a16="http://schemas.microsoft.com/office/drawing/2014/main" id="{531B7006-6B49-8DA0-7821-A9F1F5F77292}"/>
              </a:ext>
            </a:extLst>
          </p:cNvPr>
          <p:cNvSpPr>
            <a:spLocks noChangeArrowheads="1"/>
          </p:cNvSpPr>
          <p:nvPr/>
        </p:nvSpPr>
        <p:spPr bwMode="auto">
          <a:xfrm>
            <a:off x="6627072" y="1205760"/>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Times New Roman" panose="02020603050405020304" pitchFamily="18" charset="0"/>
              </a:rPr>
              <a:t>and</a:t>
            </a:r>
            <a:endParaRPr kumimoji="0" lang="en-US"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82667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2599E-EBF4-E323-8CEA-77B5D4C94F7B}"/>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261ED4C6-92E3-E7DE-4F13-8910B981870F}"/>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General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0" name="图片 9">
            <a:extLst>
              <a:ext uri="{FF2B5EF4-FFF2-40B4-BE49-F238E27FC236}">
                <a16:creationId xmlns:a16="http://schemas.microsoft.com/office/drawing/2014/main" id="{6FA69CE6-E6C0-C8D4-A88A-F17BB63A7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3899" y="840423"/>
            <a:ext cx="4874986" cy="999547"/>
          </a:xfrm>
          <a:prstGeom prst="rect">
            <a:avLst/>
          </a:prstGeom>
        </p:spPr>
      </p:pic>
      <p:sp>
        <p:nvSpPr>
          <p:cNvPr id="11" name="Text Box 20">
            <a:extLst>
              <a:ext uri="{FF2B5EF4-FFF2-40B4-BE49-F238E27FC236}">
                <a16:creationId xmlns:a16="http://schemas.microsoft.com/office/drawing/2014/main" id="{F6622F6D-F0AF-140C-08BF-677C94B07843}"/>
              </a:ext>
            </a:extLst>
          </p:cNvPr>
          <p:cNvSpPr txBox="1">
            <a:spLocks noChangeArrowheads="1"/>
          </p:cNvSpPr>
          <p:nvPr/>
        </p:nvSpPr>
        <p:spPr bwMode="auto">
          <a:xfrm>
            <a:off x="4742513" y="1804976"/>
            <a:ext cx="492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1" u="none" strike="noStrike" kern="1200" cap="none" spc="0" normalizeH="0" baseline="0" noProof="0" dirty="0">
                <a:ln>
                  <a:noFill/>
                </a:ln>
                <a:solidFill>
                  <a:srgbClr val="000000"/>
                </a:solidFill>
                <a:effectLst/>
                <a:uLnTx/>
                <a:uFillTx/>
                <a:latin typeface="+mn-lt"/>
                <a:ea typeface="+mn-ea"/>
                <a:cs typeface="+mn-cs"/>
              </a:rPr>
              <a:t>x</a:t>
            </a:r>
          </a:p>
        </p:txBody>
      </p:sp>
      <p:sp>
        <p:nvSpPr>
          <p:cNvPr id="12" name="Text Box 22">
            <a:extLst>
              <a:ext uri="{FF2B5EF4-FFF2-40B4-BE49-F238E27FC236}">
                <a16:creationId xmlns:a16="http://schemas.microsoft.com/office/drawing/2014/main" id="{CCD3D76A-3CB2-E1F6-6DA1-08200079CA60}"/>
              </a:ext>
            </a:extLst>
          </p:cNvPr>
          <p:cNvSpPr txBox="1">
            <a:spLocks noChangeArrowheads="1"/>
          </p:cNvSpPr>
          <p:nvPr/>
        </p:nvSpPr>
        <p:spPr bwMode="auto">
          <a:xfrm>
            <a:off x="1970998" y="1057599"/>
            <a:ext cx="492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1" u="none" strike="noStrike" kern="1200" cap="none" spc="0" normalizeH="0" baseline="0" noProof="0" dirty="0">
                <a:ln>
                  <a:noFill/>
                </a:ln>
                <a:solidFill>
                  <a:srgbClr val="000000"/>
                </a:solidFill>
                <a:effectLst/>
                <a:uLnTx/>
                <a:uFillTx/>
                <a:latin typeface="+mn-lt"/>
                <a:ea typeface="+mn-ea"/>
                <a:cs typeface="+mn-cs"/>
              </a:rPr>
              <a:t>f</a:t>
            </a:r>
          </a:p>
        </p:txBody>
      </p:sp>
      <p:cxnSp>
        <p:nvCxnSpPr>
          <p:cNvPr id="14" name="直接箭头连接符 13">
            <a:extLst>
              <a:ext uri="{FF2B5EF4-FFF2-40B4-BE49-F238E27FC236}">
                <a16:creationId xmlns:a16="http://schemas.microsoft.com/office/drawing/2014/main" id="{DEDA0DA7-6290-7F54-7CB6-9E041EB5FF3D}"/>
              </a:ext>
            </a:extLst>
          </p:cNvPr>
          <p:cNvCxnSpPr/>
          <p:nvPr/>
        </p:nvCxnSpPr>
        <p:spPr>
          <a:xfrm>
            <a:off x="2859285" y="1778457"/>
            <a:ext cx="44196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F16378F8-8BFC-2A43-3EEF-6B8385F3AF4B}"/>
              </a:ext>
            </a:extLst>
          </p:cNvPr>
          <p:cNvCxnSpPr>
            <a:cxnSpLocks/>
          </p:cNvCxnSpPr>
          <p:nvPr/>
        </p:nvCxnSpPr>
        <p:spPr>
          <a:xfrm flipV="1">
            <a:off x="2331328" y="840423"/>
            <a:ext cx="0" cy="8960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 Box 17">
            <a:extLst>
              <a:ext uri="{FF2B5EF4-FFF2-40B4-BE49-F238E27FC236}">
                <a16:creationId xmlns:a16="http://schemas.microsoft.com/office/drawing/2014/main" id="{9A947DFC-18B1-06F2-63D3-DDA8424E5068}"/>
              </a:ext>
            </a:extLst>
          </p:cNvPr>
          <p:cNvSpPr txBox="1">
            <a:spLocks noChangeArrowheads="1"/>
          </p:cNvSpPr>
          <p:nvPr/>
        </p:nvSpPr>
        <p:spPr bwMode="auto">
          <a:xfrm>
            <a:off x="438149" y="2195925"/>
            <a:ext cx="697374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 guitar string wants to be straight; the restoring force is proportional to how much it’s stretched </a:t>
            </a:r>
            <a:r>
              <a:rPr kumimoji="0" lang="en-US" altLang="zh-CN"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or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curvature: </a:t>
            </a:r>
          </a:p>
        </p:txBody>
      </p:sp>
      <mc:AlternateContent xmlns:mc="http://schemas.openxmlformats.org/markup-compatibility/2006" xmlns:a14="http://schemas.microsoft.com/office/drawing/2010/main">
        <mc:Choice Requires="a14">
          <p:sp>
            <p:nvSpPr>
              <p:cNvPr id="19" name="Object 15">
                <a:extLst>
                  <a:ext uri="{FF2B5EF4-FFF2-40B4-BE49-F238E27FC236}">
                    <a16:creationId xmlns:a16="http://schemas.microsoft.com/office/drawing/2014/main" id="{44443162-6F55-BBF8-DD5A-0FDD32428774}"/>
                  </a:ext>
                </a:extLst>
              </p:cNvPr>
              <p:cNvSpPr txBox="1"/>
              <p:nvPr/>
            </p:nvSpPr>
            <p:spPr bwMode="auto">
              <a:xfrm>
                <a:off x="7091525" y="2104622"/>
                <a:ext cx="1627931" cy="89512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altLang="zh-CN" sz="2000" b="0" i="1" smtClean="0">
                          <a:solidFill>
                            <a:srgbClr val="000000"/>
                          </a:solidFill>
                          <a:latin typeface="Cambria Math" panose="02040503050406030204" pitchFamily="18" charset="0"/>
                        </a:rPr>
                        <m:t>𝐹</m:t>
                      </m:r>
                      <m:r>
                        <a:rPr lang="en-US" altLang="zh-CN" sz="2000" b="0" i="1" smtClean="0">
                          <a:solidFill>
                            <a:srgbClr val="000000"/>
                          </a:solidFill>
                          <a:latin typeface="Cambria Math" panose="02040503050406030204" pitchFamily="18" charset="0"/>
                        </a:rPr>
                        <m:t>=</m:t>
                      </m:r>
                      <m:r>
                        <a:rPr lang="zh-CN" altLang="en-US" sz="2000" b="0" i="1">
                          <a:solidFill>
                            <a:srgbClr val="000000"/>
                          </a:solidFill>
                          <a:latin typeface="Cambria Math" panose="02040503050406030204" pitchFamily="18" charset="0"/>
                        </a:rPr>
                        <m:t>𝛾</m:t>
                      </m:r>
                      <m:r>
                        <a:rPr lang="zh-CN" altLang="en-US" sz="2000" b="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m:t>
                              </m:r>
                            </m:e>
                            <m:sup>
                              <m:r>
                                <a:rPr lang="zh-CN" altLang="en-US" sz="2000" b="0" i="1">
                                  <a:solidFill>
                                    <a:srgbClr val="000000"/>
                                  </a:solidFill>
                                  <a:latin typeface="Cambria Math" panose="02040503050406030204" pitchFamily="18" charset="0"/>
                                </a:rPr>
                                <m:t>2</m:t>
                              </m:r>
                            </m:sup>
                          </m:sSup>
                          <m:r>
                            <a:rPr lang="zh-CN" altLang="en-US" sz="2000" b="0" i="1">
                              <a:solidFill>
                                <a:srgbClr val="000000"/>
                              </a:solidFill>
                              <a:latin typeface="Cambria Math" panose="02040503050406030204" pitchFamily="18" charset="0"/>
                            </a:rPr>
                            <m:t>𝑓</m:t>
                          </m:r>
                        </m:num>
                        <m:den>
                          <m:r>
                            <a:rPr lang="zh-CN" altLang="en-US" sz="2000" b="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𝑥</m:t>
                              </m:r>
                            </m:e>
                            <m:sup>
                              <m:r>
                                <a:rPr lang="zh-CN" altLang="en-US" sz="2000" b="0" i="1">
                                  <a:solidFill>
                                    <a:srgbClr val="000000"/>
                                  </a:solidFill>
                                  <a:latin typeface="Cambria Math" panose="02040503050406030204" pitchFamily="18" charset="0"/>
                                </a:rPr>
                                <m:t>2</m:t>
                              </m:r>
                            </m:sup>
                          </m:sSup>
                        </m:den>
                      </m:f>
                    </m:oMath>
                  </m:oMathPara>
                </a14:m>
                <a:endParaRPr lang="zh-CN" altLang="en-US" sz="2000" dirty="0"/>
              </a:p>
            </p:txBody>
          </p:sp>
        </mc:Choice>
        <mc:Fallback xmlns="">
          <p:sp>
            <p:nvSpPr>
              <p:cNvPr id="19" name="Object 15">
                <a:extLst>
                  <a:ext uri="{FF2B5EF4-FFF2-40B4-BE49-F238E27FC236}">
                    <a16:creationId xmlns:a16="http://schemas.microsoft.com/office/drawing/2014/main" id="{44443162-6F55-BBF8-DD5A-0FDD32428774}"/>
                  </a:ext>
                </a:extLst>
              </p:cNvPr>
              <p:cNvSpPr txBox="1">
                <a:spLocks noRot="1" noChangeAspect="1" noMove="1" noResize="1" noEditPoints="1" noAdjustHandles="1" noChangeArrowheads="1" noChangeShapeType="1" noTextEdit="1"/>
              </p:cNvSpPr>
              <p:nvPr/>
            </p:nvSpPr>
            <p:spPr bwMode="auto">
              <a:xfrm>
                <a:off x="7091525" y="2104622"/>
                <a:ext cx="1627931" cy="895123"/>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22" name="Text Box 24">
            <a:extLst>
              <a:ext uri="{FF2B5EF4-FFF2-40B4-BE49-F238E27FC236}">
                <a16:creationId xmlns:a16="http://schemas.microsoft.com/office/drawing/2014/main" id="{79AE7C03-42B9-DC58-6456-0D12C5DF50DA}"/>
              </a:ext>
            </a:extLst>
          </p:cNvPr>
          <p:cNvSpPr txBox="1">
            <a:spLocks noChangeArrowheads="1"/>
          </p:cNvSpPr>
          <p:nvPr/>
        </p:nvSpPr>
        <p:spPr bwMode="auto">
          <a:xfrm>
            <a:off x="438149" y="3740156"/>
            <a:ext cx="6553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But Newton’s 2</a:t>
            </a:r>
            <a:r>
              <a:rPr kumimoji="0" lang="en-US" altLang="en-US" sz="20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nd</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Law (</a:t>
            </a:r>
            <a:r>
              <a:rPr kumimoji="0" lang="en-US" altLang="en-US" sz="22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Arial" panose="020B0604020202020204" pitchFamily="34" charset="0"/>
              </a:rPr>
              <a:t>F = ma</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says that this equals: </a:t>
            </a:r>
            <a:endPar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mc:AlternateContent xmlns:mc="http://schemas.openxmlformats.org/markup-compatibility/2006" xmlns:a14="http://schemas.microsoft.com/office/drawing/2010/main">
        <mc:Choice Requires="a14">
          <p:sp>
            <p:nvSpPr>
              <p:cNvPr id="23" name="Object 25">
                <a:extLst>
                  <a:ext uri="{FF2B5EF4-FFF2-40B4-BE49-F238E27FC236}">
                    <a16:creationId xmlns:a16="http://schemas.microsoft.com/office/drawing/2014/main" id="{C98FDF12-7886-CF0A-C771-52AEDA57D566}"/>
                  </a:ext>
                </a:extLst>
              </p:cNvPr>
              <p:cNvSpPr txBox="1"/>
              <p:nvPr/>
            </p:nvSpPr>
            <p:spPr bwMode="auto">
              <a:xfrm>
                <a:off x="6891565" y="3545231"/>
                <a:ext cx="1426322" cy="82073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sz="2000" i="1" smtClean="0">
                          <a:solidFill>
                            <a:srgbClr val="000000"/>
                          </a:solidFill>
                          <a:latin typeface="Cambria Math" panose="02040503050406030204" pitchFamily="18" charset="0"/>
                        </a:rPr>
                        <m:t>𝐹</m:t>
                      </m:r>
                      <m:r>
                        <a:rPr lang="en-US" altLang="zh-CN" sz="2000" b="0" i="1" smtClean="0">
                          <a:solidFill>
                            <a:srgbClr val="000000"/>
                          </a:solidFill>
                          <a:latin typeface="Cambria Math" panose="02040503050406030204" pitchFamily="18" charset="0"/>
                        </a:rPr>
                        <m:t>=</m:t>
                      </m:r>
                      <m:r>
                        <a:rPr lang="zh-CN" altLang="en-US" sz="2000" b="0" i="1">
                          <a:solidFill>
                            <a:srgbClr val="000000"/>
                          </a:solidFill>
                          <a:latin typeface="Cambria Math" panose="02040503050406030204" pitchFamily="18" charset="0"/>
                        </a:rPr>
                        <m:t>𝑚</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m:t>
                              </m:r>
                            </m:e>
                            <m:sup>
                              <m:r>
                                <a:rPr lang="zh-CN" altLang="en-US" sz="2000" b="0" i="1">
                                  <a:solidFill>
                                    <a:srgbClr val="000000"/>
                                  </a:solidFill>
                                  <a:latin typeface="Cambria Math" panose="02040503050406030204" pitchFamily="18" charset="0"/>
                                </a:rPr>
                                <m:t>2</m:t>
                              </m:r>
                            </m:sup>
                          </m:sSup>
                          <m:r>
                            <a:rPr lang="zh-CN" altLang="en-US" sz="2000" b="0" i="1">
                              <a:solidFill>
                                <a:srgbClr val="000000"/>
                              </a:solidFill>
                              <a:latin typeface="Cambria Math" panose="02040503050406030204" pitchFamily="18" charset="0"/>
                            </a:rPr>
                            <m:t>𝑓</m:t>
                          </m:r>
                        </m:num>
                        <m:den>
                          <m:r>
                            <a:rPr lang="zh-CN" altLang="en-US" sz="2000" b="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𝑡</m:t>
                              </m:r>
                            </m:e>
                            <m:sup>
                              <m:r>
                                <a:rPr lang="zh-CN" altLang="en-US" sz="2000" b="0" i="1">
                                  <a:solidFill>
                                    <a:srgbClr val="000000"/>
                                  </a:solidFill>
                                  <a:latin typeface="Cambria Math" panose="02040503050406030204" pitchFamily="18" charset="0"/>
                                </a:rPr>
                                <m:t>2</m:t>
                              </m:r>
                            </m:sup>
                          </m:sSup>
                        </m:den>
                      </m:f>
                      <m:r>
                        <a:rPr lang="zh-CN" altLang="en-US" sz="2000" b="0" i="1">
                          <a:solidFill>
                            <a:srgbClr val="000000"/>
                          </a:solidFill>
                          <a:latin typeface="Cambria Math" panose="02040503050406030204" pitchFamily="18" charset="0"/>
                        </a:rPr>
                        <m:t> </m:t>
                      </m:r>
                    </m:oMath>
                  </m:oMathPara>
                </a14:m>
                <a:endParaRPr lang="zh-CN" altLang="en-US" sz="2000" dirty="0"/>
              </a:p>
            </p:txBody>
          </p:sp>
        </mc:Choice>
        <mc:Fallback xmlns="">
          <p:sp>
            <p:nvSpPr>
              <p:cNvPr id="23" name="Object 25">
                <a:extLst>
                  <a:ext uri="{FF2B5EF4-FFF2-40B4-BE49-F238E27FC236}">
                    <a16:creationId xmlns:a16="http://schemas.microsoft.com/office/drawing/2014/main" id="{C98FDF12-7886-CF0A-C771-52AEDA57D566}"/>
                  </a:ext>
                </a:extLst>
              </p:cNvPr>
              <p:cNvSpPr txBox="1">
                <a:spLocks noRot="1" noChangeAspect="1" noMove="1" noResize="1" noEditPoints="1" noAdjustHandles="1" noChangeArrowheads="1" noChangeShapeType="1" noTextEdit="1"/>
              </p:cNvSpPr>
              <p:nvPr/>
            </p:nvSpPr>
            <p:spPr bwMode="auto">
              <a:xfrm>
                <a:off x="6891565" y="3545231"/>
                <a:ext cx="1426322" cy="820738"/>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5326FEB4-1AC7-9C7D-A830-1647F3D03E73}"/>
              </a:ext>
            </a:extLst>
          </p:cNvPr>
          <p:cNvSpPr txBox="1"/>
          <p:nvPr/>
        </p:nvSpPr>
        <p:spPr>
          <a:xfrm>
            <a:off x="438149" y="2911054"/>
            <a:ext cx="7826827" cy="707886"/>
          </a:xfrm>
          <a:prstGeom prst="rect">
            <a:avLst/>
          </a:prstGeom>
          <a:noFill/>
        </p:spPr>
        <p:txBody>
          <a:bodyPr wrap="square">
            <a:spAutoFit/>
          </a:bodyPr>
          <a:lstStyle/>
          <a:p>
            <a:r>
              <a:rPr lang="en-US" altLang="zh-CN" sz="2000" dirty="0"/>
              <a:t>where </a:t>
            </a:r>
            <a:r>
              <a:rPr lang="en-US" altLang="en-US" sz="2000" dirty="0">
                <a:latin typeface="Times New Roman" panose="02020603050405020304" pitchFamily="18" charset="0"/>
                <a:cs typeface="Times New Roman" panose="02020603050405020304" pitchFamily="18" charset="0"/>
              </a:rPr>
              <a:t>γ</a:t>
            </a:r>
            <a:r>
              <a:rPr lang="en-US" altLang="en-US" sz="2000" dirty="0"/>
              <a:t> is constant </a:t>
            </a:r>
            <a:r>
              <a:rPr lang="zh-CN" altLang="en-US" sz="2000" dirty="0"/>
              <a:t>张力</a:t>
            </a:r>
            <a:r>
              <a:rPr lang="en-US" altLang="en-US" sz="2000" dirty="0"/>
              <a:t>, </a:t>
            </a:r>
            <a:r>
              <a:rPr lang="en-US" altLang="zh-CN" sz="2000" dirty="0"/>
              <a:t> </a:t>
            </a:r>
            <a:r>
              <a:rPr lang="en-US" altLang="zh-CN" sz="2000" i="1" dirty="0"/>
              <a:t>f(</a:t>
            </a:r>
            <a:r>
              <a:rPr lang="en-US" altLang="zh-CN" sz="2000" i="1" dirty="0" err="1"/>
              <a:t>x,t</a:t>
            </a:r>
            <a:r>
              <a:rPr lang="en-US" altLang="zh-CN" sz="2000" i="1" dirty="0"/>
              <a:t>)</a:t>
            </a:r>
            <a:r>
              <a:rPr lang="en-US" altLang="zh-CN" sz="2000" dirty="0"/>
              <a:t> is the displacement </a:t>
            </a:r>
            <a:r>
              <a:rPr lang="zh-CN" altLang="en-US" sz="2000" dirty="0"/>
              <a:t>（弦中横向位移）</a:t>
            </a:r>
            <a:r>
              <a:rPr lang="en-US" altLang="zh-CN" sz="2000" dirty="0"/>
              <a:t>from straight at the point </a:t>
            </a:r>
            <a:r>
              <a:rPr lang="en-US" altLang="zh-CN" sz="2000" i="1" dirty="0"/>
              <a:t>x</a:t>
            </a:r>
            <a:r>
              <a:rPr lang="en-US" altLang="zh-CN" sz="2000" dirty="0"/>
              <a:t> at time </a:t>
            </a:r>
            <a:r>
              <a:rPr lang="en-US" altLang="zh-CN" sz="2000" i="1" dirty="0"/>
              <a:t>t</a:t>
            </a:r>
            <a:r>
              <a:rPr lang="en-US" altLang="zh-CN" sz="2000" dirty="0"/>
              <a:t>. f</a:t>
            </a:r>
            <a:endParaRPr lang="zh-CN" altLang="en-US" sz="2000" dirty="0"/>
          </a:p>
        </p:txBody>
      </p:sp>
      <mc:AlternateContent xmlns:mc="http://schemas.openxmlformats.org/markup-compatibility/2006" xmlns:a14="http://schemas.microsoft.com/office/drawing/2010/main">
        <mc:Choice Requires="a14">
          <p:sp>
            <p:nvSpPr>
              <p:cNvPr id="30" name="Object 4">
                <a:extLst>
                  <a:ext uri="{FF2B5EF4-FFF2-40B4-BE49-F238E27FC236}">
                    <a16:creationId xmlns:a16="http://schemas.microsoft.com/office/drawing/2014/main" id="{9B4FBCFC-3C40-6365-C60A-67AD784A047D}"/>
                  </a:ext>
                </a:extLst>
              </p:cNvPr>
              <p:cNvSpPr txBox="1"/>
              <p:nvPr/>
            </p:nvSpPr>
            <p:spPr bwMode="auto">
              <a:xfrm>
                <a:off x="2982913" y="4487863"/>
                <a:ext cx="3058658" cy="830262"/>
              </a:xfrm>
              <a:prstGeom prst="rect">
                <a:avLst/>
              </a:prstGeom>
              <a:solidFill>
                <a:schemeClr val="bg1"/>
              </a:solidFill>
              <a:ln w="38100">
                <a:solidFill>
                  <a:srgbClr val="C00000"/>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𝑥</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  −  </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sSup>
                            <m:sSupPr>
                              <m:ctrlPr>
                                <a:rPr lang="zh-CN" altLang="en-US" sz="2000" i="1">
                                  <a:solidFill>
                                    <a:srgbClr val="000000"/>
                                  </a:solidFill>
                                  <a:latin typeface="Cambria Math" panose="02040503050406030204" pitchFamily="18" charset="0"/>
                                </a:rPr>
                              </m:ctrlPr>
                            </m:sSupPr>
                            <m:e>
                              <m:r>
                                <m:rPr>
                                  <m:sty m:val="p"/>
                                </m:rPr>
                                <a:rPr lang="zh-CN" altLang="en-US" sz="2000" i="1">
                                  <a:solidFill>
                                    <a:srgbClr val="000000"/>
                                  </a:solidFill>
                                  <a:latin typeface="Cambria Math" panose="02040503050406030204" pitchFamily="18" charset="0"/>
                                </a:rPr>
                                <m:t>v</m:t>
                              </m:r>
                            </m:e>
                            <m:sup>
                              <m:r>
                                <a:rPr lang="zh-CN" altLang="en-US" sz="2000" i="1">
                                  <a:solidFill>
                                    <a:srgbClr val="000000"/>
                                  </a:solidFill>
                                  <a:latin typeface="Cambria Math" panose="02040503050406030204" pitchFamily="18" charset="0"/>
                                </a:rPr>
                                <m:t>2</m:t>
                              </m:r>
                            </m:sup>
                          </m:sSup>
                        </m:den>
                      </m:f>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𝑡</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  =  0 </m:t>
                      </m:r>
                    </m:oMath>
                  </m:oMathPara>
                </a14:m>
                <a:endParaRPr lang="zh-CN" altLang="en-US" sz="2000" dirty="0"/>
              </a:p>
            </p:txBody>
          </p:sp>
        </mc:Choice>
        <mc:Fallback xmlns="">
          <p:sp>
            <p:nvSpPr>
              <p:cNvPr id="30" name="Object 4">
                <a:extLst>
                  <a:ext uri="{FF2B5EF4-FFF2-40B4-BE49-F238E27FC236}">
                    <a16:creationId xmlns:a16="http://schemas.microsoft.com/office/drawing/2014/main" id="{9B4FBCFC-3C40-6365-C60A-67AD784A047D}"/>
                  </a:ext>
                </a:extLst>
              </p:cNvPr>
              <p:cNvSpPr txBox="1">
                <a:spLocks noRot="1" noChangeAspect="1" noMove="1" noResize="1" noEditPoints="1" noAdjustHandles="1" noChangeArrowheads="1" noChangeShapeType="1" noTextEdit="1"/>
              </p:cNvSpPr>
              <p:nvPr/>
            </p:nvSpPr>
            <p:spPr bwMode="auto">
              <a:xfrm>
                <a:off x="2982913" y="4487863"/>
                <a:ext cx="3058658" cy="830262"/>
              </a:xfrm>
              <a:prstGeom prst="rect">
                <a:avLst/>
              </a:prstGeom>
              <a:blipFill>
                <a:blip r:embed="rId7"/>
                <a:stretch>
                  <a:fillRect/>
                </a:stretch>
              </a:blipFill>
              <a:ln w="38100">
                <a:solidFill>
                  <a:srgbClr val="C00000"/>
                </a:solidFill>
                <a:miter lim="800000"/>
                <a:headEnd/>
                <a:tailEnd/>
              </a:ln>
              <a:effectLst/>
            </p:spPr>
            <p:txBody>
              <a:bodyPr/>
              <a:lstStyle/>
              <a:p>
                <a:r>
                  <a:rPr lang="zh-CN" altLang="en-US">
                    <a:noFill/>
                  </a:rPr>
                  <a:t> </a:t>
                </a:r>
              </a:p>
            </p:txBody>
          </p:sp>
        </mc:Fallback>
      </mc:AlternateContent>
      <p:sp>
        <p:nvSpPr>
          <p:cNvPr id="31" name="Text Box 26">
            <a:extLst>
              <a:ext uri="{FF2B5EF4-FFF2-40B4-BE49-F238E27FC236}">
                <a16:creationId xmlns:a16="http://schemas.microsoft.com/office/drawing/2014/main" id="{CEE086B6-5493-E17B-775C-88462DDCF70B}"/>
              </a:ext>
            </a:extLst>
          </p:cNvPr>
          <p:cNvSpPr txBox="1">
            <a:spLocks noChangeArrowheads="1"/>
          </p:cNvSpPr>
          <p:nvPr/>
        </p:nvSpPr>
        <p:spPr bwMode="auto">
          <a:xfrm>
            <a:off x="438149" y="4658250"/>
            <a:ext cx="26733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Setting them equal:</a:t>
            </a:r>
            <a:endPar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graphicFrame>
        <p:nvGraphicFramePr>
          <p:cNvPr id="32" name="Object 27">
            <a:extLst>
              <a:ext uri="{FF2B5EF4-FFF2-40B4-BE49-F238E27FC236}">
                <a16:creationId xmlns:a16="http://schemas.microsoft.com/office/drawing/2014/main" id="{54F84D46-85E9-99A1-1BEC-B7A03270A4EF}"/>
              </a:ext>
            </a:extLst>
          </p:cNvPr>
          <p:cNvGraphicFramePr>
            <a:graphicFrameLocks noChangeAspect="1"/>
          </p:cNvGraphicFramePr>
          <p:nvPr/>
        </p:nvGraphicFramePr>
        <p:xfrm>
          <a:off x="7048947" y="4629118"/>
          <a:ext cx="1357312" cy="503237"/>
        </p:xfrm>
        <a:graphic>
          <a:graphicData uri="http://schemas.openxmlformats.org/presentationml/2006/ole">
            <mc:AlternateContent xmlns:mc="http://schemas.openxmlformats.org/markup-compatibility/2006">
              <mc:Choice xmlns:v="urn:schemas-microsoft-com:vml" Requires="v">
                <p:oleObj name="Equation" r:id="rId8" imgW="685800" imgH="254000" progId="Equation.DSMT4">
                  <p:embed/>
                </p:oleObj>
              </mc:Choice>
              <mc:Fallback>
                <p:oleObj name="Equation" r:id="rId8" imgW="685800" imgH="254000" progId="Equation.DSMT4">
                  <p:embed/>
                  <p:pic>
                    <p:nvPicPr>
                      <p:cNvPr id="32" name="Object 27">
                        <a:extLst>
                          <a:ext uri="{FF2B5EF4-FFF2-40B4-BE49-F238E27FC236}">
                            <a16:creationId xmlns:a16="http://schemas.microsoft.com/office/drawing/2014/main" id="{54F84D46-85E9-99A1-1BEC-B7A03270A4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48947" y="4629118"/>
                        <a:ext cx="1357312" cy="5032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66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 name="Text Box 26">
            <a:extLst>
              <a:ext uri="{FF2B5EF4-FFF2-40B4-BE49-F238E27FC236}">
                <a16:creationId xmlns:a16="http://schemas.microsoft.com/office/drawing/2014/main" id="{47A4850B-2B22-5E90-4EE8-104E39584743}"/>
              </a:ext>
            </a:extLst>
          </p:cNvPr>
          <p:cNvSpPr txBox="1">
            <a:spLocks noChangeArrowheads="1"/>
          </p:cNvSpPr>
          <p:nvPr/>
        </p:nvSpPr>
        <p:spPr bwMode="auto">
          <a:xfrm>
            <a:off x="6041571" y="4703226"/>
            <a:ext cx="10499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where:</a:t>
            </a:r>
            <a:endPar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7" name="Text Box 8">
            <a:extLst>
              <a:ext uri="{FF2B5EF4-FFF2-40B4-BE49-F238E27FC236}">
                <a16:creationId xmlns:a16="http://schemas.microsoft.com/office/drawing/2014/main" id="{424380C1-07BA-902F-4030-51A7EC5B7680}"/>
              </a:ext>
            </a:extLst>
          </p:cNvPr>
          <p:cNvSpPr txBox="1">
            <a:spLocks noChangeArrowheads="1"/>
          </p:cNvSpPr>
          <p:nvPr/>
        </p:nvSpPr>
        <p:spPr bwMode="auto">
          <a:xfrm>
            <a:off x="438149" y="5533488"/>
            <a:ext cx="803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Waves are a solution to this equation.  And </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v</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is the wave’s velocity, also called its phase velocity.</a:t>
            </a:r>
          </a:p>
        </p:txBody>
      </p:sp>
      <p:sp>
        <p:nvSpPr>
          <p:cNvPr id="38" name="矩形 37">
            <a:extLst>
              <a:ext uri="{FF2B5EF4-FFF2-40B4-BE49-F238E27FC236}">
                <a16:creationId xmlns:a16="http://schemas.microsoft.com/office/drawing/2014/main" id="{7C09F9AE-7D3F-15D5-9384-EE1CD9D15A21}"/>
              </a:ext>
            </a:extLst>
          </p:cNvPr>
          <p:cNvSpPr/>
          <p:nvPr/>
        </p:nvSpPr>
        <p:spPr>
          <a:xfrm>
            <a:off x="6991349" y="2064799"/>
            <a:ext cx="1597803" cy="81358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FA726344-ED83-0372-FE2A-3EA56A86A9C0}"/>
              </a:ext>
            </a:extLst>
          </p:cNvPr>
          <p:cNvSpPr/>
          <p:nvPr/>
        </p:nvSpPr>
        <p:spPr>
          <a:xfrm>
            <a:off x="6831239" y="3534188"/>
            <a:ext cx="1575019" cy="81358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19290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23C2-3481-34EC-FA21-C379FE75B2A5}"/>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B00A7BA9-CE1C-1948-24F4-F882E5BE63D0}"/>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Proof that f (x ± </a:t>
            </a:r>
            <a:r>
              <a:rPr lang="en-US" altLang="zh-CN" sz="24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vt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solves the wave equation</a:t>
            </a:r>
          </a:p>
        </p:txBody>
      </p:sp>
      <p:graphicFrame>
        <p:nvGraphicFramePr>
          <p:cNvPr id="3" name="Object 4">
            <a:extLst>
              <a:ext uri="{FF2B5EF4-FFF2-40B4-BE49-F238E27FC236}">
                <a16:creationId xmlns:a16="http://schemas.microsoft.com/office/drawing/2014/main" id="{98DC9217-91C2-EE30-432B-DDF6616338F0}"/>
              </a:ext>
            </a:extLst>
          </p:cNvPr>
          <p:cNvGraphicFramePr>
            <a:graphicFrameLocks noChangeAspect="1"/>
          </p:cNvGraphicFramePr>
          <p:nvPr>
            <p:extLst>
              <p:ext uri="{D42A27DB-BD31-4B8C-83A1-F6EECF244321}">
                <p14:modId xmlns:p14="http://schemas.microsoft.com/office/powerpoint/2010/main" val="95082646"/>
              </p:ext>
            </p:extLst>
          </p:nvPr>
        </p:nvGraphicFramePr>
        <p:xfrm>
          <a:off x="5704257" y="885973"/>
          <a:ext cx="839787" cy="765175"/>
        </p:xfrm>
        <a:graphic>
          <a:graphicData uri="http://schemas.openxmlformats.org/presentationml/2006/ole">
            <mc:AlternateContent xmlns:mc="http://schemas.openxmlformats.org/markup-compatibility/2006">
              <mc:Choice xmlns:v="urn:schemas-microsoft-com:vml" Requires="v">
                <p:oleObj name="Equation" r:id="rId3" imgW="431613" imgH="393529" progId="Equation.DSMT4">
                  <p:embed/>
                </p:oleObj>
              </mc:Choice>
              <mc:Fallback>
                <p:oleObj name="Equation" r:id="rId3" imgW="431613" imgH="393529" progId="Equation.DSMT4">
                  <p:embed/>
                  <p:pic>
                    <p:nvPicPr>
                      <p:cNvPr id="159747" name="Object 4">
                        <a:extLst>
                          <a:ext uri="{FF2B5EF4-FFF2-40B4-BE49-F238E27FC236}">
                            <a16:creationId xmlns:a16="http://schemas.microsoft.com/office/drawing/2014/main" id="{6812A8F0-B694-4C07-A646-5C596DAE23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4257" y="885973"/>
                        <a:ext cx="839787"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5">
            <a:extLst>
              <a:ext uri="{FF2B5EF4-FFF2-40B4-BE49-F238E27FC236}">
                <a16:creationId xmlns:a16="http://schemas.microsoft.com/office/drawing/2014/main" id="{9CFFADAE-5BFC-25B4-2F26-D6CCEB5BA660}"/>
              </a:ext>
            </a:extLst>
          </p:cNvPr>
          <p:cNvGraphicFramePr>
            <a:graphicFrameLocks noChangeAspect="1"/>
          </p:cNvGraphicFramePr>
          <p:nvPr>
            <p:extLst>
              <p:ext uri="{D42A27DB-BD31-4B8C-83A1-F6EECF244321}">
                <p14:modId xmlns:p14="http://schemas.microsoft.com/office/powerpoint/2010/main" val="2362685921"/>
              </p:ext>
            </p:extLst>
          </p:nvPr>
        </p:nvGraphicFramePr>
        <p:xfrm>
          <a:off x="7267944" y="901848"/>
          <a:ext cx="1103313" cy="760412"/>
        </p:xfrm>
        <a:graphic>
          <a:graphicData uri="http://schemas.openxmlformats.org/presentationml/2006/ole">
            <mc:AlternateContent xmlns:mc="http://schemas.openxmlformats.org/markup-compatibility/2006">
              <mc:Choice xmlns:v="urn:schemas-microsoft-com:vml" Requires="v">
                <p:oleObj name="Equation" r:id="rId5" imgW="571252" imgH="393529" progId="Equation.DSMT4">
                  <p:embed/>
                </p:oleObj>
              </mc:Choice>
              <mc:Fallback>
                <p:oleObj name="Equation" r:id="rId5" imgW="571252" imgH="393529" progId="Equation.DSMT4">
                  <p:embed/>
                  <p:pic>
                    <p:nvPicPr>
                      <p:cNvPr id="159748" name="Object 5">
                        <a:extLst>
                          <a:ext uri="{FF2B5EF4-FFF2-40B4-BE49-F238E27FC236}">
                            <a16:creationId xmlns:a16="http://schemas.microsoft.com/office/drawing/2014/main" id="{ED205C97-31FA-428E-AF0F-FCEDD36310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7944" y="901848"/>
                        <a:ext cx="1103313"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6">
            <a:extLst>
              <a:ext uri="{FF2B5EF4-FFF2-40B4-BE49-F238E27FC236}">
                <a16:creationId xmlns:a16="http://schemas.microsoft.com/office/drawing/2014/main" id="{CB36A333-1C45-90EA-8727-51820E9AF661}"/>
              </a:ext>
            </a:extLst>
          </p:cNvPr>
          <p:cNvGraphicFramePr>
            <a:graphicFrameLocks noChangeAspect="1"/>
          </p:cNvGraphicFramePr>
          <p:nvPr>
            <p:extLst>
              <p:ext uri="{D42A27DB-BD31-4B8C-83A1-F6EECF244321}">
                <p14:modId xmlns:p14="http://schemas.microsoft.com/office/powerpoint/2010/main" val="829014835"/>
              </p:ext>
            </p:extLst>
          </p:nvPr>
        </p:nvGraphicFramePr>
        <p:xfrm>
          <a:off x="3089644" y="2133748"/>
          <a:ext cx="1546225" cy="777875"/>
        </p:xfrm>
        <a:graphic>
          <a:graphicData uri="http://schemas.openxmlformats.org/presentationml/2006/ole">
            <mc:AlternateContent xmlns:mc="http://schemas.openxmlformats.org/markup-compatibility/2006">
              <mc:Choice xmlns:v="urn:schemas-microsoft-com:vml" Requires="v">
                <p:oleObj name="Equation" r:id="rId7" imgW="787058" imgH="393529" progId="Equation.DSMT4">
                  <p:embed/>
                </p:oleObj>
              </mc:Choice>
              <mc:Fallback>
                <p:oleObj name="Equation" r:id="rId7" imgW="787058" imgH="393529" progId="Equation.DSMT4">
                  <p:embed/>
                  <p:pic>
                    <p:nvPicPr>
                      <p:cNvPr id="159749" name="Object 6">
                        <a:extLst>
                          <a:ext uri="{FF2B5EF4-FFF2-40B4-BE49-F238E27FC236}">
                            <a16:creationId xmlns:a16="http://schemas.microsoft.com/office/drawing/2014/main" id="{6C4E6C97-843C-4CD4-9E41-C52AF8DF77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9644" y="2133748"/>
                        <a:ext cx="154622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7">
            <a:extLst>
              <a:ext uri="{FF2B5EF4-FFF2-40B4-BE49-F238E27FC236}">
                <a16:creationId xmlns:a16="http://schemas.microsoft.com/office/drawing/2014/main" id="{162DB804-12B0-9032-3C1E-7FD590CA49F5}"/>
              </a:ext>
            </a:extLst>
          </p:cNvPr>
          <p:cNvGraphicFramePr>
            <a:graphicFrameLocks noChangeAspect="1"/>
          </p:cNvGraphicFramePr>
          <p:nvPr>
            <p:extLst>
              <p:ext uri="{D42A27DB-BD31-4B8C-83A1-F6EECF244321}">
                <p14:modId xmlns:p14="http://schemas.microsoft.com/office/powerpoint/2010/main" val="3524901298"/>
              </p:ext>
            </p:extLst>
          </p:nvPr>
        </p:nvGraphicFramePr>
        <p:xfrm>
          <a:off x="5782044" y="2143273"/>
          <a:ext cx="1473200" cy="760412"/>
        </p:xfrm>
        <a:graphic>
          <a:graphicData uri="http://schemas.openxmlformats.org/presentationml/2006/ole">
            <mc:AlternateContent xmlns:mc="http://schemas.openxmlformats.org/markup-compatibility/2006">
              <mc:Choice xmlns:v="urn:schemas-microsoft-com:vml" Requires="v">
                <p:oleObj name="Equation" r:id="rId9" imgW="761669" imgH="393529" progId="Equation.DSMT4">
                  <p:embed/>
                </p:oleObj>
              </mc:Choice>
              <mc:Fallback>
                <p:oleObj name="Equation" r:id="rId9" imgW="761669" imgH="393529" progId="Equation.DSMT4">
                  <p:embed/>
                  <p:pic>
                    <p:nvPicPr>
                      <p:cNvPr id="159750" name="Object 7">
                        <a:extLst>
                          <a:ext uri="{FF2B5EF4-FFF2-40B4-BE49-F238E27FC236}">
                            <a16:creationId xmlns:a16="http://schemas.microsoft.com/office/drawing/2014/main" id="{DC23542A-0AC1-42CF-B8A5-1C22F2ED96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2044" y="2143273"/>
                        <a:ext cx="147320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0">
            <a:extLst>
              <a:ext uri="{FF2B5EF4-FFF2-40B4-BE49-F238E27FC236}">
                <a16:creationId xmlns:a16="http://schemas.microsoft.com/office/drawing/2014/main" id="{7006BF40-6495-8FF9-74A4-B1E6D3CB5523}"/>
              </a:ext>
            </a:extLst>
          </p:cNvPr>
          <p:cNvGraphicFramePr>
            <a:graphicFrameLocks noChangeAspect="1"/>
          </p:cNvGraphicFramePr>
          <p:nvPr>
            <p:extLst>
              <p:ext uri="{D42A27DB-BD31-4B8C-83A1-F6EECF244321}">
                <p14:modId xmlns:p14="http://schemas.microsoft.com/office/powerpoint/2010/main" val="4273139486"/>
              </p:ext>
            </p:extLst>
          </p:nvPr>
        </p:nvGraphicFramePr>
        <p:xfrm>
          <a:off x="6832969" y="3294210"/>
          <a:ext cx="1731963" cy="793750"/>
        </p:xfrm>
        <a:graphic>
          <a:graphicData uri="http://schemas.openxmlformats.org/presentationml/2006/ole">
            <mc:AlternateContent xmlns:mc="http://schemas.openxmlformats.org/markup-compatibility/2006">
              <mc:Choice xmlns:v="urn:schemas-microsoft-com:vml" Requires="v">
                <p:oleObj name="Equation" r:id="rId11" imgW="914400" imgH="419100" progId="Equation.DSMT4">
                  <p:embed/>
                </p:oleObj>
              </mc:Choice>
              <mc:Fallback>
                <p:oleObj name="Equation" r:id="rId11" imgW="914400" imgH="419100" progId="Equation.DSMT4">
                  <p:embed/>
                  <p:pic>
                    <p:nvPicPr>
                      <p:cNvPr id="159751" name="Object 10">
                        <a:extLst>
                          <a:ext uri="{FF2B5EF4-FFF2-40B4-BE49-F238E27FC236}">
                            <a16:creationId xmlns:a16="http://schemas.microsoft.com/office/drawing/2014/main" id="{478F2CD6-09C7-439B-9233-E7060CA5F63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32969" y="3294210"/>
                        <a:ext cx="1731963"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1">
            <a:extLst>
              <a:ext uri="{FF2B5EF4-FFF2-40B4-BE49-F238E27FC236}">
                <a16:creationId xmlns:a16="http://schemas.microsoft.com/office/drawing/2014/main" id="{FD1BAA73-513A-22B7-CC4E-2D1114C83E43}"/>
              </a:ext>
            </a:extLst>
          </p:cNvPr>
          <p:cNvGraphicFramePr>
            <a:graphicFrameLocks noChangeAspect="1"/>
          </p:cNvGraphicFramePr>
          <p:nvPr>
            <p:extLst>
              <p:ext uri="{D42A27DB-BD31-4B8C-83A1-F6EECF244321}">
                <p14:modId xmlns:p14="http://schemas.microsoft.com/office/powerpoint/2010/main" val="2711000805"/>
              </p:ext>
            </p:extLst>
          </p:nvPr>
        </p:nvGraphicFramePr>
        <p:xfrm>
          <a:off x="5074019" y="3300560"/>
          <a:ext cx="1346200" cy="781050"/>
        </p:xfrm>
        <a:graphic>
          <a:graphicData uri="http://schemas.openxmlformats.org/presentationml/2006/ole">
            <mc:AlternateContent xmlns:mc="http://schemas.openxmlformats.org/markup-compatibility/2006">
              <mc:Choice xmlns:v="urn:schemas-microsoft-com:vml" Requires="v">
                <p:oleObj name="Equation" r:id="rId13" imgW="723586" imgH="418918" progId="Equation.DSMT4">
                  <p:embed/>
                </p:oleObj>
              </mc:Choice>
              <mc:Fallback>
                <p:oleObj name="Equation" r:id="rId13" imgW="723586" imgH="418918" progId="Equation.DSMT4">
                  <p:embed/>
                  <p:pic>
                    <p:nvPicPr>
                      <p:cNvPr id="159752" name="Object 11">
                        <a:extLst>
                          <a:ext uri="{FF2B5EF4-FFF2-40B4-BE49-F238E27FC236}">
                            <a16:creationId xmlns:a16="http://schemas.microsoft.com/office/drawing/2014/main" id="{48D95613-C2FC-4725-9406-272F8735AE0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74019" y="3300560"/>
                        <a:ext cx="13462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a:extLst>
              <a:ext uri="{FF2B5EF4-FFF2-40B4-BE49-F238E27FC236}">
                <a16:creationId xmlns:a16="http://schemas.microsoft.com/office/drawing/2014/main" id="{A4F537C0-414C-0B70-C334-85AD05E85B22}"/>
              </a:ext>
            </a:extLst>
          </p:cNvPr>
          <p:cNvSpPr/>
          <p:nvPr/>
        </p:nvSpPr>
        <p:spPr>
          <a:xfrm>
            <a:off x="536944" y="4230835"/>
            <a:ext cx="4230688" cy="552450"/>
          </a:xfrm>
          <a:prstGeom prst="rect">
            <a:avLst/>
          </a:prstGeom>
        </p:spPr>
        <p:txBody>
          <a:bodyPr wrap="none">
            <a:spAutoFit/>
          </a:bodyPr>
          <a:lstStyle/>
          <a:p>
            <a:pPr marL="342900" marR="0" lvl="0" indent="-342900" algn="l" defTabSz="914400" rtl="0" eaLnBrk="1" fontAlgn="base" latinLnBrk="0" hangingPunct="1">
              <a:lnSpc>
                <a:spcPct val="15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Substituting into the wave equation:</a:t>
            </a:r>
            <a:endParaRPr kumimoji="0" lang="en-US" sz="2000" b="0" i="0" u="none" strike="noStrike" kern="0" cap="none" spc="0" normalizeH="0" baseline="0" noProof="0" dirty="0">
              <a:ln>
                <a:noFill/>
              </a:ln>
              <a:solidFill>
                <a:srgbClr val="000000"/>
              </a:solidFill>
              <a:effectLst/>
              <a:uLnTx/>
              <a:uFillTx/>
              <a:latin typeface="Arial"/>
              <a:ea typeface="+mn-ea"/>
              <a:cs typeface="+mn-cs"/>
            </a:endParaRPr>
          </a:p>
        </p:txBody>
      </p:sp>
      <p:sp>
        <p:nvSpPr>
          <p:cNvPr id="16" name="Rectangle 5">
            <a:extLst>
              <a:ext uri="{FF2B5EF4-FFF2-40B4-BE49-F238E27FC236}">
                <a16:creationId xmlns:a16="http://schemas.microsoft.com/office/drawing/2014/main" id="{B32AC24D-FE26-06D0-7F58-020A88EA4D19}"/>
              </a:ext>
            </a:extLst>
          </p:cNvPr>
          <p:cNvSpPr/>
          <p:nvPr/>
        </p:nvSpPr>
        <p:spPr>
          <a:xfrm>
            <a:off x="536944" y="928835"/>
            <a:ext cx="4775200" cy="600075"/>
          </a:xfrm>
          <a:prstGeom prst="rect">
            <a:avLst/>
          </a:prstGeom>
        </p:spPr>
        <p:txBody>
          <a:bodyPr>
            <a:spAutoFit/>
          </a:bodyPr>
          <a:lstStyle/>
          <a:p>
            <a:pPr marL="342900" marR="0" lvl="0" indent="-342900" algn="l" defTabSz="914400" rtl="0" eaLnBrk="1" fontAlgn="base" latinLnBrk="0" hangingPunct="1">
              <a:lnSpc>
                <a:spcPct val="15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Write </a:t>
            </a:r>
            <a:r>
              <a:rPr kumimoji="0" lang="en-US" sz="22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f</a:t>
            </a:r>
            <a:r>
              <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2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x</a:t>
            </a:r>
            <a:r>
              <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2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v</a:t>
            </a:r>
            <a:r>
              <a:rPr kumimoji="0" lang="en-US" sz="22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t</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0" u="none" strike="noStrike" kern="0" cap="none" spc="0" normalizeH="0" baseline="0" noProof="0" dirty="0">
                <a:ln>
                  <a:noFill/>
                </a:ln>
                <a:solidFill>
                  <a:srgbClr val="000000"/>
                </a:solidFill>
                <a:effectLst/>
                <a:uLnTx/>
                <a:uFillTx/>
                <a:latin typeface="Arial"/>
                <a:ea typeface="+mn-ea"/>
                <a:cs typeface="Arial" charset="0"/>
              </a:rPr>
              <a:t> as  </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f</a:t>
            </a:r>
            <a:r>
              <a:rPr kumimoji="0" lang="en-US" sz="12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u</a:t>
            </a: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0" u="none" strike="noStrike" kern="0" cap="none" spc="0" normalizeH="0" baseline="0" noProof="0" dirty="0">
                <a:ln>
                  <a:noFill/>
                </a:ln>
                <a:solidFill>
                  <a:srgbClr val="000000"/>
                </a:solidFill>
                <a:effectLst/>
                <a:uLnTx/>
                <a:uFillTx/>
                <a:latin typeface="Arial"/>
                <a:ea typeface="+mn-ea"/>
                <a:cs typeface="Arial" charset="0"/>
              </a:rPr>
              <a:t>, where </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u = x </a:t>
            </a: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0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v</a:t>
            </a:r>
            <a:r>
              <a:rPr kumimoji="0" lang="en-US" sz="20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t</a:t>
            </a:r>
            <a:r>
              <a:rPr kumimoji="0" lang="en-US" sz="2000" b="0" i="0" u="none" strike="noStrike" kern="0" cap="none" spc="0" normalizeH="0" baseline="0" noProof="0" dirty="0" err="1">
                <a:ln>
                  <a:noFill/>
                </a:ln>
                <a:solidFill>
                  <a:srgbClr val="000000"/>
                </a:solidFill>
                <a:effectLst/>
                <a:uLnTx/>
                <a:uFillTx/>
                <a:latin typeface="Arial"/>
                <a:ea typeface="+mn-ea"/>
                <a:cs typeface="Arial" charset="0"/>
              </a:rPr>
              <a:t>.</a:t>
            </a:r>
            <a:r>
              <a:rPr kumimoji="0" lang="en-US" sz="2000" b="0" i="0" u="none" strike="noStrike" kern="0" cap="none" spc="0" normalizeH="0" baseline="0" noProof="0" dirty="0">
                <a:ln>
                  <a:noFill/>
                </a:ln>
                <a:solidFill>
                  <a:srgbClr val="000000"/>
                </a:solidFill>
                <a:effectLst/>
                <a:uLnTx/>
                <a:uFillTx/>
                <a:latin typeface="Arial"/>
                <a:ea typeface="+mn-ea"/>
                <a:cs typeface="Arial" charset="0"/>
              </a:rPr>
              <a:t> </a:t>
            </a:r>
            <a:endPar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endParaRPr>
          </a:p>
        </p:txBody>
      </p:sp>
      <p:sp>
        <p:nvSpPr>
          <p:cNvPr id="18" name="Rectangle 7">
            <a:extLst>
              <a:ext uri="{FF2B5EF4-FFF2-40B4-BE49-F238E27FC236}">
                <a16:creationId xmlns:a16="http://schemas.microsoft.com/office/drawing/2014/main" id="{CC4DF348-6F3E-64DF-4355-3030898C3A87}"/>
              </a:ext>
            </a:extLst>
          </p:cNvPr>
          <p:cNvSpPr/>
          <p:nvPr/>
        </p:nvSpPr>
        <p:spPr>
          <a:xfrm>
            <a:off x="536944" y="2190898"/>
            <a:ext cx="2489200" cy="498475"/>
          </a:xfrm>
          <a:prstGeom prst="rect">
            <a:avLst/>
          </a:prstGeom>
        </p:spPr>
        <p:txBody>
          <a:bodyPr>
            <a:spAutoFit/>
          </a:bodyPr>
          <a:lstStyle/>
          <a:p>
            <a:pPr marL="342900" marR="0" lvl="0" indent="-342900" algn="l" defTabSz="914400" rtl="0" eaLnBrk="1" fontAlgn="base" latinLnBrk="0" hangingPunct="1">
              <a:lnSpc>
                <a:spcPct val="15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Use the chain rule:          </a:t>
            </a:r>
            <a:endPar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endParaRPr>
          </a:p>
        </p:txBody>
      </p:sp>
      <p:grpSp>
        <p:nvGrpSpPr>
          <p:cNvPr id="20" name="Group 11">
            <a:extLst>
              <a:ext uri="{FF2B5EF4-FFF2-40B4-BE49-F238E27FC236}">
                <a16:creationId xmlns:a16="http://schemas.microsoft.com/office/drawing/2014/main" id="{B9F195BF-F31E-7595-E32F-3EC11915110E}"/>
              </a:ext>
            </a:extLst>
          </p:cNvPr>
          <p:cNvGrpSpPr>
            <a:grpSpLocks/>
          </p:cNvGrpSpPr>
          <p:nvPr/>
        </p:nvGrpSpPr>
        <p:grpSpPr bwMode="auto">
          <a:xfrm>
            <a:off x="4375519" y="1649560"/>
            <a:ext cx="1549400" cy="541338"/>
            <a:chOff x="4295775" y="2032000"/>
            <a:chExt cx="1549400" cy="400050"/>
          </a:xfrm>
        </p:grpSpPr>
        <p:cxnSp>
          <p:nvCxnSpPr>
            <p:cNvPr id="21" name="Straight Connector 8">
              <a:extLst>
                <a:ext uri="{FF2B5EF4-FFF2-40B4-BE49-F238E27FC236}">
                  <a16:creationId xmlns:a16="http://schemas.microsoft.com/office/drawing/2014/main" id="{02F4F83A-767E-0C61-69B4-0CE7147CED88}"/>
                </a:ext>
              </a:extLst>
            </p:cNvPr>
            <p:cNvCxnSpPr>
              <a:cxnSpLocks noChangeShapeType="1"/>
            </p:cNvCxnSpPr>
            <p:nvPr/>
          </p:nvCxnSpPr>
          <p:spPr bwMode="auto">
            <a:xfrm>
              <a:off x="5842000" y="2032000"/>
              <a:ext cx="0" cy="20320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0">
              <a:extLst>
                <a:ext uri="{FF2B5EF4-FFF2-40B4-BE49-F238E27FC236}">
                  <a16:creationId xmlns:a16="http://schemas.microsoft.com/office/drawing/2014/main" id="{F91468F0-3759-5313-8FDD-A02ECB99BB92}"/>
                </a:ext>
              </a:extLst>
            </p:cNvPr>
            <p:cNvCxnSpPr>
              <a:cxnSpLocks noChangeShapeType="1"/>
            </p:cNvCxnSpPr>
            <p:nvPr/>
          </p:nvCxnSpPr>
          <p:spPr bwMode="auto">
            <a:xfrm>
              <a:off x="4295775" y="2228850"/>
              <a:ext cx="154940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3">
              <a:extLst>
                <a:ext uri="{FF2B5EF4-FFF2-40B4-BE49-F238E27FC236}">
                  <a16:creationId xmlns:a16="http://schemas.microsoft.com/office/drawing/2014/main" id="{626A7F08-32C8-1886-4F98-F96E72C78CDB}"/>
                </a:ext>
              </a:extLst>
            </p:cNvPr>
            <p:cNvCxnSpPr>
              <a:cxnSpLocks noChangeShapeType="1"/>
            </p:cNvCxnSpPr>
            <p:nvPr/>
          </p:nvCxnSpPr>
          <p:spPr bwMode="auto">
            <a:xfrm>
              <a:off x="4302125" y="2228850"/>
              <a:ext cx="0" cy="203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 name="Group 25">
            <a:extLst>
              <a:ext uri="{FF2B5EF4-FFF2-40B4-BE49-F238E27FC236}">
                <a16:creationId xmlns:a16="http://schemas.microsoft.com/office/drawing/2014/main" id="{5948BF05-781E-D8F5-1F71-27CE9204CD10}"/>
              </a:ext>
            </a:extLst>
          </p:cNvPr>
          <p:cNvGrpSpPr>
            <a:grpSpLocks/>
          </p:cNvGrpSpPr>
          <p:nvPr/>
        </p:nvGrpSpPr>
        <p:grpSpPr bwMode="auto">
          <a:xfrm>
            <a:off x="7052044" y="1649560"/>
            <a:ext cx="422275" cy="541338"/>
            <a:chOff x="4295775" y="2032000"/>
            <a:chExt cx="1549400" cy="400050"/>
          </a:xfrm>
        </p:grpSpPr>
        <p:cxnSp>
          <p:nvCxnSpPr>
            <p:cNvPr id="27" name="Straight Connector 26">
              <a:extLst>
                <a:ext uri="{FF2B5EF4-FFF2-40B4-BE49-F238E27FC236}">
                  <a16:creationId xmlns:a16="http://schemas.microsoft.com/office/drawing/2014/main" id="{00C08445-06C3-F2A0-2CB2-4EA1B8FDDEDB}"/>
                </a:ext>
              </a:extLst>
            </p:cNvPr>
            <p:cNvCxnSpPr>
              <a:cxnSpLocks noChangeShapeType="1"/>
            </p:cNvCxnSpPr>
            <p:nvPr/>
          </p:nvCxnSpPr>
          <p:spPr bwMode="auto">
            <a:xfrm>
              <a:off x="5842000" y="2032000"/>
              <a:ext cx="0" cy="20320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6BD463E9-65C2-0374-217B-326BD561C95B}"/>
                </a:ext>
              </a:extLst>
            </p:cNvPr>
            <p:cNvCxnSpPr>
              <a:cxnSpLocks noChangeShapeType="1"/>
            </p:cNvCxnSpPr>
            <p:nvPr/>
          </p:nvCxnSpPr>
          <p:spPr bwMode="auto">
            <a:xfrm>
              <a:off x="4295775" y="2228850"/>
              <a:ext cx="154940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28">
              <a:extLst>
                <a:ext uri="{FF2B5EF4-FFF2-40B4-BE49-F238E27FC236}">
                  <a16:creationId xmlns:a16="http://schemas.microsoft.com/office/drawing/2014/main" id="{D5AF6A30-A5D2-0557-A236-D3CC96A96C6F}"/>
                </a:ext>
              </a:extLst>
            </p:cNvPr>
            <p:cNvCxnSpPr>
              <a:cxnSpLocks noChangeShapeType="1"/>
            </p:cNvCxnSpPr>
            <p:nvPr/>
          </p:nvCxnSpPr>
          <p:spPr bwMode="auto">
            <a:xfrm>
              <a:off x="4302125" y="2228850"/>
              <a:ext cx="0" cy="203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6" name="TextBox 12">
            <a:extLst>
              <a:ext uri="{FF2B5EF4-FFF2-40B4-BE49-F238E27FC236}">
                <a16:creationId xmlns:a16="http://schemas.microsoft.com/office/drawing/2014/main" id="{1FCA22D6-1EAA-1B8C-8719-F273DBA0554E}"/>
              </a:ext>
            </a:extLst>
          </p:cNvPr>
          <p:cNvSpPr txBox="1"/>
          <p:nvPr/>
        </p:nvSpPr>
        <p:spPr>
          <a:xfrm>
            <a:off x="536944" y="3300560"/>
            <a:ext cx="4419600" cy="7080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Computing the second derivatives adds another factor of </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u</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a:t>
            </a:r>
            <a:r>
              <a:rPr kumimoji="0" lang="en-US" sz="2000" b="0" i="0" u="none" strike="noStrike" kern="1200" cap="none" spc="0" normalizeH="0" baseline="0" noProof="0" dirty="0">
                <a:ln>
                  <a:noFill/>
                </a:ln>
                <a:solidFill>
                  <a:srgbClr val="000000"/>
                </a:solidFill>
                <a:effectLst/>
                <a:uLnTx/>
                <a:uFillTx/>
                <a:latin typeface="Arial"/>
                <a:ea typeface="+mn-ea"/>
                <a:cs typeface="+mn-cs"/>
              </a:rPr>
              <a:t> or </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u</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a:t>
            </a:r>
            <a:r>
              <a:rPr kumimoji="0" lang="en-US" sz="2000" b="0" i="0" u="none" strike="noStrike" kern="1200" cap="none" spc="0" normalizeH="0" baseline="0" noProof="0" dirty="0">
                <a:ln>
                  <a:noFill/>
                </a:ln>
                <a:solidFill>
                  <a:srgbClr val="000000"/>
                </a:solidFill>
                <a:effectLst/>
                <a:uLnTx/>
                <a:uFillTx/>
                <a:latin typeface="Arial"/>
                <a:ea typeface="+mn-ea"/>
                <a:cs typeface="+mn-cs"/>
              </a:rPr>
              <a:t>:</a:t>
            </a:r>
          </a:p>
        </p:txBody>
      </p:sp>
      <p:graphicFrame>
        <p:nvGraphicFramePr>
          <p:cNvPr id="40" name="Object 2">
            <a:extLst>
              <a:ext uri="{FF2B5EF4-FFF2-40B4-BE49-F238E27FC236}">
                <a16:creationId xmlns:a16="http://schemas.microsoft.com/office/drawing/2014/main" id="{773815BC-C583-4095-DBAF-214D6C52E6D8}"/>
              </a:ext>
            </a:extLst>
          </p:cNvPr>
          <p:cNvGraphicFramePr>
            <a:graphicFrameLocks noChangeAspect="1"/>
          </p:cNvGraphicFramePr>
          <p:nvPr>
            <p:extLst>
              <p:ext uri="{D42A27DB-BD31-4B8C-83A1-F6EECF244321}">
                <p14:modId xmlns:p14="http://schemas.microsoft.com/office/powerpoint/2010/main" val="3506720794"/>
              </p:ext>
            </p:extLst>
          </p:nvPr>
        </p:nvGraphicFramePr>
        <p:xfrm>
          <a:off x="4640632" y="2133748"/>
          <a:ext cx="673100" cy="777875"/>
        </p:xfrm>
        <a:graphic>
          <a:graphicData uri="http://schemas.openxmlformats.org/presentationml/2006/ole">
            <mc:AlternateContent xmlns:mc="http://schemas.openxmlformats.org/markup-compatibility/2006">
              <mc:Choice xmlns:v="urn:schemas-microsoft-com:vml" Requires="v">
                <p:oleObj name="Equation" r:id="rId15" imgW="342751" imgH="393529" progId="Equation.DSMT4">
                  <p:embed/>
                </p:oleObj>
              </mc:Choice>
              <mc:Fallback>
                <p:oleObj name="Equation" r:id="rId15" imgW="342751" imgH="393529" progId="Equation.DSMT4">
                  <p:embed/>
                  <p:pic>
                    <p:nvPicPr>
                      <p:cNvPr id="3" name="Object 2">
                        <a:extLst>
                          <a:ext uri="{FF2B5EF4-FFF2-40B4-BE49-F238E27FC236}">
                            <a16:creationId xmlns:a16="http://schemas.microsoft.com/office/drawing/2014/main" id="{CD54600C-2D76-4CB9-95C3-0CDC809B52F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0632" y="2133748"/>
                        <a:ext cx="6731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ct 4">
            <a:extLst>
              <a:ext uri="{FF2B5EF4-FFF2-40B4-BE49-F238E27FC236}">
                <a16:creationId xmlns:a16="http://schemas.microsoft.com/office/drawing/2014/main" id="{B34B0CC1-25C8-928D-A5BB-E53B47C3E334}"/>
              </a:ext>
            </a:extLst>
          </p:cNvPr>
          <p:cNvGraphicFramePr>
            <a:graphicFrameLocks noChangeAspect="1"/>
          </p:cNvGraphicFramePr>
          <p:nvPr>
            <p:extLst>
              <p:ext uri="{D42A27DB-BD31-4B8C-83A1-F6EECF244321}">
                <p14:modId xmlns:p14="http://schemas.microsoft.com/office/powerpoint/2010/main" val="508046818"/>
              </p:ext>
            </p:extLst>
          </p:nvPr>
        </p:nvGraphicFramePr>
        <p:xfrm>
          <a:off x="7263182" y="2143273"/>
          <a:ext cx="1079500" cy="760412"/>
        </p:xfrm>
        <a:graphic>
          <a:graphicData uri="http://schemas.openxmlformats.org/presentationml/2006/ole">
            <mc:AlternateContent xmlns:mc="http://schemas.openxmlformats.org/markup-compatibility/2006">
              <mc:Choice xmlns:v="urn:schemas-microsoft-com:vml" Requires="v">
                <p:oleObj name="Equation" r:id="rId17" imgW="558558" imgH="393529" progId="Equation.DSMT4">
                  <p:embed/>
                </p:oleObj>
              </mc:Choice>
              <mc:Fallback>
                <p:oleObj name="Equation" r:id="rId17" imgW="558558" imgH="393529" progId="Equation.DSMT4">
                  <p:embed/>
                  <p:pic>
                    <p:nvPicPr>
                      <p:cNvPr id="5" name="Object 4">
                        <a:extLst>
                          <a:ext uri="{FF2B5EF4-FFF2-40B4-BE49-F238E27FC236}">
                            <a16:creationId xmlns:a16="http://schemas.microsoft.com/office/drawing/2014/main" id="{4D2AF108-6462-42E6-AD25-9936644A8C2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63182" y="2143273"/>
                        <a:ext cx="107950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 name="Rectangle 10">
            <a:extLst>
              <a:ext uri="{FF2B5EF4-FFF2-40B4-BE49-F238E27FC236}">
                <a16:creationId xmlns:a16="http://schemas.microsoft.com/office/drawing/2014/main" id="{6D6D92A8-5DB1-C8E0-8241-22B303A02E12}"/>
              </a:ext>
            </a:extLst>
          </p:cNvPr>
          <p:cNvSpPr/>
          <p:nvPr/>
        </p:nvSpPr>
        <p:spPr>
          <a:xfrm>
            <a:off x="5235944" y="1079648"/>
            <a:ext cx="2055813" cy="40005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So               and</a:t>
            </a:r>
            <a:endPar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graphicFrame>
        <p:nvGraphicFramePr>
          <p:cNvPr id="44" name="Object 12">
            <a:extLst>
              <a:ext uri="{FF2B5EF4-FFF2-40B4-BE49-F238E27FC236}">
                <a16:creationId xmlns:a16="http://schemas.microsoft.com/office/drawing/2014/main" id="{47B1B509-A6EA-7715-64AD-DDC064862D2B}"/>
              </a:ext>
            </a:extLst>
          </p:cNvPr>
          <p:cNvGraphicFramePr>
            <a:graphicFrameLocks noChangeAspect="1"/>
          </p:cNvGraphicFramePr>
          <p:nvPr>
            <p:extLst>
              <p:ext uri="{D42A27DB-BD31-4B8C-83A1-F6EECF244321}">
                <p14:modId xmlns:p14="http://schemas.microsoft.com/office/powerpoint/2010/main" val="2850484605"/>
              </p:ext>
            </p:extLst>
          </p:nvPr>
        </p:nvGraphicFramePr>
        <p:xfrm>
          <a:off x="1855362" y="4897585"/>
          <a:ext cx="1790700" cy="809625"/>
        </p:xfrm>
        <a:graphic>
          <a:graphicData uri="http://schemas.openxmlformats.org/presentationml/2006/ole">
            <mc:AlternateContent xmlns:mc="http://schemas.openxmlformats.org/markup-compatibility/2006">
              <mc:Choice xmlns:v="urn:schemas-microsoft-com:vml" Requires="v">
                <p:oleObj name="Equation" r:id="rId19" imgW="927100" imgH="419100" progId="Equation.DSMT4">
                  <p:embed/>
                </p:oleObj>
              </mc:Choice>
              <mc:Fallback>
                <p:oleObj name="Equation" r:id="rId19" imgW="927100" imgH="419100" progId="Equation.DSMT4">
                  <p:embed/>
                  <p:pic>
                    <p:nvPicPr>
                      <p:cNvPr id="159753" name="Object 12">
                        <a:extLst>
                          <a:ext uri="{FF2B5EF4-FFF2-40B4-BE49-F238E27FC236}">
                            <a16:creationId xmlns:a16="http://schemas.microsoft.com/office/drawing/2014/main" id="{46200F61-2CC0-4710-8524-B3A4F810788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55362" y="4897585"/>
                        <a:ext cx="17907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 name="Object 6">
            <a:extLst>
              <a:ext uri="{FF2B5EF4-FFF2-40B4-BE49-F238E27FC236}">
                <a16:creationId xmlns:a16="http://schemas.microsoft.com/office/drawing/2014/main" id="{AC579EAD-5E76-0C23-81F5-D46BEA8C658C}"/>
              </a:ext>
            </a:extLst>
          </p:cNvPr>
          <p:cNvGraphicFramePr>
            <a:graphicFrameLocks noChangeAspect="1"/>
          </p:cNvGraphicFramePr>
          <p:nvPr>
            <p:extLst>
              <p:ext uri="{D42A27DB-BD31-4B8C-83A1-F6EECF244321}">
                <p14:modId xmlns:p14="http://schemas.microsoft.com/office/powerpoint/2010/main" val="1136044378"/>
              </p:ext>
            </p:extLst>
          </p:nvPr>
        </p:nvGraphicFramePr>
        <p:xfrm>
          <a:off x="3801637" y="4848373"/>
          <a:ext cx="2868613" cy="931862"/>
        </p:xfrm>
        <a:graphic>
          <a:graphicData uri="http://schemas.openxmlformats.org/presentationml/2006/ole">
            <mc:AlternateContent xmlns:mc="http://schemas.openxmlformats.org/markup-compatibility/2006">
              <mc:Choice xmlns:v="urn:schemas-microsoft-com:vml" Requires="v">
                <p:oleObj name="Equation" r:id="rId21" imgW="1485900" imgH="482600" progId="Equation.DSMT4">
                  <p:embed/>
                </p:oleObj>
              </mc:Choice>
              <mc:Fallback>
                <p:oleObj name="Equation" r:id="rId21" imgW="1485900" imgH="482600" progId="Equation.DSMT4">
                  <p:embed/>
                  <p:pic>
                    <p:nvPicPr>
                      <p:cNvPr id="7" name="Object 6">
                        <a:extLst>
                          <a:ext uri="{FF2B5EF4-FFF2-40B4-BE49-F238E27FC236}">
                            <a16:creationId xmlns:a16="http://schemas.microsoft.com/office/drawing/2014/main" id="{941714FE-A530-45DF-B718-19C402AA977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01637" y="4848373"/>
                        <a:ext cx="286861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 name="Object 8">
            <a:extLst>
              <a:ext uri="{FF2B5EF4-FFF2-40B4-BE49-F238E27FC236}">
                <a16:creationId xmlns:a16="http://schemas.microsoft.com/office/drawing/2014/main" id="{C0FE4F9C-BC6D-DA7C-1355-87AEC6018C78}"/>
              </a:ext>
            </a:extLst>
          </p:cNvPr>
          <p:cNvGraphicFramePr>
            <a:graphicFrameLocks noChangeAspect="1"/>
          </p:cNvGraphicFramePr>
          <p:nvPr>
            <p:extLst>
              <p:ext uri="{D42A27DB-BD31-4B8C-83A1-F6EECF244321}">
                <p14:modId xmlns:p14="http://schemas.microsoft.com/office/powerpoint/2010/main" val="1427686660"/>
              </p:ext>
            </p:extLst>
          </p:nvPr>
        </p:nvGraphicFramePr>
        <p:xfrm>
          <a:off x="6873450" y="5105548"/>
          <a:ext cx="685800" cy="392112"/>
        </p:xfrm>
        <a:graphic>
          <a:graphicData uri="http://schemas.openxmlformats.org/presentationml/2006/ole">
            <mc:AlternateContent xmlns:mc="http://schemas.openxmlformats.org/markup-compatibility/2006">
              <mc:Choice xmlns:v="urn:schemas-microsoft-com:vml" Requires="v">
                <p:oleObj name="Equation" r:id="rId23" imgW="355292" imgH="203024" progId="Equation.DSMT4">
                  <p:embed/>
                </p:oleObj>
              </mc:Choice>
              <mc:Fallback>
                <p:oleObj name="Equation" r:id="rId23" imgW="355292" imgH="203024" progId="Equation.DSMT4">
                  <p:embed/>
                  <p:pic>
                    <p:nvPicPr>
                      <p:cNvPr id="9" name="Object 8">
                        <a:extLst>
                          <a:ext uri="{FF2B5EF4-FFF2-40B4-BE49-F238E27FC236}">
                            <a16:creationId xmlns:a16="http://schemas.microsoft.com/office/drawing/2014/main" id="{C8EF3A03-1F29-46DE-B462-9FA2AA7DA5B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873450" y="5105548"/>
                        <a:ext cx="685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67685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9EF33-0A31-C376-D6D3-A01464DBC2E9}"/>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0DC8629-FA6B-2A7C-55D6-224D2A883EAA}"/>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Electromagnetic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0" name="Object 4">
                <a:extLst>
                  <a:ext uri="{FF2B5EF4-FFF2-40B4-BE49-F238E27FC236}">
                    <a16:creationId xmlns:a16="http://schemas.microsoft.com/office/drawing/2014/main" id="{0585A3AA-DCF5-C1AD-9998-12E9499A7014}"/>
                  </a:ext>
                </a:extLst>
              </p:cNvPr>
              <p:cNvSpPr txBox="1"/>
              <p:nvPr/>
            </p:nvSpPr>
            <p:spPr bwMode="auto">
              <a:xfrm>
                <a:off x="669698" y="706649"/>
                <a:ext cx="3581172" cy="830262"/>
              </a:xfrm>
              <a:prstGeom prst="rect">
                <a:avLst/>
              </a:prstGeom>
              <a:solidFill>
                <a:schemeClr val="bg1"/>
              </a:solidFill>
              <a:ln w="38100">
                <a:no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𝑓</m:t>
                          </m:r>
                        </m:num>
                        <m:den>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  −  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sSup>
                            <m:sSupPr>
                              <m:ctrlPr>
                                <a:rPr lang="zh-CN" altLang="en-US" sz="2400" i="1">
                                  <a:solidFill>
                                    <a:srgbClr val="000000"/>
                                  </a:solidFill>
                                  <a:latin typeface="Cambria Math" panose="02040503050406030204" pitchFamily="18" charset="0"/>
                                </a:rPr>
                              </m:ctrlPr>
                            </m:sSupPr>
                            <m:e>
                              <m:r>
                                <m:rPr>
                                  <m:sty m:val="p"/>
                                </m:rPr>
                                <a:rPr lang="zh-CN" altLang="en-US" sz="2400" i="1">
                                  <a:solidFill>
                                    <a:srgbClr val="000000"/>
                                  </a:solidFill>
                                  <a:latin typeface="Cambria Math" panose="02040503050406030204" pitchFamily="18" charset="0"/>
                                </a:rPr>
                                <m:t>v</m:t>
                              </m:r>
                            </m:e>
                            <m:sup>
                              <m:r>
                                <a:rPr lang="zh-CN" altLang="en-US" sz="2400" i="1">
                                  <a:solidFill>
                                    <a:srgbClr val="000000"/>
                                  </a:solidFill>
                                  <a:latin typeface="Cambria Math" panose="02040503050406030204" pitchFamily="18" charset="0"/>
                                </a:rPr>
                                <m:t>2</m:t>
                              </m:r>
                            </m:sup>
                          </m:sSup>
                        </m:den>
                      </m:f>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𝑓</m:t>
                          </m:r>
                        </m:num>
                        <m:den>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  =  0 </m:t>
                      </m:r>
                    </m:oMath>
                  </m:oMathPara>
                </a14:m>
                <a:endParaRPr lang="zh-CN" altLang="en-US" sz="2400" dirty="0"/>
              </a:p>
            </p:txBody>
          </p:sp>
        </mc:Choice>
        <mc:Fallback xmlns="">
          <p:sp>
            <p:nvSpPr>
              <p:cNvPr id="30" name="Object 4">
                <a:extLst>
                  <a:ext uri="{FF2B5EF4-FFF2-40B4-BE49-F238E27FC236}">
                    <a16:creationId xmlns:a16="http://schemas.microsoft.com/office/drawing/2014/main" id="{0585A3AA-DCF5-C1AD-9998-12E9499A7014}"/>
                  </a:ext>
                </a:extLst>
              </p:cNvPr>
              <p:cNvSpPr txBox="1">
                <a:spLocks noRot="1" noChangeAspect="1" noMove="1" noResize="1" noEditPoints="1" noAdjustHandles="1" noChangeArrowheads="1" noChangeShapeType="1" noTextEdit="1"/>
              </p:cNvSpPr>
              <p:nvPr/>
            </p:nvSpPr>
            <p:spPr bwMode="auto">
              <a:xfrm>
                <a:off x="669698" y="706649"/>
                <a:ext cx="3581172" cy="830262"/>
              </a:xfrm>
              <a:prstGeom prst="rect">
                <a:avLst/>
              </a:prstGeom>
              <a:blipFill>
                <a:blip r:embed="rId3"/>
                <a:stretch>
                  <a:fillRect/>
                </a:stretch>
              </a:blipFill>
              <a:ln w="38100">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F0D851E-634C-14F4-119F-D49053A0ACB3}"/>
                  </a:ext>
                </a:extLst>
              </p:cNvPr>
              <p:cNvSpPr txBox="1"/>
              <p:nvPr/>
            </p:nvSpPr>
            <p:spPr>
              <a:xfrm>
                <a:off x="5633529" y="689199"/>
                <a:ext cx="2454711" cy="741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400" i="1" smtClean="0">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a:latin typeface="Cambria Math" panose="02040503050406030204" pitchFamily="18" charset="0"/>
                                </a:rPr>
                                <m:t>𝜕</m:t>
                              </m:r>
                            </m:e>
                            <m:sup>
                              <m:r>
                                <a:rPr lang="zh-CN" altLang="en-US" sz="2400" i="0">
                                  <a:latin typeface="Cambria Math" panose="02040503050406030204" pitchFamily="18" charset="0"/>
                                </a:rPr>
                                <m:t>2</m:t>
                              </m:r>
                            </m:sup>
                          </m:sSup>
                          <m:r>
                            <a:rPr lang="zh-CN" altLang="en-US" sz="2400" i="1">
                              <a:latin typeface="Cambria Math" panose="02040503050406030204" pitchFamily="18" charset="0"/>
                            </a:rPr>
                            <m:t>𝐸</m:t>
                          </m:r>
                        </m:num>
                        <m:den>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m:t>
                      </m:r>
                      <m:r>
                        <a:rPr lang="en-US" altLang="zh-CN" sz="2400" i="1" smtClean="0">
                          <a:latin typeface="Cambria Math" panose="02040503050406030204" pitchFamily="18" charset="0"/>
                        </a:rPr>
                        <m:t>𝜇</m:t>
                      </m:r>
                      <m:r>
                        <a:rPr lang="zh-CN" altLang="en-US" sz="2400" i="1">
                          <a:latin typeface="Cambria Math" panose="02040503050406030204" pitchFamily="18" charset="0"/>
                        </a:rPr>
                        <m:t>𝜀</m:t>
                      </m:r>
                      <m:f>
                        <m:fPr>
                          <m:ctrlPr>
                            <a:rPr lang="zh-CN" altLang="en-US" sz="2400" i="1">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m:t>
                              </m:r>
                            </m:e>
                            <m:sup>
                              <m:r>
                                <a:rPr lang="zh-CN" altLang="en-US" sz="2400" i="0">
                                  <a:latin typeface="Cambria Math" panose="02040503050406030204" pitchFamily="18" charset="0"/>
                                </a:rPr>
                                <m:t>2</m:t>
                              </m:r>
                            </m:sup>
                          </m:sSup>
                          <m:r>
                            <a:rPr lang="zh-CN" altLang="en-US" sz="2400" i="1">
                              <a:latin typeface="Cambria Math" panose="02040503050406030204" pitchFamily="18" charset="0"/>
                            </a:rPr>
                            <m:t>𝐸</m:t>
                          </m:r>
                        </m:num>
                        <m:den>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𝑡</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=0</m:t>
                      </m:r>
                    </m:oMath>
                  </m:oMathPara>
                </a14:m>
                <a:endParaRPr lang="zh-CN" altLang="en-US" sz="2400" dirty="0"/>
              </a:p>
            </p:txBody>
          </p:sp>
        </mc:Choice>
        <mc:Fallback xmlns="">
          <p:sp>
            <p:nvSpPr>
              <p:cNvPr id="2" name="文本框 1">
                <a:extLst>
                  <a:ext uri="{FF2B5EF4-FFF2-40B4-BE49-F238E27FC236}">
                    <a16:creationId xmlns:a16="http://schemas.microsoft.com/office/drawing/2014/main" id="{7F0D851E-634C-14F4-119F-D49053A0ACB3}"/>
                  </a:ext>
                </a:extLst>
              </p:cNvPr>
              <p:cNvSpPr txBox="1">
                <a:spLocks noRot="1" noChangeAspect="1" noMove="1" noResize="1" noEditPoints="1" noAdjustHandles="1" noChangeArrowheads="1" noChangeShapeType="1" noTextEdit="1"/>
              </p:cNvSpPr>
              <p:nvPr/>
            </p:nvSpPr>
            <p:spPr>
              <a:xfrm>
                <a:off x="5633529" y="689199"/>
                <a:ext cx="2454711" cy="741165"/>
              </a:xfrm>
              <a:prstGeom prst="rect">
                <a:avLst/>
              </a:prstGeom>
              <a:blipFill>
                <a:blip r:embed="rId4"/>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3D2D7C8-07FD-7712-EFAE-CA4C0CDBB45F}"/>
              </a:ext>
            </a:extLst>
          </p:cNvPr>
          <p:cNvSpPr txBox="1"/>
          <p:nvPr/>
        </p:nvSpPr>
        <p:spPr>
          <a:xfrm>
            <a:off x="1039686" y="2297074"/>
            <a:ext cx="2596243" cy="369332"/>
          </a:xfrm>
          <a:prstGeom prst="rect">
            <a:avLst/>
          </a:prstGeom>
          <a:noFill/>
        </p:spPr>
        <p:txBody>
          <a:bodyPr wrap="square">
            <a:spAutoFit/>
          </a:bodyPr>
          <a:lstStyle/>
          <a:p>
            <a:r>
              <a:rPr kumimoji="0" lang="en-US" altLang="en-US" sz="1800" b="0"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mn-ea"/>
                <a:cs typeface="+mn-cs"/>
              </a:rPr>
              <a:t>v</a:t>
            </a:r>
            <a:r>
              <a:rPr kumimoji="0" lang="en-US" altLang="en-US" sz="18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mn-ea"/>
                <a:cs typeface="+mn-cs"/>
              </a:rPr>
              <a:t> is the wave’s velocity</a:t>
            </a:r>
            <a:endParaRPr lang="zh-CN" altLang="en-US" dirty="0">
              <a:solidFill>
                <a:schemeClr val="accent6">
                  <a:lumMod val="75000"/>
                </a:schemeClr>
              </a:solidFill>
            </a:endParaRPr>
          </a:p>
        </p:txBody>
      </p:sp>
      <p:sp>
        <p:nvSpPr>
          <p:cNvPr id="7" name="矩形 6">
            <a:extLst>
              <a:ext uri="{FF2B5EF4-FFF2-40B4-BE49-F238E27FC236}">
                <a16:creationId xmlns:a16="http://schemas.microsoft.com/office/drawing/2014/main" id="{FE36C709-6D2E-8A4E-5F32-67222D23E298}"/>
              </a:ext>
            </a:extLst>
          </p:cNvPr>
          <p:cNvSpPr/>
          <p:nvPr/>
        </p:nvSpPr>
        <p:spPr>
          <a:xfrm>
            <a:off x="511628" y="600669"/>
            <a:ext cx="3690257" cy="242556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37198FD-5C78-15E9-A3F4-4EF4B5DA3EED}"/>
              </a:ext>
            </a:extLst>
          </p:cNvPr>
          <p:cNvSpPr/>
          <p:nvPr/>
        </p:nvSpPr>
        <p:spPr>
          <a:xfrm>
            <a:off x="4848447" y="600669"/>
            <a:ext cx="3864934" cy="242556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2D545F7E-6211-73F6-7F8E-5931AC2A6243}"/>
              </a:ext>
            </a:extLst>
          </p:cNvPr>
          <p:cNvSpPr txBox="1"/>
          <p:nvPr/>
        </p:nvSpPr>
        <p:spPr>
          <a:xfrm>
            <a:off x="6599047" y="2481740"/>
            <a:ext cx="1632858" cy="369332"/>
          </a:xfrm>
          <a:prstGeom prst="rect">
            <a:avLst/>
          </a:prstGeom>
          <a:noFill/>
        </p:spPr>
        <p:txBody>
          <a:bodyPr wrap="square">
            <a:spAutoFit/>
          </a:bodyPr>
          <a:lstStyle/>
          <a:p>
            <a:r>
              <a:rPr kumimoji="0" lang="en-US" altLang="zh-CN" sz="1800" b="0" i="0" u="none" strike="noStrike" kern="1200" cap="none" spc="0" normalizeH="0" baseline="0" noProof="0" dirty="0">
                <a:ln>
                  <a:noFill/>
                </a:ln>
                <a:solidFill>
                  <a:schemeClr val="accent6">
                    <a:lumMod val="75000"/>
                  </a:schemeClr>
                </a:solidFill>
                <a:effectLst/>
                <a:uLnTx/>
                <a:uFillTx/>
                <a:ea typeface="+mn-ea"/>
                <a:cs typeface="+mn-cs"/>
              </a:rPr>
              <a:t>Light </a:t>
            </a:r>
            <a:r>
              <a:rPr kumimoji="0" lang="en-US" altLang="en-US" sz="1800" b="0" i="0" u="none" strike="noStrike" kern="1200" cap="none" spc="0" normalizeH="0" baseline="0" noProof="0" dirty="0">
                <a:ln>
                  <a:noFill/>
                </a:ln>
                <a:solidFill>
                  <a:schemeClr val="accent6">
                    <a:lumMod val="75000"/>
                  </a:schemeClr>
                </a:solidFill>
                <a:effectLst/>
                <a:uLnTx/>
                <a:uFillTx/>
                <a:ea typeface="+mn-ea"/>
                <a:cs typeface="+mn-cs"/>
              </a:rPr>
              <a:t>velocity</a:t>
            </a:r>
            <a:endParaRPr lang="zh-CN" altLang="en-US"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3A93E1C-C609-C346-7243-D6D645443CFF}"/>
                  </a:ext>
                </a:extLst>
              </p:cNvPr>
              <p:cNvSpPr txBox="1"/>
              <p:nvPr/>
            </p:nvSpPr>
            <p:spPr>
              <a:xfrm>
                <a:off x="5546534" y="2361429"/>
                <a:ext cx="857799" cy="5824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chemeClr val="accent6">
                              <a:lumMod val="75000"/>
                            </a:schemeClr>
                          </a:solidFill>
                          <a:latin typeface="Cambria Math" panose="02040503050406030204" pitchFamily="18" charset="0"/>
                        </a:rPr>
                        <m:t>c</m:t>
                      </m:r>
                      <m:r>
                        <a:rPr lang="zh-CN" altLang="en-US" i="0">
                          <a:solidFill>
                            <a:schemeClr val="accent6">
                              <a:lumMod val="75000"/>
                            </a:schemeClr>
                          </a:solidFill>
                          <a:latin typeface="Cambria Math" panose="02040503050406030204" pitchFamily="18" charset="0"/>
                        </a:rPr>
                        <m:t>=</m:t>
                      </m:r>
                      <m:f>
                        <m:fPr>
                          <m:ctrlPr>
                            <a:rPr lang="zh-CN" altLang="en-US" i="1">
                              <a:solidFill>
                                <a:schemeClr val="accent6">
                                  <a:lumMod val="75000"/>
                                </a:schemeClr>
                              </a:solidFill>
                              <a:latin typeface="Cambria Math" panose="02040503050406030204" pitchFamily="18" charset="0"/>
                            </a:rPr>
                          </m:ctrlPr>
                        </m:fPr>
                        <m:num>
                          <m:r>
                            <a:rPr lang="zh-CN" altLang="en-US" i="0">
                              <a:solidFill>
                                <a:schemeClr val="accent6">
                                  <a:lumMod val="75000"/>
                                </a:schemeClr>
                              </a:solidFill>
                              <a:latin typeface="Cambria Math" panose="02040503050406030204" pitchFamily="18" charset="0"/>
                            </a:rPr>
                            <m:t>1</m:t>
                          </m:r>
                        </m:num>
                        <m:den>
                          <m:rad>
                            <m:radPr>
                              <m:degHide m:val="on"/>
                              <m:ctrlPr>
                                <a:rPr lang="zh-CN" altLang="en-US" i="1">
                                  <a:solidFill>
                                    <a:schemeClr val="accent6">
                                      <a:lumMod val="75000"/>
                                    </a:schemeClr>
                                  </a:solidFill>
                                  <a:latin typeface="Cambria Math" panose="02040503050406030204" pitchFamily="18" charset="0"/>
                                </a:rPr>
                              </m:ctrlPr>
                            </m:radPr>
                            <m:deg/>
                            <m:e>
                              <m:r>
                                <a:rPr lang="zh-CN" altLang="en-US" i="1" smtClean="0">
                                  <a:solidFill>
                                    <a:schemeClr val="accent6">
                                      <a:lumMod val="75000"/>
                                    </a:schemeClr>
                                  </a:solidFill>
                                  <a:latin typeface="Cambria Math" panose="02040503050406030204" pitchFamily="18" charset="0"/>
                                </a:rPr>
                                <m:t>𝜇</m:t>
                              </m:r>
                              <m:r>
                                <a:rPr lang="zh-CN" altLang="en-US" i="1">
                                  <a:solidFill>
                                    <a:schemeClr val="accent6">
                                      <a:lumMod val="75000"/>
                                    </a:schemeClr>
                                  </a:solidFill>
                                  <a:latin typeface="Cambria Math" panose="02040503050406030204" pitchFamily="18" charset="0"/>
                                </a:rPr>
                                <m:t>𝜀</m:t>
                              </m:r>
                            </m:e>
                          </m:rad>
                        </m:den>
                      </m:f>
                    </m:oMath>
                  </m:oMathPara>
                </a14:m>
                <a:endParaRPr lang="zh-CN" altLang="en-US" dirty="0">
                  <a:solidFill>
                    <a:schemeClr val="accent6">
                      <a:lumMod val="75000"/>
                    </a:schemeClr>
                  </a:solidFill>
                </a:endParaRPr>
              </a:p>
            </p:txBody>
          </p:sp>
        </mc:Choice>
        <mc:Fallback xmlns="">
          <p:sp>
            <p:nvSpPr>
              <p:cNvPr id="13" name="文本框 12">
                <a:extLst>
                  <a:ext uri="{FF2B5EF4-FFF2-40B4-BE49-F238E27FC236}">
                    <a16:creationId xmlns:a16="http://schemas.microsoft.com/office/drawing/2014/main" id="{A3A93E1C-C609-C346-7243-D6D645443CFF}"/>
                  </a:ext>
                </a:extLst>
              </p:cNvPr>
              <p:cNvSpPr txBox="1">
                <a:spLocks noRot="1" noChangeAspect="1" noMove="1" noResize="1" noEditPoints="1" noAdjustHandles="1" noChangeArrowheads="1" noChangeShapeType="1" noTextEdit="1"/>
              </p:cNvSpPr>
              <p:nvPr/>
            </p:nvSpPr>
            <p:spPr>
              <a:xfrm>
                <a:off x="5546534" y="2361429"/>
                <a:ext cx="857799" cy="582467"/>
              </a:xfrm>
              <a:prstGeom prst="rect">
                <a:avLst/>
              </a:prstGeom>
              <a:blipFill>
                <a:blip r:embed="rId5"/>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60BD9D1A-DC0F-F7C8-AC4C-02B17CC5B79C}"/>
              </a:ext>
            </a:extLst>
          </p:cNvPr>
          <p:cNvSpPr txBox="1"/>
          <p:nvPr/>
        </p:nvSpPr>
        <p:spPr>
          <a:xfrm>
            <a:off x="623488" y="4882244"/>
            <a:ext cx="8449918" cy="400110"/>
          </a:xfrm>
          <a:prstGeom prst="rect">
            <a:avLst/>
          </a:prstGeom>
          <a:noFill/>
        </p:spPr>
        <p:txBody>
          <a:bodyPr wrap="square">
            <a:spAutoFit/>
          </a:bodyPr>
          <a:lstStyle/>
          <a:p>
            <a:r>
              <a:rPr lang="en-US" altLang="zh-CN" sz="2000" dirty="0"/>
              <a:t>We derive the electromagnetic wave equation from Maxwell’s equations.</a:t>
            </a:r>
            <a:endParaRPr lang="zh-CN" altLang="en-US" sz="2000" dirty="0"/>
          </a:p>
        </p:txBody>
      </p:sp>
      <p:sp>
        <p:nvSpPr>
          <p:cNvPr id="20" name="文本框 19">
            <a:extLst>
              <a:ext uri="{FF2B5EF4-FFF2-40B4-BE49-F238E27FC236}">
                <a16:creationId xmlns:a16="http://schemas.microsoft.com/office/drawing/2014/main" id="{15225AB9-3EE0-65A6-07EE-5909F40F49F9}"/>
              </a:ext>
            </a:extLst>
          </p:cNvPr>
          <p:cNvSpPr txBox="1"/>
          <p:nvPr/>
        </p:nvSpPr>
        <p:spPr>
          <a:xfrm>
            <a:off x="5034527" y="1487134"/>
            <a:ext cx="3652713" cy="923330"/>
          </a:xfrm>
          <a:prstGeom prst="rect">
            <a:avLst/>
          </a:prstGeom>
          <a:noFill/>
        </p:spPr>
        <p:txBody>
          <a:bodyPr wrap="square">
            <a:spAutoFit/>
          </a:bodyPr>
          <a:lstStyle/>
          <a:p>
            <a:pPr algn="ctr"/>
            <a:r>
              <a:rPr lang="en-US" altLang="zh-CN" i="1" dirty="0">
                <a:solidFill>
                  <a:srgbClr val="0070C0"/>
                </a:solidFill>
              </a:rPr>
              <a:t>E(</a:t>
            </a:r>
            <a:r>
              <a:rPr lang="en-US" altLang="zh-CN" i="1" dirty="0" err="1">
                <a:solidFill>
                  <a:srgbClr val="0070C0"/>
                </a:solidFill>
              </a:rPr>
              <a:t>x,t</a:t>
            </a:r>
            <a:r>
              <a:rPr lang="en-US" altLang="zh-CN" i="1" dirty="0">
                <a:solidFill>
                  <a:srgbClr val="0070C0"/>
                </a:solidFill>
              </a:rPr>
              <a:t>)</a:t>
            </a:r>
            <a:r>
              <a:rPr lang="en-US" altLang="zh-CN" dirty="0">
                <a:solidFill>
                  <a:srgbClr val="0070C0"/>
                </a:solidFill>
              </a:rPr>
              <a:t> is electric field</a:t>
            </a:r>
            <a:r>
              <a:rPr lang="zh-CN" altLang="en-US" dirty="0"/>
              <a:t>，</a:t>
            </a:r>
            <a:endParaRPr lang="en-US" altLang="zh-CN" dirty="0"/>
          </a:p>
          <a:p>
            <a:pPr algn="ctr"/>
            <a:r>
              <a:rPr lang="en-US" altLang="zh-CN" i="1" dirty="0"/>
              <a:t>μ</a:t>
            </a:r>
            <a:r>
              <a:rPr lang="en-US" altLang="zh-CN" dirty="0"/>
              <a:t> is permeability </a:t>
            </a:r>
            <a:r>
              <a:rPr lang="zh-CN" altLang="en-US" dirty="0"/>
              <a:t>磁导率，</a:t>
            </a:r>
            <a:endParaRPr lang="en-US" altLang="zh-CN" dirty="0"/>
          </a:p>
          <a:p>
            <a:pPr algn="ctr"/>
            <a:r>
              <a:rPr lang="en-US" altLang="zh-CN" i="1" dirty="0"/>
              <a:t>ε</a:t>
            </a:r>
            <a:r>
              <a:rPr lang="en-US" altLang="zh-CN" dirty="0"/>
              <a:t> is permittivity </a:t>
            </a:r>
            <a:r>
              <a:rPr lang="zh-CN" altLang="en-US" dirty="0"/>
              <a:t>介电常数</a:t>
            </a:r>
          </a:p>
        </p:txBody>
      </p:sp>
      <p:sp>
        <p:nvSpPr>
          <p:cNvPr id="24" name="文本框 23">
            <a:extLst>
              <a:ext uri="{FF2B5EF4-FFF2-40B4-BE49-F238E27FC236}">
                <a16:creationId xmlns:a16="http://schemas.microsoft.com/office/drawing/2014/main" id="{487C031C-28B5-CFA3-9557-1A4EA2962006}"/>
              </a:ext>
            </a:extLst>
          </p:cNvPr>
          <p:cNvSpPr txBox="1"/>
          <p:nvPr/>
        </p:nvSpPr>
        <p:spPr>
          <a:xfrm>
            <a:off x="968987" y="1907202"/>
            <a:ext cx="2775537" cy="369332"/>
          </a:xfrm>
          <a:prstGeom prst="rect">
            <a:avLst/>
          </a:prstGeom>
          <a:noFill/>
        </p:spPr>
        <p:txBody>
          <a:bodyPr wrap="square">
            <a:spAutoFit/>
          </a:bodyPr>
          <a:lstStyle/>
          <a:p>
            <a:r>
              <a:rPr lang="en-US" altLang="zh-CN" i="1" dirty="0">
                <a:solidFill>
                  <a:srgbClr val="0070C0"/>
                </a:solidFill>
              </a:rPr>
              <a:t>f(</a:t>
            </a:r>
            <a:r>
              <a:rPr lang="en-US" altLang="zh-CN" i="1" dirty="0" err="1">
                <a:solidFill>
                  <a:srgbClr val="0070C0"/>
                </a:solidFill>
              </a:rPr>
              <a:t>x,t</a:t>
            </a:r>
            <a:r>
              <a:rPr lang="en-US" altLang="zh-CN" i="1" dirty="0">
                <a:solidFill>
                  <a:srgbClr val="0070C0"/>
                </a:solidFill>
              </a:rPr>
              <a:t>) </a:t>
            </a:r>
            <a:r>
              <a:rPr lang="en-US" altLang="zh-CN" dirty="0">
                <a:solidFill>
                  <a:srgbClr val="0070C0"/>
                </a:solidFill>
              </a:rPr>
              <a:t>is the displacement</a:t>
            </a:r>
            <a:endParaRPr lang="zh-CN" altLang="en-US" dirty="0">
              <a:solidFill>
                <a:srgbClr val="0070C0"/>
              </a:solidFill>
            </a:endParaRPr>
          </a:p>
        </p:txBody>
      </p:sp>
      <p:sp>
        <p:nvSpPr>
          <p:cNvPr id="25" name="箭头: 右 24">
            <a:extLst>
              <a:ext uri="{FF2B5EF4-FFF2-40B4-BE49-F238E27FC236}">
                <a16:creationId xmlns:a16="http://schemas.microsoft.com/office/drawing/2014/main" id="{70C47212-4909-F5A3-6E92-29E5713BCA55}"/>
              </a:ext>
            </a:extLst>
          </p:cNvPr>
          <p:cNvSpPr/>
          <p:nvPr/>
        </p:nvSpPr>
        <p:spPr>
          <a:xfrm>
            <a:off x="4381393" y="1676718"/>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15570337-E43A-B45C-93A1-F6B6F77F44A0}"/>
                  </a:ext>
                </a:extLst>
              </p:cNvPr>
              <p:cNvSpPr txBox="1"/>
              <p:nvPr/>
            </p:nvSpPr>
            <p:spPr>
              <a:xfrm>
                <a:off x="3664037" y="5294292"/>
                <a:ext cx="1887824"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8" name="文本框 27">
                <a:extLst>
                  <a:ext uri="{FF2B5EF4-FFF2-40B4-BE49-F238E27FC236}">
                    <a16:creationId xmlns:a16="http://schemas.microsoft.com/office/drawing/2014/main" id="{15570337-E43A-B45C-93A1-F6B6F77F44A0}"/>
                  </a:ext>
                </a:extLst>
              </p:cNvPr>
              <p:cNvSpPr txBox="1">
                <a:spLocks noRot="1" noChangeAspect="1" noMove="1" noResize="1" noEditPoints="1" noAdjustHandles="1" noChangeArrowheads="1" noChangeShapeType="1" noTextEdit="1"/>
              </p:cNvSpPr>
              <p:nvPr/>
            </p:nvSpPr>
            <p:spPr>
              <a:xfrm>
                <a:off x="3664037" y="5294292"/>
                <a:ext cx="1887824" cy="786947"/>
              </a:xfrm>
              <a:prstGeom prst="rect">
                <a:avLst/>
              </a:prstGeom>
              <a:blipFill>
                <a:blip r:embed="rId6"/>
                <a:stretch>
                  <a:fillRect/>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A06EFAFF-D32E-FD74-2CFB-7360551C6F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75433" y="3152503"/>
            <a:ext cx="2893510" cy="1358538"/>
          </a:xfrm>
          <a:prstGeom prst="rect">
            <a:avLst/>
          </a:prstGeom>
        </p:spPr>
      </p:pic>
      <p:sp>
        <p:nvSpPr>
          <p:cNvPr id="5" name="矩形 4">
            <a:extLst>
              <a:ext uri="{FF2B5EF4-FFF2-40B4-BE49-F238E27FC236}">
                <a16:creationId xmlns:a16="http://schemas.microsoft.com/office/drawing/2014/main" id="{61F1AAAC-FFA2-F6BC-0927-3E6D094591C6}"/>
              </a:ext>
            </a:extLst>
          </p:cNvPr>
          <p:cNvSpPr/>
          <p:nvPr/>
        </p:nvSpPr>
        <p:spPr>
          <a:xfrm>
            <a:off x="431560" y="3533639"/>
            <a:ext cx="5543873" cy="830997"/>
          </a:xfrm>
          <a:prstGeom prst="rect">
            <a:avLst/>
          </a:prstGeom>
        </p:spPr>
        <p:txBody>
          <a:bodyPr wrap="square">
            <a:spAutoFit/>
          </a:bodyPr>
          <a:lstStyle/>
          <a:p>
            <a:r>
              <a:rPr lang="zh-CN" altLang="en-US" sz="1600" dirty="0"/>
              <a:t>时变电场和磁场相互激发，有一个</a:t>
            </a:r>
            <a:r>
              <a:rPr lang="en-US" altLang="zh-CN" sz="1600" dirty="0"/>
              <a:t>π/2</a:t>
            </a:r>
            <a:r>
              <a:rPr lang="zh-CN" altLang="en-US" sz="1600" dirty="0"/>
              <a:t>的相位差。电场激发的磁场往前移了</a:t>
            </a:r>
            <a:r>
              <a:rPr lang="en-US" altLang="zh-CN" sz="1600" dirty="0"/>
              <a:t>λ/4</a:t>
            </a:r>
            <a:r>
              <a:rPr lang="zh-CN" altLang="en-US" sz="1600" dirty="0"/>
              <a:t>个波长的位置，磁场激发电场也是一样，相互激发往前传播。</a:t>
            </a:r>
          </a:p>
        </p:txBody>
      </p:sp>
    </p:spTree>
    <p:extLst>
      <p:ext uri="{BB962C8B-B14F-4D97-AF65-F5344CB8AC3E}">
        <p14:creationId xmlns:p14="http://schemas.microsoft.com/office/powerpoint/2010/main" val="2589721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636C6-952D-D6D5-808A-6619A3CE18B1}"/>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F6DDE3C-52D3-9422-B646-D2AFC0C3D4FD}"/>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Electromagnetic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C592F429-5A9F-3056-BA22-CC9601BBED0A}"/>
                  </a:ext>
                </a:extLst>
              </p:cNvPr>
              <p:cNvSpPr txBox="1"/>
              <p:nvPr/>
            </p:nvSpPr>
            <p:spPr>
              <a:xfrm>
                <a:off x="3364533" y="560006"/>
                <a:ext cx="1584215" cy="655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i="1" smtClean="0">
                          <a:solidFill>
                            <a:schemeClr val="tx1"/>
                          </a:solidFill>
                          <a:latin typeface="Cambria Math" panose="02040503050406030204" pitchFamily="18" charset="0"/>
                        </a:rPr>
                        <m:t>∇</m:t>
                      </m:r>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𝐸</m:t>
                          </m:r>
                        </m:e>
                      </m:acc>
                      <m:r>
                        <a:rPr lang="zh-CN" altLang="en-US" sz="2000" i="0">
                          <a:solidFill>
                            <a:schemeClr val="tx1"/>
                          </a:solidFill>
                          <a:latin typeface="Cambria Math" panose="02040503050406030204" pitchFamily="18" charset="0"/>
                        </a:rPr>
                        <m:t>=−</m:t>
                      </m:r>
                      <m:f>
                        <m:fPr>
                          <m:ctrlPr>
                            <a:rPr lang="zh-CN" altLang="en-US" sz="2000" i="1">
                              <a:solidFill>
                                <a:schemeClr val="tx1"/>
                              </a:solidFill>
                              <a:latin typeface="Cambria Math" panose="02040503050406030204" pitchFamily="18" charset="0"/>
                            </a:rPr>
                          </m:ctrlPr>
                        </m:fPr>
                        <m:num>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𝐵</m:t>
                              </m:r>
                            </m:e>
                          </m:acc>
                        </m:num>
                        <m:den>
                          <m:r>
                            <a:rPr lang="zh-CN" altLang="en-US" sz="2000" i="0">
                              <a:solidFill>
                                <a:schemeClr val="tx1"/>
                              </a:solidFill>
                              <a:latin typeface="Cambria Math" panose="02040503050406030204" pitchFamily="18" charset="0"/>
                            </a:rPr>
                            <m:t>𝜕</m:t>
                          </m:r>
                          <m:r>
                            <a:rPr lang="zh-CN" altLang="en-US" sz="2000" i="1">
                              <a:solidFill>
                                <a:schemeClr val="tx1"/>
                              </a:solidFill>
                              <a:latin typeface="Cambria Math" panose="02040503050406030204" pitchFamily="18" charset="0"/>
                            </a:rPr>
                            <m:t>𝑡</m:t>
                          </m:r>
                        </m:den>
                      </m:f>
                    </m:oMath>
                  </m:oMathPara>
                </a14:m>
                <a:endParaRPr lang="zh-CN" altLang="en-US" sz="2000" dirty="0"/>
              </a:p>
            </p:txBody>
          </p:sp>
        </mc:Choice>
        <mc:Fallback xmlns="">
          <p:sp>
            <p:nvSpPr>
              <p:cNvPr id="28" name="文本框 27">
                <a:extLst>
                  <a:ext uri="{FF2B5EF4-FFF2-40B4-BE49-F238E27FC236}">
                    <a16:creationId xmlns:a16="http://schemas.microsoft.com/office/drawing/2014/main" id="{C592F429-5A9F-3056-BA22-CC9601BBED0A}"/>
                  </a:ext>
                </a:extLst>
              </p:cNvPr>
              <p:cNvSpPr txBox="1">
                <a:spLocks noRot="1" noChangeAspect="1" noMove="1" noResize="1" noEditPoints="1" noAdjustHandles="1" noChangeArrowheads="1" noChangeShapeType="1" noTextEdit="1"/>
              </p:cNvSpPr>
              <p:nvPr/>
            </p:nvSpPr>
            <p:spPr>
              <a:xfrm>
                <a:off x="3364533" y="560006"/>
                <a:ext cx="1584215" cy="655821"/>
              </a:xfrm>
              <a:prstGeom prst="rect">
                <a:avLst/>
              </a:prstGeom>
              <a:blipFill>
                <a:blip r:embed="rId3"/>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07A1F12-968D-3BB6-3B96-F955CD48B430}"/>
              </a:ext>
            </a:extLst>
          </p:cNvPr>
          <p:cNvSpPr txBox="1"/>
          <p:nvPr/>
        </p:nvSpPr>
        <p:spPr>
          <a:xfrm>
            <a:off x="185056" y="752484"/>
            <a:ext cx="3096985" cy="369332"/>
          </a:xfrm>
          <a:prstGeom prst="rect">
            <a:avLst/>
          </a:prstGeom>
          <a:noFill/>
        </p:spPr>
        <p:txBody>
          <a:bodyPr wrap="square">
            <a:spAutoFit/>
          </a:bodyPr>
          <a:lstStyle/>
          <a:p>
            <a:r>
              <a:rPr lang="en-US" altLang="zh-CN" dirty="0"/>
              <a:t>Taking the curl of both sides:</a:t>
            </a:r>
            <a:endParaRPr lang="zh-CN" altLang="en-US" dirty="0"/>
          </a:p>
        </p:txBody>
      </p:sp>
      <p:sp>
        <p:nvSpPr>
          <p:cNvPr id="6" name="箭头: 右 5">
            <a:extLst>
              <a:ext uri="{FF2B5EF4-FFF2-40B4-BE49-F238E27FC236}">
                <a16:creationId xmlns:a16="http://schemas.microsoft.com/office/drawing/2014/main" id="{21D0D3EB-0C56-DA1C-0A36-9F9D1905C1A1}"/>
              </a:ext>
            </a:extLst>
          </p:cNvPr>
          <p:cNvSpPr/>
          <p:nvPr/>
        </p:nvSpPr>
        <p:spPr>
          <a:xfrm>
            <a:off x="5171256" y="787630"/>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5176FF9-1C17-CBC6-FC03-8A245F8790D7}"/>
                  </a:ext>
                </a:extLst>
              </p:cNvPr>
              <p:cNvSpPr txBox="1"/>
              <p:nvPr/>
            </p:nvSpPr>
            <p:spPr>
              <a:xfrm>
                <a:off x="5675866" y="523669"/>
                <a:ext cx="3018326"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r>
                        <m:rPr>
                          <m:sty m:val="p"/>
                        </m:rPr>
                        <a:rPr lang="zh-CN" altLang="en-US" sz="2000" i="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𝐵</m:t>
                                  </m:r>
                                </m:e>
                              </m:acc>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e>
                      </m:d>
                    </m:oMath>
                  </m:oMathPara>
                </a14:m>
                <a:endParaRPr lang="zh-CN" altLang="en-US" sz="2000" dirty="0"/>
              </a:p>
            </p:txBody>
          </p:sp>
        </mc:Choice>
        <mc:Fallback xmlns="">
          <p:sp>
            <p:nvSpPr>
              <p:cNvPr id="11" name="文本框 10">
                <a:extLst>
                  <a:ext uri="{FF2B5EF4-FFF2-40B4-BE49-F238E27FC236}">
                    <a16:creationId xmlns:a16="http://schemas.microsoft.com/office/drawing/2014/main" id="{35176FF9-1C17-CBC6-FC03-8A245F8790D7}"/>
                  </a:ext>
                </a:extLst>
              </p:cNvPr>
              <p:cNvSpPr txBox="1">
                <a:spLocks noRot="1" noChangeAspect="1" noMove="1" noResize="1" noEditPoints="1" noAdjustHandles="1" noChangeArrowheads="1" noChangeShapeType="1" noTextEdit="1"/>
              </p:cNvSpPr>
              <p:nvPr/>
            </p:nvSpPr>
            <p:spPr>
              <a:xfrm>
                <a:off x="5675866" y="523669"/>
                <a:ext cx="3018326" cy="691536"/>
              </a:xfrm>
              <a:prstGeom prst="rect">
                <a:avLst/>
              </a:prstGeom>
              <a:blipFill>
                <a:blip r:embed="rId4"/>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8D00D8EC-62F3-7FC7-151B-FCB58F3E1041}"/>
              </a:ext>
            </a:extLst>
          </p:cNvPr>
          <p:cNvSpPr txBox="1"/>
          <p:nvPr/>
        </p:nvSpPr>
        <p:spPr>
          <a:xfrm>
            <a:off x="185056" y="1374432"/>
            <a:ext cx="5546271" cy="369332"/>
          </a:xfrm>
          <a:prstGeom prst="rect">
            <a:avLst/>
          </a:prstGeom>
          <a:noFill/>
        </p:spPr>
        <p:txBody>
          <a:bodyPr wrap="square">
            <a:spAutoFit/>
          </a:bodyPr>
          <a:lstStyle/>
          <a:p>
            <a:r>
              <a:rPr lang="en-US" altLang="zh-CN" dirty="0"/>
              <a:t>The right-hand side is simplified by noting that</a:t>
            </a:r>
            <a:r>
              <a:rPr lang="zh-CN" altLang="en-US" dirty="0"/>
              <a:t>：</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D216AE8-975E-3A0F-93F5-747DF585E795}"/>
                  </a:ext>
                </a:extLst>
              </p:cNvPr>
              <p:cNvSpPr txBox="1"/>
              <p:nvPr/>
            </p:nvSpPr>
            <p:spPr>
              <a:xfrm>
                <a:off x="5507787" y="1397996"/>
                <a:ext cx="3098797"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𝐵</m:t>
                                  </m:r>
                                </m:e>
                              </m:acc>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e>
                      </m:d>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d>
                        <m:dPr>
                          <m:ctrlPr>
                            <a:rPr lang="zh-CN" altLang="en-US" sz="2000" i="1">
                              <a:solidFill>
                                <a:srgbClr val="836967"/>
                              </a:solidFill>
                              <a:latin typeface="Cambria Math" panose="02040503050406030204" pitchFamily="18" charset="0"/>
                            </a:rPr>
                          </m:ctrlPr>
                        </m:dPr>
                        <m:e>
                          <m:r>
                            <m:rPr>
                              <m:sty m:val="p"/>
                            </m:rPr>
                            <a:rPr lang="zh-CN" altLang="en-US" sz="2000" i="0" smtClean="0">
                              <a:latin typeface="Cambria Math" panose="02040503050406030204" pitchFamily="18" charset="0"/>
                            </a:rPr>
                            <m:t>∇</m:t>
                          </m:r>
                          <m:r>
                            <a:rPr lang="zh-CN" altLang="en-US" sz="2000" i="0" smtClean="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𝐵</m:t>
                              </m:r>
                            </m:e>
                          </m:acc>
                        </m:e>
                      </m:d>
                    </m:oMath>
                  </m:oMathPara>
                </a14:m>
                <a:endParaRPr lang="zh-CN" altLang="en-US" sz="2000" dirty="0"/>
              </a:p>
            </p:txBody>
          </p:sp>
        </mc:Choice>
        <mc:Fallback xmlns="">
          <p:sp>
            <p:nvSpPr>
              <p:cNvPr id="15" name="文本框 14">
                <a:extLst>
                  <a:ext uri="{FF2B5EF4-FFF2-40B4-BE49-F238E27FC236}">
                    <a16:creationId xmlns:a16="http://schemas.microsoft.com/office/drawing/2014/main" id="{ED216AE8-975E-3A0F-93F5-747DF585E795}"/>
                  </a:ext>
                </a:extLst>
              </p:cNvPr>
              <p:cNvSpPr txBox="1">
                <a:spLocks noRot="1" noChangeAspect="1" noMove="1" noResize="1" noEditPoints="1" noAdjustHandles="1" noChangeArrowheads="1" noChangeShapeType="1" noTextEdit="1"/>
              </p:cNvSpPr>
              <p:nvPr/>
            </p:nvSpPr>
            <p:spPr>
              <a:xfrm>
                <a:off x="5507787" y="1397996"/>
                <a:ext cx="3098797" cy="69153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BB5B601-4240-EFF8-5C91-104F231DBB79}"/>
                  </a:ext>
                </a:extLst>
              </p:cNvPr>
              <p:cNvSpPr txBox="1"/>
              <p:nvPr/>
            </p:nvSpPr>
            <p:spPr>
              <a:xfrm>
                <a:off x="245776" y="1665810"/>
                <a:ext cx="5262011" cy="499560"/>
              </a:xfrm>
              <a:prstGeom prst="rect">
                <a:avLst/>
              </a:prstGeom>
              <a:noFill/>
            </p:spPr>
            <p:txBody>
              <a:bodyPr wrap="square">
                <a:spAutoFit/>
              </a:bodyPr>
              <a:lstStyle/>
              <a:p>
                <a14:m>
                  <m:oMath xmlns:m="http://schemas.openxmlformats.org/officeDocument/2006/math">
                    <m:r>
                      <m:rPr>
                        <m:sty m:val="p"/>
                      </m:rPr>
                      <a:rPr lang="zh-CN" altLang="en-US" i="0" smtClean="0">
                        <a:latin typeface="Cambria Math" panose="02040503050406030204" pitchFamily="18" charset="0"/>
                      </a:rPr>
                      <m:t>∇</m:t>
                    </m:r>
                    <m:r>
                      <a:rPr lang="zh-CN" altLang="en-US" i="0" smtClean="0">
                        <a:latin typeface="Cambria Math" panose="02040503050406030204" pitchFamily="18" charset="0"/>
                      </a:rPr>
                      <m:t>× </m:t>
                    </m:r>
                    <m:r>
                      <m:rPr>
                        <m:sty m:val="p"/>
                      </m:rPr>
                      <a:rPr lang="en-US" altLang="zh-CN" i="1">
                        <a:latin typeface="Cambria Math" panose="02040503050406030204" pitchFamily="18" charset="0"/>
                      </a:rPr>
                      <m:t>is</m:t>
                    </m:r>
                  </m:oMath>
                </a14:m>
                <a:r>
                  <a:rPr lang="zh-CN" altLang="en-US" dirty="0"/>
                  <a:t> </a:t>
                </a:r>
                <a:r>
                  <a:rPr lang="en-US" altLang="zh-CN" dirty="0"/>
                  <a:t>for spatial operation, do not related to </a:t>
                </a:r>
                <a14:m>
                  <m:oMath xmlns:m="http://schemas.openxmlformats.org/officeDocument/2006/math">
                    <m:f>
                      <m:fPr>
                        <m:ctrlPr>
                          <a:rPr lang="zh-CN" altLang="en-US" i="1">
                            <a:solidFill>
                              <a:srgbClr val="836967"/>
                            </a:solidFill>
                            <a:latin typeface="Cambria Math" panose="02040503050406030204" pitchFamily="18" charset="0"/>
                          </a:rPr>
                        </m:ctrlPr>
                      </m:fPr>
                      <m:num>
                        <m:r>
                          <a:rPr lang="zh-CN" altLang="en-US">
                            <a:latin typeface="Cambria Math" panose="02040503050406030204" pitchFamily="18" charset="0"/>
                          </a:rPr>
                          <m:t>𝜕</m:t>
                        </m:r>
                      </m:num>
                      <m:den>
                        <m:r>
                          <a:rPr lang="zh-CN" altLang="en-US">
                            <a:latin typeface="Cambria Math" panose="02040503050406030204" pitchFamily="18" charset="0"/>
                          </a:rPr>
                          <m:t>𝜕</m:t>
                        </m:r>
                        <m:r>
                          <a:rPr lang="zh-CN" altLang="en-US" i="1">
                            <a:latin typeface="Cambria Math" panose="02040503050406030204" pitchFamily="18" charset="0"/>
                          </a:rPr>
                          <m:t>𝑡</m:t>
                        </m:r>
                      </m:den>
                    </m:f>
                  </m:oMath>
                </a14:m>
                <a:endParaRPr lang="zh-CN" altLang="en-US" dirty="0"/>
              </a:p>
            </p:txBody>
          </p:sp>
        </mc:Choice>
        <mc:Fallback xmlns="">
          <p:sp>
            <p:nvSpPr>
              <p:cNvPr id="18" name="文本框 17">
                <a:extLst>
                  <a:ext uri="{FF2B5EF4-FFF2-40B4-BE49-F238E27FC236}">
                    <a16:creationId xmlns:a16="http://schemas.microsoft.com/office/drawing/2014/main" id="{5BB5B601-4240-EFF8-5C91-104F231DBB79}"/>
                  </a:ext>
                </a:extLst>
              </p:cNvPr>
              <p:cNvSpPr txBox="1">
                <a:spLocks noRot="1" noChangeAspect="1" noMove="1" noResize="1" noEditPoints="1" noAdjustHandles="1" noChangeArrowheads="1" noChangeShapeType="1" noTextEdit="1"/>
              </p:cNvSpPr>
              <p:nvPr/>
            </p:nvSpPr>
            <p:spPr>
              <a:xfrm>
                <a:off x="245776" y="1665810"/>
                <a:ext cx="5262011" cy="499560"/>
              </a:xfrm>
              <a:prstGeom prst="rect">
                <a:avLst/>
              </a:prstGeom>
              <a:blipFill>
                <a:blip r:embed="rId6"/>
                <a:stretch>
                  <a:fillRect b="-6098"/>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D96E5B8E-F362-FE26-97A9-2FD190A4C1EE}"/>
              </a:ext>
            </a:extLst>
          </p:cNvPr>
          <p:cNvSpPr txBox="1"/>
          <p:nvPr/>
        </p:nvSpPr>
        <p:spPr>
          <a:xfrm>
            <a:off x="245776" y="2240544"/>
            <a:ext cx="3036265" cy="646331"/>
          </a:xfrm>
          <a:prstGeom prst="rect">
            <a:avLst/>
          </a:prstGeom>
          <a:noFill/>
        </p:spPr>
        <p:txBody>
          <a:bodyPr wrap="square">
            <a:spAutoFit/>
          </a:bodyPr>
          <a:lstStyle/>
          <a:p>
            <a:r>
              <a:rPr lang="en-US" altLang="zh-CN" dirty="0"/>
              <a:t>Recalling Maxwell’s Equation 4 (Ampère’s Law)</a:t>
            </a:r>
            <a:endParaRPr lang="zh-CN" altLang="en-US"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002492D-D560-AE21-B32C-DFDB49044318}"/>
                  </a:ext>
                </a:extLst>
              </p:cNvPr>
              <p:cNvSpPr txBox="1"/>
              <p:nvPr/>
            </p:nvSpPr>
            <p:spPr>
              <a:xfrm>
                <a:off x="3734647" y="2210055"/>
                <a:ext cx="2554610" cy="655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i="1" smtClean="0">
                          <a:solidFill>
                            <a:schemeClr val="tx1"/>
                          </a:solidFill>
                          <a:latin typeface="Cambria Math" panose="02040503050406030204" pitchFamily="18" charset="0"/>
                        </a:rPr>
                        <m:t>∇</m:t>
                      </m:r>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𝐵</m:t>
                          </m:r>
                        </m:e>
                      </m:acc>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𝜇</m:t>
                          </m:r>
                        </m:e>
                        <m:sub>
                          <m:r>
                            <a:rPr lang="zh-CN" altLang="en-US" sz="2000" i="0">
                              <a:solidFill>
                                <a:schemeClr val="tx1"/>
                              </a:solidFill>
                              <a:latin typeface="Cambria Math" panose="02040503050406030204" pitchFamily="18" charset="0"/>
                            </a:rPr>
                            <m:t>0</m:t>
                          </m:r>
                        </m:sub>
                      </m:sSub>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𝐽</m:t>
                          </m:r>
                        </m:e>
                      </m:acc>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𝜇</m:t>
                          </m:r>
                        </m:e>
                        <m:sub>
                          <m:r>
                            <a:rPr lang="zh-CN" altLang="en-US" sz="2000">
                              <a:solidFill>
                                <a:schemeClr val="tx1"/>
                              </a:solidFill>
                              <a:latin typeface="Cambria Math" panose="02040503050406030204" pitchFamily="18" charset="0"/>
                            </a:rPr>
                            <m:t>0</m:t>
                          </m:r>
                        </m:sub>
                      </m:sSub>
                      <m:sSub>
                        <m:sSubPr>
                          <m:ctrlPr>
                            <a:rPr lang="en-US" altLang="zh-CN"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𝜀</m:t>
                          </m:r>
                        </m:e>
                        <m:sub>
                          <m:r>
                            <a:rPr lang="en-US" altLang="zh-CN" sz="2000" i="1">
                              <a:solidFill>
                                <a:schemeClr val="tx1"/>
                              </a:solidFill>
                              <a:latin typeface="Cambria Math" panose="02040503050406030204" pitchFamily="18" charset="0"/>
                            </a:rPr>
                            <m:t>0</m:t>
                          </m:r>
                        </m:sub>
                      </m:sSub>
                      <m:f>
                        <m:fPr>
                          <m:ctrlPr>
                            <a:rPr lang="zh-CN" altLang="en-US" sz="2000" i="1">
                              <a:solidFill>
                                <a:schemeClr val="tx1"/>
                              </a:solidFill>
                              <a:latin typeface="Cambria Math" panose="02040503050406030204" pitchFamily="18" charset="0"/>
                            </a:rPr>
                          </m:ctrlPr>
                        </m:fPr>
                        <m:num>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𝐸</m:t>
                              </m:r>
                            </m:e>
                          </m:acc>
                        </m:num>
                        <m:den>
                          <m:r>
                            <a:rPr lang="zh-CN" altLang="en-US" sz="2000" i="0">
                              <a:solidFill>
                                <a:schemeClr val="tx1"/>
                              </a:solidFill>
                              <a:latin typeface="Cambria Math" panose="02040503050406030204" pitchFamily="18" charset="0"/>
                            </a:rPr>
                            <m:t>𝜕</m:t>
                          </m:r>
                          <m:r>
                            <a:rPr lang="zh-CN" altLang="en-US" sz="2000" i="1">
                              <a:solidFill>
                                <a:schemeClr val="tx1"/>
                              </a:solidFill>
                              <a:latin typeface="Cambria Math" panose="02040503050406030204" pitchFamily="18" charset="0"/>
                            </a:rPr>
                            <m:t>𝑡</m:t>
                          </m:r>
                        </m:den>
                      </m:f>
                    </m:oMath>
                  </m:oMathPara>
                </a14:m>
                <a:endParaRPr lang="zh-CN" altLang="en-US" sz="2000" dirty="0"/>
              </a:p>
            </p:txBody>
          </p:sp>
        </mc:Choice>
        <mc:Fallback xmlns="">
          <p:sp>
            <p:nvSpPr>
              <p:cNvPr id="22" name="文本框 21">
                <a:extLst>
                  <a:ext uri="{FF2B5EF4-FFF2-40B4-BE49-F238E27FC236}">
                    <a16:creationId xmlns:a16="http://schemas.microsoft.com/office/drawing/2014/main" id="{4002492D-D560-AE21-B32C-DFDB49044318}"/>
                  </a:ext>
                </a:extLst>
              </p:cNvPr>
              <p:cNvSpPr txBox="1">
                <a:spLocks noRot="1" noChangeAspect="1" noMove="1" noResize="1" noEditPoints="1" noAdjustHandles="1" noChangeArrowheads="1" noChangeShapeType="1" noTextEdit="1"/>
              </p:cNvSpPr>
              <p:nvPr/>
            </p:nvSpPr>
            <p:spPr>
              <a:xfrm>
                <a:off x="3734647" y="2210055"/>
                <a:ext cx="2554610" cy="65582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A24B926C-A97A-24DC-6387-8DF1770D5188}"/>
                  </a:ext>
                </a:extLst>
              </p:cNvPr>
              <p:cNvSpPr txBox="1"/>
              <p:nvPr/>
            </p:nvSpPr>
            <p:spPr>
              <a:xfrm>
                <a:off x="288470" y="3093191"/>
                <a:ext cx="2933701" cy="402931"/>
              </a:xfrm>
              <a:prstGeom prst="rect">
                <a:avLst/>
              </a:prstGeom>
              <a:noFill/>
            </p:spPr>
            <p:txBody>
              <a:bodyPr wrap="square">
                <a:spAutoFit/>
              </a:bodyPr>
              <a:lstStyle/>
              <a:p>
                <a:r>
                  <a:rPr lang="en-US" altLang="zh-CN" dirty="0"/>
                  <a:t>Substituting</a:t>
                </a:r>
                <a:r>
                  <a:rPr lang="zh-CN" altLang="en-US" sz="1800" dirty="0">
                    <a:solidFill>
                      <a:schemeClr val="tx1"/>
                    </a:solidFill>
                  </a:rPr>
                  <a:t> </a:t>
                </a:r>
                <a14:m>
                  <m:oMath xmlns:m="http://schemas.openxmlformats.org/officeDocument/2006/math">
                    <m:r>
                      <m:rPr>
                        <m:sty m:val="p"/>
                      </m:rPr>
                      <a:rPr lang="zh-CN" altLang="en-US" sz="1800" i="1" smtClean="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m:t>
                    </m:r>
                    <m:acc>
                      <m:accPr>
                        <m:chr m:val="⃗"/>
                        <m:ctrlPr>
                          <a:rPr lang="zh-CN" altLang="en-US" sz="1800" i="1">
                            <a:solidFill>
                              <a:schemeClr val="tx1"/>
                            </a:solidFill>
                            <a:latin typeface="Cambria Math" panose="02040503050406030204" pitchFamily="18" charset="0"/>
                          </a:rPr>
                        </m:ctrlPr>
                      </m:accPr>
                      <m:e>
                        <m:r>
                          <a:rPr lang="zh-CN" altLang="en-US" sz="1800" i="1">
                            <a:solidFill>
                              <a:schemeClr val="tx1"/>
                            </a:solidFill>
                            <a:latin typeface="Cambria Math" panose="02040503050406030204" pitchFamily="18" charset="0"/>
                          </a:rPr>
                          <m:t>𝐵</m:t>
                        </m:r>
                      </m:e>
                    </m:acc>
                  </m:oMath>
                </a14:m>
                <a:r>
                  <a:rPr lang="zh-CN" altLang="en-US" dirty="0"/>
                  <a:t> </a:t>
                </a:r>
                <a:r>
                  <a:rPr lang="en-US" altLang="zh-CN" dirty="0"/>
                  <a:t>in eq.2 :</a:t>
                </a:r>
                <a:endParaRPr lang="zh-CN" altLang="en-US" dirty="0"/>
              </a:p>
            </p:txBody>
          </p:sp>
        </mc:Choice>
        <mc:Fallback xmlns="">
          <p:sp>
            <p:nvSpPr>
              <p:cNvPr id="34" name="文本框 33">
                <a:extLst>
                  <a:ext uri="{FF2B5EF4-FFF2-40B4-BE49-F238E27FC236}">
                    <a16:creationId xmlns:a16="http://schemas.microsoft.com/office/drawing/2014/main" id="{A24B926C-A97A-24DC-6387-8DF1770D5188}"/>
                  </a:ext>
                </a:extLst>
              </p:cNvPr>
              <p:cNvSpPr txBox="1">
                <a:spLocks noRot="1" noChangeAspect="1" noMove="1" noResize="1" noEditPoints="1" noAdjustHandles="1" noChangeArrowheads="1" noChangeShapeType="1" noTextEdit="1"/>
              </p:cNvSpPr>
              <p:nvPr/>
            </p:nvSpPr>
            <p:spPr>
              <a:xfrm>
                <a:off x="288470" y="3093191"/>
                <a:ext cx="2933701" cy="402931"/>
              </a:xfrm>
              <a:prstGeom prst="rect">
                <a:avLst/>
              </a:prstGeom>
              <a:blipFill>
                <a:blip r:embed="rId8"/>
                <a:stretch>
                  <a:fillRect l="-1660" b="-22388"/>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65C31492-B76F-EA8D-254F-221AE42A8FAB}"/>
              </a:ext>
            </a:extLst>
          </p:cNvPr>
          <p:cNvSpPr txBox="1"/>
          <p:nvPr/>
        </p:nvSpPr>
        <p:spPr>
          <a:xfrm>
            <a:off x="8719879" y="698848"/>
            <a:ext cx="369691" cy="461665"/>
          </a:xfrm>
          <a:prstGeom prst="rect">
            <a:avLst/>
          </a:prstGeom>
          <a:noFill/>
        </p:spPr>
        <p:txBody>
          <a:bodyPr wrap="square">
            <a:spAutoFit/>
          </a:bodyPr>
          <a:lstStyle/>
          <a:p>
            <a:r>
              <a:rPr lang="en-US" altLang="zh-CN" sz="2400" b="1" dirty="0">
                <a:solidFill>
                  <a:srgbClr val="C00000"/>
                </a:solidFill>
              </a:rPr>
              <a:t>1</a:t>
            </a:r>
            <a:endParaRPr lang="zh-CN" altLang="en-US" sz="2400" b="1" dirty="0">
              <a:solidFill>
                <a:srgbClr val="C00000"/>
              </a:solidFill>
            </a:endParaRPr>
          </a:p>
        </p:txBody>
      </p:sp>
      <p:sp>
        <p:nvSpPr>
          <p:cNvPr id="38" name="文本框 37">
            <a:extLst>
              <a:ext uri="{FF2B5EF4-FFF2-40B4-BE49-F238E27FC236}">
                <a16:creationId xmlns:a16="http://schemas.microsoft.com/office/drawing/2014/main" id="{947E6BB3-9503-8905-B02E-41924995258B}"/>
              </a:ext>
            </a:extLst>
          </p:cNvPr>
          <p:cNvSpPr txBox="1"/>
          <p:nvPr/>
        </p:nvSpPr>
        <p:spPr>
          <a:xfrm>
            <a:off x="8741227" y="1530843"/>
            <a:ext cx="369691" cy="461665"/>
          </a:xfrm>
          <a:prstGeom prst="rect">
            <a:avLst/>
          </a:prstGeom>
          <a:noFill/>
        </p:spPr>
        <p:txBody>
          <a:bodyPr wrap="square">
            <a:spAutoFit/>
          </a:bodyPr>
          <a:lstStyle/>
          <a:p>
            <a:r>
              <a:rPr lang="en-US" altLang="zh-CN" sz="2400" b="1" dirty="0">
                <a:solidFill>
                  <a:srgbClr val="C00000"/>
                </a:solidFill>
              </a:rPr>
              <a:t>2</a:t>
            </a:r>
            <a:endParaRPr lang="zh-CN" altLang="en-US" sz="2400" b="1" dirty="0">
              <a:solidFill>
                <a:srgbClr val="C00000"/>
              </a:solidFill>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2E6EA41-62C5-65CE-EE12-2EC74AC8F835}"/>
                  </a:ext>
                </a:extLst>
              </p:cNvPr>
              <p:cNvSpPr txBox="1"/>
              <p:nvPr/>
            </p:nvSpPr>
            <p:spPr>
              <a:xfrm>
                <a:off x="3651778" y="2940158"/>
                <a:ext cx="4624215" cy="655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a:latin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a:latin typeface="Cambria Math" panose="02040503050406030204" pitchFamily="18" charset="0"/>
                            </a:rPr>
                            <m:t>∇</m:t>
                          </m:r>
                          <m:r>
                            <a:rPr lang="zh-CN" altLang="en-US" sz="200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a:latin typeface="Cambria Math" panose="02040503050406030204" pitchFamily="18" charset="0"/>
                        </a:rPr>
                        <m:t>=</m:t>
                      </m:r>
                      <m:r>
                        <a:rPr lang="zh-CN" altLang="en-US" sz="2000" smtClean="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𝐵</m:t>
                              </m:r>
                            </m:e>
                          </m:acc>
                        </m:e>
                      </m:d>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smtClean="0">
                              <a:latin typeface="Cambria Math" panose="02040503050406030204" pitchFamily="18" charset="0"/>
                            </a:rPr>
                            <m:t>𝜇</m:t>
                          </m:r>
                        </m:e>
                        <m:sub>
                          <m:r>
                            <a:rPr lang="zh-CN" altLang="en-US" sz="2000" i="0">
                              <a:latin typeface="Cambria Math" panose="02040503050406030204" pitchFamily="18" charset="0"/>
                            </a:rPr>
                            <m:t>0</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𝜀</m:t>
                          </m:r>
                        </m:e>
                        <m:sub>
                          <m:r>
                            <a:rPr lang="zh-CN" altLang="en-US" sz="2000" i="0">
                              <a:latin typeface="Cambria Math" panose="02040503050406030204" pitchFamily="18" charset="0"/>
                            </a:rPr>
                            <m:t>0</m:t>
                          </m:r>
                        </m:sub>
                      </m:sSub>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oMath>
                  </m:oMathPara>
                </a14:m>
                <a:endParaRPr lang="zh-CN" altLang="en-US" sz="2000" dirty="0"/>
              </a:p>
            </p:txBody>
          </p:sp>
        </mc:Choice>
        <mc:Fallback xmlns="">
          <p:sp>
            <p:nvSpPr>
              <p:cNvPr id="40" name="文本框 39">
                <a:extLst>
                  <a:ext uri="{FF2B5EF4-FFF2-40B4-BE49-F238E27FC236}">
                    <a16:creationId xmlns:a16="http://schemas.microsoft.com/office/drawing/2014/main" id="{E2E6EA41-62C5-65CE-EE12-2EC74AC8F835}"/>
                  </a:ext>
                </a:extLst>
              </p:cNvPr>
              <p:cNvSpPr txBox="1">
                <a:spLocks noRot="1" noChangeAspect="1" noMove="1" noResize="1" noEditPoints="1" noAdjustHandles="1" noChangeArrowheads="1" noChangeShapeType="1" noTextEdit="1"/>
              </p:cNvSpPr>
              <p:nvPr/>
            </p:nvSpPr>
            <p:spPr>
              <a:xfrm>
                <a:off x="3651778" y="2940158"/>
                <a:ext cx="4624215" cy="655821"/>
              </a:xfrm>
              <a:prstGeom prst="rect">
                <a:avLst/>
              </a:prstGeom>
              <a:blipFill>
                <a:blip r:embed="rId9"/>
                <a:stretch>
                  <a:fillRect/>
                </a:stretch>
              </a:blipFill>
            </p:spPr>
            <p:txBody>
              <a:bodyPr/>
              <a:lstStyle/>
              <a:p>
                <a:r>
                  <a:rPr lang="zh-CN" altLang="en-US">
                    <a:noFill/>
                  </a:rPr>
                  <a:t> </a:t>
                </a:r>
              </a:p>
            </p:txBody>
          </p:sp>
        </mc:Fallback>
      </mc:AlternateContent>
      <p:sp>
        <p:nvSpPr>
          <p:cNvPr id="43" name="文本框 42">
            <a:extLst>
              <a:ext uri="{FF2B5EF4-FFF2-40B4-BE49-F238E27FC236}">
                <a16:creationId xmlns:a16="http://schemas.microsoft.com/office/drawing/2014/main" id="{BE7BFA2A-A668-CA24-B4B1-6600C3CD1B7F}"/>
              </a:ext>
            </a:extLst>
          </p:cNvPr>
          <p:cNvSpPr txBox="1"/>
          <p:nvPr/>
        </p:nvSpPr>
        <p:spPr>
          <a:xfrm>
            <a:off x="288470" y="3732522"/>
            <a:ext cx="3360709" cy="923330"/>
          </a:xfrm>
          <a:prstGeom prst="rect">
            <a:avLst/>
          </a:prstGeom>
          <a:noFill/>
        </p:spPr>
        <p:txBody>
          <a:bodyPr wrap="square">
            <a:spAutoFit/>
          </a:bodyPr>
          <a:lstStyle/>
          <a:p>
            <a:r>
              <a:rPr lang="en-US" altLang="zh-CN" dirty="0"/>
              <a:t>The left hand side is simplified by the following vector identity</a:t>
            </a:r>
            <a:r>
              <a:rPr lang="zh-CN" altLang="en-US" dirty="0"/>
              <a:t>（向量恒等式）</a:t>
            </a:r>
            <a:r>
              <a:rPr lang="en-US" altLang="zh-CN" dirty="0"/>
              <a:t>:</a:t>
            </a:r>
            <a:endParaRPr lang="zh-CN" altLang="en-US" dirty="0"/>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4DC50997-9C4B-34DE-AB1A-54D8142BA773}"/>
                  </a:ext>
                </a:extLst>
              </p:cNvPr>
              <p:cNvSpPr txBox="1"/>
              <p:nvPr/>
            </p:nvSpPr>
            <p:spPr>
              <a:xfrm>
                <a:off x="3864137" y="3933247"/>
                <a:ext cx="3429079" cy="460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r>
                        <m:rPr>
                          <m:sty m:val="p"/>
                        </m:rPr>
                        <a:rPr lang="zh-CN" altLang="en-US" sz="2000" i="0">
                          <a:latin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m:rPr>
                              <m:sty m:val="p"/>
                            </m:rP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smtClean="0">
                              <a:solidFill>
                                <a:srgbClr val="836967"/>
                              </a:solidFill>
                              <a:latin typeface="Cambria Math" panose="02040503050406030204" pitchFamily="18" charset="0"/>
                            </a:rPr>
                          </m:ctrlPr>
                        </m:accPr>
                        <m:e>
                          <m:r>
                            <a:rPr lang="zh-CN" altLang="en-US" sz="2000" i="1" smtClean="0">
                              <a:latin typeface="Cambria Math" panose="02040503050406030204" pitchFamily="18" charset="0"/>
                            </a:rPr>
                            <m:t>𝐸</m:t>
                          </m:r>
                        </m:e>
                      </m:acc>
                    </m:oMath>
                  </m:oMathPara>
                </a14:m>
                <a:endParaRPr lang="zh-CN" altLang="en-US" sz="2000" dirty="0"/>
              </a:p>
            </p:txBody>
          </p:sp>
        </mc:Choice>
        <mc:Fallback xmlns="">
          <p:sp>
            <p:nvSpPr>
              <p:cNvPr id="44" name="文本框 43">
                <a:extLst>
                  <a:ext uri="{FF2B5EF4-FFF2-40B4-BE49-F238E27FC236}">
                    <a16:creationId xmlns:a16="http://schemas.microsoft.com/office/drawing/2014/main" id="{4DC50997-9C4B-34DE-AB1A-54D8142BA773}"/>
                  </a:ext>
                </a:extLst>
              </p:cNvPr>
              <p:cNvSpPr txBox="1">
                <a:spLocks noRot="1" noChangeAspect="1" noMove="1" noResize="1" noEditPoints="1" noAdjustHandles="1" noChangeArrowheads="1" noChangeShapeType="1" noTextEdit="1"/>
              </p:cNvSpPr>
              <p:nvPr/>
            </p:nvSpPr>
            <p:spPr>
              <a:xfrm>
                <a:off x="3864137" y="3933247"/>
                <a:ext cx="3429079" cy="46063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6AB0745B-EF72-9946-4648-7F3B133C83D9}"/>
                  </a:ext>
                </a:extLst>
              </p:cNvPr>
              <p:cNvSpPr txBox="1"/>
              <p:nvPr/>
            </p:nvSpPr>
            <p:spPr>
              <a:xfrm>
                <a:off x="3940148" y="4624763"/>
                <a:ext cx="1623778" cy="5791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i="1" smtClean="0">
                          <a:solidFill>
                            <a:schemeClr val="tx1"/>
                          </a:solidFill>
                          <a:latin typeface="Cambria Math" panose="02040503050406030204" pitchFamily="18" charset="0"/>
                        </a:rPr>
                        <m:t>∇</m:t>
                      </m:r>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en-US" altLang="zh-CN" sz="2000" b="0" i="1" smtClean="0">
                              <a:solidFill>
                                <a:schemeClr val="tx1"/>
                              </a:solidFill>
                              <a:latin typeface="Cambria Math" panose="02040503050406030204" pitchFamily="18" charset="0"/>
                            </a:rPr>
                            <m:t>𝐸</m:t>
                          </m:r>
                        </m:e>
                      </m:acc>
                      <m:r>
                        <a:rPr lang="zh-CN" altLang="en-US" sz="2000" i="0">
                          <a:solidFill>
                            <a:schemeClr val="tx1"/>
                          </a:solidFill>
                          <a:latin typeface="Cambria Math" panose="02040503050406030204" pitchFamily="18" charset="0"/>
                        </a:rPr>
                        <m:t>=</m:t>
                      </m:r>
                      <m:f>
                        <m:fPr>
                          <m:ctrlPr>
                            <a:rPr lang="en-US" altLang="zh-CN" sz="2000" i="1" smtClean="0">
                              <a:solidFill>
                                <a:schemeClr val="tx1"/>
                              </a:solidFill>
                              <a:latin typeface="Cambria Math" panose="02040503050406030204" pitchFamily="18" charset="0"/>
                            </a:rPr>
                          </m:ctrlPr>
                        </m:fPr>
                        <m:num>
                          <m:r>
                            <a:rPr lang="zh-CN" altLang="en-US" sz="2000" i="1">
                              <a:solidFill>
                                <a:schemeClr val="tx1"/>
                              </a:solidFill>
                              <a:latin typeface="Cambria Math" panose="02040503050406030204" pitchFamily="18" charset="0"/>
                            </a:rPr>
                            <m:t>𝜌</m:t>
                          </m:r>
                        </m:num>
                        <m:den>
                          <m:sSub>
                            <m:sSubPr>
                              <m:ctrlPr>
                                <a:rPr lang="en-US" altLang="zh-CN"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𝜀</m:t>
                              </m:r>
                            </m:e>
                            <m:sub>
                              <m:r>
                                <a:rPr lang="en-US" altLang="zh-CN" sz="2000" b="0" i="1" smtClean="0">
                                  <a:solidFill>
                                    <a:schemeClr val="tx1"/>
                                  </a:solidFill>
                                  <a:latin typeface="Cambria Math" panose="02040503050406030204" pitchFamily="18" charset="0"/>
                                </a:rPr>
                                <m:t>0</m:t>
                              </m:r>
                            </m:sub>
                          </m:sSub>
                        </m:den>
                      </m:f>
                      <m:r>
                        <a:rPr lang="pt-BR" altLang="zh-CN" sz="2000" i="1" dirty="0" smtClean="0">
                          <a:latin typeface="Cambria Math" panose="02040503050406030204" pitchFamily="18" charset="0"/>
                        </a:rPr>
                        <m:t>=</m:t>
                      </m:r>
                      <m:r>
                        <a:rPr lang="en-US" altLang="zh-CN" sz="2000" b="0" i="1" dirty="0" smtClean="0">
                          <a:latin typeface="Cambria Math" panose="02040503050406030204" pitchFamily="18" charset="0"/>
                        </a:rPr>
                        <m:t>0</m:t>
                      </m:r>
                    </m:oMath>
                  </m:oMathPara>
                </a14:m>
                <a:endParaRPr lang="zh-CN" altLang="en-US" sz="2000" dirty="0"/>
              </a:p>
            </p:txBody>
          </p:sp>
        </mc:Choice>
        <mc:Fallback xmlns="">
          <p:sp>
            <p:nvSpPr>
              <p:cNvPr id="45" name="文本框 44">
                <a:extLst>
                  <a:ext uri="{FF2B5EF4-FFF2-40B4-BE49-F238E27FC236}">
                    <a16:creationId xmlns:a16="http://schemas.microsoft.com/office/drawing/2014/main" id="{6AB0745B-EF72-9946-4648-7F3B133C83D9}"/>
                  </a:ext>
                </a:extLst>
              </p:cNvPr>
              <p:cNvSpPr txBox="1">
                <a:spLocks noRot="1" noChangeAspect="1" noMove="1" noResize="1" noEditPoints="1" noAdjustHandles="1" noChangeArrowheads="1" noChangeShapeType="1" noTextEdit="1"/>
              </p:cNvSpPr>
              <p:nvPr/>
            </p:nvSpPr>
            <p:spPr>
              <a:xfrm>
                <a:off x="3940148" y="4624763"/>
                <a:ext cx="1623778" cy="579198"/>
              </a:xfrm>
              <a:prstGeom prst="rect">
                <a:avLst/>
              </a:prstGeom>
              <a:blipFill>
                <a:blip r:embed="rId11"/>
                <a:stretch>
                  <a:fillRect/>
                </a:stretch>
              </a:blipFill>
            </p:spPr>
            <p:txBody>
              <a:bodyPr/>
              <a:lstStyle/>
              <a:p>
                <a:r>
                  <a:rPr lang="zh-CN" altLang="en-US">
                    <a:noFill/>
                  </a:rPr>
                  <a:t> </a:t>
                </a:r>
              </a:p>
            </p:txBody>
          </p:sp>
        </mc:Fallback>
      </mc:AlternateContent>
      <p:sp>
        <p:nvSpPr>
          <p:cNvPr id="48" name="文本框 47">
            <a:extLst>
              <a:ext uri="{FF2B5EF4-FFF2-40B4-BE49-F238E27FC236}">
                <a16:creationId xmlns:a16="http://schemas.microsoft.com/office/drawing/2014/main" id="{3E3090C9-7B52-5C6A-4106-EC6588F64EC1}"/>
              </a:ext>
            </a:extLst>
          </p:cNvPr>
          <p:cNvSpPr txBox="1"/>
          <p:nvPr/>
        </p:nvSpPr>
        <p:spPr>
          <a:xfrm>
            <a:off x="288470" y="4692538"/>
            <a:ext cx="3768948" cy="369332"/>
          </a:xfrm>
          <a:prstGeom prst="rect">
            <a:avLst/>
          </a:prstGeom>
          <a:noFill/>
        </p:spPr>
        <p:txBody>
          <a:bodyPr wrap="square">
            <a:spAutoFit/>
          </a:bodyPr>
          <a:lstStyle/>
          <a:p>
            <a:r>
              <a:rPr lang="en-US" altLang="zh-CN" dirty="0"/>
              <a:t>For a constant field or no charges</a:t>
            </a:r>
            <a:endParaRPr lang="zh-CN" altLang="en-US" dirty="0"/>
          </a:p>
        </p:txBody>
      </p:sp>
      <p:sp>
        <p:nvSpPr>
          <p:cNvPr id="51" name="文本框 50">
            <a:extLst>
              <a:ext uri="{FF2B5EF4-FFF2-40B4-BE49-F238E27FC236}">
                <a16:creationId xmlns:a16="http://schemas.microsoft.com/office/drawing/2014/main" id="{358CF5CC-21D0-81DB-B7D9-27A9AE02E6E9}"/>
              </a:ext>
            </a:extLst>
          </p:cNvPr>
          <p:cNvSpPr txBox="1"/>
          <p:nvPr/>
        </p:nvSpPr>
        <p:spPr>
          <a:xfrm>
            <a:off x="5011952" y="5637273"/>
            <a:ext cx="1380842" cy="369332"/>
          </a:xfrm>
          <a:prstGeom prst="rect">
            <a:avLst/>
          </a:prstGeom>
          <a:noFill/>
        </p:spPr>
        <p:txBody>
          <a:bodyPr wrap="square">
            <a:spAutoFit/>
          </a:bodyPr>
          <a:lstStyle/>
          <a:p>
            <a:r>
              <a:rPr lang="en-US" altLang="zh-CN" b="0" i="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Therefore</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17BAA524-E29B-BEDC-4A90-78A83720AAC9}"/>
                  </a:ext>
                </a:extLst>
              </p:cNvPr>
              <p:cNvSpPr txBox="1"/>
              <p:nvPr/>
            </p:nvSpPr>
            <p:spPr>
              <a:xfrm>
                <a:off x="6472550" y="5431391"/>
                <a:ext cx="1829347" cy="6558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smtClean="0">
                              <a:latin typeface="Cambria Math" panose="02040503050406030204" pitchFamily="18" charset="0"/>
                            </a:rPr>
                            <m:t>𝜇</m:t>
                          </m:r>
                        </m:e>
                        <m:sub>
                          <m:r>
                            <a:rPr lang="zh-CN" altLang="en-US" sz="2000" i="0">
                              <a:latin typeface="Cambria Math" panose="02040503050406030204" pitchFamily="18" charset="0"/>
                            </a:rPr>
                            <m:t>0</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𝜀</m:t>
                          </m:r>
                        </m:e>
                        <m:sub>
                          <m:r>
                            <a:rPr lang="zh-CN" altLang="en-US" sz="2000" i="0">
                              <a:latin typeface="Cambria Math" panose="02040503050406030204" pitchFamily="18" charset="0"/>
                            </a:rPr>
                            <m:t>0</m:t>
                          </m:r>
                        </m:sub>
                      </m:sSub>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oMath>
                  </m:oMathPara>
                </a14:m>
                <a:endParaRPr lang="zh-CN" altLang="en-US" sz="2000" dirty="0"/>
              </a:p>
            </p:txBody>
          </p:sp>
        </mc:Choice>
        <mc:Fallback xmlns="">
          <p:sp>
            <p:nvSpPr>
              <p:cNvPr id="52" name="文本框 51">
                <a:extLst>
                  <a:ext uri="{FF2B5EF4-FFF2-40B4-BE49-F238E27FC236}">
                    <a16:creationId xmlns:a16="http://schemas.microsoft.com/office/drawing/2014/main" id="{17BAA524-E29B-BEDC-4A90-78A83720AAC9}"/>
                  </a:ext>
                </a:extLst>
              </p:cNvPr>
              <p:cNvSpPr txBox="1">
                <a:spLocks noRot="1" noChangeAspect="1" noMove="1" noResize="1" noEditPoints="1" noAdjustHandles="1" noChangeArrowheads="1" noChangeShapeType="1" noTextEdit="1"/>
              </p:cNvSpPr>
              <p:nvPr/>
            </p:nvSpPr>
            <p:spPr>
              <a:xfrm>
                <a:off x="6472550" y="5431391"/>
                <a:ext cx="1829347" cy="655885"/>
              </a:xfrm>
              <a:prstGeom prst="rect">
                <a:avLst/>
              </a:prstGeom>
              <a:blipFill>
                <a:blip r:embed="rId12"/>
                <a:stretch>
                  <a:fillRect/>
                </a:stretch>
              </a:blipFill>
            </p:spPr>
            <p:txBody>
              <a:bodyPr/>
              <a:lstStyle/>
              <a:p>
                <a:r>
                  <a:rPr lang="zh-CN" altLang="en-US">
                    <a:noFill/>
                  </a:rPr>
                  <a:t> </a:t>
                </a:r>
              </a:p>
            </p:txBody>
          </p:sp>
        </mc:Fallback>
      </mc:AlternateContent>
      <p:sp>
        <p:nvSpPr>
          <p:cNvPr id="53" name="矩形 52">
            <a:extLst>
              <a:ext uri="{FF2B5EF4-FFF2-40B4-BE49-F238E27FC236}">
                <a16:creationId xmlns:a16="http://schemas.microsoft.com/office/drawing/2014/main" id="{C13190D7-CAB0-4DE7-F57D-4A6AA8B9D5FD}"/>
              </a:ext>
            </a:extLst>
          </p:cNvPr>
          <p:cNvSpPr/>
          <p:nvPr/>
        </p:nvSpPr>
        <p:spPr>
          <a:xfrm>
            <a:off x="6391482" y="5347096"/>
            <a:ext cx="2031752" cy="908957"/>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0238F9A-F967-967C-CCDF-92933C44007D}"/>
              </a:ext>
            </a:extLst>
          </p:cNvPr>
          <p:cNvSpPr txBox="1"/>
          <p:nvPr/>
        </p:nvSpPr>
        <p:spPr>
          <a:xfrm>
            <a:off x="5635494" y="4665669"/>
            <a:ext cx="921636" cy="369332"/>
          </a:xfrm>
          <a:prstGeom prst="rect">
            <a:avLst/>
          </a:prstGeom>
          <a:noFill/>
        </p:spPr>
        <p:txBody>
          <a:bodyPr wrap="square">
            <a:spAutoFit/>
          </a:bodyPr>
          <a:lstStyle/>
          <a:p>
            <a:r>
              <a:rPr lang="en-US" altLang="zh-CN" b="0" i="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Hence</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2E6D2F4-683A-D949-575C-32C6CE99BC99}"/>
                  </a:ext>
                </a:extLst>
              </p:cNvPr>
              <p:cNvSpPr txBox="1"/>
              <p:nvPr/>
            </p:nvSpPr>
            <p:spPr>
              <a:xfrm>
                <a:off x="6547478" y="4617349"/>
                <a:ext cx="2359812" cy="460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r>
                        <a:rPr lang="zh-CN" altLang="en-US" sz="200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m:rPr>
                              <m:sty m:val="p"/>
                            </m:rPr>
                            <a:rPr lang="zh-CN" altLang="en-US" sz="2000">
                              <a:latin typeface="Cambria Math" panose="02040503050406030204" pitchFamily="18" charset="0"/>
                            </a:rPr>
                            <m:t>∇</m:t>
                          </m:r>
                        </m:e>
                        <m:sup>
                          <m:r>
                            <a:rPr lang="zh-CN" altLang="en-US" sz="200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oMath>
                  </m:oMathPara>
                </a14:m>
                <a:endParaRPr lang="zh-CN" altLang="en-US" sz="2000" dirty="0"/>
              </a:p>
            </p:txBody>
          </p:sp>
        </mc:Choice>
        <mc:Fallback xmlns="">
          <p:sp>
            <p:nvSpPr>
              <p:cNvPr id="4" name="文本框 3">
                <a:extLst>
                  <a:ext uri="{FF2B5EF4-FFF2-40B4-BE49-F238E27FC236}">
                    <a16:creationId xmlns:a16="http://schemas.microsoft.com/office/drawing/2014/main" id="{62E6D2F4-683A-D949-575C-32C6CE99BC99}"/>
                  </a:ext>
                </a:extLst>
              </p:cNvPr>
              <p:cNvSpPr txBox="1">
                <a:spLocks noRot="1" noChangeAspect="1" noMove="1" noResize="1" noEditPoints="1" noAdjustHandles="1" noChangeArrowheads="1" noChangeShapeType="1" noTextEdit="1"/>
              </p:cNvSpPr>
              <p:nvPr/>
            </p:nvSpPr>
            <p:spPr>
              <a:xfrm>
                <a:off x="6547478" y="4617349"/>
                <a:ext cx="2359812" cy="46063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9EB57BA-24A1-8173-3130-886E31F05636}"/>
                  </a:ext>
                </a:extLst>
              </p:cNvPr>
              <p:cNvSpPr txBox="1"/>
              <p:nvPr/>
            </p:nvSpPr>
            <p:spPr>
              <a:xfrm>
                <a:off x="1468427" y="5069353"/>
                <a:ext cx="1291764" cy="6558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zh-CN" altLang="en-US" sz="2000" i="1" smtClean="0">
                              <a:solidFill>
                                <a:srgbClr val="836967"/>
                              </a:solidFill>
                              <a:latin typeface="Cambria Math" panose="02040503050406030204" pitchFamily="18" charset="0"/>
                            </a:rPr>
                          </m:ctrlPr>
                        </m:sSupPr>
                        <m:e>
                          <m:r>
                            <m:rPr>
                              <m:sty m:val="p"/>
                            </m:rPr>
                            <a:rPr lang="zh-CN" altLang="en-US" sz="200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oMath>
                  </m:oMathPara>
                </a14:m>
                <a:endParaRPr lang="zh-CN" altLang="en-US" sz="2000" dirty="0"/>
              </a:p>
            </p:txBody>
          </p:sp>
        </mc:Choice>
        <mc:Fallback xmlns="">
          <p:sp>
            <p:nvSpPr>
              <p:cNvPr id="7" name="文本框 6">
                <a:extLst>
                  <a:ext uri="{FF2B5EF4-FFF2-40B4-BE49-F238E27FC236}">
                    <a16:creationId xmlns:a16="http://schemas.microsoft.com/office/drawing/2014/main" id="{59EB57BA-24A1-8173-3130-886E31F05636}"/>
                  </a:ext>
                </a:extLst>
              </p:cNvPr>
              <p:cNvSpPr txBox="1">
                <a:spLocks noRot="1" noChangeAspect="1" noMove="1" noResize="1" noEditPoints="1" noAdjustHandles="1" noChangeArrowheads="1" noChangeShapeType="1" noTextEdit="1"/>
              </p:cNvSpPr>
              <p:nvPr/>
            </p:nvSpPr>
            <p:spPr>
              <a:xfrm>
                <a:off x="1468427" y="5069353"/>
                <a:ext cx="1291764" cy="65588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3">
                <a:extLst>
                  <a:ext uri="{FF2B5EF4-FFF2-40B4-BE49-F238E27FC236}">
                    <a16:creationId xmlns:a16="http://schemas.microsoft.com/office/drawing/2014/main" id="{3CAE4098-2B52-C312-E0E8-DE64E5ED361B}"/>
                  </a:ext>
                </a:extLst>
              </p:cNvPr>
              <p:cNvSpPr txBox="1"/>
              <p:nvPr/>
            </p:nvSpPr>
            <p:spPr>
              <a:xfrm>
                <a:off x="462907" y="5744266"/>
                <a:ext cx="4037308"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Laplace operator, Laplacian </a:t>
                </a:r>
              </a:p>
              <a:p>
                <a:r>
                  <a:rPr lang="zh-CN" altLang="en-US" sz="1600" dirty="0">
                    <a:solidFill>
                      <a:schemeClr val="accent5">
                        <a:lumMod val="75000"/>
                      </a:schemeClr>
                    </a:solidFill>
                  </a:rPr>
                  <a:t>拉普拉斯算子：函数的梯度的散度给出的微分算子，通常写成 </a:t>
                </a:r>
                <a:r>
                  <a:rPr lang="el-GR" altLang="zh-CN" sz="1600" dirty="0">
                    <a:solidFill>
                      <a:schemeClr val="accent5">
                        <a:lumMod val="75000"/>
                      </a:schemeClr>
                    </a:solidFill>
                  </a:rPr>
                  <a:t>Δ</a:t>
                </a:r>
                <a:r>
                  <a:rPr lang="zh-CN" altLang="en-US" sz="1600" dirty="0">
                    <a:solidFill>
                      <a:schemeClr val="accent5">
                        <a:lumMod val="75000"/>
                      </a:schemeClr>
                    </a:solidFill>
                  </a:rPr>
                  <a:t>或 </a:t>
                </a:r>
                <a14:m>
                  <m:oMath xmlns:m="http://schemas.openxmlformats.org/officeDocument/2006/math">
                    <m:sSup>
                      <m:sSupPr>
                        <m:ctrlPr>
                          <a:rPr lang="zh-CN" altLang="en-US" sz="1600" i="1" smtClean="0">
                            <a:solidFill>
                              <a:srgbClr val="836967"/>
                            </a:solidFill>
                            <a:latin typeface="Cambria Math" panose="02040503050406030204" pitchFamily="18" charset="0"/>
                          </a:rPr>
                        </m:ctrlPr>
                      </m:sSupPr>
                      <m:e>
                        <m:r>
                          <m:rPr>
                            <m:sty m:val="p"/>
                          </m:rPr>
                          <a:rPr lang="zh-CN" altLang="en-US" sz="1600">
                            <a:latin typeface="Cambria Math" panose="02040503050406030204" pitchFamily="18" charset="0"/>
                          </a:rPr>
                          <m:t>∇</m:t>
                        </m:r>
                      </m:e>
                      <m:sup>
                        <m:r>
                          <a:rPr lang="zh-CN" altLang="en-US" sz="1600" i="0">
                            <a:latin typeface="Cambria Math" panose="02040503050406030204" pitchFamily="18" charset="0"/>
                          </a:rPr>
                          <m:t>2</m:t>
                        </m:r>
                      </m:sup>
                    </m:sSup>
                  </m:oMath>
                </a14:m>
                <a:r>
                  <a:rPr lang="zh-CN" altLang="en-US" sz="1600" dirty="0">
                    <a:solidFill>
                      <a:schemeClr val="accent5">
                        <a:lumMod val="75000"/>
                      </a:schemeClr>
                    </a:solidFill>
                  </a:rPr>
                  <a:t>，二阶偏导数</a:t>
                </a:r>
              </a:p>
            </p:txBody>
          </p:sp>
        </mc:Choice>
        <mc:Fallback xmlns="">
          <p:sp>
            <p:nvSpPr>
              <p:cNvPr id="8" name="文本框 3">
                <a:extLst>
                  <a:ext uri="{FF2B5EF4-FFF2-40B4-BE49-F238E27FC236}">
                    <a16:creationId xmlns:a16="http://schemas.microsoft.com/office/drawing/2014/main" id="{3CAE4098-2B52-C312-E0E8-DE64E5ED361B}"/>
                  </a:ext>
                </a:extLst>
              </p:cNvPr>
              <p:cNvSpPr txBox="1">
                <a:spLocks noRot="1" noChangeAspect="1" noMove="1" noResize="1" noEditPoints="1" noAdjustHandles="1" noChangeArrowheads="1" noChangeShapeType="1" noTextEdit="1"/>
              </p:cNvSpPr>
              <p:nvPr/>
            </p:nvSpPr>
            <p:spPr>
              <a:xfrm>
                <a:off x="462907" y="5744266"/>
                <a:ext cx="4037308" cy="830997"/>
              </a:xfrm>
              <a:prstGeom prst="rect">
                <a:avLst/>
              </a:prstGeom>
              <a:blipFill>
                <a:blip r:embed="rId15"/>
                <a:stretch>
                  <a:fillRect l="-906" t="-2190" b="-8029"/>
                </a:stretch>
              </a:blipFill>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6E136937-3B34-D74A-0CE5-0D01E0765831}"/>
              </a:ext>
            </a:extLst>
          </p:cNvPr>
          <p:cNvCxnSpPr>
            <a:cxnSpLocks/>
          </p:cNvCxnSpPr>
          <p:nvPr/>
        </p:nvCxnSpPr>
        <p:spPr>
          <a:xfrm flipV="1">
            <a:off x="1584904" y="5589719"/>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1471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Harmonic wave solutions to the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文本框 4">
            <a:extLst>
              <a:ext uri="{FF2B5EF4-FFF2-40B4-BE49-F238E27FC236}">
                <a16:creationId xmlns:a16="http://schemas.microsoft.com/office/drawing/2014/main" id="{C9C78134-9EDA-3867-F94B-057769E68C67}"/>
              </a:ext>
            </a:extLst>
          </p:cNvPr>
          <p:cNvSpPr txBox="1"/>
          <p:nvPr/>
        </p:nvSpPr>
        <p:spPr>
          <a:xfrm>
            <a:off x="923858" y="1921277"/>
            <a:ext cx="7557990" cy="923330"/>
          </a:xfrm>
          <a:prstGeom prst="rect">
            <a:avLst/>
          </a:prstGeom>
          <a:noFill/>
        </p:spPr>
        <p:txBody>
          <a:bodyPr wrap="square">
            <a:spAutoFit/>
          </a:bodyPr>
          <a:lstStyle/>
          <a:p>
            <a:r>
              <a:rPr lang="en-US" altLang="zh-CN" dirty="0"/>
              <a:t>Harmonic waves are sinusoidal solutions to the wave equation. They are periodic in both space and time and can be written in the general form:</a:t>
            </a:r>
          </a:p>
          <a:p>
            <a:endParaRPr lang="en-US" altLang="zh-CN" dirty="0"/>
          </a:p>
        </p:txBody>
      </p:sp>
      <p:sp>
        <p:nvSpPr>
          <p:cNvPr id="13" name="文本框 12">
            <a:extLst>
              <a:ext uri="{FF2B5EF4-FFF2-40B4-BE49-F238E27FC236}">
                <a16:creationId xmlns:a16="http://schemas.microsoft.com/office/drawing/2014/main" id="{77B4A8D0-8934-9D48-99E7-8D7037BA5144}"/>
              </a:ext>
            </a:extLst>
          </p:cNvPr>
          <p:cNvSpPr txBox="1"/>
          <p:nvPr/>
        </p:nvSpPr>
        <p:spPr>
          <a:xfrm>
            <a:off x="2021139" y="3475259"/>
            <a:ext cx="1787811" cy="369332"/>
          </a:xfrm>
          <a:prstGeom prst="rect">
            <a:avLst/>
          </a:prstGeom>
          <a:noFill/>
        </p:spPr>
        <p:txBody>
          <a:bodyPr wrap="square">
            <a:spAutoFit/>
          </a:bodyPr>
          <a:lstStyle/>
          <a:p>
            <a:pPr algn="l"/>
            <a:r>
              <a:rPr lang="en-US" altLang="zh-CN" b="0" i="0" dirty="0">
                <a:effectLst/>
              </a:rPr>
              <a:t>or equivalently:</a:t>
            </a:r>
          </a:p>
        </p:txBody>
      </p:sp>
      <p:sp>
        <p:nvSpPr>
          <p:cNvPr id="17" name="文本框 16">
            <a:extLst>
              <a:ext uri="{FF2B5EF4-FFF2-40B4-BE49-F238E27FC236}">
                <a16:creationId xmlns:a16="http://schemas.microsoft.com/office/drawing/2014/main" id="{854F074F-FFA3-6A70-2D2A-962E2B146A3F}"/>
              </a:ext>
            </a:extLst>
          </p:cNvPr>
          <p:cNvSpPr txBox="1"/>
          <p:nvPr/>
        </p:nvSpPr>
        <p:spPr>
          <a:xfrm>
            <a:off x="3239813" y="4071868"/>
            <a:ext cx="3961875" cy="2031325"/>
          </a:xfrm>
          <a:prstGeom prst="rect">
            <a:avLst/>
          </a:prstGeom>
          <a:noFill/>
        </p:spPr>
        <p:txBody>
          <a:bodyPr wrap="square">
            <a:spAutoFit/>
          </a:bodyPr>
          <a:lstStyle/>
          <a:p>
            <a:pPr algn="l">
              <a:buFont typeface="Arial" panose="020B0604020202020204" pitchFamily="34" charset="0"/>
              <a:buChar char="•"/>
            </a:pPr>
            <a:r>
              <a:rPr lang="en-US" altLang="zh-CN" b="0" i="1" dirty="0">
                <a:effectLst/>
                <a:latin typeface="KaTeX_Math"/>
              </a:rPr>
              <a:t>A</a:t>
            </a:r>
            <a:r>
              <a:rPr lang="en-US" altLang="zh-CN" b="0" i="0" dirty="0">
                <a:effectLst/>
                <a:latin typeface="ui-sans-serif"/>
              </a:rPr>
              <a:t> is the amplitude of the wave,</a:t>
            </a:r>
          </a:p>
          <a:p>
            <a:pPr algn="l">
              <a:buFont typeface="Arial" panose="020B0604020202020204" pitchFamily="34" charset="0"/>
              <a:buChar char="•"/>
            </a:pPr>
            <a:r>
              <a:rPr lang="en-US" altLang="zh-CN" b="0" i="1" dirty="0">
                <a:effectLst/>
                <a:latin typeface="KaTeX_Math"/>
              </a:rPr>
              <a:t>k</a:t>
            </a:r>
            <a:r>
              <a:rPr lang="en-US" altLang="zh-CN" b="0" i="0" dirty="0">
                <a:effectLst/>
                <a:latin typeface="ui-sans-serif"/>
              </a:rPr>
              <a:t> is the </a:t>
            </a:r>
            <a:r>
              <a:rPr lang="en-US" altLang="zh-CN" b="1" i="0" dirty="0">
                <a:effectLst/>
                <a:latin typeface="ui-sans-serif"/>
              </a:rPr>
              <a:t>wave number </a:t>
            </a:r>
            <a:r>
              <a:rPr lang="en-US" altLang="zh-CN" b="0" i="0" dirty="0">
                <a:effectLst/>
                <a:latin typeface="ui-sans-serif"/>
              </a:rPr>
              <a:t>, related to the wavelength </a:t>
            </a:r>
            <a:r>
              <a:rPr lang="en-US" altLang="zh-CN" b="0" i="1" dirty="0">
                <a:effectLst/>
                <a:latin typeface="KaTeX_Math"/>
              </a:rPr>
              <a:t>λ</a:t>
            </a:r>
            <a:r>
              <a:rPr lang="en-US" altLang="zh-CN" b="0" i="0" dirty="0">
                <a:effectLst/>
                <a:latin typeface="ui-sans-serif"/>
              </a:rPr>
              <a:t> by </a:t>
            </a:r>
            <a:r>
              <a:rPr lang="en-US" altLang="zh-CN" b="0" i="1" dirty="0">
                <a:effectLst/>
                <a:latin typeface="KaTeX_Math"/>
              </a:rPr>
              <a:t>k</a:t>
            </a:r>
            <a:r>
              <a:rPr lang="en-US" altLang="zh-CN" b="0" i="0" dirty="0">
                <a:effectLst/>
                <a:latin typeface="KaTeX_Main"/>
              </a:rPr>
              <a:t>=</a:t>
            </a:r>
            <a:r>
              <a:rPr lang="en-US" altLang="zh-CN" b="0" i="1" dirty="0">
                <a:effectLst/>
                <a:latin typeface="KaTeX_Math"/>
              </a:rPr>
              <a:t>λ</a:t>
            </a:r>
            <a:r>
              <a:rPr lang="en-US" altLang="zh-CN" b="0" i="0" dirty="0">
                <a:effectLst/>
                <a:latin typeface="KaTeX_Main"/>
              </a:rPr>
              <a:t>2</a:t>
            </a:r>
            <a:r>
              <a:rPr lang="en-US" altLang="zh-CN" b="0" i="1" dirty="0">
                <a:effectLst/>
                <a:latin typeface="KaTeX_Math"/>
              </a:rPr>
              <a:t>π</a:t>
            </a:r>
            <a:r>
              <a:rPr lang="en-US" altLang="zh-CN" b="0" i="0" dirty="0">
                <a:effectLst/>
                <a:latin typeface="KaTeX_Main"/>
              </a:rPr>
              <a:t>​</a:t>
            </a:r>
            <a:r>
              <a:rPr lang="en-US" altLang="zh-CN" b="0" i="0" dirty="0">
                <a:effectLst/>
                <a:latin typeface="ui-sans-serif"/>
              </a:rPr>
              <a:t>,</a:t>
            </a:r>
          </a:p>
          <a:p>
            <a:pPr algn="l">
              <a:buFont typeface="Arial" panose="020B0604020202020204" pitchFamily="34" charset="0"/>
              <a:buChar char="•"/>
            </a:pPr>
            <a:r>
              <a:rPr lang="en-US" altLang="zh-CN" b="0" i="1" dirty="0">
                <a:effectLst/>
                <a:latin typeface="KaTeX_Math"/>
              </a:rPr>
              <a:t>ω</a:t>
            </a:r>
            <a:r>
              <a:rPr lang="en-US" altLang="zh-CN" b="0" i="0" dirty="0">
                <a:effectLst/>
                <a:latin typeface="ui-sans-serif"/>
              </a:rPr>
              <a:t> is the </a:t>
            </a:r>
            <a:r>
              <a:rPr lang="en-US" altLang="zh-CN" b="1" i="0" dirty="0">
                <a:effectLst/>
                <a:latin typeface="ui-sans-serif"/>
              </a:rPr>
              <a:t>angular frequency </a:t>
            </a:r>
            <a:r>
              <a:rPr lang="en-US" altLang="zh-CN" b="0" i="0" dirty="0">
                <a:effectLst/>
                <a:latin typeface="ui-sans-serif"/>
              </a:rPr>
              <a:t>, related to the frequency </a:t>
            </a:r>
            <a:r>
              <a:rPr lang="en-US" altLang="zh-CN" b="0" i="1" dirty="0">
                <a:effectLst/>
                <a:latin typeface="KaTeX_Math"/>
              </a:rPr>
              <a:t>f</a:t>
            </a:r>
            <a:r>
              <a:rPr lang="en-US" altLang="zh-CN" b="0" i="0" dirty="0">
                <a:effectLst/>
                <a:latin typeface="ui-sans-serif"/>
              </a:rPr>
              <a:t> by </a:t>
            </a:r>
            <a:r>
              <a:rPr lang="en-US" altLang="zh-CN" b="0" i="1" dirty="0">
                <a:effectLst/>
                <a:latin typeface="KaTeX_Math"/>
              </a:rPr>
              <a:t>ω</a:t>
            </a:r>
            <a:r>
              <a:rPr lang="en-US" altLang="zh-CN" b="0" i="0" dirty="0">
                <a:effectLst/>
                <a:latin typeface="KaTeX_Main"/>
              </a:rPr>
              <a:t>=2</a:t>
            </a:r>
            <a:r>
              <a:rPr lang="en-US" altLang="zh-CN" b="0" i="1" dirty="0">
                <a:effectLst/>
                <a:latin typeface="KaTeX_Math"/>
              </a:rPr>
              <a:t>πf</a:t>
            </a:r>
            <a:r>
              <a:rPr lang="en-US" altLang="zh-CN" b="0" i="0" dirty="0">
                <a:effectLst/>
                <a:latin typeface="ui-sans-serif"/>
              </a:rPr>
              <a:t>,</a:t>
            </a:r>
          </a:p>
          <a:p>
            <a:pPr algn="l">
              <a:buFont typeface="Arial" panose="020B0604020202020204" pitchFamily="34" charset="0"/>
              <a:buChar char="•"/>
            </a:pPr>
            <a:r>
              <a:rPr lang="en-US" altLang="zh-CN" b="0" i="1" dirty="0">
                <a:effectLst/>
                <a:latin typeface="KaTeX_Math"/>
              </a:rPr>
              <a:t>δ</a:t>
            </a:r>
            <a:r>
              <a:rPr lang="en-US" altLang="zh-CN" b="0" i="0" dirty="0">
                <a:effectLst/>
                <a:latin typeface="ui-sans-serif"/>
              </a:rPr>
              <a:t> is the phase constant,</a:t>
            </a:r>
          </a:p>
          <a:p>
            <a:pPr algn="l">
              <a:buFont typeface="Arial" panose="020B0604020202020204" pitchFamily="34" charset="0"/>
              <a:buChar char="•"/>
            </a:pPr>
            <a:r>
              <a:rPr lang="en-US" altLang="zh-CN" b="0" i="1" dirty="0">
                <a:effectLst/>
                <a:latin typeface="KaTeX_Math"/>
              </a:rPr>
              <a:t>v</a:t>
            </a:r>
            <a:r>
              <a:rPr lang="en-US" altLang="zh-CN" b="0" i="0" dirty="0">
                <a:effectLst/>
                <a:latin typeface="KaTeX_Main"/>
              </a:rPr>
              <a:t>=</a:t>
            </a:r>
            <a:r>
              <a:rPr lang="en-US" altLang="zh-CN" b="0" i="1" dirty="0" err="1">
                <a:effectLst/>
                <a:latin typeface="KaTeX_Math"/>
              </a:rPr>
              <a:t>kω</a:t>
            </a:r>
            <a:r>
              <a:rPr lang="en-US" altLang="zh-CN" b="0" i="0" dirty="0">
                <a:effectLst/>
                <a:latin typeface="KaTeX_Main"/>
              </a:rPr>
              <a:t>​</a:t>
            </a:r>
            <a:r>
              <a:rPr lang="en-US" altLang="zh-CN" b="0" i="0" dirty="0">
                <a:effectLst/>
                <a:latin typeface="ui-sans-serif"/>
              </a:rPr>
              <a:t> is the wave speed.</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3B7EDEF-D1E3-1DF8-07DD-6E0473018B62}"/>
                  </a:ext>
                </a:extLst>
              </p:cNvPr>
              <p:cNvSpPr txBox="1"/>
              <p:nvPr/>
            </p:nvSpPr>
            <p:spPr>
              <a:xfrm>
                <a:off x="2976483" y="2841993"/>
                <a:ext cx="34527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b="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b="0" i="1">
                              <a:latin typeface="Cambria Math" panose="02040503050406030204" pitchFamily="18" charset="0"/>
                            </a:rPr>
                            <m:t>,</m:t>
                          </m:r>
                          <m:r>
                            <a:rPr lang="zh-CN" altLang="en-US" sz="2000" b="0" i="1">
                              <a:latin typeface="Cambria Math" panose="02040503050406030204" pitchFamily="18" charset="0"/>
                            </a:rPr>
                            <m:t>𝑡</m:t>
                          </m:r>
                        </m:e>
                      </m:d>
                      <m:r>
                        <a:rPr lang="zh-CN" altLang="en-US" sz="2000" b="0" i="1">
                          <a:latin typeface="Cambria Math" panose="02040503050406030204" pitchFamily="18" charset="0"/>
                        </a:rPr>
                        <m:t>=</m:t>
                      </m:r>
                      <m:r>
                        <a:rPr lang="zh-CN" altLang="en-US" sz="2000" b="0" i="1">
                          <a:latin typeface="Cambria Math" panose="02040503050406030204" pitchFamily="18" charset="0"/>
                        </a:rPr>
                        <m:t>𝐴</m:t>
                      </m:r>
                      <m:func>
                        <m:funcPr>
                          <m:ctrlPr>
                            <a:rPr lang="zh-CN" altLang="en-US" sz="2000" i="1">
                              <a:latin typeface="Cambria Math" panose="02040503050406030204" pitchFamily="18" charset="0"/>
                            </a:rPr>
                          </m:ctrlPr>
                        </m:funcPr>
                        <m:fName>
                          <m:r>
                            <a:rPr lang="zh-CN" altLang="en-US" sz="2000" b="0" i="1">
                              <a:latin typeface="Cambria Math" panose="02040503050406030204" pitchFamily="18" charset="0"/>
                            </a:rPr>
                            <m:t>𝑐𝑜𝑠</m:t>
                          </m:r>
                        </m:fName>
                        <m:e>
                          <m:d>
                            <m:dPr>
                              <m:begChr m:val="["/>
                              <m:endChr m:val="]"/>
                              <m:ctrlPr>
                                <a:rPr lang="zh-CN" altLang="en-US" sz="2000" i="1">
                                  <a:solidFill>
                                    <a:srgbClr val="836967"/>
                                  </a:solidFill>
                                  <a:latin typeface="Cambria Math" panose="02040503050406030204" pitchFamily="18" charset="0"/>
                                </a:rPr>
                              </m:ctrlPr>
                            </m:dPr>
                            <m:e>
                              <m:d>
                                <m:dPr>
                                  <m:ctrlPr>
                                    <a:rPr lang="zh-CN" altLang="en-US" sz="2000" i="1">
                                      <a:solidFill>
                                        <a:srgbClr val="836967"/>
                                      </a:solidFill>
                                      <a:latin typeface="Cambria Math" panose="02040503050406030204" pitchFamily="18" charset="0"/>
                                    </a:rPr>
                                  </m:ctrlPr>
                                </m:dPr>
                                <m:e>
                                  <m:r>
                                    <a:rPr lang="zh-CN" altLang="en-US" sz="2000" b="0" i="1">
                                      <a:latin typeface="Cambria Math" panose="02040503050406030204" pitchFamily="18" charset="0"/>
                                    </a:rPr>
                                    <m:t>𝑘</m:t>
                                  </m:r>
                                  <m:r>
                                    <a:rPr lang="en-US" altLang="zh-CN" sz="2000" b="0" i="1" smtClean="0">
                                      <a:latin typeface="Cambria Math" panose="02040503050406030204" pitchFamily="18" charset="0"/>
                                    </a:rPr>
                                    <m:t>𝑥</m:t>
                                  </m:r>
                                  <m:r>
                                    <a:rPr lang="en-US" altLang="zh-CN" sz="2000" b="0" i="1">
                                      <a:latin typeface="Cambria Math" panose="02040503050406030204" pitchFamily="18" charset="0"/>
                                    </a:rPr>
                                    <m:t>−</m:t>
                                  </m:r>
                                  <m:r>
                                    <a:rPr lang="en-US" altLang="zh-CN" sz="2000" b="0" i="1" dirty="0">
                                      <a:latin typeface="Cambria Math" panose="02040503050406030204" pitchFamily="18" charset="0"/>
                                      <a:ea typeface="Cambria Math" panose="02040503050406030204" pitchFamily="18" charset="0"/>
                                    </a:rPr>
                                    <m:t>𝜔</m:t>
                                  </m:r>
                                  <m:r>
                                    <a:rPr lang="en-US" altLang="zh-CN" sz="2000" b="0" i="1">
                                      <a:latin typeface="Cambria Math" panose="02040503050406030204" pitchFamily="18" charset="0"/>
                                    </a:rPr>
                                    <m:t>𝑡</m:t>
                                  </m:r>
                                </m:e>
                              </m:d>
                              <m:r>
                                <a:rPr lang="en-US" altLang="zh-CN" sz="2000" b="0" i="1" smtClean="0">
                                  <a:latin typeface="Cambria Math" panose="02040503050406030204" pitchFamily="18" charset="0"/>
                                </a:rPr>
                                <m:t>−</m:t>
                              </m:r>
                              <m:r>
                                <a:rPr lang="zh-CN" altLang="en-US" sz="2000" b="0" i="1">
                                  <a:latin typeface="Cambria Math" panose="02040503050406030204" pitchFamily="18" charset="0"/>
                                </a:rPr>
                                <m:t>𝛿</m:t>
                              </m:r>
                            </m:e>
                          </m:d>
                        </m:e>
                      </m:func>
                    </m:oMath>
                  </m:oMathPara>
                </a14:m>
                <a:endParaRPr lang="zh-CN" altLang="en-US" sz="2000" i="1" dirty="0"/>
              </a:p>
            </p:txBody>
          </p:sp>
        </mc:Choice>
        <mc:Fallback xmlns="">
          <p:sp>
            <p:nvSpPr>
              <p:cNvPr id="18" name="文本框 17">
                <a:extLst>
                  <a:ext uri="{FF2B5EF4-FFF2-40B4-BE49-F238E27FC236}">
                    <a16:creationId xmlns:a16="http://schemas.microsoft.com/office/drawing/2014/main" id="{C3B7EDEF-D1E3-1DF8-07DD-6E0473018B62}"/>
                  </a:ext>
                </a:extLst>
              </p:cNvPr>
              <p:cNvSpPr txBox="1">
                <a:spLocks noRot="1" noChangeAspect="1" noMove="1" noResize="1" noEditPoints="1" noAdjustHandles="1" noChangeArrowheads="1" noChangeShapeType="1" noTextEdit="1"/>
              </p:cNvSpPr>
              <p:nvPr/>
            </p:nvSpPr>
            <p:spPr>
              <a:xfrm>
                <a:off x="2976483" y="2841993"/>
                <a:ext cx="3452740" cy="307777"/>
              </a:xfrm>
              <a:prstGeom prst="rect">
                <a:avLst/>
              </a:prstGeom>
              <a:blipFill>
                <a:blip r:embed="rId3"/>
                <a:stretch>
                  <a:fillRect l="-1058"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DF35DB3-6B9A-888A-40A9-B588CFB39B33}"/>
                  </a:ext>
                </a:extLst>
              </p:cNvPr>
              <p:cNvSpPr txBox="1"/>
              <p:nvPr/>
            </p:nvSpPr>
            <p:spPr>
              <a:xfrm>
                <a:off x="3963450" y="3495585"/>
                <a:ext cx="2398029" cy="328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0">
                              <a:latin typeface="Cambria Math" panose="02040503050406030204" pitchFamily="18" charset="0"/>
                            </a:rPr>
                            <m:t>0</m:t>
                          </m:r>
                        </m:sub>
                      </m:sSub>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zh-CN" altLang="en-US" sz="2000" i="1">
                              <a:latin typeface="Cambria Math" panose="02040503050406030204" pitchFamily="18" charset="0"/>
                            </a:rPr>
                            <m:t>𝑗</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sup>
                      </m:sSup>
                    </m:oMath>
                  </m:oMathPara>
                </a14:m>
                <a:endParaRPr lang="zh-CN" altLang="en-US" sz="2000" dirty="0"/>
              </a:p>
            </p:txBody>
          </p:sp>
        </mc:Choice>
        <mc:Fallback xmlns="">
          <p:sp>
            <p:nvSpPr>
              <p:cNvPr id="19" name="文本框 18">
                <a:extLst>
                  <a:ext uri="{FF2B5EF4-FFF2-40B4-BE49-F238E27FC236}">
                    <a16:creationId xmlns:a16="http://schemas.microsoft.com/office/drawing/2014/main" id="{4DF35DB3-6B9A-888A-40A9-B588CFB39B33}"/>
                  </a:ext>
                </a:extLst>
              </p:cNvPr>
              <p:cNvSpPr txBox="1">
                <a:spLocks noRot="1" noChangeAspect="1" noMove="1" noResize="1" noEditPoints="1" noAdjustHandles="1" noChangeArrowheads="1" noChangeShapeType="1" noTextEdit="1"/>
              </p:cNvSpPr>
              <p:nvPr/>
            </p:nvSpPr>
            <p:spPr>
              <a:xfrm>
                <a:off x="3963450" y="3495585"/>
                <a:ext cx="2398029" cy="328680"/>
              </a:xfrm>
              <a:prstGeom prst="rect">
                <a:avLst/>
              </a:prstGeom>
              <a:blipFill>
                <a:blip r:embed="rId4"/>
                <a:stretch>
                  <a:fillRect l="-1523" b="-18519"/>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292115B8-025D-38B8-D008-A0EECBC9DEDD}"/>
              </a:ext>
            </a:extLst>
          </p:cNvPr>
          <p:cNvSpPr txBox="1"/>
          <p:nvPr/>
        </p:nvSpPr>
        <p:spPr>
          <a:xfrm>
            <a:off x="923856" y="884309"/>
            <a:ext cx="7557991" cy="923330"/>
          </a:xfrm>
          <a:prstGeom prst="rect">
            <a:avLst/>
          </a:prstGeom>
          <a:noFill/>
        </p:spPr>
        <p:txBody>
          <a:bodyPr wrap="square">
            <a:spAutoFit/>
          </a:bodyPr>
          <a:lstStyle/>
          <a:p>
            <a:r>
              <a:rPr lang="en-US" altLang="zh-CN" dirty="0"/>
              <a:t>Harmonic solutions </a:t>
            </a:r>
            <a:r>
              <a:rPr lang="zh-CN" altLang="en-US" dirty="0"/>
              <a:t>是波动方程的特定解，描述了在空间和时间上呈正弦或余弦形式的周期性波。这些解通常被称为简谐波解 ，因为它们具有简单的正弦或余弦形式，并且是波动方程中最基本、最重要的解之一。</a:t>
            </a:r>
          </a:p>
        </p:txBody>
      </p:sp>
    </p:spTree>
    <p:extLst>
      <p:ext uri="{BB962C8B-B14F-4D97-AF65-F5344CB8AC3E}">
        <p14:creationId xmlns:p14="http://schemas.microsoft.com/office/powerpoint/2010/main" val="4017212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2D72-B390-D657-0F00-F7FA1480DAEE}"/>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DBE60328-E4ED-F896-EC51-5534833CDDCF}"/>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Harmonic wave solutions to the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7D5655B-0042-5D42-55A9-0118FCD53E1C}"/>
                  </a:ext>
                </a:extLst>
              </p:cNvPr>
              <p:cNvSpPr txBox="1"/>
              <p:nvPr/>
            </p:nvSpPr>
            <p:spPr>
              <a:xfrm>
                <a:off x="3725410" y="888541"/>
                <a:ext cx="2022220" cy="617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000" i="1" smtClean="0">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m:t>
                      </m:r>
                      <m:r>
                        <a:rPr lang="en-US" altLang="zh-CN" sz="2000" i="1" smtClean="0">
                          <a:latin typeface="Cambria Math" panose="02040503050406030204" pitchFamily="18" charset="0"/>
                        </a:rPr>
                        <m:t>𝜇</m:t>
                      </m:r>
                      <m:r>
                        <a:rPr lang="zh-CN" altLang="en-US" sz="2000" i="1">
                          <a:latin typeface="Cambria Math" panose="02040503050406030204" pitchFamily="18" charset="0"/>
                        </a:rPr>
                        <m:t>𝜀</m:t>
                      </m:r>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=0</m:t>
                      </m:r>
                    </m:oMath>
                  </m:oMathPara>
                </a14:m>
                <a:endParaRPr lang="zh-CN" altLang="en-US" sz="2000" dirty="0"/>
              </a:p>
            </p:txBody>
          </p:sp>
        </mc:Choice>
        <mc:Fallback xmlns="">
          <p:sp>
            <p:nvSpPr>
              <p:cNvPr id="4" name="文本框 3">
                <a:extLst>
                  <a:ext uri="{FF2B5EF4-FFF2-40B4-BE49-F238E27FC236}">
                    <a16:creationId xmlns:a16="http://schemas.microsoft.com/office/drawing/2014/main" id="{97D5655B-0042-5D42-55A9-0118FCD53E1C}"/>
                  </a:ext>
                </a:extLst>
              </p:cNvPr>
              <p:cNvSpPr txBox="1">
                <a:spLocks noRot="1" noChangeAspect="1" noMove="1" noResize="1" noEditPoints="1" noAdjustHandles="1" noChangeArrowheads="1" noChangeShapeType="1" noTextEdit="1"/>
              </p:cNvSpPr>
              <p:nvPr/>
            </p:nvSpPr>
            <p:spPr>
              <a:xfrm>
                <a:off x="3725410" y="888541"/>
                <a:ext cx="2022220" cy="617605"/>
              </a:xfrm>
              <a:prstGeom prst="rect">
                <a:avLst/>
              </a:prstGeom>
              <a:blipFill>
                <a:blip r:embed="rId3"/>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FA69866-238A-5FE9-7ECA-3ACC677DFBB4}"/>
              </a:ext>
            </a:extLst>
          </p:cNvPr>
          <p:cNvSpPr txBox="1"/>
          <p:nvPr/>
        </p:nvSpPr>
        <p:spPr>
          <a:xfrm>
            <a:off x="834288" y="1764466"/>
            <a:ext cx="7700111" cy="1631216"/>
          </a:xfrm>
          <a:prstGeom prst="rect">
            <a:avLst/>
          </a:prstGeom>
          <a:noFill/>
        </p:spPr>
        <p:txBody>
          <a:bodyPr wrap="square">
            <a:spAutoFit/>
          </a:bodyPr>
          <a:lstStyle/>
          <a:p>
            <a:r>
              <a:rPr lang="en-US" altLang="zh-CN" sz="2000" dirty="0"/>
              <a:t>The most general solution has </a:t>
            </a:r>
            <a:r>
              <a:rPr lang="en-US" altLang="zh-CN" sz="2000" b="1" dirty="0"/>
              <a:t>two</a:t>
            </a:r>
            <a:r>
              <a:rPr lang="en-US" altLang="zh-CN" sz="2000" dirty="0"/>
              <a:t> unknown constants, which</a:t>
            </a:r>
          </a:p>
          <a:p>
            <a:r>
              <a:rPr lang="en-US" altLang="zh-CN" sz="2000" dirty="0"/>
              <a:t>cannot be determined without some additional information about</a:t>
            </a:r>
          </a:p>
          <a:p>
            <a:r>
              <a:rPr lang="en-US" altLang="zh-CN" sz="2000" dirty="0"/>
              <a:t>the problem.</a:t>
            </a:r>
          </a:p>
          <a:p>
            <a:r>
              <a:rPr lang="en-US" altLang="zh-CN" sz="2000" dirty="0"/>
              <a:t>We might expect that oscillatory solutions (</a:t>
            </a:r>
            <a:r>
              <a:rPr lang="en-US" altLang="zh-CN" sz="2000" b="1" dirty="0"/>
              <a:t>sines</a:t>
            </a:r>
            <a:r>
              <a:rPr lang="en-US" altLang="zh-CN" sz="2000" dirty="0"/>
              <a:t> and </a:t>
            </a:r>
            <a:r>
              <a:rPr lang="en-US" altLang="zh-CN" sz="2000" b="1" dirty="0"/>
              <a:t>cosines</a:t>
            </a:r>
            <a:r>
              <a:rPr lang="en-US" altLang="zh-CN" sz="2000" dirty="0"/>
              <a:t>) will be very relevant for light waves. (</a:t>
            </a:r>
            <a:r>
              <a:rPr lang="zh-CN" altLang="en-US" sz="2000" dirty="0"/>
              <a:t>二阶线性齐次微分方程通解：</a:t>
            </a:r>
            <a:r>
              <a:rPr lang="en-US" altLang="zh-CN" sz="2000" dirty="0"/>
              <a:t>)</a:t>
            </a:r>
            <a:endParaRPr lang="zh-CN" altLang="en-US" sz="2000"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C64DB2A-7A2E-23DA-3945-E31EC183F7CC}"/>
                  </a:ext>
                </a:extLst>
              </p:cNvPr>
              <p:cNvSpPr txBox="1"/>
              <p:nvPr/>
            </p:nvSpPr>
            <p:spPr>
              <a:xfrm>
                <a:off x="2243947" y="3938608"/>
                <a:ext cx="498514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en-US" altLang="zh-CN" sz="2000" b="0" i="1" smtClean="0">
                          <a:latin typeface="Cambria Math" panose="02040503050406030204" pitchFamily="18" charset="0"/>
                        </a:rPr>
                        <m:t>𝐵</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cos</m:t>
                          </m:r>
                        </m:fName>
                        <m:e>
                          <m:d>
                            <m:dPr>
                              <m:begChr m:val="["/>
                              <m:endChr m:val="]"/>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𝑐𝑡</m:t>
                                  </m:r>
                                </m:e>
                              </m:d>
                            </m:e>
                          </m:d>
                        </m:e>
                      </m:func>
                      <m:r>
                        <a:rPr lang="zh-CN" altLang="en-US" sz="2000" i="0">
                          <a:latin typeface="Cambria Math" panose="02040503050406030204" pitchFamily="18" charset="0"/>
                        </a:rPr>
                        <m:t>+</m:t>
                      </m:r>
                      <m:r>
                        <a:rPr lang="zh-CN" altLang="en-US" sz="2000" i="1">
                          <a:latin typeface="Cambria Math" panose="02040503050406030204" pitchFamily="18" charset="0"/>
                        </a:rPr>
                        <m:t>𝐶</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sin</m:t>
                          </m:r>
                        </m:fName>
                        <m:e>
                          <m:d>
                            <m:dPr>
                              <m:begChr m:val="["/>
                              <m:endChr m:val="]"/>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en-US" altLang="zh-CN" sz="2000" b="0" i="1" smtClean="0">
                                      <a:latin typeface="Cambria Math" panose="02040503050406030204" pitchFamily="18" charset="0"/>
                                    </a:rPr>
                                    <m:t>𝑐</m:t>
                                  </m:r>
                                  <m:r>
                                    <a:rPr lang="zh-CN" altLang="en-US" sz="2000" i="1">
                                      <a:latin typeface="Cambria Math" panose="02040503050406030204" pitchFamily="18" charset="0"/>
                                    </a:rPr>
                                    <m:t>𝑡</m:t>
                                  </m:r>
                                </m:e>
                              </m:d>
                            </m:e>
                          </m:d>
                        </m:e>
                      </m:func>
                    </m:oMath>
                  </m:oMathPara>
                </a14:m>
                <a:endParaRPr lang="zh-CN" altLang="en-US" sz="2000" dirty="0"/>
              </a:p>
            </p:txBody>
          </p:sp>
        </mc:Choice>
        <mc:Fallback xmlns="">
          <p:sp>
            <p:nvSpPr>
              <p:cNvPr id="9" name="文本框 8">
                <a:extLst>
                  <a:ext uri="{FF2B5EF4-FFF2-40B4-BE49-F238E27FC236}">
                    <a16:creationId xmlns:a16="http://schemas.microsoft.com/office/drawing/2014/main" id="{5C64DB2A-7A2E-23DA-3945-E31EC183F7CC}"/>
                  </a:ext>
                </a:extLst>
              </p:cNvPr>
              <p:cNvSpPr txBox="1">
                <a:spLocks noRot="1" noChangeAspect="1" noMove="1" noResize="1" noEditPoints="1" noAdjustHandles="1" noChangeArrowheads="1" noChangeShapeType="1" noTextEdit="1"/>
              </p:cNvSpPr>
              <p:nvPr/>
            </p:nvSpPr>
            <p:spPr>
              <a:xfrm>
                <a:off x="2243947" y="3938608"/>
                <a:ext cx="4985146" cy="307777"/>
              </a:xfrm>
              <a:prstGeom prst="rect">
                <a:avLst/>
              </a:prstGeom>
              <a:blipFill>
                <a:blip r:embed="rId4"/>
                <a:stretch>
                  <a:fillRect l="-489"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DBA2CDD-1034-5C13-64B3-AA08E755FB46}"/>
                  </a:ext>
                </a:extLst>
              </p:cNvPr>
              <p:cNvSpPr txBox="1"/>
              <p:nvPr/>
            </p:nvSpPr>
            <p:spPr>
              <a:xfrm>
                <a:off x="2380490" y="5348884"/>
                <a:ext cx="47457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zh-CN" altLang="en-US" sz="2000" i="1">
                          <a:latin typeface="Cambria Math" panose="02040503050406030204" pitchFamily="18" charset="0"/>
                        </a:rPr>
                        <m:t>𝐵</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r>
                        <a:rPr lang="zh-CN" altLang="en-US" sz="2000" i="0">
                          <a:latin typeface="Cambria Math" panose="02040503050406030204" pitchFamily="18" charset="0"/>
                        </a:rPr>
                        <m:t>+</m:t>
                      </m:r>
                      <m:r>
                        <a:rPr lang="zh-CN" altLang="en-US" sz="2000" i="1">
                          <a:latin typeface="Cambria Math" panose="02040503050406030204" pitchFamily="18" charset="0"/>
                        </a:rPr>
                        <m:t>𝐶</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oMath>
                  </m:oMathPara>
                </a14:m>
                <a:endParaRPr lang="zh-CN" altLang="en-US" sz="2000" dirty="0"/>
              </a:p>
            </p:txBody>
          </p:sp>
        </mc:Choice>
        <mc:Fallback xmlns="">
          <p:sp>
            <p:nvSpPr>
              <p:cNvPr id="10" name="文本框 9">
                <a:extLst>
                  <a:ext uri="{FF2B5EF4-FFF2-40B4-BE49-F238E27FC236}">
                    <a16:creationId xmlns:a16="http://schemas.microsoft.com/office/drawing/2014/main" id="{5DBA2CDD-1034-5C13-64B3-AA08E755FB46}"/>
                  </a:ext>
                </a:extLst>
              </p:cNvPr>
              <p:cNvSpPr txBox="1">
                <a:spLocks noRot="1" noChangeAspect="1" noMove="1" noResize="1" noEditPoints="1" noAdjustHandles="1" noChangeArrowheads="1" noChangeShapeType="1" noTextEdit="1"/>
              </p:cNvSpPr>
              <p:nvPr/>
            </p:nvSpPr>
            <p:spPr>
              <a:xfrm>
                <a:off x="2380490" y="5348884"/>
                <a:ext cx="4745723" cy="307777"/>
              </a:xfrm>
              <a:prstGeom prst="rect">
                <a:avLst/>
              </a:prstGeom>
              <a:blipFill>
                <a:blip r:embed="rId5"/>
                <a:stretch>
                  <a:fillRect l="-771"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2577094-3DF5-4F72-8B4F-74CDC8F41F70}"/>
                  </a:ext>
                </a:extLst>
              </p:cNvPr>
              <p:cNvSpPr txBox="1"/>
              <p:nvPr/>
            </p:nvSpPr>
            <p:spPr>
              <a:xfrm>
                <a:off x="5081528" y="4635423"/>
                <a:ext cx="86478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𝑘𝑐</m:t>
                      </m:r>
                      <m:r>
                        <a:rPr lang="zh-CN" altLang="en-US" sz="2000" i="0">
                          <a:latin typeface="Cambria Math" panose="02040503050406030204" pitchFamily="18" charset="0"/>
                        </a:rPr>
                        <m:t>=</m:t>
                      </m:r>
                      <m:r>
                        <a:rPr lang="zh-CN" altLang="en-US" sz="2000" i="1">
                          <a:latin typeface="Cambria Math" panose="02040503050406030204" pitchFamily="18" charset="0"/>
                        </a:rPr>
                        <m:t>𝜔</m:t>
                      </m:r>
                    </m:oMath>
                  </m:oMathPara>
                </a14:m>
                <a:endParaRPr lang="zh-CN" altLang="en-US" sz="2000" dirty="0"/>
              </a:p>
            </p:txBody>
          </p:sp>
        </mc:Choice>
        <mc:Fallback xmlns="">
          <p:sp>
            <p:nvSpPr>
              <p:cNvPr id="12" name="文本框 11">
                <a:extLst>
                  <a:ext uri="{FF2B5EF4-FFF2-40B4-BE49-F238E27FC236}">
                    <a16:creationId xmlns:a16="http://schemas.microsoft.com/office/drawing/2014/main" id="{D2577094-3DF5-4F72-8B4F-74CDC8F41F70}"/>
                  </a:ext>
                </a:extLst>
              </p:cNvPr>
              <p:cNvSpPr txBox="1">
                <a:spLocks noRot="1" noChangeAspect="1" noMove="1" noResize="1" noEditPoints="1" noAdjustHandles="1" noChangeArrowheads="1" noChangeShapeType="1" noTextEdit="1"/>
              </p:cNvSpPr>
              <p:nvPr/>
            </p:nvSpPr>
            <p:spPr>
              <a:xfrm>
                <a:off x="5081528" y="4635423"/>
                <a:ext cx="864789" cy="307777"/>
              </a:xfrm>
              <a:prstGeom prst="rect">
                <a:avLst/>
              </a:prstGeom>
              <a:blipFill>
                <a:blip r:embed="rId6"/>
                <a:stretch>
                  <a:fillRect l="-6383" r="-2128" b="-9804"/>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33F2803-AE4B-AAF6-623A-28B5D552AE71}"/>
              </a:ext>
            </a:extLst>
          </p:cNvPr>
          <p:cNvSpPr txBox="1"/>
          <p:nvPr/>
        </p:nvSpPr>
        <p:spPr>
          <a:xfrm>
            <a:off x="2253084" y="4604645"/>
            <a:ext cx="2615610" cy="369332"/>
          </a:xfrm>
          <a:prstGeom prst="rect">
            <a:avLst/>
          </a:prstGeom>
          <a:noFill/>
        </p:spPr>
        <p:txBody>
          <a:bodyPr wrap="square">
            <a:spAutoFit/>
          </a:bodyPr>
          <a:lstStyle/>
          <a:p>
            <a:r>
              <a:rPr lang="en-US" altLang="zh-CN" dirty="0"/>
              <a:t>Making the substitution</a:t>
            </a:r>
            <a:endParaRPr lang="zh-CN" altLang="en-US" dirty="0"/>
          </a:p>
        </p:txBody>
      </p:sp>
    </p:spTree>
    <p:extLst>
      <p:ext uri="{BB962C8B-B14F-4D97-AF65-F5344CB8AC3E}">
        <p14:creationId xmlns:p14="http://schemas.microsoft.com/office/powerpoint/2010/main" val="2060376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 simpler equation for a harmonic wave</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8160AB2-11C6-0325-BD5B-24D6EA134D1C}"/>
                  </a:ext>
                </a:extLst>
              </p:cNvPr>
              <p:cNvSpPr txBox="1"/>
              <p:nvPr/>
            </p:nvSpPr>
            <p:spPr>
              <a:xfrm>
                <a:off x="3312100" y="1084386"/>
                <a:ext cx="13609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𝐵</m:t>
                      </m:r>
                      <m:r>
                        <a:rPr lang="zh-CN" altLang="en-US" i="0">
                          <a:latin typeface="Cambria Math" panose="02040503050406030204" pitchFamily="18" charset="0"/>
                        </a:rPr>
                        <m:t>=</m:t>
                      </m:r>
                      <m:r>
                        <a:rPr lang="zh-CN" altLang="en-US" i="1">
                          <a:latin typeface="Cambria Math" panose="02040503050406030204" pitchFamily="18" charset="0"/>
                        </a:rPr>
                        <m:t>𝐴</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d>
                            <m:dPr>
                              <m:ctrlPr>
                                <a:rPr lang="zh-CN" altLang="en-US" i="1">
                                  <a:solidFill>
                                    <a:srgbClr val="836967"/>
                                  </a:solidFill>
                                  <a:latin typeface="Cambria Math" panose="02040503050406030204" pitchFamily="18" charset="0"/>
                                </a:rPr>
                              </m:ctrlPr>
                            </m:dPr>
                            <m:e>
                              <m:r>
                                <a:rPr lang="zh-CN" altLang="en-US" i="1" smtClean="0">
                                  <a:latin typeface="Cambria Math" panose="02040503050406030204" pitchFamily="18" charset="0"/>
                                </a:rPr>
                                <m:t>𝜃</m:t>
                              </m:r>
                            </m:e>
                          </m:d>
                        </m:e>
                      </m:func>
                    </m:oMath>
                  </m:oMathPara>
                </a14:m>
                <a:endParaRPr lang="zh-CN" altLang="en-US" dirty="0"/>
              </a:p>
            </p:txBody>
          </p:sp>
        </mc:Choice>
        <mc:Fallback xmlns="">
          <p:sp>
            <p:nvSpPr>
              <p:cNvPr id="2" name="文本框 1">
                <a:extLst>
                  <a:ext uri="{FF2B5EF4-FFF2-40B4-BE49-F238E27FC236}">
                    <a16:creationId xmlns:a16="http://schemas.microsoft.com/office/drawing/2014/main" id="{48160AB2-11C6-0325-BD5B-24D6EA134D1C}"/>
                  </a:ext>
                </a:extLst>
              </p:cNvPr>
              <p:cNvSpPr txBox="1">
                <a:spLocks noRot="1" noChangeAspect="1" noMove="1" noResize="1" noEditPoints="1" noAdjustHandles="1" noChangeArrowheads="1" noChangeShapeType="1" noTextEdit="1"/>
              </p:cNvSpPr>
              <p:nvPr/>
            </p:nvSpPr>
            <p:spPr>
              <a:xfrm>
                <a:off x="3312100" y="1084386"/>
                <a:ext cx="1360949" cy="276999"/>
              </a:xfrm>
              <a:prstGeom prst="rect">
                <a:avLst/>
              </a:prstGeom>
              <a:blipFill>
                <a:blip r:embed="rId3"/>
                <a:stretch>
                  <a:fillRect l="-3125"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DAD16E1-AFCD-3AD5-21E3-4C93021DD58B}"/>
                  </a:ext>
                </a:extLst>
              </p:cNvPr>
              <p:cNvSpPr txBox="1"/>
              <p:nvPr/>
            </p:nvSpPr>
            <p:spPr>
              <a:xfrm>
                <a:off x="5266865" y="1078999"/>
                <a:ext cx="13199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m:t>
                      </m:r>
                      <m:r>
                        <a:rPr lang="zh-CN" altLang="en-US" i="0">
                          <a:latin typeface="Cambria Math" panose="02040503050406030204" pitchFamily="18" charset="0"/>
                        </a:rPr>
                        <m:t>=</m:t>
                      </m:r>
                      <m:r>
                        <a:rPr lang="zh-CN" altLang="en-US" i="1">
                          <a:latin typeface="Cambria Math" panose="02040503050406030204" pitchFamily="18" charset="0"/>
                        </a:rPr>
                        <m:t>𝐴</m:t>
                      </m:r>
                      <m:func>
                        <m:funcPr>
                          <m:ctrlPr>
                            <a:rPr lang="zh-CN" altLang="en-US" i="1">
                              <a:latin typeface="Cambria Math" panose="02040503050406030204" pitchFamily="18" charset="0"/>
                            </a:rPr>
                          </m:ctrlPr>
                        </m:funcPr>
                        <m:fName>
                          <m:r>
                            <m:rPr>
                              <m:sty m:val="p"/>
                            </m:rPr>
                            <a:rPr lang="en-US" altLang="zh-CN" b="0" i="0" smtClean="0">
                              <a:latin typeface="Cambria Math" panose="02040503050406030204" pitchFamily="18" charset="0"/>
                            </a:rPr>
                            <m:t>sin</m:t>
                          </m:r>
                        </m:fName>
                        <m:e>
                          <m:d>
                            <m:dPr>
                              <m:ctrlPr>
                                <a:rPr lang="zh-CN" altLang="en-US" i="1">
                                  <a:solidFill>
                                    <a:srgbClr val="836967"/>
                                  </a:solidFill>
                                  <a:latin typeface="Cambria Math" panose="02040503050406030204" pitchFamily="18" charset="0"/>
                                </a:rPr>
                              </m:ctrlPr>
                            </m:dPr>
                            <m:e>
                              <m:r>
                                <a:rPr lang="zh-CN" altLang="en-US" i="1" smtClean="0">
                                  <a:latin typeface="Cambria Math" panose="02040503050406030204" pitchFamily="18" charset="0"/>
                                </a:rPr>
                                <m:t>𝜃</m:t>
                              </m:r>
                            </m:e>
                          </m:d>
                        </m:e>
                      </m:func>
                    </m:oMath>
                  </m:oMathPara>
                </a14:m>
                <a:endParaRPr lang="zh-CN" altLang="en-US" dirty="0"/>
              </a:p>
            </p:txBody>
          </p:sp>
        </mc:Choice>
        <mc:Fallback xmlns="">
          <p:sp>
            <p:nvSpPr>
              <p:cNvPr id="3" name="文本框 2">
                <a:extLst>
                  <a:ext uri="{FF2B5EF4-FFF2-40B4-BE49-F238E27FC236}">
                    <a16:creationId xmlns:a16="http://schemas.microsoft.com/office/drawing/2014/main" id="{0DAD16E1-AFCD-3AD5-21E3-4C93021DD58B}"/>
                  </a:ext>
                </a:extLst>
              </p:cNvPr>
              <p:cNvSpPr txBox="1">
                <a:spLocks noRot="1" noChangeAspect="1" noMove="1" noResize="1" noEditPoints="1" noAdjustHandles="1" noChangeArrowheads="1" noChangeShapeType="1" noTextEdit="1"/>
              </p:cNvSpPr>
              <p:nvPr/>
            </p:nvSpPr>
            <p:spPr>
              <a:xfrm>
                <a:off x="5266865" y="1078999"/>
                <a:ext cx="1319977" cy="276999"/>
              </a:xfrm>
              <a:prstGeom prst="rect">
                <a:avLst/>
              </a:prstGeom>
              <a:blipFill>
                <a:blip r:embed="rId4"/>
                <a:stretch>
                  <a:fillRect l="-3687"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3CAEA0D-1A4A-544B-3D94-28A9311D14F6}"/>
                  </a:ext>
                </a:extLst>
              </p:cNvPr>
              <p:cNvSpPr txBox="1"/>
              <p:nvPr/>
            </p:nvSpPr>
            <p:spPr>
              <a:xfrm>
                <a:off x="1588683" y="1967985"/>
                <a:ext cx="623510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zh-CN" altLang="en-US" sz="2000" i="1">
                          <a:latin typeface="Cambria Math" panose="02040503050406030204" pitchFamily="18" charset="0"/>
                        </a:rPr>
                        <m:t>𝐴</m:t>
                      </m:r>
                      <m:func>
                        <m:funcPr>
                          <m:ctrlPr>
                            <a:rPr lang="zh-CN" altLang="en-US" sz="2000" i="1">
                              <a:latin typeface="Cambria Math" panose="02040503050406030204" pitchFamily="18" charset="0"/>
                            </a:rPr>
                          </m:ctrlPr>
                        </m:funcPr>
                        <m:fName>
                          <m:r>
                            <m:rPr>
                              <m:sty m:val="p"/>
                            </m:rPr>
                            <a:rPr lang="zh-CN" altLang="en-US" sz="200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func>
                            <m:funcPr>
                              <m:ctrlPr>
                                <a:rPr lang="zh-CN" altLang="en-US" sz="2000" i="1">
                                  <a:latin typeface="Cambria Math" panose="02040503050406030204" pitchFamily="18" charset="0"/>
                                </a:rPr>
                              </m:ctrlPr>
                            </m:funcPr>
                            <m:fName>
                              <m:r>
                                <m:rPr>
                                  <m:sty m:val="p"/>
                                </m:rPr>
                                <a:rPr lang="zh-CN" altLang="en-US" sz="200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𝜃</m:t>
                                  </m:r>
                                </m:e>
                              </m:d>
                            </m:e>
                          </m:func>
                        </m:e>
                      </m:func>
                      <m:r>
                        <a:rPr lang="zh-CN" altLang="en-US" sz="2000" i="0">
                          <a:latin typeface="Cambria Math" panose="02040503050406030204" pitchFamily="18" charset="0"/>
                        </a:rPr>
                        <m:t>+</m:t>
                      </m:r>
                      <m:r>
                        <a:rPr lang="zh-CN" altLang="en-US" sz="2000" i="1">
                          <a:latin typeface="Cambria Math" panose="02040503050406030204" pitchFamily="18" charset="0"/>
                        </a:rPr>
                        <m:t>𝐴</m:t>
                      </m:r>
                      <m:func>
                        <m:funcPr>
                          <m:ctrlPr>
                            <a:rPr lang="zh-CN" altLang="en-US" sz="2000" i="1">
                              <a:latin typeface="Cambria Math" panose="02040503050406030204" pitchFamily="18" charset="0"/>
                            </a:rPr>
                          </m:ctrlPr>
                        </m:funcPr>
                        <m:fName>
                          <m:r>
                            <m:rPr>
                              <m:sty m:val="p"/>
                            </m:rPr>
                            <a:rPr lang="zh-CN" altLang="en-US" sz="200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func>
                        <m:funcPr>
                          <m:ctrlPr>
                            <a:rPr lang="zh-CN" altLang="en-US" sz="2000" i="1">
                              <a:latin typeface="Cambria Math" panose="02040503050406030204" pitchFamily="18" charset="0"/>
                            </a:rPr>
                          </m:ctrlPr>
                        </m:funcPr>
                        <m:fName>
                          <m:r>
                            <m:rPr>
                              <m:sty m:val="p"/>
                            </m:rPr>
                            <a:rPr lang="en-US" altLang="zh-CN" sz="200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𝜃</m:t>
                              </m:r>
                            </m:e>
                          </m:d>
                        </m:e>
                      </m:func>
                    </m:oMath>
                  </m:oMathPara>
                </a14:m>
                <a:endParaRPr lang="zh-CN" altLang="en-US" sz="2000" dirty="0"/>
              </a:p>
            </p:txBody>
          </p:sp>
        </mc:Choice>
        <mc:Fallback xmlns="">
          <p:sp>
            <p:nvSpPr>
              <p:cNvPr id="5" name="文本框 4">
                <a:extLst>
                  <a:ext uri="{FF2B5EF4-FFF2-40B4-BE49-F238E27FC236}">
                    <a16:creationId xmlns:a16="http://schemas.microsoft.com/office/drawing/2014/main" id="{63CAEA0D-1A4A-544B-3D94-28A9311D14F6}"/>
                  </a:ext>
                </a:extLst>
              </p:cNvPr>
              <p:cNvSpPr txBox="1">
                <a:spLocks noRot="1" noChangeAspect="1" noMove="1" noResize="1" noEditPoints="1" noAdjustHandles="1" noChangeArrowheads="1" noChangeShapeType="1" noTextEdit="1"/>
              </p:cNvSpPr>
              <p:nvPr/>
            </p:nvSpPr>
            <p:spPr>
              <a:xfrm>
                <a:off x="1588683" y="1967985"/>
                <a:ext cx="6235105" cy="307777"/>
              </a:xfrm>
              <a:prstGeom prst="rect">
                <a:avLst/>
              </a:prstGeom>
              <a:blipFill>
                <a:blip r:embed="rId5"/>
                <a:stretch>
                  <a:fillRect l="-391" b="-2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F7B8330B-CFE6-2C35-288A-E27F3136525E}"/>
                  </a:ext>
                </a:extLst>
              </p:cNvPr>
              <p:cNvSpPr txBox="1"/>
              <p:nvPr/>
            </p:nvSpPr>
            <p:spPr>
              <a:xfrm>
                <a:off x="2417243" y="4918467"/>
                <a:ext cx="430951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en-US" altLang="zh-CN" sz="2400" b="0" i="1" smtClean="0">
                              <a:latin typeface="Cambria Math" panose="02040503050406030204" pitchFamily="18" charset="0"/>
                            </a:rPr>
                            <m:t>𝑥</m:t>
                          </m:r>
                          <m:r>
                            <a:rPr lang="zh-CN" altLang="en-US" sz="2400" b="0" i="1">
                              <a:latin typeface="Cambria Math" panose="02040503050406030204" pitchFamily="18" charset="0"/>
                            </a:rPr>
                            <m:t>,</m:t>
                          </m:r>
                          <m:r>
                            <a:rPr lang="zh-CN" altLang="en-US" sz="2400" b="0" i="1">
                              <a:latin typeface="Cambria Math" panose="02040503050406030204" pitchFamily="18" charset="0"/>
                            </a:rPr>
                            <m:t>𝑡</m:t>
                          </m:r>
                        </m:e>
                      </m:d>
                      <m:r>
                        <a:rPr lang="zh-CN" altLang="en-US" sz="2400" b="0" i="1">
                          <a:latin typeface="Cambria Math" panose="02040503050406030204" pitchFamily="18" charset="0"/>
                        </a:rPr>
                        <m:t>=</m:t>
                      </m:r>
                      <m:r>
                        <a:rPr lang="zh-CN" altLang="en-US" sz="2400" b="0" i="1">
                          <a:latin typeface="Cambria Math" panose="02040503050406030204" pitchFamily="18" charset="0"/>
                        </a:rPr>
                        <m:t>𝐴</m:t>
                      </m:r>
                      <m:func>
                        <m:funcPr>
                          <m:ctrlPr>
                            <a:rPr lang="zh-CN" altLang="en-US" sz="2400" i="1">
                              <a:latin typeface="Cambria Math" panose="02040503050406030204" pitchFamily="18" charset="0"/>
                            </a:rPr>
                          </m:ctrlPr>
                        </m:funcPr>
                        <m:fName>
                          <m:r>
                            <a:rPr lang="zh-CN" altLang="en-US" sz="2400" b="0" i="1">
                              <a:latin typeface="Cambria Math" panose="02040503050406030204" pitchFamily="18" charset="0"/>
                            </a:rPr>
                            <m:t>𝑐𝑜𝑠</m:t>
                          </m:r>
                        </m:fName>
                        <m:e>
                          <m:d>
                            <m:dPr>
                              <m:begChr m:val="["/>
                              <m:endChr m:val="]"/>
                              <m:ctrlPr>
                                <a:rPr lang="zh-CN" altLang="en-US" sz="2400" i="1">
                                  <a:solidFill>
                                    <a:srgbClr val="836967"/>
                                  </a:solidFill>
                                  <a:latin typeface="Cambria Math" panose="02040503050406030204" pitchFamily="18" charset="0"/>
                                </a:rPr>
                              </m:ctrlPr>
                            </m:dPr>
                            <m:e>
                              <m:d>
                                <m:dPr>
                                  <m:ctrlPr>
                                    <a:rPr lang="zh-CN" altLang="en-US" sz="2400" i="1">
                                      <a:solidFill>
                                        <a:srgbClr val="836967"/>
                                      </a:solidFill>
                                      <a:latin typeface="Cambria Math" panose="02040503050406030204" pitchFamily="18" charset="0"/>
                                    </a:rPr>
                                  </m:ctrlPr>
                                </m:dPr>
                                <m:e>
                                  <m:r>
                                    <a:rPr lang="zh-CN" altLang="en-US" sz="2400" b="0" i="1">
                                      <a:latin typeface="Cambria Math" panose="02040503050406030204" pitchFamily="18" charset="0"/>
                                    </a:rPr>
                                    <m:t>𝑘</m:t>
                                  </m:r>
                                  <m:r>
                                    <a:rPr lang="en-US" altLang="zh-CN" sz="2400" b="0" i="1" smtClean="0">
                                      <a:latin typeface="Cambria Math" panose="02040503050406030204" pitchFamily="18" charset="0"/>
                                    </a:rPr>
                                    <m:t>𝑥</m:t>
                                  </m:r>
                                  <m:r>
                                    <a:rPr lang="zh-CN" altLang="en-US" sz="2400">
                                      <a:latin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𝜔</m:t>
                                  </m:r>
                                  <m:r>
                                    <a:rPr lang="en-US" altLang="zh-CN" sz="2400" b="0" i="1">
                                      <a:latin typeface="Cambria Math" panose="02040503050406030204" pitchFamily="18" charset="0"/>
                                    </a:rPr>
                                    <m:t>𝑡</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e>
                          </m:d>
                        </m:e>
                      </m:func>
                    </m:oMath>
                  </m:oMathPara>
                </a14:m>
                <a:endParaRPr lang="zh-CN" altLang="en-US" sz="2400" i="1" dirty="0"/>
              </a:p>
            </p:txBody>
          </p:sp>
        </mc:Choice>
        <mc:Fallback xmlns="">
          <p:sp>
            <p:nvSpPr>
              <p:cNvPr id="19" name="文本框 18">
                <a:extLst>
                  <a:ext uri="{FF2B5EF4-FFF2-40B4-BE49-F238E27FC236}">
                    <a16:creationId xmlns:a16="http://schemas.microsoft.com/office/drawing/2014/main" id="{F7B8330B-CFE6-2C35-288A-E27F3136525E}"/>
                  </a:ext>
                </a:extLst>
              </p:cNvPr>
              <p:cNvSpPr txBox="1">
                <a:spLocks noRot="1" noChangeAspect="1" noMove="1" noResize="1" noEditPoints="1" noAdjustHandles="1" noChangeArrowheads="1" noChangeShapeType="1" noTextEdit="1"/>
              </p:cNvSpPr>
              <p:nvPr/>
            </p:nvSpPr>
            <p:spPr>
              <a:xfrm>
                <a:off x="2417243" y="4918467"/>
                <a:ext cx="4309513" cy="369332"/>
              </a:xfrm>
              <a:prstGeom prst="rect">
                <a:avLst/>
              </a:prstGeom>
              <a:blipFill>
                <a:blip r:embed="rId6"/>
                <a:stretch>
                  <a:fillRect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9CE564F-F7E9-8859-9ACE-2DA5FF4D8769}"/>
                  </a:ext>
                </a:extLst>
              </p:cNvPr>
              <p:cNvSpPr txBox="1"/>
              <p:nvPr/>
            </p:nvSpPr>
            <p:spPr>
              <a:xfrm>
                <a:off x="1447885" y="5859168"/>
                <a:ext cx="6450329" cy="369332"/>
              </a:xfrm>
              <a:prstGeom prst="rect">
                <a:avLst/>
              </a:prstGeom>
              <a:noFill/>
            </p:spPr>
            <p:txBody>
              <a:bodyPr wrap="square">
                <a:spAutoFit/>
              </a:bodyPr>
              <a:lstStyle/>
              <a:p>
                <a:pPr algn="l"/>
                <a:r>
                  <a:rPr lang="en-US" altLang="zh-CN" sz="1800" b="0" i="1" u="none" strike="noStrike" baseline="0" dirty="0">
                    <a:latin typeface="Times New Roman" panose="02020603050405020304" pitchFamily="18" charset="0"/>
                  </a:rPr>
                  <a:t>A </a:t>
                </a:r>
                <a:r>
                  <a:rPr lang="en-US" altLang="zh-CN" sz="1800" b="0" i="0" u="none" strike="noStrike" baseline="0" dirty="0">
                    <a:latin typeface="Arial" panose="020B0604020202020204" pitchFamily="34" charset="0"/>
                  </a:rPr>
                  <a:t>= </a:t>
                </a:r>
                <a:r>
                  <a:rPr lang="en-US" altLang="zh-CN" sz="1800" b="1" i="0" u="none" strike="noStrike" baseline="0" dirty="0">
                    <a:latin typeface="Arial" panose="020B0604020202020204" pitchFamily="34" charset="0"/>
                  </a:rPr>
                  <a:t>Amplitude</a:t>
                </a:r>
                <a:r>
                  <a:rPr lang="zh-CN" altLang="en-US" sz="1800" b="1" i="0" u="none" strike="noStrike" baseline="0" dirty="0">
                    <a:latin typeface="Arial" panose="020B0604020202020204" pitchFamily="34" charset="0"/>
                  </a:rPr>
                  <a:t>，</a:t>
                </a:r>
                <a:r>
                  <a:rPr lang="en-US" altLang="zh-CN" sz="1800" b="1" i="0" u="none" strike="noStrike" baseline="0" dirty="0">
                    <a:latin typeface="Arial" panose="020B0604020202020204" pitchFamily="34" charset="0"/>
                  </a:rPr>
                  <a:t> </a:t>
                </a:r>
                <a14:m>
                  <m:oMath xmlns:m="http://schemas.openxmlformats.org/officeDocument/2006/math">
                    <m:r>
                      <a:rPr lang="zh-CN" altLang="en-US" i="1" smtClean="0">
                        <a:latin typeface="Cambria Math" panose="02040503050406030204" pitchFamily="18" charset="0"/>
                      </a:rPr>
                      <m:t>𝜃</m:t>
                    </m:r>
                  </m:oMath>
                </a14:m>
                <a:r>
                  <a:rPr lang="en-US" altLang="zh-CN" sz="1800" b="0" i="0" u="none" strike="noStrike" baseline="0" dirty="0">
                    <a:latin typeface="Arial" panose="020B0604020202020204" pitchFamily="34" charset="0"/>
                  </a:rPr>
                  <a:t> = </a:t>
                </a:r>
                <a:r>
                  <a:rPr lang="en-US" altLang="zh-CN" sz="1800" b="1" i="0" u="none" strike="noStrike" baseline="0" dirty="0">
                    <a:latin typeface="Arial" panose="020B0604020202020204" pitchFamily="34" charset="0"/>
                  </a:rPr>
                  <a:t>Absolute phase </a:t>
                </a:r>
                <a:r>
                  <a:rPr lang="en-US" altLang="zh-CN" sz="1800" b="0" i="0" u="none" strike="noStrike" baseline="0" dirty="0">
                    <a:latin typeface="Arial" panose="020B0604020202020204" pitchFamily="34" charset="0"/>
                  </a:rPr>
                  <a:t>(or “initial” phase</a:t>
                </a:r>
                <a:r>
                  <a:rPr lang="en-US" altLang="zh-CN" sz="1800" b="0" i="0" u="none" strike="noStrike" dirty="0">
                    <a:latin typeface="Arial" panose="020B0604020202020204" pitchFamily="34" charset="0"/>
                  </a:rPr>
                  <a:t> </a:t>
                </a:r>
                <a:r>
                  <a:rPr lang="en-US" altLang="zh-CN" sz="1800" b="0" i="0" u="none" strike="noStrike" baseline="0" dirty="0">
                    <a:latin typeface="Arial" panose="020B0604020202020204" pitchFamily="34" charset="0"/>
                  </a:rPr>
                  <a:t>t = 0)</a:t>
                </a:r>
                <a:endParaRPr lang="zh-CN" altLang="en-US" dirty="0"/>
              </a:p>
            </p:txBody>
          </p:sp>
        </mc:Choice>
        <mc:Fallback xmlns="">
          <p:sp>
            <p:nvSpPr>
              <p:cNvPr id="21" name="文本框 20">
                <a:extLst>
                  <a:ext uri="{FF2B5EF4-FFF2-40B4-BE49-F238E27FC236}">
                    <a16:creationId xmlns:a16="http://schemas.microsoft.com/office/drawing/2014/main" id="{99CE564F-F7E9-8859-9ACE-2DA5FF4D8769}"/>
                  </a:ext>
                </a:extLst>
              </p:cNvPr>
              <p:cNvSpPr txBox="1">
                <a:spLocks noRot="1" noChangeAspect="1" noMove="1" noResize="1" noEditPoints="1" noAdjustHandles="1" noChangeArrowheads="1" noChangeShapeType="1" noTextEdit="1"/>
              </p:cNvSpPr>
              <p:nvPr/>
            </p:nvSpPr>
            <p:spPr>
              <a:xfrm>
                <a:off x="1447885" y="5859168"/>
                <a:ext cx="6450329" cy="369332"/>
              </a:xfrm>
              <a:prstGeom prst="rect">
                <a:avLst/>
              </a:prstGeom>
              <a:blipFill>
                <a:blip r:embed="rId7"/>
                <a:stretch>
                  <a:fillRect l="-851" t="-8197" r="-567" b="-24590"/>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78D43DEA-4DAA-B255-F2A3-F6E2AC7A5816}"/>
              </a:ext>
            </a:extLst>
          </p:cNvPr>
          <p:cNvSpPr txBox="1"/>
          <p:nvPr/>
        </p:nvSpPr>
        <p:spPr>
          <a:xfrm>
            <a:off x="1049391" y="4425251"/>
            <a:ext cx="7014652" cy="369332"/>
          </a:xfrm>
          <a:prstGeom prst="rect">
            <a:avLst/>
          </a:prstGeom>
          <a:noFill/>
        </p:spPr>
        <p:txBody>
          <a:bodyPr wrap="square">
            <a:spAutoFit/>
          </a:bodyPr>
          <a:lstStyle/>
          <a:p>
            <a:pPr algn="ctr"/>
            <a:r>
              <a:rPr lang="en-US" altLang="zh-CN" dirty="0">
                <a:latin typeface="Arial" panose="020B0604020202020204" pitchFamily="34" charset="0"/>
              </a:rPr>
              <a:t>C</a:t>
            </a:r>
            <a:r>
              <a:rPr lang="en-US" altLang="zh-CN" sz="1800" b="0" i="0" u="none" strike="noStrike" baseline="0" dirty="0">
                <a:latin typeface="Arial" panose="020B0604020202020204" pitchFamily="34" charset="0"/>
              </a:rPr>
              <a:t>ommon way of writing the solution to the wave equation:</a:t>
            </a:r>
            <a:endParaRPr lang="zh-CN" altLang="en-US" dirty="0"/>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626B2AAC-044C-1D01-CCD4-F74DDF71E7CD}"/>
                  </a:ext>
                </a:extLst>
              </p:cNvPr>
              <p:cNvSpPr txBox="1"/>
              <p:nvPr/>
            </p:nvSpPr>
            <p:spPr>
              <a:xfrm>
                <a:off x="2238506" y="713154"/>
                <a:ext cx="47457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zh-CN" altLang="en-US" sz="2000" i="1">
                          <a:latin typeface="Cambria Math" panose="02040503050406030204" pitchFamily="18" charset="0"/>
                        </a:rPr>
                        <m:t>𝐵</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r>
                        <a:rPr lang="zh-CN" altLang="en-US" sz="2000" i="0">
                          <a:latin typeface="Cambria Math" panose="02040503050406030204" pitchFamily="18" charset="0"/>
                        </a:rPr>
                        <m:t>+</m:t>
                      </m:r>
                      <m:r>
                        <a:rPr lang="zh-CN" altLang="en-US" sz="2000" i="1">
                          <a:latin typeface="Cambria Math" panose="02040503050406030204" pitchFamily="18" charset="0"/>
                        </a:rPr>
                        <m:t>𝐶</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oMath>
                  </m:oMathPara>
                </a14:m>
                <a:endParaRPr lang="zh-CN" altLang="en-US" sz="2000" dirty="0"/>
              </a:p>
            </p:txBody>
          </p:sp>
        </mc:Choice>
        <mc:Fallback xmlns="">
          <p:sp>
            <p:nvSpPr>
              <p:cNvPr id="24" name="文本框 23">
                <a:extLst>
                  <a:ext uri="{FF2B5EF4-FFF2-40B4-BE49-F238E27FC236}">
                    <a16:creationId xmlns:a16="http://schemas.microsoft.com/office/drawing/2014/main" id="{626B2AAC-044C-1D01-CCD4-F74DDF71E7CD}"/>
                  </a:ext>
                </a:extLst>
              </p:cNvPr>
              <p:cNvSpPr txBox="1">
                <a:spLocks noRot="1" noChangeAspect="1" noMove="1" noResize="1" noEditPoints="1" noAdjustHandles="1" noChangeArrowheads="1" noChangeShapeType="1" noTextEdit="1"/>
              </p:cNvSpPr>
              <p:nvPr/>
            </p:nvSpPr>
            <p:spPr>
              <a:xfrm>
                <a:off x="2238506" y="713154"/>
                <a:ext cx="4745723" cy="307777"/>
              </a:xfrm>
              <a:prstGeom prst="rect">
                <a:avLst/>
              </a:prstGeom>
              <a:blipFill>
                <a:blip r:embed="rId13"/>
                <a:stretch>
                  <a:fillRect l="-642" b="-26000"/>
                </a:stretch>
              </a:blipFill>
            </p:spPr>
            <p:txBody>
              <a:bodyPr/>
              <a:lstStyle/>
              <a:p>
                <a:r>
                  <a:rPr lang="zh-CN" altLang="en-US">
                    <a:noFill/>
                  </a:rPr>
                  <a:t> </a:t>
                </a:r>
              </a:p>
            </p:txBody>
          </p:sp>
        </mc:Fallback>
      </mc:AlternateContent>
      <p:sp>
        <p:nvSpPr>
          <p:cNvPr id="4" name="Rectangle 12">
            <a:extLst>
              <a:ext uri="{FF2B5EF4-FFF2-40B4-BE49-F238E27FC236}">
                <a16:creationId xmlns:a16="http://schemas.microsoft.com/office/drawing/2014/main" id="{F4BF42C6-BF74-EB77-0EA1-E00670C7D321}"/>
              </a:ext>
            </a:extLst>
          </p:cNvPr>
          <p:cNvSpPr/>
          <p:nvPr/>
        </p:nvSpPr>
        <p:spPr>
          <a:xfrm>
            <a:off x="2556828" y="3224881"/>
            <a:ext cx="4708236" cy="40011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cos(</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 </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cos(</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cos(</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sin(</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sin(</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a:t>
            </a:r>
            <a:endParaRPr kumimoji="0" 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6" name="左大括号 5">
            <a:extLst>
              <a:ext uri="{FF2B5EF4-FFF2-40B4-BE49-F238E27FC236}">
                <a16:creationId xmlns:a16="http://schemas.microsoft.com/office/drawing/2014/main" id="{6E83BA8C-BE1E-F60B-E554-16229BD91691}"/>
              </a:ext>
            </a:extLst>
          </p:cNvPr>
          <p:cNvSpPr/>
          <p:nvPr/>
        </p:nvSpPr>
        <p:spPr>
          <a:xfrm rot="16200000">
            <a:off x="5182939" y="4889592"/>
            <a:ext cx="167852" cy="102813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TextBox 5">
            <a:extLst>
              <a:ext uri="{FF2B5EF4-FFF2-40B4-BE49-F238E27FC236}">
                <a16:creationId xmlns:a16="http://schemas.microsoft.com/office/drawing/2014/main" id="{A520C3DE-2F21-9A42-9FE9-2F5B24B5DBA7}"/>
              </a:ext>
            </a:extLst>
          </p:cNvPr>
          <p:cNvSpPr txBox="1">
            <a:spLocks noChangeArrowheads="1"/>
          </p:cNvSpPr>
          <p:nvPr/>
        </p:nvSpPr>
        <p:spPr bwMode="auto">
          <a:xfrm>
            <a:off x="5070809" y="5395823"/>
            <a:ext cx="3921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a</a:t>
            </a:r>
          </a:p>
        </p:txBody>
      </p:sp>
      <p:sp>
        <p:nvSpPr>
          <p:cNvPr id="9" name="TextBox 17">
            <a:extLst>
              <a:ext uri="{FF2B5EF4-FFF2-40B4-BE49-F238E27FC236}">
                <a16:creationId xmlns:a16="http://schemas.microsoft.com/office/drawing/2014/main" id="{9893699D-8EAD-B71C-D418-C4614FBBEF74}"/>
              </a:ext>
            </a:extLst>
          </p:cNvPr>
          <p:cNvSpPr txBox="1">
            <a:spLocks noChangeArrowheads="1"/>
          </p:cNvSpPr>
          <p:nvPr/>
        </p:nvSpPr>
        <p:spPr bwMode="auto">
          <a:xfrm>
            <a:off x="6168272" y="5404860"/>
            <a:ext cx="3921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b</a:t>
            </a:r>
          </a:p>
        </p:txBody>
      </p:sp>
      <p:sp>
        <p:nvSpPr>
          <p:cNvPr id="11" name="左大括号 10">
            <a:extLst>
              <a:ext uri="{FF2B5EF4-FFF2-40B4-BE49-F238E27FC236}">
                <a16:creationId xmlns:a16="http://schemas.microsoft.com/office/drawing/2014/main" id="{BDE77BCB-EAB5-F8E2-46DD-07DD72CD64D8}"/>
              </a:ext>
            </a:extLst>
          </p:cNvPr>
          <p:cNvSpPr/>
          <p:nvPr/>
        </p:nvSpPr>
        <p:spPr>
          <a:xfrm rot="16200000">
            <a:off x="6275237" y="5271874"/>
            <a:ext cx="167852" cy="307355"/>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Rectangle 14">
            <a:extLst>
              <a:ext uri="{FF2B5EF4-FFF2-40B4-BE49-F238E27FC236}">
                <a16:creationId xmlns:a16="http://schemas.microsoft.com/office/drawing/2014/main" id="{410B95B7-22E4-AAEE-5572-0728C8D73CF6}"/>
              </a:ext>
            </a:extLst>
          </p:cNvPr>
          <p:cNvSpPr/>
          <p:nvPr/>
        </p:nvSpPr>
        <p:spPr>
          <a:xfrm>
            <a:off x="1945379" y="2926721"/>
            <a:ext cx="5455340" cy="341632"/>
          </a:xfrm>
          <a:prstGeom prst="rect">
            <a:avLst/>
          </a:prstGeom>
        </p:spPr>
        <p:txBody>
          <a:bodyPr wrap="none">
            <a:spAutoFit/>
          </a:bodyPr>
          <a:lstStyle/>
          <a:p>
            <a:pPr lvl="0" defTabSz="914400" fontAlgn="base">
              <a:lnSpc>
                <a:spcPct val="90000"/>
              </a:lnSpc>
              <a:spcBef>
                <a:spcPct val="20000"/>
              </a:spcBef>
              <a:spcAft>
                <a:spcPct val="0"/>
              </a:spcAft>
              <a:defRPr/>
            </a:pPr>
            <a:r>
              <a:rPr lang="zh-CN" altLang="en-US" kern="0" dirty="0">
                <a:solidFill>
                  <a:srgbClr val="000000"/>
                </a:solidFill>
                <a:latin typeface="Arial"/>
              </a:rPr>
              <a:t>根据</a:t>
            </a:r>
            <a:r>
              <a:rPr kumimoji="0" lang="zh-CN" altLang="en-US" b="0" i="0" u="none" strike="noStrike" kern="0" cap="none" spc="0" normalizeH="0" baseline="0" noProof="0" dirty="0">
                <a:ln>
                  <a:noFill/>
                </a:ln>
                <a:solidFill>
                  <a:srgbClr val="000000"/>
                </a:solidFill>
                <a:effectLst/>
                <a:uLnTx/>
                <a:uFillTx/>
                <a:latin typeface="Arial"/>
                <a:ea typeface="+mn-ea"/>
                <a:cs typeface="+mn-cs"/>
              </a:rPr>
              <a:t>三角恒等式化解上述公式</a:t>
            </a:r>
            <a:r>
              <a:rPr lang="en-US" altLang="zh-CN" kern="0" dirty="0">
                <a:solidFill>
                  <a:srgbClr val="000000"/>
                </a:solidFill>
              </a:rPr>
              <a:t>T</a:t>
            </a:r>
            <a:r>
              <a:rPr lang="en-US" altLang="en-US" kern="0" dirty="0">
                <a:solidFill>
                  <a:srgbClr val="000000"/>
                </a:solidFill>
              </a:rPr>
              <a:t>rigonometric identity</a:t>
            </a:r>
            <a:r>
              <a:rPr kumimoji="0" lang="en-US" altLang="en-US" b="0" i="0" u="none" strike="noStrike" kern="0" cap="none" spc="0" normalizeH="0" baseline="0" noProof="0" dirty="0">
                <a:ln>
                  <a:noFill/>
                </a:ln>
                <a:solidFill>
                  <a:srgbClr val="000000"/>
                </a:solidFill>
                <a:effectLst/>
                <a:uLnTx/>
                <a:uFillTx/>
                <a:latin typeface="Arial"/>
                <a:ea typeface="+mn-ea"/>
                <a:cs typeface="+mn-cs"/>
              </a:rPr>
              <a:t>:</a:t>
            </a:r>
          </a:p>
        </p:txBody>
      </p:sp>
      <p:sp>
        <p:nvSpPr>
          <p:cNvPr id="15" name="Rectangle 10">
            <a:extLst>
              <a:ext uri="{FF2B5EF4-FFF2-40B4-BE49-F238E27FC236}">
                <a16:creationId xmlns:a16="http://schemas.microsoft.com/office/drawing/2014/main" id="{213CEE0D-8224-B299-4243-F0A4C1712B44}"/>
              </a:ext>
            </a:extLst>
          </p:cNvPr>
          <p:cNvSpPr/>
          <p:nvPr/>
        </p:nvSpPr>
        <p:spPr>
          <a:xfrm>
            <a:off x="3197559" y="3677858"/>
            <a:ext cx="3746500" cy="341632"/>
          </a:xfrm>
          <a:prstGeom prst="rect">
            <a:avLst/>
          </a:prstGeom>
        </p:spPr>
        <p:txBody>
          <a:bodyPr wrap="square">
            <a:spAutoFit/>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altLang="en-US" b="0" i="0" u="none" strike="noStrike" kern="0" cap="none" spc="0" normalizeH="0" baseline="0" noProof="0" dirty="0">
                <a:ln>
                  <a:noFill/>
                </a:ln>
                <a:solidFill>
                  <a:srgbClr val="000000"/>
                </a:solidFill>
                <a:effectLst/>
                <a:uLnTx/>
                <a:uFillTx/>
                <a:latin typeface="Arial"/>
                <a:ea typeface="+mn-ea"/>
                <a:cs typeface="+mn-cs"/>
              </a:rPr>
              <a:t>where </a:t>
            </a:r>
            <a:r>
              <a:rPr kumimoji="0" lang="en-US" altLang="en-US"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k</a:t>
            </a:r>
            <a:r>
              <a:rPr kumimoji="0" lang="en-US" altLang="en-US" b="0" i="0" u="none" strike="noStrike" kern="0" cap="none" spc="0" normalizeH="0" baseline="0" noProof="0" dirty="0">
                <a:ln>
                  <a:noFill/>
                </a:ln>
                <a:solidFill>
                  <a:srgbClr val="000000"/>
                </a:solidFill>
                <a:effectLst/>
                <a:uLnTx/>
                <a:uFillTx/>
                <a:latin typeface="Symbol" pitchFamily="18" charset="2"/>
                <a:ea typeface="+mn-ea"/>
                <a:cs typeface="+mn-cs"/>
              </a:rPr>
              <a:t> </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x </a:t>
            </a:r>
            <a:r>
              <a:rPr kumimoji="0" lang="en-US" altLang="en-US" b="1" i="1"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US" altLang="en-US" b="0" i="1" u="none" strike="noStrike" kern="0" cap="none" spc="0" normalizeH="0" baseline="0" noProof="0" dirty="0">
                <a:ln>
                  <a:noFill/>
                </a:ln>
                <a:solidFill>
                  <a:srgbClr val="000000"/>
                </a:solidFill>
                <a:effectLst/>
                <a:uLnTx/>
                <a:uFillTx/>
                <a:latin typeface="Symbol" pitchFamily="18" charset="2"/>
                <a:ea typeface="+mn-ea"/>
                <a:cs typeface="+mn-cs"/>
              </a:rPr>
              <a:t>w</a:t>
            </a:r>
            <a:r>
              <a:rPr kumimoji="0" lang="en-US" altLang="en-US" b="0" i="0" u="none" strike="noStrike" kern="0" cap="none" spc="0" normalizeH="0" baseline="0" noProof="0" dirty="0">
                <a:ln>
                  <a:noFill/>
                </a:ln>
                <a:solidFill>
                  <a:srgbClr val="000000"/>
                </a:solidFill>
                <a:effectLst/>
                <a:uLnTx/>
                <a:uFillTx/>
                <a:latin typeface="Symbol" pitchFamily="18" charset="2"/>
                <a:ea typeface="+mn-ea"/>
                <a:cs typeface="+mn-cs"/>
              </a:rPr>
              <a:t> </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t</a:t>
            </a:r>
            <a:r>
              <a:rPr kumimoji="0" lang="en-US" altLang="en-US" b="0" i="0" u="none" strike="noStrike" kern="0" cap="none" spc="0" normalizeH="0" baseline="0" noProof="0" dirty="0">
                <a:ln>
                  <a:noFill/>
                </a:ln>
                <a:solidFill>
                  <a:srgbClr val="000000"/>
                </a:solidFill>
                <a:effectLst/>
                <a:uLnTx/>
                <a:uFillTx/>
                <a:latin typeface="Arial"/>
                <a:ea typeface="+mn-ea"/>
                <a:cs typeface="+mn-cs"/>
              </a:rPr>
              <a:t> and </a:t>
            </a:r>
            <a:r>
              <a:rPr kumimoji="0" lang="en-US" altLang="en-US"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a:t>
            </a:r>
            <a:r>
              <a:rPr kumimoji="0" lang="en-US" altLang="en-US" b="0" i="1" u="none" strike="noStrike" kern="0" cap="none" spc="0" normalizeH="0" baseline="0" noProof="0" dirty="0">
                <a:ln>
                  <a:noFill/>
                </a:ln>
                <a:solidFill>
                  <a:srgbClr val="000000"/>
                </a:solidFill>
                <a:effectLst/>
                <a:uLnTx/>
                <a:uFillTx/>
                <a:latin typeface="Symbol" pitchFamily="18" charset="2"/>
                <a:ea typeface="+mn-ea"/>
                <a:cs typeface="+mn-cs"/>
              </a:rPr>
              <a:t>q.</a:t>
            </a:r>
            <a:endParaRPr kumimoji="0" lang="en-US" altLang="en-US" b="0" i="0" u="none" strike="noStrike" kern="0" cap="none" spc="0" normalizeH="0" baseline="0" noProof="0" dirty="0">
              <a:ln>
                <a:noFill/>
              </a:ln>
              <a:solidFill>
                <a:srgbClr val="000000"/>
              </a:solidFill>
              <a:effectLst/>
              <a:uLnTx/>
              <a:uFillTx/>
              <a:latin typeface="Arial"/>
              <a:ea typeface="+mn-ea"/>
              <a:cs typeface="+mn-cs"/>
            </a:endParaRPr>
          </a:p>
        </p:txBody>
      </p:sp>
      <p:sp>
        <p:nvSpPr>
          <p:cNvPr id="16" name="箭头: 右 15">
            <a:extLst>
              <a:ext uri="{FF2B5EF4-FFF2-40B4-BE49-F238E27FC236}">
                <a16:creationId xmlns:a16="http://schemas.microsoft.com/office/drawing/2014/main" id="{0E48EFEA-D352-927E-BEE6-CEC418CB6A52}"/>
              </a:ext>
            </a:extLst>
          </p:cNvPr>
          <p:cNvSpPr/>
          <p:nvPr/>
        </p:nvSpPr>
        <p:spPr>
          <a:xfrm rot="5400000">
            <a:off x="4537971" y="1531919"/>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735820B-3F16-D183-5CEA-A16CBB73241D}"/>
              </a:ext>
            </a:extLst>
          </p:cNvPr>
          <p:cNvSpPr/>
          <p:nvPr/>
        </p:nvSpPr>
        <p:spPr>
          <a:xfrm>
            <a:off x="2086495" y="643426"/>
            <a:ext cx="5029200" cy="789654"/>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A66557FD-6990-2C94-61D6-F27408B878E4}"/>
              </a:ext>
            </a:extLst>
          </p:cNvPr>
          <p:cNvSpPr/>
          <p:nvPr/>
        </p:nvSpPr>
        <p:spPr>
          <a:xfrm rot="5400000">
            <a:off x="4537971" y="2480014"/>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0E48EFEA-D352-927E-BEE6-CEC418CB6A52}"/>
              </a:ext>
            </a:extLst>
          </p:cNvPr>
          <p:cNvSpPr/>
          <p:nvPr/>
        </p:nvSpPr>
        <p:spPr>
          <a:xfrm rot="5400000">
            <a:off x="4537971" y="4124141"/>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文本框 13">
            <a:extLst>
              <a:ext uri="{FF2B5EF4-FFF2-40B4-BE49-F238E27FC236}">
                <a16:creationId xmlns:a16="http://schemas.microsoft.com/office/drawing/2014/main" id="{9C2BB16F-C7C6-0EF4-6C0A-323A0EA9B5CE}"/>
              </a:ext>
            </a:extLst>
          </p:cNvPr>
          <p:cNvSpPr txBox="1"/>
          <p:nvPr/>
        </p:nvSpPr>
        <p:spPr>
          <a:xfrm>
            <a:off x="389684" y="606978"/>
            <a:ext cx="1750339" cy="923330"/>
          </a:xfrm>
          <a:prstGeom prst="rect">
            <a:avLst/>
          </a:prstGeom>
          <a:noFill/>
        </p:spPr>
        <p:txBody>
          <a:bodyPr wrap="square">
            <a:spAutoFit/>
          </a:bodyPr>
          <a:lstStyle/>
          <a:p>
            <a:r>
              <a:rPr lang="zh-CN" altLang="en-US" dirty="0"/>
              <a:t>二阶线性齐次微分方程（波函数）通解：</a:t>
            </a:r>
          </a:p>
        </p:txBody>
      </p:sp>
    </p:spTree>
    <p:extLst>
      <p:ext uri="{BB962C8B-B14F-4D97-AF65-F5344CB8AC3E}">
        <p14:creationId xmlns:p14="http://schemas.microsoft.com/office/powerpoint/2010/main" val="2927557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Forward and backward-propagating wave</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EF41A34F-FF65-F9E2-E3CB-4382487312E5}"/>
                  </a:ext>
                </a:extLst>
              </p:cNvPr>
              <p:cNvSpPr txBox="1"/>
              <p:nvPr/>
            </p:nvSpPr>
            <p:spPr>
              <a:xfrm>
                <a:off x="2451653" y="4903140"/>
                <a:ext cx="430951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en-US" altLang="zh-CN" sz="2400" b="0" i="1" smtClean="0">
                              <a:latin typeface="Cambria Math" panose="02040503050406030204" pitchFamily="18" charset="0"/>
                            </a:rPr>
                            <m:t>𝑥</m:t>
                          </m:r>
                          <m:r>
                            <a:rPr lang="zh-CN" altLang="en-US" sz="2400" b="0" i="1">
                              <a:latin typeface="Cambria Math" panose="02040503050406030204" pitchFamily="18" charset="0"/>
                            </a:rPr>
                            <m:t>,</m:t>
                          </m:r>
                          <m:r>
                            <a:rPr lang="zh-CN" altLang="en-US" sz="2400" b="0" i="1">
                              <a:latin typeface="Cambria Math" panose="02040503050406030204" pitchFamily="18" charset="0"/>
                            </a:rPr>
                            <m:t>𝑡</m:t>
                          </m:r>
                        </m:e>
                      </m:d>
                      <m:r>
                        <a:rPr lang="zh-CN" altLang="en-US" sz="2400" b="0" i="1">
                          <a:latin typeface="Cambria Math" panose="02040503050406030204" pitchFamily="18" charset="0"/>
                        </a:rPr>
                        <m:t>=</m:t>
                      </m:r>
                      <m:r>
                        <a:rPr lang="zh-CN" altLang="en-US" sz="2400" b="0" i="1">
                          <a:latin typeface="Cambria Math" panose="02040503050406030204" pitchFamily="18" charset="0"/>
                        </a:rPr>
                        <m:t>𝐴</m:t>
                      </m:r>
                      <m:func>
                        <m:funcPr>
                          <m:ctrlPr>
                            <a:rPr lang="zh-CN" altLang="en-US" sz="2400" i="1">
                              <a:latin typeface="Cambria Math" panose="02040503050406030204" pitchFamily="18" charset="0"/>
                            </a:rPr>
                          </m:ctrlPr>
                        </m:funcPr>
                        <m:fName>
                          <m:r>
                            <a:rPr lang="zh-CN" altLang="en-US" sz="2400" b="0" i="1">
                              <a:latin typeface="Cambria Math" panose="02040503050406030204" pitchFamily="18" charset="0"/>
                            </a:rPr>
                            <m:t>𝑐𝑜𝑠</m:t>
                          </m:r>
                        </m:fName>
                        <m:e>
                          <m:d>
                            <m:dPr>
                              <m:begChr m:val="["/>
                              <m:endChr m:val="]"/>
                              <m:ctrlPr>
                                <a:rPr lang="zh-CN" altLang="en-US" sz="2400" i="1">
                                  <a:solidFill>
                                    <a:srgbClr val="836967"/>
                                  </a:solidFill>
                                  <a:latin typeface="Cambria Math" panose="02040503050406030204" pitchFamily="18" charset="0"/>
                                </a:rPr>
                              </m:ctrlPr>
                            </m:dPr>
                            <m:e>
                              <m:d>
                                <m:dPr>
                                  <m:ctrlPr>
                                    <a:rPr lang="zh-CN" altLang="en-US" sz="2400" i="1">
                                      <a:solidFill>
                                        <a:srgbClr val="836967"/>
                                      </a:solidFill>
                                      <a:latin typeface="Cambria Math" panose="02040503050406030204" pitchFamily="18" charset="0"/>
                                    </a:rPr>
                                  </m:ctrlPr>
                                </m:dPr>
                                <m:e>
                                  <m:r>
                                    <a:rPr lang="zh-CN" altLang="en-US" sz="2400" b="0" i="1">
                                      <a:latin typeface="Cambria Math" panose="02040503050406030204" pitchFamily="18" charset="0"/>
                                    </a:rPr>
                                    <m:t>𝑘</m:t>
                                  </m:r>
                                  <m:r>
                                    <a:rPr lang="en-US" altLang="zh-CN" sz="2400" b="0" i="1" smtClean="0">
                                      <a:latin typeface="Cambria Math" panose="02040503050406030204" pitchFamily="18" charset="0"/>
                                    </a:rPr>
                                    <m:t>𝑥</m:t>
                                  </m:r>
                                  <m:r>
                                    <a:rPr lang="en-US" altLang="zh-CN" sz="2400" b="0" i="1" smtClean="0">
                                      <a:solidFill>
                                        <a:srgbClr val="C00000"/>
                                      </a:solidFill>
                                      <a:latin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𝜔</m:t>
                                  </m:r>
                                  <m:r>
                                    <a:rPr lang="en-US" altLang="zh-CN" sz="2400" b="0" i="1">
                                      <a:latin typeface="Cambria Math" panose="02040503050406030204" pitchFamily="18" charset="0"/>
                                    </a:rPr>
                                    <m:t>𝑡</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e>
                          </m:d>
                        </m:e>
                      </m:func>
                    </m:oMath>
                  </m:oMathPara>
                </a14:m>
                <a:endParaRPr lang="zh-CN" altLang="en-US" sz="2400" i="1" dirty="0"/>
              </a:p>
            </p:txBody>
          </p:sp>
        </mc:Choice>
        <mc:Fallback xmlns="">
          <p:sp>
            <p:nvSpPr>
              <p:cNvPr id="22" name="文本框 21">
                <a:extLst>
                  <a:ext uri="{FF2B5EF4-FFF2-40B4-BE49-F238E27FC236}">
                    <a16:creationId xmlns:a16="http://schemas.microsoft.com/office/drawing/2014/main" id="{EF41A34F-FF65-F9E2-E3CB-4382487312E5}"/>
                  </a:ext>
                </a:extLst>
              </p:cNvPr>
              <p:cNvSpPr txBox="1">
                <a:spLocks noRot="1" noChangeAspect="1" noMove="1" noResize="1" noEditPoints="1" noAdjustHandles="1" noChangeArrowheads="1" noChangeShapeType="1" noTextEdit="1"/>
              </p:cNvSpPr>
              <p:nvPr/>
            </p:nvSpPr>
            <p:spPr>
              <a:xfrm>
                <a:off x="2451653" y="4903140"/>
                <a:ext cx="4309513" cy="369332"/>
              </a:xfrm>
              <a:prstGeom prst="rect">
                <a:avLst/>
              </a:prstGeom>
              <a:blipFill>
                <a:blip r:embed="rId3"/>
                <a:stretch>
                  <a:fillRect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3E419E6-7CAC-832E-2688-7C902AE5A01A}"/>
                  </a:ext>
                </a:extLst>
              </p:cNvPr>
              <p:cNvSpPr txBox="1"/>
              <p:nvPr/>
            </p:nvSpPr>
            <p:spPr>
              <a:xfrm>
                <a:off x="702107" y="1674674"/>
                <a:ext cx="8314659" cy="1754326"/>
              </a:xfrm>
              <a:prstGeom prst="rect">
                <a:avLst/>
              </a:prstGeom>
              <a:noFill/>
            </p:spPr>
            <p:txBody>
              <a:bodyPr wrap="square">
                <a:spAutoFit/>
              </a:bodyPr>
              <a:lstStyle/>
              <a:p>
                <a:r>
                  <a:rPr lang="en-US" altLang="zh-CN" dirty="0"/>
                  <a:t>where </a:t>
                </a:r>
                <a:r>
                  <a:rPr lang="zh-CN" altLang="en-US" dirty="0"/>
                  <a:t>𝜔 </a:t>
                </a:r>
                <a:r>
                  <a:rPr lang="en-US" altLang="zh-CN" dirty="0"/>
                  <a:t>is a positive constant and t is time, then the displacement of this function will increase with time when  </a:t>
                </a:r>
                <a:r>
                  <a:rPr lang="zh-CN" altLang="en-US" dirty="0"/>
                  <a:t>𝑘𝑥</a:t>
                </a:r>
                <a:r>
                  <a:rPr lang="zh-CN" altLang="en-US" dirty="0">
                    <a:solidFill>
                      <a:srgbClr val="C00000"/>
                    </a:solidFill>
                  </a:rPr>
                  <a:t>−</a:t>
                </a:r>
                <a:r>
                  <a:rPr lang="zh-CN" altLang="en-US" dirty="0"/>
                  <a:t>𝜔𝑡</a:t>
                </a:r>
                <a:endParaRPr lang="en-US" altLang="zh-CN" dirty="0"/>
              </a:p>
              <a:p>
                <a:endParaRPr lang="en-US" altLang="zh-CN" dirty="0"/>
              </a:p>
              <a:p>
                <a:r>
                  <a:rPr lang="en-US" altLang="zh-CN" dirty="0"/>
                  <a:t>So</a:t>
                </a:r>
                <a14:m>
                  <m:oMath xmlns:m="http://schemas.openxmlformats.org/officeDocument/2006/math">
                    <m:r>
                      <a:rPr lang="en-US" altLang="zh-CN" sz="1800" b="0" i="0" smtClean="0">
                        <a:latin typeface="Cambria Math" panose="02040503050406030204" pitchFamily="18" charset="0"/>
                      </a:rPr>
                      <m:t> </m:t>
                    </m:r>
                    <m:r>
                      <a:rPr lang="zh-CN" altLang="en-US" sz="1800" b="0" i="1" smtClean="0">
                        <a:latin typeface="Cambria Math" panose="02040503050406030204" pitchFamily="18" charset="0"/>
                      </a:rPr>
                      <m:t>𝑘</m:t>
                    </m:r>
                    <m:r>
                      <a:rPr lang="en-US" altLang="zh-CN" sz="1800" b="0" i="1" smtClean="0">
                        <a:latin typeface="Cambria Math" panose="02040503050406030204" pitchFamily="18" charset="0"/>
                      </a:rPr>
                      <m:t>𝑥</m:t>
                    </m:r>
                    <m:r>
                      <a:rPr lang="en-US" altLang="zh-CN" sz="1800" b="0" i="1" smtClean="0">
                        <a:solidFill>
                          <a:srgbClr val="C00000"/>
                        </a:solidFill>
                        <a:latin typeface="Cambria Math" panose="02040503050406030204" pitchFamily="18" charset="0"/>
                      </a:rPr>
                      <m:t>−</m:t>
                    </m:r>
                    <m:r>
                      <a:rPr lang="en-US" altLang="zh-CN" sz="1800" b="0" i="1" dirty="0">
                        <a:latin typeface="Cambria Math" panose="02040503050406030204" pitchFamily="18" charset="0"/>
                        <a:ea typeface="Cambria Math" panose="02040503050406030204" pitchFamily="18" charset="0"/>
                      </a:rPr>
                      <m:t>𝜔</m:t>
                    </m:r>
                    <m:r>
                      <a:rPr lang="en-US" altLang="zh-CN" sz="1800" b="0" i="1">
                        <a:latin typeface="Cambria Math" panose="02040503050406030204" pitchFamily="18" charset="0"/>
                      </a:rPr>
                      <m:t>𝑡</m:t>
                    </m:r>
                    <m:r>
                      <a:rPr lang="en-US" altLang="zh-CN" sz="1800" b="0" i="1">
                        <a:latin typeface="Cambria Math" panose="02040503050406030204" pitchFamily="18" charset="0"/>
                      </a:rPr>
                      <m:t> </m:t>
                    </m:r>
                  </m:oMath>
                </a14:m>
                <a:r>
                  <a:rPr lang="en-US" altLang="zh-CN" dirty="0"/>
                  <a:t>represents a rightward, or forward propagating wave.</a:t>
                </a:r>
              </a:p>
              <a:p>
                <a:endParaRPr lang="en-US" altLang="zh-CN" dirty="0"/>
              </a:p>
              <a:p>
                <a:r>
                  <a:rPr lang="en-US" altLang="zh-CN" dirty="0"/>
                  <a:t>Similarly,</a:t>
                </a:r>
                <a14:m>
                  <m:oMath xmlns:m="http://schemas.openxmlformats.org/officeDocument/2006/math">
                    <m:r>
                      <a:rPr lang="zh-CN" altLang="en-US" sz="1800" b="0" i="1" smtClean="0">
                        <a:latin typeface="Cambria Math" panose="02040503050406030204" pitchFamily="18" charset="0"/>
                      </a:rPr>
                      <m:t>𝑘</m:t>
                    </m:r>
                    <m:r>
                      <a:rPr lang="en-US" altLang="zh-CN" sz="1800" b="0" i="1" smtClean="0">
                        <a:latin typeface="Cambria Math" panose="02040503050406030204" pitchFamily="18" charset="0"/>
                      </a:rPr>
                      <m:t>𝑥</m:t>
                    </m:r>
                    <m:r>
                      <a:rPr lang="en-US" altLang="zh-CN" sz="1800" b="0" i="1" smtClean="0">
                        <a:solidFill>
                          <a:srgbClr val="C00000"/>
                        </a:solidFill>
                        <a:latin typeface="Cambria Math" panose="02040503050406030204" pitchFamily="18" charset="0"/>
                      </a:rPr>
                      <m:t>+</m:t>
                    </m:r>
                    <m:r>
                      <a:rPr lang="en-US" altLang="zh-CN" sz="1800" b="0" i="1" dirty="0">
                        <a:latin typeface="Cambria Math" panose="02040503050406030204" pitchFamily="18" charset="0"/>
                        <a:ea typeface="Cambria Math" panose="02040503050406030204" pitchFamily="18" charset="0"/>
                      </a:rPr>
                      <m:t>𝜔</m:t>
                    </m:r>
                    <m:r>
                      <a:rPr lang="en-US" altLang="zh-CN" sz="1800" b="0" i="1">
                        <a:latin typeface="Cambria Math" panose="02040503050406030204" pitchFamily="18" charset="0"/>
                      </a:rPr>
                      <m:t>𝑡</m:t>
                    </m:r>
                    <m:r>
                      <a:rPr lang="en-US" altLang="zh-CN" sz="1800" b="0" i="1">
                        <a:latin typeface="Cambria Math" panose="02040503050406030204" pitchFamily="18" charset="0"/>
                      </a:rPr>
                      <m:t> </m:t>
                    </m:r>
                  </m:oMath>
                </a14:m>
                <a:r>
                  <a:rPr lang="en-US" altLang="zh-CN" dirty="0"/>
                  <a:t>represents a leftward, or backward propagating wave.</a:t>
                </a:r>
              </a:p>
            </p:txBody>
          </p:sp>
        </mc:Choice>
        <mc:Fallback xmlns="">
          <p:sp>
            <p:nvSpPr>
              <p:cNvPr id="3" name="文本框 2">
                <a:extLst>
                  <a:ext uri="{FF2B5EF4-FFF2-40B4-BE49-F238E27FC236}">
                    <a16:creationId xmlns:a16="http://schemas.microsoft.com/office/drawing/2014/main" id="{43E419E6-7CAC-832E-2688-7C902AE5A01A}"/>
                  </a:ext>
                </a:extLst>
              </p:cNvPr>
              <p:cNvSpPr txBox="1">
                <a:spLocks noRot="1" noChangeAspect="1" noMove="1" noResize="1" noEditPoints="1" noAdjustHandles="1" noChangeArrowheads="1" noChangeShapeType="1" noTextEdit="1"/>
              </p:cNvSpPr>
              <p:nvPr/>
            </p:nvSpPr>
            <p:spPr>
              <a:xfrm>
                <a:off x="702107" y="1674674"/>
                <a:ext cx="8314659" cy="1754326"/>
              </a:xfrm>
              <a:prstGeom prst="rect">
                <a:avLst/>
              </a:prstGeom>
              <a:blipFill>
                <a:blip r:embed="rId4"/>
                <a:stretch>
                  <a:fillRect l="-587" t="-2431" b="-4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AF47892-625F-1B49-DD95-60A8B16507D7}"/>
                  </a:ext>
                </a:extLst>
              </p:cNvPr>
              <p:cNvSpPr txBox="1"/>
              <p:nvPr/>
            </p:nvSpPr>
            <p:spPr>
              <a:xfrm>
                <a:off x="2451653" y="1070892"/>
                <a:ext cx="430951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en-US" altLang="zh-CN" sz="2400" b="0" i="1" smtClean="0">
                              <a:latin typeface="Cambria Math" panose="02040503050406030204" pitchFamily="18" charset="0"/>
                            </a:rPr>
                            <m:t>𝑥</m:t>
                          </m:r>
                          <m:r>
                            <a:rPr lang="zh-CN" altLang="en-US" sz="2400" b="0" i="1">
                              <a:latin typeface="Cambria Math" panose="02040503050406030204" pitchFamily="18" charset="0"/>
                            </a:rPr>
                            <m:t>,</m:t>
                          </m:r>
                          <m:r>
                            <a:rPr lang="zh-CN" altLang="en-US" sz="2400" b="0" i="1">
                              <a:latin typeface="Cambria Math" panose="02040503050406030204" pitchFamily="18" charset="0"/>
                            </a:rPr>
                            <m:t>𝑡</m:t>
                          </m:r>
                        </m:e>
                      </m:d>
                      <m:r>
                        <a:rPr lang="zh-CN" altLang="en-US" sz="2400" b="0" i="1">
                          <a:latin typeface="Cambria Math" panose="02040503050406030204" pitchFamily="18" charset="0"/>
                        </a:rPr>
                        <m:t>=</m:t>
                      </m:r>
                      <m:r>
                        <a:rPr lang="zh-CN" altLang="en-US" sz="2400" b="0" i="1">
                          <a:latin typeface="Cambria Math" panose="02040503050406030204" pitchFamily="18" charset="0"/>
                        </a:rPr>
                        <m:t>𝐴</m:t>
                      </m:r>
                      <m:func>
                        <m:funcPr>
                          <m:ctrlPr>
                            <a:rPr lang="zh-CN" altLang="en-US" sz="2400" i="1">
                              <a:latin typeface="Cambria Math" panose="02040503050406030204" pitchFamily="18" charset="0"/>
                            </a:rPr>
                          </m:ctrlPr>
                        </m:funcPr>
                        <m:fName>
                          <m:r>
                            <a:rPr lang="zh-CN" altLang="en-US" sz="2400" b="0" i="1">
                              <a:latin typeface="Cambria Math" panose="02040503050406030204" pitchFamily="18" charset="0"/>
                            </a:rPr>
                            <m:t>𝑐𝑜𝑠</m:t>
                          </m:r>
                        </m:fName>
                        <m:e>
                          <m:d>
                            <m:dPr>
                              <m:begChr m:val="["/>
                              <m:endChr m:val="]"/>
                              <m:ctrlPr>
                                <a:rPr lang="zh-CN" altLang="en-US" sz="2400" i="1">
                                  <a:solidFill>
                                    <a:srgbClr val="836967"/>
                                  </a:solidFill>
                                  <a:latin typeface="Cambria Math" panose="02040503050406030204" pitchFamily="18" charset="0"/>
                                </a:rPr>
                              </m:ctrlPr>
                            </m:dPr>
                            <m:e>
                              <m:d>
                                <m:dPr>
                                  <m:ctrlPr>
                                    <a:rPr lang="zh-CN" altLang="en-US" sz="2400" i="1">
                                      <a:solidFill>
                                        <a:srgbClr val="836967"/>
                                      </a:solidFill>
                                      <a:latin typeface="Cambria Math" panose="02040503050406030204" pitchFamily="18" charset="0"/>
                                    </a:rPr>
                                  </m:ctrlPr>
                                </m:dPr>
                                <m:e>
                                  <m:r>
                                    <a:rPr lang="zh-CN" altLang="en-US" sz="2400" b="0" i="1">
                                      <a:latin typeface="Cambria Math" panose="02040503050406030204" pitchFamily="18" charset="0"/>
                                    </a:rPr>
                                    <m:t>𝑘</m:t>
                                  </m:r>
                                  <m:r>
                                    <a:rPr lang="en-US" altLang="zh-CN" sz="2400" b="0" i="1" smtClean="0">
                                      <a:latin typeface="Cambria Math" panose="02040503050406030204" pitchFamily="18" charset="0"/>
                                    </a:rPr>
                                    <m:t>𝑥</m:t>
                                  </m:r>
                                  <m:r>
                                    <a:rPr lang="zh-CN" altLang="en-US" sz="2400">
                                      <a:latin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𝜔</m:t>
                                  </m:r>
                                  <m:r>
                                    <a:rPr lang="en-US" altLang="zh-CN" sz="2400" b="0" i="1">
                                      <a:latin typeface="Cambria Math" panose="02040503050406030204" pitchFamily="18" charset="0"/>
                                    </a:rPr>
                                    <m:t>𝑡</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e>
                          </m:d>
                        </m:e>
                      </m:func>
                    </m:oMath>
                  </m:oMathPara>
                </a14:m>
                <a:endParaRPr lang="zh-CN" altLang="en-US" sz="2400" i="1" dirty="0"/>
              </a:p>
            </p:txBody>
          </p:sp>
        </mc:Choice>
        <mc:Fallback xmlns="">
          <p:sp>
            <p:nvSpPr>
              <p:cNvPr id="4" name="文本框 3">
                <a:extLst>
                  <a:ext uri="{FF2B5EF4-FFF2-40B4-BE49-F238E27FC236}">
                    <a16:creationId xmlns:a16="http://schemas.microsoft.com/office/drawing/2014/main" id="{DAF47892-625F-1B49-DD95-60A8B16507D7}"/>
                  </a:ext>
                </a:extLst>
              </p:cNvPr>
              <p:cNvSpPr txBox="1">
                <a:spLocks noRot="1" noChangeAspect="1" noMove="1" noResize="1" noEditPoints="1" noAdjustHandles="1" noChangeArrowheads="1" noChangeShapeType="1" noTextEdit="1"/>
              </p:cNvSpPr>
              <p:nvPr/>
            </p:nvSpPr>
            <p:spPr>
              <a:xfrm>
                <a:off x="2451653" y="1070892"/>
                <a:ext cx="4309513" cy="369332"/>
              </a:xfrm>
              <a:prstGeom prst="rect">
                <a:avLst/>
              </a:prstGeom>
              <a:blipFill>
                <a:blip r:embed="rId5"/>
                <a:stretch>
                  <a:fillRect b="-20000"/>
                </a:stretch>
              </a:blipFill>
            </p:spPr>
            <p:txBody>
              <a:bodyPr/>
              <a:lstStyle/>
              <a:p>
                <a:r>
                  <a:rPr lang="zh-CN" altLang="en-US">
                    <a:noFill/>
                  </a:rPr>
                  <a:t> </a:t>
                </a:r>
              </a:p>
            </p:txBody>
          </p:sp>
        </mc:Fallback>
      </mc:AlternateContent>
      <p:sp>
        <p:nvSpPr>
          <p:cNvPr id="5" name="TextBox 1">
            <a:extLst>
              <a:ext uri="{FF2B5EF4-FFF2-40B4-BE49-F238E27FC236}">
                <a16:creationId xmlns:a16="http://schemas.microsoft.com/office/drawing/2014/main" id="{4FDEA050-E1E7-D5EA-2807-4C64FE33162E}"/>
              </a:ext>
            </a:extLst>
          </p:cNvPr>
          <p:cNvSpPr txBox="1"/>
          <p:nvPr/>
        </p:nvSpPr>
        <p:spPr>
          <a:xfrm>
            <a:off x="1521751" y="4220335"/>
            <a:ext cx="6525797"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For simplicity, use only the forward-propagating wave:</a:t>
            </a:r>
          </a:p>
        </p:txBody>
      </p:sp>
    </p:spTree>
    <p:extLst>
      <p:ext uri="{BB962C8B-B14F-4D97-AF65-F5344CB8AC3E}">
        <p14:creationId xmlns:p14="http://schemas.microsoft.com/office/powerpoint/2010/main" val="969826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218DF-02F5-3B66-1A1E-76C9CC13E877}"/>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626ACE2-2B89-DD43-C192-EDB3B7E215FA}"/>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Waves and the Wave Equation</a:t>
            </a:r>
          </a:p>
        </p:txBody>
      </p:sp>
      <p:pic>
        <p:nvPicPr>
          <p:cNvPr id="12" name="图片 11">
            <a:extLst>
              <a:ext uri="{FF2B5EF4-FFF2-40B4-BE49-F238E27FC236}">
                <a16:creationId xmlns:a16="http://schemas.microsoft.com/office/drawing/2014/main" id="{696B0BA3-9192-0B2C-6EDC-505DF344D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1731" y="1791924"/>
            <a:ext cx="4102470" cy="1331971"/>
          </a:xfrm>
          <a:prstGeom prst="rect">
            <a:avLst/>
          </a:prstGeom>
        </p:spPr>
      </p:pic>
      <p:sp>
        <p:nvSpPr>
          <p:cNvPr id="15" name="文本框 14">
            <a:extLst>
              <a:ext uri="{FF2B5EF4-FFF2-40B4-BE49-F238E27FC236}">
                <a16:creationId xmlns:a16="http://schemas.microsoft.com/office/drawing/2014/main" id="{F3896ED7-B647-3E2A-2C6C-F30087A204F1}"/>
              </a:ext>
            </a:extLst>
          </p:cNvPr>
          <p:cNvSpPr txBox="1"/>
          <p:nvPr/>
        </p:nvSpPr>
        <p:spPr>
          <a:xfrm>
            <a:off x="2799506" y="748084"/>
            <a:ext cx="4572000" cy="369332"/>
          </a:xfrm>
          <a:prstGeom prst="rect">
            <a:avLst/>
          </a:prstGeom>
          <a:noFill/>
        </p:spPr>
        <p:txBody>
          <a:bodyPr wrap="square">
            <a:spAutoFit/>
          </a:bodyPr>
          <a:lstStyle/>
          <a:p>
            <a:r>
              <a:rPr lang="en-US" altLang="zh-CN" dirty="0"/>
              <a:t>Wave is any function that moves</a:t>
            </a:r>
            <a:endParaRPr lang="zh-CN" altLang="en-US"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ECFAF97-D925-5A85-37CC-43A24120F9A5}"/>
                  </a:ext>
                </a:extLst>
              </p:cNvPr>
              <p:cNvSpPr txBox="1"/>
              <p:nvPr/>
            </p:nvSpPr>
            <p:spPr>
              <a:xfrm>
                <a:off x="2499798" y="1177671"/>
                <a:ext cx="41444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en-US" altLang="zh-CN" sz="2400" b="0" i="1" smtClean="0">
                              <a:latin typeface="Cambria Math" panose="02040503050406030204" pitchFamily="18" charset="0"/>
                            </a:rPr>
                            <m:t>𝑥</m:t>
                          </m:r>
                          <m:r>
                            <a:rPr lang="zh-CN" altLang="en-US" sz="2400" b="0" i="1">
                              <a:latin typeface="Cambria Math" panose="02040503050406030204" pitchFamily="18" charset="0"/>
                            </a:rPr>
                            <m:t>,</m:t>
                          </m:r>
                          <m:r>
                            <a:rPr lang="zh-CN" altLang="en-US" sz="2400" b="0" i="1">
                              <a:latin typeface="Cambria Math" panose="02040503050406030204" pitchFamily="18" charset="0"/>
                            </a:rPr>
                            <m:t>𝑡</m:t>
                          </m:r>
                        </m:e>
                      </m:d>
                      <m:r>
                        <a:rPr lang="zh-CN" altLang="en-US" sz="2400" b="0" i="1">
                          <a:latin typeface="Cambria Math" panose="02040503050406030204" pitchFamily="18" charset="0"/>
                        </a:rPr>
                        <m:t>=</m:t>
                      </m:r>
                      <m:r>
                        <a:rPr lang="zh-CN" altLang="en-US" sz="2400" b="0" i="1">
                          <a:latin typeface="Cambria Math" panose="02040503050406030204" pitchFamily="18" charset="0"/>
                        </a:rPr>
                        <m:t>𝐴</m:t>
                      </m:r>
                      <m:func>
                        <m:funcPr>
                          <m:ctrlPr>
                            <a:rPr lang="zh-CN" altLang="en-US" sz="2400" i="1">
                              <a:latin typeface="Cambria Math" panose="02040503050406030204" pitchFamily="18" charset="0"/>
                            </a:rPr>
                          </m:ctrlPr>
                        </m:funcPr>
                        <m:fName>
                          <m:r>
                            <a:rPr lang="zh-CN" altLang="en-US" sz="2400" b="0" i="1">
                              <a:latin typeface="Cambria Math" panose="02040503050406030204" pitchFamily="18" charset="0"/>
                            </a:rPr>
                            <m:t>𝑐𝑜𝑠</m:t>
                          </m:r>
                        </m:fName>
                        <m:e>
                          <m:d>
                            <m:dPr>
                              <m:begChr m:val="["/>
                              <m:endChr m:val="]"/>
                              <m:ctrlPr>
                                <a:rPr lang="zh-CN" altLang="en-US" sz="2400" i="1">
                                  <a:solidFill>
                                    <a:srgbClr val="836967"/>
                                  </a:solidFill>
                                  <a:latin typeface="Cambria Math" panose="02040503050406030204" pitchFamily="18" charset="0"/>
                                </a:rPr>
                              </m:ctrlPr>
                            </m:dPr>
                            <m:e>
                              <m:d>
                                <m:dPr>
                                  <m:ctrlPr>
                                    <a:rPr lang="zh-CN" altLang="en-US" sz="2400" i="1">
                                      <a:solidFill>
                                        <a:srgbClr val="836967"/>
                                      </a:solidFill>
                                      <a:latin typeface="Cambria Math" panose="02040503050406030204" pitchFamily="18" charset="0"/>
                                    </a:rPr>
                                  </m:ctrlPr>
                                </m:dPr>
                                <m:e>
                                  <m:r>
                                    <a:rPr lang="zh-CN" altLang="en-US" sz="2400" b="0" i="1">
                                      <a:latin typeface="Cambria Math" panose="02040503050406030204" pitchFamily="18" charset="0"/>
                                    </a:rPr>
                                    <m:t>𝑘</m:t>
                                  </m:r>
                                  <m:r>
                                    <a:rPr lang="en-US" altLang="zh-CN" sz="2400" b="0" i="1" smtClean="0">
                                      <a:latin typeface="Cambria Math" panose="02040503050406030204" pitchFamily="18" charset="0"/>
                                    </a:rPr>
                                    <m:t>𝑥</m:t>
                                  </m:r>
                                  <m:r>
                                    <a:rPr lang="en-US" altLang="zh-CN" sz="2400" b="0" i="1">
                                      <a:latin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𝜔</m:t>
                                  </m:r>
                                  <m:r>
                                    <a:rPr lang="en-US" altLang="zh-CN" sz="2400" b="0" i="1">
                                      <a:latin typeface="Cambria Math" panose="02040503050406030204" pitchFamily="18" charset="0"/>
                                    </a:rPr>
                                    <m:t>𝑡</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e>
                          </m:d>
                        </m:e>
                      </m:func>
                    </m:oMath>
                  </m:oMathPara>
                </a14:m>
                <a:endParaRPr lang="zh-CN" altLang="en-US" sz="2400" i="1" dirty="0"/>
              </a:p>
            </p:txBody>
          </p:sp>
        </mc:Choice>
        <mc:Fallback xmlns="">
          <p:sp>
            <p:nvSpPr>
              <p:cNvPr id="22" name="文本框 21">
                <a:extLst>
                  <a:ext uri="{FF2B5EF4-FFF2-40B4-BE49-F238E27FC236}">
                    <a16:creationId xmlns:a16="http://schemas.microsoft.com/office/drawing/2014/main" id="{BECFAF97-D925-5A85-37CC-43A24120F9A5}"/>
                  </a:ext>
                </a:extLst>
              </p:cNvPr>
              <p:cNvSpPr txBox="1">
                <a:spLocks noRot="1" noChangeAspect="1" noMove="1" noResize="1" noEditPoints="1" noAdjustHandles="1" noChangeArrowheads="1" noChangeShapeType="1" noTextEdit="1"/>
              </p:cNvSpPr>
              <p:nvPr/>
            </p:nvSpPr>
            <p:spPr>
              <a:xfrm>
                <a:off x="2499798" y="1177671"/>
                <a:ext cx="4144403" cy="369332"/>
              </a:xfrm>
              <a:prstGeom prst="rect">
                <a:avLst/>
              </a:prstGeom>
              <a:blipFill>
                <a:blip r:embed="rId4"/>
                <a:stretch>
                  <a:fillRect l="-1029" b="-983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41078842-0FA6-834D-AA77-ADDD53087D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38380" y="4401234"/>
            <a:ext cx="3419475" cy="1104900"/>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5CB1323-372F-EE7B-30A4-4E1913DDCB3C}"/>
                  </a:ext>
                </a:extLst>
              </p:cNvPr>
              <p:cNvSpPr txBox="1"/>
              <p:nvPr/>
            </p:nvSpPr>
            <p:spPr>
              <a:xfrm>
                <a:off x="3632271" y="5824024"/>
                <a:ext cx="243169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𝑥</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zh-CN" altLang="en-US" sz="2000" i="1">
                          <a:latin typeface="Cambria Math" panose="02040503050406030204" pitchFamily="18" charset="0"/>
                        </a:rPr>
                        <m:t>𝐴</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smtClean="0">
                                  <a:latin typeface="Cambria Math" panose="02040503050406030204" pitchFamily="18" charset="0"/>
                                </a:rPr>
                                <m:t>𝜔</m:t>
                              </m:r>
                              <m:r>
                                <a:rPr lang="zh-CN" altLang="en-US" sz="2000" i="1">
                                  <a:latin typeface="Cambria Math" panose="02040503050406030204" pitchFamily="18" charset="0"/>
                                </a:rPr>
                                <m:t>𝑡</m:t>
                              </m:r>
                              <m:r>
                                <a:rPr lang="zh-CN" altLang="en-US" sz="2000" i="0">
                                  <a:latin typeface="Cambria Math" panose="02040503050406030204" pitchFamily="18" charset="0"/>
                                </a:rPr>
                                <m:t>+</m:t>
                              </m:r>
                              <m:r>
                                <a:rPr lang="zh-CN" altLang="en-US" sz="2000" i="1">
                                  <a:latin typeface="Cambria Math" panose="02040503050406030204" pitchFamily="18" charset="0"/>
                                </a:rPr>
                                <m:t>𝜑</m:t>
                              </m:r>
                            </m:e>
                          </m:d>
                        </m:e>
                      </m:func>
                    </m:oMath>
                  </m:oMathPara>
                </a14:m>
                <a:endParaRPr lang="zh-CN" altLang="en-US" sz="2000" dirty="0"/>
              </a:p>
            </p:txBody>
          </p:sp>
        </mc:Choice>
        <mc:Fallback xmlns="">
          <p:sp>
            <p:nvSpPr>
              <p:cNvPr id="4" name="文本框 3">
                <a:extLst>
                  <a:ext uri="{FF2B5EF4-FFF2-40B4-BE49-F238E27FC236}">
                    <a16:creationId xmlns:a16="http://schemas.microsoft.com/office/drawing/2014/main" id="{45CB1323-372F-EE7B-30A4-4E1913DDCB3C}"/>
                  </a:ext>
                </a:extLst>
              </p:cNvPr>
              <p:cNvSpPr txBox="1">
                <a:spLocks noRot="1" noChangeAspect="1" noMove="1" noResize="1" noEditPoints="1" noAdjustHandles="1" noChangeArrowheads="1" noChangeShapeType="1" noTextEdit="1"/>
              </p:cNvSpPr>
              <p:nvPr/>
            </p:nvSpPr>
            <p:spPr>
              <a:xfrm>
                <a:off x="3632271" y="5824024"/>
                <a:ext cx="2431691" cy="307777"/>
              </a:xfrm>
              <a:prstGeom prst="rect">
                <a:avLst/>
              </a:prstGeom>
              <a:blipFill>
                <a:blip r:embed="rId6"/>
                <a:stretch>
                  <a:fillRect l="-752" b="-27451"/>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6DA874F6-3D33-61AF-1C20-C93D83B1316A}"/>
              </a:ext>
            </a:extLst>
          </p:cNvPr>
          <p:cNvSpPr txBox="1"/>
          <p:nvPr/>
        </p:nvSpPr>
        <p:spPr>
          <a:xfrm>
            <a:off x="983181" y="3509982"/>
            <a:ext cx="7729869" cy="646331"/>
          </a:xfrm>
          <a:prstGeom prst="rect">
            <a:avLst/>
          </a:prstGeom>
          <a:noFill/>
        </p:spPr>
        <p:txBody>
          <a:bodyPr wrap="square">
            <a:spAutoFit/>
          </a:bodyPr>
          <a:lstStyle/>
          <a:p>
            <a:r>
              <a:rPr lang="en-US" altLang="zh-CN" dirty="0"/>
              <a:t>Simple harmonic motion (</a:t>
            </a:r>
            <a:r>
              <a:rPr lang="zh-CN" altLang="en-US" dirty="0"/>
              <a:t>一维简谐振动</a:t>
            </a:r>
            <a:r>
              <a:rPr lang="en-US" altLang="zh-CN" dirty="0"/>
              <a:t>) </a:t>
            </a:r>
            <a:r>
              <a:rPr lang="zh-CN" altLang="en-US" dirty="0"/>
              <a:t>常用于描述质点的简单谐振动，</a:t>
            </a:r>
            <a:endParaRPr lang="en-US" altLang="zh-CN" dirty="0"/>
          </a:p>
          <a:p>
            <a:r>
              <a:rPr lang="zh-CN" altLang="en-US" dirty="0"/>
              <a:t>而波动方程更广泛地描述了波的传播和干扰现象。</a:t>
            </a:r>
          </a:p>
        </p:txBody>
      </p:sp>
    </p:spTree>
    <p:extLst>
      <p:ext uri="{BB962C8B-B14F-4D97-AF65-F5344CB8AC3E}">
        <p14:creationId xmlns:p14="http://schemas.microsoft.com/office/powerpoint/2010/main" val="2276335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DDED-D277-9722-279D-AE796EEBEB67}"/>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0424D4AE-E384-3F5A-7F40-0C6AEF81DBD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Wavelength in spatial and temporal quantities</a:t>
            </a:r>
          </a:p>
        </p:txBody>
      </p:sp>
      <p:grpSp>
        <p:nvGrpSpPr>
          <p:cNvPr id="3" name="Group 82">
            <a:extLst>
              <a:ext uri="{FF2B5EF4-FFF2-40B4-BE49-F238E27FC236}">
                <a16:creationId xmlns:a16="http://schemas.microsoft.com/office/drawing/2014/main" id="{6E42DBC3-8954-7466-609F-FDEEEC59A9CC}"/>
              </a:ext>
            </a:extLst>
          </p:cNvPr>
          <p:cNvGrpSpPr>
            <a:grpSpLocks/>
          </p:cNvGrpSpPr>
          <p:nvPr/>
        </p:nvGrpSpPr>
        <p:grpSpPr bwMode="auto">
          <a:xfrm>
            <a:off x="4028322" y="550530"/>
            <a:ext cx="4408945" cy="2978593"/>
            <a:chOff x="2523" y="136"/>
            <a:chExt cx="2805" cy="1895"/>
          </a:xfrm>
        </p:grpSpPr>
        <p:sp>
          <p:nvSpPr>
            <p:cNvPr id="4" name="Rectangle 34">
              <a:extLst>
                <a:ext uri="{FF2B5EF4-FFF2-40B4-BE49-F238E27FC236}">
                  <a16:creationId xmlns:a16="http://schemas.microsoft.com/office/drawing/2014/main" id="{4A2BA180-F8A8-68DB-C1E3-0AF780AE716A}"/>
                </a:ext>
              </a:extLst>
            </p:cNvPr>
            <p:cNvSpPr>
              <a:spLocks noChangeArrowheads="1"/>
            </p:cNvSpPr>
            <p:nvPr/>
          </p:nvSpPr>
          <p:spPr bwMode="auto">
            <a:xfrm>
              <a:off x="2523" y="136"/>
              <a:ext cx="2805" cy="18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nvGrpSpPr>
            <p:cNvPr id="5" name="Group 40">
              <a:extLst>
                <a:ext uri="{FF2B5EF4-FFF2-40B4-BE49-F238E27FC236}">
                  <a16:creationId xmlns:a16="http://schemas.microsoft.com/office/drawing/2014/main" id="{A3C7D32F-D2B7-517C-822E-665E91286AA8}"/>
                </a:ext>
              </a:extLst>
            </p:cNvPr>
            <p:cNvGrpSpPr>
              <a:grpSpLocks/>
            </p:cNvGrpSpPr>
            <p:nvPr/>
          </p:nvGrpSpPr>
          <p:grpSpPr bwMode="auto">
            <a:xfrm flipV="1">
              <a:off x="2910" y="727"/>
              <a:ext cx="1989" cy="724"/>
              <a:chOff x="3040" y="553"/>
              <a:chExt cx="1146" cy="2422"/>
            </a:xfrm>
          </p:grpSpPr>
          <p:sp>
            <p:nvSpPr>
              <p:cNvPr id="19" name="Freeform 41">
                <a:extLst>
                  <a:ext uri="{FF2B5EF4-FFF2-40B4-BE49-F238E27FC236}">
                    <a16:creationId xmlns:a16="http://schemas.microsoft.com/office/drawing/2014/main" id="{18E4B8C8-338B-558C-7988-4C79D8F66643}"/>
                  </a:ext>
                </a:extLst>
              </p:cNvPr>
              <p:cNvSpPr>
                <a:spLocks/>
              </p:cNvSpPr>
              <p:nvPr/>
            </p:nvSpPr>
            <p:spPr bwMode="auto">
              <a:xfrm>
                <a:off x="3040" y="1762"/>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FF0000"/>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1" name="Freeform 42">
                <a:extLst>
                  <a:ext uri="{FF2B5EF4-FFF2-40B4-BE49-F238E27FC236}">
                    <a16:creationId xmlns:a16="http://schemas.microsoft.com/office/drawing/2014/main" id="{EA586A62-B882-0CCF-743B-B277B142C827}"/>
                  </a:ext>
                </a:extLst>
              </p:cNvPr>
              <p:cNvSpPr>
                <a:spLocks/>
              </p:cNvSpPr>
              <p:nvPr/>
            </p:nvSpPr>
            <p:spPr bwMode="auto">
              <a:xfrm>
                <a:off x="3614" y="1762"/>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FF0000"/>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3" name="Freeform 43">
                <a:extLst>
                  <a:ext uri="{FF2B5EF4-FFF2-40B4-BE49-F238E27FC236}">
                    <a16:creationId xmlns:a16="http://schemas.microsoft.com/office/drawing/2014/main" id="{9DBD1379-2982-92BD-F760-EA7811C5799D}"/>
                  </a:ext>
                </a:extLst>
              </p:cNvPr>
              <p:cNvSpPr>
                <a:spLocks/>
              </p:cNvSpPr>
              <p:nvPr/>
            </p:nvSpPr>
            <p:spPr bwMode="auto">
              <a:xfrm flipV="1">
                <a:off x="3327" y="553"/>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FF0000"/>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4" name="Freeform 44">
                <a:extLst>
                  <a:ext uri="{FF2B5EF4-FFF2-40B4-BE49-F238E27FC236}">
                    <a16:creationId xmlns:a16="http://schemas.microsoft.com/office/drawing/2014/main" id="{1F2495DB-0D86-5FCD-BB22-9E96A3BCC784}"/>
                  </a:ext>
                </a:extLst>
              </p:cNvPr>
              <p:cNvSpPr>
                <a:spLocks/>
              </p:cNvSpPr>
              <p:nvPr/>
            </p:nvSpPr>
            <p:spPr bwMode="auto">
              <a:xfrm flipV="1">
                <a:off x="3900" y="553"/>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FF0000"/>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sp>
          <p:nvSpPr>
            <p:cNvPr id="6" name="Line 45">
              <a:extLst>
                <a:ext uri="{FF2B5EF4-FFF2-40B4-BE49-F238E27FC236}">
                  <a16:creationId xmlns:a16="http://schemas.microsoft.com/office/drawing/2014/main" id="{A0A1A22F-8423-4690-DFD4-4139A9FF547E}"/>
                </a:ext>
              </a:extLst>
            </p:cNvPr>
            <p:cNvSpPr>
              <a:spLocks noChangeShapeType="1"/>
            </p:cNvSpPr>
            <p:nvPr/>
          </p:nvSpPr>
          <p:spPr bwMode="auto">
            <a:xfrm>
              <a:off x="2700" y="1098"/>
              <a:ext cx="234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Text Box 46">
              <a:extLst>
                <a:ext uri="{FF2B5EF4-FFF2-40B4-BE49-F238E27FC236}">
                  <a16:creationId xmlns:a16="http://schemas.microsoft.com/office/drawing/2014/main" id="{323AABE8-0E5D-F756-8970-5B32EF570BE7}"/>
                </a:ext>
              </a:extLst>
            </p:cNvPr>
            <p:cNvSpPr txBox="1">
              <a:spLocks noChangeArrowheads="1"/>
            </p:cNvSpPr>
            <p:nvPr/>
          </p:nvSpPr>
          <p:spPr bwMode="auto">
            <a:xfrm>
              <a:off x="4962" y="1080"/>
              <a:ext cx="3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1" i="1"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x</a:t>
              </a:r>
            </a:p>
          </p:txBody>
        </p:sp>
        <p:sp>
          <p:nvSpPr>
            <p:cNvPr id="8" name="Line 47">
              <a:extLst>
                <a:ext uri="{FF2B5EF4-FFF2-40B4-BE49-F238E27FC236}">
                  <a16:creationId xmlns:a16="http://schemas.microsoft.com/office/drawing/2014/main" id="{8AF36B29-941A-2286-7C0F-E87EBED42628}"/>
                </a:ext>
              </a:extLst>
            </p:cNvPr>
            <p:cNvSpPr>
              <a:spLocks noChangeShapeType="1"/>
            </p:cNvSpPr>
            <p:nvPr/>
          </p:nvSpPr>
          <p:spPr bwMode="auto">
            <a:xfrm flipV="1">
              <a:off x="2844" y="366"/>
              <a:ext cx="0" cy="13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 name="Text Box 49">
              <a:extLst>
                <a:ext uri="{FF2B5EF4-FFF2-40B4-BE49-F238E27FC236}">
                  <a16:creationId xmlns:a16="http://schemas.microsoft.com/office/drawing/2014/main" id="{D2269A4A-74A5-D1C9-2835-CCF1B62F9E1E}"/>
                </a:ext>
              </a:extLst>
            </p:cNvPr>
            <p:cNvSpPr txBox="1">
              <a:spLocks noChangeArrowheads="1"/>
            </p:cNvSpPr>
            <p:nvPr/>
          </p:nvSpPr>
          <p:spPr bwMode="auto">
            <a:xfrm>
              <a:off x="3186" y="210"/>
              <a:ext cx="97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n-ea"/>
                  <a:cs typeface="+mn-cs"/>
                </a:rPr>
                <a:t>Wavelength</a:t>
              </a:r>
            </a:p>
          </p:txBody>
        </p:sp>
        <p:sp>
          <p:nvSpPr>
            <p:cNvPr id="10" name="Line 52">
              <a:extLst>
                <a:ext uri="{FF2B5EF4-FFF2-40B4-BE49-F238E27FC236}">
                  <a16:creationId xmlns:a16="http://schemas.microsoft.com/office/drawing/2014/main" id="{4EC8DFD7-8D60-88FF-CC54-90EFA389CC18}"/>
                </a:ext>
              </a:extLst>
            </p:cNvPr>
            <p:cNvSpPr>
              <a:spLocks noChangeShapeType="1"/>
            </p:cNvSpPr>
            <p:nvPr/>
          </p:nvSpPr>
          <p:spPr bwMode="auto">
            <a:xfrm>
              <a:off x="3180" y="600"/>
              <a:ext cx="984"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 name="Text Box 53">
              <a:extLst>
                <a:ext uri="{FF2B5EF4-FFF2-40B4-BE49-F238E27FC236}">
                  <a16:creationId xmlns:a16="http://schemas.microsoft.com/office/drawing/2014/main" id="{59CA5F07-D9FF-1977-211A-ED34F7AF2AC5}"/>
                </a:ext>
              </a:extLst>
            </p:cNvPr>
            <p:cNvSpPr txBox="1">
              <a:spLocks noChangeArrowheads="1"/>
            </p:cNvSpPr>
            <p:nvPr/>
          </p:nvSpPr>
          <p:spPr bwMode="auto">
            <a:xfrm>
              <a:off x="3558" y="408"/>
              <a:ext cx="228" cy="32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800" b="0" i="1" u="none" strike="noStrike" kern="1200" cap="none" spc="0" normalizeH="0" baseline="0" noProof="0">
                  <a:ln>
                    <a:noFill/>
                  </a:ln>
                  <a:solidFill>
                    <a:srgbClr val="FF0000"/>
                  </a:solidFill>
                  <a:effectLst/>
                  <a:uLnTx/>
                  <a:uFillTx/>
                  <a:latin typeface="Symbol" panose="05050102010706020507" pitchFamily="18" charset="2"/>
                  <a:ea typeface="+mn-ea"/>
                  <a:cs typeface="+mn-cs"/>
                </a:rPr>
                <a:t>l</a:t>
              </a:r>
            </a:p>
          </p:txBody>
        </p:sp>
        <p:grpSp>
          <p:nvGrpSpPr>
            <p:cNvPr id="14" name="Group 59">
              <a:extLst>
                <a:ext uri="{FF2B5EF4-FFF2-40B4-BE49-F238E27FC236}">
                  <a16:creationId xmlns:a16="http://schemas.microsoft.com/office/drawing/2014/main" id="{005770CC-99F3-A5D1-E294-4DD268E1CB3B}"/>
                </a:ext>
              </a:extLst>
            </p:cNvPr>
            <p:cNvGrpSpPr>
              <a:grpSpLocks/>
            </p:cNvGrpSpPr>
            <p:nvPr/>
          </p:nvGrpSpPr>
          <p:grpSpPr bwMode="auto">
            <a:xfrm>
              <a:off x="3168" y="552"/>
              <a:ext cx="996" cy="96"/>
              <a:chOff x="222" y="1638"/>
              <a:chExt cx="996" cy="96"/>
            </a:xfrm>
          </p:grpSpPr>
          <p:sp>
            <p:nvSpPr>
              <p:cNvPr id="17" name="Line 54">
                <a:extLst>
                  <a:ext uri="{FF2B5EF4-FFF2-40B4-BE49-F238E27FC236}">
                    <a16:creationId xmlns:a16="http://schemas.microsoft.com/office/drawing/2014/main" id="{EFAECF6F-7B76-2B37-0FB6-C4F59047E5FD}"/>
                  </a:ext>
                </a:extLst>
              </p:cNvPr>
              <p:cNvSpPr>
                <a:spLocks noChangeShapeType="1"/>
              </p:cNvSpPr>
              <p:nvPr/>
            </p:nvSpPr>
            <p:spPr bwMode="auto">
              <a:xfrm>
                <a:off x="222" y="163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 name="Line 58">
                <a:extLst>
                  <a:ext uri="{FF2B5EF4-FFF2-40B4-BE49-F238E27FC236}">
                    <a16:creationId xmlns:a16="http://schemas.microsoft.com/office/drawing/2014/main" id="{C69AB5A7-8EAD-B6F2-7097-C2A6CA0C84AA}"/>
                  </a:ext>
                </a:extLst>
              </p:cNvPr>
              <p:cNvSpPr>
                <a:spLocks noChangeShapeType="1"/>
              </p:cNvSpPr>
              <p:nvPr/>
            </p:nvSpPr>
            <p:spPr bwMode="auto">
              <a:xfrm>
                <a:off x="1218" y="163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sp>
          <p:nvSpPr>
            <p:cNvPr id="16" name="Text Box 60">
              <a:extLst>
                <a:ext uri="{FF2B5EF4-FFF2-40B4-BE49-F238E27FC236}">
                  <a16:creationId xmlns:a16="http://schemas.microsoft.com/office/drawing/2014/main" id="{EABD53F3-2D55-026D-4F95-CF9FA027C175}"/>
                </a:ext>
              </a:extLst>
            </p:cNvPr>
            <p:cNvSpPr txBox="1">
              <a:spLocks noChangeArrowheads="1"/>
            </p:cNvSpPr>
            <p:nvPr/>
          </p:nvSpPr>
          <p:spPr bwMode="auto">
            <a:xfrm>
              <a:off x="2946" y="1506"/>
              <a:ext cx="2299" cy="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ea typeface="+mn-ea"/>
                </a:rPr>
                <a:t>k-vector magnitude: </a:t>
              </a: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rPr>
                <a:t>k</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rPr>
                <a:t> = 2</a:t>
              </a:r>
              <a:r>
                <a:rPr kumimoji="0" lang="en-US" altLang="en-US" sz="1800" b="0" i="0" u="none" strike="noStrike" kern="1200" cap="none" spc="0" normalizeH="0" baseline="0" noProof="0" dirty="0">
                  <a:ln>
                    <a:noFill/>
                  </a:ln>
                  <a:solidFill>
                    <a:srgbClr val="000000"/>
                  </a:solidFill>
                  <a:effectLst/>
                  <a:uLnTx/>
                  <a:uFillTx/>
                  <a:latin typeface="Symbol" panose="05050102010706020507" pitchFamily="18" charset="2"/>
                  <a:ea typeface="+mn-ea"/>
                </a:rPr>
                <a:t>p</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rPr>
                <a:t>/</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l</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ea typeface="+mn-ea"/>
                </a:rPr>
                <a:t>wave number: </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k</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rPr>
                <a:t>  = 1/</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l </a:t>
              </a: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 </a:t>
              </a: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k</a:t>
              </a:r>
              <a:r>
                <a:rPr kumimoji="0" lang="en-US" altLang="en-US" sz="1800" b="0" i="0" u="none" strike="noStrike" kern="1200" cap="none" spc="0" normalizeH="0" baseline="0" noProof="0" dirty="0">
                  <a:ln>
                    <a:noFill/>
                  </a:ln>
                  <a:solidFill>
                    <a:srgbClr val="000000"/>
                  </a:solidFill>
                  <a:effectLst/>
                  <a:uLnTx/>
                  <a:uFillTx/>
                  <a:latin typeface="Symbol" panose="05050102010706020507" pitchFamily="18" charset="2"/>
                  <a:ea typeface="+mn-ea"/>
                </a:rPr>
                <a:t>/2p</a:t>
              </a:r>
            </a:p>
          </p:txBody>
        </p:sp>
      </p:grpSp>
      <p:grpSp>
        <p:nvGrpSpPr>
          <p:cNvPr id="25" name="Group 79">
            <a:extLst>
              <a:ext uri="{FF2B5EF4-FFF2-40B4-BE49-F238E27FC236}">
                <a16:creationId xmlns:a16="http://schemas.microsoft.com/office/drawing/2014/main" id="{C78CAAF4-AF19-C65F-C837-4FDB47A76B9C}"/>
              </a:ext>
            </a:extLst>
          </p:cNvPr>
          <p:cNvGrpSpPr>
            <a:grpSpLocks/>
          </p:cNvGrpSpPr>
          <p:nvPr/>
        </p:nvGrpSpPr>
        <p:grpSpPr bwMode="auto">
          <a:xfrm>
            <a:off x="4085007" y="3523806"/>
            <a:ext cx="4408945" cy="2978593"/>
            <a:chOff x="-237" y="2200"/>
            <a:chExt cx="2805" cy="1895"/>
          </a:xfrm>
        </p:grpSpPr>
        <p:sp>
          <p:nvSpPr>
            <p:cNvPr id="26" name="Rectangle 4">
              <a:extLst>
                <a:ext uri="{FF2B5EF4-FFF2-40B4-BE49-F238E27FC236}">
                  <a16:creationId xmlns:a16="http://schemas.microsoft.com/office/drawing/2014/main" id="{96A36B6F-1171-2A6F-4601-F6051B86B715}"/>
                </a:ext>
              </a:extLst>
            </p:cNvPr>
            <p:cNvSpPr>
              <a:spLocks noChangeArrowheads="1"/>
            </p:cNvSpPr>
            <p:nvPr/>
          </p:nvSpPr>
          <p:spPr bwMode="auto">
            <a:xfrm>
              <a:off x="672" y="2870"/>
              <a:ext cx="18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srgbClr val="FF5050"/>
                  </a:solidFill>
                  <a:effectLst/>
                  <a:uLnTx/>
                  <a:uFillTx/>
                  <a:latin typeface="Arial" panose="020B0604020202020204" pitchFamily="34" charset="0"/>
                  <a:ea typeface="+mn-ea"/>
                  <a:cs typeface="+mn-cs"/>
                </a:rPr>
                <a:t>Temporal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quantities:</a:t>
              </a:r>
            </a:p>
          </p:txBody>
        </p:sp>
        <p:sp>
          <p:nvSpPr>
            <p:cNvPr id="27" name="Rectangle 63">
              <a:extLst>
                <a:ext uri="{FF2B5EF4-FFF2-40B4-BE49-F238E27FC236}">
                  <a16:creationId xmlns:a16="http://schemas.microsoft.com/office/drawing/2014/main" id="{15108FC6-B017-2BE1-F4A1-4C2ADE746939}"/>
                </a:ext>
              </a:extLst>
            </p:cNvPr>
            <p:cNvSpPr>
              <a:spLocks noChangeArrowheads="1"/>
            </p:cNvSpPr>
            <p:nvPr/>
          </p:nvSpPr>
          <p:spPr bwMode="auto">
            <a:xfrm>
              <a:off x="-237" y="2200"/>
              <a:ext cx="2805" cy="18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nvGrpSpPr>
            <p:cNvPr id="28" name="Group 64">
              <a:extLst>
                <a:ext uri="{FF2B5EF4-FFF2-40B4-BE49-F238E27FC236}">
                  <a16:creationId xmlns:a16="http://schemas.microsoft.com/office/drawing/2014/main" id="{13633E93-9FE5-EA92-B013-CB0CD618E0B8}"/>
                </a:ext>
              </a:extLst>
            </p:cNvPr>
            <p:cNvGrpSpPr>
              <a:grpSpLocks/>
            </p:cNvGrpSpPr>
            <p:nvPr/>
          </p:nvGrpSpPr>
          <p:grpSpPr bwMode="auto">
            <a:xfrm flipV="1">
              <a:off x="150" y="2791"/>
              <a:ext cx="1989" cy="724"/>
              <a:chOff x="3040" y="553"/>
              <a:chExt cx="1146" cy="2422"/>
            </a:xfrm>
          </p:grpSpPr>
          <p:sp>
            <p:nvSpPr>
              <p:cNvPr id="40" name="Freeform 65">
                <a:extLst>
                  <a:ext uri="{FF2B5EF4-FFF2-40B4-BE49-F238E27FC236}">
                    <a16:creationId xmlns:a16="http://schemas.microsoft.com/office/drawing/2014/main" id="{0FD0093B-7CD5-0E91-2F6F-28325CEF375D}"/>
                  </a:ext>
                </a:extLst>
              </p:cNvPr>
              <p:cNvSpPr>
                <a:spLocks/>
              </p:cNvSpPr>
              <p:nvPr/>
            </p:nvSpPr>
            <p:spPr bwMode="auto">
              <a:xfrm>
                <a:off x="3040" y="1762"/>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3333CC"/>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1" name="Freeform 66">
                <a:extLst>
                  <a:ext uri="{FF2B5EF4-FFF2-40B4-BE49-F238E27FC236}">
                    <a16:creationId xmlns:a16="http://schemas.microsoft.com/office/drawing/2014/main" id="{982B6E0D-8FAE-335E-2A8A-729A2FF7F54E}"/>
                  </a:ext>
                </a:extLst>
              </p:cNvPr>
              <p:cNvSpPr>
                <a:spLocks/>
              </p:cNvSpPr>
              <p:nvPr/>
            </p:nvSpPr>
            <p:spPr bwMode="auto">
              <a:xfrm>
                <a:off x="3614" y="1762"/>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3333CC"/>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2" name="Freeform 67">
                <a:extLst>
                  <a:ext uri="{FF2B5EF4-FFF2-40B4-BE49-F238E27FC236}">
                    <a16:creationId xmlns:a16="http://schemas.microsoft.com/office/drawing/2014/main" id="{E73C8447-08DD-CCD0-5FC3-B18E66CD70B7}"/>
                  </a:ext>
                </a:extLst>
              </p:cNvPr>
              <p:cNvSpPr>
                <a:spLocks/>
              </p:cNvSpPr>
              <p:nvPr/>
            </p:nvSpPr>
            <p:spPr bwMode="auto">
              <a:xfrm flipV="1">
                <a:off x="3327" y="553"/>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3333CC"/>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3" name="Freeform 68">
                <a:extLst>
                  <a:ext uri="{FF2B5EF4-FFF2-40B4-BE49-F238E27FC236}">
                    <a16:creationId xmlns:a16="http://schemas.microsoft.com/office/drawing/2014/main" id="{9B725B2B-26A6-027A-27BB-078A07811431}"/>
                  </a:ext>
                </a:extLst>
              </p:cNvPr>
              <p:cNvSpPr>
                <a:spLocks/>
              </p:cNvSpPr>
              <p:nvPr/>
            </p:nvSpPr>
            <p:spPr bwMode="auto">
              <a:xfrm flipV="1">
                <a:off x="3900" y="553"/>
                <a:ext cx="286" cy="1213"/>
              </a:xfrm>
              <a:custGeom>
                <a:avLst/>
                <a:gdLst>
                  <a:gd name="T0" fmla="*/ 0 w 472"/>
                  <a:gd name="T1" fmla="*/ 0 h 355"/>
                  <a:gd name="T2" fmla="*/ 1 w 472"/>
                  <a:gd name="T3" fmla="*/ 2147483646 h 355"/>
                  <a:gd name="T4" fmla="*/ 1 w 472"/>
                  <a:gd name="T5" fmla="*/ 2147483646 h 355"/>
                  <a:gd name="T6" fmla="*/ 1 w 472"/>
                  <a:gd name="T7" fmla="*/ 2147483646 h 355"/>
                  <a:gd name="T8" fmla="*/ 1 w 472"/>
                  <a:gd name="T9" fmla="*/ 2147483646 h 355"/>
                  <a:gd name="T10" fmla="*/ 1 w 472"/>
                  <a:gd name="T11" fmla="*/ 2147483646 h 355"/>
                  <a:gd name="T12" fmla="*/ 1 w 472"/>
                  <a:gd name="T13" fmla="*/ 2147483646 h 355"/>
                  <a:gd name="T14" fmla="*/ 1 w 472"/>
                  <a:gd name="T15" fmla="*/ 2147483646 h 355"/>
                  <a:gd name="T16" fmla="*/ 1 w 472"/>
                  <a:gd name="T17" fmla="*/ 2147483646 h 355"/>
                  <a:gd name="T18" fmla="*/ 1 w 472"/>
                  <a:gd name="T19" fmla="*/ 2147483646 h 355"/>
                  <a:gd name="T20" fmla="*/ 1 w 472"/>
                  <a:gd name="T21" fmla="*/ 2147483646 h 355"/>
                  <a:gd name="T22" fmla="*/ 1 w 472"/>
                  <a:gd name="T23" fmla="*/ 2147483646 h 355"/>
                  <a:gd name="T24" fmla="*/ 1 w 472"/>
                  <a:gd name="T25" fmla="*/ 2147483646 h 355"/>
                  <a:gd name="T26" fmla="*/ 1 w 472"/>
                  <a:gd name="T27" fmla="*/ 2147483646 h 355"/>
                  <a:gd name="T28" fmla="*/ 1 w 472"/>
                  <a:gd name="T29" fmla="*/ 2147483646 h 355"/>
                  <a:gd name="T30" fmla="*/ 1 w 472"/>
                  <a:gd name="T31" fmla="*/ 2147483646 h 355"/>
                  <a:gd name="T32" fmla="*/ 1 w 472"/>
                  <a:gd name="T33" fmla="*/ 2147483646 h 355"/>
                  <a:gd name="T34" fmla="*/ 1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3333CC"/>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sp>
          <p:nvSpPr>
            <p:cNvPr id="29" name="Line 69">
              <a:extLst>
                <a:ext uri="{FF2B5EF4-FFF2-40B4-BE49-F238E27FC236}">
                  <a16:creationId xmlns:a16="http://schemas.microsoft.com/office/drawing/2014/main" id="{CB34508F-D8E2-4F03-F4D1-4504B0CB2149}"/>
                </a:ext>
              </a:extLst>
            </p:cNvPr>
            <p:cNvSpPr>
              <a:spLocks noChangeShapeType="1"/>
            </p:cNvSpPr>
            <p:nvPr/>
          </p:nvSpPr>
          <p:spPr bwMode="auto">
            <a:xfrm>
              <a:off x="-60" y="3162"/>
              <a:ext cx="234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 name="Text Box 70">
              <a:extLst>
                <a:ext uri="{FF2B5EF4-FFF2-40B4-BE49-F238E27FC236}">
                  <a16:creationId xmlns:a16="http://schemas.microsoft.com/office/drawing/2014/main" id="{3F951BD6-B597-2525-4697-6A809729F08B}"/>
                </a:ext>
              </a:extLst>
            </p:cNvPr>
            <p:cNvSpPr txBox="1">
              <a:spLocks noChangeArrowheads="1"/>
            </p:cNvSpPr>
            <p:nvPr/>
          </p:nvSpPr>
          <p:spPr bwMode="auto">
            <a:xfrm>
              <a:off x="2202" y="3144"/>
              <a:ext cx="3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1" i="1" u="none" strike="noStrike" kern="1200" cap="none" spc="0" normalizeH="0" baseline="0" noProof="0">
                  <a:ln>
                    <a:noFill/>
                  </a:ln>
                  <a:solidFill>
                    <a:srgbClr val="3333CC"/>
                  </a:solidFill>
                  <a:effectLst/>
                  <a:uLnTx/>
                  <a:uFillTx/>
                  <a:latin typeface="Times New Roman" panose="02020603050405020304" pitchFamily="18" charset="0"/>
                  <a:ea typeface="+mn-ea"/>
                  <a:cs typeface="+mn-cs"/>
                </a:rPr>
                <a:t>t</a:t>
              </a:r>
            </a:p>
          </p:txBody>
        </p:sp>
        <p:sp>
          <p:nvSpPr>
            <p:cNvPr id="31" name="Line 71">
              <a:extLst>
                <a:ext uri="{FF2B5EF4-FFF2-40B4-BE49-F238E27FC236}">
                  <a16:creationId xmlns:a16="http://schemas.microsoft.com/office/drawing/2014/main" id="{5DA0D18E-7704-DE72-A6A2-F552367C3EE7}"/>
                </a:ext>
              </a:extLst>
            </p:cNvPr>
            <p:cNvSpPr>
              <a:spLocks noChangeShapeType="1"/>
            </p:cNvSpPr>
            <p:nvPr/>
          </p:nvSpPr>
          <p:spPr bwMode="auto">
            <a:xfrm flipV="1">
              <a:off x="84" y="2430"/>
              <a:ext cx="0" cy="13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 name="Text Box 72">
              <a:extLst>
                <a:ext uri="{FF2B5EF4-FFF2-40B4-BE49-F238E27FC236}">
                  <a16:creationId xmlns:a16="http://schemas.microsoft.com/office/drawing/2014/main" id="{D2C6665C-EC78-D784-48DC-C7224754CB1C}"/>
                </a:ext>
              </a:extLst>
            </p:cNvPr>
            <p:cNvSpPr txBox="1">
              <a:spLocks noChangeArrowheads="1"/>
            </p:cNvSpPr>
            <p:nvPr/>
          </p:nvSpPr>
          <p:spPr bwMode="auto">
            <a:xfrm>
              <a:off x="643" y="2282"/>
              <a:ext cx="62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800" b="0" i="0" u="none" strike="noStrike" kern="1200" cap="none" spc="0" normalizeH="0" baseline="0" noProof="0" dirty="0">
                  <a:ln>
                    <a:noFill/>
                  </a:ln>
                  <a:solidFill>
                    <a:srgbClr val="3333CC"/>
                  </a:solidFill>
                  <a:effectLst/>
                  <a:uLnTx/>
                  <a:uFillTx/>
                  <a:latin typeface="Arial" panose="020B0604020202020204" pitchFamily="34" charset="0"/>
                  <a:ea typeface="+mn-ea"/>
                  <a:cs typeface="+mn-cs"/>
                </a:rPr>
                <a:t>Period</a:t>
              </a:r>
            </a:p>
          </p:txBody>
        </p:sp>
        <p:sp>
          <p:nvSpPr>
            <p:cNvPr id="34" name="Line 73">
              <a:extLst>
                <a:ext uri="{FF2B5EF4-FFF2-40B4-BE49-F238E27FC236}">
                  <a16:creationId xmlns:a16="http://schemas.microsoft.com/office/drawing/2014/main" id="{CF532305-766E-EAF3-2CAC-AA5406914A6C}"/>
                </a:ext>
              </a:extLst>
            </p:cNvPr>
            <p:cNvSpPr>
              <a:spLocks noChangeShapeType="1"/>
            </p:cNvSpPr>
            <p:nvPr/>
          </p:nvSpPr>
          <p:spPr bwMode="auto">
            <a:xfrm>
              <a:off x="420" y="2664"/>
              <a:ext cx="984"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5" name="Text Box 74">
              <a:extLst>
                <a:ext uri="{FF2B5EF4-FFF2-40B4-BE49-F238E27FC236}">
                  <a16:creationId xmlns:a16="http://schemas.microsoft.com/office/drawing/2014/main" id="{1B84AA24-C26F-6198-8DF3-2B7115301F6E}"/>
                </a:ext>
              </a:extLst>
            </p:cNvPr>
            <p:cNvSpPr txBox="1">
              <a:spLocks noChangeArrowheads="1"/>
            </p:cNvSpPr>
            <p:nvPr/>
          </p:nvSpPr>
          <p:spPr bwMode="auto">
            <a:xfrm>
              <a:off x="798" y="2472"/>
              <a:ext cx="228" cy="32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800" b="0" i="1" u="none" strike="noStrike" kern="1200" cap="none" spc="0" normalizeH="0" baseline="0" noProof="0" dirty="0">
                  <a:ln>
                    <a:noFill/>
                  </a:ln>
                  <a:solidFill>
                    <a:srgbClr val="3333CC"/>
                  </a:solidFill>
                  <a:effectLst/>
                  <a:uLnTx/>
                  <a:uFillTx/>
                  <a:latin typeface="Symbol" panose="05050102010706020507" pitchFamily="18" charset="2"/>
                  <a:ea typeface="+mn-ea"/>
                  <a:cs typeface="+mn-cs"/>
                </a:rPr>
                <a:t>t</a:t>
              </a:r>
            </a:p>
          </p:txBody>
        </p:sp>
        <p:grpSp>
          <p:nvGrpSpPr>
            <p:cNvPr id="36" name="Group 75">
              <a:extLst>
                <a:ext uri="{FF2B5EF4-FFF2-40B4-BE49-F238E27FC236}">
                  <a16:creationId xmlns:a16="http://schemas.microsoft.com/office/drawing/2014/main" id="{09E19370-84D5-66F8-DB07-EAE771238AA3}"/>
                </a:ext>
              </a:extLst>
            </p:cNvPr>
            <p:cNvGrpSpPr>
              <a:grpSpLocks/>
            </p:cNvGrpSpPr>
            <p:nvPr/>
          </p:nvGrpSpPr>
          <p:grpSpPr bwMode="auto">
            <a:xfrm>
              <a:off x="408" y="2616"/>
              <a:ext cx="996" cy="96"/>
              <a:chOff x="222" y="1638"/>
              <a:chExt cx="996" cy="96"/>
            </a:xfrm>
          </p:grpSpPr>
          <p:sp>
            <p:nvSpPr>
              <p:cNvPr id="38" name="Line 76">
                <a:extLst>
                  <a:ext uri="{FF2B5EF4-FFF2-40B4-BE49-F238E27FC236}">
                    <a16:creationId xmlns:a16="http://schemas.microsoft.com/office/drawing/2014/main" id="{5560ECFC-1FAB-5874-B422-57CC6DDD24E7}"/>
                  </a:ext>
                </a:extLst>
              </p:cNvPr>
              <p:cNvSpPr>
                <a:spLocks noChangeShapeType="1"/>
              </p:cNvSpPr>
              <p:nvPr/>
            </p:nvSpPr>
            <p:spPr bwMode="auto">
              <a:xfrm>
                <a:off x="222" y="163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9" name="Line 77">
                <a:extLst>
                  <a:ext uri="{FF2B5EF4-FFF2-40B4-BE49-F238E27FC236}">
                    <a16:creationId xmlns:a16="http://schemas.microsoft.com/office/drawing/2014/main" id="{CF2D112D-B08F-596A-B440-B59C5BFA448A}"/>
                  </a:ext>
                </a:extLst>
              </p:cNvPr>
              <p:cNvSpPr>
                <a:spLocks noChangeShapeType="1"/>
              </p:cNvSpPr>
              <p:nvPr/>
            </p:nvSpPr>
            <p:spPr bwMode="auto">
              <a:xfrm>
                <a:off x="1218" y="163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sp>
          <p:nvSpPr>
            <p:cNvPr id="37" name="Text Box 78">
              <a:extLst>
                <a:ext uri="{FF2B5EF4-FFF2-40B4-BE49-F238E27FC236}">
                  <a16:creationId xmlns:a16="http://schemas.microsoft.com/office/drawing/2014/main" id="{73D2BE9E-7361-B349-A401-9EC2981F9976}"/>
                </a:ext>
              </a:extLst>
            </p:cNvPr>
            <p:cNvSpPr txBox="1">
              <a:spLocks noChangeArrowheads="1"/>
            </p:cNvSpPr>
            <p:nvPr/>
          </p:nvSpPr>
          <p:spPr bwMode="auto">
            <a:xfrm>
              <a:off x="82" y="3504"/>
              <a:ext cx="2486" cy="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ea typeface="+mn-ea"/>
                </a:rPr>
                <a:t>angular frequency: </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w </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rPr>
                <a:t> = 2</a:t>
              </a:r>
              <a:r>
                <a:rPr kumimoji="0" lang="en-US" altLang="en-US" sz="1800" b="0" i="0" u="none" strike="noStrike" kern="1200" cap="none" spc="0" normalizeH="0" baseline="0" noProof="0" dirty="0">
                  <a:ln>
                    <a:noFill/>
                  </a:ln>
                  <a:solidFill>
                    <a:srgbClr val="000000"/>
                  </a:solidFill>
                  <a:effectLst/>
                  <a:uLnTx/>
                  <a:uFillTx/>
                  <a:latin typeface="Symbol" panose="05050102010706020507" pitchFamily="18" charset="2"/>
                  <a:ea typeface="+mn-ea"/>
                </a:rPr>
                <a:t>p</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rPr>
                <a:t>/</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ea typeface="+mn-ea"/>
                </a:rPr>
                <a:t>cyclical frequency: </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n</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rPr>
                <a:t>  = 1/</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t</a:t>
              </a: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rPr>
                <a:t> w</a:t>
              </a:r>
              <a:r>
                <a:rPr kumimoji="0" lang="en-US" altLang="en-US" sz="1800" b="0" i="0" u="none" strike="noStrike" kern="1200" cap="none" spc="0" normalizeH="0" baseline="0" noProof="0" dirty="0">
                  <a:ln>
                    <a:noFill/>
                  </a:ln>
                  <a:solidFill>
                    <a:srgbClr val="000000"/>
                  </a:solidFill>
                  <a:effectLst/>
                  <a:uLnTx/>
                  <a:uFillTx/>
                  <a:latin typeface="Symbol" panose="05050102010706020507" pitchFamily="18" charset="2"/>
                  <a:ea typeface="+mn-ea"/>
                </a:rPr>
                <a:t>/2p</a:t>
              </a:r>
              <a:endPar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endParaRPr>
            </a:p>
          </p:txBody>
        </p:sp>
      </p:grpSp>
      <p:sp>
        <p:nvSpPr>
          <p:cNvPr id="44" name="Rectangle 80">
            <a:extLst>
              <a:ext uri="{FF2B5EF4-FFF2-40B4-BE49-F238E27FC236}">
                <a16:creationId xmlns:a16="http://schemas.microsoft.com/office/drawing/2014/main" id="{E55A57CB-00DA-5E5A-1CDE-87F4E82C8213}"/>
              </a:ext>
            </a:extLst>
          </p:cNvPr>
          <p:cNvSpPr>
            <a:spLocks noChangeArrowheads="1"/>
          </p:cNvSpPr>
          <p:nvPr/>
        </p:nvSpPr>
        <p:spPr bwMode="auto">
          <a:xfrm>
            <a:off x="1203694" y="4758881"/>
            <a:ext cx="2602931" cy="414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en-US" sz="2000" b="1" i="0" u="none" strike="noStrike" kern="1200" cap="none" spc="0" normalizeH="0" baseline="0" noProof="0" dirty="0">
                <a:ln>
                  <a:noFill/>
                </a:ln>
                <a:solidFill>
                  <a:srgbClr val="3333CC"/>
                </a:solidFill>
                <a:effectLst/>
                <a:uLnTx/>
                <a:uFillTx/>
                <a:latin typeface="Arial" panose="020B0604020202020204" pitchFamily="34" charset="0"/>
                <a:ea typeface="+mn-ea"/>
                <a:cs typeface="+mn-cs"/>
              </a:rPr>
              <a:t>Temporal</a:t>
            </a:r>
            <a:r>
              <a:rPr kumimoji="0" lang="en-US" altLang="en-US" sz="2000" b="1" i="0" u="none" strike="noStrike" kern="1200" cap="none" spc="0" normalizeH="0" baseline="0" noProof="0" dirty="0">
                <a:ln>
                  <a:noFill/>
                </a:ln>
                <a:solidFill>
                  <a:srgbClr val="FF5050"/>
                </a:solidFill>
                <a:effectLst/>
                <a:uLnTx/>
                <a:uFillTx/>
                <a:latin typeface="Arial" panose="020B0604020202020204" pitchFamily="34" charset="0"/>
                <a:ea typeface="+mn-ea"/>
                <a:cs typeface="+mn-cs"/>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quantities:                                                 </a:t>
            </a:r>
          </a:p>
        </p:txBody>
      </p:sp>
      <p:sp>
        <p:nvSpPr>
          <p:cNvPr id="45" name="TextBox 1">
            <a:extLst>
              <a:ext uri="{FF2B5EF4-FFF2-40B4-BE49-F238E27FC236}">
                <a16:creationId xmlns:a16="http://schemas.microsoft.com/office/drawing/2014/main" id="{880CB1BD-3297-48D7-C217-997C29784FD7}"/>
              </a:ext>
            </a:extLst>
          </p:cNvPr>
          <p:cNvSpPr txBox="1"/>
          <p:nvPr/>
        </p:nvSpPr>
        <p:spPr>
          <a:xfrm>
            <a:off x="6845300" y="626731"/>
            <a:ext cx="1466505"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Arial"/>
                <a:ea typeface="+mn-ea"/>
                <a:cs typeface="+mn-cs"/>
              </a:rPr>
              <a:t>For a given time, </a:t>
            </a:r>
            <a:r>
              <a:rPr kumimoji="0" lang="en-US"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itchFamily="18" charset="0"/>
              </a:rPr>
              <a:t>t</a:t>
            </a:r>
            <a:r>
              <a:rPr kumimoji="0" lang="en-US" b="0" i="0" u="none" strike="noStrike" kern="1200" cap="none" spc="0" normalizeH="0" baseline="-25000" noProof="0" dirty="0">
                <a:ln>
                  <a:noFill/>
                </a:ln>
                <a:solidFill>
                  <a:srgbClr val="000000"/>
                </a:solidFill>
                <a:effectLst/>
                <a:uLnTx/>
                <a:uFillTx/>
                <a:latin typeface="Times New Roman" panose="02020603050405020304" pitchFamily="18" charset="0"/>
                <a:ea typeface="+mn-ea"/>
                <a:cs typeface="Times New Roman" pitchFamily="18" charset="0"/>
              </a:rPr>
              <a:t>0</a:t>
            </a:r>
            <a:r>
              <a:rPr kumimoji="0" lang="en-US" b="0" i="0" u="none" strike="noStrike" kern="1200" cap="none" spc="0" normalizeH="0" baseline="0" noProof="0" dirty="0">
                <a:ln>
                  <a:noFill/>
                </a:ln>
                <a:solidFill>
                  <a:srgbClr val="000000"/>
                </a:solidFill>
                <a:effectLst/>
                <a:uLnTx/>
                <a:uFillTx/>
                <a:latin typeface="Arial"/>
                <a:ea typeface="+mn-ea"/>
                <a:cs typeface="+mn-cs"/>
              </a:rPr>
              <a:t>:</a:t>
            </a:r>
          </a:p>
        </p:txBody>
      </p:sp>
      <p:sp>
        <p:nvSpPr>
          <p:cNvPr id="46" name="TextBox 40">
            <a:extLst>
              <a:ext uri="{FF2B5EF4-FFF2-40B4-BE49-F238E27FC236}">
                <a16:creationId xmlns:a16="http://schemas.microsoft.com/office/drawing/2014/main" id="{414BF921-1AFC-6239-65A9-F4A356F206A2}"/>
              </a:ext>
            </a:extLst>
          </p:cNvPr>
          <p:cNvSpPr txBox="1"/>
          <p:nvPr/>
        </p:nvSpPr>
        <p:spPr>
          <a:xfrm>
            <a:off x="6948103" y="3867962"/>
            <a:ext cx="1466505"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Arial"/>
                <a:ea typeface="+mn-ea"/>
              </a:rPr>
              <a:t>For a given position, </a:t>
            </a:r>
            <a:r>
              <a:rPr kumimoji="0" lang="en-US"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itchFamily="18" charset="0"/>
              </a:rPr>
              <a:t>x</a:t>
            </a:r>
            <a:r>
              <a:rPr kumimoji="0" lang="en-US" b="0" i="0" u="none" strike="noStrike" kern="1200" cap="none" spc="0" normalizeH="0" baseline="-25000" noProof="0" dirty="0">
                <a:ln>
                  <a:noFill/>
                </a:ln>
                <a:solidFill>
                  <a:srgbClr val="000000"/>
                </a:solidFill>
                <a:effectLst/>
                <a:uLnTx/>
                <a:uFillTx/>
                <a:latin typeface="Times New Roman" panose="02020603050405020304" pitchFamily="18" charset="0"/>
                <a:ea typeface="+mn-ea"/>
                <a:cs typeface="Times New Roman" pitchFamily="18" charset="0"/>
              </a:rPr>
              <a:t>0</a:t>
            </a:r>
            <a:r>
              <a:rPr kumimoji="0" lang="en-US" b="0" i="0" u="none" strike="noStrike" kern="1200" cap="none" spc="0" normalizeH="0" baseline="0" noProof="0" dirty="0">
                <a:ln>
                  <a:noFill/>
                </a:ln>
                <a:solidFill>
                  <a:srgbClr val="000000"/>
                </a:solidFill>
                <a:effectLst/>
                <a:uLnTx/>
                <a:uFillTx/>
                <a:latin typeface="Arial"/>
                <a:ea typeface="+mn-ea"/>
              </a:rPr>
              <a:t>:</a:t>
            </a:r>
          </a:p>
        </p:txBody>
      </p:sp>
      <p:sp>
        <p:nvSpPr>
          <p:cNvPr id="47" name="Rectangle 3">
            <a:extLst>
              <a:ext uri="{FF2B5EF4-FFF2-40B4-BE49-F238E27FC236}">
                <a16:creationId xmlns:a16="http://schemas.microsoft.com/office/drawing/2014/main" id="{D03F62B3-7768-AC78-4D55-68588A0DC4D4}"/>
              </a:ext>
            </a:extLst>
          </p:cNvPr>
          <p:cNvSpPr txBox="1">
            <a:spLocks noChangeArrowheads="1"/>
          </p:cNvSpPr>
          <p:nvPr/>
        </p:nvSpPr>
        <p:spPr bwMode="auto">
          <a:xfrm>
            <a:off x="1123950" y="2141205"/>
            <a:ext cx="2320004" cy="414960"/>
          </a:xfrm>
          <a:prstGeom prst="rect">
            <a:avLst/>
          </a:prstGeom>
          <a:noFill/>
          <a:ln>
            <a:noFill/>
          </a:ln>
          <a:effectLst/>
        </p:spPr>
        <p:txBody>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en-US" sz="2000" b="1" i="0" u="none" strike="noStrike" kern="0" cap="none" spc="0" normalizeH="0" baseline="0" noProof="0">
                <a:ln>
                  <a:noFill/>
                </a:ln>
                <a:solidFill>
                  <a:srgbClr val="FF5050"/>
                </a:solidFill>
                <a:effectLst/>
                <a:uLnTx/>
                <a:uFillTx/>
                <a:latin typeface="Arial"/>
                <a:ea typeface="+mn-ea"/>
                <a:cs typeface="+mn-cs"/>
              </a:rPr>
              <a:t>Spatial </a:t>
            </a:r>
            <a:r>
              <a:rPr kumimoji="0" lang="en-US" altLang="en-US" sz="2000" b="0" i="0" u="none" strike="noStrike" kern="0" cap="none" spc="0" normalizeH="0" baseline="0" noProof="0">
                <a:ln>
                  <a:noFill/>
                </a:ln>
                <a:solidFill>
                  <a:srgbClr val="000000"/>
                </a:solidFill>
                <a:effectLst/>
                <a:uLnTx/>
                <a:uFillTx/>
                <a:latin typeface="Arial"/>
                <a:ea typeface="+mn-ea"/>
                <a:cs typeface="+mn-cs"/>
              </a:rPr>
              <a:t>quantities:                                                 </a:t>
            </a:r>
            <a:endParaRPr kumimoji="0" lang="en-US" altLang="en-US" sz="20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212645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Light absorption in matter: why light slow down?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9" name="图片 8">
            <a:extLst>
              <a:ext uri="{FF2B5EF4-FFF2-40B4-BE49-F238E27FC236}">
                <a16:creationId xmlns:a16="http://schemas.microsoft.com/office/drawing/2014/main" id="{A182B736-18E9-439B-216D-CB7695520A59}"/>
              </a:ext>
            </a:extLst>
          </p:cNvPr>
          <p:cNvPicPr>
            <a:picLocks noChangeAspect="1"/>
          </p:cNvPicPr>
          <p:nvPr/>
        </p:nvPicPr>
        <p:blipFill>
          <a:blip r:embed="rId3"/>
          <a:stretch>
            <a:fillRect/>
          </a:stretch>
        </p:blipFill>
        <p:spPr>
          <a:xfrm>
            <a:off x="1127237" y="686211"/>
            <a:ext cx="3032915" cy="3262334"/>
          </a:xfrm>
          <a:prstGeom prst="rect">
            <a:avLst/>
          </a:prstGeom>
        </p:spPr>
      </p:pic>
      <p:sp>
        <p:nvSpPr>
          <p:cNvPr id="13" name="文本框 12">
            <a:extLst>
              <a:ext uri="{FF2B5EF4-FFF2-40B4-BE49-F238E27FC236}">
                <a16:creationId xmlns:a16="http://schemas.microsoft.com/office/drawing/2014/main" id="{9D81950F-7FE1-3450-8CFD-5EC7BE1204C7}"/>
              </a:ext>
            </a:extLst>
          </p:cNvPr>
          <p:cNvSpPr txBox="1"/>
          <p:nvPr/>
        </p:nvSpPr>
        <p:spPr>
          <a:xfrm>
            <a:off x="595744" y="4055983"/>
            <a:ext cx="7901712" cy="923330"/>
          </a:xfrm>
          <a:prstGeom prst="rect">
            <a:avLst/>
          </a:prstGeom>
          <a:noFill/>
        </p:spPr>
        <p:txBody>
          <a:bodyPr wrap="square">
            <a:spAutoFit/>
          </a:bodyPr>
          <a:lstStyle/>
          <a:p>
            <a:r>
              <a:rPr lang="en-US" altLang="zh-CN" dirty="0"/>
              <a:t>Insulators tend to have a very wide band gap, larger than the energy of visible photons. The light waves are absorbed and then re-emitted by the insulators. </a:t>
            </a:r>
            <a:endParaRPr lang="zh-CN" altLang="en-US" dirty="0"/>
          </a:p>
        </p:txBody>
      </p:sp>
      <p:pic>
        <p:nvPicPr>
          <p:cNvPr id="3" name="图片 2">
            <a:extLst>
              <a:ext uri="{FF2B5EF4-FFF2-40B4-BE49-F238E27FC236}">
                <a16:creationId xmlns:a16="http://schemas.microsoft.com/office/drawing/2014/main" id="{6E8DB9B1-75FA-9D32-2FAA-49A9D01F34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850" y="770692"/>
            <a:ext cx="2949189" cy="3093372"/>
          </a:xfrm>
          <a:prstGeom prst="rect">
            <a:avLst/>
          </a:prstGeom>
        </p:spPr>
      </p:pic>
      <p:sp>
        <p:nvSpPr>
          <p:cNvPr id="4" name="文本框 3">
            <a:extLst>
              <a:ext uri="{FF2B5EF4-FFF2-40B4-BE49-F238E27FC236}">
                <a16:creationId xmlns:a16="http://schemas.microsoft.com/office/drawing/2014/main" id="{FB3F0BBB-D71C-2800-6873-B2E2F79C05FD}"/>
              </a:ext>
            </a:extLst>
          </p:cNvPr>
          <p:cNvSpPr txBox="1"/>
          <p:nvPr/>
        </p:nvSpPr>
        <p:spPr>
          <a:xfrm>
            <a:off x="544483" y="4979313"/>
            <a:ext cx="8164947" cy="1477328"/>
          </a:xfrm>
          <a:prstGeom prst="rect">
            <a:avLst/>
          </a:prstGeom>
          <a:noFill/>
        </p:spPr>
        <p:txBody>
          <a:bodyPr wrap="square">
            <a:spAutoFit/>
          </a:bodyPr>
          <a:lstStyle/>
          <a:p>
            <a:r>
              <a:rPr lang="zh-CN" altLang="en-US" dirty="0"/>
              <a:t>当电磁波进入介质时，电场会使介质中的电子发生振动（极化）。这些振动电子会重新辐射出次级波，这些次级波与入射波叠加，改变了波的整体传播特性。由于电子的振动不是瞬时的，而是有一定的滞后性，这导致了波的相位延迟。</a:t>
            </a:r>
            <a:endParaRPr lang="en-US" altLang="zh-CN" dirty="0"/>
          </a:p>
          <a:p>
            <a:endParaRPr lang="en-US" altLang="zh-CN" dirty="0"/>
          </a:p>
          <a:p>
            <a:r>
              <a:rPr lang="zh-CN" altLang="en-US" dirty="0"/>
              <a:t>色散</a:t>
            </a:r>
            <a:r>
              <a:rPr lang="en-US" altLang="zh-CN" dirty="0"/>
              <a:t>:</a:t>
            </a:r>
            <a:r>
              <a:rPr lang="zh-CN" altLang="en-US" dirty="0"/>
              <a:t>不同频率的波在介质中受到的响应不同，导致它们的相速度不同。</a:t>
            </a:r>
          </a:p>
        </p:txBody>
      </p:sp>
    </p:spTree>
    <p:extLst>
      <p:ext uri="{BB962C8B-B14F-4D97-AF65-F5344CB8AC3E}">
        <p14:creationId xmlns:p14="http://schemas.microsoft.com/office/powerpoint/2010/main" val="1581694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4421-7080-D263-80CF-CF94E135EC0D}"/>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91A1C365-C01A-283E-5D08-96544CABDC5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 Velocity</a:t>
            </a:r>
          </a:p>
        </p:txBody>
      </p:sp>
      <p:sp>
        <p:nvSpPr>
          <p:cNvPr id="11" name="文本框 10">
            <a:extLst>
              <a:ext uri="{FF2B5EF4-FFF2-40B4-BE49-F238E27FC236}">
                <a16:creationId xmlns:a16="http://schemas.microsoft.com/office/drawing/2014/main" id="{9A0CB4B3-8A9A-A628-EE64-F8C2449F116A}"/>
              </a:ext>
            </a:extLst>
          </p:cNvPr>
          <p:cNvSpPr txBox="1"/>
          <p:nvPr/>
        </p:nvSpPr>
        <p:spPr>
          <a:xfrm>
            <a:off x="807283" y="2703327"/>
            <a:ext cx="4896690" cy="1754326"/>
          </a:xfrm>
          <a:prstGeom prst="rect">
            <a:avLst/>
          </a:prstGeom>
          <a:noFill/>
        </p:spPr>
        <p:txBody>
          <a:bodyPr wrap="square">
            <a:spAutoFit/>
          </a:bodyPr>
          <a:lstStyle/>
          <a:p>
            <a:pPr algn="l"/>
            <a:r>
              <a:rPr lang="en-US" altLang="zh-CN" sz="1800" b="1" i="0" u="none" strike="noStrike" baseline="0" dirty="0">
                <a:solidFill>
                  <a:srgbClr val="CD6500"/>
                </a:solidFill>
                <a:latin typeface="Arial" panose="020B0604020202020204" pitchFamily="34" charset="0"/>
              </a:rPr>
              <a:t>Note: </a:t>
            </a:r>
            <a:r>
              <a:rPr lang="en-US" altLang="zh-CN" sz="1800" b="0" i="0" u="none" strike="noStrike" baseline="0" dirty="0">
                <a:solidFill>
                  <a:srgbClr val="000000"/>
                </a:solidFill>
                <a:latin typeface="Arial" panose="020B0604020202020204" pitchFamily="34" charset="0"/>
              </a:rPr>
              <a:t>if you take a snapshot at any instant of time, the magnitude of E oscillates as a function of x.</a:t>
            </a:r>
          </a:p>
          <a:p>
            <a:pPr algn="l"/>
            <a:endParaRPr lang="en-US" altLang="zh-CN" sz="1800" b="0" i="0" u="none" strike="noStrike" baseline="0" dirty="0">
              <a:solidFill>
                <a:srgbClr val="000000"/>
              </a:solidFill>
              <a:latin typeface="Arial" panose="020B0604020202020204" pitchFamily="34" charset="0"/>
            </a:endParaRPr>
          </a:p>
          <a:p>
            <a:pPr algn="l"/>
            <a:r>
              <a:rPr lang="en-US" altLang="zh-CN" sz="1800" b="1" i="0" u="none" strike="noStrike" baseline="0" dirty="0">
                <a:solidFill>
                  <a:srgbClr val="CD6500"/>
                </a:solidFill>
                <a:latin typeface="Arial" panose="020B0604020202020204" pitchFamily="34" charset="0"/>
              </a:rPr>
              <a:t>And: </a:t>
            </a:r>
            <a:r>
              <a:rPr lang="en-US" altLang="zh-CN" sz="1800" b="0" i="0" u="none" strike="noStrike" baseline="0" dirty="0">
                <a:solidFill>
                  <a:srgbClr val="000000"/>
                </a:solidFill>
                <a:latin typeface="Arial" panose="020B0604020202020204" pitchFamily="34" charset="0"/>
              </a:rPr>
              <a:t>if you sit at any location x, the magnitude of E oscillates as a function of time t.</a:t>
            </a:r>
            <a:endParaRPr lang="zh-CN" altLang="en-US" dirty="0"/>
          </a:p>
        </p:txBody>
      </p:sp>
      <p:pic>
        <p:nvPicPr>
          <p:cNvPr id="12" name="图片 11">
            <a:extLst>
              <a:ext uri="{FF2B5EF4-FFF2-40B4-BE49-F238E27FC236}">
                <a16:creationId xmlns:a16="http://schemas.microsoft.com/office/drawing/2014/main" id="{0C54B239-9FFB-6D5A-6475-DF317E2EFF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925" y="1303225"/>
            <a:ext cx="4102470" cy="1331971"/>
          </a:xfrm>
          <a:prstGeom prst="rect">
            <a:avLst/>
          </a:prstGeom>
        </p:spPr>
      </p:pic>
      <p:sp>
        <p:nvSpPr>
          <p:cNvPr id="15" name="文本框 14">
            <a:extLst>
              <a:ext uri="{FF2B5EF4-FFF2-40B4-BE49-F238E27FC236}">
                <a16:creationId xmlns:a16="http://schemas.microsoft.com/office/drawing/2014/main" id="{ED1F93BE-E5AC-BE42-9023-0904D8EE49CD}"/>
              </a:ext>
            </a:extLst>
          </p:cNvPr>
          <p:cNvSpPr txBox="1"/>
          <p:nvPr/>
        </p:nvSpPr>
        <p:spPr>
          <a:xfrm>
            <a:off x="2799506" y="748084"/>
            <a:ext cx="4572000" cy="369332"/>
          </a:xfrm>
          <a:prstGeom prst="rect">
            <a:avLst/>
          </a:prstGeom>
          <a:noFill/>
        </p:spPr>
        <p:txBody>
          <a:bodyPr wrap="square">
            <a:spAutoFit/>
          </a:bodyPr>
          <a:lstStyle/>
          <a:p>
            <a:r>
              <a:rPr lang="en-US" altLang="zh-CN" dirty="0"/>
              <a:t>Wave is any function that moves</a:t>
            </a:r>
            <a:endParaRPr lang="zh-CN" altLang="en-US"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617CC7C-C5D8-CDE2-11EA-F1285599494E}"/>
                  </a:ext>
                </a:extLst>
              </p:cNvPr>
              <p:cNvSpPr txBox="1"/>
              <p:nvPr/>
            </p:nvSpPr>
            <p:spPr>
              <a:xfrm>
                <a:off x="789889" y="4718394"/>
                <a:ext cx="8043528" cy="1200329"/>
              </a:xfrm>
              <a:prstGeom prst="rect">
                <a:avLst/>
              </a:prstGeom>
              <a:noFill/>
            </p:spPr>
            <p:txBody>
              <a:bodyPr wrap="square">
                <a:spAutoFit/>
              </a:bodyPr>
              <a:lstStyle/>
              <a:p>
                <a:r>
                  <a:rPr lang="en-US" altLang="zh-CN" dirty="0"/>
                  <a:t>In terms of the k-vector, </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𝑘</m:t>
                    </m:r>
                    <m:r>
                      <a:rPr lang="en-US" altLang="zh-CN" i="0" dirty="0">
                        <a:latin typeface="Cambria Math" panose="02040503050406030204" pitchFamily="18" charset="0"/>
                      </a:rPr>
                      <m:t>=2</m:t>
                    </m:r>
                    <m:f>
                      <m:fPr>
                        <m:type m:val="lin"/>
                        <m:ctrlPr>
                          <a:rPr lang="en-US" altLang="zh-CN" i="1" dirty="0">
                            <a:latin typeface="Cambria Math" panose="02040503050406030204" pitchFamily="18" charset="0"/>
                          </a:rPr>
                        </m:ctrlPr>
                      </m:fPr>
                      <m:num>
                        <m:r>
                          <a:rPr lang="en-US" altLang="zh-CN" i="1" dirty="0">
                            <a:latin typeface="Cambria Math" panose="02040503050406030204" pitchFamily="18" charset="0"/>
                          </a:rPr>
                          <m:t>𝜋</m:t>
                        </m:r>
                      </m:num>
                      <m:den>
                        <m:r>
                          <a:rPr lang="en-US" altLang="zh-CN" i="1" dirty="0">
                            <a:latin typeface="Cambria Math" panose="02040503050406030204" pitchFamily="18" charset="0"/>
                          </a:rPr>
                          <m:t>𝜆</m:t>
                        </m:r>
                      </m:den>
                    </m:f>
                  </m:oMath>
                </a14:m>
                <a:r>
                  <a:rPr lang="en-US" altLang="zh-CN" dirty="0"/>
                  <a:t>,</a:t>
                </a:r>
                <a:r>
                  <a:rPr lang="zh-CN" altLang="en-US" dirty="0"/>
                  <a:t>表示波的空间和方向，单位长度内的波数波长越长</a:t>
                </a:r>
                <a:r>
                  <a:rPr lang="en-US" altLang="zh-CN" dirty="0"/>
                  <a:t>,</a:t>
                </a:r>
                <a:r>
                  <a:rPr lang="zh-CN" altLang="en-US" dirty="0"/>
                  <a:t>波矢越小。</a:t>
                </a:r>
                <a:endParaRPr lang="en-US" altLang="zh-CN" dirty="0"/>
              </a:p>
              <a:p>
                <a:r>
                  <a:rPr lang="en-US" altLang="zh-CN" dirty="0"/>
                  <a:t>and the angular frequency, </a:t>
                </a:r>
                <a:r>
                  <a:rPr lang="zh-CN" altLang="en-US" dirty="0"/>
                  <a:t>角频率</a:t>
                </a:r>
                <a14:m>
                  <m:oMath xmlns:m="http://schemas.openxmlformats.org/officeDocument/2006/math">
                    <m:r>
                      <a:rPr lang="en-US" altLang="zh-CN" b="0" i="0" smtClean="0">
                        <a:latin typeface="Cambria Math" panose="02040503050406030204" pitchFamily="18" charset="0"/>
                      </a:rPr>
                      <m:t>  </m:t>
                    </m:r>
                    <m:r>
                      <a:rPr lang="en-US" altLang="zh-CN" i="1" smtClean="0">
                        <a:latin typeface="Cambria Math" panose="02040503050406030204" pitchFamily="18" charset="0"/>
                      </a:rPr>
                      <m:t>𝜔</m:t>
                    </m:r>
                    <m:r>
                      <a:rPr lang="en-US" altLang="zh-CN" i="0" smtClean="0">
                        <a:latin typeface="Cambria Math" panose="02040503050406030204" pitchFamily="18" charset="0"/>
                      </a:rPr>
                      <m:t>=2</m:t>
                    </m:r>
                    <m:r>
                      <a:rPr lang="en-US" altLang="zh-CN" i="1" smtClean="0">
                        <a:latin typeface="Cambria Math" panose="02040503050406030204" pitchFamily="18" charset="0"/>
                      </a:rPr>
                      <m:t>𝜋</m:t>
                    </m:r>
                    <m:r>
                      <a:rPr lang="en-US" altLang="zh-CN" i="1" smtClean="0">
                        <a:latin typeface="Cambria Math" panose="02040503050406030204" pitchFamily="18" charset="0"/>
                      </a:rPr>
                      <m:t>𝑓</m:t>
                    </m:r>
                  </m:oMath>
                </a14:m>
                <a:r>
                  <a:rPr lang="en-US" altLang="zh-CN" dirty="0"/>
                  <a:t>, </a:t>
                </a:r>
                <a:r>
                  <a:rPr lang="zh-CN" altLang="en-US" dirty="0"/>
                  <a:t>每个点的振动频率。</a:t>
                </a:r>
                <a:endParaRPr lang="en-US" altLang="zh-CN" dirty="0"/>
              </a:p>
              <a:p>
                <a:r>
                  <a:rPr lang="en-US" altLang="zh-CN" dirty="0"/>
                  <a:t>therefore light velocity, </a:t>
                </a:r>
                <a14:m>
                  <m:oMath xmlns:m="http://schemas.openxmlformats.org/officeDocument/2006/math">
                    <m:r>
                      <a:rPr lang="en-US" altLang="zh-CN" b="0" i="1" dirty="0" smtClean="0">
                        <a:latin typeface="Cambria Math" panose="02040503050406030204" pitchFamily="18" charset="0"/>
                      </a:rPr>
                      <m:t>𝑐</m:t>
                    </m:r>
                    <m:r>
                      <a:rPr lang="zh-CN" altLang="en-US" i="0" dirty="0">
                        <a:latin typeface="Cambria Math" panose="02040503050406030204" pitchFamily="18" charset="0"/>
                      </a:rPr>
                      <m:t>=</m:t>
                    </m:r>
                    <m:r>
                      <a:rPr lang="en-US" altLang="zh-CN" i="1" dirty="0">
                        <a:latin typeface="Cambria Math" panose="02040503050406030204" pitchFamily="18" charset="0"/>
                      </a:rPr>
                      <m:t>𝜆</m:t>
                    </m:r>
                    <m:r>
                      <a:rPr lang="en-US" altLang="zh-CN" i="1">
                        <a:latin typeface="Cambria Math" panose="02040503050406030204" pitchFamily="18" charset="0"/>
                      </a:rPr>
                      <m:t>𝑓</m:t>
                    </m:r>
                    <m:r>
                      <a:rPr lang="en-US" altLang="zh-CN" b="0" i="1" smtClean="0">
                        <a:latin typeface="Cambria Math" panose="02040503050406030204" pitchFamily="18" charset="0"/>
                      </a:rPr>
                      <m:t>=</m:t>
                    </m:r>
                    <m:f>
                      <m:fPr>
                        <m:type m:val="lin"/>
                        <m:ctrlPr>
                          <a:rPr lang="zh-CN" altLang="en-US" i="1" dirty="0">
                            <a:latin typeface="Cambria Math" panose="02040503050406030204" pitchFamily="18" charset="0"/>
                          </a:rPr>
                        </m:ctrlPr>
                      </m:fPr>
                      <m:num>
                        <m:r>
                          <a:rPr lang="zh-CN" altLang="en-US" i="1" dirty="0">
                            <a:latin typeface="Cambria Math" panose="02040503050406030204" pitchFamily="18" charset="0"/>
                          </a:rPr>
                          <m:t>𝜔</m:t>
                        </m:r>
                      </m:num>
                      <m:den>
                        <m:r>
                          <a:rPr lang="zh-CN" altLang="en-US" i="1" dirty="0">
                            <a:latin typeface="Cambria Math" panose="02040503050406030204" pitchFamily="18" charset="0"/>
                          </a:rPr>
                          <m:t>𝑘</m:t>
                        </m:r>
                      </m:den>
                    </m:f>
                  </m:oMath>
                </a14:m>
                <a:r>
                  <a:rPr lang="zh-CN" altLang="en-US" dirty="0"/>
                  <a:t>，</a:t>
                </a:r>
                <a:r>
                  <a:rPr lang="en-US" altLang="zh-CN" dirty="0"/>
                  <a:t>connect by frequency.</a:t>
                </a:r>
                <a:endParaRPr lang="zh-CN" altLang="en-US" dirty="0"/>
              </a:p>
            </p:txBody>
          </p:sp>
        </mc:Choice>
        <mc:Fallback xmlns="">
          <p:sp>
            <p:nvSpPr>
              <p:cNvPr id="20" name="文本框 19">
                <a:extLst>
                  <a:ext uri="{FF2B5EF4-FFF2-40B4-BE49-F238E27FC236}">
                    <a16:creationId xmlns:a16="http://schemas.microsoft.com/office/drawing/2014/main" id="{D617CC7C-C5D8-CDE2-11EA-F1285599494E}"/>
                  </a:ext>
                </a:extLst>
              </p:cNvPr>
              <p:cNvSpPr txBox="1">
                <a:spLocks noRot="1" noChangeAspect="1" noMove="1" noResize="1" noEditPoints="1" noAdjustHandles="1" noChangeArrowheads="1" noChangeShapeType="1" noTextEdit="1"/>
              </p:cNvSpPr>
              <p:nvPr/>
            </p:nvSpPr>
            <p:spPr>
              <a:xfrm>
                <a:off x="789889" y="4718394"/>
                <a:ext cx="8043528" cy="1200329"/>
              </a:xfrm>
              <a:prstGeom prst="rect">
                <a:avLst/>
              </a:prstGeom>
              <a:blipFill>
                <a:blip r:embed="rId4"/>
                <a:stretch>
                  <a:fillRect l="-682" t="-35533" b="-54315"/>
                </a:stretch>
              </a:blipFill>
            </p:spPr>
            <p:txBody>
              <a:bodyPr/>
              <a:lstStyle/>
              <a:p>
                <a:r>
                  <a:rPr lang="zh-CN" altLang="en-US">
                    <a:noFill/>
                  </a:rPr>
                  <a:t> </a:t>
                </a:r>
              </a:p>
            </p:txBody>
          </p:sp>
        </mc:Fallback>
      </mc:AlternateContent>
      <p:sp>
        <p:nvSpPr>
          <p:cNvPr id="4" name="Line 23">
            <a:extLst>
              <a:ext uri="{FF2B5EF4-FFF2-40B4-BE49-F238E27FC236}">
                <a16:creationId xmlns:a16="http://schemas.microsoft.com/office/drawing/2014/main" id="{B163D0A9-D57D-9528-058C-7EB5DACD0F7F}"/>
              </a:ext>
            </a:extLst>
          </p:cNvPr>
          <p:cNvSpPr>
            <a:spLocks noChangeShapeType="1"/>
          </p:cNvSpPr>
          <p:nvPr/>
        </p:nvSpPr>
        <p:spPr bwMode="auto">
          <a:xfrm flipV="1">
            <a:off x="6187556" y="2247164"/>
            <a:ext cx="2526900" cy="422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 name="Text Box 24">
            <a:extLst>
              <a:ext uri="{FF2B5EF4-FFF2-40B4-BE49-F238E27FC236}">
                <a16:creationId xmlns:a16="http://schemas.microsoft.com/office/drawing/2014/main" id="{564B166D-6430-DECE-33E4-3F7CAAB6FEA0}"/>
              </a:ext>
            </a:extLst>
          </p:cNvPr>
          <p:cNvSpPr txBox="1">
            <a:spLocks noChangeArrowheads="1"/>
          </p:cNvSpPr>
          <p:nvPr/>
        </p:nvSpPr>
        <p:spPr bwMode="auto">
          <a:xfrm>
            <a:off x="8679281" y="1966095"/>
            <a:ext cx="3082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x</a:t>
            </a:r>
          </a:p>
        </p:txBody>
      </p:sp>
      <p:sp>
        <p:nvSpPr>
          <p:cNvPr id="6" name="Line 25">
            <a:extLst>
              <a:ext uri="{FF2B5EF4-FFF2-40B4-BE49-F238E27FC236}">
                <a16:creationId xmlns:a16="http://schemas.microsoft.com/office/drawing/2014/main" id="{35E88B08-71B8-4342-55A9-4CCA35B61D72}"/>
              </a:ext>
            </a:extLst>
          </p:cNvPr>
          <p:cNvSpPr>
            <a:spLocks noChangeShapeType="1"/>
          </p:cNvSpPr>
          <p:nvPr/>
        </p:nvSpPr>
        <p:spPr bwMode="auto">
          <a:xfrm flipV="1">
            <a:off x="6536805" y="1468756"/>
            <a:ext cx="1441" cy="12633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Line 27">
            <a:extLst>
              <a:ext uri="{FF2B5EF4-FFF2-40B4-BE49-F238E27FC236}">
                <a16:creationId xmlns:a16="http://schemas.microsoft.com/office/drawing/2014/main" id="{C1935431-1FF1-4DCE-D67F-6DBDD2EA85EB}"/>
              </a:ext>
            </a:extLst>
          </p:cNvPr>
          <p:cNvSpPr>
            <a:spLocks noChangeShapeType="1"/>
          </p:cNvSpPr>
          <p:nvPr/>
        </p:nvSpPr>
        <p:spPr bwMode="auto">
          <a:xfrm>
            <a:off x="6639993" y="1643382"/>
            <a:ext cx="1266158" cy="144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 name="Text Box 28">
            <a:extLst>
              <a:ext uri="{FF2B5EF4-FFF2-40B4-BE49-F238E27FC236}">
                <a16:creationId xmlns:a16="http://schemas.microsoft.com/office/drawing/2014/main" id="{7F9F78DF-255D-751B-6D54-F667452329BC}"/>
              </a:ext>
            </a:extLst>
          </p:cNvPr>
          <p:cNvSpPr txBox="1">
            <a:spLocks noChangeArrowheads="1"/>
          </p:cNvSpPr>
          <p:nvPr/>
        </p:nvSpPr>
        <p:spPr bwMode="auto">
          <a:xfrm>
            <a:off x="7084441" y="1067255"/>
            <a:ext cx="293867"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800" b="0" i="1" u="none" strike="noStrike" kern="1200" cap="none" spc="0" normalizeH="0" baseline="0" noProof="0">
                <a:ln>
                  <a:noFill/>
                </a:ln>
                <a:solidFill>
                  <a:srgbClr val="000000"/>
                </a:solidFill>
                <a:effectLst/>
                <a:uLnTx/>
                <a:uFillTx/>
                <a:latin typeface="Symbol" panose="05050102010706020507" pitchFamily="18" charset="2"/>
                <a:ea typeface="+mn-ea"/>
                <a:cs typeface="+mn-cs"/>
              </a:rPr>
              <a:t>l</a:t>
            </a:r>
          </a:p>
        </p:txBody>
      </p:sp>
      <p:grpSp>
        <p:nvGrpSpPr>
          <p:cNvPr id="9" name="Group 29">
            <a:extLst>
              <a:ext uri="{FF2B5EF4-FFF2-40B4-BE49-F238E27FC236}">
                <a16:creationId xmlns:a16="http://schemas.microsoft.com/office/drawing/2014/main" id="{9280FE64-3117-F2D1-40E1-A14706C33BB3}"/>
              </a:ext>
            </a:extLst>
          </p:cNvPr>
          <p:cNvGrpSpPr>
            <a:grpSpLocks/>
          </p:cNvGrpSpPr>
          <p:nvPr/>
        </p:nvGrpSpPr>
        <p:grpSpPr bwMode="auto">
          <a:xfrm>
            <a:off x="6622530" y="1590993"/>
            <a:ext cx="1282069" cy="110921"/>
            <a:chOff x="222" y="1638"/>
            <a:chExt cx="996" cy="96"/>
          </a:xfrm>
        </p:grpSpPr>
        <p:sp>
          <p:nvSpPr>
            <p:cNvPr id="10" name="Line 30">
              <a:extLst>
                <a:ext uri="{FF2B5EF4-FFF2-40B4-BE49-F238E27FC236}">
                  <a16:creationId xmlns:a16="http://schemas.microsoft.com/office/drawing/2014/main" id="{D3273182-07F5-ED22-1850-195EE02D288B}"/>
                </a:ext>
              </a:extLst>
            </p:cNvPr>
            <p:cNvSpPr>
              <a:spLocks noChangeShapeType="1"/>
            </p:cNvSpPr>
            <p:nvPr/>
          </p:nvSpPr>
          <p:spPr bwMode="auto">
            <a:xfrm>
              <a:off x="222" y="163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 name="Line 31">
              <a:extLst>
                <a:ext uri="{FF2B5EF4-FFF2-40B4-BE49-F238E27FC236}">
                  <a16:creationId xmlns:a16="http://schemas.microsoft.com/office/drawing/2014/main" id="{AFDE6C74-0E66-87F6-1ABF-13D6F9BB44BD}"/>
                </a:ext>
              </a:extLst>
            </p:cNvPr>
            <p:cNvSpPr>
              <a:spLocks noChangeShapeType="1"/>
            </p:cNvSpPr>
            <p:nvPr/>
          </p:nvSpPr>
          <p:spPr bwMode="auto">
            <a:xfrm>
              <a:off x="1218" y="163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sp>
        <p:nvSpPr>
          <p:cNvPr id="14" name="Text Box 34">
            <a:extLst>
              <a:ext uri="{FF2B5EF4-FFF2-40B4-BE49-F238E27FC236}">
                <a16:creationId xmlns:a16="http://schemas.microsoft.com/office/drawing/2014/main" id="{01961D4F-4D92-A1AB-DAF0-08D03AC4B9E1}"/>
              </a:ext>
            </a:extLst>
          </p:cNvPr>
          <p:cNvSpPr txBox="1">
            <a:spLocks noChangeArrowheads="1"/>
          </p:cNvSpPr>
          <p:nvPr/>
        </p:nvSpPr>
        <p:spPr bwMode="auto">
          <a:xfrm>
            <a:off x="6220230" y="2855716"/>
            <a:ext cx="27673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1800" dirty="0">
                <a:solidFill>
                  <a:srgbClr val="000000"/>
                </a:solidFill>
              </a:rPr>
              <a:t>W</a:t>
            </a:r>
            <a:r>
              <a:rPr kumimoji="0" lang="en-US" altLang="en-US"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ave</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moves one wavelength, </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l</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in one period,</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US" altLang="en-US" sz="18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t</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p:txBody>
      </p:sp>
      <p:grpSp>
        <p:nvGrpSpPr>
          <p:cNvPr id="16" name="Group 33">
            <a:extLst>
              <a:ext uri="{FF2B5EF4-FFF2-40B4-BE49-F238E27FC236}">
                <a16:creationId xmlns:a16="http://schemas.microsoft.com/office/drawing/2014/main" id="{21FDA4F0-335D-0CFB-0BFC-CE542589FDEE}"/>
              </a:ext>
            </a:extLst>
          </p:cNvPr>
          <p:cNvGrpSpPr>
            <a:grpSpLocks/>
          </p:cNvGrpSpPr>
          <p:nvPr/>
        </p:nvGrpSpPr>
        <p:grpSpPr bwMode="auto">
          <a:xfrm>
            <a:off x="6274868" y="1806894"/>
            <a:ext cx="1911575" cy="828302"/>
            <a:chOff x="3207" y="576"/>
            <a:chExt cx="1327" cy="575"/>
          </a:xfrm>
        </p:grpSpPr>
        <p:sp>
          <p:nvSpPr>
            <p:cNvPr id="17" name="Freeform 19">
              <a:extLst>
                <a:ext uri="{FF2B5EF4-FFF2-40B4-BE49-F238E27FC236}">
                  <a16:creationId xmlns:a16="http://schemas.microsoft.com/office/drawing/2014/main" id="{137993CB-BFDA-B979-9771-3CA658A39C1D}"/>
                </a:ext>
              </a:extLst>
            </p:cNvPr>
            <p:cNvSpPr>
              <a:spLocks/>
            </p:cNvSpPr>
            <p:nvPr/>
          </p:nvSpPr>
          <p:spPr bwMode="auto">
            <a:xfrm flipV="1">
              <a:off x="3207" y="576"/>
              <a:ext cx="444" cy="288"/>
            </a:xfrm>
            <a:custGeom>
              <a:avLst/>
              <a:gdLst>
                <a:gd name="T0" fmla="*/ 0 w 472"/>
                <a:gd name="T1" fmla="*/ 0 h 355"/>
                <a:gd name="T2" fmla="*/ 8 w 472"/>
                <a:gd name="T3" fmla="*/ 2 h 355"/>
                <a:gd name="T4" fmla="*/ 8 w 472"/>
                <a:gd name="T5" fmla="*/ 2 h 355"/>
                <a:gd name="T6" fmla="*/ 8 w 472"/>
                <a:gd name="T7" fmla="*/ 2 h 355"/>
                <a:gd name="T8" fmla="*/ 8 w 472"/>
                <a:gd name="T9" fmla="*/ 2 h 355"/>
                <a:gd name="T10" fmla="*/ 8 w 472"/>
                <a:gd name="T11" fmla="*/ 2 h 355"/>
                <a:gd name="T12" fmla="*/ 8 w 472"/>
                <a:gd name="T13" fmla="*/ 2 h 355"/>
                <a:gd name="T14" fmla="*/ 8 w 472"/>
                <a:gd name="T15" fmla="*/ 2 h 355"/>
                <a:gd name="T16" fmla="*/ 8 w 472"/>
                <a:gd name="T17" fmla="*/ 2 h 355"/>
                <a:gd name="T18" fmla="*/ 8 w 472"/>
                <a:gd name="T19" fmla="*/ 2 h 355"/>
                <a:gd name="T20" fmla="*/ 10 w 472"/>
                <a:gd name="T21" fmla="*/ 2 h 355"/>
                <a:gd name="T22" fmla="*/ 12 w 472"/>
                <a:gd name="T23" fmla="*/ 2 h 355"/>
                <a:gd name="T24" fmla="*/ 13 w 472"/>
                <a:gd name="T25" fmla="*/ 2 h 355"/>
                <a:gd name="T26" fmla="*/ 14 w 472"/>
                <a:gd name="T27" fmla="*/ 2 h 355"/>
                <a:gd name="T28" fmla="*/ 16 w 472"/>
                <a:gd name="T29" fmla="*/ 2 h 355"/>
                <a:gd name="T30" fmla="*/ 16 w 472"/>
                <a:gd name="T31" fmla="*/ 2 h 355"/>
                <a:gd name="T32" fmla="*/ 17 w 472"/>
                <a:gd name="T33" fmla="*/ 2 h 355"/>
                <a:gd name="T34" fmla="*/ 18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FF0066"/>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 name="Freeform 20">
              <a:extLst>
                <a:ext uri="{FF2B5EF4-FFF2-40B4-BE49-F238E27FC236}">
                  <a16:creationId xmlns:a16="http://schemas.microsoft.com/office/drawing/2014/main" id="{337AC433-6594-BB1B-6B3F-BE682AC89C35}"/>
                </a:ext>
              </a:extLst>
            </p:cNvPr>
            <p:cNvSpPr>
              <a:spLocks/>
            </p:cNvSpPr>
            <p:nvPr/>
          </p:nvSpPr>
          <p:spPr bwMode="auto">
            <a:xfrm flipV="1">
              <a:off x="4091" y="576"/>
              <a:ext cx="443" cy="288"/>
            </a:xfrm>
            <a:custGeom>
              <a:avLst/>
              <a:gdLst>
                <a:gd name="T0" fmla="*/ 0 w 472"/>
                <a:gd name="T1" fmla="*/ 0 h 355"/>
                <a:gd name="T2" fmla="*/ 8 w 472"/>
                <a:gd name="T3" fmla="*/ 2 h 355"/>
                <a:gd name="T4" fmla="*/ 8 w 472"/>
                <a:gd name="T5" fmla="*/ 2 h 355"/>
                <a:gd name="T6" fmla="*/ 8 w 472"/>
                <a:gd name="T7" fmla="*/ 2 h 355"/>
                <a:gd name="T8" fmla="*/ 8 w 472"/>
                <a:gd name="T9" fmla="*/ 2 h 355"/>
                <a:gd name="T10" fmla="*/ 8 w 472"/>
                <a:gd name="T11" fmla="*/ 2 h 355"/>
                <a:gd name="T12" fmla="*/ 8 w 472"/>
                <a:gd name="T13" fmla="*/ 2 h 355"/>
                <a:gd name="T14" fmla="*/ 8 w 472"/>
                <a:gd name="T15" fmla="*/ 2 h 355"/>
                <a:gd name="T16" fmla="*/ 8 w 472"/>
                <a:gd name="T17" fmla="*/ 2 h 355"/>
                <a:gd name="T18" fmla="*/ 8 w 472"/>
                <a:gd name="T19" fmla="*/ 2 h 355"/>
                <a:gd name="T20" fmla="*/ 8 w 472"/>
                <a:gd name="T21" fmla="*/ 2 h 355"/>
                <a:gd name="T22" fmla="*/ 9 w 472"/>
                <a:gd name="T23" fmla="*/ 2 h 355"/>
                <a:gd name="T24" fmla="*/ 11 w 472"/>
                <a:gd name="T25" fmla="*/ 2 h 355"/>
                <a:gd name="T26" fmla="*/ 12 w 472"/>
                <a:gd name="T27" fmla="*/ 2 h 355"/>
                <a:gd name="T28" fmla="*/ 13 w 472"/>
                <a:gd name="T29" fmla="*/ 2 h 355"/>
                <a:gd name="T30" fmla="*/ 14 w 472"/>
                <a:gd name="T31" fmla="*/ 2 h 355"/>
                <a:gd name="T32" fmla="*/ 15 w 472"/>
                <a:gd name="T33" fmla="*/ 2 h 355"/>
                <a:gd name="T34" fmla="*/ 15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FF0066"/>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 name="Freeform 21">
              <a:extLst>
                <a:ext uri="{FF2B5EF4-FFF2-40B4-BE49-F238E27FC236}">
                  <a16:creationId xmlns:a16="http://schemas.microsoft.com/office/drawing/2014/main" id="{BA0C98D5-A910-5A2E-598A-7D3E68B8961B}"/>
                </a:ext>
              </a:extLst>
            </p:cNvPr>
            <p:cNvSpPr>
              <a:spLocks/>
            </p:cNvSpPr>
            <p:nvPr/>
          </p:nvSpPr>
          <p:spPr bwMode="auto">
            <a:xfrm>
              <a:off x="3649" y="863"/>
              <a:ext cx="444" cy="288"/>
            </a:xfrm>
            <a:custGeom>
              <a:avLst/>
              <a:gdLst>
                <a:gd name="T0" fmla="*/ 0 w 472"/>
                <a:gd name="T1" fmla="*/ 0 h 355"/>
                <a:gd name="T2" fmla="*/ 8 w 472"/>
                <a:gd name="T3" fmla="*/ 2 h 355"/>
                <a:gd name="T4" fmla="*/ 8 w 472"/>
                <a:gd name="T5" fmla="*/ 2 h 355"/>
                <a:gd name="T6" fmla="*/ 8 w 472"/>
                <a:gd name="T7" fmla="*/ 2 h 355"/>
                <a:gd name="T8" fmla="*/ 8 w 472"/>
                <a:gd name="T9" fmla="*/ 2 h 355"/>
                <a:gd name="T10" fmla="*/ 8 w 472"/>
                <a:gd name="T11" fmla="*/ 2 h 355"/>
                <a:gd name="T12" fmla="*/ 8 w 472"/>
                <a:gd name="T13" fmla="*/ 2 h 355"/>
                <a:gd name="T14" fmla="*/ 8 w 472"/>
                <a:gd name="T15" fmla="*/ 2 h 355"/>
                <a:gd name="T16" fmla="*/ 8 w 472"/>
                <a:gd name="T17" fmla="*/ 2 h 355"/>
                <a:gd name="T18" fmla="*/ 8 w 472"/>
                <a:gd name="T19" fmla="*/ 2 h 355"/>
                <a:gd name="T20" fmla="*/ 10 w 472"/>
                <a:gd name="T21" fmla="*/ 2 h 355"/>
                <a:gd name="T22" fmla="*/ 12 w 472"/>
                <a:gd name="T23" fmla="*/ 2 h 355"/>
                <a:gd name="T24" fmla="*/ 13 w 472"/>
                <a:gd name="T25" fmla="*/ 2 h 355"/>
                <a:gd name="T26" fmla="*/ 14 w 472"/>
                <a:gd name="T27" fmla="*/ 2 h 355"/>
                <a:gd name="T28" fmla="*/ 16 w 472"/>
                <a:gd name="T29" fmla="*/ 2 h 355"/>
                <a:gd name="T30" fmla="*/ 16 w 472"/>
                <a:gd name="T31" fmla="*/ 2 h 355"/>
                <a:gd name="T32" fmla="*/ 17 w 472"/>
                <a:gd name="T33" fmla="*/ 2 h 355"/>
                <a:gd name="T34" fmla="*/ 18 w 472"/>
                <a:gd name="T35" fmla="*/ 0 h 3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2" h="355">
                  <a:moveTo>
                    <a:pt x="0" y="0"/>
                  </a:moveTo>
                  <a:cubicBezTo>
                    <a:pt x="2" y="7"/>
                    <a:pt x="9" y="25"/>
                    <a:pt x="15" y="41"/>
                  </a:cubicBezTo>
                  <a:cubicBezTo>
                    <a:pt x="21" y="57"/>
                    <a:pt x="31" y="76"/>
                    <a:pt x="39" y="94"/>
                  </a:cubicBezTo>
                  <a:cubicBezTo>
                    <a:pt x="47" y="112"/>
                    <a:pt x="57" y="134"/>
                    <a:pt x="66" y="152"/>
                  </a:cubicBezTo>
                  <a:cubicBezTo>
                    <a:pt x="75" y="170"/>
                    <a:pt x="84" y="187"/>
                    <a:pt x="92" y="203"/>
                  </a:cubicBezTo>
                  <a:cubicBezTo>
                    <a:pt x="100" y="219"/>
                    <a:pt x="110" y="236"/>
                    <a:pt x="117" y="248"/>
                  </a:cubicBezTo>
                  <a:cubicBezTo>
                    <a:pt x="124" y="260"/>
                    <a:pt x="127" y="266"/>
                    <a:pt x="136" y="278"/>
                  </a:cubicBezTo>
                  <a:cubicBezTo>
                    <a:pt x="145" y="290"/>
                    <a:pt x="158" y="308"/>
                    <a:pt x="170" y="320"/>
                  </a:cubicBezTo>
                  <a:cubicBezTo>
                    <a:pt x="182" y="332"/>
                    <a:pt x="197" y="343"/>
                    <a:pt x="210" y="348"/>
                  </a:cubicBezTo>
                  <a:cubicBezTo>
                    <a:pt x="223" y="353"/>
                    <a:pt x="233" y="355"/>
                    <a:pt x="246" y="352"/>
                  </a:cubicBezTo>
                  <a:cubicBezTo>
                    <a:pt x="259" y="349"/>
                    <a:pt x="277" y="343"/>
                    <a:pt x="290" y="332"/>
                  </a:cubicBezTo>
                  <a:cubicBezTo>
                    <a:pt x="303" y="321"/>
                    <a:pt x="315" y="303"/>
                    <a:pt x="326" y="288"/>
                  </a:cubicBezTo>
                  <a:cubicBezTo>
                    <a:pt x="337" y="273"/>
                    <a:pt x="346" y="259"/>
                    <a:pt x="356" y="242"/>
                  </a:cubicBezTo>
                  <a:cubicBezTo>
                    <a:pt x="366" y="225"/>
                    <a:pt x="378" y="202"/>
                    <a:pt x="388" y="184"/>
                  </a:cubicBezTo>
                  <a:cubicBezTo>
                    <a:pt x="398" y="166"/>
                    <a:pt x="406" y="151"/>
                    <a:pt x="414" y="134"/>
                  </a:cubicBezTo>
                  <a:cubicBezTo>
                    <a:pt x="422" y="117"/>
                    <a:pt x="431" y="98"/>
                    <a:pt x="438" y="82"/>
                  </a:cubicBezTo>
                  <a:cubicBezTo>
                    <a:pt x="445" y="66"/>
                    <a:pt x="452" y="50"/>
                    <a:pt x="458" y="36"/>
                  </a:cubicBezTo>
                  <a:cubicBezTo>
                    <a:pt x="464" y="22"/>
                    <a:pt x="468" y="11"/>
                    <a:pt x="472" y="0"/>
                  </a:cubicBezTo>
                </a:path>
              </a:pathLst>
            </a:custGeom>
            <a:noFill/>
            <a:ln w="57150" cmpd="sng">
              <a:solidFill>
                <a:srgbClr val="FF0066"/>
              </a:solidFill>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spTree>
    <p:extLst>
      <p:ext uri="{BB962C8B-B14F-4D97-AF65-F5344CB8AC3E}">
        <p14:creationId xmlns:p14="http://schemas.microsoft.com/office/powerpoint/2010/main" val="113905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5000" fill="hold" nodeType="withEffect">
                                  <p:stCondLst>
                                    <p:cond delay="0"/>
                                  </p:stCondLst>
                                  <p:childTnLst>
                                    <p:animMotion origin="layout" path="M 5E-6 1.48148E-6 L 0.1573 1.48148E-6 " pathEditMode="relative" rAng="0" ptsTypes="AA">
                                      <p:cBhvr>
                                        <p:cTn id="6" dur="2000" fill="hold"/>
                                        <p:tgtEl>
                                          <p:spTgt spid="16"/>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6B56A-8CA6-E13B-F7C5-B1D88A17754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71D44B4-44C5-D704-A65F-26B6AF290206}"/>
                  </a:ext>
                </a:extLst>
              </p:cNvPr>
              <p:cNvSpPr txBox="1"/>
              <p:nvPr/>
            </p:nvSpPr>
            <p:spPr>
              <a:xfrm>
                <a:off x="618258" y="1566779"/>
                <a:ext cx="8231679" cy="1754326"/>
              </a:xfrm>
              <a:prstGeom prst="rect">
                <a:avLst/>
              </a:prstGeom>
              <a:noFill/>
            </p:spPr>
            <p:txBody>
              <a:bodyPr wrap="square">
                <a:spAutoFit/>
              </a:bodyPr>
              <a:lstStyle/>
              <a:p>
                <a:r>
                  <a:rPr lang="zh-CN" altLang="en-US" dirty="0"/>
                  <a:t>在介质中，波的电场或磁场会引起介质内部的极化或磁化响应。这种响应不是瞬时的，而是需要一定的时间（称为弛豫时间 ）。因此，波的相位在介质中会“滞后”于它在真空中的相位。相位延迟意味着波的传播在介质中被“拖慢”了。</a:t>
                </a:r>
                <a:endParaRPr lang="en-US" altLang="zh-CN" dirty="0"/>
              </a:p>
              <a:p>
                <a:endParaRPr lang="zh-CN" altLang="en-US" dirty="0"/>
              </a:p>
              <a:p>
                <a:r>
                  <a:rPr lang="zh-CN" altLang="en-US" dirty="0"/>
                  <a:t>根据波速公式</a:t>
                </a:r>
                <a14:m>
                  <m:oMath xmlns:m="http://schemas.openxmlformats.org/officeDocument/2006/math">
                    <m:r>
                      <a:rPr lang="en-US" altLang="zh-CN" b="0" i="0" dirty="0" smtClean="0">
                        <a:latin typeface="Cambria Math" panose="02040503050406030204" pitchFamily="18" charset="0"/>
                      </a:rPr>
                      <m:t> </m:t>
                    </m:r>
                    <m:r>
                      <a:rPr lang="en-US" altLang="zh-CN" b="0" i="1" dirty="0" smtClean="0">
                        <a:latin typeface="Cambria Math" panose="02040503050406030204" pitchFamily="18" charset="0"/>
                      </a:rPr>
                      <m:t>𝑐</m:t>
                    </m:r>
                    <m:r>
                      <a:rPr lang="zh-CN" altLang="en-US" i="0" dirty="0">
                        <a:latin typeface="Cambria Math" panose="02040503050406030204" pitchFamily="18" charset="0"/>
                      </a:rPr>
                      <m:t>=</m:t>
                    </m:r>
                    <m:f>
                      <m:fPr>
                        <m:type m:val="lin"/>
                        <m:ctrlPr>
                          <a:rPr lang="zh-CN" altLang="en-US" i="1" dirty="0">
                            <a:latin typeface="Cambria Math" panose="02040503050406030204" pitchFamily="18" charset="0"/>
                          </a:rPr>
                        </m:ctrlPr>
                      </m:fPr>
                      <m:num>
                        <m:r>
                          <a:rPr lang="zh-CN" altLang="en-US" i="1" dirty="0">
                            <a:latin typeface="Cambria Math" panose="02040503050406030204" pitchFamily="18" charset="0"/>
                          </a:rPr>
                          <m:t>𝜔</m:t>
                        </m:r>
                      </m:num>
                      <m:den>
                        <m:r>
                          <a:rPr lang="zh-CN" altLang="en-US" i="1" dirty="0">
                            <a:latin typeface="Cambria Math" panose="02040503050406030204" pitchFamily="18" charset="0"/>
                          </a:rPr>
                          <m:t>𝑘</m:t>
                        </m:r>
                      </m:den>
                    </m:f>
                  </m:oMath>
                </a14:m>
                <a:r>
                  <a:rPr lang="zh-CN" altLang="en-US" dirty="0"/>
                  <a:t> ，如果相位延迟导致波数 </a:t>
                </a:r>
                <a:r>
                  <a:rPr lang="en-US" altLang="zh-CN" dirty="0"/>
                  <a:t>k </a:t>
                </a:r>
                <a:r>
                  <a:rPr lang="zh-CN" altLang="en-US" dirty="0"/>
                  <a:t>增大（波长缩短），而角频率 </a:t>
                </a:r>
                <a:r>
                  <a:rPr lang="en-US" altLang="zh-CN" dirty="0"/>
                  <a:t>ω </a:t>
                </a:r>
                <a:r>
                  <a:rPr lang="zh-CN" altLang="en-US" dirty="0"/>
                  <a:t>不变，则波速 </a:t>
                </a:r>
                <a:r>
                  <a:rPr lang="en-US" altLang="zh-CN" dirty="0"/>
                  <a:t>c​ </a:t>
                </a:r>
                <a:r>
                  <a:rPr lang="zh-CN" altLang="en-US" dirty="0"/>
                  <a:t>会减小。</a:t>
                </a:r>
              </a:p>
            </p:txBody>
          </p:sp>
        </mc:Choice>
        <mc:Fallback xmlns="">
          <p:sp>
            <p:nvSpPr>
              <p:cNvPr id="3" name="文本框 2">
                <a:extLst>
                  <a:ext uri="{FF2B5EF4-FFF2-40B4-BE49-F238E27FC236}">
                    <a16:creationId xmlns:a16="http://schemas.microsoft.com/office/drawing/2014/main" id="{471D44B4-44C5-D704-A65F-26B6AF290206}"/>
                  </a:ext>
                </a:extLst>
              </p:cNvPr>
              <p:cNvSpPr txBox="1">
                <a:spLocks noRot="1" noChangeAspect="1" noMove="1" noResize="1" noEditPoints="1" noAdjustHandles="1" noChangeArrowheads="1" noChangeShapeType="1" noTextEdit="1"/>
              </p:cNvSpPr>
              <p:nvPr/>
            </p:nvSpPr>
            <p:spPr>
              <a:xfrm>
                <a:off x="618258" y="1566779"/>
                <a:ext cx="8231679" cy="1754326"/>
              </a:xfrm>
              <a:prstGeom prst="rect">
                <a:avLst/>
              </a:prstGeom>
              <a:blipFill>
                <a:blip r:embed="rId3"/>
                <a:stretch>
                  <a:fillRect l="-592" t="-1736" r="-2739" b="-211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A515E1A-6430-EB1C-BC8F-58BFDEE0C890}"/>
                  </a:ext>
                </a:extLst>
              </p:cNvPr>
              <p:cNvSpPr txBox="1"/>
              <p:nvPr/>
            </p:nvSpPr>
            <p:spPr>
              <a:xfrm>
                <a:off x="618258" y="3471594"/>
                <a:ext cx="7668491" cy="369332"/>
              </a:xfrm>
              <a:prstGeom prst="rect">
                <a:avLst/>
              </a:prstGeom>
              <a:noFill/>
            </p:spPr>
            <p:txBody>
              <a:bodyPr wrap="square">
                <a:spAutoFit/>
              </a:bodyPr>
              <a:lstStyle/>
              <a:p>
                <a:r>
                  <a:rPr lang="zh-CN" altLang="en-US" dirty="0"/>
                  <a:t>介质对波的影响通常用折射率 </a:t>
                </a:r>
                <a:r>
                  <a:rPr lang="en-US" altLang="zh-CN" dirty="0"/>
                  <a:t>n </a:t>
                </a:r>
                <a:r>
                  <a:rPr lang="zh-CN" altLang="en-US" dirty="0"/>
                  <a:t>来描述。折射率定义为：</a:t>
                </a:r>
                <a:r>
                  <a:rPr lang="en-US" altLang="zh-CN" b="0" dirty="0"/>
                  <a:t> </a:t>
                </a:r>
                <a14:m>
                  <m:oMath xmlns:m="http://schemas.openxmlformats.org/officeDocument/2006/math">
                    <m:r>
                      <a:rPr lang="en-US" altLang="zh-CN" i="1" dirty="0" smtClean="0">
                        <a:latin typeface="Cambria Math" panose="02040503050406030204" pitchFamily="18" charset="0"/>
                      </a:rPr>
                      <m:t>𝑛</m:t>
                    </m:r>
                    <m:r>
                      <a:rPr lang="zh-CN" altLang="en-US" i="0" dirty="0">
                        <a:latin typeface="Cambria Math" panose="02040503050406030204" pitchFamily="18" charset="0"/>
                      </a:rPr>
                      <m:t>=</m:t>
                    </m:r>
                    <m:f>
                      <m:fPr>
                        <m:type m:val="lin"/>
                        <m:ctrlPr>
                          <a:rPr lang="zh-CN" altLang="en-US" i="1" dirty="0">
                            <a:latin typeface="Cambria Math" panose="02040503050406030204" pitchFamily="18" charset="0"/>
                          </a:rPr>
                        </m:ctrlPr>
                      </m:fPr>
                      <m:num>
                        <m:r>
                          <a:rPr lang="en-US" altLang="zh-CN" b="0" i="1" dirty="0" smtClean="0">
                            <a:latin typeface="Cambria Math" panose="02040503050406030204" pitchFamily="18" charset="0"/>
                          </a:rPr>
                          <m:t>𝑐</m:t>
                        </m:r>
                      </m:num>
                      <m:den>
                        <m:r>
                          <a:rPr lang="en-US" altLang="zh-CN" b="0" i="1" dirty="0" smtClean="0">
                            <a:latin typeface="Cambria Math" panose="02040503050406030204" pitchFamily="18" charset="0"/>
                          </a:rPr>
                          <m:t>𝑣</m:t>
                        </m:r>
                      </m:den>
                    </m:f>
                  </m:oMath>
                </a14:m>
                <a:endParaRPr lang="zh-CN" altLang="en-US" dirty="0"/>
              </a:p>
            </p:txBody>
          </p:sp>
        </mc:Choice>
        <mc:Fallback xmlns="">
          <p:sp>
            <p:nvSpPr>
              <p:cNvPr id="5" name="文本框 4">
                <a:extLst>
                  <a:ext uri="{FF2B5EF4-FFF2-40B4-BE49-F238E27FC236}">
                    <a16:creationId xmlns:a16="http://schemas.microsoft.com/office/drawing/2014/main" id="{AA515E1A-6430-EB1C-BC8F-58BFDEE0C890}"/>
                  </a:ext>
                </a:extLst>
              </p:cNvPr>
              <p:cNvSpPr txBox="1">
                <a:spLocks noRot="1" noChangeAspect="1" noMove="1" noResize="1" noEditPoints="1" noAdjustHandles="1" noChangeArrowheads="1" noChangeShapeType="1" noTextEdit="1"/>
              </p:cNvSpPr>
              <p:nvPr/>
            </p:nvSpPr>
            <p:spPr>
              <a:xfrm>
                <a:off x="618258" y="3471594"/>
                <a:ext cx="7668491" cy="369332"/>
              </a:xfrm>
              <a:prstGeom prst="rect">
                <a:avLst/>
              </a:prstGeom>
              <a:blipFill>
                <a:blip r:embed="rId4"/>
                <a:stretch>
                  <a:fillRect l="-636" t="-114754" b="-177049"/>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0AE13E8D-C382-40E7-5633-3E68219A3F95}"/>
              </a:ext>
            </a:extLst>
          </p:cNvPr>
          <p:cNvSpPr txBox="1"/>
          <p:nvPr/>
        </p:nvSpPr>
        <p:spPr>
          <a:xfrm>
            <a:off x="618258" y="4032118"/>
            <a:ext cx="8231679" cy="646331"/>
          </a:xfrm>
          <a:prstGeom prst="rect">
            <a:avLst/>
          </a:prstGeom>
          <a:noFill/>
        </p:spPr>
        <p:txBody>
          <a:bodyPr wrap="square">
            <a:spAutoFit/>
          </a:bodyPr>
          <a:lstStyle/>
          <a:p>
            <a:r>
              <a:rPr lang="en-US" altLang="zh-CN" dirty="0"/>
              <a:t>c </a:t>
            </a:r>
            <a:r>
              <a:rPr lang="zh-CN" altLang="en-US" dirty="0"/>
              <a:t>是光在真空中的速度，</a:t>
            </a:r>
            <a:r>
              <a:rPr lang="en-US" altLang="zh-CN" i="1" dirty="0"/>
              <a:t>v</a:t>
            </a:r>
            <a:r>
              <a:rPr lang="en-US" altLang="zh-CN" dirty="0"/>
              <a:t> </a:t>
            </a:r>
            <a:r>
              <a:rPr lang="zh-CN" altLang="en-US" dirty="0"/>
              <a:t>是波在介质中的相速度。</a:t>
            </a:r>
          </a:p>
          <a:p>
            <a:r>
              <a:rPr lang="zh-CN" altLang="en-US" dirty="0"/>
              <a:t>当波进入介质时，折射率 </a:t>
            </a:r>
            <a:r>
              <a:rPr lang="en-US" altLang="zh-CN" dirty="0"/>
              <a:t>n&gt;1</a:t>
            </a:r>
            <a:r>
              <a:rPr lang="zh-CN" altLang="en-US" dirty="0"/>
              <a:t>，说明波速 </a:t>
            </a:r>
            <a:r>
              <a:rPr lang="en-US" altLang="zh-CN" dirty="0"/>
              <a:t>v&lt;c</a:t>
            </a:r>
            <a:r>
              <a:rPr lang="zh-CN" altLang="en-US" dirty="0"/>
              <a:t>。</a:t>
            </a:r>
          </a:p>
        </p:txBody>
      </p:sp>
      <p:sp>
        <p:nvSpPr>
          <p:cNvPr id="8" name="标题 2">
            <a:extLst>
              <a:ext uri="{FF2B5EF4-FFF2-40B4-BE49-F238E27FC236}">
                <a16:creationId xmlns:a16="http://schemas.microsoft.com/office/drawing/2014/main" id="{085BCEE3-B88B-F00B-E017-943E9EFE0D7A}"/>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 Velocity</a:t>
            </a:r>
          </a:p>
        </p:txBody>
      </p:sp>
    </p:spTree>
    <p:extLst>
      <p:ext uri="{BB962C8B-B14F-4D97-AF65-F5344CB8AC3E}">
        <p14:creationId xmlns:p14="http://schemas.microsoft.com/office/powerpoint/2010/main" val="1718271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54D1-BB51-C7FF-5573-FA52F1480F24}"/>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A97C8DD-3190-51AF-F072-71812E22DA33}"/>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Waves using complex numbers</a:t>
            </a:r>
          </a:p>
        </p:txBody>
      </p:sp>
      <p:sp>
        <p:nvSpPr>
          <p:cNvPr id="15" name="文本框 14">
            <a:extLst>
              <a:ext uri="{FF2B5EF4-FFF2-40B4-BE49-F238E27FC236}">
                <a16:creationId xmlns:a16="http://schemas.microsoft.com/office/drawing/2014/main" id="{E10242C6-4C6B-AA81-2DE6-CE2D642C59C1}"/>
              </a:ext>
            </a:extLst>
          </p:cNvPr>
          <p:cNvSpPr txBox="1"/>
          <p:nvPr/>
        </p:nvSpPr>
        <p:spPr>
          <a:xfrm>
            <a:off x="1137684" y="1024531"/>
            <a:ext cx="7272669" cy="369332"/>
          </a:xfrm>
          <a:prstGeom prst="rect">
            <a:avLst/>
          </a:prstGeom>
          <a:noFill/>
        </p:spPr>
        <p:txBody>
          <a:bodyPr wrap="square">
            <a:spAutoFit/>
          </a:bodyPr>
          <a:lstStyle/>
          <a:p>
            <a:r>
              <a:rPr lang="en-US" altLang="zh-CN" dirty="0"/>
              <a:t>We have known the Harmonic Wave Solutions to the Wave Equation:</a:t>
            </a:r>
            <a:endParaRPr lang="zh-CN" altLang="en-US"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36FD0EA-7B46-4B4F-389B-08767F69800C}"/>
                  </a:ext>
                </a:extLst>
              </p:cNvPr>
              <p:cNvSpPr txBox="1"/>
              <p:nvPr/>
            </p:nvSpPr>
            <p:spPr>
              <a:xfrm>
                <a:off x="2499798" y="1655200"/>
                <a:ext cx="41444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en-US" altLang="zh-CN" sz="2400" b="0" i="1" smtClean="0">
                              <a:latin typeface="Cambria Math" panose="02040503050406030204" pitchFamily="18" charset="0"/>
                            </a:rPr>
                            <m:t>𝑥</m:t>
                          </m:r>
                          <m:r>
                            <a:rPr lang="zh-CN" altLang="en-US" sz="2400" b="0" i="1">
                              <a:latin typeface="Cambria Math" panose="02040503050406030204" pitchFamily="18" charset="0"/>
                            </a:rPr>
                            <m:t>,</m:t>
                          </m:r>
                          <m:r>
                            <a:rPr lang="zh-CN" altLang="en-US" sz="2400" b="0" i="1">
                              <a:latin typeface="Cambria Math" panose="02040503050406030204" pitchFamily="18" charset="0"/>
                            </a:rPr>
                            <m:t>𝑡</m:t>
                          </m:r>
                        </m:e>
                      </m:d>
                      <m:r>
                        <a:rPr lang="zh-CN" altLang="en-US" sz="2400" b="0" i="1">
                          <a:latin typeface="Cambria Math" panose="02040503050406030204" pitchFamily="18" charset="0"/>
                        </a:rPr>
                        <m:t>=</m:t>
                      </m:r>
                      <m:r>
                        <a:rPr lang="zh-CN" altLang="en-US" sz="2400" b="0" i="1">
                          <a:latin typeface="Cambria Math" panose="02040503050406030204" pitchFamily="18" charset="0"/>
                        </a:rPr>
                        <m:t>𝐴</m:t>
                      </m:r>
                      <m:func>
                        <m:funcPr>
                          <m:ctrlPr>
                            <a:rPr lang="zh-CN" altLang="en-US" sz="2400" i="1">
                              <a:latin typeface="Cambria Math" panose="02040503050406030204" pitchFamily="18" charset="0"/>
                            </a:rPr>
                          </m:ctrlPr>
                        </m:funcPr>
                        <m:fName>
                          <m:r>
                            <a:rPr lang="zh-CN" altLang="en-US" sz="2400" b="0" i="1">
                              <a:latin typeface="Cambria Math" panose="02040503050406030204" pitchFamily="18" charset="0"/>
                            </a:rPr>
                            <m:t>𝑐𝑜𝑠</m:t>
                          </m:r>
                        </m:fName>
                        <m:e>
                          <m:d>
                            <m:dPr>
                              <m:begChr m:val="["/>
                              <m:endChr m:val="]"/>
                              <m:ctrlPr>
                                <a:rPr lang="zh-CN" altLang="en-US" sz="2400" i="1">
                                  <a:solidFill>
                                    <a:srgbClr val="836967"/>
                                  </a:solidFill>
                                  <a:latin typeface="Cambria Math" panose="02040503050406030204" pitchFamily="18" charset="0"/>
                                </a:rPr>
                              </m:ctrlPr>
                            </m:dPr>
                            <m:e>
                              <m:d>
                                <m:dPr>
                                  <m:ctrlPr>
                                    <a:rPr lang="zh-CN" altLang="en-US" sz="2400" i="1">
                                      <a:solidFill>
                                        <a:srgbClr val="836967"/>
                                      </a:solidFill>
                                      <a:latin typeface="Cambria Math" panose="02040503050406030204" pitchFamily="18" charset="0"/>
                                    </a:rPr>
                                  </m:ctrlPr>
                                </m:dPr>
                                <m:e>
                                  <m:r>
                                    <a:rPr lang="zh-CN" altLang="en-US" sz="2400" b="0" i="1">
                                      <a:latin typeface="Cambria Math" panose="02040503050406030204" pitchFamily="18" charset="0"/>
                                    </a:rPr>
                                    <m:t>𝑘</m:t>
                                  </m:r>
                                  <m:r>
                                    <a:rPr lang="en-US" altLang="zh-CN" sz="2400" b="0" i="1" smtClean="0">
                                      <a:latin typeface="Cambria Math" panose="02040503050406030204" pitchFamily="18" charset="0"/>
                                    </a:rPr>
                                    <m:t>𝑥</m:t>
                                  </m:r>
                                  <m:r>
                                    <a:rPr lang="en-US" altLang="zh-CN" sz="2400" b="0" i="1">
                                      <a:latin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𝜔</m:t>
                                  </m:r>
                                  <m:r>
                                    <a:rPr lang="en-US" altLang="zh-CN" sz="2400" b="0" i="1">
                                      <a:latin typeface="Cambria Math" panose="02040503050406030204" pitchFamily="18" charset="0"/>
                                    </a:rPr>
                                    <m:t>𝑡</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e>
                          </m:d>
                        </m:e>
                      </m:func>
                    </m:oMath>
                  </m:oMathPara>
                </a14:m>
                <a:endParaRPr lang="zh-CN" altLang="en-US" sz="2400" i="1" dirty="0"/>
              </a:p>
            </p:txBody>
          </p:sp>
        </mc:Choice>
        <mc:Fallback xmlns="">
          <p:sp>
            <p:nvSpPr>
              <p:cNvPr id="22" name="文本框 21">
                <a:extLst>
                  <a:ext uri="{FF2B5EF4-FFF2-40B4-BE49-F238E27FC236}">
                    <a16:creationId xmlns:a16="http://schemas.microsoft.com/office/drawing/2014/main" id="{636FD0EA-7B46-4B4F-389B-08767F69800C}"/>
                  </a:ext>
                </a:extLst>
              </p:cNvPr>
              <p:cNvSpPr txBox="1">
                <a:spLocks noRot="1" noChangeAspect="1" noMove="1" noResize="1" noEditPoints="1" noAdjustHandles="1" noChangeArrowheads="1" noChangeShapeType="1" noTextEdit="1"/>
              </p:cNvSpPr>
              <p:nvPr/>
            </p:nvSpPr>
            <p:spPr>
              <a:xfrm>
                <a:off x="2499798" y="1655200"/>
                <a:ext cx="4144403" cy="369332"/>
              </a:xfrm>
              <a:prstGeom prst="rect">
                <a:avLst/>
              </a:prstGeom>
              <a:blipFill>
                <a:blip r:embed="rId3"/>
                <a:stretch>
                  <a:fillRect l="-1029" b="-1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58B545C-3C0B-FA21-8FC0-640CF5BFFC9E}"/>
                  </a:ext>
                </a:extLst>
              </p:cNvPr>
              <p:cNvSpPr txBox="1"/>
              <p:nvPr/>
            </p:nvSpPr>
            <p:spPr>
              <a:xfrm>
                <a:off x="3335579" y="3591965"/>
                <a:ext cx="2876878" cy="3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𝑡</m:t>
                          </m:r>
                        </m:e>
                      </m:d>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𝐸</m:t>
                          </m:r>
                        </m:e>
                        <m:sub>
                          <m:r>
                            <a:rPr lang="zh-CN" altLang="en-US" sz="2400" i="0">
                              <a:latin typeface="Cambria Math" panose="02040503050406030204" pitchFamily="18" charset="0"/>
                            </a:rPr>
                            <m:t>0</m:t>
                          </m:r>
                        </m:sub>
                      </m:sSub>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ⅇ</m:t>
                          </m:r>
                        </m:e>
                        <m:sup>
                          <m:r>
                            <a:rPr lang="zh-CN" altLang="en-US" sz="2400" i="1">
                              <a:latin typeface="Cambria Math" panose="02040503050406030204" pitchFamily="18" charset="0"/>
                            </a:rPr>
                            <m:t>𝑗</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𝑘𝑥</m:t>
                              </m:r>
                              <m:r>
                                <a:rPr lang="zh-CN" altLang="en-US" sz="2400" i="0">
                                  <a:latin typeface="Cambria Math" panose="02040503050406030204" pitchFamily="18" charset="0"/>
                                </a:rPr>
                                <m:t>−</m:t>
                              </m:r>
                              <m:r>
                                <a:rPr lang="zh-CN" altLang="en-US" sz="2400" i="1">
                                  <a:latin typeface="Cambria Math" panose="02040503050406030204" pitchFamily="18" charset="0"/>
                                </a:rPr>
                                <m:t>𝜔</m:t>
                              </m:r>
                              <m:r>
                                <a:rPr lang="zh-CN" altLang="en-US" sz="2400" i="1">
                                  <a:latin typeface="Cambria Math" panose="02040503050406030204" pitchFamily="18" charset="0"/>
                                </a:rPr>
                                <m:t>𝑡</m:t>
                              </m:r>
                            </m:e>
                          </m:d>
                        </m:sup>
                      </m:sSup>
                    </m:oMath>
                  </m:oMathPara>
                </a14:m>
                <a:endParaRPr lang="zh-CN" altLang="en-US" sz="2400" dirty="0"/>
              </a:p>
            </p:txBody>
          </p:sp>
        </mc:Choice>
        <mc:Fallback xmlns="">
          <p:sp>
            <p:nvSpPr>
              <p:cNvPr id="2" name="文本框 1">
                <a:extLst>
                  <a:ext uri="{FF2B5EF4-FFF2-40B4-BE49-F238E27FC236}">
                    <a16:creationId xmlns:a16="http://schemas.microsoft.com/office/drawing/2014/main" id="{058B545C-3C0B-FA21-8FC0-640CF5BFFC9E}"/>
                  </a:ext>
                </a:extLst>
              </p:cNvPr>
              <p:cNvSpPr txBox="1">
                <a:spLocks noRot="1" noChangeAspect="1" noMove="1" noResize="1" noEditPoints="1" noAdjustHandles="1" noChangeArrowheads="1" noChangeShapeType="1" noTextEdit="1"/>
              </p:cNvSpPr>
              <p:nvPr/>
            </p:nvSpPr>
            <p:spPr>
              <a:xfrm>
                <a:off x="3335579" y="3591965"/>
                <a:ext cx="2876878" cy="394339"/>
              </a:xfrm>
              <a:prstGeom prst="rect">
                <a:avLst/>
              </a:prstGeom>
              <a:blipFill>
                <a:blip r:embed="rId4"/>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F0DDE50E-1B2C-4CD6-D48C-079D014DE568}"/>
              </a:ext>
            </a:extLst>
          </p:cNvPr>
          <p:cNvSpPr txBox="1"/>
          <p:nvPr/>
        </p:nvSpPr>
        <p:spPr>
          <a:xfrm>
            <a:off x="1497419" y="2961296"/>
            <a:ext cx="7272669" cy="369332"/>
          </a:xfrm>
          <a:prstGeom prst="rect">
            <a:avLst/>
          </a:prstGeom>
          <a:noFill/>
        </p:spPr>
        <p:txBody>
          <a:bodyPr wrap="square">
            <a:spAutoFit/>
          </a:bodyPr>
          <a:lstStyle/>
          <a:p>
            <a:r>
              <a:rPr lang="en-US" altLang="zh-CN" dirty="0"/>
              <a:t>What is this</a:t>
            </a:r>
            <a:r>
              <a:rPr lang="zh-CN" altLang="en-US" dirty="0"/>
              <a:t>？</a:t>
            </a:r>
            <a:r>
              <a:rPr lang="en-US" altLang="zh-CN" dirty="0"/>
              <a:t>Why the wave equation using complex numbers:</a:t>
            </a:r>
            <a:endParaRPr lang="zh-CN" altLang="en-US" dirty="0"/>
          </a:p>
        </p:txBody>
      </p:sp>
      <p:sp>
        <p:nvSpPr>
          <p:cNvPr id="4" name="标题 2">
            <a:extLst>
              <a:ext uri="{FF2B5EF4-FFF2-40B4-BE49-F238E27FC236}">
                <a16:creationId xmlns:a16="http://schemas.microsoft.com/office/drawing/2014/main" id="{03C95F1C-D12E-59E3-EE6C-FF98BB4239B1}"/>
              </a:ext>
            </a:extLst>
          </p:cNvPr>
          <p:cNvSpPr txBox="1">
            <a:spLocks/>
          </p:cNvSpPr>
          <p:nvPr/>
        </p:nvSpPr>
        <p:spPr>
          <a:xfrm>
            <a:off x="4215810" y="4910462"/>
            <a:ext cx="3328878"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Euler</a:t>
            </a:r>
            <a:r>
              <a:rPr lang="en-US" altLang="zh-CN" sz="2400" b="1" dirty="0">
                <a:latin typeface="+mn-lt"/>
                <a:ea typeface="微软雅黑" panose="020B0503020204020204" pitchFamily="34" charset="-122"/>
                <a:cs typeface="Arial" panose="020B0604020202020204" pitchFamily="34" charset="0"/>
              </a:rPr>
              <a:t>’</a:t>
            </a: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s formula</a:t>
            </a:r>
          </a:p>
        </p:txBody>
      </p:sp>
      <p:sp>
        <p:nvSpPr>
          <p:cNvPr id="6" name="文本框 5">
            <a:extLst>
              <a:ext uri="{FF2B5EF4-FFF2-40B4-BE49-F238E27FC236}">
                <a16:creationId xmlns:a16="http://schemas.microsoft.com/office/drawing/2014/main" id="{872DA1A6-1F97-D974-C9B9-FD46DF070065}"/>
              </a:ext>
            </a:extLst>
          </p:cNvPr>
          <p:cNvSpPr txBox="1"/>
          <p:nvPr/>
        </p:nvSpPr>
        <p:spPr>
          <a:xfrm>
            <a:off x="2328529" y="4910462"/>
            <a:ext cx="2243470"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Arial" panose="020B0604020202020204" pitchFamily="34" charset="0"/>
              </a:rPr>
              <a:t>We need to know </a:t>
            </a:r>
            <a:endParaRPr lang="zh-CN" altLang="en-US" dirty="0"/>
          </a:p>
        </p:txBody>
      </p:sp>
    </p:spTree>
    <p:extLst>
      <p:ext uri="{BB962C8B-B14F-4D97-AF65-F5344CB8AC3E}">
        <p14:creationId xmlns:p14="http://schemas.microsoft.com/office/powerpoint/2010/main" val="3050199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Euler</a:t>
            </a:r>
            <a:r>
              <a:rPr lang="en-US" altLang="zh-CN" sz="2400" b="1" dirty="0">
                <a:solidFill>
                  <a:schemeClr val="bg1"/>
                </a:solidFill>
                <a:latin typeface="+mn-lt"/>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 formula</a:t>
            </a:r>
          </a:p>
        </p:txBody>
      </p:sp>
      <p:sp>
        <p:nvSpPr>
          <p:cNvPr id="3" name="文本框 2">
            <a:extLst>
              <a:ext uri="{FF2B5EF4-FFF2-40B4-BE49-F238E27FC236}">
                <a16:creationId xmlns:a16="http://schemas.microsoft.com/office/drawing/2014/main" id="{DD486639-CD46-9033-35C0-25132208F4FB}"/>
              </a:ext>
            </a:extLst>
          </p:cNvPr>
          <p:cNvSpPr txBox="1"/>
          <p:nvPr/>
        </p:nvSpPr>
        <p:spPr>
          <a:xfrm>
            <a:off x="657945" y="611878"/>
            <a:ext cx="7828110" cy="923330"/>
          </a:xfrm>
          <a:prstGeom prst="rect">
            <a:avLst/>
          </a:prstGeom>
          <a:noFill/>
        </p:spPr>
        <p:txBody>
          <a:bodyPr wrap="square">
            <a:spAutoFit/>
          </a:bodyPr>
          <a:lstStyle/>
          <a:p>
            <a:r>
              <a:rPr lang="en-US" altLang="zh-CN" dirty="0"/>
              <a:t>Euler's formula, named after Leonhard Euler, is a mathematical formula in complex analysis that establishes the fundamental relationship between the trigonometric functions and the complex exponential function.</a:t>
            </a:r>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393DF5C-23F9-6576-169F-E9AF8F68A93E}"/>
                  </a:ext>
                </a:extLst>
              </p:cNvPr>
              <p:cNvSpPr txBox="1"/>
              <p:nvPr/>
            </p:nvSpPr>
            <p:spPr>
              <a:xfrm>
                <a:off x="3267801" y="1584859"/>
                <a:ext cx="2458369" cy="31777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Cambria Math" panose="02040503050406030204" pitchFamily="18" charset="0"/>
                            </a:rPr>
                          </m:ctrlPr>
                        </m:sSupPr>
                        <m:e>
                          <m:r>
                            <a:rPr lang="en-US" altLang="zh-CN" sz="2000" i="1" dirty="0" smtClean="0">
                              <a:latin typeface="Cambria Math" panose="02040503050406030204" pitchFamily="18" charset="0"/>
                              <a:ea typeface="Cambria Math" panose="02040503050406030204" pitchFamily="18" charset="0"/>
                            </a:rPr>
                            <m:t>𝑒</m:t>
                          </m:r>
                        </m:e>
                        <m:sup>
                          <m:r>
                            <a:rPr lang="en-US" altLang="zh-CN" sz="2000" b="0" i="1" dirty="0" smtClean="0">
                              <a:latin typeface="Cambria Math" panose="02040503050406030204" pitchFamily="18" charset="0"/>
                              <a:ea typeface="Cambria Math" panose="02040503050406030204" pitchFamily="18" charset="0"/>
                            </a:rPr>
                            <m:t>𝑖</m:t>
                          </m:r>
                          <m:r>
                            <a:rPr lang="en-US" altLang="zh-CN" sz="2000" i="1" dirty="0" smtClean="0">
                              <a:latin typeface="Cambria Math" panose="02040503050406030204" pitchFamily="18" charset="0"/>
                              <a:ea typeface="Cambria Math" panose="02040503050406030204" pitchFamily="18" charset="0"/>
                            </a:rPr>
                            <m:t>𝑥</m:t>
                          </m:r>
                        </m:sup>
                      </m:sSup>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𝑐𝑜𝑠𝑥</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𝑖𝑠𝑖𝑛𝑥</m:t>
                      </m:r>
                    </m:oMath>
                  </m:oMathPara>
                </a14:m>
                <a:endParaRPr lang="zh-CN" altLang="en-US" sz="2000" dirty="0">
                  <a:latin typeface="Bodoni MT" panose="02070603080606020203" pitchFamily="18" charset="0"/>
                </a:endParaRPr>
              </a:p>
            </p:txBody>
          </p:sp>
        </mc:Choice>
        <mc:Fallback xmlns="">
          <p:sp>
            <p:nvSpPr>
              <p:cNvPr id="4" name="文本框 3">
                <a:extLst>
                  <a:ext uri="{FF2B5EF4-FFF2-40B4-BE49-F238E27FC236}">
                    <a16:creationId xmlns:a16="http://schemas.microsoft.com/office/drawing/2014/main" id="{E393DF5C-23F9-6576-169F-E9AF8F68A93E}"/>
                  </a:ext>
                </a:extLst>
              </p:cNvPr>
              <p:cNvSpPr txBox="1">
                <a:spLocks noRot="1" noChangeAspect="1" noMove="1" noResize="1" noEditPoints="1" noAdjustHandles="1" noChangeArrowheads="1" noChangeShapeType="1" noTextEdit="1"/>
              </p:cNvSpPr>
              <p:nvPr/>
            </p:nvSpPr>
            <p:spPr>
              <a:xfrm>
                <a:off x="3267801" y="1584859"/>
                <a:ext cx="2458369" cy="317779"/>
              </a:xfrm>
              <a:prstGeom prst="rect">
                <a:avLst/>
              </a:prstGeom>
              <a:blipFill>
                <a:blip r:embed="rId3"/>
                <a:stretch>
                  <a:fillRect t="-3846"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70DE2E1-E4E9-A357-42BA-23BCD9E49282}"/>
                  </a:ext>
                </a:extLst>
              </p:cNvPr>
              <p:cNvSpPr txBox="1"/>
              <p:nvPr/>
            </p:nvSpPr>
            <p:spPr>
              <a:xfrm>
                <a:off x="657945" y="2084460"/>
                <a:ext cx="8109537" cy="655244"/>
              </a:xfrm>
              <a:prstGeom prst="rect">
                <a:avLst/>
              </a:prstGeom>
              <a:noFill/>
            </p:spPr>
            <p:txBody>
              <a:bodyPr wrap="square">
                <a:spAutoFit/>
              </a:bodyPr>
              <a:lstStyle/>
              <a:p>
                <a:r>
                  <a:rPr lang="en-US" altLang="zh-CN" dirty="0"/>
                  <a:t>When x = π, Euler's formula may be rewritten as</a:t>
                </a:r>
                <a:r>
                  <a:rPr lang="en-US" altLang="zh-CN" sz="1800" dirty="0">
                    <a:ea typeface="Cambria Math" panose="02040503050406030204" pitchFamily="18" charset="0"/>
                  </a:rPr>
                  <a:t> </a:t>
                </a:r>
                <a14:m>
                  <m:oMath xmlns:m="http://schemas.openxmlformats.org/officeDocument/2006/math">
                    <m:sSup>
                      <m:sSupPr>
                        <m:ctrlPr>
                          <a:rPr lang="en-US" altLang="zh-CN" sz="1800" i="1" smtClean="0">
                            <a:latin typeface="Cambria Math" panose="02040503050406030204" pitchFamily="18" charset="0"/>
                            <a:ea typeface="Cambria Math" panose="02040503050406030204" pitchFamily="18" charset="0"/>
                          </a:rPr>
                        </m:ctrlPr>
                      </m:sSupPr>
                      <m:e>
                        <m:r>
                          <a:rPr lang="en-US" altLang="zh-CN" sz="1800" b="0" i="1" smtClean="0">
                            <a:latin typeface="Cambria Math" panose="02040503050406030204" pitchFamily="18" charset="0"/>
                            <a:ea typeface="Cambria Math" panose="02040503050406030204" pitchFamily="18" charset="0"/>
                          </a:rPr>
                          <m:t>𝑒</m:t>
                        </m:r>
                      </m:e>
                      <m:sup>
                        <m:r>
                          <a:rPr lang="en-US" altLang="zh-CN" sz="1800" b="0" i="1" smtClean="0">
                            <a:latin typeface="Cambria Math" panose="02040503050406030204" pitchFamily="18" charset="0"/>
                            <a:ea typeface="Cambria Math" panose="02040503050406030204" pitchFamily="18" charset="0"/>
                          </a:rPr>
                          <m:t>𝑖</m:t>
                        </m:r>
                        <m:r>
                          <m:rPr>
                            <m:sty m:val="p"/>
                          </m:rPr>
                          <a:rPr lang="en-US" altLang="zh-CN" i="1">
                            <a:latin typeface="Cambria Math" panose="02040503050406030204" pitchFamily="18" charset="0"/>
                            <a:ea typeface="Cambria Math" panose="02040503050406030204" pitchFamily="18" charset="0"/>
                          </a:rPr>
                          <m:t>π</m:t>
                        </m:r>
                      </m:sup>
                    </m:sSup>
                  </m:oMath>
                </a14:m>
                <a:r>
                  <a:rPr lang="en-US" altLang="zh-CN" dirty="0"/>
                  <a:t> + 1 = 0 or </a:t>
                </a:r>
                <a14:m>
                  <m:oMath xmlns:m="http://schemas.openxmlformats.org/officeDocument/2006/math">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𝑖</m:t>
                        </m:r>
                        <m:r>
                          <m:rPr>
                            <m:sty m:val="p"/>
                          </m:rPr>
                          <a:rPr lang="en-US" altLang="zh-CN" i="1">
                            <a:latin typeface="Cambria Math" panose="02040503050406030204" pitchFamily="18" charset="0"/>
                            <a:ea typeface="Cambria Math" panose="02040503050406030204" pitchFamily="18" charset="0"/>
                          </a:rPr>
                          <m:t>π</m:t>
                        </m:r>
                      </m:sup>
                    </m:sSup>
                  </m:oMath>
                </a14:m>
                <a:r>
                  <a:rPr lang="en-US" altLang="zh-CN" dirty="0"/>
                  <a:t> = -1, which is known as Euler's identity(</a:t>
                </a:r>
                <a:r>
                  <a:rPr lang="zh-CN" altLang="en-US" dirty="0"/>
                  <a:t>欧拉恒等式</a:t>
                </a:r>
                <a:r>
                  <a:rPr lang="en-US" altLang="zh-CN" dirty="0"/>
                  <a:t>).</a:t>
                </a:r>
                <a:endParaRPr lang="zh-CN" altLang="en-US" dirty="0"/>
              </a:p>
            </p:txBody>
          </p:sp>
        </mc:Choice>
        <mc:Fallback xmlns="">
          <p:sp>
            <p:nvSpPr>
              <p:cNvPr id="6" name="文本框 5">
                <a:extLst>
                  <a:ext uri="{FF2B5EF4-FFF2-40B4-BE49-F238E27FC236}">
                    <a16:creationId xmlns:a16="http://schemas.microsoft.com/office/drawing/2014/main" id="{670DE2E1-E4E9-A357-42BA-23BCD9E49282}"/>
                  </a:ext>
                </a:extLst>
              </p:cNvPr>
              <p:cNvSpPr txBox="1">
                <a:spLocks noRot="1" noChangeAspect="1" noMove="1" noResize="1" noEditPoints="1" noAdjustHandles="1" noChangeArrowheads="1" noChangeShapeType="1" noTextEdit="1"/>
              </p:cNvSpPr>
              <p:nvPr/>
            </p:nvSpPr>
            <p:spPr>
              <a:xfrm>
                <a:off x="657945" y="2084460"/>
                <a:ext cx="8109537" cy="655244"/>
              </a:xfrm>
              <a:prstGeom prst="rect">
                <a:avLst/>
              </a:prstGeom>
              <a:blipFill>
                <a:blip r:embed="rId4"/>
                <a:stretch>
                  <a:fillRect l="-677" t="-3738" r="-376" b="-14953"/>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2521A230-FA6D-56D5-AA6F-CB97DF7F47FF}"/>
              </a:ext>
            </a:extLst>
          </p:cNvPr>
          <p:cNvSpPr txBox="1"/>
          <p:nvPr/>
        </p:nvSpPr>
        <p:spPr>
          <a:xfrm>
            <a:off x="419793" y="4310128"/>
            <a:ext cx="8327029" cy="923330"/>
          </a:xfrm>
          <a:prstGeom prst="rect">
            <a:avLst/>
          </a:prstGeom>
          <a:noFill/>
        </p:spPr>
        <p:txBody>
          <a:bodyPr wrap="square">
            <a:spAutoFit/>
          </a:bodyPr>
          <a:lstStyle/>
          <a:p>
            <a:r>
              <a:rPr lang="en-US" altLang="zh-CN" dirty="0"/>
              <a:t>The number e is a mathematical constant approximately equal to 2.71828. It is the base of natural logarithms. It is the limit of (1 + 1/n)n as n approaches infinity.</a:t>
            </a:r>
          </a:p>
          <a:p>
            <a:r>
              <a:rPr lang="en-US" altLang="zh-CN" dirty="0"/>
              <a:t>The number e</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9BBB2B6-9C47-F3A5-83A6-AEF1E7650204}"/>
                  </a:ext>
                </a:extLst>
              </p:cNvPr>
              <p:cNvSpPr txBox="1"/>
              <p:nvPr/>
            </p:nvSpPr>
            <p:spPr>
              <a:xfrm>
                <a:off x="3060844" y="5196081"/>
                <a:ext cx="2768771" cy="6544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pt-BR" altLang="zh-CN" i="1" smtClean="0">
                              <a:latin typeface="Cambria Math" panose="02040503050406030204" pitchFamily="18" charset="0"/>
                            </a:rPr>
                          </m:ctrlPr>
                        </m:funcPr>
                        <m:fName>
                          <m:limLow>
                            <m:limLowPr>
                              <m:ctrlPr>
                                <a:rPr lang="pt-BR" altLang="zh-CN" i="1" smtClean="0">
                                  <a:latin typeface="Cambria Math" panose="02040503050406030204" pitchFamily="18" charset="0"/>
                                </a:rPr>
                              </m:ctrlPr>
                            </m:limLowPr>
                            <m:e>
                              <m:r>
                                <m:rPr>
                                  <m:sty m:val="p"/>
                                </m:rPr>
                                <a:rPr lang="pt-BR" altLang="zh-CN" i="0" smtClean="0">
                                  <a:latin typeface="Cambria Math" panose="02040503050406030204" pitchFamily="18" charset="0"/>
                                </a:rPr>
                                <m:t>lim</m:t>
                              </m:r>
                            </m:e>
                            <m:lim>
                              <m:r>
                                <a:rPr lang="pt-BR" altLang="zh-CN" i="1" smtClean="0">
                                  <a:latin typeface="Cambria Math" panose="02040503050406030204" pitchFamily="18" charset="0"/>
                                </a:rPr>
                                <m:t>𝑛</m:t>
                              </m:r>
                              <m:r>
                                <a:rPr lang="pt-BR" altLang="zh-CN" i="1" smtClean="0">
                                  <a:latin typeface="Cambria Math" panose="02040503050406030204" pitchFamily="18" charset="0"/>
                                </a:rPr>
                                <m:t>→∞</m:t>
                              </m:r>
                            </m:lim>
                          </m:limLow>
                        </m:fName>
                        <m:e>
                          <m:sSup>
                            <m:sSupPr>
                              <m:ctrlPr>
                                <a:rPr lang="pt-BR" altLang="zh-CN" i="1" smtClean="0">
                                  <a:latin typeface="Cambria Math" panose="02040503050406030204" pitchFamily="18" charset="0"/>
                                </a:rPr>
                              </m:ctrlPr>
                            </m:sSupPr>
                            <m:e>
                              <m:d>
                                <m:dPr>
                                  <m:ctrlPr>
                                    <a:rPr lang="pt-BR" altLang="zh-CN" i="1" smtClean="0">
                                      <a:latin typeface="Cambria Math" panose="02040503050406030204" pitchFamily="18" charset="0"/>
                                    </a:rPr>
                                  </m:ctrlPr>
                                </m:dPr>
                                <m:e>
                                  <m:r>
                                    <a:rPr lang="pt-BR" altLang="zh-CN" i="1" smtClean="0">
                                      <a:latin typeface="Cambria Math" panose="02040503050406030204" pitchFamily="18" charset="0"/>
                                    </a:rPr>
                                    <m:t>1+</m:t>
                                  </m:r>
                                  <m:f>
                                    <m:fPr>
                                      <m:ctrlPr>
                                        <a:rPr lang="pt-BR" altLang="zh-CN" i="1" smtClean="0">
                                          <a:latin typeface="Cambria Math" panose="02040503050406030204" pitchFamily="18" charset="0"/>
                                        </a:rPr>
                                      </m:ctrlPr>
                                    </m:fPr>
                                    <m:num>
                                      <m:r>
                                        <a:rPr lang="pt-BR" altLang="zh-CN" i="1" smtClean="0">
                                          <a:latin typeface="Cambria Math" panose="02040503050406030204" pitchFamily="18" charset="0"/>
                                        </a:rPr>
                                        <m:t>1</m:t>
                                      </m:r>
                                    </m:num>
                                    <m:den>
                                      <m:r>
                                        <a:rPr lang="pt-BR" altLang="zh-CN" i="1" smtClean="0">
                                          <a:latin typeface="Cambria Math" panose="02040503050406030204" pitchFamily="18" charset="0"/>
                                        </a:rPr>
                                        <m:t>𝑛</m:t>
                                      </m:r>
                                    </m:den>
                                  </m:f>
                                </m:e>
                              </m:d>
                            </m:e>
                            <m:sup>
                              <m:r>
                                <a:rPr lang="pt-BR" altLang="zh-CN" i="1" smtClean="0">
                                  <a:latin typeface="Cambria Math" panose="02040503050406030204" pitchFamily="18" charset="0"/>
                                </a:rPr>
                                <m:t>𝑛</m:t>
                              </m:r>
                            </m:sup>
                          </m:sSup>
                        </m:e>
                      </m:func>
                      <m:r>
                        <a:rPr lang="zh-CN" altLang="en-US" i="0" smtClean="0">
                          <a:latin typeface="Cambria Math" panose="02040503050406030204" pitchFamily="18" charset="0"/>
                        </a:rPr>
                        <m:t>=</m:t>
                      </m:r>
                      <m:r>
                        <a:rPr lang="en-US" altLang="zh-CN" b="0" i="0" smtClean="0">
                          <a:latin typeface="Cambria Math" panose="02040503050406030204" pitchFamily="18" charset="0"/>
                        </a:rPr>
                        <m:t>2.71828…</m:t>
                      </m:r>
                    </m:oMath>
                  </m:oMathPara>
                </a14:m>
                <a:endParaRPr lang="zh-CN" altLang="en-US" dirty="0"/>
              </a:p>
            </p:txBody>
          </p:sp>
        </mc:Choice>
        <mc:Fallback xmlns="">
          <p:sp>
            <p:nvSpPr>
              <p:cNvPr id="5" name="文本框 4">
                <a:extLst>
                  <a:ext uri="{FF2B5EF4-FFF2-40B4-BE49-F238E27FC236}">
                    <a16:creationId xmlns:a16="http://schemas.microsoft.com/office/drawing/2014/main" id="{C9BBB2B6-9C47-F3A5-83A6-AEF1E7650204}"/>
                  </a:ext>
                </a:extLst>
              </p:cNvPr>
              <p:cNvSpPr txBox="1">
                <a:spLocks noRot="1" noChangeAspect="1" noMove="1" noResize="1" noEditPoints="1" noAdjustHandles="1" noChangeArrowheads="1" noChangeShapeType="1" noTextEdit="1"/>
              </p:cNvSpPr>
              <p:nvPr/>
            </p:nvSpPr>
            <p:spPr>
              <a:xfrm>
                <a:off x="3060844" y="5196081"/>
                <a:ext cx="2768771" cy="654475"/>
              </a:xfrm>
              <a:prstGeom prst="rect">
                <a:avLst/>
              </a:prstGeom>
              <a:blipFill>
                <a:blip r:embed="rId5"/>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D87808F9-0279-3DDE-A12A-5D3F55EE5C34}"/>
              </a:ext>
            </a:extLst>
          </p:cNvPr>
          <p:cNvSpPr/>
          <p:nvPr/>
        </p:nvSpPr>
        <p:spPr>
          <a:xfrm>
            <a:off x="419794" y="3315313"/>
            <a:ext cx="8327028" cy="923330"/>
          </a:xfrm>
          <a:prstGeom prst="rect">
            <a:avLst/>
          </a:prstGeom>
        </p:spPr>
        <p:txBody>
          <a:bodyPr wrap="square">
            <a:spAutoFit/>
          </a:bodyPr>
          <a:lstStyle/>
          <a:p>
            <a:r>
              <a:rPr lang="en-US" altLang="zh-CN" dirty="0"/>
              <a:t>The number e is sometimes called Euler's number. It is of great importance in mathematics, alongside 0, 1, π, and </a:t>
            </a:r>
            <a:r>
              <a:rPr lang="en-US" altLang="zh-CN" dirty="0" err="1"/>
              <a:t>i</a:t>
            </a:r>
            <a:r>
              <a:rPr lang="en-US" altLang="zh-CN" dirty="0"/>
              <a:t>. All five appear in one formulation of Euler‘s identity and play important and recurring roles across mathematics. </a:t>
            </a:r>
            <a:endParaRPr lang="zh-CN" altLang="en-US" dirty="0"/>
          </a:p>
        </p:txBody>
      </p:sp>
    </p:spTree>
    <p:extLst>
      <p:ext uri="{BB962C8B-B14F-4D97-AF65-F5344CB8AC3E}">
        <p14:creationId xmlns:p14="http://schemas.microsoft.com/office/powerpoint/2010/main" val="2557606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Background of Euler</a:t>
            </a:r>
            <a:r>
              <a:rPr lang="en-US" altLang="zh-CN" sz="2400" b="1" dirty="0">
                <a:solidFill>
                  <a:schemeClr val="bg1"/>
                </a:solidFill>
                <a:latin typeface="+mn-lt"/>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 formula</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What is “e”? </a:t>
            </a:r>
          </a:p>
        </p:txBody>
      </p:sp>
      <p:sp>
        <p:nvSpPr>
          <p:cNvPr id="8" name="文本框 7">
            <a:extLst>
              <a:ext uri="{FF2B5EF4-FFF2-40B4-BE49-F238E27FC236}">
                <a16:creationId xmlns:a16="http://schemas.microsoft.com/office/drawing/2014/main" id="{EA75B9C1-192E-5103-7308-92561F032D9E}"/>
              </a:ext>
            </a:extLst>
          </p:cNvPr>
          <p:cNvSpPr txBox="1"/>
          <p:nvPr/>
        </p:nvSpPr>
        <p:spPr>
          <a:xfrm>
            <a:off x="517231" y="627528"/>
            <a:ext cx="8109537" cy="646331"/>
          </a:xfrm>
          <a:prstGeom prst="rect">
            <a:avLst/>
          </a:prstGeom>
          <a:noFill/>
        </p:spPr>
        <p:txBody>
          <a:bodyPr wrap="square">
            <a:spAutoFit/>
          </a:bodyPr>
          <a:lstStyle/>
          <a:p>
            <a:r>
              <a:rPr lang="en-US" altLang="zh-CN" dirty="0"/>
              <a:t>“e” constant was discovered by the Swiss mathematician Jacob Bernoulli while studying compound interest in 1683.</a:t>
            </a:r>
            <a:endParaRPr lang="zh-CN" altLang="en-US" dirty="0"/>
          </a:p>
        </p:txBody>
      </p:sp>
      <p:pic>
        <p:nvPicPr>
          <p:cNvPr id="11" name="图片 10">
            <a:extLst>
              <a:ext uri="{FF2B5EF4-FFF2-40B4-BE49-F238E27FC236}">
                <a16:creationId xmlns:a16="http://schemas.microsoft.com/office/drawing/2014/main" id="{6E0E8CEE-E366-CB9D-16B1-2042108C0A56}"/>
              </a:ext>
            </a:extLst>
          </p:cNvPr>
          <p:cNvPicPr>
            <a:picLocks noChangeAspect="1"/>
          </p:cNvPicPr>
          <p:nvPr/>
        </p:nvPicPr>
        <p:blipFill rotWithShape="1">
          <a:blip r:embed="rId3"/>
          <a:srcRect t="14735"/>
          <a:stretch/>
        </p:blipFill>
        <p:spPr>
          <a:xfrm>
            <a:off x="1344966" y="3956007"/>
            <a:ext cx="3810757" cy="2274465"/>
          </a:xfrm>
          <a:prstGeom prst="rect">
            <a:avLst/>
          </a:prstGeom>
        </p:spPr>
      </p:pic>
      <p:pic>
        <p:nvPicPr>
          <p:cNvPr id="5" name="图片 4">
            <a:extLst>
              <a:ext uri="{FF2B5EF4-FFF2-40B4-BE49-F238E27FC236}">
                <a16:creationId xmlns:a16="http://schemas.microsoft.com/office/drawing/2014/main" id="{D44F9BBA-6271-3E75-7312-D7CE460F1236}"/>
              </a:ext>
            </a:extLst>
          </p:cNvPr>
          <p:cNvPicPr>
            <a:picLocks noChangeAspect="1"/>
          </p:cNvPicPr>
          <p:nvPr/>
        </p:nvPicPr>
        <p:blipFill>
          <a:blip r:embed="rId4"/>
          <a:stretch>
            <a:fillRect/>
          </a:stretch>
        </p:blipFill>
        <p:spPr>
          <a:xfrm>
            <a:off x="1630879" y="1493963"/>
            <a:ext cx="6137679" cy="2380675"/>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55A6331-2E5D-DF13-7AB8-0A5AACF7CCC6}"/>
                  </a:ext>
                </a:extLst>
              </p:cNvPr>
              <p:cNvSpPr txBox="1"/>
              <p:nvPr/>
            </p:nvSpPr>
            <p:spPr>
              <a:xfrm>
                <a:off x="5567082" y="4766001"/>
                <a:ext cx="2768771" cy="6544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pt-BR" altLang="zh-CN" i="1" smtClean="0">
                              <a:latin typeface="Cambria Math" panose="02040503050406030204" pitchFamily="18" charset="0"/>
                            </a:rPr>
                          </m:ctrlPr>
                        </m:funcPr>
                        <m:fName>
                          <m:limLow>
                            <m:limLowPr>
                              <m:ctrlPr>
                                <a:rPr lang="pt-BR" altLang="zh-CN" i="1" smtClean="0">
                                  <a:latin typeface="Cambria Math" panose="02040503050406030204" pitchFamily="18" charset="0"/>
                                </a:rPr>
                              </m:ctrlPr>
                            </m:limLowPr>
                            <m:e>
                              <m:r>
                                <m:rPr>
                                  <m:sty m:val="p"/>
                                </m:rPr>
                                <a:rPr lang="pt-BR" altLang="zh-CN" i="0" smtClean="0">
                                  <a:latin typeface="Cambria Math" panose="02040503050406030204" pitchFamily="18" charset="0"/>
                                </a:rPr>
                                <m:t>lim</m:t>
                              </m:r>
                            </m:e>
                            <m:lim>
                              <m:r>
                                <a:rPr lang="pt-BR" altLang="zh-CN" i="1" smtClean="0">
                                  <a:latin typeface="Cambria Math" panose="02040503050406030204" pitchFamily="18" charset="0"/>
                                </a:rPr>
                                <m:t>𝑛</m:t>
                              </m:r>
                              <m:r>
                                <a:rPr lang="pt-BR" altLang="zh-CN" i="1" smtClean="0">
                                  <a:latin typeface="Cambria Math" panose="02040503050406030204" pitchFamily="18" charset="0"/>
                                </a:rPr>
                                <m:t>→∞</m:t>
                              </m:r>
                            </m:lim>
                          </m:limLow>
                        </m:fName>
                        <m:e>
                          <m:sSup>
                            <m:sSupPr>
                              <m:ctrlPr>
                                <a:rPr lang="pt-BR" altLang="zh-CN" i="1" smtClean="0">
                                  <a:latin typeface="Cambria Math" panose="02040503050406030204" pitchFamily="18" charset="0"/>
                                </a:rPr>
                              </m:ctrlPr>
                            </m:sSupPr>
                            <m:e>
                              <m:d>
                                <m:dPr>
                                  <m:ctrlPr>
                                    <a:rPr lang="pt-BR" altLang="zh-CN" i="1" smtClean="0">
                                      <a:latin typeface="Cambria Math" panose="02040503050406030204" pitchFamily="18" charset="0"/>
                                    </a:rPr>
                                  </m:ctrlPr>
                                </m:dPr>
                                <m:e>
                                  <m:r>
                                    <a:rPr lang="pt-BR" altLang="zh-CN" i="1" smtClean="0">
                                      <a:latin typeface="Cambria Math" panose="02040503050406030204" pitchFamily="18" charset="0"/>
                                    </a:rPr>
                                    <m:t>1+</m:t>
                                  </m:r>
                                  <m:f>
                                    <m:fPr>
                                      <m:ctrlPr>
                                        <a:rPr lang="pt-BR" altLang="zh-CN" i="1" smtClean="0">
                                          <a:latin typeface="Cambria Math" panose="02040503050406030204" pitchFamily="18" charset="0"/>
                                        </a:rPr>
                                      </m:ctrlPr>
                                    </m:fPr>
                                    <m:num>
                                      <m:r>
                                        <a:rPr lang="pt-BR" altLang="zh-CN" i="1" smtClean="0">
                                          <a:latin typeface="Cambria Math" panose="02040503050406030204" pitchFamily="18" charset="0"/>
                                        </a:rPr>
                                        <m:t>1</m:t>
                                      </m:r>
                                    </m:num>
                                    <m:den>
                                      <m:r>
                                        <a:rPr lang="pt-BR" altLang="zh-CN" i="1" smtClean="0">
                                          <a:latin typeface="Cambria Math" panose="02040503050406030204" pitchFamily="18" charset="0"/>
                                        </a:rPr>
                                        <m:t>𝑛</m:t>
                                      </m:r>
                                    </m:den>
                                  </m:f>
                                </m:e>
                              </m:d>
                            </m:e>
                            <m:sup>
                              <m:r>
                                <a:rPr lang="pt-BR" altLang="zh-CN" i="1" smtClean="0">
                                  <a:latin typeface="Cambria Math" panose="02040503050406030204" pitchFamily="18" charset="0"/>
                                </a:rPr>
                                <m:t>𝑛</m:t>
                              </m:r>
                            </m:sup>
                          </m:sSup>
                        </m:e>
                      </m:func>
                      <m:r>
                        <a:rPr lang="zh-CN" altLang="en-US" i="0" smtClean="0">
                          <a:latin typeface="Cambria Math" panose="02040503050406030204" pitchFamily="18" charset="0"/>
                        </a:rPr>
                        <m:t>=</m:t>
                      </m:r>
                      <m:r>
                        <a:rPr lang="en-US" altLang="zh-CN" b="0" i="0" smtClean="0">
                          <a:latin typeface="Cambria Math" panose="02040503050406030204" pitchFamily="18" charset="0"/>
                        </a:rPr>
                        <m:t>2.71828…</m:t>
                      </m:r>
                    </m:oMath>
                  </m:oMathPara>
                </a14:m>
                <a:endParaRPr lang="zh-CN" altLang="en-US" dirty="0"/>
              </a:p>
            </p:txBody>
          </p:sp>
        </mc:Choice>
        <mc:Fallback xmlns="">
          <p:sp>
            <p:nvSpPr>
              <p:cNvPr id="10" name="文本框 9">
                <a:extLst>
                  <a:ext uri="{FF2B5EF4-FFF2-40B4-BE49-F238E27FC236}">
                    <a16:creationId xmlns:a16="http://schemas.microsoft.com/office/drawing/2014/main" id="{C55A6331-2E5D-DF13-7AB8-0A5AACF7CCC6}"/>
                  </a:ext>
                </a:extLst>
              </p:cNvPr>
              <p:cNvSpPr txBox="1">
                <a:spLocks noRot="1" noChangeAspect="1" noMove="1" noResize="1" noEditPoints="1" noAdjustHandles="1" noChangeArrowheads="1" noChangeShapeType="1" noTextEdit="1"/>
              </p:cNvSpPr>
              <p:nvPr/>
            </p:nvSpPr>
            <p:spPr>
              <a:xfrm>
                <a:off x="5567082" y="4766001"/>
                <a:ext cx="2768771" cy="654475"/>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2373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75B9C1-192E-5103-7308-92561F032D9E}"/>
              </a:ext>
            </a:extLst>
          </p:cNvPr>
          <p:cNvSpPr txBox="1"/>
          <p:nvPr/>
        </p:nvSpPr>
        <p:spPr>
          <a:xfrm>
            <a:off x="857730" y="793078"/>
            <a:ext cx="3511069" cy="369332"/>
          </a:xfrm>
          <a:prstGeom prst="rect">
            <a:avLst/>
          </a:prstGeom>
          <a:noFill/>
        </p:spPr>
        <p:txBody>
          <a:bodyPr wrap="square">
            <a:spAutoFit/>
          </a:bodyPr>
          <a:lstStyle/>
          <a:p>
            <a:r>
              <a:rPr lang="en-US" altLang="zh-CN" dirty="0"/>
              <a:t>What do these equations mean?</a:t>
            </a:r>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1CE2F93-FB98-E877-D8F9-E019AD890C6B}"/>
                  </a:ext>
                </a:extLst>
              </p:cNvPr>
              <p:cNvSpPr txBox="1"/>
              <p:nvPr/>
            </p:nvSpPr>
            <p:spPr>
              <a:xfrm>
                <a:off x="4505476" y="714787"/>
                <a:ext cx="1129348"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i="1" smtClean="0">
                              <a:solidFill>
                                <a:srgbClr val="836967"/>
                              </a:solidFill>
                              <a:latin typeface="Cambria Math" panose="02040503050406030204" pitchFamily="18" charset="0"/>
                            </a:rPr>
                          </m:ctrlPr>
                        </m:fPr>
                        <m:num>
                          <m:r>
                            <a:rPr lang="zh-CN" altLang="en-US" i="1">
                              <a:latin typeface="Cambria Math" panose="02040503050406030204" pitchFamily="18" charset="0"/>
                            </a:rPr>
                            <m:t>𝑑</m:t>
                          </m:r>
                        </m:num>
                        <m:den>
                          <m:r>
                            <a:rPr lang="en-US" altLang="zh-CN" b="0" i="1" smtClean="0">
                              <a:latin typeface="Cambria Math" panose="02040503050406030204" pitchFamily="18" charset="0"/>
                            </a:rPr>
                            <m:t>𝑑𝑥</m:t>
                          </m:r>
                        </m:den>
                      </m:f>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𝑥</m:t>
                          </m:r>
                        </m:sup>
                      </m:sSup>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𝑥</m:t>
                          </m:r>
                        </m:sup>
                      </m:sSup>
                    </m:oMath>
                  </m:oMathPara>
                </a14:m>
                <a:endParaRPr lang="zh-CN" altLang="en-US" dirty="0"/>
              </a:p>
            </p:txBody>
          </p:sp>
        </mc:Choice>
        <mc:Fallback xmlns="">
          <p:sp>
            <p:nvSpPr>
              <p:cNvPr id="10" name="文本框 9">
                <a:extLst>
                  <a:ext uri="{FF2B5EF4-FFF2-40B4-BE49-F238E27FC236}">
                    <a16:creationId xmlns:a16="http://schemas.microsoft.com/office/drawing/2014/main" id="{F1CE2F93-FB98-E877-D8F9-E019AD890C6B}"/>
                  </a:ext>
                </a:extLst>
              </p:cNvPr>
              <p:cNvSpPr txBox="1">
                <a:spLocks noRot="1" noChangeAspect="1" noMove="1" noResize="1" noEditPoints="1" noAdjustHandles="1" noChangeArrowheads="1" noChangeShapeType="1" noTextEdit="1"/>
              </p:cNvSpPr>
              <p:nvPr/>
            </p:nvSpPr>
            <p:spPr>
              <a:xfrm>
                <a:off x="4505476" y="714787"/>
                <a:ext cx="1129348" cy="52591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A6ECD99-B905-F582-D43B-995DCDB91BE9}"/>
                  </a:ext>
                </a:extLst>
              </p:cNvPr>
              <p:cNvSpPr txBox="1"/>
              <p:nvPr/>
            </p:nvSpPr>
            <p:spPr>
              <a:xfrm>
                <a:off x="6321753" y="709907"/>
                <a:ext cx="1342034"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i="1" smtClean="0">
                              <a:solidFill>
                                <a:srgbClr val="836967"/>
                              </a:solidFill>
                              <a:latin typeface="Cambria Math" panose="02040503050406030204" pitchFamily="18" charset="0"/>
                            </a:rPr>
                          </m:ctrlPr>
                        </m:fPr>
                        <m:num>
                          <m:r>
                            <a:rPr lang="zh-CN" altLang="en-US" i="1">
                              <a:latin typeface="Cambria Math" panose="02040503050406030204" pitchFamily="18" charset="0"/>
                            </a:rPr>
                            <m:t>𝑑</m:t>
                          </m:r>
                        </m:num>
                        <m:den>
                          <m:r>
                            <a:rPr lang="en-US" altLang="zh-CN" b="0" i="1" smtClean="0">
                              <a:latin typeface="Cambria Math" panose="02040503050406030204" pitchFamily="18" charset="0"/>
                            </a:rPr>
                            <m:t>𝑑𝑥</m:t>
                          </m:r>
                        </m:den>
                      </m:f>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en-US" altLang="zh-CN" b="0" i="1" smtClean="0">
                              <a:latin typeface="Cambria Math" panose="02040503050406030204" pitchFamily="18" charset="0"/>
                            </a:rPr>
                            <m:t>𝑎</m:t>
                          </m:r>
                          <m:r>
                            <a:rPr lang="zh-CN" altLang="en-US" i="1">
                              <a:latin typeface="Cambria Math" panose="02040503050406030204" pitchFamily="18" charset="0"/>
                            </a:rPr>
                            <m:t>𝑥</m:t>
                          </m:r>
                        </m:sup>
                      </m:sSup>
                      <m:r>
                        <a:rPr lang="zh-CN" altLang="en-US" i="0">
                          <a:latin typeface="Cambria Math" panose="02040503050406030204" pitchFamily="18" charset="0"/>
                        </a:rPr>
                        <m:t>=</m:t>
                      </m:r>
                      <m:r>
                        <m:rPr>
                          <m:sty m:val="p"/>
                        </m:rPr>
                        <a:rPr lang="en-US" altLang="zh-CN" b="0" i="0" smtClean="0">
                          <a:latin typeface="Cambria Math" panose="02040503050406030204" pitchFamily="18" charset="0"/>
                        </a:rPr>
                        <m:t>a</m:t>
                      </m:r>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𝑥</m:t>
                          </m:r>
                        </m:sup>
                      </m:sSup>
                    </m:oMath>
                  </m:oMathPara>
                </a14:m>
                <a:endParaRPr lang="zh-CN" altLang="en-US" dirty="0"/>
              </a:p>
            </p:txBody>
          </p:sp>
        </mc:Choice>
        <mc:Fallback xmlns="">
          <p:sp>
            <p:nvSpPr>
              <p:cNvPr id="12" name="文本框 11">
                <a:extLst>
                  <a:ext uri="{FF2B5EF4-FFF2-40B4-BE49-F238E27FC236}">
                    <a16:creationId xmlns:a16="http://schemas.microsoft.com/office/drawing/2014/main" id="{5A6ECD99-B905-F582-D43B-995DCDB91BE9}"/>
                  </a:ext>
                </a:extLst>
              </p:cNvPr>
              <p:cNvSpPr txBox="1">
                <a:spLocks noRot="1" noChangeAspect="1" noMove="1" noResize="1" noEditPoints="1" noAdjustHandles="1" noChangeArrowheads="1" noChangeShapeType="1" noTextEdit="1"/>
              </p:cNvSpPr>
              <p:nvPr/>
            </p:nvSpPr>
            <p:spPr>
              <a:xfrm>
                <a:off x="6321753" y="709907"/>
                <a:ext cx="1342034" cy="525913"/>
              </a:xfrm>
              <a:prstGeom prst="rect">
                <a:avLst/>
              </a:prstGeom>
              <a:blipFill>
                <a:blip r:embed="rId6"/>
                <a:stretch>
                  <a:fillRect/>
                </a:stretch>
              </a:blipFill>
            </p:spPr>
            <p:txBody>
              <a:bodyPr/>
              <a:lstStyle/>
              <a:p>
                <a:r>
                  <a:rPr lang="zh-CN" altLang="en-US">
                    <a:noFill/>
                  </a:rPr>
                  <a:t> </a:t>
                </a:r>
              </a:p>
            </p:txBody>
          </p:sp>
        </mc:Fallback>
      </mc:AlternateContent>
      <p:pic>
        <p:nvPicPr>
          <p:cNvPr id="3" name="videoplayback (1)">
            <a:hlinkClick r:id="" action="ppaction://media"/>
            <a:extLst>
              <a:ext uri="{FF2B5EF4-FFF2-40B4-BE49-F238E27FC236}">
                <a16:creationId xmlns:a16="http://schemas.microsoft.com/office/drawing/2014/main" id="{70C63C39-7199-D8EA-DBCE-1C7A525C821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28071" y="1515264"/>
            <a:ext cx="8687857" cy="4887397"/>
          </a:xfrm>
          <a:prstGeom prst="rect">
            <a:avLst/>
          </a:prstGeom>
        </p:spPr>
      </p:pic>
      <p:sp>
        <p:nvSpPr>
          <p:cNvPr id="7" name="标题 2">
            <a:extLst>
              <a:ext uri="{FF2B5EF4-FFF2-40B4-BE49-F238E27FC236}">
                <a16:creationId xmlns:a16="http://schemas.microsoft.com/office/drawing/2014/main" id="{829F781E-9BE6-4730-8382-252427C64EB8}"/>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Background of Euler</a:t>
            </a:r>
            <a:r>
              <a:rPr lang="en-US" altLang="zh-CN" sz="2400" b="1" dirty="0">
                <a:solidFill>
                  <a:schemeClr val="bg1"/>
                </a:solidFill>
                <a:latin typeface="+mn-lt"/>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 formula</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What is “e”? </a:t>
            </a:r>
          </a:p>
        </p:txBody>
      </p:sp>
    </p:spTree>
    <p:extLst>
      <p:ext uri="{BB962C8B-B14F-4D97-AF65-F5344CB8AC3E}">
        <p14:creationId xmlns:p14="http://schemas.microsoft.com/office/powerpoint/2010/main" val="357272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771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Why “e” is important?</a:t>
            </a:r>
          </a:p>
        </p:txBody>
      </p:sp>
      <p:pic>
        <p:nvPicPr>
          <p:cNvPr id="5" name="图片 4">
            <a:extLst>
              <a:ext uri="{FF2B5EF4-FFF2-40B4-BE49-F238E27FC236}">
                <a16:creationId xmlns:a16="http://schemas.microsoft.com/office/drawing/2014/main" id="{D4A2491B-6247-7460-F10E-224AB0BE2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135" y="2019119"/>
            <a:ext cx="7461197" cy="3889222"/>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1CE2F93-FB98-E877-D8F9-E019AD890C6B}"/>
                  </a:ext>
                </a:extLst>
              </p:cNvPr>
              <p:cNvSpPr txBox="1"/>
              <p:nvPr/>
            </p:nvSpPr>
            <p:spPr>
              <a:xfrm>
                <a:off x="2981674" y="949659"/>
                <a:ext cx="1129348"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i="1" smtClean="0">
                              <a:solidFill>
                                <a:srgbClr val="836967"/>
                              </a:solidFill>
                              <a:latin typeface="Cambria Math" panose="02040503050406030204" pitchFamily="18" charset="0"/>
                            </a:rPr>
                          </m:ctrlPr>
                        </m:fPr>
                        <m:num>
                          <m:r>
                            <a:rPr lang="zh-CN" altLang="en-US" i="1">
                              <a:latin typeface="Cambria Math" panose="02040503050406030204" pitchFamily="18" charset="0"/>
                            </a:rPr>
                            <m:t>𝑑</m:t>
                          </m:r>
                        </m:num>
                        <m:den>
                          <m:r>
                            <a:rPr lang="en-US" altLang="zh-CN" b="0" i="1" smtClean="0">
                              <a:latin typeface="Cambria Math" panose="02040503050406030204" pitchFamily="18" charset="0"/>
                            </a:rPr>
                            <m:t>𝑑𝑥</m:t>
                          </m:r>
                        </m:den>
                      </m:f>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𝑥</m:t>
                          </m:r>
                        </m:sup>
                      </m:sSup>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𝑥</m:t>
                          </m:r>
                        </m:sup>
                      </m:sSup>
                    </m:oMath>
                  </m:oMathPara>
                </a14:m>
                <a:endParaRPr lang="zh-CN" altLang="en-US" dirty="0"/>
              </a:p>
            </p:txBody>
          </p:sp>
        </mc:Choice>
        <mc:Fallback xmlns="">
          <p:sp>
            <p:nvSpPr>
              <p:cNvPr id="10" name="文本框 9">
                <a:extLst>
                  <a:ext uri="{FF2B5EF4-FFF2-40B4-BE49-F238E27FC236}">
                    <a16:creationId xmlns:a16="http://schemas.microsoft.com/office/drawing/2014/main" id="{F1CE2F93-FB98-E877-D8F9-E019AD890C6B}"/>
                  </a:ext>
                </a:extLst>
              </p:cNvPr>
              <p:cNvSpPr txBox="1">
                <a:spLocks noRot="1" noChangeAspect="1" noMove="1" noResize="1" noEditPoints="1" noAdjustHandles="1" noChangeArrowheads="1" noChangeShapeType="1" noTextEdit="1"/>
              </p:cNvSpPr>
              <p:nvPr/>
            </p:nvSpPr>
            <p:spPr>
              <a:xfrm>
                <a:off x="2981674" y="949659"/>
                <a:ext cx="1129348" cy="52591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A6ECD99-B905-F582-D43B-995DCDB91BE9}"/>
                  </a:ext>
                </a:extLst>
              </p:cNvPr>
              <p:cNvSpPr txBox="1"/>
              <p:nvPr/>
            </p:nvSpPr>
            <p:spPr>
              <a:xfrm>
                <a:off x="5085818" y="949658"/>
                <a:ext cx="1342034"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i="1" smtClean="0">
                              <a:solidFill>
                                <a:srgbClr val="836967"/>
                              </a:solidFill>
                              <a:latin typeface="Cambria Math" panose="02040503050406030204" pitchFamily="18" charset="0"/>
                            </a:rPr>
                          </m:ctrlPr>
                        </m:fPr>
                        <m:num>
                          <m:r>
                            <a:rPr lang="zh-CN" altLang="en-US" i="1">
                              <a:latin typeface="Cambria Math" panose="02040503050406030204" pitchFamily="18" charset="0"/>
                            </a:rPr>
                            <m:t>𝑑</m:t>
                          </m:r>
                        </m:num>
                        <m:den>
                          <m:r>
                            <a:rPr lang="en-US" altLang="zh-CN" b="0" i="1" smtClean="0">
                              <a:latin typeface="Cambria Math" panose="02040503050406030204" pitchFamily="18" charset="0"/>
                            </a:rPr>
                            <m:t>𝑑𝑥</m:t>
                          </m:r>
                        </m:den>
                      </m:f>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en-US" altLang="zh-CN" b="0" i="1" smtClean="0">
                              <a:latin typeface="Cambria Math" panose="02040503050406030204" pitchFamily="18" charset="0"/>
                            </a:rPr>
                            <m:t>𝑎</m:t>
                          </m:r>
                          <m:r>
                            <a:rPr lang="zh-CN" altLang="en-US" i="1">
                              <a:latin typeface="Cambria Math" panose="02040503050406030204" pitchFamily="18" charset="0"/>
                            </a:rPr>
                            <m:t>𝑥</m:t>
                          </m:r>
                        </m:sup>
                      </m:sSup>
                      <m:r>
                        <a:rPr lang="zh-CN" altLang="en-US" i="0">
                          <a:latin typeface="Cambria Math" panose="02040503050406030204" pitchFamily="18" charset="0"/>
                        </a:rPr>
                        <m:t>=</m:t>
                      </m:r>
                      <m:r>
                        <m:rPr>
                          <m:sty m:val="p"/>
                        </m:rPr>
                        <a:rPr lang="en-US" altLang="zh-CN" b="0" i="0" smtClean="0">
                          <a:latin typeface="Cambria Math" panose="02040503050406030204" pitchFamily="18" charset="0"/>
                        </a:rPr>
                        <m:t>a</m:t>
                      </m:r>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𝑥</m:t>
                          </m:r>
                        </m:sup>
                      </m:sSup>
                    </m:oMath>
                  </m:oMathPara>
                </a14:m>
                <a:endParaRPr lang="zh-CN" altLang="en-US" dirty="0"/>
              </a:p>
            </p:txBody>
          </p:sp>
        </mc:Choice>
        <mc:Fallback xmlns="">
          <p:sp>
            <p:nvSpPr>
              <p:cNvPr id="12" name="文本框 11">
                <a:extLst>
                  <a:ext uri="{FF2B5EF4-FFF2-40B4-BE49-F238E27FC236}">
                    <a16:creationId xmlns:a16="http://schemas.microsoft.com/office/drawing/2014/main" id="{5A6ECD99-B905-F582-D43B-995DCDB91BE9}"/>
                  </a:ext>
                </a:extLst>
              </p:cNvPr>
              <p:cNvSpPr txBox="1">
                <a:spLocks noRot="1" noChangeAspect="1" noMove="1" noResize="1" noEditPoints="1" noAdjustHandles="1" noChangeArrowheads="1" noChangeShapeType="1" noTextEdit="1"/>
              </p:cNvSpPr>
              <p:nvPr/>
            </p:nvSpPr>
            <p:spPr>
              <a:xfrm>
                <a:off x="5085818" y="949658"/>
                <a:ext cx="1342034" cy="525913"/>
              </a:xfrm>
              <a:prstGeom prst="rect">
                <a:avLst/>
              </a:prstGeom>
              <a:blipFill>
                <a:blip r:embed="rId5"/>
                <a:stretch>
                  <a:fillRect/>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3D85198C-F6BD-CD72-5D47-BF362A8F17F5}"/>
              </a:ext>
            </a:extLst>
          </p:cNvPr>
          <p:cNvPicPr>
            <a:picLocks noChangeAspect="1"/>
          </p:cNvPicPr>
          <p:nvPr/>
        </p:nvPicPr>
        <p:blipFill rotWithShape="1">
          <a:blip r:embed="rId6"/>
          <a:srcRect l="26337" t="17701" r="25752" b="5645"/>
          <a:stretch/>
        </p:blipFill>
        <p:spPr>
          <a:xfrm>
            <a:off x="4572000" y="2132090"/>
            <a:ext cx="1075826" cy="1420035"/>
          </a:xfrm>
          <a:prstGeom prst="rect">
            <a:avLst/>
          </a:prstGeom>
        </p:spPr>
      </p:pic>
    </p:spTree>
    <p:extLst>
      <p:ext uri="{BB962C8B-B14F-4D97-AF65-F5344CB8AC3E}">
        <p14:creationId xmlns:p14="http://schemas.microsoft.com/office/powerpoint/2010/main" val="896399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AFBE8-4B3E-EABB-7B7E-7B66999E7110}"/>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EA17E972-F792-BB3F-3D4C-1C78D03C427D}"/>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Proof of Euler's Formula</a:t>
            </a:r>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2841046D-0F26-A6C4-B28B-828401C2F5BA}"/>
                  </a:ext>
                </a:extLst>
              </p:cNvPr>
              <p:cNvSpPr txBox="1"/>
              <p:nvPr/>
            </p:nvSpPr>
            <p:spPr>
              <a:xfrm>
                <a:off x="3396387" y="1968703"/>
                <a:ext cx="2458369" cy="1679883"/>
              </a:xfrm>
              <a:prstGeom prst="rect">
                <a:avLst/>
              </a:prstGeom>
              <a:noFill/>
            </p:spPr>
            <p:txBody>
              <a:bodyPr wrap="squar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smtClean="0">
                              <a:latin typeface="Cambria Math" panose="02040503050406030204" pitchFamily="18" charset="0"/>
                              <a:ea typeface="Cambria Math" panose="02040503050406030204" pitchFamily="18" charset="0"/>
                            </a:rPr>
                            <m:t>𝑒</m:t>
                          </m:r>
                        </m:e>
                        <m:sup>
                          <m:r>
                            <a:rPr lang="en-US" altLang="zh-CN" sz="2400" b="0" i="1" dirty="0" smtClean="0">
                              <a:latin typeface="Cambria Math" panose="02040503050406030204" pitchFamily="18" charset="0"/>
                              <a:ea typeface="Cambria Math" panose="02040503050406030204" pitchFamily="18" charset="0"/>
                            </a:rPr>
                            <m:t>𝑖</m:t>
                          </m:r>
                          <m:r>
                            <a:rPr lang="en-US" altLang="zh-CN" sz="2400" i="1" dirty="0" smtClean="0">
                              <a:latin typeface="Cambria Math" panose="02040503050406030204" pitchFamily="18" charset="0"/>
                              <a:ea typeface="Cambria Math" panose="02040503050406030204" pitchFamily="18" charset="0"/>
                            </a:rPr>
                            <m:t>𝑥</m:t>
                          </m:r>
                        </m:sup>
                      </m:sSup>
                      <m:r>
                        <a:rPr lang="en-US" altLang="zh-CN" sz="2400" b="0" i="0" dirty="0" smtClean="0">
                          <a:latin typeface="Cambria Math" panose="02040503050406030204" pitchFamily="18" charset="0"/>
                          <a:ea typeface="Cambria Math" panose="02040503050406030204" pitchFamily="18" charset="0"/>
                        </a:rPr>
                        <m:t>   </m:t>
                      </m:r>
                    </m:oMath>
                  </m:oMathPara>
                </a14:m>
                <a:endParaRPr lang="en-US" altLang="zh-CN" sz="2400" b="0" i="0"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2400" b="0" i="0" dirty="0" smtClean="0">
                          <a:latin typeface="Cambria Math" panose="02040503050406030204" pitchFamily="18" charset="0"/>
                          <a:ea typeface="Cambria Math" panose="02040503050406030204" pitchFamily="18" charset="0"/>
                        </a:rPr>
                        <m:t>equals</m:t>
                      </m:r>
                      <m:r>
                        <a:rPr lang="en-US" altLang="zh-CN" sz="2400" b="0" i="0" dirty="0" smtClean="0">
                          <a:latin typeface="Cambria Math" panose="02040503050406030204" pitchFamily="18" charset="0"/>
                          <a:ea typeface="Cambria Math" panose="02040503050406030204" pitchFamily="18" charset="0"/>
                        </a:rPr>
                        <m:t> </m:t>
                      </m:r>
                      <m:r>
                        <m:rPr>
                          <m:sty m:val="p"/>
                        </m:rPr>
                        <a:rPr lang="en-US" altLang="zh-CN" sz="2400" b="0" i="0" dirty="0" smtClean="0">
                          <a:latin typeface="Cambria Math" panose="02040503050406030204" pitchFamily="18" charset="0"/>
                          <a:ea typeface="Cambria Math" panose="02040503050406030204" pitchFamily="18" charset="0"/>
                        </a:rPr>
                        <m:t>to</m:t>
                      </m:r>
                      <m:r>
                        <a:rPr lang="en-US" altLang="zh-CN" sz="2400" b="0" i="0" dirty="0" smtClean="0">
                          <a:latin typeface="Cambria Math" panose="02040503050406030204" pitchFamily="18" charset="0"/>
                          <a:ea typeface="Cambria Math" panose="02040503050406030204" pitchFamily="18" charset="0"/>
                        </a:rPr>
                        <m:t>   </m:t>
                      </m:r>
                    </m:oMath>
                  </m:oMathPara>
                </a14:m>
                <a:endParaRPr lang="en-US" altLang="zh-CN" sz="2400" b="0" i="0"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ea typeface="Cambria Math" panose="02040503050406030204" pitchFamily="18" charset="0"/>
                        </a:rPr>
                        <m:t>𝑐𝑜𝑠𝑥</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𝑖𝑠𝑖𝑛𝑥</m:t>
                      </m:r>
                    </m:oMath>
                  </m:oMathPara>
                </a14:m>
                <a:endParaRPr lang="zh-CN" altLang="en-US" sz="2400" dirty="0">
                  <a:latin typeface="Bodoni MT" panose="02070603080606020203" pitchFamily="18" charset="0"/>
                </a:endParaRPr>
              </a:p>
            </p:txBody>
          </p:sp>
        </mc:Choice>
        <mc:Fallback xmlns="">
          <p:sp>
            <p:nvSpPr>
              <p:cNvPr id="57" name="文本框 56">
                <a:extLst>
                  <a:ext uri="{FF2B5EF4-FFF2-40B4-BE49-F238E27FC236}">
                    <a16:creationId xmlns:a16="http://schemas.microsoft.com/office/drawing/2014/main" id="{2841046D-0F26-A6C4-B28B-828401C2F5BA}"/>
                  </a:ext>
                </a:extLst>
              </p:cNvPr>
              <p:cNvSpPr txBox="1">
                <a:spLocks noRot="1" noChangeAspect="1" noMove="1" noResize="1" noEditPoints="1" noAdjustHandles="1" noChangeArrowheads="1" noChangeShapeType="1" noTextEdit="1"/>
              </p:cNvSpPr>
              <p:nvPr/>
            </p:nvSpPr>
            <p:spPr>
              <a:xfrm>
                <a:off x="3396387" y="1968703"/>
                <a:ext cx="2458369" cy="1679883"/>
              </a:xfrm>
              <a:prstGeom prst="rect">
                <a:avLst/>
              </a:prstGeom>
              <a:blipFill>
                <a:blip r:embed="rId3"/>
                <a:stretch>
                  <a:fillRect/>
                </a:stretch>
              </a:blipFill>
            </p:spPr>
            <p:txBody>
              <a:bodyPr/>
              <a:lstStyle/>
              <a:p>
                <a:r>
                  <a:rPr lang="zh-CN" altLang="en-US">
                    <a:noFill/>
                  </a:rPr>
                  <a:t> </a:t>
                </a:r>
              </a:p>
            </p:txBody>
          </p:sp>
        </mc:Fallback>
      </mc:AlternateContent>
      <p:sp>
        <p:nvSpPr>
          <p:cNvPr id="58" name="标题 2">
            <a:extLst>
              <a:ext uri="{FF2B5EF4-FFF2-40B4-BE49-F238E27FC236}">
                <a16:creationId xmlns:a16="http://schemas.microsoft.com/office/drawing/2014/main" id="{7683C398-D3FD-F0A3-6EF8-14719F93DBB9}"/>
              </a:ext>
            </a:extLst>
          </p:cNvPr>
          <p:cNvSpPr txBox="1">
            <a:spLocks/>
          </p:cNvSpPr>
          <p:nvPr/>
        </p:nvSpPr>
        <p:spPr>
          <a:xfrm>
            <a:off x="864524" y="4373281"/>
            <a:ext cx="502098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000" b="1" dirty="0">
                <a:latin typeface="微软雅黑" panose="020B0503020204020204" pitchFamily="34" charset="-122"/>
                <a:ea typeface="微软雅黑" panose="020B0503020204020204" pitchFamily="34" charset="-122"/>
                <a:cs typeface="Arial" panose="020B0604020202020204" pitchFamily="34" charset="0"/>
              </a:rPr>
              <a:t>Let’s proof the Euler’s Formula:</a:t>
            </a:r>
          </a:p>
        </p:txBody>
      </p:sp>
      <p:sp>
        <p:nvSpPr>
          <p:cNvPr id="5" name="标题 2">
            <a:extLst>
              <a:ext uri="{FF2B5EF4-FFF2-40B4-BE49-F238E27FC236}">
                <a16:creationId xmlns:a16="http://schemas.microsoft.com/office/drawing/2014/main" id="{B9F6C449-BBB2-BD25-A2D6-C92D2F2D8D72}"/>
              </a:ext>
            </a:extLst>
          </p:cNvPr>
          <p:cNvSpPr txBox="1">
            <a:spLocks/>
          </p:cNvSpPr>
          <p:nvPr/>
        </p:nvSpPr>
        <p:spPr>
          <a:xfrm>
            <a:off x="2318789" y="1030207"/>
            <a:ext cx="4506422" cy="77781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000" b="1" dirty="0">
                <a:latin typeface="微软雅黑" panose="020B0503020204020204" pitchFamily="34" charset="-122"/>
                <a:ea typeface="微软雅黑" panose="020B0503020204020204" pitchFamily="34" charset="-122"/>
                <a:cs typeface="Arial" panose="020B0604020202020204" pitchFamily="34" charset="0"/>
              </a:rPr>
              <a:t>We have learned what is “e”, but why :</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904CAC8-E6DD-A3FC-83DA-156871938893}"/>
                  </a:ext>
                </a:extLst>
              </p:cNvPr>
              <p:cNvSpPr txBox="1"/>
              <p:nvPr/>
            </p:nvSpPr>
            <p:spPr>
              <a:xfrm>
                <a:off x="5649598" y="4373281"/>
                <a:ext cx="2458369" cy="31777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Cambria Math" panose="02040503050406030204" pitchFamily="18" charset="0"/>
                            </a:rPr>
                          </m:ctrlPr>
                        </m:sSupPr>
                        <m:e>
                          <m:r>
                            <a:rPr lang="en-US" altLang="zh-CN" sz="2000" i="1" dirty="0" smtClean="0">
                              <a:latin typeface="Cambria Math" panose="02040503050406030204" pitchFamily="18" charset="0"/>
                              <a:ea typeface="Cambria Math" panose="02040503050406030204" pitchFamily="18" charset="0"/>
                            </a:rPr>
                            <m:t>𝑒</m:t>
                          </m:r>
                        </m:e>
                        <m:sup>
                          <m:r>
                            <a:rPr lang="en-US" altLang="zh-CN" sz="2000" b="0" i="1" dirty="0" smtClean="0">
                              <a:latin typeface="Cambria Math" panose="02040503050406030204" pitchFamily="18" charset="0"/>
                              <a:ea typeface="Cambria Math" panose="02040503050406030204" pitchFamily="18" charset="0"/>
                            </a:rPr>
                            <m:t>𝑖</m:t>
                          </m:r>
                          <m:r>
                            <a:rPr lang="en-US" altLang="zh-CN" sz="2000" i="1" dirty="0" smtClean="0">
                              <a:latin typeface="Cambria Math" panose="02040503050406030204" pitchFamily="18" charset="0"/>
                              <a:ea typeface="Cambria Math" panose="02040503050406030204" pitchFamily="18" charset="0"/>
                            </a:rPr>
                            <m:t>𝑥</m:t>
                          </m:r>
                        </m:sup>
                      </m:sSup>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𝑐𝑜𝑠𝑥</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𝑖𝑠𝑖𝑛𝑥</m:t>
                      </m:r>
                    </m:oMath>
                  </m:oMathPara>
                </a14:m>
                <a:endParaRPr lang="zh-CN" altLang="en-US" sz="2000" dirty="0">
                  <a:latin typeface="Bodoni MT" panose="02070603080606020203" pitchFamily="18" charset="0"/>
                </a:endParaRPr>
              </a:p>
            </p:txBody>
          </p:sp>
        </mc:Choice>
        <mc:Fallback xmlns="">
          <p:sp>
            <p:nvSpPr>
              <p:cNvPr id="7" name="文本框 6">
                <a:extLst>
                  <a:ext uri="{FF2B5EF4-FFF2-40B4-BE49-F238E27FC236}">
                    <a16:creationId xmlns:a16="http://schemas.microsoft.com/office/drawing/2014/main" id="{7904CAC8-E6DD-A3FC-83DA-156871938893}"/>
                  </a:ext>
                </a:extLst>
              </p:cNvPr>
              <p:cNvSpPr txBox="1">
                <a:spLocks noRot="1" noChangeAspect="1" noMove="1" noResize="1" noEditPoints="1" noAdjustHandles="1" noChangeArrowheads="1" noChangeShapeType="1" noTextEdit="1"/>
              </p:cNvSpPr>
              <p:nvPr/>
            </p:nvSpPr>
            <p:spPr>
              <a:xfrm>
                <a:off x="5649598" y="4373281"/>
                <a:ext cx="2458369" cy="317779"/>
              </a:xfrm>
              <a:prstGeom prst="rect">
                <a:avLst/>
              </a:prstGeom>
              <a:blipFill>
                <a:blip r:embed="rId4"/>
                <a:stretch>
                  <a:fillRect t="-1887" b="-37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5610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45385-721C-F4E2-D034-C38EA0019C2C}"/>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56E98BB9-18C9-0C8D-6628-C754CE32AE82}"/>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Taylor Series and Approximations</a:t>
            </a:r>
          </a:p>
        </p:txBody>
      </p:sp>
      <p:graphicFrame>
        <p:nvGraphicFramePr>
          <p:cNvPr id="6" name="Object 5">
            <a:extLst>
              <a:ext uri="{FF2B5EF4-FFF2-40B4-BE49-F238E27FC236}">
                <a16:creationId xmlns:a16="http://schemas.microsoft.com/office/drawing/2014/main" id="{FA473206-CDB3-7F7F-01F3-12A5170F1012}"/>
              </a:ext>
            </a:extLst>
          </p:cNvPr>
          <p:cNvGraphicFramePr>
            <a:graphicFrameLocks noChangeAspect="1"/>
          </p:cNvGraphicFramePr>
          <p:nvPr>
            <p:extLst>
              <p:ext uri="{D42A27DB-BD31-4B8C-83A1-F6EECF244321}">
                <p14:modId xmlns:p14="http://schemas.microsoft.com/office/powerpoint/2010/main" val="3571540250"/>
              </p:ext>
            </p:extLst>
          </p:nvPr>
        </p:nvGraphicFramePr>
        <p:xfrm>
          <a:off x="3621866" y="725375"/>
          <a:ext cx="5299075" cy="741362"/>
        </p:xfrm>
        <a:graphic>
          <a:graphicData uri="http://schemas.openxmlformats.org/presentationml/2006/ole">
            <mc:AlternateContent xmlns:mc="http://schemas.openxmlformats.org/markup-compatibility/2006">
              <mc:Choice xmlns:v="urn:schemas-microsoft-com:vml" Requires="v">
                <p:oleObj name="Equation" r:id="rId3" imgW="2997200" imgH="419100" progId="Equation.DSMT4">
                  <p:embed/>
                </p:oleObj>
              </mc:Choice>
              <mc:Fallback>
                <p:oleObj name="Equation" r:id="rId3" imgW="2997200" imgH="419100" progId="Equation.DSMT4">
                  <p:embed/>
                  <p:pic>
                    <p:nvPicPr>
                      <p:cNvPr id="192515" name="Object 5">
                        <a:extLst>
                          <a:ext uri="{FF2B5EF4-FFF2-40B4-BE49-F238E27FC236}">
                            <a16:creationId xmlns:a16="http://schemas.microsoft.com/office/drawing/2014/main" id="{9386CD93-5877-4AA5-8EEA-7429AB2A9F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1866" y="725375"/>
                        <a:ext cx="5299075" cy="741362"/>
                      </a:xfrm>
                      <a:prstGeom prst="rect">
                        <a:avLst/>
                      </a:prstGeom>
                      <a:solidFill>
                        <a:schemeClr val="bg1"/>
                      </a:solidFill>
                      <a:ln w="38100">
                        <a:solidFill>
                          <a:srgbClr val="C00000"/>
                        </a:solidFill>
                        <a:miter lim="800000"/>
                        <a:headEnd/>
                        <a:tailEnd/>
                      </a:ln>
                    </p:spPr>
                  </p:pic>
                </p:oleObj>
              </mc:Fallback>
            </mc:AlternateContent>
          </a:graphicData>
        </a:graphic>
      </p:graphicFrame>
      <p:graphicFrame>
        <p:nvGraphicFramePr>
          <p:cNvPr id="8" name="Object 8">
            <a:extLst>
              <a:ext uri="{FF2B5EF4-FFF2-40B4-BE49-F238E27FC236}">
                <a16:creationId xmlns:a16="http://schemas.microsoft.com/office/drawing/2014/main" id="{76D24C44-9696-0E22-0E82-F80FA55D7DD9}"/>
              </a:ext>
            </a:extLst>
          </p:cNvPr>
          <p:cNvGraphicFramePr>
            <a:graphicFrameLocks noChangeAspect="1"/>
          </p:cNvGraphicFramePr>
          <p:nvPr>
            <p:extLst>
              <p:ext uri="{D42A27DB-BD31-4B8C-83A1-F6EECF244321}">
                <p14:modId xmlns:p14="http://schemas.microsoft.com/office/powerpoint/2010/main" val="2854021176"/>
              </p:ext>
            </p:extLst>
          </p:nvPr>
        </p:nvGraphicFramePr>
        <p:xfrm>
          <a:off x="1465263" y="1898537"/>
          <a:ext cx="3819525" cy="787400"/>
        </p:xfrm>
        <a:graphic>
          <a:graphicData uri="http://schemas.openxmlformats.org/presentationml/2006/ole">
            <mc:AlternateContent xmlns:mc="http://schemas.openxmlformats.org/markup-compatibility/2006">
              <mc:Choice xmlns:v="urn:schemas-microsoft-com:vml" Requires="v">
                <p:oleObj name="Equation" r:id="rId5" imgW="2032000" imgH="419100" progId="Equation.DSMT4">
                  <p:embed/>
                </p:oleObj>
              </mc:Choice>
              <mc:Fallback>
                <p:oleObj name="Equation" r:id="rId5" imgW="2032000" imgH="419100" progId="Equation.DSMT4">
                  <p:embed/>
                  <p:pic>
                    <p:nvPicPr>
                      <p:cNvPr id="192516" name="Object 8">
                        <a:extLst>
                          <a:ext uri="{FF2B5EF4-FFF2-40B4-BE49-F238E27FC236}">
                            <a16:creationId xmlns:a16="http://schemas.microsoft.com/office/drawing/2014/main" id="{04A6D4F4-A7C8-422E-AD0A-007D973515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5263" y="1898537"/>
                        <a:ext cx="3819525"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2">
            <a:extLst>
              <a:ext uri="{FF2B5EF4-FFF2-40B4-BE49-F238E27FC236}">
                <a16:creationId xmlns:a16="http://schemas.microsoft.com/office/drawing/2014/main" id="{7C255FF5-BB56-DC3D-DD9A-6C1E301AEAAB}"/>
              </a:ext>
            </a:extLst>
          </p:cNvPr>
          <p:cNvSpPr txBox="1">
            <a:spLocks noChangeArrowheads="1"/>
          </p:cNvSpPr>
          <p:nvPr/>
        </p:nvSpPr>
        <p:spPr bwMode="auto">
          <a:xfrm>
            <a:off x="625475" y="2989150"/>
            <a:ext cx="791845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If </a:t>
            </a: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is close to zero (i.e., &lt;&lt; 1), then we can often approximate the function with the first one or two nonzero terms of its Taylor series:</a:t>
            </a:r>
          </a:p>
        </p:txBody>
      </p:sp>
      <p:sp>
        <p:nvSpPr>
          <p:cNvPr id="12" name="Rectangle 3">
            <a:extLst>
              <a:ext uri="{FF2B5EF4-FFF2-40B4-BE49-F238E27FC236}">
                <a16:creationId xmlns:a16="http://schemas.microsoft.com/office/drawing/2014/main" id="{59D26884-CA4C-3BBC-3C33-5A45D5C0AE93}"/>
              </a:ext>
            </a:extLst>
          </p:cNvPr>
          <p:cNvSpPr txBox="1">
            <a:spLocks noChangeArrowheads="1"/>
          </p:cNvSpPr>
          <p:nvPr/>
        </p:nvSpPr>
        <p:spPr bwMode="auto">
          <a:xfrm>
            <a:off x="625475" y="1682637"/>
            <a:ext cx="1320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Example:</a:t>
            </a:r>
          </a:p>
        </p:txBody>
      </p:sp>
      <p:sp>
        <p:nvSpPr>
          <p:cNvPr id="37" name="TextBox 1">
            <a:extLst>
              <a:ext uri="{FF2B5EF4-FFF2-40B4-BE49-F238E27FC236}">
                <a16:creationId xmlns:a16="http://schemas.microsoft.com/office/drawing/2014/main" id="{30A301EC-67E0-27D1-542B-6D6D10426303}"/>
              </a:ext>
            </a:extLst>
          </p:cNvPr>
          <p:cNvSpPr txBox="1">
            <a:spLocks noChangeArrowheads="1"/>
          </p:cNvSpPr>
          <p:nvPr/>
        </p:nvSpPr>
        <p:spPr bwMode="auto">
          <a:xfrm>
            <a:off x="5500688" y="1927112"/>
            <a:ext cx="3268662"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because all derivatives are also </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exp(</a:t>
            </a: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and </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exp(0) = 1</a:t>
            </a:r>
          </a:p>
        </p:txBody>
      </p:sp>
      <p:graphicFrame>
        <p:nvGraphicFramePr>
          <p:cNvPr id="38" name="Object 2">
            <a:extLst>
              <a:ext uri="{FF2B5EF4-FFF2-40B4-BE49-F238E27FC236}">
                <a16:creationId xmlns:a16="http://schemas.microsoft.com/office/drawing/2014/main" id="{E8C67254-1CD5-3B86-591B-4218C53A556F}"/>
              </a:ext>
            </a:extLst>
          </p:cNvPr>
          <p:cNvGraphicFramePr>
            <a:graphicFrameLocks noChangeAspect="1"/>
          </p:cNvGraphicFramePr>
          <p:nvPr>
            <p:extLst>
              <p:ext uri="{D42A27DB-BD31-4B8C-83A1-F6EECF244321}">
                <p14:modId xmlns:p14="http://schemas.microsoft.com/office/powerpoint/2010/main" val="1163516151"/>
              </p:ext>
            </p:extLst>
          </p:nvPr>
        </p:nvGraphicFramePr>
        <p:xfrm>
          <a:off x="3570288" y="3809887"/>
          <a:ext cx="1743075" cy="382588"/>
        </p:xfrm>
        <a:graphic>
          <a:graphicData uri="http://schemas.openxmlformats.org/presentationml/2006/ole">
            <mc:AlternateContent xmlns:mc="http://schemas.openxmlformats.org/markup-compatibility/2006">
              <mc:Choice xmlns:v="urn:schemas-microsoft-com:vml" Requires="v">
                <p:oleObj name="Equation" r:id="rId7" imgW="926698" imgH="203112" progId="Equation.DSMT4">
                  <p:embed/>
                </p:oleObj>
              </mc:Choice>
              <mc:Fallback>
                <p:oleObj name="Equation" r:id="rId7" imgW="926698" imgH="203112" progId="Equation.DSMT4">
                  <p:embed/>
                  <p:pic>
                    <p:nvPicPr>
                      <p:cNvPr id="192520" name="Object 2">
                        <a:extLst>
                          <a:ext uri="{FF2B5EF4-FFF2-40B4-BE49-F238E27FC236}">
                            <a16:creationId xmlns:a16="http://schemas.microsoft.com/office/drawing/2014/main" id="{776AF9E1-66FA-4B2A-9E0A-4DB9AFBA5C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0288" y="3809887"/>
                        <a:ext cx="1743075" cy="382588"/>
                      </a:xfrm>
                      <a:prstGeom prst="rect">
                        <a:avLst/>
                      </a:prstGeom>
                      <a:solidFill>
                        <a:schemeClr val="bg1"/>
                      </a:solidFill>
                      <a:ln w="38100">
                        <a:solidFill>
                          <a:srgbClr val="C00000"/>
                        </a:solidFill>
                        <a:miter lim="800000"/>
                        <a:headEnd/>
                        <a:tailEnd/>
                      </a:ln>
                    </p:spPr>
                  </p:pic>
                </p:oleObj>
              </mc:Fallback>
            </mc:AlternateContent>
          </a:graphicData>
        </a:graphic>
      </p:graphicFrame>
      <p:sp>
        <p:nvSpPr>
          <p:cNvPr id="39" name="Text Box 12">
            <a:extLst>
              <a:ext uri="{FF2B5EF4-FFF2-40B4-BE49-F238E27FC236}">
                <a16:creationId xmlns:a16="http://schemas.microsoft.com/office/drawing/2014/main" id="{4C1503E8-78EE-D491-76A3-B937CB33D47D}"/>
              </a:ext>
            </a:extLst>
          </p:cNvPr>
          <p:cNvSpPr txBox="1">
            <a:spLocks noChangeArrowheads="1"/>
          </p:cNvSpPr>
          <p:nvPr/>
        </p:nvSpPr>
        <p:spPr bwMode="auto">
          <a:xfrm>
            <a:off x="625475" y="4341700"/>
            <a:ext cx="79184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Other functions it’ll be convenient to approximate in this manner:</a:t>
            </a:r>
          </a:p>
        </p:txBody>
      </p:sp>
      <p:graphicFrame>
        <p:nvGraphicFramePr>
          <p:cNvPr id="40" name="Object 3">
            <a:extLst>
              <a:ext uri="{FF2B5EF4-FFF2-40B4-BE49-F238E27FC236}">
                <a16:creationId xmlns:a16="http://schemas.microsoft.com/office/drawing/2014/main" id="{AD513EDF-CA68-114B-EC4A-1D071A4E8A3F}"/>
              </a:ext>
            </a:extLst>
          </p:cNvPr>
          <p:cNvGraphicFramePr>
            <a:graphicFrameLocks noChangeAspect="1"/>
          </p:cNvGraphicFramePr>
          <p:nvPr>
            <p:extLst>
              <p:ext uri="{D42A27DB-BD31-4B8C-83A1-F6EECF244321}">
                <p14:modId xmlns:p14="http://schemas.microsoft.com/office/powerpoint/2010/main" val="814666599"/>
              </p:ext>
            </p:extLst>
          </p:nvPr>
        </p:nvGraphicFramePr>
        <p:xfrm>
          <a:off x="2781300" y="4944950"/>
          <a:ext cx="1503363" cy="739775"/>
        </p:xfrm>
        <a:graphic>
          <a:graphicData uri="http://schemas.openxmlformats.org/presentationml/2006/ole">
            <mc:AlternateContent xmlns:mc="http://schemas.openxmlformats.org/markup-compatibility/2006">
              <mc:Choice xmlns:v="urn:schemas-microsoft-com:vml" Requires="v">
                <p:oleObj name="Equation" r:id="rId9" imgW="799753" imgH="393529" progId="Equation.DSMT4">
                  <p:embed/>
                </p:oleObj>
              </mc:Choice>
              <mc:Fallback>
                <p:oleObj name="Equation" r:id="rId9" imgW="799753" imgH="393529" progId="Equation.DSMT4">
                  <p:embed/>
                  <p:pic>
                    <p:nvPicPr>
                      <p:cNvPr id="192522" name="Object 3">
                        <a:extLst>
                          <a:ext uri="{FF2B5EF4-FFF2-40B4-BE49-F238E27FC236}">
                            <a16:creationId xmlns:a16="http://schemas.microsoft.com/office/drawing/2014/main" id="{9E7CC76C-F5C4-458E-B0D1-86E59DC58EB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1300" y="4944950"/>
                        <a:ext cx="1503363" cy="739775"/>
                      </a:xfrm>
                      <a:prstGeom prst="rect">
                        <a:avLst/>
                      </a:prstGeom>
                      <a:solidFill>
                        <a:schemeClr val="bg1"/>
                      </a:solidFill>
                      <a:ln w="38100">
                        <a:solidFill>
                          <a:srgbClr val="C00000"/>
                        </a:solidFill>
                        <a:miter lim="800000"/>
                        <a:headEnd/>
                        <a:tailEnd/>
                      </a:ln>
                    </p:spPr>
                  </p:pic>
                </p:oleObj>
              </mc:Fallback>
            </mc:AlternateContent>
          </a:graphicData>
        </a:graphic>
      </p:graphicFrame>
      <p:graphicFrame>
        <p:nvGraphicFramePr>
          <p:cNvPr id="41" name="Object 4">
            <a:extLst>
              <a:ext uri="{FF2B5EF4-FFF2-40B4-BE49-F238E27FC236}">
                <a16:creationId xmlns:a16="http://schemas.microsoft.com/office/drawing/2014/main" id="{F0C4ADF1-9DB1-AED5-AD1A-528A28B16CC5}"/>
              </a:ext>
            </a:extLst>
          </p:cNvPr>
          <p:cNvGraphicFramePr>
            <a:graphicFrameLocks noChangeAspect="1"/>
          </p:cNvGraphicFramePr>
          <p:nvPr>
            <p:extLst>
              <p:ext uri="{D42A27DB-BD31-4B8C-83A1-F6EECF244321}">
                <p14:modId xmlns:p14="http://schemas.microsoft.com/office/powerpoint/2010/main" val="4241094161"/>
              </p:ext>
            </p:extLst>
          </p:nvPr>
        </p:nvGraphicFramePr>
        <p:xfrm>
          <a:off x="4505325" y="4930662"/>
          <a:ext cx="1884363" cy="787400"/>
        </p:xfrm>
        <a:graphic>
          <a:graphicData uri="http://schemas.openxmlformats.org/presentationml/2006/ole">
            <mc:AlternateContent xmlns:mc="http://schemas.openxmlformats.org/markup-compatibility/2006">
              <mc:Choice xmlns:v="urn:schemas-microsoft-com:vml" Requires="v">
                <p:oleObj name="Equation" r:id="rId11" imgW="1002865" imgH="418918" progId="Equation.DSMT4">
                  <p:embed/>
                </p:oleObj>
              </mc:Choice>
              <mc:Fallback>
                <p:oleObj name="Equation" r:id="rId11" imgW="1002865" imgH="418918" progId="Equation.DSMT4">
                  <p:embed/>
                  <p:pic>
                    <p:nvPicPr>
                      <p:cNvPr id="192523" name="Object 4">
                        <a:extLst>
                          <a:ext uri="{FF2B5EF4-FFF2-40B4-BE49-F238E27FC236}">
                            <a16:creationId xmlns:a16="http://schemas.microsoft.com/office/drawing/2014/main" id="{78A48D3E-5930-4747-8EFE-CB59151267B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5325" y="4930662"/>
                        <a:ext cx="1884363" cy="787400"/>
                      </a:xfrm>
                      <a:prstGeom prst="rect">
                        <a:avLst/>
                      </a:prstGeom>
                      <a:solidFill>
                        <a:schemeClr val="bg1"/>
                      </a:solidFill>
                      <a:ln w="38100">
                        <a:solidFill>
                          <a:srgbClr val="C00000"/>
                        </a:solidFill>
                        <a:miter lim="800000"/>
                        <a:headEnd/>
                        <a:tailEnd/>
                      </a:ln>
                    </p:spPr>
                  </p:pic>
                </p:oleObj>
              </mc:Fallback>
            </mc:AlternateContent>
          </a:graphicData>
        </a:graphic>
      </p:graphicFrame>
      <p:graphicFrame>
        <p:nvGraphicFramePr>
          <p:cNvPr id="42" name="Object 5">
            <a:extLst>
              <a:ext uri="{FF2B5EF4-FFF2-40B4-BE49-F238E27FC236}">
                <a16:creationId xmlns:a16="http://schemas.microsoft.com/office/drawing/2014/main" id="{2C66C7CA-8CED-7C6C-C391-0F6F02774B6B}"/>
              </a:ext>
            </a:extLst>
          </p:cNvPr>
          <p:cNvGraphicFramePr>
            <a:graphicFrameLocks noChangeAspect="1"/>
          </p:cNvGraphicFramePr>
          <p:nvPr>
            <p:extLst>
              <p:ext uri="{D42A27DB-BD31-4B8C-83A1-F6EECF244321}">
                <p14:modId xmlns:p14="http://schemas.microsoft.com/office/powerpoint/2010/main" val="3607054564"/>
              </p:ext>
            </p:extLst>
          </p:nvPr>
        </p:nvGraphicFramePr>
        <p:xfrm>
          <a:off x="447675" y="5091000"/>
          <a:ext cx="2122488" cy="428625"/>
        </p:xfrm>
        <a:graphic>
          <a:graphicData uri="http://schemas.openxmlformats.org/presentationml/2006/ole">
            <mc:AlternateContent xmlns:mc="http://schemas.openxmlformats.org/markup-compatibility/2006">
              <mc:Choice xmlns:v="urn:schemas-microsoft-com:vml" Requires="v">
                <p:oleObj name="Equation" r:id="rId13" imgW="1130300" imgH="228600" progId="Equation.DSMT4">
                  <p:embed/>
                </p:oleObj>
              </mc:Choice>
              <mc:Fallback>
                <p:oleObj name="Equation" r:id="rId13" imgW="1130300" imgH="228600" progId="Equation.DSMT4">
                  <p:embed/>
                  <p:pic>
                    <p:nvPicPr>
                      <p:cNvPr id="192524" name="Object 5">
                        <a:extLst>
                          <a:ext uri="{FF2B5EF4-FFF2-40B4-BE49-F238E27FC236}">
                            <a16:creationId xmlns:a16="http://schemas.microsoft.com/office/drawing/2014/main" id="{46D05601-88CB-431F-B030-51A9DCE61B5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7675" y="5091000"/>
                        <a:ext cx="2122488" cy="428625"/>
                      </a:xfrm>
                      <a:prstGeom prst="rect">
                        <a:avLst/>
                      </a:prstGeom>
                      <a:solidFill>
                        <a:schemeClr val="bg1"/>
                      </a:solidFill>
                      <a:ln w="38100">
                        <a:solidFill>
                          <a:srgbClr val="C00000"/>
                        </a:solidFill>
                        <a:miter lim="800000"/>
                        <a:headEnd/>
                        <a:tailEnd/>
                      </a:ln>
                    </p:spPr>
                  </p:pic>
                </p:oleObj>
              </mc:Fallback>
            </mc:AlternateContent>
          </a:graphicData>
        </a:graphic>
      </p:graphicFrame>
      <p:graphicFrame>
        <p:nvGraphicFramePr>
          <p:cNvPr id="43" name="Object 6">
            <a:extLst>
              <a:ext uri="{FF2B5EF4-FFF2-40B4-BE49-F238E27FC236}">
                <a16:creationId xmlns:a16="http://schemas.microsoft.com/office/drawing/2014/main" id="{BE42CB0C-1A8E-2156-6673-4AC6C5AE2339}"/>
              </a:ext>
            </a:extLst>
          </p:cNvPr>
          <p:cNvGraphicFramePr>
            <a:graphicFrameLocks noChangeAspect="1"/>
          </p:cNvGraphicFramePr>
          <p:nvPr>
            <p:extLst>
              <p:ext uri="{D42A27DB-BD31-4B8C-83A1-F6EECF244321}">
                <p14:modId xmlns:p14="http://schemas.microsoft.com/office/powerpoint/2010/main" val="974340267"/>
              </p:ext>
            </p:extLst>
          </p:nvPr>
        </p:nvGraphicFramePr>
        <p:xfrm>
          <a:off x="6611938" y="4929075"/>
          <a:ext cx="2146300" cy="811212"/>
        </p:xfrm>
        <a:graphic>
          <a:graphicData uri="http://schemas.openxmlformats.org/presentationml/2006/ole">
            <mc:AlternateContent xmlns:mc="http://schemas.openxmlformats.org/markup-compatibility/2006">
              <mc:Choice xmlns:v="urn:schemas-microsoft-com:vml" Requires="v">
                <p:oleObj name="Equation" r:id="rId15" imgW="1143000" imgH="431800" progId="Equation.DSMT4">
                  <p:embed/>
                </p:oleObj>
              </mc:Choice>
              <mc:Fallback>
                <p:oleObj name="Equation" r:id="rId15" imgW="1143000" imgH="431800" progId="Equation.DSMT4">
                  <p:embed/>
                  <p:pic>
                    <p:nvPicPr>
                      <p:cNvPr id="192525" name="Object 6">
                        <a:extLst>
                          <a:ext uri="{FF2B5EF4-FFF2-40B4-BE49-F238E27FC236}">
                            <a16:creationId xmlns:a16="http://schemas.microsoft.com/office/drawing/2014/main" id="{E722D30D-6DBA-485D-AC91-4F61D4016EB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11938" y="4929075"/>
                        <a:ext cx="2146300" cy="811212"/>
                      </a:xfrm>
                      <a:prstGeom prst="rect">
                        <a:avLst/>
                      </a:prstGeom>
                      <a:solidFill>
                        <a:schemeClr val="bg1"/>
                      </a:solidFill>
                      <a:ln w="38100">
                        <a:solidFill>
                          <a:srgbClr val="C00000"/>
                        </a:solidFill>
                        <a:miter lim="800000"/>
                        <a:headEnd/>
                        <a:tailEnd/>
                      </a:ln>
                    </p:spPr>
                  </p:pic>
                </p:oleObj>
              </mc:Fallback>
            </mc:AlternateContent>
          </a:graphicData>
        </a:graphic>
      </p:graphicFrame>
      <p:sp>
        <p:nvSpPr>
          <p:cNvPr id="44" name="Rectangle 3">
            <a:extLst>
              <a:ext uri="{FF2B5EF4-FFF2-40B4-BE49-F238E27FC236}">
                <a16:creationId xmlns:a16="http://schemas.microsoft.com/office/drawing/2014/main" id="{0353B7E8-15F2-FFA8-1B93-96B92422FC42}"/>
              </a:ext>
            </a:extLst>
          </p:cNvPr>
          <p:cNvSpPr txBox="1">
            <a:spLocks noChangeArrowheads="1"/>
          </p:cNvSpPr>
          <p:nvPr/>
        </p:nvSpPr>
        <p:spPr bwMode="auto">
          <a:xfrm>
            <a:off x="451659" y="716834"/>
            <a:ext cx="3118629" cy="787399"/>
          </a:xfrm>
          <a:prstGeom prst="rect">
            <a:avLst/>
          </a:prstGeom>
          <a:noFill/>
          <a:ln>
            <a:noFill/>
          </a:ln>
          <a:effectLst/>
        </p:spPr>
        <p:txBody>
          <a:bodyPr/>
          <a:lstStyle>
            <a:lvl1pPr marL="342900" indent="-342900" algn="l" rtl="0" eaLnBrk="0" fontAlgn="base" hangingPunct="0">
              <a:spcBef>
                <a:spcPct val="20000"/>
              </a:spcBef>
              <a:spcAft>
                <a:spcPct val="0"/>
              </a:spcAft>
              <a:defRPr sz="2000">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sz="1600">
                <a:solidFill>
                  <a:schemeClr val="tx1"/>
                </a:solidFill>
                <a:latin typeface="+mn-lt"/>
              </a:defRPr>
            </a:lvl3pPr>
            <a:lvl4pPr marL="1600200" indent="-228600" algn="l" rtl="0" eaLnBrk="0" fontAlgn="base" hangingPunct="0">
              <a:spcBef>
                <a:spcPct val="20000"/>
              </a:spcBef>
              <a:spcAft>
                <a:spcPct val="0"/>
              </a:spcAft>
              <a:defRPr sz="1400">
                <a:solidFill>
                  <a:schemeClr val="tx1"/>
                </a:solidFill>
                <a:latin typeface="+mn-lt"/>
              </a:defRPr>
            </a:lvl4pPr>
            <a:lvl5pPr marL="2057400" indent="-228600" algn="l" rtl="0" eaLnBrk="0" fontAlgn="base" hangingPunct="0">
              <a:spcBef>
                <a:spcPct val="20000"/>
              </a:spcBef>
              <a:spcAft>
                <a:spcPct val="0"/>
              </a:spcAft>
              <a:defRPr sz="1200">
                <a:solidFill>
                  <a:schemeClr val="tx1"/>
                </a:solidFill>
                <a:latin typeface="+mn-lt"/>
              </a:defRPr>
            </a:lvl5pPr>
            <a:lvl6pPr marL="2514600" indent="-228600" algn="l" rtl="0" fontAlgn="base">
              <a:spcBef>
                <a:spcPct val="20000"/>
              </a:spcBef>
              <a:spcAft>
                <a:spcPct val="0"/>
              </a:spcAft>
              <a:defRPr sz="1200">
                <a:solidFill>
                  <a:schemeClr val="tx1"/>
                </a:solidFill>
                <a:latin typeface="+mn-lt"/>
              </a:defRPr>
            </a:lvl6pPr>
            <a:lvl7pPr marL="2971800" indent="-228600" algn="l" rtl="0" fontAlgn="base">
              <a:spcBef>
                <a:spcPct val="20000"/>
              </a:spcBef>
              <a:spcAft>
                <a:spcPct val="0"/>
              </a:spcAft>
              <a:defRPr sz="1200">
                <a:solidFill>
                  <a:schemeClr val="tx1"/>
                </a:solidFill>
                <a:latin typeface="+mn-lt"/>
              </a:defRPr>
            </a:lvl7pPr>
            <a:lvl8pPr marL="3429000" indent="-228600" algn="l" rtl="0" fontAlgn="base">
              <a:spcBef>
                <a:spcPct val="20000"/>
              </a:spcBef>
              <a:spcAft>
                <a:spcPct val="0"/>
              </a:spcAft>
              <a:defRPr sz="1200">
                <a:solidFill>
                  <a:schemeClr val="tx1"/>
                </a:solidFill>
                <a:latin typeface="+mn-lt"/>
              </a:defRPr>
            </a:lvl8pPr>
            <a:lvl9pPr marL="3886200" indent="-228600" algn="l" rtl="0" fontAlgn="base">
              <a:spcBef>
                <a:spcPct val="20000"/>
              </a:spcBef>
              <a:spcAft>
                <a:spcPct val="0"/>
              </a:spcAft>
              <a:defRPr sz="12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en-US" sz="2000" b="1" i="0" u="none" strike="noStrike" kern="0" cap="none" spc="0" normalizeH="0" baseline="0" noProof="0" dirty="0">
                <a:ln>
                  <a:noFill/>
                </a:ln>
                <a:solidFill>
                  <a:srgbClr val="000000"/>
                </a:solidFill>
                <a:effectLst/>
                <a:uLnTx/>
                <a:uFillTx/>
                <a:latin typeface="Arial"/>
                <a:ea typeface="+mn-ea"/>
                <a:cs typeface="+mn-cs"/>
              </a:rPr>
              <a:t>First, we should know Taylor Series:</a:t>
            </a:r>
          </a:p>
        </p:txBody>
      </p:sp>
      <p:sp>
        <p:nvSpPr>
          <p:cNvPr id="45" name="文本框 44">
            <a:extLst>
              <a:ext uri="{FF2B5EF4-FFF2-40B4-BE49-F238E27FC236}">
                <a16:creationId xmlns:a16="http://schemas.microsoft.com/office/drawing/2014/main" id="{DBF6CF79-CDA1-6ADF-AE07-F6D4348131E2}"/>
              </a:ext>
            </a:extLst>
          </p:cNvPr>
          <p:cNvSpPr txBox="1"/>
          <p:nvPr/>
        </p:nvSpPr>
        <p:spPr>
          <a:xfrm>
            <a:off x="385762" y="5943487"/>
            <a:ext cx="8397875" cy="338554"/>
          </a:xfrm>
          <a:prstGeom prst="rect">
            <a:avLst/>
          </a:prstGeom>
          <a:noFill/>
        </p:spPr>
        <p:txBody>
          <a:bodyPr wrap="square">
            <a:spAutoFit/>
          </a:bodyPr>
          <a:lstStyle/>
          <a:p>
            <a:r>
              <a:rPr lang="en-US" altLang="zh-CN" sz="1600" dirty="0">
                <a:hlinkClick r:id="rId17"/>
              </a:rPr>
              <a:t>https://www.youtube.com/watch?v=3d6DsjIBzJ4</a:t>
            </a:r>
            <a:r>
              <a:rPr lang="en-US" altLang="zh-CN" sz="1600" dirty="0"/>
              <a:t>   </a:t>
            </a:r>
            <a:r>
              <a:rPr lang="zh-CN" altLang="en-US" sz="1600" dirty="0"/>
              <a:t>第</a:t>
            </a:r>
            <a:r>
              <a:rPr lang="en-US" altLang="zh-CN" sz="1600" dirty="0"/>
              <a:t>13</a:t>
            </a:r>
            <a:r>
              <a:rPr lang="zh-CN" altLang="en-US" sz="1600" dirty="0"/>
              <a:t>分钟，为什么麦克劳林展开</a:t>
            </a:r>
            <a:r>
              <a:rPr lang="en-US" altLang="zh-CN" sz="1600" dirty="0"/>
              <a:t>x=0</a:t>
            </a:r>
            <a:r>
              <a:rPr lang="zh-CN" altLang="en-US" sz="1600" dirty="0"/>
              <a:t>可行</a:t>
            </a:r>
          </a:p>
        </p:txBody>
      </p:sp>
    </p:spTree>
    <p:extLst>
      <p:ext uri="{BB962C8B-B14F-4D97-AF65-F5344CB8AC3E}">
        <p14:creationId xmlns:p14="http://schemas.microsoft.com/office/powerpoint/2010/main" val="62604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200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2000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grpId="0" nodeType="withEffect">
                                  <p:stCondLst>
                                    <p:cond delay="300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300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par>
                                <p:cTn id="20" presetID="10" presetClass="entr" presetSubtype="0" fill="hold" grpId="0" nodeType="withEffect">
                                  <p:stCondLst>
                                    <p:cond delay="4500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par>
                                <p:cTn id="23" presetID="10" presetClass="entr" presetSubtype="0" fill="hold" nodeType="withEffect">
                                  <p:stCondLst>
                                    <p:cond delay="4500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par>
                                <p:cTn id="26" presetID="10" presetClass="entr" presetSubtype="0" fill="hold" nodeType="withEffect">
                                  <p:stCondLst>
                                    <p:cond delay="4500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par>
                                <p:cTn id="29" presetID="10" presetClass="entr" presetSubtype="0" fill="hold" nodeType="withEffect">
                                  <p:stCondLst>
                                    <p:cond delay="4500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500"/>
                                        <p:tgtEl>
                                          <p:spTgt spid="42"/>
                                        </p:tgtEl>
                                      </p:cBhvr>
                                    </p:animEffect>
                                  </p:childTnLst>
                                </p:cTn>
                              </p:par>
                              <p:par>
                                <p:cTn id="32" presetID="10" presetClass="entr" presetSubtype="0" fill="hold" nodeType="withEffect">
                                  <p:stCondLst>
                                    <p:cond delay="4500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37" grpId="0"/>
      <p:bldP spid="3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94854-512C-2CCD-2721-F36DFE2F6AEC}"/>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36166220-D04F-8B69-9DA5-20031FE97FF4}"/>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Proof of Euler's Formula: </a:t>
            </a: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exp(</a:t>
            </a:r>
            <a:r>
              <a:rPr kumimoji="0" lang="en-US" altLang="en-US" sz="2400" b="1" i="1" u="none" strike="noStrike" kern="1200" cap="none" spc="0" normalizeH="0" baseline="0" noProof="0" dirty="0" err="1">
                <a:ln>
                  <a:noFill/>
                </a:ln>
                <a:solidFill>
                  <a:schemeClr val="bg1"/>
                </a:solidFill>
                <a:effectLst/>
                <a:uLnTx/>
                <a:uFillTx/>
                <a:latin typeface="Times New Roman" panose="02020603050405020304" pitchFamily="18" charset="0"/>
                <a:ea typeface="+mn-ea"/>
                <a:cs typeface="+mn-cs"/>
              </a:rPr>
              <a:t>i</a:t>
            </a:r>
            <a:r>
              <a:rPr kumimoji="0" lang="en-US" altLang="en-US" sz="2400" b="1" i="1" u="none" strike="noStrike" kern="1200" cap="none" spc="0" normalizeH="0" baseline="0" noProof="0" dirty="0" err="1">
                <a:ln>
                  <a:noFill/>
                </a:ln>
                <a:solidFill>
                  <a:schemeClr val="bg1"/>
                </a:solidFill>
                <a:effectLst/>
                <a:uLnTx/>
                <a:uFillTx/>
                <a:latin typeface="Symbol" panose="05050102010706020507" pitchFamily="18" charset="2"/>
                <a:ea typeface="+mn-ea"/>
                <a:cs typeface="+mn-cs"/>
              </a:rPr>
              <a:t>j</a:t>
            </a: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  =  cos(</a:t>
            </a:r>
            <a:r>
              <a:rPr kumimoji="0" lang="en-US" altLang="en-US" sz="2400" b="1" i="1" u="none" strike="noStrike" kern="1200" cap="none" spc="0" normalizeH="0" baseline="0" noProof="0" dirty="0">
                <a:ln>
                  <a:noFill/>
                </a:ln>
                <a:solidFill>
                  <a:schemeClr val="bg1"/>
                </a:solidFill>
                <a:effectLst/>
                <a:uLnTx/>
                <a:uFillTx/>
                <a:latin typeface="Symbol" panose="05050102010706020507" pitchFamily="18" charset="2"/>
                <a:ea typeface="+mn-ea"/>
                <a:cs typeface="+mn-cs"/>
              </a:rPr>
              <a:t>j</a:t>
            </a: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 + </a:t>
            </a:r>
            <a:r>
              <a:rPr kumimoji="0" lang="en-US" altLang="en-US" sz="2400" b="1" i="1" u="none" strike="noStrike" kern="1200" cap="none" spc="0" normalizeH="0" baseline="0" noProof="0" dirty="0" err="1">
                <a:ln>
                  <a:noFill/>
                </a:ln>
                <a:solidFill>
                  <a:schemeClr val="bg1"/>
                </a:solidFill>
                <a:effectLst/>
                <a:uLnTx/>
                <a:uFillTx/>
                <a:latin typeface="Times New Roman" panose="02020603050405020304" pitchFamily="18" charset="0"/>
                <a:ea typeface="+mn-ea"/>
                <a:cs typeface="+mn-cs"/>
              </a:rPr>
              <a:t>i</a:t>
            </a:r>
            <a:r>
              <a:rPr kumimoji="0" lang="en-US" altLang="en-US" sz="2400" b="1" i="1"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 </a:t>
            </a: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sin(</a:t>
            </a:r>
            <a:r>
              <a:rPr kumimoji="0" lang="en-US" altLang="en-US" sz="2400" b="1" i="1" u="none" strike="noStrike" kern="1200" cap="none" spc="0" normalizeH="0" baseline="0" noProof="0" dirty="0">
                <a:ln>
                  <a:noFill/>
                </a:ln>
                <a:solidFill>
                  <a:schemeClr val="bg1"/>
                </a:solidFill>
                <a:effectLst/>
                <a:uLnTx/>
                <a:uFillTx/>
                <a:latin typeface="Symbol" panose="05050102010706020507" pitchFamily="18" charset="2"/>
                <a:ea typeface="+mn-ea"/>
                <a:cs typeface="+mn-cs"/>
              </a:rPr>
              <a:t>j</a:t>
            </a: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a:t>
            </a:r>
          </a:p>
          <a:p>
            <a:pPr algn="ctr"/>
            <a:endPar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aphicFrame>
        <p:nvGraphicFramePr>
          <p:cNvPr id="2" name="Object 4">
            <a:extLst>
              <a:ext uri="{FF2B5EF4-FFF2-40B4-BE49-F238E27FC236}">
                <a16:creationId xmlns:a16="http://schemas.microsoft.com/office/drawing/2014/main" id="{F5EF0565-E306-D269-2CED-20BA929AE46B}"/>
              </a:ext>
            </a:extLst>
          </p:cNvPr>
          <p:cNvGraphicFramePr>
            <a:graphicFrameLocks noChangeAspect="1"/>
          </p:cNvGraphicFramePr>
          <p:nvPr>
            <p:extLst>
              <p:ext uri="{D42A27DB-BD31-4B8C-83A1-F6EECF244321}">
                <p14:modId xmlns:p14="http://schemas.microsoft.com/office/powerpoint/2010/main" val="2335358445"/>
              </p:ext>
            </p:extLst>
          </p:nvPr>
        </p:nvGraphicFramePr>
        <p:xfrm>
          <a:off x="3382356" y="4093300"/>
          <a:ext cx="4359275" cy="795337"/>
        </p:xfrm>
        <a:graphic>
          <a:graphicData uri="http://schemas.openxmlformats.org/presentationml/2006/ole">
            <mc:AlternateContent xmlns:mc="http://schemas.openxmlformats.org/markup-compatibility/2006">
              <mc:Choice xmlns:v="urn:schemas-microsoft-com:vml" Requires="v">
                <p:oleObj name="Equation" r:id="rId3" imgW="2298600" imgH="419040" progId="Equation.DSMT4">
                  <p:embed/>
                </p:oleObj>
              </mc:Choice>
              <mc:Fallback>
                <p:oleObj name="Equation" r:id="rId3" imgW="2298600" imgH="419040" progId="Equation.DSMT4">
                  <p:embed/>
                  <p:pic>
                    <p:nvPicPr>
                      <p:cNvPr id="105475" name="Object 4">
                        <a:extLst>
                          <a:ext uri="{FF2B5EF4-FFF2-40B4-BE49-F238E27FC236}">
                            <a16:creationId xmlns:a16="http://schemas.microsoft.com/office/drawing/2014/main" id="{9F0E1C96-D76E-48BB-BD2A-D79990A4F604}"/>
                          </a:ext>
                        </a:extLst>
                      </p:cNvPr>
                      <p:cNvPicPr>
                        <a:picLocks noChangeAspect="1" noChangeArrowheads="1"/>
                      </p:cNvPicPr>
                      <p:nvPr/>
                    </p:nvPicPr>
                    <p:blipFill>
                      <a:blip r:embed="rId4"/>
                      <a:srcRect/>
                      <a:stretch>
                        <a:fillRect/>
                      </a:stretch>
                    </p:blipFill>
                    <p:spPr bwMode="auto">
                      <a:xfrm>
                        <a:off x="3382356" y="4093300"/>
                        <a:ext cx="4359275"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5">
            <a:extLst>
              <a:ext uri="{FF2B5EF4-FFF2-40B4-BE49-F238E27FC236}">
                <a16:creationId xmlns:a16="http://schemas.microsoft.com/office/drawing/2014/main" id="{7D591E20-692F-5DE7-2919-8E65576A4B9B}"/>
              </a:ext>
            </a:extLst>
          </p:cNvPr>
          <p:cNvGraphicFramePr>
            <a:graphicFrameLocks noChangeAspect="1"/>
          </p:cNvGraphicFramePr>
          <p:nvPr>
            <p:extLst>
              <p:ext uri="{D42A27DB-BD31-4B8C-83A1-F6EECF244321}">
                <p14:modId xmlns:p14="http://schemas.microsoft.com/office/powerpoint/2010/main" val="379377260"/>
              </p:ext>
            </p:extLst>
          </p:nvPr>
        </p:nvGraphicFramePr>
        <p:xfrm>
          <a:off x="3106449" y="687777"/>
          <a:ext cx="5208587" cy="741363"/>
        </p:xfrm>
        <a:graphic>
          <a:graphicData uri="http://schemas.openxmlformats.org/presentationml/2006/ole">
            <mc:AlternateContent xmlns:mc="http://schemas.openxmlformats.org/markup-compatibility/2006">
              <mc:Choice xmlns:v="urn:schemas-microsoft-com:vml" Requires="v">
                <p:oleObj name="Equation" r:id="rId5" imgW="2946400" imgH="419100" progId="Equation.DSMT4">
                  <p:embed/>
                </p:oleObj>
              </mc:Choice>
              <mc:Fallback>
                <p:oleObj name="Equation" r:id="rId5" imgW="2946400" imgH="419100" progId="Equation.DSMT4">
                  <p:embed/>
                  <p:pic>
                    <p:nvPicPr>
                      <p:cNvPr id="105476" name="Object 5">
                        <a:extLst>
                          <a:ext uri="{FF2B5EF4-FFF2-40B4-BE49-F238E27FC236}">
                            <a16:creationId xmlns:a16="http://schemas.microsoft.com/office/drawing/2014/main" id="{D997CE73-2D34-46ED-906A-989E455BB1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6449" y="687777"/>
                        <a:ext cx="5208587"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8">
            <a:extLst>
              <a:ext uri="{FF2B5EF4-FFF2-40B4-BE49-F238E27FC236}">
                <a16:creationId xmlns:a16="http://schemas.microsoft.com/office/drawing/2014/main" id="{5C1BF3BA-B441-523A-9D9A-6D57C8493673}"/>
              </a:ext>
            </a:extLst>
          </p:cNvPr>
          <p:cNvGraphicFramePr>
            <a:graphicFrameLocks noChangeAspect="1"/>
          </p:cNvGraphicFramePr>
          <p:nvPr>
            <p:extLst>
              <p:ext uri="{D42A27DB-BD31-4B8C-83A1-F6EECF244321}">
                <p14:modId xmlns:p14="http://schemas.microsoft.com/office/powerpoint/2010/main" val="940266206"/>
              </p:ext>
            </p:extLst>
          </p:nvPr>
        </p:nvGraphicFramePr>
        <p:xfrm>
          <a:off x="2482244" y="1608862"/>
          <a:ext cx="3938587" cy="2387600"/>
        </p:xfrm>
        <a:graphic>
          <a:graphicData uri="http://schemas.openxmlformats.org/presentationml/2006/ole">
            <mc:AlternateContent xmlns:mc="http://schemas.openxmlformats.org/markup-compatibility/2006">
              <mc:Choice xmlns:v="urn:schemas-microsoft-com:vml" Requires="v">
                <p:oleObj name="Equation" r:id="rId7" imgW="2095500" imgH="1270000" progId="Equation.DSMT4">
                  <p:embed/>
                </p:oleObj>
              </mc:Choice>
              <mc:Fallback>
                <p:oleObj name="Equation" r:id="rId7" imgW="2095500" imgH="1270000" progId="Equation.DSMT4">
                  <p:embed/>
                  <p:pic>
                    <p:nvPicPr>
                      <p:cNvPr id="105478" name="Object 8">
                        <a:extLst>
                          <a:ext uri="{FF2B5EF4-FFF2-40B4-BE49-F238E27FC236}">
                            <a16:creationId xmlns:a16="http://schemas.microsoft.com/office/drawing/2014/main" id="{D63A2841-57BB-4FB9-AB08-E13FE5DC63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2244" y="1608862"/>
                        <a:ext cx="3938587" cy="238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12">
            <a:extLst>
              <a:ext uri="{FF2B5EF4-FFF2-40B4-BE49-F238E27FC236}">
                <a16:creationId xmlns:a16="http://schemas.microsoft.com/office/drawing/2014/main" id="{75A8A22D-CCE2-2CFE-7883-9A41948B09A1}"/>
              </a:ext>
            </a:extLst>
          </p:cNvPr>
          <p:cNvSpPr txBox="1">
            <a:spLocks noChangeArrowheads="1"/>
          </p:cNvSpPr>
          <p:nvPr/>
        </p:nvSpPr>
        <p:spPr bwMode="auto">
          <a:xfrm>
            <a:off x="504219" y="4064620"/>
            <a:ext cx="273825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If we substitute</a:t>
            </a:r>
            <a:r>
              <a:rPr kumimoji="0" lang="en-US"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altLang="en-US" sz="22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x = </a:t>
            </a:r>
            <a:r>
              <a:rPr kumimoji="0" lang="en-US" alt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i</a:t>
            </a:r>
            <a:r>
              <a:rPr kumimoji="0" lang="en-US" altLang="en-US" sz="2200" b="0" i="1" u="none" strike="noStrike" kern="1200" cap="none" spc="0" normalizeH="0" baseline="0" noProof="0" dirty="0" err="1">
                <a:ln>
                  <a:noFill/>
                </a:ln>
                <a:solidFill>
                  <a:srgbClr val="000000"/>
                </a:solidFill>
                <a:effectLst/>
                <a:uLnTx/>
                <a:uFillTx/>
                <a:latin typeface="Symbol" panose="05050102010706020507" pitchFamily="18" charset="2"/>
                <a:ea typeface="+mn-ea"/>
                <a:cs typeface="+mn-cs"/>
              </a:rPr>
              <a:t>j</a:t>
            </a:r>
            <a:r>
              <a:rPr kumimoji="0" lang="en-US" altLang="en-US" sz="2200" b="0" i="0" u="none" strike="noStrike" kern="1200" cap="none" spc="0" normalizeH="0" baseline="0" noProof="0" dirty="0">
                <a:ln>
                  <a:noFill/>
                </a:ln>
                <a:solidFill>
                  <a:srgbClr val="000000"/>
                </a:solidFill>
                <a:effectLst/>
                <a:uLnTx/>
                <a:uFillTx/>
                <a:latin typeface="Symbol" panose="05050102010706020507" pitchFamily="18" charset="2"/>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into </a:t>
            </a:r>
            <a:r>
              <a:rPr kumimoji="0" lang="en-US" alt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exp(</a:t>
            </a:r>
            <a:r>
              <a:rPr kumimoji="0" lang="en-US" altLang="en-US" sz="22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x</a:t>
            </a:r>
            <a:r>
              <a:rPr kumimoji="0" lang="en-US" alt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then:</a:t>
            </a:r>
          </a:p>
        </p:txBody>
      </p:sp>
      <p:sp>
        <p:nvSpPr>
          <p:cNvPr id="9" name="Rectangle 3">
            <a:extLst>
              <a:ext uri="{FF2B5EF4-FFF2-40B4-BE49-F238E27FC236}">
                <a16:creationId xmlns:a16="http://schemas.microsoft.com/office/drawing/2014/main" id="{5F586731-EB02-20A0-C9CB-513047738DF4}"/>
              </a:ext>
            </a:extLst>
          </p:cNvPr>
          <p:cNvSpPr txBox="1">
            <a:spLocks noChangeArrowheads="1"/>
          </p:cNvSpPr>
          <p:nvPr/>
        </p:nvSpPr>
        <p:spPr bwMode="auto">
          <a:xfrm>
            <a:off x="504219" y="878612"/>
            <a:ext cx="23447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defRPr sz="2000">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sz="1600">
                <a:solidFill>
                  <a:schemeClr val="tx1"/>
                </a:solidFill>
                <a:latin typeface="+mn-lt"/>
              </a:defRPr>
            </a:lvl3pPr>
            <a:lvl4pPr marL="1600200" indent="-228600" algn="l" rtl="0" eaLnBrk="0" fontAlgn="base" hangingPunct="0">
              <a:spcBef>
                <a:spcPct val="20000"/>
              </a:spcBef>
              <a:spcAft>
                <a:spcPct val="0"/>
              </a:spcAft>
              <a:defRPr sz="1400">
                <a:solidFill>
                  <a:schemeClr val="tx1"/>
                </a:solidFill>
                <a:latin typeface="+mn-lt"/>
              </a:defRPr>
            </a:lvl4pPr>
            <a:lvl5pPr marL="2057400" indent="-228600" algn="l" rtl="0" eaLnBrk="0" fontAlgn="base" hangingPunct="0">
              <a:spcBef>
                <a:spcPct val="20000"/>
              </a:spcBef>
              <a:spcAft>
                <a:spcPct val="0"/>
              </a:spcAft>
              <a:defRPr sz="1200">
                <a:solidFill>
                  <a:schemeClr val="tx1"/>
                </a:solidFill>
                <a:latin typeface="+mn-lt"/>
              </a:defRPr>
            </a:lvl5pPr>
            <a:lvl6pPr marL="2514600" indent="-228600" algn="l" rtl="0" fontAlgn="base">
              <a:spcBef>
                <a:spcPct val="20000"/>
              </a:spcBef>
              <a:spcAft>
                <a:spcPct val="0"/>
              </a:spcAft>
              <a:defRPr sz="1200">
                <a:solidFill>
                  <a:schemeClr val="tx1"/>
                </a:solidFill>
                <a:latin typeface="+mn-lt"/>
              </a:defRPr>
            </a:lvl6pPr>
            <a:lvl7pPr marL="2971800" indent="-228600" algn="l" rtl="0" fontAlgn="base">
              <a:spcBef>
                <a:spcPct val="20000"/>
              </a:spcBef>
              <a:spcAft>
                <a:spcPct val="0"/>
              </a:spcAft>
              <a:defRPr sz="1200">
                <a:solidFill>
                  <a:schemeClr val="tx1"/>
                </a:solidFill>
                <a:latin typeface="+mn-lt"/>
              </a:defRPr>
            </a:lvl7pPr>
            <a:lvl8pPr marL="3429000" indent="-228600" algn="l" rtl="0" fontAlgn="base">
              <a:spcBef>
                <a:spcPct val="20000"/>
              </a:spcBef>
              <a:spcAft>
                <a:spcPct val="0"/>
              </a:spcAft>
              <a:defRPr sz="1200">
                <a:solidFill>
                  <a:schemeClr val="tx1"/>
                </a:solidFill>
                <a:latin typeface="+mn-lt"/>
              </a:defRPr>
            </a:lvl8pPr>
            <a:lvl9pPr marL="3886200" indent="-228600" algn="l" rtl="0" fontAlgn="base">
              <a:spcBef>
                <a:spcPct val="20000"/>
              </a:spcBef>
              <a:spcAft>
                <a:spcPct val="0"/>
              </a:spcAft>
              <a:defRPr sz="12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a:ea typeface="+mn-ea"/>
                <a:cs typeface="+mn-cs"/>
              </a:rPr>
              <a:t>Use Taylor Series:</a:t>
            </a:r>
            <a:endParaRPr kumimoji="0" lang="en-US" altLang="en-US" sz="2000" b="0" i="0" u="none" strike="noStrike" kern="0" cap="none" spc="0" normalizeH="0" baseline="0" noProof="0" dirty="0">
              <a:ln>
                <a:noFill/>
              </a:ln>
              <a:solidFill>
                <a:srgbClr val="000000"/>
              </a:solidFill>
              <a:effectLst/>
              <a:uLnTx/>
              <a:uFillTx/>
              <a:latin typeface="Arial"/>
              <a:ea typeface="+mn-ea"/>
              <a:cs typeface="+mn-cs"/>
            </a:endParaRPr>
          </a:p>
        </p:txBody>
      </p:sp>
      <p:graphicFrame>
        <p:nvGraphicFramePr>
          <p:cNvPr id="11" name="Object 4">
            <a:extLst>
              <a:ext uri="{FF2B5EF4-FFF2-40B4-BE49-F238E27FC236}">
                <a16:creationId xmlns:a16="http://schemas.microsoft.com/office/drawing/2014/main" id="{A238294C-DD78-FCCC-FA53-A138A91D3713}"/>
              </a:ext>
            </a:extLst>
          </p:cNvPr>
          <p:cNvGraphicFramePr>
            <a:graphicFrameLocks noChangeAspect="1"/>
          </p:cNvGraphicFramePr>
          <p:nvPr>
            <p:extLst>
              <p:ext uri="{D42A27DB-BD31-4B8C-83A1-F6EECF244321}">
                <p14:modId xmlns:p14="http://schemas.microsoft.com/office/powerpoint/2010/main" val="3898536965"/>
              </p:ext>
            </p:extLst>
          </p:nvPr>
        </p:nvGraphicFramePr>
        <p:xfrm>
          <a:off x="4405418" y="4858401"/>
          <a:ext cx="4481513" cy="915988"/>
        </p:xfrm>
        <a:graphic>
          <a:graphicData uri="http://schemas.openxmlformats.org/presentationml/2006/ole">
            <mc:AlternateContent xmlns:mc="http://schemas.openxmlformats.org/markup-compatibility/2006">
              <mc:Choice xmlns:v="urn:schemas-microsoft-com:vml" Requires="v">
                <p:oleObj name="Equation" r:id="rId9" imgW="2361960" imgH="482400" progId="Equation.DSMT4">
                  <p:embed/>
                </p:oleObj>
              </mc:Choice>
              <mc:Fallback>
                <p:oleObj name="Equation" r:id="rId9" imgW="2361960" imgH="482400" progId="Equation.DSMT4">
                  <p:embed/>
                  <p:pic>
                    <p:nvPicPr>
                      <p:cNvPr id="9" name="Object 4">
                        <a:extLst>
                          <a:ext uri="{FF2B5EF4-FFF2-40B4-BE49-F238E27FC236}">
                            <a16:creationId xmlns:a16="http://schemas.microsoft.com/office/drawing/2014/main" id="{177B05F2-C130-4CD5-B7F3-D238FCFB93DE}"/>
                          </a:ext>
                        </a:extLst>
                      </p:cNvPr>
                      <p:cNvPicPr>
                        <a:picLocks noChangeAspect="1" noChangeArrowheads="1"/>
                      </p:cNvPicPr>
                      <p:nvPr/>
                    </p:nvPicPr>
                    <p:blipFill>
                      <a:blip r:embed="rId10"/>
                      <a:srcRect/>
                      <a:stretch>
                        <a:fillRect/>
                      </a:stretch>
                    </p:blipFill>
                    <p:spPr bwMode="auto">
                      <a:xfrm>
                        <a:off x="4405418" y="4858401"/>
                        <a:ext cx="4481513"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4">
            <a:extLst>
              <a:ext uri="{FF2B5EF4-FFF2-40B4-BE49-F238E27FC236}">
                <a16:creationId xmlns:a16="http://schemas.microsoft.com/office/drawing/2014/main" id="{CB82E2D5-0083-25DA-E511-F2E8FE13CF93}"/>
              </a:ext>
            </a:extLst>
          </p:cNvPr>
          <p:cNvGraphicFramePr>
            <a:graphicFrameLocks noChangeAspect="1"/>
          </p:cNvGraphicFramePr>
          <p:nvPr>
            <p:extLst>
              <p:ext uri="{D42A27DB-BD31-4B8C-83A1-F6EECF244321}">
                <p14:modId xmlns:p14="http://schemas.microsoft.com/office/powerpoint/2010/main" val="954622627"/>
              </p:ext>
            </p:extLst>
          </p:nvPr>
        </p:nvGraphicFramePr>
        <p:xfrm>
          <a:off x="4406472" y="5753825"/>
          <a:ext cx="2239962" cy="384175"/>
        </p:xfrm>
        <a:graphic>
          <a:graphicData uri="http://schemas.openxmlformats.org/presentationml/2006/ole">
            <mc:AlternateContent xmlns:mc="http://schemas.openxmlformats.org/markup-compatibility/2006">
              <mc:Choice xmlns:v="urn:schemas-microsoft-com:vml" Requires="v">
                <p:oleObj name="Equation" r:id="rId11" imgW="1180800" imgH="203040" progId="Equation.DSMT4">
                  <p:embed/>
                </p:oleObj>
              </mc:Choice>
              <mc:Fallback>
                <p:oleObj name="Equation" r:id="rId11" imgW="1180800" imgH="203040" progId="Equation.DSMT4">
                  <p:embed/>
                  <p:pic>
                    <p:nvPicPr>
                      <p:cNvPr id="11" name="Object 4">
                        <a:extLst>
                          <a:ext uri="{FF2B5EF4-FFF2-40B4-BE49-F238E27FC236}">
                            <a16:creationId xmlns:a16="http://schemas.microsoft.com/office/drawing/2014/main" id="{93D6C155-B294-4C3D-98DD-5091E2AD69B2}"/>
                          </a:ext>
                        </a:extLst>
                      </p:cNvPr>
                      <p:cNvPicPr>
                        <a:picLocks noChangeAspect="1" noChangeArrowheads="1"/>
                      </p:cNvPicPr>
                      <p:nvPr/>
                    </p:nvPicPr>
                    <p:blipFill>
                      <a:blip r:embed="rId12"/>
                      <a:srcRect/>
                      <a:stretch>
                        <a:fillRect/>
                      </a:stretch>
                    </p:blipFill>
                    <p:spPr bwMode="auto">
                      <a:xfrm>
                        <a:off x="4406472" y="5753825"/>
                        <a:ext cx="2239962"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1832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05A0D-64E1-2EE4-C203-797C36284B69}"/>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5F6ACF9F-E80B-DDD7-69D0-D1E7342FBDD1}"/>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Complex-number</a:t>
            </a:r>
          </a:p>
        </p:txBody>
      </p:sp>
      <p:sp>
        <p:nvSpPr>
          <p:cNvPr id="3" name="Text Box 31">
            <a:extLst>
              <a:ext uri="{FF2B5EF4-FFF2-40B4-BE49-F238E27FC236}">
                <a16:creationId xmlns:a16="http://schemas.microsoft.com/office/drawing/2014/main" id="{7C5C7C26-8E71-6BFA-6DA6-0DC916780790}"/>
              </a:ext>
            </a:extLst>
          </p:cNvPr>
          <p:cNvSpPr txBox="1">
            <a:spLocks noChangeArrowheads="1"/>
          </p:cNvSpPr>
          <p:nvPr/>
        </p:nvSpPr>
        <p:spPr bwMode="auto">
          <a:xfrm>
            <a:off x="1539875" y="4510351"/>
            <a:ext cx="3390900"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z  ≡  x + </a:t>
            </a:r>
            <a:r>
              <a:rPr kumimoji="0" lang="en-US" altLang="en-US" sz="20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i</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y</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l" defTabSz="914400" rtl="0" eaLnBrk="1" fontAlgn="base" latinLnBrk="0" hangingPunct="1">
              <a:lnSpc>
                <a:spcPct val="100000"/>
              </a:lnSpc>
              <a:spcBef>
                <a:spcPts val="1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cos(</a:t>
            </a: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f</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en-US" altLang="en-US" sz="20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i</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sin(</a:t>
            </a: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f</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p:txBody>
      </p:sp>
      <p:sp>
        <p:nvSpPr>
          <p:cNvPr id="6" name="Text Box 6">
            <a:extLst>
              <a:ext uri="{FF2B5EF4-FFF2-40B4-BE49-F238E27FC236}">
                <a16:creationId xmlns:a16="http://schemas.microsoft.com/office/drawing/2014/main" id="{894BCC1A-4AAF-CE8D-768C-0044AB856AE0}"/>
              </a:ext>
            </a:extLst>
          </p:cNvPr>
          <p:cNvSpPr txBox="1">
            <a:spLocks noChangeArrowheads="1"/>
          </p:cNvSpPr>
          <p:nvPr/>
        </p:nvSpPr>
        <p:spPr bwMode="auto">
          <a:xfrm>
            <a:off x="1047750" y="1802684"/>
            <a:ext cx="2187575" cy="103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r" defTabSz="914400" rtl="0" eaLnBrk="1" fontAlgn="base" latinLnBrk="0" hangingPunct="1">
              <a:lnSpc>
                <a:spcPct val="9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Consider a point,</a:t>
            </a:r>
          </a:p>
          <a:p>
            <a:pPr marL="0" marR="0" lvl="0" indent="0" algn="r"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2000" b="1"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x,y</a:t>
            </a:r>
            <a:r>
              <a:rPr kumimoji="0" lang="en-US"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on a 2D </a:t>
            </a:r>
          </a:p>
          <a:p>
            <a:pPr marL="0" marR="0" lvl="0" indent="0" algn="r" defTabSz="914400" rtl="0" eaLnBrk="1" fontAlgn="base" latinLnBrk="0" hangingPunct="1">
              <a:lnSpc>
                <a:spcPct val="9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Cartesian grid.</a:t>
            </a:r>
          </a:p>
        </p:txBody>
      </p:sp>
      <p:sp>
        <p:nvSpPr>
          <p:cNvPr id="8" name="Text Box 7">
            <a:extLst>
              <a:ext uri="{FF2B5EF4-FFF2-40B4-BE49-F238E27FC236}">
                <a16:creationId xmlns:a16="http://schemas.microsoft.com/office/drawing/2014/main" id="{A748B967-46E8-454F-E013-156A08B891DC}"/>
              </a:ext>
            </a:extLst>
          </p:cNvPr>
          <p:cNvSpPr txBox="1">
            <a:spLocks noChangeArrowheads="1"/>
          </p:cNvSpPr>
          <p:nvPr/>
        </p:nvSpPr>
        <p:spPr bwMode="auto">
          <a:xfrm>
            <a:off x="748382" y="3757876"/>
            <a:ext cx="811714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Let the x-coordinate be the real part and the y-coordinate the imaginary part of a </a:t>
            </a:r>
            <a:r>
              <a:rPr kumimoji="0" lang="en-US" altLang="en-US" sz="2000" b="1" i="0" u="none" strike="noStrike" kern="1200" cap="none" spc="0" normalizeH="0" baseline="0" noProof="0" dirty="0">
                <a:ln>
                  <a:noFill/>
                </a:ln>
                <a:solidFill>
                  <a:srgbClr val="7030A0"/>
                </a:solidFill>
                <a:effectLst/>
                <a:uLnTx/>
                <a:uFillTx/>
                <a:latin typeface="Arial" panose="020B0604020202020204" pitchFamily="34" charset="0"/>
                <a:ea typeface="+mn-ea"/>
                <a:cs typeface="+mn-cs"/>
              </a:rPr>
              <a:t>complex number</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p:txBody>
      </p:sp>
      <p:sp>
        <p:nvSpPr>
          <p:cNvPr id="10" name="Text Box 15">
            <a:extLst>
              <a:ext uri="{FF2B5EF4-FFF2-40B4-BE49-F238E27FC236}">
                <a16:creationId xmlns:a16="http://schemas.microsoft.com/office/drawing/2014/main" id="{BDC034D2-A527-CC57-880F-A893A8B83DE3}"/>
              </a:ext>
            </a:extLst>
          </p:cNvPr>
          <p:cNvSpPr txBox="1">
            <a:spLocks noChangeArrowheads="1"/>
          </p:cNvSpPr>
          <p:nvPr/>
        </p:nvSpPr>
        <p:spPr bwMode="auto">
          <a:xfrm>
            <a:off x="2092325" y="5485076"/>
            <a:ext cx="2667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where</a:t>
            </a:r>
            <a:endParaRPr kumimoji="0" lang="en-US" altLang="en-US" sz="2000" b="0" i="0" u="none" strike="noStrike" kern="1200" cap="none" spc="0" normalizeH="0" baseline="30000" noProof="0">
              <a:ln>
                <a:noFill/>
              </a:ln>
              <a:solidFill>
                <a:srgbClr val="000000"/>
              </a:solidFill>
              <a:effectLst/>
              <a:uLnTx/>
              <a:uFillTx/>
              <a:latin typeface="Times New Roman" panose="02020603050405020304" pitchFamily="18" charset="0"/>
              <a:ea typeface="+mn-ea"/>
              <a:cs typeface="+mn-cs"/>
            </a:endParaRPr>
          </a:p>
        </p:txBody>
      </p:sp>
      <p:graphicFrame>
        <p:nvGraphicFramePr>
          <p:cNvPr id="12" name="Object 30">
            <a:extLst>
              <a:ext uri="{FF2B5EF4-FFF2-40B4-BE49-F238E27FC236}">
                <a16:creationId xmlns:a16="http://schemas.microsoft.com/office/drawing/2014/main" id="{F2FA262C-35D9-5EC4-92EF-7B6EB6DC2AB2}"/>
              </a:ext>
            </a:extLst>
          </p:cNvPr>
          <p:cNvGraphicFramePr>
            <a:graphicFrameLocks noChangeAspect="1"/>
          </p:cNvGraphicFramePr>
          <p:nvPr>
            <p:extLst>
              <p:ext uri="{D42A27DB-BD31-4B8C-83A1-F6EECF244321}">
                <p14:modId xmlns:p14="http://schemas.microsoft.com/office/powerpoint/2010/main" val="1313157901"/>
              </p:ext>
            </p:extLst>
          </p:nvPr>
        </p:nvGraphicFramePr>
        <p:xfrm>
          <a:off x="3049587" y="5445389"/>
          <a:ext cx="912813" cy="387350"/>
        </p:xfrm>
        <a:graphic>
          <a:graphicData uri="http://schemas.openxmlformats.org/presentationml/2006/ole">
            <mc:AlternateContent xmlns:mc="http://schemas.openxmlformats.org/markup-compatibility/2006">
              <mc:Choice xmlns:v="urn:schemas-microsoft-com:vml" Requires="v">
                <p:oleObj name="Equation" r:id="rId3" imgW="507780" imgH="215806" progId="Equation.DSMT4">
                  <p:embed/>
                </p:oleObj>
              </mc:Choice>
              <mc:Fallback>
                <p:oleObj name="Equation" r:id="rId3" imgW="507780" imgH="215806" progId="Equation.DSMT4">
                  <p:embed/>
                  <p:pic>
                    <p:nvPicPr>
                      <p:cNvPr id="193543" name="Object 30">
                        <a:extLst>
                          <a:ext uri="{FF2B5EF4-FFF2-40B4-BE49-F238E27FC236}">
                            <a16:creationId xmlns:a16="http://schemas.microsoft.com/office/drawing/2014/main" id="{5BB085D1-F919-44FB-8CF8-37899FCA51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9587" y="5445389"/>
                        <a:ext cx="912813"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Rectangle 10">
            <a:extLst>
              <a:ext uri="{FF2B5EF4-FFF2-40B4-BE49-F238E27FC236}">
                <a16:creationId xmlns:a16="http://schemas.microsoft.com/office/drawing/2014/main" id="{17F84A1B-3EE7-7A4F-B7B7-6D16D877716D}"/>
              </a:ext>
            </a:extLst>
          </p:cNvPr>
          <p:cNvSpPr>
            <a:spLocks noChangeArrowheads="1"/>
          </p:cNvSpPr>
          <p:nvPr/>
        </p:nvSpPr>
        <p:spPr bwMode="auto">
          <a:xfrm>
            <a:off x="3417888" y="643809"/>
            <a:ext cx="2947987" cy="3036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8" name="Line 16">
            <a:extLst>
              <a:ext uri="{FF2B5EF4-FFF2-40B4-BE49-F238E27FC236}">
                <a16:creationId xmlns:a16="http://schemas.microsoft.com/office/drawing/2014/main" id="{47A7E71D-9213-33CE-61A1-6D89FDB44CD9}"/>
              </a:ext>
            </a:extLst>
          </p:cNvPr>
          <p:cNvSpPr>
            <a:spLocks noChangeShapeType="1"/>
          </p:cNvSpPr>
          <p:nvPr/>
        </p:nvSpPr>
        <p:spPr bwMode="auto">
          <a:xfrm>
            <a:off x="3540125" y="3247308"/>
            <a:ext cx="23907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9" name="Line 17">
            <a:extLst>
              <a:ext uri="{FF2B5EF4-FFF2-40B4-BE49-F238E27FC236}">
                <a16:creationId xmlns:a16="http://schemas.microsoft.com/office/drawing/2014/main" id="{E8DF26BC-1877-865B-67B4-72FBECF9D634}"/>
              </a:ext>
            </a:extLst>
          </p:cNvPr>
          <p:cNvSpPr>
            <a:spLocks noChangeShapeType="1"/>
          </p:cNvSpPr>
          <p:nvPr/>
        </p:nvSpPr>
        <p:spPr bwMode="auto">
          <a:xfrm rot="16200000">
            <a:off x="2549525" y="2247183"/>
            <a:ext cx="239077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 name="Text Box 18">
            <a:extLst>
              <a:ext uri="{FF2B5EF4-FFF2-40B4-BE49-F238E27FC236}">
                <a16:creationId xmlns:a16="http://schemas.microsoft.com/office/drawing/2014/main" id="{7E313A0E-1978-B0BA-4393-B1B0BC116826}"/>
              </a:ext>
            </a:extLst>
          </p:cNvPr>
          <p:cNvSpPr txBox="1">
            <a:spLocks noChangeArrowheads="1"/>
          </p:cNvSpPr>
          <p:nvPr/>
        </p:nvSpPr>
        <p:spPr bwMode="auto">
          <a:xfrm>
            <a:off x="3521075" y="656509"/>
            <a:ext cx="1914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y</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(Imaginary)</a:t>
            </a:r>
          </a:p>
        </p:txBody>
      </p:sp>
      <p:sp>
        <p:nvSpPr>
          <p:cNvPr id="41" name="Text Box 19">
            <a:extLst>
              <a:ext uri="{FF2B5EF4-FFF2-40B4-BE49-F238E27FC236}">
                <a16:creationId xmlns:a16="http://schemas.microsoft.com/office/drawing/2014/main" id="{67D15009-BDF5-4791-0E55-20F47B585057}"/>
              </a:ext>
            </a:extLst>
          </p:cNvPr>
          <p:cNvSpPr txBox="1">
            <a:spLocks noChangeArrowheads="1"/>
          </p:cNvSpPr>
          <p:nvPr/>
        </p:nvSpPr>
        <p:spPr bwMode="auto">
          <a:xfrm>
            <a:off x="5283200" y="3218733"/>
            <a:ext cx="1028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x</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(Real)</a:t>
            </a:r>
          </a:p>
        </p:txBody>
      </p:sp>
      <p:sp>
        <p:nvSpPr>
          <p:cNvPr id="42" name="Arc 22">
            <a:extLst>
              <a:ext uri="{FF2B5EF4-FFF2-40B4-BE49-F238E27FC236}">
                <a16:creationId xmlns:a16="http://schemas.microsoft.com/office/drawing/2014/main" id="{4EA29B2E-CFE3-52F6-CDFB-BA448E14EFF4}"/>
              </a:ext>
            </a:extLst>
          </p:cNvPr>
          <p:cNvSpPr>
            <a:spLocks/>
          </p:cNvSpPr>
          <p:nvPr/>
        </p:nvSpPr>
        <p:spPr bwMode="auto">
          <a:xfrm rot="1987424">
            <a:off x="3757613" y="2920283"/>
            <a:ext cx="434975" cy="458788"/>
          </a:xfrm>
          <a:custGeom>
            <a:avLst/>
            <a:gdLst>
              <a:gd name="T0" fmla="*/ 0 w 17402"/>
              <a:gd name="T1" fmla="*/ 0 h 21252"/>
              <a:gd name="T2" fmla="*/ 0 w 17402"/>
              <a:gd name="T3" fmla="*/ 0 h 21252"/>
              <a:gd name="T4" fmla="*/ 0 w 17402"/>
              <a:gd name="T5" fmla="*/ 0 h 21252"/>
              <a:gd name="T6" fmla="*/ 0 60000 65536"/>
              <a:gd name="T7" fmla="*/ 0 60000 65536"/>
              <a:gd name="T8" fmla="*/ 0 60000 65536"/>
            </a:gdLst>
            <a:ahLst/>
            <a:cxnLst>
              <a:cxn ang="T6">
                <a:pos x="T0" y="T1"/>
              </a:cxn>
              <a:cxn ang="T7">
                <a:pos x="T2" y="T3"/>
              </a:cxn>
              <a:cxn ang="T8">
                <a:pos x="T4" y="T5"/>
              </a:cxn>
            </a:cxnLst>
            <a:rect l="0" t="0" r="r" b="b"/>
            <a:pathLst>
              <a:path w="17402" h="21252" fill="none" extrusionOk="0">
                <a:moveTo>
                  <a:pt x="3862" y="0"/>
                </a:moveTo>
                <a:cubicBezTo>
                  <a:pt x="9290" y="986"/>
                  <a:pt x="14134" y="4012"/>
                  <a:pt x="17401" y="8456"/>
                </a:cubicBezTo>
              </a:path>
              <a:path w="17402" h="21252" stroke="0" extrusionOk="0">
                <a:moveTo>
                  <a:pt x="3862" y="0"/>
                </a:moveTo>
                <a:cubicBezTo>
                  <a:pt x="9290" y="986"/>
                  <a:pt x="14134" y="4012"/>
                  <a:pt x="17401" y="8456"/>
                </a:cubicBezTo>
                <a:lnTo>
                  <a:pt x="0" y="21252"/>
                </a:lnTo>
                <a:lnTo>
                  <a:pt x="3862" y="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3" name="Line 23">
            <a:extLst>
              <a:ext uri="{FF2B5EF4-FFF2-40B4-BE49-F238E27FC236}">
                <a16:creationId xmlns:a16="http://schemas.microsoft.com/office/drawing/2014/main" id="{47F719F5-6997-9B14-6732-16BAC12A3D1A}"/>
              </a:ext>
            </a:extLst>
          </p:cNvPr>
          <p:cNvSpPr>
            <a:spLocks noChangeShapeType="1"/>
          </p:cNvSpPr>
          <p:nvPr/>
        </p:nvSpPr>
        <p:spPr bwMode="auto">
          <a:xfrm>
            <a:off x="4806950" y="1847134"/>
            <a:ext cx="0" cy="13906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4" name="Line 24">
            <a:extLst>
              <a:ext uri="{FF2B5EF4-FFF2-40B4-BE49-F238E27FC236}">
                <a16:creationId xmlns:a16="http://schemas.microsoft.com/office/drawing/2014/main" id="{E16AF64D-F90C-D823-437E-C963B01FEC6D}"/>
              </a:ext>
            </a:extLst>
          </p:cNvPr>
          <p:cNvSpPr>
            <a:spLocks noChangeShapeType="1"/>
          </p:cNvSpPr>
          <p:nvPr/>
        </p:nvSpPr>
        <p:spPr bwMode="auto">
          <a:xfrm rot="16200000">
            <a:off x="4287838" y="1337547"/>
            <a:ext cx="0" cy="103822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5" name="Text Box 25">
            <a:extLst>
              <a:ext uri="{FF2B5EF4-FFF2-40B4-BE49-F238E27FC236}">
                <a16:creationId xmlns:a16="http://schemas.microsoft.com/office/drawing/2014/main" id="{E55F1E89-A15C-957D-91E7-B855E65E536F}"/>
              </a:ext>
            </a:extLst>
          </p:cNvPr>
          <p:cNvSpPr txBox="1">
            <a:spLocks noChangeArrowheads="1"/>
          </p:cNvSpPr>
          <p:nvPr/>
        </p:nvSpPr>
        <p:spPr bwMode="auto">
          <a:xfrm>
            <a:off x="4806950" y="2275758"/>
            <a:ext cx="1419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y</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a:t>
            </a: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sin(</a:t>
            </a: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f</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p>
        </p:txBody>
      </p:sp>
      <p:sp>
        <p:nvSpPr>
          <p:cNvPr id="46" name="Text Box 26">
            <a:extLst>
              <a:ext uri="{FF2B5EF4-FFF2-40B4-BE49-F238E27FC236}">
                <a16:creationId xmlns:a16="http://schemas.microsoft.com/office/drawing/2014/main" id="{8D563AF9-457A-AC23-AF06-29B2F508433C}"/>
              </a:ext>
            </a:extLst>
          </p:cNvPr>
          <p:cNvSpPr txBox="1">
            <a:spLocks noChangeArrowheads="1"/>
          </p:cNvSpPr>
          <p:nvPr/>
        </p:nvSpPr>
        <p:spPr bwMode="auto">
          <a:xfrm>
            <a:off x="4102100" y="1180384"/>
            <a:ext cx="158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x</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a:t>
            </a:r>
            <a:r>
              <a:rPr kumimoji="0" lang="en-US"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cos(</a:t>
            </a: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f</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p>
        </p:txBody>
      </p:sp>
      <p:sp>
        <p:nvSpPr>
          <p:cNvPr id="47" name="Text Box 27">
            <a:extLst>
              <a:ext uri="{FF2B5EF4-FFF2-40B4-BE49-F238E27FC236}">
                <a16:creationId xmlns:a16="http://schemas.microsoft.com/office/drawing/2014/main" id="{C33232A0-9054-BD53-8AAA-5FF6B1780D86}"/>
              </a:ext>
            </a:extLst>
          </p:cNvPr>
          <p:cNvSpPr txBox="1">
            <a:spLocks noChangeArrowheads="1"/>
          </p:cNvSpPr>
          <p:nvPr/>
        </p:nvSpPr>
        <p:spPr bwMode="auto">
          <a:xfrm>
            <a:off x="4083050" y="2742483"/>
            <a:ext cx="400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a:ln>
                  <a:noFill/>
                </a:ln>
                <a:solidFill>
                  <a:srgbClr val="000000"/>
                </a:solidFill>
                <a:effectLst/>
                <a:uLnTx/>
                <a:uFillTx/>
                <a:latin typeface="Symbol" panose="05050102010706020507" pitchFamily="18" charset="2"/>
                <a:ea typeface="+mn-ea"/>
                <a:cs typeface="+mn-cs"/>
              </a:rPr>
              <a:t>f</a:t>
            </a:r>
            <a:endPar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8" name="Line 28">
            <a:extLst>
              <a:ext uri="{FF2B5EF4-FFF2-40B4-BE49-F238E27FC236}">
                <a16:creationId xmlns:a16="http://schemas.microsoft.com/office/drawing/2014/main" id="{844C3D45-DDA1-B12B-05F8-65FFF611C3B3}"/>
              </a:ext>
            </a:extLst>
          </p:cNvPr>
          <p:cNvSpPr>
            <a:spLocks noChangeShapeType="1"/>
          </p:cNvSpPr>
          <p:nvPr/>
        </p:nvSpPr>
        <p:spPr bwMode="auto">
          <a:xfrm flipH="1">
            <a:off x="4273550" y="1494709"/>
            <a:ext cx="152400" cy="276225"/>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9" name="Oval 32">
            <a:extLst>
              <a:ext uri="{FF2B5EF4-FFF2-40B4-BE49-F238E27FC236}">
                <a16:creationId xmlns:a16="http://schemas.microsoft.com/office/drawing/2014/main" id="{44A0632D-13C2-0DD0-61DB-E744BBCC5F40}"/>
              </a:ext>
            </a:extLst>
          </p:cNvPr>
          <p:cNvSpPr>
            <a:spLocks noChangeArrowheads="1"/>
          </p:cNvSpPr>
          <p:nvPr/>
        </p:nvSpPr>
        <p:spPr bwMode="auto">
          <a:xfrm>
            <a:off x="4743450" y="1799509"/>
            <a:ext cx="101600" cy="101600"/>
          </a:xfrm>
          <a:prstGeom prst="ellipse">
            <a:avLst/>
          </a:prstGeom>
          <a:solidFill>
            <a:srgbClr val="9900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cxnSp>
        <p:nvCxnSpPr>
          <p:cNvPr id="50" name="Straight Arrow Connector 4">
            <a:extLst>
              <a:ext uri="{FF2B5EF4-FFF2-40B4-BE49-F238E27FC236}">
                <a16:creationId xmlns:a16="http://schemas.microsoft.com/office/drawing/2014/main" id="{8EFC6898-9E08-9F75-29D3-9450B723D12C}"/>
              </a:ext>
            </a:extLst>
          </p:cNvPr>
          <p:cNvCxnSpPr>
            <a:cxnSpLocks noChangeShapeType="1"/>
          </p:cNvCxnSpPr>
          <p:nvPr/>
        </p:nvCxnSpPr>
        <p:spPr bwMode="auto">
          <a:xfrm flipH="1">
            <a:off x="3667604" y="1770934"/>
            <a:ext cx="1015521" cy="1378744"/>
          </a:xfrm>
          <a:prstGeom prst="straightConnector1">
            <a:avLst/>
          </a:prstGeom>
          <a:noFill/>
          <a:ln w="19050" algn="ctr">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Line 20">
            <a:extLst>
              <a:ext uri="{FF2B5EF4-FFF2-40B4-BE49-F238E27FC236}">
                <a16:creationId xmlns:a16="http://schemas.microsoft.com/office/drawing/2014/main" id="{6DFE6665-B9B7-0E5D-FF81-8EE9B7C9A9E8}"/>
              </a:ext>
            </a:extLst>
          </p:cNvPr>
          <p:cNvSpPr>
            <a:spLocks noChangeShapeType="1"/>
          </p:cNvSpPr>
          <p:nvPr/>
        </p:nvSpPr>
        <p:spPr bwMode="auto">
          <a:xfrm flipV="1">
            <a:off x="3749675" y="1866184"/>
            <a:ext cx="1028700" cy="1371600"/>
          </a:xfrm>
          <a:prstGeom prst="line">
            <a:avLst/>
          </a:prstGeom>
          <a:noFill/>
          <a:ln w="38100">
            <a:solidFill>
              <a:srgbClr val="99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2" name="Rectangle 6">
            <a:extLst>
              <a:ext uri="{FF2B5EF4-FFF2-40B4-BE49-F238E27FC236}">
                <a16:creationId xmlns:a16="http://schemas.microsoft.com/office/drawing/2014/main" id="{06B659B1-0DB2-AADC-7FBA-D5843755ACEA}"/>
              </a:ext>
            </a:extLst>
          </p:cNvPr>
          <p:cNvSpPr>
            <a:spLocks noChangeArrowheads="1"/>
          </p:cNvSpPr>
          <p:nvPr/>
        </p:nvSpPr>
        <p:spPr bwMode="auto">
          <a:xfrm>
            <a:off x="4782185" y="1593441"/>
            <a:ext cx="6607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20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x,y</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3" name="Rounded Rectangle 7">
            <a:extLst>
              <a:ext uri="{FF2B5EF4-FFF2-40B4-BE49-F238E27FC236}">
                <a16:creationId xmlns:a16="http://schemas.microsoft.com/office/drawing/2014/main" id="{AA3D61A8-753B-B674-5A30-DFAB0B5AC8E0}"/>
              </a:ext>
            </a:extLst>
          </p:cNvPr>
          <p:cNvSpPr>
            <a:spLocks noChangeArrowheads="1"/>
          </p:cNvSpPr>
          <p:nvPr/>
        </p:nvSpPr>
        <p:spPr bwMode="auto">
          <a:xfrm rot="18458675">
            <a:off x="4033415" y="2271486"/>
            <a:ext cx="328524" cy="203369"/>
          </a:xfrm>
          <a:prstGeom prst="roundRect">
            <a:avLst>
              <a:gd name="adj" fmla="val 16667"/>
            </a:avLst>
          </a:prstGeom>
          <a:solidFill>
            <a:schemeClr val="bg1"/>
          </a:solidFill>
          <a:ln w="9525" algn="ctr">
            <a:solidFill>
              <a:schemeClr val="bg1"/>
            </a:solidFill>
            <a:round/>
            <a:headEnd/>
            <a:tailEnd/>
          </a:ln>
        </p:spPr>
        <p:txBody>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4" name="Rectangle 2">
            <a:extLst>
              <a:ext uri="{FF2B5EF4-FFF2-40B4-BE49-F238E27FC236}">
                <a16:creationId xmlns:a16="http://schemas.microsoft.com/office/drawing/2014/main" id="{B5006934-622F-1639-3979-0C30FAE9D2A9}"/>
              </a:ext>
            </a:extLst>
          </p:cNvPr>
          <p:cNvSpPr>
            <a:spLocks noChangeArrowheads="1"/>
          </p:cNvSpPr>
          <p:nvPr/>
        </p:nvSpPr>
        <p:spPr bwMode="auto">
          <a:xfrm>
            <a:off x="4028967" y="2165566"/>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a:t>
            </a:r>
            <a:endParaRPr kumimoji="0" lang="en-US" altLang="en-US" sz="20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cxnSp>
        <p:nvCxnSpPr>
          <p:cNvPr id="55" name="Straight Connector 9">
            <a:extLst>
              <a:ext uri="{FF2B5EF4-FFF2-40B4-BE49-F238E27FC236}">
                <a16:creationId xmlns:a16="http://schemas.microsoft.com/office/drawing/2014/main" id="{34AC12E8-B587-BE7C-3EE0-D8BEF8D8C604}"/>
              </a:ext>
            </a:extLst>
          </p:cNvPr>
          <p:cNvCxnSpPr>
            <a:cxnSpLocks noChangeShapeType="1"/>
          </p:cNvCxnSpPr>
          <p:nvPr/>
        </p:nvCxnSpPr>
        <p:spPr bwMode="auto">
          <a:xfrm>
            <a:off x="4659188" y="1729194"/>
            <a:ext cx="76324" cy="64302"/>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Straight Connector 33">
            <a:extLst>
              <a:ext uri="{FF2B5EF4-FFF2-40B4-BE49-F238E27FC236}">
                <a16:creationId xmlns:a16="http://schemas.microsoft.com/office/drawing/2014/main" id="{0DB3B247-2E01-E87D-C60D-956C40EE335D}"/>
              </a:ext>
            </a:extLst>
          </p:cNvPr>
          <p:cNvCxnSpPr>
            <a:cxnSpLocks noChangeShapeType="1"/>
          </p:cNvCxnSpPr>
          <p:nvPr/>
        </p:nvCxnSpPr>
        <p:spPr bwMode="auto">
          <a:xfrm>
            <a:off x="3619866" y="3122314"/>
            <a:ext cx="76324" cy="64302"/>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F5DA7793-AC6E-628F-B3BB-95AF60B01E86}"/>
                  </a:ext>
                </a:extLst>
              </p:cNvPr>
              <p:cNvSpPr txBox="1"/>
              <p:nvPr/>
            </p:nvSpPr>
            <p:spPr>
              <a:xfrm>
                <a:off x="5718454" y="5291310"/>
                <a:ext cx="2458369" cy="38125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smtClean="0">
                              <a:latin typeface="Cambria Math" panose="02040503050406030204" pitchFamily="18" charset="0"/>
                              <a:ea typeface="Cambria Math" panose="02040503050406030204" pitchFamily="18" charset="0"/>
                            </a:rPr>
                            <m:t>𝑒</m:t>
                          </m:r>
                        </m:e>
                        <m:sup>
                          <m:r>
                            <a:rPr lang="en-US" altLang="zh-CN" sz="2400" b="0" i="1" dirty="0" smtClean="0">
                              <a:latin typeface="Cambria Math" panose="02040503050406030204" pitchFamily="18" charset="0"/>
                              <a:ea typeface="Cambria Math" panose="02040503050406030204" pitchFamily="18" charset="0"/>
                            </a:rPr>
                            <m:t>𝑖</m:t>
                          </m:r>
                          <m:r>
                            <a:rPr lang="en-US" altLang="zh-CN" sz="2400" i="1" dirty="0" smtClean="0">
                              <a:latin typeface="Cambria Math" panose="02040503050406030204" pitchFamily="18" charset="0"/>
                              <a:ea typeface="Cambria Math" panose="02040503050406030204" pitchFamily="18" charset="0"/>
                            </a:rPr>
                            <m:t>𝑥</m:t>
                          </m:r>
                        </m:sup>
                      </m:sSup>
                      <m:r>
                        <a:rPr lang="en-US" altLang="zh-CN" sz="240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𝑐𝑜𝑠𝑥</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𝑖𝑠𝑖𝑛𝑥</m:t>
                      </m:r>
                    </m:oMath>
                  </m:oMathPara>
                </a14:m>
                <a:endParaRPr lang="zh-CN" altLang="en-US" sz="2400" dirty="0">
                  <a:latin typeface="Bodoni MT" panose="02070603080606020203" pitchFamily="18" charset="0"/>
                </a:endParaRPr>
              </a:p>
            </p:txBody>
          </p:sp>
        </mc:Choice>
        <mc:Fallback xmlns="">
          <p:sp>
            <p:nvSpPr>
              <p:cNvPr id="57" name="文本框 56">
                <a:extLst>
                  <a:ext uri="{FF2B5EF4-FFF2-40B4-BE49-F238E27FC236}">
                    <a16:creationId xmlns:a16="http://schemas.microsoft.com/office/drawing/2014/main" id="{F5DA7793-AC6E-628F-B3BB-95AF60B01E86}"/>
                  </a:ext>
                </a:extLst>
              </p:cNvPr>
              <p:cNvSpPr txBox="1">
                <a:spLocks noRot="1" noChangeAspect="1" noMove="1" noResize="1" noEditPoints="1" noAdjustHandles="1" noChangeArrowheads="1" noChangeShapeType="1" noTextEdit="1"/>
              </p:cNvSpPr>
              <p:nvPr/>
            </p:nvSpPr>
            <p:spPr>
              <a:xfrm>
                <a:off x="5718454" y="5291310"/>
                <a:ext cx="2458369" cy="381258"/>
              </a:xfrm>
              <a:prstGeom prst="rect">
                <a:avLst/>
              </a:prstGeom>
              <a:blipFill>
                <a:blip r:embed="rId5"/>
                <a:stretch>
                  <a:fillRect l="-2730" t="-3175" r="-4218" b="-3175"/>
                </a:stretch>
              </a:blipFill>
            </p:spPr>
            <p:txBody>
              <a:bodyPr/>
              <a:lstStyle/>
              <a:p>
                <a:r>
                  <a:rPr lang="zh-CN" altLang="en-US">
                    <a:noFill/>
                  </a:rPr>
                  <a:t> </a:t>
                </a:r>
              </a:p>
            </p:txBody>
          </p:sp>
        </mc:Fallback>
      </mc:AlternateContent>
      <p:sp>
        <p:nvSpPr>
          <p:cNvPr id="58" name="标题 2">
            <a:extLst>
              <a:ext uri="{FF2B5EF4-FFF2-40B4-BE49-F238E27FC236}">
                <a16:creationId xmlns:a16="http://schemas.microsoft.com/office/drawing/2014/main" id="{02914297-858C-10EB-653E-8F23C424246D}"/>
              </a:ext>
            </a:extLst>
          </p:cNvPr>
          <p:cNvSpPr txBox="1">
            <a:spLocks/>
          </p:cNvSpPr>
          <p:nvPr/>
        </p:nvSpPr>
        <p:spPr>
          <a:xfrm>
            <a:off x="5283200" y="4892889"/>
            <a:ext cx="3328878"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000" b="1" dirty="0">
                <a:latin typeface="微软雅黑" panose="020B0503020204020204" pitchFamily="34" charset="-122"/>
                <a:ea typeface="微软雅黑" panose="020B0503020204020204" pitchFamily="34" charset="-122"/>
                <a:cs typeface="Arial" panose="020B0604020202020204" pitchFamily="34" charset="0"/>
              </a:rPr>
              <a:t>Euler’s Formula</a:t>
            </a:r>
          </a:p>
        </p:txBody>
      </p:sp>
    </p:spTree>
    <p:extLst>
      <p:ext uri="{BB962C8B-B14F-4D97-AF65-F5344CB8AC3E}">
        <p14:creationId xmlns:p14="http://schemas.microsoft.com/office/powerpoint/2010/main" val="154143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10" presetClass="entr" presetSubtype="0" fill="hold" nodeType="withEffect">
                                  <p:stCondLst>
                                    <p:cond delay="1000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par>
                                <p:cTn id="11" presetID="10" presetClass="entr" presetSubtype="0" fill="hold" grpId="0" nodeType="withEffect">
                                  <p:stCondLst>
                                    <p:cond delay="10000"/>
                                  </p:stCondLst>
                                  <p:childTnLst>
                                    <p:set>
                                      <p:cBhvr>
                                        <p:cTn id="12" dur="1" fill="hold">
                                          <p:stCondLst>
                                            <p:cond delay="0"/>
                                          </p:stCondLst>
                                        </p:cTn>
                                        <p:tgtEl>
                                          <p:spTgt spid="54"/>
                                        </p:tgtEl>
                                        <p:attrNameLst>
                                          <p:attrName>style.visibility</p:attrName>
                                        </p:attrNameLst>
                                      </p:cBhvr>
                                      <p:to>
                                        <p:strVal val="visible"/>
                                      </p:to>
                                    </p:set>
                                    <p:animEffect transition="in" filter="fade">
                                      <p:cBhvr>
                                        <p:cTn id="13" dur="500"/>
                                        <p:tgtEl>
                                          <p:spTgt spid="54"/>
                                        </p:tgtEl>
                                      </p:cBhvr>
                                    </p:animEffect>
                                  </p:childTnLst>
                                </p:cTn>
                              </p:par>
                              <p:par>
                                <p:cTn id="14" presetID="10" presetClass="entr" presetSubtype="0" fill="hold" nodeType="withEffect">
                                  <p:stCondLst>
                                    <p:cond delay="10000"/>
                                  </p:stCondLst>
                                  <p:childTnLst>
                                    <p:set>
                                      <p:cBhvr>
                                        <p:cTn id="15" dur="1" fill="hold">
                                          <p:stCondLst>
                                            <p:cond delay="0"/>
                                          </p:stCondLst>
                                        </p:cTn>
                                        <p:tgtEl>
                                          <p:spTgt spid="55"/>
                                        </p:tgtEl>
                                        <p:attrNameLst>
                                          <p:attrName>style.visibility</p:attrName>
                                        </p:attrNameLst>
                                      </p:cBhvr>
                                      <p:to>
                                        <p:strVal val="visible"/>
                                      </p:to>
                                    </p:set>
                                    <p:animEffect transition="in" filter="fade">
                                      <p:cBhvr>
                                        <p:cTn id="16" dur="500"/>
                                        <p:tgtEl>
                                          <p:spTgt spid="55"/>
                                        </p:tgtEl>
                                      </p:cBhvr>
                                    </p:animEffect>
                                  </p:childTnLst>
                                </p:cTn>
                              </p:par>
                              <p:par>
                                <p:cTn id="17" presetID="10" presetClass="entr" presetSubtype="0" fill="hold" grpId="0" nodeType="withEffect">
                                  <p:stCondLst>
                                    <p:cond delay="1600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grpId="0" nodeType="withEffect">
                                  <p:stCondLst>
                                    <p:cond delay="160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10" presetClass="entr" presetSubtype="0" fill="hold" grpId="0" nodeType="withEffect">
                                  <p:stCondLst>
                                    <p:cond delay="2000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par>
                                <p:cTn id="26" presetID="10" presetClass="entr" presetSubtype="0" fill="hold" grpId="0" nodeType="withEffect">
                                  <p:stCondLst>
                                    <p:cond delay="2000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par>
                                <p:cTn id="29" presetID="10" presetClass="entr" presetSubtype="0" fill="hold" grpId="0" nodeType="withEffect">
                                  <p:stCondLst>
                                    <p:cond delay="2000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grpId="0" nodeType="withEffect">
                                  <p:stCondLst>
                                    <p:cond delay="2400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grpId="0" nodeType="withEffect">
                                  <p:stCondLst>
                                    <p:cond delay="2400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par>
                                <p:cTn id="38" presetID="10" presetClass="entr" presetSubtype="0" fill="hold" grpId="0" nodeType="withEffect">
                                  <p:stCondLst>
                                    <p:cond delay="2800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par>
                                <p:cTn id="41" presetID="10" presetClass="entr" presetSubtype="0" fill="hold" grpId="0" nodeType="withEffect">
                                  <p:stCondLst>
                                    <p:cond delay="2800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grpId="0" nodeType="withEffect">
                                  <p:stCondLst>
                                    <p:cond delay="280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47" presetID="10" presetClass="entr" presetSubtype="0" fill="hold" nodeType="withEffect">
                                  <p:stCondLst>
                                    <p:cond delay="2800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42" grpId="0" animBg="1"/>
      <p:bldP spid="43" grpId="0" animBg="1"/>
      <p:bldP spid="44" grpId="0" animBg="1"/>
      <p:bldP spid="45" grpId="0"/>
      <p:bldP spid="46" grpId="0"/>
      <p:bldP spid="47" grpId="0"/>
      <p:bldP spid="48" grpId="0" animBg="1"/>
      <p:bldP spid="5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Euler</a:t>
            </a:r>
            <a:r>
              <a:rPr lang="en-US" altLang="zh-CN" sz="2400" b="1" dirty="0">
                <a:solidFill>
                  <a:schemeClr val="bg1"/>
                </a:solidFill>
                <a:latin typeface="+mn-lt"/>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 formula</a:t>
            </a:r>
          </a:p>
        </p:txBody>
      </p:sp>
      <p:pic>
        <p:nvPicPr>
          <p:cNvPr id="2" name="欧拉公式">
            <a:hlinkClick r:id="" action="ppaction://media"/>
            <a:extLst>
              <a:ext uri="{FF2B5EF4-FFF2-40B4-BE49-F238E27FC236}">
                <a16:creationId xmlns:a16="http://schemas.microsoft.com/office/drawing/2014/main" id="{DC9F4BC8-FFCC-44D4-7EBA-7445695AE9D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48765" y="761863"/>
            <a:ext cx="7948508" cy="3971927"/>
          </a:xfrm>
          <a:prstGeom prst="rect">
            <a:avLst/>
          </a:prstGeom>
        </p:spPr>
      </p:pic>
      <p:sp>
        <p:nvSpPr>
          <p:cNvPr id="3" name="文本框 2">
            <a:extLst>
              <a:ext uri="{FF2B5EF4-FFF2-40B4-BE49-F238E27FC236}">
                <a16:creationId xmlns:a16="http://schemas.microsoft.com/office/drawing/2014/main" id="{E621D567-B368-8E9F-0454-BB0EBEC26A72}"/>
              </a:ext>
            </a:extLst>
          </p:cNvPr>
          <p:cNvSpPr txBox="1"/>
          <p:nvPr/>
        </p:nvSpPr>
        <p:spPr>
          <a:xfrm>
            <a:off x="3718773" y="5106137"/>
            <a:ext cx="1962975" cy="369332"/>
          </a:xfrm>
          <a:prstGeom prst="rect">
            <a:avLst/>
          </a:prstGeom>
          <a:noFill/>
        </p:spPr>
        <p:txBody>
          <a:bodyPr wrap="square">
            <a:spAutoFit/>
          </a:bodyPr>
          <a:lstStyle/>
          <a:p>
            <a:r>
              <a:rPr lang="zh-CN" altLang="en-US" dirty="0"/>
              <a:t>第</a:t>
            </a:r>
            <a:r>
              <a:rPr lang="en-US" altLang="zh-CN" dirty="0"/>
              <a:t>10</a:t>
            </a:r>
            <a:r>
              <a:rPr lang="zh-CN" altLang="en-US" dirty="0"/>
              <a:t>分钟开始</a:t>
            </a:r>
          </a:p>
        </p:txBody>
      </p:sp>
    </p:spTree>
    <p:extLst>
      <p:ext uri="{BB962C8B-B14F-4D97-AF65-F5344CB8AC3E}">
        <p14:creationId xmlns:p14="http://schemas.microsoft.com/office/powerpoint/2010/main" val="178954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6605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9268">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Euler</a:t>
            </a:r>
            <a:r>
              <a:rPr lang="en-US" altLang="zh-CN" sz="2400" b="1" dirty="0">
                <a:solidFill>
                  <a:schemeClr val="bg1"/>
                </a:solidFill>
                <a:latin typeface="+mn-lt"/>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 formula</a:t>
            </a:r>
          </a:p>
        </p:txBody>
      </p:sp>
      <p:pic>
        <p:nvPicPr>
          <p:cNvPr id="3" name="图片 2">
            <a:extLst>
              <a:ext uri="{FF2B5EF4-FFF2-40B4-BE49-F238E27FC236}">
                <a16:creationId xmlns:a16="http://schemas.microsoft.com/office/drawing/2014/main" id="{2420F430-EC9D-C605-1700-DC14C9ED89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3342" y="1368869"/>
            <a:ext cx="7153836" cy="4905144"/>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C02EFF8-0743-A317-774A-83810DE0B221}"/>
                  </a:ext>
                </a:extLst>
              </p:cNvPr>
              <p:cNvSpPr txBox="1"/>
              <p:nvPr/>
            </p:nvSpPr>
            <p:spPr>
              <a:xfrm>
                <a:off x="1481334" y="782362"/>
                <a:ext cx="2989065" cy="31777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Cambria Math" panose="02040503050406030204" pitchFamily="18" charset="0"/>
                            </a:rPr>
                          </m:ctrlPr>
                        </m:sSupPr>
                        <m:e>
                          <m:r>
                            <a:rPr lang="en-US" altLang="zh-CN" sz="2000" i="1" dirty="0" smtClean="0">
                              <a:latin typeface="Cambria Math" panose="02040503050406030204" pitchFamily="18" charset="0"/>
                              <a:ea typeface="Cambria Math" panose="02040503050406030204" pitchFamily="18" charset="0"/>
                            </a:rPr>
                            <m:t>𝑒</m:t>
                          </m:r>
                        </m:e>
                        <m:sup>
                          <m:r>
                            <a:rPr lang="en-US" altLang="zh-CN" sz="2000" b="0" i="1" dirty="0" smtClean="0">
                              <a:latin typeface="Cambria Math" panose="02040503050406030204" pitchFamily="18" charset="0"/>
                              <a:ea typeface="Cambria Math" panose="02040503050406030204" pitchFamily="18" charset="0"/>
                            </a:rPr>
                            <m:t>𝑗</m:t>
                          </m:r>
                          <m:r>
                            <m:rPr>
                              <m:sty m:val="p"/>
                            </m:rPr>
                            <a:rPr lang="en-US" altLang="zh-CN" sz="2000" i="1" dirty="0" smtClean="0">
                              <a:latin typeface="Cambria Math" panose="02040503050406030204" pitchFamily="18" charset="0"/>
                              <a:ea typeface="Cambria Math" panose="02040503050406030204" pitchFamily="18" charset="0"/>
                            </a:rPr>
                            <m:t>ω</m:t>
                          </m:r>
                          <m:r>
                            <a:rPr lang="en-US" altLang="zh-CN" sz="2000" b="0" i="1" dirty="0" smtClean="0">
                              <a:latin typeface="Cambria Math" panose="02040503050406030204" pitchFamily="18" charset="0"/>
                              <a:ea typeface="Cambria Math" panose="02040503050406030204" pitchFamily="18" charset="0"/>
                            </a:rPr>
                            <m:t>𝑡</m:t>
                          </m:r>
                        </m:sup>
                      </m:sSup>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𝑐𝑜𝑠</m:t>
                      </m:r>
                      <m:r>
                        <m:rPr>
                          <m:sty m:val="p"/>
                        </m:rPr>
                        <a:rPr lang="en-US" altLang="zh-CN" sz="2000" i="1" dirty="0" smtClean="0">
                          <a:latin typeface="Cambria Math" panose="02040503050406030204" pitchFamily="18" charset="0"/>
                          <a:ea typeface="Cambria Math" panose="02040503050406030204" pitchFamily="18" charset="0"/>
                        </a:rPr>
                        <m:t>ω</m:t>
                      </m:r>
                      <m:r>
                        <a:rPr lang="en-US" altLang="zh-CN" sz="2000" b="0" i="1" dirty="0" smtClean="0">
                          <a:latin typeface="Cambria Math" panose="02040503050406030204" pitchFamily="18" charset="0"/>
                          <a:ea typeface="Cambria Math" panose="02040503050406030204" pitchFamily="18" charset="0"/>
                        </a:rPr>
                        <m:t>𝑡</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𝑗𝑠𝑖𝑛</m:t>
                      </m:r>
                      <m:r>
                        <m:rPr>
                          <m:sty m:val="p"/>
                        </m:rPr>
                        <a:rPr lang="en-US" altLang="zh-CN" sz="2000" i="1" dirty="0">
                          <a:latin typeface="Cambria Math" panose="02040503050406030204" pitchFamily="18" charset="0"/>
                          <a:ea typeface="Cambria Math" panose="02040503050406030204" pitchFamily="18" charset="0"/>
                        </a:rPr>
                        <m:t>ω</m:t>
                      </m:r>
                      <m:r>
                        <a:rPr lang="en-US" altLang="zh-CN" sz="2000" i="1" dirty="0">
                          <a:latin typeface="Cambria Math" panose="02040503050406030204" pitchFamily="18" charset="0"/>
                          <a:ea typeface="Cambria Math" panose="02040503050406030204" pitchFamily="18" charset="0"/>
                        </a:rPr>
                        <m:t>𝑡</m:t>
                      </m:r>
                    </m:oMath>
                  </m:oMathPara>
                </a14:m>
                <a:endParaRPr lang="zh-CN" altLang="en-US" sz="2000" dirty="0">
                  <a:latin typeface="Bodoni MT" panose="02070603080606020203" pitchFamily="18" charset="0"/>
                </a:endParaRPr>
              </a:p>
            </p:txBody>
          </p:sp>
        </mc:Choice>
        <mc:Fallback xmlns="">
          <p:sp>
            <p:nvSpPr>
              <p:cNvPr id="4" name="文本框 3">
                <a:extLst>
                  <a:ext uri="{FF2B5EF4-FFF2-40B4-BE49-F238E27FC236}">
                    <a16:creationId xmlns:a16="http://schemas.microsoft.com/office/drawing/2014/main" id="{6C02EFF8-0743-A317-774A-83810DE0B221}"/>
                  </a:ext>
                </a:extLst>
              </p:cNvPr>
              <p:cNvSpPr txBox="1">
                <a:spLocks noRot="1" noChangeAspect="1" noMove="1" noResize="1" noEditPoints="1" noAdjustHandles="1" noChangeArrowheads="1" noChangeShapeType="1" noTextEdit="1"/>
              </p:cNvSpPr>
              <p:nvPr/>
            </p:nvSpPr>
            <p:spPr>
              <a:xfrm>
                <a:off x="1481334" y="782362"/>
                <a:ext cx="2989065" cy="317779"/>
              </a:xfrm>
              <a:prstGeom prst="rect">
                <a:avLst/>
              </a:prstGeom>
              <a:blipFill>
                <a:blip r:embed="rId4"/>
                <a:stretch>
                  <a:fillRect t="-5769" b="-3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E8BACB3-8A0F-B4F6-02AA-5AAA65A2566E}"/>
                  </a:ext>
                </a:extLst>
              </p:cNvPr>
              <p:cNvSpPr txBox="1"/>
              <p:nvPr/>
            </p:nvSpPr>
            <p:spPr>
              <a:xfrm>
                <a:off x="4572000" y="658674"/>
                <a:ext cx="4072466" cy="565155"/>
              </a:xfrm>
              <a:prstGeom prst="rect">
                <a:avLst/>
              </a:prstGeom>
              <a:noFill/>
            </p:spPr>
            <p:txBody>
              <a:bodyPr wrap="square">
                <a:spAutoFit/>
              </a:bodyPr>
              <a:lstStyle/>
              <a:p>
                <a:r>
                  <a:rPr lang="en-US" altLang="zh-CN" sz="1400" dirty="0"/>
                  <a:t>In physics: use </a:t>
                </a:r>
                <a14:m>
                  <m:oMath xmlns:m="http://schemas.openxmlformats.org/officeDocument/2006/math">
                    <m:r>
                      <a:rPr lang="en-US" altLang="zh-CN" sz="1400" b="0" i="1" dirty="0" smtClean="0">
                        <a:latin typeface="Cambria Math" panose="02040503050406030204" pitchFamily="18" charset="0"/>
                        <a:ea typeface="Cambria Math" panose="02040503050406030204" pitchFamily="18" charset="0"/>
                      </a:rPr>
                      <m:t>𝑖</m:t>
                    </m:r>
                    <m:r>
                      <a:rPr lang="en-US" altLang="zh-CN" sz="1400" b="0" i="1" dirty="0" smtClean="0">
                        <a:latin typeface="Cambria Math" panose="02040503050406030204" pitchFamily="18" charset="0"/>
                        <a:ea typeface="Cambria Math" panose="02040503050406030204" pitchFamily="18" charset="0"/>
                      </a:rPr>
                      <m:t>=</m:t>
                    </m:r>
                    <m:rad>
                      <m:radPr>
                        <m:degHide m:val="on"/>
                        <m:ctrlPr>
                          <a:rPr lang="en-US" altLang="zh-CN" sz="1400" b="0" i="1" dirty="0" smtClean="0">
                            <a:latin typeface="Cambria Math" panose="02040503050406030204" pitchFamily="18" charset="0"/>
                            <a:ea typeface="Cambria Math" panose="02040503050406030204" pitchFamily="18" charset="0"/>
                          </a:rPr>
                        </m:ctrlPr>
                      </m:radPr>
                      <m:deg/>
                      <m:e>
                        <m:r>
                          <a:rPr lang="en-US" altLang="zh-CN" sz="1400" b="0" i="1" dirty="0" smtClean="0">
                            <a:latin typeface="Cambria Math" panose="02040503050406030204" pitchFamily="18" charset="0"/>
                            <a:ea typeface="Cambria Math" panose="02040503050406030204" pitchFamily="18" charset="0"/>
                          </a:rPr>
                          <m:t>−1</m:t>
                        </m:r>
                      </m:e>
                    </m:rad>
                    <m:r>
                      <a:rPr lang="en-US" altLang="zh-CN" sz="1400" b="0" i="0" dirty="0" smtClean="0">
                        <a:latin typeface="Cambria Math" panose="02040503050406030204" pitchFamily="18" charset="0"/>
                        <a:ea typeface="Cambria Math" panose="02040503050406030204" pitchFamily="18" charset="0"/>
                      </a:rPr>
                      <m:t>, </m:t>
                    </m:r>
                  </m:oMath>
                </a14:m>
                <a:r>
                  <a:rPr lang="en-US" altLang="zh-CN" sz="1400" dirty="0"/>
                  <a:t>and </a:t>
                </a:r>
                <a14:m>
                  <m:oMath xmlns:m="http://schemas.openxmlformats.org/officeDocument/2006/math">
                    <m:r>
                      <a:rPr lang="en-US" altLang="zh-CN" sz="1400" b="0" i="1" dirty="0" smtClean="0">
                        <a:latin typeface="Cambria Math" panose="02040503050406030204" pitchFamily="18" charset="0"/>
                        <a:ea typeface="Cambria Math" panose="02040503050406030204" pitchFamily="18" charset="0"/>
                      </a:rPr>
                      <m:t>𝑗</m:t>
                    </m:r>
                  </m:oMath>
                </a14:m>
                <a:r>
                  <a:rPr lang="en-US" altLang="zh-CN" sz="1400" dirty="0"/>
                  <a:t> = current density</a:t>
                </a:r>
              </a:p>
              <a:p>
                <a:r>
                  <a:rPr lang="en-US" altLang="zh-CN" sz="1400" dirty="0"/>
                  <a:t>In engineering: use </a:t>
                </a:r>
                <a14:m>
                  <m:oMath xmlns:m="http://schemas.openxmlformats.org/officeDocument/2006/math">
                    <m:r>
                      <a:rPr lang="en-US" altLang="zh-CN" sz="1400" i="1" dirty="0">
                        <a:latin typeface="Cambria Math" panose="02040503050406030204" pitchFamily="18" charset="0"/>
                        <a:ea typeface="Cambria Math" panose="02040503050406030204" pitchFamily="18" charset="0"/>
                      </a:rPr>
                      <m:t>𝑗</m:t>
                    </m:r>
                    <m:r>
                      <a:rPr lang="en-US" altLang="zh-CN" sz="1400" i="1" dirty="0">
                        <a:latin typeface="Cambria Math" panose="02040503050406030204" pitchFamily="18" charset="0"/>
                        <a:ea typeface="Cambria Math" panose="02040503050406030204" pitchFamily="18" charset="0"/>
                      </a:rPr>
                      <m:t>=</m:t>
                    </m:r>
                    <m:rad>
                      <m:radPr>
                        <m:degHide m:val="on"/>
                        <m:ctrlPr>
                          <a:rPr lang="en-US" altLang="zh-CN" sz="1400" i="1" dirty="0">
                            <a:latin typeface="Cambria Math" panose="02040503050406030204" pitchFamily="18" charset="0"/>
                            <a:ea typeface="Cambria Math" panose="02040503050406030204" pitchFamily="18" charset="0"/>
                          </a:rPr>
                        </m:ctrlPr>
                      </m:radPr>
                      <m:deg/>
                      <m:e>
                        <m:r>
                          <a:rPr lang="en-US" altLang="zh-CN" sz="1400" i="1" dirty="0">
                            <a:latin typeface="Cambria Math" panose="02040503050406030204" pitchFamily="18" charset="0"/>
                            <a:ea typeface="Cambria Math" panose="02040503050406030204" pitchFamily="18" charset="0"/>
                          </a:rPr>
                          <m:t>−1</m:t>
                        </m:r>
                      </m:e>
                    </m:rad>
                  </m:oMath>
                </a14:m>
                <a:r>
                  <a:rPr lang="en-US" altLang="zh-CN" sz="1400" dirty="0"/>
                  <a:t>, and </a:t>
                </a:r>
                <a14:m>
                  <m:oMath xmlns:m="http://schemas.openxmlformats.org/officeDocument/2006/math">
                    <m:r>
                      <a:rPr lang="en-US" altLang="zh-CN" sz="1400" i="1" dirty="0">
                        <a:latin typeface="Cambria Math" panose="02040503050406030204" pitchFamily="18" charset="0"/>
                        <a:ea typeface="Cambria Math" panose="02040503050406030204" pitchFamily="18" charset="0"/>
                      </a:rPr>
                      <m:t>𝑖</m:t>
                    </m:r>
                  </m:oMath>
                </a14:m>
                <a:r>
                  <a:rPr lang="en-US" altLang="zh-CN" sz="1400" dirty="0"/>
                  <a:t> = current</a:t>
                </a:r>
                <a:endParaRPr lang="zh-CN" altLang="en-US" sz="1400" dirty="0"/>
              </a:p>
            </p:txBody>
          </p:sp>
        </mc:Choice>
        <mc:Fallback xmlns="">
          <p:sp>
            <p:nvSpPr>
              <p:cNvPr id="5" name="文本框 4">
                <a:extLst>
                  <a:ext uri="{FF2B5EF4-FFF2-40B4-BE49-F238E27FC236}">
                    <a16:creationId xmlns:a16="http://schemas.microsoft.com/office/drawing/2014/main" id="{3E8BACB3-8A0F-B4F6-02AA-5AAA65A2566E}"/>
                  </a:ext>
                </a:extLst>
              </p:cNvPr>
              <p:cNvSpPr txBox="1">
                <a:spLocks noRot="1" noChangeAspect="1" noMove="1" noResize="1" noEditPoints="1" noAdjustHandles="1" noChangeArrowheads="1" noChangeShapeType="1" noTextEdit="1"/>
              </p:cNvSpPr>
              <p:nvPr/>
            </p:nvSpPr>
            <p:spPr>
              <a:xfrm>
                <a:off x="4572000" y="658674"/>
                <a:ext cx="4072466" cy="565155"/>
              </a:xfrm>
              <a:prstGeom prst="rect">
                <a:avLst/>
              </a:prstGeom>
              <a:blipFill>
                <a:blip r:embed="rId5"/>
                <a:stretch>
                  <a:fillRect l="-449" b="-107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8476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Euler</a:t>
            </a:r>
            <a:r>
              <a:rPr lang="en-US" altLang="zh-CN" sz="2400" b="1" dirty="0">
                <a:solidFill>
                  <a:schemeClr val="bg1"/>
                </a:solidFill>
                <a:latin typeface="+mn-lt"/>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 formula</a:t>
            </a:r>
          </a:p>
        </p:txBody>
      </p:sp>
      <p:pic>
        <p:nvPicPr>
          <p:cNvPr id="3" name="图片 2">
            <a:extLst>
              <a:ext uri="{FF2B5EF4-FFF2-40B4-BE49-F238E27FC236}">
                <a16:creationId xmlns:a16="http://schemas.microsoft.com/office/drawing/2014/main" id="{686A5887-552E-7938-D59E-AD0EBE1D86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423" y="1592273"/>
            <a:ext cx="8518243" cy="3673454"/>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193CD20-4818-1EE8-98C4-CBB3E571FAC9}"/>
                  </a:ext>
                </a:extLst>
              </p:cNvPr>
              <p:cNvSpPr txBox="1"/>
              <p:nvPr/>
            </p:nvSpPr>
            <p:spPr>
              <a:xfrm>
                <a:off x="3077467" y="968363"/>
                <a:ext cx="2989065" cy="31777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Cambria Math" panose="02040503050406030204" pitchFamily="18" charset="0"/>
                            </a:rPr>
                          </m:ctrlPr>
                        </m:sSupPr>
                        <m:e>
                          <m:r>
                            <a:rPr lang="en-US" altLang="zh-CN" sz="2000" i="1" dirty="0" smtClean="0">
                              <a:latin typeface="Cambria Math" panose="02040503050406030204" pitchFamily="18" charset="0"/>
                              <a:ea typeface="Cambria Math" panose="02040503050406030204" pitchFamily="18" charset="0"/>
                            </a:rPr>
                            <m:t>𝑒</m:t>
                          </m:r>
                        </m:e>
                        <m:sup>
                          <m:r>
                            <a:rPr lang="en-US" altLang="zh-CN" sz="2000" b="0" i="1" dirty="0" smtClean="0">
                              <a:latin typeface="Cambria Math" panose="02040503050406030204" pitchFamily="18" charset="0"/>
                              <a:ea typeface="Cambria Math" panose="02040503050406030204" pitchFamily="18" charset="0"/>
                            </a:rPr>
                            <m:t>𝑗</m:t>
                          </m:r>
                          <m:r>
                            <m:rPr>
                              <m:sty m:val="p"/>
                            </m:rPr>
                            <a:rPr lang="en-US" altLang="zh-CN" sz="2000" i="1" dirty="0" smtClean="0">
                              <a:latin typeface="Cambria Math" panose="02040503050406030204" pitchFamily="18" charset="0"/>
                              <a:ea typeface="Cambria Math" panose="02040503050406030204" pitchFamily="18" charset="0"/>
                            </a:rPr>
                            <m:t>ω</m:t>
                          </m:r>
                          <m:r>
                            <a:rPr lang="en-US" altLang="zh-CN" sz="2000" b="0" i="1" dirty="0" smtClean="0">
                              <a:latin typeface="Cambria Math" panose="02040503050406030204" pitchFamily="18" charset="0"/>
                              <a:ea typeface="Cambria Math" panose="02040503050406030204" pitchFamily="18" charset="0"/>
                            </a:rPr>
                            <m:t>𝑡</m:t>
                          </m:r>
                        </m:sup>
                      </m:sSup>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𝑐𝑜𝑠</m:t>
                      </m:r>
                      <m:r>
                        <m:rPr>
                          <m:sty m:val="p"/>
                        </m:rPr>
                        <a:rPr lang="en-US" altLang="zh-CN" sz="2000" i="1" dirty="0" smtClean="0">
                          <a:latin typeface="Cambria Math" panose="02040503050406030204" pitchFamily="18" charset="0"/>
                          <a:ea typeface="Cambria Math" panose="02040503050406030204" pitchFamily="18" charset="0"/>
                        </a:rPr>
                        <m:t>ω</m:t>
                      </m:r>
                      <m:r>
                        <a:rPr lang="en-US" altLang="zh-CN" sz="2000" b="0" i="1" dirty="0" smtClean="0">
                          <a:latin typeface="Cambria Math" panose="02040503050406030204" pitchFamily="18" charset="0"/>
                          <a:ea typeface="Cambria Math" panose="02040503050406030204" pitchFamily="18" charset="0"/>
                        </a:rPr>
                        <m:t>𝑡</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𝑗𝑠𝑖𝑛</m:t>
                      </m:r>
                      <m:r>
                        <m:rPr>
                          <m:sty m:val="p"/>
                        </m:rPr>
                        <a:rPr lang="en-US" altLang="zh-CN" sz="2000" i="1" dirty="0">
                          <a:latin typeface="Cambria Math" panose="02040503050406030204" pitchFamily="18" charset="0"/>
                          <a:ea typeface="Cambria Math" panose="02040503050406030204" pitchFamily="18" charset="0"/>
                        </a:rPr>
                        <m:t>ω</m:t>
                      </m:r>
                      <m:r>
                        <a:rPr lang="en-US" altLang="zh-CN" sz="2000" i="1" dirty="0">
                          <a:latin typeface="Cambria Math" panose="02040503050406030204" pitchFamily="18" charset="0"/>
                          <a:ea typeface="Cambria Math" panose="02040503050406030204" pitchFamily="18" charset="0"/>
                        </a:rPr>
                        <m:t>𝑡</m:t>
                      </m:r>
                    </m:oMath>
                  </m:oMathPara>
                </a14:m>
                <a:endParaRPr lang="zh-CN" altLang="en-US" sz="2000" dirty="0">
                  <a:latin typeface="Bodoni MT" panose="02070603080606020203" pitchFamily="18" charset="0"/>
                </a:endParaRPr>
              </a:p>
            </p:txBody>
          </p:sp>
        </mc:Choice>
        <mc:Fallback xmlns="">
          <p:sp>
            <p:nvSpPr>
              <p:cNvPr id="2" name="文本框 1">
                <a:extLst>
                  <a:ext uri="{FF2B5EF4-FFF2-40B4-BE49-F238E27FC236}">
                    <a16:creationId xmlns:a16="http://schemas.microsoft.com/office/drawing/2014/main" id="{5193CD20-4818-1EE8-98C4-CBB3E571FAC9}"/>
                  </a:ext>
                </a:extLst>
              </p:cNvPr>
              <p:cNvSpPr txBox="1">
                <a:spLocks noRot="1" noChangeAspect="1" noMove="1" noResize="1" noEditPoints="1" noAdjustHandles="1" noChangeArrowheads="1" noChangeShapeType="1" noTextEdit="1"/>
              </p:cNvSpPr>
              <p:nvPr/>
            </p:nvSpPr>
            <p:spPr>
              <a:xfrm>
                <a:off x="3077467" y="968363"/>
                <a:ext cx="2989065" cy="317779"/>
              </a:xfrm>
              <a:prstGeom prst="rect">
                <a:avLst/>
              </a:prstGeom>
              <a:blipFill>
                <a:blip r:embed="rId4"/>
                <a:stretch>
                  <a:fillRect t="-5769" b="-3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4BD51CC-0D99-0A3E-B3BD-5497F413339B}"/>
                  </a:ext>
                </a:extLst>
              </p:cNvPr>
              <p:cNvSpPr txBox="1"/>
              <p:nvPr/>
            </p:nvSpPr>
            <p:spPr>
              <a:xfrm>
                <a:off x="5706532" y="5560210"/>
                <a:ext cx="3268134" cy="369332"/>
              </a:xfrm>
              <a:prstGeom prst="rect">
                <a:avLst/>
              </a:prstGeom>
              <a:noFill/>
            </p:spPr>
            <p:txBody>
              <a:bodyPr wrap="square">
                <a:spAutoFit/>
              </a:bodyPr>
              <a:lstStyle/>
              <a:p>
                <a14:m>
                  <m:oMath xmlns:m="http://schemas.openxmlformats.org/officeDocument/2006/math">
                    <m:r>
                      <a:rPr lang="en-US" altLang="zh-CN" b="1" i="1" dirty="0" smtClean="0">
                        <a:latin typeface="Cambria Math" panose="02040503050406030204" pitchFamily="18" charset="0"/>
                        <a:ea typeface="Cambria Math" panose="02040503050406030204" pitchFamily="18" charset="0"/>
                      </a:rPr>
                      <m:t>𝒋</m:t>
                    </m:r>
                  </m:oMath>
                </a14:m>
                <a:r>
                  <a:rPr lang="zh-CN" altLang="en-US" b="1" dirty="0"/>
                  <a:t> </a:t>
                </a:r>
                <a:r>
                  <a:rPr lang="en-US" altLang="zh-CN" b="1" dirty="0"/>
                  <a:t>means rotate 90 degrees</a:t>
                </a:r>
                <a:endParaRPr lang="zh-CN" altLang="en-US" b="1" dirty="0"/>
              </a:p>
            </p:txBody>
          </p:sp>
        </mc:Choice>
        <mc:Fallback xmlns="">
          <p:sp>
            <p:nvSpPr>
              <p:cNvPr id="4" name="文本框 3">
                <a:extLst>
                  <a:ext uri="{FF2B5EF4-FFF2-40B4-BE49-F238E27FC236}">
                    <a16:creationId xmlns:a16="http://schemas.microsoft.com/office/drawing/2014/main" id="{14BD51CC-0D99-0A3E-B3BD-5497F413339B}"/>
                  </a:ext>
                </a:extLst>
              </p:cNvPr>
              <p:cNvSpPr txBox="1">
                <a:spLocks noRot="1" noChangeAspect="1" noMove="1" noResize="1" noEditPoints="1" noAdjustHandles="1" noChangeArrowheads="1" noChangeShapeType="1" noTextEdit="1"/>
              </p:cNvSpPr>
              <p:nvPr/>
            </p:nvSpPr>
            <p:spPr>
              <a:xfrm>
                <a:off x="5706532" y="5560210"/>
                <a:ext cx="3268134" cy="369332"/>
              </a:xfrm>
              <a:prstGeom prst="rect">
                <a:avLst/>
              </a:prstGeom>
              <a:blipFill>
                <a:blip r:embed="rId5"/>
                <a:stretch>
                  <a:fillRect l="-373"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6862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74533-22F1-0DFC-697C-09B0F2DD80EC}"/>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99053ECC-F452-EA7C-0BD5-74A84F04F6AB}"/>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Waves using complex numbers</a:t>
            </a:r>
          </a:p>
        </p:txBody>
      </p:sp>
      <p:sp>
        <p:nvSpPr>
          <p:cNvPr id="15" name="文本框 14">
            <a:extLst>
              <a:ext uri="{FF2B5EF4-FFF2-40B4-BE49-F238E27FC236}">
                <a16:creationId xmlns:a16="http://schemas.microsoft.com/office/drawing/2014/main" id="{742325A0-CADD-0A3A-5946-A3897E86A21F}"/>
              </a:ext>
            </a:extLst>
          </p:cNvPr>
          <p:cNvSpPr txBox="1"/>
          <p:nvPr/>
        </p:nvSpPr>
        <p:spPr>
          <a:xfrm>
            <a:off x="1137684" y="1024531"/>
            <a:ext cx="7272669" cy="369332"/>
          </a:xfrm>
          <a:prstGeom prst="rect">
            <a:avLst/>
          </a:prstGeom>
          <a:noFill/>
        </p:spPr>
        <p:txBody>
          <a:bodyPr wrap="square">
            <a:spAutoFit/>
          </a:bodyPr>
          <a:lstStyle/>
          <a:p>
            <a:r>
              <a:rPr lang="en-US" altLang="zh-CN" dirty="0"/>
              <a:t>We have known the Harmonic Wave Solutions to the Wave Equation:</a:t>
            </a:r>
            <a:endParaRPr lang="zh-CN" altLang="en-US"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372B297-8813-34E6-B548-A99D8F7656E1}"/>
                  </a:ext>
                </a:extLst>
              </p:cNvPr>
              <p:cNvSpPr txBox="1"/>
              <p:nvPr/>
            </p:nvSpPr>
            <p:spPr>
              <a:xfrm>
                <a:off x="2499798" y="1655200"/>
                <a:ext cx="41444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en-US" altLang="zh-CN" sz="2400" b="0" i="1" smtClean="0">
                              <a:latin typeface="Cambria Math" panose="02040503050406030204" pitchFamily="18" charset="0"/>
                            </a:rPr>
                            <m:t>𝑥</m:t>
                          </m:r>
                          <m:r>
                            <a:rPr lang="zh-CN" altLang="en-US" sz="2400" b="0" i="1">
                              <a:latin typeface="Cambria Math" panose="02040503050406030204" pitchFamily="18" charset="0"/>
                            </a:rPr>
                            <m:t>,</m:t>
                          </m:r>
                          <m:r>
                            <a:rPr lang="zh-CN" altLang="en-US" sz="2400" b="0" i="1">
                              <a:latin typeface="Cambria Math" panose="02040503050406030204" pitchFamily="18" charset="0"/>
                            </a:rPr>
                            <m:t>𝑡</m:t>
                          </m:r>
                        </m:e>
                      </m:d>
                      <m:r>
                        <a:rPr lang="zh-CN" altLang="en-US" sz="2400" b="0" i="1">
                          <a:latin typeface="Cambria Math" panose="02040503050406030204" pitchFamily="18" charset="0"/>
                        </a:rPr>
                        <m:t>=</m:t>
                      </m:r>
                      <m:r>
                        <a:rPr lang="zh-CN" altLang="en-US" sz="2400" b="0" i="1">
                          <a:latin typeface="Cambria Math" panose="02040503050406030204" pitchFamily="18" charset="0"/>
                        </a:rPr>
                        <m:t>𝐴</m:t>
                      </m:r>
                      <m:func>
                        <m:funcPr>
                          <m:ctrlPr>
                            <a:rPr lang="zh-CN" altLang="en-US" sz="2400" i="1">
                              <a:latin typeface="Cambria Math" panose="02040503050406030204" pitchFamily="18" charset="0"/>
                            </a:rPr>
                          </m:ctrlPr>
                        </m:funcPr>
                        <m:fName>
                          <m:r>
                            <a:rPr lang="zh-CN" altLang="en-US" sz="2400" b="0" i="1">
                              <a:latin typeface="Cambria Math" panose="02040503050406030204" pitchFamily="18" charset="0"/>
                            </a:rPr>
                            <m:t>𝑐𝑜𝑠</m:t>
                          </m:r>
                        </m:fName>
                        <m:e>
                          <m:d>
                            <m:dPr>
                              <m:begChr m:val="["/>
                              <m:endChr m:val="]"/>
                              <m:ctrlPr>
                                <a:rPr lang="zh-CN" altLang="en-US" sz="2400" i="1">
                                  <a:solidFill>
                                    <a:srgbClr val="836967"/>
                                  </a:solidFill>
                                  <a:latin typeface="Cambria Math" panose="02040503050406030204" pitchFamily="18" charset="0"/>
                                </a:rPr>
                              </m:ctrlPr>
                            </m:dPr>
                            <m:e>
                              <m:d>
                                <m:dPr>
                                  <m:ctrlPr>
                                    <a:rPr lang="zh-CN" altLang="en-US" sz="2400" i="1">
                                      <a:solidFill>
                                        <a:srgbClr val="836967"/>
                                      </a:solidFill>
                                      <a:latin typeface="Cambria Math" panose="02040503050406030204" pitchFamily="18" charset="0"/>
                                    </a:rPr>
                                  </m:ctrlPr>
                                </m:dPr>
                                <m:e>
                                  <m:r>
                                    <a:rPr lang="zh-CN" altLang="en-US" sz="2400" b="0" i="1">
                                      <a:latin typeface="Cambria Math" panose="02040503050406030204" pitchFamily="18" charset="0"/>
                                    </a:rPr>
                                    <m:t>𝑘</m:t>
                                  </m:r>
                                  <m:r>
                                    <a:rPr lang="en-US" altLang="zh-CN" sz="2400" b="0" i="1" smtClean="0">
                                      <a:latin typeface="Cambria Math" panose="02040503050406030204" pitchFamily="18" charset="0"/>
                                    </a:rPr>
                                    <m:t>𝑥</m:t>
                                  </m:r>
                                  <m:r>
                                    <a:rPr lang="en-US" altLang="zh-CN" sz="2400" b="0" i="1">
                                      <a:latin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𝜔</m:t>
                                  </m:r>
                                  <m:r>
                                    <a:rPr lang="en-US" altLang="zh-CN" sz="2400" b="0" i="1">
                                      <a:latin typeface="Cambria Math" panose="02040503050406030204" pitchFamily="18" charset="0"/>
                                    </a:rPr>
                                    <m:t>𝑡</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e>
                          </m:d>
                        </m:e>
                      </m:func>
                    </m:oMath>
                  </m:oMathPara>
                </a14:m>
                <a:endParaRPr lang="zh-CN" altLang="en-US" sz="2400" i="1" dirty="0"/>
              </a:p>
            </p:txBody>
          </p:sp>
        </mc:Choice>
        <mc:Fallback xmlns="">
          <p:sp>
            <p:nvSpPr>
              <p:cNvPr id="22" name="文本框 21">
                <a:extLst>
                  <a:ext uri="{FF2B5EF4-FFF2-40B4-BE49-F238E27FC236}">
                    <a16:creationId xmlns:a16="http://schemas.microsoft.com/office/drawing/2014/main" id="{636FD0EA-7B46-4B4F-389B-08767F69800C}"/>
                  </a:ext>
                </a:extLst>
              </p:cNvPr>
              <p:cNvSpPr txBox="1">
                <a:spLocks noRot="1" noChangeAspect="1" noMove="1" noResize="1" noEditPoints="1" noAdjustHandles="1" noChangeArrowheads="1" noChangeShapeType="1" noTextEdit="1"/>
              </p:cNvSpPr>
              <p:nvPr/>
            </p:nvSpPr>
            <p:spPr>
              <a:xfrm>
                <a:off x="2499798" y="1655200"/>
                <a:ext cx="4144403" cy="369332"/>
              </a:xfrm>
              <a:prstGeom prst="rect">
                <a:avLst/>
              </a:prstGeom>
              <a:blipFill>
                <a:blip r:embed="rId3"/>
                <a:stretch>
                  <a:fillRect l="-1029" b="-1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6742444-2E2A-1437-9731-7D0D2EDA0E37}"/>
                  </a:ext>
                </a:extLst>
              </p:cNvPr>
              <p:cNvSpPr txBox="1"/>
              <p:nvPr/>
            </p:nvSpPr>
            <p:spPr>
              <a:xfrm>
                <a:off x="3335579" y="3591965"/>
                <a:ext cx="2876878" cy="3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𝑡</m:t>
                          </m:r>
                        </m:e>
                      </m:d>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𝐸</m:t>
                          </m:r>
                        </m:e>
                        <m:sub>
                          <m:r>
                            <a:rPr lang="zh-CN" altLang="en-US" sz="2400" i="0">
                              <a:latin typeface="Cambria Math" panose="02040503050406030204" pitchFamily="18" charset="0"/>
                            </a:rPr>
                            <m:t>0</m:t>
                          </m:r>
                        </m:sub>
                      </m:sSub>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ⅇ</m:t>
                          </m:r>
                        </m:e>
                        <m:sup>
                          <m:r>
                            <a:rPr lang="zh-CN" altLang="en-US" sz="2400" i="1">
                              <a:latin typeface="Cambria Math" panose="02040503050406030204" pitchFamily="18" charset="0"/>
                            </a:rPr>
                            <m:t>𝑗</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𝑘𝑥</m:t>
                              </m:r>
                              <m:r>
                                <a:rPr lang="zh-CN" altLang="en-US" sz="2400" i="0">
                                  <a:latin typeface="Cambria Math" panose="02040503050406030204" pitchFamily="18" charset="0"/>
                                </a:rPr>
                                <m:t>−</m:t>
                              </m:r>
                              <m:r>
                                <a:rPr lang="zh-CN" altLang="en-US" sz="2400" i="1">
                                  <a:latin typeface="Cambria Math" panose="02040503050406030204" pitchFamily="18" charset="0"/>
                                </a:rPr>
                                <m:t>𝜔</m:t>
                              </m:r>
                              <m:r>
                                <a:rPr lang="zh-CN" altLang="en-US" sz="2400" i="1">
                                  <a:latin typeface="Cambria Math" panose="02040503050406030204" pitchFamily="18" charset="0"/>
                                </a:rPr>
                                <m:t>𝑡</m:t>
                              </m:r>
                            </m:e>
                          </m:d>
                        </m:sup>
                      </m:sSup>
                    </m:oMath>
                  </m:oMathPara>
                </a14:m>
                <a:endParaRPr lang="zh-CN" altLang="en-US" sz="2400" dirty="0"/>
              </a:p>
            </p:txBody>
          </p:sp>
        </mc:Choice>
        <mc:Fallback xmlns="">
          <p:sp>
            <p:nvSpPr>
              <p:cNvPr id="2" name="文本框 1">
                <a:extLst>
                  <a:ext uri="{FF2B5EF4-FFF2-40B4-BE49-F238E27FC236}">
                    <a16:creationId xmlns:a16="http://schemas.microsoft.com/office/drawing/2014/main" id="{058B545C-3C0B-FA21-8FC0-640CF5BFFC9E}"/>
                  </a:ext>
                </a:extLst>
              </p:cNvPr>
              <p:cNvSpPr txBox="1">
                <a:spLocks noRot="1" noChangeAspect="1" noMove="1" noResize="1" noEditPoints="1" noAdjustHandles="1" noChangeArrowheads="1" noChangeShapeType="1" noTextEdit="1"/>
              </p:cNvSpPr>
              <p:nvPr/>
            </p:nvSpPr>
            <p:spPr>
              <a:xfrm>
                <a:off x="3335579" y="3591965"/>
                <a:ext cx="2876878" cy="394339"/>
              </a:xfrm>
              <a:prstGeom prst="rect">
                <a:avLst/>
              </a:prstGeom>
              <a:blipFill>
                <a:blip r:embed="rId4"/>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28E54C9E-9F8D-3794-CF62-58BD5ADE7CB5}"/>
              </a:ext>
            </a:extLst>
          </p:cNvPr>
          <p:cNvSpPr txBox="1"/>
          <p:nvPr/>
        </p:nvSpPr>
        <p:spPr>
          <a:xfrm>
            <a:off x="1497419" y="2961296"/>
            <a:ext cx="7272669" cy="369332"/>
          </a:xfrm>
          <a:prstGeom prst="rect">
            <a:avLst/>
          </a:prstGeom>
          <a:noFill/>
        </p:spPr>
        <p:txBody>
          <a:bodyPr wrap="square">
            <a:spAutoFit/>
          </a:bodyPr>
          <a:lstStyle/>
          <a:p>
            <a:r>
              <a:rPr lang="en-US" altLang="zh-CN" dirty="0"/>
              <a:t>What is this</a:t>
            </a:r>
            <a:r>
              <a:rPr lang="zh-CN" altLang="en-US" dirty="0"/>
              <a:t>？</a:t>
            </a:r>
            <a:r>
              <a:rPr lang="en-US" altLang="zh-CN" dirty="0"/>
              <a:t>Why the wave equation using complex numbers:</a:t>
            </a:r>
            <a:endParaRPr lang="zh-CN" altLang="en-US" dirty="0"/>
          </a:p>
        </p:txBody>
      </p:sp>
      <p:sp>
        <p:nvSpPr>
          <p:cNvPr id="4" name="标题 2">
            <a:extLst>
              <a:ext uri="{FF2B5EF4-FFF2-40B4-BE49-F238E27FC236}">
                <a16:creationId xmlns:a16="http://schemas.microsoft.com/office/drawing/2014/main" id="{29C0491D-54FD-B7AF-22F8-10562524A027}"/>
              </a:ext>
            </a:extLst>
          </p:cNvPr>
          <p:cNvSpPr txBox="1">
            <a:spLocks/>
          </p:cNvSpPr>
          <p:nvPr/>
        </p:nvSpPr>
        <p:spPr>
          <a:xfrm>
            <a:off x="4215810" y="4910462"/>
            <a:ext cx="3328878"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Euler</a:t>
            </a:r>
            <a:r>
              <a:rPr lang="en-US" altLang="zh-CN" sz="2400" b="1" dirty="0">
                <a:latin typeface="+mn-lt"/>
                <a:ea typeface="微软雅黑" panose="020B0503020204020204" pitchFamily="34" charset="-122"/>
                <a:cs typeface="Arial" panose="020B0604020202020204" pitchFamily="34" charset="0"/>
              </a:rPr>
              <a:t>’</a:t>
            </a: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s formula</a:t>
            </a:r>
          </a:p>
        </p:txBody>
      </p:sp>
      <p:sp>
        <p:nvSpPr>
          <p:cNvPr id="6" name="文本框 5">
            <a:extLst>
              <a:ext uri="{FF2B5EF4-FFF2-40B4-BE49-F238E27FC236}">
                <a16:creationId xmlns:a16="http://schemas.microsoft.com/office/drawing/2014/main" id="{C0B82FD3-E090-497C-5AE8-07BC35BA8EB5}"/>
              </a:ext>
            </a:extLst>
          </p:cNvPr>
          <p:cNvSpPr txBox="1"/>
          <p:nvPr/>
        </p:nvSpPr>
        <p:spPr>
          <a:xfrm>
            <a:off x="2328529" y="4910462"/>
            <a:ext cx="2243470"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cs typeface="Arial" panose="020B0604020202020204" pitchFamily="34" charset="0"/>
              </a:rPr>
              <a:t>We need to know </a:t>
            </a:r>
            <a:endParaRPr lang="zh-CN" altLang="en-US" dirty="0"/>
          </a:p>
        </p:txBody>
      </p:sp>
    </p:spTree>
    <p:extLst>
      <p:ext uri="{BB962C8B-B14F-4D97-AF65-F5344CB8AC3E}">
        <p14:creationId xmlns:p14="http://schemas.microsoft.com/office/powerpoint/2010/main" val="4511507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Waves and the Wave Equation</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F7B8330B-CFE6-2C35-288A-E27F3136525E}"/>
                  </a:ext>
                </a:extLst>
              </p:cNvPr>
              <p:cNvSpPr txBox="1"/>
              <p:nvPr/>
            </p:nvSpPr>
            <p:spPr>
              <a:xfrm>
                <a:off x="2860702" y="736119"/>
                <a:ext cx="345665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b="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b="0" i="1">
                              <a:latin typeface="Cambria Math" panose="02040503050406030204" pitchFamily="18" charset="0"/>
                            </a:rPr>
                            <m:t>,</m:t>
                          </m:r>
                          <m:r>
                            <a:rPr lang="zh-CN" altLang="en-US" sz="2000" b="0" i="1">
                              <a:latin typeface="Cambria Math" panose="02040503050406030204" pitchFamily="18" charset="0"/>
                            </a:rPr>
                            <m:t>𝑡</m:t>
                          </m:r>
                        </m:e>
                      </m:d>
                      <m:r>
                        <a:rPr lang="zh-CN" altLang="en-US" sz="2000" b="0" i="1">
                          <a:latin typeface="Cambria Math" panose="02040503050406030204" pitchFamily="18" charset="0"/>
                        </a:rPr>
                        <m:t>=</m:t>
                      </m:r>
                      <m:r>
                        <a:rPr lang="zh-CN" altLang="en-US" sz="2000" b="0" i="1">
                          <a:latin typeface="Cambria Math" panose="02040503050406030204" pitchFamily="18" charset="0"/>
                        </a:rPr>
                        <m:t>𝐴</m:t>
                      </m:r>
                      <m:func>
                        <m:funcPr>
                          <m:ctrlPr>
                            <a:rPr lang="zh-CN" altLang="en-US" sz="2000" i="1">
                              <a:latin typeface="Cambria Math" panose="02040503050406030204" pitchFamily="18" charset="0"/>
                            </a:rPr>
                          </m:ctrlPr>
                        </m:funcPr>
                        <m:fName>
                          <m:r>
                            <a:rPr lang="zh-CN" altLang="en-US" sz="2000" b="0" i="1">
                              <a:latin typeface="Cambria Math" panose="02040503050406030204" pitchFamily="18" charset="0"/>
                            </a:rPr>
                            <m:t>𝑐𝑜𝑠</m:t>
                          </m:r>
                        </m:fName>
                        <m:e>
                          <m:d>
                            <m:dPr>
                              <m:begChr m:val="["/>
                              <m:endChr m:val="]"/>
                              <m:ctrlPr>
                                <a:rPr lang="zh-CN" altLang="en-US" sz="2000" i="1">
                                  <a:solidFill>
                                    <a:srgbClr val="836967"/>
                                  </a:solidFill>
                                  <a:latin typeface="Cambria Math" panose="02040503050406030204" pitchFamily="18" charset="0"/>
                                </a:rPr>
                              </m:ctrlPr>
                            </m:dPr>
                            <m:e>
                              <m:d>
                                <m:dPr>
                                  <m:ctrlPr>
                                    <a:rPr lang="zh-CN" altLang="en-US" sz="2000" i="1">
                                      <a:solidFill>
                                        <a:srgbClr val="836967"/>
                                      </a:solidFill>
                                      <a:latin typeface="Cambria Math" panose="02040503050406030204" pitchFamily="18" charset="0"/>
                                    </a:rPr>
                                  </m:ctrlPr>
                                </m:dPr>
                                <m:e>
                                  <m:r>
                                    <a:rPr lang="zh-CN" altLang="en-US" sz="2000" b="0" i="1">
                                      <a:latin typeface="Cambria Math" panose="02040503050406030204" pitchFamily="18" charset="0"/>
                                    </a:rPr>
                                    <m:t>𝑘</m:t>
                                  </m:r>
                                  <m:r>
                                    <a:rPr lang="en-US" altLang="zh-CN" sz="2000" b="0" i="1" smtClean="0">
                                      <a:latin typeface="Cambria Math" panose="02040503050406030204" pitchFamily="18" charset="0"/>
                                    </a:rPr>
                                    <m:t>𝑥</m:t>
                                  </m:r>
                                  <m:r>
                                    <a:rPr lang="en-US" altLang="zh-CN" sz="2000" b="0" i="1">
                                      <a:latin typeface="Cambria Math" panose="02040503050406030204" pitchFamily="18" charset="0"/>
                                    </a:rPr>
                                    <m:t>−</m:t>
                                  </m:r>
                                  <m:r>
                                    <a:rPr lang="en-US" altLang="zh-CN" sz="2000" b="0" i="1" dirty="0">
                                      <a:latin typeface="Cambria Math" panose="02040503050406030204" pitchFamily="18" charset="0"/>
                                      <a:ea typeface="Cambria Math" panose="02040503050406030204" pitchFamily="18" charset="0"/>
                                    </a:rPr>
                                    <m:t>𝜔</m:t>
                                  </m:r>
                                  <m:r>
                                    <a:rPr lang="en-US" altLang="zh-CN" sz="2000" b="0" i="1">
                                      <a:latin typeface="Cambria Math" panose="02040503050406030204" pitchFamily="18" charset="0"/>
                                    </a:rPr>
                                    <m:t>𝑡</m:t>
                                  </m:r>
                                </m:e>
                              </m:d>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𝜃</m:t>
                              </m:r>
                            </m:e>
                          </m:d>
                        </m:e>
                      </m:func>
                    </m:oMath>
                  </m:oMathPara>
                </a14:m>
                <a:endParaRPr lang="zh-CN" altLang="en-US" sz="2000" i="1" dirty="0"/>
              </a:p>
            </p:txBody>
          </p:sp>
        </mc:Choice>
        <mc:Fallback xmlns="">
          <p:sp>
            <p:nvSpPr>
              <p:cNvPr id="19" name="文本框 18">
                <a:extLst>
                  <a:ext uri="{FF2B5EF4-FFF2-40B4-BE49-F238E27FC236}">
                    <a16:creationId xmlns:a16="http://schemas.microsoft.com/office/drawing/2014/main" id="{F7B8330B-CFE6-2C35-288A-E27F3136525E}"/>
                  </a:ext>
                </a:extLst>
              </p:cNvPr>
              <p:cNvSpPr txBox="1">
                <a:spLocks noRot="1" noChangeAspect="1" noMove="1" noResize="1" noEditPoints="1" noAdjustHandles="1" noChangeArrowheads="1" noChangeShapeType="1" noTextEdit="1"/>
              </p:cNvSpPr>
              <p:nvPr/>
            </p:nvSpPr>
            <p:spPr>
              <a:xfrm>
                <a:off x="2860702" y="736119"/>
                <a:ext cx="3456652" cy="307777"/>
              </a:xfrm>
              <a:prstGeom prst="rect">
                <a:avLst/>
              </a:prstGeom>
              <a:blipFill>
                <a:blip r:embed="rId3"/>
                <a:stretch>
                  <a:fillRect l="-1058"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953D711-AA0D-0178-067C-DF90FFA34C3E}"/>
                  </a:ext>
                </a:extLst>
              </p:cNvPr>
              <p:cNvSpPr txBox="1"/>
              <p:nvPr/>
            </p:nvSpPr>
            <p:spPr>
              <a:xfrm>
                <a:off x="6001441" y="1371532"/>
                <a:ext cx="2458369" cy="31777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Cambria Math" panose="02040503050406030204" pitchFamily="18" charset="0"/>
                            </a:rPr>
                          </m:ctrlPr>
                        </m:sSupPr>
                        <m:e>
                          <m:r>
                            <a:rPr lang="en-US" altLang="zh-CN" sz="2000" i="1" dirty="0" smtClean="0">
                              <a:latin typeface="Cambria Math" panose="02040503050406030204" pitchFamily="18" charset="0"/>
                              <a:ea typeface="Cambria Math" panose="02040503050406030204" pitchFamily="18" charset="0"/>
                            </a:rPr>
                            <m:t>𝑒</m:t>
                          </m:r>
                        </m:e>
                        <m:sup>
                          <m:r>
                            <a:rPr lang="en-US" altLang="zh-CN" sz="2000" b="0" i="1" dirty="0" smtClean="0">
                              <a:latin typeface="Cambria Math" panose="02040503050406030204" pitchFamily="18" charset="0"/>
                              <a:ea typeface="Cambria Math" panose="02040503050406030204" pitchFamily="18" charset="0"/>
                            </a:rPr>
                            <m:t>𝑗</m:t>
                          </m:r>
                          <m:r>
                            <m:rPr>
                              <m:sty m:val="p"/>
                            </m:rPr>
                            <a:rPr lang="en-US" altLang="zh-CN" sz="2000" i="1" dirty="0">
                              <a:latin typeface="Cambria Math" panose="02040503050406030204" pitchFamily="18" charset="0"/>
                              <a:ea typeface="Cambria Math" panose="02040503050406030204" pitchFamily="18" charset="0"/>
                            </a:rPr>
                            <m:t>φ</m:t>
                          </m:r>
                        </m:sup>
                      </m:sSup>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𝑐𝑜𝑠</m:t>
                      </m:r>
                      <m:r>
                        <m:rPr>
                          <m:sty m:val="p"/>
                        </m:rPr>
                        <a:rPr lang="en-US" altLang="zh-CN" sz="2000" i="1" dirty="0">
                          <a:latin typeface="Cambria Math" panose="02040503050406030204" pitchFamily="18" charset="0"/>
                          <a:ea typeface="Cambria Math" panose="02040503050406030204" pitchFamily="18" charset="0"/>
                        </a:rPr>
                        <m:t>φ</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𝑖𝑠𝑖𝑛</m:t>
                      </m:r>
                      <m:r>
                        <m:rPr>
                          <m:sty m:val="p"/>
                        </m:rPr>
                        <a:rPr lang="en-US" altLang="zh-CN" sz="2000" i="1" dirty="0">
                          <a:latin typeface="Cambria Math" panose="02040503050406030204" pitchFamily="18" charset="0"/>
                          <a:ea typeface="Cambria Math" panose="02040503050406030204" pitchFamily="18" charset="0"/>
                        </a:rPr>
                        <m:t>φ</m:t>
                      </m:r>
                    </m:oMath>
                  </m:oMathPara>
                </a14:m>
                <a:endParaRPr lang="zh-CN" altLang="en-US" sz="2000" dirty="0">
                  <a:latin typeface="Bodoni MT" panose="02070603080606020203" pitchFamily="18" charset="0"/>
                </a:endParaRPr>
              </a:p>
            </p:txBody>
          </p:sp>
        </mc:Choice>
        <mc:Fallback xmlns="">
          <p:sp>
            <p:nvSpPr>
              <p:cNvPr id="2" name="文本框 1">
                <a:extLst>
                  <a:ext uri="{FF2B5EF4-FFF2-40B4-BE49-F238E27FC236}">
                    <a16:creationId xmlns:a16="http://schemas.microsoft.com/office/drawing/2014/main" id="{1953D711-AA0D-0178-067C-DF90FFA34C3E}"/>
                  </a:ext>
                </a:extLst>
              </p:cNvPr>
              <p:cNvSpPr txBox="1">
                <a:spLocks noRot="1" noChangeAspect="1" noMove="1" noResize="1" noEditPoints="1" noAdjustHandles="1" noChangeArrowheads="1" noChangeShapeType="1" noTextEdit="1"/>
              </p:cNvSpPr>
              <p:nvPr/>
            </p:nvSpPr>
            <p:spPr>
              <a:xfrm>
                <a:off x="6001441" y="1371532"/>
                <a:ext cx="2458369" cy="317779"/>
              </a:xfrm>
              <a:prstGeom prst="rect">
                <a:avLst/>
              </a:prstGeom>
              <a:blipFill>
                <a:blip r:embed="rId4"/>
                <a:stretch>
                  <a:fillRect t="-5769" b="-2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464D019-74F7-2891-9343-A09CFC4E7E31}"/>
                  </a:ext>
                </a:extLst>
              </p:cNvPr>
              <p:cNvSpPr txBox="1"/>
              <p:nvPr/>
            </p:nvSpPr>
            <p:spPr>
              <a:xfrm>
                <a:off x="1194065" y="3585123"/>
                <a:ext cx="3118161" cy="328680"/>
              </a:xfrm>
              <a:prstGeom prst="rect">
                <a:avLst/>
              </a:prstGeom>
              <a:noFill/>
            </p:spPr>
            <p:txBody>
              <a:bodyPr wrap="none" lIns="0" tIns="0" rIns="0" bIns="0" rtlCol="0">
                <a:spAutoFit/>
              </a:bodyPr>
              <a:lstStyle/>
              <a:p>
                <a14:m>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m:rPr>
                        <m:nor/>
                      </m:rPr>
                      <a:rPr lang="en-US" altLang="en-US" sz="2000" dirty="0">
                        <a:solidFill>
                          <a:srgbClr val="000000"/>
                        </a:solidFill>
                        <a:latin typeface="Times New Roman" panose="02020603050405020304" pitchFamily="18" charset="0"/>
                        <a:ea typeface="Arial Unicode MS" pitchFamily="34" charset="-128"/>
                      </a:rPr>
                      <m:t>Re</m:t>
                    </m:r>
                    <m:r>
                      <m:rPr>
                        <m:nor/>
                      </m:rPr>
                      <a:rPr lang="en-US" altLang="en-US" sz="2000" dirty="0">
                        <a:solidFill>
                          <a:srgbClr val="000000"/>
                        </a:solidFill>
                        <a:latin typeface="Times New Roman" panose="02020603050405020304" pitchFamily="18" charset="0"/>
                        <a:ea typeface="Arial Unicode MS" pitchFamily="34" charset="-128"/>
                      </a:rPr>
                      <m:t> {</m:t>
                    </m:r>
                    <m:r>
                      <a:rPr lang="zh-CN" altLang="en-US" sz="2000" i="1">
                        <a:latin typeface="Cambria Math" panose="02040503050406030204" pitchFamily="18" charset="0"/>
                      </a:rPr>
                      <m:t>𝐴</m:t>
                    </m:r>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en-US" altLang="zh-CN" sz="2000" b="0" i="1" smtClean="0">
                            <a:latin typeface="Cambria Math" panose="02040503050406030204" pitchFamily="18" charset="0"/>
                          </a:rPr>
                          <m:t>𝑖</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r>
                              <a:rPr lang="zh-CN" altLang="en-US" sz="2000" i="0">
                                <a:latin typeface="Cambria Math" panose="02040503050406030204" pitchFamily="18" charset="0"/>
                              </a:rPr>
                              <m:t>−</m:t>
                            </m:r>
                            <m:r>
                              <a:rPr lang="zh-CN" altLang="en-US" sz="2000" i="1">
                                <a:latin typeface="Cambria Math" panose="02040503050406030204" pitchFamily="18" charset="0"/>
                              </a:rPr>
                              <m:t>𝜃</m:t>
                            </m:r>
                          </m:e>
                        </m:d>
                      </m:sup>
                    </m:sSup>
                  </m:oMath>
                </a14:m>
                <a:r>
                  <a:rPr lang="en-US" altLang="en-US" sz="2000" dirty="0">
                    <a:solidFill>
                      <a:srgbClr val="000000"/>
                    </a:solidFill>
                    <a:latin typeface="Times New Roman" panose="02020603050405020304" pitchFamily="18" charset="0"/>
                  </a:rPr>
                  <a:t> }</a:t>
                </a:r>
                <a:endParaRPr lang="zh-CN" altLang="en-US" sz="2000" dirty="0"/>
              </a:p>
            </p:txBody>
          </p:sp>
        </mc:Choice>
        <mc:Fallback xmlns="">
          <p:sp>
            <p:nvSpPr>
              <p:cNvPr id="3" name="文本框 2">
                <a:extLst>
                  <a:ext uri="{FF2B5EF4-FFF2-40B4-BE49-F238E27FC236}">
                    <a16:creationId xmlns:a16="http://schemas.microsoft.com/office/drawing/2014/main" id="{F464D019-74F7-2891-9343-A09CFC4E7E31}"/>
                  </a:ext>
                </a:extLst>
              </p:cNvPr>
              <p:cNvSpPr txBox="1">
                <a:spLocks noRot="1" noChangeAspect="1" noMove="1" noResize="1" noEditPoints="1" noAdjustHandles="1" noChangeArrowheads="1" noChangeShapeType="1" noTextEdit="1"/>
              </p:cNvSpPr>
              <p:nvPr/>
            </p:nvSpPr>
            <p:spPr>
              <a:xfrm>
                <a:off x="1194065" y="3585123"/>
                <a:ext cx="3118161" cy="328680"/>
              </a:xfrm>
              <a:prstGeom prst="rect">
                <a:avLst/>
              </a:prstGeom>
              <a:blipFill>
                <a:blip r:embed="rId5"/>
                <a:stretch>
                  <a:fillRect l="-2935" t="-16667" r="-3914" b="-481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72B517E-A936-41C1-0B4B-763E65404F24}"/>
                  </a:ext>
                </a:extLst>
              </p:cNvPr>
              <p:cNvSpPr txBox="1"/>
              <p:nvPr/>
            </p:nvSpPr>
            <p:spPr>
              <a:xfrm>
                <a:off x="3450914" y="5784143"/>
                <a:ext cx="2876877" cy="3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𝑡</m:t>
                          </m:r>
                        </m:e>
                      </m:d>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𝐸</m:t>
                          </m:r>
                        </m:e>
                        <m:sub>
                          <m:r>
                            <a:rPr lang="zh-CN" altLang="en-US" sz="2400" i="0">
                              <a:latin typeface="Cambria Math" panose="02040503050406030204" pitchFamily="18" charset="0"/>
                            </a:rPr>
                            <m:t>0</m:t>
                          </m:r>
                        </m:sub>
                      </m:sSub>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ⅇ</m:t>
                          </m:r>
                        </m:e>
                        <m:sup>
                          <m:r>
                            <a:rPr lang="en-US" altLang="zh-CN" sz="2400" b="0" i="1" smtClean="0">
                              <a:latin typeface="Cambria Math" panose="02040503050406030204" pitchFamily="18" charset="0"/>
                            </a:rPr>
                            <m:t>𝑖</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𝑘𝑥</m:t>
                              </m:r>
                              <m:r>
                                <a:rPr lang="zh-CN" altLang="en-US" sz="2400" i="0">
                                  <a:latin typeface="Cambria Math" panose="02040503050406030204" pitchFamily="18" charset="0"/>
                                </a:rPr>
                                <m:t>−</m:t>
                              </m:r>
                              <m:r>
                                <a:rPr lang="zh-CN" altLang="en-US" sz="2400" i="1">
                                  <a:latin typeface="Cambria Math" panose="02040503050406030204" pitchFamily="18" charset="0"/>
                                </a:rPr>
                                <m:t>𝜔</m:t>
                              </m:r>
                              <m:r>
                                <a:rPr lang="zh-CN" altLang="en-US" sz="2400" i="1">
                                  <a:latin typeface="Cambria Math" panose="02040503050406030204" pitchFamily="18" charset="0"/>
                                </a:rPr>
                                <m:t>𝑡</m:t>
                              </m:r>
                            </m:e>
                          </m:d>
                        </m:sup>
                      </m:sSup>
                    </m:oMath>
                  </m:oMathPara>
                </a14:m>
                <a:endParaRPr lang="zh-CN" altLang="en-US" sz="2400" dirty="0"/>
              </a:p>
            </p:txBody>
          </p:sp>
        </mc:Choice>
        <mc:Fallback xmlns="">
          <p:sp>
            <p:nvSpPr>
              <p:cNvPr id="5" name="文本框 4">
                <a:extLst>
                  <a:ext uri="{FF2B5EF4-FFF2-40B4-BE49-F238E27FC236}">
                    <a16:creationId xmlns:a16="http://schemas.microsoft.com/office/drawing/2014/main" id="{E72B517E-A936-41C1-0B4B-763E65404F24}"/>
                  </a:ext>
                </a:extLst>
              </p:cNvPr>
              <p:cNvSpPr txBox="1">
                <a:spLocks noRot="1" noChangeAspect="1" noMove="1" noResize="1" noEditPoints="1" noAdjustHandles="1" noChangeArrowheads="1" noChangeShapeType="1" noTextEdit="1"/>
              </p:cNvSpPr>
              <p:nvPr/>
            </p:nvSpPr>
            <p:spPr>
              <a:xfrm>
                <a:off x="3450914" y="5784143"/>
                <a:ext cx="2876877" cy="39433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46118F7-0793-2872-D441-4D0B0DEBA949}"/>
                  </a:ext>
                </a:extLst>
              </p:cNvPr>
              <p:cNvSpPr txBox="1"/>
              <p:nvPr/>
            </p:nvSpPr>
            <p:spPr>
              <a:xfrm>
                <a:off x="2662121" y="5162897"/>
                <a:ext cx="1187313" cy="289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𝐴</m:t>
                      </m:r>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0">
                              <a:latin typeface="Cambria Math" panose="02040503050406030204" pitchFamily="18" charset="0"/>
                            </a:rPr>
                            <m:t>−</m:t>
                          </m:r>
                          <m:r>
                            <a:rPr lang="en-US" altLang="zh-CN" b="0" i="1" smtClean="0">
                              <a:latin typeface="Cambria Math" panose="02040503050406030204" pitchFamily="18" charset="0"/>
                            </a:rPr>
                            <m:t>𝑖</m:t>
                          </m:r>
                          <m:r>
                            <a:rPr lang="zh-CN" altLang="en-US" i="1">
                              <a:latin typeface="Cambria Math" panose="02040503050406030204" pitchFamily="18" charset="0"/>
                            </a:rPr>
                            <m:t>𝜃</m:t>
                          </m:r>
                        </m:sup>
                      </m:sSup>
                    </m:oMath>
                  </m:oMathPara>
                </a14:m>
                <a:endParaRPr lang="zh-CN" altLang="en-US" dirty="0"/>
              </a:p>
            </p:txBody>
          </p:sp>
        </mc:Choice>
        <mc:Fallback xmlns="">
          <p:sp>
            <p:nvSpPr>
              <p:cNvPr id="6" name="文本框 5">
                <a:extLst>
                  <a:ext uri="{FF2B5EF4-FFF2-40B4-BE49-F238E27FC236}">
                    <a16:creationId xmlns:a16="http://schemas.microsoft.com/office/drawing/2014/main" id="{546118F7-0793-2872-D441-4D0B0DEBA949}"/>
                  </a:ext>
                </a:extLst>
              </p:cNvPr>
              <p:cNvSpPr txBox="1">
                <a:spLocks noRot="1" noChangeAspect="1" noMove="1" noResize="1" noEditPoints="1" noAdjustHandles="1" noChangeArrowheads="1" noChangeShapeType="1" noTextEdit="1"/>
              </p:cNvSpPr>
              <p:nvPr/>
            </p:nvSpPr>
            <p:spPr>
              <a:xfrm>
                <a:off x="2662121" y="5162897"/>
                <a:ext cx="1187313" cy="289118"/>
              </a:xfrm>
              <a:prstGeom prst="rect">
                <a:avLst/>
              </a:prstGeom>
              <a:blipFill>
                <a:blip r:embed="rId7"/>
                <a:stretch>
                  <a:fillRect l="-3093" t="-4255" r="-1031" b="-17021"/>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17F9A7CA-B397-2C26-71C6-A4AD64A7BBF2}"/>
              </a:ext>
            </a:extLst>
          </p:cNvPr>
          <p:cNvSpPr txBox="1"/>
          <p:nvPr/>
        </p:nvSpPr>
        <p:spPr>
          <a:xfrm>
            <a:off x="3986120" y="5118933"/>
            <a:ext cx="3244506" cy="369332"/>
          </a:xfrm>
          <a:prstGeom prst="rect">
            <a:avLst/>
          </a:prstGeom>
          <a:noFill/>
        </p:spPr>
        <p:txBody>
          <a:bodyPr wrap="square">
            <a:spAutoFit/>
          </a:bodyPr>
          <a:lstStyle/>
          <a:p>
            <a:r>
              <a:rPr lang="en-US" altLang="zh-CN" dirty="0"/>
              <a:t>Does not depend on x or t</a:t>
            </a:r>
            <a:endParaRPr lang="zh-CN" altLang="en-US" dirty="0"/>
          </a:p>
        </p:txBody>
      </p:sp>
      <p:sp>
        <p:nvSpPr>
          <p:cNvPr id="8" name="矩形 7">
            <a:extLst>
              <a:ext uri="{FF2B5EF4-FFF2-40B4-BE49-F238E27FC236}">
                <a16:creationId xmlns:a16="http://schemas.microsoft.com/office/drawing/2014/main" id="{BCA8C521-A575-114E-B7B7-5E03E83EC78A}"/>
              </a:ext>
            </a:extLst>
          </p:cNvPr>
          <p:cNvSpPr/>
          <p:nvPr/>
        </p:nvSpPr>
        <p:spPr>
          <a:xfrm>
            <a:off x="3174902" y="5641134"/>
            <a:ext cx="3152890" cy="7003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001BAE4-40CC-8708-D83E-693CB1ACBC3E}"/>
                  </a:ext>
                </a:extLst>
              </p:cNvPr>
              <p:cNvSpPr txBox="1"/>
              <p:nvPr/>
            </p:nvSpPr>
            <p:spPr>
              <a:xfrm>
                <a:off x="609375" y="1526832"/>
                <a:ext cx="4687886" cy="5802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zh-CN" altLang="en-US" i="1" smtClean="0">
                              <a:latin typeface="Cambria Math" panose="02040503050406030204" pitchFamily="18" charset="0"/>
                            </a:rPr>
                          </m:ctrlPr>
                        </m:funcPr>
                        <m:fName>
                          <m:r>
                            <m:rPr>
                              <m:sty m:val="p"/>
                            </m:rPr>
                            <a:rPr lang="zh-CN" altLang="en-US">
                              <a:latin typeface="Cambria Math" panose="02040503050406030204" pitchFamily="18" charset="0"/>
                            </a:rPr>
                            <m:t>cos</m:t>
                          </m:r>
                        </m:fName>
                        <m:e>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𝑘𝑥</m:t>
                              </m:r>
                              <m:r>
                                <a:rPr lang="zh-CN" altLang="en-US" i="0">
                                  <a:latin typeface="Cambria Math" panose="02040503050406030204" pitchFamily="18" charset="0"/>
                                </a:rPr>
                                <m:t>−</m:t>
                              </m:r>
                              <m:r>
                                <a:rPr lang="zh-CN" altLang="en-US" i="1">
                                  <a:latin typeface="Cambria Math" panose="02040503050406030204" pitchFamily="18" charset="0"/>
                                </a:rPr>
                                <m:t>𝑤𝑡</m:t>
                              </m:r>
                              <m:r>
                                <a:rPr lang="en-US" altLang="zh-CN" b="0" i="1" smtClean="0">
                                  <a:latin typeface="Cambria Math" panose="02040503050406030204" pitchFamily="18" charset="0"/>
                                </a:rPr>
                                <m:t>−</m:t>
                              </m:r>
                              <m:r>
                                <a:rPr lang="zh-CN" altLang="en-US" i="1">
                                  <a:latin typeface="Cambria Math" panose="02040503050406030204" pitchFamily="18" charset="0"/>
                                </a:rPr>
                                <m:t>𝜃</m:t>
                              </m:r>
                            </m:e>
                          </m:d>
                        </m:e>
                      </m:func>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a:latin typeface="Cambria Math" panose="02040503050406030204" pitchFamily="18" charset="0"/>
                                </a:rPr>
                                <m:t>ⅈ</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𝑘𝑥</m:t>
                                  </m:r>
                                  <m:r>
                                    <a:rPr lang="zh-CN" altLang="en-US" i="0">
                                      <a:latin typeface="Cambria Math" panose="02040503050406030204" pitchFamily="18" charset="0"/>
                                    </a:rPr>
                                    <m:t>−</m:t>
                                  </m:r>
                                  <m:r>
                                    <a:rPr lang="zh-CN" altLang="en-US" i="1">
                                      <a:latin typeface="Cambria Math" panose="02040503050406030204" pitchFamily="18" charset="0"/>
                                    </a:rPr>
                                    <m:t>𝜔</m:t>
                                  </m:r>
                                  <m:r>
                                    <a:rPr lang="zh-CN" altLang="en-US" i="1">
                                      <a:latin typeface="Cambria Math" panose="02040503050406030204" pitchFamily="18" charset="0"/>
                                    </a:rPr>
                                    <m:t>𝑡</m:t>
                                  </m:r>
                                  <m:r>
                                    <a:rPr lang="en-US" altLang="zh-CN" b="0" i="1" smtClean="0">
                                      <a:latin typeface="Cambria Math" panose="02040503050406030204" pitchFamily="18" charset="0"/>
                                    </a:rPr>
                                    <m:t>−</m:t>
                                  </m:r>
                                  <m:r>
                                    <a:rPr lang="zh-CN" altLang="en-US" i="1">
                                      <a:latin typeface="Cambria Math" panose="02040503050406030204" pitchFamily="18" charset="0"/>
                                    </a:rPr>
                                    <m:t>𝜃</m:t>
                                  </m:r>
                                </m:e>
                              </m:d>
                            </m:sup>
                          </m:sSup>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0">
                                  <a:latin typeface="Cambria Math" panose="02040503050406030204" pitchFamily="18" charset="0"/>
                                </a:rPr>
                                <m:t>−ⅈ</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𝑘𝑥</m:t>
                                  </m:r>
                                  <m:r>
                                    <a:rPr lang="zh-CN" altLang="en-US" i="0">
                                      <a:latin typeface="Cambria Math" panose="02040503050406030204" pitchFamily="18" charset="0"/>
                                    </a:rPr>
                                    <m:t>−</m:t>
                                  </m:r>
                                  <m:r>
                                    <a:rPr lang="zh-CN" altLang="en-US" i="1">
                                      <a:latin typeface="Cambria Math" panose="02040503050406030204" pitchFamily="18" charset="0"/>
                                    </a:rPr>
                                    <m:t>𝑤𝑡</m:t>
                                  </m:r>
                                  <m:r>
                                    <a:rPr lang="en-US" altLang="zh-CN" b="0" i="1" smtClean="0">
                                      <a:latin typeface="Cambria Math" panose="02040503050406030204" pitchFamily="18" charset="0"/>
                                    </a:rPr>
                                    <m:t>−</m:t>
                                  </m:r>
                                  <m:r>
                                    <a:rPr lang="zh-CN" altLang="en-US" i="1">
                                      <a:latin typeface="Cambria Math" panose="02040503050406030204" pitchFamily="18" charset="0"/>
                                    </a:rPr>
                                    <m:t>𝜃</m:t>
                                  </m:r>
                                </m:e>
                              </m:d>
                            </m:sup>
                          </m:sSup>
                        </m:num>
                        <m:den>
                          <m:r>
                            <a:rPr lang="zh-CN" altLang="en-US" i="0">
                              <a:latin typeface="Cambria Math" panose="02040503050406030204" pitchFamily="18" charset="0"/>
                            </a:rPr>
                            <m:t>2</m:t>
                          </m:r>
                        </m:den>
                      </m:f>
                    </m:oMath>
                  </m:oMathPara>
                </a14:m>
                <a:endParaRPr lang="zh-CN" altLang="en-US" dirty="0"/>
              </a:p>
            </p:txBody>
          </p:sp>
        </mc:Choice>
        <mc:Fallback xmlns="">
          <p:sp>
            <p:nvSpPr>
              <p:cNvPr id="11" name="文本框 10">
                <a:extLst>
                  <a:ext uri="{FF2B5EF4-FFF2-40B4-BE49-F238E27FC236}">
                    <a16:creationId xmlns:a16="http://schemas.microsoft.com/office/drawing/2014/main" id="{D001BAE4-40CC-8708-D83E-693CB1ACBC3E}"/>
                  </a:ext>
                </a:extLst>
              </p:cNvPr>
              <p:cNvSpPr txBox="1">
                <a:spLocks noRot="1" noChangeAspect="1" noMove="1" noResize="1" noEditPoints="1" noAdjustHandles="1" noChangeArrowheads="1" noChangeShapeType="1" noTextEdit="1"/>
              </p:cNvSpPr>
              <p:nvPr/>
            </p:nvSpPr>
            <p:spPr>
              <a:xfrm>
                <a:off x="609375" y="1526832"/>
                <a:ext cx="4687886" cy="5802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72F98C2-55C6-6378-33F6-F29585CE7E93}"/>
                  </a:ext>
                </a:extLst>
              </p:cNvPr>
              <p:cNvSpPr txBox="1"/>
              <p:nvPr/>
            </p:nvSpPr>
            <p:spPr>
              <a:xfrm>
                <a:off x="609374" y="2263895"/>
                <a:ext cx="4657429" cy="5802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zh-CN" altLang="en-US" i="1" smtClean="0">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𝑘𝑥</m:t>
                              </m:r>
                              <m:r>
                                <a:rPr lang="zh-CN" altLang="en-US" i="0">
                                  <a:latin typeface="Cambria Math" panose="02040503050406030204" pitchFamily="18" charset="0"/>
                                </a:rPr>
                                <m:t>−</m:t>
                              </m:r>
                              <m:r>
                                <a:rPr lang="zh-CN" altLang="en-US" i="1">
                                  <a:latin typeface="Cambria Math" panose="02040503050406030204" pitchFamily="18" charset="0"/>
                                </a:rPr>
                                <m:t>𝑤𝑡</m:t>
                              </m:r>
                              <m:r>
                                <a:rPr lang="en-US" altLang="zh-CN" b="0" i="1" smtClean="0">
                                  <a:latin typeface="Cambria Math" panose="02040503050406030204" pitchFamily="18" charset="0"/>
                                </a:rPr>
                                <m:t>−</m:t>
                              </m:r>
                              <m:r>
                                <a:rPr lang="zh-CN" altLang="en-US" i="1">
                                  <a:latin typeface="Cambria Math" panose="02040503050406030204" pitchFamily="18" charset="0"/>
                                </a:rPr>
                                <m:t>𝜃</m:t>
                              </m:r>
                            </m:e>
                          </m:d>
                        </m:e>
                      </m:func>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a:latin typeface="Cambria Math" panose="02040503050406030204" pitchFamily="18" charset="0"/>
                                </a:rPr>
                                <m:t>ⅈ</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𝑘𝑥</m:t>
                                  </m:r>
                                  <m:r>
                                    <a:rPr lang="zh-CN" altLang="en-US" i="0">
                                      <a:latin typeface="Cambria Math" panose="02040503050406030204" pitchFamily="18" charset="0"/>
                                    </a:rPr>
                                    <m:t>−</m:t>
                                  </m:r>
                                  <m:r>
                                    <a:rPr lang="zh-CN" altLang="en-US" i="1">
                                      <a:latin typeface="Cambria Math" panose="02040503050406030204" pitchFamily="18" charset="0"/>
                                    </a:rPr>
                                    <m:t>𝜔</m:t>
                                  </m:r>
                                  <m:r>
                                    <a:rPr lang="zh-CN" altLang="en-US" i="1">
                                      <a:latin typeface="Cambria Math" panose="02040503050406030204" pitchFamily="18" charset="0"/>
                                    </a:rPr>
                                    <m:t>𝑡</m:t>
                                  </m:r>
                                  <m:r>
                                    <a:rPr lang="en-US" altLang="zh-CN" b="0" i="1" smtClean="0">
                                      <a:latin typeface="Cambria Math" panose="02040503050406030204" pitchFamily="18" charset="0"/>
                                    </a:rPr>
                                    <m:t>−</m:t>
                                  </m:r>
                                  <m:r>
                                    <a:rPr lang="zh-CN" altLang="en-US" i="1">
                                      <a:latin typeface="Cambria Math" panose="02040503050406030204" pitchFamily="18" charset="0"/>
                                    </a:rPr>
                                    <m:t>𝜃</m:t>
                                  </m:r>
                                </m:e>
                              </m:d>
                            </m:sup>
                          </m:sSup>
                          <m:r>
                            <a:rPr lang="en-US" altLang="zh-CN" b="0" i="0" smtClean="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0">
                                  <a:latin typeface="Cambria Math" panose="02040503050406030204" pitchFamily="18" charset="0"/>
                                </a:rPr>
                                <m:t>−ⅈ</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𝑘𝑥</m:t>
                                  </m:r>
                                  <m:r>
                                    <a:rPr lang="zh-CN" altLang="en-US" i="0">
                                      <a:latin typeface="Cambria Math" panose="02040503050406030204" pitchFamily="18" charset="0"/>
                                    </a:rPr>
                                    <m:t>−</m:t>
                                  </m:r>
                                  <m:r>
                                    <a:rPr lang="zh-CN" altLang="en-US" i="1">
                                      <a:latin typeface="Cambria Math" panose="02040503050406030204" pitchFamily="18" charset="0"/>
                                    </a:rPr>
                                    <m:t>𝑤𝑡</m:t>
                                  </m:r>
                                  <m:r>
                                    <a:rPr lang="en-US" altLang="zh-CN" b="0" i="1" smtClean="0">
                                      <a:latin typeface="Cambria Math" panose="02040503050406030204" pitchFamily="18" charset="0"/>
                                    </a:rPr>
                                    <m:t>−</m:t>
                                  </m:r>
                                  <m:r>
                                    <a:rPr lang="zh-CN" altLang="en-US" i="1">
                                      <a:latin typeface="Cambria Math" panose="02040503050406030204" pitchFamily="18" charset="0"/>
                                    </a:rPr>
                                    <m:t>𝜃</m:t>
                                  </m:r>
                                </m:e>
                              </m:d>
                            </m:sup>
                          </m:sSup>
                        </m:num>
                        <m:den>
                          <m:r>
                            <a:rPr lang="zh-CN" altLang="en-US" i="0">
                              <a:latin typeface="Cambria Math" panose="02040503050406030204" pitchFamily="18" charset="0"/>
                            </a:rPr>
                            <m:t>2</m:t>
                          </m:r>
                          <m:r>
                            <m:rPr>
                              <m:sty m:val="p"/>
                            </m:rPr>
                            <a:rPr lang="en-US" altLang="zh-CN" b="0" i="0" smtClean="0">
                              <a:latin typeface="Cambria Math" panose="02040503050406030204" pitchFamily="18" charset="0"/>
                            </a:rPr>
                            <m:t>i</m:t>
                          </m:r>
                        </m:den>
                      </m:f>
                    </m:oMath>
                  </m:oMathPara>
                </a14:m>
                <a:endParaRPr lang="zh-CN" altLang="en-US" dirty="0"/>
              </a:p>
            </p:txBody>
          </p:sp>
        </mc:Choice>
        <mc:Fallback xmlns="">
          <p:sp>
            <p:nvSpPr>
              <p:cNvPr id="12" name="文本框 11">
                <a:extLst>
                  <a:ext uri="{FF2B5EF4-FFF2-40B4-BE49-F238E27FC236}">
                    <a16:creationId xmlns:a16="http://schemas.microsoft.com/office/drawing/2014/main" id="{872F98C2-55C6-6378-33F6-F29585CE7E93}"/>
                  </a:ext>
                </a:extLst>
              </p:cNvPr>
              <p:cNvSpPr txBox="1">
                <a:spLocks noRot="1" noChangeAspect="1" noMove="1" noResize="1" noEditPoints="1" noAdjustHandles="1" noChangeArrowheads="1" noChangeShapeType="1" noTextEdit="1"/>
              </p:cNvSpPr>
              <p:nvPr/>
            </p:nvSpPr>
            <p:spPr>
              <a:xfrm>
                <a:off x="609374" y="2263895"/>
                <a:ext cx="4657429" cy="580287"/>
              </a:xfrm>
              <a:prstGeom prst="rect">
                <a:avLst/>
              </a:prstGeom>
              <a:blipFill>
                <a:blip r:embed="rId9"/>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A649B6D5-A434-7DCA-9072-B1FAC2469DDA}"/>
              </a:ext>
            </a:extLst>
          </p:cNvPr>
          <p:cNvSpPr/>
          <p:nvPr/>
        </p:nvSpPr>
        <p:spPr>
          <a:xfrm>
            <a:off x="366005" y="1290951"/>
            <a:ext cx="5140315" cy="191813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 Box 6">
            <a:extLst>
              <a:ext uri="{FF2B5EF4-FFF2-40B4-BE49-F238E27FC236}">
                <a16:creationId xmlns:a16="http://schemas.microsoft.com/office/drawing/2014/main" id="{EC39A40C-629B-988E-13A8-D9E9A01AE6B8}"/>
              </a:ext>
            </a:extLst>
          </p:cNvPr>
          <p:cNvSpPr txBox="1">
            <a:spLocks noChangeArrowheads="1"/>
          </p:cNvSpPr>
          <p:nvPr/>
        </p:nvSpPr>
        <p:spPr bwMode="auto">
          <a:xfrm>
            <a:off x="4994501" y="4232228"/>
            <a:ext cx="37546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defTabSz="914400" rtl="0" eaLnBrk="1" fontAlgn="base" latinLnBrk="0" hangingPunct="1">
              <a:lnSpc>
                <a:spcPct val="100000"/>
              </a:lnSpc>
              <a:spcBef>
                <a:spcPct val="5000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We often write these expressions</a:t>
            </a:r>
            <a:r>
              <a:rPr kumimoji="0" lang="en-US" altLang="en-US" sz="1800" b="0" i="0" u="none" strike="noStrike" kern="1200" cap="none" spc="0" normalizeH="0" noProof="0" dirty="0">
                <a:ln>
                  <a:noFill/>
                </a:ln>
                <a:solidFill>
                  <a:srgbClr val="000000"/>
                </a:solidFill>
                <a:effectLst/>
                <a:uLnTx/>
                <a:uFillTx/>
                <a:latin typeface="Arial" panose="020B0604020202020204" pitchFamily="34" charset="0"/>
                <a:ea typeface="+mn-ea"/>
                <a:cs typeface="+mn-cs"/>
              </a:rPr>
              <a: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without the </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½</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Re</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or </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a:t>
            </a: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20EEFCE-69D5-8DFE-9FA6-2E239EE77D24}"/>
                  </a:ext>
                </a:extLst>
              </p:cNvPr>
              <p:cNvSpPr txBox="1"/>
              <p:nvPr/>
            </p:nvSpPr>
            <p:spPr>
              <a:xfrm>
                <a:off x="1051363" y="4125505"/>
                <a:ext cx="3290773" cy="434606"/>
              </a:xfrm>
              <a:prstGeom prst="rect">
                <a:avLst/>
              </a:prstGeom>
              <a:noFill/>
            </p:spPr>
            <p:txBody>
              <a:bodyPr wrap="none" lIns="0" tIns="0" rIns="0" bIns="0" rtlCol="0">
                <a:spAutoFit/>
              </a:bodyPr>
              <a:lstStyle/>
              <a:p>
                <a14:m>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f>
                      <m:fPr>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2</m:t>
                        </m:r>
                      </m:den>
                    </m:f>
                    <m:r>
                      <m:rPr>
                        <m:nor/>
                      </m:rPr>
                      <a:rPr lang="en-US" altLang="en-US" sz="2000" b="0" i="0" dirty="0" smtClean="0">
                        <a:solidFill>
                          <a:srgbClr val="000000"/>
                        </a:solidFill>
                        <a:latin typeface="Times New Roman" panose="02020603050405020304" pitchFamily="18" charset="0"/>
                        <a:ea typeface="Arial Unicode MS" pitchFamily="34" charset="-128"/>
                      </a:rPr>
                      <m:t> </m:t>
                    </m:r>
                    <m:r>
                      <a:rPr lang="zh-CN" altLang="en-US" sz="2000" i="1">
                        <a:latin typeface="Cambria Math" panose="02040503050406030204" pitchFamily="18" charset="0"/>
                      </a:rPr>
                      <m:t>𝐴</m:t>
                    </m:r>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en-US" altLang="zh-CN" sz="2000" b="0" i="1" smtClean="0">
                            <a:latin typeface="Cambria Math" panose="02040503050406030204" pitchFamily="18" charset="0"/>
                          </a:rPr>
                          <m:t>𝑖</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r>
                              <a:rPr lang="zh-CN" altLang="en-US" sz="2000" i="0">
                                <a:latin typeface="Cambria Math" panose="02040503050406030204" pitchFamily="18" charset="0"/>
                              </a:rPr>
                              <m:t>−</m:t>
                            </m:r>
                            <m:r>
                              <a:rPr lang="zh-CN" altLang="en-US" sz="2000" i="1">
                                <a:latin typeface="Cambria Math" panose="02040503050406030204" pitchFamily="18" charset="0"/>
                              </a:rPr>
                              <m:t>𝜃</m:t>
                            </m:r>
                          </m:e>
                        </m:d>
                      </m:sup>
                    </m:sSup>
                  </m:oMath>
                </a14:m>
                <a:r>
                  <a:rPr lang="zh-CN" altLang="en-US" sz="2000" dirty="0"/>
                  <a:t> </a:t>
                </a:r>
                <a:r>
                  <a:rPr lang="en-US" altLang="zh-CN" sz="2000" dirty="0"/>
                  <a:t>+</a:t>
                </a:r>
                <a:r>
                  <a:rPr lang="en-US" altLang="en-US" sz="2000" i="1" dirty="0">
                    <a:solidFill>
                      <a:srgbClr val="000000"/>
                    </a:solidFill>
                    <a:latin typeface="Times New Roman" panose="02020603050405020304" pitchFamily="18" charset="0"/>
                    <a:cs typeface="Times New Roman" panose="02020603050405020304" pitchFamily="18" charset="0"/>
                  </a:rPr>
                  <a:t> c</a:t>
                </a:r>
                <a:r>
                  <a:rPr lang="en-US" altLang="en-US" sz="2000" dirty="0">
                    <a:solidFill>
                      <a:srgbClr val="000000"/>
                    </a:solidFill>
                    <a:latin typeface="Times New Roman" panose="02020603050405020304" pitchFamily="18" charset="0"/>
                    <a:cs typeface="Times New Roman" panose="02020603050405020304" pitchFamily="18" charset="0"/>
                  </a:rPr>
                  <a:t>.</a:t>
                </a:r>
                <a:r>
                  <a:rPr lang="en-US" altLang="en-US" sz="2000" i="1" dirty="0">
                    <a:solidFill>
                      <a:srgbClr val="000000"/>
                    </a:solidFill>
                    <a:latin typeface="Times New Roman" panose="02020603050405020304" pitchFamily="18" charset="0"/>
                    <a:cs typeface="Times New Roman" panose="02020603050405020304" pitchFamily="18" charset="0"/>
                  </a:rPr>
                  <a:t>c</a:t>
                </a:r>
                <a:r>
                  <a:rPr lang="en-US" altLang="en-US" sz="2000" dirty="0">
                    <a:solidFill>
                      <a:srgbClr val="000000"/>
                    </a:solidFill>
                    <a:latin typeface="Arial" panose="020B0604020202020204" pitchFamily="34" charset="0"/>
                  </a:rPr>
                  <a:t>.</a:t>
                </a:r>
                <a:endParaRPr lang="zh-CN" altLang="en-US" sz="2000" i="1" dirty="0"/>
              </a:p>
            </p:txBody>
          </p:sp>
        </mc:Choice>
        <mc:Fallback xmlns="">
          <p:sp>
            <p:nvSpPr>
              <p:cNvPr id="10" name="文本框 9">
                <a:extLst>
                  <a:ext uri="{FF2B5EF4-FFF2-40B4-BE49-F238E27FC236}">
                    <a16:creationId xmlns:a16="http://schemas.microsoft.com/office/drawing/2014/main" id="{620EEFCE-69D5-8DFE-9FA6-2E239EE77D24}"/>
                  </a:ext>
                </a:extLst>
              </p:cNvPr>
              <p:cNvSpPr txBox="1">
                <a:spLocks noRot="1" noChangeAspect="1" noMove="1" noResize="1" noEditPoints="1" noAdjustHandles="1" noChangeArrowheads="1" noChangeShapeType="1" noTextEdit="1"/>
              </p:cNvSpPr>
              <p:nvPr/>
            </p:nvSpPr>
            <p:spPr>
              <a:xfrm>
                <a:off x="1051363" y="4125505"/>
                <a:ext cx="3290773" cy="434606"/>
              </a:xfrm>
              <a:prstGeom prst="rect">
                <a:avLst/>
              </a:prstGeom>
              <a:blipFill>
                <a:blip r:embed="rId10"/>
                <a:stretch>
                  <a:fillRect l="-2593" t="-4225" r="-5000" b="-19718"/>
                </a:stretch>
              </a:blipFill>
            </p:spPr>
            <p:txBody>
              <a:bodyPr/>
              <a:lstStyle/>
              <a:p>
                <a:r>
                  <a:rPr lang="zh-CN" altLang="en-US">
                    <a:noFill/>
                  </a:rPr>
                  <a:t> </a:t>
                </a:r>
              </a:p>
            </p:txBody>
          </p:sp>
        </mc:Fallback>
      </mc:AlternateContent>
      <p:sp>
        <p:nvSpPr>
          <p:cNvPr id="14" name="Text Box 7">
            <a:extLst>
              <a:ext uri="{FF2B5EF4-FFF2-40B4-BE49-F238E27FC236}">
                <a16:creationId xmlns:a16="http://schemas.microsoft.com/office/drawing/2014/main" id="{DCA56020-1B42-4D39-29EF-79CCFEA5EC85}"/>
              </a:ext>
            </a:extLst>
          </p:cNvPr>
          <p:cNvSpPr txBox="1">
            <a:spLocks noChangeArrowheads="1"/>
          </p:cNvSpPr>
          <p:nvPr/>
        </p:nvSpPr>
        <p:spPr bwMode="auto">
          <a:xfrm>
            <a:off x="4988904" y="3258695"/>
            <a:ext cx="376583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ea typeface="+mn-ea"/>
                <a:cs typeface="+mn-cs"/>
              </a:rPr>
              <a:t>where “</a:t>
            </a:r>
            <a:r>
              <a:rPr kumimoji="0" lang="en-US" alt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c.c.</a:t>
            </a:r>
            <a:r>
              <a:rPr kumimoji="0" lang="en-US" altLang="en-US" sz="1800" b="0" i="0" u="none" strike="noStrike" kern="1200" cap="none" spc="0" normalizeH="0" baseline="0" noProof="0" dirty="0">
                <a:ln>
                  <a:noFill/>
                </a:ln>
                <a:solidFill>
                  <a:srgbClr val="000000"/>
                </a:solidFill>
                <a:effectLst/>
                <a:uLnTx/>
                <a:uFillTx/>
                <a:ea typeface="+mn-ea"/>
                <a:cs typeface="+mn-cs"/>
              </a:rPr>
              <a:t>” means “plus the complex conjugate of everything before the plus sign.”</a:t>
            </a:r>
          </a:p>
        </p:txBody>
      </p:sp>
      <p:sp>
        <p:nvSpPr>
          <p:cNvPr id="15" name="文本框 14">
            <a:extLst>
              <a:ext uri="{FF2B5EF4-FFF2-40B4-BE49-F238E27FC236}">
                <a16:creationId xmlns:a16="http://schemas.microsoft.com/office/drawing/2014/main" id="{C8286ED2-F4FF-E744-EEBD-3DAECF3ED8D3}"/>
              </a:ext>
            </a:extLst>
          </p:cNvPr>
          <p:cNvSpPr txBox="1"/>
          <p:nvPr/>
        </p:nvSpPr>
        <p:spPr>
          <a:xfrm>
            <a:off x="324951" y="4142438"/>
            <a:ext cx="400229" cy="369332"/>
          </a:xfrm>
          <a:prstGeom prst="rect">
            <a:avLst/>
          </a:prstGeom>
          <a:noFill/>
        </p:spPr>
        <p:txBody>
          <a:bodyPr wrap="square">
            <a:spAutoFit/>
          </a:bodyPr>
          <a:lstStyle/>
          <a:p>
            <a:r>
              <a:rPr lang="en-US" altLang="zh-CN" dirty="0"/>
              <a:t>or</a:t>
            </a:r>
            <a:endParaRPr lang="zh-CN" altLang="en-US" dirty="0"/>
          </a:p>
        </p:txBody>
      </p:sp>
      <p:sp>
        <p:nvSpPr>
          <p:cNvPr id="17" name="文本框 16">
            <a:extLst>
              <a:ext uri="{FF2B5EF4-FFF2-40B4-BE49-F238E27FC236}">
                <a16:creationId xmlns:a16="http://schemas.microsoft.com/office/drawing/2014/main" id="{6DAE6103-323B-9CD1-093C-8F47339DE6E0}"/>
              </a:ext>
            </a:extLst>
          </p:cNvPr>
          <p:cNvSpPr txBox="1"/>
          <p:nvPr/>
        </p:nvSpPr>
        <p:spPr>
          <a:xfrm>
            <a:off x="5448131" y="1894225"/>
            <a:ext cx="3695869" cy="1323439"/>
          </a:xfrm>
          <a:prstGeom prst="rect">
            <a:avLst/>
          </a:prstGeom>
          <a:noFill/>
        </p:spPr>
        <p:txBody>
          <a:bodyPr wrap="square">
            <a:spAutoFit/>
          </a:bodyPr>
          <a:lstStyle/>
          <a:p>
            <a:r>
              <a:rPr lang="zh-CN" altLang="en-US" sz="1600" dirty="0"/>
              <a:t>在物理中，可观测的量通常是波函数的实部或模平方 ，而不是复数本身。这是因为物理量（如位移、电场强度、概率密度等）必须是实数。因此，在实际应用中，我们通常只取波函数的实部：</a:t>
            </a:r>
          </a:p>
        </p:txBody>
      </p:sp>
    </p:spTree>
    <p:extLst>
      <p:ext uri="{BB962C8B-B14F-4D97-AF65-F5344CB8AC3E}">
        <p14:creationId xmlns:p14="http://schemas.microsoft.com/office/powerpoint/2010/main" val="168125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04AFF-409A-421E-039B-A9FB55285C0A}"/>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D5210E1-4D73-597F-7E68-28EC99B13227}"/>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Complex numbers greatly simplify waves!</a:t>
            </a:r>
          </a:p>
        </p:txBody>
      </p:sp>
      <p:sp>
        <p:nvSpPr>
          <p:cNvPr id="4" name="Text Box 8">
            <a:extLst>
              <a:ext uri="{FF2B5EF4-FFF2-40B4-BE49-F238E27FC236}">
                <a16:creationId xmlns:a16="http://schemas.microsoft.com/office/drawing/2014/main" id="{B345F1FF-4F9D-73DA-5E8D-727983895F0A}"/>
              </a:ext>
            </a:extLst>
          </p:cNvPr>
          <p:cNvSpPr txBox="1">
            <a:spLocks noChangeArrowheads="1"/>
          </p:cNvSpPr>
          <p:nvPr/>
        </p:nvSpPr>
        <p:spPr bwMode="auto">
          <a:xfrm>
            <a:off x="637540" y="2907448"/>
            <a:ext cx="8506460" cy="338554"/>
          </a:xfrm>
          <a:prstGeom prst="rect">
            <a:avLst/>
          </a:prstGeom>
          <a:noFill/>
          <a:ln>
            <a:noFill/>
          </a:ln>
          <a:effectLst/>
        </p:spPr>
        <p:txBody>
          <a:bodyPr wrap="square">
            <a:spAutoFit/>
          </a:bodyPr>
          <a:lstStyle>
            <a:lvl1pPr eaLnBrk="0" hangingPunct="0">
              <a:spcBef>
                <a:spcPct val="20000"/>
              </a:spcBef>
              <a:defRPr sz="2000">
                <a:solidFill>
                  <a:schemeClr val="tx1"/>
                </a:solidFill>
                <a:latin typeface="Arial" charset="0"/>
              </a:defRPr>
            </a:lvl1pPr>
            <a:lvl2pPr marL="742950" indent="-285750" eaLnBrk="0" hangingPunct="0">
              <a:spcBef>
                <a:spcPct val="20000"/>
              </a:spcBef>
              <a:defRPr>
                <a:solidFill>
                  <a:schemeClr val="tx1"/>
                </a:solidFill>
                <a:latin typeface="Arial" charset="0"/>
              </a:defRPr>
            </a:lvl2pPr>
            <a:lvl3pPr marL="1143000" indent="-228600" eaLnBrk="0" hangingPunct="0">
              <a:spcBef>
                <a:spcPct val="20000"/>
              </a:spcBef>
              <a:defRPr sz="1600">
                <a:solidFill>
                  <a:schemeClr val="tx1"/>
                </a:solidFill>
                <a:latin typeface="Arial" charset="0"/>
              </a:defRPr>
            </a:lvl3pPr>
            <a:lvl4pPr marL="1600200" indent="-228600" eaLnBrk="0" hangingPunct="0">
              <a:spcBef>
                <a:spcPct val="20000"/>
              </a:spcBef>
              <a:defRPr sz="1400">
                <a:solidFill>
                  <a:schemeClr val="tx1"/>
                </a:solidFill>
                <a:latin typeface="Arial" charset="0"/>
              </a:defRPr>
            </a:lvl4pPr>
            <a:lvl5pPr marL="2057400" indent="-228600" eaLnBrk="0" hangingPunct="0">
              <a:spcBef>
                <a:spcPct val="20000"/>
              </a:spcBef>
              <a:defRPr sz="1200">
                <a:solidFill>
                  <a:schemeClr val="tx1"/>
                </a:solidFill>
                <a:latin typeface="Arial" charset="0"/>
              </a:defRPr>
            </a:lvl5pPr>
            <a:lvl6pPr marL="2514600" indent="-228600" eaLnBrk="0" fontAlgn="base" hangingPunct="0">
              <a:spcBef>
                <a:spcPct val="20000"/>
              </a:spcBef>
              <a:spcAft>
                <a:spcPct val="0"/>
              </a:spcAft>
              <a:defRPr sz="1200">
                <a:solidFill>
                  <a:schemeClr val="tx1"/>
                </a:solidFill>
                <a:latin typeface="Arial" charset="0"/>
              </a:defRPr>
            </a:lvl6pPr>
            <a:lvl7pPr marL="2971800" indent="-228600" eaLnBrk="0" fontAlgn="base" hangingPunct="0">
              <a:spcBef>
                <a:spcPct val="20000"/>
              </a:spcBef>
              <a:spcAft>
                <a:spcPct val="0"/>
              </a:spcAft>
              <a:defRPr sz="1200">
                <a:solidFill>
                  <a:schemeClr val="tx1"/>
                </a:solidFill>
                <a:latin typeface="Arial" charset="0"/>
              </a:defRPr>
            </a:lvl7pPr>
            <a:lvl8pPr marL="3429000" indent="-228600" eaLnBrk="0" fontAlgn="base" hangingPunct="0">
              <a:spcBef>
                <a:spcPct val="20000"/>
              </a:spcBef>
              <a:spcAft>
                <a:spcPct val="0"/>
              </a:spcAft>
              <a:defRPr sz="1200">
                <a:solidFill>
                  <a:schemeClr val="tx1"/>
                </a:solidFill>
                <a:latin typeface="Arial" charset="0"/>
              </a:defRPr>
            </a:lvl8pPr>
            <a:lvl9pPr marL="3886200" indent="-228600" eaLnBrk="0" fontAlgn="base" hangingPunct="0">
              <a:spcBef>
                <a:spcPct val="20000"/>
              </a:spcBef>
              <a:spcAft>
                <a:spcPct val="0"/>
              </a:spcAft>
              <a:defRPr sz="1200">
                <a:solidFill>
                  <a:schemeClr val="tx1"/>
                </a:solidFill>
                <a:latin typeface="Arial"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000" b="0" i="0" u="none" strike="noStrike" kern="1200" cap="none" spc="-50" normalizeH="0" baseline="0" noProof="0" dirty="0">
                <a:ln>
                  <a:noFill/>
                </a:ln>
                <a:solidFill>
                  <a:srgbClr val="000000"/>
                </a:solidFill>
                <a:effectLst/>
                <a:uLnTx/>
                <a:uFillTx/>
                <a:latin typeface="Arial" charset="0"/>
                <a:ea typeface="+mn-ea"/>
                <a:cs typeface="+mn-cs"/>
              </a:rPr>
              <a:t>where all amplitudes and absolute phases are lumped into </a:t>
            </a:r>
            <a:r>
              <a:rPr kumimoji="0" lang="en-US" altLang="en-US" sz="2000" b="0" i="1" u="none" strike="noStrike" kern="1200" cap="none" spc="-5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en-US" altLang="en-US" sz="2000" b="0" i="0" u="none" strike="noStrike" kern="1200" cap="none" spc="-50" normalizeH="0" baseline="-25000" noProof="0" dirty="0">
                <a:ln>
                  <a:noFill/>
                </a:ln>
                <a:solidFill>
                  <a:srgbClr val="000000"/>
                </a:solidFill>
                <a:effectLst/>
                <a:uLnTx/>
                <a:uFillTx/>
                <a:latin typeface="Times New Roman" pitchFamily="18" charset="0"/>
                <a:ea typeface="+mn-ea"/>
                <a:cs typeface="Times New Roman" pitchFamily="18" charset="0"/>
              </a:rPr>
              <a:t>01</a:t>
            </a:r>
            <a:r>
              <a:rPr kumimoji="0" lang="en-US" altLang="en-US" sz="2000" b="0" i="0" u="none" strike="noStrike" kern="1200" cap="none" spc="-50" normalizeH="0" baseline="0" noProof="0" dirty="0">
                <a:ln>
                  <a:noFill/>
                </a:ln>
                <a:solidFill>
                  <a:srgbClr val="000000"/>
                </a:solidFill>
                <a:effectLst/>
                <a:uLnTx/>
                <a:uFillTx/>
                <a:latin typeface="Arial" charset="0"/>
                <a:ea typeface="+mn-ea"/>
                <a:cs typeface="+mn-cs"/>
              </a:rPr>
              <a:t>, </a:t>
            </a:r>
            <a:r>
              <a:rPr kumimoji="0" lang="en-US" altLang="en-US" sz="2000" b="0" i="1" u="none" strike="noStrike" kern="1200" cap="none" spc="-5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en-US" altLang="en-US" sz="2000" b="0" i="0" u="none" strike="noStrike" kern="1200" cap="none" spc="-50" normalizeH="0" baseline="-25000" noProof="0" dirty="0">
                <a:ln>
                  <a:noFill/>
                </a:ln>
                <a:solidFill>
                  <a:srgbClr val="000000"/>
                </a:solidFill>
                <a:effectLst/>
                <a:uLnTx/>
                <a:uFillTx/>
                <a:latin typeface="Times New Roman" pitchFamily="18" charset="0"/>
                <a:ea typeface="+mn-ea"/>
                <a:cs typeface="Times New Roman" pitchFamily="18" charset="0"/>
              </a:rPr>
              <a:t>02</a:t>
            </a:r>
            <a:r>
              <a:rPr kumimoji="0" lang="en-US" altLang="en-US" sz="2000" b="0" i="0" u="none" strike="noStrike" kern="1200" cap="none" spc="-50" normalizeH="0" baseline="0" noProof="0" dirty="0">
                <a:ln>
                  <a:noFill/>
                </a:ln>
                <a:solidFill>
                  <a:srgbClr val="000000"/>
                </a:solidFill>
                <a:effectLst/>
                <a:uLnTx/>
                <a:uFillTx/>
                <a:latin typeface="Arial" charset="0"/>
                <a:ea typeface="+mn-ea"/>
                <a:cs typeface="+mn-cs"/>
              </a:rPr>
              <a:t>, and </a:t>
            </a:r>
            <a:r>
              <a:rPr kumimoji="0" lang="en-US" altLang="en-US" sz="2000" b="0" i="1" u="none" strike="noStrike" kern="1200" cap="none" spc="-5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en-US" altLang="en-US" sz="2000" b="0" i="0" u="none" strike="noStrike" kern="1200" cap="none" spc="-50" normalizeH="0" baseline="-25000" noProof="0" dirty="0">
                <a:ln>
                  <a:noFill/>
                </a:ln>
                <a:solidFill>
                  <a:srgbClr val="000000"/>
                </a:solidFill>
                <a:effectLst/>
                <a:uLnTx/>
                <a:uFillTx/>
                <a:latin typeface="Times New Roman" pitchFamily="18" charset="0"/>
                <a:ea typeface="+mn-ea"/>
                <a:cs typeface="Times New Roman" pitchFamily="18" charset="0"/>
              </a:rPr>
              <a:t>03</a:t>
            </a:r>
            <a:r>
              <a:rPr kumimoji="0" lang="en-US" altLang="en-US" sz="2000" b="0" i="0" u="none" strike="noStrike" kern="1200" cap="none" spc="-50" normalizeH="0" baseline="0" noProof="0" dirty="0">
                <a:ln>
                  <a:noFill/>
                </a:ln>
                <a:solidFill>
                  <a:srgbClr val="000000"/>
                </a:solidFill>
                <a:effectLst/>
                <a:uLnTx/>
                <a:uFillTx/>
                <a:latin typeface="Arial" charset="0"/>
                <a:ea typeface="+mn-ea"/>
                <a:cs typeface="+mn-cs"/>
              </a:rPr>
              <a:t>.</a:t>
            </a:r>
          </a:p>
        </p:txBody>
      </p:sp>
      <p:sp>
        <p:nvSpPr>
          <p:cNvPr id="14" name="Rectangle 6">
            <a:extLst>
              <a:ext uri="{FF2B5EF4-FFF2-40B4-BE49-F238E27FC236}">
                <a16:creationId xmlns:a16="http://schemas.microsoft.com/office/drawing/2014/main" id="{4B1A72D7-B70E-5516-2098-FFE3CFF98A3B}"/>
              </a:ext>
            </a:extLst>
          </p:cNvPr>
          <p:cNvSpPr>
            <a:spLocks noChangeArrowheads="1"/>
          </p:cNvSpPr>
          <p:nvPr/>
        </p:nvSpPr>
        <p:spPr bwMode="auto">
          <a:xfrm>
            <a:off x="637540" y="1448536"/>
            <a:ext cx="8001000" cy="43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This addition is hard with trig functions, but easy with complex </a:t>
            </a:r>
            <a:r>
              <a:rPr kumimoji="0" lang="en-US" altLang="en-US"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exps</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p:txBody>
      </p:sp>
      <p:graphicFrame>
        <p:nvGraphicFramePr>
          <p:cNvPr id="15" name="Object 7">
            <a:extLst>
              <a:ext uri="{FF2B5EF4-FFF2-40B4-BE49-F238E27FC236}">
                <a16:creationId xmlns:a16="http://schemas.microsoft.com/office/drawing/2014/main" id="{CCBDFEFF-A74B-4C86-B8FC-92544284CD22}"/>
              </a:ext>
            </a:extLst>
          </p:cNvPr>
          <p:cNvGraphicFramePr>
            <a:graphicFrameLocks noChangeAspect="1"/>
          </p:cNvGraphicFramePr>
          <p:nvPr>
            <p:extLst>
              <p:ext uri="{D42A27DB-BD31-4B8C-83A1-F6EECF244321}">
                <p14:modId xmlns:p14="http://schemas.microsoft.com/office/powerpoint/2010/main" val="3065906023"/>
              </p:ext>
            </p:extLst>
          </p:nvPr>
        </p:nvGraphicFramePr>
        <p:xfrm>
          <a:off x="548640" y="1916848"/>
          <a:ext cx="8101013" cy="909638"/>
        </p:xfrm>
        <a:graphic>
          <a:graphicData uri="http://schemas.openxmlformats.org/presentationml/2006/ole">
            <mc:AlternateContent xmlns:mc="http://schemas.openxmlformats.org/markup-compatibility/2006">
              <mc:Choice xmlns:v="urn:schemas-microsoft-com:vml" Requires="v">
                <p:oleObj name="Equation" r:id="rId3" imgW="4076640" imgH="457200" progId="Equation.DSMT4">
                  <p:embed/>
                </p:oleObj>
              </mc:Choice>
              <mc:Fallback>
                <p:oleObj name="Equation" r:id="rId3" imgW="4076640" imgH="457200" progId="Equation.DSMT4">
                  <p:embed/>
                  <p:pic>
                    <p:nvPicPr>
                      <p:cNvPr id="201733" name="Object 7">
                        <a:extLst>
                          <a:ext uri="{FF2B5EF4-FFF2-40B4-BE49-F238E27FC236}">
                            <a16:creationId xmlns:a16="http://schemas.microsoft.com/office/drawing/2014/main" id="{F652923B-6DC4-48B4-995A-F5EA6BB638CC}"/>
                          </a:ext>
                        </a:extLst>
                      </p:cNvPr>
                      <p:cNvPicPr>
                        <a:picLocks noChangeAspect="1" noChangeArrowheads="1"/>
                      </p:cNvPicPr>
                      <p:nvPr/>
                    </p:nvPicPr>
                    <p:blipFill>
                      <a:blip r:embed="rId4"/>
                      <a:srcRect/>
                      <a:stretch>
                        <a:fillRect/>
                      </a:stretch>
                    </p:blipFill>
                    <p:spPr bwMode="auto">
                      <a:xfrm>
                        <a:off x="548640" y="1916848"/>
                        <a:ext cx="8101013"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Rectangle 10">
            <a:extLst>
              <a:ext uri="{FF2B5EF4-FFF2-40B4-BE49-F238E27FC236}">
                <a16:creationId xmlns:a16="http://schemas.microsoft.com/office/drawing/2014/main" id="{A597E740-3862-57AB-FF90-578C549EE6AB}"/>
              </a:ext>
            </a:extLst>
          </p:cNvPr>
          <p:cNvSpPr>
            <a:spLocks noChangeArrowheads="1"/>
          </p:cNvSpPr>
          <p:nvPr/>
        </p:nvSpPr>
        <p:spPr bwMode="auto">
          <a:xfrm>
            <a:off x="875680" y="3414816"/>
            <a:ext cx="7410543" cy="23828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7" name="Line 12">
            <a:extLst>
              <a:ext uri="{FF2B5EF4-FFF2-40B4-BE49-F238E27FC236}">
                <a16:creationId xmlns:a16="http://schemas.microsoft.com/office/drawing/2014/main" id="{7CF92973-7A82-A378-7AA9-0D25335E0D6E}"/>
              </a:ext>
            </a:extLst>
          </p:cNvPr>
          <p:cNvSpPr>
            <a:spLocks noChangeShapeType="1"/>
          </p:cNvSpPr>
          <p:nvPr/>
        </p:nvSpPr>
        <p:spPr bwMode="auto">
          <a:xfrm>
            <a:off x="1226503" y="4777523"/>
            <a:ext cx="6556375"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 name="Text Box 15">
            <a:extLst>
              <a:ext uri="{FF2B5EF4-FFF2-40B4-BE49-F238E27FC236}">
                <a16:creationId xmlns:a16="http://schemas.microsoft.com/office/drawing/2014/main" id="{CEA35530-6FDB-5B65-6730-8A9B4612B791}"/>
              </a:ext>
            </a:extLst>
          </p:cNvPr>
          <p:cNvSpPr txBox="1">
            <a:spLocks noChangeArrowheads="1"/>
          </p:cNvSpPr>
          <p:nvPr/>
        </p:nvSpPr>
        <p:spPr bwMode="auto">
          <a:xfrm>
            <a:off x="637540" y="657961"/>
            <a:ext cx="7810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Adding waves of the same frequency, but different amplitude and/or absolute phase, yields a wave of the same frequency.</a:t>
            </a:r>
          </a:p>
        </p:txBody>
      </p:sp>
      <p:grpSp>
        <p:nvGrpSpPr>
          <p:cNvPr id="20" name="Group 16">
            <a:extLst>
              <a:ext uri="{FF2B5EF4-FFF2-40B4-BE49-F238E27FC236}">
                <a16:creationId xmlns:a16="http://schemas.microsoft.com/office/drawing/2014/main" id="{4403D766-5041-F698-4972-02BEEA0CEF0E}"/>
              </a:ext>
            </a:extLst>
          </p:cNvPr>
          <p:cNvGrpSpPr>
            <a:grpSpLocks/>
          </p:cNvGrpSpPr>
          <p:nvPr/>
        </p:nvGrpSpPr>
        <p:grpSpPr bwMode="auto">
          <a:xfrm>
            <a:off x="1402715" y="4537811"/>
            <a:ext cx="5649913" cy="471487"/>
            <a:chOff x="594" y="1863"/>
            <a:chExt cx="1781" cy="1227"/>
          </a:xfrm>
        </p:grpSpPr>
        <p:grpSp>
          <p:nvGrpSpPr>
            <p:cNvPr id="21" name="Group 17">
              <a:extLst>
                <a:ext uri="{FF2B5EF4-FFF2-40B4-BE49-F238E27FC236}">
                  <a16:creationId xmlns:a16="http://schemas.microsoft.com/office/drawing/2014/main" id="{9A61AAC7-3ABD-1BEF-A4B0-DEC566346C20}"/>
                </a:ext>
              </a:extLst>
            </p:cNvPr>
            <p:cNvGrpSpPr>
              <a:grpSpLocks/>
            </p:cNvGrpSpPr>
            <p:nvPr/>
          </p:nvGrpSpPr>
          <p:grpSpPr bwMode="auto">
            <a:xfrm>
              <a:off x="594" y="1863"/>
              <a:ext cx="890" cy="1227"/>
              <a:chOff x="591" y="1863"/>
              <a:chExt cx="890" cy="1227"/>
            </a:xfrm>
          </p:grpSpPr>
          <p:sp>
            <p:nvSpPr>
              <p:cNvPr id="36" name="Arc 18">
                <a:extLst>
                  <a:ext uri="{FF2B5EF4-FFF2-40B4-BE49-F238E27FC236}">
                    <a16:creationId xmlns:a16="http://schemas.microsoft.com/office/drawing/2014/main" id="{CDAEA5EB-01BC-C4DF-0B45-56A43A56A52E}"/>
                  </a:ext>
                </a:extLst>
              </p:cNvPr>
              <p:cNvSpPr>
                <a:spLocks/>
              </p:cNvSpPr>
              <p:nvPr/>
            </p:nvSpPr>
            <p:spPr bwMode="auto">
              <a:xfrm rot="10800000" flipV="1">
                <a:off x="591"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7" name="Arc 19">
                <a:extLst>
                  <a:ext uri="{FF2B5EF4-FFF2-40B4-BE49-F238E27FC236}">
                    <a16:creationId xmlns:a16="http://schemas.microsoft.com/office/drawing/2014/main" id="{2558D9BE-56FE-386D-CA42-2FA1BFC6A00B}"/>
                  </a:ext>
                </a:extLst>
              </p:cNvPr>
              <p:cNvSpPr>
                <a:spLocks/>
              </p:cNvSpPr>
              <p:nvPr/>
            </p:nvSpPr>
            <p:spPr bwMode="auto">
              <a:xfrm rot="10800000" flipH="1" flipV="1">
                <a:off x="66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8" name="Arc 20">
                <a:extLst>
                  <a:ext uri="{FF2B5EF4-FFF2-40B4-BE49-F238E27FC236}">
                    <a16:creationId xmlns:a16="http://schemas.microsoft.com/office/drawing/2014/main" id="{137C1BA7-E630-3FBB-AC3F-3D49118503B3}"/>
                  </a:ext>
                </a:extLst>
              </p:cNvPr>
              <p:cNvSpPr>
                <a:spLocks/>
              </p:cNvSpPr>
              <p:nvPr/>
            </p:nvSpPr>
            <p:spPr bwMode="auto">
              <a:xfrm rot="10800000">
                <a:off x="73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9" name="Arc 21">
                <a:extLst>
                  <a:ext uri="{FF2B5EF4-FFF2-40B4-BE49-F238E27FC236}">
                    <a16:creationId xmlns:a16="http://schemas.microsoft.com/office/drawing/2014/main" id="{C03583D6-A48E-DB5E-0CAE-532C1FD33F10}"/>
                  </a:ext>
                </a:extLst>
              </p:cNvPr>
              <p:cNvSpPr>
                <a:spLocks/>
              </p:cNvSpPr>
              <p:nvPr/>
            </p:nvSpPr>
            <p:spPr bwMode="auto">
              <a:xfrm rot="10800000" flipH="1">
                <a:off x="80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 name="Arc 22">
                <a:extLst>
                  <a:ext uri="{FF2B5EF4-FFF2-40B4-BE49-F238E27FC236}">
                    <a16:creationId xmlns:a16="http://schemas.microsoft.com/office/drawing/2014/main" id="{9427468A-7695-6F72-DC81-DF777B55775C}"/>
                  </a:ext>
                </a:extLst>
              </p:cNvPr>
              <p:cNvSpPr>
                <a:spLocks/>
              </p:cNvSpPr>
              <p:nvPr/>
            </p:nvSpPr>
            <p:spPr bwMode="auto">
              <a:xfrm rot="10800000" flipV="1">
                <a:off x="886"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1" name="Arc 23">
                <a:extLst>
                  <a:ext uri="{FF2B5EF4-FFF2-40B4-BE49-F238E27FC236}">
                    <a16:creationId xmlns:a16="http://schemas.microsoft.com/office/drawing/2014/main" id="{CA1C7F8D-8CF7-F156-E3FA-4CB8F2915B67}"/>
                  </a:ext>
                </a:extLst>
              </p:cNvPr>
              <p:cNvSpPr>
                <a:spLocks/>
              </p:cNvSpPr>
              <p:nvPr/>
            </p:nvSpPr>
            <p:spPr bwMode="auto">
              <a:xfrm rot="10800000" flipH="1" flipV="1">
                <a:off x="957"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2" name="Arc 24">
                <a:extLst>
                  <a:ext uri="{FF2B5EF4-FFF2-40B4-BE49-F238E27FC236}">
                    <a16:creationId xmlns:a16="http://schemas.microsoft.com/office/drawing/2014/main" id="{BFD7F404-0175-9D0E-70D7-14CA778B5000}"/>
                  </a:ext>
                </a:extLst>
              </p:cNvPr>
              <p:cNvSpPr>
                <a:spLocks/>
              </p:cNvSpPr>
              <p:nvPr/>
            </p:nvSpPr>
            <p:spPr bwMode="auto">
              <a:xfrm rot="10800000">
                <a:off x="1034"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3" name="Arc 25">
                <a:extLst>
                  <a:ext uri="{FF2B5EF4-FFF2-40B4-BE49-F238E27FC236}">
                    <a16:creationId xmlns:a16="http://schemas.microsoft.com/office/drawing/2014/main" id="{734CE520-9901-1724-5679-37D76F887401}"/>
                  </a:ext>
                </a:extLst>
              </p:cNvPr>
              <p:cNvSpPr>
                <a:spLocks/>
              </p:cNvSpPr>
              <p:nvPr/>
            </p:nvSpPr>
            <p:spPr bwMode="auto">
              <a:xfrm rot="10800000" flipH="1">
                <a:off x="1105"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4" name="Arc 26">
                <a:extLst>
                  <a:ext uri="{FF2B5EF4-FFF2-40B4-BE49-F238E27FC236}">
                    <a16:creationId xmlns:a16="http://schemas.microsoft.com/office/drawing/2014/main" id="{943277B2-5FDC-B33D-44DD-D4424C4EF573}"/>
                  </a:ext>
                </a:extLst>
              </p:cNvPr>
              <p:cNvSpPr>
                <a:spLocks/>
              </p:cNvSpPr>
              <p:nvPr/>
            </p:nvSpPr>
            <p:spPr bwMode="auto">
              <a:xfrm rot="10800000" flipV="1">
                <a:off x="118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5" name="Arc 27">
                <a:extLst>
                  <a:ext uri="{FF2B5EF4-FFF2-40B4-BE49-F238E27FC236}">
                    <a16:creationId xmlns:a16="http://schemas.microsoft.com/office/drawing/2014/main" id="{49BDEC14-9088-AAF2-EAB4-0A886114399E}"/>
                  </a:ext>
                </a:extLst>
              </p:cNvPr>
              <p:cNvSpPr>
                <a:spLocks/>
              </p:cNvSpPr>
              <p:nvPr/>
            </p:nvSpPr>
            <p:spPr bwMode="auto">
              <a:xfrm rot="10800000" flipH="1" flipV="1">
                <a:off x="1253"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6" name="Arc 28">
                <a:extLst>
                  <a:ext uri="{FF2B5EF4-FFF2-40B4-BE49-F238E27FC236}">
                    <a16:creationId xmlns:a16="http://schemas.microsoft.com/office/drawing/2014/main" id="{799E544E-2EFB-3521-2048-A0A513B2074D}"/>
                  </a:ext>
                </a:extLst>
              </p:cNvPr>
              <p:cNvSpPr>
                <a:spLocks/>
              </p:cNvSpPr>
              <p:nvPr/>
            </p:nvSpPr>
            <p:spPr bwMode="auto">
              <a:xfrm rot="10800000">
                <a:off x="1331"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7" name="Arc 29">
                <a:extLst>
                  <a:ext uri="{FF2B5EF4-FFF2-40B4-BE49-F238E27FC236}">
                    <a16:creationId xmlns:a16="http://schemas.microsoft.com/office/drawing/2014/main" id="{75604146-AC15-7F53-4F06-C5C9252EBFA2}"/>
                  </a:ext>
                </a:extLst>
              </p:cNvPr>
              <p:cNvSpPr>
                <a:spLocks/>
              </p:cNvSpPr>
              <p:nvPr/>
            </p:nvSpPr>
            <p:spPr bwMode="auto">
              <a:xfrm rot="10800000" flipH="1">
                <a:off x="1403"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grpSp>
          <p:nvGrpSpPr>
            <p:cNvPr id="22" name="Group 30">
              <a:extLst>
                <a:ext uri="{FF2B5EF4-FFF2-40B4-BE49-F238E27FC236}">
                  <a16:creationId xmlns:a16="http://schemas.microsoft.com/office/drawing/2014/main" id="{1D15E203-825B-64E8-E015-512CC1B11443}"/>
                </a:ext>
              </a:extLst>
            </p:cNvPr>
            <p:cNvGrpSpPr>
              <a:grpSpLocks/>
            </p:cNvGrpSpPr>
            <p:nvPr/>
          </p:nvGrpSpPr>
          <p:grpSpPr bwMode="auto">
            <a:xfrm>
              <a:off x="1485" y="1863"/>
              <a:ext cx="890" cy="1227"/>
              <a:chOff x="591" y="1863"/>
              <a:chExt cx="890" cy="1227"/>
            </a:xfrm>
          </p:grpSpPr>
          <p:sp>
            <p:nvSpPr>
              <p:cNvPr id="23" name="Arc 31">
                <a:extLst>
                  <a:ext uri="{FF2B5EF4-FFF2-40B4-BE49-F238E27FC236}">
                    <a16:creationId xmlns:a16="http://schemas.microsoft.com/office/drawing/2014/main" id="{47D94F6C-E50D-13B3-2B2E-950FAE71BC10}"/>
                  </a:ext>
                </a:extLst>
              </p:cNvPr>
              <p:cNvSpPr>
                <a:spLocks/>
              </p:cNvSpPr>
              <p:nvPr/>
            </p:nvSpPr>
            <p:spPr bwMode="auto">
              <a:xfrm rot="10800000" flipV="1">
                <a:off x="591"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4" name="Arc 32">
                <a:extLst>
                  <a:ext uri="{FF2B5EF4-FFF2-40B4-BE49-F238E27FC236}">
                    <a16:creationId xmlns:a16="http://schemas.microsoft.com/office/drawing/2014/main" id="{DB7EB4F0-1A28-B221-F138-C2FBE5FCB680}"/>
                  </a:ext>
                </a:extLst>
              </p:cNvPr>
              <p:cNvSpPr>
                <a:spLocks/>
              </p:cNvSpPr>
              <p:nvPr/>
            </p:nvSpPr>
            <p:spPr bwMode="auto">
              <a:xfrm rot="10800000" flipH="1" flipV="1">
                <a:off x="66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5" name="Arc 33">
                <a:extLst>
                  <a:ext uri="{FF2B5EF4-FFF2-40B4-BE49-F238E27FC236}">
                    <a16:creationId xmlns:a16="http://schemas.microsoft.com/office/drawing/2014/main" id="{D388BD2E-E70A-371E-4ED5-7C80EE1DC58F}"/>
                  </a:ext>
                </a:extLst>
              </p:cNvPr>
              <p:cNvSpPr>
                <a:spLocks/>
              </p:cNvSpPr>
              <p:nvPr/>
            </p:nvSpPr>
            <p:spPr bwMode="auto">
              <a:xfrm rot="10800000">
                <a:off x="73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6" name="Arc 34">
                <a:extLst>
                  <a:ext uri="{FF2B5EF4-FFF2-40B4-BE49-F238E27FC236}">
                    <a16:creationId xmlns:a16="http://schemas.microsoft.com/office/drawing/2014/main" id="{C6B37F41-1BD1-4D93-E815-D1876B8CE08E}"/>
                  </a:ext>
                </a:extLst>
              </p:cNvPr>
              <p:cNvSpPr>
                <a:spLocks/>
              </p:cNvSpPr>
              <p:nvPr/>
            </p:nvSpPr>
            <p:spPr bwMode="auto">
              <a:xfrm rot="10800000" flipH="1">
                <a:off x="80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7" name="Arc 35">
                <a:extLst>
                  <a:ext uri="{FF2B5EF4-FFF2-40B4-BE49-F238E27FC236}">
                    <a16:creationId xmlns:a16="http://schemas.microsoft.com/office/drawing/2014/main" id="{6973B608-14F7-A2DD-0C4A-E0F44F1E8DA2}"/>
                  </a:ext>
                </a:extLst>
              </p:cNvPr>
              <p:cNvSpPr>
                <a:spLocks/>
              </p:cNvSpPr>
              <p:nvPr/>
            </p:nvSpPr>
            <p:spPr bwMode="auto">
              <a:xfrm rot="10800000" flipV="1">
                <a:off x="886"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8" name="Arc 36">
                <a:extLst>
                  <a:ext uri="{FF2B5EF4-FFF2-40B4-BE49-F238E27FC236}">
                    <a16:creationId xmlns:a16="http://schemas.microsoft.com/office/drawing/2014/main" id="{591838EA-F057-2CD4-D6D1-2954B47157E1}"/>
                  </a:ext>
                </a:extLst>
              </p:cNvPr>
              <p:cNvSpPr>
                <a:spLocks/>
              </p:cNvSpPr>
              <p:nvPr/>
            </p:nvSpPr>
            <p:spPr bwMode="auto">
              <a:xfrm rot="10800000" flipH="1" flipV="1">
                <a:off x="957"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 name="Arc 37">
                <a:extLst>
                  <a:ext uri="{FF2B5EF4-FFF2-40B4-BE49-F238E27FC236}">
                    <a16:creationId xmlns:a16="http://schemas.microsoft.com/office/drawing/2014/main" id="{949F6D8D-7932-D3DB-05E0-9C6ACC301AC5}"/>
                  </a:ext>
                </a:extLst>
              </p:cNvPr>
              <p:cNvSpPr>
                <a:spLocks/>
              </p:cNvSpPr>
              <p:nvPr/>
            </p:nvSpPr>
            <p:spPr bwMode="auto">
              <a:xfrm rot="10800000">
                <a:off x="1034"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 name="Arc 38">
                <a:extLst>
                  <a:ext uri="{FF2B5EF4-FFF2-40B4-BE49-F238E27FC236}">
                    <a16:creationId xmlns:a16="http://schemas.microsoft.com/office/drawing/2014/main" id="{78B669BC-31A6-076B-CB72-841668AE011E}"/>
                  </a:ext>
                </a:extLst>
              </p:cNvPr>
              <p:cNvSpPr>
                <a:spLocks/>
              </p:cNvSpPr>
              <p:nvPr/>
            </p:nvSpPr>
            <p:spPr bwMode="auto">
              <a:xfrm rot="10800000" flipH="1">
                <a:off x="1105"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 name="Arc 39">
                <a:extLst>
                  <a:ext uri="{FF2B5EF4-FFF2-40B4-BE49-F238E27FC236}">
                    <a16:creationId xmlns:a16="http://schemas.microsoft.com/office/drawing/2014/main" id="{E6259496-4656-FE18-B47E-69540BA86F1A}"/>
                  </a:ext>
                </a:extLst>
              </p:cNvPr>
              <p:cNvSpPr>
                <a:spLocks/>
              </p:cNvSpPr>
              <p:nvPr/>
            </p:nvSpPr>
            <p:spPr bwMode="auto">
              <a:xfrm rot="10800000" flipV="1">
                <a:off x="118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 name="Arc 40">
                <a:extLst>
                  <a:ext uri="{FF2B5EF4-FFF2-40B4-BE49-F238E27FC236}">
                    <a16:creationId xmlns:a16="http://schemas.microsoft.com/office/drawing/2014/main" id="{5BDFE789-71B7-2A1A-7E1A-DB6CF022322D}"/>
                  </a:ext>
                </a:extLst>
              </p:cNvPr>
              <p:cNvSpPr>
                <a:spLocks/>
              </p:cNvSpPr>
              <p:nvPr/>
            </p:nvSpPr>
            <p:spPr bwMode="auto">
              <a:xfrm rot="10800000" flipH="1" flipV="1">
                <a:off x="1253"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 name="Arc 41">
                <a:extLst>
                  <a:ext uri="{FF2B5EF4-FFF2-40B4-BE49-F238E27FC236}">
                    <a16:creationId xmlns:a16="http://schemas.microsoft.com/office/drawing/2014/main" id="{5670C565-4AE8-F15D-250C-0BCD568F8627}"/>
                  </a:ext>
                </a:extLst>
              </p:cNvPr>
              <p:cNvSpPr>
                <a:spLocks/>
              </p:cNvSpPr>
              <p:nvPr/>
            </p:nvSpPr>
            <p:spPr bwMode="auto">
              <a:xfrm rot="10800000">
                <a:off x="1331"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5" name="Arc 42">
                <a:extLst>
                  <a:ext uri="{FF2B5EF4-FFF2-40B4-BE49-F238E27FC236}">
                    <a16:creationId xmlns:a16="http://schemas.microsoft.com/office/drawing/2014/main" id="{1340624C-1713-52CD-C4C8-155ECF791C3B}"/>
                  </a:ext>
                </a:extLst>
              </p:cNvPr>
              <p:cNvSpPr>
                <a:spLocks/>
              </p:cNvSpPr>
              <p:nvPr/>
            </p:nvSpPr>
            <p:spPr bwMode="auto">
              <a:xfrm rot="10800000" flipH="1">
                <a:off x="1403"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grpSp>
      <p:grpSp>
        <p:nvGrpSpPr>
          <p:cNvPr id="48" name="Group 43">
            <a:extLst>
              <a:ext uri="{FF2B5EF4-FFF2-40B4-BE49-F238E27FC236}">
                <a16:creationId xmlns:a16="http://schemas.microsoft.com/office/drawing/2014/main" id="{24A56470-C75E-17DC-80A0-2082E372E9E6}"/>
              </a:ext>
            </a:extLst>
          </p:cNvPr>
          <p:cNvGrpSpPr>
            <a:grpSpLocks/>
          </p:cNvGrpSpPr>
          <p:nvPr/>
        </p:nvGrpSpPr>
        <p:grpSpPr bwMode="auto">
          <a:xfrm>
            <a:off x="1555115" y="4375886"/>
            <a:ext cx="5649913" cy="823912"/>
            <a:chOff x="594" y="1863"/>
            <a:chExt cx="1781" cy="1227"/>
          </a:xfrm>
        </p:grpSpPr>
        <p:grpSp>
          <p:nvGrpSpPr>
            <p:cNvPr id="49" name="Group 44">
              <a:extLst>
                <a:ext uri="{FF2B5EF4-FFF2-40B4-BE49-F238E27FC236}">
                  <a16:creationId xmlns:a16="http://schemas.microsoft.com/office/drawing/2014/main" id="{AB7616A1-142C-6E36-A1A5-F252BCD82E7E}"/>
                </a:ext>
              </a:extLst>
            </p:cNvPr>
            <p:cNvGrpSpPr>
              <a:grpSpLocks/>
            </p:cNvGrpSpPr>
            <p:nvPr/>
          </p:nvGrpSpPr>
          <p:grpSpPr bwMode="auto">
            <a:xfrm>
              <a:off x="594" y="1863"/>
              <a:ext cx="890" cy="1227"/>
              <a:chOff x="591" y="1863"/>
              <a:chExt cx="890" cy="1227"/>
            </a:xfrm>
          </p:grpSpPr>
          <p:sp>
            <p:nvSpPr>
              <p:cNvPr id="63" name="Arc 45">
                <a:extLst>
                  <a:ext uri="{FF2B5EF4-FFF2-40B4-BE49-F238E27FC236}">
                    <a16:creationId xmlns:a16="http://schemas.microsoft.com/office/drawing/2014/main" id="{FCE0B2C5-2600-6EBC-1F7E-71C5EED96BE6}"/>
                  </a:ext>
                </a:extLst>
              </p:cNvPr>
              <p:cNvSpPr>
                <a:spLocks/>
              </p:cNvSpPr>
              <p:nvPr/>
            </p:nvSpPr>
            <p:spPr bwMode="auto">
              <a:xfrm rot="10800000" flipV="1">
                <a:off x="591"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4" name="Arc 46">
                <a:extLst>
                  <a:ext uri="{FF2B5EF4-FFF2-40B4-BE49-F238E27FC236}">
                    <a16:creationId xmlns:a16="http://schemas.microsoft.com/office/drawing/2014/main" id="{653D58D7-EDAA-568B-1836-997AFFA370CB}"/>
                  </a:ext>
                </a:extLst>
              </p:cNvPr>
              <p:cNvSpPr>
                <a:spLocks/>
              </p:cNvSpPr>
              <p:nvPr/>
            </p:nvSpPr>
            <p:spPr bwMode="auto">
              <a:xfrm rot="10800000" flipH="1" flipV="1">
                <a:off x="66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5" name="Arc 47">
                <a:extLst>
                  <a:ext uri="{FF2B5EF4-FFF2-40B4-BE49-F238E27FC236}">
                    <a16:creationId xmlns:a16="http://schemas.microsoft.com/office/drawing/2014/main" id="{1A993FA2-C089-A307-1623-923E56D25244}"/>
                  </a:ext>
                </a:extLst>
              </p:cNvPr>
              <p:cNvSpPr>
                <a:spLocks/>
              </p:cNvSpPr>
              <p:nvPr/>
            </p:nvSpPr>
            <p:spPr bwMode="auto">
              <a:xfrm rot="10800000">
                <a:off x="73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6" name="Arc 48">
                <a:extLst>
                  <a:ext uri="{FF2B5EF4-FFF2-40B4-BE49-F238E27FC236}">
                    <a16:creationId xmlns:a16="http://schemas.microsoft.com/office/drawing/2014/main" id="{6A45AA6C-3B69-CF95-6E78-02120C944D39}"/>
                  </a:ext>
                </a:extLst>
              </p:cNvPr>
              <p:cNvSpPr>
                <a:spLocks/>
              </p:cNvSpPr>
              <p:nvPr/>
            </p:nvSpPr>
            <p:spPr bwMode="auto">
              <a:xfrm rot="10800000" flipH="1">
                <a:off x="80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7" name="Arc 49">
                <a:extLst>
                  <a:ext uri="{FF2B5EF4-FFF2-40B4-BE49-F238E27FC236}">
                    <a16:creationId xmlns:a16="http://schemas.microsoft.com/office/drawing/2014/main" id="{D80CCF87-E184-1D9F-B939-83BEC6A0802E}"/>
                  </a:ext>
                </a:extLst>
              </p:cNvPr>
              <p:cNvSpPr>
                <a:spLocks/>
              </p:cNvSpPr>
              <p:nvPr/>
            </p:nvSpPr>
            <p:spPr bwMode="auto">
              <a:xfrm rot="10800000" flipV="1">
                <a:off x="886"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8" name="Arc 50">
                <a:extLst>
                  <a:ext uri="{FF2B5EF4-FFF2-40B4-BE49-F238E27FC236}">
                    <a16:creationId xmlns:a16="http://schemas.microsoft.com/office/drawing/2014/main" id="{482AFEC1-F8FC-4A18-D822-6D46B0BAD57D}"/>
                  </a:ext>
                </a:extLst>
              </p:cNvPr>
              <p:cNvSpPr>
                <a:spLocks/>
              </p:cNvSpPr>
              <p:nvPr/>
            </p:nvSpPr>
            <p:spPr bwMode="auto">
              <a:xfrm rot="10800000" flipH="1" flipV="1">
                <a:off x="957"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9" name="Arc 51">
                <a:extLst>
                  <a:ext uri="{FF2B5EF4-FFF2-40B4-BE49-F238E27FC236}">
                    <a16:creationId xmlns:a16="http://schemas.microsoft.com/office/drawing/2014/main" id="{484D1D9F-7698-EEEA-CB39-053383100E3B}"/>
                  </a:ext>
                </a:extLst>
              </p:cNvPr>
              <p:cNvSpPr>
                <a:spLocks/>
              </p:cNvSpPr>
              <p:nvPr/>
            </p:nvSpPr>
            <p:spPr bwMode="auto">
              <a:xfrm rot="10800000">
                <a:off x="1034"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0" name="Arc 52">
                <a:extLst>
                  <a:ext uri="{FF2B5EF4-FFF2-40B4-BE49-F238E27FC236}">
                    <a16:creationId xmlns:a16="http://schemas.microsoft.com/office/drawing/2014/main" id="{435172E5-27A3-2470-F4D1-623737752BBD}"/>
                  </a:ext>
                </a:extLst>
              </p:cNvPr>
              <p:cNvSpPr>
                <a:spLocks/>
              </p:cNvSpPr>
              <p:nvPr/>
            </p:nvSpPr>
            <p:spPr bwMode="auto">
              <a:xfrm rot="10800000" flipH="1">
                <a:off x="1105"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1" name="Arc 53">
                <a:extLst>
                  <a:ext uri="{FF2B5EF4-FFF2-40B4-BE49-F238E27FC236}">
                    <a16:creationId xmlns:a16="http://schemas.microsoft.com/office/drawing/2014/main" id="{758D40F4-2AEC-EAB8-65F7-741E366494D4}"/>
                  </a:ext>
                </a:extLst>
              </p:cNvPr>
              <p:cNvSpPr>
                <a:spLocks/>
              </p:cNvSpPr>
              <p:nvPr/>
            </p:nvSpPr>
            <p:spPr bwMode="auto">
              <a:xfrm rot="10800000" flipV="1">
                <a:off x="118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 name="Arc 54">
                <a:extLst>
                  <a:ext uri="{FF2B5EF4-FFF2-40B4-BE49-F238E27FC236}">
                    <a16:creationId xmlns:a16="http://schemas.microsoft.com/office/drawing/2014/main" id="{8798817B-421C-C842-1F50-0AB44B1AF350}"/>
                  </a:ext>
                </a:extLst>
              </p:cNvPr>
              <p:cNvSpPr>
                <a:spLocks/>
              </p:cNvSpPr>
              <p:nvPr/>
            </p:nvSpPr>
            <p:spPr bwMode="auto">
              <a:xfrm rot="10800000" flipH="1" flipV="1">
                <a:off x="1253"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3" name="Arc 55">
                <a:extLst>
                  <a:ext uri="{FF2B5EF4-FFF2-40B4-BE49-F238E27FC236}">
                    <a16:creationId xmlns:a16="http://schemas.microsoft.com/office/drawing/2014/main" id="{41F186A8-E2FD-3F65-BFBE-EFFE0A3AF6DE}"/>
                  </a:ext>
                </a:extLst>
              </p:cNvPr>
              <p:cNvSpPr>
                <a:spLocks/>
              </p:cNvSpPr>
              <p:nvPr/>
            </p:nvSpPr>
            <p:spPr bwMode="auto">
              <a:xfrm rot="10800000">
                <a:off x="1331"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4" name="Arc 56">
                <a:extLst>
                  <a:ext uri="{FF2B5EF4-FFF2-40B4-BE49-F238E27FC236}">
                    <a16:creationId xmlns:a16="http://schemas.microsoft.com/office/drawing/2014/main" id="{DFF1950A-27CA-12EC-C6D6-A317328026DE}"/>
                  </a:ext>
                </a:extLst>
              </p:cNvPr>
              <p:cNvSpPr>
                <a:spLocks/>
              </p:cNvSpPr>
              <p:nvPr/>
            </p:nvSpPr>
            <p:spPr bwMode="auto">
              <a:xfrm rot="10800000" flipH="1">
                <a:off x="1403"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grpSp>
          <p:nvGrpSpPr>
            <p:cNvPr id="50" name="Group 57">
              <a:extLst>
                <a:ext uri="{FF2B5EF4-FFF2-40B4-BE49-F238E27FC236}">
                  <a16:creationId xmlns:a16="http://schemas.microsoft.com/office/drawing/2014/main" id="{B2EED034-DB5B-24AD-A780-37FCCF452350}"/>
                </a:ext>
              </a:extLst>
            </p:cNvPr>
            <p:cNvGrpSpPr>
              <a:grpSpLocks/>
            </p:cNvGrpSpPr>
            <p:nvPr/>
          </p:nvGrpSpPr>
          <p:grpSpPr bwMode="auto">
            <a:xfrm>
              <a:off x="1485" y="1863"/>
              <a:ext cx="890" cy="1227"/>
              <a:chOff x="591" y="1863"/>
              <a:chExt cx="890" cy="1227"/>
            </a:xfrm>
          </p:grpSpPr>
          <p:sp>
            <p:nvSpPr>
              <p:cNvPr id="51" name="Arc 58">
                <a:extLst>
                  <a:ext uri="{FF2B5EF4-FFF2-40B4-BE49-F238E27FC236}">
                    <a16:creationId xmlns:a16="http://schemas.microsoft.com/office/drawing/2014/main" id="{FA69A14C-75F7-F289-F5DC-5D80D3D35B30}"/>
                  </a:ext>
                </a:extLst>
              </p:cNvPr>
              <p:cNvSpPr>
                <a:spLocks/>
              </p:cNvSpPr>
              <p:nvPr/>
            </p:nvSpPr>
            <p:spPr bwMode="auto">
              <a:xfrm rot="10800000" flipV="1">
                <a:off x="591"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2" name="Arc 59">
                <a:extLst>
                  <a:ext uri="{FF2B5EF4-FFF2-40B4-BE49-F238E27FC236}">
                    <a16:creationId xmlns:a16="http://schemas.microsoft.com/office/drawing/2014/main" id="{6F70E501-74A1-6EDE-61A9-343A4FAD27B7}"/>
                  </a:ext>
                </a:extLst>
              </p:cNvPr>
              <p:cNvSpPr>
                <a:spLocks/>
              </p:cNvSpPr>
              <p:nvPr/>
            </p:nvSpPr>
            <p:spPr bwMode="auto">
              <a:xfrm rot="10800000" flipH="1" flipV="1">
                <a:off x="66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3" name="Arc 60">
                <a:extLst>
                  <a:ext uri="{FF2B5EF4-FFF2-40B4-BE49-F238E27FC236}">
                    <a16:creationId xmlns:a16="http://schemas.microsoft.com/office/drawing/2014/main" id="{C4261D5F-4822-8A61-6C9D-09AB8698BD57}"/>
                  </a:ext>
                </a:extLst>
              </p:cNvPr>
              <p:cNvSpPr>
                <a:spLocks/>
              </p:cNvSpPr>
              <p:nvPr/>
            </p:nvSpPr>
            <p:spPr bwMode="auto">
              <a:xfrm rot="10800000">
                <a:off x="73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4" name="Arc 61">
                <a:extLst>
                  <a:ext uri="{FF2B5EF4-FFF2-40B4-BE49-F238E27FC236}">
                    <a16:creationId xmlns:a16="http://schemas.microsoft.com/office/drawing/2014/main" id="{12341967-E5A1-3498-64D0-6656F9711AAE}"/>
                  </a:ext>
                </a:extLst>
              </p:cNvPr>
              <p:cNvSpPr>
                <a:spLocks/>
              </p:cNvSpPr>
              <p:nvPr/>
            </p:nvSpPr>
            <p:spPr bwMode="auto">
              <a:xfrm rot="10800000" flipH="1">
                <a:off x="80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5" name="Arc 62">
                <a:extLst>
                  <a:ext uri="{FF2B5EF4-FFF2-40B4-BE49-F238E27FC236}">
                    <a16:creationId xmlns:a16="http://schemas.microsoft.com/office/drawing/2014/main" id="{8EB45DAB-2C9F-7B05-6E7A-EB347EFD013B}"/>
                  </a:ext>
                </a:extLst>
              </p:cNvPr>
              <p:cNvSpPr>
                <a:spLocks/>
              </p:cNvSpPr>
              <p:nvPr/>
            </p:nvSpPr>
            <p:spPr bwMode="auto">
              <a:xfrm rot="10800000" flipV="1">
                <a:off x="886"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6" name="Arc 63">
                <a:extLst>
                  <a:ext uri="{FF2B5EF4-FFF2-40B4-BE49-F238E27FC236}">
                    <a16:creationId xmlns:a16="http://schemas.microsoft.com/office/drawing/2014/main" id="{9B603096-2F6F-B006-EC91-5CFF58511C05}"/>
                  </a:ext>
                </a:extLst>
              </p:cNvPr>
              <p:cNvSpPr>
                <a:spLocks/>
              </p:cNvSpPr>
              <p:nvPr/>
            </p:nvSpPr>
            <p:spPr bwMode="auto">
              <a:xfrm rot="10800000" flipH="1" flipV="1">
                <a:off x="957"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7" name="Arc 64">
                <a:extLst>
                  <a:ext uri="{FF2B5EF4-FFF2-40B4-BE49-F238E27FC236}">
                    <a16:creationId xmlns:a16="http://schemas.microsoft.com/office/drawing/2014/main" id="{2C3C931F-A48A-1CEF-13C3-4B53B52C9878}"/>
                  </a:ext>
                </a:extLst>
              </p:cNvPr>
              <p:cNvSpPr>
                <a:spLocks/>
              </p:cNvSpPr>
              <p:nvPr/>
            </p:nvSpPr>
            <p:spPr bwMode="auto">
              <a:xfrm rot="10800000">
                <a:off x="1034"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8" name="Arc 65">
                <a:extLst>
                  <a:ext uri="{FF2B5EF4-FFF2-40B4-BE49-F238E27FC236}">
                    <a16:creationId xmlns:a16="http://schemas.microsoft.com/office/drawing/2014/main" id="{528AF81C-9037-D906-B1FC-756263D3CDF3}"/>
                  </a:ext>
                </a:extLst>
              </p:cNvPr>
              <p:cNvSpPr>
                <a:spLocks/>
              </p:cNvSpPr>
              <p:nvPr/>
            </p:nvSpPr>
            <p:spPr bwMode="auto">
              <a:xfrm rot="10800000" flipH="1">
                <a:off x="1105"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9" name="Arc 66">
                <a:extLst>
                  <a:ext uri="{FF2B5EF4-FFF2-40B4-BE49-F238E27FC236}">
                    <a16:creationId xmlns:a16="http://schemas.microsoft.com/office/drawing/2014/main" id="{4B92404F-D2C3-857C-B538-DF8D24CF1DC8}"/>
                  </a:ext>
                </a:extLst>
              </p:cNvPr>
              <p:cNvSpPr>
                <a:spLocks/>
              </p:cNvSpPr>
              <p:nvPr/>
            </p:nvSpPr>
            <p:spPr bwMode="auto">
              <a:xfrm rot="10800000" flipV="1">
                <a:off x="118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0" name="Arc 67">
                <a:extLst>
                  <a:ext uri="{FF2B5EF4-FFF2-40B4-BE49-F238E27FC236}">
                    <a16:creationId xmlns:a16="http://schemas.microsoft.com/office/drawing/2014/main" id="{0A22954D-712F-A9F8-93EB-946CFBC22AFB}"/>
                  </a:ext>
                </a:extLst>
              </p:cNvPr>
              <p:cNvSpPr>
                <a:spLocks/>
              </p:cNvSpPr>
              <p:nvPr/>
            </p:nvSpPr>
            <p:spPr bwMode="auto">
              <a:xfrm rot="10800000" flipH="1" flipV="1">
                <a:off x="1253"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1" name="Arc 68">
                <a:extLst>
                  <a:ext uri="{FF2B5EF4-FFF2-40B4-BE49-F238E27FC236}">
                    <a16:creationId xmlns:a16="http://schemas.microsoft.com/office/drawing/2014/main" id="{3189E208-7ABF-9440-CD43-F285205160A6}"/>
                  </a:ext>
                </a:extLst>
              </p:cNvPr>
              <p:cNvSpPr>
                <a:spLocks/>
              </p:cNvSpPr>
              <p:nvPr/>
            </p:nvSpPr>
            <p:spPr bwMode="auto">
              <a:xfrm rot="10800000">
                <a:off x="1331"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2" name="Arc 69">
                <a:extLst>
                  <a:ext uri="{FF2B5EF4-FFF2-40B4-BE49-F238E27FC236}">
                    <a16:creationId xmlns:a16="http://schemas.microsoft.com/office/drawing/2014/main" id="{992B4D91-C6EF-99BC-45C9-66261F9FCEC6}"/>
                  </a:ext>
                </a:extLst>
              </p:cNvPr>
              <p:cNvSpPr>
                <a:spLocks/>
              </p:cNvSpPr>
              <p:nvPr/>
            </p:nvSpPr>
            <p:spPr bwMode="auto">
              <a:xfrm rot="10800000" flipH="1">
                <a:off x="1403"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grpSp>
      <p:grpSp>
        <p:nvGrpSpPr>
          <p:cNvPr id="75" name="Group 70">
            <a:extLst>
              <a:ext uri="{FF2B5EF4-FFF2-40B4-BE49-F238E27FC236}">
                <a16:creationId xmlns:a16="http://schemas.microsoft.com/office/drawing/2014/main" id="{9F2EE5D5-E0CA-4F2C-8019-222A083826A2}"/>
              </a:ext>
            </a:extLst>
          </p:cNvPr>
          <p:cNvGrpSpPr>
            <a:grpSpLocks/>
          </p:cNvGrpSpPr>
          <p:nvPr/>
        </p:nvGrpSpPr>
        <p:grpSpPr bwMode="auto">
          <a:xfrm>
            <a:off x="1707515" y="4213961"/>
            <a:ext cx="5649913" cy="1090612"/>
            <a:chOff x="594" y="1863"/>
            <a:chExt cx="1781" cy="1227"/>
          </a:xfrm>
        </p:grpSpPr>
        <p:grpSp>
          <p:nvGrpSpPr>
            <p:cNvPr id="76" name="Group 71">
              <a:extLst>
                <a:ext uri="{FF2B5EF4-FFF2-40B4-BE49-F238E27FC236}">
                  <a16:creationId xmlns:a16="http://schemas.microsoft.com/office/drawing/2014/main" id="{2CBF87F5-4FAA-A1ED-76D3-C6291708452B}"/>
                </a:ext>
              </a:extLst>
            </p:cNvPr>
            <p:cNvGrpSpPr>
              <a:grpSpLocks/>
            </p:cNvGrpSpPr>
            <p:nvPr/>
          </p:nvGrpSpPr>
          <p:grpSpPr bwMode="auto">
            <a:xfrm>
              <a:off x="594" y="1863"/>
              <a:ext cx="890" cy="1227"/>
              <a:chOff x="591" y="1863"/>
              <a:chExt cx="890" cy="1227"/>
            </a:xfrm>
          </p:grpSpPr>
          <p:sp>
            <p:nvSpPr>
              <p:cNvPr id="90" name="Arc 72">
                <a:extLst>
                  <a:ext uri="{FF2B5EF4-FFF2-40B4-BE49-F238E27FC236}">
                    <a16:creationId xmlns:a16="http://schemas.microsoft.com/office/drawing/2014/main" id="{19F9F630-0B1C-713A-E697-535C46898BC9}"/>
                  </a:ext>
                </a:extLst>
              </p:cNvPr>
              <p:cNvSpPr>
                <a:spLocks/>
              </p:cNvSpPr>
              <p:nvPr/>
            </p:nvSpPr>
            <p:spPr bwMode="auto">
              <a:xfrm rot="10800000" flipV="1">
                <a:off x="591"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 name="Arc 73">
                <a:extLst>
                  <a:ext uri="{FF2B5EF4-FFF2-40B4-BE49-F238E27FC236}">
                    <a16:creationId xmlns:a16="http://schemas.microsoft.com/office/drawing/2014/main" id="{0E70E1BC-33AB-B4C5-D6FE-1E5A66FE37D7}"/>
                  </a:ext>
                </a:extLst>
              </p:cNvPr>
              <p:cNvSpPr>
                <a:spLocks/>
              </p:cNvSpPr>
              <p:nvPr/>
            </p:nvSpPr>
            <p:spPr bwMode="auto">
              <a:xfrm rot="10800000" flipH="1" flipV="1">
                <a:off x="66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 name="Arc 74">
                <a:extLst>
                  <a:ext uri="{FF2B5EF4-FFF2-40B4-BE49-F238E27FC236}">
                    <a16:creationId xmlns:a16="http://schemas.microsoft.com/office/drawing/2014/main" id="{19FCC656-3EED-3F3F-E533-70D235CD7541}"/>
                  </a:ext>
                </a:extLst>
              </p:cNvPr>
              <p:cNvSpPr>
                <a:spLocks/>
              </p:cNvSpPr>
              <p:nvPr/>
            </p:nvSpPr>
            <p:spPr bwMode="auto">
              <a:xfrm rot="10800000">
                <a:off x="73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3" name="Arc 75">
                <a:extLst>
                  <a:ext uri="{FF2B5EF4-FFF2-40B4-BE49-F238E27FC236}">
                    <a16:creationId xmlns:a16="http://schemas.microsoft.com/office/drawing/2014/main" id="{26ACC4D2-AC49-0294-7D4C-16525CB620A6}"/>
                  </a:ext>
                </a:extLst>
              </p:cNvPr>
              <p:cNvSpPr>
                <a:spLocks/>
              </p:cNvSpPr>
              <p:nvPr/>
            </p:nvSpPr>
            <p:spPr bwMode="auto">
              <a:xfrm rot="10800000" flipH="1">
                <a:off x="80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4" name="Arc 76">
                <a:extLst>
                  <a:ext uri="{FF2B5EF4-FFF2-40B4-BE49-F238E27FC236}">
                    <a16:creationId xmlns:a16="http://schemas.microsoft.com/office/drawing/2014/main" id="{844B4D2A-F507-6556-5F33-9F272CEB0D43}"/>
                  </a:ext>
                </a:extLst>
              </p:cNvPr>
              <p:cNvSpPr>
                <a:spLocks/>
              </p:cNvSpPr>
              <p:nvPr/>
            </p:nvSpPr>
            <p:spPr bwMode="auto">
              <a:xfrm rot="10800000" flipV="1">
                <a:off x="886"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5" name="Arc 77">
                <a:extLst>
                  <a:ext uri="{FF2B5EF4-FFF2-40B4-BE49-F238E27FC236}">
                    <a16:creationId xmlns:a16="http://schemas.microsoft.com/office/drawing/2014/main" id="{EB404E63-8690-6386-E64C-5271D85614B8}"/>
                  </a:ext>
                </a:extLst>
              </p:cNvPr>
              <p:cNvSpPr>
                <a:spLocks/>
              </p:cNvSpPr>
              <p:nvPr/>
            </p:nvSpPr>
            <p:spPr bwMode="auto">
              <a:xfrm rot="10800000" flipH="1" flipV="1">
                <a:off x="957"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6" name="Arc 78">
                <a:extLst>
                  <a:ext uri="{FF2B5EF4-FFF2-40B4-BE49-F238E27FC236}">
                    <a16:creationId xmlns:a16="http://schemas.microsoft.com/office/drawing/2014/main" id="{224B17B9-ED34-2221-0D41-B9945302B867}"/>
                  </a:ext>
                </a:extLst>
              </p:cNvPr>
              <p:cNvSpPr>
                <a:spLocks/>
              </p:cNvSpPr>
              <p:nvPr/>
            </p:nvSpPr>
            <p:spPr bwMode="auto">
              <a:xfrm rot="10800000">
                <a:off x="1034"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7" name="Arc 79">
                <a:extLst>
                  <a:ext uri="{FF2B5EF4-FFF2-40B4-BE49-F238E27FC236}">
                    <a16:creationId xmlns:a16="http://schemas.microsoft.com/office/drawing/2014/main" id="{8549B7D8-1AC7-D00C-6758-20C7BC8512A3}"/>
                  </a:ext>
                </a:extLst>
              </p:cNvPr>
              <p:cNvSpPr>
                <a:spLocks/>
              </p:cNvSpPr>
              <p:nvPr/>
            </p:nvSpPr>
            <p:spPr bwMode="auto">
              <a:xfrm rot="10800000" flipH="1">
                <a:off x="1105"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8" name="Arc 80">
                <a:extLst>
                  <a:ext uri="{FF2B5EF4-FFF2-40B4-BE49-F238E27FC236}">
                    <a16:creationId xmlns:a16="http://schemas.microsoft.com/office/drawing/2014/main" id="{209D3884-2D32-84DB-CF6B-6C06BE8171FE}"/>
                  </a:ext>
                </a:extLst>
              </p:cNvPr>
              <p:cNvSpPr>
                <a:spLocks/>
              </p:cNvSpPr>
              <p:nvPr/>
            </p:nvSpPr>
            <p:spPr bwMode="auto">
              <a:xfrm rot="10800000" flipV="1">
                <a:off x="118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9" name="Arc 81">
                <a:extLst>
                  <a:ext uri="{FF2B5EF4-FFF2-40B4-BE49-F238E27FC236}">
                    <a16:creationId xmlns:a16="http://schemas.microsoft.com/office/drawing/2014/main" id="{0C662E22-25BC-3B1C-E9C6-767DC5D32A80}"/>
                  </a:ext>
                </a:extLst>
              </p:cNvPr>
              <p:cNvSpPr>
                <a:spLocks/>
              </p:cNvSpPr>
              <p:nvPr/>
            </p:nvSpPr>
            <p:spPr bwMode="auto">
              <a:xfrm rot="10800000" flipH="1" flipV="1">
                <a:off x="1253"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0" name="Arc 82">
                <a:extLst>
                  <a:ext uri="{FF2B5EF4-FFF2-40B4-BE49-F238E27FC236}">
                    <a16:creationId xmlns:a16="http://schemas.microsoft.com/office/drawing/2014/main" id="{7162D2F9-5FA8-99DC-3A63-E1D8FEE700C9}"/>
                  </a:ext>
                </a:extLst>
              </p:cNvPr>
              <p:cNvSpPr>
                <a:spLocks/>
              </p:cNvSpPr>
              <p:nvPr/>
            </p:nvSpPr>
            <p:spPr bwMode="auto">
              <a:xfrm rot="10800000">
                <a:off x="1331"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1" name="Arc 83">
                <a:extLst>
                  <a:ext uri="{FF2B5EF4-FFF2-40B4-BE49-F238E27FC236}">
                    <a16:creationId xmlns:a16="http://schemas.microsoft.com/office/drawing/2014/main" id="{296ACFC2-7BC7-B1FF-593D-4A00E65880D1}"/>
                  </a:ext>
                </a:extLst>
              </p:cNvPr>
              <p:cNvSpPr>
                <a:spLocks/>
              </p:cNvSpPr>
              <p:nvPr/>
            </p:nvSpPr>
            <p:spPr bwMode="auto">
              <a:xfrm rot="10800000" flipH="1">
                <a:off x="1403"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grpSp>
          <p:nvGrpSpPr>
            <p:cNvPr id="77" name="Group 84">
              <a:extLst>
                <a:ext uri="{FF2B5EF4-FFF2-40B4-BE49-F238E27FC236}">
                  <a16:creationId xmlns:a16="http://schemas.microsoft.com/office/drawing/2014/main" id="{C84DC2C1-06CB-5264-DE98-5FB917C3D870}"/>
                </a:ext>
              </a:extLst>
            </p:cNvPr>
            <p:cNvGrpSpPr>
              <a:grpSpLocks/>
            </p:cNvGrpSpPr>
            <p:nvPr/>
          </p:nvGrpSpPr>
          <p:grpSpPr bwMode="auto">
            <a:xfrm>
              <a:off x="1485" y="1863"/>
              <a:ext cx="890" cy="1227"/>
              <a:chOff x="591" y="1863"/>
              <a:chExt cx="890" cy="1227"/>
            </a:xfrm>
          </p:grpSpPr>
          <p:sp>
            <p:nvSpPr>
              <p:cNvPr id="78" name="Arc 85">
                <a:extLst>
                  <a:ext uri="{FF2B5EF4-FFF2-40B4-BE49-F238E27FC236}">
                    <a16:creationId xmlns:a16="http://schemas.microsoft.com/office/drawing/2014/main" id="{B1B16D37-887F-9307-C363-05BA539BB3EF}"/>
                  </a:ext>
                </a:extLst>
              </p:cNvPr>
              <p:cNvSpPr>
                <a:spLocks/>
              </p:cNvSpPr>
              <p:nvPr/>
            </p:nvSpPr>
            <p:spPr bwMode="auto">
              <a:xfrm rot="10800000" flipV="1">
                <a:off x="591"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9" name="Arc 86">
                <a:extLst>
                  <a:ext uri="{FF2B5EF4-FFF2-40B4-BE49-F238E27FC236}">
                    <a16:creationId xmlns:a16="http://schemas.microsoft.com/office/drawing/2014/main" id="{82F4FB5A-9DCE-719D-BAAC-D108C5E8C520}"/>
                  </a:ext>
                </a:extLst>
              </p:cNvPr>
              <p:cNvSpPr>
                <a:spLocks/>
              </p:cNvSpPr>
              <p:nvPr/>
            </p:nvSpPr>
            <p:spPr bwMode="auto">
              <a:xfrm rot="10800000" flipH="1" flipV="1">
                <a:off x="66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0" name="Arc 87">
                <a:extLst>
                  <a:ext uri="{FF2B5EF4-FFF2-40B4-BE49-F238E27FC236}">
                    <a16:creationId xmlns:a16="http://schemas.microsoft.com/office/drawing/2014/main" id="{B67F60CE-7E65-D85D-5855-F0E481D17F35}"/>
                  </a:ext>
                </a:extLst>
              </p:cNvPr>
              <p:cNvSpPr>
                <a:spLocks/>
              </p:cNvSpPr>
              <p:nvPr/>
            </p:nvSpPr>
            <p:spPr bwMode="auto">
              <a:xfrm rot="10800000">
                <a:off x="73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1" name="Arc 88">
                <a:extLst>
                  <a:ext uri="{FF2B5EF4-FFF2-40B4-BE49-F238E27FC236}">
                    <a16:creationId xmlns:a16="http://schemas.microsoft.com/office/drawing/2014/main" id="{D362E0D9-6791-3030-799F-E17A692B5925}"/>
                  </a:ext>
                </a:extLst>
              </p:cNvPr>
              <p:cNvSpPr>
                <a:spLocks/>
              </p:cNvSpPr>
              <p:nvPr/>
            </p:nvSpPr>
            <p:spPr bwMode="auto">
              <a:xfrm rot="10800000" flipH="1">
                <a:off x="809"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 name="Arc 89">
                <a:extLst>
                  <a:ext uri="{FF2B5EF4-FFF2-40B4-BE49-F238E27FC236}">
                    <a16:creationId xmlns:a16="http://schemas.microsoft.com/office/drawing/2014/main" id="{2313FAF4-2459-5DA5-4A9A-DA1092B3B343}"/>
                  </a:ext>
                </a:extLst>
              </p:cNvPr>
              <p:cNvSpPr>
                <a:spLocks/>
              </p:cNvSpPr>
              <p:nvPr/>
            </p:nvSpPr>
            <p:spPr bwMode="auto">
              <a:xfrm rot="10800000" flipV="1">
                <a:off x="886"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3" name="Arc 90">
                <a:extLst>
                  <a:ext uri="{FF2B5EF4-FFF2-40B4-BE49-F238E27FC236}">
                    <a16:creationId xmlns:a16="http://schemas.microsoft.com/office/drawing/2014/main" id="{9363AAF8-53E0-F8E0-C35D-14E85CCAF481}"/>
                  </a:ext>
                </a:extLst>
              </p:cNvPr>
              <p:cNvSpPr>
                <a:spLocks/>
              </p:cNvSpPr>
              <p:nvPr/>
            </p:nvSpPr>
            <p:spPr bwMode="auto">
              <a:xfrm rot="10800000" flipH="1" flipV="1">
                <a:off x="957"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4" name="Arc 91">
                <a:extLst>
                  <a:ext uri="{FF2B5EF4-FFF2-40B4-BE49-F238E27FC236}">
                    <a16:creationId xmlns:a16="http://schemas.microsoft.com/office/drawing/2014/main" id="{37C0A9CC-BAAF-6100-18E5-EB032E9F02A4}"/>
                  </a:ext>
                </a:extLst>
              </p:cNvPr>
              <p:cNvSpPr>
                <a:spLocks/>
              </p:cNvSpPr>
              <p:nvPr/>
            </p:nvSpPr>
            <p:spPr bwMode="auto">
              <a:xfrm rot="10800000">
                <a:off x="1034"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5" name="Arc 92">
                <a:extLst>
                  <a:ext uri="{FF2B5EF4-FFF2-40B4-BE49-F238E27FC236}">
                    <a16:creationId xmlns:a16="http://schemas.microsoft.com/office/drawing/2014/main" id="{79720880-9653-F344-49FD-A8EFCA374BEF}"/>
                  </a:ext>
                </a:extLst>
              </p:cNvPr>
              <p:cNvSpPr>
                <a:spLocks/>
              </p:cNvSpPr>
              <p:nvPr/>
            </p:nvSpPr>
            <p:spPr bwMode="auto">
              <a:xfrm rot="10800000" flipH="1">
                <a:off x="1105" y="1919"/>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6" name="Arc 93">
                <a:extLst>
                  <a:ext uri="{FF2B5EF4-FFF2-40B4-BE49-F238E27FC236}">
                    <a16:creationId xmlns:a16="http://schemas.microsoft.com/office/drawing/2014/main" id="{76C72D11-27D8-CA4B-A119-000F82A7C034}"/>
                  </a:ext>
                </a:extLst>
              </p:cNvPr>
              <p:cNvSpPr>
                <a:spLocks/>
              </p:cNvSpPr>
              <p:nvPr/>
            </p:nvSpPr>
            <p:spPr bwMode="auto">
              <a:xfrm rot="10800000" flipV="1">
                <a:off x="1182" y="1863"/>
                <a:ext cx="78" cy="1170"/>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7" name="Arc 94">
                <a:extLst>
                  <a:ext uri="{FF2B5EF4-FFF2-40B4-BE49-F238E27FC236}">
                    <a16:creationId xmlns:a16="http://schemas.microsoft.com/office/drawing/2014/main" id="{B185172B-BD8A-DA56-B816-29F45C7E1EC1}"/>
                  </a:ext>
                </a:extLst>
              </p:cNvPr>
              <p:cNvSpPr>
                <a:spLocks/>
              </p:cNvSpPr>
              <p:nvPr/>
            </p:nvSpPr>
            <p:spPr bwMode="auto">
              <a:xfrm rot="10800000" flipH="1" flipV="1">
                <a:off x="1253" y="1863"/>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8" name="Arc 95">
                <a:extLst>
                  <a:ext uri="{FF2B5EF4-FFF2-40B4-BE49-F238E27FC236}">
                    <a16:creationId xmlns:a16="http://schemas.microsoft.com/office/drawing/2014/main" id="{65717397-742E-2B6F-0398-67E0A39733B8}"/>
                  </a:ext>
                </a:extLst>
              </p:cNvPr>
              <p:cNvSpPr>
                <a:spLocks/>
              </p:cNvSpPr>
              <p:nvPr/>
            </p:nvSpPr>
            <p:spPr bwMode="auto">
              <a:xfrm rot="10800000">
                <a:off x="1331"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9" name="Arc 96">
                <a:extLst>
                  <a:ext uri="{FF2B5EF4-FFF2-40B4-BE49-F238E27FC236}">
                    <a16:creationId xmlns:a16="http://schemas.microsoft.com/office/drawing/2014/main" id="{296E07E5-2422-038D-6516-666091E75945}"/>
                  </a:ext>
                </a:extLst>
              </p:cNvPr>
              <p:cNvSpPr>
                <a:spLocks/>
              </p:cNvSpPr>
              <p:nvPr/>
            </p:nvSpPr>
            <p:spPr bwMode="auto">
              <a:xfrm rot="10800000" flipH="1">
                <a:off x="1403" y="1921"/>
                <a:ext cx="78" cy="1169"/>
              </a:xfrm>
              <a:custGeom>
                <a:avLst/>
                <a:gdLst>
                  <a:gd name="T0" fmla="*/ 0 w 19016"/>
                  <a:gd name="T1" fmla="*/ 0 h 21600"/>
                  <a:gd name="T2" fmla="*/ 0 w 19016"/>
                  <a:gd name="T3" fmla="*/ 0 h 21600"/>
                  <a:gd name="T4" fmla="*/ 0 w 19016"/>
                  <a:gd name="T5" fmla="*/ 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grpSp>
      <p:sp>
        <p:nvSpPr>
          <p:cNvPr id="102" name="Line 101">
            <a:extLst>
              <a:ext uri="{FF2B5EF4-FFF2-40B4-BE49-F238E27FC236}">
                <a16:creationId xmlns:a16="http://schemas.microsoft.com/office/drawing/2014/main" id="{67EBF760-2383-F8FC-7ADE-F37938D1AAF7}"/>
              </a:ext>
            </a:extLst>
          </p:cNvPr>
          <p:cNvSpPr>
            <a:spLocks noChangeShapeType="1"/>
          </p:cNvSpPr>
          <p:nvPr/>
        </p:nvSpPr>
        <p:spPr bwMode="auto">
          <a:xfrm>
            <a:off x="4142544" y="4363970"/>
            <a:ext cx="154184" cy="270678"/>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 name="Line 102">
            <a:extLst>
              <a:ext uri="{FF2B5EF4-FFF2-40B4-BE49-F238E27FC236}">
                <a16:creationId xmlns:a16="http://schemas.microsoft.com/office/drawing/2014/main" id="{B7B576BC-A711-834B-AE2A-AFFCB71B0A31}"/>
              </a:ext>
            </a:extLst>
          </p:cNvPr>
          <p:cNvSpPr>
            <a:spLocks noChangeShapeType="1"/>
          </p:cNvSpPr>
          <p:nvPr/>
        </p:nvSpPr>
        <p:spPr bwMode="auto">
          <a:xfrm>
            <a:off x="4283908" y="3863123"/>
            <a:ext cx="252413" cy="485775"/>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nvGrpSpPr>
          <p:cNvPr id="104" name="Group 103">
            <a:extLst>
              <a:ext uri="{FF2B5EF4-FFF2-40B4-BE49-F238E27FC236}">
                <a16:creationId xmlns:a16="http://schemas.microsoft.com/office/drawing/2014/main" id="{E33032F7-8648-E5FE-980E-1041BE96DED4}"/>
              </a:ext>
            </a:extLst>
          </p:cNvPr>
          <p:cNvGrpSpPr>
            <a:grpSpLocks/>
          </p:cNvGrpSpPr>
          <p:nvPr/>
        </p:nvGrpSpPr>
        <p:grpSpPr bwMode="auto">
          <a:xfrm>
            <a:off x="1555115" y="3813911"/>
            <a:ext cx="5649913" cy="1843087"/>
            <a:chOff x="594" y="1863"/>
            <a:chExt cx="1781" cy="1227"/>
          </a:xfrm>
        </p:grpSpPr>
        <p:grpSp>
          <p:nvGrpSpPr>
            <p:cNvPr id="105" name="Group 104">
              <a:extLst>
                <a:ext uri="{FF2B5EF4-FFF2-40B4-BE49-F238E27FC236}">
                  <a16:creationId xmlns:a16="http://schemas.microsoft.com/office/drawing/2014/main" id="{46240D07-7DB3-9FA1-3DFB-8F712F7A8A8B}"/>
                </a:ext>
              </a:extLst>
            </p:cNvPr>
            <p:cNvGrpSpPr>
              <a:grpSpLocks/>
            </p:cNvGrpSpPr>
            <p:nvPr/>
          </p:nvGrpSpPr>
          <p:grpSpPr bwMode="auto">
            <a:xfrm>
              <a:off x="594" y="1863"/>
              <a:ext cx="890" cy="1227"/>
              <a:chOff x="591" y="1863"/>
              <a:chExt cx="890" cy="1227"/>
            </a:xfrm>
          </p:grpSpPr>
          <p:sp>
            <p:nvSpPr>
              <p:cNvPr id="119" name="Arc 105">
                <a:extLst>
                  <a:ext uri="{FF2B5EF4-FFF2-40B4-BE49-F238E27FC236}">
                    <a16:creationId xmlns:a16="http://schemas.microsoft.com/office/drawing/2014/main" id="{DB1B5CF9-DED7-16C0-0928-B1E514A2F718}"/>
                  </a:ext>
                </a:extLst>
              </p:cNvPr>
              <p:cNvSpPr>
                <a:spLocks/>
              </p:cNvSpPr>
              <p:nvPr/>
            </p:nvSpPr>
            <p:spPr bwMode="auto">
              <a:xfrm rot="10800000" flipV="1">
                <a:off x="591" y="1863"/>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0" name="Arc 106">
                <a:extLst>
                  <a:ext uri="{FF2B5EF4-FFF2-40B4-BE49-F238E27FC236}">
                    <a16:creationId xmlns:a16="http://schemas.microsoft.com/office/drawing/2014/main" id="{1C6BCFA2-87C4-8241-63B8-A833CCDB3BC3}"/>
                  </a:ext>
                </a:extLst>
              </p:cNvPr>
              <p:cNvSpPr>
                <a:spLocks/>
              </p:cNvSpPr>
              <p:nvPr/>
            </p:nvSpPr>
            <p:spPr bwMode="auto">
              <a:xfrm rot="10800000" flipH="1" flipV="1">
                <a:off x="662"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1" name="Arc 107">
                <a:extLst>
                  <a:ext uri="{FF2B5EF4-FFF2-40B4-BE49-F238E27FC236}">
                    <a16:creationId xmlns:a16="http://schemas.microsoft.com/office/drawing/2014/main" id="{E5641B87-09BA-7266-9D28-74B176CAE6DF}"/>
                  </a:ext>
                </a:extLst>
              </p:cNvPr>
              <p:cNvSpPr>
                <a:spLocks/>
              </p:cNvSpPr>
              <p:nvPr/>
            </p:nvSpPr>
            <p:spPr bwMode="auto">
              <a:xfrm rot="10800000">
                <a:off x="739"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2" name="Arc 108">
                <a:extLst>
                  <a:ext uri="{FF2B5EF4-FFF2-40B4-BE49-F238E27FC236}">
                    <a16:creationId xmlns:a16="http://schemas.microsoft.com/office/drawing/2014/main" id="{B662C743-0D1B-CE52-43CE-D33C6692341E}"/>
                  </a:ext>
                </a:extLst>
              </p:cNvPr>
              <p:cNvSpPr>
                <a:spLocks/>
              </p:cNvSpPr>
              <p:nvPr/>
            </p:nvSpPr>
            <p:spPr bwMode="auto">
              <a:xfrm rot="10800000" flipH="1">
                <a:off x="809"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3" name="Arc 109">
                <a:extLst>
                  <a:ext uri="{FF2B5EF4-FFF2-40B4-BE49-F238E27FC236}">
                    <a16:creationId xmlns:a16="http://schemas.microsoft.com/office/drawing/2014/main" id="{074D7FDB-4C0B-B092-C732-F6DB13738BBE}"/>
                  </a:ext>
                </a:extLst>
              </p:cNvPr>
              <p:cNvSpPr>
                <a:spLocks/>
              </p:cNvSpPr>
              <p:nvPr/>
            </p:nvSpPr>
            <p:spPr bwMode="auto">
              <a:xfrm rot="10800000" flipV="1">
                <a:off x="886"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4" name="Arc 110">
                <a:extLst>
                  <a:ext uri="{FF2B5EF4-FFF2-40B4-BE49-F238E27FC236}">
                    <a16:creationId xmlns:a16="http://schemas.microsoft.com/office/drawing/2014/main" id="{0B97B49B-4EBA-C501-B91A-5D2FA0557592}"/>
                  </a:ext>
                </a:extLst>
              </p:cNvPr>
              <p:cNvSpPr>
                <a:spLocks/>
              </p:cNvSpPr>
              <p:nvPr/>
            </p:nvSpPr>
            <p:spPr bwMode="auto">
              <a:xfrm rot="10800000" flipH="1" flipV="1">
                <a:off x="957"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5" name="Arc 111">
                <a:extLst>
                  <a:ext uri="{FF2B5EF4-FFF2-40B4-BE49-F238E27FC236}">
                    <a16:creationId xmlns:a16="http://schemas.microsoft.com/office/drawing/2014/main" id="{FFF12979-0162-2C5D-60BA-F76EE308EFB3}"/>
                  </a:ext>
                </a:extLst>
              </p:cNvPr>
              <p:cNvSpPr>
                <a:spLocks/>
              </p:cNvSpPr>
              <p:nvPr/>
            </p:nvSpPr>
            <p:spPr bwMode="auto">
              <a:xfrm rot="10800000">
                <a:off x="1034"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6" name="Arc 112">
                <a:extLst>
                  <a:ext uri="{FF2B5EF4-FFF2-40B4-BE49-F238E27FC236}">
                    <a16:creationId xmlns:a16="http://schemas.microsoft.com/office/drawing/2014/main" id="{DB33B77D-F882-2A8C-76AD-360D7646E58D}"/>
                  </a:ext>
                </a:extLst>
              </p:cNvPr>
              <p:cNvSpPr>
                <a:spLocks/>
              </p:cNvSpPr>
              <p:nvPr/>
            </p:nvSpPr>
            <p:spPr bwMode="auto">
              <a:xfrm rot="10800000" flipH="1">
                <a:off x="1105"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7" name="Arc 113">
                <a:extLst>
                  <a:ext uri="{FF2B5EF4-FFF2-40B4-BE49-F238E27FC236}">
                    <a16:creationId xmlns:a16="http://schemas.microsoft.com/office/drawing/2014/main" id="{26C8B776-B781-8EC7-20FF-0EFFE6F4A736}"/>
                  </a:ext>
                </a:extLst>
              </p:cNvPr>
              <p:cNvSpPr>
                <a:spLocks/>
              </p:cNvSpPr>
              <p:nvPr/>
            </p:nvSpPr>
            <p:spPr bwMode="auto">
              <a:xfrm rot="10800000" flipV="1">
                <a:off x="1182"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8" name="Arc 114">
                <a:extLst>
                  <a:ext uri="{FF2B5EF4-FFF2-40B4-BE49-F238E27FC236}">
                    <a16:creationId xmlns:a16="http://schemas.microsoft.com/office/drawing/2014/main" id="{7A97B830-9EEA-F3D0-0972-A5EB88AAB0BE}"/>
                  </a:ext>
                </a:extLst>
              </p:cNvPr>
              <p:cNvSpPr>
                <a:spLocks/>
              </p:cNvSpPr>
              <p:nvPr/>
            </p:nvSpPr>
            <p:spPr bwMode="auto">
              <a:xfrm rot="10800000" flipH="1" flipV="1">
                <a:off x="1253" y="1863"/>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29" name="Arc 115">
                <a:extLst>
                  <a:ext uri="{FF2B5EF4-FFF2-40B4-BE49-F238E27FC236}">
                    <a16:creationId xmlns:a16="http://schemas.microsoft.com/office/drawing/2014/main" id="{B9DB335E-6AB0-82F6-8BD9-094E6504ACA3}"/>
                  </a:ext>
                </a:extLst>
              </p:cNvPr>
              <p:cNvSpPr>
                <a:spLocks/>
              </p:cNvSpPr>
              <p:nvPr/>
            </p:nvSpPr>
            <p:spPr bwMode="auto">
              <a:xfrm rot="10800000">
                <a:off x="1331" y="1921"/>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30" name="Arc 116">
                <a:extLst>
                  <a:ext uri="{FF2B5EF4-FFF2-40B4-BE49-F238E27FC236}">
                    <a16:creationId xmlns:a16="http://schemas.microsoft.com/office/drawing/2014/main" id="{263D569D-AE54-E879-B2DE-6679F863AB95}"/>
                  </a:ext>
                </a:extLst>
              </p:cNvPr>
              <p:cNvSpPr>
                <a:spLocks/>
              </p:cNvSpPr>
              <p:nvPr/>
            </p:nvSpPr>
            <p:spPr bwMode="auto">
              <a:xfrm rot="10800000" flipH="1">
                <a:off x="1403" y="1921"/>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grpSp>
        <p:grpSp>
          <p:nvGrpSpPr>
            <p:cNvPr id="106" name="Group 117">
              <a:extLst>
                <a:ext uri="{FF2B5EF4-FFF2-40B4-BE49-F238E27FC236}">
                  <a16:creationId xmlns:a16="http://schemas.microsoft.com/office/drawing/2014/main" id="{BEDFBC79-1146-62F5-F960-5357BCF4CFC2}"/>
                </a:ext>
              </a:extLst>
            </p:cNvPr>
            <p:cNvGrpSpPr>
              <a:grpSpLocks/>
            </p:cNvGrpSpPr>
            <p:nvPr/>
          </p:nvGrpSpPr>
          <p:grpSpPr bwMode="auto">
            <a:xfrm>
              <a:off x="1485" y="1863"/>
              <a:ext cx="890" cy="1227"/>
              <a:chOff x="591" y="1863"/>
              <a:chExt cx="890" cy="1227"/>
            </a:xfrm>
          </p:grpSpPr>
          <p:sp>
            <p:nvSpPr>
              <p:cNvPr id="107" name="Arc 118">
                <a:extLst>
                  <a:ext uri="{FF2B5EF4-FFF2-40B4-BE49-F238E27FC236}">
                    <a16:creationId xmlns:a16="http://schemas.microsoft.com/office/drawing/2014/main" id="{FF734F4F-DC6E-F285-4EAB-E35F40C00149}"/>
                  </a:ext>
                </a:extLst>
              </p:cNvPr>
              <p:cNvSpPr>
                <a:spLocks/>
              </p:cNvSpPr>
              <p:nvPr/>
            </p:nvSpPr>
            <p:spPr bwMode="auto">
              <a:xfrm rot="10800000" flipV="1">
                <a:off x="591" y="1863"/>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8" name="Arc 119">
                <a:extLst>
                  <a:ext uri="{FF2B5EF4-FFF2-40B4-BE49-F238E27FC236}">
                    <a16:creationId xmlns:a16="http://schemas.microsoft.com/office/drawing/2014/main" id="{381C3790-9617-0344-0A5B-877C2BA9CBB6}"/>
                  </a:ext>
                </a:extLst>
              </p:cNvPr>
              <p:cNvSpPr>
                <a:spLocks/>
              </p:cNvSpPr>
              <p:nvPr/>
            </p:nvSpPr>
            <p:spPr bwMode="auto">
              <a:xfrm rot="10800000" flipH="1" flipV="1">
                <a:off x="662"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9" name="Arc 120">
                <a:extLst>
                  <a:ext uri="{FF2B5EF4-FFF2-40B4-BE49-F238E27FC236}">
                    <a16:creationId xmlns:a16="http://schemas.microsoft.com/office/drawing/2014/main" id="{FC48AF2A-8C1B-FD78-4330-6FDC24122254}"/>
                  </a:ext>
                </a:extLst>
              </p:cNvPr>
              <p:cNvSpPr>
                <a:spLocks/>
              </p:cNvSpPr>
              <p:nvPr/>
            </p:nvSpPr>
            <p:spPr bwMode="auto">
              <a:xfrm rot="10800000">
                <a:off x="739"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0" name="Arc 121">
                <a:extLst>
                  <a:ext uri="{FF2B5EF4-FFF2-40B4-BE49-F238E27FC236}">
                    <a16:creationId xmlns:a16="http://schemas.microsoft.com/office/drawing/2014/main" id="{B2B94521-9428-19D1-0DEE-987828A56823}"/>
                  </a:ext>
                </a:extLst>
              </p:cNvPr>
              <p:cNvSpPr>
                <a:spLocks/>
              </p:cNvSpPr>
              <p:nvPr/>
            </p:nvSpPr>
            <p:spPr bwMode="auto">
              <a:xfrm rot="10800000" flipH="1">
                <a:off x="809"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1" name="Arc 122">
                <a:extLst>
                  <a:ext uri="{FF2B5EF4-FFF2-40B4-BE49-F238E27FC236}">
                    <a16:creationId xmlns:a16="http://schemas.microsoft.com/office/drawing/2014/main" id="{9CBA7348-4854-81AB-F318-5A13B0C495AF}"/>
                  </a:ext>
                </a:extLst>
              </p:cNvPr>
              <p:cNvSpPr>
                <a:spLocks/>
              </p:cNvSpPr>
              <p:nvPr/>
            </p:nvSpPr>
            <p:spPr bwMode="auto">
              <a:xfrm rot="10800000" flipV="1">
                <a:off x="886"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2" name="Arc 123">
                <a:extLst>
                  <a:ext uri="{FF2B5EF4-FFF2-40B4-BE49-F238E27FC236}">
                    <a16:creationId xmlns:a16="http://schemas.microsoft.com/office/drawing/2014/main" id="{E72C3129-7FB9-2217-1D48-CAF52487A7B5}"/>
                  </a:ext>
                </a:extLst>
              </p:cNvPr>
              <p:cNvSpPr>
                <a:spLocks/>
              </p:cNvSpPr>
              <p:nvPr/>
            </p:nvSpPr>
            <p:spPr bwMode="auto">
              <a:xfrm rot="10800000" flipH="1" flipV="1">
                <a:off x="957"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3" name="Arc 124">
                <a:extLst>
                  <a:ext uri="{FF2B5EF4-FFF2-40B4-BE49-F238E27FC236}">
                    <a16:creationId xmlns:a16="http://schemas.microsoft.com/office/drawing/2014/main" id="{89F63770-2AC2-54A4-55D9-C6217BDAAD3A}"/>
                  </a:ext>
                </a:extLst>
              </p:cNvPr>
              <p:cNvSpPr>
                <a:spLocks/>
              </p:cNvSpPr>
              <p:nvPr/>
            </p:nvSpPr>
            <p:spPr bwMode="auto">
              <a:xfrm rot="10800000">
                <a:off x="1034"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4" name="Arc 125">
                <a:extLst>
                  <a:ext uri="{FF2B5EF4-FFF2-40B4-BE49-F238E27FC236}">
                    <a16:creationId xmlns:a16="http://schemas.microsoft.com/office/drawing/2014/main" id="{7C444812-A9D7-E658-D538-51E3088D1EAC}"/>
                  </a:ext>
                </a:extLst>
              </p:cNvPr>
              <p:cNvSpPr>
                <a:spLocks/>
              </p:cNvSpPr>
              <p:nvPr/>
            </p:nvSpPr>
            <p:spPr bwMode="auto">
              <a:xfrm rot="10800000" flipH="1">
                <a:off x="1105" y="1919"/>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5" name="Arc 126">
                <a:extLst>
                  <a:ext uri="{FF2B5EF4-FFF2-40B4-BE49-F238E27FC236}">
                    <a16:creationId xmlns:a16="http://schemas.microsoft.com/office/drawing/2014/main" id="{EE29F6EF-13C7-FCF9-73BA-FBE338DFC388}"/>
                  </a:ext>
                </a:extLst>
              </p:cNvPr>
              <p:cNvSpPr>
                <a:spLocks/>
              </p:cNvSpPr>
              <p:nvPr/>
            </p:nvSpPr>
            <p:spPr bwMode="auto">
              <a:xfrm rot="10800000" flipV="1">
                <a:off x="1182" y="1863"/>
                <a:ext cx="78" cy="1170"/>
              </a:xfrm>
              <a:custGeom>
                <a:avLst/>
                <a:gdLst>
                  <a:gd name="T0" fmla="*/ 0 w 19016"/>
                  <a:gd name="T1" fmla="*/ 0 h 21600"/>
                  <a:gd name="T2" fmla="*/ 78 w 19016"/>
                  <a:gd name="T3" fmla="*/ 615 h 21600"/>
                  <a:gd name="T4" fmla="*/ 0 w 19016"/>
                  <a:gd name="T5" fmla="*/ 1170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6" name="Arc 127">
                <a:extLst>
                  <a:ext uri="{FF2B5EF4-FFF2-40B4-BE49-F238E27FC236}">
                    <a16:creationId xmlns:a16="http://schemas.microsoft.com/office/drawing/2014/main" id="{0CC1C975-C481-C2FE-66DD-77FD68B8CE04}"/>
                  </a:ext>
                </a:extLst>
              </p:cNvPr>
              <p:cNvSpPr>
                <a:spLocks/>
              </p:cNvSpPr>
              <p:nvPr/>
            </p:nvSpPr>
            <p:spPr bwMode="auto">
              <a:xfrm rot="10800000" flipH="1" flipV="1">
                <a:off x="1253" y="1863"/>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7" name="Arc 128">
                <a:extLst>
                  <a:ext uri="{FF2B5EF4-FFF2-40B4-BE49-F238E27FC236}">
                    <a16:creationId xmlns:a16="http://schemas.microsoft.com/office/drawing/2014/main" id="{3602386D-A4B4-4FB6-CA9A-FF262FB1639D}"/>
                  </a:ext>
                </a:extLst>
              </p:cNvPr>
              <p:cNvSpPr>
                <a:spLocks/>
              </p:cNvSpPr>
              <p:nvPr/>
            </p:nvSpPr>
            <p:spPr bwMode="auto">
              <a:xfrm rot="10800000">
                <a:off x="1331" y="1921"/>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8" name="Arc 129">
                <a:extLst>
                  <a:ext uri="{FF2B5EF4-FFF2-40B4-BE49-F238E27FC236}">
                    <a16:creationId xmlns:a16="http://schemas.microsoft.com/office/drawing/2014/main" id="{0EA411C0-FA20-4230-6B3B-3A841EBD7FC2}"/>
                  </a:ext>
                </a:extLst>
              </p:cNvPr>
              <p:cNvSpPr>
                <a:spLocks/>
              </p:cNvSpPr>
              <p:nvPr/>
            </p:nvSpPr>
            <p:spPr bwMode="auto">
              <a:xfrm rot="10800000" flipH="1">
                <a:off x="1403" y="1921"/>
                <a:ext cx="78" cy="1169"/>
              </a:xfrm>
              <a:custGeom>
                <a:avLst/>
                <a:gdLst>
                  <a:gd name="T0" fmla="*/ 0 w 19016"/>
                  <a:gd name="T1" fmla="*/ 0 h 21600"/>
                  <a:gd name="T2" fmla="*/ 78 w 19016"/>
                  <a:gd name="T3" fmla="*/ 615 h 21600"/>
                  <a:gd name="T4" fmla="*/ 0 w 19016"/>
                  <a:gd name="T5" fmla="*/ 1169 h 21600"/>
                  <a:gd name="T6" fmla="*/ 0 60000 65536"/>
                  <a:gd name="T7" fmla="*/ 0 60000 65536"/>
                  <a:gd name="T8" fmla="*/ 0 60000 65536"/>
                </a:gdLst>
                <a:ahLst/>
                <a:cxnLst>
                  <a:cxn ang="T6">
                    <a:pos x="T0" y="T1"/>
                  </a:cxn>
                  <a:cxn ang="T7">
                    <a:pos x="T2" y="T3"/>
                  </a:cxn>
                  <a:cxn ang="T8">
                    <a:pos x="T4" y="T5"/>
                  </a:cxn>
                </a:cxnLst>
                <a:rect l="0" t="0" r="r" b="b"/>
                <a:pathLst>
                  <a:path w="19016" h="21600" fill="none" extrusionOk="0">
                    <a:moveTo>
                      <a:pt x="-1" y="0"/>
                    </a:moveTo>
                    <a:cubicBezTo>
                      <a:pt x="7944" y="0"/>
                      <a:pt x="15247" y="4361"/>
                      <a:pt x="19015" y="11355"/>
                    </a:cubicBezTo>
                  </a:path>
                  <a:path w="19016" h="21600" stroke="0" extrusionOk="0">
                    <a:moveTo>
                      <a:pt x="-1" y="0"/>
                    </a:moveTo>
                    <a:cubicBezTo>
                      <a:pt x="7944" y="0"/>
                      <a:pt x="15247" y="4361"/>
                      <a:pt x="19015" y="11355"/>
                    </a:cubicBezTo>
                    <a:lnTo>
                      <a:pt x="0" y="21600"/>
                    </a:lnTo>
                    <a:lnTo>
                      <a:pt x="-1" y="0"/>
                    </a:lnTo>
                    <a:close/>
                  </a:path>
                </a:pathLst>
              </a:custGeom>
              <a:noFill/>
              <a:ln w="57150">
                <a:solidFill>
                  <a:schemeClr val="accent6"/>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charset="0"/>
                  <a:ea typeface="+mn-ea"/>
                  <a:cs typeface="+mn-cs"/>
                </a:endParaRPr>
              </a:p>
            </p:txBody>
          </p:sp>
        </p:grpSp>
      </p:grpSp>
      <p:sp>
        <p:nvSpPr>
          <p:cNvPr id="131" name="Line 134">
            <a:extLst>
              <a:ext uri="{FF2B5EF4-FFF2-40B4-BE49-F238E27FC236}">
                <a16:creationId xmlns:a16="http://schemas.microsoft.com/office/drawing/2014/main" id="{8EA30374-4766-6726-6A0B-F8301EF21181}"/>
              </a:ext>
            </a:extLst>
          </p:cNvPr>
          <p:cNvSpPr>
            <a:spLocks noChangeShapeType="1"/>
          </p:cNvSpPr>
          <p:nvPr/>
        </p:nvSpPr>
        <p:spPr bwMode="auto">
          <a:xfrm flipH="1">
            <a:off x="6649038" y="3850423"/>
            <a:ext cx="194735" cy="200025"/>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2" name="Line 135">
            <a:extLst>
              <a:ext uri="{FF2B5EF4-FFF2-40B4-BE49-F238E27FC236}">
                <a16:creationId xmlns:a16="http://schemas.microsoft.com/office/drawing/2014/main" id="{A7BEB355-D519-D59C-5DF9-BAC4015E2461}"/>
              </a:ext>
            </a:extLst>
          </p:cNvPr>
          <p:cNvSpPr>
            <a:spLocks noChangeShapeType="1"/>
          </p:cNvSpPr>
          <p:nvPr/>
        </p:nvSpPr>
        <p:spPr bwMode="auto">
          <a:xfrm flipH="1">
            <a:off x="4893628" y="3815498"/>
            <a:ext cx="252413" cy="485775"/>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3" name="Text Box 145">
            <a:extLst>
              <a:ext uri="{FF2B5EF4-FFF2-40B4-BE49-F238E27FC236}">
                <a16:creationId xmlns:a16="http://schemas.microsoft.com/office/drawing/2014/main" id="{6D741FB1-83DF-DE6B-C7C1-6A4507AAB60A}"/>
              </a:ext>
            </a:extLst>
          </p:cNvPr>
          <p:cNvSpPr txBox="1">
            <a:spLocks noChangeArrowheads="1"/>
          </p:cNvSpPr>
          <p:nvPr/>
        </p:nvSpPr>
        <p:spPr bwMode="auto">
          <a:xfrm>
            <a:off x="7419340" y="4710848"/>
            <a:ext cx="904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1"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x</a:t>
            </a: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or</a:t>
            </a: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n-US" altLang="en-US" sz="2400" b="0" i="1"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t</a:t>
            </a:r>
          </a:p>
        </p:txBody>
      </p:sp>
      <p:sp>
        <p:nvSpPr>
          <p:cNvPr id="134" name="Text Box 55">
            <a:extLst>
              <a:ext uri="{FF2B5EF4-FFF2-40B4-BE49-F238E27FC236}">
                <a16:creationId xmlns:a16="http://schemas.microsoft.com/office/drawing/2014/main" id="{2E37E4DB-8F7F-BE86-3CB1-3F8A43A84345}"/>
              </a:ext>
            </a:extLst>
          </p:cNvPr>
          <p:cNvSpPr txBox="1">
            <a:spLocks noChangeArrowheads="1"/>
          </p:cNvSpPr>
          <p:nvPr/>
        </p:nvSpPr>
        <p:spPr bwMode="auto">
          <a:xfrm>
            <a:off x="835040" y="3664686"/>
            <a:ext cx="434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rPr>
              <a:t>E</a:t>
            </a:r>
            <a:endParaRPr kumimoji="0" lang="en-US" altLang="en-US" sz="2400" b="0"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endParaRPr>
          </a:p>
        </p:txBody>
      </p:sp>
      <p:sp>
        <p:nvSpPr>
          <p:cNvPr id="135" name="Line 12">
            <a:extLst>
              <a:ext uri="{FF2B5EF4-FFF2-40B4-BE49-F238E27FC236}">
                <a16:creationId xmlns:a16="http://schemas.microsoft.com/office/drawing/2014/main" id="{D97E0C95-A93E-32BA-3EEE-E707E7ED58EB}"/>
              </a:ext>
            </a:extLst>
          </p:cNvPr>
          <p:cNvSpPr>
            <a:spLocks noChangeShapeType="1"/>
          </p:cNvSpPr>
          <p:nvPr/>
        </p:nvSpPr>
        <p:spPr bwMode="auto">
          <a:xfrm rot="16200000" flipV="1">
            <a:off x="304165" y="4585436"/>
            <a:ext cx="21209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6" name="TextBox 1">
            <a:extLst>
              <a:ext uri="{FF2B5EF4-FFF2-40B4-BE49-F238E27FC236}">
                <a16:creationId xmlns:a16="http://schemas.microsoft.com/office/drawing/2014/main" id="{88F52FE3-4FEE-C43B-8D8D-32642D3E2A8E}"/>
              </a:ext>
            </a:extLst>
          </p:cNvPr>
          <p:cNvSpPr txBox="1"/>
          <p:nvPr/>
        </p:nvSpPr>
        <p:spPr>
          <a:xfrm>
            <a:off x="637540" y="5939573"/>
            <a:ext cx="8216900" cy="400050"/>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But this only works for </a:t>
            </a:r>
            <a:r>
              <a:rPr kumimoji="0" lang="en-US" sz="2000" b="0" i="1" u="none" strike="noStrike" kern="1200" cap="none" spc="0" normalizeH="0" baseline="0" noProof="0" dirty="0">
                <a:ln>
                  <a:noFill/>
                </a:ln>
                <a:solidFill>
                  <a:srgbClr val="000000"/>
                </a:solidFill>
                <a:effectLst/>
                <a:uLnTx/>
                <a:uFillTx/>
                <a:latin typeface="Arial"/>
                <a:ea typeface="+mn-ea"/>
                <a:cs typeface="+mn-cs"/>
              </a:rPr>
              <a:t>adding</a:t>
            </a:r>
            <a:r>
              <a:rPr kumimoji="0" lang="en-US" sz="2000" b="0" i="0" u="none" strike="noStrike" kern="1200" cap="none" spc="0" normalizeH="0" baseline="0" noProof="0" dirty="0">
                <a:ln>
                  <a:noFill/>
                </a:ln>
                <a:solidFill>
                  <a:srgbClr val="000000"/>
                </a:solidFill>
                <a:effectLst/>
                <a:uLnTx/>
                <a:uFillTx/>
                <a:latin typeface="Arial"/>
                <a:ea typeface="+mn-ea"/>
                <a:cs typeface="+mn-cs"/>
              </a:rPr>
              <a:t> waves.  Don’t try to </a:t>
            </a:r>
            <a:r>
              <a:rPr kumimoji="0" lang="en-US" sz="2000" b="0" i="1" u="none" strike="noStrike" kern="1200" cap="none" spc="0" normalizeH="0" baseline="0" noProof="0" dirty="0">
                <a:ln>
                  <a:noFill/>
                </a:ln>
                <a:solidFill>
                  <a:srgbClr val="000000"/>
                </a:solidFill>
                <a:effectLst/>
                <a:uLnTx/>
                <a:uFillTx/>
                <a:latin typeface="Arial"/>
                <a:ea typeface="+mn-ea"/>
                <a:cs typeface="+mn-cs"/>
              </a:rPr>
              <a:t>multiply</a:t>
            </a:r>
            <a:r>
              <a:rPr kumimoji="0" lang="en-US" sz="2000" b="0" i="0" u="none" strike="noStrike" kern="1200" cap="none" spc="0" normalizeH="0" baseline="0" noProof="0" dirty="0">
                <a:ln>
                  <a:noFill/>
                </a:ln>
                <a:solidFill>
                  <a:srgbClr val="000000"/>
                </a:solidFill>
                <a:effectLst/>
                <a:uLnTx/>
                <a:uFillTx/>
                <a:latin typeface="Arial"/>
                <a:ea typeface="+mn-ea"/>
                <a:cs typeface="+mn-cs"/>
              </a:rPr>
              <a:t> them.</a:t>
            </a:r>
          </a:p>
        </p:txBody>
      </p:sp>
      <p:sp>
        <p:nvSpPr>
          <p:cNvPr id="137" name="TextBox 2">
            <a:extLst>
              <a:ext uri="{FF2B5EF4-FFF2-40B4-BE49-F238E27FC236}">
                <a16:creationId xmlns:a16="http://schemas.microsoft.com/office/drawing/2014/main" id="{770519CE-8F9C-C16C-9FF9-A34F77967818}"/>
              </a:ext>
            </a:extLst>
          </p:cNvPr>
          <p:cNvSpPr txBox="1"/>
          <p:nvPr/>
        </p:nvSpPr>
        <p:spPr>
          <a:xfrm>
            <a:off x="3816357" y="3975180"/>
            <a:ext cx="557501"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ea typeface="+mn-ea"/>
                <a:cs typeface="+mn-cs"/>
              </a:rPr>
              <a:t>E</a:t>
            </a:r>
            <a:r>
              <a:rPr kumimoji="0" lang="en-US" sz="2400" b="0" i="0" u="none" strike="noStrike" kern="1200" cap="none" spc="0" normalizeH="0" baseline="-25000" noProof="0" dirty="0">
                <a:ln>
                  <a:noFill/>
                </a:ln>
                <a:solidFill>
                  <a:srgbClr val="000000"/>
                </a:solidFill>
                <a:effectLst/>
                <a:uLnTx/>
                <a:uFillTx/>
                <a:ea typeface="+mn-ea"/>
                <a:cs typeface="+mn-cs"/>
              </a:rPr>
              <a:t>1</a:t>
            </a:r>
          </a:p>
        </p:txBody>
      </p:sp>
      <p:sp>
        <p:nvSpPr>
          <p:cNvPr id="138" name="TextBox 133">
            <a:extLst>
              <a:ext uri="{FF2B5EF4-FFF2-40B4-BE49-F238E27FC236}">
                <a16:creationId xmlns:a16="http://schemas.microsoft.com/office/drawing/2014/main" id="{70AC5913-7725-762B-762E-ABADB11F8ED6}"/>
              </a:ext>
            </a:extLst>
          </p:cNvPr>
          <p:cNvSpPr txBox="1"/>
          <p:nvPr/>
        </p:nvSpPr>
        <p:spPr>
          <a:xfrm>
            <a:off x="4902455" y="3449515"/>
            <a:ext cx="567873"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ea typeface="+mn-ea"/>
                <a:cs typeface="+mn-cs"/>
              </a:rPr>
              <a:t>E</a:t>
            </a:r>
            <a:r>
              <a:rPr kumimoji="0" lang="en-US" sz="2400" b="0" i="0" u="none" strike="noStrike" kern="1200" cap="none" spc="0" normalizeH="0" baseline="-25000" noProof="0" dirty="0">
                <a:ln>
                  <a:noFill/>
                </a:ln>
                <a:solidFill>
                  <a:srgbClr val="000000"/>
                </a:solidFill>
                <a:effectLst/>
                <a:uLnTx/>
                <a:uFillTx/>
                <a:ea typeface="+mn-ea"/>
                <a:cs typeface="+mn-cs"/>
              </a:rPr>
              <a:t>3</a:t>
            </a:r>
          </a:p>
        </p:txBody>
      </p:sp>
      <p:sp>
        <p:nvSpPr>
          <p:cNvPr id="139" name="TextBox 134">
            <a:extLst>
              <a:ext uri="{FF2B5EF4-FFF2-40B4-BE49-F238E27FC236}">
                <a16:creationId xmlns:a16="http://schemas.microsoft.com/office/drawing/2014/main" id="{985418CD-1596-C91A-A77D-C04DA324D8CA}"/>
              </a:ext>
            </a:extLst>
          </p:cNvPr>
          <p:cNvSpPr txBox="1"/>
          <p:nvPr/>
        </p:nvSpPr>
        <p:spPr>
          <a:xfrm>
            <a:off x="3969126" y="3421439"/>
            <a:ext cx="567409"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ea typeface="+mn-ea"/>
                <a:cs typeface="+mn-cs"/>
              </a:rPr>
              <a:t>E</a:t>
            </a:r>
            <a:r>
              <a:rPr kumimoji="0" lang="en-US" sz="2400" b="0" i="0" u="none" strike="noStrike" kern="1200" cap="none" spc="0" normalizeH="0" baseline="-25000" noProof="0" dirty="0">
                <a:ln>
                  <a:noFill/>
                </a:ln>
                <a:solidFill>
                  <a:srgbClr val="000000"/>
                </a:solidFill>
                <a:effectLst/>
                <a:uLnTx/>
                <a:uFillTx/>
                <a:ea typeface="+mn-ea"/>
                <a:cs typeface="+mn-cs"/>
              </a:rPr>
              <a:t>2</a:t>
            </a:r>
          </a:p>
        </p:txBody>
      </p:sp>
      <p:sp>
        <p:nvSpPr>
          <p:cNvPr id="140" name="TextBox 135">
            <a:extLst>
              <a:ext uri="{FF2B5EF4-FFF2-40B4-BE49-F238E27FC236}">
                <a16:creationId xmlns:a16="http://schemas.microsoft.com/office/drawing/2014/main" id="{692E2291-B600-2DB5-E08B-A6E554BA4F5B}"/>
              </a:ext>
            </a:extLst>
          </p:cNvPr>
          <p:cNvSpPr txBox="1"/>
          <p:nvPr/>
        </p:nvSpPr>
        <p:spPr>
          <a:xfrm>
            <a:off x="6501606" y="3442645"/>
            <a:ext cx="1776894"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ea typeface="+mn-ea"/>
                <a:cs typeface="+mn-cs"/>
              </a:rPr>
              <a:t>E</a:t>
            </a:r>
            <a:r>
              <a:rPr kumimoji="0" lang="en-US" sz="2400" b="0" i="0" u="none" strike="noStrike" kern="1200" cap="none" spc="0" normalizeH="0" baseline="-25000" noProof="0" dirty="0">
                <a:ln>
                  <a:noFill/>
                </a:ln>
                <a:solidFill>
                  <a:srgbClr val="000000"/>
                </a:solidFill>
                <a:effectLst/>
                <a:uLnTx/>
                <a:uFillTx/>
                <a:ea typeface="+mn-ea"/>
                <a:cs typeface="+mn-cs"/>
              </a:rPr>
              <a:t>1</a:t>
            </a:r>
            <a:r>
              <a:rPr kumimoji="0" lang="en-US" sz="2400" b="0" i="0" u="none" strike="noStrike" kern="1200" cap="none" spc="0" normalizeH="0" baseline="0" noProof="0" dirty="0">
                <a:ln>
                  <a:noFill/>
                </a:ln>
                <a:solidFill>
                  <a:srgbClr val="000000"/>
                </a:solidFill>
                <a:effectLst/>
                <a:uLnTx/>
                <a:uFillTx/>
                <a:ea typeface="+mn-ea"/>
                <a:cs typeface="+mn-cs"/>
              </a:rPr>
              <a:t>+ E</a:t>
            </a:r>
            <a:r>
              <a:rPr kumimoji="0" lang="en-US" sz="2400" b="0" i="0" u="none" strike="noStrike" kern="1200" cap="none" spc="0" normalizeH="0" baseline="-25000" noProof="0" dirty="0">
                <a:ln>
                  <a:noFill/>
                </a:ln>
                <a:solidFill>
                  <a:srgbClr val="000000"/>
                </a:solidFill>
                <a:effectLst/>
                <a:uLnTx/>
                <a:uFillTx/>
                <a:ea typeface="+mn-ea"/>
                <a:cs typeface="+mn-cs"/>
              </a:rPr>
              <a:t>2</a:t>
            </a:r>
            <a:r>
              <a:rPr kumimoji="0" lang="en-US" sz="2400" b="0" i="0" u="none" strike="noStrike" kern="1200" cap="none" spc="0" normalizeH="0" baseline="0" noProof="0" dirty="0">
                <a:ln>
                  <a:noFill/>
                </a:ln>
                <a:solidFill>
                  <a:srgbClr val="000000"/>
                </a:solidFill>
                <a:effectLst/>
                <a:uLnTx/>
                <a:uFillTx/>
                <a:ea typeface="+mn-ea"/>
                <a:cs typeface="+mn-cs"/>
              </a:rPr>
              <a:t>+ E</a:t>
            </a:r>
            <a:r>
              <a:rPr kumimoji="0" lang="en-US" sz="2400" b="0" i="0" u="none" strike="noStrike" kern="1200" cap="none" spc="0" normalizeH="0" baseline="-25000" noProof="0" dirty="0">
                <a:ln>
                  <a:noFill/>
                </a:ln>
                <a:solidFill>
                  <a:srgbClr val="000000"/>
                </a:solidFill>
                <a:effectLst/>
                <a:uLnTx/>
                <a:uFillTx/>
                <a:ea typeface="+mn-ea"/>
                <a:cs typeface="+mn-cs"/>
              </a:rPr>
              <a:t>3</a:t>
            </a:r>
          </a:p>
        </p:txBody>
      </p:sp>
    </p:spTree>
    <p:extLst>
      <p:ext uri="{BB962C8B-B14F-4D97-AF65-F5344CB8AC3E}">
        <p14:creationId xmlns:p14="http://schemas.microsoft.com/office/powerpoint/2010/main" val="2667966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Complex refractive index and light loss in metal</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72B517E-A936-41C1-0B4B-763E65404F24}"/>
                  </a:ext>
                </a:extLst>
              </p:cNvPr>
              <p:cNvSpPr txBox="1"/>
              <p:nvPr/>
            </p:nvSpPr>
            <p:spPr>
              <a:xfrm>
                <a:off x="3078539" y="751107"/>
                <a:ext cx="2876877" cy="3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𝑡</m:t>
                          </m:r>
                        </m:e>
                      </m:d>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𝐸</m:t>
                          </m:r>
                        </m:e>
                        <m:sub>
                          <m:r>
                            <a:rPr lang="zh-CN" altLang="en-US" sz="2400" i="0">
                              <a:latin typeface="Cambria Math" panose="02040503050406030204" pitchFamily="18" charset="0"/>
                            </a:rPr>
                            <m:t>0</m:t>
                          </m:r>
                        </m:sub>
                      </m:sSub>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ⅇ</m:t>
                          </m:r>
                        </m:e>
                        <m:sup>
                          <m:r>
                            <a:rPr lang="zh-CN" altLang="en-US" sz="2400" i="1">
                              <a:latin typeface="Cambria Math" panose="02040503050406030204" pitchFamily="18" charset="0"/>
                            </a:rPr>
                            <m:t>𝑗</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𝑘𝑥</m:t>
                              </m:r>
                              <m:r>
                                <a:rPr lang="zh-CN" altLang="en-US" sz="2400" i="0">
                                  <a:latin typeface="Cambria Math" panose="02040503050406030204" pitchFamily="18" charset="0"/>
                                </a:rPr>
                                <m:t>−</m:t>
                              </m:r>
                              <m:r>
                                <a:rPr lang="zh-CN" altLang="en-US" sz="2400" i="1">
                                  <a:latin typeface="Cambria Math" panose="02040503050406030204" pitchFamily="18" charset="0"/>
                                </a:rPr>
                                <m:t>𝜔</m:t>
                              </m:r>
                              <m:r>
                                <a:rPr lang="zh-CN" altLang="en-US" sz="2400" i="1">
                                  <a:latin typeface="Cambria Math" panose="02040503050406030204" pitchFamily="18" charset="0"/>
                                </a:rPr>
                                <m:t>𝑡</m:t>
                              </m:r>
                            </m:e>
                          </m:d>
                        </m:sup>
                      </m:sSup>
                    </m:oMath>
                  </m:oMathPara>
                </a14:m>
                <a:endParaRPr lang="zh-CN" altLang="en-US" sz="2400" dirty="0"/>
              </a:p>
            </p:txBody>
          </p:sp>
        </mc:Choice>
        <mc:Fallback xmlns="">
          <p:sp>
            <p:nvSpPr>
              <p:cNvPr id="5" name="文本框 4">
                <a:extLst>
                  <a:ext uri="{FF2B5EF4-FFF2-40B4-BE49-F238E27FC236}">
                    <a16:creationId xmlns:a16="http://schemas.microsoft.com/office/drawing/2014/main" id="{E72B517E-A936-41C1-0B4B-763E65404F24}"/>
                  </a:ext>
                </a:extLst>
              </p:cNvPr>
              <p:cNvSpPr txBox="1">
                <a:spLocks noRot="1" noChangeAspect="1" noMove="1" noResize="1" noEditPoints="1" noAdjustHandles="1" noChangeArrowheads="1" noChangeShapeType="1" noTextEdit="1"/>
              </p:cNvSpPr>
              <p:nvPr/>
            </p:nvSpPr>
            <p:spPr>
              <a:xfrm>
                <a:off x="3078539" y="751107"/>
                <a:ext cx="2876877" cy="394339"/>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BCA8C521-A575-114E-B7B7-5E03E83EC78A}"/>
              </a:ext>
            </a:extLst>
          </p:cNvPr>
          <p:cNvSpPr/>
          <p:nvPr/>
        </p:nvSpPr>
        <p:spPr>
          <a:xfrm>
            <a:off x="2802526" y="608098"/>
            <a:ext cx="3538947" cy="7003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982C80E-E031-5D0C-786E-9D3289CB8483}"/>
                  </a:ext>
                </a:extLst>
              </p:cNvPr>
              <p:cNvSpPr txBox="1"/>
              <p:nvPr/>
            </p:nvSpPr>
            <p:spPr>
              <a:xfrm>
                <a:off x="3960100" y="2075849"/>
                <a:ext cx="12237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𝑛</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𝑗</m:t>
                      </m:r>
                      <m:r>
                        <a:rPr lang="en-US" altLang="zh-CN" i="1" smtClean="0">
                          <a:solidFill>
                            <a:srgbClr val="0070C0"/>
                          </a:solidFill>
                          <a:latin typeface="Cambria Math" panose="02040503050406030204" pitchFamily="18" charset="0"/>
                        </a:rPr>
                        <m:t>𝜅</m:t>
                      </m:r>
                    </m:oMath>
                  </m:oMathPara>
                </a14:m>
                <a:endParaRPr lang="zh-CN" altLang="en-US" i="1" dirty="0"/>
              </a:p>
            </p:txBody>
          </p:sp>
        </mc:Choice>
        <mc:Fallback xmlns="">
          <p:sp>
            <p:nvSpPr>
              <p:cNvPr id="4" name="文本框 3">
                <a:extLst>
                  <a:ext uri="{FF2B5EF4-FFF2-40B4-BE49-F238E27FC236}">
                    <a16:creationId xmlns:a16="http://schemas.microsoft.com/office/drawing/2014/main" id="{0982C80E-E031-5D0C-786E-9D3289CB8483}"/>
                  </a:ext>
                </a:extLst>
              </p:cNvPr>
              <p:cNvSpPr txBox="1">
                <a:spLocks noRot="1" noChangeAspect="1" noMove="1" noResize="1" noEditPoints="1" noAdjustHandles="1" noChangeArrowheads="1" noChangeShapeType="1" noTextEdit="1"/>
              </p:cNvSpPr>
              <p:nvPr/>
            </p:nvSpPr>
            <p:spPr>
              <a:xfrm>
                <a:off x="3960100" y="2075849"/>
                <a:ext cx="1223797" cy="276999"/>
              </a:xfrm>
              <a:prstGeom prst="rect">
                <a:avLst/>
              </a:prstGeom>
              <a:blipFill>
                <a:blip r:embed="rId4"/>
                <a:stretch>
                  <a:fillRect l="-2500" t="-2222" r="-2500" b="-3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7DAFF42-785B-BDEE-DBDE-2D02CD5C6530}"/>
                  </a:ext>
                </a:extLst>
              </p:cNvPr>
              <p:cNvSpPr txBox="1"/>
              <p:nvPr/>
            </p:nvSpPr>
            <p:spPr>
              <a:xfrm>
                <a:off x="736475" y="1501156"/>
                <a:ext cx="768287"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𝑘</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2</m:t>
                          </m:r>
                          <m:r>
                            <a:rPr lang="zh-CN" altLang="en-US" i="1">
                              <a:latin typeface="Cambria Math" panose="02040503050406030204" pitchFamily="18" charset="0"/>
                            </a:rPr>
                            <m:t>𝜋</m:t>
                          </m:r>
                        </m:num>
                        <m:den>
                          <m:r>
                            <a:rPr lang="zh-CN" altLang="en-US" i="1">
                              <a:latin typeface="Cambria Math" panose="02040503050406030204" pitchFamily="18" charset="0"/>
                            </a:rPr>
                            <m:t>𝜆</m:t>
                          </m:r>
                        </m:den>
                      </m:f>
                    </m:oMath>
                  </m:oMathPara>
                </a14:m>
                <a:endParaRPr lang="zh-CN" altLang="en-US" dirty="0"/>
              </a:p>
            </p:txBody>
          </p:sp>
        </mc:Choice>
        <mc:Fallback xmlns="">
          <p:sp>
            <p:nvSpPr>
              <p:cNvPr id="6" name="文本框 5">
                <a:extLst>
                  <a:ext uri="{FF2B5EF4-FFF2-40B4-BE49-F238E27FC236}">
                    <a16:creationId xmlns:a16="http://schemas.microsoft.com/office/drawing/2014/main" id="{57DAFF42-785B-BDEE-DBDE-2D02CD5C6530}"/>
                  </a:ext>
                </a:extLst>
              </p:cNvPr>
              <p:cNvSpPr txBox="1">
                <a:spLocks noRot="1" noChangeAspect="1" noMove="1" noResize="1" noEditPoints="1" noAdjustHandles="1" noChangeArrowheads="1" noChangeShapeType="1" noTextEdit="1"/>
              </p:cNvSpPr>
              <p:nvPr/>
            </p:nvSpPr>
            <p:spPr>
              <a:xfrm>
                <a:off x="736475" y="1501156"/>
                <a:ext cx="768287" cy="52046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2357078-0A94-4C72-EB57-FBD7F53EAD05}"/>
                  </a:ext>
                </a:extLst>
              </p:cNvPr>
              <p:cNvSpPr txBox="1"/>
              <p:nvPr/>
            </p:nvSpPr>
            <p:spPr>
              <a:xfrm>
                <a:off x="2074073" y="1489499"/>
                <a:ext cx="912429"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𝑘</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2</m:t>
                          </m:r>
                          <m:r>
                            <a:rPr lang="zh-CN" altLang="en-US" i="1">
                              <a:latin typeface="Cambria Math" panose="02040503050406030204" pitchFamily="18" charset="0"/>
                            </a:rPr>
                            <m:t>𝜋</m:t>
                          </m:r>
                          <m:r>
                            <a:rPr lang="en-US" altLang="zh-CN" b="1" i="1" smtClean="0">
                              <a:latin typeface="Cambria Math" panose="02040503050406030204" pitchFamily="18" charset="0"/>
                            </a:rPr>
                            <m:t>𝒏</m:t>
                          </m:r>
                        </m:num>
                        <m:den>
                          <m:r>
                            <a:rPr lang="zh-CN" altLang="en-US" i="1">
                              <a:latin typeface="Cambria Math" panose="02040503050406030204" pitchFamily="18" charset="0"/>
                            </a:rPr>
                            <m:t>𝜆</m:t>
                          </m:r>
                        </m:den>
                      </m:f>
                    </m:oMath>
                  </m:oMathPara>
                </a14:m>
                <a:endParaRPr lang="zh-CN" altLang="en-US" dirty="0"/>
              </a:p>
            </p:txBody>
          </p:sp>
        </mc:Choice>
        <mc:Fallback xmlns="">
          <p:sp>
            <p:nvSpPr>
              <p:cNvPr id="7" name="文本框 6">
                <a:extLst>
                  <a:ext uri="{FF2B5EF4-FFF2-40B4-BE49-F238E27FC236}">
                    <a16:creationId xmlns:a16="http://schemas.microsoft.com/office/drawing/2014/main" id="{02357078-0A94-4C72-EB57-FBD7F53EAD05}"/>
                  </a:ext>
                </a:extLst>
              </p:cNvPr>
              <p:cNvSpPr txBox="1">
                <a:spLocks noRot="1" noChangeAspect="1" noMove="1" noResize="1" noEditPoints="1" noAdjustHandles="1" noChangeArrowheads="1" noChangeShapeType="1" noTextEdit="1"/>
              </p:cNvSpPr>
              <p:nvPr/>
            </p:nvSpPr>
            <p:spPr>
              <a:xfrm>
                <a:off x="2074073" y="1489499"/>
                <a:ext cx="912429" cy="520463"/>
              </a:xfrm>
              <a:prstGeom prst="rect">
                <a:avLst/>
              </a:prstGeom>
              <a:blipFill>
                <a:blip r:embed="rId6"/>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B97B125B-5BDF-D799-4F12-76FBDE4D091E}"/>
              </a:ext>
            </a:extLst>
          </p:cNvPr>
          <p:cNvSpPr txBox="1"/>
          <p:nvPr/>
        </p:nvSpPr>
        <p:spPr>
          <a:xfrm>
            <a:off x="3180878" y="1581397"/>
            <a:ext cx="5467634" cy="369332"/>
          </a:xfrm>
          <a:prstGeom prst="rect">
            <a:avLst/>
          </a:prstGeom>
          <a:noFill/>
        </p:spPr>
        <p:txBody>
          <a:bodyPr wrap="square">
            <a:spAutoFit/>
          </a:bodyPr>
          <a:lstStyle/>
          <a:p>
            <a:r>
              <a:rPr lang="en-US" altLang="zh-CN" dirty="0"/>
              <a:t>as propagation in a medium with refractive index </a:t>
            </a:r>
            <a:r>
              <a:rPr lang="en-US" altLang="zh-CN" i="1" dirty="0"/>
              <a:t>n</a:t>
            </a:r>
            <a:endParaRPr lang="zh-CN" altLang="en-US" i="1" dirty="0"/>
          </a:p>
        </p:txBody>
      </p:sp>
      <mc:AlternateContent xmlns:mc="http://schemas.openxmlformats.org/markup-compatibility/2006">
        <mc:Choice xmlns:a14="http://schemas.microsoft.com/office/drawing/2010/main" Requires="a14">
          <p:sp>
            <p:nvSpPr>
              <p:cNvPr id="30" name="文本框 29">
                <a:extLst>
                  <a:ext uri="{FF2B5EF4-FFF2-40B4-BE49-F238E27FC236}">
                    <a16:creationId xmlns:a16="http://schemas.microsoft.com/office/drawing/2014/main" id="{380F4484-FF4E-6B65-1FBE-D3CD68201DC9}"/>
                  </a:ext>
                </a:extLst>
              </p:cNvPr>
              <p:cNvSpPr txBox="1"/>
              <p:nvPr/>
            </p:nvSpPr>
            <p:spPr>
              <a:xfrm>
                <a:off x="1173824" y="2631134"/>
                <a:ext cx="2886816" cy="29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𝐸</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𝑡</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0</m:t>
                          </m:r>
                        </m:sub>
                      </m:sSub>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𝑗</m:t>
                          </m:r>
                          <m:d>
                            <m:dPr>
                              <m:begChr m:val="["/>
                              <m:endChr m:val="]"/>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smtClean="0">
                                      <a:solidFill>
                                        <a:schemeClr val="tx1"/>
                                      </a:solidFill>
                                      <a:latin typeface="Cambria Math" panose="02040503050406030204" pitchFamily="18" charset="0"/>
                                    </a:rPr>
                                    <m:t>𝑗</m:t>
                                  </m:r>
                                  <m:r>
                                    <a:rPr lang="en-US" altLang="zh-CN" i="1">
                                      <a:solidFill>
                                        <a:srgbClr val="0070C0"/>
                                      </a:solidFill>
                                      <a:latin typeface="Cambria Math" panose="02040503050406030204" pitchFamily="18" charset="0"/>
                                    </a:rPr>
                                    <m:t>𝜅</m:t>
                                  </m:r>
                                </m:e>
                              </m:d>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𝜔</m:t>
                              </m:r>
                              <m:r>
                                <a:rPr lang="zh-CN" altLang="en-US" i="1">
                                  <a:latin typeface="Cambria Math" panose="02040503050406030204" pitchFamily="18" charset="0"/>
                                </a:rPr>
                                <m:t>𝑡</m:t>
                              </m:r>
                            </m:e>
                          </m:d>
                        </m:sup>
                      </m:sSup>
                    </m:oMath>
                  </m:oMathPara>
                </a14:m>
                <a:endParaRPr lang="zh-CN" altLang="en-US" dirty="0"/>
              </a:p>
            </p:txBody>
          </p:sp>
        </mc:Choice>
        <mc:Fallback>
          <p:sp>
            <p:nvSpPr>
              <p:cNvPr id="30" name="文本框 29">
                <a:extLst>
                  <a:ext uri="{FF2B5EF4-FFF2-40B4-BE49-F238E27FC236}">
                    <a16:creationId xmlns:a16="http://schemas.microsoft.com/office/drawing/2014/main" id="{380F4484-FF4E-6B65-1FBE-D3CD68201DC9}"/>
                  </a:ext>
                </a:extLst>
              </p:cNvPr>
              <p:cNvSpPr txBox="1">
                <a:spLocks noRot="1" noChangeAspect="1" noMove="1" noResize="1" noEditPoints="1" noAdjustHandles="1" noChangeArrowheads="1" noChangeShapeType="1" noTextEdit="1"/>
              </p:cNvSpPr>
              <p:nvPr/>
            </p:nvSpPr>
            <p:spPr>
              <a:xfrm>
                <a:off x="1173824" y="2631134"/>
                <a:ext cx="2886816" cy="295978"/>
              </a:xfrm>
              <a:prstGeom prst="rect">
                <a:avLst/>
              </a:prstGeom>
              <a:blipFill>
                <a:blip r:embed="rId7"/>
                <a:stretch>
                  <a:fillRect t="-2083" b="-1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4837F02-0F92-6F17-42FF-7D1EEC97B08E}"/>
                  </a:ext>
                </a:extLst>
              </p:cNvPr>
              <p:cNvSpPr txBox="1"/>
              <p:nvPr/>
            </p:nvSpPr>
            <p:spPr>
              <a:xfrm>
                <a:off x="4876616" y="2568504"/>
                <a:ext cx="3008259"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𝐸</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𝑡</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0</m:t>
                          </m:r>
                        </m:sub>
                      </m:sSub>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𝑗𝑘</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1">
                              <a:latin typeface="Cambria Math" panose="02040503050406030204" pitchFamily="18" charset="0"/>
                            </a:rPr>
                            <m:t>𝑥</m:t>
                          </m:r>
                        </m:sup>
                      </m:sSup>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en-US" altLang="zh-CN" b="0" i="1" smtClean="0">
                              <a:latin typeface="Cambria Math" panose="02040503050406030204" pitchFamily="18" charset="0"/>
                            </a:rPr>
                            <m:t>𝑗</m:t>
                          </m:r>
                          <m:r>
                            <a:rPr lang="zh-CN" altLang="en-US" i="1">
                              <a:latin typeface="Cambria Math" panose="02040503050406030204" pitchFamily="18" charset="0"/>
                            </a:rPr>
                            <m:t>𝑘</m:t>
                          </m:r>
                          <m:r>
                            <a:rPr lang="en-US" altLang="zh-CN" b="0" i="1" smtClean="0">
                              <a:latin typeface="Cambria Math" panose="02040503050406030204" pitchFamily="18" charset="0"/>
                            </a:rPr>
                            <m:t>𝑗</m:t>
                          </m:r>
                          <m:r>
                            <a:rPr lang="en-US" altLang="zh-CN" i="1" smtClean="0">
                              <a:solidFill>
                                <a:srgbClr val="0070C0"/>
                              </a:solidFill>
                              <a:latin typeface="Cambria Math" panose="02040503050406030204" pitchFamily="18" charset="0"/>
                            </a:rPr>
                            <m:t>𝜅</m:t>
                          </m:r>
                          <m:r>
                            <a:rPr lang="zh-CN" altLang="en-US" i="1">
                              <a:latin typeface="Cambria Math" panose="02040503050406030204" pitchFamily="18" charset="0"/>
                            </a:rPr>
                            <m:t>𝑥</m:t>
                          </m:r>
                        </m:sup>
                      </m:sSup>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0">
                              <a:latin typeface="Cambria Math" panose="02040503050406030204" pitchFamily="18" charset="0"/>
                            </a:rPr>
                            <m:t>−</m:t>
                          </m:r>
                          <m:r>
                            <a:rPr lang="zh-CN" altLang="en-US" i="1">
                              <a:latin typeface="Cambria Math" panose="02040503050406030204" pitchFamily="18" charset="0"/>
                            </a:rPr>
                            <m:t>𝑗</m:t>
                          </m:r>
                          <m:r>
                            <a:rPr lang="zh-CN" altLang="en-US" i="1">
                              <a:latin typeface="Cambria Math" panose="02040503050406030204" pitchFamily="18" charset="0"/>
                            </a:rPr>
                            <m:t>𝜔</m:t>
                          </m:r>
                          <m:r>
                            <a:rPr lang="zh-CN" altLang="en-US" i="1">
                              <a:latin typeface="Cambria Math" panose="02040503050406030204" pitchFamily="18" charset="0"/>
                            </a:rPr>
                            <m:t>𝑡</m:t>
                          </m:r>
                        </m:sup>
                      </m:sSup>
                    </m:oMath>
                  </m:oMathPara>
                </a14:m>
                <a:endParaRPr lang="zh-CN" altLang="en-US" dirty="0"/>
              </a:p>
            </p:txBody>
          </p:sp>
        </mc:Choice>
        <mc:Fallback xmlns="">
          <p:sp>
            <p:nvSpPr>
              <p:cNvPr id="40" name="文本框 39">
                <a:extLst>
                  <a:ext uri="{FF2B5EF4-FFF2-40B4-BE49-F238E27FC236}">
                    <a16:creationId xmlns:a16="http://schemas.microsoft.com/office/drawing/2014/main" id="{64837F02-0F92-6F17-42FF-7D1EEC97B08E}"/>
                  </a:ext>
                </a:extLst>
              </p:cNvPr>
              <p:cNvSpPr txBox="1">
                <a:spLocks noRot="1" noChangeAspect="1" noMove="1" noResize="1" noEditPoints="1" noAdjustHandles="1" noChangeArrowheads="1" noChangeShapeType="1" noTextEdit="1"/>
              </p:cNvSpPr>
              <p:nvPr/>
            </p:nvSpPr>
            <p:spPr>
              <a:xfrm>
                <a:off x="4876616" y="2568504"/>
                <a:ext cx="3008259" cy="285912"/>
              </a:xfrm>
              <a:prstGeom prst="rect">
                <a:avLst/>
              </a:prstGeom>
              <a:blipFill>
                <a:blip r:embed="rId8"/>
                <a:stretch>
                  <a:fillRect l="-1217" t="-4255" r="-811" b="-191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6355EECB-616C-AF14-AF36-03D2119F51D8}"/>
                  </a:ext>
                </a:extLst>
              </p:cNvPr>
              <p:cNvSpPr txBox="1"/>
              <p:nvPr/>
            </p:nvSpPr>
            <p:spPr>
              <a:xfrm>
                <a:off x="1346888" y="3293268"/>
                <a:ext cx="3057952"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𝐸</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𝑡</m:t>
                          </m:r>
                        </m:e>
                      </m:d>
                      <m:r>
                        <a:rPr lang="zh-CN" altLang="en-US" i="0">
                          <a:latin typeface="Cambria Math" panose="02040503050406030204" pitchFamily="18" charset="0"/>
                        </a:rPr>
                        <m:t>=</m:t>
                      </m:r>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0</m:t>
                          </m:r>
                        </m:sub>
                      </m:sSub>
                      <m:sSup>
                        <m:sSupPr>
                          <m:ctrlPr>
                            <a:rPr lang="zh-CN" altLang="en-US" i="1">
                              <a:solidFill>
                                <a:srgbClr val="836967"/>
                              </a:solidFill>
                              <a:latin typeface="Cambria Math" panose="02040503050406030204" pitchFamily="18" charset="0"/>
                            </a:rPr>
                          </m:ctrlPr>
                        </m:sSupPr>
                        <m:e>
                          <m:sSup>
                            <m:sSupPr>
                              <m:ctrlPr>
                                <a:rPr lang="zh-CN" altLang="en-US" i="1">
                                  <a:solidFill>
                                    <a:srgbClr val="836967"/>
                                  </a:solidFill>
                                  <a:latin typeface="Cambria Math" panose="02040503050406030204" pitchFamily="18" charset="0"/>
                                </a:rPr>
                              </m:ctrlPr>
                            </m:sSupPr>
                            <m:e>
                              <m:r>
                                <a:rPr lang="zh-CN" altLang="en-US">
                                  <a:latin typeface="Cambria Math" panose="02040503050406030204" pitchFamily="18" charset="0"/>
                                </a:rPr>
                                <m:t>ⅇ</m:t>
                              </m:r>
                            </m:e>
                            <m:sup>
                              <m:r>
                                <a:rPr lang="en-US" altLang="zh-CN" i="1">
                                  <a:latin typeface="Cambria Math" panose="02040503050406030204" pitchFamily="18" charset="0"/>
                                </a:rPr>
                                <m:t>𝑗</m:t>
                              </m:r>
                              <m:r>
                                <a:rPr lang="zh-CN" altLang="en-US" i="1">
                                  <a:latin typeface="Cambria Math" panose="02040503050406030204" pitchFamily="18" charset="0"/>
                                </a:rPr>
                                <m:t>𝑘</m:t>
                              </m:r>
                              <m:r>
                                <a:rPr lang="en-US" altLang="zh-CN" i="1">
                                  <a:latin typeface="Cambria Math" panose="02040503050406030204" pitchFamily="18" charset="0"/>
                                </a:rPr>
                                <m:t>𝑗</m:t>
                              </m:r>
                              <m:r>
                                <a:rPr lang="en-US" altLang="zh-CN" i="1" smtClean="0">
                                  <a:solidFill>
                                    <a:srgbClr val="0070C0"/>
                                  </a:solidFill>
                                  <a:latin typeface="Cambria Math" panose="02040503050406030204" pitchFamily="18" charset="0"/>
                                </a:rPr>
                                <m:t>𝜅</m:t>
                              </m:r>
                              <m:r>
                                <a:rPr lang="zh-CN" altLang="en-US" i="1">
                                  <a:latin typeface="Cambria Math" panose="02040503050406030204" pitchFamily="18" charset="0"/>
                                </a:rPr>
                                <m:t>𝑥</m:t>
                              </m:r>
                            </m:sup>
                          </m:sSup>
                          <m:r>
                            <a:rPr lang="en-US" altLang="zh-CN" b="0" i="0" smtClean="0">
                              <a:latin typeface="Cambria Math" panose="02040503050406030204" pitchFamily="18" charset="0"/>
                            </a:rPr>
                            <m:t> </m:t>
                          </m:r>
                          <m:r>
                            <a:rPr lang="zh-CN" altLang="en-US" i="0">
                              <a:latin typeface="Cambria Math" panose="02040503050406030204" pitchFamily="18" charset="0"/>
                            </a:rPr>
                            <m:t>ⅇ</m:t>
                          </m:r>
                        </m:e>
                        <m:sup>
                          <m:r>
                            <a:rPr lang="zh-CN" altLang="en-US" i="1">
                              <a:latin typeface="Cambria Math" panose="02040503050406030204" pitchFamily="18" charset="0"/>
                            </a:rPr>
                            <m:t>𝑗𝑘</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1">
                              <a:latin typeface="Cambria Math" panose="02040503050406030204" pitchFamily="18" charset="0"/>
                            </a:rPr>
                            <m:t>𝑥</m:t>
                          </m:r>
                        </m:sup>
                      </m:sSup>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0">
                              <a:latin typeface="Cambria Math" panose="02040503050406030204" pitchFamily="18" charset="0"/>
                            </a:rPr>
                            <m:t>−</m:t>
                          </m:r>
                          <m:r>
                            <a:rPr lang="zh-CN" altLang="en-US" i="1">
                              <a:latin typeface="Cambria Math" panose="02040503050406030204" pitchFamily="18" charset="0"/>
                            </a:rPr>
                            <m:t>𝑗</m:t>
                          </m:r>
                          <m:r>
                            <a:rPr lang="zh-CN" altLang="en-US" i="1">
                              <a:latin typeface="Cambria Math" panose="02040503050406030204" pitchFamily="18" charset="0"/>
                            </a:rPr>
                            <m:t>𝜔</m:t>
                          </m:r>
                          <m:r>
                            <a:rPr lang="zh-CN" altLang="en-US" i="1">
                              <a:latin typeface="Cambria Math" panose="02040503050406030204" pitchFamily="18" charset="0"/>
                            </a:rPr>
                            <m:t>𝑡</m:t>
                          </m:r>
                        </m:sup>
                      </m:sSup>
                    </m:oMath>
                  </m:oMathPara>
                </a14:m>
                <a:endParaRPr lang="zh-CN" altLang="en-US" dirty="0"/>
              </a:p>
            </p:txBody>
          </p:sp>
        </mc:Choice>
        <mc:Fallback xmlns="">
          <p:sp>
            <p:nvSpPr>
              <p:cNvPr id="44" name="文本框 43">
                <a:extLst>
                  <a:ext uri="{FF2B5EF4-FFF2-40B4-BE49-F238E27FC236}">
                    <a16:creationId xmlns:a16="http://schemas.microsoft.com/office/drawing/2014/main" id="{6355EECB-616C-AF14-AF36-03D2119F51D8}"/>
                  </a:ext>
                </a:extLst>
              </p:cNvPr>
              <p:cNvSpPr txBox="1">
                <a:spLocks noRot="1" noChangeAspect="1" noMove="1" noResize="1" noEditPoints="1" noAdjustHandles="1" noChangeArrowheads="1" noChangeShapeType="1" noTextEdit="1"/>
              </p:cNvSpPr>
              <p:nvPr/>
            </p:nvSpPr>
            <p:spPr>
              <a:xfrm>
                <a:off x="1346888" y="3293268"/>
                <a:ext cx="3057952" cy="285912"/>
              </a:xfrm>
              <a:prstGeom prst="rect">
                <a:avLst/>
              </a:prstGeom>
              <a:blipFill>
                <a:blip r:embed="rId9"/>
                <a:stretch>
                  <a:fillRect l="-1195" t="-6383" r="-797" b="-191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139374CF-7B93-1F0D-6291-9E7E88C9FE24}"/>
                  </a:ext>
                </a:extLst>
              </p:cNvPr>
              <p:cNvSpPr txBox="1"/>
              <p:nvPr/>
            </p:nvSpPr>
            <p:spPr>
              <a:xfrm>
                <a:off x="4935099" y="3200935"/>
                <a:ext cx="2862013" cy="3782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rgbClr val="836967"/>
                              </a:solidFill>
                              <a:latin typeface="Cambria Math" panose="02040503050406030204" pitchFamily="18" charset="0"/>
                            </a:rPr>
                          </m:ctrlPr>
                        </m:sSupPr>
                        <m:e>
                          <m:r>
                            <a:rPr lang="zh-CN" altLang="en-US">
                              <a:latin typeface="Cambria Math" panose="02040503050406030204" pitchFamily="18" charset="0"/>
                            </a:rPr>
                            <m:t>ⅇ</m:t>
                          </m:r>
                        </m:e>
                        <m:sup>
                          <m:r>
                            <a:rPr lang="en-US" altLang="zh-CN" i="1">
                              <a:latin typeface="Cambria Math" panose="02040503050406030204" pitchFamily="18" charset="0"/>
                            </a:rPr>
                            <m:t>𝑗</m:t>
                          </m:r>
                          <m:r>
                            <a:rPr lang="zh-CN" altLang="en-US" i="1">
                              <a:latin typeface="Cambria Math" panose="02040503050406030204" pitchFamily="18" charset="0"/>
                            </a:rPr>
                            <m:t>𝑘</m:t>
                          </m:r>
                          <m:r>
                            <a:rPr lang="en-US" altLang="zh-CN" i="1">
                              <a:latin typeface="Cambria Math" panose="02040503050406030204" pitchFamily="18" charset="0"/>
                            </a:rPr>
                            <m:t>𝑗</m:t>
                          </m:r>
                          <m:r>
                            <a:rPr lang="en-US" altLang="zh-CN" i="1">
                              <a:latin typeface="Cambria Math" panose="02040503050406030204" pitchFamily="18" charset="0"/>
                            </a:rPr>
                            <m:t>𝜅</m:t>
                          </m:r>
                          <m:r>
                            <a:rPr lang="zh-CN" altLang="en-US" i="1">
                              <a:latin typeface="Cambria Math" panose="02040503050406030204" pitchFamily="18" charset="0"/>
                            </a:rPr>
                            <m:t>𝑥</m:t>
                          </m:r>
                        </m:sup>
                      </m:sSup>
                      <m:r>
                        <a:rPr lang="en-US" altLang="zh-CN" b="0" i="0" smtClean="0">
                          <a:latin typeface="Cambria Math" panose="02040503050406030204" pitchFamily="18" charset="0"/>
                        </a:rPr>
                        <m:t> </m:t>
                      </m:r>
                      <m:sSup>
                        <m:sSupPr>
                          <m:ctrlPr>
                            <a:rPr lang="zh-CN" altLang="en-US" i="1">
                              <a:solidFill>
                                <a:srgbClr val="836967"/>
                              </a:solidFill>
                              <a:latin typeface="Cambria Math" panose="02040503050406030204" pitchFamily="18" charset="0"/>
                            </a:rPr>
                          </m:ctrlPr>
                        </m:sSupPr>
                        <m:e>
                          <m:r>
                            <a:rPr lang="en-US" altLang="zh-CN" b="0" i="0" smtClean="0">
                              <a:solidFill>
                                <a:srgbClr val="836967"/>
                              </a:solidFill>
                              <a:latin typeface="Cambria Math" panose="02040503050406030204" pitchFamily="18" charset="0"/>
                            </a:rPr>
                            <m:t>=</m:t>
                          </m:r>
                          <m:r>
                            <a:rPr lang="zh-CN" altLang="en-US">
                              <a:latin typeface="Cambria Math" panose="02040503050406030204" pitchFamily="18" charset="0"/>
                            </a:rPr>
                            <m:t>ⅇ</m:t>
                          </m:r>
                        </m:e>
                        <m:sup>
                          <m:r>
                            <a:rPr lang="en-US" altLang="zh-CN" b="0" i="1" smtClean="0">
                              <a:latin typeface="Cambria Math" panose="02040503050406030204" pitchFamily="18" charset="0"/>
                            </a:rPr>
                            <m:t>−</m:t>
                          </m:r>
                          <m:r>
                            <a:rPr lang="zh-CN" altLang="en-US" i="1">
                              <a:latin typeface="Cambria Math" panose="02040503050406030204" pitchFamily="18" charset="0"/>
                            </a:rPr>
                            <m:t>𝑘</m:t>
                          </m:r>
                          <m:r>
                            <a:rPr lang="en-US" altLang="zh-CN" i="1" smtClean="0">
                              <a:solidFill>
                                <a:srgbClr val="0070C0"/>
                              </a:solidFill>
                              <a:latin typeface="Cambria Math" panose="02040503050406030204" pitchFamily="18" charset="0"/>
                            </a:rPr>
                            <m:t>𝜅</m:t>
                          </m:r>
                          <m:r>
                            <a:rPr lang="zh-CN" altLang="en-US" i="1">
                              <a:latin typeface="Cambria Math" panose="02040503050406030204" pitchFamily="18" charset="0"/>
                            </a:rPr>
                            <m:t>𝑥</m:t>
                          </m:r>
                        </m:sup>
                      </m:sSup>
                      <m:r>
                        <a:rPr lang="zh-CN" altLang="en-US" i="1">
                          <a:latin typeface="Cambria Math" panose="02040503050406030204" pitchFamily="18" charset="0"/>
                        </a:rPr>
                        <m:t>→</m:t>
                      </m:r>
                      <m:r>
                        <m:rPr>
                          <m:sty m:val="p"/>
                        </m:rPr>
                        <a:rPr lang="en-US" altLang="zh-CN" b="0" i="0" smtClean="0">
                          <a:latin typeface="Cambria Math" panose="02040503050406030204" pitchFamily="18" charset="0"/>
                        </a:rPr>
                        <m:t>loss</m:t>
                      </m:r>
                    </m:oMath>
                  </m:oMathPara>
                </a14:m>
                <a:endParaRPr lang="zh-CN" altLang="en-US" dirty="0"/>
              </a:p>
            </p:txBody>
          </p:sp>
        </mc:Choice>
        <mc:Fallback xmlns="">
          <p:sp>
            <p:nvSpPr>
              <p:cNvPr id="59" name="文本框 58">
                <a:extLst>
                  <a:ext uri="{FF2B5EF4-FFF2-40B4-BE49-F238E27FC236}">
                    <a16:creationId xmlns:a16="http://schemas.microsoft.com/office/drawing/2014/main" id="{139374CF-7B93-1F0D-6291-9E7E88C9FE24}"/>
                  </a:ext>
                </a:extLst>
              </p:cNvPr>
              <p:cNvSpPr txBox="1">
                <a:spLocks noRot="1" noChangeAspect="1" noMove="1" noResize="1" noEditPoints="1" noAdjustHandles="1" noChangeArrowheads="1" noChangeShapeType="1" noTextEdit="1"/>
              </p:cNvSpPr>
              <p:nvPr/>
            </p:nvSpPr>
            <p:spPr>
              <a:xfrm>
                <a:off x="4935099" y="3200935"/>
                <a:ext cx="2862013" cy="378245"/>
              </a:xfrm>
              <a:prstGeom prst="rect">
                <a:avLst/>
              </a:prstGeom>
              <a:blipFill>
                <a:blip r:embed="rId10"/>
                <a:stretch>
                  <a:fillRect/>
                </a:stretch>
              </a:blipFill>
            </p:spPr>
            <p:txBody>
              <a:bodyPr/>
              <a:lstStyle/>
              <a:p>
                <a:r>
                  <a:rPr lang="zh-CN" altLang="en-US">
                    <a:noFill/>
                  </a:rPr>
                  <a:t> </a:t>
                </a:r>
              </a:p>
            </p:txBody>
          </p:sp>
        </mc:Fallback>
      </mc:AlternateContent>
      <p:sp>
        <p:nvSpPr>
          <p:cNvPr id="60" name="矩形 59">
            <a:extLst>
              <a:ext uri="{FF2B5EF4-FFF2-40B4-BE49-F238E27FC236}">
                <a16:creationId xmlns:a16="http://schemas.microsoft.com/office/drawing/2014/main" id="{DB934743-83D5-76DE-E2C7-4305FDCFA4C1}"/>
              </a:ext>
            </a:extLst>
          </p:cNvPr>
          <p:cNvSpPr/>
          <p:nvPr/>
        </p:nvSpPr>
        <p:spPr>
          <a:xfrm>
            <a:off x="2566963" y="3229272"/>
            <a:ext cx="613916" cy="3782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2" name="图片 61">
            <a:extLst>
              <a:ext uri="{FF2B5EF4-FFF2-40B4-BE49-F238E27FC236}">
                <a16:creationId xmlns:a16="http://schemas.microsoft.com/office/drawing/2014/main" id="{A19A0229-1E43-0C72-94CE-1D6ECE1F85B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10612" y="3867532"/>
            <a:ext cx="3597324" cy="2486546"/>
          </a:xfrm>
          <a:prstGeom prst="rect">
            <a:avLst/>
          </a:prstGeom>
        </p:spPr>
      </p:pic>
    </p:spTree>
    <p:extLst>
      <p:ext uri="{BB962C8B-B14F-4D97-AF65-F5344CB8AC3E}">
        <p14:creationId xmlns:p14="http://schemas.microsoft.com/office/powerpoint/2010/main" val="1362913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Complex refractive index and light loss in metal</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72B517E-A936-41C1-0B4B-763E65404F24}"/>
                  </a:ext>
                </a:extLst>
              </p:cNvPr>
              <p:cNvSpPr txBox="1"/>
              <p:nvPr/>
            </p:nvSpPr>
            <p:spPr>
              <a:xfrm>
                <a:off x="3078539" y="1097949"/>
                <a:ext cx="2876877" cy="3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𝑡</m:t>
                          </m:r>
                        </m:e>
                      </m:d>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𝐸</m:t>
                          </m:r>
                        </m:e>
                        <m:sub>
                          <m:r>
                            <a:rPr lang="zh-CN" altLang="en-US" sz="2400" i="0">
                              <a:latin typeface="Cambria Math" panose="02040503050406030204" pitchFamily="18" charset="0"/>
                            </a:rPr>
                            <m:t>0</m:t>
                          </m:r>
                        </m:sub>
                      </m:sSub>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ⅇ</m:t>
                          </m:r>
                        </m:e>
                        <m:sup>
                          <m:r>
                            <a:rPr lang="zh-CN" altLang="en-US" sz="2400" i="1">
                              <a:latin typeface="Cambria Math" panose="02040503050406030204" pitchFamily="18" charset="0"/>
                            </a:rPr>
                            <m:t>𝑗</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𝑘𝑥</m:t>
                              </m:r>
                              <m:r>
                                <a:rPr lang="zh-CN" altLang="en-US" sz="2400" i="0">
                                  <a:latin typeface="Cambria Math" panose="02040503050406030204" pitchFamily="18" charset="0"/>
                                </a:rPr>
                                <m:t>−</m:t>
                              </m:r>
                              <m:r>
                                <a:rPr lang="zh-CN" altLang="en-US" sz="2400" i="1">
                                  <a:latin typeface="Cambria Math" panose="02040503050406030204" pitchFamily="18" charset="0"/>
                                </a:rPr>
                                <m:t>𝜔</m:t>
                              </m:r>
                              <m:r>
                                <a:rPr lang="zh-CN" altLang="en-US" sz="2400" i="1">
                                  <a:latin typeface="Cambria Math" panose="02040503050406030204" pitchFamily="18" charset="0"/>
                                </a:rPr>
                                <m:t>𝑡</m:t>
                              </m:r>
                            </m:e>
                          </m:d>
                        </m:sup>
                      </m:sSup>
                    </m:oMath>
                  </m:oMathPara>
                </a14:m>
                <a:endParaRPr lang="zh-CN" altLang="en-US" sz="2400" dirty="0"/>
              </a:p>
            </p:txBody>
          </p:sp>
        </mc:Choice>
        <mc:Fallback xmlns="">
          <p:sp>
            <p:nvSpPr>
              <p:cNvPr id="5" name="文本框 4">
                <a:extLst>
                  <a:ext uri="{FF2B5EF4-FFF2-40B4-BE49-F238E27FC236}">
                    <a16:creationId xmlns:a16="http://schemas.microsoft.com/office/drawing/2014/main" id="{E72B517E-A936-41C1-0B4B-763E65404F24}"/>
                  </a:ext>
                </a:extLst>
              </p:cNvPr>
              <p:cNvSpPr txBox="1">
                <a:spLocks noRot="1" noChangeAspect="1" noMove="1" noResize="1" noEditPoints="1" noAdjustHandles="1" noChangeArrowheads="1" noChangeShapeType="1" noTextEdit="1"/>
              </p:cNvSpPr>
              <p:nvPr/>
            </p:nvSpPr>
            <p:spPr>
              <a:xfrm>
                <a:off x="3078539" y="1097949"/>
                <a:ext cx="2876877" cy="394339"/>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BCA8C521-A575-114E-B7B7-5E03E83EC78A}"/>
              </a:ext>
            </a:extLst>
          </p:cNvPr>
          <p:cNvSpPr/>
          <p:nvPr/>
        </p:nvSpPr>
        <p:spPr>
          <a:xfrm>
            <a:off x="2802526" y="954940"/>
            <a:ext cx="3538947" cy="7003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2A226E0-CF6F-8971-1D24-3E82F3363D92}"/>
              </a:ext>
            </a:extLst>
          </p:cNvPr>
          <p:cNvSpPr txBox="1"/>
          <p:nvPr/>
        </p:nvSpPr>
        <p:spPr>
          <a:xfrm>
            <a:off x="290534" y="4119611"/>
            <a:ext cx="8562928" cy="2308324"/>
          </a:xfrm>
          <a:prstGeom prst="rect">
            <a:avLst/>
          </a:prstGeom>
          <a:noFill/>
        </p:spPr>
        <p:txBody>
          <a:bodyPr wrap="square">
            <a:spAutoFit/>
          </a:bodyPr>
          <a:lstStyle/>
          <a:p>
            <a:r>
              <a:rPr lang="en-US" altLang="zh-CN" dirty="0"/>
              <a:t>The complex index of refraction comes because metals have free charge carriers (actually electrons) that can oscillate in response to an incoming electromagnetic field (i.e. when you shine light on it). Those electrons move in response to the field, and re-radiate the light back - that’s why metals are shiny. However, the electrons have inertia - they cannot respond instantly to the incoming field, so there is a time-lag between the incoming and outgoing electromagnetic oscillations. This time-lag (or phase difference for the technically minded) is encoded in the complex refractive index.</a:t>
            </a:r>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982C80E-E031-5D0C-786E-9D3289CB8483}"/>
                  </a:ext>
                </a:extLst>
              </p:cNvPr>
              <p:cNvSpPr txBox="1"/>
              <p:nvPr/>
            </p:nvSpPr>
            <p:spPr>
              <a:xfrm>
                <a:off x="3960100" y="2422691"/>
                <a:ext cx="12237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𝑛</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𝑗</m:t>
                      </m:r>
                      <m:r>
                        <a:rPr lang="en-US" altLang="zh-CN" i="1" smtClean="0">
                          <a:latin typeface="Cambria Math" panose="02040503050406030204" pitchFamily="18" charset="0"/>
                        </a:rPr>
                        <m:t>𝜅</m:t>
                      </m:r>
                    </m:oMath>
                  </m:oMathPara>
                </a14:m>
                <a:endParaRPr lang="zh-CN" altLang="en-US" i="1" dirty="0"/>
              </a:p>
            </p:txBody>
          </p:sp>
        </mc:Choice>
        <mc:Fallback xmlns="">
          <p:sp>
            <p:nvSpPr>
              <p:cNvPr id="4" name="文本框 3">
                <a:extLst>
                  <a:ext uri="{FF2B5EF4-FFF2-40B4-BE49-F238E27FC236}">
                    <a16:creationId xmlns:a16="http://schemas.microsoft.com/office/drawing/2014/main" id="{0982C80E-E031-5D0C-786E-9D3289CB8483}"/>
                  </a:ext>
                </a:extLst>
              </p:cNvPr>
              <p:cNvSpPr txBox="1">
                <a:spLocks noRot="1" noChangeAspect="1" noMove="1" noResize="1" noEditPoints="1" noAdjustHandles="1" noChangeArrowheads="1" noChangeShapeType="1" noTextEdit="1"/>
              </p:cNvSpPr>
              <p:nvPr/>
            </p:nvSpPr>
            <p:spPr>
              <a:xfrm>
                <a:off x="3960100" y="2422691"/>
                <a:ext cx="1223797" cy="276999"/>
              </a:xfrm>
              <a:prstGeom prst="rect">
                <a:avLst/>
              </a:prstGeom>
              <a:blipFill>
                <a:blip r:embed="rId4"/>
                <a:stretch>
                  <a:fillRect l="-2500" r="-2500" b="-3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7DAFF42-785B-BDEE-DBDE-2D02CD5C6530}"/>
                  </a:ext>
                </a:extLst>
              </p:cNvPr>
              <p:cNvSpPr txBox="1"/>
              <p:nvPr/>
            </p:nvSpPr>
            <p:spPr>
              <a:xfrm>
                <a:off x="736475" y="1847998"/>
                <a:ext cx="768287"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𝑘</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2</m:t>
                          </m:r>
                          <m:r>
                            <a:rPr lang="zh-CN" altLang="en-US" i="1">
                              <a:latin typeface="Cambria Math" panose="02040503050406030204" pitchFamily="18" charset="0"/>
                            </a:rPr>
                            <m:t>𝜋</m:t>
                          </m:r>
                        </m:num>
                        <m:den>
                          <m:r>
                            <a:rPr lang="zh-CN" altLang="en-US" i="1">
                              <a:latin typeface="Cambria Math" panose="02040503050406030204" pitchFamily="18" charset="0"/>
                            </a:rPr>
                            <m:t>𝜆</m:t>
                          </m:r>
                        </m:den>
                      </m:f>
                    </m:oMath>
                  </m:oMathPara>
                </a14:m>
                <a:endParaRPr lang="zh-CN" altLang="en-US" dirty="0"/>
              </a:p>
            </p:txBody>
          </p:sp>
        </mc:Choice>
        <mc:Fallback xmlns="">
          <p:sp>
            <p:nvSpPr>
              <p:cNvPr id="6" name="文本框 5">
                <a:extLst>
                  <a:ext uri="{FF2B5EF4-FFF2-40B4-BE49-F238E27FC236}">
                    <a16:creationId xmlns:a16="http://schemas.microsoft.com/office/drawing/2014/main" id="{57DAFF42-785B-BDEE-DBDE-2D02CD5C6530}"/>
                  </a:ext>
                </a:extLst>
              </p:cNvPr>
              <p:cNvSpPr txBox="1">
                <a:spLocks noRot="1" noChangeAspect="1" noMove="1" noResize="1" noEditPoints="1" noAdjustHandles="1" noChangeArrowheads="1" noChangeShapeType="1" noTextEdit="1"/>
              </p:cNvSpPr>
              <p:nvPr/>
            </p:nvSpPr>
            <p:spPr>
              <a:xfrm>
                <a:off x="736475" y="1847998"/>
                <a:ext cx="768287" cy="52046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2357078-0A94-4C72-EB57-FBD7F53EAD05}"/>
                  </a:ext>
                </a:extLst>
              </p:cNvPr>
              <p:cNvSpPr txBox="1"/>
              <p:nvPr/>
            </p:nvSpPr>
            <p:spPr>
              <a:xfrm>
                <a:off x="2074073" y="1836341"/>
                <a:ext cx="912429"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𝑘</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2</m:t>
                          </m:r>
                          <m:r>
                            <a:rPr lang="zh-CN" altLang="en-US" i="1">
                              <a:latin typeface="Cambria Math" panose="02040503050406030204" pitchFamily="18" charset="0"/>
                            </a:rPr>
                            <m:t>𝜋</m:t>
                          </m:r>
                          <m:r>
                            <a:rPr lang="en-US" altLang="zh-CN" b="1" i="1" smtClean="0">
                              <a:latin typeface="Cambria Math" panose="02040503050406030204" pitchFamily="18" charset="0"/>
                            </a:rPr>
                            <m:t>𝒏</m:t>
                          </m:r>
                        </m:num>
                        <m:den>
                          <m:r>
                            <a:rPr lang="zh-CN" altLang="en-US" i="1">
                              <a:latin typeface="Cambria Math" panose="02040503050406030204" pitchFamily="18" charset="0"/>
                            </a:rPr>
                            <m:t>𝜆</m:t>
                          </m:r>
                        </m:den>
                      </m:f>
                    </m:oMath>
                  </m:oMathPara>
                </a14:m>
                <a:endParaRPr lang="zh-CN" altLang="en-US" dirty="0"/>
              </a:p>
            </p:txBody>
          </p:sp>
        </mc:Choice>
        <mc:Fallback xmlns="">
          <p:sp>
            <p:nvSpPr>
              <p:cNvPr id="7" name="文本框 6">
                <a:extLst>
                  <a:ext uri="{FF2B5EF4-FFF2-40B4-BE49-F238E27FC236}">
                    <a16:creationId xmlns:a16="http://schemas.microsoft.com/office/drawing/2014/main" id="{02357078-0A94-4C72-EB57-FBD7F53EAD05}"/>
                  </a:ext>
                </a:extLst>
              </p:cNvPr>
              <p:cNvSpPr txBox="1">
                <a:spLocks noRot="1" noChangeAspect="1" noMove="1" noResize="1" noEditPoints="1" noAdjustHandles="1" noChangeArrowheads="1" noChangeShapeType="1" noTextEdit="1"/>
              </p:cNvSpPr>
              <p:nvPr/>
            </p:nvSpPr>
            <p:spPr>
              <a:xfrm>
                <a:off x="2074073" y="1836341"/>
                <a:ext cx="912429" cy="520463"/>
              </a:xfrm>
              <a:prstGeom prst="rect">
                <a:avLst/>
              </a:prstGeom>
              <a:blipFill>
                <a:blip r:embed="rId6"/>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B97B125B-5BDF-D799-4F12-76FBDE4D091E}"/>
              </a:ext>
            </a:extLst>
          </p:cNvPr>
          <p:cNvSpPr txBox="1"/>
          <p:nvPr/>
        </p:nvSpPr>
        <p:spPr>
          <a:xfrm>
            <a:off x="3180878" y="1928239"/>
            <a:ext cx="5467634" cy="369332"/>
          </a:xfrm>
          <a:prstGeom prst="rect">
            <a:avLst/>
          </a:prstGeom>
          <a:noFill/>
        </p:spPr>
        <p:txBody>
          <a:bodyPr wrap="square">
            <a:spAutoFit/>
          </a:bodyPr>
          <a:lstStyle/>
          <a:p>
            <a:r>
              <a:rPr lang="en-US" altLang="zh-CN" dirty="0"/>
              <a:t>as propagation in a medium with refractive index </a:t>
            </a:r>
            <a:r>
              <a:rPr lang="en-US" altLang="zh-CN" i="1" dirty="0"/>
              <a:t>n</a:t>
            </a:r>
            <a:endParaRPr lang="zh-CN" altLang="en-US" i="1" dirty="0"/>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380F4484-FF4E-6B65-1FBE-D3CD68201DC9}"/>
                  </a:ext>
                </a:extLst>
              </p:cNvPr>
              <p:cNvSpPr txBox="1"/>
              <p:nvPr/>
            </p:nvSpPr>
            <p:spPr>
              <a:xfrm>
                <a:off x="1173824" y="2977976"/>
                <a:ext cx="2786276" cy="29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𝐸</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𝑡</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0</m:t>
                          </m:r>
                        </m:sub>
                      </m:sSub>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𝑗</m:t>
                          </m:r>
                          <m:d>
                            <m:dPr>
                              <m:begChr m:val="["/>
                              <m:endChr m:val="]"/>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𝑘</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𝑗𝑘</m:t>
                                  </m:r>
                                </m:e>
                              </m:d>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𝜔</m:t>
                              </m:r>
                              <m:r>
                                <a:rPr lang="zh-CN" altLang="en-US" i="1">
                                  <a:latin typeface="Cambria Math" panose="02040503050406030204" pitchFamily="18" charset="0"/>
                                </a:rPr>
                                <m:t>𝑡</m:t>
                              </m:r>
                            </m:e>
                          </m:d>
                        </m:sup>
                      </m:sSup>
                    </m:oMath>
                  </m:oMathPara>
                </a14:m>
                <a:endParaRPr lang="zh-CN" altLang="en-US" dirty="0"/>
              </a:p>
            </p:txBody>
          </p:sp>
        </mc:Choice>
        <mc:Fallback xmlns="">
          <p:sp>
            <p:nvSpPr>
              <p:cNvPr id="30" name="文本框 29">
                <a:extLst>
                  <a:ext uri="{FF2B5EF4-FFF2-40B4-BE49-F238E27FC236}">
                    <a16:creationId xmlns:a16="http://schemas.microsoft.com/office/drawing/2014/main" id="{380F4484-FF4E-6B65-1FBE-D3CD68201DC9}"/>
                  </a:ext>
                </a:extLst>
              </p:cNvPr>
              <p:cNvSpPr txBox="1">
                <a:spLocks noRot="1" noChangeAspect="1" noMove="1" noResize="1" noEditPoints="1" noAdjustHandles="1" noChangeArrowheads="1" noChangeShapeType="1" noTextEdit="1"/>
              </p:cNvSpPr>
              <p:nvPr/>
            </p:nvSpPr>
            <p:spPr>
              <a:xfrm>
                <a:off x="1173824" y="2977976"/>
                <a:ext cx="2786276" cy="295978"/>
              </a:xfrm>
              <a:prstGeom prst="rect">
                <a:avLst/>
              </a:prstGeom>
              <a:blipFill>
                <a:blip r:embed="rId7"/>
                <a:stretch>
                  <a:fillRect l="-1532" t="-2083" b="-1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4837F02-0F92-6F17-42FF-7D1EEC97B08E}"/>
                  </a:ext>
                </a:extLst>
              </p:cNvPr>
              <p:cNvSpPr txBox="1"/>
              <p:nvPr/>
            </p:nvSpPr>
            <p:spPr>
              <a:xfrm>
                <a:off x="4876616" y="2915346"/>
                <a:ext cx="3008259"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𝐸</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𝑡</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0</m:t>
                          </m:r>
                        </m:sub>
                      </m:sSub>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1">
                              <a:latin typeface="Cambria Math" panose="02040503050406030204" pitchFamily="18" charset="0"/>
                            </a:rPr>
                            <m:t>𝑗𝑘</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1">
                              <a:latin typeface="Cambria Math" panose="02040503050406030204" pitchFamily="18" charset="0"/>
                            </a:rPr>
                            <m:t>𝑥</m:t>
                          </m:r>
                        </m:sup>
                      </m:sSup>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en-US" altLang="zh-CN" b="0" i="1" smtClean="0">
                              <a:latin typeface="Cambria Math" panose="02040503050406030204" pitchFamily="18" charset="0"/>
                            </a:rPr>
                            <m:t>𝑗</m:t>
                          </m:r>
                          <m:r>
                            <a:rPr lang="zh-CN" altLang="en-US" i="1">
                              <a:latin typeface="Cambria Math" panose="02040503050406030204" pitchFamily="18" charset="0"/>
                            </a:rPr>
                            <m:t>𝑘</m:t>
                          </m:r>
                          <m:r>
                            <a:rPr lang="en-US" altLang="zh-CN" b="0" i="1" smtClean="0">
                              <a:latin typeface="Cambria Math" panose="02040503050406030204" pitchFamily="18" charset="0"/>
                            </a:rPr>
                            <m:t>𝑗</m:t>
                          </m:r>
                          <m:r>
                            <a:rPr lang="en-US" altLang="zh-CN" i="1" smtClean="0">
                              <a:latin typeface="Cambria Math" panose="02040503050406030204" pitchFamily="18" charset="0"/>
                            </a:rPr>
                            <m:t>𝜅</m:t>
                          </m:r>
                          <m:r>
                            <a:rPr lang="zh-CN" altLang="en-US" i="1">
                              <a:latin typeface="Cambria Math" panose="02040503050406030204" pitchFamily="18" charset="0"/>
                            </a:rPr>
                            <m:t>𝑥</m:t>
                          </m:r>
                        </m:sup>
                      </m:sSup>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0">
                              <a:latin typeface="Cambria Math" panose="02040503050406030204" pitchFamily="18" charset="0"/>
                            </a:rPr>
                            <m:t>−</m:t>
                          </m:r>
                          <m:r>
                            <a:rPr lang="zh-CN" altLang="en-US" i="1">
                              <a:latin typeface="Cambria Math" panose="02040503050406030204" pitchFamily="18" charset="0"/>
                            </a:rPr>
                            <m:t>𝑗</m:t>
                          </m:r>
                          <m:r>
                            <a:rPr lang="zh-CN" altLang="en-US" i="1">
                              <a:latin typeface="Cambria Math" panose="02040503050406030204" pitchFamily="18" charset="0"/>
                            </a:rPr>
                            <m:t>𝜔</m:t>
                          </m:r>
                          <m:r>
                            <a:rPr lang="zh-CN" altLang="en-US" i="1">
                              <a:latin typeface="Cambria Math" panose="02040503050406030204" pitchFamily="18" charset="0"/>
                            </a:rPr>
                            <m:t>𝑡</m:t>
                          </m:r>
                        </m:sup>
                      </m:sSup>
                    </m:oMath>
                  </m:oMathPara>
                </a14:m>
                <a:endParaRPr lang="zh-CN" altLang="en-US" dirty="0"/>
              </a:p>
            </p:txBody>
          </p:sp>
        </mc:Choice>
        <mc:Fallback xmlns="">
          <p:sp>
            <p:nvSpPr>
              <p:cNvPr id="40" name="文本框 39">
                <a:extLst>
                  <a:ext uri="{FF2B5EF4-FFF2-40B4-BE49-F238E27FC236}">
                    <a16:creationId xmlns:a16="http://schemas.microsoft.com/office/drawing/2014/main" id="{64837F02-0F92-6F17-42FF-7D1EEC97B08E}"/>
                  </a:ext>
                </a:extLst>
              </p:cNvPr>
              <p:cNvSpPr txBox="1">
                <a:spLocks noRot="1" noChangeAspect="1" noMove="1" noResize="1" noEditPoints="1" noAdjustHandles="1" noChangeArrowheads="1" noChangeShapeType="1" noTextEdit="1"/>
              </p:cNvSpPr>
              <p:nvPr/>
            </p:nvSpPr>
            <p:spPr>
              <a:xfrm>
                <a:off x="4876616" y="2915346"/>
                <a:ext cx="3008259" cy="285912"/>
              </a:xfrm>
              <a:prstGeom prst="rect">
                <a:avLst/>
              </a:prstGeom>
              <a:blipFill>
                <a:blip r:embed="rId8"/>
                <a:stretch>
                  <a:fillRect l="-1217" t="-6383" r="-811" b="-191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6355EECB-616C-AF14-AF36-03D2119F51D8}"/>
                  </a:ext>
                </a:extLst>
              </p:cNvPr>
              <p:cNvSpPr txBox="1"/>
              <p:nvPr/>
            </p:nvSpPr>
            <p:spPr>
              <a:xfrm>
                <a:off x="1346888" y="3640110"/>
                <a:ext cx="3057952"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𝐸</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𝑡</m:t>
                          </m:r>
                        </m:e>
                      </m:d>
                      <m:r>
                        <a:rPr lang="zh-CN" altLang="en-US" i="0">
                          <a:latin typeface="Cambria Math" panose="02040503050406030204" pitchFamily="18" charset="0"/>
                        </a:rPr>
                        <m:t>=</m:t>
                      </m:r>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𝐸</m:t>
                          </m:r>
                        </m:e>
                        <m:sub>
                          <m:r>
                            <a:rPr lang="zh-CN" altLang="en-US" i="0">
                              <a:latin typeface="Cambria Math" panose="02040503050406030204" pitchFamily="18" charset="0"/>
                            </a:rPr>
                            <m:t>0</m:t>
                          </m:r>
                        </m:sub>
                      </m:sSub>
                      <m:sSup>
                        <m:sSupPr>
                          <m:ctrlPr>
                            <a:rPr lang="zh-CN" altLang="en-US" i="1">
                              <a:solidFill>
                                <a:srgbClr val="836967"/>
                              </a:solidFill>
                              <a:latin typeface="Cambria Math" panose="02040503050406030204" pitchFamily="18" charset="0"/>
                            </a:rPr>
                          </m:ctrlPr>
                        </m:sSupPr>
                        <m:e>
                          <m:sSup>
                            <m:sSupPr>
                              <m:ctrlPr>
                                <a:rPr lang="zh-CN" altLang="en-US" i="1">
                                  <a:solidFill>
                                    <a:srgbClr val="836967"/>
                                  </a:solidFill>
                                  <a:latin typeface="Cambria Math" panose="02040503050406030204" pitchFamily="18" charset="0"/>
                                </a:rPr>
                              </m:ctrlPr>
                            </m:sSupPr>
                            <m:e>
                              <m:r>
                                <a:rPr lang="zh-CN" altLang="en-US">
                                  <a:latin typeface="Cambria Math" panose="02040503050406030204" pitchFamily="18" charset="0"/>
                                </a:rPr>
                                <m:t>ⅇ</m:t>
                              </m:r>
                            </m:e>
                            <m:sup>
                              <m:r>
                                <a:rPr lang="en-US" altLang="zh-CN" i="1">
                                  <a:latin typeface="Cambria Math" panose="02040503050406030204" pitchFamily="18" charset="0"/>
                                </a:rPr>
                                <m:t>𝑗</m:t>
                              </m:r>
                              <m:r>
                                <a:rPr lang="zh-CN" altLang="en-US" i="1">
                                  <a:latin typeface="Cambria Math" panose="02040503050406030204" pitchFamily="18" charset="0"/>
                                </a:rPr>
                                <m:t>𝑘</m:t>
                              </m:r>
                              <m:r>
                                <a:rPr lang="en-US" altLang="zh-CN" i="1">
                                  <a:latin typeface="Cambria Math" panose="02040503050406030204" pitchFamily="18" charset="0"/>
                                </a:rPr>
                                <m:t>𝑗</m:t>
                              </m:r>
                              <m:r>
                                <a:rPr lang="en-US" altLang="zh-CN" i="1">
                                  <a:latin typeface="Cambria Math" panose="02040503050406030204" pitchFamily="18" charset="0"/>
                                </a:rPr>
                                <m:t>𝜅</m:t>
                              </m:r>
                              <m:r>
                                <a:rPr lang="zh-CN" altLang="en-US" i="1">
                                  <a:latin typeface="Cambria Math" panose="02040503050406030204" pitchFamily="18" charset="0"/>
                                </a:rPr>
                                <m:t>𝑥</m:t>
                              </m:r>
                            </m:sup>
                          </m:sSup>
                          <m:r>
                            <a:rPr lang="en-US" altLang="zh-CN" b="0" i="0" smtClean="0">
                              <a:latin typeface="Cambria Math" panose="02040503050406030204" pitchFamily="18" charset="0"/>
                            </a:rPr>
                            <m:t> </m:t>
                          </m:r>
                          <m:r>
                            <a:rPr lang="zh-CN" altLang="en-US" i="0">
                              <a:latin typeface="Cambria Math" panose="02040503050406030204" pitchFamily="18" charset="0"/>
                            </a:rPr>
                            <m:t>ⅇ</m:t>
                          </m:r>
                        </m:e>
                        <m:sup>
                          <m:r>
                            <a:rPr lang="zh-CN" altLang="en-US" i="1">
                              <a:latin typeface="Cambria Math" panose="02040503050406030204" pitchFamily="18" charset="0"/>
                            </a:rPr>
                            <m:t>𝑗𝑘</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0</m:t>
                              </m:r>
                            </m:sub>
                          </m:sSub>
                          <m:r>
                            <a:rPr lang="zh-CN" altLang="en-US" i="1">
                              <a:latin typeface="Cambria Math" panose="02040503050406030204" pitchFamily="18" charset="0"/>
                            </a:rPr>
                            <m:t>𝑥</m:t>
                          </m:r>
                        </m:sup>
                      </m:sSup>
                      <m:sSup>
                        <m:sSupPr>
                          <m:ctrlPr>
                            <a:rPr lang="zh-CN" altLang="en-US" i="1">
                              <a:solidFill>
                                <a:srgbClr val="836967"/>
                              </a:solidFill>
                              <a:latin typeface="Cambria Math" panose="02040503050406030204" pitchFamily="18" charset="0"/>
                            </a:rPr>
                          </m:ctrlPr>
                        </m:sSupPr>
                        <m:e>
                          <m:r>
                            <a:rPr lang="zh-CN" altLang="en-US" i="0">
                              <a:latin typeface="Cambria Math" panose="02040503050406030204" pitchFamily="18" charset="0"/>
                            </a:rPr>
                            <m:t>ⅇ</m:t>
                          </m:r>
                        </m:e>
                        <m:sup>
                          <m:r>
                            <a:rPr lang="zh-CN" altLang="en-US" i="0">
                              <a:latin typeface="Cambria Math" panose="02040503050406030204" pitchFamily="18" charset="0"/>
                            </a:rPr>
                            <m:t>−</m:t>
                          </m:r>
                          <m:r>
                            <a:rPr lang="zh-CN" altLang="en-US" i="1">
                              <a:latin typeface="Cambria Math" panose="02040503050406030204" pitchFamily="18" charset="0"/>
                            </a:rPr>
                            <m:t>𝑗</m:t>
                          </m:r>
                          <m:r>
                            <a:rPr lang="zh-CN" altLang="en-US" i="1">
                              <a:latin typeface="Cambria Math" panose="02040503050406030204" pitchFamily="18" charset="0"/>
                            </a:rPr>
                            <m:t>𝜔</m:t>
                          </m:r>
                          <m:r>
                            <a:rPr lang="zh-CN" altLang="en-US" i="1">
                              <a:latin typeface="Cambria Math" panose="02040503050406030204" pitchFamily="18" charset="0"/>
                            </a:rPr>
                            <m:t>𝑡</m:t>
                          </m:r>
                        </m:sup>
                      </m:sSup>
                    </m:oMath>
                  </m:oMathPara>
                </a14:m>
                <a:endParaRPr lang="zh-CN" altLang="en-US" dirty="0"/>
              </a:p>
            </p:txBody>
          </p:sp>
        </mc:Choice>
        <mc:Fallback xmlns="">
          <p:sp>
            <p:nvSpPr>
              <p:cNvPr id="44" name="文本框 43">
                <a:extLst>
                  <a:ext uri="{FF2B5EF4-FFF2-40B4-BE49-F238E27FC236}">
                    <a16:creationId xmlns:a16="http://schemas.microsoft.com/office/drawing/2014/main" id="{6355EECB-616C-AF14-AF36-03D2119F51D8}"/>
                  </a:ext>
                </a:extLst>
              </p:cNvPr>
              <p:cNvSpPr txBox="1">
                <a:spLocks noRot="1" noChangeAspect="1" noMove="1" noResize="1" noEditPoints="1" noAdjustHandles="1" noChangeArrowheads="1" noChangeShapeType="1" noTextEdit="1"/>
              </p:cNvSpPr>
              <p:nvPr/>
            </p:nvSpPr>
            <p:spPr>
              <a:xfrm>
                <a:off x="1346888" y="3640110"/>
                <a:ext cx="3057952" cy="285912"/>
              </a:xfrm>
              <a:prstGeom prst="rect">
                <a:avLst/>
              </a:prstGeom>
              <a:blipFill>
                <a:blip r:embed="rId9"/>
                <a:stretch>
                  <a:fillRect l="-1195" t="-6383" r="-797" b="-191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139374CF-7B93-1F0D-6291-9E7E88C9FE24}"/>
                  </a:ext>
                </a:extLst>
              </p:cNvPr>
              <p:cNvSpPr txBox="1"/>
              <p:nvPr/>
            </p:nvSpPr>
            <p:spPr>
              <a:xfrm>
                <a:off x="4935099" y="3547777"/>
                <a:ext cx="2862013" cy="3782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rgbClr val="836967"/>
                              </a:solidFill>
                              <a:latin typeface="Cambria Math" panose="02040503050406030204" pitchFamily="18" charset="0"/>
                            </a:rPr>
                          </m:ctrlPr>
                        </m:sSupPr>
                        <m:e>
                          <m:r>
                            <a:rPr lang="zh-CN" altLang="en-US">
                              <a:latin typeface="Cambria Math" panose="02040503050406030204" pitchFamily="18" charset="0"/>
                            </a:rPr>
                            <m:t>ⅇ</m:t>
                          </m:r>
                        </m:e>
                        <m:sup>
                          <m:r>
                            <a:rPr lang="en-US" altLang="zh-CN" i="1">
                              <a:latin typeface="Cambria Math" panose="02040503050406030204" pitchFamily="18" charset="0"/>
                            </a:rPr>
                            <m:t>𝑗</m:t>
                          </m:r>
                          <m:r>
                            <a:rPr lang="zh-CN" altLang="en-US" i="1">
                              <a:latin typeface="Cambria Math" panose="02040503050406030204" pitchFamily="18" charset="0"/>
                            </a:rPr>
                            <m:t>𝑘</m:t>
                          </m:r>
                          <m:r>
                            <a:rPr lang="en-US" altLang="zh-CN" i="1">
                              <a:latin typeface="Cambria Math" panose="02040503050406030204" pitchFamily="18" charset="0"/>
                            </a:rPr>
                            <m:t>𝑗</m:t>
                          </m:r>
                          <m:r>
                            <a:rPr lang="en-US" altLang="zh-CN" i="1">
                              <a:latin typeface="Cambria Math" panose="02040503050406030204" pitchFamily="18" charset="0"/>
                            </a:rPr>
                            <m:t>𝜅</m:t>
                          </m:r>
                          <m:r>
                            <a:rPr lang="zh-CN" altLang="en-US" i="1">
                              <a:latin typeface="Cambria Math" panose="02040503050406030204" pitchFamily="18" charset="0"/>
                            </a:rPr>
                            <m:t>𝑥</m:t>
                          </m:r>
                        </m:sup>
                      </m:sSup>
                      <m:r>
                        <a:rPr lang="en-US" altLang="zh-CN" b="0" i="0" smtClean="0">
                          <a:latin typeface="Cambria Math" panose="02040503050406030204" pitchFamily="18" charset="0"/>
                        </a:rPr>
                        <m:t> </m:t>
                      </m:r>
                      <m:sSup>
                        <m:sSupPr>
                          <m:ctrlPr>
                            <a:rPr lang="zh-CN" altLang="en-US" i="1">
                              <a:solidFill>
                                <a:srgbClr val="836967"/>
                              </a:solidFill>
                              <a:latin typeface="Cambria Math" panose="02040503050406030204" pitchFamily="18" charset="0"/>
                            </a:rPr>
                          </m:ctrlPr>
                        </m:sSupPr>
                        <m:e>
                          <m:r>
                            <a:rPr lang="en-US" altLang="zh-CN" b="0" i="0" smtClean="0">
                              <a:solidFill>
                                <a:srgbClr val="836967"/>
                              </a:solidFill>
                              <a:latin typeface="Cambria Math" panose="02040503050406030204" pitchFamily="18" charset="0"/>
                            </a:rPr>
                            <m:t>=</m:t>
                          </m:r>
                          <m:r>
                            <a:rPr lang="zh-CN" altLang="en-US">
                              <a:latin typeface="Cambria Math" panose="02040503050406030204" pitchFamily="18" charset="0"/>
                            </a:rPr>
                            <m:t>ⅇ</m:t>
                          </m:r>
                        </m:e>
                        <m:sup>
                          <m:r>
                            <a:rPr lang="en-US" altLang="zh-CN" b="0" i="1" smtClean="0">
                              <a:latin typeface="Cambria Math" panose="02040503050406030204" pitchFamily="18" charset="0"/>
                            </a:rPr>
                            <m:t>−</m:t>
                          </m:r>
                          <m:r>
                            <a:rPr lang="zh-CN" altLang="en-US" i="1">
                              <a:latin typeface="Cambria Math" panose="02040503050406030204" pitchFamily="18" charset="0"/>
                            </a:rPr>
                            <m:t>𝑘</m:t>
                          </m:r>
                          <m:r>
                            <a:rPr lang="en-US" altLang="zh-CN" i="1">
                              <a:latin typeface="Cambria Math" panose="02040503050406030204" pitchFamily="18" charset="0"/>
                            </a:rPr>
                            <m:t>𝜅</m:t>
                          </m:r>
                          <m:r>
                            <a:rPr lang="zh-CN" altLang="en-US" i="1">
                              <a:latin typeface="Cambria Math" panose="02040503050406030204" pitchFamily="18" charset="0"/>
                            </a:rPr>
                            <m:t>𝑥</m:t>
                          </m:r>
                        </m:sup>
                      </m:sSup>
                      <m:r>
                        <a:rPr lang="zh-CN" altLang="en-US" i="1">
                          <a:latin typeface="Cambria Math" panose="02040503050406030204" pitchFamily="18" charset="0"/>
                        </a:rPr>
                        <m:t>→</m:t>
                      </m:r>
                      <m:r>
                        <m:rPr>
                          <m:sty m:val="p"/>
                        </m:rPr>
                        <a:rPr lang="en-US" altLang="zh-CN" b="0" i="0" smtClean="0">
                          <a:latin typeface="Cambria Math" panose="02040503050406030204" pitchFamily="18" charset="0"/>
                        </a:rPr>
                        <m:t>loss</m:t>
                      </m:r>
                    </m:oMath>
                  </m:oMathPara>
                </a14:m>
                <a:endParaRPr lang="zh-CN" altLang="en-US" dirty="0"/>
              </a:p>
            </p:txBody>
          </p:sp>
        </mc:Choice>
        <mc:Fallback xmlns="">
          <p:sp>
            <p:nvSpPr>
              <p:cNvPr id="59" name="文本框 58">
                <a:extLst>
                  <a:ext uri="{FF2B5EF4-FFF2-40B4-BE49-F238E27FC236}">
                    <a16:creationId xmlns:a16="http://schemas.microsoft.com/office/drawing/2014/main" id="{139374CF-7B93-1F0D-6291-9E7E88C9FE24}"/>
                  </a:ext>
                </a:extLst>
              </p:cNvPr>
              <p:cNvSpPr txBox="1">
                <a:spLocks noRot="1" noChangeAspect="1" noMove="1" noResize="1" noEditPoints="1" noAdjustHandles="1" noChangeArrowheads="1" noChangeShapeType="1" noTextEdit="1"/>
              </p:cNvSpPr>
              <p:nvPr/>
            </p:nvSpPr>
            <p:spPr>
              <a:xfrm>
                <a:off x="4935099" y="3547777"/>
                <a:ext cx="2862013" cy="378245"/>
              </a:xfrm>
              <a:prstGeom prst="rect">
                <a:avLst/>
              </a:prstGeom>
              <a:blipFill>
                <a:blip r:embed="rId10"/>
                <a:stretch>
                  <a:fillRect/>
                </a:stretch>
              </a:blipFill>
            </p:spPr>
            <p:txBody>
              <a:bodyPr/>
              <a:lstStyle/>
              <a:p>
                <a:r>
                  <a:rPr lang="zh-CN" altLang="en-US">
                    <a:noFill/>
                  </a:rPr>
                  <a:t> </a:t>
                </a:r>
              </a:p>
            </p:txBody>
          </p:sp>
        </mc:Fallback>
      </mc:AlternateContent>
      <p:sp>
        <p:nvSpPr>
          <p:cNvPr id="60" name="矩形 59">
            <a:extLst>
              <a:ext uri="{FF2B5EF4-FFF2-40B4-BE49-F238E27FC236}">
                <a16:creationId xmlns:a16="http://schemas.microsoft.com/office/drawing/2014/main" id="{DB934743-83D5-76DE-E2C7-4305FDCFA4C1}"/>
              </a:ext>
            </a:extLst>
          </p:cNvPr>
          <p:cNvSpPr/>
          <p:nvPr/>
        </p:nvSpPr>
        <p:spPr>
          <a:xfrm>
            <a:off x="2566963" y="3576114"/>
            <a:ext cx="613916" cy="3782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7A3E37B3-5B69-689E-1BB1-ED35AED37379}"/>
              </a:ext>
            </a:extLst>
          </p:cNvPr>
          <p:cNvSpPr txBox="1"/>
          <p:nvPr/>
        </p:nvSpPr>
        <p:spPr>
          <a:xfrm>
            <a:off x="5608019" y="2380752"/>
            <a:ext cx="2905360" cy="369332"/>
          </a:xfrm>
          <a:prstGeom prst="rect">
            <a:avLst/>
          </a:prstGeom>
          <a:noFill/>
        </p:spPr>
        <p:txBody>
          <a:bodyPr wrap="square" rtlCol="0">
            <a:spAutoFit/>
          </a:bodyPr>
          <a:lstStyle/>
          <a:p>
            <a:r>
              <a:rPr lang="en-US" altLang="zh-CN" dirty="0">
                <a:hlinkClick r:id="rId11"/>
              </a:rPr>
              <a:t>Refractive</a:t>
            </a:r>
            <a:r>
              <a:rPr lang="zh-CN" altLang="en-US" dirty="0">
                <a:hlinkClick r:id="rId11"/>
              </a:rPr>
              <a:t> </a:t>
            </a:r>
            <a:r>
              <a:rPr lang="en-US" altLang="zh-CN" dirty="0">
                <a:hlinkClick r:id="rId11"/>
              </a:rPr>
              <a:t>index database</a:t>
            </a:r>
            <a:r>
              <a:rPr lang="zh-CN" altLang="en-US" dirty="0">
                <a:hlinkClick r:id="rId11"/>
              </a:rPr>
              <a:t> </a:t>
            </a:r>
            <a:endParaRPr lang="zh-CN" altLang="en-US" dirty="0"/>
          </a:p>
        </p:txBody>
      </p:sp>
    </p:spTree>
    <p:extLst>
      <p:ext uri="{BB962C8B-B14F-4D97-AF65-F5344CB8AC3E}">
        <p14:creationId xmlns:p14="http://schemas.microsoft.com/office/powerpoint/2010/main" val="24861813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0F7D-401B-F9EF-7AEA-BEB2F86D8EC8}"/>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8FB3FFF-51E5-E654-F67B-0BDFB5C3956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Longitudinal vs Transverse waves: Light polarization</a:t>
            </a:r>
          </a:p>
        </p:txBody>
      </p:sp>
      <p:sp>
        <p:nvSpPr>
          <p:cNvPr id="10" name="Text Box 3">
            <a:extLst>
              <a:ext uri="{FF2B5EF4-FFF2-40B4-BE49-F238E27FC236}">
                <a16:creationId xmlns:a16="http://schemas.microsoft.com/office/drawing/2014/main" id="{543EC82D-5603-0C40-B071-99FB6F4E2582}"/>
              </a:ext>
            </a:extLst>
          </p:cNvPr>
          <p:cNvSpPr txBox="1">
            <a:spLocks noChangeArrowheads="1"/>
          </p:cNvSpPr>
          <p:nvPr/>
        </p:nvSpPr>
        <p:spPr bwMode="auto">
          <a:xfrm>
            <a:off x="5391742" y="1912827"/>
            <a:ext cx="2927350" cy="157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ts val="80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Motion is along the direction of propagation—</a:t>
            </a:r>
            <a:r>
              <a:rPr kumimoji="0" lang="en-US" altLang="en-US" sz="1800" b="1" i="0" u="none" strike="noStrike" kern="1200" cap="none" spc="0" normalizeH="0" baseline="0" noProof="0" dirty="0">
                <a:ln>
                  <a:noFill/>
                </a:ln>
                <a:solidFill>
                  <a:srgbClr val="3333CC"/>
                </a:solidFill>
                <a:effectLst/>
                <a:uLnTx/>
                <a:uFillTx/>
                <a:latin typeface="Arial" panose="020B0604020202020204" pitchFamily="34" charset="0"/>
                <a:ea typeface="+mn-ea"/>
                <a:cs typeface="+mn-cs"/>
              </a:rPr>
              <a:t>longitudinal polarization.</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l" defTabSz="914400" rtl="0" eaLnBrk="1" fontAlgn="base" latinLnBrk="0" hangingPunct="1">
              <a:lnSpc>
                <a:spcPct val="100000"/>
              </a:lnSpc>
              <a:spcBef>
                <a:spcPts val="80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Light will not have a longitudinal polarization.</a:t>
            </a:r>
            <a:endParaRPr kumimoji="0" lang="en-US" altLang="en-US" sz="1800" b="0" i="0" u="none" strike="noStrike" kern="1200" cap="none" spc="0" normalizeH="0" baseline="0" noProof="0" dirty="0">
              <a:ln>
                <a:noFill/>
              </a:ln>
              <a:solidFill>
                <a:srgbClr val="3333CC"/>
              </a:solidFill>
              <a:effectLst/>
              <a:uLnTx/>
              <a:uFillTx/>
              <a:latin typeface="Arial" panose="020B0604020202020204" pitchFamily="34" charset="0"/>
              <a:ea typeface="+mn-ea"/>
              <a:cs typeface="+mn-cs"/>
            </a:endParaRPr>
          </a:p>
        </p:txBody>
      </p:sp>
      <p:sp>
        <p:nvSpPr>
          <p:cNvPr id="11" name="Text Box 4">
            <a:extLst>
              <a:ext uri="{FF2B5EF4-FFF2-40B4-BE49-F238E27FC236}">
                <a16:creationId xmlns:a16="http://schemas.microsoft.com/office/drawing/2014/main" id="{10D5459B-CF3B-0CDB-E66E-5DEECC27E91D}"/>
              </a:ext>
            </a:extLst>
          </p:cNvPr>
          <p:cNvSpPr txBox="1">
            <a:spLocks noChangeArrowheads="1"/>
          </p:cNvSpPr>
          <p:nvPr/>
        </p:nvSpPr>
        <p:spPr bwMode="auto">
          <a:xfrm>
            <a:off x="5391742" y="4030552"/>
            <a:ext cx="2927350" cy="153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Motion is transverse to the direction of propagation—</a:t>
            </a:r>
            <a:r>
              <a:rPr kumimoji="0" lang="en-US" altLang="en-US" sz="1800" b="1" i="0" u="none" strike="noStrike" kern="1200" cap="none" spc="0" normalizeH="0" baseline="0" noProof="0" dirty="0">
                <a:ln>
                  <a:noFill/>
                </a:ln>
                <a:solidFill>
                  <a:srgbClr val="3333CC"/>
                </a:solidFill>
                <a:effectLst/>
                <a:uLnTx/>
                <a:uFillTx/>
                <a:latin typeface="Arial" panose="020B0604020202020204" pitchFamily="34" charset="0"/>
                <a:ea typeface="+mn-ea"/>
                <a:cs typeface="+mn-cs"/>
              </a:rPr>
              <a:t>transverse polarization.</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Light will always have transverse polarization.</a:t>
            </a:r>
            <a:endParaRPr kumimoji="0" lang="en-US" altLang="en-US" sz="1800" b="0" i="0" u="none" strike="noStrike" kern="1200" cap="none" spc="0" normalizeH="0" baseline="0" noProof="0" dirty="0">
              <a:ln>
                <a:noFill/>
              </a:ln>
              <a:solidFill>
                <a:srgbClr val="3333CC"/>
              </a:solidFill>
              <a:effectLst/>
              <a:uLnTx/>
              <a:uFillTx/>
              <a:latin typeface="Arial" panose="020B0604020202020204" pitchFamily="34" charset="0"/>
              <a:ea typeface="+mn-ea"/>
              <a:cs typeface="+mn-cs"/>
            </a:endParaRPr>
          </a:p>
        </p:txBody>
      </p:sp>
      <p:sp>
        <p:nvSpPr>
          <p:cNvPr id="14" name="Text Box 6">
            <a:extLst>
              <a:ext uri="{FF2B5EF4-FFF2-40B4-BE49-F238E27FC236}">
                <a16:creationId xmlns:a16="http://schemas.microsoft.com/office/drawing/2014/main" id="{CC6D5566-1493-D667-4685-902EA644FED6}"/>
              </a:ext>
            </a:extLst>
          </p:cNvPr>
          <p:cNvSpPr txBox="1">
            <a:spLocks noChangeArrowheads="1"/>
          </p:cNvSpPr>
          <p:nvPr/>
        </p:nvSpPr>
        <p:spPr bwMode="auto">
          <a:xfrm>
            <a:off x="1267417" y="4627452"/>
            <a:ext cx="15287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Transverse:</a:t>
            </a:r>
          </a:p>
        </p:txBody>
      </p:sp>
      <p:sp>
        <p:nvSpPr>
          <p:cNvPr id="15" name="Text Box 7">
            <a:extLst>
              <a:ext uri="{FF2B5EF4-FFF2-40B4-BE49-F238E27FC236}">
                <a16:creationId xmlns:a16="http://schemas.microsoft.com/office/drawing/2014/main" id="{E4B42618-452D-498E-2030-023612094D44}"/>
              </a:ext>
            </a:extLst>
          </p:cNvPr>
          <p:cNvSpPr txBox="1">
            <a:spLocks noChangeArrowheads="1"/>
          </p:cNvSpPr>
          <p:nvPr/>
        </p:nvSpPr>
        <p:spPr bwMode="auto">
          <a:xfrm>
            <a:off x="1156292" y="2493852"/>
            <a:ext cx="16398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Longitudinal:</a:t>
            </a:r>
          </a:p>
        </p:txBody>
      </p:sp>
      <p:pic>
        <p:nvPicPr>
          <p:cNvPr id="16" name="Picture 8" descr="~AUT0008">
            <a:extLst>
              <a:ext uri="{FF2B5EF4-FFF2-40B4-BE49-F238E27FC236}">
                <a16:creationId xmlns:a16="http://schemas.microsoft.com/office/drawing/2014/main" id="{91651667-66CC-21C0-796A-0EB4CDAB3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9530" y="1679464"/>
            <a:ext cx="220345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2">
            <a:extLst>
              <a:ext uri="{FF2B5EF4-FFF2-40B4-BE49-F238E27FC236}">
                <a16:creationId xmlns:a16="http://schemas.microsoft.com/office/drawing/2014/main" id="{E1FFEF96-DBDD-AA8E-245C-0A83B046D21D}"/>
              </a:ext>
            </a:extLst>
          </p:cNvPr>
          <p:cNvSpPr/>
          <p:nvPr/>
        </p:nvSpPr>
        <p:spPr>
          <a:xfrm>
            <a:off x="789580" y="996839"/>
            <a:ext cx="8120062" cy="40005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The direction of a wave’s variations is called its </a:t>
            </a:r>
            <a:r>
              <a:rPr kumimoji="0" lang="en-US" altLang="en-US" sz="2000" b="1" i="0" u="none" strike="noStrike" kern="1200" cap="none" spc="0" normalizeH="0" baseline="0" noProof="0" dirty="0">
                <a:ln>
                  <a:noFill/>
                </a:ln>
                <a:solidFill>
                  <a:srgbClr val="3333CC"/>
                </a:solidFill>
                <a:effectLst/>
                <a:uLnTx/>
                <a:uFillTx/>
                <a:latin typeface="Arial"/>
                <a:ea typeface="+mn-ea"/>
                <a:cs typeface="+mn-cs"/>
              </a:rPr>
              <a:t>polarization</a:t>
            </a: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a:t>
            </a:r>
          </a:p>
        </p:txBody>
      </p:sp>
    </p:spTree>
    <p:extLst>
      <p:ext uri="{BB962C8B-B14F-4D97-AF65-F5344CB8AC3E}">
        <p14:creationId xmlns:p14="http://schemas.microsoft.com/office/powerpoint/2010/main" val="2267501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0F7D-401B-F9EF-7AEA-BEB2F86D8EC8}"/>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8FB3FFF-51E5-E654-F67B-0BDFB5C3956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From linear to circular polarization</a:t>
            </a:r>
          </a:p>
        </p:txBody>
      </p:sp>
      <p:pic>
        <p:nvPicPr>
          <p:cNvPr id="2" name="图片 1">
            <a:extLst>
              <a:ext uri="{FF2B5EF4-FFF2-40B4-BE49-F238E27FC236}">
                <a16:creationId xmlns:a16="http://schemas.microsoft.com/office/drawing/2014/main" id="{53FD6471-CED8-4A57-B8E8-FFEA1EEE72BC}"/>
              </a:ext>
            </a:extLst>
          </p:cNvPr>
          <p:cNvPicPr>
            <a:picLocks noChangeAspect="1"/>
          </p:cNvPicPr>
          <p:nvPr/>
        </p:nvPicPr>
        <p:blipFill>
          <a:blip r:embed="rId3"/>
          <a:stretch>
            <a:fillRect/>
          </a:stretch>
        </p:blipFill>
        <p:spPr>
          <a:xfrm>
            <a:off x="1350168" y="2523727"/>
            <a:ext cx="6578790" cy="2669780"/>
          </a:xfrm>
          <a:prstGeom prst="rect">
            <a:avLst/>
          </a:prstGeom>
        </p:spPr>
      </p:pic>
    </p:spTree>
    <p:extLst>
      <p:ext uri="{BB962C8B-B14F-4D97-AF65-F5344CB8AC3E}">
        <p14:creationId xmlns:p14="http://schemas.microsoft.com/office/powerpoint/2010/main" val="23007966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0F7D-401B-F9EF-7AEA-BEB2F86D8EC8}"/>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8FB3FFF-51E5-E654-F67B-0BDFB5C3956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Why Light Waves are Transverse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Object 13">
                <a:extLst>
                  <a:ext uri="{FF2B5EF4-FFF2-40B4-BE49-F238E27FC236}">
                    <a16:creationId xmlns:a16="http://schemas.microsoft.com/office/drawing/2014/main" id="{3780A63D-0B44-2753-47AD-FDF4CA79B726}"/>
                  </a:ext>
                </a:extLst>
              </p:cNvPr>
              <p:cNvSpPr txBox="1"/>
              <p:nvPr/>
            </p:nvSpPr>
            <p:spPr bwMode="auto">
              <a:xfrm>
                <a:off x="2611438" y="1852939"/>
                <a:ext cx="2498724" cy="9652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400" i="1" smtClean="0">
                              <a:solidFill>
                                <a:srgbClr val="C00000"/>
                              </a:solidFill>
                              <a:latin typeface="Cambria Math" panose="02040503050406030204" pitchFamily="18" charset="0"/>
                            </a:rPr>
                          </m:ctrlPr>
                        </m:fPr>
                        <m:num>
                          <m:r>
                            <a:rPr lang="zh-CN" altLang="en-US" sz="2400" i="1">
                              <a:solidFill>
                                <a:srgbClr val="C00000"/>
                              </a:solidFill>
                              <a:latin typeface="Cambria Math" panose="02040503050406030204" pitchFamily="18" charset="0"/>
                            </a:rPr>
                            <m:t>𝜕</m:t>
                          </m:r>
                          <m:sSub>
                            <m:sSubPr>
                              <m:ctrlPr>
                                <a:rPr lang="zh-CN" altLang="en-US" sz="2400" i="1">
                                  <a:solidFill>
                                    <a:srgbClr val="C00000"/>
                                  </a:solidFill>
                                  <a:latin typeface="Cambria Math" panose="02040503050406030204" pitchFamily="18" charset="0"/>
                                </a:rPr>
                              </m:ctrlPr>
                            </m:sSubPr>
                            <m:e>
                              <m:r>
                                <m:rPr>
                                  <m:sty m:val="p"/>
                                </m:rPr>
                                <a:rPr lang="zh-CN" altLang="en-US" sz="2400" i="1">
                                  <a:solidFill>
                                    <a:srgbClr val="C00000"/>
                                  </a:solidFill>
                                  <a:latin typeface="Cambria Math" panose="02040503050406030204" pitchFamily="18" charset="0"/>
                                </a:rPr>
                                <m:t>E</m:t>
                              </m:r>
                            </m:e>
                            <m:sub>
                              <m:r>
                                <a:rPr lang="zh-CN" altLang="en-US" sz="2400" i="1">
                                  <a:solidFill>
                                    <a:srgbClr val="C00000"/>
                                  </a:solidFill>
                                  <a:latin typeface="Cambria Math" panose="02040503050406030204" pitchFamily="18" charset="0"/>
                                </a:rPr>
                                <m:t>𝑥</m:t>
                              </m:r>
                            </m:sub>
                          </m:sSub>
                        </m:num>
                        <m:den>
                          <m:r>
                            <a:rPr lang="zh-CN" altLang="en-US" sz="2400" i="1">
                              <a:solidFill>
                                <a:srgbClr val="C00000"/>
                              </a:solidFill>
                              <a:latin typeface="Cambria Math" panose="02040503050406030204" pitchFamily="18" charset="0"/>
                            </a:rPr>
                            <m:t>𝜕</m:t>
                          </m:r>
                          <m:r>
                            <a:rPr lang="zh-CN" altLang="en-US" sz="2400" i="1">
                              <a:solidFill>
                                <a:srgbClr val="C00000"/>
                              </a:solidFill>
                              <a:latin typeface="Cambria Math" panose="02040503050406030204" pitchFamily="18" charset="0"/>
                            </a:rPr>
                            <m:t>𝑥</m:t>
                          </m:r>
                        </m:den>
                      </m:f>
                      <m:r>
                        <a:rPr lang="zh-CN" altLang="en-US" sz="2400" i="1">
                          <a:solidFill>
                            <a:srgbClr val="C00000"/>
                          </a:solidFill>
                          <a:latin typeface="Cambria Math" panose="02040503050406030204" pitchFamily="18" charset="0"/>
                        </a:rPr>
                        <m:t>=</m:t>
                      </m:r>
                      <m:f>
                        <m:fPr>
                          <m:ctrlPr>
                            <a:rPr lang="zh-CN" altLang="en-US" sz="2400" i="1">
                              <a:solidFill>
                                <a:srgbClr val="C00000"/>
                              </a:solidFill>
                              <a:latin typeface="Cambria Math" panose="02040503050406030204" pitchFamily="18" charset="0"/>
                            </a:rPr>
                          </m:ctrlPr>
                        </m:fPr>
                        <m:num>
                          <m:r>
                            <a:rPr lang="zh-CN" altLang="en-US" sz="2400" i="1">
                              <a:solidFill>
                                <a:srgbClr val="C00000"/>
                              </a:solidFill>
                              <a:latin typeface="Cambria Math" panose="02040503050406030204" pitchFamily="18" charset="0"/>
                            </a:rPr>
                            <m:t>𝜕</m:t>
                          </m:r>
                          <m:sSub>
                            <m:sSubPr>
                              <m:ctrlPr>
                                <a:rPr lang="zh-CN" altLang="en-US" sz="2400" i="1">
                                  <a:solidFill>
                                    <a:srgbClr val="C00000"/>
                                  </a:solidFill>
                                  <a:latin typeface="Cambria Math" panose="02040503050406030204" pitchFamily="18" charset="0"/>
                                </a:rPr>
                              </m:ctrlPr>
                            </m:sSubPr>
                            <m:e>
                              <m:r>
                                <m:rPr>
                                  <m:sty m:val="p"/>
                                </m:rPr>
                                <a:rPr lang="zh-CN" altLang="en-US" sz="2400" i="1">
                                  <a:solidFill>
                                    <a:srgbClr val="C00000"/>
                                  </a:solidFill>
                                  <a:latin typeface="Cambria Math" panose="02040503050406030204" pitchFamily="18" charset="0"/>
                                </a:rPr>
                                <m:t>E</m:t>
                              </m:r>
                            </m:e>
                            <m:sub>
                              <m:r>
                                <a:rPr lang="zh-CN" altLang="en-US" sz="2400" i="1">
                                  <a:solidFill>
                                    <a:srgbClr val="C00000"/>
                                  </a:solidFill>
                                  <a:latin typeface="Cambria Math" panose="02040503050406030204" pitchFamily="18" charset="0"/>
                                </a:rPr>
                                <m:t>𝑦</m:t>
                              </m:r>
                            </m:sub>
                          </m:sSub>
                        </m:num>
                        <m:den>
                          <m:r>
                            <a:rPr lang="zh-CN" altLang="en-US" sz="2400" i="1">
                              <a:solidFill>
                                <a:srgbClr val="C00000"/>
                              </a:solidFill>
                              <a:latin typeface="Cambria Math" panose="02040503050406030204" pitchFamily="18" charset="0"/>
                            </a:rPr>
                            <m:t>𝜕</m:t>
                          </m:r>
                          <m:r>
                            <a:rPr lang="zh-CN" altLang="en-US" sz="2400" i="1">
                              <a:solidFill>
                                <a:srgbClr val="C00000"/>
                              </a:solidFill>
                              <a:latin typeface="Cambria Math" panose="02040503050406030204" pitchFamily="18" charset="0"/>
                            </a:rPr>
                            <m:t>𝑦</m:t>
                          </m:r>
                        </m:den>
                      </m:f>
                      <m:r>
                        <a:rPr lang="zh-CN" altLang="en-US" sz="2400" i="1">
                          <a:solidFill>
                            <a:srgbClr val="C00000"/>
                          </a:solidFill>
                          <a:latin typeface="Cambria Math" panose="02040503050406030204" pitchFamily="18" charset="0"/>
                        </a:rPr>
                        <m:t> = 0</m:t>
                      </m:r>
                    </m:oMath>
                  </m:oMathPara>
                </a14:m>
                <a:endParaRPr lang="zh-CN" altLang="en-US" sz="2400" dirty="0"/>
              </a:p>
            </p:txBody>
          </p:sp>
        </mc:Choice>
        <mc:Fallback xmlns="">
          <p:sp>
            <p:nvSpPr>
              <p:cNvPr id="2" name="Object 13">
                <a:extLst>
                  <a:ext uri="{FF2B5EF4-FFF2-40B4-BE49-F238E27FC236}">
                    <a16:creationId xmlns:a16="http://schemas.microsoft.com/office/drawing/2014/main" id="{3780A63D-0B44-2753-47AD-FDF4CA79B726}"/>
                  </a:ext>
                </a:extLst>
              </p:cNvPr>
              <p:cNvSpPr txBox="1">
                <a:spLocks noRot="1" noChangeAspect="1" noMove="1" noResize="1" noEditPoints="1" noAdjustHandles="1" noChangeArrowheads="1" noChangeShapeType="1" noTextEdit="1"/>
              </p:cNvSpPr>
              <p:nvPr/>
            </p:nvSpPr>
            <p:spPr bwMode="auto">
              <a:xfrm>
                <a:off x="2611438" y="1852939"/>
                <a:ext cx="2498724" cy="965200"/>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
                <a:extLst>
                  <a:ext uri="{FF2B5EF4-FFF2-40B4-BE49-F238E27FC236}">
                    <a16:creationId xmlns:a16="http://schemas.microsoft.com/office/drawing/2014/main" id="{2B1E1855-B6ED-62DB-2339-21C897B00747}"/>
                  </a:ext>
                </a:extLst>
              </p:cNvPr>
              <p:cNvSpPr txBox="1"/>
              <p:nvPr/>
            </p:nvSpPr>
            <p:spPr bwMode="auto">
              <a:xfrm>
                <a:off x="5774201" y="1852939"/>
                <a:ext cx="2722099" cy="9652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𝑥</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𝑦</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den>
                      </m:f>
                      <m:r>
                        <a:rPr lang="zh-CN" altLang="en-US" sz="2400" i="1">
                          <a:solidFill>
                            <a:srgbClr val="000000"/>
                          </a:solidFill>
                          <a:latin typeface="Cambria Math" panose="02040503050406030204" pitchFamily="18" charset="0"/>
                        </a:rPr>
                        <m:t>  = 0</m:t>
                      </m:r>
                    </m:oMath>
                  </m:oMathPara>
                </a14:m>
                <a:endParaRPr lang="zh-CN" altLang="en-US" sz="1600" dirty="0"/>
              </a:p>
            </p:txBody>
          </p:sp>
        </mc:Choice>
        <mc:Fallback xmlns="">
          <p:sp>
            <p:nvSpPr>
              <p:cNvPr id="8" name="Object 1">
                <a:extLst>
                  <a:ext uri="{FF2B5EF4-FFF2-40B4-BE49-F238E27FC236}">
                    <a16:creationId xmlns:a16="http://schemas.microsoft.com/office/drawing/2014/main" id="{2B1E1855-B6ED-62DB-2339-21C897B00747}"/>
                  </a:ext>
                </a:extLst>
              </p:cNvPr>
              <p:cNvSpPr txBox="1">
                <a:spLocks noRot="1" noChangeAspect="1" noMove="1" noResize="1" noEditPoints="1" noAdjustHandles="1" noChangeArrowheads="1" noChangeShapeType="1" noTextEdit="1"/>
              </p:cNvSpPr>
              <p:nvPr/>
            </p:nvSpPr>
            <p:spPr bwMode="auto">
              <a:xfrm>
                <a:off x="5774201" y="1852939"/>
                <a:ext cx="2722099" cy="965200"/>
              </a:xfrm>
              <a:prstGeom prst="rect">
                <a:avLst/>
              </a:prstGeom>
              <a:blipFill>
                <a:blip r:embed="rId4"/>
                <a:stretch>
                  <a:fillRect/>
                </a:stretch>
              </a:blipFill>
              <a:ln>
                <a:noFill/>
              </a:ln>
            </p:spPr>
            <p:txBody>
              <a:bodyPr/>
              <a:lstStyle/>
              <a:p>
                <a:r>
                  <a:rPr lang="zh-CN" altLang="en-US">
                    <a:noFill/>
                  </a:rPr>
                  <a:t> </a:t>
                </a:r>
              </a:p>
            </p:txBody>
          </p:sp>
        </mc:Fallback>
      </mc:AlternateContent>
      <p:sp>
        <p:nvSpPr>
          <p:cNvPr id="18" name="TextBox 4">
            <a:extLst>
              <a:ext uri="{FF2B5EF4-FFF2-40B4-BE49-F238E27FC236}">
                <a16:creationId xmlns:a16="http://schemas.microsoft.com/office/drawing/2014/main" id="{12E86B02-6211-451A-8B20-E85013FEF9CC}"/>
              </a:ext>
            </a:extLst>
          </p:cNvPr>
          <p:cNvSpPr txBox="1">
            <a:spLocks noChangeArrowheads="1"/>
          </p:cNvSpPr>
          <p:nvPr/>
        </p:nvSpPr>
        <p:spPr bwMode="auto">
          <a:xfrm>
            <a:off x="647700" y="2120372"/>
            <a:ext cx="169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t>Specifically:</a:t>
            </a:r>
          </a:p>
        </p:txBody>
      </p:sp>
      <p:sp>
        <p:nvSpPr>
          <p:cNvPr id="19" name="Rectangle 3">
            <a:extLst>
              <a:ext uri="{FF2B5EF4-FFF2-40B4-BE49-F238E27FC236}">
                <a16:creationId xmlns:a16="http://schemas.microsoft.com/office/drawing/2014/main" id="{407166D0-0D6F-1ED0-2281-2470E6AD571F}"/>
              </a:ext>
            </a:extLst>
          </p:cNvPr>
          <p:cNvSpPr txBox="1">
            <a:spLocks noChangeArrowheads="1"/>
          </p:cNvSpPr>
          <p:nvPr/>
        </p:nvSpPr>
        <p:spPr bwMode="auto">
          <a:xfrm>
            <a:off x="647700" y="562076"/>
            <a:ext cx="8496300" cy="1050823"/>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hangingPunct="1">
              <a:buFontTx/>
              <a:buNone/>
              <a:defRPr/>
            </a:pPr>
            <a:r>
              <a:rPr lang="en-US" altLang="en-US" sz="2000" kern="0" dirty="0">
                <a:cs typeface="Times New Roman" pitchFamily="18" charset="0"/>
              </a:rPr>
              <a:t>Suppose that an electromagnetic wave propagates in the z-direction. </a:t>
            </a:r>
          </a:p>
          <a:p>
            <a:pPr marL="0" indent="0" eaLnBrk="1" hangingPunct="1">
              <a:buFontTx/>
              <a:buNone/>
              <a:defRPr/>
            </a:pPr>
            <a:r>
              <a:rPr lang="en-US" altLang="en-US" sz="2000" kern="0" dirty="0">
                <a:cs typeface="Times New Roman" pitchFamily="18" charset="0"/>
              </a:rPr>
              <a:t>Then it’s of the form f(z-</a:t>
            </a:r>
            <a:r>
              <a:rPr lang="en-US" altLang="en-US" sz="2000" kern="0" dirty="0" err="1">
                <a:cs typeface="Times New Roman" pitchFamily="18" charset="0"/>
              </a:rPr>
              <a:t>vt</a:t>
            </a:r>
            <a:r>
              <a:rPr lang="en-US" altLang="en-US" sz="2000" kern="0" dirty="0">
                <a:cs typeface="Times New Roman" pitchFamily="18" charset="0"/>
              </a:rPr>
              <a:t>) and hence a function of z and t (and not x or y), so all </a:t>
            </a:r>
            <a:r>
              <a:rPr lang="en-US" altLang="en-US" sz="2000" i="1" kern="0" dirty="0">
                <a:latin typeface="Times New Roman" pitchFamily="18" charset="0"/>
                <a:cs typeface="Times New Roman" pitchFamily="18" charset="0"/>
              </a:rPr>
              <a:t>x</a:t>
            </a:r>
            <a:r>
              <a:rPr lang="en-US" altLang="en-US" sz="2000" kern="0" dirty="0">
                <a:cs typeface="Times New Roman" pitchFamily="18" charset="0"/>
              </a:rPr>
              <a:t>- and </a:t>
            </a:r>
            <a:r>
              <a:rPr lang="en-US" altLang="en-US" sz="2000" i="1" kern="0" dirty="0">
                <a:latin typeface="Times New Roman" pitchFamily="18" charset="0"/>
                <a:cs typeface="Times New Roman" pitchFamily="18" charset="0"/>
              </a:rPr>
              <a:t>y</a:t>
            </a:r>
            <a:r>
              <a:rPr lang="en-US" altLang="en-US" sz="2000" kern="0" dirty="0">
                <a:cs typeface="Times New Roman" pitchFamily="18" charset="0"/>
              </a:rPr>
              <a:t>-derivatives are zero.</a:t>
            </a:r>
          </a:p>
        </p:txBody>
      </p:sp>
      <p:pic>
        <p:nvPicPr>
          <p:cNvPr id="11" name="图片 10">
            <a:extLst>
              <a:ext uri="{FF2B5EF4-FFF2-40B4-BE49-F238E27FC236}">
                <a16:creationId xmlns:a16="http://schemas.microsoft.com/office/drawing/2014/main" id="{D4752213-C391-BAC0-F29F-0E378800F4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911" y="2929593"/>
            <a:ext cx="3688513" cy="3070819"/>
          </a:xfrm>
          <a:prstGeom prst="rect">
            <a:avLst/>
          </a:prstGeom>
        </p:spPr>
      </p:pic>
      <p:sp>
        <p:nvSpPr>
          <p:cNvPr id="13" name="TextBox 4">
            <a:extLst>
              <a:ext uri="{FF2B5EF4-FFF2-40B4-BE49-F238E27FC236}">
                <a16:creationId xmlns:a16="http://schemas.microsoft.com/office/drawing/2014/main" id="{2A935F8C-9E21-E606-64C5-36A0A49DADF4}"/>
              </a:ext>
            </a:extLst>
          </p:cNvPr>
          <p:cNvSpPr txBox="1">
            <a:spLocks noChangeArrowheads="1"/>
          </p:cNvSpPr>
          <p:nvPr/>
        </p:nvSpPr>
        <p:spPr bwMode="auto">
          <a:xfrm>
            <a:off x="4744578" y="3141443"/>
            <a:ext cx="392153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CN" sz="2000" dirty="0"/>
              <a:t>Why it is zero? </a:t>
            </a:r>
          </a:p>
          <a:p>
            <a:pPr eaLnBrk="1" hangingPunct="1">
              <a:spcBef>
                <a:spcPct val="0"/>
              </a:spcBef>
              <a:buFontTx/>
              <a:buNone/>
            </a:pPr>
            <a:r>
              <a:rPr lang="en-US" altLang="zh-CN" sz="2000" dirty="0"/>
              <a:t>E oscillates over time but the distribution of E along the x is uniform</a:t>
            </a:r>
          </a:p>
          <a:p>
            <a:pPr eaLnBrk="1" hangingPunct="1">
              <a:spcBef>
                <a:spcPct val="0"/>
              </a:spcBef>
              <a:buFontTx/>
              <a:buNone/>
            </a:pPr>
            <a:r>
              <a:rPr lang="zh-CN" altLang="en-US" sz="2000" dirty="0"/>
              <a:t>只是在时间上变换，空间上电场磁场是均匀分布的，所以偏导是</a:t>
            </a:r>
            <a:r>
              <a:rPr lang="en-US" altLang="zh-CN" sz="2000" dirty="0"/>
              <a:t>0</a:t>
            </a:r>
            <a:endParaRPr lang="en-US" altLang="en-US" sz="2000" dirty="0"/>
          </a:p>
        </p:txBody>
      </p:sp>
      <p:cxnSp>
        <p:nvCxnSpPr>
          <p:cNvPr id="15" name="直接箭头连接符 14">
            <a:extLst>
              <a:ext uri="{FF2B5EF4-FFF2-40B4-BE49-F238E27FC236}">
                <a16:creationId xmlns:a16="http://schemas.microsoft.com/office/drawing/2014/main" id="{EFBF1459-15B2-67AF-DEA8-D80ECC4012EA}"/>
              </a:ext>
            </a:extLst>
          </p:cNvPr>
          <p:cNvCxnSpPr>
            <a:cxnSpLocks/>
          </p:cNvCxnSpPr>
          <p:nvPr/>
        </p:nvCxnSpPr>
        <p:spPr>
          <a:xfrm flipH="1" flipV="1">
            <a:off x="4821382" y="2520422"/>
            <a:ext cx="407323" cy="5469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7550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0F7D-401B-F9EF-7AEA-BEB2F86D8EC8}"/>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8FB3FFF-51E5-E654-F67B-0BDFB5C3956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Why Light Waves are Transverse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Object 13">
                <a:extLst>
                  <a:ext uri="{FF2B5EF4-FFF2-40B4-BE49-F238E27FC236}">
                    <a16:creationId xmlns:a16="http://schemas.microsoft.com/office/drawing/2014/main" id="{3780A63D-0B44-2753-47AD-FDF4CA79B726}"/>
                  </a:ext>
                </a:extLst>
              </p:cNvPr>
              <p:cNvSpPr txBox="1"/>
              <p:nvPr/>
            </p:nvSpPr>
            <p:spPr bwMode="auto">
              <a:xfrm>
                <a:off x="2611438" y="1852939"/>
                <a:ext cx="2498724" cy="9652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400" i="1" smtClean="0">
                              <a:solidFill>
                                <a:srgbClr val="C00000"/>
                              </a:solidFill>
                              <a:latin typeface="Cambria Math" panose="02040503050406030204" pitchFamily="18" charset="0"/>
                            </a:rPr>
                          </m:ctrlPr>
                        </m:fPr>
                        <m:num>
                          <m:r>
                            <a:rPr lang="zh-CN" altLang="en-US" sz="2400" i="1">
                              <a:solidFill>
                                <a:srgbClr val="C00000"/>
                              </a:solidFill>
                              <a:latin typeface="Cambria Math" panose="02040503050406030204" pitchFamily="18" charset="0"/>
                            </a:rPr>
                            <m:t>𝜕</m:t>
                          </m:r>
                          <m:sSub>
                            <m:sSubPr>
                              <m:ctrlPr>
                                <a:rPr lang="zh-CN" altLang="en-US" sz="2400" i="1">
                                  <a:solidFill>
                                    <a:srgbClr val="C00000"/>
                                  </a:solidFill>
                                  <a:latin typeface="Cambria Math" panose="02040503050406030204" pitchFamily="18" charset="0"/>
                                </a:rPr>
                              </m:ctrlPr>
                            </m:sSubPr>
                            <m:e>
                              <m:r>
                                <m:rPr>
                                  <m:sty m:val="p"/>
                                </m:rPr>
                                <a:rPr lang="zh-CN" altLang="en-US" sz="2400" i="1">
                                  <a:solidFill>
                                    <a:srgbClr val="C00000"/>
                                  </a:solidFill>
                                  <a:latin typeface="Cambria Math" panose="02040503050406030204" pitchFamily="18" charset="0"/>
                                </a:rPr>
                                <m:t>E</m:t>
                              </m:r>
                            </m:e>
                            <m:sub>
                              <m:r>
                                <a:rPr lang="zh-CN" altLang="en-US" sz="2400" i="1">
                                  <a:solidFill>
                                    <a:srgbClr val="C00000"/>
                                  </a:solidFill>
                                  <a:latin typeface="Cambria Math" panose="02040503050406030204" pitchFamily="18" charset="0"/>
                                </a:rPr>
                                <m:t>𝑥</m:t>
                              </m:r>
                            </m:sub>
                          </m:sSub>
                        </m:num>
                        <m:den>
                          <m:r>
                            <a:rPr lang="zh-CN" altLang="en-US" sz="2400" i="1">
                              <a:solidFill>
                                <a:srgbClr val="C00000"/>
                              </a:solidFill>
                              <a:latin typeface="Cambria Math" panose="02040503050406030204" pitchFamily="18" charset="0"/>
                            </a:rPr>
                            <m:t>𝜕</m:t>
                          </m:r>
                          <m:r>
                            <a:rPr lang="zh-CN" altLang="en-US" sz="2400" i="1">
                              <a:solidFill>
                                <a:srgbClr val="C00000"/>
                              </a:solidFill>
                              <a:latin typeface="Cambria Math" panose="02040503050406030204" pitchFamily="18" charset="0"/>
                            </a:rPr>
                            <m:t>𝑥</m:t>
                          </m:r>
                        </m:den>
                      </m:f>
                      <m:r>
                        <a:rPr lang="zh-CN" altLang="en-US" sz="2400" i="1">
                          <a:solidFill>
                            <a:srgbClr val="C00000"/>
                          </a:solidFill>
                          <a:latin typeface="Cambria Math" panose="02040503050406030204" pitchFamily="18" charset="0"/>
                        </a:rPr>
                        <m:t>=</m:t>
                      </m:r>
                      <m:f>
                        <m:fPr>
                          <m:ctrlPr>
                            <a:rPr lang="zh-CN" altLang="en-US" sz="2400" i="1">
                              <a:solidFill>
                                <a:srgbClr val="C00000"/>
                              </a:solidFill>
                              <a:latin typeface="Cambria Math" panose="02040503050406030204" pitchFamily="18" charset="0"/>
                            </a:rPr>
                          </m:ctrlPr>
                        </m:fPr>
                        <m:num>
                          <m:r>
                            <a:rPr lang="zh-CN" altLang="en-US" sz="2400" i="1">
                              <a:solidFill>
                                <a:srgbClr val="C00000"/>
                              </a:solidFill>
                              <a:latin typeface="Cambria Math" panose="02040503050406030204" pitchFamily="18" charset="0"/>
                            </a:rPr>
                            <m:t>𝜕</m:t>
                          </m:r>
                          <m:sSub>
                            <m:sSubPr>
                              <m:ctrlPr>
                                <a:rPr lang="zh-CN" altLang="en-US" sz="2400" i="1">
                                  <a:solidFill>
                                    <a:srgbClr val="C00000"/>
                                  </a:solidFill>
                                  <a:latin typeface="Cambria Math" panose="02040503050406030204" pitchFamily="18" charset="0"/>
                                </a:rPr>
                              </m:ctrlPr>
                            </m:sSubPr>
                            <m:e>
                              <m:r>
                                <m:rPr>
                                  <m:sty m:val="p"/>
                                </m:rPr>
                                <a:rPr lang="zh-CN" altLang="en-US" sz="2400" i="1">
                                  <a:solidFill>
                                    <a:srgbClr val="C00000"/>
                                  </a:solidFill>
                                  <a:latin typeface="Cambria Math" panose="02040503050406030204" pitchFamily="18" charset="0"/>
                                </a:rPr>
                                <m:t>E</m:t>
                              </m:r>
                            </m:e>
                            <m:sub>
                              <m:r>
                                <a:rPr lang="zh-CN" altLang="en-US" sz="2400" i="1">
                                  <a:solidFill>
                                    <a:srgbClr val="C00000"/>
                                  </a:solidFill>
                                  <a:latin typeface="Cambria Math" panose="02040503050406030204" pitchFamily="18" charset="0"/>
                                </a:rPr>
                                <m:t>𝑦</m:t>
                              </m:r>
                            </m:sub>
                          </m:sSub>
                        </m:num>
                        <m:den>
                          <m:r>
                            <a:rPr lang="zh-CN" altLang="en-US" sz="2400" i="1">
                              <a:solidFill>
                                <a:srgbClr val="C00000"/>
                              </a:solidFill>
                              <a:latin typeface="Cambria Math" panose="02040503050406030204" pitchFamily="18" charset="0"/>
                            </a:rPr>
                            <m:t>𝜕</m:t>
                          </m:r>
                          <m:r>
                            <a:rPr lang="zh-CN" altLang="en-US" sz="2400" i="1">
                              <a:solidFill>
                                <a:srgbClr val="C00000"/>
                              </a:solidFill>
                              <a:latin typeface="Cambria Math" panose="02040503050406030204" pitchFamily="18" charset="0"/>
                            </a:rPr>
                            <m:t>𝑦</m:t>
                          </m:r>
                        </m:den>
                      </m:f>
                      <m:r>
                        <a:rPr lang="zh-CN" altLang="en-US" sz="2400" i="1">
                          <a:solidFill>
                            <a:srgbClr val="C00000"/>
                          </a:solidFill>
                          <a:latin typeface="Cambria Math" panose="02040503050406030204" pitchFamily="18" charset="0"/>
                        </a:rPr>
                        <m:t> = 0</m:t>
                      </m:r>
                    </m:oMath>
                  </m:oMathPara>
                </a14:m>
                <a:endParaRPr lang="zh-CN" altLang="en-US" sz="2400" dirty="0"/>
              </a:p>
            </p:txBody>
          </p:sp>
        </mc:Choice>
        <mc:Fallback xmlns="">
          <p:sp>
            <p:nvSpPr>
              <p:cNvPr id="2" name="Object 13">
                <a:extLst>
                  <a:ext uri="{FF2B5EF4-FFF2-40B4-BE49-F238E27FC236}">
                    <a16:creationId xmlns:a16="http://schemas.microsoft.com/office/drawing/2014/main" id="{3780A63D-0B44-2753-47AD-FDF4CA79B726}"/>
                  </a:ext>
                </a:extLst>
              </p:cNvPr>
              <p:cNvSpPr txBox="1">
                <a:spLocks noRot="1" noChangeAspect="1" noMove="1" noResize="1" noEditPoints="1" noAdjustHandles="1" noChangeArrowheads="1" noChangeShapeType="1" noTextEdit="1"/>
              </p:cNvSpPr>
              <p:nvPr/>
            </p:nvSpPr>
            <p:spPr bwMode="auto">
              <a:xfrm>
                <a:off x="2611438" y="1852939"/>
                <a:ext cx="2498724" cy="965200"/>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Object 12">
                <a:extLst>
                  <a:ext uri="{FF2B5EF4-FFF2-40B4-BE49-F238E27FC236}">
                    <a16:creationId xmlns:a16="http://schemas.microsoft.com/office/drawing/2014/main" id="{45E23CBC-33F1-42E7-22D5-18B7B4322DCF}"/>
                  </a:ext>
                </a:extLst>
              </p:cNvPr>
              <p:cNvSpPr txBox="1"/>
              <p:nvPr/>
            </p:nvSpPr>
            <p:spPr bwMode="auto">
              <a:xfrm>
                <a:off x="4572000" y="2863383"/>
                <a:ext cx="3784209" cy="48022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m:t>
                          </m:r>
                        </m:e>
                      </m:acc>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E</m:t>
                          </m:r>
                        </m:e>
                      </m:acc>
                      <m:r>
                        <a:rPr lang="zh-CN" altLang="en-US" sz="2400" i="1">
                          <a:solidFill>
                            <a:srgbClr val="000000"/>
                          </a:solidFill>
                          <a:latin typeface="Cambria Math" panose="02040503050406030204" pitchFamily="18" charset="0"/>
                        </a:rPr>
                        <m:t> = 0    </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m:t>
                          </m:r>
                        </m:e>
                      </m:acc>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B</m:t>
                          </m:r>
                        </m:e>
                      </m:acc>
                      <m:r>
                        <a:rPr lang="zh-CN" altLang="en-US" sz="2400" i="1">
                          <a:solidFill>
                            <a:srgbClr val="000000"/>
                          </a:solidFill>
                          <a:latin typeface="Cambria Math" panose="02040503050406030204" pitchFamily="18" charset="0"/>
                        </a:rPr>
                        <m:t> = 0</m:t>
                      </m:r>
                    </m:oMath>
                  </m:oMathPara>
                </a14:m>
                <a:endParaRPr lang="zh-CN" altLang="en-US" dirty="0"/>
              </a:p>
            </p:txBody>
          </p:sp>
        </mc:Choice>
        <mc:Fallback xmlns="">
          <p:sp>
            <p:nvSpPr>
              <p:cNvPr id="3" name="Object 12">
                <a:extLst>
                  <a:ext uri="{FF2B5EF4-FFF2-40B4-BE49-F238E27FC236}">
                    <a16:creationId xmlns:a16="http://schemas.microsoft.com/office/drawing/2014/main" id="{45E23CBC-33F1-42E7-22D5-18B7B4322DCF}"/>
                  </a:ext>
                </a:extLst>
              </p:cNvPr>
              <p:cNvSpPr txBox="1">
                <a:spLocks noRot="1" noChangeAspect="1" noMove="1" noResize="1" noEditPoints="1" noAdjustHandles="1" noChangeArrowheads="1" noChangeShapeType="1" noTextEdit="1"/>
              </p:cNvSpPr>
              <p:nvPr/>
            </p:nvSpPr>
            <p:spPr bwMode="auto">
              <a:xfrm>
                <a:off x="4572000" y="2863383"/>
                <a:ext cx="3784209" cy="480220"/>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11">
                <a:extLst>
                  <a:ext uri="{FF2B5EF4-FFF2-40B4-BE49-F238E27FC236}">
                    <a16:creationId xmlns:a16="http://schemas.microsoft.com/office/drawing/2014/main" id="{2827BEFF-3B41-48C0-CE58-EC712173F56E}"/>
                  </a:ext>
                </a:extLst>
              </p:cNvPr>
              <p:cNvSpPr txBox="1"/>
              <p:nvPr/>
            </p:nvSpPr>
            <p:spPr bwMode="auto">
              <a:xfrm>
                <a:off x="1774825" y="3560357"/>
                <a:ext cx="6935788" cy="103028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E</m:t>
                              </m:r>
                            </m:e>
                            <m:sub>
                              <m:r>
                                <a:rPr lang="zh-CN" altLang="en-US" sz="2400" i="1">
                                  <a:solidFill>
                                    <a:srgbClr val="000000"/>
                                  </a:solidFill>
                                  <a:latin typeface="Cambria Math" panose="02040503050406030204" pitchFamily="18" charset="0"/>
                                </a:rPr>
                                <m:t>𝑥</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E</m:t>
                              </m:r>
                            </m:e>
                            <m:sub>
                              <m:r>
                                <a:rPr lang="zh-CN" altLang="en-US" sz="2400" i="1">
                                  <a:solidFill>
                                    <a:srgbClr val="000000"/>
                                  </a:solidFill>
                                  <a:latin typeface="Cambria Math" panose="02040503050406030204" pitchFamily="18" charset="0"/>
                                </a:rPr>
                                <m:t>𝑦</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E</m:t>
                              </m:r>
                            </m:e>
                            <m:sub>
                              <m:r>
                                <a:rPr lang="zh-CN" altLang="en-US" sz="2400" i="1">
                                  <a:solidFill>
                                    <a:srgbClr val="000000"/>
                                  </a:solidFill>
                                  <a:latin typeface="Cambria Math" panose="02040503050406030204" pitchFamily="18" charset="0"/>
                                </a:rPr>
                                <m:t>𝑧</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den>
                      </m:f>
                      <m:r>
                        <a:rPr lang="zh-CN" altLang="en-US" sz="2400" i="1">
                          <a:solidFill>
                            <a:srgbClr val="000000"/>
                          </a:solidFill>
                          <a:latin typeface="Cambria Math" panose="02040503050406030204" pitchFamily="18" charset="0"/>
                        </a:rPr>
                        <m:t> = 0  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𝑥</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𝑦</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𝑧</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den>
                      </m:f>
                      <m:r>
                        <a:rPr lang="zh-CN" altLang="en-US" sz="2400" i="1">
                          <a:solidFill>
                            <a:srgbClr val="000000"/>
                          </a:solidFill>
                          <a:latin typeface="Cambria Math" panose="02040503050406030204" pitchFamily="18" charset="0"/>
                        </a:rPr>
                        <m:t>  = 0</m:t>
                      </m:r>
                    </m:oMath>
                  </m:oMathPara>
                </a14:m>
                <a:endParaRPr lang="zh-CN" altLang="en-US" dirty="0"/>
              </a:p>
            </p:txBody>
          </p:sp>
        </mc:Choice>
        <mc:Fallback xmlns="">
          <p:sp>
            <p:nvSpPr>
              <p:cNvPr id="4" name="Object 11">
                <a:extLst>
                  <a:ext uri="{FF2B5EF4-FFF2-40B4-BE49-F238E27FC236}">
                    <a16:creationId xmlns:a16="http://schemas.microsoft.com/office/drawing/2014/main" id="{2827BEFF-3B41-48C0-CE58-EC712173F56E}"/>
                  </a:ext>
                </a:extLst>
              </p:cNvPr>
              <p:cNvSpPr txBox="1">
                <a:spLocks noRot="1" noChangeAspect="1" noMove="1" noResize="1" noEditPoints="1" noAdjustHandles="1" noChangeArrowheads="1" noChangeShapeType="1" noTextEdit="1"/>
              </p:cNvSpPr>
              <p:nvPr/>
            </p:nvSpPr>
            <p:spPr bwMode="auto">
              <a:xfrm>
                <a:off x="1774825" y="3560357"/>
                <a:ext cx="6935788" cy="1030287"/>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10">
                <a:extLst>
                  <a:ext uri="{FF2B5EF4-FFF2-40B4-BE49-F238E27FC236}">
                    <a16:creationId xmlns:a16="http://schemas.microsoft.com/office/drawing/2014/main" id="{F504BE57-9F2F-F890-C9E6-798ADA452404}"/>
                  </a:ext>
                </a:extLst>
              </p:cNvPr>
              <p:cNvSpPr txBox="1"/>
              <p:nvPr/>
            </p:nvSpPr>
            <p:spPr bwMode="auto">
              <a:xfrm>
                <a:off x="2800349" y="4808132"/>
                <a:ext cx="3924007" cy="105165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E</m:t>
                              </m:r>
                            </m:e>
                            <m:sub>
                              <m:r>
                                <a:rPr lang="zh-CN" altLang="en-US" sz="2400" i="1">
                                  <a:solidFill>
                                    <a:srgbClr val="000000"/>
                                  </a:solidFill>
                                  <a:latin typeface="Cambria Math" panose="02040503050406030204" pitchFamily="18" charset="0"/>
                                </a:rPr>
                                <m:t>𝑧</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den>
                      </m:f>
                      <m:r>
                        <a:rPr lang="zh-CN" altLang="en-US" sz="2400" i="1">
                          <a:solidFill>
                            <a:srgbClr val="000000"/>
                          </a:solidFill>
                          <a:latin typeface="Cambria Math" panose="02040503050406030204" pitchFamily="18" charset="0"/>
                        </a:rPr>
                        <m:t> = 0 </m:t>
                      </m:r>
                      <m:r>
                        <m:rPr>
                          <m:sty m:val="p"/>
                        </m:rPr>
                        <a:rPr lang="zh-CN" altLang="en-US" sz="2400" i="1">
                          <a:solidFill>
                            <a:srgbClr val="000000"/>
                          </a:solidFill>
                          <a:latin typeface="Cambria Math" panose="02040503050406030204" pitchFamily="18" charset="0"/>
                        </a:rPr>
                        <m:t>and</m:t>
                      </m:r>
                      <m:r>
                        <a:rPr lang="zh-CN" altLang="en-US" sz="2400" i="1">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𝑧</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den>
                      </m:f>
                      <m:r>
                        <a:rPr lang="zh-CN" altLang="en-US" sz="2400" i="1">
                          <a:solidFill>
                            <a:srgbClr val="000000"/>
                          </a:solidFill>
                          <a:latin typeface="Cambria Math" panose="02040503050406030204" pitchFamily="18" charset="0"/>
                        </a:rPr>
                        <m:t> = 0</m:t>
                      </m:r>
                    </m:oMath>
                  </m:oMathPara>
                </a14:m>
                <a:endParaRPr lang="zh-CN" altLang="en-US" dirty="0"/>
              </a:p>
            </p:txBody>
          </p:sp>
        </mc:Choice>
        <mc:Fallback xmlns="">
          <p:sp>
            <p:nvSpPr>
              <p:cNvPr id="5" name="Object 10">
                <a:extLst>
                  <a:ext uri="{FF2B5EF4-FFF2-40B4-BE49-F238E27FC236}">
                    <a16:creationId xmlns:a16="http://schemas.microsoft.com/office/drawing/2014/main" id="{F504BE57-9F2F-F890-C9E6-798ADA452404}"/>
                  </a:ext>
                </a:extLst>
              </p:cNvPr>
              <p:cNvSpPr txBox="1">
                <a:spLocks noRot="1" noChangeAspect="1" noMove="1" noResize="1" noEditPoints="1" noAdjustHandles="1" noChangeArrowheads="1" noChangeShapeType="1" noTextEdit="1"/>
              </p:cNvSpPr>
              <p:nvPr/>
            </p:nvSpPr>
            <p:spPr bwMode="auto">
              <a:xfrm>
                <a:off x="2800349" y="4808132"/>
                <a:ext cx="3924007" cy="1051658"/>
              </a:xfrm>
              <a:prstGeom prst="rect">
                <a:avLst/>
              </a:prstGeom>
              <a:blipFill>
                <a:blip r:embed="rId6"/>
                <a:stretch>
                  <a:fillRect/>
                </a:stretch>
              </a:blipFill>
              <a:ln>
                <a:noFill/>
              </a:ln>
            </p:spPr>
            <p:txBody>
              <a:bodyPr/>
              <a:lstStyle/>
              <a:p>
                <a:r>
                  <a:rPr lang="zh-CN" altLang="en-US">
                    <a:noFill/>
                  </a:rPr>
                  <a:t> </a:t>
                </a:r>
              </a:p>
            </p:txBody>
          </p:sp>
        </mc:Fallback>
      </mc:AlternateContent>
      <p:sp>
        <p:nvSpPr>
          <p:cNvPr id="6" name="Text Box 21">
            <a:extLst>
              <a:ext uri="{FF2B5EF4-FFF2-40B4-BE49-F238E27FC236}">
                <a16:creationId xmlns:a16="http://schemas.microsoft.com/office/drawing/2014/main" id="{DC4B6E92-98F1-D040-ED91-9A4369E712B4}"/>
              </a:ext>
            </a:extLst>
          </p:cNvPr>
          <p:cNvSpPr txBox="1">
            <a:spLocks noChangeArrowheads="1"/>
          </p:cNvSpPr>
          <p:nvPr/>
        </p:nvSpPr>
        <p:spPr bwMode="auto">
          <a:xfrm>
            <a:off x="647700" y="4953327"/>
            <a:ext cx="6651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dirty="0">
                <a:cs typeface="Times New Roman" panose="02020603050405020304" pitchFamily="18" charset="0"/>
              </a:rPr>
              <a:t>So:</a:t>
            </a:r>
          </a:p>
        </p:txBody>
      </p:sp>
      <p:sp>
        <p:nvSpPr>
          <p:cNvPr id="7" name="Text Box 22">
            <a:extLst>
              <a:ext uri="{FF2B5EF4-FFF2-40B4-BE49-F238E27FC236}">
                <a16:creationId xmlns:a16="http://schemas.microsoft.com/office/drawing/2014/main" id="{D7C8D5A8-24C4-ABA3-72B5-8397F906591D}"/>
              </a:ext>
            </a:extLst>
          </p:cNvPr>
          <p:cNvSpPr txBox="1">
            <a:spLocks noChangeArrowheads="1"/>
          </p:cNvSpPr>
          <p:nvPr/>
        </p:nvSpPr>
        <p:spPr bwMode="auto">
          <a:xfrm>
            <a:off x="647700" y="5859790"/>
            <a:ext cx="70580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dirty="0">
                <a:cs typeface="Times New Roman" panose="02020603050405020304" pitchFamily="18" charset="0"/>
              </a:rPr>
              <a:t>So the longitudinal fields are </a:t>
            </a:r>
            <a:r>
              <a:rPr lang="en-US" altLang="en-US" sz="2000" b="1" dirty="0">
                <a:solidFill>
                  <a:schemeClr val="accent2"/>
                </a:solidFill>
                <a:cs typeface="Times New Roman" panose="02020603050405020304" pitchFamily="18" charset="0"/>
              </a:rPr>
              <a:t>constant</a:t>
            </a:r>
            <a:r>
              <a:rPr lang="en-US" altLang="en-US" sz="2000" dirty="0">
                <a:cs typeface="Times New Roman" panose="02020603050405020304" pitchFamily="18" charset="0"/>
              </a:rPr>
              <a:t>—and so not waves.</a:t>
            </a:r>
          </a:p>
        </p:txBody>
      </p:sp>
      <mc:AlternateContent xmlns:mc="http://schemas.openxmlformats.org/markup-compatibility/2006" xmlns:a14="http://schemas.microsoft.com/office/drawing/2010/main">
        <mc:Choice Requires="a14">
          <p:sp>
            <p:nvSpPr>
              <p:cNvPr id="8" name="Object 1">
                <a:extLst>
                  <a:ext uri="{FF2B5EF4-FFF2-40B4-BE49-F238E27FC236}">
                    <a16:creationId xmlns:a16="http://schemas.microsoft.com/office/drawing/2014/main" id="{2B1E1855-B6ED-62DB-2339-21C897B00747}"/>
                  </a:ext>
                </a:extLst>
              </p:cNvPr>
              <p:cNvSpPr txBox="1"/>
              <p:nvPr/>
            </p:nvSpPr>
            <p:spPr bwMode="auto">
              <a:xfrm>
                <a:off x="5774201" y="1852939"/>
                <a:ext cx="2722099" cy="9652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𝑥</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𝑦</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den>
                      </m:f>
                      <m:r>
                        <a:rPr lang="zh-CN" altLang="en-US" sz="2400" i="1">
                          <a:solidFill>
                            <a:srgbClr val="000000"/>
                          </a:solidFill>
                          <a:latin typeface="Cambria Math" panose="02040503050406030204" pitchFamily="18" charset="0"/>
                        </a:rPr>
                        <m:t>  = 0</m:t>
                      </m:r>
                    </m:oMath>
                  </m:oMathPara>
                </a14:m>
                <a:endParaRPr lang="zh-CN" altLang="en-US" sz="1600" dirty="0"/>
              </a:p>
            </p:txBody>
          </p:sp>
        </mc:Choice>
        <mc:Fallback xmlns="">
          <p:sp>
            <p:nvSpPr>
              <p:cNvPr id="8" name="Object 1">
                <a:extLst>
                  <a:ext uri="{FF2B5EF4-FFF2-40B4-BE49-F238E27FC236}">
                    <a16:creationId xmlns:a16="http://schemas.microsoft.com/office/drawing/2014/main" id="{2B1E1855-B6ED-62DB-2339-21C897B00747}"/>
                  </a:ext>
                </a:extLst>
              </p:cNvPr>
              <p:cNvSpPr txBox="1">
                <a:spLocks noRot="1" noChangeAspect="1" noMove="1" noResize="1" noEditPoints="1" noAdjustHandles="1" noChangeArrowheads="1" noChangeShapeType="1" noTextEdit="1"/>
              </p:cNvSpPr>
              <p:nvPr/>
            </p:nvSpPr>
            <p:spPr bwMode="auto">
              <a:xfrm>
                <a:off x="5774201" y="1852939"/>
                <a:ext cx="2722099" cy="965200"/>
              </a:xfrm>
              <a:prstGeom prst="rect">
                <a:avLst/>
              </a:prstGeom>
              <a:blipFill>
                <a:blip r:embed="rId7"/>
                <a:stretch>
                  <a:fillRect/>
                </a:stretch>
              </a:blipFill>
              <a:ln>
                <a:noFill/>
              </a:ln>
            </p:spPr>
            <p:txBody>
              <a:bodyPr/>
              <a:lstStyle/>
              <a:p>
                <a:r>
                  <a:rPr lang="zh-CN" altLang="en-US">
                    <a:noFill/>
                  </a:rPr>
                  <a:t> </a:t>
                </a:r>
              </a:p>
            </p:txBody>
          </p:sp>
        </mc:Fallback>
      </mc:AlternateContent>
      <p:sp>
        <p:nvSpPr>
          <p:cNvPr id="9" name="Rectangle 2">
            <a:extLst>
              <a:ext uri="{FF2B5EF4-FFF2-40B4-BE49-F238E27FC236}">
                <a16:creationId xmlns:a16="http://schemas.microsoft.com/office/drawing/2014/main" id="{229C5AD1-C6B2-E32B-DD73-6863C6F4E7F3}"/>
              </a:ext>
            </a:extLst>
          </p:cNvPr>
          <p:cNvSpPr/>
          <p:nvPr/>
        </p:nvSpPr>
        <p:spPr>
          <a:xfrm>
            <a:off x="647700" y="3888115"/>
            <a:ext cx="938212" cy="400050"/>
          </a:xfrm>
          <a:prstGeom prst="rect">
            <a:avLst/>
          </a:prstGeom>
        </p:spPr>
        <p:txBody>
          <a:bodyPr wrap="none">
            <a:spAutoFit/>
          </a:bodyPr>
          <a:lstStyle/>
          <a:p>
            <a:pPr eaLnBrk="1" hangingPunct="1">
              <a:spcBef>
                <a:spcPct val="20000"/>
              </a:spcBef>
              <a:defRPr/>
            </a:pPr>
            <a:r>
              <a:rPr lang="en-US" altLang="en-US" sz="2000" kern="0" dirty="0">
                <a:solidFill>
                  <a:srgbClr val="000000"/>
                </a:solidFill>
                <a:latin typeface="Arial"/>
                <a:cs typeface="Times New Roman" pitchFamily="18" charset="0"/>
              </a:rPr>
              <a:t>that is:</a:t>
            </a:r>
            <a:endParaRPr lang="en-US" altLang="en-US" sz="2000" kern="0" dirty="0">
              <a:solidFill>
                <a:srgbClr val="000000"/>
              </a:solidFill>
              <a:latin typeface="Arial"/>
            </a:endParaRPr>
          </a:p>
        </p:txBody>
      </p:sp>
      <p:sp>
        <p:nvSpPr>
          <p:cNvPr id="12" name="Rectangle 3">
            <a:extLst>
              <a:ext uri="{FF2B5EF4-FFF2-40B4-BE49-F238E27FC236}">
                <a16:creationId xmlns:a16="http://schemas.microsoft.com/office/drawing/2014/main" id="{D9DC794D-CC36-D98B-33CA-44B3E12615AD}"/>
              </a:ext>
            </a:extLst>
          </p:cNvPr>
          <p:cNvSpPr/>
          <p:nvPr/>
        </p:nvSpPr>
        <p:spPr>
          <a:xfrm>
            <a:off x="647700" y="2911802"/>
            <a:ext cx="4462462" cy="400050"/>
          </a:xfrm>
          <a:prstGeom prst="rect">
            <a:avLst/>
          </a:prstGeom>
        </p:spPr>
        <p:txBody>
          <a:bodyPr wrap="none">
            <a:spAutoFit/>
          </a:bodyPr>
          <a:lstStyle/>
          <a:p>
            <a:pPr eaLnBrk="1" hangingPunct="1">
              <a:spcBef>
                <a:spcPct val="20000"/>
              </a:spcBef>
              <a:defRPr/>
            </a:pPr>
            <a:r>
              <a:rPr lang="en-US" altLang="en-US" sz="2000" kern="0" dirty="0">
                <a:solidFill>
                  <a:srgbClr val="000000"/>
                </a:solidFill>
                <a:latin typeface="Arial"/>
                <a:cs typeface="Times New Roman" pitchFamily="18" charset="0"/>
              </a:rPr>
              <a:t>Now, in a charge-free medium,           </a:t>
            </a:r>
            <a:endParaRPr lang="en-US" altLang="en-US" sz="2000" kern="0" dirty="0">
              <a:solidFill>
                <a:srgbClr val="000000"/>
              </a:solidFill>
              <a:latin typeface="Times New Roman" pitchFamily="18" charset="0"/>
              <a:cs typeface="Times New Roman" pitchFamily="18" charset="0"/>
            </a:endParaRPr>
          </a:p>
        </p:txBody>
      </p:sp>
      <p:sp>
        <p:nvSpPr>
          <p:cNvPr id="18" name="TextBox 4">
            <a:extLst>
              <a:ext uri="{FF2B5EF4-FFF2-40B4-BE49-F238E27FC236}">
                <a16:creationId xmlns:a16="http://schemas.microsoft.com/office/drawing/2014/main" id="{12E86B02-6211-451A-8B20-E85013FEF9CC}"/>
              </a:ext>
            </a:extLst>
          </p:cNvPr>
          <p:cNvSpPr txBox="1">
            <a:spLocks noChangeArrowheads="1"/>
          </p:cNvSpPr>
          <p:nvPr/>
        </p:nvSpPr>
        <p:spPr bwMode="auto">
          <a:xfrm>
            <a:off x="647700" y="2120372"/>
            <a:ext cx="169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t>Specifically:</a:t>
            </a:r>
          </a:p>
        </p:txBody>
      </p:sp>
      <p:sp>
        <p:nvSpPr>
          <p:cNvPr id="19" name="Rectangle 3">
            <a:extLst>
              <a:ext uri="{FF2B5EF4-FFF2-40B4-BE49-F238E27FC236}">
                <a16:creationId xmlns:a16="http://schemas.microsoft.com/office/drawing/2014/main" id="{407166D0-0D6F-1ED0-2281-2470E6AD571F}"/>
              </a:ext>
            </a:extLst>
          </p:cNvPr>
          <p:cNvSpPr txBox="1">
            <a:spLocks noChangeArrowheads="1"/>
          </p:cNvSpPr>
          <p:nvPr/>
        </p:nvSpPr>
        <p:spPr bwMode="auto">
          <a:xfrm>
            <a:off x="647700" y="562076"/>
            <a:ext cx="8496300" cy="1050823"/>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hangingPunct="1">
              <a:buFontTx/>
              <a:buNone/>
              <a:defRPr/>
            </a:pPr>
            <a:r>
              <a:rPr lang="en-US" altLang="en-US" sz="2000" kern="0" dirty="0">
                <a:cs typeface="Times New Roman" pitchFamily="18" charset="0"/>
              </a:rPr>
              <a:t>Suppose that an electromagnetic wave propagates in the z-direction. </a:t>
            </a:r>
          </a:p>
          <a:p>
            <a:pPr marL="0" indent="0" eaLnBrk="1" hangingPunct="1">
              <a:buFontTx/>
              <a:buNone/>
              <a:defRPr/>
            </a:pPr>
            <a:r>
              <a:rPr lang="en-US" altLang="en-US" sz="2000" kern="0" dirty="0">
                <a:cs typeface="Times New Roman" pitchFamily="18" charset="0"/>
              </a:rPr>
              <a:t>Then it’s of the form f(z-</a:t>
            </a:r>
            <a:r>
              <a:rPr lang="en-US" altLang="en-US" sz="2000" kern="0" dirty="0" err="1">
                <a:cs typeface="Times New Roman" pitchFamily="18" charset="0"/>
              </a:rPr>
              <a:t>vt</a:t>
            </a:r>
            <a:r>
              <a:rPr lang="en-US" altLang="en-US" sz="2000" kern="0" dirty="0">
                <a:cs typeface="Times New Roman" pitchFamily="18" charset="0"/>
              </a:rPr>
              <a:t>) and hence a function of z and t (and not x or y), so all </a:t>
            </a:r>
            <a:r>
              <a:rPr lang="en-US" altLang="en-US" sz="2000" i="1" kern="0" dirty="0">
                <a:latin typeface="Times New Roman" pitchFamily="18" charset="0"/>
                <a:cs typeface="Times New Roman" pitchFamily="18" charset="0"/>
              </a:rPr>
              <a:t>x</a:t>
            </a:r>
            <a:r>
              <a:rPr lang="en-US" altLang="en-US" sz="2000" kern="0" dirty="0">
                <a:cs typeface="Times New Roman" pitchFamily="18" charset="0"/>
              </a:rPr>
              <a:t>- and </a:t>
            </a:r>
            <a:r>
              <a:rPr lang="en-US" altLang="en-US" sz="2000" i="1" kern="0" dirty="0">
                <a:latin typeface="Times New Roman" pitchFamily="18" charset="0"/>
                <a:cs typeface="Times New Roman" pitchFamily="18" charset="0"/>
              </a:rPr>
              <a:t>y</a:t>
            </a:r>
            <a:r>
              <a:rPr lang="en-US" altLang="en-US" sz="2000" kern="0" dirty="0">
                <a:cs typeface="Times New Roman" pitchFamily="18" charset="0"/>
              </a:rPr>
              <a:t>-derivatives are zero.</a:t>
            </a:r>
          </a:p>
        </p:txBody>
      </p:sp>
    </p:spTree>
    <p:extLst>
      <p:ext uri="{BB962C8B-B14F-4D97-AF65-F5344CB8AC3E}">
        <p14:creationId xmlns:p14="http://schemas.microsoft.com/office/powerpoint/2010/main" val="9166691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0F7D-401B-F9EF-7AEA-BEB2F86D8EC8}"/>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8FB3FFF-51E5-E654-F67B-0BDFB5C3956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The Magnetic-Field Direction in a Light Wave</a:t>
            </a:r>
          </a:p>
        </p:txBody>
      </p:sp>
      <mc:AlternateContent xmlns:mc="http://schemas.openxmlformats.org/markup-compatibility/2006" xmlns:a14="http://schemas.microsoft.com/office/drawing/2010/main">
        <mc:Choice Requires="a14">
          <p:sp>
            <p:nvSpPr>
              <p:cNvPr id="10" name="Object 6">
                <a:extLst>
                  <a:ext uri="{FF2B5EF4-FFF2-40B4-BE49-F238E27FC236}">
                    <a16:creationId xmlns:a16="http://schemas.microsoft.com/office/drawing/2014/main" id="{AAF83FEC-3A31-88D7-4F60-455E60BA740D}"/>
                  </a:ext>
                </a:extLst>
              </p:cNvPr>
              <p:cNvSpPr txBox="1"/>
              <p:nvPr/>
            </p:nvSpPr>
            <p:spPr bwMode="auto">
              <a:xfrm>
                <a:off x="1341653" y="4013823"/>
                <a:ext cx="2837543" cy="108311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B</m:t>
                              </m:r>
                            </m:e>
                          </m:acc>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den>
                      </m:f>
                      <m:r>
                        <a:rPr lang="zh-CN" altLang="en-US" sz="2400" i="1">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0,</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E</m:t>
                                  </m:r>
                                </m:e>
                                <m:sub>
                                  <m:r>
                                    <a:rPr lang="zh-CN" altLang="en-US" sz="2400" i="1">
                                      <a:solidFill>
                                        <a:srgbClr val="000000"/>
                                      </a:solidFill>
                                      <a:latin typeface="Cambria Math" panose="02040503050406030204" pitchFamily="18" charset="0"/>
                                    </a:rPr>
                                    <m:t>𝑥</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den>
                          </m:f>
                          <m:r>
                            <a:rPr lang="zh-CN" altLang="en-US" sz="2400" i="1">
                              <a:solidFill>
                                <a:srgbClr val="000000"/>
                              </a:solidFill>
                              <a:latin typeface="Cambria Math" panose="02040503050406030204" pitchFamily="18" charset="0"/>
                            </a:rPr>
                            <m:t>,0</m:t>
                          </m:r>
                        </m:e>
                      </m:d>
                    </m:oMath>
                  </m:oMathPara>
                </a14:m>
                <a:endParaRPr lang="zh-CN" altLang="en-US" sz="1400" dirty="0"/>
              </a:p>
            </p:txBody>
          </p:sp>
        </mc:Choice>
        <mc:Fallback xmlns="">
          <p:sp>
            <p:nvSpPr>
              <p:cNvPr id="10" name="Object 6">
                <a:extLst>
                  <a:ext uri="{FF2B5EF4-FFF2-40B4-BE49-F238E27FC236}">
                    <a16:creationId xmlns:a16="http://schemas.microsoft.com/office/drawing/2014/main" id="{AAF83FEC-3A31-88D7-4F60-455E60BA740D}"/>
                  </a:ext>
                </a:extLst>
              </p:cNvPr>
              <p:cNvSpPr txBox="1">
                <a:spLocks noRot="1" noChangeAspect="1" noMove="1" noResize="1" noEditPoints="1" noAdjustHandles="1" noChangeArrowheads="1" noChangeShapeType="1" noTextEdit="1"/>
              </p:cNvSpPr>
              <p:nvPr/>
            </p:nvSpPr>
            <p:spPr bwMode="auto">
              <a:xfrm>
                <a:off x="1341653" y="4013823"/>
                <a:ext cx="2837543" cy="1083117"/>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7">
                <a:extLst>
                  <a:ext uri="{FF2B5EF4-FFF2-40B4-BE49-F238E27FC236}">
                    <a16:creationId xmlns:a16="http://schemas.microsoft.com/office/drawing/2014/main" id="{6DAE699E-53B0-F399-1521-34475D4DEBF3}"/>
                  </a:ext>
                </a:extLst>
              </p:cNvPr>
              <p:cNvSpPr txBox="1"/>
              <p:nvPr/>
            </p:nvSpPr>
            <p:spPr bwMode="auto">
              <a:xfrm>
                <a:off x="1445759" y="5233278"/>
                <a:ext cx="2308679" cy="97296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B</m:t>
                              </m:r>
                            </m:e>
                            <m:sub>
                              <m:r>
                                <a:rPr lang="zh-CN" altLang="en-US" sz="2400" i="1">
                                  <a:solidFill>
                                    <a:srgbClr val="000000"/>
                                  </a:solidFill>
                                  <a:latin typeface="Cambria Math" panose="02040503050406030204" pitchFamily="18" charset="0"/>
                                </a:rPr>
                                <m:t>𝑦</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E</m:t>
                              </m:r>
                            </m:e>
                            <m:sub>
                              <m:r>
                                <a:rPr lang="zh-CN" altLang="en-US" sz="2400" i="1">
                                  <a:solidFill>
                                    <a:srgbClr val="000000"/>
                                  </a:solidFill>
                                  <a:latin typeface="Cambria Math" panose="02040503050406030204" pitchFamily="18" charset="0"/>
                                </a:rPr>
                                <m:t>𝑥</m:t>
                              </m:r>
                            </m:sub>
                          </m:sSub>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den>
                      </m:f>
                      <m:r>
                        <a:rPr lang="zh-CN" altLang="en-US" sz="2400" i="1">
                          <a:solidFill>
                            <a:srgbClr val="000000"/>
                          </a:solidFill>
                          <a:latin typeface="Cambria Math" panose="02040503050406030204" pitchFamily="18" charset="0"/>
                        </a:rPr>
                        <m:t>  </m:t>
                      </m:r>
                    </m:oMath>
                  </m:oMathPara>
                </a14:m>
                <a:endParaRPr lang="zh-CN" altLang="en-US" dirty="0"/>
              </a:p>
            </p:txBody>
          </p:sp>
        </mc:Choice>
        <mc:Fallback xmlns="">
          <p:sp>
            <p:nvSpPr>
              <p:cNvPr id="11" name="Object 7">
                <a:extLst>
                  <a:ext uri="{FF2B5EF4-FFF2-40B4-BE49-F238E27FC236}">
                    <a16:creationId xmlns:a16="http://schemas.microsoft.com/office/drawing/2014/main" id="{6DAE699E-53B0-F399-1521-34475D4DEBF3}"/>
                  </a:ext>
                </a:extLst>
              </p:cNvPr>
              <p:cNvSpPr txBox="1">
                <a:spLocks noRot="1" noChangeAspect="1" noMove="1" noResize="1" noEditPoints="1" noAdjustHandles="1" noChangeArrowheads="1" noChangeShapeType="1" noTextEdit="1"/>
              </p:cNvSpPr>
              <p:nvPr/>
            </p:nvSpPr>
            <p:spPr bwMode="auto">
              <a:xfrm>
                <a:off x="1445759" y="5233278"/>
                <a:ext cx="2308679" cy="972967"/>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8">
                <a:extLst>
                  <a:ext uri="{FF2B5EF4-FFF2-40B4-BE49-F238E27FC236}">
                    <a16:creationId xmlns:a16="http://schemas.microsoft.com/office/drawing/2014/main" id="{7FC3E9E6-CFE0-4EDF-E843-4B7B67BDB8E7}"/>
                  </a:ext>
                </a:extLst>
              </p:cNvPr>
              <p:cNvSpPr txBox="1"/>
              <p:nvPr/>
            </p:nvSpPr>
            <p:spPr bwMode="auto">
              <a:xfrm>
                <a:off x="1178719" y="3026602"/>
                <a:ext cx="7562055" cy="8905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B</m:t>
                              </m:r>
                            </m:e>
                          </m:acc>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den>
                      </m:f>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m:t>
                          </m:r>
                        </m:e>
                      </m:acc>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E</m:t>
                          </m:r>
                        </m:e>
                      </m:acc>
                      <m:r>
                        <a:rPr lang="zh-CN" altLang="en-US" sz="2400" i="1">
                          <a:solidFill>
                            <a:srgbClr val="000000"/>
                          </a:solidFill>
                          <a:latin typeface="Cambria Math" panose="02040503050406030204" pitchFamily="18" charset="0"/>
                        </a:rPr>
                        <m:t>  =</m:t>
                      </m:r>
                      <m:d>
                        <m:dPr>
                          <m:ctrlPr>
                            <a:rPr lang="zh-CN" altLang="en-US" sz="2400" i="1" smtClean="0">
                              <a:solidFill>
                                <a:schemeClr val="tx1"/>
                              </a:solidFill>
                              <a:latin typeface="Cambria Math" panose="02040503050406030204" pitchFamily="18" charset="0"/>
                            </a:rPr>
                          </m:ctrlPr>
                        </m:dPr>
                        <m:e>
                          <m:f>
                            <m:fPr>
                              <m:ctrlPr>
                                <a:rPr lang="zh-CN" altLang="en-US" sz="2400" i="1">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m:rPr>
                                      <m:sty m:val="p"/>
                                    </m:rPr>
                                    <a:rPr lang="zh-CN" altLang="en-US" sz="2400" i="1">
                                      <a:solidFill>
                                        <a:schemeClr val="tx1"/>
                                      </a:solidFill>
                                      <a:latin typeface="Cambria Math" panose="02040503050406030204" pitchFamily="18" charset="0"/>
                                    </a:rPr>
                                    <m:t>E</m:t>
                                  </m:r>
                                </m:e>
                                <m:sub>
                                  <m:r>
                                    <a:rPr lang="zh-CN" altLang="en-US" sz="2400" i="1">
                                      <a:solidFill>
                                        <a:schemeClr val="tx1"/>
                                      </a:solidFill>
                                      <a:latin typeface="Cambria Math" panose="02040503050406030204" pitchFamily="18" charset="0"/>
                                    </a:rPr>
                                    <m:t>𝑧</m:t>
                                  </m:r>
                                </m:sub>
                              </m:sSub>
                            </m:num>
                            <m:den>
                              <m:r>
                                <a:rPr lang="zh-CN" altLang="en-US" sz="2400" i="1">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𝑦</m:t>
                              </m:r>
                            </m:den>
                          </m:f>
                          <m:r>
                            <a:rPr lang="zh-CN" altLang="en-US" sz="2400" i="1">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m:rPr>
                                      <m:sty m:val="p"/>
                                    </m:rPr>
                                    <a:rPr lang="zh-CN" altLang="en-US" sz="2400" i="1">
                                      <a:solidFill>
                                        <a:schemeClr val="tx1"/>
                                      </a:solidFill>
                                      <a:latin typeface="Cambria Math" panose="02040503050406030204" pitchFamily="18" charset="0"/>
                                    </a:rPr>
                                    <m:t>E</m:t>
                                  </m:r>
                                </m:e>
                                <m:sub>
                                  <m:r>
                                    <a:rPr lang="zh-CN" altLang="en-US" sz="2400" i="1">
                                      <a:solidFill>
                                        <a:schemeClr val="tx1"/>
                                      </a:solidFill>
                                      <a:latin typeface="Cambria Math" panose="02040503050406030204" pitchFamily="18" charset="0"/>
                                    </a:rPr>
                                    <m:t>𝑦</m:t>
                                  </m:r>
                                </m:sub>
                              </m:sSub>
                            </m:num>
                            <m:den>
                              <m:r>
                                <a:rPr lang="zh-CN" altLang="en-US" sz="2400" i="1">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𝑧</m:t>
                              </m:r>
                            </m:den>
                          </m:f>
                          <m:r>
                            <a:rPr lang="zh-CN" altLang="en-US" sz="2400" i="1">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m:rPr>
                                      <m:sty m:val="p"/>
                                    </m:rPr>
                                    <a:rPr lang="zh-CN" altLang="en-US" sz="2400" i="1">
                                      <a:solidFill>
                                        <a:schemeClr val="tx1"/>
                                      </a:solidFill>
                                      <a:latin typeface="Cambria Math" panose="02040503050406030204" pitchFamily="18" charset="0"/>
                                    </a:rPr>
                                    <m:t>E</m:t>
                                  </m:r>
                                </m:e>
                                <m:sub>
                                  <m:r>
                                    <a:rPr lang="zh-CN" altLang="en-US" sz="2400" i="1">
                                      <a:solidFill>
                                        <a:schemeClr val="tx1"/>
                                      </a:solidFill>
                                      <a:latin typeface="Cambria Math" panose="02040503050406030204" pitchFamily="18" charset="0"/>
                                    </a:rPr>
                                    <m:t>𝑥</m:t>
                                  </m:r>
                                </m:sub>
                              </m:sSub>
                            </m:num>
                            <m:den>
                              <m:r>
                                <a:rPr lang="zh-CN" altLang="en-US" sz="2400" i="1">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𝑧</m:t>
                              </m:r>
                            </m:den>
                          </m:f>
                          <m:r>
                            <a:rPr lang="zh-CN" altLang="en-US" sz="2400" i="1">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m:rPr>
                                      <m:sty m:val="p"/>
                                    </m:rPr>
                                    <a:rPr lang="zh-CN" altLang="en-US" sz="2400" i="1">
                                      <a:solidFill>
                                        <a:schemeClr val="tx1"/>
                                      </a:solidFill>
                                      <a:latin typeface="Cambria Math" panose="02040503050406030204" pitchFamily="18" charset="0"/>
                                    </a:rPr>
                                    <m:t>E</m:t>
                                  </m:r>
                                </m:e>
                                <m:sub>
                                  <m:r>
                                    <a:rPr lang="zh-CN" altLang="en-US" sz="2400" i="1">
                                      <a:solidFill>
                                        <a:schemeClr val="tx1"/>
                                      </a:solidFill>
                                      <a:latin typeface="Cambria Math" panose="02040503050406030204" pitchFamily="18" charset="0"/>
                                    </a:rPr>
                                    <m:t>𝑧</m:t>
                                  </m:r>
                                </m:sub>
                              </m:sSub>
                            </m:num>
                            <m:den>
                              <m:r>
                                <a:rPr lang="zh-CN" altLang="en-US" sz="2400" i="1">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𝑥</m:t>
                              </m:r>
                            </m:den>
                          </m:f>
                          <m:r>
                            <a:rPr lang="zh-CN" altLang="en-US" sz="2400" i="1">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m:rPr>
                                      <m:sty m:val="p"/>
                                    </m:rPr>
                                    <a:rPr lang="zh-CN" altLang="en-US" sz="2400" i="1">
                                      <a:solidFill>
                                        <a:schemeClr val="tx1"/>
                                      </a:solidFill>
                                      <a:latin typeface="Cambria Math" panose="02040503050406030204" pitchFamily="18" charset="0"/>
                                    </a:rPr>
                                    <m:t>E</m:t>
                                  </m:r>
                                </m:e>
                                <m:sub>
                                  <m:r>
                                    <a:rPr lang="zh-CN" altLang="en-US" sz="2400" i="1">
                                      <a:solidFill>
                                        <a:schemeClr val="tx1"/>
                                      </a:solidFill>
                                      <a:latin typeface="Cambria Math" panose="02040503050406030204" pitchFamily="18" charset="0"/>
                                    </a:rPr>
                                    <m:t>𝑦</m:t>
                                  </m:r>
                                </m:sub>
                              </m:sSub>
                            </m:num>
                            <m:den>
                              <m:r>
                                <a:rPr lang="zh-CN" altLang="en-US" sz="2400" i="1">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𝑥</m:t>
                              </m:r>
                            </m:den>
                          </m:f>
                          <m:r>
                            <a:rPr lang="zh-CN" altLang="en-US" sz="2400" i="1">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m:rPr>
                                      <m:sty m:val="p"/>
                                    </m:rPr>
                                    <a:rPr lang="zh-CN" altLang="en-US" sz="2400" i="1">
                                      <a:solidFill>
                                        <a:schemeClr val="tx1"/>
                                      </a:solidFill>
                                      <a:latin typeface="Cambria Math" panose="02040503050406030204" pitchFamily="18" charset="0"/>
                                    </a:rPr>
                                    <m:t>E</m:t>
                                  </m:r>
                                </m:e>
                                <m:sub>
                                  <m:r>
                                    <a:rPr lang="zh-CN" altLang="en-US" sz="2400" i="1">
                                      <a:solidFill>
                                        <a:schemeClr val="tx1"/>
                                      </a:solidFill>
                                      <a:latin typeface="Cambria Math" panose="02040503050406030204" pitchFamily="18" charset="0"/>
                                    </a:rPr>
                                    <m:t>𝑥</m:t>
                                  </m:r>
                                </m:sub>
                              </m:sSub>
                            </m:num>
                            <m:den>
                              <m:r>
                                <a:rPr lang="zh-CN" altLang="en-US" sz="2400" i="1">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𝑦</m:t>
                              </m:r>
                            </m:den>
                          </m:f>
                        </m:e>
                      </m:d>
                    </m:oMath>
                  </m:oMathPara>
                </a14:m>
                <a:endParaRPr lang="zh-CN" altLang="en-US" sz="2000" dirty="0"/>
              </a:p>
            </p:txBody>
          </p:sp>
        </mc:Choice>
        <mc:Fallback xmlns="">
          <p:sp>
            <p:nvSpPr>
              <p:cNvPr id="13" name="Object 8">
                <a:extLst>
                  <a:ext uri="{FF2B5EF4-FFF2-40B4-BE49-F238E27FC236}">
                    <a16:creationId xmlns:a16="http://schemas.microsoft.com/office/drawing/2014/main" id="{7FC3E9E6-CFE0-4EDF-E843-4B7B67BDB8E7}"/>
                  </a:ext>
                </a:extLst>
              </p:cNvPr>
              <p:cNvSpPr txBox="1">
                <a:spLocks noRot="1" noChangeAspect="1" noMove="1" noResize="1" noEditPoints="1" noAdjustHandles="1" noChangeArrowheads="1" noChangeShapeType="1" noTextEdit="1"/>
              </p:cNvSpPr>
              <p:nvPr/>
            </p:nvSpPr>
            <p:spPr bwMode="auto">
              <a:xfrm>
                <a:off x="1178719" y="3026602"/>
                <a:ext cx="7562055" cy="890587"/>
              </a:xfrm>
              <a:prstGeom prst="rect">
                <a:avLst/>
              </a:prstGeom>
              <a:blipFill>
                <a:blip r:embed="rId5"/>
                <a:stretch>
                  <a:fillRect b="-3401"/>
                </a:stretch>
              </a:blipFill>
              <a:ln>
                <a:noFill/>
              </a:ln>
              <a:effectLst/>
            </p:spPr>
            <p:txBody>
              <a:bodyPr/>
              <a:lstStyle/>
              <a:p>
                <a:r>
                  <a:rPr lang="zh-CN" altLang="en-US">
                    <a:noFill/>
                  </a:rPr>
                  <a:t> </a:t>
                </a:r>
              </a:p>
            </p:txBody>
          </p:sp>
        </mc:Fallback>
      </mc:AlternateContent>
      <p:sp>
        <p:nvSpPr>
          <p:cNvPr id="14" name="Rectangle 2">
            <a:extLst>
              <a:ext uri="{FF2B5EF4-FFF2-40B4-BE49-F238E27FC236}">
                <a16:creationId xmlns:a16="http://schemas.microsoft.com/office/drawing/2014/main" id="{947A0163-DF12-A7C4-0ED0-15AAC6D2418E}"/>
              </a:ext>
            </a:extLst>
          </p:cNvPr>
          <p:cNvSpPr/>
          <p:nvPr/>
        </p:nvSpPr>
        <p:spPr>
          <a:xfrm>
            <a:off x="3728073" y="5204800"/>
            <a:ext cx="5012701" cy="1083117"/>
          </a:xfrm>
          <a:prstGeom prst="rect">
            <a:avLst/>
          </a:prstGeom>
        </p:spPr>
        <p:txBody>
          <a:bodyPr wrap="square">
            <a:spAutoFit/>
          </a:bodyPr>
          <a:lstStyle/>
          <a:p>
            <a:pPr eaLnBrk="1" hangingPunct="1">
              <a:lnSpc>
                <a:spcPct val="110000"/>
              </a:lnSpc>
              <a:spcBef>
                <a:spcPct val="20000"/>
              </a:spcBef>
              <a:defRPr/>
            </a:pPr>
            <a:r>
              <a:rPr lang="en-US" sz="2000" kern="0" dirty="0">
                <a:solidFill>
                  <a:srgbClr val="000000"/>
                </a:solidFill>
                <a:latin typeface="Arial"/>
                <a:cs typeface="Times New Roman" pitchFamily="18" charset="0"/>
              </a:rPr>
              <a:t>The magnetic field points in the </a:t>
            </a:r>
            <a:r>
              <a:rPr lang="en-US" sz="2000" i="1" kern="0" dirty="0">
                <a:solidFill>
                  <a:srgbClr val="000000"/>
                </a:solidFill>
                <a:latin typeface="Times New Roman" pitchFamily="18" charset="0"/>
                <a:cs typeface="Times New Roman" pitchFamily="18" charset="0"/>
              </a:rPr>
              <a:t>y</a:t>
            </a:r>
            <a:r>
              <a:rPr lang="en-US" sz="2000" kern="0" dirty="0">
                <a:solidFill>
                  <a:srgbClr val="000000"/>
                </a:solidFill>
                <a:latin typeface="Arial"/>
                <a:cs typeface="Times New Roman" pitchFamily="18" charset="0"/>
              </a:rPr>
              <a:t>-direction, perpendicular to the electric field (</a:t>
            </a:r>
            <a:r>
              <a:rPr lang="en-US" sz="2000" i="1" kern="0" dirty="0">
                <a:solidFill>
                  <a:srgbClr val="000000"/>
                </a:solidFill>
                <a:latin typeface="Times New Roman" pitchFamily="18" charset="0"/>
                <a:cs typeface="Times New Roman" pitchFamily="18" charset="0"/>
              </a:rPr>
              <a:t>x</a:t>
            </a:r>
            <a:r>
              <a:rPr lang="en-US" sz="2000" kern="0" dirty="0">
                <a:solidFill>
                  <a:srgbClr val="000000"/>
                </a:solidFill>
                <a:latin typeface="Arial"/>
                <a:cs typeface="Times New Roman" pitchFamily="18" charset="0"/>
              </a:rPr>
              <a:t>) and the direction of propagation (</a:t>
            </a:r>
            <a:r>
              <a:rPr lang="en-US" sz="2000" i="1" kern="0" dirty="0">
                <a:solidFill>
                  <a:srgbClr val="000000"/>
                </a:solidFill>
                <a:latin typeface="Times New Roman" pitchFamily="18" charset="0"/>
                <a:cs typeface="Times New Roman" pitchFamily="18" charset="0"/>
              </a:rPr>
              <a:t>z</a:t>
            </a:r>
            <a:r>
              <a:rPr lang="en-US" sz="2000" kern="0" dirty="0">
                <a:solidFill>
                  <a:srgbClr val="000000"/>
                </a:solidFill>
                <a:latin typeface="Arial"/>
                <a:cs typeface="Times New Roman" pitchFamily="18" charset="0"/>
              </a:rPr>
              <a:t>).</a:t>
            </a:r>
            <a:endParaRPr lang="en-US" sz="2000" kern="0" dirty="0">
              <a:solidFill>
                <a:srgbClr val="000000"/>
              </a:solidFill>
              <a:latin typeface="Arial"/>
            </a:endParaRPr>
          </a:p>
        </p:txBody>
      </p:sp>
      <p:sp>
        <p:nvSpPr>
          <p:cNvPr id="15" name="Rectangle 4">
            <a:extLst>
              <a:ext uri="{FF2B5EF4-FFF2-40B4-BE49-F238E27FC236}">
                <a16:creationId xmlns:a16="http://schemas.microsoft.com/office/drawing/2014/main" id="{9430A317-1272-7C19-9F05-CB52A16CF867}"/>
              </a:ext>
            </a:extLst>
          </p:cNvPr>
          <p:cNvSpPr/>
          <p:nvPr/>
        </p:nvSpPr>
        <p:spPr>
          <a:xfrm>
            <a:off x="600075" y="5476613"/>
            <a:ext cx="682625" cy="404813"/>
          </a:xfrm>
          <a:prstGeom prst="rect">
            <a:avLst/>
          </a:prstGeom>
        </p:spPr>
        <p:txBody>
          <a:bodyPr wrap="none">
            <a:spAutoFit/>
          </a:bodyPr>
          <a:lstStyle/>
          <a:p>
            <a:pPr eaLnBrk="1" hangingPunct="1">
              <a:lnSpc>
                <a:spcPct val="110000"/>
              </a:lnSpc>
              <a:spcBef>
                <a:spcPct val="20000"/>
              </a:spcBef>
              <a:defRPr/>
            </a:pPr>
            <a:r>
              <a:rPr lang="en-US" sz="2000" kern="0" dirty="0">
                <a:solidFill>
                  <a:srgbClr val="000000"/>
                </a:solidFill>
                <a:latin typeface="Arial"/>
                <a:cs typeface="Times New Roman" pitchFamily="18" charset="0"/>
              </a:rPr>
              <a:t>and:</a:t>
            </a:r>
          </a:p>
        </p:txBody>
      </p:sp>
      <p:sp>
        <p:nvSpPr>
          <p:cNvPr id="16" name="Rectangle 6">
            <a:extLst>
              <a:ext uri="{FF2B5EF4-FFF2-40B4-BE49-F238E27FC236}">
                <a16:creationId xmlns:a16="http://schemas.microsoft.com/office/drawing/2014/main" id="{541F54DE-07FC-3831-DC3E-3139F31AB413}"/>
              </a:ext>
            </a:extLst>
          </p:cNvPr>
          <p:cNvSpPr/>
          <p:nvPr/>
        </p:nvSpPr>
        <p:spPr>
          <a:xfrm>
            <a:off x="600075" y="4278906"/>
            <a:ext cx="639763" cy="431800"/>
          </a:xfrm>
          <a:prstGeom prst="rect">
            <a:avLst/>
          </a:prstGeom>
        </p:spPr>
        <p:txBody>
          <a:bodyPr wrap="none">
            <a:spAutoFit/>
          </a:bodyPr>
          <a:lstStyle/>
          <a:p>
            <a:pPr eaLnBrk="1" hangingPunct="1">
              <a:lnSpc>
                <a:spcPct val="110000"/>
              </a:lnSpc>
              <a:spcBef>
                <a:spcPct val="20000"/>
              </a:spcBef>
              <a:defRPr/>
            </a:pPr>
            <a:r>
              <a:rPr lang="en-US" sz="2000" kern="0" dirty="0">
                <a:solidFill>
                  <a:srgbClr val="000000"/>
                </a:solidFill>
                <a:latin typeface="Arial"/>
                <a:cs typeface="Times New Roman" pitchFamily="18" charset="0"/>
              </a:rPr>
              <a:t>So: </a:t>
            </a:r>
            <a:endParaRPr lang="en-US" sz="2000" kern="0" dirty="0">
              <a:solidFill>
                <a:srgbClr val="000000"/>
              </a:solidFill>
              <a:latin typeface="Times New Roman" pitchFamily="18" charset="0"/>
              <a:cs typeface="Times New Roman" pitchFamily="18" charset="0"/>
            </a:endParaRPr>
          </a:p>
        </p:txBody>
      </p:sp>
      <p:grpSp>
        <p:nvGrpSpPr>
          <p:cNvPr id="17" name="Group 7">
            <a:extLst>
              <a:ext uri="{FF2B5EF4-FFF2-40B4-BE49-F238E27FC236}">
                <a16:creationId xmlns:a16="http://schemas.microsoft.com/office/drawing/2014/main" id="{80BE6503-33BD-28F9-95D6-C810E4F0DD1D}"/>
              </a:ext>
            </a:extLst>
          </p:cNvPr>
          <p:cNvGrpSpPr>
            <a:grpSpLocks/>
          </p:cNvGrpSpPr>
          <p:nvPr/>
        </p:nvGrpSpPr>
        <p:grpSpPr bwMode="auto">
          <a:xfrm>
            <a:off x="4959746" y="4143027"/>
            <a:ext cx="3328533" cy="759419"/>
            <a:chOff x="4985609" y="3988794"/>
            <a:chExt cx="3251200" cy="759349"/>
          </a:xfrm>
        </p:grpSpPr>
        <p:sp>
          <p:nvSpPr>
            <p:cNvPr id="20" name="TextBox 1">
              <a:extLst>
                <a:ext uri="{FF2B5EF4-FFF2-40B4-BE49-F238E27FC236}">
                  <a16:creationId xmlns:a16="http://schemas.microsoft.com/office/drawing/2014/main" id="{3869296E-5EF0-4215-DAA5-76FD9F015D6D}"/>
                </a:ext>
              </a:extLst>
            </p:cNvPr>
            <p:cNvSpPr txBox="1">
              <a:spLocks noChangeArrowheads="1"/>
            </p:cNvSpPr>
            <p:nvPr/>
          </p:nvSpPr>
          <p:spPr bwMode="auto">
            <a:xfrm>
              <a:off x="4985609" y="4040257"/>
              <a:ext cx="3251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t>      and       are at most constants—not waves.</a:t>
              </a:r>
            </a:p>
          </p:txBody>
        </p:sp>
        <mc:AlternateContent xmlns:mc="http://schemas.openxmlformats.org/markup-compatibility/2006" xmlns:a14="http://schemas.microsoft.com/office/drawing/2010/main">
          <mc:Choice Requires="a14">
            <p:sp>
              <p:nvSpPr>
                <p:cNvPr id="21" name="Object 3">
                  <a:extLst>
                    <a:ext uri="{FF2B5EF4-FFF2-40B4-BE49-F238E27FC236}">
                      <a16:creationId xmlns:a16="http://schemas.microsoft.com/office/drawing/2014/main" id="{760A4A3F-45E7-3A01-79E7-7FF0D8AD0E0C}"/>
                    </a:ext>
                  </a:extLst>
                </p:cNvPr>
                <p:cNvSpPr txBox="1"/>
                <p:nvPr/>
              </p:nvSpPr>
              <p:spPr bwMode="auto">
                <a:xfrm>
                  <a:off x="5025925" y="3988794"/>
                  <a:ext cx="471388" cy="47144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B</m:t>
                            </m:r>
                          </m:e>
                          <m:sub>
                            <m:r>
                              <a:rPr lang="zh-CN" altLang="en-US" i="1">
                                <a:solidFill>
                                  <a:srgbClr val="000000"/>
                                </a:solidFill>
                                <a:latin typeface="Cambria Math" panose="02040503050406030204" pitchFamily="18" charset="0"/>
                              </a:rPr>
                              <m:t>𝑥</m:t>
                            </m:r>
                          </m:sub>
                        </m:sSub>
                      </m:oMath>
                    </m:oMathPara>
                  </a14:m>
                  <a:endParaRPr lang="zh-CN" altLang="en-US"/>
                </a:p>
              </p:txBody>
            </p:sp>
          </mc:Choice>
          <mc:Fallback xmlns="">
            <p:sp>
              <p:nvSpPr>
                <p:cNvPr id="21" name="Object 3">
                  <a:extLst>
                    <a:ext uri="{FF2B5EF4-FFF2-40B4-BE49-F238E27FC236}">
                      <a16:creationId xmlns:a16="http://schemas.microsoft.com/office/drawing/2014/main" id="{760A4A3F-45E7-3A01-79E7-7FF0D8AD0E0C}"/>
                    </a:ext>
                  </a:extLst>
                </p:cNvPr>
                <p:cNvSpPr txBox="1">
                  <a:spLocks noRot="1" noChangeAspect="1" noMove="1" noResize="1" noEditPoints="1" noAdjustHandles="1" noChangeArrowheads="1" noChangeShapeType="1" noTextEdit="1"/>
                </p:cNvSpPr>
                <p:nvPr/>
              </p:nvSpPr>
              <p:spPr bwMode="auto">
                <a:xfrm>
                  <a:off x="5025925" y="3988794"/>
                  <a:ext cx="471388" cy="471445"/>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5">
                  <a:extLst>
                    <a:ext uri="{FF2B5EF4-FFF2-40B4-BE49-F238E27FC236}">
                      <a16:creationId xmlns:a16="http://schemas.microsoft.com/office/drawing/2014/main" id="{83173FE8-5BB9-73CB-DB35-B62F1194F11E}"/>
                    </a:ext>
                  </a:extLst>
                </p:cNvPr>
                <p:cNvSpPr txBox="1"/>
                <p:nvPr/>
              </p:nvSpPr>
              <p:spPr bwMode="auto">
                <a:xfrm>
                  <a:off x="5943890" y="3998318"/>
                  <a:ext cx="471388" cy="47144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B</m:t>
                            </m:r>
                          </m:e>
                          <m:sub>
                            <m:r>
                              <a:rPr lang="zh-CN" altLang="en-US" i="1">
                                <a:solidFill>
                                  <a:srgbClr val="000000"/>
                                </a:solidFill>
                                <a:latin typeface="Cambria Math" panose="02040503050406030204" pitchFamily="18" charset="0"/>
                              </a:rPr>
                              <m:t>𝑧</m:t>
                            </m:r>
                          </m:sub>
                        </m:sSub>
                      </m:oMath>
                    </m:oMathPara>
                  </a14:m>
                  <a:endParaRPr lang="zh-CN" altLang="en-US" dirty="0"/>
                </a:p>
              </p:txBody>
            </p:sp>
          </mc:Choice>
          <mc:Fallback xmlns="">
            <p:sp>
              <p:nvSpPr>
                <p:cNvPr id="22" name="Object 5">
                  <a:extLst>
                    <a:ext uri="{FF2B5EF4-FFF2-40B4-BE49-F238E27FC236}">
                      <a16:creationId xmlns:a16="http://schemas.microsoft.com/office/drawing/2014/main" id="{83173FE8-5BB9-73CB-DB35-B62F1194F11E}"/>
                    </a:ext>
                  </a:extLst>
                </p:cNvPr>
                <p:cNvSpPr txBox="1">
                  <a:spLocks noRot="1" noChangeAspect="1" noMove="1" noResize="1" noEditPoints="1" noAdjustHandles="1" noChangeArrowheads="1" noChangeShapeType="1" noTextEdit="1"/>
                </p:cNvSpPr>
                <p:nvPr/>
              </p:nvSpPr>
              <p:spPr bwMode="auto">
                <a:xfrm>
                  <a:off x="5943890" y="3998318"/>
                  <a:ext cx="471388" cy="471445"/>
                </a:xfrm>
                <a:prstGeom prst="rect">
                  <a:avLst/>
                </a:prstGeom>
                <a:blipFill>
                  <a:blip r:embed="rId7"/>
                  <a:stretch>
                    <a:fillRect/>
                  </a:stretch>
                </a:blipFill>
                <a:ln>
                  <a:noFill/>
                </a:ln>
                <a:effectLst/>
              </p:spPr>
              <p:txBody>
                <a:bodyPr/>
                <a:lstStyle/>
                <a:p>
                  <a:r>
                    <a:rPr lang="zh-CN" altLang="en-US">
                      <a:noFill/>
                    </a:rPr>
                    <a:t> </a:t>
                  </a:r>
                </a:p>
              </p:txBody>
            </p:sp>
          </mc:Fallback>
        </mc:AlternateContent>
      </p:grpSp>
      <p:sp>
        <p:nvSpPr>
          <p:cNvPr id="23" name="Rectangle 3">
            <a:extLst>
              <a:ext uri="{FF2B5EF4-FFF2-40B4-BE49-F238E27FC236}">
                <a16:creationId xmlns:a16="http://schemas.microsoft.com/office/drawing/2014/main" id="{1DA43098-C879-BB7B-2A27-5E3E60628206}"/>
              </a:ext>
            </a:extLst>
          </p:cNvPr>
          <p:cNvSpPr/>
          <p:nvPr/>
        </p:nvSpPr>
        <p:spPr>
          <a:xfrm>
            <a:off x="600075" y="2662099"/>
            <a:ext cx="2993787" cy="406009"/>
          </a:xfrm>
          <a:prstGeom prst="rect">
            <a:avLst/>
          </a:prstGeom>
        </p:spPr>
        <p:txBody>
          <a:bodyPr wrap="square">
            <a:spAutoFit/>
          </a:bodyPr>
          <a:lstStyle/>
          <a:p>
            <a:pPr eaLnBrk="1" hangingPunct="1">
              <a:lnSpc>
                <a:spcPct val="110000"/>
              </a:lnSpc>
              <a:spcBef>
                <a:spcPct val="20000"/>
              </a:spcBef>
              <a:defRPr/>
            </a:pPr>
            <a:r>
              <a:rPr lang="en-US" sz="2000" kern="0" dirty="0">
                <a:solidFill>
                  <a:srgbClr val="000000"/>
                </a:solidFill>
                <a:latin typeface="Arial"/>
                <a:cs typeface="Times New Roman" pitchFamily="18" charset="0"/>
              </a:rPr>
              <a:t>Use Faraday’s Law:</a:t>
            </a:r>
            <a:endParaRPr lang="en-US" sz="2000" kern="0" dirty="0">
              <a:solidFill>
                <a:srgbClr val="000000"/>
              </a:solidFill>
              <a:latin typeface="Times New Roman" pitchFamily="18" charset="0"/>
              <a:cs typeface="Times New Roman" pitchFamily="18" charset="0"/>
            </a:endParaRPr>
          </a:p>
        </p:txBody>
      </p:sp>
      <p:sp>
        <p:nvSpPr>
          <p:cNvPr id="24" name="Rectangle 8">
            <a:extLst>
              <a:ext uri="{FF2B5EF4-FFF2-40B4-BE49-F238E27FC236}">
                <a16:creationId xmlns:a16="http://schemas.microsoft.com/office/drawing/2014/main" id="{056E85B1-EEEE-6134-BE02-2CB2ED05D4DD}"/>
              </a:ext>
            </a:extLst>
          </p:cNvPr>
          <p:cNvSpPr/>
          <p:nvPr/>
        </p:nvSpPr>
        <p:spPr>
          <a:xfrm>
            <a:off x="600075" y="2225202"/>
            <a:ext cx="5584825" cy="430213"/>
          </a:xfrm>
          <a:prstGeom prst="rect">
            <a:avLst/>
          </a:prstGeom>
        </p:spPr>
        <p:txBody>
          <a:bodyPr>
            <a:spAutoFit/>
          </a:bodyPr>
          <a:lstStyle/>
          <a:p>
            <a:pPr eaLnBrk="1" hangingPunct="1">
              <a:lnSpc>
                <a:spcPct val="110000"/>
              </a:lnSpc>
              <a:spcBef>
                <a:spcPct val="20000"/>
              </a:spcBef>
              <a:defRPr/>
            </a:pPr>
            <a:r>
              <a:rPr lang="en-US" sz="2000" kern="0" dirty="0">
                <a:solidFill>
                  <a:srgbClr val="000000"/>
                </a:solidFill>
                <a:latin typeface="Arial"/>
                <a:cs typeface="Times New Roman" pitchFamily="18" charset="0"/>
              </a:rPr>
              <a:t>What’s the direction of the magnetic field?</a:t>
            </a:r>
          </a:p>
        </p:txBody>
      </p:sp>
      <p:sp>
        <p:nvSpPr>
          <p:cNvPr id="25" name="Rectangle 9">
            <a:extLst>
              <a:ext uri="{FF2B5EF4-FFF2-40B4-BE49-F238E27FC236}">
                <a16:creationId xmlns:a16="http://schemas.microsoft.com/office/drawing/2014/main" id="{7338DC2F-AD6B-ED59-E639-F6917D26D1C5}"/>
              </a:ext>
            </a:extLst>
          </p:cNvPr>
          <p:cNvSpPr>
            <a:spLocks noChangeArrowheads="1"/>
          </p:cNvSpPr>
          <p:nvPr/>
        </p:nvSpPr>
        <p:spPr bwMode="auto">
          <a:xfrm>
            <a:off x="3006293" y="1651276"/>
            <a:ext cx="41649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dirty="0">
                <a:latin typeface="+mn-lt"/>
              </a:rPr>
              <a:t>E</a:t>
            </a:r>
            <a:r>
              <a:rPr lang="en-US" altLang="en-US" sz="2400" i="1" baseline="-25000" dirty="0">
                <a:latin typeface="+mn-lt"/>
              </a:rPr>
              <a:t>y </a:t>
            </a:r>
            <a:r>
              <a:rPr lang="en-US" altLang="en-US" sz="2400" i="1" dirty="0">
                <a:latin typeface="+mn-lt"/>
              </a:rPr>
              <a:t>= </a:t>
            </a:r>
            <a:r>
              <a:rPr lang="en-US" altLang="en-US" sz="2400" i="1" dirty="0" err="1">
                <a:latin typeface="+mn-lt"/>
              </a:rPr>
              <a:t>E</a:t>
            </a:r>
            <a:r>
              <a:rPr lang="en-US" altLang="en-US" sz="2400" i="1" baseline="-25000" dirty="0" err="1">
                <a:latin typeface="+mn-lt"/>
              </a:rPr>
              <a:t>z</a:t>
            </a:r>
            <a:r>
              <a:rPr lang="en-US" altLang="en-US" sz="2400" i="1" baseline="-25000" dirty="0">
                <a:latin typeface="+mn-lt"/>
              </a:rPr>
              <a:t> </a:t>
            </a:r>
            <a:r>
              <a:rPr lang="en-US" altLang="en-US" sz="2400" i="1" dirty="0">
                <a:latin typeface="+mn-lt"/>
              </a:rPr>
              <a:t>= </a:t>
            </a:r>
            <a:r>
              <a:rPr lang="en-US" altLang="en-US" sz="2400" dirty="0">
                <a:latin typeface="+mn-lt"/>
              </a:rPr>
              <a:t>0</a:t>
            </a:r>
            <a:r>
              <a:rPr lang="en-US" altLang="en-US" sz="2400" i="1" dirty="0">
                <a:latin typeface="+mn-lt"/>
              </a:rPr>
              <a:t>   </a:t>
            </a:r>
            <a:r>
              <a:rPr lang="en-US" altLang="en-US" sz="2400" dirty="0">
                <a:latin typeface="+mn-lt"/>
              </a:rPr>
              <a:t>and</a:t>
            </a:r>
            <a:r>
              <a:rPr lang="en-US" altLang="en-US" sz="2400" i="1" dirty="0">
                <a:latin typeface="+mn-lt"/>
              </a:rPr>
              <a:t>  E</a:t>
            </a:r>
            <a:r>
              <a:rPr lang="en-US" altLang="en-US" sz="2400" i="1" baseline="-25000" dirty="0">
                <a:latin typeface="+mn-lt"/>
              </a:rPr>
              <a:t>x  </a:t>
            </a:r>
            <a:r>
              <a:rPr lang="en-US" altLang="en-US" sz="2400" i="1" dirty="0">
                <a:latin typeface="+mn-lt"/>
              </a:rPr>
              <a:t>= E</a:t>
            </a:r>
            <a:r>
              <a:rPr lang="en-US" altLang="en-US" sz="2400" i="1" baseline="-25000" dirty="0">
                <a:latin typeface="+mn-lt"/>
              </a:rPr>
              <a:t>x</a:t>
            </a:r>
            <a:r>
              <a:rPr lang="en-US" altLang="en-US" sz="2400" dirty="0">
                <a:latin typeface="+mn-lt"/>
              </a:rPr>
              <a:t>(</a:t>
            </a:r>
            <a:r>
              <a:rPr lang="en-US" altLang="en-US" sz="2400" i="1" dirty="0" err="1">
                <a:latin typeface="+mn-lt"/>
              </a:rPr>
              <a:t>z,t</a:t>
            </a:r>
            <a:r>
              <a:rPr lang="en-US" altLang="en-US" sz="2400" dirty="0">
                <a:latin typeface="+mn-lt"/>
              </a:rPr>
              <a:t>)</a:t>
            </a:r>
            <a:r>
              <a:rPr lang="en-US" altLang="en-US" sz="2400" dirty="0">
                <a:latin typeface="+mn-lt"/>
                <a:cs typeface="Times New Roman" panose="02020603050405020304" pitchFamily="18" charset="0"/>
              </a:rPr>
              <a:t> </a:t>
            </a:r>
            <a:endParaRPr lang="en-US" altLang="en-US" sz="2400" dirty="0">
              <a:latin typeface="+mn-lt"/>
            </a:endParaRPr>
          </a:p>
        </p:txBody>
      </p:sp>
      <p:sp>
        <p:nvSpPr>
          <p:cNvPr id="27" name="Rectangle 3">
            <a:extLst>
              <a:ext uri="{FF2B5EF4-FFF2-40B4-BE49-F238E27FC236}">
                <a16:creationId xmlns:a16="http://schemas.microsoft.com/office/drawing/2014/main" id="{39FFE23B-1619-33E9-D701-8066C2589EDD}"/>
              </a:ext>
            </a:extLst>
          </p:cNvPr>
          <p:cNvSpPr txBox="1">
            <a:spLocks noChangeArrowheads="1"/>
          </p:cNvSpPr>
          <p:nvPr/>
        </p:nvSpPr>
        <p:spPr bwMode="auto">
          <a:xfrm>
            <a:off x="600075" y="1018073"/>
            <a:ext cx="8140700" cy="817562"/>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hangingPunct="1">
              <a:buFontTx/>
              <a:buNone/>
              <a:defRPr/>
            </a:pPr>
            <a:r>
              <a:rPr lang="en-US" altLang="en-US" sz="2000" kern="0" dirty="0">
                <a:cs typeface="Times New Roman" pitchFamily="18" charset="0"/>
              </a:rPr>
              <a:t>Suppose a wave propagates in the </a:t>
            </a:r>
            <a:r>
              <a:rPr lang="en-US" altLang="en-US" sz="2000" i="1" kern="0" dirty="0">
                <a:latin typeface="Times New Roman" pitchFamily="18" charset="0"/>
                <a:cs typeface="Times New Roman" pitchFamily="18" charset="0"/>
              </a:rPr>
              <a:t>z</a:t>
            </a:r>
            <a:r>
              <a:rPr lang="en-US" altLang="en-US" sz="2000" kern="0" dirty="0">
                <a:cs typeface="Times New Roman" pitchFamily="18" charset="0"/>
              </a:rPr>
              <a:t>-direction and has its electric field along the </a:t>
            </a:r>
            <a:r>
              <a:rPr lang="en-US" altLang="en-US" sz="2000" i="1" kern="0" dirty="0">
                <a:latin typeface="Times New Roman" pitchFamily="18" charset="0"/>
                <a:cs typeface="Times New Roman" pitchFamily="18" charset="0"/>
              </a:rPr>
              <a:t>x</a:t>
            </a:r>
            <a:r>
              <a:rPr lang="en-US" altLang="en-US" sz="2000" kern="0" dirty="0">
                <a:cs typeface="Times New Roman" pitchFamily="18" charset="0"/>
              </a:rPr>
              <a:t>-direction. </a:t>
            </a:r>
          </a:p>
        </p:txBody>
      </p:sp>
      <p:sp>
        <p:nvSpPr>
          <p:cNvPr id="2" name="箭头: 右 1">
            <a:extLst>
              <a:ext uri="{FF2B5EF4-FFF2-40B4-BE49-F238E27FC236}">
                <a16:creationId xmlns:a16="http://schemas.microsoft.com/office/drawing/2014/main" id="{5E37B06D-0F18-BB6B-B621-9883BED1E227}"/>
              </a:ext>
            </a:extLst>
          </p:cNvPr>
          <p:cNvSpPr/>
          <p:nvPr/>
        </p:nvSpPr>
        <p:spPr>
          <a:xfrm>
            <a:off x="2378039" y="1789392"/>
            <a:ext cx="382385" cy="2410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054828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0F7D-401B-F9EF-7AEA-BEB2F86D8EC8}"/>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8FB3FFF-51E5-E654-F67B-0BDFB5C3956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Why we ignore the magnetic field?</a:t>
            </a:r>
          </a:p>
        </p:txBody>
      </p:sp>
      <mc:AlternateContent xmlns:mc="http://schemas.openxmlformats.org/markup-compatibility/2006" xmlns:a14="http://schemas.microsoft.com/office/drawing/2010/main">
        <mc:Choice Requires="a14">
          <p:sp>
            <p:nvSpPr>
              <p:cNvPr id="3" name="Object 4">
                <a:extLst>
                  <a:ext uri="{FF2B5EF4-FFF2-40B4-BE49-F238E27FC236}">
                    <a16:creationId xmlns:a16="http://schemas.microsoft.com/office/drawing/2014/main" id="{8755730C-287C-D886-AEDC-635F9F1D78A1}"/>
                  </a:ext>
                </a:extLst>
              </p:cNvPr>
              <p:cNvSpPr txBox="1"/>
              <p:nvPr/>
            </p:nvSpPr>
            <p:spPr bwMode="auto">
              <a:xfrm>
                <a:off x="3033713" y="1492983"/>
                <a:ext cx="3046413" cy="5794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𝐹</m:t>
                          </m:r>
                        </m:e>
                      </m:acc>
                      <m:r>
                        <a:rPr lang="zh-CN" altLang="en-US" sz="2400" i="1">
                          <a:solidFill>
                            <a:srgbClr val="000000"/>
                          </a:solidFill>
                          <a:latin typeface="Cambria Math" panose="02040503050406030204" pitchFamily="18" charset="0"/>
                        </a:rPr>
                        <m:t>  =  </m:t>
                      </m:r>
                      <m:r>
                        <a:rPr lang="zh-CN" altLang="en-US" sz="2400" i="1">
                          <a:solidFill>
                            <a:srgbClr val="000000"/>
                          </a:solidFill>
                          <a:latin typeface="Cambria Math" panose="02040503050406030204" pitchFamily="18" charset="0"/>
                        </a:rPr>
                        <m:t>𝑞</m:t>
                      </m:r>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E</m:t>
                          </m:r>
                        </m:e>
                      </m:acc>
                      <m:r>
                        <a:rPr lang="zh-CN" altLang="en-US" sz="2400" i="1">
                          <a:solidFill>
                            <a:srgbClr val="000000"/>
                          </a:solidFill>
                          <a:latin typeface="Cambria Math" panose="02040503050406030204" pitchFamily="18" charset="0"/>
                        </a:rPr>
                        <m:t> + </m:t>
                      </m:r>
                      <m:r>
                        <a:rPr lang="zh-CN" altLang="en-US" sz="2400" i="1">
                          <a:solidFill>
                            <a:srgbClr val="000000"/>
                          </a:solidFill>
                          <a:latin typeface="Cambria Math" panose="02040503050406030204" pitchFamily="18" charset="0"/>
                        </a:rPr>
                        <m:t>𝑞</m:t>
                      </m:r>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v</m:t>
                          </m:r>
                        </m:e>
                      </m:acc>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m:rPr>
                              <m:sty m:val="p"/>
                            </m:rPr>
                            <a:rPr lang="zh-CN" altLang="en-US" sz="2400" i="1">
                              <a:solidFill>
                                <a:srgbClr val="000000"/>
                              </a:solidFill>
                              <a:latin typeface="Cambria Math" panose="02040503050406030204" pitchFamily="18" charset="0"/>
                            </a:rPr>
                            <m:t>B</m:t>
                          </m:r>
                        </m:e>
                      </m:acc>
                    </m:oMath>
                  </m:oMathPara>
                </a14:m>
                <a:endParaRPr lang="zh-CN" altLang="en-US" dirty="0"/>
              </a:p>
            </p:txBody>
          </p:sp>
        </mc:Choice>
        <mc:Fallback xmlns="">
          <p:sp>
            <p:nvSpPr>
              <p:cNvPr id="3" name="Object 4">
                <a:extLst>
                  <a:ext uri="{FF2B5EF4-FFF2-40B4-BE49-F238E27FC236}">
                    <a16:creationId xmlns:a16="http://schemas.microsoft.com/office/drawing/2014/main" id="{8755730C-287C-D886-AEDC-635F9F1D78A1}"/>
                  </a:ext>
                </a:extLst>
              </p:cNvPr>
              <p:cNvSpPr txBox="1">
                <a:spLocks noRot="1" noChangeAspect="1" noMove="1" noResize="1" noEditPoints="1" noAdjustHandles="1" noChangeArrowheads="1" noChangeShapeType="1" noTextEdit="1"/>
              </p:cNvSpPr>
              <p:nvPr/>
            </p:nvSpPr>
            <p:spPr bwMode="auto">
              <a:xfrm>
                <a:off x="3033713" y="1492983"/>
                <a:ext cx="3046413" cy="579437"/>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5">
                <a:extLst>
                  <a:ext uri="{FF2B5EF4-FFF2-40B4-BE49-F238E27FC236}">
                    <a16:creationId xmlns:a16="http://schemas.microsoft.com/office/drawing/2014/main" id="{F7C802EB-EA21-60C2-FF4F-86BC4E01C200}"/>
                  </a:ext>
                </a:extLst>
              </p:cNvPr>
              <p:cNvSpPr txBox="1"/>
              <p:nvPr/>
            </p:nvSpPr>
            <p:spPr bwMode="auto">
              <a:xfrm>
                <a:off x="5817999" y="2184278"/>
                <a:ext cx="2829532" cy="105410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𝐹</m:t>
                              </m:r>
                            </m:e>
                            <m:sub>
                              <m:r>
                                <a:rPr lang="zh-CN" altLang="en-US" sz="2400" i="1">
                                  <a:solidFill>
                                    <a:srgbClr val="000000"/>
                                  </a:solidFill>
                                  <a:latin typeface="Cambria Math" panose="02040503050406030204" pitchFamily="18" charset="0"/>
                                </a:rPr>
                                <m:t>𝑚𝑎𝑔𝑛𝑒𝑡𝑖𝑐</m:t>
                              </m:r>
                            </m:sub>
                          </m:sSub>
                        </m:num>
                        <m:den>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𝐹</m:t>
                              </m:r>
                            </m:e>
                            <m:sub>
                              <m:r>
                                <a:rPr lang="zh-CN" altLang="en-US" sz="2400" i="1">
                                  <a:solidFill>
                                    <a:srgbClr val="000000"/>
                                  </a:solidFill>
                                  <a:latin typeface="Cambria Math" panose="02040503050406030204" pitchFamily="18" charset="0"/>
                                </a:rPr>
                                <m:t>𝑒𝑙𝑒𝑐𝑡𝑟𝑖𝑐𝑎𝑙</m:t>
                              </m:r>
                            </m:sub>
                          </m:sSub>
                        </m:den>
                      </m:f>
                      <m:r>
                        <a:rPr lang="zh-CN" altLang="en-US" sz="2400" i="1">
                          <a:solidFill>
                            <a:srgbClr val="000000"/>
                          </a:solidFill>
                          <a:latin typeface="Cambria Math" panose="02040503050406030204" pitchFamily="18" charset="0"/>
                        </a:rPr>
                        <m:t>  ≤  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𝑞</m:t>
                          </m:r>
                          <m:r>
                            <m:rPr>
                              <m:sty m:val="p"/>
                            </m:rPr>
                            <a:rPr lang="zh-CN" altLang="en-US" sz="2400" i="1">
                              <a:solidFill>
                                <a:srgbClr val="000000"/>
                              </a:solidFill>
                              <a:latin typeface="Cambria Math" panose="02040503050406030204" pitchFamily="18" charset="0"/>
                            </a:rPr>
                            <m:t>vB</m:t>
                          </m:r>
                        </m:num>
                        <m:den>
                          <m:r>
                            <a:rPr lang="zh-CN" altLang="en-US" sz="2400" i="1">
                              <a:solidFill>
                                <a:srgbClr val="000000"/>
                              </a:solidFill>
                              <a:latin typeface="Cambria Math" panose="02040503050406030204" pitchFamily="18" charset="0"/>
                            </a:rPr>
                            <m:t>𝑞</m:t>
                          </m:r>
                          <m:r>
                            <m:rPr>
                              <m:sty m:val="p"/>
                            </m:rPr>
                            <a:rPr lang="zh-CN" altLang="en-US" sz="2400" i="1">
                              <a:solidFill>
                                <a:srgbClr val="000000"/>
                              </a:solidFill>
                              <a:latin typeface="Cambria Math" panose="02040503050406030204" pitchFamily="18" charset="0"/>
                            </a:rPr>
                            <m:t>E</m:t>
                          </m:r>
                        </m:den>
                      </m:f>
                      <m:r>
                        <a:rPr lang="zh-CN" altLang="en-US" sz="2400" i="1">
                          <a:solidFill>
                            <a:srgbClr val="000000"/>
                          </a:solidFill>
                          <a:latin typeface="Cambria Math" panose="02040503050406030204" pitchFamily="18" charset="0"/>
                        </a:rPr>
                        <m:t> </m:t>
                      </m:r>
                    </m:oMath>
                  </m:oMathPara>
                </a14:m>
                <a:endParaRPr lang="zh-CN" altLang="en-US" dirty="0"/>
              </a:p>
            </p:txBody>
          </p:sp>
        </mc:Choice>
        <mc:Fallback xmlns="">
          <p:sp>
            <p:nvSpPr>
              <p:cNvPr id="4" name="Object 5">
                <a:extLst>
                  <a:ext uri="{FF2B5EF4-FFF2-40B4-BE49-F238E27FC236}">
                    <a16:creationId xmlns:a16="http://schemas.microsoft.com/office/drawing/2014/main" id="{F7C802EB-EA21-60C2-FF4F-86BC4E01C200}"/>
                  </a:ext>
                </a:extLst>
              </p:cNvPr>
              <p:cNvSpPr txBox="1">
                <a:spLocks noRot="1" noChangeAspect="1" noMove="1" noResize="1" noEditPoints="1" noAdjustHandles="1" noChangeArrowheads="1" noChangeShapeType="1" noTextEdit="1"/>
              </p:cNvSpPr>
              <p:nvPr/>
            </p:nvSpPr>
            <p:spPr bwMode="auto">
              <a:xfrm>
                <a:off x="5817999" y="2184278"/>
                <a:ext cx="2829532" cy="1054104"/>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6">
                <a:extLst>
                  <a:ext uri="{FF2B5EF4-FFF2-40B4-BE49-F238E27FC236}">
                    <a16:creationId xmlns:a16="http://schemas.microsoft.com/office/drawing/2014/main" id="{EC810FCA-68A9-B3EF-317D-C4F58DCB32EB}"/>
                  </a:ext>
                </a:extLst>
              </p:cNvPr>
              <p:cNvSpPr txBox="1"/>
              <p:nvPr/>
            </p:nvSpPr>
            <p:spPr bwMode="auto">
              <a:xfrm>
                <a:off x="6184178" y="4676242"/>
                <a:ext cx="2528974" cy="1054104"/>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𝐹</m:t>
                              </m:r>
                            </m:e>
                            <m:sub>
                              <m:r>
                                <a:rPr lang="zh-CN" altLang="en-US" sz="2400" i="1">
                                  <a:solidFill>
                                    <a:srgbClr val="000000"/>
                                  </a:solidFill>
                                  <a:latin typeface="Cambria Math" panose="02040503050406030204" pitchFamily="18" charset="0"/>
                                </a:rPr>
                                <m:t>𝑚𝑎𝑔𝑛𝑒𝑡𝑖𝑐</m:t>
                              </m:r>
                            </m:sub>
                          </m:sSub>
                        </m:num>
                        <m:den>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𝐹</m:t>
                              </m:r>
                            </m:e>
                            <m:sub>
                              <m:r>
                                <a:rPr lang="zh-CN" altLang="en-US" sz="2400" i="1">
                                  <a:solidFill>
                                    <a:srgbClr val="000000"/>
                                  </a:solidFill>
                                  <a:latin typeface="Cambria Math" panose="02040503050406030204" pitchFamily="18" charset="0"/>
                                </a:rPr>
                                <m:t>𝑒𝑙𝑒𝑐𝑡𝑟𝑖𝑐𝑎𝑙</m:t>
                              </m:r>
                            </m:sub>
                          </m:sSub>
                        </m:den>
                      </m:f>
                      <m:r>
                        <a:rPr lang="zh-CN" altLang="en-US" sz="2400" i="1">
                          <a:solidFill>
                            <a:srgbClr val="000000"/>
                          </a:solidFill>
                          <a:latin typeface="Cambria Math" panose="02040503050406030204" pitchFamily="18" charset="0"/>
                        </a:rPr>
                        <m:t>  ≤  </m:t>
                      </m:r>
                      <m:f>
                        <m:fPr>
                          <m:ctrlPr>
                            <a:rPr lang="zh-CN" altLang="en-US" sz="2400" i="1">
                              <a:solidFill>
                                <a:srgbClr val="000000"/>
                              </a:solidFill>
                              <a:latin typeface="Cambria Math" panose="02040503050406030204" pitchFamily="18" charset="0"/>
                            </a:rPr>
                          </m:ctrlPr>
                        </m:fPr>
                        <m:num>
                          <m:r>
                            <m:rPr>
                              <m:sty m:val="p"/>
                            </m:rPr>
                            <a:rPr lang="zh-CN" altLang="en-US" sz="2400" i="1">
                              <a:solidFill>
                                <a:srgbClr val="000000"/>
                              </a:solidFill>
                              <a:latin typeface="Cambria Math" panose="02040503050406030204" pitchFamily="18" charset="0"/>
                            </a:rPr>
                            <m:t>v</m:t>
                          </m:r>
                        </m:num>
                        <m:den>
                          <m:r>
                            <a:rPr lang="zh-CN" altLang="en-US" sz="2400" i="1">
                              <a:solidFill>
                                <a:srgbClr val="000000"/>
                              </a:solidFill>
                              <a:latin typeface="Cambria Math" panose="02040503050406030204" pitchFamily="18" charset="0"/>
                            </a:rPr>
                            <m:t>𝑐</m:t>
                          </m:r>
                        </m:den>
                      </m:f>
                      <m:r>
                        <a:rPr lang="zh-CN" altLang="en-US" sz="2400" i="1">
                          <a:solidFill>
                            <a:srgbClr val="000000"/>
                          </a:solidFill>
                          <a:latin typeface="Cambria Math" panose="02040503050406030204" pitchFamily="18" charset="0"/>
                        </a:rPr>
                        <m:t> </m:t>
                      </m:r>
                    </m:oMath>
                  </m:oMathPara>
                </a14:m>
                <a:endParaRPr lang="zh-CN" altLang="en-US" sz="1400" dirty="0"/>
              </a:p>
            </p:txBody>
          </p:sp>
        </mc:Choice>
        <mc:Fallback xmlns="">
          <p:sp>
            <p:nvSpPr>
              <p:cNvPr id="5" name="Object 6">
                <a:extLst>
                  <a:ext uri="{FF2B5EF4-FFF2-40B4-BE49-F238E27FC236}">
                    <a16:creationId xmlns:a16="http://schemas.microsoft.com/office/drawing/2014/main" id="{EC810FCA-68A9-B3EF-317D-C4F58DCB32EB}"/>
                  </a:ext>
                </a:extLst>
              </p:cNvPr>
              <p:cNvSpPr txBox="1">
                <a:spLocks noRot="1" noChangeAspect="1" noMove="1" noResize="1" noEditPoints="1" noAdjustHandles="1" noChangeArrowheads="1" noChangeShapeType="1" noTextEdit="1"/>
              </p:cNvSpPr>
              <p:nvPr/>
            </p:nvSpPr>
            <p:spPr bwMode="auto">
              <a:xfrm>
                <a:off x="6184178" y="4676242"/>
                <a:ext cx="2528974" cy="1054104"/>
              </a:xfrm>
              <a:prstGeom prst="rect">
                <a:avLst/>
              </a:prstGeom>
              <a:blipFill>
                <a:blip r:embed="rId6"/>
                <a:stretch>
                  <a:fillRect/>
                </a:stretch>
              </a:blipFill>
              <a:ln>
                <a:noFill/>
              </a:ln>
            </p:spPr>
            <p:txBody>
              <a:bodyPr/>
              <a:lstStyle/>
              <a:p>
                <a:r>
                  <a:rPr lang="zh-CN" altLang="en-US">
                    <a:noFill/>
                  </a:rPr>
                  <a:t> </a:t>
                </a:r>
              </a:p>
            </p:txBody>
          </p:sp>
        </mc:Fallback>
      </mc:AlternateContent>
      <p:sp>
        <p:nvSpPr>
          <p:cNvPr id="6" name="Text Box 8">
            <a:extLst>
              <a:ext uri="{FF2B5EF4-FFF2-40B4-BE49-F238E27FC236}">
                <a16:creationId xmlns:a16="http://schemas.microsoft.com/office/drawing/2014/main" id="{15A05843-5D0E-7259-6D31-549EABF9F892}"/>
              </a:ext>
            </a:extLst>
          </p:cNvPr>
          <p:cNvSpPr txBox="1">
            <a:spLocks noChangeArrowheads="1"/>
          </p:cNvSpPr>
          <p:nvPr/>
        </p:nvSpPr>
        <p:spPr bwMode="auto">
          <a:xfrm>
            <a:off x="614363" y="5654518"/>
            <a:ext cx="8197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t>So, as long as a charge’s velocity is much less than the speed of light, we can neglect the light’s magnetic force compared to its electric force.</a:t>
            </a:r>
          </a:p>
        </p:txBody>
      </p:sp>
      <p:sp>
        <p:nvSpPr>
          <p:cNvPr id="7" name="Line 11">
            <a:extLst>
              <a:ext uri="{FF2B5EF4-FFF2-40B4-BE49-F238E27FC236}">
                <a16:creationId xmlns:a16="http://schemas.microsoft.com/office/drawing/2014/main" id="{1B848C82-15DE-5E1C-16BB-2B0FC971E55D}"/>
              </a:ext>
            </a:extLst>
          </p:cNvPr>
          <p:cNvSpPr>
            <a:spLocks noChangeShapeType="1"/>
          </p:cNvSpPr>
          <p:nvPr/>
        </p:nvSpPr>
        <p:spPr bwMode="auto">
          <a:xfrm flipH="1">
            <a:off x="4406901" y="1205337"/>
            <a:ext cx="260350" cy="312738"/>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2">
            <a:extLst>
              <a:ext uri="{FF2B5EF4-FFF2-40B4-BE49-F238E27FC236}">
                <a16:creationId xmlns:a16="http://schemas.microsoft.com/office/drawing/2014/main" id="{7D2899B4-0A4B-65E8-3BEE-A4FF7EFBEA3A}"/>
              </a:ext>
            </a:extLst>
          </p:cNvPr>
          <p:cNvSpPr>
            <a:spLocks noChangeShapeType="1"/>
          </p:cNvSpPr>
          <p:nvPr/>
        </p:nvSpPr>
        <p:spPr bwMode="auto">
          <a:xfrm flipH="1">
            <a:off x="5499101" y="1205337"/>
            <a:ext cx="260350" cy="312738"/>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 name="Group 15">
            <a:extLst>
              <a:ext uri="{FF2B5EF4-FFF2-40B4-BE49-F238E27FC236}">
                <a16:creationId xmlns:a16="http://schemas.microsoft.com/office/drawing/2014/main" id="{E4665D6A-AE65-C011-DE07-421FF3FB6BE7}"/>
              </a:ext>
            </a:extLst>
          </p:cNvPr>
          <p:cNvGrpSpPr>
            <a:grpSpLocks/>
          </p:cNvGrpSpPr>
          <p:nvPr/>
        </p:nvGrpSpPr>
        <p:grpSpPr bwMode="auto">
          <a:xfrm>
            <a:off x="6708775" y="1127654"/>
            <a:ext cx="2103438" cy="701675"/>
            <a:chOff x="4254" y="1144"/>
            <a:chExt cx="1325" cy="442"/>
          </a:xfrm>
        </p:grpSpPr>
        <p:sp>
          <p:nvSpPr>
            <p:cNvPr id="12" name="Text Box 13">
              <a:extLst>
                <a:ext uri="{FF2B5EF4-FFF2-40B4-BE49-F238E27FC236}">
                  <a16:creationId xmlns:a16="http://schemas.microsoft.com/office/drawing/2014/main" id="{CDF0D33F-2167-0F41-757A-97EA1A76042A}"/>
                </a:ext>
              </a:extLst>
            </p:cNvPr>
            <p:cNvSpPr txBox="1">
              <a:spLocks noChangeArrowheads="1"/>
            </p:cNvSpPr>
            <p:nvPr/>
          </p:nvSpPr>
          <p:spPr bwMode="auto">
            <a:xfrm>
              <a:off x="4254" y="1144"/>
              <a:ext cx="132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dirty="0"/>
                <a:t>where     is the charge velocity</a:t>
              </a:r>
            </a:p>
          </p:txBody>
        </p:sp>
        <p:graphicFrame>
          <p:nvGraphicFramePr>
            <p:cNvPr id="18" name="Object 14">
              <a:extLst>
                <a:ext uri="{FF2B5EF4-FFF2-40B4-BE49-F238E27FC236}">
                  <a16:creationId xmlns:a16="http://schemas.microsoft.com/office/drawing/2014/main" id="{0C902255-5109-B0ED-4097-FBA0AA03C590}"/>
                </a:ext>
              </a:extLst>
            </p:cNvPr>
            <p:cNvGraphicFramePr>
              <a:graphicFrameLocks noChangeAspect="1"/>
            </p:cNvGraphicFramePr>
            <p:nvPr/>
          </p:nvGraphicFramePr>
          <p:xfrm>
            <a:off x="4776" y="1164"/>
            <a:ext cx="162" cy="227"/>
          </p:xfrm>
          <a:graphic>
            <a:graphicData uri="http://schemas.openxmlformats.org/presentationml/2006/ole">
              <mc:AlternateContent xmlns:mc="http://schemas.openxmlformats.org/markup-compatibility/2006">
                <mc:Choice xmlns:v="urn:schemas-microsoft-com:vml" Requires="v">
                  <p:oleObj name="Equation" r:id="rId7" imgW="126725" imgH="177415" progId="Equation.DSMT4">
                    <p:embed/>
                  </p:oleObj>
                </mc:Choice>
                <mc:Fallback>
                  <p:oleObj name="Equation" r:id="rId7" imgW="126725" imgH="177415" progId="Equation.DSMT4">
                    <p:embed/>
                    <p:pic>
                      <p:nvPicPr>
                        <p:cNvPr id="37904" name="Object 14">
                          <a:extLst>
                            <a:ext uri="{FF2B5EF4-FFF2-40B4-BE49-F238E27FC236}">
                              <a16:creationId xmlns:a16="http://schemas.microsoft.com/office/drawing/2014/main" id="{F2C9F394-0B55-4369-A052-3820FA023A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76" y="1164"/>
                          <a:ext cx="16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9" name="Object 16">
            <a:extLst>
              <a:ext uri="{FF2B5EF4-FFF2-40B4-BE49-F238E27FC236}">
                <a16:creationId xmlns:a16="http://schemas.microsoft.com/office/drawing/2014/main" id="{C1CFA2FC-50E7-9F47-8FF9-93571A3D98B3}"/>
              </a:ext>
            </a:extLst>
          </p:cNvPr>
          <p:cNvGraphicFramePr>
            <a:graphicFrameLocks noChangeAspect="1"/>
          </p:cNvGraphicFramePr>
          <p:nvPr>
            <p:extLst>
              <p:ext uri="{D42A27DB-BD31-4B8C-83A1-F6EECF244321}">
                <p14:modId xmlns:p14="http://schemas.microsoft.com/office/powerpoint/2010/main" val="2103226864"/>
              </p:ext>
            </p:extLst>
          </p:nvPr>
        </p:nvGraphicFramePr>
        <p:xfrm>
          <a:off x="4264026" y="697337"/>
          <a:ext cx="939800" cy="508000"/>
        </p:xfrm>
        <a:graphic>
          <a:graphicData uri="http://schemas.openxmlformats.org/presentationml/2006/ole">
            <mc:AlternateContent xmlns:mc="http://schemas.openxmlformats.org/markup-compatibility/2006">
              <mc:Choice xmlns:v="urn:schemas-microsoft-com:vml" Requires="v">
                <p:oleObj name="Equation" r:id="rId9" imgW="469696" imgH="253890" progId="Equation.DSMT4">
                  <p:embed/>
                </p:oleObj>
              </mc:Choice>
              <mc:Fallback>
                <p:oleObj name="Equation" r:id="rId9" imgW="469696" imgH="253890" progId="Equation.DSMT4">
                  <p:embed/>
                  <p:pic>
                    <p:nvPicPr>
                      <p:cNvPr id="37898" name="Object 16">
                        <a:extLst>
                          <a:ext uri="{FF2B5EF4-FFF2-40B4-BE49-F238E27FC236}">
                            <a16:creationId xmlns:a16="http://schemas.microsoft.com/office/drawing/2014/main" id="{B7F1A6CD-7477-4BE5-B535-8C4EC250B4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4026" y="697337"/>
                        <a:ext cx="9398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17">
            <a:extLst>
              <a:ext uri="{FF2B5EF4-FFF2-40B4-BE49-F238E27FC236}">
                <a16:creationId xmlns:a16="http://schemas.microsoft.com/office/drawing/2014/main" id="{66B654E9-4475-0ED2-BE34-FE5EC1C6F9EB}"/>
              </a:ext>
            </a:extLst>
          </p:cNvPr>
          <p:cNvGraphicFramePr>
            <a:graphicFrameLocks noChangeAspect="1"/>
          </p:cNvGraphicFramePr>
          <p:nvPr>
            <p:extLst>
              <p:ext uri="{D42A27DB-BD31-4B8C-83A1-F6EECF244321}">
                <p14:modId xmlns:p14="http://schemas.microsoft.com/office/powerpoint/2010/main" val="41633662"/>
              </p:ext>
            </p:extLst>
          </p:nvPr>
        </p:nvGraphicFramePr>
        <p:xfrm>
          <a:off x="5422901" y="671937"/>
          <a:ext cx="914400" cy="533400"/>
        </p:xfrm>
        <a:graphic>
          <a:graphicData uri="http://schemas.openxmlformats.org/presentationml/2006/ole">
            <mc:AlternateContent xmlns:mc="http://schemas.openxmlformats.org/markup-compatibility/2006">
              <mc:Choice xmlns:v="urn:schemas-microsoft-com:vml" Requires="v">
                <p:oleObj name="Equation" r:id="rId11" imgW="457002" imgH="266584" progId="Equation.DSMT4">
                  <p:embed/>
                </p:oleObj>
              </mc:Choice>
              <mc:Fallback>
                <p:oleObj name="Equation" r:id="rId11" imgW="457002" imgH="266584" progId="Equation.DSMT4">
                  <p:embed/>
                  <p:pic>
                    <p:nvPicPr>
                      <p:cNvPr id="37899" name="Object 17">
                        <a:extLst>
                          <a:ext uri="{FF2B5EF4-FFF2-40B4-BE49-F238E27FC236}">
                            <a16:creationId xmlns:a16="http://schemas.microsoft.com/office/drawing/2014/main" id="{60639981-3002-4186-BFED-2F26F554709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22901" y="671937"/>
                        <a:ext cx="914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8" name="Object 18">
                <a:extLst>
                  <a:ext uri="{FF2B5EF4-FFF2-40B4-BE49-F238E27FC236}">
                    <a16:creationId xmlns:a16="http://schemas.microsoft.com/office/drawing/2014/main" id="{7FF6EB31-54F5-1BDE-A038-C0BAD0173AA9}"/>
                  </a:ext>
                </a:extLst>
              </p:cNvPr>
              <p:cNvSpPr txBox="1"/>
              <p:nvPr/>
            </p:nvSpPr>
            <p:spPr bwMode="auto">
              <a:xfrm>
                <a:off x="418377" y="2028149"/>
                <a:ext cx="2934423" cy="9096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000" i="1">
                              <a:solidFill>
                                <a:srgbClr val="000000"/>
                              </a:solidFill>
                              <a:latin typeface="Cambria Math" panose="02040503050406030204" pitchFamily="18" charset="0"/>
                            </a:rPr>
                          </m:ctrlPr>
                        </m:dPr>
                        <m:e>
                          <m:acc>
                            <m:accPr>
                              <m:chr m:val="⃗"/>
                              <m:ctrlPr>
                                <a:rPr lang="zh-CN" altLang="en-US" sz="2000" i="1">
                                  <a:solidFill>
                                    <a:srgbClr val="000000"/>
                                  </a:solidFill>
                                  <a:latin typeface="Cambria Math" panose="02040503050406030204" pitchFamily="18" charset="0"/>
                                </a:rPr>
                              </m:ctrlPr>
                            </m:accPr>
                            <m:e>
                              <m:r>
                                <m:rPr>
                                  <m:sty m:val="p"/>
                                </m:rPr>
                                <a:rPr lang="zh-CN" altLang="en-US" sz="2000" i="1">
                                  <a:solidFill>
                                    <a:srgbClr val="000000"/>
                                  </a:solidFill>
                                  <a:latin typeface="Cambria Math" panose="02040503050406030204" pitchFamily="18" charset="0"/>
                                </a:rPr>
                                <m:t>v</m:t>
                              </m:r>
                            </m:e>
                          </m:acc>
                          <m:r>
                            <a:rPr lang="zh-CN" altLang="en-US" sz="2000" i="1">
                              <a:solidFill>
                                <a:srgbClr val="000000"/>
                              </a:solidFill>
                              <a:latin typeface="Cambria Math" panose="02040503050406030204" pitchFamily="18" charset="0"/>
                            </a:rPr>
                            <m:t>×</m:t>
                          </m:r>
                          <m:acc>
                            <m:accPr>
                              <m:chr m:val="⃗"/>
                              <m:ctrlPr>
                                <a:rPr lang="zh-CN" altLang="en-US" sz="2000" i="1">
                                  <a:solidFill>
                                    <a:srgbClr val="000000"/>
                                  </a:solidFill>
                                  <a:latin typeface="Cambria Math" panose="02040503050406030204" pitchFamily="18" charset="0"/>
                                </a:rPr>
                              </m:ctrlPr>
                            </m:accPr>
                            <m:e>
                              <m:r>
                                <m:rPr>
                                  <m:sty m:val="p"/>
                                </m:rPr>
                                <a:rPr lang="zh-CN" altLang="en-US" sz="2000" i="1">
                                  <a:solidFill>
                                    <a:srgbClr val="000000"/>
                                  </a:solidFill>
                                  <a:latin typeface="Cambria Math" panose="02040503050406030204" pitchFamily="18" charset="0"/>
                                </a:rPr>
                                <m:t>B</m:t>
                              </m:r>
                            </m:e>
                          </m:acc>
                        </m:e>
                      </m:d>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vB</m:t>
                      </m:r>
                      <m:d>
                        <m:dPr>
                          <m:begChr m:val="|"/>
                          <m:endChr m:val="|"/>
                          <m:ctrlPr>
                            <a:rPr lang="zh-CN" altLang="en-US" sz="2000" i="1">
                              <a:solidFill>
                                <a:srgbClr val="000000"/>
                              </a:solidFill>
                              <a:latin typeface="Cambria Math" panose="02040503050406030204" pitchFamily="18" charset="0"/>
                            </a:rPr>
                          </m:ctrlPr>
                        </m:dPr>
                        <m:e>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𝜃</m:t>
                              </m:r>
                            </m:e>
                          </m:func>
                        </m:e>
                      </m:d>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vB</m:t>
                      </m:r>
                    </m:oMath>
                  </m:oMathPara>
                </a14:m>
                <a:endParaRPr lang="zh-CN" altLang="en-US" sz="2000" dirty="0"/>
              </a:p>
            </p:txBody>
          </p:sp>
        </mc:Choice>
        <mc:Fallback xmlns="">
          <p:sp>
            <p:nvSpPr>
              <p:cNvPr id="28" name="Object 18">
                <a:extLst>
                  <a:ext uri="{FF2B5EF4-FFF2-40B4-BE49-F238E27FC236}">
                    <a16:creationId xmlns:a16="http://schemas.microsoft.com/office/drawing/2014/main" id="{7FF6EB31-54F5-1BDE-A038-C0BAD0173AA9}"/>
                  </a:ext>
                </a:extLst>
              </p:cNvPr>
              <p:cNvSpPr txBox="1">
                <a:spLocks noRot="1" noChangeAspect="1" noMove="1" noResize="1" noEditPoints="1" noAdjustHandles="1" noChangeArrowheads="1" noChangeShapeType="1" noTextEdit="1"/>
              </p:cNvSpPr>
              <p:nvPr/>
            </p:nvSpPr>
            <p:spPr bwMode="auto">
              <a:xfrm>
                <a:off x="418377" y="2028149"/>
                <a:ext cx="2934423" cy="909637"/>
              </a:xfrm>
              <a:prstGeom prst="rect">
                <a:avLst/>
              </a:prstGeom>
              <a:blipFill>
                <a:blip r:embed="rId1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Rectangle 2">
                <a:extLst>
                  <a:ext uri="{FF2B5EF4-FFF2-40B4-BE49-F238E27FC236}">
                    <a16:creationId xmlns:a16="http://schemas.microsoft.com/office/drawing/2014/main" id="{34D024C4-DF4D-00F9-02D2-C6A12F9326E7}"/>
                  </a:ext>
                </a:extLst>
              </p:cNvPr>
              <p:cNvSpPr/>
              <p:nvPr/>
            </p:nvSpPr>
            <p:spPr>
              <a:xfrm>
                <a:off x="1305272" y="4556067"/>
                <a:ext cx="3266728" cy="535596"/>
              </a:xfrm>
              <a:prstGeom prst="rect">
                <a:avLst/>
              </a:prstGeom>
            </p:spPr>
            <p:txBody>
              <a:bodyPr wrap="none">
                <a:spAutoFit/>
              </a:bodyPr>
              <a:lstStyle/>
              <a:p>
                <a:pPr eaLnBrk="1" hangingPunct="1">
                  <a:defRPr/>
                </a:pPr>
                <a:r>
                  <a:rPr lang="en-US" altLang="en-US" sz="2000" kern="0" dirty="0">
                    <a:solidFill>
                      <a:srgbClr val="000000"/>
                    </a:solidFill>
                    <a:latin typeface="Arial"/>
                    <a:cs typeface="Times New Roman" pitchFamily="18" charset="0"/>
                  </a:rPr>
                  <a:t>Since </a:t>
                </a:r>
                <a14:m>
                  <m:oMath xmlns:m="http://schemas.openxmlformats.org/officeDocument/2006/math">
                    <m:acc>
                      <m:accPr>
                        <m:chr m:val="⃗"/>
                        <m:ctrlPr>
                          <a:rPr lang="en-US" altLang="en-US" sz="2000" i="1" kern="0" smtClean="0">
                            <a:solidFill>
                              <a:srgbClr val="000000"/>
                            </a:solidFill>
                            <a:latin typeface="Cambria Math" panose="02040503050406030204" pitchFamily="18" charset="0"/>
                          </a:rPr>
                        </m:ctrlPr>
                      </m:accPr>
                      <m:e>
                        <m:r>
                          <a:rPr lang="en-US" altLang="en-US" sz="2000" i="1" kern="0" smtClean="0">
                            <a:solidFill>
                              <a:srgbClr val="000000"/>
                            </a:solidFill>
                            <a:latin typeface="Cambria Math" panose="02040503050406030204" pitchFamily="18" charset="0"/>
                          </a:rPr>
                          <m:t>𝐵</m:t>
                        </m:r>
                      </m:e>
                    </m:acc>
                    <m:r>
                      <a:rPr lang="en-US" altLang="en-US" sz="2000" i="0" kern="0" smtClean="0">
                        <a:solidFill>
                          <a:srgbClr val="000000"/>
                        </a:solidFill>
                        <a:latin typeface="Cambria Math" panose="02040503050406030204" pitchFamily="18" charset="0"/>
                      </a:rPr>
                      <m:t>=</m:t>
                    </m:r>
                    <m:f>
                      <m:fPr>
                        <m:ctrlPr>
                          <a:rPr lang="en-US" altLang="en-US" sz="2000" i="1" kern="0" smtClean="0">
                            <a:solidFill>
                              <a:srgbClr val="000000"/>
                            </a:solidFill>
                            <a:latin typeface="Cambria Math" panose="02040503050406030204" pitchFamily="18" charset="0"/>
                          </a:rPr>
                        </m:ctrlPr>
                      </m:fPr>
                      <m:num>
                        <m:r>
                          <a:rPr lang="en-US" altLang="en-US" sz="2000" i="1" kern="0" smtClean="0">
                            <a:solidFill>
                              <a:srgbClr val="000000"/>
                            </a:solidFill>
                            <a:latin typeface="Cambria Math" panose="02040503050406030204" pitchFamily="18" charset="0"/>
                          </a:rPr>
                          <m:t>𝑘</m:t>
                        </m:r>
                      </m:num>
                      <m:den>
                        <m:r>
                          <a:rPr lang="en-US" altLang="en-US" sz="2000" i="1" kern="0" smtClean="0">
                            <a:solidFill>
                              <a:srgbClr val="000000"/>
                            </a:solidFill>
                            <a:latin typeface="Cambria Math" panose="02040503050406030204" pitchFamily="18" charset="0"/>
                          </a:rPr>
                          <m:t>𝜔</m:t>
                        </m:r>
                      </m:den>
                    </m:f>
                    <m:r>
                      <a:rPr lang="en-US" altLang="en-US" sz="2000" i="0" kern="0" smtClean="0">
                        <a:solidFill>
                          <a:srgbClr val="000000"/>
                        </a:solidFill>
                        <a:latin typeface="Cambria Math" panose="02040503050406030204" pitchFamily="18" charset="0"/>
                      </a:rPr>
                      <m:t>×</m:t>
                    </m:r>
                    <m:acc>
                      <m:accPr>
                        <m:chr m:val="⃗"/>
                        <m:ctrlPr>
                          <a:rPr lang="en-US" altLang="en-US" sz="2000" i="1" kern="0" smtClean="0">
                            <a:solidFill>
                              <a:srgbClr val="000000"/>
                            </a:solidFill>
                            <a:latin typeface="Cambria Math" panose="02040503050406030204" pitchFamily="18" charset="0"/>
                          </a:rPr>
                        </m:ctrlPr>
                      </m:accPr>
                      <m:e>
                        <m:r>
                          <a:rPr lang="en-US" altLang="en-US" sz="2000" i="1" kern="0" smtClean="0">
                            <a:solidFill>
                              <a:srgbClr val="000000"/>
                            </a:solidFill>
                            <a:latin typeface="Cambria Math" panose="02040503050406030204" pitchFamily="18" charset="0"/>
                          </a:rPr>
                          <m:t>𝐸</m:t>
                        </m:r>
                      </m:e>
                    </m:acc>
                    <m:r>
                      <a:rPr lang="en-US" altLang="en-US" sz="2000" i="0" kern="0" smtClean="0">
                        <a:solidFill>
                          <a:srgbClr val="000000"/>
                        </a:solidFill>
                        <a:latin typeface="Cambria Math" panose="02040503050406030204" pitchFamily="18" charset="0"/>
                      </a:rPr>
                      <m:t>=</m:t>
                    </m:r>
                    <m:f>
                      <m:fPr>
                        <m:ctrlPr>
                          <a:rPr lang="en-US" altLang="en-US" sz="2000" i="1" kern="0" smtClean="0">
                            <a:solidFill>
                              <a:srgbClr val="000000"/>
                            </a:solidFill>
                            <a:latin typeface="Cambria Math" panose="02040503050406030204" pitchFamily="18" charset="0"/>
                          </a:rPr>
                        </m:ctrlPr>
                      </m:fPr>
                      <m:num>
                        <m:r>
                          <a:rPr lang="en-US" altLang="en-US" sz="2000" i="0" kern="0" smtClean="0">
                            <a:solidFill>
                              <a:srgbClr val="000000"/>
                            </a:solidFill>
                            <a:latin typeface="Cambria Math" panose="02040503050406030204" pitchFamily="18" charset="0"/>
                          </a:rPr>
                          <m:t>1</m:t>
                        </m:r>
                      </m:num>
                      <m:den>
                        <m:r>
                          <a:rPr lang="en-US" altLang="en-US" sz="2000" b="0" i="1" kern="0" smtClean="0">
                            <a:solidFill>
                              <a:srgbClr val="000000"/>
                            </a:solidFill>
                            <a:latin typeface="Cambria Math" panose="02040503050406030204" pitchFamily="18" charset="0"/>
                          </a:rPr>
                          <m:t>𝑐</m:t>
                        </m:r>
                      </m:den>
                    </m:f>
                    <m:r>
                      <a:rPr lang="en-US" altLang="en-US" sz="2000" i="1" kern="0" smtClean="0">
                        <a:solidFill>
                          <a:srgbClr val="000000"/>
                        </a:solidFill>
                        <a:latin typeface="Cambria Math" panose="02040503050406030204" pitchFamily="18" charset="0"/>
                      </a:rPr>
                      <m:t>𝑘</m:t>
                    </m:r>
                    <m:r>
                      <a:rPr lang="en-US" altLang="en-US" sz="2000" i="0" kern="0" smtClean="0">
                        <a:solidFill>
                          <a:srgbClr val="000000"/>
                        </a:solidFill>
                        <a:latin typeface="Cambria Math" panose="02040503050406030204" pitchFamily="18" charset="0"/>
                      </a:rPr>
                      <m:t>×</m:t>
                    </m:r>
                    <m:acc>
                      <m:accPr>
                        <m:chr m:val="⃗"/>
                        <m:ctrlPr>
                          <a:rPr lang="en-US" altLang="en-US" sz="2000" i="1" kern="0" smtClean="0">
                            <a:solidFill>
                              <a:srgbClr val="000000"/>
                            </a:solidFill>
                            <a:latin typeface="Cambria Math" panose="02040503050406030204" pitchFamily="18" charset="0"/>
                          </a:rPr>
                        </m:ctrlPr>
                      </m:accPr>
                      <m:e>
                        <m:r>
                          <a:rPr lang="en-US" altLang="en-US" sz="2000" i="1" kern="0" smtClean="0">
                            <a:solidFill>
                              <a:srgbClr val="000000"/>
                            </a:solidFill>
                            <a:latin typeface="Cambria Math" panose="02040503050406030204" pitchFamily="18" charset="0"/>
                          </a:rPr>
                          <m:t>𝐸</m:t>
                        </m:r>
                      </m:e>
                    </m:acc>
                  </m:oMath>
                </a14:m>
                <a:r>
                  <a:rPr lang="en-US" altLang="en-US" sz="2000" kern="0" dirty="0">
                    <a:solidFill>
                      <a:srgbClr val="000000"/>
                    </a:solidFill>
                    <a:latin typeface="Arial"/>
                    <a:cs typeface="Times New Roman" pitchFamily="18" charset="0"/>
                  </a:rPr>
                  <a:t>:</a:t>
                </a:r>
                <a:endParaRPr lang="en-US" dirty="0">
                  <a:latin typeface="Arial" charset="0"/>
                </a:endParaRPr>
              </a:p>
            </p:txBody>
          </p:sp>
        </mc:Choice>
        <mc:Fallback xmlns="">
          <p:sp>
            <p:nvSpPr>
              <p:cNvPr id="29" name="Rectangle 2">
                <a:extLst>
                  <a:ext uri="{FF2B5EF4-FFF2-40B4-BE49-F238E27FC236}">
                    <a16:creationId xmlns:a16="http://schemas.microsoft.com/office/drawing/2014/main" id="{34D024C4-DF4D-00F9-02D2-C6A12F9326E7}"/>
                  </a:ext>
                </a:extLst>
              </p:cNvPr>
              <p:cNvSpPr>
                <a:spLocks noRot="1" noChangeAspect="1" noMove="1" noResize="1" noEditPoints="1" noAdjustHandles="1" noChangeArrowheads="1" noChangeShapeType="1" noTextEdit="1"/>
              </p:cNvSpPr>
              <p:nvPr/>
            </p:nvSpPr>
            <p:spPr>
              <a:xfrm>
                <a:off x="1305272" y="4556067"/>
                <a:ext cx="3266728" cy="535596"/>
              </a:xfrm>
              <a:prstGeom prst="rect">
                <a:avLst/>
              </a:prstGeom>
              <a:blipFill>
                <a:blip r:embed="rId14"/>
                <a:stretch>
                  <a:fillRect l="-1866" b="-6818"/>
                </a:stretch>
              </a:blipFill>
            </p:spPr>
            <p:txBody>
              <a:bodyPr/>
              <a:lstStyle/>
              <a:p>
                <a:r>
                  <a:rPr lang="zh-CN" altLang="en-US">
                    <a:noFill/>
                  </a:rPr>
                  <a:t> </a:t>
                </a:r>
              </a:p>
            </p:txBody>
          </p:sp>
        </mc:Fallback>
      </mc:AlternateContent>
      <p:sp>
        <p:nvSpPr>
          <p:cNvPr id="30" name="Rectangle 3">
            <a:extLst>
              <a:ext uri="{FF2B5EF4-FFF2-40B4-BE49-F238E27FC236}">
                <a16:creationId xmlns:a16="http://schemas.microsoft.com/office/drawing/2014/main" id="{5C1C94B7-7171-FDE5-58E4-CD2956C8EDFD}"/>
              </a:ext>
            </a:extLst>
          </p:cNvPr>
          <p:cNvSpPr/>
          <p:nvPr/>
        </p:nvSpPr>
        <p:spPr>
          <a:xfrm>
            <a:off x="614363" y="738612"/>
            <a:ext cx="3430588" cy="430887"/>
          </a:xfrm>
          <a:prstGeom prst="rect">
            <a:avLst/>
          </a:prstGeom>
        </p:spPr>
        <p:txBody>
          <a:bodyPr wrap="square">
            <a:spAutoFit/>
          </a:bodyPr>
          <a:lstStyle/>
          <a:p>
            <a:pPr eaLnBrk="1" hangingPunct="1">
              <a:spcBef>
                <a:spcPct val="20000"/>
              </a:spcBef>
              <a:defRPr/>
            </a:pPr>
            <a:r>
              <a:rPr lang="en-US" altLang="en-US" sz="2000" kern="0" dirty="0">
                <a:solidFill>
                  <a:srgbClr val="000000"/>
                </a:solidFill>
                <a:latin typeface="Arial"/>
                <a:cs typeface="Times New Roman" pitchFamily="18" charset="0"/>
              </a:rPr>
              <a:t>The force on a charge, </a:t>
            </a:r>
            <a:r>
              <a:rPr lang="en-US" altLang="en-US" sz="2200" i="1" kern="0" dirty="0">
                <a:solidFill>
                  <a:srgbClr val="000000"/>
                </a:solidFill>
                <a:latin typeface="Times New Roman" pitchFamily="18" charset="0"/>
                <a:cs typeface="Times New Roman" pitchFamily="18" charset="0"/>
              </a:rPr>
              <a:t>q</a:t>
            </a:r>
            <a:r>
              <a:rPr lang="en-US" altLang="en-US" sz="2000" kern="0" dirty="0">
                <a:solidFill>
                  <a:srgbClr val="000000"/>
                </a:solidFill>
                <a:latin typeface="Arial"/>
                <a:cs typeface="Times New Roman" pitchFamily="18" charset="0"/>
              </a:rPr>
              <a:t>, is</a:t>
            </a:r>
            <a:endParaRPr lang="en-US" altLang="en-US" sz="2000" kern="0" dirty="0">
              <a:solidFill>
                <a:srgbClr val="000000"/>
              </a:solidFill>
              <a:latin typeface="Times New Roman" pitchFamily="18" charset="0"/>
              <a:cs typeface="Times New Roman" pitchFamily="18" charset="0"/>
            </a:endParaRPr>
          </a:p>
        </p:txBody>
      </p:sp>
      <p:sp>
        <p:nvSpPr>
          <p:cNvPr id="31" name="TextBox 17">
            <a:extLst>
              <a:ext uri="{FF2B5EF4-FFF2-40B4-BE49-F238E27FC236}">
                <a16:creationId xmlns:a16="http://schemas.microsoft.com/office/drawing/2014/main" id="{71B6CF13-EC95-E501-DDDC-16AE8DBAE7AF}"/>
              </a:ext>
            </a:extLst>
          </p:cNvPr>
          <p:cNvSpPr txBox="1"/>
          <p:nvPr/>
        </p:nvSpPr>
        <p:spPr bwMode="auto">
          <a:xfrm>
            <a:off x="3457690" y="2156553"/>
            <a:ext cx="24955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kern="0" dirty="0">
                <a:solidFill>
                  <a:srgbClr val="000000"/>
                </a:solidFill>
                <a:latin typeface="Arial"/>
                <a:cs typeface="Times New Roman" pitchFamily="18" charset="0"/>
              </a:rPr>
              <a:t>Taking the ratio of </a:t>
            </a:r>
            <a:br>
              <a:rPr lang="en-US" altLang="en-US" sz="2000" kern="0" dirty="0">
                <a:solidFill>
                  <a:srgbClr val="000000"/>
                </a:solidFill>
                <a:latin typeface="Arial"/>
                <a:cs typeface="Times New Roman" pitchFamily="18" charset="0"/>
              </a:rPr>
            </a:br>
            <a:r>
              <a:rPr lang="en-US" altLang="en-US" sz="2000" kern="0" dirty="0">
                <a:solidFill>
                  <a:srgbClr val="000000"/>
                </a:solidFill>
                <a:latin typeface="Arial"/>
                <a:cs typeface="Times New Roman" pitchFamily="18" charset="0"/>
              </a:rPr>
              <a:t>the magnitudes</a:t>
            </a:r>
            <a:br>
              <a:rPr lang="en-US" altLang="en-US" sz="2000" kern="0" dirty="0">
                <a:solidFill>
                  <a:srgbClr val="000000"/>
                </a:solidFill>
                <a:latin typeface="Arial"/>
                <a:cs typeface="Times New Roman" pitchFamily="18" charset="0"/>
              </a:rPr>
            </a:br>
            <a:r>
              <a:rPr lang="en-US" altLang="en-US" sz="2000" kern="0" dirty="0">
                <a:solidFill>
                  <a:srgbClr val="000000"/>
                </a:solidFill>
                <a:latin typeface="Arial"/>
                <a:cs typeface="Times New Roman" pitchFamily="18" charset="0"/>
              </a:rPr>
              <a:t>of the two forces:</a:t>
            </a:r>
            <a:endParaRPr lang="en-US" sz="2000" dirty="0"/>
          </a:p>
        </p:txBody>
      </p:sp>
      <p:grpSp>
        <p:nvGrpSpPr>
          <p:cNvPr id="32" name="Group 6">
            <a:extLst>
              <a:ext uri="{FF2B5EF4-FFF2-40B4-BE49-F238E27FC236}">
                <a16:creationId xmlns:a16="http://schemas.microsoft.com/office/drawing/2014/main" id="{B1AD9AAD-E8C4-CA15-F51C-85741C7816EF}"/>
              </a:ext>
            </a:extLst>
          </p:cNvPr>
          <p:cNvGrpSpPr/>
          <p:nvPr/>
        </p:nvGrpSpPr>
        <p:grpSpPr>
          <a:xfrm>
            <a:off x="765492" y="2543894"/>
            <a:ext cx="2439010" cy="646331"/>
            <a:chOff x="6277586" y="4261656"/>
            <a:chExt cx="2439010" cy="646331"/>
          </a:xfrm>
        </p:grpSpPr>
        <p:sp>
          <p:nvSpPr>
            <p:cNvPr id="34" name="TextBox 5">
              <a:extLst>
                <a:ext uri="{FF2B5EF4-FFF2-40B4-BE49-F238E27FC236}">
                  <a16:creationId xmlns:a16="http://schemas.microsoft.com/office/drawing/2014/main" id="{99967401-AB04-4251-8CAF-C8C88E7F6D64}"/>
                </a:ext>
              </a:extLst>
            </p:cNvPr>
            <p:cNvSpPr txBox="1"/>
            <p:nvPr/>
          </p:nvSpPr>
          <p:spPr bwMode="auto">
            <a:xfrm>
              <a:off x="6277586" y="4261656"/>
              <a:ext cx="24390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ts val="1000"/>
                </a:spcBef>
                <a:buFontTx/>
                <a:buNone/>
              </a:pPr>
              <a:r>
                <a:rPr lang="en-US" sz="1800" kern="0" dirty="0"/>
                <a:t>where </a:t>
              </a:r>
              <a:r>
                <a:rPr lang="en-US" sz="1800" i="1" kern="0" dirty="0">
                  <a:sym typeface="Symbol" panose="05050102010706020507" pitchFamily="18" charset="2"/>
                </a:rPr>
                <a:t></a:t>
              </a:r>
              <a:r>
                <a:rPr lang="en-US" sz="1800" kern="0" dirty="0">
                  <a:sym typeface="Symbol" panose="05050102010706020507" pitchFamily="18" charset="2"/>
                </a:rPr>
                <a:t> is the angle between    and     .</a:t>
              </a:r>
              <a:endParaRPr lang="en-US" sz="1800" kern="0" dirty="0"/>
            </a:p>
          </p:txBody>
        </p:sp>
        <mc:AlternateContent xmlns:mc="http://schemas.openxmlformats.org/markup-compatibility/2006" xmlns:a14="http://schemas.microsoft.com/office/drawing/2010/main">
          <mc:Choice Requires="a14">
            <p:sp>
              <p:nvSpPr>
                <p:cNvPr id="35" name="Object 18">
                  <a:extLst>
                    <a:ext uri="{FF2B5EF4-FFF2-40B4-BE49-F238E27FC236}">
                      <a16:creationId xmlns:a16="http://schemas.microsoft.com/office/drawing/2014/main" id="{656E5E07-C900-DC35-11FB-4C506A2B9C7B}"/>
                    </a:ext>
                  </a:extLst>
                </p:cNvPr>
                <p:cNvSpPr txBox="1"/>
                <p:nvPr/>
              </p:nvSpPr>
              <p:spPr bwMode="auto">
                <a:xfrm>
                  <a:off x="7873233" y="4511690"/>
                  <a:ext cx="360362" cy="3222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m:rPr>
                                <m:sty m:val="p"/>
                              </m:rPr>
                              <a:rPr lang="zh-CN" altLang="en-US" i="1">
                                <a:solidFill>
                                  <a:srgbClr val="000000"/>
                                </a:solidFill>
                                <a:latin typeface="Cambria Math" panose="02040503050406030204" pitchFamily="18" charset="0"/>
                              </a:rPr>
                              <m:t>B</m:t>
                            </m:r>
                          </m:e>
                        </m:acc>
                      </m:oMath>
                    </m:oMathPara>
                  </a14:m>
                  <a:endParaRPr lang="zh-CN" altLang="en-US" dirty="0"/>
                </a:p>
              </p:txBody>
            </p:sp>
          </mc:Choice>
          <mc:Fallback xmlns="">
            <p:sp>
              <p:nvSpPr>
                <p:cNvPr id="35" name="Object 18">
                  <a:extLst>
                    <a:ext uri="{FF2B5EF4-FFF2-40B4-BE49-F238E27FC236}">
                      <a16:creationId xmlns:a16="http://schemas.microsoft.com/office/drawing/2014/main" id="{656E5E07-C900-DC35-11FB-4C506A2B9C7B}"/>
                    </a:ext>
                  </a:extLst>
                </p:cNvPr>
                <p:cNvSpPr txBox="1">
                  <a:spLocks noRot="1" noChangeAspect="1" noMove="1" noResize="1" noEditPoints="1" noAdjustHandles="1" noChangeArrowheads="1" noChangeShapeType="1" noTextEdit="1"/>
                </p:cNvSpPr>
                <p:nvPr/>
              </p:nvSpPr>
              <p:spPr bwMode="auto">
                <a:xfrm>
                  <a:off x="7873233" y="4511690"/>
                  <a:ext cx="360362" cy="322263"/>
                </a:xfrm>
                <a:prstGeom prst="rect">
                  <a:avLst/>
                </a:prstGeom>
                <a:blipFill>
                  <a:blip r:embed="rId15"/>
                  <a:stretch>
                    <a:fillRect b="-1886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18">
                  <a:extLst>
                    <a:ext uri="{FF2B5EF4-FFF2-40B4-BE49-F238E27FC236}">
                      <a16:creationId xmlns:a16="http://schemas.microsoft.com/office/drawing/2014/main" id="{8F50EBD2-395F-E83D-F7B7-9F5C193F9339}"/>
                    </a:ext>
                  </a:extLst>
                </p:cNvPr>
                <p:cNvSpPr txBox="1"/>
                <p:nvPr/>
              </p:nvSpPr>
              <p:spPr bwMode="auto">
                <a:xfrm>
                  <a:off x="7180683" y="4542880"/>
                  <a:ext cx="209550" cy="2952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m:rPr>
                                <m:sty m:val="p"/>
                              </m:rPr>
                              <a:rPr lang="zh-CN" altLang="en-US" i="1">
                                <a:solidFill>
                                  <a:srgbClr val="000000"/>
                                </a:solidFill>
                                <a:latin typeface="Cambria Math" panose="02040503050406030204" pitchFamily="18" charset="0"/>
                              </a:rPr>
                              <m:t>v</m:t>
                            </m:r>
                          </m:e>
                        </m:acc>
                      </m:oMath>
                    </m:oMathPara>
                  </a14:m>
                  <a:endParaRPr lang="zh-CN" altLang="en-US" dirty="0"/>
                </a:p>
              </p:txBody>
            </p:sp>
          </mc:Choice>
          <mc:Fallback xmlns="">
            <p:sp>
              <p:nvSpPr>
                <p:cNvPr id="36" name="Object 18">
                  <a:extLst>
                    <a:ext uri="{FF2B5EF4-FFF2-40B4-BE49-F238E27FC236}">
                      <a16:creationId xmlns:a16="http://schemas.microsoft.com/office/drawing/2014/main" id="{8F50EBD2-395F-E83D-F7B7-9F5C193F9339}"/>
                    </a:ext>
                  </a:extLst>
                </p:cNvPr>
                <p:cNvSpPr txBox="1">
                  <a:spLocks noRot="1" noChangeAspect="1" noMove="1" noResize="1" noEditPoints="1" noAdjustHandles="1" noChangeArrowheads="1" noChangeShapeType="1" noTextEdit="1"/>
                </p:cNvSpPr>
                <p:nvPr/>
              </p:nvSpPr>
              <p:spPr bwMode="auto">
                <a:xfrm>
                  <a:off x="7180683" y="4542880"/>
                  <a:ext cx="209550" cy="295275"/>
                </a:xfrm>
                <a:prstGeom prst="rect">
                  <a:avLst/>
                </a:prstGeom>
                <a:blipFill>
                  <a:blip r:embed="rId16"/>
                  <a:stretch>
                    <a:fillRect r="-29412" b="-10204"/>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B05DA085-F654-7053-F5A0-C95CBB9149EB}"/>
                  </a:ext>
                </a:extLst>
              </p:cNvPr>
              <p:cNvSpPr txBox="1"/>
              <p:nvPr/>
            </p:nvSpPr>
            <p:spPr>
              <a:xfrm>
                <a:off x="2654444" y="3297812"/>
                <a:ext cx="2398029" cy="328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0">
                              <a:latin typeface="Cambria Math" panose="02040503050406030204" pitchFamily="18" charset="0"/>
                            </a:rPr>
                            <m:t>0</m:t>
                          </m:r>
                        </m:sub>
                      </m:sSub>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zh-CN" altLang="en-US" sz="2000" i="1">
                              <a:latin typeface="Cambria Math" panose="02040503050406030204" pitchFamily="18" charset="0"/>
                            </a:rPr>
                            <m:t>𝑗</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sup>
                      </m:sSup>
                    </m:oMath>
                  </m:oMathPara>
                </a14:m>
                <a:endParaRPr lang="zh-CN" altLang="en-US" sz="2000" dirty="0"/>
              </a:p>
            </p:txBody>
          </p:sp>
        </mc:Choice>
        <mc:Fallback xmlns="">
          <p:sp>
            <p:nvSpPr>
              <p:cNvPr id="49" name="文本框 48">
                <a:extLst>
                  <a:ext uri="{FF2B5EF4-FFF2-40B4-BE49-F238E27FC236}">
                    <a16:creationId xmlns:a16="http://schemas.microsoft.com/office/drawing/2014/main" id="{B05DA085-F654-7053-F5A0-C95CBB9149EB}"/>
                  </a:ext>
                </a:extLst>
              </p:cNvPr>
              <p:cNvSpPr txBox="1">
                <a:spLocks noRot="1" noChangeAspect="1" noMove="1" noResize="1" noEditPoints="1" noAdjustHandles="1" noChangeArrowheads="1" noChangeShapeType="1" noTextEdit="1"/>
              </p:cNvSpPr>
              <p:nvPr/>
            </p:nvSpPr>
            <p:spPr>
              <a:xfrm>
                <a:off x="2654444" y="3297812"/>
                <a:ext cx="2398029" cy="328680"/>
              </a:xfrm>
              <a:prstGeom prst="rect">
                <a:avLst/>
              </a:prstGeom>
              <a:blipFill>
                <a:blip r:embed="rId17"/>
                <a:stretch>
                  <a:fillRect l="-1523"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6A229DEA-7BB4-4092-1494-9D511448ACC4}"/>
                  </a:ext>
                </a:extLst>
              </p:cNvPr>
              <p:cNvSpPr txBox="1"/>
              <p:nvPr/>
            </p:nvSpPr>
            <p:spPr>
              <a:xfrm>
                <a:off x="2654444" y="3716859"/>
                <a:ext cx="5689314" cy="655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r>
                        <a:rPr lang="zh-CN" altLang="en-US" sz="2000" i="0">
                          <a:latin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zh-CN" altLang="en-US" sz="2000" i="1">
                                  <a:latin typeface="Cambria Math" panose="02040503050406030204" pitchFamily="18" charset="0"/>
                                </a:rPr>
                                <m:t>𝑗</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sup>
                          </m:sSup>
                        </m:e>
                      </m:d>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0">
                                  <a:latin typeface="Cambria Math" panose="02040503050406030204" pitchFamily="18" charset="0"/>
                                </a:rPr>
                                <m:t>0</m:t>
                              </m:r>
                            </m:sub>
                          </m:sSub>
                        </m:e>
                      </m:acc>
                      <m:r>
                        <a:rPr lang="zh-CN" altLang="en-US" sz="2000" i="0">
                          <a:latin typeface="Cambria Math" panose="02040503050406030204" pitchFamily="18" charset="0"/>
                        </a:rPr>
                        <m:t>=</m:t>
                      </m:r>
                      <m:r>
                        <a:rPr lang="zh-CN" altLang="en-US" sz="2000" i="1">
                          <a:latin typeface="Cambria Math" panose="02040503050406030204" pitchFamily="18" charset="0"/>
                        </a:rPr>
                        <m:t>𝑗𝑘</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𝐵</m:t>
                              </m:r>
                            </m:e>
                          </m:acc>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r>
                        <a:rPr lang="zh-CN" altLang="en-US" sz="2000" i="0">
                          <a:latin typeface="Cambria Math" panose="02040503050406030204" pitchFamily="18" charset="0"/>
                        </a:rPr>
                        <m:t>=</m:t>
                      </m:r>
                      <m:r>
                        <a:rPr lang="zh-CN" altLang="en-US" sz="2000" i="1">
                          <a:latin typeface="Cambria Math" panose="02040503050406030204" pitchFamily="18" charset="0"/>
                        </a:rPr>
                        <m:t>𝑗</m:t>
                      </m:r>
                      <m:r>
                        <a:rPr lang="zh-CN" altLang="en-US" sz="2000" i="1">
                          <a:latin typeface="Cambria Math" panose="02040503050406030204" pitchFamily="18" charset="0"/>
                        </a:rPr>
                        <m:t>𝜔</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𝐵</m:t>
                          </m:r>
                        </m:e>
                      </m:acc>
                    </m:oMath>
                  </m:oMathPara>
                </a14:m>
                <a:endParaRPr lang="zh-CN" altLang="en-US" sz="2000" dirty="0"/>
              </a:p>
            </p:txBody>
          </p:sp>
        </mc:Choice>
        <mc:Fallback xmlns="">
          <p:sp>
            <p:nvSpPr>
              <p:cNvPr id="50" name="文本框 49">
                <a:extLst>
                  <a:ext uri="{FF2B5EF4-FFF2-40B4-BE49-F238E27FC236}">
                    <a16:creationId xmlns:a16="http://schemas.microsoft.com/office/drawing/2014/main" id="{6A229DEA-7BB4-4092-1494-9D511448ACC4}"/>
                  </a:ext>
                </a:extLst>
              </p:cNvPr>
              <p:cNvSpPr txBox="1">
                <a:spLocks noRot="1" noChangeAspect="1" noMove="1" noResize="1" noEditPoints="1" noAdjustHandles="1" noChangeArrowheads="1" noChangeShapeType="1" noTextEdit="1"/>
              </p:cNvSpPr>
              <p:nvPr/>
            </p:nvSpPr>
            <p:spPr>
              <a:xfrm>
                <a:off x="2654444" y="3716859"/>
                <a:ext cx="5689314" cy="655821"/>
              </a:xfrm>
              <a:prstGeom prst="rect">
                <a:avLst/>
              </a:prstGeom>
              <a:blipFill>
                <a:blip r:embed="rId18"/>
                <a:stretch>
                  <a:fillRect/>
                </a:stretch>
              </a:blipFill>
            </p:spPr>
            <p:txBody>
              <a:bodyPr/>
              <a:lstStyle/>
              <a:p>
                <a:r>
                  <a:rPr lang="zh-CN" altLang="en-US">
                    <a:noFill/>
                  </a:rPr>
                  <a:t> </a:t>
                </a:r>
              </a:p>
            </p:txBody>
          </p:sp>
        </mc:Fallback>
      </mc:AlternateContent>
      <p:sp>
        <p:nvSpPr>
          <p:cNvPr id="51" name="文本框 3">
            <a:extLst>
              <a:ext uri="{FF2B5EF4-FFF2-40B4-BE49-F238E27FC236}">
                <a16:creationId xmlns:a16="http://schemas.microsoft.com/office/drawing/2014/main" id="{5DC4F11D-35CD-D5D4-D67B-C59E643A770A}"/>
              </a:ext>
            </a:extLst>
          </p:cNvPr>
          <p:cNvSpPr txBox="1"/>
          <p:nvPr/>
        </p:nvSpPr>
        <p:spPr>
          <a:xfrm>
            <a:off x="800242" y="3927157"/>
            <a:ext cx="1800127"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Faraday’s law</a:t>
            </a:r>
            <a:endParaRPr lang="zh-CN" altLang="en-US" b="1" dirty="0"/>
          </a:p>
        </p:txBody>
      </p:sp>
      <p:sp>
        <p:nvSpPr>
          <p:cNvPr id="53" name="文本框 52">
            <a:extLst>
              <a:ext uri="{FF2B5EF4-FFF2-40B4-BE49-F238E27FC236}">
                <a16:creationId xmlns:a16="http://schemas.microsoft.com/office/drawing/2014/main" id="{370D4D14-8532-ACD2-948B-F7316F884224}"/>
              </a:ext>
            </a:extLst>
          </p:cNvPr>
          <p:cNvSpPr txBox="1"/>
          <p:nvPr/>
        </p:nvSpPr>
        <p:spPr>
          <a:xfrm>
            <a:off x="782017" y="3321403"/>
            <a:ext cx="1872427" cy="369332"/>
          </a:xfrm>
          <a:prstGeom prst="rect">
            <a:avLst/>
          </a:prstGeom>
          <a:noFill/>
        </p:spPr>
        <p:txBody>
          <a:bodyPr wrap="square">
            <a:spAutoFit/>
          </a:bodyPr>
          <a:lstStyle/>
          <a:p>
            <a:r>
              <a:rPr lang="en-US" altLang="zh-CN" b="1" dirty="0"/>
              <a:t>Wave Equation</a:t>
            </a:r>
            <a:endParaRPr lang="zh-CN" altLang="en-US" b="1" dirty="0"/>
          </a:p>
        </p:txBody>
      </p:sp>
      <p:sp>
        <p:nvSpPr>
          <p:cNvPr id="55" name="文本框 54">
            <a:extLst>
              <a:ext uri="{FF2B5EF4-FFF2-40B4-BE49-F238E27FC236}">
                <a16:creationId xmlns:a16="http://schemas.microsoft.com/office/drawing/2014/main" id="{10705B10-6FA2-027D-FB8C-E21294AECFD7}"/>
              </a:ext>
            </a:extLst>
          </p:cNvPr>
          <p:cNvSpPr txBox="1"/>
          <p:nvPr/>
        </p:nvSpPr>
        <p:spPr>
          <a:xfrm>
            <a:off x="461245" y="5135366"/>
            <a:ext cx="5354512" cy="369332"/>
          </a:xfrm>
          <a:prstGeom prst="rect">
            <a:avLst/>
          </a:prstGeom>
          <a:noFill/>
        </p:spPr>
        <p:txBody>
          <a:bodyPr wrap="square">
            <a:spAutoFit/>
          </a:bodyPr>
          <a:lstStyle/>
          <a:p>
            <a:r>
              <a:rPr lang="zh-CN" altLang="en-US" dirty="0"/>
              <a:t>电场磁场相互垂直，磁场大小等于电场大小除光速。</a:t>
            </a:r>
          </a:p>
        </p:txBody>
      </p:sp>
    </p:spTree>
    <p:extLst>
      <p:ext uri="{BB962C8B-B14F-4D97-AF65-F5344CB8AC3E}">
        <p14:creationId xmlns:p14="http://schemas.microsoft.com/office/powerpoint/2010/main" val="80559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nodeType="withEffect">
                                  <p:stCondLst>
                                    <p:cond delay="200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9" grpId="0"/>
      <p:bldP spid="31" grpId="0"/>
    </p:bld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Arial"/>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14785</TotalTime>
  <Words>5713</Words>
  <Application>Microsoft Office PowerPoint</Application>
  <PresentationFormat>全屏显示(4:3)</PresentationFormat>
  <Paragraphs>604</Paragraphs>
  <Slides>52</Slides>
  <Notes>51</Notes>
  <HiddenSlides>0</HiddenSlides>
  <MMClips>3</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52</vt:i4>
      </vt:variant>
    </vt:vector>
  </HeadingPairs>
  <TitlesOfParts>
    <vt:vector size="65" baseType="lpstr">
      <vt:lpstr>KaTeX_Main</vt:lpstr>
      <vt:lpstr>KaTeX_Math</vt:lpstr>
      <vt:lpstr>ui-sans-serif</vt:lpstr>
      <vt:lpstr>微软雅黑</vt:lpstr>
      <vt:lpstr>幼圆</vt:lpstr>
      <vt:lpstr>Arial</vt:lpstr>
      <vt:lpstr>Bodoni MT</vt:lpstr>
      <vt:lpstr>Calibri</vt:lpstr>
      <vt:lpstr>Cambria Math</vt:lpstr>
      <vt:lpstr>Symbol</vt:lpstr>
      <vt:lpstr>Times New Roman</vt:lpstr>
      <vt:lpstr>1_Office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Zongyin Yang</dc:creator>
  <cp:lastModifiedBy>Zongyin Yang</cp:lastModifiedBy>
  <cp:revision>702</cp:revision>
  <dcterms:created xsi:type="dcterms:W3CDTF">2020-10-30T01:47:51Z</dcterms:created>
  <dcterms:modified xsi:type="dcterms:W3CDTF">2025-03-13T02:51:29Z</dcterms:modified>
</cp:coreProperties>
</file>