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1"/>
  </p:handoutMasterIdLst>
  <p:sldIdLst>
    <p:sldId id="270" r:id="rId3"/>
    <p:sldId id="269" r:id="rId5"/>
    <p:sldId id="271" r:id="rId6"/>
    <p:sldId id="280" r:id="rId7"/>
    <p:sldId id="281" r:id="rId8"/>
    <p:sldId id="283" r:id="rId9"/>
    <p:sldId id="284" r:id="rId10"/>
    <p:sldId id="285" r:id="rId11"/>
    <p:sldId id="332" r:id="rId12"/>
    <p:sldId id="286" r:id="rId13"/>
    <p:sldId id="287" r:id="rId14"/>
    <p:sldId id="288" r:id="rId15"/>
    <p:sldId id="289" r:id="rId16"/>
    <p:sldId id="290" r:id="rId17"/>
    <p:sldId id="333" r:id="rId18"/>
    <p:sldId id="291" r:id="rId19"/>
    <p:sldId id="334" r:id="rId20"/>
    <p:sldId id="293" r:id="rId21"/>
    <p:sldId id="294" r:id="rId22"/>
    <p:sldId id="295" r:id="rId23"/>
    <p:sldId id="298" r:id="rId24"/>
    <p:sldId id="299" r:id="rId25"/>
    <p:sldId id="300" r:id="rId26"/>
    <p:sldId id="296" r:id="rId27"/>
    <p:sldId id="297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9" r:id="rId41"/>
    <p:sldId id="320" r:id="rId42"/>
    <p:sldId id="321" r:id="rId43"/>
    <p:sldId id="313" r:id="rId44"/>
    <p:sldId id="322" r:id="rId45"/>
    <p:sldId id="275" r:id="rId46"/>
    <p:sldId id="316" r:id="rId47"/>
    <p:sldId id="336" r:id="rId48"/>
    <p:sldId id="317" r:id="rId49"/>
    <p:sldId id="318" r:id="rId50"/>
  </p:sldIdLst>
  <p:sldSz cx="9144000" cy="6858000" type="screen4x3"/>
  <p:notesSz cx="7099300" cy="10234930"/>
  <p:custDataLst>
    <p:tags r:id="rId55"/>
  </p:custDataLst>
  <p:defaultTextStyle>
    <a:defPPr>
      <a:defRPr lang="en-AU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FFFF"/>
    <a:srgbClr val="66FF66"/>
    <a:srgbClr val="00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210"/>
    <p:restoredTop sz="94717"/>
  </p:normalViewPr>
  <p:slideViewPr>
    <p:cSldViewPr showGuides="1">
      <p:cViewPr varScale="1">
        <p:scale>
          <a:sx n="100" d="100"/>
          <a:sy n="100" d="100"/>
        </p:scale>
        <p:origin x="-84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19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gs" Target="tags/tag5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handoutMaster" Target="handoutMasters/handoutMaster1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页眉占位符 614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sz="1300"/>
              <a:t>Morgan Kaufmann Publishers</a:t>
            </a:r>
            <a:endParaRPr lang="en-AU" sz="1300"/>
          </a:p>
        </p:txBody>
      </p:sp>
      <p:sp>
        <p:nvSpPr>
          <p:cNvPr id="6147" name="日期占位符 6146"/>
          <p:cNvSpPr>
            <a:spLocks noGrp="1"/>
          </p:cNvSpPr>
          <p:nvPr>
            <p:ph type="dt" sz="quarter" idx="1"/>
          </p:nvPr>
        </p:nvSpPr>
        <p:spPr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sz="1300"/>
            </a:fld>
            <a:endParaRPr lang="en-AU" sz="1300"/>
          </a:p>
        </p:txBody>
      </p:sp>
      <p:sp>
        <p:nvSpPr>
          <p:cNvPr id="6148" name="页脚占位符 6147"/>
          <p:cNvSpPr>
            <a:spLocks noGrp="1"/>
          </p:cNvSpPr>
          <p:nvPr>
            <p:ph type="ftr" sz="quarter" idx="2"/>
          </p:nvPr>
        </p:nvSpPr>
        <p:spPr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sz="1300"/>
              <a:t>Chapter 3 — Arithmetic for Computers</a:t>
            </a:r>
            <a:endParaRPr lang="en-AU" sz="1300"/>
          </a:p>
        </p:txBody>
      </p:sp>
      <p:sp>
        <p:nvSpPr>
          <p:cNvPr id="6149" name="灯片编号占位符 6148"/>
          <p:cNvSpPr>
            <a:spLocks noGrp="1"/>
          </p:cNvSpPr>
          <p:nvPr>
            <p:ph type="sldNum" sz="quarter" idx="3"/>
          </p:nvPr>
        </p:nvSpPr>
        <p:spPr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sz="1300"/>
            </a:fld>
            <a:endParaRPr lang="en-AU" sz="13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页眉占位符 819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8195" name="日期占位符 8194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8196" name="幻灯片图像占位符 8195"/>
          <p:cNvSpPr>
            <a:spLocks noTextEdi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97" name="文本占位符 8196"/>
          <p:cNvSpPr>
            <a:spLocks noGrp="1"/>
          </p:cNvSpPr>
          <p:nvPr>
            <p:ph type="body" sz="quarter" idx="3"/>
          </p:nvPr>
        </p:nvSpPr>
        <p:spPr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8198" name="页脚占位符 8197"/>
          <p:cNvSpPr>
            <a:spLocks noGrp="1"/>
          </p:cNvSpPr>
          <p:nvPr>
            <p:ph type="ftr" sz="quarter" idx="4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8199" name="灯片编号占位符 8198"/>
          <p:cNvSpPr>
            <a:spLocks noGrp="1"/>
          </p:cNvSpPr>
          <p:nvPr>
            <p:ph type="sldNum" sz="quarter" idx="5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lvl="0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34498" name="幻灯片图像占位符 234497"/>
          <p:cNvSpPr>
            <a:spLocks noTextEdit="1"/>
          </p:cNvSpPr>
          <p:nvPr>
            <p:ph type="sldImg"/>
          </p:nvPr>
        </p:nvSpPr>
        <p:spPr/>
      </p:sp>
      <p:sp>
        <p:nvSpPr>
          <p:cNvPr id="234499" name="文本占位符 23449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32450" name="幻灯片图像占位符 232449"/>
          <p:cNvSpPr>
            <a:spLocks noTextEdit="1"/>
          </p:cNvSpPr>
          <p:nvPr>
            <p:ph type="sldImg"/>
          </p:nvPr>
        </p:nvSpPr>
        <p:spPr/>
      </p:sp>
      <p:sp>
        <p:nvSpPr>
          <p:cNvPr id="232451" name="文本占位符 23245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41666" name="幻灯片图像占位符 241665"/>
          <p:cNvSpPr>
            <a:spLocks noTextEdit="1"/>
          </p:cNvSpPr>
          <p:nvPr>
            <p:ph type="sldImg"/>
          </p:nvPr>
        </p:nvSpPr>
        <p:spPr/>
      </p:sp>
      <p:sp>
        <p:nvSpPr>
          <p:cNvPr id="241667" name="文本占位符 241666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60098" name="幻灯片图像占位符 260097"/>
          <p:cNvSpPr>
            <a:spLocks noTextEdit="1"/>
          </p:cNvSpPr>
          <p:nvPr>
            <p:ph type="sldImg"/>
          </p:nvPr>
        </p:nvSpPr>
        <p:spPr/>
      </p:sp>
      <p:sp>
        <p:nvSpPr>
          <p:cNvPr id="260099" name="文本占位符 26009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62146" name="幻灯片图像占位符 262145"/>
          <p:cNvSpPr>
            <a:spLocks noTextEdit="1"/>
          </p:cNvSpPr>
          <p:nvPr>
            <p:ph type="sldImg"/>
          </p:nvPr>
        </p:nvSpPr>
        <p:spPr/>
      </p:sp>
      <p:sp>
        <p:nvSpPr>
          <p:cNvPr id="262147" name="文本占位符 262146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66242" name="幻灯片图像占位符 266241"/>
          <p:cNvSpPr>
            <a:spLocks noTextEdit="1"/>
          </p:cNvSpPr>
          <p:nvPr>
            <p:ph type="sldImg"/>
          </p:nvPr>
        </p:nvSpPr>
        <p:spPr/>
      </p:sp>
      <p:sp>
        <p:nvSpPr>
          <p:cNvPr id="266243" name="文本占位符 26624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68290" name="幻灯片图像占位符 268289"/>
          <p:cNvSpPr>
            <a:spLocks noTextEdit="1"/>
          </p:cNvSpPr>
          <p:nvPr>
            <p:ph type="sldImg"/>
          </p:nvPr>
        </p:nvSpPr>
        <p:spPr/>
      </p:sp>
      <p:sp>
        <p:nvSpPr>
          <p:cNvPr id="268291" name="文本占位符 26829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70338" name="幻灯片图像占位符 270337"/>
          <p:cNvSpPr>
            <a:spLocks noTextEdit="1"/>
          </p:cNvSpPr>
          <p:nvPr>
            <p:ph type="sldImg"/>
          </p:nvPr>
        </p:nvSpPr>
        <p:spPr/>
      </p:sp>
      <p:sp>
        <p:nvSpPr>
          <p:cNvPr id="270339" name="文本占位符 27033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70338" name="幻灯片图像占位符 270337"/>
          <p:cNvSpPr>
            <a:spLocks noTextEdit="1"/>
          </p:cNvSpPr>
          <p:nvPr>
            <p:ph type="sldImg"/>
          </p:nvPr>
        </p:nvSpPr>
        <p:spPr/>
      </p:sp>
      <p:sp>
        <p:nvSpPr>
          <p:cNvPr id="270339" name="文本占位符 27033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72386" name="幻灯片图像占位符 272385"/>
          <p:cNvSpPr>
            <a:spLocks noTextEdit="1"/>
          </p:cNvSpPr>
          <p:nvPr>
            <p:ph type="sldImg"/>
          </p:nvPr>
        </p:nvSpPr>
        <p:spPr/>
      </p:sp>
      <p:sp>
        <p:nvSpPr>
          <p:cNvPr id="272387" name="文本占位符 272386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74434" name="幻灯片图像占位符 274433"/>
          <p:cNvSpPr>
            <a:spLocks noTextEdit="1"/>
          </p:cNvSpPr>
          <p:nvPr>
            <p:ph type="sldImg"/>
          </p:nvPr>
        </p:nvSpPr>
        <p:spPr/>
      </p:sp>
      <p:sp>
        <p:nvSpPr>
          <p:cNvPr id="274435" name="文本占位符 27443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76482" name="幻灯片图像占位符 276481"/>
          <p:cNvSpPr>
            <a:spLocks noTextEdit="1"/>
          </p:cNvSpPr>
          <p:nvPr>
            <p:ph type="sldImg"/>
          </p:nvPr>
        </p:nvSpPr>
        <p:spPr/>
      </p:sp>
      <p:sp>
        <p:nvSpPr>
          <p:cNvPr id="276483" name="文本占位符 27648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78530" name="幻灯片图像占位符 278529"/>
          <p:cNvSpPr>
            <a:spLocks noTextEdit="1"/>
          </p:cNvSpPr>
          <p:nvPr>
            <p:ph type="sldImg"/>
          </p:nvPr>
        </p:nvSpPr>
        <p:spPr/>
      </p:sp>
      <p:sp>
        <p:nvSpPr>
          <p:cNvPr id="278531" name="文本占位符 27853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80578" name="幻灯片图像占位符 280577"/>
          <p:cNvSpPr>
            <a:spLocks noTextEdit="1"/>
          </p:cNvSpPr>
          <p:nvPr>
            <p:ph type="sldImg"/>
          </p:nvPr>
        </p:nvSpPr>
        <p:spPr/>
      </p:sp>
      <p:sp>
        <p:nvSpPr>
          <p:cNvPr id="280579" name="文本占位符 28057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70338" name="幻灯片图像占位符 270337"/>
          <p:cNvSpPr>
            <a:spLocks noTextEdit="1"/>
          </p:cNvSpPr>
          <p:nvPr>
            <p:ph type="sldImg"/>
          </p:nvPr>
        </p:nvSpPr>
        <p:spPr/>
      </p:sp>
      <p:sp>
        <p:nvSpPr>
          <p:cNvPr id="270339" name="文本占位符 27033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82626" name="幻灯片图像占位符 282625"/>
          <p:cNvSpPr>
            <a:spLocks noTextEdit="1"/>
          </p:cNvSpPr>
          <p:nvPr>
            <p:ph type="sldImg"/>
          </p:nvPr>
        </p:nvSpPr>
        <p:spPr/>
      </p:sp>
      <p:sp>
        <p:nvSpPr>
          <p:cNvPr id="282627" name="文本占位符 282626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74434" name="幻灯片图像占位符 274433"/>
          <p:cNvSpPr>
            <a:spLocks noTextEdit="1"/>
          </p:cNvSpPr>
          <p:nvPr>
            <p:ph type="sldImg"/>
          </p:nvPr>
        </p:nvSpPr>
        <p:spPr/>
      </p:sp>
      <p:sp>
        <p:nvSpPr>
          <p:cNvPr id="274435" name="文本占位符 27443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86722" name="幻灯片图像占位符 286721"/>
          <p:cNvSpPr>
            <a:spLocks noTextEdit="1"/>
          </p:cNvSpPr>
          <p:nvPr>
            <p:ph type="sldImg"/>
          </p:nvPr>
        </p:nvSpPr>
        <p:spPr/>
      </p:sp>
      <p:sp>
        <p:nvSpPr>
          <p:cNvPr id="286723" name="文本占位符 28672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88770" name="幻灯片图像占位符 288769"/>
          <p:cNvSpPr>
            <a:spLocks noTextEdit="1"/>
          </p:cNvSpPr>
          <p:nvPr>
            <p:ph type="sldImg"/>
          </p:nvPr>
        </p:nvSpPr>
        <p:spPr/>
      </p:sp>
      <p:sp>
        <p:nvSpPr>
          <p:cNvPr id="288771" name="文本占位符 28877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90818" name="幻灯片图像占位符 290817"/>
          <p:cNvSpPr>
            <a:spLocks noTextEdit="1"/>
          </p:cNvSpPr>
          <p:nvPr>
            <p:ph type="sldImg"/>
          </p:nvPr>
        </p:nvSpPr>
        <p:spPr/>
      </p:sp>
      <p:sp>
        <p:nvSpPr>
          <p:cNvPr id="290819" name="文本占位符 29081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96962" name="幻灯片图像占位符 296961"/>
          <p:cNvSpPr>
            <a:spLocks noTextEdit="1"/>
          </p:cNvSpPr>
          <p:nvPr>
            <p:ph type="sldImg"/>
          </p:nvPr>
        </p:nvSpPr>
        <p:spPr/>
      </p:sp>
      <p:sp>
        <p:nvSpPr>
          <p:cNvPr id="296963" name="文本占位符 29696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99010" name="幻灯片图像占位符 299009"/>
          <p:cNvSpPr>
            <a:spLocks noTextEdit="1"/>
          </p:cNvSpPr>
          <p:nvPr>
            <p:ph type="sldImg"/>
          </p:nvPr>
        </p:nvSpPr>
        <p:spPr/>
      </p:sp>
      <p:sp>
        <p:nvSpPr>
          <p:cNvPr id="299011" name="文本占位符 29901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01058" name="幻灯片图像占位符 301057"/>
          <p:cNvSpPr>
            <a:spLocks noTextEdit="1"/>
          </p:cNvSpPr>
          <p:nvPr>
            <p:ph type="sldImg"/>
          </p:nvPr>
        </p:nvSpPr>
        <p:spPr/>
      </p:sp>
      <p:sp>
        <p:nvSpPr>
          <p:cNvPr id="301059" name="文本占位符 30105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92866" name="幻灯片图像占位符 292865"/>
          <p:cNvSpPr>
            <a:spLocks noTextEdit="1"/>
          </p:cNvSpPr>
          <p:nvPr>
            <p:ph type="sldImg"/>
          </p:nvPr>
        </p:nvSpPr>
        <p:spPr/>
      </p:sp>
      <p:sp>
        <p:nvSpPr>
          <p:cNvPr id="292867" name="文本占位符 292866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94914" name="幻灯片图像占位符 294913"/>
          <p:cNvSpPr>
            <a:spLocks noTextEdit="1"/>
          </p:cNvSpPr>
          <p:nvPr>
            <p:ph type="sldImg"/>
          </p:nvPr>
        </p:nvSpPr>
        <p:spPr/>
      </p:sp>
      <p:sp>
        <p:nvSpPr>
          <p:cNvPr id="294915" name="文本占位符 29491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03106" name="幻灯片图像占位符 303105"/>
          <p:cNvSpPr>
            <a:spLocks noTextEdit="1"/>
          </p:cNvSpPr>
          <p:nvPr>
            <p:ph type="sldImg"/>
          </p:nvPr>
        </p:nvSpPr>
        <p:spPr/>
      </p:sp>
      <p:sp>
        <p:nvSpPr>
          <p:cNvPr id="303107" name="文本占位符 303106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05154" name="幻灯片图像占位符 305153"/>
          <p:cNvSpPr>
            <a:spLocks noTextEdit="1"/>
          </p:cNvSpPr>
          <p:nvPr>
            <p:ph type="sldImg"/>
          </p:nvPr>
        </p:nvSpPr>
        <p:spPr/>
      </p:sp>
      <p:sp>
        <p:nvSpPr>
          <p:cNvPr id="305155" name="文本占位符 30515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07202" name="幻灯片图像占位符 307201"/>
          <p:cNvSpPr>
            <a:spLocks noTextEdit="1"/>
          </p:cNvSpPr>
          <p:nvPr>
            <p:ph type="sldImg"/>
          </p:nvPr>
        </p:nvSpPr>
        <p:spPr/>
      </p:sp>
      <p:sp>
        <p:nvSpPr>
          <p:cNvPr id="307203" name="文本占位符 30720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09250" name="幻灯片图像占位符 309249"/>
          <p:cNvSpPr>
            <a:spLocks noTextEdit="1"/>
          </p:cNvSpPr>
          <p:nvPr>
            <p:ph type="sldImg"/>
          </p:nvPr>
        </p:nvSpPr>
        <p:spPr/>
      </p:sp>
      <p:sp>
        <p:nvSpPr>
          <p:cNvPr id="309251" name="文本占位符 30925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11298" name="幻灯片图像占位符 311297"/>
          <p:cNvSpPr>
            <a:spLocks noTextEdit="1"/>
          </p:cNvSpPr>
          <p:nvPr>
            <p:ph type="sldImg"/>
          </p:nvPr>
        </p:nvSpPr>
        <p:spPr/>
      </p:sp>
      <p:sp>
        <p:nvSpPr>
          <p:cNvPr id="311299" name="文本占位符 31129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13346" name="幻灯片图像占位符 313345"/>
          <p:cNvSpPr>
            <a:spLocks noTextEdit="1"/>
          </p:cNvSpPr>
          <p:nvPr>
            <p:ph type="sldImg"/>
          </p:nvPr>
        </p:nvSpPr>
        <p:spPr/>
      </p:sp>
      <p:sp>
        <p:nvSpPr>
          <p:cNvPr id="313347" name="文本占位符 313346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15394" name="幻灯片图像占位符 315393"/>
          <p:cNvSpPr>
            <a:spLocks noTextEdit="1"/>
          </p:cNvSpPr>
          <p:nvPr>
            <p:ph type="sldImg"/>
          </p:nvPr>
        </p:nvSpPr>
        <p:spPr/>
      </p:sp>
      <p:sp>
        <p:nvSpPr>
          <p:cNvPr id="315395" name="文本占位符 31539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17442" name="幻灯片图像占位符 317441"/>
          <p:cNvSpPr>
            <a:spLocks noTextEdit="1"/>
          </p:cNvSpPr>
          <p:nvPr>
            <p:ph type="sldImg"/>
          </p:nvPr>
        </p:nvSpPr>
        <p:spPr/>
      </p:sp>
      <p:sp>
        <p:nvSpPr>
          <p:cNvPr id="317443" name="文本占位符 31744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19490" name="幻灯片图像占位符 319489"/>
          <p:cNvSpPr>
            <a:spLocks noTextEdit="1"/>
          </p:cNvSpPr>
          <p:nvPr>
            <p:ph type="sldImg"/>
          </p:nvPr>
        </p:nvSpPr>
        <p:spPr/>
      </p:sp>
      <p:sp>
        <p:nvSpPr>
          <p:cNvPr id="319491" name="文本占位符 31949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21538" name="幻灯片图像占位符 321537"/>
          <p:cNvSpPr>
            <a:spLocks noTextEdit="1"/>
          </p:cNvSpPr>
          <p:nvPr>
            <p:ph type="sldImg"/>
          </p:nvPr>
        </p:nvSpPr>
        <p:spPr/>
      </p:sp>
      <p:sp>
        <p:nvSpPr>
          <p:cNvPr id="321539" name="文本占位符 32153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23586" name="幻灯片图像占位符 323585"/>
          <p:cNvSpPr>
            <a:spLocks noTextEdit="1"/>
          </p:cNvSpPr>
          <p:nvPr>
            <p:ph type="sldImg"/>
          </p:nvPr>
        </p:nvSpPr>
        <p:spPr/>
      </p:sp>
      <p:sp>
        <p:nvSpPr>
          <p:cNvPr id="323587" name="文本占位符 323586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25634" name="幻灯片图像占位符 325633"/>
          <p:cNvSpPr>
            <a:spLocks noTextEdit="1"/>
          </p:cNvSpPr>
          <p:nvPr>
            <p:ph type="sldImg"/>
          </p:nvPr>
        </p:nvSpPr>
        <p:spPr/>
      </p:sp>
      <p:sp>
        <p:nvSpPr>
          <p:cNvPr id="325635" name="文本占位符 32563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46114" name="幻灯片图像占位符 346113"/>
          <p:cNvSpPr>
            <a:spLocks noTextEdit="1"/>
          </p:cNvSpPr>
          <p:nvPr>
            <p:ph type="sldImg"/>
          </p:nvPr>
        </p:nvSpPr>
        <p:spPr/>
      </p:sp>
      <p:sp>
        <p:nvSpPr>
          <p:cNvPr id="346115" name="文本占位符 34611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48162" name="幻灯片图像占位符 348161"/>
          <p:cNvSpPr>
            <a:spLocks noTextEdit="1"/>
          </p:cNvSpPr>
          <p:nvPr>
            <p:ph type="sldImg"/>
          </p:nvPr>
        </p:nvSpPr>
        <p:spPr/>
      </p:sp>
      <p:sp>
        <p:nvSpPr>
          <p:cNvPr id="348163" name="文本占位符 34816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53282" name="幻灯片图像占位符 353281"/>
          <p:cNvSpPr>
            <a:spLocks noTextEdit="1"/>
          </p:cNvSpPr>
          <p:nvPr>
            <p:ph type="sldImg"/>
          </p:nvPr>
        </p:nvSpPr>
        <p:spPr/>
      </p:sp>
      <p:sp>
        <p:nvSpPr>
          <p:cNvPr id="353283" name="文本占位符 35328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27682" name="幻灯片图像占位符 327681"/>
          <p:cNvSpPr>
            <a:spLocks noTextEdit="1"/>
          </p:cNvSpPr>
          <p:nvPr>
            <p:ph type="sldImg"/>
          </p:nvPr>
        </p:nvSpPr>
        <p:spPr/>
      </p:sp>
      <p:sp>
        <p:nvSpPr>
          <p:cNvPr id="327683" name="文本占位符 32768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55330" name="幻灯片图像占位符 355329"/>
          <p:cNvSpPr>
            <a:spLocks noTextEdit="1"/>
          </p:cNvSpPr>
          <p:nvPr>
            <p:ph type="sldImg"/>
          </p:nvPr>
        </p:nvSpPr>
        <p:spPr/>
      </p:sp>
      <p:sp>
        <p:nvSpPr>
          <p:cNvPr id="355331" name="文本占位符 35533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49858" name="幻灯片图像占位符 249857"/>
          <p:cNvSpPr>
            <a:spLocks noTextEdit="1"/>
          </p:cNvSpPr>
          <p:nvPr>
            <p:ph type="sldImg"/>
          </p:nvPr>
        </p:nvSpPr>
        <p:spPr/>
      </p:sp>
      <p:sp>
        <p:nvSpPr>
          <p:cNvPr id="249859" name="文本占位符 24985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33826" name="幻灯片图像占位符 333825"/>
          <p:cNvSpPr>
            <a:spLocks noTextEdit="1"/>
          </p:cNvSpPr>
          <p:nvPr>
            <p:ph type="sldImg"/>
          </p:nvPr>
        </p:nvSpPr>
        <p:spPr/>
      </p:sp>
      <p:sp>
        <p:nvSpPr>
          <p:cNvPr id="333827" name="文本占位符 333826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249858" name="幻灯片图像占位符 249857"/>
          <p:cNvSpPr>
            <a:spLocks noTextEdit="1"/>
          </p:cNvSpPr>
          <p:nvPr>
            <p:ph type="sldImg"/>
          </p:nvPr>
        </p:nvSpPr>
        <p:spPr/>
      </p:sp>
      <p:sp>
        <p:nvSpPr>
          <p:cNvPr id="249859" name="文本占位符 24985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35874" name="幻灯片图像占位符 335873"/>
          <p:cNvSpPr>
            <a:spLocks noTextEdit="1"/>
          </p:cNvSpPr>
          <p:nvPr>
            <p:ph type="sldImg"/>
          </p:nvPr>
        </p:nvSpPr>
        <p:spPr/>
      </p:sp>
      <p:sp>
        <p:nvSpPr>
          <p:cNvPr id="335875" name="文本占位符 33587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AU" sz="1300" dirty="0"/>
              <a:t>Morgan Kaufmann Publishers</a:t>
            </a:r>
            <a:endParaRPr lang="en-AU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3">
              <a:rPr lang="en-AU" sz="1300" dirty="0"/>
            </a:fld>
            <a:endParaRPr lang="en-AU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AU" sz="1300" dirty="0"/>
              <a:t>Chapter 3 — Arithmetic for Computers</a:t>
            </a:r>
            <a:endParaRPr lang="en-AU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AU" sz="1300" dirty="0"/>
            </a:fld>
            <a:endParaRPr lang="en-AU" sz="1300" dirty="0"/>
          </a:p>
        </p:txBody>
      </p:sp>
      <p:sp>
        <p:nvSpPr>
          <p:cNvPr id="344066" name="幻灯片图像占位符 344065"/>
          <p:cNvSpPr>
            <a:spLocks noTextEdit="1"/>
          </p:cNvSpPr>
          <p:nvPr>
            <p:ph type="sldImg"/>
          </p:nvPr>
        </p:nvSpPr>
        <p:spPr/>
      </p:sp>
      <p:sp>
        <p:nvSpPr>
          <p:cNvPr id="344067" name="文本占位符 344066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5938" name="矩形 295937"/>
          <p:cNvSpPr/>
          <p:nvPr/>
        </p:nvSpPr>
        <p:spPr>
          <a:xfrm>
            <a:off x="1331595" y="1144588"/>
            <a:ext cx="28575" cy="5732462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39" name="标题 295938"/>
          <p:cNvSpPr>
            <a:spLocks noGrp="1"/>
          </p:cNvSpPr>
          <p:nvPr>
            <p:ph type="ctrTitle" hasCustomPrompt="1"/>
          </p:nvPr>
        </p:nvSpPr>
        <p:spPr>
          <a:xfrm>
            <a:off x="1864360" y="1844675"/>
            <a:ext cx="693420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lvl1pPr lvl="0">
              <a:buClrTx/>
              <a:buSzTx/>
              <a:buFontTx/>
              <a:defRPr>
                <a:latin typeface="Arial Black" panose="020B0A04020102020204" pitchFamily="34" charset="0"/>
              </a:defRPr>
            </a:lvl1pPr>
          </a:lstStyle>
          <a:p>
            <a:pPr lvl="0"/>
            <a:r>
              <a:rPr lang="en-AU" altLang="zh-CN" dirty="0"/>
              <a:t>Chapter …</a:t>
            </a:r>
            <a:endParaRPr lang="en-AU" altLang="zh-CN" dirty="0"/>
          </a:p>
        </p:txBody>
      </p:sp>
      <p:sp>
        <p:nvSpPr>
          <p:cNvPr id="295940" name="副标题 295939"/>
          <p:cNvSpPr>
            <a:spLocks noGrp="1"/>
          </p:cNvSpPr>
          <p:nvPr>
            <p:ph type="subTitle" idx="1" hasCustomPrompt="1"/>
          </p:nvPr>
        </p:nvSpPr>
        <p:spPr>
          <a:xfrm>
            <a:off x="1877060" y="2924175"/>
            <a:ext cx="692785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lvl1pPr marL="0" lvl="0" indent="0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1pPr>
            <a:lvl2pPr marL="457200" lvl="1" indent="0" algn="ctr"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2pPr>
            <a:lvl3pPr marL="914400" lvl="2" indent="0" algn="ctr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3pPr>
            <a:lvl4pPr marL="1371600" lvl="3" indent="0" algn="ctr">
              <a:buClr>
                <a:schemeClr val="accent2"/>
              </a:buClr>
              <a:buSzPct val="55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4pPr>
            <a:lvl5pPr marL="1828800" lvl="4" indent="0" algn="ctr"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5pPr>
          </a:lstStyle>
          <a:p>
            <a:pPr lvl="0"/>
            <a:r>
              <a:rPr lang="en-AU" altLang="zh-CN" dirty="0"/>
              <a:t>Subtitle</a:t>
            </a:r>
            <a:endParaRPr lang="en-AU" altLang="zh-CN" dirty="0"/>
          </a:p>
        </p:txBody>
      </p:sp>
      <p:sp>
        <p:nvSpPr>
          <p:cNvPr id="295941" name="矩形 295940"/>
          <p:cNvSpPr/>
          <p:nvPr/>
        </p:nvSpPr>
        <p:spPr>
          <a:xfrm>
            <a:off x="1619885" y="198882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2" name="矩形 295941"/>
          <p:cNvSpPr/>
          <p:nvPr/>
        </p:nvSpPr>
        <p:spPr>
          <a:xfrm>
            <a:off x="1403985" y="2708910"/>
            <a:ext cx="7491730" cy="7620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3" name="矩形 295942"/>
          <p:cNvSpPr/>
          <p:nvPr/>
        </p:nvSpPr>
        <p:spPr>
          <a:xfrm>
            <a:off x="0" y="0"/>
            <a:ext cx="9144000" cy="1125538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5" name="矩形 295944"/>
          <p:cNvSpPr/>
          <p:nvPr/>
        </p:nvSpPr>
        <p:spPr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6" name="矩形 295945"/>
          <p:cNvSpPr/>
          <p:nvPr/>
        </p:nvSpPr>
        <p:spPr>
          <a:xfrm>
            <a:off x="1331595" y="568325"/>
            <a:ext cx="28575" cy="5762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5123" name="Picture 8" descr="zju-logo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7950" y="1905"/>
            <a:ext cx="1127125" cy="112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456690" y="0"/>
            <a:ext cx="75069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Computer Organization &amp; Design</a:t>
            </a:r>
            <a:br>
              <a:rPr lang="en-US" altLang="zh-CN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—The Hardware/Software Interface</a:t>
            </a:r>
            <a:br>
              <a:rPr lang="en-US" altLang="zh-CN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RISC-V EDITION</a:t>
            </a:r>
            <a:endParaRPr lang="zh-CN" altLang="en-US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2729" cy="51117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02359" y="1125538"/>
            <a:ext cx="4052729" cy="51117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87369" y="146050"/>
            <a:ext cx="2067719" cy="60912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83288" cy="60912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7886700" cy="20986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650" y="4076700"/>
            <a:ext cx="7886700" cy="21002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jpeg"/><Relationship Id="rId15" Type="http://schemas.openxmlformats.org/officeDocument/2006/relationships/tags" Target="../tags/tag2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4914" name="矩形 294913"/>
          <p:cNvSpPr/>
          <p:nvPr/>
        </p:nvSpPr>
        <p:spPr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4915" name="标题 294914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p>
            <a:pPr lvl="0"/>
            <a:r>
              <a:rPr lang="en-AU" altLang="zh-CN" dirty="0"/>
              <a:t>Click to edit Master title style</a:t>
            </a:r>
            <a:endParaRPr lang="en-AU" altLang="zh-CN" dirty="0"/>
          </a:p>
        </p:txBody>
      </p:sp>
      <p:sp>
        <p:nvSpPr>
          <p:cNvPr id="294916" name="文本占位符 294915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5111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AU" altLang="zh-CN" dirty="0"/>
              <a:t>Click to edit Master text styles</a:t>
            </a:r>
            <a:endParaRPr lang="en-AU" altLang="zh-CN" dirty="0"/>
          </a:p>
          <a:p>
            <a:pPr lvl="1"/>
            <a:r>
              <a:rPr lang="en-AU" altLang="zh-CN" dirty="0"/>
              <a:t>Second level</a:t>
            </a:r>
            <a:endParaRPr lang="en-AU" altLang="zh-CN" dirty="0"/>
          </a:p>
          <a:p>
            <a:pPr lvl="2"/>
            <a:r>
              <a:rPr lang="en-AU" altLang="zh-CN" dirty="0"/>
              <a:t>Third level</a:t>
            </a:r>
            <a:endParaRPr lang="en-AU" altLang="zh-CN" dirty="0"/>
          </a:p>
          <a:p>
            <a:pPr lvl="3"/>
            <a:r>
              <a:rPr lang="en-AU" altLang="zh-CN" dirty="0"/>
              <a:t>Fourth level</a:t>
            </a:r>
            <a:endParaRPr lang="en-AU" altLang="zh-CN" dirty="0"/>
          </a:p>
          <a:p>
            <a:pPr lvl="4"/>
            <a:r>
              <a:rPr lang="en-AU" altLang="zh-CN" dirty="0"/>
              <a:t>Fifth level</a:t>
            </a:r>
            <a:endParaRPr lang="en-AU" altLang="zh-CN" dirty="0"/>
          </a:p>
        </p:txBody>
      </p:sp>
      <p:sp>
        <p:nvSpPr>
          <p:cNvPr id="294917" name="页脚占位符 294916"/>
          <p:cNvSpPr>
            <a:spLocks noGrp="1"/>
          </p:cNvSpPr>
          <p:nvPr>
            <p:ph type="ftr" sz="quarter" idx="3"/>
          </p:nvPr>
        </p:nvSpPr>
        <p:spPr>
          <a:xfrm>
            <a:off x="859155" y="6381750"/>
            <a:ext cx="8105775" cy="3587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r">
              <a:defRPr sz="1400" b="1">
                <a:latin typeface="Arial" panose="020B0604020202020204" pitchFamily="34" charset="0"/>
              </a:defRPr>
            </a:lvl1pPr>
          </a:lstStyle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94919" name="矩形 294918"/>
          <p:cNvSpPr/>
          <p:nvPr/>
        </p:nvSpPr>
        <p:spPr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5123" name="Picture 8" descr="zju-logo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7950" y="6324600"/>
            <a:ext cx="461645" cy="4603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emf"/><Relationship Id="rId1" Type="http://schemas.openxmlformats.org/officeDocument/2006/relationships/oleObject" Target="../embeddings/oleObject4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3476" name="标题 233475"/>
          <p:cNvSpPr>
            <a:spLocks noGrp="1"/>
          </p:cNvSpPr>
          <p:nvPr>
            <p:ph type="ctrTitle"/>
          </p:nvPr>
        </p:nvSpPr>
        <p:spPr/>
        <p:txBody>
          <a:bodyPr anchor="t" anchorCtr="0">
            <a:spAutoFit/>
          </a:bodyPr>
          <a:p>
            <a:pPr defTabSz="914400">
              <a:buSzTx/>
              <a:buFontTx/>
              <a:buNone/>
            </a:pPr>
            <a:r>
              <a:rPr lang="en-US" altLang="zh-CN" kern="1200" baseline="0">
                <a:solidFill>
                  <a:schemeClr val="tx1"/>
                </a:solidFill>
                <a:latin typeface="Arial Black" panose="020B0A04020102020204" pitchFamily="34" charset="0"/>
              </a:rPr>
              <a:t>Chapter 3</a:t>
            </a:r>
            <a:endParaRPr lang="en-US" altLang="zh-CN" kern="1200" baseline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33477" name="副标题 233476"/>
          <p:cNvSpPr>
            <a:spLocks noGrp="1"/>
          </p:cNvSpPr>
          <p:nvPr>
            <p:ph type="subTitle" idx="1"/>
          </p:nvPr>
        </p:nvSpPr>
        <p:spPr/>
        <p:txBody>
          <a:bodyPr anchor="t" anchorCtr="0">
            <a:spAutoFit/>
          </a:bodyPr>
          <a:p>
            <a:pPr defTabSz="914400">
              <a:buSzPct val="60000"/>
            </a:pPr>
            <a:r>
              <a:rPr lang="en-US" altLang="zh-CN" kern="1200" baseline="0">
                <a:latin typeface="Arial Black" panose="020B0A04020102020204" pitchFamily="34" charset="0"/>
              </a:rPr>
              <a:t>Arithmetic for Computers</a:t>
            </a:r>
            <a:endParaRPr lang="en-US" altLang="zh-CN" kern="1200" baseline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31428" name="标题 231427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Arithmetic for Computers</a:t>
            </a:r>
            <a:endParaRPr lang="en-US" altLang="zh-CN"/>
          </a:p>
        </p:txBody>
      </p:sp>
      <p:sp>
        <p:nvSpPr>
          <p:cNvPr id="231429" name="内容占位符 231428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Operations on integers</a:t>
            </a:r>
            <a:endParaRPr lang="en-US" altLang="zh-CN"/>
          </a:p>
          <a:p>
            <a:pPr lvl="1"/>
            <a:r>
              <a:rPr lang="en-US" altLang="zh-CN"/>
              <a:t>Addition and subtraction</a:t>
            </a:r>
            <a:endParaRPr lang="en-US" altLang="zh-CN"/>
          </a:p>
          <a:p>
            <a:pPr lvl="1"/>
            <a:r>
              <a:rPr lang="en-US" altLang="zh-CN"/>
              <a:t>Multiplication and division</a:t>
            </a:r>
            <a:endParaRPr lang="en-US" altLang="zh-CN"/>
          </a:p>
          <a:p>
            <a:pPr lvl="1"/>
            <a:r>
              <a:rPr lang="en-US" altLang="zh-CN"/>
              <a:t>Dealing with overflow</a:t>
            </a:r>
            <a:endParaRPr lang="en-US" altLang="zh-CN"/>
          </a:p>
          <a:p>
            <a:r>
              <a:rPr lang="en-US" altLang="zh-CN"/>
              <a:t>Floating-point real numbers</a:t>
            </a:r>
            <a:endParaRPr lang="en-US" altLang="zh-CN"/>
          </a:p>
          <a:p>
            <a:pPr lvl="1"/>
            <a:r>
              <a:rPr lang="en-US" altLang="zh-CN"/>
              <a:t>Representation and operations </a:t>
            </a:r>
            <a:endParaRPr lang="en-US" altLang="zh-CN"/>
          </a:p>
        </p:txBody>
      </p:sp>
      <p:sp>
        <p:nvSpPr>
          <p:cNvPr id="231433" name="文本框 231432"/>
          <p:cNvSpPr txBox="1"/>
          <p:nvPr/>
        </p:nvSpPr>
        <p:spPr>
          <a:xfrm rot="5400000">
            <a:off x="8016875" y="758825"/>
            <a:ext cx="18859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§3.1 Introduction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pic>
        <p:nvPicPr>
          <p:cNvPr id="240649" name="图片 240648" descr="f03-01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013" y="1844675"/>
            <a:ext cx="6938962" cy="1619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0642" name="标题 24064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Integer Addition</a:t>
            </a:r>
            <a:endParaRPr lang="en-US" altLang="zh-CN"/>
          </a:p>
        </p:txBody>
      </p:sp>
      <p:sp>
        <p:nvSpPr>
          <p:cNvPr id="240643" name="内容占位符 24064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Example: 7 + 6</a:t>
            </a:r>
            <a:endParaRPr lang="en-US" altLang="zh-CN"/>
          </a:p>
        </p:txBody>
      </p:sp>
      <p:sp>
        <p:nvSpPr>
          <p:cNvPr id="240644" name="文本框 240643"/>
          <p:cNvSpPr txBox="1"/>
          <p:nvPr/>
        </p:nvSpPr>
        <p:spPr>
          <a:xfrm rot="5400000">
            <a:off x="7369175" y="1406525"/>
            <a:ext cx="31813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§3.2 Addition and Subtraction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240647" name="矩形 240646"/>
          <p:cNvSpPr/>
          <p:nvPr/>
        </p:nvSpPr>
        <p:spPr>
          <a:xfrm>
            <a:off x="684213" y="3644900"/>
            <a:ext cx="7772400" cy="25923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 sz="2800"/>
              <a:t>Overflow if result out of range</a:t>
            </a:r>
            <a:endParaRPr lang="en-US" altLang="zh-CN" sz="2800"/>
          </a:p>
          <a:p>
            <a:pPr lvl="1"/>
            <a:r>
              <a:rPr lang="en-US" altLang="zh-CN" sz="2400"/>
              <a:t>Adding +</a:t>
            </a:r>
            <a:r>
              <a:rPr lang="en-US" altLang="zh-CN" sz="2400" err="1"/>
              <a:t>ve</a:t>
            </a:r>
            <a:r>
              <a:rPr lang="en-US" altLang="zh-CN" sz="2400"/>
              <a:t> and –</a:t>
            </a:r>
            <a:r>
              <a:rPr lang="en-US" altLang="zh-CN" sz="2400" err="1"/>
              <a:t>ve</a:t>
            </a:r>
            <a:r>
              <a:rPr lang="en-US" altLang="zh-CN" sz="2400"/>
              <a:t> operands, no overflow</a:t>
            </a:r>
            <a:endParaRPr lang="en-US" altLang="zh-CN" sz="2400"/>
          </a:p>
          <a:p>
            <a:pPr lvl="1"/>
            <a:r>
              <a:rPr lang="en-US" altLang="zh-CN" sz="2400"/>
              <a:t>Adding two +</a:t>
            </a:r>
            <a:r>
              <a:rPr lang="en-US" altLang="zh-CN" sz="2400" err="1"/>
              <a:t>ve</a:t>
            </a:r>
            <a:r>
              <a:rPr lang="en-US" altLang="zh-CN" sz="2400"/>
              <a:t> operands</a:t>
            </a:r>
            <a:endParaRPr lang="en-US" altLang="zh-CN" sz="2400"/>
          </a:p>
          <a:p>
            <a:pPr lvl="2"/>
            <a:r>
              <a:rPr lang="en-US" altLang="zh-CN" sz="2000"/>
              <a:t>Overflow if result sign is 1</a:t>
            </a:r>
            <a:endParaRPr lang="en-US" altLang="zh-CN" sz="2000"/>
          </a:p>
          <a:p>
            <a:pPr lvl="1"/>
            <a:r>
              <a:rPr lang="en-US" altLang="zh-CN" sz="2400"/>
              <a:t>Adding two –</a:t>
            </a:r>
            <a:r>
              <a:rPr lang="en-US" altLang="zh-CN" sz="2400" err="1"/>
              <a:t>ve</a:t>
            </a:r>
            <a:r>
              <a:rPr lang="en-US" altLang="zh-CN" sz="2400"/>
              <a:t> operands</a:t>
            </a:r>
            <a:endParaRPr lang="en-US" altLang="zh-CN" sz="2400"/>
          </a:p>
          <a:p>
            <a:pPr lvl="2"/>
            <a:r>
              <a:rPr lang="en-US" altLang="zh-CN" sz="2000"/>
              <a:t>Overflow if result sign is 0</a:t>
            </a:r>
            <a:endParaRPr lang="en-US" altLang="zh-CN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59076" name="标题 25907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Integer Subtraction</a:t>
            </a:r>
            <a:endParaRPr lang="en-US" altLang="zh-CN"/>
          </a:p>
        </p:txBody>
      </p:sp>
      <p:sp>
        <p:nvSpPr>
          <p:cNvPr id="259077" name="内容占位符 259076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800"/>
              <a:t>Add negation of second operand</a:t>
            </a:r>
            <a:endParaRPr lang="en-US" altLang="zh-CN" sz="2800"/>
          </a:p>
          <a:p>
            <a:r>
              <a:rPr lang="en-US" altLang="zh-CN" sz="2800"/>
              <a:t>Example: 7 – 6 = 7 + (–6)</a:t>
            </a:r>
            <a:endParaRPr lang="en-US" altLang="zh-CN" sz="2800"/>
          </a:p>
          <a:p>
            <a:pPr lvl="1">
              <a:buNone/>
            </a:pPr>
            <a:r>
              <a:rPr lang="en-US" altLang="zh-CN" sz="2400"/>
              <a:t>	+7:	0000 </a:t>
            </a:r>
            <a:r>
              <a:rPr lang="en-US" altLang="zh-CN" sz="2400" err="1"/>
              <a:t>0000</a:t>
            </a:r>
            <a:r>
              <a:rPr lang="en-US" altLang="zh-CN" sz="2400"/>
              <a:t> … </a:t>
            </a:r>
            <a:r>
              <a:rPr lang="en-US" altLang="zh-CN" sz="2400" err="1"/>
              <a:t>0000</a:t>
            </a:r>
            <a:r>
              <a:rPr lang="en-US" altLang="zh-CN" sz="2400"/>
              <a:t> 0111</a:t>
            </a:r>
            <a:br>
              <a:rPr lang="en-US" altLang="zh-CN" sz="2400"/>
            </a:br>
            <a:r>
              <a:rPr lang="en-US" altLang="zh-CN" sz="2400" u="sng"/>
              <a:t>–6:	1111 </a:t>
            </a:r>
            <a:r>
              <a:rPr lang="en-US" altLang="zh-CN" sz="2400" u="sng" err="1"/>
              <a:t>1111</a:t>
            </a:r>
            <a:r>
              <a:rPr lang="en-US" altLang="zh-CN" sz="2400" u="sng"/>
              <a:t> … </a:t>
            </a:r>
            <a:r>
              <a:rPr lang="en-US" altLang="zh-CN" sz="2400" u="sng" err="1"/>
              <a:t>1111</a:t>
            </a:r>
            <a:r>
              <a:rPr lang="en-US" altLang="zh-CN" sz="2400" u="sng"/>
              <a:t> 1010</a:t>
            </a:r>
            <a:br>
              <a:rPr lang="en-US" altLang="zh-CN" sz="2400"/>
            </a:br>
            <a:r>
              <a:rPr lang="en-US" altLang="zh-CN" sz="2400"/>
              <a:t>+1:	0000 </a:t>
            </a:r>
            <a:r>
              <a:rPr lang="en-US" altLang="zh-CN" sz="2400" err="1"/>
              <a:t>0000</a:t>
            </a:r>
            <a:r>
              <a:rPr lang="en-US" altLang="zh-CN" sz="2400"/>
              <a:t> … </a:t>
            </a:r>
            <a:r>
              <a:rPr lang="en-US" altLang="zh-CN" sz="2400" err="1"/>
              <a:t>0000</a:t>
            </a:r>
            <a:r>
              <a:rPr lang="en-US" altLang="zh-CN" sz="2400"/>
              <a:t> 0001</a:t>
            </a:r>
            <a:endParaRPr lang="en-US" altLang="zh-CN" sz="2400"/>
          </a:p>
          <a:p>
            <a:r>
              <a:rPr lang="en-US" altLang="zh-CN" sz="2800"/>
              <a:t>Overflow if result out of range</a:t>
            </a:r>
            <a:endParaRPr lang="en-US" altLang="zh-CN" sz="2800"/>
          </a:p>
          <a:p>
            <a:pPr lvl="1"/>
            <a:r>
              <a:rPr lang="en-US" altLang="zh-CN" sz="2400"/>
              <a:t>Subtracting two +</a:t>
            </a:r>
            <a:r>
              <a:rPr lang="en-US" altLang="zh-CN" sz="2400" err="1"/>
              <a:t>ve</a:t>
            </a:r>
            <a:r>
              <a:rPr lang="en-US" altLang="zh-CN" sz="2400"/>
              <a:t> or two –</a:t>
            </a:r>
            <a:r>
              <a:rPr lang="en-US" altLang="zh-CN" sz="2400" err="1"/>
              <a:t>ve</a:t>
            </a:r>
            <a:r>
              <a:rPr lang="en-US" altLang="zh-CN" sz="2400"/>
              <a:t> operands, no overflow</a:t>
            </a:r>
            <a:endParaRPr lang="en-US" altLang="zh-CN" sz="2400"/>
          </a:p>
          <a:p>
            <a:pPr lvl="1"/>
            <a:r>
              <a:rPr lang="en-US" altLang="zh-CN" sz="2400"/>
              <a:t>Subtracting +</a:t>
            </a:r>
            <a:r>
              <a:rPr lang="en-US" altLang="zh-CN" sz="2400" err="1"/>
              <a:t>ve</a:t>
            </a:r>
            <a:r>
              <a:rPr lang="en-US" altLang="zh-CN" sz="2400"/>
              <a:t> from –</a:t>
            </a:r>
            <a:r>
              <a:rPr lang="en-US" altLang="zh-CN" sz="2400" err="1"/>
              <a:t>ve</a:t>
            </a:r>
            <a:r>
              <a:rPr lang="en-US" altLang="zh-CN" sz="2400"/>
              <a:t> operand</a:t>
            </a:r>
            <a:endParaRPr lang="en-US" altLang="zh-CN" sz="2400"/>
          </a:p>
          <a:p>
            <a:pPr lvl="2"/>
            <a:r>
              <a:rPr lang="en-US" altLang="zh-CN" sz="2000"/>
              <a:t>Overflow if result sign is 0</a:t>
            </a:r>
            <a:endParaRPr lang="en-US" altLang="zh-CN" sz="2000"/>
          </a:p>
          <a:p>
            <a:pPr lvl="1"/>
            <a:r>
              <a:rPr lang="en-US" altLang="zh-CN" sz="2400"/>
              <a:t>Subtracting –</a:t>
            </a:r>
            <a:r>
              <a:rPr lang="en-US" altLang="zh-CN" sz="2400" err="1"/>
              <a:t>ve</a:t>
            </a:r>
            <a:r>
              <a:rPr lang="en-US" altLang="zh-CN" sz="2400"/>
              <a:t> from +</a:t>
            </a:r>
            <a:r>
              <a:rPr lang="en-US" altLang="zh-CN" sz="2400" err="1"/>
              <a:t>ve</a:t>
            </a:r>
            <a:r>
              <a:rPr lang="en-US" altLang="zh-CN" sz="2400"/>
              <a:t> operand</a:t>
            </a:r>
            <a:endParaRPr lang="en-US" altLang="zh-CN" sz="2400"/>
          </a:p>
          <a:p>
            <a:pPr lvl="2"/>
            <a:r>
              <a:rPr lang="en-US" altLang="zh-CN" sz="2000"/>
              <a:t>Overflow if result sign is 1</a:t>
            </a:r>
            <a:endParaRPr lang="en-US" altLang="zh-CN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61124" name="标题 261123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Dealing with Overflow</a:t>
            </a:r>
            <a:endParaRPr lang="en-US" altLang="zh-CN"/>
          </a:p>
        </p:txBody>
      </p:sp>
      <p:sp>
        <p:nvSpPr>
          <p:cNvPr id="261125" name="内容占位符 261124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en-US" altLang="zh-CN"/>
              <a:t>Some languages (e.g., C) ignore overflow, other languages (e.g., </a:t>
            </a:r>
            <a:r>
              <a:rPr lang="en-US" altLang="zh-CN" err="1"/>
              <a:t>Ada</a:t>
            </a:r>
            <a:r>
              <a:rPr lang="en-US" altLang="zh-CN"/>
              <a:t>, Fortran) require raising an exception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/>
              <a:t>Integer arithmetic operations for bytes and halfwords in </a:t>
            </a:r>
            <a:r>
              <a:rPr lang="en-US" altLang="zh-CN">
                <a:sym typeface="+mn-ea"/>
              </a:rPr>
              <a:t>RISC-V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Unsigned integers</a:t>
            </a:r>
            <a:endParaRPr lang="en-US" altLang="zh-CN"/>
          </a:p>
          <a:p>
            <a:pPr lvl="2">
              <a:lnSpc>
                <a:spcPct val="90000"/>
              </a:lnSpc>
            </a:pPr>
            <a:r>
              <a:rPr lang="en-US" altLang="zh-CN"/>
              <a:t>Load with lbu, lhu; arithmetic with add, sub, mul, div; then store using sb, sh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 sz="2800">
                <a:sym typeface="+mn-ea"/>
              </a:rPr>
              <a:t>Signed integers</a:t>
            </a:r>
            <a:endParaRPr lang="en-US" altLang="zh-CN" sz="2800"/>
          </a:p>
          <a:p>
            <a:pPr lvl="2">
              <a:lnSpc>
                <a:spcPct val="90000"/>
              </a:lnSpc>
            </a:pPr>
            <a:r>
              <a:rPr lang="en-US" altLang="zh-CN" sz="2400">
                <a:sym typeface="+mn-ea"/>
              </a:rPr>
              <a:t>Load with lb, lh; arithmetic with add, sub, mul, div; then store using sb, sh</a:t>
            </a:r>
            <a:endParaRPr lang="en-US" altLang="zh-CN" sz="2400">
              <a:sym typeface="+mn-ea"/>
            </a:endParaRPr>
          </a:p>
          <a:p>
            <a:pPr lvl="0">
              <a:lnSpc>
                <a:spcPct val="90000"/>
              </a:lnSpc>
            </a:pPr>
            <a:r>
              <a:rPr lang="en-US" altLang="zh-CN">
                <a:cs typeface="Arial" panose="020B0604020202020204" pitchFamily="34" charset="0"/>
                <a:sym typeface="+mn-ea"/>
              </a:rPr>
              <a:t>Saturating operations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65218" name="标题 265217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Multiplication</a:t>
            </a:r>
            <a:endParaRPr lang="en-US" altLang="zh-CN"/>
          </a:p>
        </p:txBody>
      </p:sp>
      <p:sp>
        <p:nvSpPr>
          <p:cNvPr id="265219" name="内容占位符 265218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Start with long-multiplication approach</a:t>
            </a:r>
            <a:endParaRPr lang="en-US" altLang="zh-CN"/>
          </a:p>
        </p:txBody>
      </p:sp>
      <p:grpSp>
        <p:nvGrpSpPr>
          <p:cNvPr id="265220" name="组合 265219"/>
          <p:cNvGrpSpPr/>
          <p:nvPr/>
        </p:nvGrpSpPr>
        <p:grpSpPr>
          <a:xfrm>
            <a:off x="2384108" y="2391410"/>
            <a:ext cx="1250950" cy="2225675"/>
            <a:chOff x="703" y="1616"/>
            <a:chExt cx="788" cy="1402"/>
          </a:xfrm>
        </p:grpSpPr>
        <p:sp>
          <p:nvSpPr>
            <p:cNvPr id="265221" name="文本框 265220"/>
            <p:cNvSpPr txBox="1"/>
            <p:nvPr/>
          </p:nvSpPr>
          <p:spPr>
            <a:xfrm>
              <a:off x="703" y="1616"/>
              <a:ext cx="788" cy="14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Lucida Console" panose="020B0609040504020204" pitchFamily="49" charset="0"/>
                </a:rPr>
                <a:t>   1000</a:t>
              </a:r>
              <a:endParaRPr lang="en-US" altLang="zh-CN" sz="2000">
                <a:latin typeface="Lucida Console" panose="020B0609040504020204" pitchFamily="49" charset="0"/>
              </a:endParaRPr>
            </a:p>
            <a:p>
              <a:r>
                <a:rPr lang="en-US" altLang="zh-CN" sz="2000">
                  <a:latin typeface="Lucida Console" panose="020B0609040504020204" pitchFamily="49" charset="0"/>
                </a:rPr>
                <a:t>×  1001</a:t>
              </a:r>
              <a:endParaRPr lang="en-US" altLang="zh-CN" sz="2000">
                <a:latin typeface="Lucida Console" panose="020B0609040504020204" pitchFamily="49" charset="0"/>
              </a:endParaRPr>
            </a:p>
            <a:p>
              <a:r>
                <a:rPr lang="en-US" altLang="zh-CN" sz="2000">
                  <a:latin typeface="Lucida Console" panose="020B0609040504020204" pitchFamily="49" charset="0"/>
                </a:rPr>
                <a:t>   1000</a:t>
              </a:r>
              <a:endParaRPr lang="en-US" altLang="zh-CN" sz="2000">
                <a:latin typeface="Lucida Console" panose="020B0609040504020204" pitchFamily="49" charset="0"/>
              </a:endParaRPr>
            </a:p>
            <a:p>
              <a:r>
                <a:rPr lang="en-US" altLang="zh-CN" sz="2000">
                  <a:latin typeface="Lucida Console" panose="020B0609040504020204" pitchFamily="49" charset="0"/>
                </a:rPr>
                <a:t>  0000 </a:t>
              </a:r>
              <a:endParaRPr lang="en-US" altLang="zh-CN" sz="2000">
                <a:latin typeface="Lucida Console" panose="020B0609040504020204" pitchFamily="49" charset="0"/>
              </a:endParaRPr>
            </a:p>
            <a:p>
              <a:r>
                <a:rPr lang="en-US" altLang="zh-CN" sz="2000">
                  <a:latin typeface="Lucida Console" panose="020B0609040504020204" pitchFamily="49" charset="0"/>
                </a:rPr>
                <a:t> 0000  </a:t>
              </a:r>
              <a:endParaRPr lang="en-US" altLang="zh-CN" sz="2000">
                <a:latin typeface="Lucida Console" panose="020B0609040504020204" pitchFamily="49" charset="0"/>
              </a:endParaRPr>
            </a:p>
            <a:p>
              <a:r>
                <a:rPr lang="en-US" altLang="zh-CN" sz="2000">
                  <a:latin typeface="Lucida Console" panose="020B0609040504020204" pitchFamily="49" charset="0"/>
                </a:rPr>
                <a:t>1000   </a:t>
              </a:r>
              <a:endParaRPr lang="en-US" altLang="zh-CN" sz="2000">
                <a:latin typeface="Lucida Console" panose="020B0609040504020204" pitchFamily="49" charset="0"/>
              </a:endParaRPr>
            </a:p>
            <a:p>
              <a:r>
                <a:rPr lang="en-US" altLang="zh-CN" sz="2000">
                  <a:latin typeface="Lucida Console" panose="020B0609040504020204" pitchFamily="49" charset="0"/>
                </a:rPr>
                <a:t>1001000</a:t>
              </a:r>
              <a:endParaRPr lang="en-US" altLang="zh-CN" sz="2000">
                <a:latin typeface="Lucida Console" panose="020B0609040504020204" pitchFamily="49" charset="0"/>
              </a:endParaRPr>
            </a:p>
          </p:txBody>
        </p:sp>
        <p:sp>
          <p:nvSpPr>
            <p:cNvPr id="265222" name="直接连接符 265221"/>
            <p:cNvSpPr/>
            <p:nvPr/>
          </p:nvSpPr>
          <p:spPr>
            <a:xfrm flipH="1">
              <a:off x="703" y="2024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5223" name="直接连接符 265222"/>
            <p:cNvSpPr/>
            <p:nvPr/>
          </p:nvSpPr>
          <p:spPr>
            <a:xfrm flipH="1">
              <a:off x="703" y="2795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65225" name="文本框 265224"/>
          <p:cNvSpPr txBox="1"/>
          <p:nvPr/>
        </p:nvSpPr>
        <p:spPr>
          <a:xfrm>
            <a:off x="1258570" y="4845685"/>
            <a:ext cx="2305050" cy="92551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>
                <a:latin typeface="Arial" panose="020B0604020202020204" pitchFamily="34" charset="0"/>
              </a:rPr>
              <a:t>Length of product is the sum of operand lengths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65226" name="线形标注 1 265225"/>
          <p:cNvSpPr/>
          <p:nvPr/>
        </p:nvSpPr>
        <p:spPr>
          <a:xfrm>
            <a:off x="755333" y="2132648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121634"/>
              <a:gd name="adj4" fmla="val 14487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 sz="1600">
                <a:latin typeface="Arial" panose="020B0604020202020204" pitchFamily="34" charset="0"/>
              </a:rPr>
              <a:t>multiplicand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265227" name="线形标注 1 265226"/>
          <p:cNvSpPr/>
          <p:nvPr/>
        </p:nvSpPr>
        <p:spPr>
          <a:xfrm>
            <a:off x="755333" y="2607310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69231"/>
              <a:gd name="adj4" fmla="val 146639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 sz="1600">
                <a:latin typeface="Arial" panose="020B0604020202020204" pitchFamily="34" charset="0"/>
              </a:rPr>
              <a:t>multiplier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265228" name="线形标注 1 265227"/>
          <p:cNvSpPr/>
          <p:nvPr/>
        </p:nvSpPr>
        <p:spPr>
          <a:xfrm>
            <a:off x="755333" y="4191635"/>
            <a:ext cx="1150937" cy="358775"/>
          </a:xfrm>
          <a:prstGeom prst="borderCallout1">
            <a:avLst>
              <a:gd name="adj1" fmla="val 31856"/>
              <a:gd name="adj2" fmla="val 106620"/>
              <a:gd name="adj3" fmla="val 58407"/>
              <a:gd name="adj4" fmla="val 14455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 sz="1600">
                <a:latin typeface="Arial" panose="020B0604020202020204" pitchFamily="34" charset="0"/>
              </a:rPr>
              <a:t>product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265230" name="文本框 265229"/>
          <p:cNvSpPr txBox="1"/>
          <p:nvPr/>
        </p:nvSpPr>
        <p:spPr>
          <a:xfrm rot="5400000">
            <a:off x="7953375" y="822325"/>
            <a:ext cx="20129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§3.3 Multiplication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pic>
        <p:nvPicPr>
          <p:cNvPr id="265231" name="图片 265230" descr="f03-04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8145" y="2133600"/>
            <a:ext cx="4756785" cy="3044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pic>
        <p:nvPicPr>
          <p:cNvPr id="267273" name="图片 267272" descr="f03-05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530" y="1210310"/>
            <a:ext cx="3284220" cy="44380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7266" name="标题 26726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Multiplication Hardware</a:t>
            </a:r>
            <a:endParaRPr lang="en-US" altLang="zh-CN"/>
          </a:p>
        </p:txBody>
      </p:sp>
      <p:sp>
        <p:nvSpPr>
          <p:cNvPr id="267269" name="线形标注 1 267268"/>
          <p:cNvSpPr/>
          <p:nvPr/>
        </p:nvSpPr>
        <p:spPr>
          <a:xfrm>
            <a:off x="6300470" y="4868863"/>
            <a:ext cx="1439863" cy="330200"/>
          </a:xfrm>
          <a:prstGeom prst="borderCallout1">
            <a:avLst>
              <a:gd name="adj1" fmla="val 34616"/>
              <a:gd name="adj2" fmla="val -5292"/>
              <a:gd name="adj3" fmla="val -167787"/>
              <a:gd name="adj4" fmla="val -4035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 sz="1600">
                <a:latin typeface="Tahoma" panose="020B0604030504040204" pitchFamily="34" charset="0"/>
              </a:rPr>
              <a:t>Initially 0</a:t>
            </a:r>
            <a:endParaRPr lang="en-US" altLang="zh-CN" sz="1600">
              <a:latin typeface="Tahoma" panose="020B0604030504040204" pitchFamily="34" charset="0"/>
            </a:endParaRPr>
          </a:p>
        </p:txBody>
      </p:sp>
      <p:pic>
        <p:nvPicPr>
          <p:cNvPr id="267272" name="图片 267271" descr="f03-04-P3744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955" y="1412875"/>
            <a:ext cx="4498975" cy="3044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pic>
        <p:nvPicPr>
          <p:cNvPr id="269321" name="图片 269320" descr="f03-06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275" y="1989138"/>
            <a:ext cx="5340350" cy="27225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9317" name="标题 269316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Optimized Multiplier</a:t>
            </a:r>
            <a:endParaRPr lang="en-US" altLang="zh-CN"/>
          </a:p>
        </p:txBody>
      </p:sp>
      <p:sp>
        <p:nvSpPr>
          <p:cNvPr id="269318" name="内容占位符 269317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Perform steps in parallel: add/shift</a:t>
            </a:r>
            <a:endParaRPr lang="en-US" altLang="zh-CN"/>
          </a:p>
        </p:txBody>
      </p:sp>
      <p:sp>
        <p:nvSpPr>
          <p:cNvPr id="269319" name="矩形 269318"/>
          <p:cNvSpPr/>
          <p:nvPr/>
        </p:nvSpPr>
        <p:spPr>
          <a:xfrm>
            <a:off x="684213" y="5013325"/>
            <a:ext cx="8270875" cy="11509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One cycle per partial-product addition</a:t>
            </a:r>
            <a:endParaRPr lang="en-US" altLang="zh-CN"/>
          </a:p>
          <a:p>
            <a:pPr lvl="1"/>
            <a:r>
              <a:rPr lang="en-US" altLang="zh-CN"/>
              <a:t>That’s ok, if frequency of multiplications is low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Basic approach:</a:t>
            </a:r>
            <a:endParaRPr lang="zh-CN" altLang="en-US"/>
          </a:p>
          <a:p>
            <a:pPr lvl="1"/>
            <a:r>
              <a:rPr lang="zh-CN" altLang="en-US"/>
              <a:t>Store the signs of the operands</a:t>
            </a:r>
            <a:endParaRPr lang="zh-CN" altLang="en-US"/>
          </a:p>
          <a:p>
            <a:pPr lvl="1"/>
            <a:r>
              <a:rPr lang="zh-CN" altLang="en-US"/>
              <a:t>Convert signed numbers to unsigned numbers</a:t>
            </a:r>
            <a:endParaRPr lang="zh-CN" altLang="en-US"/>
          </a:p>
          <a:p>
            <a:pPr marL="457200" lvl="1" indent="0">
              <a:buNone/>
            </a:pPr>
            <a:r>
              <a:rPr lang="en-US" altLang="zh-CN"/>
              <a:t>	</a:t>
            </a:r>
            <a:r>
              <a:rPr lang="zh-CN" altLang="en-US"/>
              <a:t>(most significant bit (MSB) = 0)</a:t>
            </a:r>
            <a:endParaRPr lang="zh-CN" altLang="en-US"/>
          </a:p>
          <a:p>
            <a:pPr lvl="1"/>
            <a:r>
              <a:rPr lang="zh-CN" altLang="en-US"/>
              <a:t>Perform multiplication</a:t>
            </a:r>
            <a:endParaRPr lang="zh-CN" altLang="en-US"/>
          </a:p>
          <a:p>
            <a:pPr lvl="1"/>
            <a:r>
              <a:rPr lang="zh-CN" altLang="en-US"/>
              <a:t>If sign bits of operands are equal</a:t>
            </a:r>
            <a:endParaRPr lang="zh-CN" altLang="en-US"/>
          </a:p>
          <a:p>
            <a:pPr marL="457200" lvl="1" indent="0">
              <a:buNone/>
            </a:pPr>
            <a:r>
              <a:rPr lang="en-US" altLang="zh-CN"/>
              <a:t>		</a:t>
            </a:r>
            <a:r>
              <a:rPr lang="zh-CN" altLang="en-US"/>
              <a:t>sign bit = 0, else</a:t>
            </a:r>
            <a:endParaRPr lang="zh-CN" altLang="en-US"/>
          </a:p>
          <a:p>
            <a:pPr marL="457200" lvl="1" indent="0">
              <a:buNone/>
            </a:pPr>
            <a:r>
              <a:rPr lang="en-US" altLang="zh-CN"/>
              <a:t>		</a:t>
            </a:r>
            <a:r>
              <a:rPr lang="zh-CN" altLang="en-US"/>
              <a:t>sign bit = 1</a:t>
            </a:r>
            <a:endParaRPr lang="zh-CN" altLang="en-US"/>
          </a:p>
        </p:txBody>
      </p:sp>
      <p:sp>
        <p:nvSpPr>
          <p:cNvPr id="269317" name="标题 269316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anchor="b" anchorCtr="0">
            <a:spAutoFit/>
          </a:bodyPr>
          <a:p>
            <a:r>
              <a:rPr lang="en-US" altLang="zh-CN"/>
              <a:t>Signed Multiplication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71366" name="标题 27136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Faster Multiplier</a:t>
            </a:r>
            <a:endParaRPr lang="en-US" altLang="zh-CN"/>
          </a:p>
        </p:txBody>
      </p:sp>
      <p:sp>
        <p:nvSpPr>
          <p:cNvPr id="271367" name="内容占位符 271366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Uses multiple adders</a:t>
            </a:r>
            <a:endParaRPr lang="en-US" altLang="zh-CN"/>
          </a:p>
          <a:p>
            <a:pPr lvl="1"/>
            <a:r>
              <a:rPr lang="en-US" altLang="zh-CN"/>
              <a:t>Cost/performance tradeoff</a:t>
            </a:r>
            <a:endParaRPr lang="en-US" altLang="zh-CN"/>
          </a:p>
        </p:txBody>
      </p:sp>
      <p:pic>
        <p:nvPicPr>
          <p:cNvPr id="271365" name="图片 271364" descr="f03-08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2420938"/>
            <a:ext cx="6845300" cy="2652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1368" name="矩形 271367"/>
          <p:cNvSpPr/>
          <p:nvPr/>
        </p:nvSpPr>
        <p:spPr>
          <a:xfrm>
            <a:off x="684213" y="5157788"/>
            <a:ext cx="8270875" cy="10810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Can be pipelined</a:t>
            </a:r>
            <a:endParaRPr lang="en-US" altLang="zh-CN"/>
          </a:p>
          <a:p>
            <a:pPr lvl="1"/>
            <a:r>
              <a:rPr lang="en-US" altLang="zh-CN"/>
              <a:t>Several multiplication performed in parallel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73410" name="标题 273409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anchor="b" anchorCtr="0">
            <a:spAutoFit/>
          </a:bodyPr>
          <a:p>
            <a:r>
              <a:rPr lang="en-US" altLang="zh-CN"/>
              <a:t>Multiply in RISC-V</a:t>
            </a:r>
            <a:endParaRPr lang="en-US" altLang="zh-CN"/>
          </a:p>
        </p:txBody>
      </p:sp>
      <p:graphicFrame>
        <p:nvGraphicFramePr>
          <p:cNvPr id="341057" name="Group 65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684213" y="1125538"/>
          <a:ext cx="8270875" cy="2193925"/>
        </p:xfrm>
        <a:graphic>
          <a:graphicData uri="http://schemas.openxmlformats.org/drawingml/2006/table">
            <a:tbl>
              <a:tblPr/>
              <a:tblGrid>
                <a:gridCol w="1381125"/>
                <a:gridCol w="1468755"/>
                <a:gridCol w="1470025"/>
                <a:gridCol w="1799590"/>
                <a:gridCol w="2151380"/>
              </a:tblGrid>
              <a:tr h="365125"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Category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Instruction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Example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Meaning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Comments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03213">
                <a:tc rowSpan="4"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_GB2312" pitchFamily="49" charset="-122"/>
                        </a:rPr>
                        <a:t>Arithmetic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Multiply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mul x5,x6,x7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* x7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Lower 32 bits of 64-bit product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 vMerge="1">
                  <a:tcPr/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Multiply high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mulh x5,x6,x7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x5=(x6 * x7) &gt;&gt; 32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Upper 32 bits of 64-bit signed product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 vMerge="1">
                  <a:tcPr/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Multiply high, unsigned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mulhu x5,x6,x7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x5=(x6 * x7) &gt;&gt; 32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Upper 32 bits of 64-bit unsigned product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 vMerge="1">
                  <a:tcPr/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Multiply high, signed-unsigned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mulhsu x5,x6,x7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x5=(x6 * x7) &gt;&gt; 32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Upper 32 bits of 64-bit signed-unsigned product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75458" name="标题 275457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anchor="b" anchorCtr="0">
            <a:spAutoFit/>
          </a:bodyPr>
          <a:p>
            <a:r>
              <a:rPr lang="en-US" altLang="zh-CN"/>
              <a:t>Division</a:t>
            </a:r>
            <a:endParaRPr lang="en-US" altLang="zh-CN"/>
          </a:p>
        </p:txBody>
      </p:sp>
      <p:sp>
        <p:nvSpPr>
          <p:cNvPr id="275459" name="内容占位符 275458"/>
          <p:cNvSpPr>
            <a:spLocks noGrp="1"/>
          </p:cNvSpPr>
          <p:nvPr>
            <p:ph sz="half" idx="1"/>
          </p:nvPr>
        </p:nvSpPr>
        <p:spPr>
          <a:xfrm>
            <a:off x="4507865" y="1124585"/>
            <a:ext cx="4457065" cy="5111750"/>
          </a:xfrm>
        </p:spPr>
        <p:txBody>
          <a:bodyPr/>
          <a:p>
            <a:pPr>
              <a:lnSpc>
                <a:spcPct val="90000"/>
              </a:lnSpc>
            </a:pPr>
            <a:r>
              <a:rPr lang="en-US" altLang="zh-CN" sz="2400"/>
              <a:t>Check for 0 divisor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en-US" altLang="zh-CN" sz="2400"/>
              <a:t>Long division approach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If divisor ≤ dividend bits</a:t>
            </a:r>
            <a:endParaRPr lang="en-US" altLang="zh-CN" sz="2000"/>
          </a:p>
          <a:p>
            <a:pPr lvl="2">
              <a:lnSpc>
                <a:spcPct val="90000"/>
              </a:lnSpc>
            </a:pPr>
            <a:r>
              <a:rPr lang="en-US" altLang="zh-CN" sz="1800"/>
              <a:t>1 bit in quotient, subtract</a:t>
            </a:r>
            <a:endParaRPr lang="en-US" altLang="zh-CN" sz="1800"/>
          </a:p>
          <a:p>
            <a:pPr lvl="1">
              <a:lnSpc>
                <a:spcPct val="90000"/>
              </a:lnSpc>
            </a:pPr>
            <a:r>
              <a:rPr lang="en-US" altLang="zh-CN" sz="2000"/>
              <a:t>Otherwise</a:t>
            </a:r>
            <a:endParaRPr lang="en-US" altLang="zh-CN" sz="2000"/>
          </a:p>
          <a:p>
            <a:pPr lvl="2">
              <a:lnSpc>
                <a:spcPct val="90000"/>
              </a:lnSpc>
            </a:pPr>
            <a:r>
              <a:rPr lang="en-US" altLang="zh-CN" sz="1800"/>
              <a:t>0 bit in quotient, bring down next dividend bit</a:t>
            </a:r>
            <a:endParaRPr lang="en-US" altLang="zh-CN" sz="1800"/>
          </a:p>
          <a:p>
            <a:pPr>
              <a:lnSpc>
                <a:spcPct val="90000"/>
              </a:lnSpc>
            </a:pPr>
            <a:r>
              <a:rPr lang="en-US" altLang="zh-CN" sz="2400"/>
              <a:t>Restoring division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Do the subtract, and if remainder goes &lt; 0, add divisor back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en-US" altLang="zh-CN" sz="2400"/>
              <a:t>Signed division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Divide using absolute values</a:t>
            </a:r>
            <a:endParaRPr lang="en-US" altLang="zh-CN" sz="2000"/>
          </a:p>
          <a:p>
            <a:pPr lvl="1">
              <a:lnSpc>
                <a:spcPct val="90000"/>
              </a:lnSpc>
            </a:pPr>
            <a:r>
              <a:rPr lang="en-US" altLang="zh-CN" sz="2000"/>
              <a:t>Adjust sign of quotient and remainder as required</a:t>
            </a:r>
            <a:endParaRPr lang="en-US" altLang="zh-CN" sz="2000"/>
          </a:p>
        </p:txBody>
      </p:sp>
      <p:sp>
        <p:nvSpPr>
          <p:cNvPr id="275460" name="文本框 275459"/>
          <p:cNvSpPr txBox="1"/>
          <p:nvPr/>
        </p:nvSpPr>
        <p:spPr>
          <a:xfrm>
            <a:off x="1951673" y="2565400"/>
            <a:ext cx="2019300" cy="25533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000">
                <a:latin typeface="Lucida Console" panose="020B0609040504020204" pitchFamily="49" charset="0"/>
              </a:rPr>
              <a:t>        1001</a:t>
            </a:r>
            <a:endParaRPr lang="en-US" altLang="zh-CN" sz="2000">
              <a:latin typeface="Lucida Console" panose="020B0609040504020204" pitchFamily="49" charset="0"/>
            </a:endParaRPr>
          </a:p>
          <a:p>
            <a:r>
              <a:rPr lang="en-US" altLang="zh-CN" sz="2000">
                <a:latin typeface="Lucida Console" panose="020B0609040504020204" pitchFamily="49" charset="0"/>
              </a:rPr>
              <a:t>1000 1001010</a:t>
            </a:r>
            <a:endParaRPr lang="en-US" altLang="zh-CN" sz="2000">
              <a:latin typeface="Lucida Console" panose="020B0609040504020204" pitchFamily="49" charset="0"/>
            </a:endParaRPr>
          </a:p>
          <a:p>
            <a:r>
              <a:rPr lang="en-US" altLang="zh-CN" sz="2000">
                <a:latin typeface="Lucida Console" panose="020B0609040504020204" pitchFamily="49" charset="0"/>
              </a:rPr>
              <a:t>    -1000</a:t>
            </a:r>
            <a:endParaRPr lang="en-US" altLang="zh-CN" sz="2000">
              <a:latin typeface="Lucida Console" panose="020B0609040504020204" pitchFamily="49" charset="0"/>
            </a:endParaRPr>
          </a:p>
          <a:p>
            <a:r>
              <a:rPr lang="en-US" altLang="zh-CN" sz="2000">
                <a:latin typeface="Lucida Console" panose="020B0609040504020204" pitchFamily="49" charset="0"/>
              </a:rPr>
              <a:t>        10</a:t>
            </a:r>
            <a:endParaRPr lang="en-US" altLang="zh-CN" sz="2000">
              <a:latin typeface="Lucida Console" panose="020B0609040504020204" pitchFamily="49" charset="0"/>
            </a:endParaRPr>
          </a:p>
          <a:p>
            <a:r>
              <a:rPr lang="en-US" altLang="zh-CN" sz="2000">
                <a:latin typeface="Lucida Console" panose="020B0609040504020204" pitchFamily="49" charset="0"/>
              </a:rPr>
              <a:t>        101 </a:t>
            </a:r>
            <a:endParaRPr lang="en-US" altLang="zh-CN" sz="2000">
              <a:latin typeface="Lucida Console" panose="020B0609040504020204" pitchFamily="49" charset="0"/>
            </a:endParaRPr>
          </a:p>
          <a:p>
            <a:r>
              <a:rPr lang="en-US" altLang="zh-CN" sz="2000">
                <a:latin typeface="Lucida Console" panose="020B0609040504020204" pitchFamily="49" charset="0"/>
              </a:rPr>
              <a:t>        1010</a:t>
            </a:r>
            <a:endParaRPr lang="en-US" altLang="zh-CN" sz="2000">
              <a:latin typeface="Lucida Console" panose="020B0609040504020204" pitchFamily="49" charset="0"/>
            </a:endParaRPr>
          </a:p>
          <a:p>
            <a:r>
              <a:rPr lang="en-US" altLang="zh-CN" sz="2000">
                <a:latin typeface="Lucida Console" panose="020B0609040504020204" pitchFamily="49" charset="0"/>
              </a:rPr>
              <a:t>       -1000</a:t>
            </a:r>
            <a:endParaRPr lang="en-US" altLang="zh-CN" sz="2000">
              <a:latin typeface="Lucida Console" panose="020B0609040504020204" pitchFamily="49" charset="0"/>
            </a:endParaRPr>
          </a:p>
          <a:p>
            <a:r>
              <a:rPr lang="en-US" altLang="zh-CN" sz="2000">
                <a:latin typeface="Lucida Console" panose="020B0609040504020204" pitchFamily="49" charset="0"/>
              </a:rPr>
              <a:t>          10</a:t>
            </a:r>
            <a:endParaRPr lang="en-US" altLang="zh-CN" sz="2000">
              <a:latin typeface="Lucida Console" panose="020B0609040504020204" pitchFamily="49" charset="0"/>
            </a:endParaRPr>
          </a:p>
        </p:txBody>
      </p:sp>
      <p:sp>
        <p:nvSpPr>
          <p:cNvPr id="275461" name="直接连接符 275460"/>
          <p:cNvSpPr/>
          <p:nvPr/>
        </p:nvSpPr>
        <p:spPr>
          <a:xfrm flipH="1">
            <a:off x="2699385" y="2924175"/>
            <a:ext cx="12239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5462" name="直接连接符 275461"/>
          <p:cNvSpPr/>
          <p:nvPr/>
        </p:nvSpPr>
        <p:spPr>
          <a:xfrm flipH="1">
            <a:off x="2770823" y="3500438"/>
            <a:ext cx="6477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5463" name="文本框 275462"/>
          <p:cNvSpPr txBox="1"/>
          <p:nvPr/>
        </p:nvSpPr>
        <p:spPr>
          <a:xfrm>
            <a:off x="1186498" y="5376863"/>
            <a:ext cx="26847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>
                <a:latin typeface="Arial" panose="020B0604020202020204" pitchFamily="34" charset="0"/>
              </a:rPr>
              <a:t>n</a:t>
            </a:r>
            <a:r>
              <a:rPr lang="en-US" altLang="zh-CN">
                <a:latin typeface="Arial" panose="020B0604020202020204" pitchFamily="34" charset="0"/>
              </a:rPr>
              <a:t>-bit operands yield </a:t>
            </a:r>
            <a:r>
              <a:rPr lang="en-US" altLang="zh-CN" i="1">
                <a:latin typeface="Arial" panose="020B0604020202020204" pitchFamily="34" charset="0"/>
              </a:rPr>
              <a:t>n</a:t>
            </a:r>
            <a:r>
              <a:rPr lang="en-US" altLang="zh-CN">
                <a:latin typeface="Arial" panose="020B0604020202020204" pitchFamily="34" charset="0"/>
              </a:rPr>
              <a:t>-bit</a:t>
            </a:r>
            <a:br>
              <a:rPr lang="en-US" altLang="zh-CN">
                <a:latin typeface="Arial" panose="020B0604020202020204" pitchFamily="34" charset="0"/>
              </a:rPr>
            </a:br>
            <a:r>
              <a:rPr lang="en-US" altLang="zh-CN">
                <a:latin typeface="Arial" panose="020B0604020202020204" pitchFamily="34" charset="0"/>
              </a:rPr>
              <a:t>quotient and remainder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75464" name="线形标注 1 275463"/>
          <p:cNvSpPr/>
          <p:nvPr/>
        </p:nvSpPr>
        <p:spPr>
          <a:xfrm>
            <a:off x="1043623" y="1844675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237019"/>
              <a:gd name="adj4" fmla="val 15424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 sz="1600">
                <a:latin typeface="Arial" panose="020B0604020202020204" pitchFamily="34" charset="0"/>
              </a:rPr>
              <a:t>quotient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275465" name="线形标注 1 275464"/>
          <p:cNvSpPr/>
          <p:nvPr/>
        </p:nvSpPr>
        <p:spPr>
          <a:xfrm>
            <a:off x="1043623" y="2276475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178366"/>
              <a:gd name="adj4" fmla="val 13087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 sz="1600">
                <a:latin typeface="Arial" panose="020B0604020202020204" pitchFamily="34" charset="0"/>
              </a:rPr>
              <a:t>dividend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275466" name="线形标注 1 275465"/>
          <p:cNvSpPr/>
          <p:nvPr/>
        </p:nvSpPr>
        <p:spPr>
          <a:xfrm>
            <a:off x="1402398" y="4797425"/>
            <a:ext cx="1150937" cy="330200"/>
          </a:xfrm>
          <a:prstGeom prst="borderCallout1">
            <a:avLst>
              <a:gd name="adj1" fmla="val 34616"/>
              <a:gd name="adj2" fmla="val 106620"/>
              <a:gd name="adj3" fmla="val 33171"/>
              <a:gd name="adj4" fmla="val 18069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 sz="1600">
                <a:latin typeface="Arial" panose="020B0604020202020204" pitchFamily="34" charset="0"/>
              </a:rPr>
              <a:t>remainder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275467" name="直接连接符 275466"/>
          <p:cNvSpPr/>
          <p:nvPr/>
        </p:nvSpPr>
        <p:spPr>
          <a:xfrm flipH="1">
            <a:off x="3202623" y="4724400"/>
            <a:ext cx="6477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5468" name="任意多边形 275467"/>
          <p:cNvSpPr/>
          <p:nvPr/>
        </p:nvSpPr>
        <p:spPr>
          <a:xfrm>
            <a:off x="2699385" y="2924175"/>
            <a:ext cx="73025" cy="144463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5469" name="任意多边形 275468"/>
          <p:cNvSpPr/>
          <p:nvPr/>
        </p:nvSpPr>
        <p:spPr>
          <a:xfrm flipV="1">
            <a:off x="2699385" y="3068638"/>
            <a:ext cx="73025" cy="144462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5470" name="线形标注 1 275469"/>
          <p:cNvSpPr/>
          <p:nvPr/>
        </p:nvSpPr>
        <p:spPr>
          <a:xfrm>
            <a:off x="610235" y="3357563"/>
            <a:ext cx="1079500" cy="330200"/>
          </a:xfrm>
          <a:prstGeom prst="borderCallout1">
            <a:avLst>
              <a:gd name="adj1" fmla="val 34616"/>
              <a:gd name="adj2" fmla="val 107060"/>
              <a:gd name="adj3" fmla="val -48556"/>
              <a:gd name="adj4" fmla="val 13191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 sz="1600">
                <a:latin typeface="Arial" panose="020B0604020202020204" pitchFamily="34" charset="0"/>
              </a:rPr>
              <a:t>divisor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275472" name="文本框 275471"/>
          <p:cNvSpPr txBox="1"/>
          <p:nvPr/>
        </p:nvSpPr>
        <p:spPr>
          <a:xfrm rot="5400000">
            <a:off x="8213725" y="561975"/>
            <a:ext cx="149098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§3.4 Division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pic>
        <p:nvPicPr>
          <p:cNvPr id="277513" name="图片 277512" descr="f03-10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943" y="1196975"/>
            <a:ext cx="4016375" cy="5300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7506" name="标题 27750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Division Hardware</a:t>
            </a:r>
            <a:endParaRPr lang="en-US" altLang="zh-CN"/>
          </a:p>
        </p:txBody>
      </p:sp>
      <p:sp>
        <p:nvSpPr>
          <p:cNvPr id="277509" name="线形标注 1 277508"/>
          <p:cNvSpPr/>
          <p:nvPr/>
        </p:nvSpPr>
        <p:spPr>
          <a:xfrm>
            <a:off x="6588125" y="5516563"/>
            <a:ext cx="1728788" cy="330200"/>
          </a:xfrm>
          <a:prstGeom prst="borderCallout1">
            <a:avLst>
              <a:gd name="adj1" fmla="val 34616"/>
              <a:gd name="adj2" fmla="val -4407"/>
              <a:gd name="adj3" fmla="val -157213"/>
              <a:gd name="adj4" fmla="val -32139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 sz="1600">
                <a:latin typeface="Arial" panose="020B0604020202020204" pitchFamily="34" charset="0"/>
              </a:rPr>
              <a:t>Initially dividend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277510" name="线形标注 1 277509"/>
          <p:cNvSpPr/>
          <p:nvPr/>
        </p:nvSpPr>
        <p:spPr>
          <a:xfrm>
            <a:off x="7092950" y="1484313"/>
            <a:ext cx="1584325" cy="576262"/>
          </a:xfrm>
          <a:prstGeom prst="borderCallout1">
            <a:avLst>
              <a:gd name="adj1" fmla="val 19833"/>
              <a:gd name="adj2" fmla="val -4810"/>
              <a:gd name="adj3" fmla="val 155648"/>
              <a:gd name="adj4" fmla="val -3446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 sz="1600">
                <a:latin typeface="Arial" panose="020B0604020202020204" pitchFamily="34" charset="0"/>
              </a:rPr>
              <a:t>Initially divisor in left half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pic>
        <p:nvPicPr>
          <p:cNvPr id="277511" name="图片 277510" descr="f03-09-P3744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740" y="2349500"/>
            <a:ext cx="4022090" cy="2562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pic>
        <p:nvPicPr>
          <p:cNvPr id="279558" name="图片 279557" descr="f03-12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30" y="2924493"/>
            <a:ext cx="5340350" cy="27225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9554" name="标题 279553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Optimized Divider</a:t>
            </a:r>
            <a:endParaRPr lang="en-US" altLang="zh-CN"/>
          </a:p>
        </p:txBody>
      </p:sp>
      <p:sp>
        <p:nvSpPr>
          <p:cNvPr id="279555" name="内容占位符 27955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800"/>
              <a:t>One cycle per partial-remainder subtraction</a:t>
            </a:r>
            <a:endParaRPr lang="en-US" altLang="zh-CN" sz="2800"/>
          </a:p>
          <a:p>
            <a:r>
              <a:rPr lang="en-US" altLang="zh-CN" sz="2800"/>
              <a:t>Looks a lot like a multiplier!</a:t>
            </a:r>
            <a:endParaRPr lang="en-US" altLang="zh-CN" sz="2800"/>
          </a:p>
          <a:p>
            <a:pPr lvl="1"/>
            <a:r>
              <a:rPr lang="en-US" altLang="zh-CN" sz="2400"/>
              <a:t>Same hardware can be used for both</a:t>
            </a:r>
            <a:endParaRPr lang="en-US" altLang="zh-CN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800"/>
              <a:t>The sign of q</a:t>
            </a:r>
            <a:r>
              <a:rPr sz="2800"/>
              <a:t>uotient</a:t>
            </a:r>
            <a:r>
              <a:rPr lang="en-US" sz="2800"/>
              <a:t> in Division is similar to that in Multiplication</a:t>
            </a:r>
            <a:r>
              <a:rPr lang="en-US"/>
              <a:t> </a:t>
            </a:r>
          </a:p>
          <a:p>
            <a:r>
              <a:rPr lang="en-US" altLang="zh-CN" sz="2800"/>
              <a:t>The  remainder and the dividend must have identical signs</a:t>
            </a:r>
            <a:endParaRPr lang="en-US" altLang="zh-CN" sz="2800"/>
          </a:p>
          <a:p>
            <a:pPr lvl="1"/>
            <a:r>
              <a:rPr lang="zh-CN" altLang="en-US" sz="2400"/>
              <a:t>(+7) ÷</a:t>
            </a:r>
            <a:r>
              <a:rPr lang="en-US" altLang="zh-CN" sz="2400"/>
              <a:t> </a:t>
            </a:r>
            <a:r>
              <a:rPr lang="zh-CN" altLang="en-US" sz="2400"/>
              <a:t>(+2) = + 3 	Remainder = +1</a:t>
            </a:r>
            <a:endParaRPr lang="zh-CN" altLang="en-US" sz="2400"/>
          </a:p>
          <a:p>
            <a:pPr lvl="2"/>
            <a:r>
              <a:rPr lang="zh-CN" altLang="en-US" sz="2000"/>
              <a:t>7 = 3 × 2 + (+1) = 6 + 1</a:t>
            </a:r>
            <a:endParaRPr lang="zh-CN" altLang="en-US" sz="2000"/>
          </a:p>
          <a:p>
            <a:pPr lvl="1"/>
            <a:r>
              <a:rPr lang="zh-CN" altLang="en-US" sz="2400"/>
              <a:t>(-7) ÷</a:t>
            </a:r>
            <a:r>
              <a:rPr lang="en-US" altLang="zh-CN" sz="2400"/>
              <a:t> </a:t>
            </a:r>
            <a:r>
              <a:rPr lang="zh-CN" altLang="en-US" sz="2400"/>
              <a:t>(+2) = - 3 	Remainder = -1</a:t>
            </a:r>
            <a:endParaRPr lang="zh-CN" altLang="en-US" sz="2400"/>
          </a:p>
          <a:p>
            <a:pPr lvl="2"/>
            <a:r>
              <a:rPr lang="zh-CN" altLang="en-US" sz="2000"/>
              <a:t>-7 = -3 ×  2 + (-1) = - 6 - 1</a:t>
            </a:r>
            <a:endParaRPr lang="zh-CN" altLang="en-US" sz="2000"/>
          </a:p>
          <a:p>
            <a:pPr lvl="1"/>
            <a:r>
              <a:rPr lang="zh-CN" altLang="en-US" sz="2400"/>
              <a:t>(+7</a:t>
            </a:r>
            <a:r>
              <a:rPr lang="en-US" altLang="zh-CN" sz="2400"/>
              <a:t>)</a:t>
            </a:r>
            <a:r>
              <a:rPr lang="zh-CN" altLang="en-US" sz="2400"/>
              <a:t> ÷</a:t>
            </a:r>
            <a:r>
              <a:rPr lang="en-US" altLang="zh-CN" sz="2400"/>
              <a:t> (</a:t>
            </a:r>
            <a:r>
              <a:rPr lang="zh-CN" altLang="en-US" sz="2400"/>
              <a:t>- 2) = - 3 	Remainder = +1</a:t>
            </a:r>
            <a:endParaRPr lang="zh-CN" altLang="en-US" sz="2400"/>
          </a:p>
          <a:p>
            <a:pPr lvl="1"/>
            <a:r>
              <a:rPr lang="zh-CN" altLang="en-US" sz="2400"/>
              <a:t>(-7</a:t>
            </a:r>
            <a:r>
              <a:rPr lang="en-US" altLang="zh-CN" sz="2400"/>
              <a:t>)</a:t>
            </a:r>
            <a:r>
              <a:rPr lang="zh-CN" altLang="en-US" sz="2400"/>
              <a:t> ÷</a:t>
            </a:r>
            <a:r>
              <a:rPr lang="en-US" altLang="zh-CN" sz="2400"/>
              <a:t> (</a:t>
            </a:r>
            <a:r>
              <a:rPr lang="zh-CN" altLang="en-US" sz="2400"/>
              <a:t>- 2) = + 3 	Remainder = -1</a:t>
            </a:r>
            <a:endParaRPr lang="zh-CN" altLang="en-US"/>
          </a:p>
          <a:p>
            <a:pPr lvl="1"/>
            <a:r>
              <a:rPr lang="en-US" altLang="zh-CN" sz="2400" b="1">
                <a:solidFill>
                  <a:srgbClr val="FF0000"/>
                </a:solidFill>
              </a:rPr>
              <a:t>avoid</a:t>
            </a:r>
            <a:r>
              <a:rPr lang="en-US" altLang="zh-CN" sz="2400"/>
              <a:t> : (</a:t>
            </a:r>
            <a:r>
              <a:rPr lang="zh-CN" altLang="en-US" sz="2400"/>
              <a:t>+7</a:t>
            </a:r>
            <a:r>
              <a:rPr lang="en-US" altLang="zh-CN" sz="2400"/>
              <a:t>) </a:t>
            </a:r>
            <a:r>
              <a:rPr lang="zh-CN" altLang="en-US" sz="2400"/>
              <a:t>÷</a:t>
            </a:r>
            <a:r>
              <a:rPr lang="en-US" altLang="zh-CN" sz="2400"/>
              <a:t> (</a:t>
            </a:r>
            <a:r>
              <a:rPr lang="zh-CN" altLang="en-US" sz="2400"/>
              <a:t>- 2) = - 4 </a:t>
            </a:r>
            <a:r>
              <a:rPr lang="en-US" altLang="zh-CN" sz="2400"/>
              <a:t>	</a:t>
            </a:r>
            <a:r>
              <a:rPr lang="zh-CN" altLang="en-US" sz="2400"/>
              <a:t>Remainder = -1</a:t>
            </a:r>
            <a:endParaRPr lang="zh-CN" altLang="en-US" sz="2400"/>
          </a:p>
        </p:txBody>
      </p:sp>
      <p:sp>
        <p:nvSpPr>
          <p:cNvPr id="269317" name="标题 269316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anchor="b" anchorCtr="0">
            <a:spAutoFit/>
          </a:bodyPr>
          <a:p>
            <a:r>
              <a:rPr lang="en-US" altLang="zh-CN"/>
              <a:t>Signed Division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81602" name="标题 28160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Faster Division</a:t>
            </a:r>
            <a:endParaRPr lang="en-US" altLang="zh-CN"/>
          </a:p>
        </p:txBody>
      </p:sp>
      <p:sp>
        <p:nvSpPr>
          <p:cNvPr id="281603" name="内容占位符 28160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Can’t use parallel hardware as in multiplier</a:t>
            </a:r>
            <a:endParaRPr lang="en-US" altLang="zh-CN"/>
          </a:p>
          <a:p>
            <a:pPr lvl="1"/>
            <a:r>
              <a:rPr lang="en-US" altLang="zh-CN"/>
              <a:t>Subtraction is conditional on sign of remainder</a:t>
            </a:r>
            <a:endParaRPr lang="en-US" altLang="zh-CN"/>
          </a:p>
          <a:p>
            <a:r>
              <a:rPr lang="en-US" altLang="zh-CN"/>
              <a:t>Faster dividers (e.g. SRT </a:t>
            </a:r>
            <a:r>
              <a:rPr lang="en-US" altLang="zh-CN" err="1"/>
              <a:t>devision</a:t>
            </a:r>
            <a:r>
              <a:rPr lang="en-US" altLang="zh-CN"/>
              <a:t>) generate multiple quotient bits per step</a:t>
            </a:r>
            <a:endParaRPr lang="en-US" altLang="zh-CN"/>
          </a:p>
          <a:p>
            <a:pPr lvl="1"/>
            <a:r>
              <a:rPr lang="en-US" altLang="zh-CN"/>
              <a:t>Still require multiple steps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73410" name="标题 273409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anchor="b" anchorCtr="0">
            <a:spAutoFit/>
          </a:bodyPr>
          <a:p>
            <a:r>
              <a:rPr lang="en-US" altLang="zh-CN"/>
              <a:t>Divide in RISC-V</a:t>
            </a:r>
            <a:endParaRPr lang="en-US" altLang="zh-CN"/>
          </a:p>
        </p:txBody>
      </p:sp>
      <p:graphicFrame>
        <p:nvGraphicFramePr>
          <p:cNvPr id="341057" name="Group 65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684213" y="1125538"/>
          <a:ext cx="8270875" cy="2193925"/>
        </p:xfrm>
        <a:graphic>
          <a:graphicData uri="http://schemas.openxmlformats.org/drawingml/2006/table">
            <a:tbl>
              <a:tblPr/>
              <a:tblGrid>
                <a:gridCol w="1381125"/>
                <a:gridCol w="1779270"/>
                <a:gridCol w="1410970"/>
                <a:gridCol w="1343025"/>
                <a:gridCol w="2356485"/>
              </a:tblGrid>
              <a:tr h="365125"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Category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Instruction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Example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Meaning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Comments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03213">
                <a:tc rowSpan="4"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_GB2312" pitchFamily="49" charset="-122"/>
                        </a:rPr>
                        <a:t>Arithmetic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Divide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div x5,x6,x7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/ x7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Divide signed 32-bit numbers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 vMerge="1">
                  <a:tcPr/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Divide </a:t>
                      </a: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unsigned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divu x5,x6,x7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_GB2312" pitchFamily="49" charset="-122"/>
                        </a:rPr>
                        <a:t>x5=x6 / x7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Divide unsigned 32-bit numbers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 vMerge="1">
                  <a:tcPr/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Remainder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rem x5,x6,x7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x5=x6 % x7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Remainder of signed 32-bit division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 vMerge="1">
                  <a:tcPr/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Remainder </a:t>
                      </a: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unsigned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remu x5,x6,x7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x5=x6 % x7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楷体_GB2312" pitchFamily="49" charset="-122"/>
                          <a:sym typeface="+mn-ea"/>
                        </a:rPr>
                        <a:t>Remainder of unsigned 32-bit division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85698" name="标题 285697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Floating Point</a:t>
            </a:r>
            <a:endParaRPr lang="en-US" altLang="zh-CN"/>
          </a:p>
        </p:txBody>
      </p:sp>
      <p:sp>
        <p:nvSpPr>
          <p:cNvPr id="285699" name="内容占位符 285698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Representation for non-integral numbers</a:t>
            </a:r>
            <a:endParaRPr lang="en-US" altLang="zh-CN"/>
          </a:p>
          <a:p>
            <a:pPr lvl="1"/>
            <a:r>
              <a:rPr lang="en-US" altLang="zh-CN"/>
              <a:t>Including very small and very large numbers</a:t>
            </a:r>
            <a:endParaRPr lang="en-US" altLang="zh-CN"/>
          </a:p>
          <a:p>
            <a:r>
              <a:rPr lang="en-US" altLang="zh-CN"/>
              <a:t>Like scientific notation</a:t>
            </a:r>
            <a:endParaRPr lang="en-US" altLang="zh-CN"/>
          </a:p>
          <a:p>
            <a:pPr lvl="1"/>
            <a:r>
              <a:rPr lang="en-US" altLang="zh-CN"/>
              <a:t>–2.34 × 10</a:t>
            </a:r>
            <a:r>
              <a:rPr lang="en-US" altLang="zh-CN" baseline="30000"/>
              <a:t>56</a:t>
            </a:r>
            <a:endParaRPr lang="en-US" altLang="zh-CN"/>
          </a:p>
          <a:p>
            <a:pPr lvl="1"/>
            <a:r>
              <a:rPr lang="en-US" altLang="zh-CN"/>
              <a:t>+0.002 × 10</a:t>
            </a:r>
            <a:r>
              <a:rPr lang="en-US" altLang="zh-CN" baseline="30000"/>
              <a:t>–4</a:t>
            </a:r>
            <a:endParaRPr lang="en-US" altLang="zh-CN"/>
          </a:p>
          <a:p>
            <a:pPr lvl="1"/>
            <a:r>
              <a:rPr lang="en-US" altLang="zh-CN"/>
              <a:t>+987.02 × 10</a:t>
            </a:r>
            <a:r>
              <a:rPr lang="en-US" altLang="zh-CN" baseline="30000"/>
              <a:t>9</a:t>
            </a:r>
            <a:endParaRPr lang="en-US" altLang="zh-CN"/>
          </a:p>
          <a:p>
            <a:r>
              <a:rPr lang="en-US" altLang="zh-CN"/>
              <a:t>In binary</a:t>
            </a:r>
            <a:endParaRPr lang="en-US" altLang="zh-CN"/>
          </a:p>
          <a:p>
            <a:pPr lvl="1"/>
            <a:r>
              <a:rPr lang="en-US" altLang="zh-CN">
                <a:cs typeface="Arial" panose="020B0604020202020204" pitchFamily="34" charset="0"/>
              </a:rPr>
              <a:t>±1.</a:t>
            </a:r>
            <a:r>
              <a:rPr lang="en-US" altLang="zh-CN" i="1">
                <a:cs typeface="Arial" panose="020B0604020202020204" pitchFamily="34" charset="0"/>
              </a:rPr>
              <a:t>xxxxxxx</a:t>
            </a:r>
            <a:r>
              <a:rPr lang="en-US" altLang="zh-CN" baseline="-25000">
                <a:cs typeface="Arial" panose="020B0604020202020204" pitchFamily="34" charset="0"/>
              </a:rPr>
              <a:t>2</a:t>
            </a:r>
            <a:r>
              <a:rPr lang="en-US" altLang="zh-CN">
                <a:cs typeface="Arial" panose="020B0604020202020204" pitchFamily="34" charset="0"/>
              </a:rPr>
              <a:t> × 2</a:t>
            </a:r>
            <a:r>
              <a:rPr lang="en-US" altLang="zh-CN" i="1" baseline="30000">
                <a:cs typeface="Arial" panose="020B0604020202020204" pitchFamily="34" charset="0"/>
              </a:rPr>
              <a:t>yyyy</a:t>
            </a:r>
            <a:endParaRPr lang="en-US" altLang="zh-CN" i="1" baseline="30000">
              <a:cs typeface="Arial" panose="020B0604020202020204" pitchFamily="34" charset="0"/>
            </a:endParaRPr>
          </a:p>
          <a:p>
            <a:r>
              <a:rPr lang="en-US" altLang="zh-CN"/>
              <a:t>Types </a:t>
            </a:r>
            <a:r>
              <a:rPr lang="en-US" altLang="zh-CN">
                <a:latin typeface="Lucida Console" panose="020B0609040504020204" pitchFamily="49" charset="0"/>
              </a:rPr>
              <a:t>float</a:t>
            </a:r>
            <a:r>
              <a:rPr lang="en-US" altLang="zh-CN"/>
              <a:t> and </a:t>
            </a:r>
            <a:r>
              <a:rPr lang="en-US" altLang="zh-CN">
                <a:latin typeface="Lucida Console" panose="020B0609040504020204" pitchFamily="49" charset="0"/>
              </a:rPr>
              <a:t>double</a:t>
            </a:r>
            <a:r>
              <a:rPr lang="en-US" altLang="zh-CN"/>
              <a:t> in C</a:t>
            </a:r>
            <a:endParaRPr lang="en-US" altLang="zh-CN"/>
          </a:p>
        </p:txBody>
      </p:sp>
      <p:sp>
        <p:nvSpPr>
          <p:cNvPr id="285700" name="线形标注 1 285699"/>
          <p:cNvSpPr/>
          <p:nvPr/>
        </p:nvSpPr>
        <p:spPr>
          <a:xfrm>
            <a:off x="5219700" y="2924175"/>
            <a:ext cx="1508125" cy="401638"/>
          </a:xfrm>
          <a:prstGeom prst="borderCallout1">
            <a:avLst>
              <a:gd name="adj1" fmla="val 28458"/>
              <a:gd name="adj2" fmla="val -5051"/>
              <a:gd name="adj3" fmla="val 28458"/>
              <a:gd name="adj4" fmla="val -9105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>
                <a:latin typeface="Arial" panose="020B0604020202020204" pitchFamily="34" charset="0"/>
              </a:rPr>
              <a:t>normalized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85701" name="线形标注 1 285700"/>
          <p:cNvSpPr/>
          <p:nvPr/>
        </p:nvSpPr>
        <p:spPr>
          <a:xfrm>
            <a:off x="5651500" y="3573463"/>
            <a:ext cx="1944688" cy="401637"/>
          </a:xfrm>
          <a:prstGeom prst="borderCallout1">
            <a:avLst>
              <a:gd name="adj1" fmla="val 28458"/>
              <a:gd name="adj2" fmla="val -3917"/>
              <a:gd name="adj3" fmla="val -2370"/>
              <a:gd name="adj4" fmla="val -8726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>
                <a:latin typeface="Arial" panose="020B0604020202020204" pitchFamily="34" charset="0"/>
              </a:rPr>
              <a:t>not normalized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85702" name="直接连接符 285701"/>
          <p:cNvSpPr/>
          <p:nvPr/>
        </p:nvSpPr>
        <p:spPr>
          <a:xfrm flipH="1">
            <a:off x="4067175" y="3790950"/>
            <a:ext cx="1512888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5704" name="文本框 285703"/>
          <p:cNvSpPr txBox="1"/>
          <p:nvPr/>
        </p:nvSpPr>
        <p:spPr>
          <a:xfrm rot="5400000">
            <a:off x="7915275" y="860425"/>
            <a:ext cx="20891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§3.5 Floating Point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87746" name="标题 28774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Floating Point Standard</a:t>
            </a:r>
            <a:endParaRPr lang="en-US" altLang="zh-CN"/>
          </a:p>
        </p:txBody>
      </p:sp>
      <p:sp>
        <p:nvSpPr>
          <p:cNvPr id="287747" name="内容占位符 287746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Defined by IEEE Std 754-1985</a:t>
            </a:r>
            <a:endParaRPr lang="en-US" altLang="zh-CN"/>
          </a:p>
          <a:p>
            <a:r>
              <a:rPr lang="en-US" altLang="zh-CN"/>
              <a:t>Developed in response to divergence of representations</a:t>
            </a:r>
            <a:endParaRPr lang="en-US" altLang="zh-CN"/>
          </a:p>
          <a:p>
            <a:pPr lvl="1"/>
            <a:r>
              <a:rPr lang="en-US" altLang="zh-CN"/>
              <a:t>Portability issues for scientific code</a:t>
            </a:r>
            <a:endParaRPr lang="en-US" altLang="zh-CN"/>
          </a:p>
          <a:p>
            <a:r>
              <a:rPr lang="en-US" altLang="zh-CN"/>
              <a:t>Now almost universally adopted</a:t>
            </a:r>
            <a:endParaRPr lang="en-US" altLang="zh-CN"/>
          </a:p>
          <a:p>
            <a:r>
              <a:rPr lang="en-US" altLang="zh-CN"/>
              <a:t>Two representations</a:t>
            </a:r>
            <a:endParaRPr lang="en-US" altLang="zh-CN"/>
          </a:p>
          <a:p>
            <a:pPr lvl="1"/>
            <a:r>
              <a:rPr lang="en-US" altLang="zh-CN"/>
              <a:t>Single precision (32-bit)</a:t>
            </a:r>
            <a:endParaRPr lang="en-US" altLang="zh-CN"/>
          </a:p>
          <a:p>
            <a:pPr lvl="1"/>
            <a:r>
              <a:rPr lang="en-US" altLang="zh-CN"/>
              <a:t>Double precision (64-bit) 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89802" name="标题 28980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IEEE Floating-Point Format</a:t>
            </a:r>
            <a:endParaRPr lang="en-US" altLang="zh-CN"/>
          </a:p>
        </p:txBody>
      </p:sp>
      <p:sp>
        <p:nvSpPr>
          <p:cNvPr id="289803" name="内容占位符 289802"/>
          <p:cNvSpPr>
            <a:spLocks noGrp="1"/>
          </p:cNvSpPr>
          <p:nvPr>
            <p:ph idx="1"/>
          </p:nvPr>
        </p:nvSpPr>
        <p:spPr>
          <a:xfrm>
            <a:off x="673100" y="3492500"/>
            <a:ext cx="8282305" cy="2651125"/>
          </a:xfrm>
        </p:spPr>
        <p:txBody>
          <a:bodyPr/>
          <a:p>
            <a:pPr>
              <a:lnSpc>
                <a:spcPct val="80000"/>
              </a:lnSpc>
            </a:pPr>
            <a:r>
              <a:rPr lang="en-US" altLang="zh-CN" sz="2400"/>
              <a:t>S: sign bit (0 </a:t>
            </a:r>
            <a:r>
              <a:rPr lang="en-US" altLang="zh-CN" sz="2400">
                <a:sym typeface="Symbol" panose="05050102010706020507" pitchFamily="18" charset="2"/>
              </a:rPr>
              <a:t> non-negative, 1  negative)</a:t>
            </a:r>
            <a:endParaRPr lang="en-US" altLang="zh-CN" sz="2400"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</a:pPr>
            <a:r>
              <a:rPr lang="en-US" altLang="zh-CN" sz="2400">
                <a:sym typeface="Symbol" panose="05050102010706020507" pitchFamily="18" charset="2"/>
              </a:rPr>
              <a:t>Normalize </a:t>
            </a:r>
            <a:r>
              <a:rPr lang="en-US" altLang="zh-CN" sz="2400" err="1">
                <a:sym typeface="Symbol" panose="05050102010706020507" pitchFamily="18" charset="2"/>
              </a:rPr>
              <a:t>significand</a:t>
            </a:r>
            <a:r>
              <a:rPr lang="en-US" altLang="zh-CN" sz="2400">
                <a:sym typeface="Symbol" panose="05050102010706020507" pitchFamily="18" charset="2"/>
              </a:rPr>
              <a:t>: 1.0 ≤ |</a:t>
            </a:r>
            <a:r>
              <a:rPr lang="en-US" altLang="zh-CN" sz="2400" err="1">
                <a:sym typeface="Symbol" panose="05050102010706020507" pitchFamily="18" charset="2"/>
              </a:rPr>
              <a:t>significand</a:t>
            </a:r>
            <a:r>
              <a:rPr lang="en-US" altLang="zh-CN" sz="2400">
                <a:sym typeface="Symbol" panose="05050102010706020507" pitchFamily="18" charset="2"/>
              </a:rPr>
              <a:t>| &lt; 2.0</a:t>
            </a:r>
            <a:endParaRPr lang="en-US" altLang="zh-CN" sz="2400">
              <a:sym typeface="Symbol" panose="05050102010706020507" pitchFamily="18" charset="2"/>
            </a:endParaRPr>
          </a:p>
          <a:p>
            <a:pPr lvl="1">
              <a:lnSpc>
                <a:spcPct val="80000"/>
              </a:lnSpc>
            </a:pPr>
            <a:r>
              <a:rPr lang="en-US" altLang="zh-CN" sz="2000">
                <a:sym typeface="Symbol" panose="05050102010706020507" pitchFamily="18" charset="2"/>
              </a:rPr>
              <a:t>Always has a leading pre-binary-point 1 bit, so no need to represent it explicitly (hidden bit)</a:t>
            </a:r>
            <a:endParaRPr lang="en-US" altLang="zh-CN" sz="2000">
              <a:sym typeface="Symbol" panose="05050102010706020507" pitchFamily="18" charset="2"/>
            </a:endParaRPr>
          </a:p>
          <a:p>
            <a:pPr lvl="1">
              <a:lnSpc>
                <a:spcPct val="80000"/>
              </a:lnSpc>
            </a:pPr>
            <a:r>
              <a:rPr lang="en-US" altLang="zh-CN" sz="2000" err="1">
                <a:sym typeface="Symbol" panose="05050102010706020507" pitchFamily="18" charset="2"/>
              </a:rPr>
              <a:t>Significand</a:t>
            </a:r>
            <a:r>
              <a:rPr lang="en-US" altLang="zh-CN" sz="2000">
                <a:sym typeface="Symbol" panose="05050102010706020507" pitchFamily="18" charset="2"/>
              </a:rPr>
              <a:t> is Fraction with the “1.” restored</a:t>
            </a:r>
            <a:endParaRPr lang="en-US" altLang="zh-CN" sz="2000"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</a:pPr>
            <a:r>
              <a:rPr lang="en-US" altLang="zh-CN" sz="2400">
                <a:sym typeface="Symbol" panose="05050102010706020507" pitchFamily="18" charset="2"/>
              </a:rPr>
              <a:t>Exponent: excess representation: actual exponent + Bias</a:t>
            </a:r>
            <a:endParaRPr lang="en-US" altLang="zh-CN" sz="2400">
              <a:sym typeface="Symbol" panose="05050102010706020507" pitchFamily="18" charset="2"/>
            </a:endParaRPr>
          </a:p>
          <a:p>
            <a:pPr lvl="1">
              <a:lnSpc>
                <a:spcPct val="80000"/>
              </a:lnSpc>
            </a:pPr>
            <a:r>
              <a:rPr lang="en-US" altLang="zh-CN" sz="2000">
                <a:sym typeface="Symbol" panose="05050102010706020507" pitchFamily="18" charset="2"/>
              </a:rPr>
              <a:t>Ensures exponent is unsigned</a:t>
            </a:r>
            <a:endParaRPr lang="en-US" altLang="zh-CN" sz="2000">
              <a:sym typeface="Symbol" panose="05050102010706020507" pitchFamily="18" charset="2"/>
            </a:endParaRPr>
          </a:p>
          <a:p>
            <a:pPr lvl="1">
              <a:lnSpc>
                <a:spcPct val="80000"/>
              </a:lnSpc>
            </a:pPr>
            <a:r>
              <a:rPr lang="en-US" altLang="zh-CN" sz="2000">
                <a:sym typeface="Symbol" panose="05050102010706020507" pitchFamily="18" charset="2"/>
              </a:rPr>
              <a:t>Single: Bias = 127; Double: Bias = 1203</a:t>
            </a:r>
            <a:endParaRPr lang="en-US" altLang="zh-CN" sz="2000">
              <a:sym typeface="Symbol" panose="05050102010706020507" pitchFamily="18" charset="2"/>
            </a:endParaRPr>
          </a:p>
        </p:txBody>
      </p:sp>
      <p:sp>
        <p:nvSpPr>
          <p:cNvPr id="289796" name="文本框 289795"/>
          <p:cNvSpPr txBox="1"/>
          <p:nvPr/>
        </p:nvSpPr>
        <p:spPr>
          <a:xfrm>
            <a:off x="1549400" y="1917700"/>
            <a:ext cx="358775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400">
                <a:latin typeface="Arial" panose="020B0604020202020204" pitchFamily="34" charset="0"/>
              </a:rPr>
              <a:t>S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289797" name="文本框 289796"/>
          <p:cNvSpPr txBox="1"/>
          <p:nvPr/>
        </p:nvSpPr>
        <p:spPr>
          <a:xfrm>
            <a:off x="1908175" y="1917700"/>
            <a:ext cx="1584325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400">
                <a:latin typeface="Arial" panose="020B0604020202020204" pitchFamily="34" charset="0"/>
              </a:rPr>
              <a:t>Exponent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289798" name="文本框 289797"/>
          <p:cNvSpPr txBox="1"/>
          <p:nvPr/>
        </p:nvSpPr>
        <p:spPr>
          <a:xfrm>
            <a:off x="3494088" y="1917700"/>
            <a:ext cx="3671887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400">
                <a:latin typeface="Arial" panose="020B0604020202020204" pitchFamily="34" charset="0"/>
              </a:rPr>
              <a:t>Fraction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289799" name="文本框 289798"/>
          <p:cNvSpPr txBox="1"/>
          <p:nvPr/>
        </p:nvSpPr>
        <p:spPr>
          <a:xfrm>
            <a:off x="1836738" y="1196975"/>
            <a:ext cx="1857375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000">
                <a:latin typeface="Tahoma" panose="020B0604030504040204" pitchFamily="34" charset="0"/>
              </a:rPr>
              <a:t>single: 8 bits</a:t>
            </a:r>
            <a:br>
              <a:rPr lang="en-US" altLang="zh-CN" sz="2000">
                <a:latin typeface="Tahoma" panose="020B0604030504040204" pitchFamily="34" charset="0"/>
              </a:rPr>
            </a:br>
            <a:r>
              <a:rPr lang="en-US" altLang="zh-CN" sz="2000">
                <a:latin typeface="Tahoma" panose="020B0604030504040204" pitchFamily="34" charset="0"/>
              </a:rPr>
              <a:t>double: 11 bits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sp>
        <p:nvSpPr>
          <p:cNvPr id="289800" name="文本框 289799"/>
          <p:cNvSpPr txBox="1"/>
          <p:nvPr/>
        </p:nvSpPr>
        <p:spPr>
          <a:xfrm>
            <a:off x="4427538" y="1196975"/>
            <a:ext cx="1857375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000">
                <a:latin typeface="Tahoma" panose="020B0604030504040204" pitchFamily="34" charset="0"/>
              </a:rPr>
              <a:t>single: 23 bits</a:t>
            </a:r>
            <a:br>
              <a:rPr lang="en-US" altLang="zh-CN" sz="2000">
                <a:latin typeface="Tahoma" panose="020B0604030504040204" pitchFamily="34" charset="0"/>
              </a:rPr>
            </a:br>
            <a:r>
              <a:rPr lang="en-US" altLang="zh-CN" sz="2000">
                <a:latin typeface="Tahoma" panose="020B0604030504040204" pitchFamily="34" charset="0"/>
              </a:rPr>
              <a:t>double: 52 bits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graphicFrame>
        <p:nvGraphicFramePr>
          <p:cNvPr id="289801" name="对象 289800"/>
          <p:cNvGraphicFramePr/>
          <p:nvPr/>
        </p:nvGraphicFramePr>
        <p:xfrm>
          <a:off x="1476375" y="2667000"/>
          <a:ext cx="5867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451100" imgH="228600" progId="Equation.3">
                  <p:embed/>
                </p:oleObj>
              </mc:Choice>
              <mc:Fallback>
                <p:oleObj name="" r:id="rId1" imgW="24511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6375" y="2667000"/>
                        <a:ext cx="5867400" cy="54610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95942" name="标题 29594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Single-Precision Range</a:t>
            </a:r>
            <a:endParaRPr lang="en-US" altLang="zh-CN"/>
          </a:p>
        </p:txBody>
      </p:sp>
      <p:sp>
        <p:nvSpPr>
          <p:cNvPr id="295943" name="内容占位符 29594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800"/>
              <a:t>Exponents 00000000 and 11111111 reserved</a:t>
            </a:r>
            <a:endParaRPr lang="en-US" altLang="zh-CN" sz="2800"/>
          </a:p>
          <a:p>
            <a:r>
              <a:rPr lang="en-US" altLang="zh-CN" sz="2800"/>
              <a:t>Smallest value</a:t>
            </a:r>
            <a:endParaRPr lang="en-US" altLang="zh-CN" sz="2800"/>
          </a:p>
          <a:p>
            <a:pPr lvl="1"/>
            <a:r>
              <a:rPr lang="en-US" altLang="zh-CN" sz="2400"/>
              <a:t>Exponent: 00000001</a:t>
            </a:r>
            <a:br>
              <a:rPr lang="en-US" altLang="zh-CN" sz="2400"/>
            </a:br>
            <a:r>
              <a:rPr lang="en-US" altLang="zh-CN" sz="2400">
                <a:sym typeface="Symbol" panose="05050102010706020507" pitchFamily="18" charset="2"/>
              </a:rPr>
              <a:t> actual exponent = 1 – 127 = –126</a:t>
            </a:r>
            <a:endParaRPr lang="en-US" altLang="zh-CN" sz="2400">
              <a:sym typeface="Symbol" panose="05050102010706020507" pitchFamily="18" charset="2"/>
            </a:endParaRPr>
          </a:p>
          <a:p>
            <a:pPr lvl="1"/>
            <a:r>
              <a:rPr lang="en-US" altLang="zh-CN" sz="2400">
                <a:sym typeface="Symbol" panose="05050102010706020507" pitchFamily="18" charset="2"/>
              </a:rPr>
              <a:t>Fraction: 000…00</a:t>
            </a:r>
            <a:r>
              <a:rPr lang="en-US" altLang="zh-CN" sz="2400"/>
              <a:t> </a:t>
            </a:r>
            <a:r>
              <a:rPr lang="en-US" altLang="zh-CN" sz="2400">
                <a:sym typeface="Symbol" panose="05050102010706020507" pitchFamily="18" charset="2"/>
              </a:rPr>
              <a:t> </a:t>
            </a:r>
            <a:r>
              <a:rPr lang="en-US" altLang="zh-CN" sz="2400" err="1">
                <a:sym typeface="Symbol" panose="05050102010706020507" pitchFamily="18" charset="2"/>
              </a:rPr>
              <a:t>significand</a:t>
            </a:r>
            <a:r>
              <a:rPr lang="en-US" altLang="zh-CN" sz="2400">
                <a:sym typeface="Symbol" panose="05050102010706020507" pitchFamily="18" charset="2"/>
              </a:rPr>
              <a:t> = 1.0</a:t>
            </a:r>
            <a:endParaRPr lang="en-US" altLang="zh-CN" sz="2400">
              <a:sym typeface="Symbol" panose="05050102010706020507" pitchFamily="18" charset="2"/>
            </a:endParaRPr>
          </a:p>
          <a:p>
            <a:pPr lvl="1"/>
            <a:r>
              <a:rPr lang="en-US" altLang="zh-CN" sz="2400">
                <a:sym typeface="Symbol" panose="05050102010706020507" pitchFamily="18" charset="2"/>
              </a:rPr>
              <a:t>±1.0 × 2</a:t>
            </a:r>
            <a:r>
              <a:rPr lang="en-US" altLang="zh-CN" sz="2400" baseline="30000">
                <a:sym typeface="Symbol" panose="05050102010706020507" pitchFamily="18" charset="2"/>
              </a:rPr>
              <a:t>–126</a:t>
            </a:r>
            <a:r>
              <a:rPr lang="en-US" altLang="zh-CN" sz="2400">
                <a:sym typeface="Symbol" panose="05050102010706020507" pitchFamily="18" charset="2"/>
              </a:rPr>
              <a:t> ≈ ±1.2 × 10</a:t>
            </a:r>
            <a:r>
              <a:rPr lang="en-US" altLang="zh-CN" sz="2400" baseline="30000">
                <a:sym typeface="Symbol" panose="05050102010706020507" pitchFamily="18" charset="2"/>
              </a:rPr>
              <a:t>–38</a:t>
            </a:r>
            <a:endParaRPr lang="en-US" altLang="zh-CN" sz="2400" baseline="30000">
              <a:sym typeface="Symbol" panose="05050102010706020507" pitchFamily="18" charset="2"/>
            </a:endParaRPr>
          </a:p>
          <a:p>
            <a:r>
              <a:rPr lang="en-US" altLang="zh-CN" sz="2800">
                <a:sym typeface="Symbol" panose="05050102010706020507" pitchFamily="18" charset="2"/>
              </a:rPr>
              <a:t>Largest value</a:t>
            </a:r>
            <a:endParaRPr lang="en-US" altLang="zh-CN" sz="2800">
              <a:sym typeface="Symbol" panose="05050102010706020507" pitchFamily="18" charset="2"/>
            </a:endParaRPr>
          </a:p>
          <a:p>
            <a:pPr lvl="1"/>
            <a:r>
              <a:rPr lang="en-US" altLang="zh-CN" sz="2400">
                <a:sym typeface="Symbol" panose="05050102010706020507" pitchFamily="18" charset="2"/>
              </a:rPr>
              <a:t>exponent: 11111110</a:t>
            </a:r>
            <a:br>
              <a:rPr lang="en-US" altLang="zh-CN" sz="2400">
                <a:sym typeface="Symbol" panose="05050102010706020507" pitchFamily="18" charset="2"/>
              </a:rPr>
            </a:br>
            <a:r>
              <a:rPr lang="en-US" altLang="zh-CN" sz="2400">
                <a:sym typeface="Symbol" panose="05050102010706020507" pitchFamily="18" charset="2"/>
              </a:rPr>
              <a:t> actual exponent = 254 – 127 = +127</a:t>
            </a:r>
            <a:endParaRPr lang="en-US" altLang="zh-CN" sz="2400">
              <a:sym typeface="Symbol" panose="05050102010706020507" pitchFamily="18" charset="2"/>
            </a:endParaRPr>
          </a:p>
          <a:p>
            <a:pPr lvl="1"/>
            <a:r>
              <a:rPr lang="en-US" altLang="zh-CN" sz="2400">
                <a:sym typeface="Symbol" panose="05050102010706020507" pitchFamily="18" charset="2"/>
              </a:rPr>
              <a:t>Fraction: 111…11</a:t>
            </a:r>
            <a:r>
              <a:rPr lang="en-US" altLang="zh-CN" sz="2400"/>
              <a:t> </a:t>
            </a:r>
            <a:r>
              <a:rPr lang="en-US" altLang="zh-CN" sz="2400">
                <a:sym typeface="Symbol" panose="05050102010706020507" pitchFamily="18" charset="2"/>
              </a:rPr>
              <a:t> </a:t>
            </a:r>
            <a:r>
              <a:rPr lang="en-US" altLang="zh-CN" sz="2400" err="1">
                <a:sym typeface="Symbol" panose="05050102010706020507" pitchFamily="18" charset="2"/>
              </a:rPr>
              <a:t>significand</a:t>
            </a:r>
            <a:r>
              <a:rPr lang="en-US" altLang="zh-CN" sz="2400">
                <a:sym typeface="Symbol" panose="05050102010706020507" pitchFamily="18" charset="2"/>
              </a:rPr>
              <a:t> ≈ 2.0</a:t>
            </a:r>
            <a:endParaRPr lang="en-US" altLang="zh-CN" sz="2400">
              <a:sym typeface="Symbol" panose="05050102010706020507" pitchFamily="18" charset="2"/>
            </a:endParaRPr>
          </a:p>
          <a:p>
            <a:pPr lvl="1"/>
            <a:r>
              <a:rPr lang="en-US" altLang="zh-CN" sz="2400">
                <a:sym typeface="Symbol" panose="05050102010706020507" pitchFamily="18" charset="2"/>
              </a:rPr>
              <a:t>±2.0 × 2</a:t>
            </a:r>
            <a:r>
              <a:rPr lang="en-US" altLang="zh-CN" sz="2400" baseline="30000">
                <a:sym typeface="Symbol" panose="05050102010706020507" pitchFamily="18" charset="2"/>
              </a:rPr>
              <a:t>+127</a:t>
            </a:r>
            <a:r>
              <a:rPr lang="en-US" altLang="zh-CN" sz="2400">
                <a:sym typeface="Symbol" panose="05050102010706020507" pitchFamily="18" charset="2"/>
              </a:rPr>
              <a:t> ≈ ±3.4 × 10</a:t>
            </a:r>
            <a:r>
              <a:rPr lang="en-US" altLang="zh-CN" sz="2400" baseline="30000">
                <a:sym typeface="Symbol" panose="05050102010706020507" pitchFamily="18" charset="2"/>
              </a:rPr>
              <a:t>+38</a:t>
            </a:r>
            <a:endParaRPr lang="en-US" altLang="zh-CN" sz="2400" baseline="300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97990" name="标题 29798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Double-Precision Range</a:t>
            </a:r>
            <a:endParaRPr lang="en-US" altLang="zh-CN"/>
          </a:p>
        </p:txBody>
      </p:sp>
      <p:sp>
        <p:nvSpPr>
          <p:cNvPr id="297991" name="内容占位符 297990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800"/>
              <a:t>Exponents 0000…00 and 1111…11 reserved</a:t>
            </a:r>
            <a:endParaRPr lang="en-US" altLang="zh-CN" sz="2800"/>
          </a:p>
          <a:p>
            <a:r>
              <a:rPr lang="en-US" altLang="zh-CN" sz="2800"/>
              <a:t>Smallest value</a:t>
            </a:r>
            <a:endParaRPr lang="en-US" altLang="zh-CN" sz="2800"/>
          </a:p>
          <a:p>
            <a:pPr lvl="1"/>
            <a:r>
              <a:rPr lang="en-US" altLang="zh-CN" sz="2400"/>
              <a:t>Exponent: 00000000001</a:t>
            </a:r>
            <a:br>
              <a:rPr lang="en-US" altLang="zh-CN" sz="2400"/>
            </a:br>
            <a:r>
              <a:rPr lang="en-US" altLang="zh-CN" sz="2400">
                <a:sym typeface="Symbol" panose="05050102010706020507" pitchFamily="18" charset="2"/>
              </a:rPr>
              <a:t> actual exponent = 1 – 1023 = –1022</a:t>
            </a:r>
            <a:endParaRPr lang="en-US" altLang="zh-CN" sz="2400">
              <a:sym typeface="Symbol" panose="05050102010706020507" pitchFamily="18" charset="2"/>
            </a:endParaRPr>
          </a:p>
          <a:p>
            <a:pPr lvl="1"/>
            <a:r>
              <a:rPr lang="en-US" altLang="zh-CN" sz="2400">
                <a:sym typeface="Symbol" panose="05050102010706020507" pitchFamily="18" charset="2"/>
              </a:rPr>
              <a:t>Fraction: 000…00</a:t>
            </a:r>
            <a:r>
              <a:rPr lang="en-US" altLang="zh-CN" sz="2400"/>
              <a:t> </a:t>
            </a:r>
            <a:r>
              <a:rPr lang="en-US" altLang="zh-CN" sz="2400">
                <a:sym typeface="Symbol" panose="05050102010706020507" pitchFamily="18" charset="2"/>
              </a:rPr>
              <a:t> </a:t>
            </a:r>
            <a:r>
              <a:rPr lang="en-US" altLang="zh-CN" sz="2400" err="1">
                <a:sym typeface="Symbol" panose="05050102010706020507" pitchFamily="18" charset="2"/>
              </a:rPr>
              <a:t>significand</a:t>
            </a:r>
            <a:r>
              <a:rPr lang="en-US" altLang="zh-CN" sz="2400">
                <a:sym typeface="Symbol" panose="05050102010706020507" pitchFamily="18" charset="2"/>
              </a:rPr>
              <a:t> = 1.0</a:t>
            </a:r>
            <a:endParaRPr lang="en-US" altLang="zh-CN" sz="2400">
              <a:sym typeface="Symbol" panose="05050102010706020507" pitchFamily="18" charset="2"/>
            </a:endParaRPr>
          </a:p>
          <a:p>
            <a:pPr lvl="1"/>
            <a:r>
              <a:rPr lang="en-US" altLang="zh-CN" sz="2400">
                <a:sym typeface="Symbol" panose="05050102010706020507" pitchFamily="18" charset="2"/>
              </a:rPr>
              <a:t>±1.0 × 2</a:t>
            </a:r>
            <a:r>
              <a:rPr lang="en-US" altLang="zh-CN" sz="2400" baseline="30000">
                <a:sym typeface="Symbol" panose="05050102010706020507" pitchFamily="18" charset="2"/>
              </a:rPr>
              <a:t>–1022</a:t>
            </a:r>
            <a:r>
              <a:rPr lang="en-US" altLang="zh-CN" sz="2400">
                <a:sym typeface="Symbol" panose="05050102010706020507" pitchFamily="18" charset="2"/>
              </a:rPr>
              <a:t> ≈ ±2.2 × 10</a:t>
            </a:r>
            <a:r>
              <a:rPr lang="en-US" altLang="zh-CN" sz="2400" baseline="30000">
                <a:sym typeface="Symbol" panose="05050102010706020507" pitchFamily="18" charset="2"/>
              </a:rPr>
              <a:t>–308</a:t>
            </a:r>
            <a:endParaRPr lang="en-US" altLang="zh-CN" sz="2400" baseline="30000">
              <a:sym typeface="Symbol" panose="05050102010706020507" pitchFamily="18" charset="2"/>
            </a:endParaRPr>
          </a:p>
          <a:p>
            <a:r>
              <a:rPr lang="en-US" altLang="zh-CN" sz="2800">
                <a:sym typeface="Symbol" panose="05050102010706020507" pitchFamily="18" charset="2"/>
              </a:rPr>
              <a:t>Largest value</a:t>
            </a:r>
            <a:endParaRPr lang="en-US" altLang="zh-CN" sz="2800">
              <a:sym typeface="Symbol" panose="05050102010706020507" pitchFamily="18" charset="2"/>
            </a:endParaRPr>
          </a:p>
          <a:p>
            <a:pPr lvl="1"/>
            <a:r>
              <a:rPr lang="en-US" altLang="zh-CN" sz="2400">
                <a:sym typeface="Symbol" panose="05050102010706020507" pitchFamily="18" charset="2"/>
              </a:rPr>
              <a:t>Exponent: 11111111110</a:t>
            </a:r>
            <a:br>
              <a:rPr lang="en-US" altLang="zh-CN" sz="2400">
                <a:sym typeface="Symbol" panose="05050102010706020507" pitchFamily="18" charset="2"/>
              </a:rPr>
            </a:br>
            <a:r>
              <a:rPr lang="en-US" altLang="zh-CN" sz="2400">
                <a:sym typeface="Symbol" panose="05050102010706020507" pitchFamily="18" charset="2"/>
              </a:rPr>
              <a:t> actual exponent = 2046 – 1023 = +1023</a:t>
            </a:r>
            <a:endParaRPr lang="en-US" altLang="zh-CN" sz="2400">
              <a:sym typeface="Symbol" panose="05050102010706020507" pitchFamily="18" charset="2"/>
            </a:endParaRPr>
          </a:p>
          <a:p>
            <a:pPr lvl="1"/>
            <a:r>
              <a:rPr lang="en-US" altLang="zh-CN" sz="2400">
                <a:sym typeface="Symbol" panose="05050102010706020507" pitchFamily="18" charset="2"/>
              </a:rPr>
              <a:t>Fraction: 111…11</a:t>
            </a:r>
            <a:r>
              <a:rPr lang="en-US" altLang="zh-CN" sz="2400"/>
              <a:t> </a:t>
            </a:r>
            <a:r>
              <a:rPr lang="en-US" altLang="zh-CN" sz="2400">
                <a:sym typeface="Symbol" panose="05050102010706020507" pitchFamily="18" charset="2"/>
              </a:rPr>
              <a:t> </a:t>
            </a:r>
            <a:r>
              <a:rPr lang="en-US" altLang="zh-CN" sz="2400" err="1">
                <a:sym typeface="Symbol" panose="05050102010706020507" pitchFamily="18" charset="2"/>
              </a:rPr>
              <a:t>significand</a:t>
            </a:r>
            <a:r>
              <a:rPr lang="en-US" altLang="zh-CN" sz="2400">
                <a:sym typeface="Symbol" panose="05050102010706020507" pitchFamily="18" charset="2"/>
              </a:rPr>
              <a:t> ≈ 2.0</a:t>
            </a:r>
            <a:endParaRPr lang="en-US" altLang="zh-CN" sz="2400">
              <a:sym typeface="Symbol" panose="05050102010706020507" pitchFamily="18" charset="2"/>
            </a:endParaRPr>
          </a:p>
          <a:p>
            <a:pPr lvl="1"/>
            <a:r>
              <a:rPr lang="en-US" altLang="zh-CN" sz="2400">
                <a:sym typeface="Symbol" panose="05050102010706020507" pitchFamily="18" charset="2"/>
              </a:rPr>
              <a:t>±2.0 × 2</a:t>
            </a:r>
            <a:r>
              <a:rPr lang="en-US" altLang="zh-CN" sz="2400" baseline="30000">
                <a:sym typeface="Symbol" panose="05050102010706020507" pitchFamily="18" charset="2"/>
              </a:rPr>
              <a:t>+1023</a:t>
            </a:r>
            <a:r>
              <a:rPr lang="en-US" altLang="zh-CN" sz="2400">
                <a:sym typeface="Symbol" panose="05050102010706020507" pitchFamily="18" charset="2"/>
              </a:rPr>
              <a:t> ≈ ±1.8 × 10</a:t>
            </a:r>
            <a:r>
              <a:rPr lang="en-US" altLang="zh-CN" sz="2400" baseline="30000">
                <a:sym typeface="Symbol" panose="05050102010706020507" pitchFamily="18" charset="2"/>
              </a:rPr>
              <a:t>+308</a:t>
            </a:r>
            <a:endParaRPr lang="en-US" altLang="zh-CN" sz="2400" baseline="300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00036" name="标题 30003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Floating-Point Precision</a:t>
            </a:r>
            <a:endParaRPr lang="en-US" altLang="zh-CN"/>
          </a:p>
        </p:txBody>
      </p:sp>
      <p:sp>
        <p:nvSpPr>
          <p:cNvPr id="300037" name="内容占位符 300036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Relative precision</a:t>
            </a:r>
            <a:endParaRPr lang="en-US" altLang="zh-CN"/>
          </a:p>
          <a:p>
            <a:pPr lvl="1"/>
            <a:r>
              <a:rPr lang="en-US" altLang="zh-CN"/>
              <a:t>all fraction bits are significant</a:t>
            </a:r>
            <a:endParaRPr lang="en-US" altLang="zh-CN"/>
          </a:p>
          <a:p>
            <a:pPr lvl="1"/>
            <a:r>
              <a:rPr lang="en-US" altLang="zh-CN"/>
              <a:t>Single: approx 2</a:t>
            </a:r>
            <a:r>
              <a:rPr lang="en-US" altLang="zh-CN" baseline="30000"/>
              <a:t>–23</a:t>
            </a:r>
            <a:endParaRPr lang="en-US" altLang="zh-CN" baseline="30000"/>
          </a:p>
          <a:p>
            <a:pPr lvl="2"/>
            <a:r>
              <a:rPr lang="en-US" altLang="zh-CN"/>
              <a:t>Equivalent to 23 × log</a:t>
            </a:r>
            <a:r>
              <a:rPr lang="en-US" altLang="zh-CN" baseline="-25000"/>
              <a:t>10</a:t>
            </a:r>
            <a:r>
              <a:rPr lang="en-US" altLang="zh-CN"/>
              <a:t>2 ≈ 23 × 0.3 ≈ 6 decimal digits of precision</a:t>
            </a:r>
            <a:endParaRPr lang="en-US" altLang="zh-CN"/>
          </a:p>
          <a:p>
            <a:pPr lvl="1"/>
            <a:r>
              <a:rPr lang="en-US" altLang="zh-CN"/>
              <a:t>Double: approx 2</a:t>
            </a:r>
            <a:r>
              <a:rPr lang="en-US" altLang="zh-CN" baseline="30000"/>
              <a:t>–52</a:t>
            </a:r>
            <a:endParaRPr lang="en-US" altLang="zh-CN" baseline="30000"/>
          </a:p>
          <a:p>
            <a:pPr lvl="2"/>
            <a:r>
              <a:rPr lang="en-US" altLang="zh-CN"/>
              <a:t>Equivalent to 52 × log</a:t>
            </a:r>
            <a:r>
              <a:rPr lang="en-US" altLang="zh-CN" baseline="-25000"/>
              <a:t>10</a:t>
            </a:r>
            <a:r>
              <a:rPr lang="en-US" altLang="zh-CN"/>
              <a:t>2 ≈ 52 × 0.3 ≈ 16 decimal digits of precision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91842" name="标题 29184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Floating-Point Example</a:t>
            </a:r>
            <a:endParaRPr lang="en-US" altLang="zh-CN"/>
          </a:p>
        </p:txBody>
      </p:sp>
      <p:sp>
        <p:nvSpPr>
          <p:cNvPr id="291843" name="内容占位符 29184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Represent –0.75</a:t>
            </a:r>
            <a:endParaRPr lang="en-US" altLang="zh-CN"/>
          </a:p>
          <a:p>
            <a:pPr lvl="1"/>
            <a:r>
              <a:rPr lang="en-US" altLang="zh-CN"/>
              <a:t>–0.75 = (–1)</a:t>
            </a:r>
            <a:r>
              <a:rPr lang="en-US" altLang="zh-CN" baseline="30000"/>
              <a:t>1</a:t>
            </a:r>
            <a:r>
              <a:rPr lang="en-US" altLang="zh-CN"/>
              <a:t> × 1.1</a:t>
            </a:r>
            <a:r>
              <a:rPr lang="en-US" altLang="zh-CN" baseline="-25000"/>
              <a:t>2</a:t>
            </a:r>
            <a:r>
              <a:rPr lang="en-US" altLang="zh-CN"/>
              <a:t> × 2</a:t>
            </a:r>
            <a:r>
              <a:rPr lang="en-US" altLang="zh-CN" baseline="30000"/>
              <a:t>–1</a:t>
            </a:r>
            <a:endParaRPr lang="en-US" altLang="zh-CN" baseline="30000"/>
          </a:p>
          <a:p>
            <a:pPr lvl="1"/>
            <a:r>
              <a:rPr lang="en-US" altLang="zh-CN"/>
              <a:t>S = </a:t>
            </a:r>
            <a:r>
              <a:rPr lang="en-US" altLang="zh-CN">
                <a:solidFill>
                  <a:schemeClr val="hlink"/>
                </a:solidFill>
              </a:rPr>
              <a:t>1</a:t>
            </a:r>
            <a:endParaRPr lang="en-US" altLang="zh-CN">
              <a:solidFill>
                <a:schemeClr val="hlink"/>
              </a:solidFill>
            </a:endParaRPr>
          </a:p>
          <a:p>
            <a:pPr lvl="1"/>
            <a:r>
              <a:rPr lang="en-US" altLang="zh-CN"/>
              <a:t>Fraction = </a:t>
            </a:r>
            <a:r>
              <a:rPr lang="en-US" altLang="zh-CN">
                <a:solidFill>
                  <a:schemeClr val="tx2"/>
                </a:solidFill>
              </a:rPr>
              <a:t>1000…00</a:t>
            </a:r>
            <a:r>
              <a:rPr lang="en-US" altLang="zh-CN" baseline="-25000"/>
              <a:t>2</a:t>
            </a:r>
            <a:endParaRPr lang="en-US" altLang="zh-CN">
              <a:solidFill>
                <a:schemeClr val="folHlink"/>
              </a:solidFill>
            </a:endParaRPr>
          </a:p>
          <a:p>
            <a:pPr lvl="1"/>
            <a:r>
              <a:rPr lang="en-US" altLang="zh-CN"/>
              <a:t>Exponent = –1 + Bias</a:t>
            </a:r>
            <a:endParaRPr lang="en-US" altLang="zh-CN"/>
          </a:p>
          <a:p>
            <a:pPr lvl="2"/>
            <a:r>
              <a:rPr lang="en-US" altLang="zh-CN"/>
              <a:t>Single: –1 + 127 = 126 = </a:t>
            </a:r>
            <a:r>
              <a:rPr lang="en-US" altLang="zh-CN">
                <a:solidFill>
                  <a:srgbClr val="008000"/>
                </a:solidFill>
              </a:rPr>
              <a:t>01111110</a:t>
            </a:r>
            <a:r>
              <a:rPr lang="en-US" altLang="zh-CN" baseline="-25000"/>
              <a:t>2</a:t>
            </a:r>
            <a:endParaRPr lang="en-US" altLang="zh-CN"/>
          </a:p>
          <a:p>
            <a:pPr lvl="2"/>
            <a:r>
              <a:rPr lang="en-US" altLang="zh-CN"/>
              <a:t>Double: –1 + 1023 = 1022 = </a:t>
            </a:r>
            <a:r>
              <a:rPr lang="en-US" altLang="zh-CN">
                <a:solidFill>
                  <a:srgbClr val="008000"/>
                </a:solidFill>
              </a:rPr>
              <a:t>01111111110</a:t>
            </a:r>
            <a:r>
              <a:rPr lang="en-US" altLang="zh-CN" baseline="-25000"/>
              <a:t>2</a:t>
            </a:r>
            <a:endParaRPr lang="en-US" altLang="zh-CN"/>
          </a:p>
          <a:p>
            <a:r>
              <a:rPr lang="en-US" altLang="zh-CN"/>
              <a:t>Single: </a:t>
            </a:r>
            <a:r>
              <a:rPr lang="en-US" altLang="zh-CN">
                <a:solidFill>
                  <a:schemeClr val="hlink"/>
                </a:solidFill>
              </a:rPr>
              <a:t>1</a:t>
            </a:r>
            <a:r>
              <a:rPr lang="en-US" altLang="zh-CN">
                <a:solidFill>
                  <a:srgbClr val="008000"/>
                </a:solidFill>
              </a:rPr>
              <a:t>01111110</a:t>
            </a:r>
            <a:r>
              <a:rPr lang="en-US" altLang="zh-CN">
                <a:solidFill>
                  <a:schemeClr val="tx2"/>
                </a:solidFill>
              </a:rPr>
              <a:t>1000…00</a:t>
            </a:r>
            <a:endParaRPr lang="en-US" altLang="zh-CN">
              <a:solidFill>
                <a:schemeClr val="tx2"/>
              </a:solidFill>
            </a:endParaRPr>
          </a:p>
          <a:p>
            <a:r>
              <a:rPr lang="en-US" altLang="zh-CN"/>
              <a:t>Double: </a:t>
            </a:r>
            <a:r>
              <a:rPr lang="en-US" altLang="zh-CN">
                <a:solidFill>
                  <a:schemeClr val="hlink"/>
                </a:solidFill>
              </a:rPr>
              <a:t>1</a:t>
            </a:r>
            <a:r>
              <a:rPr lang="en-US" altLang="zh-CN">
                <a:solidFill>
                  <a:srgbClr val="008000"/>
                </a:solidFill>
              </a:rPr>
              <a:t>01111111110</a:t>
            </a:r>
            <a:r>
              <a:rPr lang="en-US" altLang="zh-CN">
                <a:solidFill>
                  <a:schemeClr val="tx2"/>
                </a:solidFill>
              </a:rPr>
              <a:t>1000…00</a:t>
            </a:r>
            <a:endParaRPr lang="en-US" altLang="zh-CN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93890" name="标题 29388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Floating-Point Example</a:t>
            </a:r>
            <a:endParaRPr lang="en-US" altLang="zh-CN"/>
          </a:p>
        </p:txBody>
      </p:sp>
      <p:sp>
        <p:nvSpPr>
          <p:cNvPr id="293891" name="内容占位符 293890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en-US" altLang="zh-CN"/>
              <a:t>What number is represented by the single-precision float</a:t>
            </a:r>
            <a:endParaRPr lang="en-US" altLang="zh-CN"/>
          </a:p>
          <a:p>
            <a:pPr>
              <a:lnSpc>
                <a:spcPct val="90000"/>
              </a:lnSpc>
              <a:buNone/>
            </a:pPr>
            <a:r>
              <a:rPr lang="en-US" altLang="zh-CN">
                <a:solidFill>
                  <a:schemeClr val="hlink"/>
                </a:solidFill>
              </a:rPr>
              <a:t>	1</a:t>
            </a:r>
            <a:r>
              <a:rPr lang="en-US" altLang="zh-CN">
                <a:solidFill>
                  <a:srgbClr val="008000"/>
                </a:solidFill>
              </a:rPr>
              <a:t>10000001</a:t>
            </a:r>
            <a:r>
              <a:rPr lang="en-US" altLang="zh-CN">
                <a:solidFill>
                  <a:schemeClr val="tx2"/>
                </a:solidFill>
              </a:rPr>
              <a:t>01000…00</a:t>
            </a:r>
            <a:endParaRPr lang="en-US" altLang="zh-CN">
              <a:solidFill>
                <a:schemeClr val="tx2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/>
              <a:t>S = </a:t>
            </a:r>
            <a:r>
              <a:rPr lang="en-US" altLang="zh-CN">
                <a:solidFill>
                  <a:schemeClr val="hlink"/>
                </a:solidFill>
              </a:rPr>
              <a:t>1</a:t>
            </a:r>
            <a:endParaRPr lang="en-US" altLang="zh-CN">
              <a:solidFill>
                <a:schemeClr val="hlink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/>
              <a:t>Fraction = </a:t>
            </a:r>
            <a:r>
              <a:rPr lang="en-US" altLang="zh-CN">
                <a:solidFill>
                  <a:schemeClr val="tx2"/>
                </a:solidFill>
              </a:rPr>
              <a:t>01000…00</a:t>
            </a:r>
            <a:r>
              <a:rPr lang="en-US" altLang="zh-CN" baseline="-25000"/>
              <a:t>2</a:t>
            </a:r>
            <a:endParaRPr lang="en-US" altLang="zh-CN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err="1"/>
              <a:t>Fxponent</a:t>
            </a:r>
            <a:r>
              <a:rPr lang="en-US" altLang="zh-CN"/>
              <a:t> = </a:t>
            </a:r>
            <a:r>
              <a:rPr lang="en-US" altLang="zh-CN">
                <a:solidFill>
                  <a:srgbClr val="008000"/>
                </a:solidFill>
              </a:rPr>
              <a:t>10000001</a:t>
            </a:r>
            <a:r>
              <a:rPr lang="en-US" altLang="zh-CN" baseline="-25000"/>
              <a:t>2</a:t>
            </a:r>
            <a:r>
              <a:rPr lang="en-US" altLang="zh-CN"/>
              <a:t> = 129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/>
              <a:t>x = (–1)</a:t>
            </a:r>
            <a:r>
              <a:rPr lang="en-US" altLang="zh-CN" baseline="30000"/>
              <a:t>1</a:t>
            </a:r>
            <a:r>
              <a:rPr lang="en-US" altLang="zh-CN"/>
              <a:t> × (1 + 01</a:t>
            </a:r>
            <a:r>
              <a:rPr lang="en-US" altLang="zh-CN" baseline="-25000"/>
              <a:t>2</a:t>
            </a:r>
            <a:r>
              <a:rPr lang="en-US" altLang="zh-CN"/>
              <a:t>) × 2</a:t>
            </a:r>
            <a:r>
              <a:rPr lang="en-US" altLang="zh-CN" baseline="30000"/>
              <a:t>(129 – 127)</a:t>
            </a:r>
            <a:endParaRPr lang="en-US" altLang="zh-CN"/>
          </a:p>
          <a:p>
            <a:pPr lvl="1">
              <a:lnSpc>
                <a:spcPct val="90000"/>
              </a:lnSpc>
              <a:buNone/>
            </a:pPr>
            <a:r>
              <a:rPr lang="en-US" altLang="zh-CN"/>
              <a:t>	= (–1) × 1.25 × 2</a:t>
            </a:r>
            <a:r>
              <a:rPr lang="en-US" altLang="zh-CN" baseline="30000"/>
              <a:t>2</a:t>
            </a:r>
            <a:endParaRPr lang="en-US" altLang="zh-CN"/>
          </a:p>
          <a:p>
            <a:pPr lvl="1">
              <a:lnSpc>
                <a:spcPct val="90000"/>
              </a:lnSpc>
              <a:buNone/>
            </a:pPr>
            <a:r>
              <a:rPr lang="en-US" altLang="zh-CN"/>
              <a:t>	= –5.0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02089" name="标题 302088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 err="1"/>
              <a:t>Denormal</a:t>
            </a:r>
            <a:r>
              <a:rPr lang="en-US" altLang="zh-CN"/>
              <a:t> Numbers</a:t>
            </a:r>
            <a:endParaRPr lang="en-US" altLang="zh-CN"/>
          </a:p>
        </p:txBody>
      </p:sp>
      <p:sp>
        <p:nvSpPr>
          <p:cNvPr id="302090" name="内容占位符 302089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Exponent = 000...0 </a:t>
            </a:r>
            <a:r>
              <a:rPr lang="en-US" altLang="zh-CN">
                <a:sym typeface="Symbol" panose="05050102010706020507" pitchFamily="18" charset="2"/>
              </a:rPr>
              <a:t> </a:t>
            </a:r>
            <a:r>
              <a:rPr lang="en-US" altLang="zh-CN"/>
              <a:t>hidden bit is 0</a:t>
            </a:r>
            <a:endParaRPr lang="en-US" altLang="zh-CN"/>
          </a:p>
        </p:txBody>
      </p:sp>
      <p:sp>
        <p:nvSpPr>
          <p:cNvPr id="302085" name="矩形 302084"/>
          <p:cNvSpPr/>
          <p:nvPr/>
        </p:nvSpPr>
        <p:spPr>
          <a:xfrm>
            <a:off x="684213" y="2565400"/>
            <a:ext cx="7772400" cy="23034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Smaller than normal numbers</a:t>
            </a:r>
            <a:endParaRPr lang="en-US" altLang="zh-CN"/>
          </a:p>
          <a:p>
            <a:pPr lvl="1"/>
            <a:r>
              <a:rPr lang="en-US" altLang="zh-CN"/>
              <a:t>allow for gradual underflow, with diminishing precision</a:t>
            </a:r>
            <a:endParaRPr lang="en-US" altLang="zh-CN"/>
          </a:p>
          <a:p>
            <a:pPr lvl="0">
              <a:spcBef>
                <a:spcPct val="50000"/>
              </a:spcBef>
            </a:pPr>
            <a:r>
              <a:rPr lang="en-US" altLang="zh-CN" err="1"/>
              <a:t>Denormal</a:t>
            </a:r>
            <a:r>
              <a:rPr lang="en-US" altLang="zh-CN"/>
              <a:t> with fraction = 000...0</a:t>
            </a:r>
            <a:endParaRPr lang="en-US" altLang="zh-CN"/>
          </a:p>
        </p:txBody>
      </p:sp>
      <p:sp>
        <p:nvSpPr>
          <p:cNvPr id="302087" name="线形标注 1 302086"/>
          <p:cNvSpPr/>
          <p:nvPr/>
        </p:nvSpPr>
        <p:spPr>
          <a:xfrm>
            <a:off x="3132138" y="5589588"/>
            <a:ext cx="2287587" cy="647700"/>
          </a:xfrm>
          <a:prstGeom prst="borderCallout1">
            <a:avLst>
              <a:gd name="adj1" fmla="val 17648"/>
              <a:gd name="adj2" fmla="val 103333"/>
              <a:gd name="adj3" fmla="val -26472"/>
              <a:gd name="adj4" fmla="val 12325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>
                <a:latin typeface="Arial" panose="020B0604020202020204" pitchFamily="34" charset="0"/>
              </a:rPr>
              <a:t>Two representations of 0.0!</a:t>
            </a:r>
            <a:endParaRPr lang="en-US" altLang="zh-CN">
              <a:latin typeface="Arial" panose="020B0604020202020204" pitchFamily="34" charset="0"/>
            </a:endParaRPr>
          </a:p>
        </p:txBody>
      </p:sp>
      <p:graphicFrame>
        <p:nvGraphicFramePr>
          <p:cNvPr id="302088" name="对象 302087"/>
          <p:cNvGraphicFramePr/>
          <p:nvPr/>
        </p:nvGraphicFramePr>
        <p:xfrm>
          <a:off x="1835150" y="1916113"/>
          <a:ext cx="4864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032000" imgH="228600" progId="Equation.3">
                  <p:embed/>
                </p:oleObj>
              </mc:Choice>
              <mc:Fallback>
                <p:oleObj name="" r:id="rId1" imgW="2032000" imgH="2286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5150" y="1916113"/>
                        <a:ext cx="4864100" cy="54610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1" name="对象 302090"/>
          <p:cNvGraphicFramePr/>
          <p:nvPr/>
        </p:nvGraphicFramePr>
        <p:xfrm>
          <a:off x="1835150" y="4868863"/>
          <a:ext cx="483393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2019300" imgH="228600" progId="Equation.3">
                  <p:embed/>
                </p:oleObj>
              </mc:Choice>
              <mc:Fallback>
                <p:oleObj name="" r:id="rId3" imgW="2019300" imgH="2286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150" y="4868863"/>
                        <a:ext cx="4833938" cy="54610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04132" name="标题 30413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Infinities and </a:t>
            </a:r>
            <a:r>
              <a:rPr lang="en-US" altLang="zh-CN" err="1"/>
              <a:t>NaNs</a:t>
            </a:r>
            <a:endParaRPr lang="en-US" altLang="zh-CN"/>
          </a:p>
        </p:txBody>
      </p:sp>
      <p:sp>
        <p:nvSpPr>
          <p:cNvPr id="304133" name="内容占位符 30413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Exponent = 111...1, Fraction = 000...0</a:t>
            </a:r>
            <a:endParaRPr lang="en-US" altLang="zh-CN"/>
          </a:p>
          <a:p>
            <a:pPr lvl="1"/>
            <a:r>
              <a:rPr lang="en-US" altLang="zh-CN"/>
              <a:t>±Infinity</a:t>
            </a:r>
            <a:endParaRPr lang="en-US" altLang="zh-CN"/>
          </a:p>
          <a:p>
            <a:pPr lvl="1"/>
            <a:r>
              <a:rPr lang="en-US" altLang="zh-CN"/>
              <a:t>Can be used in subsequent calculations, avoiding need for overflow check</a:t>
            </a:r>
            <a:endParaRPr lang="en-US" altLang="zh-CN"/>
          </a:p>
          <a:p>
            <a:r>
              <a:rPr lang="en-US" altLang="zh-CN"/>
              <a:t>Exponent = 111...1, Fraction ≠ 000...0</a:t>
            </a:r>
            <a:endParaRPr lang="en-US" altLang="zh-CN"/>
          </a:p>
          <a:p>
            <a:pPr lvl="1"/>
            <a:r>
              <a:rPr lang="en-US" altLang="zh-CN"/>
              <a:t>Not-a-Number (</a:t>
            </a:r>
            <a:r>
              <a:rPr lang="en-US" altLang="zh-CN" err="1"/>
              <a:t>NaN</a:t>
            </a:r>
            <a:r>
              <a:rPr lang="en-US" altLang="zh-CN"/>
              <a:t>)</a:t>
            </a:r>
            <a:endParaRPr lang="en-US" altLang="zh-CN"/>
          </a:p>
          <a:p>
            <a:pPr lvl="1"/>
            <a:r>
              <a:rPr lang="en-US" altLang="zh-CN"/>
              <a:t>Indicates illegal or undefined result</a:t>
            </a:r>
            <a:endParaRPr lang="en-US" altLang="zh-CN"/>
          </a:p>
          <a:p>
            <a:pPr lvl="2"/>
            <a:r>
              <a:rPr lang="en-US" altLang="zh-CN"/>
              <a:t>e.g., 0.0 / 0.0</a:t>
            </a:r>
            <a:endParaRPr lang="en-US" altLang="zh-CN"/>
          </a:p>
          <a:p>
            <a:pPr lvl="1"/>
            <a:r>
              <a:rPr lang="en-US" altLang="zh-CN"/>
              <a:t>Can be used in subsequent calculations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06180" name="标题 30617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Floating-Point Addition</a:t>
            </a:r>
            <a:endParaRPr lang="en-US" altLang="zh-CN"/>
          </a:p>
        </p:txBody>
      </p:sp>
      <p:sp>
        <p:nvSpPr>
          <p:cNvPr id="306181" name="内容占位符 306180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en-US" altLang="zh-CN" sz="2800"/>
              <a:t>Consider a 4-digit decimal example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9.999 × 10</a:t>
            </a:r>
            <a:r>
              <a:rPr lang="en-US" altLang="zh-CN" sz="2400" baseline="30000"/>
              <a:t>1</a:t>
            </a:r>
            <a:r>
              <a:rPr lang="en-US" altLang="zh-CN" sz="2400"/>
              <a:t> + 1.610 × 10</a:t>
            </a:r>
            <a:r>
              <a:rPr lang="en-US" altLang="zh-CN" sz="2400" baseline="30000"/>
              <a:t>–1</a:t>
            </a:r>
            <a:endParaRPr lang="en-US" altLang="zh-CN" sz="2400" baseline="30000"/>
          </a:p>
          <a:p>
            <a:pPr>
              <a:lnSpc>
                <a:spcPct val="90000"/>
              </a:lnSpc>
            </a:pPr>
            <a:r>
              <a:rPr lang="en-US" altLang="zh-CN" sz="2800"/>
              <a:t>1. Align decimal points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Shift number with smaller exponent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400"/>
              <a:t>9.999 × 10</a:t>
            </a:r>
            <a:r>
              <a:rPr lang="en-US" altLang="zh-CN" sz="2400" baseline="30000"/>
              <a:t>1</a:t>
            </a:r>
            <a:r>
              <a:rPr lang="en-US" altLang="zh-CN" sz="2400"/>
              <a:t> + 0.016 × 10</a:t>
            </a:r>
            <a:r>
              <a:rPr lang="en-US" altLang="zh-CN" sz="2400" baseline="30000"/>
              <a:t>1</a:t>
            </a:r>
            <a:endParaRPr lang="en-US" altLang="zh-CN" sz="2400" baseline="30000"/>
          </a:p>
          <a:p>
            <a:pPr>
              <a:lnSpc>
                <a:spcPct val="90000"/>
              </a:lnSpc>
            </a:pPr>
            <a:r>
              <a:rPr lang="en-US" altLang="zh-CN" sz="2800"/>
              <a:t>2. Add </a:t>
            </a:r>
            <a:r>
              <a:rPr lang="en-US" altLang="zh-CN" sz="2800" err="1"/>
              <a:t>significands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9.999 × 10</a:t>
            </a:r>
            <a:r>
              <a:rPr lang="en-US" altLang="zh-CN" sz="2400" baseline="30000"/>
              <a:t>1</a:t>
            </a:r>
            <a:r>
              <a:rPr lang="en-US" altLang="zh-CN" sz="2400"/>
              <a:t> + 0.016 × 10</a:t>
            </a:r>
            <a:r>
              <a:rPr lang="en-US" altLang="zh-CN" sz="2400" baseline="30000"/>
              <a:t>1</a:t>
            </a:r>
            <a:r>
              <a:rPr lang="en-US" altLang="zh-CN" sz="2400"/>
              <a:t> = 10.015 × 10</a:t>
            </a:r>
            <a:r>
              <a:rPr lang="en-US" altLang="zh-CN" sz="2400" baseline="30000"/>
              <a:t>1</a:t>
            </a:r>
            <a:endParaRPr lang="en-US" altLang="zh-CN" sz="2400" baseline="30000"/>
          </a:p>
          <a:p>
            <a:pPr>
              <a:lnSpc>
                <a:spcPct val="90000"/>
              </a:lnSpc>
            </a:pPr>
            <a:r>
              <a:rPr lang="en-US" altLang="zh-CN" sz="2800"/>
              <a:t>3. Normalize result &amp; check for over/underflow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1.0015 × 10</a:t>
            </a:r>
            <a:r>
              <a:rPr lang="en-US" altLang="zh-CN" sz="2400" baseline="30000"/>
              <a:t>2</a:t>
            </a:r>
            <a:endParaRPr lang="en-US" altLang="zh-CN" sz="2400" baseline="30000"/>
          </a:p>
          <a:p>
            <a:pPr>
              <a:lnSpc>
                <a:spcPct val="90000"/>
              </a:lnSpc>
            </a:pPr>
            <a:r>
              <a:rPr lang="en-US" altLang="zh-CN" sz="2800"/>
              <a:t>4. Round and renormalize if necessary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1.002 × 10</a:t>
            </a:r>
            <a:r>
              <a:rPr lang="en-US" altLang="zh-CN" sz="2400" baseline="30000"/>
              <a:t>2</a:t>
            </a:r>
            <a:endParaRPr lang="en-US" altLang="zh-CN" sz="2400" baseline="30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08228" name="标题 308227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Floating-Point Addition</a:t>
            </a:r>
            <a:endParaRPr lang="en-US" altLang="zh-CN"/>
          </a:p>
        </p:txBody>
      </p:sp>
      <p:sp>
        <p:nvSpPr>
          <p:cNvPr id="308229" name="内容占位符 308228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en-US" altLang="zh-CN" sz="2800"/>
              <a:t>Now consider a 4-digit binary example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1.000</a:t>
            </a:r>
            <a:r>
              <a:rPr lang="en-US" altLang="zh-CN" sz="2400" baseline="-25000"/>
              <a:t>2</a:t>
            </a:r>
            <a:r>
              <a:rPr lang="en-US" altLang="zh-CN" sz="2400"/>
              <a:t> × 2</a:t>
            </a:r>
            <a:r>
              <a:rPr lang="en-US" altLang="zh-CN" sz="2400" baseline="30000"/>
              <a:t>–1</a:t>
            </a:r>
            <a:r>
              <a:rPr lang="en-US" altLang="zh-CN" sz="2400"/>
              <a:t> + –1.110</a:t>
            </a:r>
            <a:r>
              <a:rPr lang="en-US" altLang="zh-CN" sz="2400" baseline="-25000"/>
              <a:t>2</a:t>
            </a:r>
            <a:r>
              <a:rPr lang="en-US" altLang="zh-CN" sz="2400"/>
              <a:t> × 2</a:t>
            </a:r>
            <a:r>
              <a:rPr lang="en-US" altLang="zh-CN" sz="2400" baseline="30000"/>
              <a:t>–2</a:t>
            </a:r>
            <a:r>
              <a:rPr lang="en-US" altLang="zh-CN" sz="2400"/>
              <a:t> (0.5 + –0.4375)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en-US" altLang="zh-CN" sz="2800"/>
              <a:t>1. Align binary points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Shift number with smaller exponent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400"/>
              <a:t>1.000</a:t>
            </a:r>
            <a:r>
              <a:rPr lang="en-US" altLang="zh-CN" sz="2400" baseline="-25000"/>
              <a:t>2</a:t>
            </a:r>
            <a:r>
              <a:rPr lang="en-US" altLang="zh-CN" sz="2400"/>
              <a:t> × 2</a:t>
            </a:r>
            <a:r>
              <a:rPr lang="en-US" altLang="zh-CN" sz="2400" baseline="30000"/>
              <a:t>–1</a:t>
            </a:r>
            <a:r>
              <a:rPr lang="en-US" altLang="zh-CN" sz="2400"/>
              <a:t> + –0.111</a:t>
            </a:r>
            <a:r>
              <a:rPr lang="en-US" altLang="zh-CN" sz="2400" baseline="-25000"/>
              <a:t>2</a:t>
            </a:r>
            <a:r>
              <a:rPr lang="en-US" altLang="zh-CN" sz="2400"/>
              <a:t> × 2</a:t>
            </a:r>
            <a:r>
              <a:rPr lang="en-US" altLang="zh-CN" sz="2400" baseline="30000"/>
              <a:t>–1</a:t>
            </a:r>
            <a:endParaRPr lang="en-US" altLang="zh-CN" sz="2400" baseline="30000"/>
          </a:p>
          <a:p>
            <a:pPr>
              <a:lnSpc>
                <a:spcPct val="90000"/>
              </a:lnSpc>
            </a:pPr>
            <a:r>
              <a:rPr lang="en-US" altLang="zh-CN" sz="2800"/>
              <a:t>2. Add </a:t>
            </a:r>
            <a:r>
              <a:rPr lang="en-US" altLang="zh-CN" sz="2800" err="1"/>
              <a:t>significands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1.000</a:t>
            </a:r>
            <a:r>
              <a:rPr lang="en-US" altLang="zh-CN" sz="2400" baseline="-25000"/>
              <a:t>2</a:t>
            </a:r>
            <a:r>
              <a:rPr lang="en-US" altLang="zh-CN" sz="2400"/>
              <a:t> × 2</a:t>
            </a:r>
            <a:r>
              <a:rPr lang="en-US" altLang="zh-CN" sz="2400" baseline="30000"/>
              <a:t>–1</a:t>
            </a:r>
            <a:r>
              <a:rPr lang="en-US" altLang="zh-CN" sz="2400"/>
              <a:t> + –0.111</a:t>
            </a:r>
            <a:r>
              <a:rPr lang="en-US" altLang="zh-CN" sz="2400" baseline="-25000"/>
              <a:t>2</a:t>
            </a:r>
            <a:r>
              <a:rPr lang="en-US" altLang="zh-CN" sz="2400"/>
              <a:t> × 2</a:t>
            </a:r>
            <a:r>
              <a:rPr lang="en-US" altLang="zh-CN" sz="2400" baseline="30000"/>
              <a:t>–</a:t>
            </a:r>
            <a:r>
              <a:rPr lang="en-US" altLang="zh-CN" sz="2400"/>
              <a:t>1 = 0.001</a:t>
            </a:r>
            <a:r>
              <a:rPr lang="en-US" altLang="zh-CN" sz="2400" baseline="-25000"/>
              <a:t>2</a:t>
            </a:r>
            <a:r>
              <a:rPr lang="en-US" altLang="zh-CN" sz="2400"/>
              <a:t> × 2</a:t>
            </a:r>
            <a:r>
              <a:rPr lang="en-US" altLang="zh-CN" sz="2400" baseline="30000"/>
              <a:t>–1</a:t>
            </a:r>
            <a:endParaRPr lang="en-US" altLang="zh-CN" sz="2400" baseline="30000"/>
          </a:p>
          <a:p>
            <a:pPr>
              <a:lnSpc>
                <a:spcPct val="90000"/>
              </a:lnSpc>
            </a:pPr>
            <a:r>
              <a:rPr lang="en-US" altLang="zh-CN" sz="2800"/>
              <a:t>3. Normalize result &amp; check for over/underflow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1.000</a:t>
            </a:r>
            <a:r>
              <a:rPr lang="en-US" altLang="zh-CN" sz="2400" baseline="-25000"/>
              <a:t>2</a:t>
            </a:r>
            <a:r>
              <a:rPr lang="en-US" altLang="zh-CN" sz="2400"/>
              <a:t> × 2</a:t>
            </a:r>
            <a:r>
              <a:rPr lang="en-US" altLang="zh-CN" sz="2400" baseline="30000"/>
              <a:t>–4</a:t>
            </a:r>
            <a:r>
              <a:rPr lang="en-US" altLang="zh-CN" sz="2400"/>
              <a:t>, with no over/underflow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en-US" altLang="zh-CN" sz="2800"/>
              <a:t>4. Round and renormalize if necessary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1.000</a:t>
            </a:r>
            <a:r>
              <a:rPr lang="en-US" altLang="zh-CN" sz="2400" baseline="-25000"/>
              <a:t>2</a:t>
            </a:r>
            <a:r>
              <a:rPr lang="en-US" altLang="zh-CN" sz="2400"/>
              <a:t> × 2</a:t>
            </a:r>
            <a:r>
              <a:rPr lang="en-US" altLang="zh-CN" sz="2400" baseline="30000"/>
              <a:t>–4</a:t>
            </a:r>
            <a:r>
              <a:rPr lang="en-US" altLang="zh-CN" sz="2400"/>
              <a:t> (no change)  = 0.0625</a:t>
            </a:r>
            <a:endParaRPr lang="en-US" altLang="zh-CN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10274" name="标题 310273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FP Adder Hardware</a:t>
            </a:r>
            <a:endParaRPr lang="en-US" altLang="zh-CN"/>
          </a:p>
        </p:txBody>
      </p:sp>
      <p:sp>
        <p:nvSpPr>
          <p:cNvPr id="310275" name="内容占位符 31027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Much more complex than integer adder</a:t>
            </a:r>
            <a:endParaRPr lang="en-US" altLang="zh-CN"/>
          </a:p>
          <a:p>
            <a:r>
              <a:rPr lang="en-US" altLang="zh-CN"/>
              <a:t>Doing it in one clock cycle would take too long</a:t>
            </a:r>
            <a:endParaRPr lang="en-US" altLang="zh-CN"/>
          </a:p>
          <a:p>
            <a:pPr lvl="1"/>
            <a:r>
              <a:rPr lang="en-US" altLang="zh-CN"/>
              <a:t>Much longer than integer operations</a:t>
            </a:r>
            <a:endParaRPr lang="en-US" altLang="zh-CN"/>
          </a:p>
          <a:p>
            <a:pPr lvl="1"/>
            <a:r>
              <a:rPr lang="en-US" altLang="zh-CN"/>
              <a:t>Slower clock would penalize all instructions</a:t>
            </a:r>
            <a:endParaRPr lang="en-US" altLang="zh-CN"/>
          </a:p>
          <a:p>
            <a:r>
              <a:rPr lang="en-US" altLang="zh-CN"/>
              <a:t>FP adder usually takes several cycles</a:t>
            </a:r>
            <a:endParaRPr lang="en-US" altLang="zh-CN"/>
          </a:p>
          <a:p>
            <a:pPr lvl="1"/>
            <a:r>
              <a:rPr lang="en-US" altLang="zh-CN"/>
              <a:t>Can be pipelined</a:t>
            </a:r>
            <a:endParaRPr lang="en-US" altLang="zh-C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pic>
        <p:nvPicPr>
          <p:cNvPr id="312334" name="图片 312333" descr="f03-16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013" y="1268413"/>
            <a:ext cx="5214937" cy="5051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2322" name="标题 31232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FP Adder Hardware</a:t>
            </a:r>
            <a:endParaRPr lang="en-US" altLang="zh-CN"/>
          </a:p>
        </p:txBody>
      </p:sp>
      <p:sp>
        <p:nvSpPr>
          <p:cNvPr id="312324" name="右大括号 312323"/>
          <p:cNvSpPr/>
          <p:nvPr/>
        </p:nvSpPr>
        <p:spPr>
          <a:xfrm>
            <a:off x="6588125" y="1844675"/>
            <a:ext cx="144463" cy="1800225"/>
          </a:xfrm>
          <a:prstGeom prst="rightBrace">
            <a:avLst>
              <a:gd name="adj1" fmla="val 103845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12325" name="右大括号 312324"/>
          <p:cNvSpPr/>
          <p:nvPr/>
        </p:nvSpPr>
        <p:spPr>
          <a:xfrm>
            <a:off x="6588125" y="3716338"/>
            <a:ext cx="144463" cy="792162"/>
          </a:xfrm>
          <a:prstGeom prst="rightBrace">
            <a:avLst>
              <a:gd name="adj1" fmla="val 45695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12326" name="右大括号 312325"/>
          <p:cNvSpPr/>
          <p:nvPr/>
        </p:nvSpPr>
        <p:spPr>
          <a:xfrm>
            <a:off x="6588125" y="4795838"/>
            <a:ext cx="144463" cy="576262"/>
          </a:xfrm>
          <a:prstGeom prst="rightBrace">
            <a:avLst>
              <a:gd name="adj1" fmla="val 33241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12327" name="右大括号 312326"/>
          <p:cNvSpPr/>
          <p:nvPr/>
        </p:nvSpPr>
        <p:spPr>
          <a:xfrm>
            <a:off x="6588125" y="5445125"/>
            <a:ext cx="144463" cy="576263"/>
          </a:xfrm>
          <a:prstGeom prst="rightBrace">
            <a:avLst>
              <a:gd name="adj1" fmla="val 33241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12328" name="文本框 312327"/>
          <p:cNvSpPr txBox="1"/>
          <p:nvPr/>
        </p:nvSpPr>
        <p:spPr>
          <a:xfrm>
            <a:off x="6877050" y="2568575"/>
            <a:ext cx="781050" cy="3460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en-US" altLang="zh-CN" sz="1600">
                <a:latin typeface="Arial" panose="020B0604020202020204" pitchFamily="34" charset="0"/>
              </a:rPr>
              <a:t>Step 1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312329" name="文本框 312328"/>
          <p:cNvSpPr txBox="1"/>
          <p:nvPr/>
        </p:nvSpPr>
        <p:spPr>
          <a:xfrm>
            <a:off x="6877050" y="3937000"/>
            <a:ext cx="781050" cy="3460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en-US" altLang="zh-CN" sz="1600">
                <a:latin typeface="Arial" panose="020B0604020202020204" pitchFamily="34" charset="0"/>
              </a:rPr>
              <a:t>Step 2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312330" name="文本框 312329"/>
          <p:cNvSpPr txBox="1"/>
          <p:nvPr/>
        </p:nvSpPr>
        <p:spPr>
          <a:xfrm>
            <a:off x="6877050" y="4873625"/>
            <a:ext cx="781050" cy="3460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en-US" altLang="zh-CN" sz="1600">
                <a:latin typeface="Arial" panose="020B0604020202020204" pitchFamily="34" charset="0"/>
              </a:rPr>
              <a:t>Step 3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312331" name="文本框 312330"/>
          <p:cNvSpPr txBox="1"/>
          <p:nvPr/>
        </p:nvSpPr>
        <p:spPr>
          <a:xfrm>
            <a:off x="6877050" y="5521325"/>
            <a:ext cx="781050" cy="3460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en-US" altLang="zh-CN" sz="1600">
                <a:latin typeface="Arial" panose="020B0604020202020204" pitchFamily="34" charset="0"/>
              </a:rPr>
              <a:t>Step 4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312332" name="左弧形箭头 312331"/>
          <p:cNvSpPr/>
          <p:nvPr/>
        </p:nvSpPr>
        <p:spPr>
          <a:xfrm rot="-10800000">
            <a:off x="7740650" y="4940300"/>
            <a:ext cx="288925" cy="792163"/>
          </a:xfrm>
          <a:prstGeom prst="curvedRightArrow">
            <a:avLst>
              <a:gd name="adj1" fmla="val 54835"/>
              <a:gd name="adj2" fmla="val 109670"/>
              <a:gd name="adj3" fmla="val 3333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14372" name="标题 31437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Floating-Point Multiplication</a:t>
            </a:r>
            <a:endParaRPr lang="en-US" altLang="zh-CN"/>
          </a:p>
        </p:txBody>
      </p:sp>
      <p:sp>
        <p:nvSpPr>
          <p:cNvPr id="314373" name="内容占位符 31437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en-US" altLang="zh-CN" sz="2400"/>
              <a:t>Consider a 4-digit decimal example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1.110 × 10</a:t>
            </a:r>
            <a:r>
              <a:rPr lang="en-US" altLang="zh-CN" sz="2000" baseline="30000"/>
              <a:t>10</a:t>
            </a:r>
            <a:r>
              <a:rPr lang="en-US" altLang="zh-CN" sz="2000"/>
              <a:t> × 9.200 × 10</a:t>
            </a:r>
            <a:r>
              <a:rPr lang="en-US" altLang="zh-CN" sz="2000" baseline="30000"/>
              <a:t>–5</a:t>
            </a:r>
            <a:endParaRPr lang="en-US" altLang="zh-CN" sz="2000" baseline="30000"/>
          </a:p>
          <a:p>
            <a:pPr>
              <a:lnSpc>
                <a:spcPct val="90000"/>
              </a:lnSpc>
            </a:pPr>
            <a:r>
              <a:rPr lang="en-US" altLang="zh-CN" sz="2400"/>
              <a:t>1. Add exponents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For biased exponents, subtract bias from sum</a:t>
            </a:r>
            <a:endParaRPr lang="en-US" altLang="zh-CN" sz="2000"/>
          </a:p>
          <a:p>
            <a:pPr lvl="1">
              <a:lnSpc>
                <a:spcPct val="90000"/>
              </a:lnSpc>
            </a:pPr>
            <a:r>
              <a:rPr lang="en-US" altLang="zh-CN" sz="2000"/>
              <a:t>New exponent = 10 + –5 = 5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en-US" altLang="zh-CN" sz="2400"/>
              <a:t>2. Multiply </a:t>
            </a:r>
            <a:r>
              <a:rPr lang="en-US" altLang="zh-CN" sz="2400" err="1"/>
              <a:t>significands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1.110 × 9.200 = 10.212  </a:t>
            </a:r>
            <a:r>
              <a:rPr lang="en-US" altLang="zh-CN" sz="2000">
                <a:sym typeface="Symbol" panose="05050102010706020507" pitchFamily="18" charset="2"/>
              </a:rPr>
              <a:t>  10.212 </a:t>
            </a:r>
            <a:r>
              <a:rPr lang="en-US" altLang="zh-CN" sz="2000"/>
              <a:t>× 10</a:t>
            </a:r>
            <a:r>
              <a:rPr lang="en-US" altLang="zh-CN" sz="2000" baseline="30000"/>
              <a:t>5</a:t>
            </a:r>
            <a:endParaRPr lang="en-US" altLang="zh-CN" sz="2000" baseline="3000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z="2400"/>
              <a:t>3. Normalize result &amp; check for over/underflow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1.0212 × 10</a:t>
            </a:r>
            <a:r>
              <a:rPr lang="en-US" altLang="zh-CN" sz="2000" baseline="30000"/>
              <a:t>6</a:t>
            </a:r>
            <a:endParaRPr lang="en-US" altLang="zh-CN" sz="2000" baseline="30000"/>
          </a:p>
          <a:p>
            <a:pPr>
              <a:lnSpc>
                <a:spcPct val="90000"/>
              </a:lnSpc>
            </a:pPr>
            <a:r>
              <a:rPr lang="en-US" altLang="zh-CN" sz="2400"/>
              <a:t>4. Round and renormalize if necessary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1.021 × 10</a:t>
            </a:r>
            <a:r>
              <a:rPr lang="en-US" altLang="zh-CN" sz="2000" baseline="30000"/>
              <a:t>6</a:t>
            </a:r>
            <a:endParaRPr lang="en-US" altLang="zh-CN" sz="2000" baseline="30000"/>
          </a:p>
          <a:p>
            <a:pPr>
              <a:lnSpc>
                <a:spcPct val="90000"/>
              </a:lnSpc>
            </a:pPr>
            <a:r>
              <a:rPr lang="en-US" altLang="zh-CN" sz="2400"/>
              <a:t>5. Determine sign of result from signs of operands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+1.021 × 10</a:t>
            </a:r>
            <a:r>
              <a:rPr lang="en-US" altLang="zh-CN" sz="2000" baseline="30000"/>
              <a:t>6</a:t>
            </a:r>
            <a:endParaRPr lang="en-US" altLang="zh-CN" sz="2000" baseline="3000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16420" name="标题 31641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Floating-Point Multiplication</a:t>
            </a:r>
            <a:endParaRPr lang="en-US" altLang="zh-CN"/>
          </a:p>
        </p:txBody>
      </p:sp>
      <p:sp>
        <p:nvSpPr>
          <p:cNvPr id="316421" name="内容占位符 316420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en-US" altLang="zh-CN" sz="2400"/>
              <a:t>Now consider a 4-digit binary example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1.000</a:t>
            </a:r>
            <a:r>
              <a:rPr lang="en-US" altLang="zh-CN" sz="2000" baseline="-25000"/>
              <a:t>2</a:t>
            </a:r>
            <a:r>
              <a:rPr lang="en-US" altLang="zh-CN" sz="2000"/>
              <a:t> × 2</a:t>
            </a:r>
            <a:r>
              <a:rPr lang="en-US" altLang="zh-CN" sz="2000" baseline="30000"/>
              <a:t>–1</a:t>
            </a:r>
            <a:r>
              <a:rPr lang="en-US" altLang="zh-CN" sz="2000"/>
              <a:t> × –1.110</a:t>
            </a:r>
            <a:r>
              <a:rPr lang="en-US" altLang="zh-CN" sz="2000" baseline="-25000"/>
              <a:t>2</a:t>
            </a:r>
            <a:r>
              <a:rPr lang="en-US" altLang="zh-CN" sz="2000"/>
              <a:t> × 2</a:t>
            </a:r>
            <a:r>
              <a:rPr lang="en-US" altLang="zh-CN" sz="2000" baseline="30000"/>
              <a:t>–2</a:t>
            </a:r>
            <a:r>
              <a:rPr lang="en-US" altLang="zh-CN" sz="2000"/>
              <a:t> (0.5 × –0.4375)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en-US" altLang="zh-CN" sz="2400"/>
              <a:t>1. Add exponents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Unbiased: –1 + –2 = –3</a:t>
            </a:r>
            <a:endParaRPr lang="en-US" altLang="zh-CN" sz="2000"/>
          </a:p>
          <a:p>
            <a:pPr lvl="1">
              <a:lnSpc>
                <a:spcPct val="90000"/>
              </a:lnSpc>
            </a:pPr>
            <a:r>
              <a:rPr lang="en-US" altLang="zh-CN" sz="2000"/>
              <a:t>Biased: (–1 + 127) + (–2 + 127) = –3 + 254 – 127 = –3 + 127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en-US" altLang="zh-CN" sz="2400"/>
              <a:t>2. Multiply </a:t>
            </a:r>
            <a:r>
              <a:rPr lang="en-US" altLang="zh-CN" sz="2400" err="1"/>
              <a:t>significands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1.000</a:t>
            </a:r>
            <a:r>
              <a:rPr lang="en-US" altLang="zh-CN" sz="2000" baseline="-25000"/>
              <a:t>2</a:t>
            </a:r>
            <a:r>
              <a:rPr lang="en-US" altLang="zh-CN" sz="2000"/>
              <a:t> × 1.110</a:t>
            </a:r>
            <a:r>
              <a:rPr lang="en-US" altLang="zh-CN" sz="2000" baseline="-25000"/>
              <a:t>2</a:t>
            </a:r>
            <a:r>
              <a:rPr lang="en-US" altLang="zh-CN" sz="2000"/>
              <a:t> = </a:t>
            </a:r>
            <a:r>
              <a:rPr lang="en-US" altLang="zh-CN" sz="2000" err="1"/>
              <a:t>1.1102</a:t>
            </a:r>
            <a:r>
              <a:rPr lang="en-US" altLang="zh-CN" sz="2000"/>
              <a:t>  </a:t>
            </a:r>
            <a:r>
              <a:rPr lang="en-US" altLang="zh-CN" sz="2000">
                <a:sym typeface="Symbol" panose="05050102010706020507" pitchFamily="18" charset="2"/>
              </a:rPr>
              <a:t>  </a:t>
            </a:r>
            <a:r>
              <a:rPr lang="en-US" altLang="zh-CN" sz="2000"/>
              <a:t>1.110</a:t>
            </a:r>
            <a:r>
              <a:rPr lang="en-US" altLang="zh-CN" sz="2000" baseline="-25000"/>
              <a:t>2</a:t>
            </a:r>
            <a:r>
              <a:rPr lang="en-US" altLang="zh-CN" sz="2000"/>
              <a:t> × 2</a:t>
            </a:r>
            <a:r>
              <a:rPr lang="en-US" altLang="zh-CN" sz="2000" baseline="30000"/>
              <a:t>–3</a:t>
            </a:r>
            <a:endParaRPr lang="en-US" altLang="zh-CN" sz="2000" baseline="30000"/>
          </a:p>
          <a:p>
            <a:pPr>
              <a:lnSpc>
                <a:spcPct val="90000"/>
              </a:lnSpc>
            </a:pPr>
            <a:r>
              <a:rPr lang="en-US" altLang="zh-CN" sz="2400"/>
              <a:t>3. Normalize result &amp; check for over/underflow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1.110</a:t>
            </a:r>
            <a:r>
              <a:rPr lang="en-US" altLang="zh-CN" sz="2000" baseline="-25000"/>
              <a:t>2</a:t>
            </a:r>
            <a:r>
              <a:rPr lang="en-US" altLang="zh-CN" sz="2000"/>
              <a:t> × 2</a:t>
            </a:r>
            <a:r>
              <a:rPr lang="en-US" altLang="zh-CN" sz="2000" baseline="30000"/>
              <a:t>–3</a:t>
            </a:r>
            <a:r>
              <a:rPr lang="en-US" altLang="zh-CN" sz="2000"/>
              <a:t> (no change) with no over/underflow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en-US" altLang="zh-CN" sz="2400"/>
              <a:t>4. Round and renormalize if necessary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1.110</a:t>
            </a:r>
            <a:r>
              <a:rPr lang="en-US" altLang="zh-CN" sz="2000" baseline="-25000"/>
              <a:t>2</a:t>
            </a:r>
            <a:r>
              <a:rPr lang="en-US" altLang="zh-CN" sz="2000"/>
              <a:t> × 2</a:t>
            </a:r>
            <a:r>
              <a:rPr lang="en-US" altLang="zh-CN" sz="2000" baseline="30000"/>
              <a:t>–3</a:t>
            </a:r>
            <a:r>
              <a:rPr lang="en-US" altLang="zh-CN" sz="2000"/>
              <a:t> (no change)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en-US" altLang="zh-CN" sz="2400"/>
              <a:t>5. Determine sign: +</a:t>
            </a:r>
            <a:r>
              <a:rPr lang="en-US" altLang="zh-CN" sz="2400" err="1"/>
              <a:t>ve</a:t>
            </a:r>
            <a:r>
              <a:rPr lang="en-US" altLang="zh-CN" sz="2400"/>
              <a:t> × –</a:t>
            </a:r>
            <a:r>
              <a:rPr lang="en-US" altLang="zh-CN" sz="2400" err="1"/>
              <a:t>ve</a:t>
            </a:r>
            <a:r>
              <a:rPr lang="en-US" altLang="zh-CN" sz="2400"/>
              <a:t> </a:t>
            </a:r>
            <a:r>
              <a:rPr lang="en-US" altLang="zh-CN" sz="2400">
                <a:sym typeface="Symbol" panose="05050102010706020507" pitchFamily="18" charset="2"/>
              </a:rPr>
              <a:t> </a:t>
            </a:r>
            <a:r>
              <a:rPr lang="en-US" altLang="zh-CN" sz="2400"/>
              <a:t>–</a:t>
            </a:r>
            <a:r>
              <a:rPr lang="en-US" altLang="zh-CN" sz="2400" err="1"/>
              <a:t>ve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–1.110</a:t>
            </a:r>
            <a:r>
              <a:rPr lang="en-US" altLang="zh-CN" sz="2000" baseline="-25000"/>
              <a:t>2</a:t>
            </a:r>
            <a:r>
              <a:rPr lang="en-US" altLang="zh-CN" sz="2000"/>
              <a:t> × 2</a:t>
            </a:r>
            <a:r>
              <a:rPr lang="en-US" altLang="zh-CN" sz="2000" baseline="30000"/>
              <a:t>–3</a:t>
            </a:r>
            <a:r>
              <a:rPr lang="en-US" altLang="zh-CN" sz="2000"/>
              <a:t>  = –0.21875</a:t>
            </a:r>
            <a:endParaRPr lang="en-US" altLang="zh-CN" sz="200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18466" name="标题 31846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FP Arithmetic Hardware</a:t>
            </a:r>
            <a:endParaRPr lang="en-US" altLang="zh-CN"/>
          </a:p>
        </p:txBody>
      </p:sp>
      <p:sp>
        <p:nvSpPr>
          <p:cNvPr id="318467" name="内容占位符 318466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en-US" altLang="zh-CN"/>
              <a:t>FP multiplier is of similar complexity to FP adder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But uses a multiplier for </a:t>
            </a:r>
            <a:r>
              <a:rPr lang="en-US" altLang="zh-CN" err="1"/>
              <a:t>significands</a:t>
            </a:r>
            <a:r>
              <a:rPr lang="en-US" altLang="zh-CN"/>
              <a:t> instead of an adder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/>
              <a:t>FP arithmetic hardware usually does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Addition, subtraction, multiplication, division, reciprocal, square-root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FP </a:t>
            </a:r>
            <a:r>
              <a:rPr lang="en-US" altLang="zh-CN">
                <a:sym typeface="Symbol" panose="05050102010706020507" pitchFamily="18" charset="2"/>
              </a:rPr>
              <a:t> integer conversion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/>
              <a:t>Operations usually takes several cycles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Can be pipelined</a:t>
            </a:r>
            <a:endParaRPr lang="en-US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20516" name="标题 320515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anchor="b" anchorCtr="0">
            <a:spAutoFit/>
          </a:bodyPr>
          <a:p>
            <a:r>
              <a:rPr lang="en-US" altLang="zh-CN"/>
              <a:t>FP Instructions in RISC-V</a:t>
            </a:r>
            <a:endParaRPr lang="en-US" altLang="zh-CN"/>
          </a:p>
        </p:txBody>
      </p:sp>
      <p:sp>
        <p:nvSpPr>
          <p:cNvPr id="320517" name="内容占位符 320516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80000"/>
              </a:lnSpc>
            </a:pP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Separate FP registers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32 double-precision: f0, f1, … f31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A single precision register is just the lower half of a double-precision register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Unlike integer register x0, floating-point register f0 is not hard-wired to the constant 0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FP instructions operate only on FP registers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Programs generally don’t do integer ops on FP data, or vice versa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More registers with minimal code-size impact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FP load and store instructions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Double-precision: fld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, fsd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Single-precision: flw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, fsw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22564" name="标题 322563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anchor="b" anchorCtr="0">
            <a:spAutoFit/>
          </a:bodyPr>
          <a:p>
            <a:r>
              <a:rPr lang="en-US" altLang="zh-CN"/>
              <a:t>FP Instructions in </a:t>
            </a:r>
            <a:r>
              <a:rPr lang="en-US" altLang="zh-CN">
                <a:sym typeface="+mn-ea"/>
              </a:rPr>
              <a:t>RISC-V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3100" y="1124585"/>
            <a:ext cx="8270875" cy="13862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2613025"/>
            <a:ext cx="8265795" cy="376872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24612" name="标题 32461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FP Example: °F to °C</a:t>
            </a:r>
            <a:endParaRPr lang="en-US" altLang="zh-CN"/>
          </a:p>
        </p:txBody>
      </p:sp>
      <p:sp>
        <p:nvSpPr>
          <p:cNvPr id="324613" name="内容占位符 32461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C code: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	float f2c (float </a:t>
            </a:r>
            <a:r>
              <a:rPr lang="en-US" altLang="zh-CN" sz="2400" err="1">
                <a:latin typeface="Arial" panose="020B0604020202020204" pitchFamily="34" charset="0"/>
                <a:cs typeface="Arial" panose="020B0604020202020204" pitchFamily="34" charset="0"/>
              </a:rPr>
              <a:t>fahr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  <a:b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return ((5.0f / 9.0f)*(</a:t>
            </a:r>
            <a:r>
              <a:rPr lang="en-US" altLang="zh-CN" sz="2400" err="1">
                <a:latin typeface="Arial" panose="020B0604020202020204" pitchFamily="34" charset="0"/>
                <a:cs typeface="Arial" panose="020B0604020202020204" pitchFamily="34" charset="0"/>
              </a:rPr>
              <a:t>fahr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- 32.0f));</a:t>
            </a:r>
            <a:b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err="1">
                <a:latin typeface="Arial" panose="020B0604020202020204" pitchFamily="34" charset="0"/>
                <a:cs typeface="Arial" panose="020B0604020202020204" pitchFamily="34" charset="0"/>
              </a:rPr>
              <a:t>fahr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in f10, result in f10, constants in memory within easy reach of register x3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Compiled RISC-V code: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	f2c: flw  f0, const5(x3)		// f0 =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5.0f</a:t>
            </a:r>
            <a:b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     flw  f1, const9(x3)		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 f1 =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9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.0f</a:t>
            </a:r>
            <a:b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     f</a:t>
            </a:r>
            <a:r>
              <a:rPr lang="en-US" altLang="zh-CN" sz="2400" err="1">
                <a:latin typeface="Arial" panose="020B0604020202020204" pitchFamily="34" charset="0"/>
                <a:cs typeface="Arial" panose="020B0604020202020204" pitchFamily="34" charset="0"/>
              </a:rPr>
              <a:t>div.s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f0, f0, f1		// f0 = 5.0f / 9.0f</a:t>
            </a:r>
            <a:b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   	flw  f1, const32(x3)		// f1 = 32.0f</a:t>
            </a:r>
            <a:b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   	f</a:t>
            </a:r>
            <a:r>
              <a:rPr lang="en-US" altLang="zh-CN" sz="2400" err="1">
                <a:latin typeface="Arial" panose="020B0604020202020204" pitchFamily="34" charset="0"/>
                <a:cs typeface="Arial" panose="020B0604020202020204" pitchFamily="34" charset="0"/>
              </a:rPr>
              <a:t>sub.s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f10, f10, f1		// f10 = fahr – 32.0f</a:t>
            </a:r>
            <a:b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   	f</a:t>
            </a:r>
            <a:r>
              <a:rPr lang="en-US" altLang="zh-CN" sz="2400" err="1">
                <a:latin typeface="Arial" panose="020B0604020202020204" pitchFamily="34" charset="0"/>
                <a:cs typeface="Arial" panose="020B0604020202020204" pitchFamily="34" charset="0"/>
              </a:rPr>
              <a:t>mul.s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f10, f0, f10	// f10 = (5.0f / 9.0f)*(fahr – 32.0f)</a:t>
            </a:r>
            <a:b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   	</a:t>
            </a:r>
            <a:r>
              <a:rPr lang="en-US" altLang="zh-CN" sz="2400" err="1">
                <a:latin typeface="Arial" panose="020B0604020202020204" pitchFamily="34" charset="0"/>
                <a:cs typeface="Arial" panose="020B0604020202020204" pitchFamily="34" charset="0"/>
              </a:rPr>
              <a:t>jalr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x0, 0(x1)			// return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45090" name="标题 34508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 sz="4000"/>
              <a:t>FP Example: Array Multiplication</a:t>
            </a:r>
            <a:endParaRPr lang="en-US" altLang="zh-CN" sz="4000"/>
          </a:p>
        </p:txBody>
      </p:sp>
      <p:sp>
        <p:nvSpPr>
          <p:cNvPr id="345091" name="内容占位符 345090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C = C + A × B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All 32 × 32 matrices, 64-bit double-precision elements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C code: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void mm (double </a:t>
            </a:r>
            <a:r>
              <a:rPr lang="en-US" altLang="nb-NO" sz="2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[][], double </a:t>
            </a:r>
            <a:r>
              <a:rPr lang="en-US" altLang="nb-NO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[][], double </a:t>
            </a:r>
            <a:r>
              <a:rPr lang="en-US" altLang="nb-NO" sz="24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[][]) </a:t>
            </a:r>
            <a:endParaRPr lang="nb-NO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nb-NO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b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size_t</a:t>
            </a:r>
            <a:r>
              <a:rPr lang="en-US" altLang="nb-NO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i, j, k;</a:t>
            </a:r>
            <a:b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for (i = 0; i</a:t>
            </a:r>
            <a:r>
              <a:rPr lang="en-US" altLang="nb-NO" sz="2400" dirty="0"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32; i = i + 1)</a:t>
            </a:r>
            <a:b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 for (j = 0; j</a:t>
            </a:r>
            <a:r>
              <a:rPr lang="en-US" altLang="nb-NO" sz="2400" dirty="0"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32; j = j + 1)</a:t>
            </a:r>
            <a:b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   for (k = 0; k</a:t>
            </a:r>
            <a:r>
              <a:rPr lang="en-US" altLang="nb-NO" sz="2400" dirty="0"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32; k = k + 1)</a:t>
            </a:r>
            <a:b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nb-NO" sz="2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[i][j] = </a:t>
            </a:r>
            <a:r>
              <a:rPr lang="en-US" altLang="nb-NO" sz="2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[i][j]</a:t>
            </a:r>
            <a:r>
              <a:rPr lang="en-US" altLang="nb-NO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altLang="nb-NO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[i][k] * </a:t>
            </a:r>
            <a:r>
              <a:rPr lang="en-US" altLang="nb-NO" sz="24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[k][j];</a:t>
            </a:r>
            <a:b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b-NO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Addresses of c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, b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in x10, x11, x12, and</a:t>
            </a:r>
            <a:b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, j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, k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in x5, x6, x7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47143" name="矩形 347142"/>
          <p:cNvSpPr/>
          <p:nvPr/>
        </p:nvSpPr>
        <p:spPr>
          <a:xfrm>
            <a:off x="684213" y="1628775"/>
            <a:ext cx="8135937" cy="123825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47144" name="矩形 347143"/>
          <p:cNvSpPr/>
          <p:nvPr/>
        </p:nvSpPr>
        <p:spPr>
          <a:xfrm>
            <a:off x="684213" y="2867025"/>
            <a:ext cx="8135937" cy="150495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47145" name="矩形 347144"/>
          <p:cNvSpPr/>
          <p:nvPr/>
        </p:nvSpPr>
        <p:spPr>
          <a:xfrm>
            <a:off x="684213" y="4371975"/>
            <a:ext cx="8135937" cy="150495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47140" name="标题 34713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 sz="4000"/>
              <a:t>FP Example: Array Multiplication</a:t>
            </a:r>
            <a:endParaRPr lang="en-US" altLang="zh-CN" sz="4000"/>
          </a:p>
        </p:txBody>
      </p:sp>
      <p:sp>
        <p:nvSpPr>
          <p:cNvPr id="347141" name="矩形 347140"/>
          <p:cNvSpPr/>
          <p:nvPr/>
        </p:nvSpPr>
        <p:spPr>
          <a:xfrm>
            <a:off x="684213" y="1125538"/>
            <a:ext cx="8270875" cy="51117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/>
            <a:r>
              <a:rPr lang="en-US" altLang="zh-CN" sz="2800"/>
              <a:t>  </a:t>
            </a:r>
            <a:r>
              <a:rPr lang="en-US" altLang="zh-CN" sz="2800">
                <a:cs typeface="Arial" panose="020B0604020202020204" pitchFamily="34" charset="0"/>
                <a:sym typeface="+mn-ea"/>
              </a:rPr>
              <a:t>RISC-V</a:t>
            </a:r>
            <a:r>
              <a:rPr lang="en-US" altLang="zh-CN" sz="2800"/>
              <a:t> code:</a:t>
            </a:r>
            <a:endParaRPr lang="en-US" altLang="zh-CN" sz="2800"/>
          </a:p>
          <a:p>
            <a:pPr marL="0" lvl="0" indent="0">
              <a:lnSpc>
                <a:spcPct val="110000"/>
              </a:lnSpc>
              <a:buNone/>
            </a:pPr>
            <a:r>
              <a:rPr lang="en-US" altLang="zh-CN" sz="1800">
                <a:latin typeface="Lucida Console" panose="020B0609040504020204" pitchFamily="49" charset="0"/>
              </a:rPr>
              <a:t>mm: addi x28, x0, 32   // x28 = 32 (row size/loop end)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addi x5, x0, 0     // i = 0; initialize 1st for loop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L1: addi x6, x0, 0     // j = 0; initialize 2nd for loop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L2: addi x7, x0, 0     // k = 0; initialize 3rd for loop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slli x30, x5, 5    // x30 = i * 32(size of row of c)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</a:t>
            </a:r>
            <a:r>
              <a:rPr lang="fr-FR" altLang="zh-CN" sz="1800">
                <a:latin typeface="Lucida Console" panose="020B0609040504020204" pitchFamily="49" charset="0"/>
              </a:rPr>
              <a:t>add </a:t>
            </a:r>
            <a:r>
              <a:rPr lang="en-US" altLang="fr-FR" sz="1800">
                <a:latin typeface="Lucida Console" panose="020B0609040504020204" pitchFamily="49" charset="0"/>
              </a:rPr>
              <a:t> </a:t>
            </a:r>
            <a:r>
              <a:rPr lang="fr-FR" altLang="zh-CN" sz="1800">
                <a:latin typeface="Lucida Console" panose="020B0609040504020204" pitchFamily="49" charset="0"/>
              </a:rPr>
              <a:t>x30, x30, x6 </a:t>
            </a:r>
            <a:r>
              <a:rPr lang="en-US" altLang="fr-FR" sz="1800">
                <a:latin typeface="Lucida Console" panose="020B0609040504020204" pitchFamily="49" charset="0"/>
              </a:rPr>
              <a:t> </a:t>
            </a:r>
            <a:r>
              <a:rPr lang="fr-FR" altLang="zh-CN" sz="1800">
                <a:latin typeface="Lucida Console" panose="020B0609040504020204" pitchFamily="49" charset="0"/>
              </a:rPr>
              <a:t>// x30 = i * size(row) + j</a:t>
            </a:r>
            <a:br>
              <a:rPr lang="fr-FR" altLang="zh-CN" sz="1800">
                <a:latin typeface="Lucida Console" panose="020B0609040504020204" pitchFamily="49" charset="0"/>
              </a:rPr>
            </a:br>
            <a:r>
              <a:rPr lang="fr-FR" altLang="zh-CN" sz="1800">
                <a:latin typeface="Lucida Console" panose="020B0609040504020204" pitchFamily="49" charset="0"/>
              </a:rPr>
              <a:t>    </a:t>
            </a:r>
            <a:r>
              <a:rPr lang="en-US" altLang="zh-CN" sz="1800">
                <a:latin typeface="Lucida Console" panose="020B0609040504020204" pitchFamily="49" charset="0"/>
              </a:rPr>
              <a:t>slli x30, x30, 3   // x30 = byte offset of [i][j]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add  x30, x10, x30 // x30 = byte address of c[i][j]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fld  f0, 0(x30)    // f0 = 8 bytes of c[i][j]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L3: slli x29, x7, 5    // x29 = k * 32(size of row of b)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add  x29, x29, x6  // x29 = k * size(row) + j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slli x29, x29, 3   // x29 = byte offset of [k][j]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add  x29, x12, x29 // x29 = byte address of b[k][j]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fld  f1, 0(x29)    // f1 = 8 bytes of b[k][j]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…</a:t>
            </a:r>
            <a:endParaRPr lang="en-US" altLang="zh-CN" sz="1800">
              <a:latin typeface="Lucida Console" panose="020B0609040504020204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52261" name="矩形 352260"/>
          <p:cNvSpPr/>
          <p:nvPr/>
        </p:nvSpPr>
        <p:spPr>
          <a:xfrm>
            <a:off x="684213" y="1484313"/>
            <a:ext cx="8135937" cy="149860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52262" name="矩形 352261"/>
          <p:cNvSpPr/>
          <p:nvPr/>
        </p:nvSpPr>
        <p:spPr>
          <a:xfrm>
            <a:off x="684213" y="2982913"/>
            <a:ext cx="8135937" cy="598487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52263" name="矩形 352262"/>
          <p:cNvSpPr/>
          <p:nvPr/>
        </p:nvSpPr>
        <p:spPr>
          <a:xfrm>
            <a:off x="684213" y="3581400"/>
            <a:ext cx="8135937" cy="91440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52264" name="矩形 352263"/>
          <p:cNvSpPr/>
          <p:nvPr/>
        </p:nvSpPr>
        <p:spPr>
          <a:xfrm>
            <a:off x="684213" y="4495800"/>
            <a:ext cx="8135937" cy="60960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52265" name="矩形 352264"/>
          <p:cNvSpPr/>
          <p:nvPr/>
        </p:nvSpPr>
        <p:spPr>
          <a:xfrm>
            <a:off x="684213" y="5105400"/>
            <a:ext cx="8135937" cy="60960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52258" name="标题 352257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 sz="4000"/>
              <a:t>FP Example: Array Multiplication</a:t>
            </a:r>
            <a:endParaRPr lang="en-US" altLang="zh-CN" sz="4000"/>
          </a:p>
        </p:txBody>
      </p:sp>
      <p:sp>
        <p:nvSpPr>
          <p:cNvPr id="352259" name="矩形 352258"/>
          <p:cNvSpPr/>
          <p:nvPr/>
        </p:nvSpPr>
        <p:spPr>
          <a:xfrm>
            <a:off x="684213" y="1125538"/>
            <a:ext cx="8270875" cy="51117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>
              <a:lnSpc>
                <a:spcPct val="110000"/>
              </a:lnSpc>
              <a:buNone/>
            </a:pPr>
            <a:r>
              <a:rPr lang="en-US" altLang="zh-CN" sz="1800">
                <a:latin typeface="Lucida Console" panose="020B0609040504020204" pitchFamily="49" charset="0"/>
              </a:rPr>
              <a:t>    …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slli x29, x5, 5     // x29 = i * 32(size of row of a)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add x29, x29, x7    // x29 = i * size(row) + k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slli x29, x29, 3    // x29 = byte offset of [i][k]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add x29, x11, x29   // x29 = byte address of a[i][k]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fld f2, 0(x29)      // f2 = a[i][k]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fmul.d f1, f2, f1   // f1 = a[i][k] * b[k][j]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fadd.d f0, f0, f1  // f0 = c[i][j] + a[i][k] * b[k][j]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addi x7, x7, 1      // k = k + 1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bltu x7, x28, L3    // if (k &lt; 32) go to L3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fsd f0, 0(x30)      // c[i][j] = f0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addi x6, x6, 1      // j = j + 1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bltu x6, x28, L2    // if (j &lt; 32) go to L2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addi x5, x5, 1      // i = i + 1</a:t>
            </a:r>
            <a:br>
              <a:rPr lang="en-US" altLang="zh-CN" sz="1800">
                <a:latin typeface="Lucida Console" panose="020B0609040504020204" pitchFamily="49" charset="0"/>
              </a:rPr>
            </a:br>
            <a:r>
              <a:rPr lang="en-US" altLang="zh-CN" sz="1800">
                <a:latin typeface="Lucida Console" panose="020B0609040504020204" pitchFamily="49" charset="0"/>
              </a:rPr>
              <a:t>    bltu x5, x28, L1    // if (i &lt; 32) go to L1</a:t>
            </a:r>
            <a:endParaRPr lang="en-US" altLang="zh-CN" sz="1800">
              <a:latin typeface="Lucida Console" panose="020B0609040504020204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26658" name="标题 326657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Accurate Arithmetic</a:t>
            </a:r>
            <a:endParaRPr lang="en-US" altLang="zh-CN"/>
          </a:p>
        </p:txBody>
      </p:sp>
      <p:sp>
        <p:nvSpPr>
          <p:cNvPr id="326659" name="内容占位符 326658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en-US" altLang="zh-CN" sz="2800"/>
              <a:t>IEEE Std 754 specifies additional rounding control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Extra bits of precision (guard, round, sticky)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400"/>
              <a:t>Choice of rounding modes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400"/>
              <a:t>Allows programmer to fine-tune numerical behavior of a computation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en-US" altLang="zh-CN" sz="2800"/>
              <a:t>Not all FP units implement all options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Most programming languages and FP libraries just use defaults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en-US" altLang="zh-CN" sz="2800"/>
              <a:t>Trade-off between hardware complexity, performance, and market requirements</a:t>
            </a:r>
            <a:endParaRPr lang="en-US" altLang="zh-CN" sz="2800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54306" name="标题 35430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Interpretation of Data</a:t>
            </a:r>
            <a:endParaRPr lang="en-US" altLang="zh-CN"/>
          </a:p>
        </p:txBody>
      </p:sp>
      <p:sp>
        <p:nvSpPr>
          <p:cNvPr id="354307" name="内容占位符 354306"/>
          <p:cNvSpPr>
            <a:spLocks noGrp="1"/>
          </p:cNvSpPr>
          <p:nvPr>
            <p:ph idx="1"/>
          </p:nvPr>
        </p:nvSpPr>
        <p:spPr>
          <a:xfrm>
            <a:off x="684530" y="1871980"/>
            <a:ext cx="8270875" cy="4365625"/>
          </a:xfrm>
        </p:spPr>
        <p:txBody>
          <a:bodyPr/>
          <a:p>
            <a:r>
              <a:rPr lang="en-US" altLang="zh-CN"/>
              <a:t>Bits have no inherent meaning</a:t>
            </a:r>
            <a:endParaRPr lang="en-US" altLang="zh-CN"/>
          </a:p>
          <a:p>
            <a:pPr lvl="1"/>
            <a:r>
              <a:rPr lang="en-US" altLang="zh-CN"/>
              <a:t>Interpretation depends on the instructions applied</a:t>
            </a:r>
            <a:endParaRPr lang="en-US" altLang="zh-CN"/>
          </a:p>
          <a:p>
            <a:r>
              <a:rPr lang="en-US" altLang="zh-CN"/>
              <a:t>Computer representations of numbers</a:t>
            </a:r>
            <a:endParaRPr lang="en-US" altLang="zh-CN"/>
          </a:p>
          <a:p>
            <a:pPr lvl="1"/>
            <a:r>
              <a:rPr lang="en-US" altLang="zh-CN"/>
              <a:t>Finite range and precision</a:t>
            </a:r>
            <a:endParaRPr lang="en-US" altLang="zh-CN"/>
          </a:p>
          <a:p>
            <a:pPr lvl="1"/>
            <a:r>
              <a:rPr lang="en-US" altLang="zh-CN"/>
              <a:t>Need to account for this in programs</a:t>
            </a:r>
            <a:endParaRPr lang="en-US" altLang="zh-CN"/>
          </a:p>
        </p:txBody>
      </p:sp>
      <p:sp>
        <p:nvSpPr>
          <p:cNvPr id="354308" name="文本框 354307"/>
          <p:cNvSpPr txBox="1"/>
          <p:nvPr/>
        </p:nvSpPr>
        <p:spPr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b="1">
                <a:solidFill>
                  <a:schemeClr val="folHlink"/>
                </a:solidFill>
                <a:latin typeface="Arial Black" panose="020B0A04020102020204" pitchFamily="34" charset="0"/>
              </a:rPr>
              <a:t>The BIG Picture</a:t>
            </a:r>
            <a:endParaRPr lang="en-US" altLang="zh-CN" sz="2400" b="1">
              <a:solidFill>
                <a:schemeClr val="folHlink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3200">
                <a:sym typeface="+mn-ea"/>
              </a:rPr>
              <a:t>Graphics and media processing operates on vectors of 8-bit and 16-bit data</a:t>
            </a:r>
            <a:endParaRPr lang="en-US" altLang="zh-CN" sz="3200"/>
          </a:p>
          <a:p>
            <a:pPr lvl="1"/>
            <a:r>
              <a:rPr lang="en-US" altLang="zh-CN" sz="2800">
                <a:sym typeface="+mn-ea"/>
              </a:rPr>
              <a:t>Use 128-bit adder, with partitioned carry chain</a:t>
            </a:r>
            <a:endParaRPr lang="en-US" altLang="zh-CN" sz="2800"/>
          </a:p>
          <a:p>
            <a:pPr lvl="2"/>
            <a:r>
              <a:rPr lang="en-US" altLang="zh-CN">
                <a:sym typeface="+mn-ea"/>
              </a:rPr>
              <a:t>Operate on 16</a:t>
            </a:r>
            <a:r>
              <a:rPr lang="en-US" altLang="zh-CN">
                <a:cs typeface="Arial" panose="020B0604020202020204" pitchFamily="34" charset="0"/>
                <a:sym typeface="+mn-ea"/>
              </a:rPr>
              <a:t>×8-bit, 8×16-bit, 4×32-bit or </a:t>
            </a:r>
            <a:r>
              <a:rPr lang="en-US" altLang="zh-CN">
                <a:cs typeface="Arial" panose="020B0604020202020204" pitchFamily="34" charset="0"/>
                <a:sym typeface="+mn-ea"/>
              </a:rPr>
              <a:t>2×64-bit </a:t>
            </a:r>
            <a:r>
              <a:rPr lang="en-US" altLang="zh-CN">
                <a:cs typeface="Arial" panose="020B0604020202020204" pitchFamily="34" charset="0"/>
                <a:sym typeface="+mn-ea"/>
              </a:rPr>
              <a:t>operands</a:t>
            </a:r>
            <a:endParaRPr lang="en-US" altLang="zh-CN">
              <a:cs typeface="Arial" panose="020B0604020202020204" pitchFamily="34" charset="0"/>
              <a:sym typeface="+mn-ea"/>
            </a:endParaRPr>
          </a:p>
          <a:p>
            <a:pPr lvl="1"/>
            <a:r>
              <a:rPr lang="en-US" altLang="zh-CN" sz="2800">
                <a:cs typeface="Arial" panose="020B0604020202020204" pitchFamily="34" charset="0"/>
                <a:sym typeface="+mn-ea"/>
              </a:rPr>
              <a:t>SIMD (single-instruction, multiple-data)</a:t>
            </a:r>
            <a:endParaRPr lang="en-US" altLang="zh-CN" sz="2800">
              <a:cs typeface="Arial" panose="020B0604020202020204" pitchFamily="34" charset="0"/>
            </a:endParaRPr>
          </a:p>
          <a:p>
            <a:r>
              <a:rPr lang="en-US" altLang="zh-CN" sz="3200">
                <a:cs typeface="Arial" panose="020B0604020202020204" pitchFamily="34" charset="0"/>
                <a:sym typeface="+mn-ea"/>
              </a:rPr>
              <a:t>D</a:t>
            </a:r>
            <a:r>
              <a:rPr lang="en-US" altLang="zh-CN" sz="3200">
                <a:cs typeface="Arial" panose="020B0604020202020204" pitchFamily="34" charset="0"/>
                <a:sym typeface="+mn-ea"/>
              </a:rPr>
              <a:t>ata Level Parallelism</a:t>
            </a:r>
            <a:endParaRPr lang="en-US" altLang="zh-CN" sz="3200">
              <a:cs typeface="Arial" panose="020B0604020202020204" pitchFamily="34" charset="0"/>
              <a:sym typeface="+mn-ea"/>
            </a:endParaRPr>
          </a:p>
          <a:p>
            <a:r>
              <a:rPr lang="en-US" altLang="zh-CN" sz="3200">
                <a:cs typeface="Arial" panose="020B0604020202020204" pitchFamily="34" charset="0"/>
                <a:sym typeface="+mn-ea"/>
              </a:rPr>
              <a:t>x86 FP Architecture</a:t>
            </a:r>
            <a:endParaRPr lang="en-US" altLang="zh-CN" sz="3200">
              <a:cs typeface="Arial" panose="020B0604020202020204" pitchFamily="34" charset="0"/>
              <a:sym typeface="+mn-ea"/>
            </a:endParaRPr>
          </a:p>
          <a:p>
            <a:pPr lvl="1"/>
            <a:r>
              <a:rPr lang="en-US" altLang="zh-CN" sz="2800">
                <a:cs typeface="Arial" panose="020B0604020202020204" pitchFamily="34" charset="0"/>
                <a:sym typeface="+mn-ea"/>
              </a:rPr>
              <a:t>MMX </a:t>
            </a:r>
            <a:r>
              <a:rPr lang="en-US" altLang="zh-CN">
                <a:sym typeface="Symbol" panose="05050102010706020507" pitchFamily="18" charset="2"/>
              </a:rPr>
              <a:t> SSE  SSE2  AVX  AVX512</a:t>
            </a:r>
            <a:r>
              <a:rPr lang="en-US" altLang="zh-CN" sz="2800">
                <a:cs typeface="Arial" panose="020B0604020202020204" pitchFamily="34" charset="0"/>
                <a:sym typeface="+mn-ea"/>
              </a:rPr>
              <a:t></a:t>
            </a:r>
            <a:endParaRPr lang="en-US" altLang="zh-CN" sz="2800">
              <a:cs typeface="Arial" panose="020B0604020202020204" pitchFamily="34" charset="0"/>
              <a:sym typeface="+mn-ea"/>
            </a:endParaRPr>
          </a:p>
        </p:txBody>
      </p:sp>
      <p:sp>
        <p:nvSpPr>
          <p:cNvPr id="248834" name="标题 248833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anchor="b" anchorCtr="0">
            <a:spAutoFit/>
          </a:bodyPr>
          <a:p>
            <a:r>
              <a:rPr lang="en-US" altLang="zh-CN" err="1"/>
              <a:t>Subword Parallelism</a:t>
            </a:r>
            <a:endParaRPr lang="en-US" altLang="zh-CN"/>
          </a:p>
        </p:txBody>
      </p:sp>
      <p:sp>
        <p:nvSpPr>
          <p:cNvPr id="248836" name="文本框 248835"/>
          <p:cNvSpPr txBox="1"/>
          <p:nvPr/>
        </p:nvSpPr>
        <p:spPr>
          <a:xfrm rot="5400000">
            <a:off x="5653405" y="3122295"/>
            <a:ext cx="661289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§3.6 Parallelism and Computer Arithmetic: Subword </a:t>
            </a:r>
            <a:r>
              <a:rPr lang="en-US" altLang="zh-CN">
                <a:solidFill>
                  <a:schemeClr val="folHlink"/>
                </a:solidFill>
                <a:sym typeface="+mn-ea"/>
              </a:rPr>
              <a:t>Parallelism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32802" name="标题 332801"/>
          <p:cNvSpPr>
            <a:spLocks noGrp="1"/>
          </p:cNvSpPr>
          <p:nvPr>
            <p:ph type="title"/>
          </p:nvPr>
        </p:nvSpPr>
        <p:spPr>
          <a:xfrm>
            <a:off x="684213" y="201295"/>
            <a:ext cx="8259762" cy="706755"/>
          </a:xfrm>
        </p:spPr>
        <p:txBody>
          <a:bodyPr anchor="b" anchorCtr="0">
            <a:spAutoFit/>
          </a:bodyPr>
          <a:p>
            <a:r>
              <a:rPr lang="en-US" altLang="zh-CN" sz="4000"/>
              <a:t>Fallacy:Right Shift and Division</a:t>
            </a:r>
            <a:endParaRPr lang="en-US" altLang="zh-CN" sz="4000"/>
          </a:p>
        </p:txBody>
      </p:sp>
      <p:sp>
        <p:nvSpPr>
          <p:cNvPr id="332803" name="内容占位符 33280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en-US" altLang="zh-CN"/>
              <a:t>Left shift by </a:t>
            </a:r>
            <a:r>
              <a:rPr lang="en-US" altLang="zh-CN" i="1"/>
              <a:t>i</a:t>
            </a:r>
            <a:r>
              <a:rPr lang="en-US" altLang="zh-CN"/>
              <a:t> places multiplies an integer by 2</a:t>
            </a:r>
            <a:r>
              <a:rPr lang="en-US" altLang="zh-CN" i="1" baseline="30000"/>
              <a:t>i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/>
              <a:t>Right shift divides by 2</a:t>
            </a:r>
            <a:r>
              <a:rPr lang="en-US" altLang="zh-CN" i="1" baseline="30000"/>
              <a:t>i</a:t>
            </a:r>
            <a:r>
              <a:rPr lang="en-US" altLang="zh-CN"/>
              <a:t>?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Only for unsigned integers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/>
              <a:t>For signed integers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Arithmetic right shift: replicate the sign bit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e.g., –5 / 4</a:t>
            </a:r>
            <a:endParaRPr lang="en-US" altLang="zh-CN"/>
          </a:p>
          <a:p>
            <a:pPr lvl="2">
              <a:lnSpc>
                <a:spcPct val="90000"/>
              </a:lnSpc>
            </a:pPr>
            <a:r>
              <a:rPr lang="en-US" altLang="zh-CN">
                <a:solidFill>
                  <a:schemeClr val="hlink"/>
                </a:solidFill>
              </a:rPr>
              <a:t>1</a:t>
            </a:r>
            <a:r>
              <a:rPr lang="en-US" altLang="zh-CN"/>
              <a:t>1111011</a:t>
            </a:r>
            <a:r>
              <a:rPr lang="en-US" altLang="zh-CN" baseline="-25000"/>
              <a:t>2</a:t>
            </a:r>
            <a:r>
              <a:rPr lang="en-US" altLang="zh-CN"/>
              <a:t> &gt;&gt; 2 = </a:t>
            </a:r>
            <a:r>
              <a:rPr lang="en-US" altLang="zh-CN">
                <a:solidFill>
                  <a:schemeClr val="hlink"/>
                </a:solidFill>
              </a:rPr>
              <a:t>111</a:t>
            </a:r>
            <a:r>
              <a:rPr lang="en-US" altLang="zh-CN"/>
              <a:t>11110</a:t>
            </a:r>
            <a:r>
              <a:rPr lang="en-US" altLang="zh-CN" baseline="-25000"/>
              <a:t>2</a:t>
            </a:r>
            <a:r>
              <a:rPr lang="en-US" altLang="zh-CN"/>
              <a:t> = –2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>
                <a:sym typeface="+mn-ea"/>
              </a:rPr>
              <a:t>Logical right shift: this result is clearly wrong</a:t>
            </a:r>
            <a:endParaRPr lang="en-US" altLang="zh-CN">
              <a:sym typeface="+mn-ea"/>
            </a:endParaRPr>
          </a:p>
          <a:p>
            <a:pPr lvl="2">
              <a:lnSpc>
                <a:spcPct val="90000"/>
              </a:lnSpc>
            </a:pPr>
            <a:r>
              <a:rPr lang="en-US" altLang="zh-CN">
                <a:solidFill>
                  <a:schemeClr val="hlink"/>
                </a:solidFill>
              </a:rPr>
              <a:t>1</a:t>
            </a:r>
            <a:r>
              <a:rPr lang="en-US" altLang="zh-CN"/>
              <a:t>1111011</a:t>
            </a:r>
            <a:r>
              <a:rPr lang="en-US" altLang="zh-CN" baseline="-25000"/>
              <a:t>2</a:t>
            </a:r>
            <a:r>
              <a:rPr lang="en-US" altLang="zh-CN"/>
              <a:t> &gt;&gt; 2 = </a:t>
            </a:r>
            <a:r>
              <a:rPr lang="en-US" altLang="zh-CN">
                <a:solidFill>
                  <a:schemeClr val="hlink"/>
                </a:solidFill>
              </a:rPr>
              <a:t>001</a:t>
            </a:r>
            <a:r>
              <a:rPr lang="en-US" altLang="zh-CN"/>
              <a:t>11110</a:t>
            </a:r>
            <a:r>
              <a:rPr lang="en-US" altLang="zh-CN" baseline="-25000"/>
              <a:t>2</a:t>
            </a:r>
            <a:r>
              <a:rPr lang="en-US" altLang="zh-CN"/>
              <a:t> = +62</a:t>
            </a:r>
            <a:endParaRPr lang="en-US" altLang="zh-CN"/>
          </a:p>
        </p:txBody>
      </p:sp>
      <p:sp>
        <p:nvSpPr>
          <p:cNvPr id="332804" name="文本框 332803"/>
          <p:cNvSpPr txBox="1"/>
          <p:nvPr/>
        </p:nvSpPr>
        <p:spPr>
          <a:xfrm rot="5400000">
            <a:off x="7572375" y="1203325"/>
            <a:ext cx="277368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§3.9 Fallacies and Pitfalls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248834" name="标题 248833"/>
          <p:cNvSpPr>
            <a:spLocks noGrp="1"/>
          </p:cNvSpPr>
          <p:nvPr>
            <p:ph type="title"/>
          </p:nvPr>
        </p:nvSpPr>
        <p:spPr>
          <a:xfrm>
            <a:off x="684213" y="-45085"/>
            <a:ext cx="8259762" cy="953135"/>
          </a:xfrm>
        </p:spPr>
        <p:txBody>
          <a:bodyPr anchor="b" anchorCtr="0">
            <a:spAutoFit/>
          </a:bodyPr>
          <a:p>
            <a:r>
              <a:rPr lang="en-US" altLang="zh-CN" sz="2800" err="1"/>
              <a:t>Pitfall: Floating-point addition is not associative</a:t>
            </a:r>
            <a:endParaRPr lang="en-US" altLang="zh-CN" sz="2800" err="1"/>
          </a:p>
        </p:txBody>
      </p:sp>
      <p:sp>
        <p:nvSpPr>
          <p:cNvPr id="248835" name="内容占位符 24883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Parallel programs may interleave operations in unexpected orders</a:t>
            </a:r>
            <a:endParaRPr lang="en-US" altLang="zh-CN"/>
          </a:p>
          <a:p>
            <a:pPr lvl="1"/>
            <a:r>
              <a:rPr lang="en-US" altLang="zh-CN"/>
              <a:t>Assumptions of </a:t>
            </a:r>
            <a:r>
              <a:rPr lang="en-US" altLang="zh-CN" err="1"/>
              <a:t>associativity</a:t>
            </a:r>
            <a:r>
              <a:rPr lang="en-US" altLang="zh-CN"/>
              <a:t> may fail</a:t>
            </a:r>
            <a:endParaRPr lang="en-US" altLang="zh-CN"/>
          </a:p>
        </p:txBody>
      </p:sp>
      <p:graphicFrame>
        <p:nvGraphicFramePr>
          <p:cNvPr id="248837" name="对象 248836"/>
          <p:cNvGraphicFramePr/>
          <p:nvPr/>
        </p:nvGraphicFramePr>
        <p:xfrm>
          <a:off x="1771650" y="2876550"/>
          <a:ext cx="5238750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5732780" imgH="2075180" progId="Excel.Sheet.8">
                  <p:embed/>
                </p:oleObj>
              </mc:Choice>
              <mc:Fallback>
                <p:oleObj name="" r:id="rId1" imgW="5732780" imgH="2075180" progId="Excel.Sheet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71650" y="2876550"/>
                        <a:ext cx="5238750" cy="191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38" name="矩形 248837"/>
          <p:cNvSpPr/>
          <p:nvPr/>
        </p:nvSpPr>
        <p:spPr>
          <a:xfrm>
            <a:off x="684213" y="4972050"/>
            <a:ext cx="8270875" cy="12858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Need to validate parallel programs under varying degrees of parallelism</a:t>
            </a:r>
            <a:endParaRPr lang="en-US" altLang="zh-C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34850" name="标题 334849"/>
          <p:cNvSpPr>
            <a:spLocks noGrp="1"/>
          </p:cNvSpPr>
          <p:nvPr>
            <p:ph type="title"/>
          </p:nvPr>
        </p:nvSpPr>
        <p:spPr>
          <a:xfrm>
            <a:off x="684213" y="-45085"/>
            <a:ext cx="8259762" cy="953135"/>
          </a:xfrm>
        </p:spPr>
        <p:txBody>
          <a:bodyPr anchor="b" anchorCtr="0">
            <a:spAutoFit/>
          </a:bodyPr>
          <a:p>
            <a:r>
              <a:rPr lang="en-US" altLang="zh-CN" sz="2800"/>
              <a:t>Fallacy: Only theoretical mathematicians care about floating-point accuracy</a:t>
            </a:r>
            <a:endParaRPr lang="en-US" altLang="zh-CN" sz="2800"/>
          </a:p>
        </p:txBody>
      </p:sp>
      <p:sp>
        <p:nvSpPr>
          <p:cNvPr id="334851" name="内容占位符 334850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Important for scientific code</a:t>
            </a:r>
            <a:endParaRPr lang="en-US" altLang="zh-CN"/>
          </a:p>
          <a:p>
            <a:pPr lvl="1"/>
            <a:r>
              <a:rPr lang="en-US" altLang="zh-CN"/>
              <a:t>But for everyday consumer use?</a:t>
            </a:r>
            <a:endParaRPr lang="en-US" altLang="zh-CN"/>
          </a:p>
          <a:p>
            <a:pPr lvl="2"/>
            <a:r>
              <a:rPr lang="en-US" altLang="zh-CN"/>
              <a:t>“My bank balance is out by 0.0002¢!” </a:t>
            </a:r>
            <a:r>
              <a:rPr lang="en-US" altLang="zh-CN">
                <a:sym typeface="Wingdings" panose="05000000000000000000" pitchFamily="2" charset="2"/>
              </a:rPr>
              <a:t></a:t>
            </a:r>
            <a:endParaRPr lang="en-US" altLang="zh-CN">
              <a:sym typeface="Wingdings" panose="05000000000000000000" pitchFamily="2" charset="2"/>
            </a:endParaRPr>
          </a:p>
          <a:p>
            <a:r>
              <a:rPr lang="en-US" altLang="zh-CN"/>
              <a:t>The Intel Pentium FDIV bug</a:t>
            </a:r>
            <a:endParaRPr lang="en-US" altLang="zh-CN"/>
          </a:p>
          <a:p>
            <a:pPr lvl="1"/>
            <a:r>
              <a:rPr lang="en-US" altLang="zh-CN"/>
              <a:t>The market expects accuracy</a:t>
            </a:r>
            <a:endParaRPr lang="en-US" altLang="zh-CN"/>
          </a:p>
          <a:p>
            <a:pPr lvl="1"/>
            <a:r>
              <a:rPr lang="en-US" altLang="zh-CN"/>
              <a:t>See Colwell, </a:t>
            </a:r>
            <a:r>
              <a:rPr lang="en-US" altLang="zh-CN" i="1"/>
              <a:t>The Pentium Chronicles</a:t>
            </a:r>
            <a:endParaRPr lang="en-US" altLang="zh-C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/>
              <a:t>Chapter 3 — Arithmetic for Computers</a:t>
            </a:r>
            <a:r>
              <a:rPr lang="en-US" altLang="zh-CN" sz="1400" b="1">
                <a:latin typeface="Arial" panose="020B0604020202020204" pitchFamily="34" charset="0"/>
              </a:rPr>
              <a:t> — </a:t>
            </a:r>
            <a:fld id="{9A0DB2DC-4C9A-4742-B13C-FB6460FD3503}" type="slidenum">
              <a:rPr lang="en-AU" sz="1400" b="1">
                <a:latin typeface="Arial" panose="020B0604020202020204" pitchFamily="34" charset="0"/>
              </a:rPr>
            </a:fld>
            <a:endParaRPr lang="en-AU" sz="1400" b="1">
              <a:latin typeface="Arial" panose="020B0604020202020204" pitchFamily="34" charset="0"/>
            </a:endParaRPr>
          </a:p>
        </p:txBody>
      </p:sp>
      <p:sp>
        <p:nvSpPr>
          <p:cNvPr id="343042" name="标题 34304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Concluding Remarks</a:t>
            </a:r>
            <a:endParaRPr lang="en-US" altLang="zh-CN"/>
          </a:p>
        </p:txBody>
      </p:sp>
      <p:sp>
        <p:nvSpPr>
          <p:cNvPr id="343043" name="内容占位符 34304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err="1"/>
              <a:t>ISAs</a:t>
            </a:r>
            <a:r>
              <a:rPr lang="en-US" altLang="zh-CN"/>
              <a:t> support arithmetic</a:t>
            </a:r>
            <a:endParaRPr lang="en-US" altLang="zh-CN"/>
          </a:p>
          <a:p>
            <a:pPr lvl="1"/>
            <a:r>
              <a:rPr lang="en-US" altLang="zh-CN"/>
              <a:t>Signed and unsigned integers</a:t>
            </a:r>
            <a:endParaRPr lang="en-US" altLang="zh-CN"/>
          </a:p>
          <a:p>
            <a:pPr lvl="1"/>
            <a:r>
              <a:rPr lang="en-US" altLang="zh-CN"/>
              <a:t>Floating-point approximation to </a:t>
            </a:r>
            <a:r>
              <a:rPr lang="en-US" altLang="zh-CN" err="1"/>
              <a:t>reals</a:t>
            </a:r>
            <a:endParaRPr lang="en-US" altLang="zh-CN"/>
          </a:p>
          <a:p>
            <a:r>
              <a:rPr lang="en-US" altLang="zh-CN"/>
              <a:t>Bounded range and precision</a:t>
            </a:r>
            <a:endParaRPr lang="en-US" altLang="zh-CN"/>
          </a:p>
          <a:p>
            <a:pPr lvl="1"/>
            <a:r>
              <a:rPr lang="en-US" altLang="zh-CN"/>
              <a:t>Operations can overflow and underflow</a:t>
            </a:r>
            <a:endParaRPr lang="en-US" altLang="zh-CN"/>
          </a:p>
          <a:p>
            <a:r>
              <a:rPr lang="en-US" altLang="zh-CN"/>
              <a:t>RISC-V ISA</a:t>
            </a:r>
            <a:endParaRPr lang="en-US" altLang="zh-CN"/>
          </a:p>
          <a:p>
            <a:pPr lvl="1"/>
            <a:r>
              <a:rPr lang="en-US" altLang="zh-CN"/>
              <a:t>Core instructions: 17 most frequently used</a:t>
            </a:r>
            <a:endParaRPr lang="en-US" altLang="zh-CN"/>
          </a:p>
          <a:p>
            <a:pPr lvl="2"/>
            <a:r>
              <a:rPr lang="en-US" altLang="zh-CN"/>
              <a:t>SPEC CPU2006 integer and floating-point benchmarks: 76%</a:t>
            </a:r>
            <a:endParaRPr lang="en-US" altLang="zh-CN"/>
          </a:p>
          <a:p>
            <a:pPr lvl="1"/>
            <a:r>
              <a:rPr lang="en-US" altLang="zh-CN"/>
              <a:t>Other instructions: less frequent</a:t>
            </a:r>
            <a:endParaRPr lang="en-US" altLang="zh-CN"/>
          </a:p>
        </p:txBody>
      </p:sp>
      <p:sp>
        <p:nvSpPr>
          <p:cNvPr id="343045" name="文本框 343044"/>
          <p:cNvSpPr txBox="1"/>
          <p:nvPr/>
        </p:nvSpPr>
        <p:spPr>
          <a:xfrm rot="5400000">
            <a:off x="7553325" y="1222375"/>
            <a:ext cx="293878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§3.10 Concluding Remarks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657.5007874015746,&quot;width&quot;:2665}"/>
</p:tagLst>
</file>

<file path=ppt/tags/tag2.xml><?xml version="1.0" encoding="utf-8"?>
<p:tagLst xmlns:p="http://schemas.openxmlformats.org/presentationml/2006/main">
  <p:tag name="KSO_WM_UNIT_PLACING_PICTURE_USER_VIEWPORT" val="{&quot;height&quot;:2657.5007874015746,&quot;width&quot;:2665}"/>
</p:tagLst>
</file>

<file path=ppt/tags/tag3.xml><?xml version="1.0" encoding="utf-8"?>
<p:tagLst xmlns:p="http://schemas.openxmlformats.org/presentationml/2006/main">
  <p:tag name="KSO_WM_UNIT_TABLE_BEAUTIFY" val="smartTable{6196bb4d-b7e6-44da-bfdf-15b495456610}"/>
</p:tagLst>
</file>

<file path=ppt/tags/tag4.xml><?xml version="1.0" encoding="utf-8"?>
<p:tagLst xmlns:p="http://schemas.openxmlformats.org/presentationml/2006/main">
  <p:tag name="KSO_WM_UNIT_TABLE_BEAUTIFY" val="smartTable{6196bb4d-b7e6-44da-bfdf-15b495456610}"/>
</p:tagLst>
</file>

<file path=ppt/tags/tag5.xml><?xml version="1.0" encoding="utf-8"?>
<p:tagLst xmlns:p="http://schemas.openxmlformats.org/presentationml/2006/main">
  <p:tag name="COMMONDATA" val="eyJoZGlkIjoiZmE0NWRmMzVhNTY5Y2FiMzY2OGM1ZWRkMzQwMWFiMzEifQ=="/>
</p:tagLst>
</file>

<file path=ppt/theme/theme1.xml><?xml version="1.0" encoding="utf-8"?>
<a:theme xmlns:a="http://schemas.openxmlformats.org/drawingml/2006/main" name="2_Blends">
  <a:themeElements>
    <a:clrScheme name="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5"/>
      </a:accent5>
      <a:accent6>
        <a:srgbClr val="ACACAC"/>
      </a:accent6>
      <a:hlink>
        <a:srgbClr val="91AFBF"/>
      </a:hlink>
      <a:folHlink>
        <a:srgbClr val="ECEAAC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15936</Words>
  <Application>WPS 演示</Application>
  <PresentationFormat>On-screen Show</PresentationFormat>
  <Paragraphs>695</Paragraphs>
  <Slides>47</Slides>
  <Notes>48</Notes>
  <HiddenSlides>5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47</vt:i4>
      </vt:variant>
    </vt:vector>
  </HeadingPairs>
  <TitlesOfParts>
    <vt:vector size="65" baseType="lpstr">
      <vt:lpstr>Arial</vt:lpstr>
      <vt:lpstr>宋体</vt:lpstr>
      <vt:lpstr>Wingdings</vt:lpstr>
      <vt:lpstr>Arial Black</vt:lpstr>
      <vt:lpstr>Times New Roman</vt:lpstr>
      <vt:lpstr>Lucida Console</vt:lpstr>
      <vt:lpstr>Tahoma</vt:lpstr>
      <vt:lpstr>Verdana</vt:lpstr>
      <vt:lpstr>楷体_GB2312</vt:lpstr>
      <vt:lpstr>新宋体</vt:lpstr>
      <vt:lpstr>微软雅黑</vt:lpstr>
      <vt:lpstr>Arial Unicode MS</vt:lpstr>
      <vt:lpstr>Symbol</vt:lpstr>
      <vt:lpstr>2_Blends</vt:lpstr>
      <vt:lpstr>Equation.3</vt:lpstr>
      <vt:lpstr>Equation.3</vt:lpstr>
      <vt:lpstr>Equation.3</vt:lpstr>
      <vt:lpstr>Excel.Sheet.8</vt:lpstr>
      <vt:lpstr>Chapter 3</vt:lpstr>
      <vt:lpstr>Arithmetic for Computers</vt:lpstr>
      <vt:lpstr>Integer Addition</vt:lpstr>
      <vt:lpstr>Integer Subtraction</vt:lpstr>
      <vt:lpstr>Dealing with Overflow</vt:lpstr>
      <vt:lpstr>Multiplication</vt:lpstr>
      <vt:lpstr>Multiplication Hardware</vt:lpstr>
      <vt:lpstr>Optimized Multiplier</vt:lpstr>
      <vt:lpstr>Optimized Multiplier</vt:lpstr>
      <vt:lpstr>Faster Multiplier</vt:lpstr>
      <vt:lpstr>Multiply in RISC-V</vt:lpstr>
      <vt:lpstr>Division</vt:lpstr>
      <vt:lpstr>Division Hardware</vt:lpstr>
      <vt:lpstr>Optimized Divider</vt:lpstr>
      <vt:lpstr>Signed Multiplication</vt:lpstr>
      <vt:lpstr>Faster Division</vt:lpstr>
      <vt:lpstr>Multiply in RISC-V</vt:lpstr>
      <vt:lpstr>Floating Point</vt:lpstr>
      <vt:lpstr>Floating Point Standard</vt:lpstr>
      <vt:lpstr>IEEE Floating-Point Format</vt:lpstr>
      <vt:lpstr>Single-Precision Range</vt:lpstr>
      <vt:lpstr>Double-Precision Range</vt:lpstr>
      <vt:lpstr>Floating-Point Precision</vt:lpstr>
      <vt:lpstr>Floating-Point Example</vt:lpstr>
      <vt:lpstr>Floating-Point Example</vt:lpstr>
      <vt:lpstr>Denormal Numbers</vt:lpstr>
      <vt:lpstr>Infinities and NaNs</vt:lpstr>
      <vt:lpstr>Floating-Point Addition</vt:lpstr>
      <vt:lpstr>Floating-Point Addition</vt:lpstr>
      <vt:lpstr>FP Adder Hardware</vt:lpstr>
      <vt:lpstr>FP Adder Hardware</vt:lpstr>
      <vt:lpstr>Floating-Point Multiplication</vt:lpstr>
      <vt:lpstr>Floating-Point Multiplication</vt:lpstr>
      <vt:lpstr>FP Arithmetic Hardware</vt:lpstr>
      <vt:lpstr>FP Instructions in MIPS</vt:lpstr>
      <vt:lpstr>FP Instructions in MIPS</vt:lpstr>
      <vt:lpstr>FP Example: °F to °C</vt:lpstr>
      <vt:lpstr>FP Example: Array Multiplication</vt:lpstr>
      <vt:lpstr>FP Example: Array Multiplication</vt:lpstr>
      <vt:lpstr>FP Example: Array Multiplication</vt:lpstr>
      <vt:lpstr>Accurate Arithmetic</vt:lpstr>
      <vt:lpstr>Interpretation of Data</vt:lpstr>
      <vt:lpstr>Associativity</vt:lpstr>
      <vt:lpstr>Right Shift and Division</vt:lpstr>
      <vt:lpstr>Associativity</vt:lpstr>
      <vt:lpstr>Who Cares About FP Accuracy?</vt:lpstr>
      <vt:lpstr>Concluding Remarks</vt:lpstr>
    </vt:vector>
  </TitlesOfParts>
  <Company>Ashenden Designs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...</dc:title>
  <dc:creator>Peter Ashenden</dc:creator>
  <cp:lastModifiedBy>赵武锋</cp:lastModifiedBy>
  <cp:revision>48</cp:revision>
  <dcterms:created xsi:type="dcterms:W3CDTF">2008-07-28T10:20:00Z</dcterms:created>
  <dcterms:modified xsi:type="dcterms:W3CDTF">2025-09-24T08:37:36Z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24CD176A94AF4F8A94E38A7A119EF2CC</vt:lpwstr>
  </property>
  <property fmtid="{D5CDD505-2E9C-101B-9397-08002B2CF9AE}" pid="3" name="KSOProductBuildVer">
    <vt:lpwstr>2052-11.1.0.12165</vt:lpwstr>
  </property>
</Properties>
</file>