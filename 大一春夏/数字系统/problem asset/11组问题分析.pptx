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sldIdLst>
    <p:sldId id="257" r:id="rId3"/>
    <p:sldId id="258" r:id="rId5"/>
    <p:sldId id="289" r:id="rId6"/>
    <p:sldId id="259" r:id="rId7"/>
    <p:sldId id="260" r:id="rId8"/>
    <p:sldId id="275" r:id="rId9"/>
    <p:sldId id="290" r:id="rId10"/>
    <p:sldId id="276" r:id="rId11"/>
    <p:sldId id="262" r:id="rId12"/>
    <p:sldId id="263" r:id="rId13"/>
    <p:sldId id="291" r:id="rId14"/>
    <p:sldId id="308" r:id="rId15"/>
    <p:sldId id="292" r:id="rId16"/>
    <p:sldId id="264" r:id="rId17"/>
    <p:sldId id="265" r:id="rId18"/>
    <p:sldId id="266" r:id="rId19"/>
    <p:sldId id="267" r:id="rId20"/>
    <p:sldId id="294" r:id="rId21"/>
    <p:sldId id="268" r:id="rId22"/>
    <p:sldId id="269" r:id="rId23"/>
    <p:sldId id="270" r:id="rId24"/>
    <p:sldId id="273" r:id="rId25"/>
  </p:sldIdLst>
  <p:sldSz cx="12192000" cy="6858000"/>
  <p:notesSz cx="6858000" cy="9144000"/>
  <p:custDataLst>
    <p:tags r:id="rId29"/>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39"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FFF"/>
    <a:srgbClr val="DCDCDC"/>
    <a:srgbClr val="F0F0F0"/>
    <a:srgbClr val="E6E6E6"/>
    <a:srgbClr val="C8C8C8"/>
    <a:srgbClr val="FAFAFA"/>
    <a:srgbClr val="BEBEB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3778" autoAdjust="0"/>
    <p:restoredTop sz="94660"/>
  </p:normalViewPr>
  <p:slideViewPr>
    <p:cSldViewPr snapToGrid="0" showGuides="1">
      <p:cViewPr varScale="1">
        <p:scale>
          <a:sx n="99" d="100"/>
          <a:sy n="99" d="100"/>
        </p:scale>
        <p:origin x="84" y="582"/>
      </p:cViewPr>
      <p:guideLst>
        <p:guide orient="horz" pos="2160"/>
        <p:guide pos="3839"/>
      </p:guideLst>
    </p:cSldViewPr>
  </p:slideViewPr>
  <p:notesTextViewPr>
    <p:cViewPr>
      <p:scale>
        <a:sx n="3" d="2"/>
        <a:sy n="3" d="2"/>
      </p:scale>
      <p:origin x="0" y="0"/>
    </p:cViewPr>
  </p:notesTextViewPr>
  <p:notesViewPr>
    <p:cSldViewPr snapToGrid="0">
      <p:cViewPr varScale="1">
        <p:scale>
          <a:sx n="92" d="100"/>
          <a:sy n="92" d="100"/>
        </p:scale>
        <p:origin x="2550" y="102"/>
      </p:cViewPr>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9" Type="http://schemas.openxmlformats.org/officeDocument/2006/relationships/tags" Target="tags/tag16.xml"/><Relationship Id="rId28" Type="http://schemas.openxmlformats.org/officeDocument/2006/relationships/tableStyles" Target="tableStyles.xml"/><Relationship Id="rId27" Type="http://schemas.openxmlformats.org/officeDocument/2006/relationships/viewProps" Target="viewProps.xml"/><Relationship Id="rId26" Type="http://schemas.openxmlformats.org/officeDocument/2006/relationships/presProps" Target="presProps.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幻灯片图像占位符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4099"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endParaRPr lang="zh-CN" altLang="en-US"/>
          </a:p>
        </p:txBody>
      </p:sp>
      <p:sp>
        <p:nvSpPr>
          <p:cNvPr id="4100"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80CF78D9-B71B-483D-AADA-EE9E7AE9F39D}" type="slidenum">
              <a:rPr lang="zh-CN" altLang="en-US" smtClean="0"/>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F2B4D75B-37D9-49DF-8EE1-B788ACC25E14}" type="slidenum">
              <a:rPr lang="zh-CN" altLang="en-US" smtClean="0"/>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F2B4D75B-37D9-49DF-8EE1-B788ACC25E14}" type="slidenum">
              <a:rPr lang="zh-CN" altLang="en-US" smtClean="0"/>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F2B4D75B-37D9-49DF-8EE1-B788ACC25E14}" type="slidenum">
              <a:rPr lang="zh-CN" altLang="en-US" smtClean="0"/>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F2B4D75B-37D9-49DF-8EE1-B788ACC25E14}" type="slidenum">
              <a:rPr lang="zh-CN" altLang="en-US" smtClean="0"/>
            </a:fld>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F2B4D75B-37D9-49DF-8EE1-B788ACC25E14}" type="slidenum">
              <a:rPr lang="zh-CN" altLang="en-US" smtClean="0"/>
            </a:fld>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幻灯片图像占位符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12291"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pPr eaLnBrk="1" hangingPunct="1">
              <a:spcBef>
                <a:spcPct val="0"/>
              </a:spcBef>
            </a:pPr>
            <a:endParaRPr lang="zh-CN" altLang="en-US"/>
          </a:p>
        </p:txBody>
      </p:sp>
      <p:sp>
        <p:nvSpPr>
          <p:cNvPr id="12292"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80EA1E5C-2E81-4D80-8FE8-8D47D1A1AF0D}" type="slidenum">
              <a:rPr lang="zh-CN" altLang="en-US" smtClean="0"/>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a:prstGeom prst="rect">
            <a:avLst/>
          </a:prstGeom>
        </p:spPr>
        <p:txBody>
          <a:bodyPr anchor="b"/>
          <a:lstStyle>
            <a:lvl1pPr algn="ctr">
              <a:defRPr sz="6000"/>
            </a:lvl1pPr>
          </a:lstStyle>
          <a:p>
            <a:r>
              <a:rPr lang="zh-CN" altLang="en-US"/>
              <a:t>单击此处编辑母版标题样式</a:t>
            </a:r>
            <a:endParaRPr lang="zh-CN" altLang="en-US"/>
          </a:p>
        </p:txBody>
      </p:sp>
      <p:sp>
        <p:nvSpPr>
          <p:cNvPr id="3" name="副标题 2"/>
          <p:cNvSpPr>
            <a:spLocks noGrp="1"/>
          </p:cNvSpPr>
          <p:nvPr>
            <p:ph type="subTitle" idx="1"/>
          </p:nvPr>
        </p:nvSpPr>
        <p:spPr>
          <a:xfrm>
            <a:off x="1524000" y="3602038"/>
            <a:ext cx="9144000" cy="1655762"/>
          </a:xfrm>
          <a:prstGeom prst="rect">
            <a:avLst/>
          </a:prstGeo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zh-CN" altLang="en-US"/>
          </a:p>
        </p:txBody>
      </p:sp>
      <p:sp>
        <p:nvSpPr>
          <p:cNvPr id="4" name="日期占位符 3"/>
          <p:cNvSpPr>
            <a:spLocks noGrp="1"/>
          </p:cNvSpPr>
          <p:nvPr>
            <p:ph type="dt" sz="half" idx="10"/>
          </p:nvPr>
        </p:nvSpPr>
        <p:spPr>
          <a:xfrm>
            <a:off x="838200" y="6356350"/>
            <a:ext cx="2743200" cy="365125"/>
          </a:xfrm>
          <a:prstGeom prst="rect">
            <a:avLst/>
          </a:prstGeom>
        </p:spPr>
        <p:txBody>
          <a:bodyPr/>
          <a:lstStyle/>
          <a:p>
            <a:fld id="{44E29651-9BC7-4EEE-AA87-F4882B75ED8B}" type="datetimeFigureOut">
              <a:rPr lang="zh-CN" altLang="en-US" smtClean="0"/>
            </a:fld>
            <a:endParaRPr lang="zh-CN" altLang="en-US"/>
          </a:p>
        </p:txBody>
      </p:sp>
      <p:sp>
        <p:nvSpPr>
          <p:cNvPr id="5" name="页脚占位符 4"/>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6" name="灯片编号占位符 5"/>
          <p:cNvSpPr>
            <a:spLocks noGrp="1"/>
          </p:cNvSpPr>
          <p:nvPr>
            <p:ph type="sldNum" sz="quarter" idx="12"/>
          </p:nvPr>
        </p:nvSpPr>
        <p:spPr>
          <a:xfrm>
            <a:off x="8610600" y="6356350"/>
            <a:ext cx="2743200" cy="365125"/>
          </a:xfrm>
          <a:prstGeom prst="rect">
            <a:avLst/>
          </a:prstGeom>
        </p:spPr>
        <p:txBody>
          <a:bodyPr/>
          <a:lstStyle/>
          <a:p>
            <a:fld id="{6662EF11-772A-4FBF-B039-954F40C55792}" type="slidenum">
              <a:rPr lang="zh-CN" altLang="en-US" smtClean="0"/>
            </a:fld>
            <a:endParaRPr lang="zh-CN" alt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p:transition spd="slow">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838200" y="365125"/>
            <a:ext cx="10515600" cy="1325563"/>
          </a:xfrm>
          <a:prstGeom prst="rect">
            <a:avLst/>
          </a:prstGeom>
        </p:spPr>
        <p:txBody>
          <a:bodyPr/>
          <a:lstStyle/>
          <a:p>
            <a:r>
              <a:rPr lang="zh-CN" altLang="en-US"/>
              <a:t>单击此处编辑母版标题样式</a:t>
            </a:r>
            <a:endParaRPr lang="zh-CN" altLang="en-US"/>
          </a:p>
        </p:txBody>
      </p:sp>
      <p:sp>
        <p:nvSpPr>
          <p:cNvPr id="3" name="内容占位符 2"/>
          <p:cNvSpPr>
            <a:spLocks noGrp="1"/>
          </p:cNvSpPr>
          <p:nvPr>
            <p:ph idx="1" hasCustomPrompt="1"/>
          </p:nvPr>
        </p:nvSpPr>
        <p:spPr>
          <a:xfrm>
            <a:off x="838200" y="1825625"/>
            <a:ext cx="10515600" cy="4351338"/>
          </a:xfrm>
          <a:prstGeom prst="rect">
            <a:avLst/>
          </a:prstGeo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a:xfrm>
            <a:off x="838200" y="6356350"/>
            <a:ext cx="2743200" cy="365125"/>
          </a:xfrm>
          <a:prstGeom prst="rect">
            <a:avLst/>
          </a:prstGeom>
        </p:spPr>
        <p:txBody>
          <a:bodyPr/>
          <a:lstStyle/>
          <a:p>
            <a:fld id="{44E29651-9BC7-4EEE-AA87-F4882B75ED8B}" type="datetimeFigureOut">
              <a:rPr lang="zh-CN" altLang="en-US" smtClean="0"/>
            </a:fld>
            <a:endParaRPr lang="zh-CN" altLang="en-US"/>
          </a:p>
        </p:txBody>
      </p:sp>
      <p:sp>
        <p:nvSpPr>
          <p:cNvPr id="5" name="页脚占位符 4"/>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6" name="灯片编号占位符 5"/>
          <p:cNvSpPr>
            <a:spLocks noGrp="1"/>
          </p:cNvSpPr>
          <p:nvPr>
            <p:ph type="sldNum" sz="quarter" idx="12"/>
          </p:nvPr>
        </p:nvSpPr>
        <p:spPr>
          <a:xfrm>
            <a:off x="8610600" y="6356350"/>
            <a:ext cx="2743200" cy="365125"/>
          </a:xfrm>
          <a:prstGeom prst="rect">
            <a:avLst/>
          </a:prstGeom>
        </p:spPr>
        <p:txBody>
          <a:bodyPr/>
          <a:lstStyle/>
          <a:p>
            <a:fld id="{6662EF11-772A-4FBF-B039-954F40C55792}" type="slidenum">
              <a:rPr lang="zh-CN" altLang="en-US" smtClean="0"/>
            </a:fld>
            <a:endParaRPr lang="zh-CN" alt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p:transition spd="slow">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a:prstGeom prst="rect">
            <a:avLst/>
          </a:prstGeom>
        </p:spPr>
        <p:txBody>
          <a:bodyPr anchor="b"/>
          <a:lstStyle>
            <a:lvl1pPr>
              <a:defRPr sz="6000"/>
            </a:lvl1pPr>
          </a:lstStyle>
          <a:p>
            <a:r>
              <a:rPr lang="zh-CN" altLang="en-US"/>
              <a:t>单击此处编辑母版标题样式</a:t>
            </a:r>
            <a:endParaRPr lang="zh-CN" altLang="en-US"/>
          </a:p>
        </p:txBody>
      </p:sp>
      <p:sp>
        <p:nvSpPr>
          <p:cNvPr id="3" name="文本占位符 2"/>
          <p:cNvSpPr>
            <a:spLocks noGrp="1"/>
          </p:cNvSpPr>
          <p:nvPr>
            <p:ph type="body" idx="1" hasCustomPrompt="1"/>
          </p:nvPr>
        </p:nvSpPr>
        <p:spPr>
          <a:xfrm>
            <a:off x="831850" y="4589463"/>
            <a:ext cx="10515600" cy="1500187"/>
          </a:xfrm>
          <a:prstGeom prst="rect">
            <a:avLst/>
          </a:prstGeo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编辑母版文本样式</a:t>
            </a:r>
            <a:endParaRPr lang="zh-CN" altLang="en-US"/>
          </a:p>
        </p:txBody>
      </p:sp>
      <p:sp>
        <p:nvSpPr>
          <p:cNvPr id="4" name="日期占位符 3"/>
          <p:cNvSpPr>
            <a:spLocks noGrp="1"/>
          </p:cNvSpPr>
          <p:nvPr>
            <p:ph type="dt" sz="half" idx="10"/>
          </p:nvPr>
        </p:nvSpPr>
        <p:spPr>
          <a:xfrm>
            <a:off x="838200" y="6356350"/>
            <a:ext cx="2743200" cy="365125"/>
          </a:xfrm>
          <a:prstGeom prst="rect">
            <a:avLst/>
          </a:prstGeom>
        </p:spPr>
        <p:txBody>
          <a:bodyPr/>
          <a:lstStyle/>
          <a:p>
            <a:fld id="{44E29651-9BC7-4EEE-AA87-F4882B75ED8B}" type="datetimeFigureOut">
              <a:rPr lang="zh-CN" altLang="en-US" smtClean="0"/>
            </a:fld>
            <a:endParaRPr lang="zh-CN" altLang="en-US"/>
          </a:p>
        </p:txBody>
      </p:sp>
      <p:sp>
        <p:nvSpPr>
          <p:cNvPr id="5" name="页脚占位符 4"/>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6" name="灯片编号占位符 5"/>
          <p:cNvSpPr>
            <a:spLocks noGrp="1"/>
          </p:cNvSpPr>
          <p:nvPr>
            <p:ph type="sldNum" sz="quarter" idx="12"/>
          </p:nvPr>
        </p:nvSpPr>
        <p:spPr>
          <a:xfrm>
            <a:off x="8610600" y="6356350"/>
            <a:ext cx="2743200" cy="365125"/>
          </a:xfrm>
          <a:prstGeom prst="rect">
            <a:avLst/>
          </a:prstGeom>
        </p:spPr>
        <p:txBody>
          <a:bodyPr/>
          <a:lstStyle/>
          <a:p>
            <a:fld id="{6662EF11-772A-4FBF-B039-954F40C55792}" type="slidenum">
              <a:rPr lang="zh-CN" altLang="en-US" smtClean="0"/>
            </a:fld>
            <a:endParaRPr lang="zh-CN" alt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p:transition spd="slow">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838200" y="365125"/>
            <a:ext cx="10515600" cy="1325563"/>
          </a:xfrm>
          <a:prstGeom prst="rect">
            <a:avLst/>
          </a:prstGeom>
        </p:spPr>
        <p:txBody>
          <a:bodyPr/>
          <a:lstStyle/>
          <a:p>
            <a:r>
              <a:rPr lang="zh-CN" altLang="en-US"/>
              <a:t>单击此处编辑母版标题样式</a:t>
            </a:r>
            <a:endParaRPr lang="zh-CN" altLang="en-US"/>
          </a:p>
        </p:txBody>
      </p:sp>
      <p:sp>
        <p:nvSpPr>
          <p:cNvPr id="3" name="内容占位符 2"/>
          <p:cNvSpPr>
            <a:spLocks noGrp="1"/>
          </p:cNvSpPr>
          <p:nvPr>
            <p:ph sz="half" idx="1" hasCustomPrompt="1"/>
          </p:nvPr>
        </p:nvSpPr>
        <p:spPr>
          <a:xfrm>
            <a:off x="838200" y="1825625"/>
            <a:ext cx="5181600" cy="4351338"/>
          </a:xfrm>
          <a:prstGeom prst="rect">
            <a:avLst/>
          </a:prstGeo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hasCustomPrompt="1"/>
          </p:nvPr>
        </p:nvSpPr>
        <p:spPr>
          <a:xfrm>
            <a:off x="6172200" y="1825625"/>
            <a:ext cx="5181600" cy="4351338"/>
          </a:xfrm>
          <a:prstGeom prst="rect">
            <a:avLst/>
          </a:prstGeo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日期占位符 4"/>
          <p:cNvSpPr>
            <a:spLocks noGrp="1"/>
          </p:cNvSpPr>
          <p:nvPr>
            <p:ph type="dt" sz="half" idx="10"/>
          </p:nvPr>
        </p:nvSpPr>
        <p:spPr>
          <a:xfrm>
            <a:off x="838200" y="6356350"/>
            <a:ext cx="2743200" cy="365125"/>
          </a:xfrm>
          <a:prstGeom prst="rect">
            <a:avLst/>
          </a:prstGeom>
        </p:spPr>
        <p:txBody>
          <a:bodyPr/>
          <a:lstStyle/>
          <a:p>
            <a:fld id="{44E29651-9BC7-4EEE-AA87-F4882B75ED8B}" type="datetimeFigureOut">
              <a:rPr lang="zh-CN" altLang="en-US" smtClean="0"/>
            </a:fld>
            <a:endParaRPr lang="zh-CN" altLang="en-US"/>
          </a:p>
        </p:txBody>
      </p:sp>
      <p:sp>
        <p:nvSpPr>
          <p:cNvPr id="6" name="页脚占位符 5"/>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7" name="灯片编号占位符 6"/>
          <p:cNvSpPr>
            <a:spLocks noGrp="1"/>
          </p:cNvSpPr>
          <p:nvPr>
            <p:ph type="sldNum" sz="quarter" idx="12"/>
          </p:nvPr>
        </p:nvSpPr>
        <p:spPr>
          <a:xfrm>
            <a:off x="8610600" y="6356350"/>
            <a:ext cx="2743200" cy="365125"/>
          </a:xfrm>
          <a:prstGeom prst="rect">
            <a:avLst/>
          </a:prstGeom>
        </p:spPr>
        <p:txBody>
          <a:bodyPr/>
          <a:lstStyle/>
          <a:p>
            <a:fld id="{6662EF11-772A-4FBF-B039-954F40C55792}" type="slidenum">
              <a:rPr lang="zh-CN" altLang="en-US" smtClean="0"/>
            </a:fld>
            <a:endParaRPr lang="zh-CN" alt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p:transition spd="slow">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a:prstGeom prst="rect">
            <a:avLst/>
          </a:prstGeom>
        </p:spPr>
        <p:txBody>
          <a:bodyPr/>
          <a:lstStyle/>
          <a:p>
            <a:r>
              <a:rPr lang="zh-CN" altLang="en-US"/>
              <a:t>单击此处编辑母版标题样式</a:t>
            </a:r>
            <a:endParaRPr lang="zh-CN" altLang="en-US"/>
          </a:p>
        </p:txBody>
      </p:sp>
      <p:sp>
        <p:nvSpPr>
          <p:cNvPr id="3" name="文本占位符 2"/>
          <p:cNvSpPr>
            <a:spLocks noGrp="1"/>
          </p:cNvSpPr>
          <p:nvPr>
            <p:ph type="body" idx="1" hasCustomPrompt="1"/>
          </p:nvPr>
        </p:nvSpPr>
        <p:spPr>
          <a:xfrm>
            <a:off x="839788" y="1681163"/>
            <a:ext cx="5157787"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endParaRPr lang="zh-CN" altLang="en-US"/>
          </a:p>
        </p:txBody>
      </p:sp>
      <p:sp>
        <p:nvSpPr>
          <p:cNvPr id="4" name="内容占位符 3"/>
          <p:cNvSpPr>
            <a:spLocks noGrp="1"/>
          </p:cNvSpPr>
          <p:nvPr>
            <p:ph sz="half" idx="2" hasCustomPrompt="1"/>
          </p:nvPr>
        </p:nvSpPr>
        <p:spPr>
          <a:xfrm>
            <a:off x="839788" y="2505075"/>
            <a:ext cx="5157787" cy="3684588"/>
          </a:xfrm>
          <a:prstGeom prst="rect">
            <a:avLst/>
          </a:prstGeo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hasCustomPrompt="1"/>
          </p:nvPr>
        </p:nvSpPr>
        <p:spPr>
          <a:xfrm>
            <a:off x="6172200" y="1681163"/>
            <a:ext cx="5183188"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endParaRPr lang="zh-CN" altLang="en-US"/>
          </a:p>
        </p:txBody>
      </p:sp>
      <p:sp>
        <p:nvSpPr>
          <p:cNvPr id="6" name="内容占位符 5"/>
          <p:cNvSpPr>
            <a:spLocks noGrp="1"/>
          </p:cNvSpPr>
          <p:nvPr>
            <p:ph sz="quarter" idx="4" hasCustomPrompt="1"/>
          </p:nvPr>
        </p:nvSpPr>
        <p:spPr>
          <a:xfrm>
            <a:off x="6172200" y="2505075"/>
            <a:ext cx="5183188" cy="3684588"/>
          </a:xfrm>
          <a:prstGeom prst="rect">
            <a:avLst/>
          </a:prstGeo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日期占位符 6"/>
          <p:cNvSpPr>
            <a:spLocks noGrp="1"/>
          </p:cNvSpPr>
          <p:nvPr>
            <p:ph type="dt" sz="half" idx="10"/>
          </p:nvPr>
        </p:nvSpPr>
        <p:spPr>
          <a:xfrm>
            <a:off x="838200" y="6356350"/>
            <a:ext cx="2743200" cy="365125"/>
          </a:xfrm>
          <a:prstGeom prst="rect">
            <a:avLst/>
          </a:prstGeom>
        </p:spPr>
        <p:txBody>
          <a:bodyPr/>
          <a:lstStyle/>
          <a:p>
            <a:fld id="{44E29651-9BC7-4EEE-AA87-F4882B75ED8B}" type="datetimeFigureOut">
              <a:rPr lang="zh-CN" altLang="en-US" smtClean="0"/>
            </a:fld>
            <a:endParaRPr lang="zh-CN" altLang="en-US"/>
          </a:p>
        </p:txBody>
      </p:sp>
      <p:sp>
        <p:nvSpPr>
          <p:cNvPr id="8" name="页脚占位符 7"/>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9" name="灯片编号占位符 8"/>
          <p:cNvSpPr>
            <a:spLocks noGrp="1"/>
          </p:cNvSpPr>
          <p:nvPr>
            <p:ph type="sldNum" sz="quarter" idx="12"/>
          </p:nvPr>
        </p:nvSpPr>
        <p:spPr>
          <a:xfrm>
            <a:off x="8610600" y="6356350"/>
            <a:ext cx="2743200" cy="365125"/>
          </a:xfrm>
          <a:prstGeom prst="rect">
            <a:avLst/>
          </a:prstGeom>
        </p:spPr>
        <p:txBody>
          <a:bodyPr/>
          <a:lstStyle/>
          <a:p>
            <a:fld id="{6662EF11-772A-4FBF-B039-954F40C55792}" type="slidenum">
              <a:rPr lang="zh-CN" altLang="en-US" smtClean="0"/>
            </a:fld>
            <a:endParaRPr lang="zh-CN" alt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p:transition spd="slow">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838200" y="365125"/>
            <a:ext cx="10515600" cy="1325563"/>
          </a:xfrm>
          <a:prstGeom prst="rect">
            <a:avLst/>
          </a:prstGeom>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a:xfrm>
            <a:off x="838200" y="6356350"/>
            <a:ext cx="2743200" cy="365125"/>
          </a:xfrm>
          <a:prstGeom prst="rect">
            <a:avLst/>
          </a:prstGeom>
        </p:spPr>
        <p:txBody>
          <a:bodyPr/>
          <a:lstStyle/>
          <a:p>
            <a:fld id="{44E29651-9BC7-4EEE-AA87-F4882B75ED8B}" type="datetimeFigureOut">
              <a:rPr lang="zh-CN" altLang="en-US" smtClean="0"/>
            </a:fld>
            <a:endParaRPr lang="zh-CN" altLang="en-US"/>
          </a:p>
        </p:txBody>
      </p:sp>
      <p:sp>
        <p:nvSpPr>
          <p:cNvPr id="4" name="页脚占位符 3"/>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5" name="灯片编号占位符 4"/>
          <p:cNvSpPr>
            <a:spLocks noGrp="1"/>
          </p:cNvSpPr>
          <p:nvPr>
            <p:ph type="sldNum" sz="quarter" idx="12"/>
          </p:nvPr>
        </p:nvSpPr>
        <p:spPr>
          <a:xfrm>
            <a:off x="8610600" y="6356350"/>
            <a:ext cx="2743200" cy="365125"/>
          </a:xfrm>
          <a:prstGeom prst="rect">
            <a:avLst/>
          </a:prstGeom>
        </p:spPr>
        <p:txBody>
          <a:bodyPr/>
          <a:lstStyle/>
          <a:p>
            <a:fld id="{6662EF11-772A-4FBF-B039-954F40C55792}" type="slidenum">
              <a:rPr lang="zh-CN" altLang="en-US" smtClean="0"/>
            </a:fld>
            <a:endParaRPr lang="zh-CN" alt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p:transition spd="slow">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838200" y="6356350"/>
            <a:ext cx="2743200" cy="365125"/>
          </a:xfrm>
          <a:prstGeom prst="rect">
            <a:avLst/>
          </a:prstGeom>
        </p:spPr>
        <p:txBody>
          <a:bodyPr/>
          <a:lstStyle/>
          <a:p>
            <a:fld id="{44E29651-9BC7-4EEE-AA87-F4882B75ED8B}" type="datetimeFigureOut">
              <a:rPr lang="zh-CN" altLang="en-US" smtClean="0"/>
            </a:fld>
            <a:endParaRPr lang="zh-CN" altLang="en-US"/>
          </a:p>
        </p:txBody>
      </p:sp>
      <p:sp>
        <p:nvSpPr>
          <p:cNvPr id="3" name="页脚占位符 2"/>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4" name="灯片编号占位符 3"/>
          <p:cNvSpPr>
            <a:spLocks noGrp="1"/>
          </p:cNvSpPr>
          <p:nvPr>
            <p:ph type="sldNum" sz="quarter" idx="12"/>
          </p:nvPr>
        </p:nvSpPr>
        <p:spPr>
          <a:xfrm>
            <a:off x="8610600" y="6356350"/>
            <a:ext cx="2743200" cy="365125"/>
          </a:xfrm>
          <a:prstGeom prst="rect">
            <a:avLst/>
          </a:prstGeom>
        </p:spPr>
        <p:txBody>
          <a:bodyPr/>
          <a:lstStyle/>
          <a:p>
            <a:fld id="{6662EF11-772A-4FBF-B039-954F40C55792}" type="slidenum">
              <a:rPr lang="zh-CN" altLang="en-US" smtClean="0"/>
            </a:fld>
            <a:endParaRPr lang="zh-CN" alt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p:transition spd="slow">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a:prstGeom prst="rect">
            <a:avLst/>
          </a:prstGeom>
        </p:spPr>
        <p:txBody>
          <a:bodyPr anchor="b"/>
          <a:lstStyle>
            <a:lvl1pPr>
              <a:defRPr sz="3200"/>
            </a:lvl1pPr>
          </a:lstStyle>
          <a:p>
            <a:r>
              <a:rPr lang="zh-CN" altLang="en-US"/>
              <a:t>单击此处编辑母版标题样式</a:t>
            </a:r>
            <a:endParaRPr lang="zh-CN" altLang="en-US"/>
          </a:p>
        </p:txBody>
      </p:sp>
      <p:sp>
        <p:nvSpPr>
          <p:cNvPr id="3" name="内容占位符 2"/>
          <p:cNvSpPr>
            <a:spLocks noGrp="1"/>
          </p:cNvSpPr>
          <p:nvPr>
            <p:ph idx="1" hasCustomPrompt="1"/>
          </p:nvPr>
        </p:nvSpPr>
        <p:spPr>
          <a:xfrm>
            <a:off x="5183188" y="987425"/>
            <a:ext cx="6172200" cy="48736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占位符 3"/>
          <p:cNvSpPr>
            <a:spLocks noGrp="1"/>
          </p:cNvSpPr>
          <p:nvPr>
            <p:ph type="body" sz="half" idx="2" hasCustomPrompt="1"/>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endParaRPr lang="zh-CN" altLang="en-US"/>
          </a:p>
        </p:txBody>
      </p:sp>
      <p:sp>
        <p:nvSpPr>
          <p:cNvPr id="5" name="日期占位符 4"/>
          <p:cNvSpPr>
            <a:spLocks noGrp="1"/>
          </p:cNvSpPr>
          <p:nvPr>
            <p:ph type="dt" sz="half" idx="10"/>
          </p:nvPr>
        </p:nvSpPr>
        <p:spPr>
          <a:xfrm>
            <a:off x="838200" y="6356350"/>
            <a:ext cx="2743200" cy="365125"/>
          </a:xfrm>
          <a:prstGeom prst="rect">
            <a:avLst/>
          </a:prstGeom>
        </p:spPr>
        <p:txBody>
          <a:bodyPr/>
          <a:lstStyle/>
          <a:p>
            <a:fld id="{44E29651-9BC7-4EEE-AA87-F4882B75ED8B}" type="datetimeFigureOut">
              <a:rPr lang="zh-CN" altLang="en-US" smtClean="0"/>
            </a:fld>
            <a:endParaRPr lang="zh-CN" altLang="en-US"/>
          </a:p>
        </p:txBody>
      </p:sp>
      <p:sp>
        <p:nvSpPr>
          <p:cNvPr id="6" name="页脚占位符 5"/>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7" name="灯片编号占位符 6"/>
          <p:cNvSpPr>
            <a:spLocks noGrp="1"/>
          </p:cNvSpPr>
          <p:nvPr>
            <p:ph type="sldNum" sz="quarter" idx="12"/>
          </p:nvPr>
        </p:nvSpPr>
        <p:spPr>
          <a:xfrm>
            <a:off x="8610600" y="6356350"/>
            <a:ext cx="2743200" cy="365125"/>
          </a:xfrm>
          <a:prstGeom prst="rect">
            <a:avLst/>
          </a:prstGeom>
        </p:spPr>
        <p:txBody>
          <a:bodyPr/>
          <a:lstStyle/>
          <a:p>
            <a:fld id="{6662EF11-772A-4FBF-B039-954F40C55792}" type="slidenum">
              <a:rPr lang="zh-CN" altLang="en-US" smtClean="0"/>
            </a:fld>
            <a:endParaRPr lang="zh-CN" alt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p:transition spd="slow">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a:prstGeom prst="rect">
            <a:avLst/>
          </a:prstGeom>
        </p:spPr>
        <p:txBody>
          <a:bodyPr anchor="b"/>
          <a:lstStyle>
            <a:lvl1pPr>
              <a:defRPr sz="3200"/>
            </a:lvl1pPr>
          </a:lstStyle>
          <a:p>
            <a:r>
              <a:rPr lang="zh-CN" altLang="en-US"/>
              <a:t>单击此处编辑母版标题样式</a:t>
            </a:r>
            <a:endParaRPr lang="zh-CN" altLang="en-US"/>
          </a:p>
        </p:txBody>
      </p:sp>
      <p:sp>
        <p:nvSpPr>
          <p:cNvPr id="3" name="图片占位符 2"/>
          <p:cNvSpPr>
            <a:spLocks noGrp="1"/>
          </p:cNvSpPr>
          <p:nvPr>
            <p:ph type="pic" idx="1"/>
          </p:nvPr>
        </p:nvSpPr>
        <p:spPr>
          <a:xfrm>
            <a:off x="5183188" y="987425"/>
            <a:ext cx="6172200" cy="48736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hasCustomPrompt="1"/>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endParaRPr lang="zh-CN" altLang="en-US"/>
          </a:p>
        </p:txBody>
      </p:sp>
      <p:sp>
        <p:nvSpPr>
          <p:cNvPr id="5" name="日期占位符 4"/>
          <p:cNvSpPr>
            <a:spLocks noGrp="1"/>
          </p:cNvSpPr>
          <p:nvPr>
            <p:ph type="dt" sz="half" idx="10"/>
          </p:nvPr>
        </p:nvSpPr>
        <p:spPr>
          <a:xfrm>
            <a:off x="838200" y="6356350"/>
            <a:ext cx="2743200" cy="365125"/>
          </a:xfrm>
          <a:prstGeom prst="rect">
            <a:avLst/>
          </a:prstGeom>
        </p:spPr>
        <p:txBody>
          <a:bodyPr/>
          <a:lstStyle/>
          <a:p>
            <a:fld id="{44E29651-9BC7-4EEE-AA87-F4882B75ED8B}" type="datetimeFigureOut">
              <a:rPr lang="zh-CN" altLang="en-US" smtClean="0"/>
            </a:fld>
            <a:endParaRPr lang="zh-CN" altLang="en-US"/>
          </a:p>
        </p:txBody>
      </p:sp>
      <p:sp>
        <p:nvSpPr>
          <p:cNvPr id="6" name="页脚占位符 5"/>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7" name="灯片编号占位符 6"/>
          <p:cNvSpPr>
            <a:spLocks noGrp="1"/>
          </p:cNvSpPr>
          <p:nvPr>
            <p:ph type="sldNum" sz="quarter" idx="12"/>
          </p:nvPr>
        </p:nvSpPr>
        <p:spPr>
          <a:xfrm>
            <a:off x="8610600" y="6356350"/>
            <a:ext cx="2743200" cy="365125"/>
          </a:xfrm>
          <a:prstGeom prst="rect">
            <a:avLst/>
          </a:prstGeom>
        </p:spPr>
        <p:txBody>
          <a:bodyPr/>
          <a:lstStyle/>
          <a:p>
            <a:fld id="{6662EF11-772A-4FBF-B039-954F40C55792}" type="slidenum">
              <a:rPr lang="zh-CN" altLang="en-US" smtClean="0"/>
            </a:fld>
            <a:endParaRPr lang="zh-CN" alt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p:transition spd="slow">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838200" y="365125"/>
            <a:ext cx="10515600" cy="1325563"/>
          </a:xfrm>
          <a:prstGeom prst="rect">
            <a:avLst/>
          </a:prstGeom>
        </p:spPr>
        <p:txBody>
          <a:bodyPr/>
          <a:lstStyle/>
          <a:p>
            <a:r>
              <a:rPr lang="zh-CN" altLang="en-US"/>
              <a:t>单击此处编辑母版标题样式</a:t>
            </a:r>
            <a:endParaRPr lang="zh-CN" altLang="en-US"/>
          </a:p>
        </p:txBody>
      </p:sp>
      <p:sp>
        <p:nvSpPr>
          <p:cNvPr id="3" name="竖排文字占位符 2"/>
          <p:cNvSpPr>
            <a:spLocks noGrp="1"/>
          </p:cNvSpPr>
          <p:nvPr>
            <p:ph type="body" orient="vert" idx="1" hasCustomPrompt="1"/>
          </p:nvPr>
        </p:nvSpPr>
        <p:spPr>
          <a:xfrm>
            <a:off x="838200" y="1825625"/>
            <a:ext cx="10515600" cy="4351338"/>
          </a:xfrm>
          <a:prstGeom prst="rect">
            <a:avLst/>
          </a:prstGeom>
        </p:spPr>
        <p:txBody>
          <a:bodyPr vert="eaVert"/>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a:xfrm>
            <a:off x="838200" y="6356350"/>
            <a:ext cx="2743200" cy="365125"/>
          </a:xfrm>
          <a:prstGeom prst="rect">
            <a:avLst/>
          </a:prstGeom>
        </p:spPr>
        <p:txBody>
          <a:bodyPr/>
          <a:lstStyle/>
          <a:p>
            <a:fld id="{44E29651-9BC7-4EEE-AA87-F4882B75ED8B}" type="datetimeFigureOut">
              <a:rPr lang="zh-CN" altLang="en-US" smtClean="0"/>
            </a:fld>
            <a:endParaRPr lang="zh-CN" altLang="en-US"/>
          </a:p>
        </p:txBody>
      </p:sp>
      <p:sp>
        <p:nvSpPr>
          <p:cNvPr id="5" name="页脚占位符 4"/>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6" name="灯片编号占位符 5"/>
          <p:cNvSpPr>
            <a:spLocks noGrp="1"/>
          </p:cNvSpPr>
          <p:nvPr>
            <p:ph type="sldNum" sz="quarter" idx="12"/>
          </p:nvPr>
        </p:nvSpPr>
        <p:spPr>
          <a:xfrm>
            <a:off x="8610600" y="6356350"/>
            <a:ext cx="2743200" cy="365125"/>
          </a:xfrm>
          <a:prstGeom prst="rect">
            <a:avLst/>
          </a:prstGeom>
        </p:spPr>
        <p:txBody>
          <a:bodyPr/>
          <a:lstStyle/>
          <a:p>
            <a:fld id="{6662EF11-772A-4FBF-B039-954F40C55792}" type="slidenum">
              <a:rPr lang="zh-CN" altLang="en-US" smtClean="0"/>
            </a:fld>
            <a:endParaRPr lang="zh-CN" alt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p:transition spd="slow">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a:prstGeom prst="rect">
            <a:avLst/>
          </a:prstGeo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hasCustomPrompt="1"/>
          </p:nvPr>
        </p:nvSpPr>
        <p:spPr>
          <a:xfrm>
            <a:off x="838200" y="365125"/>
            <a:ext cx="7734300" cy="5811838"/>
          </a:xfrm>
          <a:prstGeom prst="rect">
            <a:avLst/>
          </a:prstGeom>
        </p:spPr>
        <p:txBody>
          <a:bodyPr vert="eaVert"/>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a:xfrm>
            <a:off x="838200" y="6356350"/>
            <a:ext cx="2743200" cy="365125"/>
          </a:xfrm>
          <a:prstGeom prst="rect">
            <a:avLst/>
          </a:prstGeom>
        </p:spPr>
        <p:txBody>
          <a:bodyPr/>
          <a:lstStyle/>
          <a:p>
            <a:fld id="{44E29651-9BC7-4EEE-AA87-F4882B75ED8B}" type="datetimeFigureOut">
              <a:rPr lang="zh-CN" altLang="en-US" smtClean="0"/>
            </a:fld>
            <a:endParaRPr lang="zh-CN" altLang="en-US"/>
          </a:p>
        </p:txBody>
      </p:sp>
      <p:sp>
        <p:nvSpPr>
          <p:cNvPr id="5" name="页脚占位符 4"/>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6" name="灯片编号占位符 5"/>
          <p:cNvSpPr>
            <a:spLocks noGrp="1"/>
          </p:cNvSpPr>
          <p:nvPr>
            <p:ph type="sldNum" sz="quarter" idx="12"/>
          </p:nvPr>
        </p:nvSpPr>
        <p:spPr>
          <a:xfrm>
            <a:off x="8610600" y="6356350"/>
            <a:ext cx="2743200" cy="365125"/>
          </a:xfrm>
          <a:prstGeom prst="rect">
            <a:avLst/>
          </a:prstGeom>
        </p:spPr>
        <p:txBody>
          <a:bodyPr/>
          <a:lstStyle/>
          <a:p>
            <a:fld id="{6662EF11-772A-4FBF-B039-954F40C55792}" type="slidenum">
              <a:rPr lang="zh-CN" altLang="en-US" smtClean="0"/>
            </a:fld>
            <a:endParaRPr lang="zh-CN" alt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p:transition spd="slow">
        <p:fade/>
      </p:transition>
    </mc:Fallback>
  </mc:AlternateContent>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4" Type="http://schemas.openxmlformats.org/officeDocument/2006/relationships/theme" Target="../theme/theme1.xml"/><Relationship Id="rId13" Type="http://schemas.openxmlformats.org/officeDocument/2006/relationships/image" Target="../media/image2.png"/><Relationship Id="rId12" Type="http://schemas.openxmlformats.org/officeDocument/2006/relationships/image" Target="../media/image1.jpeg"/><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7" name="Picture 7" descr="C:\Documents and Settings\sqz\桌面\图片1.jpg"/>
          <p:cNvPicPr>
            <a:picLocks noChangeAspect="1" noChangeArrowheads="1"/>
          </p:cNvPicPr>
          <p:nvPr userDrawn="1"/>
        </p:nvPicPr>
        <p:blipFill>
          <a:blip r:embed="rId12">
            <a:extLst>
              <a:ext uri="{28A0092B-C50C-407E-A947-70E740481C1C}">
                <a14:useLocalDpi xmlns:a14="http://schemas.microsoft.com/office/drawing/2010/main" val="0"/>
              </a:ext>
            </a:extLst>
          </a:blip>
          <a:srcRect l="397" t="671" r="217" b="51665"/>
          <a:stretch>
            <a:fillRect/>
          </a:stretch>
        </p:blipFill>
        <p:spPr bwMode="auto">
          <a:xfrm>
            <a:off x="0" y="0"/>
            <a:ext cx="9142413" cy="3289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 name="图片 2"/>
          <p:cNvPicPr>
            <a:picLocks noChangeAspect="1"/>
          </p:cNvPicPr>
          <p:nvPr userDrawn="1"/>
        </p:nvPicPr>
        <p:blipFill>
          <a:blip r:embed="rId13">
            <a:extLst>
              <a:ext uri="{28A0092B-C50C-407E-A947-70E740481C1C}">
                <a14:useLocalDpi xmlns:a14="http://schemas.microsoft.com/office/drawing/2010/main" val="0"/>
              </a:ext>
            </a:extLst>
          </a:blip>
          <a:srcRect/>
          <a:stretch>
            <a:fillRect/>
          </a:stretch>
        </p:blipFill>
        <p:spPr bwMode="auto">
          <a:xfrm>
            <a:off x="3081337" y="6280150"/>
            <a:ext cx="9110663" cy="577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p:transition spd="slow">
        <p:fade/>
      </p:transition>
    </mc:Fallback>
  </mc:AlternateConten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4.png"/><Relationship Id="rId1"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6.png"/><Relationship Id="rId1"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7.png"/><Relationship Id="rId1" Type="http://schemas.openxmlformats.org/officeDocument/2006/relationships/image" Target="../media/image4.png"/></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8.png"/><Relationship Id="rId1" Type="http://schemas.openxmlformats.org/officeDocument/2006/relationships/image" Target="../media/image3.png"/></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9.png"/></Relationships>
</file>

<file path=ppt/slides/_rels/slide9.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image" Target="../media/image3.png"/><Relationship Id="rId2" Type="http://schemas.openxmlformats.org/officeDocument/2006/relationships/image" Target="../media/image11.png"/><Relationship Id="rId1" Type="http://schemas.openxmlformats.org/officeDocument/2006/relationships/image" Target="../media/image10.png"/></Relationships>
</file>

<file path=ppt/slides/_rels/slide10.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13.png"/><Relationship Id="rId1" Type="http://schemas.openxmlformats.org/officeDocument/2006/relationships/image" Target="../media/image12.png"/></Relationships>
</file>

<file path=ppt/slides/_rels/slide11.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tags" Target="../tags/tag2.xml"/><Relationship Id="rId2" Type="http://schemas.openxmlformats.org/officeDocument/2006/relationships/image" Target="../media/image9.png"/><Relationship Id="rId1" Type="http://schemas.openxmlformats.org/officeDocument/2006/relationships/tags" Target="../tags/tag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3.xml"/><Relationship Id="rId2" Type="http://schemas.openxmlformats.org/officeDocument/2006/relationships/image" Target="../media/image15.png"/><Relationship Id="rId1" Type="http://schemas.openxmlformats.org/officeDocument/2006/relationships/image" Target="../media/image14.png"/></Relationships>
</file>

<file path=ppt/slides/_rels/slide15.xml.rels><?xml version="1.0" encoding="UTF-8" standalone="yes"?>
<Relationships xmlns="http://schemas.openxmlformats.org/package/2006/relationships"><Relationship Id="rId9" Type="http://schemas.openxmlformats.org/officeDocument/2006/relationships/image" Target="../media/image18.png"/><Relationship Id="rId8" Type="http://schemas.openxmlformats.org/officeDocument/2006/relationships/tags" Target="../tags/tag9.xml"/><Relationship Id="rId7" Type="http://schemas.openxmlformats.org/officeDocument/2006/relationships/tags" Target="../tags/tag8.xml"/><Relationship Id="rId6" Type="http://schemas.openxmlformats.org/officeDocument/2006/relationships/image" Target="../media/image17.png"/><Relationship Id="rId5" Type="http://schemas.openxmlformats.org/officeDocument/2006/relationships/tags" Target="../tags/tag7.xml"/><Relationship Id="rId4" Type="http://schemas.openxmlformats.org/officeDocument/2006/relationships/tags" Target="../tags/tag6.xml"/><Relationship Id="rId3" Type="http://schemas.openxmlformats.org/officeDocument/2006/relationships/image" Target="../media/image16.png"/><Relationship Id="rId2" Type="http://schemas.openxmlformats.org/officeDocument/2006/relationships/tags" Target="../tags/tag5.xml"/><Relationship Id="rId11" Type="http://schemas.openxmlformats.org/officeDocument/2006/relationships/slideLayout" Target="../slideLayouts/slideLayout2.xml"/><Relationship Id="rId10" Type="http://schemas.openxmlformats.org/officeDocument/2006/relationships/tags" Target="../tags/tag10.xml"/><Relationship Id="rId1" Type="http://schemas.openxmlformats.org/officeDocument/2006/relationships/tags" Target="../tags/tag4.xml"/></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2.xml"/><Relationship Id="rId1" Type="http://schemas.openxmlformats.org/officeDocument/2006/relationships/image" Target="../media/image19.png"/></Relationships>
</file>

<file path=ppt/slides/_rels/slide17.xml.rels><?xml version="1.0" encoding="UTF-8" standalone="yes"?>
<Relationships xmlns="http://schemas.openxmlformats.org/package/2006/relationships"><Relationship Id="rId8" Type="http://schemas.openxmlformats.org/officeDocument/2006/relationships/notesSlide" Target="../notesSlides/notesSlide3.xml"/><Relationship Id="rId7" Type="http://schemas.openxmlformats.org/officeDocument/2006/relationships/slideLayout" Target="../slideLayouts/slideLayout2.xml"/><Relationship Id="rId6" Type="http://schemas.openxmlformats.org/officeDocument/2006/relationships/tags" Target="../tags/tag14.xml"/><Relationship Id="rId5" Type="http://schemas.openxmlformats.org/officeDocument/2006/relationships/tags" Target="../tags/tag13.xml"/><Relationship Id="rId4" Type="http://schemas.openxmlformats.org/officeDocument/2006/relationships/tags" Target="../tags/tag12.xml"/><Relationship Id="rId3" Type="http://schemas.openxmlformats.org/officeDocument/2006/relationships/tags" Target="../tags/tag11.xml"/><Relationship Id="rId2" Type="http://schemas.openxmlformats.org/officeDocument/2006/relationships/image" Target="../media/image21.png"/><Relationship Id="rId1" Type="http://schemas.openxmlformats.org/officeDocument/2006/relationships/image" Target="../media/image20.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2.xml"/><Relationship Id="rId1" Type="http://schemas.openxmlformats.org/officeDocument/2006/relationships/image" Target="../media/image22.png"/></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2.xml"/><Relationship Id="rId1" Type="http://schemas.openxmlformats.org/officeDocument/2006/relationships/image" Target="../media/image23.png"/></Relationships>
</file>

<file path=ppt/slides/_rels/slide21.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2.xml"/><Relationship Id="rId1" Type="http://schemas.openxmlformats.org/officeDocument/2006/relationships/image" Target="../media/image24.png"/></Relationships>
</file>

<file path=ppt/slides/_rels/slide22.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1.xml"/><Relationship Id="rId1" Type="http://schemas.openxmlformats.org/officeDocument/2006/relationships/tags" Target="../tags/tag1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2"/>
          <p:cNvSpPr txBox="1"/>
          <p:nvPr/>
        </p:nvSpPr>
        <p:spPr>
          <a:xfrm>
            <a:off x="330200" y="850265"/>
            <a:ext cx="11598910" cy="2254885"/>
          </a:xfrm>
          <a:prstGeom prst="rect">
            <a:avLst/>
          </a:prstGeom>
          <a:ln>
            <a:noFill/>
          </a:ln>
        </p:spPr>
        <p:txBody>
          <a:bodyPr lIns="0" anchor="b"/>
          <a:lstStyle>
            <a:lvl1pPr algn="l" defTabSz="914400" rtl="0" eaLnBrk="1" latinLnBrk="0" hangingPunct="1">
              <a:lnSpc>
                <a:spcPts val="5800"/>
              </a:lnSpc>
              <a:spcBef>
                <a:spcPct val="0"/>
              </a:spcBef>
              <a:buNone/>
              <a:defRPr sz="6000" b="1" i="0" kern="1200" cap="all" baseline="0">
                <a:solidFill>
                  <a:srgbClr val="005BBB"/>
                </a:solidFill>
                <a:latin typeface="Arial" panose="020B0604020202020204" pitchFamily="34" charset="0"/>
                <a:ea typeface="Arial" panose="020B0604020202020204" pitchFamily="34" charset="0"/>
                <a:cs typeface="Arial" panose="020B0604020202020204" pitchFamily="34" charset="0"/>
              </a:defRPr>
            </a:lvl1pPr>
          </a:lstStyle>
          <a:p>
            <a:pPr algn="ctr">
              <a:defRPr/>
            </a:pPr>
            <a:r>
              <a:rPr lang="zh-CN" altLang="en-US" sz="3600" cap="none" dirty="0">
                <a:solidFill>
                  <a:schemeClr val="accent1">
                    <a:lumMod val="75000"/>
                  </a:schemeClr>
                </a:solidFill>
                <a:latin typeface="微软雅黑" panose="020B0503020204020204" charset="-122"/>
                <a:ea typeface="微软雅黑" panose="020B0503020204020204" charset="-122"/>
                <a:cs typeface="+mn-cs"/>
              </a:rPr>
              <a:t> </a:t>
            </a:r>
            <a:endParaRPr lang="zh-CN" altLang="en-US" sz="3600" cap="none" dirty="0">
              <a:solidFill>
                <a:schemeClr val="accent1">
                  <a:lumMod val="75000"/>
                </a:schemeClr>
              </a:solidFill>
              <a:latin typeface="微软雅黑" panose="020B0503020204020204" charset="-122"/>
              <a:ea typeface="微软雅黑" panose="020B0503020204020204" charset="-122"/>
              <a:cs typeface="+mn-cs"/>
            </a:endParaRPr>
          </a:p>
          <a:p>
            <a:pPr algn="ctr">
              <a:defRPr/>
            </a:pPr>
            <a:r>
              <a:rPr lang="zh-CN" altLang="en-US" sz="3600" dirty="0">
                <a:solidFill>
                  <a:schemeClr val="accent5">
                    <a:lumMod val="75000"/>
                  </a:schemeClr>
                </a:solidFill>
                <a:latin typeface="微软雅黑" panose="020B0503020204020204" charset="-122"/>
                <a:ea typeface="微软雅黑" panose="020B0503020204020204" charset="-122"/>
              </a:rPr>
              <a:t>数字系统实验过程中遇到的一些问题及解决办法 </a:t>
            </a:r>
            <a:endParaRPr lang="zh-CN" altLang="en-US" sz="3600" dirty="0">
              <a:solidFill>
                <a:schemeClr val="accent5">
                  <a:lumMod val="75000"/>
                </a:schemeClr>
              </a:solidFill>
              <a:latin typeface="微软雅黑" panose="020B0503020204020204" charset="-122"/>
              <a:ea typeface="微软雅黑" panose="020B0503020204020204" charset="-122"/>
            </a:endParaRPr>
          </a:p>
        </p:txBody>
      </p:sp>
      <p:sp>
        <p:nvSpPr>
          <p:cNvPr id="3075" name="Text Placeholder 1"/>
          <p:cNvSpPr txBox="1"/>
          <p:nvPr/>
        </p:nvSpPr>
        <p:spPr bwMode="auto">
          <a:xfrm>
            <a:off x="4221196" y="3645024"/>
            <a:ext cx="3816350" cy="9257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lnSpc>
                <a:spcPct val="150000"/>
              </a:lnSpc>
              <a:spcBef>
                <a:spcPct val="0"/>
              </a:spcBef>
              <a:buFontTx/>
              <a:buNone/>
            </a:pPr>
            <a:r>
              <a:rPr lang="zh-CN" altLang="en-US" sz="2400" b="1" dirty="0">
                <a:latin typeface="微软雅黑" panose="020B0503020204020204" charset="-122"/>
                <a:ea typeface="微软雅黑" panose="020B0503020204020204" charset="-122"/>
              </a:rPr>
              <a:t>汇报人：第十一组</a:t>
            </a:r>
            <a:endParaRPr lang="zh-CN" altLang="en-US" sz="2400" b="1" dirty="0">
              <a:latin typeface="微软雅黑" panose="020B0503020204020204" charset="-122"/>
              <a:ea typeface="微软雅黑" panose="020B0503020204020204" charset="-122"/>
            </a:endParaRPr>
          </a:p>
          <a:p>
            <a:pPr algn="ctr" eaLnBrk="1" hangingPunct="1">
              <a:lnSpc>
                <a:spcPct val="150000"/>
              </a:lnSpc>
              <a:spcBef>
                <a:spcPct val="0"/>
              </a:spcBef>
              <a:buFontTx/>
              <a:buNone/>
            </a:pPr>
            <a:r>
              <a:rPr lang="en-US" altLang="zh-CN" sz="1800" b="1" dirty="0">
                <a:latin typeface="微软雅黑" panose="020B0503020204020204" charset="-122"/>
                <a:ea typeface="微软雅黑" panose="020B0503020204020204" charset="-122"/>
              </a:rPr>
              <a:t>2024.5.9</a:t>
            </a:r>
            <a:endParaRPr lang="en-US" altLang="zh-CN" sz="1800" b="1" dirty="0">
              <a:latin typeface="微软雅黑" panose="020B0503020204020204" charset="-122"/>
              <a:ea typeface="微软雅黑" panose="020B0503020204020204" charset="-122"/>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p:transition spd="slow">
        <p:fade/>
      </p:transition>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4" name="文本框 18"/>
          <p:cNvSpPr txBox="1">
            <a:spLocks noChangeArrowheads="1"/>
          </p:cNvSpPr>
          <p:nvPr/>
        </p:nvSpPr>
        <p:spPr bwMode="auto">
          <a:xfrm>
            <a:off x="3988236" y="845413"/>
            <a:ext cx="4954846" cy="41541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457200" indent="-45720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indent="0">
              <a:lnSpc>
                <a:spcPct val="200000"/>
              </a:lnSpc>
              <a:spcBef>
                <a:spcPct val="0"/>
              </a:spcBef>
              <a:buFont typeface="Wingdings" panose="05000000000000000000" pitchFamily="2" charset="2"/>
              <a:buNone/>
            </a:pPr>
            <a:endParaRPr lang="zh-CN" altLang="en-US" sz="2400" b="1" dirty="0">
              <a:latin typeface="微软雅黑" panose="020B0503020204020204" charset="-122"/>
              <a:ea typeface="微软雅黑" panose="020B0503020204020204" charset="-122"/>
            </a:endParaRPr>
          </a:p>
          <a:p>
            <a:pPr>
              <a:lnSpc>
                <a:spcPct val="200000"/>
              </a:lnSpc>
              <a:spcBef>
                <a:spcPct val="0"/>
              </a:spcBef>
              <a:buFont typeface="Wingdings" panose="05000000000000000000" pitchFamily="2" charset="2"/>
              <a:buChar char="Ø"/>
            </a:pPr>
            <a:r>
              <a:rPr lang="en-US" altLang="zh-CN" sz="2400" b="1" dirty="0">
                <a:latin typeface="微软雅黑" panose="020B0503020204020204" charset="-122"/>
                <a:ea typeface="微软雅黑" panose="020B0503020204020204" charset="-122"/>
              </a:rPr>
              <a:t>   </a:t>
            </a:r>
            <a:r>
              <a:rPr lang="en-US" altLang="zh-CN" sz="2400" b="1" dirty="0">
                <a:latin typeface="微软雅黑" panose="020B0503020204020204" charset="-122"/>
                <a:ea typeface="微软雅黑" panose="020B0503020204020204" charset="-122"/>
                <a:sym typeface="+mn-ea"/>
              </a:rPr>
              <a:t>Problem 1st</a:t>
            </a:r>
            <a:endParaRPr lang="en-US" altLang="zh-CN" sz="2400" b="1" dirty="0">
              <a:latin typeface="微软雅黑" panose="020B0503020204020204" charset="-122"/>
              <a:ea typeface="微软雅黑" panose="020B0503020204020204" charset="-122"/>
              <a:sym typeface="+mn-ea"/>
            </a:endParaRPr>
          </a:p>
          <a:p>
            <a:pPr>
              <a:lnSpc>
                <a:spcPct val="200000"/>
              </a:lnSpc>
              <a:spcBef>
                <a:spcPct val="0"/>
              </a:spcBef>
              <a:buFont typeface="Wingdings" panose="05000000000000000000" pitchFamily="2" charset="2"/>
              <a:buChar char="Ø"/>
            </a:pPr>
            <a:r>
              <a:rPr lang="zh-CN" altLang="en-US" sz="2400" b="1" dirty="0">
                <a:latin typeface="微软雅黑" panose="020B0503020204020204" charset="-122"/>
                <a:ea typeface="微软雅黑" panose="020B0503020204020204" charset="-122"/>
              </a:rPr>
              <a:t>   </a:t>
            </a:r>
            <a:r>
              <a:rPr lang="en-US" altLang="zh-CN" sz="2400" b="1" dirty="0">
                <a:latin typeface="微软雅黑" panose="020B0503020204020204" charset="-122"/>
                <a:ea typeface="微软雅黑" panose="020B0503020204020204" charset="-122"/>
                <a:sym typeface="+mn-ea"/>
              </a:rPr>
              <a:t>Problem 2nd</a:t>
            </a:r>
            <a:endParaRPr lang="en-US" altLang="zh-CN" sz="2400" b="1" dirty="0">
              <a:latin typeface="微软雅黑" panose="020B0503020204020204" charset="-122"/>
              <a:ea typeface="微软雅黑" panose="020B0503020204020204" charset="-122"/>
              <a:sym typeface="+mn-ea"/>
            </a:endParaRPr>
          </a:p>
          <a:p>
            <a:pPr>
              <a:lnSpc>
                <a:spcPct val="200000"/>
              </a:lnSpc>
              <a:spcBef>
                <a:spcPct val="0"/>
              </a:spcBef>
              <a:buFont typeface="Wingdings" panose="05000000000000000000" pitchFamily="2" charset="2"/>
              <a:buChar char="Ø"/>
            </a:pPr>
            <a:r>
              <a:rPr lang="zh-CN" altLang="en-US" sz="2400" b="1" dirty="0">
                <a:latin typeface="微软雅黑" panose="020B0503020204020204" charset="-122"/>
                <a:ea typeface="微软雅黑" panose="020B0503020204020204" charset="-122"/>
              </a:rPr>
              <a:t>   </a:t>
            </a:r>
            <a:r>
              <a:rPr lang="en-US" altLang="zh-CN" sz="2400" b="1" dirty="0">
                <a:latin typeface="微软雅黑" panose="020B0503020204020204" charset="-122"/>
                <a:ea typeface="微软雅黑" panose="020B0503020204020204" charset="-122"/>
              </a:rPr>
              <a:t>Problem 3rd</a:t>
            </a:r>
            <a:endParaRPr lang="zh-CN" altLang="en-US" sz="2400" b="1" dirty="0">
              <a:latin typeface="微软雅黑" panose="020B0503020204020204" charset="-122"/>
              <a:ea typeface="微软雅黑" panose="020B0503020204020204" charset="-122"/>
            </a:endParaRPr>
          </a:p>
          <a:p>
            <a:pPr>
              <a:lnSpc>
                <a:spcPct val="200000"/>
              </a:lnSpc>
              <a:spcBef>
                <a:spcPct val="0"/>
              </a:spcBef>
              <a:buFont typeface="Wingdings" panose="05000000000000000000" pitchFamily="2" charset="2"/>
              <a:buChar char="Ø"/>
            </a:pPr>
            <a:r>
              <a:rPr lang="zh-CN" altLang="en-US" sz="2400" b="1" dirty="0">
                <a:latin typeface="微软雅黑" panose="020B0503020204020204" charset="-122"/>
                <a:ea typeface="微软雅黑" panose="020B0503020204020204" charset="-122"/>
              </a:rPr>
              <a:t>   </a:t>
            </a:r>
            <a:r>
              <a:rPr lang="en-US" altLang="zh-CN" sz="2400" b="1" dirty="0">
                <a:latin typeface="微软雅黑" panose="020B0503020204020204" charset="-122"/>
                <a:ea typeface="微软雅黑" panose="020B0503020204020204" charset="-122"/>
              </a:rPr>
              <a:t>Summary</a:t>
            </a:r>
            <a:endParaRPr lang="en-US" altLang="zh-CN" sz="2400" b="1" dirty="0">
              <a:latin typeface="微软雅黑" panose="020B0503020204020204" charset="-122"/>
              <a:ea typeface="微软雅黑" panose="020B0503020204020204" charset="-122"/>
            </a:endParaRPr>
          </a:p>
          <a:p>
            <a:pPr marL="0" indent="0">
              <a:spcBef>
                <a:spcPct val="0"/>
              </a:spcBef>
              <a:buFont typeface="Wingdings" panose="05000000000000000000" pitchFamily="2" charset="2"/>
              <a:buNone/>
            </a:pPr>
            <a:endParaRPr lang="en-US" altLang="zh-CN" sz="2400" b="1" dirty="0">
              <a:latin typeface="微软雅黑" panose="020B0503020204020204" charset="-122"/>
              <a:ea typeface="微软雅黑" panose="020B0503020204020204" charset="-122"/>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p:transition spd="slow">
        <p:fade/>
      </p:transition>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a:xfrm>
            <a:off x="763905" y="2103120"/>
            <a:ext cx="10515600" cy="1325563"/>
          </a:xfrm>
        </p:spPr>
        <p:txBody>
          <a:bodyPr/>
          <a:p>
            <a:r>
              <a:rPr lang="en-US" altLang="zh-CN" b="1" dirty="0">
                <a:latin typeface="微软雅黑" panose="020B0503020204020204" charset="-122"/>
                <a:ea typeface="微软雅黑" panose="020B0503020204020204" charset="-122"/>
                <a:sym typeface="+mn-ea"/>
              </a:rPr>
              <a:t>                      </a:t>
            </a:r>
            <a:r>
              <a:rPr lang="en-US" altLang="zh-CN" sz="4000" b="1" dirty="0">
                <a:latin typeface="宋体" panose="02010600030101010101" pitchFamily="2" charset="-122"/>
                <a:ea typeface="宋体" panose="02010600030101010101" pitchFamily="2" charset="-122"/>
                <a:cs typeface="宋体" panose="02010600030101010101" pitchFamily="2" charset="-122"/>
                <a:sym typeface="+mn-ea"/>
              </a:rPr>
              <a:t>Problem 1st </a:t>
            </a:r>
            <a:br>
              <a:rPr lang="en-US" altLang="zh-CN" sz="4000" b="1" dirty="0">
                <a:latin typeface="宋体" panose="02010600030101010101" pitchFamily="2" charset="-122"/>
                <a:ea typeface="宋体" panose="02010600030101010101" pitchFamily="2" charset="-122"/>
                <a:cs typeface="宋体" panose="02010600030101010101" pitchFamily="2" charset="-122"/>
                <a:sym typeface="+mn-ea"/>
              </a:rPr>
            </a:br>
            <a:br>
              <a:rPr lang="en-US" altLang="zh-CN" sz="4000" b="1" dirty="0">
                <a:latin typeface="宋体" panose="02010600030101010101" pitchFamily="2" charset="-122"/>
                <a:ea typeface="宋体" panose="02010600030101010101" pitchFamily="2" charset="-122"/>
                <a:cs typeface="宋体" panose="02010600030101010101" pitchFamily="2" charset="-122"/>
                <a:sym typeface="+mn-ea"/>
              </a:rPr>
            </a:br>
            <a:r>
              <a:rPr lang="en-US" altLang="zh-CN" sz="4000" b="1" dirty="0">
                <a:latin typeface="宋体" panose="02010600030101010101" pitchFamily="2" charset="-122"/>
                <a:ea typeface="宋体" panose="02010600030101010101" pitchFamily="2" charset="-122"/>
                <a:cs typeface="宋体" panose="02010600030101010101" pitchFamily="2" charset="-122"/>
                <a:sym typeface="+mn-ea"/>
              </a:rPr>
              <a:t>    Lab4</a:t>
            </a:r>
            <a:r>
              <a:rPr lang="zh-CN" altLang="en-US" sz="4000" b="1" dirty="0">
                <a:latin typeface="宋体" panose="02010600030101010101" pitchFamily="2" charset="-122"/>
                <a:ea typeface="宋体" panose="02010600030101010101" pitchFamily="2" charset="-122"/>
                <a:cs typeface="宋体" panose="02010600030101010101" pitchFamily="2" charset="-122"/>
                <a:sym typeface="+mn-ea"/>
              </a:rPr>
              <a:t>中</a:t>
            </a:r>
            <a:r>
              <a:rPr lang="en-US" altLang="zh-CN" sz="4000" b="1" dirty="0">
                <a:latin typeface="宋体" panose="02010600030101010101" pitchFamily="2" charset="-122"/>
                <a:ea typeface="宋体" panose="02010600030101010101" pitchFamily="2" charset="-122"/>
                <a:cs typeface="宋体" panose="02010600030101010101" pitchFamily="2" charset="-122"/>
                <a:sym typeface="+mn-ea"/>
              </a:rPr>
              <a:t>消抖代码</a:t>
            </a:r>
            <a:r>
              <a:rPr lang="zh-CN" altLang="en-US" sz="4000" b="1" dirty="0">
                <a:latin typeface="宋体" panose="02010600030101010101" pitchFamily="2" charset="-122"/>
                <a:ea typeface="宋体" panose="02010600030101010101" pitchFamily="2" charset="-122"/>
                <a:cs typeface="宋体" panose="02010600030101010101" pitchFamily="2" charset="-122"/>
                <a:sym typeface="+mn-ea"/>
              </a:rPr>
              <a:t>严谨</a:t>
            </a:r>
            <a:r>
              <a:rPr lang="en-US" altLang="zh-CN" sz="4000" b="1" dirty="0">
                <a:latin typeface="宋体" panose="02010600030101010101" pitchFamily="2" charset="-122"/>
                <a:ea typeface="宋体" panose="02010600030101010101" pitchFamily="2" charset="-122"/>
                <a:cs typeface="宋体" panose="02010600030101010101" pitchFamily="2" charset="-122"/>
                <a:sym typeface="+mn-ea"/>
              </a:rPr>
              <a:t>性与</a:t>
            </a:r>
            <a:r>
              <a:rPr lang="zh-CN" altLang="en-US" sz="4000" b="1" dirty="0">
                <a:latin typeface="宋体" panose="02010600030101010101" pitchFamily="2" charset="-122"/>
                <a:ea typeface="宋体" panose="02010600030101010101" pitchFamily="2" charset="-122"/>
                <a:cs typeface="宋体" panose="02010600030101010101" pitchFamily="2" charset="-122"/>
                <a:sym typeface="+mn-ea"/>
              </a:rPr>
              <a:t>适用</a:t>
            </a:r>
            <a:r>
              <a:rPr lang="en-US" altLang="zh-CN" sz="4000" b="1" dirty="0">
                <a:latin typeface="宋体" panose="02010600030101010101" pitchFamily="2" charset="-122"/>
                <a:ea typeface="宋体" panose="02010600030101010101" pitchFamily="2" charset="-122"/>
                <a:cs typeface="宋体" panose="02010600030101010101" pitchFamily="2" charset="-122"/>
                <a:sym typeface="+mn-ea"/>
              </a:rPr>
              <a:t>性讨论</a:t>
            </a:r>
            <a:endParaRPr lang="en-US" altLang="zh-CN" sz="4000" b="1" dirty="0">
              <a:latin typeface="宋体" panose="02010600030101010101" pitchFamily="2" charset="-122"/>
              <a:ea typeface="宋体" panose="02010600030101010101" pitchFamily="2" charset="-122"/>
              <a:cs typeface="宋体" panose="02010600030101010101" pitchFamily="2" charset="-122"/>
              <a:sym typeface="+mn-ea"/>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组合 4"/>
          <p:cNvGrpSpPr/>
          <p:nvPr/>
        </p:nvGrpSpPr>
        <p:grpSpPr>
          <a:xfrm>
            <a:off x="1072811" y="691926"/>
            <a:ext cx="10841022" cy="461962"/>
            <a:chOff x="1072811" y="691926"/>
            <a:chExt cx="10841022" cy="461962"/>
          </a:xfrm>
        </p:grpSpPr>
        <p:sp>
          <p:nvSpPr>
            <p:cNvPr id="6" name="文本框 34"/>
            <p:cNvSpPr txBox="1">
              <a:spLocks noChangeArrowheads="1"/>
            </p:cNvSpPr>
            <p:nvPr/>
          </p:nvSpPr>
          <p:spPr bwMode="auto">
            <a:xfrm>
              <a:off x="1072811" y="691926"/>
              <a:ext cx="383286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zh-CN" altLang="en-US" sz="2400" b="1" dirty="0">
                  <a:latin typeface="微软雅黑" panose="020B0503020204020204" charset="-122"/>
                  <a:ea typeface="微软雅黑" panose="020B0503020204020204" charset="-122"/>
                </a:rPr>
                <a:t>问题背景</a:t>
              </a:r>
              <a:endParaRPr lang="en-US" altLang="zh-CN" sz="2400" b="1" dirty="0">
                <a:latin typeface="微软雅黑" panose="020B0503020204020204" charset="-122"/>
                <a:ea typeface="微软雅黑" panose="020B0503020204020204" charset="-122"/>
              </a:endParaRPr>
            </a:p>
          </p:txBody>
        </p:sp>
        <p:cxnSp>
          <p:nvCxnSpPr>
            <p:cNvPr id="7" name="直接连接符 6"/>
            <p:cNvCxnSpPr/>
            <p:nvPr/>
          </p:nvCxnSpPr>
          <p:spPr>
            <a:xfrm>
              <a:off x="1072811" y="1153888"/>
              <a:ext cx="10841022"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8" name="矩形 27"/>
          <p:cNvSpPr>
            <a:spLocks noChangeArrowheads="1"/>
          </p:cNvSpPr>
          <p:nvPr/>
        </p:nvSpPr>
        <p:spPr bwMode="auto">
          <a:xfrm>
            <a:off x="1149985" y="1344295"/>
            <a:ext cx="2909570" cy="5584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nSpc>
                <a:spcPct val="150000"/>
              </a:lnSpc>
              <a:spcBef>
                <a:spcPct val="0"/>
              </a:spcBef>
              <a:buFontTx/>
              <a:buNone/>
              <a:defRPr/>
            </a:pPr>
            <a:r>
              <a:rPr lang="zh-CN" altLang="en-US" sz="1600">
                <a:solidFill>
                  <a:srgbClr val="005BBB"/>
                </a:solidFill>
              </a:rPr>
              <a:t>■</a:t>
            </a:r>
            <a:r>
              <a:rPr lang="zh-CN" altLang="en-US" sz="1700" b="1" dirty="0">
                <a:latin typeface="微软雅黑" panose="020B0503020204020204" charset="-122"/>
                <a:ea typeface="微软雅黑" panose="020B0503020204020204" charset="-122"/>
                <a:cs typeface="Times New Roman" panose="02020603050405020304" pitchFamily="18" charset="0"/>
              </a:rPr>
              <a:t>在</a:t>
            </a:r>
            <a:r>
              <a:rPr lang="en-US" altLang="zh-CN" sz="1700" b="1" dirty="0">
                <a:latin typeface="微软雅黑" panose="020B0503020204020204" charset="-122"/>
                <a:ea typeface="微软雅黑" panose="020B0503020204020204" charset="-122"/>
                <a:cs typeface="Times New Roman" panose="02020603050405020304" pitchFamily="18" charset="0"/>
              </a:rPr>
              <a:t>Lab4</a:t>
            </a:r>
            <a:r>
              <a:rPr lang="zh-CN" altLang="en-US" sz="1700" b="1" dirty="0">
                <a:latin typeface="微软雅黑" panose="020B0503020204020204" charset="-122"/>
                <a:ea typeface="微软雅黑" panose="020B0503020204020204" charset="-122"/>
                <a:cs typeface="Times New Roman" panose="02020603050405020304" pitchFamily="18" charset="0"/>
              </a:rPr>
              <a:t>中，要求设计电子锁的状态机。其中不可避免的涉及到防抖问题，即</a:t>
            </a:r>
            <a:r>
              <a:rPr lang="en-US" altLang="zh-CN" sz="1700" b="1" dirty="0">
                <a:latin typeface="微软雅黑" panose="020B0503020204020204" charset="-122"/>
                <a:ea typeface="微软雅黑" panose="020B0503020204020204" charset="-122"/>
                <a:cs typeface="Times New Roman" panose="02020603050405020304" pitchFamily="18" charset="0"/>
              </a:rPr>
              <a:t>deboounce</a:t>
            </a:r>
            <a:r>
              <a:rPr lang="zh-CN" altLang="en-US" sz="1700" b="1" dirty="0">
                <a:latin typeface="微软雅黑" panose="020B0503020204020204" charset="-122"/>
                <a:ea typeface="微软雅黑" panose="020B0503020204020204" charset="-122"/>
                <a:cs typeface="Times New Roman" panose="02020603050405020304" pitchFamily="18" charset="0"/>
              </a:rPr>
              <a:t>部分代码。该问题具体体现在上板实验时进行按键操作并不能达到输出下一位的结果，会出现上一位甚至返回初始位的现象。可能大多数同学没有遇到相关问题，具体原因后面会进行分析。下面进行我们对该问题严谨性和适用性的讨论。</a:t>
            </a:r>
            <a:endParaRPr lang="zh-CN" altLang="en-US" sz="1700" b="1" dirty="0">
              <a:latin typeface="微软雅黑" panose="020B0503020204020204" charset="-122"/>
              <a:ea typeface="微软雅黑" panose="020B0503020204020204" charset="-122"/>
              <a:cs typeface="Times New Roman" panose="02020603050405020304" pitchFamily="18" charset="0"/>
            </a:endParaRPr>
          </a:p>
          <a:p>
            <a:pPr>
              <a:lnSpc>
                <a:spcPct val="150000"/>
              </a:lnSpc>
              <a:spcBef>
                <a:spcPct val="0"/>
              </a:spcBef>
              <a:buFontTx/>
              <a:buNone/>
              <a:defRPr/>
            </a:pPr>
            <a:endParaRPr lang="zh-CN" altLang="en-US" sz="1700" b="1" dirty="0">
              <a:latin typeface="微软雅黑" panose="020B0503020204020204" charset="-122"/>
              <a:ea typeface="微软雅黑" panose="020B0503020204020204" charset="-122"/>
              <a:cs typeface="Times New Roman" panose="02020603050405020304" pitchFamily="18" charset="0"/>
            </a:endParaRPr>
          </a:p>
          <a:p>
            <a:pPr>
              <a:lnSpc>
                <a:spcPct val="150000"/>
              </a:lnSpc>
              <a:spcBef>
                <a:spcPct val="0"/>
              </a:spcBef>
              <a:buFontTx/>
              <a:buNone/>
              <a:defRPr/>
            </a:pPr>
            <a:endParaRPr lang="zh-CN" altLang="en-US" sz="1700" b="1" dirty="0">
              <a:solidFill>
                <a:schemeClr val="tx1">
                  <a:lumMod val="65000"/>
                  <a:lumOff val="35000"/>
                </a:schemeClr>
              </a:solidFill>
              <a:latin typeface="微软雅黑" panose="020B0503020204020204" charset="-122"/>
              <a:ea typeface="微软雅黑" panose="020B0503020204020204" charset="-122"/>
              <a:cs typeface="Times New Roman" panose="02020603050405020304" pitchFamily="18" charset="0"/>
            </a:endParaRPr>
          </a:p>
        </p:txBody>
      </p:sp>
      <p:pic>
        <p:nvPicPr>
          <p:cNvPr id="3" name="图片 1" descr="10a3a92460fa58d2c073870e4b99dcfe"/>
          <p:cNvPicPr>
            <a:picLocks noChangeAspect="1"/>
          </p:cNvPicPr>
          <p:nvPr/>
        </p:nvPicPr>
        <p:blipFill>
          <a:blip r:embed="rId1"/>
          <a:stretch>
            <a:fillRect/>
          </a:stretch>
        </p:blipFill>
        <p:spPr>
          <a:xfrm>
            <a:off x="7853680" y="1344295"/>
            <a:ext cx="4060190" cy="4937760"/>
          </a:xfrm>
          <a:prstGeom prst="rect">
            <a:avLst/>
          </a:prstGeom>
        </p:spPr>
      </p:pic>
      <p:pic>
        <p:nvPicPr>
          <p:cNvPr id="9" name="图片 8" descr="图片1"/>
          <p:cNvPicPr>
            <a:picLocks noChangeAspect="1"/>
          </p:cNvPicPr>
          <p:nvPr/>
        </p:nvPicPr>
        <p:blipFill>
          <a:blip r:embed="rId2"/>
          <a:stretch>
            <a:fillRect/>
          </a:stretch>
        </p:blipFill>
        <p:spPr>
          <a:xfrm>
            <a:off x="4453255" y="1344295"/>
            <a:ext cx="2768600" cy="3810635"/>
          </a:xfrm>
          <a:prstGeom prst="rect">
            <a:avLst/>
          </a:prstGeom>
        </p:spPr>
      </p:pic>
      <p:sp>
        <p:nvSpPr>
          <p:cNvPr id="12" name="文本框 11"/>
          <p:cNvSpPr txBox="1"/>
          <p:nvPr/>
        </p:nvSpPr>
        <p:spPr>
          <a:xfrm>
            <a:off x="4952365" y="5345430"/>
            <a:ext cx="4160520" cy="379095"/>
          </a:xfrm>
          <a:prstGeom prst="rect">
            <a:avLst/>
          </a:prstGeom>
          <a:noFill/>
        </p:spPr>
        <p:txBody>
          <a:bodyPr wrap="square" rtlCol="0">
            <a:noAutofit/>
          </a:bodyPr>
          <a:p>
            <a:r>
              <a:rPr lang="zh-CN" altLang="en-US" sz="1600"/>
              <a:t>仿真源代码（上图）</a:t>
            </a:r>
            <a:endParaRPr lang="zh-CN" altLang="en-US" sz="1600"/>
          </a:p>
          <a:p>
            <a:r>
              <a:rPr lang="zh-CN" altLang="en-US" sz="1600"/>
              <a:t>消抖源代码（右图）</a:t>
            </a:r>
            <a:endParaRPr lang="zh-CN" altLang="en-US" sz="160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12" grpId="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组合 4"/>
          <p:cNvGrpSpPr/>
          <p:nvPr/>
        </p:nvGrpSpPr>
        <p:grpSpPr>
          <a:xfrm>
            <a:off x="1072811" y="691926"/>
            <a:ext cx="10841022" cy="461962"/>
            <a:chOff x="1072811" y="691926"/>
            <a:chExt cx="10841022" cy="461962"/>
          </a:xfrm>
        </p:grpSpPr>
        <p:sp>
          <p:nvSpPr>
            <p:cNvPr id="6" name="文本框 34"/>
            <p:cNvSpPr txBox="1">
              <a:spLocks noChangeArrowheads="1"/>
            </p:cNvSpPr>
            <p:nvPr/>
          </p:nvSpPr>
          <p:spPr bwMode="auto">
            <a:xfrm>
              <a:off x="1072811" y="691926"/>
              <a:ext cx="383286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zh-CN" altLang="en-US" sz="2400" b="1" dirty="0">
                  <a:latin typeface="微软雅黑" panose="020B0503020204020204" charset="-122"/>
                  <a:ea typeface="微软雅黑" panose="020B0503020204020204" charset="-122"/>
                </a:rPr>
                <a:t>问题分析</a:t>
              </a:r>
              <a:endParaRPr lang="zh-CN" altLang="en-US" sz="2400" b="1" dirty="0">
                <a:latin typeface="微软雅黑" panose="020B0503020204020204" charset="-122"/>
                <a:ea typeface="微软雅黑" panose="020B0503020204020204" charset="-122"/>
              </a:endParaRPr>
            </a:p>
          </p:txBody>
        </p:sp>
        <p:cxnSp>
          <p:nvCxnSpPr>
            <p:cNvPr id="7" name="直接连接符 6"/>
            <p:cNvCxnSpPr/>
            <p:nvPr/>
          </p:nvCxnSpPr>
          <p:spPr>
            <a:xfrm>
              <a:off x="1072811" y="1153888"/>
              <a:ext cx="10841022"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grpSp>
      <p:pic>
        <p:nvPicPr>
          <p:cNvPr id="3" name="图片 3" descr="ada91a2f6097d3cd2d1d3d307a4253ab"/>
          <p:cNvPicPr>
            <a:picLocks noChangeAspect="1"/>
          </p:cNvPicPr>
          <p:nvPr/>
        </p:nvPicPr>
        <p:blipFill>
          <a:blip r:embed="rId1"/>
          <a:stretch>
            <a:fillRect/>
          </a:stretch>
        </p:blipFill>
        <p:spPr>
          <a:xfrm>
            <a:off x="1072515" y="1355090"/>
            <a:ext cx="8989060" cy="4869815"/>
          </a:xfrm>
          <a:prstGeom prst="rect">
            <a:avLst/>
          </a:prstGeom>
        </p:spPr>
      </p:pic>
      <p:sp>
        <p:nvSpPr>
          <p:cNvPr id="9" name="文本框 8"/>
          <p:cNvSpPr txBox="1"/>
          <p:nvPr/>
        </p:nvSpPr>
        <p:spPr>
          <a:xfrm>
            <a:off x="10200640" y="1355090"/>
            <a:ext cx="1256030" cy="2073910"/>
          </a:xfrm>
          <a:prstGeom prst="rect">
            <a:avLst/>
          </a:prstGeom>
          <a:noFill/>
        </p:spPr>
        <p:txBody>
          <a:bodyPr wrap="square" rtlCol="0">
            <a:noAutofit/>
          </a:bodyPr>
          <a:p>
            <a:r>
              <a:rPr lang="zh-CN" altLang="en-US">
                <a:solidFill>
                  <a:srgbClr val="005BBB"/>
                </a:solidFill>
                <a:sym typeface="+mn-ea"/>
              </a:rPr>
              <a:t>■</a:t>
            </a:r>
            <a:r>
              <a:rPr lang="en-US" altLang="zh-CN">
                <a:solidFill>
                  <a:srgbClr val="005BBB"/>
                </a:solidFill>
                <a:sym typeface="+mn-ea"/>
              </a:rPr>
              <a:t> </a:t>
            </a:r>
            <a:endParaRPr lang="zh-CN" altLang="en-US" b="1">
              <a:solidFill>
                <a:schemeClr val="tx1"/>
              </a:solidFill>
              <a:latin typeface="微软雅黑" panose="020B0503020204020204" charset="-122"/>
              <a:ea typeface="微软雅黑" panose="020B0503020204020204" charset="-122"/>
              <a:sym typeface="+mn-ea"/>
            </a:endParaRPr>
          </a:p>
          <a:p>
            <a:r>
              <a:rPr lang="zh-CN" altLang="en-US" b="1">
                <a:solidFill>
                  <a:schemeClr val="tx1"/>
                </a:solidFill>
                <a:latin typeface="微软雅黑" panose="020B0503020204020204" charset="-122"/>
                <a:ea typeface="微软雅黑" panose="020B0503020204020204" charset="-122"/>
                <a:sym typeface="+mn-ea"/>
              </a:rPr>
              <a:t>已经设置了reset了，为什么clean输出的信号还一直是红色信号？</a:t>
            </a:r>
            <a:endParaRPr lang="zh-CN" altLang="en-US" b="1">
              <a:solidFill>
                <a:schemeClr val="tx1"/>
              </a:solidFill>
              <a:latin typeface="微软雅黑" panose="020B0503020204020204" charset="-122"/>
              <a:ea typeface="微软雅黑" panose="020B0503020204020204" charset="-122"/>
              <a:sym typeface="+mn-ea"/>
            </a:endParaRPr>
          </a:p>
        </p:txBody>
      </p:sp>
      <p:sp>
        <p:nvSpPr>
          <p:cNvPr id="11" name="文本框 10"/>
          <p:cNvSpPr txBox="1"/>
          <p:nvPr/>
        </p:nvSpPr>
        <p:spPr>
          <a:xfrm>
            <a:off x="10200640" y="3748405"/>
            <a:ext cx="1315720" cy="2475865"/>
          </a:xfrm>
          <a:prstGeom prst="rect">
            <a:avLst/>
          </a:prstGeom>
          <a:noFill/>
        </p:spPr>
        <p:txBody>
          <a:bodyPr wrap="square" rtlCol="0">
            <a:noAutofit/>
          </a:bodyPr>
          <a:p>
            <a:r>
              <a:rPr lang="zh-CN" altLang="en-US">
                <a:solidFill>
                  <a:srgbClr val="005BBB"/>
                </a:solidFill>
                <a:sym typeface="+mn-ea"/>
              </a:rPr>
              <a:t>■</a:t>
            </a:r>
            <a:endParaRPr lang="zh-CN" altLang="en-US">
              <a:solidFill>
                <a:srgbClr val="005BBB"/>
              </a:solidFill>
              <a:sym typeface="+mn-ea"/>
            </a:endParaRPr>
          </a:p>
          <a:p>
            <a:endParaRPr lang="zh-CN" altLang="en-US"/>
          </a:p>
          <a:p>
            <a:endParaRPr lang="zh-CN" altLang="en-US"/>
          </a:p>
          <a:p>
            <a:r>
              <a:rPr lang="zh-CN" altLang="en-US" b="1">
                <a:latin typeface="微软雅黑" panose="020B0503020204020204" charset="-122"/>
                <a:ea typeface="微软雅黑" panose="020B0503020204020204" charset="-122"/>
                <a:cs typeface="微软雅黑" panose="020B0503020204020204" charset="-122"/>
              </a:rPr>
              <a:t>reset</a:t>
            </a:r>
            <a:r>
              <a:rPr lang="zh-CN" altLang="en-US" b="1">
                <a:solidFill>
                  <a:srgbClr val="FF0000"/>
                </a:solidFill>
                <a:latin typeface="微软雅黑" panose="020B0503020204020204" charset="-122"/>
                <a:ea typeface="微软雅黑" panose="020B0503020204020204" charset="-122"/>
                <a:cs typeface="微软雅黑" panose="020B0503020204020204" charset="-122"/>
              </a:rPr>
              <a:t>未进入时钟上升沿</a:t>
            </a:r>
            <a:r>
              <a:rPr lang="zh-CN" altLang="en-US" b="1">
                <a:latin typeface="微软雅黑" panose="020B0503020204020204" charset="-122"/>
                <a:ea typeface="微软雅黑" panose="020B0503020204020204" charset="-122"/>
                <a:cs typeface="微软雅黑" panose="020B0503020204020204" charset="-122"/>
              </a:rPr>
              <a:t>，故未被读取</a:t>
            </a:r>
            <a:endParaRPr lang="zh-CN" altLang="en-US" b="1">
              <a:latin typeface="微软雅黑" panose="020B0503020204020204" charset="-122"/>
              <a:ea typeface="微软雅黑" panose="020B0503020204020204" charset="-122"/>
              <a:cs typeface="微软雅黑" panose="020B0503020204020204" charset="-122"/>
            </a:endParaRPr>
          </a:p>
        </p:txBody>
      </p:sp>
      <p:pic>
        <p:nvPicPr>
          <p:cNvPr id="12" name="图片 4" descr="97ba88a75880adc05763504886f70fbe"/>
          <p:cNvPicPr>
            <a:picLocks noChangeAspect="1"/>
          </p:cNvPicPr>
          <p:nvPr/>
        </p:nvPicPr>
        <p:blipFill>
          <a:blip r:embed="rId2"/>
          <a:stretch>
            <a:fillRect/>
          </a:stretch>
        </p:blipFill>
        <p:spPr>
          <a:xfrm>
            <a:off x="10200640" y="4083685"/>
            <a:ext cx="1645920" cy="493395"/>
          </a:xfrm>
          <a:prstGeom prst="rect">
            <a:avLst/>
          </a:prstGeom>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9" grpId="1"/>
      <p:bldP spid="11" grpId="0"/>
      <p:bldP spid="11" grpId="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组合 4"/>
          <p:cNvGrpSpPr/>
          <p:nvPr/>
        </p:nvGrpSpPr>
        <p:grpSpPr>
          <a:xfrm>
            <a:off x="1072811" y="691926"/>
            <a:ext cx="10841022" cy="461962"/>
            <a:chOff x="1072811" y="691926"/>
            <a:chExt cx="10841022" cy="461962"/>
          </a:xfrm>
        </p:grpSpPr>
        <p:sp>
          <p:nvSpPr>
            <p:cNvPr id="6" name="文本框 34"/>
            <p:cNvSpPr txBox="1">
              <a:spLocks noChangeArrowheads="1"/>
            </p:cNvSpPr>
            <p:nvPr/>
          </p:nvSpPr>
          <p:spPr bwMode="auto">
            <a:xfrm>
              <a:off x="1072811" y="691926"/>
              <a:ext cx="383286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zh-CN" altLang="en-US" sz="2400" b="1" dirty="0">
                  <a:latin typeface="微软雅黑" panose="020B0503020204020204" charset="-122"/>
                  <a:ea typeface="微软雅黑" panose="020B0503020204020204" charset="-122"/>
                </a:rPr>
                <a:t>解决办法</a:t>
              </a:r>
              <a:endParaRPr lang="en-US" altLang="zh-CN" sz="2400" b="1" dirty="0">
                <a:latin typeface="微软雅黑" panose="020B0503020204020204" charset="-122"/>
                <a:ea typeface="微软雅黑" panose="020B0503020204020204" charset="-122"/>
              </a:endParaRPr>
            </a:p>
          </p:txBody>
        </p:sp>
        <p:cxnSp>
          <p:nvCxnSpPr>
            <p:cNvPr id="7" name="直接连接符 6"/>
            <p:cNvCxnSpPr/>
            <p:nvPr/>
          </p:nvCxnSpPr>
          <p:spPr>
            <a:xfrm>
              <a:off x="1072811" y="1153888"/>
              <a:ext cx="10841022"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8" name="矩形 27"/>
          <p:cNvSpPr>
            <a:spLocks noChangeArrowheads="1"/>
          </p:cNvSpPr>
          <p:nvPr/>
        </p:nvSpPr>
        <p:spPr bwMode="auto">
          <a:xfrm>
            <a:off x="1072515" y="1388745"/>
            <a:ext cx="2814320" cy="37788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o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nSpc>
                <a:spcPct val="150000"/>
              </a:lnSpc>
              <a:spcBef>
                <a:spcPct val="0"/>
              </a:spcBef>
              <a:buFontTx/>
              <a:buNone/>
              <a:defRPr/>
            </a:pPr>
            <a:r>
              <a:rPr lang="zh-CN" altLang="en-US" sz="1800">
                <a:solidFill>
                  <a:srgbClr val="005BBB"/>
                </a:solidFill>
              </a:rPr>
              <a:t>■</a:t>
            </a:r>
            <a:r>
              <a:rPr lang="zh-CN" altLang="en-US" sz="1700" b="1" dirty="0">
                <a:latin typeface="微软雅黑" panose="020B0503020204020204" charset="-122"/>
                <a:ea typeface="微软雅黑" panose="020B0503020204020204" charset="-122"/>
                <a:cs typeface="Times New Roman" panose="02020603050405020304" pitchFamily="18" charset="0"/>
              </a:rPr>
              <a:t> </a:t>
            </a:r>
            <a:r>
              <a:rPr sz="1700" b="1" dirty="0">
                <a:latin typeface="微软雅黑" panose="020B0503020204020204" charset="-122"/>
                <a:ea typeface="微软雅黑" panose="020B0503020204020204" charset="-122"/>
                <a:cs typeface="Times New Roman" panose="02020603050405020304" pitchFamily="18" charset="0"/>
              </a:rPr>
              <a:t> </a:t>
            </a:r>
            <a:r>
              <a:rPr lang="zh-CN" sz="1700" b="1" dirty="0">
                <a:latin typeface="微软雅黑" panose="020B0503020204020204" charset="-122"/>
                <a:ea typeface="微软雅黑" panose="020B0503020204020204" charset="-122"/>
                <a:cs typeface="Times New Roman" panose="02020603050405020304" pitchFamily="18" charset="0"/>
              </a:rPr>
              <a:t>考虑从仿真层面解决</a:t>
            </a:r>
            <a:endParaRPr lang="zh-CN" sz="1700" b="1" dirty="0">
              <a:latin typeface="微软雅黑" panose="020B0503020204020204" charset="-122"/>
              <a:ea typeface="微软雅黑" panose="020B0503020204020204" charset="-122"/>
              <a:cs typeface="Times New Roman" panose="02020603050405020304" pitchFamily="18" charset="0"/>
            </a:endParaRPr>
          </a:p>
          <a:p>
            <a:pPr>
              <a:lnSpc>
                <a:spcPct val="150000"/>
              </a:lnSpc>
              <a:spcBef>
                <a:spcPct val="0"/>
              </a:spcBef>
              <a:buFontTx/>
              <a:buNone/>
              <a:defRPr/>
            </a:pPr>
            <a:r>
              <a:rPr sz="1700" b="1" dirty="0">
                <a:latin typeface="微软雅黑" panose="020B0503020204020204" charset="-122"/>
                <a:ea typeface="微软雅黑" panose="020B0503020204020204" charset="-122"/>
                <a:cs typeface="Times New Roman" panose="02020603050405020304" pitchFamily="18" charset="0"/>
              </a:rPr>
              <a:t>更改仿真代码第9行为</a:t>
            </a:r>
            <a:r>
              <a:rPr sz="1700" b="1" dirty="0">
                <a:solidFill>
                  <a:srgbClr val="FF0000"/>
                </a:solidFill>
                <a:latin typeface="微软雅黑" panose="020B0503020204020204" charset="-122"/>
                <a:ea typeface="微软雅黑" panose="020B0503020204020204" charset="-122"/>
                <a:cs typeface="Times New Roman" panose="02020603050405020304" pitchFamily="18" charset="0"/>
              </a:rPr>
              <a:t>#15</a:t>
            </a:r>
            <a:endParaRPr sz="1700" b="1" dirty="0">
              <a:latin typeface="微软雅黑" panose="020B0503020204020204" charset="-122"/>
              <a:ea typeface="微软雅黑" panose="020B0503020204020204" charset="-122"/>
              <a:cs typeface="Times New Roman" panose="02020603050405020304" pitchFamily="18" charset="0"/>
            </a:endParaRPr>
          </a:p>
          <a:p>
            <a:pPr>
              <a:lnSpc>
                <a:spcPct val="150000"/>
              </a:lnSpc>
              <a:spcBef>
                <a:spcPct val="0"/>
              </a:spcBef>
              <a:buFontTx/>
              <a:buNone/>
              <a:defRPr/>
            </a:pPr>
            <a:endParaRPr lang="en-US" sz="1700" b="1" dirty="0">
              <a:solidFill>
                <a:srgbClr val="FF0000"/>
              </a:solidFill>
              <a:latin typeface="微软雅黑" panose="020B0503020204020204" charset="-122"/>
              <a:ea typeface="微软雅黑" panose="020B0503020204020204" charset="-122"/>
              <a:cs typeface="Times New Roman" panose="02020603050405020304" pitchFamily="18" charset="0"/>
            </a:endParaRPr>
          </a:p>
        </p:txBody>
      </p:sp>
      <p:sp>
        <p:nvSpPr>
          <p:cNvPr id="9" name="矩形 27"/>
          <p:cNvSpPr>
            <a:spLocks noChangeArrowheads="1"/>
          </p:cNvSpPr>
          <p:nvPr/>
        </p:nvSpPr>
        <p:spPr bwMode="auto">
          <a:xfrm>
            <a:off x="4599305" y="1388745"/>
            <a:ext cx="5208905" cy="5067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nSpc>
                <a:spcPct val="150000"/>
              </a:lnSpc>
              <a:spcBef>
                <a:spcPct val="0"/>
              </a:spcBef>
              <a:buFontTx/>
              <a:buNone/>
              <a:defRPr/>
            </a:pPr>
            <a:r>
              <a:rPr lang="zh-CN" altLang="en-US" sz="1800">
                <a:solidFill>
                  <a:srgbClr val="005BBB"/>
                </a:solidFill>
              </a:rPr>
              <a:t>■</a:t>
            </a:r>
            <a:r>
              <a:rPr lang="zh-CN" altLang="en-US" sz="1700" b="1" dirty="0">
                <a:latin typeface="微软雅黑" panose="020B0503020204020204" charset="-122"/>
                <a:ea typeface="微软雅黑" panose="020B0503020204020204" charset="-122"/>
                <a:cs typeface="Times New Roman" panose="02020603050405020304" pitchFamily="18" charset="0"/>
              </a:rPr>
              <a:t> 仿真结果</a:t>
            </a:r>
            <a:r>
              <a:rPr sz="1700" b="1" dirty="0">
                <a:latin typeface="微软雅黑" panose="020B0503020204020204" charset="-122"/>
                <a:ea typeface="微软雅黑" panose="020B0503020204020204" charset="-122"/>
                <a:cs typeface="Times New Roman" panose="02020603050405020304" pitchFamily="18" charset="0"/>
              </a:rPr>
              <a:t> </a:t>
            </a:r>
            <a:endParaRPr lang="en-US" sz="1700" b="1" dirty="0">
              <a:solidFill>
                <a:srgbClr val="FF0000"/>
              </a:solidFill>
              <a:latin typeface="微软雅黑" panose="020B0503020204020204" charset="-122"/>
              <a:ea typeface="微软雅黑" panose="020B0503020204020204" charset="-122"/>
              <a:cs typeface="Times New Roman" panose="02020603050405020304" pitchFamily="18" charset="0"/>
            </a:endParaRPr>
          </a:p>
        </p:txBody>
      </p:sp>
      <p:pic>
        <p:nvPicPr>
          <p:cNvPr id="3" name="图片 2" descr="图片1"/>
          <p:cNvPicPr>
            <a:picLocks noChangeAspect="1"/>
          </p:cNvPicPr>
          <p:nvPr/>
        </p:nvPicPr>
        <p:blipFill>
          <a:blip r:embed="rId1"/>
          <a:stretch>
            <a:fillRect/>
          </a:stretch>
        </p:blipFill>
        <p:spPr>
          <a:xfrm>
            <a:off x="1072515" y="2392045"/>
            <a:ext cx="2768600" cy="3810635"/>
          </a:xfrm>
          <a:prstGeom prst="rect">
            <a:avLst/>
          </a:prstGeom>
        </p:spPr>
      </p:pic>
      <p:pic>
        <p:nvPicPr>
          <p:cNvPr id="4" name="图片 5" descr="0f9db1a6583628399556adf0de2ef779"/>
          <p:cNvPicPr>
            <a:picLocks noChangeAspect="1"/>
          </p:cNvPicPr>
          <p:nvPr/>
        </p:nvPicPr>
        <p:blipFill>
          <a:blip r:embed="rId2"/>
          <a:stretch>
            <a:fillRect/>
          </a:stretch>
        </p:blipFill>
        <p:spPr>
          <a:xfrm>
            <a:off x="4599305" y="1895475"/>
            <a:ext cx="7052945" cy="3820795"/>
          </a:xfrm>
          <a:prstGeom prst="rect">
            <a:avLst/>
          </a:prstGeom>
        </p:spPr>
      </p:pic>
      <p:sp>
        <p:nvSpPr>
          <p:cNvPr id="12" name="文本框 11"/>
          <p:cNvSpPr txBox="1"/>
          <p:nvPr/>
        </p:nvSpPr>
        <p:spPr>
          <a:xfrm>
            <a:off x="4599940" y="5715635"/>
            <a:ext cx="7052310" cy="508635"/>
          </a:xfrm>
          <a:prstGeom prst="rect">
            <a:avLst/>
          </a:prstGeom>
          <a:noFill/>
        </p:spPr>
        <p:txBody>
          <a:bodyPr wrap="square" rtlCol="0">
            <a:noAutofit/>
          </a:bodyPr>
          <a:p>
            <a:r>
              <a:rPr lang="zh-CN" altLang="en-US" sz="1600" b="1">
                <a:latin typeface="微软雅黑" panose="020B0503020204020204" charset="-122"/>
                <a:ea typeface="微软雅黑" panose="020B0503020204020204" charset="-122"/>
                <a:cs typeface="微软雅黑" panose="020B0503020204020204" charset="-122"/>
              </a:rPr>
              <a:t>结果虽然没有问题，但是这样解决</a:t>
            </a:r>
            <a:r>
              <a:rPr lang="zh-CN" altLang="en-US" sz="1600" b="1">
                <a:solidFill>
                  <a:srgbClr val="FF0000"/>
                </a:solidFill>
                <a:latin typeface="微软雅黑" panose="020B0503020204020204" charset="-122"/>
                <a:ea typeface="微软雅黑" panose="020B0503020204020204" charset="-122"/>
                <a:cs typeface="微软雅黑" panose="020B0503020204020204" charset="-122"/>
              </a:rPr>
              <a:t>是否严谨</a:t>
            </a:r>
            <a:r>
              <a:rPr lang="zh-CN" altLang="en-US" sz="1600" b="1">
                <a:latin typeface="微软雅黑" panose="020B0503020204020204" charset="-122"/>
                <a:ea typeface="微软雅黑" panose="020B0503020204020204" charset="-122"/>
                <a:cs typeface="微软雅黑" panose="020B0503020204020204" charset="-122"/>
              </a:rPr>
              <a:t>？</a:t>
            </a:r>
            <a:endParaRPr lang="zh-CN" altLang="en-US" sz="1600" b="1">
              <a:latin typeface="微软雅黑" panose="020B0503020204020204" charset="-122"/>
              <a:ea typeface="微软雅黑" panose="020B0503020204020204" charset="-122"/>
              <a:cs typeface="微软雅黑" panose="020B0503020204020204" charset="-122"/>
            </a:endParaRPr>
          </a:p>
          <a:p>
            <a:r>
              <a:rPr lang="zh-CN" altLang="en-US" sz="1600" b="1">
                <a:latin typeface="微软雅黑" panose="020B0503020204020204" charset="-122"/>
                <a:ea typeface="微软雅黑" panose="020B0503020204020204" charset="-122"/>
                <a:cs typeface="微软雅黑" panose="020B0503020204020204" charset="-122"/>
              </a:rPr>
              <a:t>难道需要后续使用这个模块的人清楚的了解到reset的设定时长？</a:t>
            </a:r>
            <a:endParaRPr lang="zh-CN" altLang="en-US" sz="1600" b="1">
              <a:latin typeface="微软雅黑" panose="020B0503020204020204" charset="-122"/>
              <a:ea typeface="微软雅黑" panose="020B0503020204020204" charset="-122"/>
              <a:cs typeface="微软雅黑" panose="020B0503020204020204" charset="-122"/>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9" grpId="1"/>
      <p:bldP spid="12" grpId="0"/>
      <p:bldP spid="12" grpId="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组合 4"/>
          <p:cNvGrpSpPr/>
          <p:nvPr/>
        </p:nvGrpSpPr>
        <p:grpSpPr>
          <a:xfrm>
            <a:off x="1072811" y="691926"/>
            <a:ext cx="10841022" cy="461962"/>
            <a:chOff x="1072811" y="691926"/>
            <a:chExt cx="10841022" cy="461962"/>
          </a:xfrm>
        </p:grpSpPr>
        <p:sp>
          <p:nvSpPr>
            <p:cNvPr id="6" name="文本框 34"/>
            <p:cNvSpPr txBox="1">
              <a:spLocks noChangeArrowheads="1"/>
            </p:cNvSpPr>
            <p:nvPr/>
          </p:nvSpPr>
          <p:spPr bwMode="auto">
            <a:xfrm>
              <a:off x="1072811" y="691926"/>
              <a:ext cx="383286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zh-CN" altLang="en-US" sz="2400" b="1" dirty="0">
                  <a:latin typeface="微软雅黑" panose="020B0503020204020204" charset="-122"/>
                  <a:ea typeface="微软雅黑" panose="020B0503020204020204" charset="-122"/>
                </a:rPr>
                <a:t>另一种解决办法</a:t>
              </a:r>
              <a:endParaRPr lang="en-US" altLang="zh-CN" sz="2400" b="1" dirty="0">
                <a:latin typeface="微软雅黑" panose="020B0503020204020204" charset="-122"/>
                <a:ea typeface="微软雅黑" panose="020B0503020204020204" charset="-122"/>
              </a:endParaRPr>
            </a:p>
          </p:txBody>
        </p:sp>
        <p:cxnSp>
          <p:nvCxnSpPr>
            <p:cNvPr id="7" name="直接连接符 6"/>
            <p:cNvCxnSpPr/>
            <p:nvPr/>
          </p:nvCxnSpPr>
          <p:spPr>
            <a:xfrm>
              <a:off x="1072811" y="1153888"/>
              <a:ext cx="10841022"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8" name="矩形 27"/>
          <p:cNvSpPr>
            <a:spLocks noChangeArrowheads="1"/>
          </p:cNvSpPr>
          <p:nvPr/>
        </p:nvSpPr>
        <p:spPr bwMode="auto">
          <a:xfrm>
            <a:off x="635635" y="1344295"/>
            <a:ext cx="10387965" cy="9264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o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nSpc>
                <a:spcPct val="150000"/>
              </a:lnSpc>
              <a:spcBef>
                <a:spcPct val="0"/>
              </a:spcBef>
              <a:buFontTx/>
              <a:buNone/>
              <a:defRPr/>
            </a:pPr>
            <a:r>
              <a:rPr lang="zh-CN" altLang="en-US" sz="1800">
                <a:solidFill>
                  <a:srgbClr val="005BBB"/>
                </a:solidFill>
              </a:rPr>
              <a:t>■</a:t>
            </a:r>
            <a:r>
              <a:rPr lang="zh-CN" altLang="en-US" sz="1700" b="1" dirty="0">
                <a:latin typeface="微软雅黑" panose="020B0503020204020204" charset="-122"/>
                <a:ea typeface="微软雅黑" panose="020B0503020204020204" charset="-122"/>
                <a:cs typeface="Times New Roman" panose="02020603050405020304" pitchFamily="18" charset="0"/>
              </a:rPr>
              <a:t> </a:t>
            </a:r>
            <a:r>
              <a:rPr sz="1700" b="1" dirty="0">
                <a:latin typeface="微软雅黑" panose="020B0503020204020204" charset="-122"/>
                <a:ea typeface="微软雅黑" panose="020B0503020204020204" charset="-122"/>
                <a:cs typeface="Times New Roman" panose="02020603050405020304" pitchFamily="18" charset="0"/>
              </a:rPr>
              <a:t> </a:t>
            </a:r>
            <a:r>
              <a:rPr lang="zh-CN" sz="1700" b="1" dirty="0">
                <a:latin typeface="微软雅黑" panose="020B0503020204020204" charset="-122"/>
                <a:ea typeface="微软雅黑" panose="020B0503020204020204" charset="-122"/>
                <a:cs typeface="Times New Roman" panose="02020603050405020304" pitchFamily="18" charset="0"/>
              </a:rPr>
              <a:t>考虑从消抖源层面解决</a:t>
            </a:r>
            <a:endParaRPr lang="zh-CN" sz="1700" b="1" dirty="0">
              <a:latin typeface="微软雅黑" panose="020B0503020204020204" charset="-122"/>
              <a:ea typeface="微软雅黑" panose="020B0503020204020204" charset="-122"/>
              <a:cs typeface="Times New Roman" panose="02020603050405020304" pitchFamily="18" charset="0"/>
            </a:endParaRPr>
          </a:p>
          <a:p>
            <a:pPr>
              <a:lnSpc>
                <a:spcPct val="150000"/>
              </a:lnSpc>
              <a:spcBef>
                <a:spcPct val="0"/>
              </a:spcBef>
              <a:buFontTx/>
              <a:buNone/>
              <a:defRPr/>
            </a:pPr>
            <a:r>
              <a:rPr sz="1700" b="1" dirty="0">
                <a:latin typeface="微软雅黑" panose="020B0503020204020204" charset="-122"/>
                <a:ea typeface="微软雅黑" panose="020B0503020204020204" charset="-122"/>
                <a:cs typeface="Times New Roman" panose="02020603050405020304" pitchFamily="18" charset="0"/>
              </a:rPr>
              <a:t>更改源代码第11行always @(posedge clk) 为</a:t>
            </a:r>
            <a:r>
              <a:rPr sz="1700" b="1" dirty="0">
                <a:solidFill>
                  <a:srgbClr val="FF0000"/>
                </a:solidFill>
                <a:latin typeface="微软雅黑" panose="020B0503020204020204" charset="-122"/>
                <a:ea typeface="微软雅黑" panose="020B0503020204020204" charset="-122"/>
                <a:cs typeface="Times New Roman" panose="02020603050405020304" pitchFamily="18" charset="0"/>
              </a:rPr>
              <a:t>always @(posedge clk or posedge reset)</a:t>
            </a:r>
            <a:endParaRPr sz="1700" b="1" dirty="0">
              <a:solidFill>
                <a:srgbClr val="FF0000"/>
              </a:solidFill>
              <a:latin typeface="微软雅黑" panose="020B0503020204020204" charset="-122"/>
              <a:ea typeface="微软雅黑" panose="020B0503020204020204" charset="-122"/>
              <a:cs typeface="Times New Roman" panose="02020603050405020304" pitchFamily="18" charset="0"/>
            </a:endParaRPr>
          </a:p>
        </p:txBody>
      </p:sp>
      <p:sp>
        <p:nvSpPr>
          <p:cNvPr id="12" name="文本框 11"/>
          <p:cNvSpPr txBox="1"/>
          <p:nvPr/>
        </p:nvSpPr>
        <p:spPr>
          <a:xfrm>
            <a:off x="4386580" y="5701030"/>
            <a:ext cx="7052310" cy="508635"/>
          </a:xfrm>
          <a:prstGeom prst="rect">
            <a:avLst/>
          </a:prstGeom>
          <a:noFill/>
        </p:spPr>
        <p:txBody>
          <a:bodyPr wrap="square" rtlCol="0">
            <a:noAutofit/>
          </a:bodyPr>
          <a:p>
            <a:endParaRPr lang="zh-CN" altLang="en-US" sz="1600" b="1">
              <a:latin typeface="微软雅黑" panose="020B0503020204020204" charset="-122"/>
              <a:ea typeface="微软雅黑" panose="020B0503020204020204" charset="-122"/>
              <a:cs typeface="微软雅黑" panose="020B0503020204020204" charset="-122"/>
            </a:endParaRPr>
          </a:p>
        </p:txBody>
      </p:sp>
      <p:pic>
        <p:nvPicPr>
          <p:cNvPr id="2" name="图片 1" descr="10a3a92460fa58d2c073870e4b99dcfe"/>
          <p:cNvPicPr>
            <a:picLocks noChangeAspect="1"/>
          </p:cNvPicPr>
          <p:nvPr/>
        </p:nvPicPr>
        <p:blipFill>
          <a:blip r:embed="rId1"/>
          <a:stretch>
            <a:fillRect/>
          </a:stretch>
        </p:blipFill>
        <p:spPr>
          <a:xfrm>
            <a:off x="635635" y="2315210"/>
            <a:ext cx="3404870" cy="4140835"/>
          </a:xfrm>
          <a:prstGeom prst="rect">
            <a:avLst/>
          </a:prstGeom>
        </p:spPr>
      </p:pic>
      <p:sp>
        <p:nvSpPr>
          <p:cNvPr id="11" name="文本框 10"/>
          <p:cNvSpPr txBox="1"/>
          <p:nvPr/>
        </p:nvSpPr>
        <p:spPr>
          <a:xfrm>
            <a:off x="4750435" y="2315210"/>
            <a:ext cx="5567680" cy="1169035"/>
          </a:xfrm>
          <a:prstGeom prst="rect">
            <a:avLst/>
          </a:prstGeom>
          <a:noFill/>
        </p:spPr>
        <p:txBody>
          <a:bodyPr wrap="square" rtlCol="0">
            <a:noAutofit/>
          </a:bodyPr>
          <a:p>
            <a:r>
              <a:rPr lang="zh-CN" altLang="en-US">
                <a:solidFill>
                  <a:srgbClr val="005BBB"/>
                </a:solidFill>
                <a:sym typeface="+mn-ea"/>
              </a:rPr>
              <a:t>■</a:t>
            </a:r>
            <a:r>
              <a:rPr lang="en-US" altLang="zh-CN">
                <a:solidFill>
                  <a:srgbClr val="005BBB"/>
                </a:solidFill>
                <a:sym typeface="+mn-ea"/>
              </a:rPr>
              <a:t> </a:t>
            </a:r>
            <a:r>
              <a:rPr lang="zh-CN" altLang="en-US" b="1">
                <a:latin typeface="微软雅黑" panose="020B0503020204020204" charset="-122"/>
                <a:ea typeface="微软雅黑" panose="020B0503020204020204" charset="-122"/>
                <a:cs typeface="微软雅黑" panose="020B0503020204020204" charset="-122"/>
              </a:rPr>
              <a:t>提问，当置源代码第5行</a:t>
            </a:r>
            <a:r>
              <a:rPr lang="zh-CN" altLang="en-US" b="1">
                <a:solidFill>
                  <a:srgbClr val="FF0000"/>
                </a:solidFill>
                <a:latin typeface="微软雅黑" panose="020B0503020204020204" charset="-122"/>
                <a:ea typeface="微软雅黑" panose="020B0503020204020204" charset="-122"/>
                <a:cs typeface="微软雅黑" panose="020B0503020204020204" charset="-122"/>
              </a:rPr>
              <a:t>parameter NDELAY = 3</a:t>
            </a:r>
            <a:r>
              <a:rPr lang="zh-CN" altLang="en-US" b="1">
                <a:latin typeface="微软雅黑" panose="020B0503020204020204" charset="-122"/>
                <a:ea typeface="微软雅黑" panose="020B0503020204020204" charset="-122"/>
                <a:cs typeface="微软雅黑" panose="020B0503020204020204" charset="-122"/>
              </a:rPr>
              <a:t>时；如下波形应该产生什么结果？从消抖功能的角度，他应该产生什么样的结果？</a:t>
            </a:r>
            <a:endParaRPr lang="zh-CN" altLang="en-US" b="1">
              <a:latin typeface="微软雅黑" panose="020B0503020204020204" charset="-122"/>
              <a:ea typeface="微软雅黑" panose="020B0503020204020204" charset="-122"/>
              <a:cs typeface="微软雅黑" panose="020B0503020204020204" charset="-122"/>
            </a:endParaRPr>
          </a:p>
        </p:txBody>
      </p:sp>
      <p:pic>
        <p:nvPicPr>
          <p:cNvPr id="13" name="图片 8" descr="b1ba0180f4a7b7cace3d248c202b320c"/>
          <p:cNvPicPr>
            <a:picLocks noChangeAspect="1"/>
          </p:cNvPicPr>
          <p:nvPr/>
        </p:nvPicPr>
        <p:blipFill>
          <a:blip r:embed="rId2"/>
          <a:stretch>
            <a:fillRect/>
          </a:stretch>
        </p:blipFill>
        <p:spPr>
          <a:xfrm>
            <a:off x="4335145" y="3622040"/>
            <a:ext cx="7571105" cy="1206500"/>
          </a:xfrm>
          <a:prstGeom prst="rect">
            <a:avLst/>
          </a:prstGeom>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12" grpId="1"/>
      <p:bldP spid="11" grpId="0"/>
      <p:bldP spid="11" grpId="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组合 4"/>
          <p:cNvGrpSpPr/>
          <p:nvPr/>
        </p:nvGrpSpPr>
        <p:grpSpPr>
          <a:xfrm>
            <a:off x="1072811" y="691926"/>
            <a:ext cx="10841022" cy="461962"/>
            <a:chOff x="1072811" y="691926"/>
            <a:chExt cx="10841022" cy="461962"/>
          </a:xfrm>
        </p:grpSpPr>
        <p:sp>
          <p:nvSpPr>
            <p:cNvPr id="6" name="文本框 34"/>
            <p:cNvSpPr txBox="1">
              <a:spLocks noChangeArrowheads="1"/>
            </p:cNvSpPr>
            <p:nvPr/>
          </p:nvSpPr>
          <p:spPr bwMode="auto">
            <a:xfrm>
              <a:off x="1072811" y="691926"/>
              <a:ext cx="383286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zh-CN" altLang="en-US" sz="2400" b="1" dirty="0">
                  <a:latin typeface="微软雅黑" panose="020B0503020204020204" charset="-122"/>
                  <a:ea typeface="微软雅黑" panose="020B0503020204020204" charset="-122"/>
                </a:rPr>
                <a:t>另一种解决办法</a:t>
              </a:r>
              <a:endParaRPr lang="zh-CN" altLang="en-US" sz="2400" b="1" dirty="0">
                <a:latin typeface="微软雅黑" panose="020B0503020204020204" charset="-122"/>
                <a:ea typeface="微软雅黑" panose="020B0503020204020204" charset="-122"/>
              </a:endParaRPr>
            </a:p>
          </p:txBody>
        </p:sp>
        <p:cxnSp>
          <p:nvCxnSpPr>
            <p:cNvPr id="7" name="直接连接符 6"/>
            <p:cNvCxnSpPr/>
            <p:nvPr/>
          </p:nvCxnSpPr>
          <p:spPr>
            <a:xfrm>
              <a:off x="1072811" y="1153888"/>
              <a:ext cx="10841022"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8" name="矩形 27"/>
          <p:cNvSpPr>
            <a:spLocks noChangeArrowheads="1"/>
          </p:cNvSpPr>
          <p:nvPr/>
        </p:nvSpPr>
        <p:spPr bwMode="auto">
          <a:xfrm>
            <a:off x="1072515" y="1299210"/>
            <a:ext cx="5201285" cy="9220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nSpc>
                <a:spcPct val="150000"/>
              </a:lnSpc>
              <a:spcBef>
                <a:spcPct val="0"/>
              </a:spcBef>
              <a:buFontTx/>
              <a:buNone/>
              <a:defRPr/>
            </a:pPr>
            <a:r>
              <a:rPr lang="zh-CN" altLang="en-US" sz="1600">
                <a:solidFill>
                  <a:srgbClr val="005BBB"/>
                </a:solidFill>
              </a:rPr>
              <a:t>■</a:t>
            </a:r>
            <a:r>
              <a:rPr lang="zh-CN" altLang="en-US" sz="1800" b="1">
                <a:solidFill>
                  <a:schemeClr val="tx1"/>
                </a:solidFill>
                <a:latin typeface="微软雅黑" panose="020B0503020204020204" charset="-122"/>
                <a:ea typeface="微软雅黑" panose="020B0503020204020204" charset="-122"/>
              </a:rPr>
              <a:t>答案</a:t>
            </a:r>
            <a:endParaRPr lang="zh-CN" altLang="en-US" sz="1600">
              <a:solidFill>
                <a:srgbClr val="005BBB"/>
              </a:solidFill>
            </a:endParaRPr>
          </a:p>
          <a:p>
            <a:pPr>
              <a:lnSpc>
                <a:spcPct val="150000"/>
              </a:lnSpc>
              <a:spcBef>
                <a:spcPct val="0"/>
              </a:spcBef>
              <a:buFontTx/>
              <a:buNone/>
              <a:defRPr/>
            </a:pPr>
            <a:endParaRPr lang="zh-CN" altLang="en-US" sz="1800" b="1" dirty="0">
              <a:solidFill>
                <a:schemeClr val="tx1">
                  <a:lumMod val="65000"/>
                  <a:lumOff val="35000"/>
                </a:schemeClr>
              </a:solidFill>
              <a:latin typeface="微软雅黑" panose="020B0503020204020204" charset="-122"/>
              <a:ea typeface="微软雅黑" panose="020B0503020204020204" charset="-122"/>
              <a:cs typeface="Times New Roman" panose="02020603050405020304" pitchFamily="18" charset="0"/>
            </a:endParaRPr>
          </a:p>
        </p:txBody>
      </p:sp>
      <p:pic>
        <p:nvPicPr>
          <p:cNvPr id="2" name="图片 6" descr="6ac7ad86ebbd1f5ba42f4ffae66e4503"/>
          <p:cNvPicPr>
            <a:picLocks noChangeAspect="1"/>
          </p:cNvPicPr>
          <p:nvPr/>
        </p:nvPicPr>
        <p:blipFill>
          <a:blip r:embed="rId1"/>
          <a:stretch>
            <a:fillRect/>
          </a:stretch>
        </p:blipFill>
        <p:spPr>
          <a:xfrm>
            <a:off x="1072515" y="1816100"/>
            <a:ext cx="8156575" cy="4418330"/>
          </a:xfrm>
          <a:prstGeom prst="rect">
            <a:avLst/>
          </a:prstGeom>
        </p:spPr>
      </p:pic>
      <p:sp>
        <p:nvSpPr>
          <p:cNvPr id="4" name="文本框 3"/>
          <p:cNvSpPr txBox="1"/>
          <p:nvPr/>
        </p:nvSpPr>
        <p:spPr>
          <a:xfrm>
            <a:off x="9331325" y="1816100"/>
            <a:ext cx="2537460" cy="815975"/>
          </a:xfrm>
          <a:prstGeom prst="rect">
            <a:avLst/>
          </a:prstGeom>
          <a:noFill/>
        </p:spPr>
        <p:txBody>
          <a:bodyPr wrap="square" rtlCol="0">
            <a:noAutofit/>
          </a:bodyPr>
          <a:p>
            <a:r>
              <a:rPr lang="zh-CN" altLang="en-US" b="1">
                <a:latin typeface="微软雅黑" panose="020B0503020204020204" charset="-122"/>
                <a:ea typeface="微软雅黑" panose="020B0503020204020204" charset="-122"/>
              </a:rPr>
              <a:t>为什么？为什么未实现消抖功能？</a:t>
            </a:r>
            <a:endParaRPr lang="zh-CN" altLang="en-US" b="1">
              <a:latin typeface="微软雅黑" panose="020B0503020204020204" charset="-122"/>
              <a:ea typeface="微软雅黑" panose="020B0503020204020204" charset="-122"/>
            </a:endParaRPr>
          </a:p>
        </p:txBody>
      </p:sp>
      <p:sp>
        <p:nvSpPr>
          <p:cNvPr id="9" name="文本框 8"/>
          <p:cNvSpPr txBox="1"/>
          <p:nvPr/>
        </p:nvSpPr>
        <p:spPr>
          <a:xfrm>
            <a:off x="9331325" y="2860675"/>
            <a:ext cx="2418080" cy="1526540"/>
          </a:xfrm>
          <a:prstGeom prst="rect">
            <a:avLst/>
          </a:prstGeom>
          <a:noFill/>
        </p:spPr>
        <p:txBody>
          <a:bodyPr wrap="square" rtlCol="0">
            <a:noAutofit/>
          </a:bodyPr>
          <a:p>
            <a:r>
              <a:rPr lang="zh-CN" altLang="en-US" b="1">
                <a:latin typeface="微软雅黑" panose="020B0503020204020204" charset="-122"/>
                <a:ea typeface="微软雅黑" panose="020B0503020204020204" charset="-122"/>
              </a:rPr>
              <a:t>我们决定通过电路图的分析来找出问题所在，并尝试进行解决</a:t>
            </a:r>
            <a:r>
              <a:rPr lang="zh-CN" altLang="en-US"/>
              <a:t>。</a:t>
            </a:r>
            <a:endParaRPr lang="zh-CN" alt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p:transition spd="slow">
        <p:fade/>
      </p:transition>
    </mc:Fallback>
  </mc:AlternateContent>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 name="组合 9"/>
          <p:cNvGrpSpPr/>
          <p:nvPr/>
        </p:nvGrpSpPr>
        <p:grpSpPr>
          <a:xfrm>
            <a:off x="1072811" y="691926"/>
            <a:ext cx="10841022" cy="461962"/>
            <a:chOff x="1072811" y="691926"/>
            <a:chExt cx="10841022" cy="461962"/>
          </a:xfrm>
        </p:grpSpPr>
        <p:sp>
          <p:nvSpPr>
            <p:cNvPr id="11" name="文本框 34"/>
            <p:cNvSpPr txBox="1">
              <a:spLocks noChangeArrowheads="1"/>
            </p:cNvSpPr>
            <p:nvPr/>
          </p:nvSpPr>
          <p:spPr bwMode="auto">
            <a:xfrm>
              <a:off x="1072811" y="691926"/>
              <a:ext cx="208915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zh-CN" altLang="en-US" sz="2400" b="1" dirty="0">
                  <a:latin typeface="微软雅黑" panose="020B0503020204020204" charset="-122"/>
                  <a:ea typeface="微软雅黑" panose="020B0503020204020204" charset="-122"/>
                  <a:sym typeface="+mn-ea"/>
                </a:rPr>
                <a:t>电路图分析</a:t>
              </a:r>
              <a:endParaRPr lang="zh-CN" altLang="en-US" sz="2400" b="1" dirty="0">
                <a:latin typeface="微软雅黑" panose="020B0503020204020204" charset="-122"/>
                <a:ea typeface="微软雅黑" panose="020B0503020204020204" charset="-122"/>
                <a:sym typeface="+mn-ea"/>
              </a:endParaRPr>
            </a:p>
          </p:txBody>
        </p:sp>
        <p:cxnSp>
          <p:nvCxnSpPr>
            <p:cNvPr id="14" name="直接连接符 13"/>
            <p:cNvCxnSpPr/>
            <p:nvPr/>
          </p:nvCxnSpPr>
          <p:spPr>
            <a:xfrm>
              <a:off x="1072811" y="1153888"/>
              <a:ext cx="10841022"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21" name="矩形 47"/>
          <p:cNvSpPr>
            <a:spLocks noChangeArrowheads="1"/>
          </p:cNvSpPr>
          <p:nvPr/>
        </p:nvSpPr>
        <p:spPr bwMode="auto">
          <a:xfrm>
            <a:off x="1170465" y="2482474"/>
            <a:ext cx="4725262" cy="5067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nSpc>
                <a:spcPct val="150000"/>
              </a:lnSpc>
              <a:spcBef>
                <a:spcPct val="0"/>
              </a:spcBef>
              <a:buFontTx/>
              <a:buNone/>
              <a:defRPr/>
            </a:pPr>
            <a:r>
              <a:rPr lang="zh-CN" altLang="en-US" sz="1800" b="1" dirty="0">
                <a:latin typeface="微软雅黑" panose="020B0503020204020204" charset="-122"/>
                <a:ea typeface="微软雅黑" panose="020B0503020204020204" charset="-122"/>
                <a:cs typeface="Times New Roman" panose="02020603050405020304" pitchFamily="18" charset="0"/>
              </a:rPr>
              <a:t> </a:t>
            </a:r>
            <a:endParaRPr lang="zh-CN" altLang="en-US" sz="1800" b="1" dirty="0">
              <a:latin typeface="微软雅黑" panose="020B0503020204020204" charset="-122"/>
              <a:ea typeface="微软雅黑" panose="020B0503020204020204" charset="-122"/>
              <a:cs typeface="Times New Roman" panose="02020603050405020304" pitchFamily="18" charset="0"/>
            </a:endParaRPr>
          </a:p>
        </p:txBody>
      </p:sp>
      <p:pic>
        <p:nvPicPr>
          <p:cNvPr id="2" name="图片 1"/>
          <p:cNvPicPr>
            <a:picLocks noChangeAspect="1"/>
          </p:cNvPicPr>
          <p:nvPr/>
        </p:nvPicPr>
        <p:blipFill>
          <a:blip r:embed="rId1"/>
          <a:stretch>
            <a:fillRect/>
          </a:stretch>
        </p:blipFill>
        <p:spPr>
          <a:xfrm rot="16200000">
            <a:off x="2522220" y="-187960"/>
            <a:ext cx="2313305" cy="5212080"/>
          </a:xfrm>
          <a:prstGeom prst="rect">
            <a:avLst/>
          </a:prstGeom>
        </p:spPr>
      </p:pic>
      <p:sp>
        <p:nvSpPr>
          <p:cNvPr id="3" name="文本框 2"/>
          <p:cNvSpPr txBox="1"/>
          <p:nvPr/>
        </p:nvSpPr>
        <p:spPr>
          <a:xfrm>
            <a:off x="3530600" y="3606800"/>
            <a:ext cx="297180" cy="368300"/>
          </a:xfrm>
          <a:prstGeom prst="rect">
            <a:avLst/>
          </a:prstGeom>
          <a:noFill/>
        </p:spPr>
        <p:txBody>
          <a:bodyPr wrap="none" rtlCol="0" anchor="t">
            <a:spAutoFit/>
          </a:bodyPr>
          <a:p>
            <a:r>
              <a:rPr lang="zh-CN" altLang="en-US">
                <a:latin typeface="Arial" panose="020B0604020202020204" pitchFamily="34" charset="0"/>
                <a:cs typeface="Arial" panose="020B0604020202020204" pitchFamily="34" charset="0"/>
              </a:rPr>
              <a:t>↓</a:t>
            </a:r>
            <a:endParaRPr lang="zh-CN" altLang="en-US">
              <a:latin typeface="Arial" panose="020B0604020202020204" pitchFamily="34" charset="0"/>
              <a:cs typeface="Arial" panose="020B0604020202020204" pitchFamily="34" charset="0"/>
            </a:endParaRPr>
          </a:p>
        </p:txBody>
      </p:sp>
      <p:pic>
        <p:nvPicPr>
          <p:cNvPr id="4" name="图片 3"/>
          <p:cNvPicPr>
            <a:picLocks noChangeAspect="1"/>
          </p:cNvPicPr>
          <p:nvPr/>
        </p:nvPicPr>
        <p:blipFill>
          <a:blip r:embed="rId2"/>
          <a:stretch>
            <a:fillRect/>
          </a:stretch>
        </p:blipFill>
        <p:spPr>
          <a:xfrm rot="16200000">
            <a:off x="2498090" y="2580640"/>
            <a:ext cx="2360295" cy="5212080"/>
          </a:xfrm>
          <a:prstGeom prst="rect">
            <a:avLst/>
          </a:prstGeom>
        </p:spPr>
      </p:pic>
      <p:sp>
        <p:nvSpPr>
          <p:cNvPr id="5" name="文本框 4"/>
          <p:cNvSpPr txBox="1"/>
          <p:nvPr/>
        </p:nvSpPr>
        <p:spPr>
          <a:xfrm>
            <a:off x="7212965" y="1261745"/>
            <a:ext cx="4064000" cy="645160"/>
          </a:xfrm>
          <a:prstGeom prst="rect">
            <a:avLst/>
          </a:prstGeom>
          <a:noFill/>
        </p:spPr>
        <p:txBody>
          <a:bodyPr wrap="square" rtlCol="0">
            <a:spAutoFit/>
          </a:bodyPr>
          <a:p>
            <a:r>
              <a:rPr lang="zh-CN" altLang="en-US">
                <a:solidFill>
                  <a:srgbClr val="005BBB"/>
                </a:solidFill>
                <a:sym typeface="+mn-ea"/>
              </a:rPr>
              <a:t>■</a:t>
            </a:r>
            <a:r>
              <a:rPr lang="en-US" altLang="zh-CN">
                <a:solidFill>
                  <a:srgbClr val="005BBB"/>
                </a:solidFill>
                <a:sym typeface="+mn-ea"/>
              </a:rPr>
              <a:t> </a:t>
            </a:r>
            <a:r>
              <a:rPr lang="zh-CN" altLang="en-US" b="1">
                <a:latin typeface="微软雅黑" panose="020B0503020204020204" charset="-122"/>
                <a:ea typeface="微软雅黑" panose="020B0503020204020204" charset="-122"/>
                <a:cs typeface="微软雅黑" panose="020B0503020204020204" charset="-122"/>
              </a:rPr>
              <a:t>即更改源代码第15行 clean &lt;= noisy为 clean &lt;= 0</a:t>
            </a:r>
            <a:endParaRPr lang="zh-CN" altLang="en-US" b="1">
              <a:latin typeface="微软雅黑" panose="020B0503020204020204" charset="-122"/>
              <a:ea typeface="微软雅黑" panose="020B0503020204020204" charset="-122"/>
              <a:cs typeface="微软雅黑" panose="020B0503020204020204" charset="-122"/>
            </a:endParaRPr>
          </a:p>
        </p:txBody>
      </p:sp>
      <p:pic>
        <p:nvPicPr>
          <p:cNvPr id="6" name="图片 1" descr="10a3a92460fa58d2c073870e4b99dcfe"/>
          <p:cNvPicPr>
            <a:picLocks noChangeAspect="1"/>
          </p:cNvPicPr>
          <p:nvPr/>
        </p:nvPicPr>
        <p:blipFill>
          <a:blip r:embed="rId3"/>
          <a:stretch>
            <a:fillRect/>
          </a:stretch>
        </p:blipFill>
        <p:spPr>
          <a:xfrm>
            <a:off x="7305675" y="1928495"/>
            <a:ext cx="3591560" cy="4368165"/>
          </a:xfrm>
          <a:prstGeom prst="rect">
            <a:avLst/>
          </a:prstGeom>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5" grpId="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6" name="组合 15"/>
          <p:cNvGrpSpPr/>
          <p:nvPr/>
        </p:nvGrpSpPr>
        <p:grpSpPr>
          <a:xfrm>
            <a:off x="1072811" y="691926"/>
            <a:ext cx="10841022" cy="461962"/>
            <a:chOff x="1072811" y="691926"/>
            <a:chExt cx="10841022" cy="461962"/>
          </a:xfrm>
        </p:grpSpPr>
        <p:sp>
          <p:nvSpPr>
            <p:cNvPr id="18" name="文本框 34"/>
            <p:cNvSpPr txBox="1">
              <a:spLocks noChangeArrowheads="1"/>
            </p:cNvSpPr>
            <p:nvPr/>
          </p:nvSpPr>
          <p:spPr bwMode="auto">
            <a:xfrm>
              <a:off x="1072811" y="691926"/>
              <a:ext cx="253492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zh-CN" altLang="en-US" sz="2400" b="1" dirty="0">
                  <a:latin typeface="微软雅黑" panose="020B0503020204020204" charset="-122"/>
                  <a:ea typeface="微软雅黑" panose="020B0503020204020204" charset="-122"/>
                </a:rPr>
                <a:t>结果分析</a:t>
              </a:r>
              <a:endParaRPr lang="zh-CN" altLang="en-US" sz="2400" b="1" dirty="0">
                <a:latin typeface="微软雅黑" panose="020B0503020204020204" charset="-122"/>
                <a:ea typeface="微软雅黑" panose="020B0503020204020204" charset="-122"/>
              </a:endParaRPr>
            </a:p>
          </p:txBody>
        </p:sp>
        <p:cxnSp>
          <p:nvCxnSpPr>
            <p:cNvPr id="19" name="直接连接符 18"/>
            <p:cNvCxnSpPr/>
            <p:nvPr/>
          </p:nvCxnSpPr>
          <p:spPr>
            <a:xfrm>
              <a:off x="1072811" y="1153888"/>
              <a:ext cx="10841022"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grpSp>
      <p:pic>
        <p:nvPicPr>
          <p:cNvPr id="10" name="图片 10" descr="7a571b7c7b6045a4e1174637a819f663"/>
          <p:cNvPicPr>
            <a:picLocks noChangeAspect="1"/>
          </p:cNvPicPr>
          <p:nvPr/>
        </p:nvPicPr>
        <p:blipFill>
          <a:blip r:embed="rId1"/>
          <a:stretch>
            <a:fillRect/>
          </a:stretch>
        </p:blipFill>
        <p:spPr>
          <a:xfrm>
            <a:off x="1072515" y="1213485"/>
            <a:ext cx="5022850" cy="2720975"/>
          </a:xfrm>
          <a:prstGeom prst="rect">
            <a:avLst/>
          </a:prstGeom>
        </p:spPr>
      </p:pic>
      <p:pic>
        <p:nvPicPr>
          <p:cNvPr id="11" name="图片 11" descr="7feac0c1d96a37be125c822ef3ca3734"/>
          <p:cNvPicPr>
            <a:picLocks noChangeAspect="1"/>
          </p:cNvPicPr>
          <p:nvPr/>
        </p:nvPicPr>
        <p:blipFill>
          <a:blip r:embed="rId2"/>
          <a:stretch>
            <a:fillRect/>
          </a:stretch>
        </p:blipFill>
        <p:spPr>
          <a:xfrm>
            <a:off x="1072515" y="3994150"/>
            <a:ext cx="5022215" cy="2720340"/>
          </a:xfrm>
          <a:prstGeom prst="rect">
            <a:avLst/>
          </a:prstGeom>
        </p:spPr>
      </p:pic>
      <p:sp>
        <p:nvSpPr>
          <p:cNvPr id="6" name="文本框 5"/>
          <p:cNvSpPr txBox="1"/>
          <p:nvPr/>
        </p:nvSpPr>
        <p:spPr>
          <a:xfrm>
            <a:off x="6572250" y="1213485"/>
            <a:ext cx="4064000" cy="368300"/>
          </a:xfrm>
          <a:prstGeom prst="rect">
            <a:avLst/>
          </a:prstGeom>
          <a:noFill/>
        </p:spPr>
        <p:txBody>
          <a:bodyPr wrap="square" rtlCol="0">
            <a:spAutoFit/>
          </a:bodyPr>
          <a:p>
            <a:r>
              <a:rPr lang="zh-CN" altLang="en-US" b="1">
                <a:latin typeface="微软雅黑" panose="020B0503020204020204" charset="-122"/>
                <a:ea typeface="微软雅黑" panose="020B0503020204020204" charset="-122"/>
              </a:rPr>
              <a:t>消抖成功，且不影响正常状态工作</a:t>
            </a:r>
            <a:endParaRPr lang="zh-CN" altLang="en-US" b="1">
              <a:latin typeface="微软雅黑" panose="020B0503020204020204" charset="-122"/>
              <a:ea typeface="微软雅黑" panose="020B0503020204020204" charset="-122"/>
            </a:endParaRPr>
          </a:p>
        </p:txBody>
      </p:sp>
      <p:sp>
        <p:nvSpPr>
          <p:cNvPr id="7" name="文本框 6"/>
          <p:cNvSpPr txBox="1"/>
          <p:nvPr/>
        </p:nvSpPr>
        <p:spPr>
          <a:xfrm>
            <a:off x="6668770" y="1641475"/>
            <a:ext cx="4116070" cy="1675130"/>
          </a:xfrm>
          <a:prstGeom prst="rect">
            <a:avLst/>
          </a:prstGeom>
          <a:noFill/>
        </p:spPr>
        <p:txBody>
          <a:bodyPr wrap="square" rtlCol="0">
            <a:noAutofit/>
          </a:bodyPr>
          <a:p>
            <a:r>
              <a:rPr lang="zh-CN" altLang="en-US">
                <a:solidFill>
                  <a:srgbClr val="005BBB"/>
                </a:solidFill>
                <a:sym typeface="+mn-ea"/>
              </a:rPr>
              <a:t>■</a:t>
            </a:r>
            <a:r>
              <a:rPr lang="zh-CN" altLang="en-US" b="1">
                <a:solidFill>
                  <a:schemeClr val="tx1"/>
                </a:solidFill>
                <a:latin typeface="微软雅黑" panose="020B0503020204020204" charset="-122"/>
                <a:ea typeface="微软雅黑" panose="020B0503020204020204" charset="-122"/>
                <a:cs typeface="微软雅黑" panose="020B0503020204020204" charset="-122"/>
                <a:sym typeface="+mn-ea"/>
              </a:rPr>
              <a:t>提问</a:t>
            </a:r>
            <a:endParaRPr lang="zh-CN" altLang="en-US" b="1">
              <a:solidFill>
                <a:schemeClr val="tx1"/>
              </a:solidFill>
              <a:latin typeface="微软雅黑" panose="020B0503020204020204" charset="-122"/>
              <a:ea typeface="微软雅黑" panose="020B0503020204020204" charset="-122"/>
              <a:cs typeface="微软雅黑" panose="020B0503020204020204" charset="-122"/>
              <a:sym typeface="+mn-ea"/>
            </a:endParaRPr>
          </a:p>
          <a:p>
            <a:r>
              <a:rPr lang="zh-CN" altLang="en-US" b="1">
                <a:solidFill>
                  <a:schemeClr val="tx1"/>
                </a:solidFill>
                <a:latin typeface="微软雅黑" panose="020B0503020204020204" charset="-122"/>
                <a:ea typeface="微软雅黑" panose="020B0503020204020204" charset="-122"/>
                <a:cs typeface="微软雅黑" panose="020B0503020204020204" charset="-122"/>
                <a:sym typeface="+mn-ea"/>
              </a:rPr>
              <a:t>如之前所说，在我们编写lab4的过程中大部分人并没有做上述两个更改，却也能得到正确的实验结果。包括助教老师也认为lab4 deboounce代码可以直接使用，为什么？</a:t>
            </a:r>
            <a:endParaRPr lang="zh-CN" altLang="en-US" b="1">
              <a:solidFill>
                <a:schemeClr val="tx1"/>
              </a:solidFill>
              <a:latin typeface="微软雅黑" panose="020B0503020204020204" charset="-122"/>
              <a:ea typeface="微软雅黑" panose="020B0503020204020204" charset="-122"/>
              <a:cs typeface="微软雅黑" panose="020B0503020204020204" charset="-122"/>
              <a:sym typeface="+mn-ea"/>
            </a:endParaRPr>
          </a:p>
          <a:p>
            <a:endParaRPr lang="zh-CN" altLang="en-US"/>
          </a:p>
        </p:txBody>
      </p:sp>
      <p:sp>
        <p:nvSpPr>
          <p:cNvPr id="9" name="文本框 8"/>
          <p:cNvSpPr txBox="1"/>
          <p:nvPr/>
        </p:nvSpPr>
        <p:spPr>
          <a:xfrm>
            <a:off x="6668770" y="3934460"/>
            <a:ext cx="4064000" cy="2740025"/>
          </a:xfrm>
          <a:prstGeom prst="rect">
            <a:avLst/>
          </a:prstGeom>
          <a:noFill/>
        </p:spPr>
        <p:txBody>
          <a:bodyPr wrap="square" rtlCol="0">
            <a:noAutofit/>
          </a:bodyPr>
          <a:p>
            <a:r>
              <a:rPr lang="zh-CN" altLang="en-US">
                <a:solidFill>
                  <a:srgbClr val="005BBB"/>
                </a:solidFill>
                <a:sym typeface="+mn-ea"/>
              </a:rPr>
              <a:t>■</a:t>
            </a:r>
            <a:r>
              <a:rPr lang="zh-CN" altLang="en-US" b="1">
                <a:solidFill>
                  <a:schemeClr val="tx1"/>
                </a:solidFill>
                <a:latin typeface="微软雅黑" panose="020B0503020204020204" charset="-122"/>
                <a:ea typeface="微软雅黑" panose="020B0503020204020204" charset="-122"/>
                <a:sym typeface="+mn-ea"/>
              </a:rPr>
              <a:t>答案</a:t>
            </a:r>
            <a:endParaRPr lang="zh-CN" altLang="en-US">
              <a:solidFill>
                <a:srgbClr val="005BBB"/>
              </a:solidFill>
              <a:sym typeface="+mn-ea"/>
            </a:endParaRPr>
          </a:p>
          <a:p>
            <a:r>
              <a:rPr lang="en-US" altLang="zh-CN" b="1">
                <a:latin typeface="微软雅黑" panose="020B0503020204020204" charset="-122"/>
                <a:ea typeface="微软雅黑" panose="020B0503020204020204" charset="-122"/>
                <a:cs typeface="微软雅黑" panose="020B0503020204020204" charset="-122"/>
              </a:rPr>
              <a:t>1</a:t>
            </a:r>
            <a:r>
              <a:rPr lang="zh-CN" altLang="en-US" b="1">
                <a:latin typeface="微软雅黑" panose="020B0503020204020204" charset="-122"/>
                <a:ea typeface="微软雅黑" panose="020B0503020204020204" charset="-122"/>
                <a:cs typeface="微软雅黑" panose="020B0503020204020204" charset="-122"/>
              </a:rPr>
              <a:t>，正常实验中reset时间绝对够长，能包括时钟上升沿</a:t>
            </a:r>
            <a:endParaRPr lang="zh-CN" altLang="en-US" b="1">
              <a:latin typeface="微软雅黑" panose="020B0503020204020204" charset="-122"/>
              <a:ea typeface="微软雅黑" panose="020B0503020204020204" charset="-122"/>
              <a:cs typeface="微软雅黑" panose="020B0503020204020204" charset="-122"/>
            </a:endParaRPr>
          </a:p>
          <a:p>
            <a:r>
              <a:rPr lang="zh-CN" altLang="en-US" b="1">
                <a:latin typeface="微软雅黑" panose="020B0503020204020204" charset="-122"/>
                <a:ea typeface="微软雅黑" panose="020B0503020204020204" charset="-122"/>
                <a:cs typeface="微软雅黑" panose="020B0503020204020204" charset="-122"/>
              </a:rPr>
              <a:t>2、正常实验中较难出现第二种情况（reset和noisy同时为高电平，且低电平积累永远未达到有效值）</a:t>
            </a:r>
            <a:endParaRPr lang="zh-CN" altLang="en-US" b="1">
              <a:latin typeface="微软雅黑" panose="020B0503020204020204" charset="-122"/>
              <a:ea typeface="微软雅黑" panose="020B0503020204020204" charset="-122"/>
              <a:cs typeface="微软雅黑" panose="020B0503020204020204" charset="-122"/>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7" grpId="1"/>
      <p:bldP spid="9" grpId="0"/>
      <p:bldP spid="9" grpId="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6" name="组合 15"/>
          <p:cNvGrpSpPr/>
          <p:nvPr/>
        </p:nvGrpSpPr>
        <p:grpSpPr>
          <a:xfrm>
            <a:off x="1072811" y="691926"/>
            <a:ext cx="10841022" cy="461962"/>
            <a:chOff x="1072811" y="691926"/>
            <a:chExt cx="10841022" cy="461962"/>
          </a:xfrm>
        </p:grpSpPr>
        <p:sp>
          <p:nvSpPr>
            <p:cNvPr id="18" name="文本框 34"/>
            <p:cNvSpPr txBox="1">
              <a:spLocks noChangeArrowheads="1"/>
            </p:cNvSpPr>
            <p:nvPr/>
          </p:nvSpPr>
          <p:spPr bwMode="auto">
            <a:xfrm>
              <a:off x="1072811" y="691926"/>
              <a:ext cx="253492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zh-CN" altLang="en-US" sz="2400" b="1" dirty="0">
                  <a:latin typeface="微软雅黑" panose="020B0503020204020204" charset="-122"/>
                  <a:ea typeface="微软雅黑" panose="020B0503020204020204" charset="-122"/>
                </a:rPr>
                <a:t>问题总结</a:t>
              </a:r>
              <a:endParaRPr lang="zh-CN" altLang="en-US" sz="2400" b="1" dirty="0">
                <a:latin typeface="微软雅黑" panose="020B0503020204020204" charset="-122"/>
                <a:ea typeface="微软雅黑" panose="020B0503020204020204" charset="-122"/>
              </a:endParaRPr>
            </a:p>
          </p:txBody>
        </p:sp>
        <p:cxnSp>
          <p:nvCxnSpPr>
            <p:cNvPr id="19" name="直接连接符 18"/>
            <p:cNvCxnSpPr/>
            <p:nvPr/>
          </p:nvCxnSpPr>
          <p:spPr>
            <a:xfrm>
              <a:off x="1072811" y="1153888"/>
              <a:ext cx="10841022"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7" name="文本框 6"/>
          <p:cNvSpPr txBox="1"/>
          <p:nvPr/>
        </p:nvSpPr>
        <p:spPr>
          <a:xfrm>
            <a:off x="6668770" y="1641475"/>
            <a:ext cx="4116070" cy="1675130"/>
          </a:xfrm>
          <a:prstGeom prst="rect">
            <a:avLst/>
          </a:prstGeom>
          <a:noFill/>
        </p:spPr>
        <p:txBody>
          <a:bodyPr wrap="square" rtlCol="0">
            <a:noAutofit/>
          </a:bodyPr>
          <a:p>
            <a:endParaRPr lang="zh-CN" altLang="en-US"/>
          </a:p>
        </p:txBody>
      </p:sp>
      <p:sp>
        <p:nvSpPr>
          <p:cNvPr id="9" name="文本框 8"/>
          <p:cNvSpPr txBox="1"/>
          <p:nvPr/>
        </p:nvSpPr>
        <p:spPr>
          <a:xfrm>
            <a:off x="6668770" y="3934460"/>
            <a:ext cx="4064000" cy="2740025"/>
          </a:xfrm>
          <a:prstGeom prst="rect">
            <a:avLst/>
          </a:prstGeom>
          <a:noFill/>
        </p:spPr>
        <p:txBody>
          <a:bodyPr wrap="square" rtlCol="0">
            <a:noAutofit/>
          </a:bodyPr>
          <a:p>
            <a:endParaRPr lang="zh-CN" altLang="en-US" b="1">
              <a:latin typeface="微软雅黑" panose="020B0503020204020204" charset="-122"/>
              <a:ea typeface="微软雅黑" panose="020B0503020204020204" charset="-122"/>
              <a:cs typeface="微软雅黑" panose="020B0503020204020204" charset="-122"/>
            </a:endParaRPr>
          </a:p>
        </p:txBody>
      </p:sp>
      <p:pic>
        <p:nvPicPr>
          <p:cNvPr id="6" name="图片 6" descr="6ac7ad86ebbd1f5ba42f4ffae66e4503"/>
          <p:cNvPicPr>
            <a:picLocks noChangeAspect="1"/>
          </p:cNvPicPr>
          <p:nvPr>
            <p:custDataLst>
              <p:tags r:id="rId1"/>
            </p:custDataLst>
          </p:nvPr>
        </p:nvPicPr>
        <p:blipFill>
          <a:blip r:embed="rId2"/>
          <a:stretch>
            <a:fillRect/>
          </a:stretch>
        </p:blipFill>
        <p:spPr>
          <a:xfrm>
            <a:off x="403860" y="1403350"/>
            <a:ext cx="8156575" cy="4418330"/>
          </a:xfrm>
          <a:prstGeom prst="rect">
            <a:avLst/>
          </a:prstGeom>
        </p:spPr>
      </p:pic>
      <p:sp>
        <p:nvSpPr>
          <p:cNvPr id="10" name="文本框 9"/>
          <p:cNvSpPr txBox="1"/>
          <p:nvPr/>
        </p:nvSpPr>
        <p:spPr>
          <a:xfrm>
            <a:off x="8819515" y="1641475"/>
            <a:ext cx="2938780" cy="4029710"/>
          </a:xfrm>
          <a:prstGeom prst="rect">
            <a:avLst/>
          </a:prstGeom>
          <a:noFill/>
        </p:spPr>
        <p:txBody>
          <a:bodyPr wrap="square" rtlCol="0" anchor="t">
            <a:noAutofit/>
          </a:bodyPr>
          <a:p>
            <a:r>
              <a:rPr lang="zh-CN" altLang="en-US">
                <a:solidFill>
                  <a:srgbClr val="005BBB"/>
                </a:solidFill>
                <a:sym typeface="+mn-ea"/>
              </a:rPr>
              <a:t>■</a:t>
            </a:r>
            <a:r>
              <a:rPr lang="zh-CN" altLang="en-US" b="1">
                <a:latin typeface="微软雅黑" panose="020B0503020204020204" charset="-122"/>
                <a:ea typeface="微软雅黑" panose="020B0503020204020204" charset="-122"/>
                <a:cs typeface="微软雅黑" panose="020B0503020204020204" charset="-122"/>
                <a:sym typeface="+mn-ea"/>
              </a:rPr>
              <a:t>再反思</a:t>
            </a:r>
            <a:endParaRPr lang="zh-CN" altLang="en-US" b="1">
              <a:latin typeface="微软雅黑" panose="020B0503020204020204" charset="-122"/>
              <a:ea typeface="微软雅黑" panose="020B0503020204020204" charset="-122"/>
              <a:cs typeface="微软雅黑" panose="020B0503020204020204" charset="-122"/>
              <a:sym typeface="+mn-ea"/>
            </a:endParaRPr>
          </a:p>
          <a:p>
            <a:r>
              <a:rPr lang="zh-CN" altLang="en-US" b="1">
                <a:latin typeface="微软雅黑" panose="020B0503020204020204" charset="-122"/>
                <a:ea typeface="微软雅黑" panose="020B0503020204020204" charset="-122"/>
                <a:cs typeface="微软雅黑" panose="020B0503020204020204" charset="-122"/>
                <a:sym typeface="+mn-ea"/>
              </a:rPr>
              <a:t>事实上，从某种角度来说，这个波形的结果恰恰说明</a:t>
            </a:r>
            <a:r>
              <a:rPr lang="en-US" altLang="zh-CN" b="1">
                <a:latin typeface="微软雅黑" panose="020B0503020204020204" charset="-122"/>
                <a:ea typeface="微软雅黑" panose="020B0503020204020204" charset="-122"/>
                <a:cs typeface="微软雅黑" panose="020B0503020204020204" charset="-122"/>
                <a:sym typeface="+mn-ea"/>
              </a:rPr>
              <a:t>“</a:t>
            </a:r>
            <a:r>
              <a:rPr lang="zh-CN" altLang="en-US" b="1">
                <a:latin typeface="微软雅黑" panose="020B0503020204020204" charset="-122"/>
                <a:ea typeface="微软雅黑" panose="020B0503020204020204" charset="-122"/>
                <a:cs typeface="微软雅黑" panose="020B0503020204020204" charset="-122"/>
                <a:sym typeface="+mn-ea"/>
              </a:rPr>
              <a:t>消抖成功</a:t>
            </a:r>
            <a:r>
              <a:rPr lang="en-US" altLang="zh-CN" b="1">
                <a:latin typeface="微软雅黑" panose="020B0503020204020204" charset="-122"/>
                <a:ea typeface="微软雅黑" panose="020B0503020204020204" charset="-122"/>
                <a:cs typeface="微软雅黑" panose="020B0503020204020204" charset="-122"/>
                <a:sym typeface="+mn-ea"/>
              </a:rPr>
              <a:t>”</a:t>
            </a:r>
            <a:r>
              <a:rPr lang="zh-CN" altLang="en-US" b="1">
                <a:latin typeface="微软雅黑" panose="020B0503020204020204" charset="-122"/>
                <a:ea typeface="微软雅黑" panose="020B0503020204020204" charset="-122"/>
                <a:cs typeface="微软雅黑" panose="020B0503020204020204" charset="-122"/>
                <a:sym typeface="+mn-ea"/>
              </a:rPr>
              <a:t>，为什么？</a:t>
            </a:r>
            <a:endParaRPr lang="zh-CN" altLang="en-US" b="1">
              <a:latin typeface="微软雅黑" panose="020B0503020204020204" charset="-122"/>
              <a:ea typeface="微软雅黑" panose="020B0503020204020204" charset="-122"/>
              <a:cs typeface="微软雅黑" panose="020B0503020204020204" charset="-122"/>
              <a:sym typeface="+mn-ea"/>
            </a:endParaRPr>
          </a:p>
        </p:txBody>
      </p:sp>
      <p:sp>
        <p:nvSpPr>
          <p:cNvPr id="11" name="文本框 10"/>
          <p:cNvSpPr txBox="1"/>
          <p:nvPr>
            <p:custDataLst>
              <p:tags r:id="rId3"/>
            </p:custDataLst>
          </p:nvPr>
        </p:nvSpPr>
        <p:spPr>
          <a:xfrm>
            <a:off x="8836025" y="3220720"/>
            <a:ext cx="3355975" cy="2740025"/>
          </a:xfrm>
          <a:prstGeom prst="rect">
            <a:avLst/>
          </a:prstGeom>
          <a:noFill/>
        </p:spPr>
        <p:txBody>
          <a:bodyPr wrap="square" rtlCol="0">
            <a:noAutofit/>
          </a:bodyPr>
          <a:p>
            <a:r>
              <a:rPr lang="zh-CN" altLang="en-US">
                <a:solidFill>
                  <a:srgbClr val="005BBB"/>
                </a:solidFill>
                <a:sym typeface="+mn-ea"/>
              </a:rPr>
              <a:t>■</a:t>
            </a:r>
            <a:r>
              <a:rPr lang="zh-CN" altLang="en-US" b="1">
                <a:solidFill>
                  <a:schemeClr val="tx1"/>
                </a:solidFill>
                <a:latin typeface="微软雅黑" panose="020B0503020204020204" charset="-122"/>
                <a:ea typeface="微软雅黑" panose="020B0503020204020204" charset="-122"/>
                <a:sym typeface="+mn-ea"/>
              </a:rPr>
              <a:t>回归本质</a:t>
            </a:r>
            <a:endParaRPr lang="zh-CN" altLang="en-US">
              <a:solidFill>
                <a:srgbClr val="005BBB"/>
              </a:solidFill>
              <a:sym typeface="+mn-ea"/>
            </a:endParaRPr>
          </a:p>
          <a:p>
            <a:r>
              <a:rPr lang="zh-CN" altLang="en-US" b="1">
                <a:latin typeface="微软雅黑" panose="020B0503020204020204" charset="-122"/>
                <a:ea typeface="微软雅黑" panose="020B0503020204020204" charset="-122"/>
                <a:cs typeface="微软雅黑" panose="020B0503020204020204" charset="-122"/>
              </a:rPr>
              <a:t>这个</a:t>
            </a:r>
            <a:r>
              <a:rPr lang="en-US" altLang="zh-CN" b="1">
                <a:latin typeface="微软雅黑" panose="020B0503020204020204" charset="-122"/>
                <a:ea typeface="微软雅黑" panose="020B0503020204020204" charset="-122"/>
                <a:cs typeface="微软雅黑" panose="020B0503020204020204" charset="-122"/>
              </a:rPr>
              <a:t>debounce</a:t>
            </a:r>
            <a:r>
              <a:rPr lang="zh-CN" altLang="en-US" b="1">
                <a:latin typeface="微软雅黑" panose="020B0503020204020204" charset="-122"/>
                <a:ea typeface="微软雅黑" panose="020B0503020204020204" charset="-122"/>
                <a:cs typeface="微软雅黑" panose="020B0503020204020204" charset="-122"/>
              </a:rPr>
              <a:t>代码到底实现了什么功能？他适配什么样的按钮？我们的按钮需要怎样的</a:t>
            </a:r>
            <a:r>
              <a:rPr lang="en-US" altLang="zh-CN" b="1">
                <a:latin typeface="微软雅黑" panose="020B0503020204020204" charset="-122"/>
                <a:ea typeface="微软雅黑" panose="020B0503020204020204" charset="-122"/>
                <a:cs typeface="微软雅黑" panose="020B0503020204020204" charset="-122"/>
              </a:rPr>
              <a:t>debounce</a:t>
            </a:r>
            <a:r>
              <a:rPr lang="zh-CN" altLang="en-US" b="1">
                <a:latin typeface="微软雅黑" panose="020B0503020204020204" charset="-122"/>
                <a:ea typeface="微软雅黑" panose="020B0503020204020204" charset="-122"/>
                <a:cs typeface="微软雅黑" panose="020B0503020204020204" charset="-122"/>
              </a:rPr>
              <a:t>代码来适配？</a:t>
            </a:r>
            <a:endParaRPr lang="zh-CN" altLang="en-US" b="1">
              <a:latin typeface="微软雅黑" panose="020B0503020204020204" charset="-122"/>
              <a:ea typeface="微软雅黑" panose="020B0503020204020204" charset="-122"/>
              <a:cs typeface="微软雅黑" panose="020B0503020204020204" charset="-122"/>
            </a:endParaRPr>
          </a:p>
          <a:p>
            <a:endParaRPr lang="zh-CN" altLang="en-US" b="1">
              <a:latin typeface="微软雅黑" panose="020B0503020204020204" charset="-122"/>
              <a:ea typeface="微软雅黑" panose="020B0503020204020204" charset="-122"/>
              <a:cs typeface="微软雅黑" panose="020B0503020204020204" charset="-122"/>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7" grpId="1"/>
      <p:bldP spid="9" grpId="0"/>
      <p:bldP spid="9" grpId="1"/>
      <p:bldP spid="11" grpId="0"/>
      <p:bldP spid="11" grpId="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6" name="组合 15"/>
          <p:cNvGrpSpPr/>
          <p:nvPr/>
        </p:nvGrpSpPr>
        <p:grpSpPr>
          <a:xfrm>
            <a:off x="1072811" y="691926"/>
            <a:ext cx="10841022" cy="461962"/>
            <a:chOff x="1072811" y="691926"/>
            <a:chExt cx="10841022" cy="461962"/>
          </a:xfrm>
        </p:grpSpPr>
        <p:sp>
          <p:nvSpPr>
            <p:cNvPr id="18" name="文本框 34"/>
            <p:cNvSpPr txBox="1">
              <a:spLocks noChangeArrowheads="1"/>
            </p:cNvSpPr>
            <p:nvPr/>
          </p:nvSpPr>
          <p:spPr bwMode="auto">
            <a:xfrm>
              <a:off x="1072811" y="691926"/>
              <a:ext cx="253492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zh-CN" altLang="en-US" sz="2400" b="1" dirty="0">
                  <a:latin typeface="微软雅黑" panose="020B0503020204020204" charset="-122"/>
                  <a:ea typeface="微软雅黑" panose="020B0503020204020204" charset="-122"/>
                </a:rPr>
                <a:t>问题总结</a:t>
              </a:r>
              <a:endParaRPr lang="zh-CN" altLang="en-US" sz="2400" b="1" dirty="0">
                <a:latin typeface="微软雅黑" panose="020B0503020204020204" charset="-122"/>
                <a:ea typeface="微软雅黑" panose="020B0503020204020204" charset="-122"/>
              </a:endParaRPr>
            </a:p>
          </p:txBody>
        </p:sp>
        <p:cxnSp>
          <p:nvCxnSpPr>
            <p:cNvPr id="19" name="直接连接符 18"/>
            <p:cNvCxnSpPr/>
            <p:nvPr/>
          </p:nvCxnSpPr>
          <p:spPr>
            <a:xfrm>
              <a:off x="1072811" y="1153888"/>
              <a:ext cx="10841022"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7" name="文本框 6"/>
          <p:cNvSpPr txBox="1"/>
          <p:nvPr/>
        </p:nvSpPr>
        <p:spPr>
          <a:xfrm>
            <a:off x="6668770" y="1641475"/>
            <a:ext cx="4116070" cy="1675130"/>
          </a:xfrm>
          <a:prstGeom prst="rect">
            <a:avLst/>
          </a:prstGeom>
          <a:noFill/>
        </p:spPr>
        <p:txBody>
          <a:bodyPr wrap="square" rtlCol="0">
            <a:noAutofit/>
          </a:bodyPr>
          <a:p>
            <a:endParaRPr lang="zh-CN" altLang="en-US"/>
          </a:p>
        </p:txBody>
      </p:sp>
      <p:sp>
        <p:nvSpPr>
          <p:cNvPr id="9" name="文本框 8"/>
          <p:cNvSpPr txBox="1"/>
          <p:nvPr/>
        </p:nvSpPr>
        <p:spPr>
          <a:xfrm>
            <a:off x="6668770" y="3934460"/>
            <a:ext cx="4064000" cy="2740025"/>
          </a:xfrm>
          <a:prstGeom prst="rect">
            <a:avLst/>
          </a:prstGeom>
          <a:noFill/>
        </p:spPr>
        <p:txBody>
          <a:bodyPr wrap="square" rtlCol="0">
            <a:noAutofit/>
          </a:bodyPr>
          <a:p>
            <a:endParaRPr lang="zh-CN" altLang="en-US" b="1">
              <a:latin typeface="微软雅黑" panose="020B0503020204020204" charset="-122"/>
              <a:ea typeface="微软雅黑" panose="020B0503020204020204" charset="-122"/>
              <a:cs typeface="微软雅黑" panose="020B0503020204020204" charset="-122"/>
            </a:endParaRPr>
          </a:p>
        </p:txBody>
      </p:sp>
      <p:sp>
        <p:nvSpPr>
          <p:cNvPr id="2" name="文本框 1"/>
          <p:cNvSpPr txBox="1"/>
          <p:nvPr/>
        </p:nvSpPr>
        <p:spPr>
          <a:xfrm>
            <a:off x="1072515" y="1530350"/>
            <a:ext cx="8998585" cy="2816225"/>
          </a:xfrm>
          <a:prstGeom prst="rect">
            <a:avLst/>
          </a:prstGeom>
          <a:noFill/>
        </p:spPr>
        <p:txBody>
          <a:bodyPr wrap="square" rtlCol="0">
            <a:noAutofit/>
          </a:bodyPr>
          <a:p>
            <a:r>
              <a:rPr lang="zh-CN" altLang="en-US" sz="2800" b="1">
                <a:latin typeface="微软雅黑" panose="020B0503020204020204" charset="-122"/>
                <a:ea typeface="微软雅黑" panose="020B0503020204020204" charset="-122"/>
                <a:cs typeface="微软雅黑" panose="020B0503020204020204" charset="-122"/>
              </a:rPr>
              <a:t>综上所述，debounce设计在严谨性上缺乏考虑，同时并不完美适用我们的按钮。</a:t>
            </a:r>
            <a:endParaRPr lang="zh-CN" altLang="en-US" sz="2800" b="1">
              <a:latin typeface="微软雅黑" panose="020B0503020204020204" charset="-122"/>
              <a:ea typeface="微软雅黑" panose="020B0503020204020204" charset="-122"/>
              <a:cs typeface="微软雅黑" panose="020B0503020204020204" charset="-122"/>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7" grpId="1"/>
      <p:bldP spid="9" grpId="0"/>
      <p:bldP spid="9" grpId="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a:xfrm>
            <a:off x="763905" y="2103120"/>
            <a:ext cx="10515600" cy="1325563"/>
          </a:xfrm>
        </p:spPr>
        <p:txBody>
          <a:bodyPr/>
          <a:p>
            <a:r>
              <a:rPr lang="en-US" altLang="zh-CN" b="1" dirty="0">
                <a:latin typeface="微软雅黑" panose="020B0503020204020204" charset="-122"/>
                <a:ea typeface="微软雅黑" panose="020B0503020204020204" charset="-122"/>
                <a:sym typeface="+mn-ea"/>
              </a:rPr>
              <a:t>                      </a:t>
            </a:r>
            <a:r>
              <a:rPr lang="en-US" altLang="zh-CN" sz="4000" b="1" dirty="0">
                <a:latin typeface="宋体" panose="02010600030101010101" pitchFamily="2" charset="-122"/>
                <a:ea typeface="宋体" panose="02010600030101010101" pitchFamily="2" charset="-122"/>
                <a:cs typeface="宋体" panose="02010600030101010101" pitchFamily="2" charset="-122"/>
                <a:sym typeface="+mn-ea"/>
              </a:rPr>
              <a:t>Problem 2nd </a:t>
            </a:r>
            <a:br>
              <a:rPr lang="en-US" altLang="zh-CN" sz="4000" b="1" dirty="0">
                <a:latin typeface="宋体" panose="02010600030101010101" pitchFamily="2" charset="-122"/>
                <a:ea typeface="宋体" panose="02010600030101010101" pitchFamily="2" charset="-122"/>
                <a:cs typeface="宋体" panose="02010600030101010101" pitchFamily="2" charset="-122"/>
                <a:sym typeface="+mn-ea"/>
              </a:rPr>
            </a:br>
            <a:br>
              <a:rPr lang="en-US" altLang="zh-CN" sz="4000" b="1" dirty="0">
                <a:latin typeface="宋体" panose="02010600030101010101" pitchFamily="2" charset="-122"/>
                <a:ea typeface="宋体" panose="02010600030101010101" pitchFamily="2" charset="-122"/>
                <a:cs typeface="宋体" panose="02010600030101010101" pitchFamily="2" charset="-122"/>
                <a:sym typeface="+mn-ea"/>
              </a:rPr>
            </a:br>
            <a:r>
              <a:rPr lang="en-US" altLang="zh-CN" sz="4000" b="1" dirty="0">
                <a:latin typeface="宋体" panose="02010600030101010101" pitchFamily="2" charset="-122"/>
                <a:ea typeface="宋体" panose="02010600030101010101" pitchFamily="2" charset="-122"/>
                <a:cs typeface="宋体" panose="02010600030101010101" pitchFamily="2" charset="-122"/>
                <a:sym typeface="+mn-ea"/>
              </a:rPr>
              <a:t>   </a:t>
            </a:r>
            <a:r>
              <a:rPr lang="en-US" altLang="zh-CN" sz="3600" b="1" dirty="0">
                <a:latin typeface="宋体" panose="02010600030101010101" pitchFamily="2" charset="-122"/>
                <a:ea typeface="宋体" panose="02010600030101010101" pitchFamily="2" charset="-122"/>
                <a:cs typeface="宋体" panose="02010600030101010101" pitchFamily="2" charset="-122"/>
                <a:sym typeface="+mn-ea"/>
              </a:rPr>
              <a:t> Lab5</a:t>
            </a:r>
            <a:r>
              <a:rPr lang="zh-CN" altLang="en-US" sz="3600" b="1" dirty="0">
                <a:latin typeface="宋体" panose="02010600030101010101" pitchFamily="2" charset="-122"/>
                <a:ea typeface="宋体" panose="02010600030101010101" pitchFamily="2" charset="-122"/>
                <a:cs typeface="宋体" panose="02010600030101010101" pitchFamily="2" charset="-122"/>
                <a:sym typeface="+mn-ea"/>
              </a:rPr>
              <a:t>中</a:t>
            </a:r>
            <a:r>
              <a:rPr lang="en-US" altLang="zh-CN" sz="3600" b="1" dirty="0">
                <a:latin typeface="宋体" panose="02010600030101010101" pitchFamily="2" charset="-122"/>
                <a:ea typeface="宋体" panose="02010600030101010101" pitchFamily="2" charset="-122"/>
                <a:cs typeface="宋体" panose="02010600030101010101" pitchFamily="2" charset="-122"/>
                <a:sym typeface="+mn-ea"/>
              </a:rPr>
              <a:t>通过循环移位寄存器使数码管滚动显示</a:t>
            </a:r>
            <a:endParaRPr lang="en-US" altLang="zh-CN" sz="3600" b="1" dirty="0">
              <a:latin typeface="宋体" panose="02010600030101010101" pitchFamily="2" charset="-122"/>
              <a:ea typeface="宋体" panose="02010600030101010101" pitchFamily="2" charset="-122"/>
              <a:cs typeface="宋体" panose="02010600030101010101" pitchFamily="2" charset="-122"/>
              <a:sym typeface="+mn-ea"/>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组合 7"/>
          <p:cNvGrpSpPr/>
          <p:nvPr/>
        </p:nvGrpSpPr>
        <p:grpSpPr>
          <a:xfrm>
            <a:off x="1072811" y="691926"/>
            <a:ext cx="10841022" cy="461962"/>
            <a:chOff x="1072811" y="691926"/>
            <a:chExt cx="10841022" cy="461962"/>
          </a:xfrm>
        </p:grpSpPr>
        <p:sp>
          <p:nvSpPr>
            <p:cNvPr id="9" name="文本框 34"/>
            <p:cNvSpPr txBox="1">
              <a:spLocks noChangeArrowheads="1"/>
            </p:cNvSpPr>
            <p:nvPr/>
          </p:nvSpPr>
          <p:spPr bwMode="auto">
            <a:xfrm>
              <a:off x="1072811" y="691926"/>
              <a:ext cx="208915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zh-CN" sz="2400" b="1" dirty="0">
                  <a:latin typeface="微软雅黑" panose="020B0503020204020204" charset="-122"/>
                  <a:ea typeface="微软雅黑" panose="020B0503020204020204" charset="-122"/>
                  <a:sym typeface="+mn-ea"/>
                </a:rPr>
                <a:t>问题分析</a:t>
              </a:r>
              <a:endParaRPr lang="zh-CN" sz="2400" b="1" dirty="0">
                <a:latin typeface="微软雅黑" panose="020B0503020204020204" charset="-122"/>
                <a:ea typeface="微软雅黑" panose="020B0503020204020204" charset="-122"/>
              </a:endParaRPr>
            </a:p>
          </p:txBody>
        </p:sp>
        <p:cxnSp>
          <p:nvCxnSpPr>
            <p:cNvPr id="13" name="直接连接符 12"/>
            <p:cNvCxnSpPr/>
            <p:nvPr/>
          </p:nvCxnSpPr>
          <p:spPr>
            <a:xfrm>
              <a:off x="1072811" y="1153888"/>
              <a:ext cx="10841022"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6" name="文本框 5"/>
          <p:cNvSpPr txBox="1"/>
          <p:nvPr/>
        </p:nvSpPr>
        <p:spPr>
          <a:xfrm>
            <a:off x="1116330" y="1640840"/>
            <a:ext cx="2947035" cy="4321810"/>
          </a:xfrm>
          <a:prstGeom prst="rect">
            <a:avLst/>
          </a:prstGeom>
          <a:noFill/>
        </p:spPr>
        <p:txBody>
          <a:bodyPr wrap="square" rtlCol="0">
            <a:noAutofit/>
          </a:bodyPr>
          <a:p>
            <a:r>
              <a:rPr lang="zh-CN" altLang="en-US">
                <a:solidFill>
                  <a:srgbClr val="005BBB"/>
                </a:solidFill>
                <a:sym typeface="+mn-ea"/>
              </a:rPr>
              <a:t>■</a:t>
            </a:r>
            <a:r>
              <a:rPr lang="en-US" altLang="zh-CN">
                <a:solidFill>
                  <a:srgbClr val="005BBB"/>
                </a:solidFill>
                <a:sym typeface="+mn-ea"/>
              </a:rPr>
              <a:t> </a:t>
            </a:r>
            <a:r>
              <a:rPr lang="zh-CN" altLang="en-US" b="1">
                <a:solidFill>
                  <a:schemeClr val="tx1"/>
                </a:solidFill>
                <a:latin typeface="微软雅黑" panose="020B0503020204020204" charset="-122"/>
                <a:ea typeface="微软雅黑" panose="020B0503020204020204" charset="-122"/>
                <a:cs typeface="微软雅黑" panose="020B0503020204020204" charset="-122"/>
                <a:sym typeface="+mn-ea"/>
              </a:rPr>
              <a:t>在</a:t>
            </a:r>
            <a:r>
              <a:rPr lang="en-US" altLang="zh-CN" b="1">
                <a:solidFill>
                  <a:schemeClr val="tx1"/>
                </a:solidFill>
                <a:latin typeface="微软雅黑" panose="020B0503020204020204" charset="-122"/>
                <a:ea typeface="微软雅黑" panose="020B0503020204020204" charset="-122"/>
                <a:cs typeface="微软雅黑" panose="020B0503020204020204" charset="-122"/>
                <a:sym typeface="+mn-ea"/>
              </a:rPr>
              <a:t>Lab5</a:t>
            </a:r>
            <a:r>
              <a:rPr lang="zh-CN" altLang="en-US" b="1">
                <a:solidFill>
                  <a:schemeClr val="tx1"/>
                </a:solidFill>
                <a:latin typeface="微软雅黑" panose="020B0503020204020204" charset="-122"/>
                <a:ea typeface="微软雅黑" panose="020B0503020204020204" charset="-122"/>
                <a:cs typeface="微软雅黑" panose="020B0503020204020204" charset="-122"/>
                <a:sym typeface="+mn-ea"/>
              </a:rPr>
              <a:t>的要求中，需要实现七段数码管的循环输出。而对于课件中的示例代码，对每个数码管在八个不同状态下的输出都要单独设置，单单控制数码管输出就要写8*8=64条代码，且若要改变显示的数需要一一修改，过程过于繁琐。因此，我们考虑加入</a:t>
            </a:r>
            <a:r>
              <a:rPr lang="zh-CN" altLang="en-US" b="1">
                <a:solidFill>
                  <a:srgbClr val="FF0000"/>
                </a:solidFill>
                <a:latin typeface="微软雅黑" panose="020B0503020204020204" charset="-122"/>
                <a:ea typeface="微软雅黑" panose="020B0503020204020204" charset="-122"/>
                <a:cs typeface="微软雅黑" panose="020B0503020204020204" charset="-122"/>
                <a:sym typeface="+mn-ea"/>
              </a:rPr>
              <a:t>寄存器模块</a:t>
            </a:r>
            <a:r>
              <a:rPr lang="zh-CN" altLang="en-US" b="1">
                <a:solidFill>
                  <a:schemeClr val="tx1"/>
                </a:solidFill>
                <a:latin typeface="微软雅黑" panose="020B0503020204020204" charset="-122"/>
                <a:ea typeface="微软雅黑" panose="020B0503020204020204" charset="-122"/>
                <a:cs typeface="微软雅黑" panose="020B0503020204020204" charset="-122"/>
                <a:sym typeface="+mn-ea"/>
              </a:rPr>
              <a:t>对需要显示的数字进行编码存储，每个数码管读取特定的寄存器，使寄存器循环移位达成数码管的循环显示，可以很大程度的降低繁琐程度</a:t>
            </a:r>
            <a:r>
              <a:rPr lang="zh-CN" altLang="en-US">
                <a:solidFill>
                  <a:srgbClr val="005BBB"/>
                </a:solidFill>
                <a:sym typeface="+mn-ea"/>
              </a:rPr>
              <a:t>。</a:t>
            </a:r>
            <a:endParaRPr lang="zh-CN" altLang="en-US">
              <a:solidFill>
                <a:srgbClr val="005BBB"/>
              </a:solidFill>
              <a:sym typeface="+mn-ea"/>
            </a:endParaRPr>
          </a:p>
        </p:txBody>
      </p:sp>
      <p:pic>
        <p:nvPicPr>
          <p:cNvPr id="12" name="图片 11"/>
          <p:cNvPicPr>
            <a:picLocks noChangeAspect="1"/>
          </p:cNvPicPr>
          <p:nvPr/>
        </p:nvPicPr>
        <p:blipFill>
          <a:blip r:embed="rId1"/>
          <a:srcRect b="2049"/>
          <a:stretch>
            <a:fillRect/>
          </a:stretch>
        </p:blipFill>
        <p:spPr>
          <a:xfrm>
            <a:off x="4366895" y="1640840"/>
            <a:ext cx="5274310" cy="2729230"/>
          </a:xfrm>
          <a:prstGeom prst="rect">
            <a:avLst/>
          </a:prstGeom>
        </p:spPr>
      </p:pic>
      <p:sp>
        <p:nvSpPr>
          <p:cNvPr id="15" name="文本框 14"/>
          <p:cNvSpPr txBox="1"/>
          <p:nvPr/>
        </p:nvSpPr>
        <p:spPr>
          <a:xfrm>
            <a:off x="10139680" y="1648460"/>
            <a:ext cx="1442085" cy="645160"/>
          </a:xfrm>
          <a:prstGeom prst="rect">
            <a:avLst/>
          </a:prstGeom>
          <a:noFill/>
        </p:spPr>
        <p:txBody>
          <a:bodyPr wrap="square" rtlCol="0">
            <a:spAutoFit/>
          </a:bodyPr>
          <a:p>
            <a:r>
              <a:rPr lang="zh-CN" altLang="en-US" b="1">
                <a:latin typeface="微软雅黑" panose="020B0503020204020204" charset="-122"/>
                <a:ea typeface="微软雅黑" panose="020B0503020204020204" charset="-122"/>
              </a:rPr>
              <a:t>图为课件中的示例代码</a:t>
            </a:r>
            <a:endParaRPr lang="zh-CN" altLang="en-US" b="1">
              <a:latin typeface="微软雅黑" panose="020B0503020204020204" charset="-122"/>
              <a:ea typeface="微软雅黑" panose="020B0503020204020204" charset="-122"/>
            </a:endParaRPr>
          </a:p>
        </p:txBody>
      </p:sp>
      <p:pic>
        <p:nvPicPr>
          <p:cNvPr id="16" name="图片 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a:xfrm>
            <a:off x="4984750" y="4449445"/>
            <a:ext cx="3577590" cy="1513205"/>
          </a:xfrm>
          <a:prstGeom prst="rect">
            <a:avLst/>
          </a:prstGeom>
          <a:noFill/>
        </p:spPr>
      </p:pic>
      <p:sp>
        <p:nvSpPr>
          <p:cNvPr id="17" name="文本框 16"/>
          <p:cNvSpPr txBox="1"/>
          <p:nvPr/>
        </p:nvSpPr>
        <p:spPr>
          <a:xfrm>
            <a:off x="10139680" y="4575175"/>
            <a:ext cx="1248410" cy="922020"/>
          </a:xfrm>
          <a:prstGeom prst="rect">
            <a:avLst/>
          </a:prstGeom>
          <a:noFill/>
        </p:spPr>
        <p:txBody>
          <a:bodyPr wrap="square" rtlCol="0">
            <a:spAutoFit/>
          </a:bodyPr>
          <a:p>
            <a:r>
              <a:rPr lang="zh-CN" altLang="en-US" b="1">
                <a:latin typeface="微软雅黑" panose="020B0503020204020204" charset="-122"/>
                <a:ea typeface="微软雅黑" panose="020B0503020204020204" charset="-122"/>
              </a:rPr>
              <a:t>图为一个循环显示的示例</a:t>
            </a:r>
            <a:endParaRPr lang="zh-CN" altLang="en-US" b="1">
              <a:latin typeface="微软雅黑" panose="020B0503020204020204" charset="-122"/>
              <a:ea typeface="微软雅黑" panose="020B0503020204020204" charset="-122"/>
            </a:endParaRPr>
          </a:p>
        </p:txBody>
      </p:sp>
    </p:spTree>
    <p:custDataLst>
      <p:tags r:id="rId3"/>
    </p:custData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p:transition spd="slow">
        <p:fade/>
      </p:transition>
    </mc:Fallback>
  </mc:AlternateContent>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组合 7"/>
          <p:cNvGrpSpPr/>
          <p:nvPr/>
        </p:nvGrpSpPr>
        <p:grpSpPr>
          <a:xfrm>
            <a:off x="1072811" y="691926"/>
            <a:ext cx="10841022" cy="461962"/>
            <a:chOff x="1072811" y="691926"/>
            <a:chExt cx="10841022" cy="461962"/>
          </a:xfrm>
        </p:grpSpPr>
        <p:sp>
          <p:nvSpPr>
            <p:cNvPr id="9" name="文本框 34"/>
            <p:cNvSpPr txBox="1">
              <a:spLocks noChangeArrowheads="1"/>
            </p:cNvSpPr>
            <p:nvPr/>
          </p:nvSpPr>
          <p:spPr bwMode="auto">
            <a:xfrm>
              <a:off x="1072811" y="691926"/>
              <a:ext cx="303403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zh-CN" altLang="en-US" sz="2400" b="1" dirty="0">
                  <a:latin typeface="微软雅黑" panose="020B0503020204020204" charset="-122"/>
                  <a:ea typeface="微软雅黑" panose="020B0503020204020204" charset="-122"/>
                </a:rPr>
                <a:t>寄存器模块代码展示</a:t>
              </a:r>
              <a:endParaRPr lang="zh-CN" altLang="en-US" sz="2400" b="1" dirty="0">
                <a:latin typeface="微软雅黑" panose="020B0503020204020204" charset="-122"/>
                <a:ea typeface="微软雅黑" panose="020B0503020204020204" charset="-122"/>
              </a:endParaRPr>
            </a:p>
          </p:txBody>
        </p:sp>
        <p:cxnSp>
          <p:nvCxnSpPr>
            <p:cNvPr id="13" name="直接连接符 12"/>
            <p:cNvCxnSpPr/>
            <p:nvPr/>
          </p:nvCxnSpPr>
          <p:spPr>
            <a:xfrm>
              <a:off x="1072811" y="1153888"/>
              <a:ext cx="10841022"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 name="组合 1"/>
          <p:cNvGrpSpPr/>
          <p:nvPr/>
        </p:nvGrpSpPr>
        <p:grpSpPr>
          <a:xfrm>
            <a:off x="1072675" y="1469708"/>
            <a:ext cx="4346896" cy="441325"/>
            <a:chOff x="1237158" y="1347789"/>
            <a:chExt cx="4346896" cy="441325"/>
          </a:xfrm>
        </p:grpSpPr>
        <p:sp>
          <p:nvSpPr>
            <p:cNvPr id="3" name="矩形 2"/>
            <p:cNvSpPr>
              <a:spLocks noChangeArrowheads="1"/>
            </p:cNvSpPr>
            <p:nvPr>
              <p:custDataLst>
                <p:tags r:id="rId1"/>
              </p:custDataLst>
            </p:nvPr>
          </p:nvSpPr>
          <p:spPr bwMode="auto">
            <a:xfrm>
              <a:off x="1237158" y="1347789"/>
              <a:ext cx="388112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zh-CN" altLang="en-US" sz="1800" b="1" dirty="0">
                  <a:solidFill>
                    <a:srgbClr val="005DAF"/>
                  </a:solidFill>
                  <a:latin typeface="微软雅黑" panose="020B0503020204020204" charset="-122"/>
                  <a:ea typeface="微软雅黑" panose="020B0503020204020204" charset="-122"/>
                </a:rPr>
                <a:t>寄存器初始化</a:t>
              </a:r>
              <a:endParaRPr lang="zh-CN" altLang="en-US" sz="1800" b="1" dirty="0">
                <a:solidFill>
                  <a:srgbClr val="005DAF"/>
                </a:solidFill>
                <a:latin typeface="微软雅黑" panose="020B0503020204020204" charset="-122"/>
                <a:ea typeface="微软雅黑" panose="020B0503020204020204" charset="-122"/>
              </a:endParaRPr>
            </a:p>
          </p:txBody>
        </p:sp>
        <p:cxnSp>
          <p:nvCxnSpPr>
            <p:cNvPr id="4" name="直接连接符 7"/>
            <p:cNvCxnSpPr/>
            <p:nvPr>
              <p:custDataLst>
                <p:tags r:id="rId2"/>
              </p:custDataLst>
            </p:nvPr>
          </p:nvCxnSpPr>
          <p:spPr>
            <a:xfrm flipH="1">
              <a:off x="1237158" y="1789114"/>
              <a:ext cx="4346896" cy="0"/>
            </a:xfrm>
            <a:prstGeom prst="line">
              <a:avLst/>
            </a:prstGeom>
            <a:ln>
              <a:solidFill>
                <a:schemeClr val="bg1">
                  <a:lumMod val="50000"/>
                  <a:alpha val="60000"/>
                </a:schemeClr>
              </a:solidFill>
            </a:ln>
          </p:spPr>
          <p:style>
            <a:lnRef idx="1">
              <a:schemeClr val="accent1"/>
            </a:lnRef>
            <a:fillRef idx="0">
              <a:schemeClr val="accent1"/>
            </a:fillRef>
            <a:effectRef idx="0">
              <a:schemeClr val="accent1"/>
            </a:effectRef>
            <a:fontRef idx="minor">
              <a:schemeClr val="tx1"/>
            </a:fontRef>
          </p:style>
        </p:cxnSp>
      </p:grpSp>
      <p:pic>
        <p:nvPicPr>
          <p:cNvPr id="11" name="图片 5"/>
          <p:cNvPicPr>
            <a:picLocks noChangeAspect="1"/>
          </p:cNvPicPr>
          <p:nvPr/>
        </p:nvPicPr>
        <p:blipFill>
          <a:blip r:embed="rId3"/>
          <a:stretch>
            <a:fillRect/>
          </a:stretch>
        </p:blipFill>
        <p:spPr>
          <a:xfrm>
            <a:off x="856615" y="1984375"/>
            <a:ext cx="5873115" cy="543560"/>
          </a:xfrm>
          <a:prstGeom prst="rect">
            <a:avLst/>
          </a:prstGeom>
        </p:spPr>
      </p:pic>
      <p:grpSp>
        <p:nvGrpSpPr>
          <p:cNvPr id="12" name="组合 11"/>
          <p:cNvGrpSpPr/>
          <p:nvPr/>
        </p:nvGrpSpPr>
        <p:grpSpPr>
          <a:xfrm>
            <a:off x="6729890" y="1469708"/>
            <a:ext cx="4543425" cy="441325"/>
            <a:chOff x="1237158" y="1347789"/>
            <a:chExt cx="4543425" cy="441325"/>
          </a:xfrm>
        </p:grpSpPr>
        <p:sp>
          <p:nvSpPr>
            <p:cNvPr id="14" name="矩形 13"/>
            <p:cNvSpPr>
              <a:spLocks noChangeArrowheads="1"/>
            </p:cNvSpPr>
            <p:nvPr>
              <p:custDataLst>
                <p:tags r:id="rId4"/>
              </p:custDataLst>
            </p:nvPr>
          </p:nvSpPr>
          <p:spPr bwMode="auto">
            <a:xfrm>
              <a:off x="1237158" y="1347789"/>
              <a:ext cx="4543425"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zh-CN" altLang="en-US" sz="1800" b="1" dirty="0">
                  <a:solidFill>
                    <a:srgbClr val="005DAF"/>
                  </a:solidFill>
                  <a:latin typeface="微软雅黑" panose="020B0503020204020204" charset="-122"/>
                  <a:ea typeface="微软雅黑" panose="020B0503020204020204" charset="-122"/>
                </a:rPr>
                <a:t>读取寄存器中编码转译为数码管控制信号</a:t>
              </a:r>
              <a:endParaRPr lang="zh-CN" altLang="en-US" sz="1800" b="1" dirty="0">
                <a:solidFill>
                  <a:srgbClr val="005DAF"/>
                </a:solidFill>
                <a:latin typeface="微软雅黑" panose="020B0503020204020204" charset="-122"/>
                <a:ea typeface="微软雅黑" panose="020B0503020204020204" charset="-122"/>
              </a:endParaRPr>
            </a:p>
          </p:txBody>
        </p:sp>
        <p:cxnSp>
          <p:nvCxnSpPr>
            <p:cNvPr id="15" name="直接连接符 7"/>
            <p:cNvCxnSpPr/>
            <p:nvPr>
              <p:custDataLst>
                <p:tags r:id="rId5"/>
              </p:custDataLst>
            </p:nvPr>
          </p:nvCxnSpPr>
          <p:spPr>
            <a:xfrm flipH="1">
              <a:off x="1237158" y="1789114"/>
              <a:ext cx="4346896" cy="0"/>
            </a:xfrm>
            <a:prstGeom prst="line">
              <a:avLst/>
            </a:prstGeom>
            <a:ln>
              <a:solidFill>
                <a:schemeClr val="bg1">
                  <a:lumMod val="50000"/>
                  <a:alpha val="60000"/>
                </a:schemeClr>
              </a:solidFill>
            </a:ln>
          </p:spPr>
          <p:style>
            <a:lnRef idx="1">
              <a:schemeClr val="accent1"/>
            </a:lnRef>
            <a:fillRef idx="0">
              <a:schemeClr val="accent1"/>
            </a:fillRef>
            <a:effectRef idx="0">
              <a:schemeClr val="accent1"/>
            </a:effectRef>
            <a:fontRef idx="minor">
              <a:schemeClr val="tx1"/>
            </a:fontRef>
          </p:style>
        </p:cxnSp>
      </p:grpSp>
      <p:pic>
        <p:nvPicPr>
          <p:cNvPr id="16" name="图片 3"/>
          <p:cNvPicPr>
            <a:picLocks noChangeAspect="1"/>
          </p:cNvPicPr>
          <p:nvPr/>
        </p:nvPicPr>
        <p:blipFill>
          <a:blip r:embed="rId6"/>
          <a:stretch>
            <a:fillRect/>
          </a:stretch>
        </p:blipFill>
        <p:spPr>
          <a:xfrm>
            <a:off x="6729730" y="1984375"/>
            <a:ext cx="5274310" cy="3825240"/>
          </a:xfrm>
          <a:prstGeom prst="rect">
            <a:avLst/>
          </a:prstGeom>
        </p:spPr>
      </p:pic>
      <p:grpSp>
        <p:nvGrpSpPr>
          <p:cNvPr id="17" name="组合 16"/>
          <p:cNvGrpSpPr/>
          <p:nvPr/>
        </p:nvGrpSpPr>
        <p:grpSpPr>
          <a:xfrm>
            <a:off x="1072675" y="3228023"/>
            <a:ext cx="4346896" cy="441325"/>
            <a:chOff x="1237158" y="1347789"/>
            <a:chExt cx="4346896" cy="441325"/>
          </a:xfrm>
        </p:grpSpPr>
        <p:sp>
          <p:nvSpPr>
            <p:cNvPr id="18" name="矩形 17"/>
            <p:cNvSpPr>
              <a:spLocks noChangeArrowheads="1"/>
            </p:cNvSpPr>
            <p:nvPr>
              <p:custDataLst>
                <p:tags r:id="rId7"/>
              </p:custDataLst>
            </p:nvPr>
          </p:nvSpPr>
          <p:spPr bwMode="auto">
            <a:xfrm>
              <a:off x="1237158" y="1347789"/>
              <a:ext cx="388112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zh-CN" altLang="en-US" sz="1800" b="1" dirty="0">
                  <a:solidFill>
                    <a:srgbClr val="005DAF"/>
                  </a:solidFill>
                  <a:latin typeface="微软雅黑" panose="020B0503020204020204" charset="-122"/>
                  <a:ea typeface="微软雅黑" panose="020B0503020204020204" charset="-122"/>
                </a:rPr>
                <a:t>加入移位模块实现滚动显示</a:t>
              </a:r>
              <a:endParaRPr lang="zh-CN" altLang="en-US" sz="1800" b="1" dirty="0">
                <a:solidFill>
                  <a:srgbClr val="005DAF"/>
                </a:solidFill>
                <a:latin typeface="微软雅黑" panose="020B0503020204020204" charset="-122"/>
                <a:ea typeface="微软雅黑" panose="020B0503020204020204" charset="-122"/>
              </a:endParaRPr>
            </a:p>
          </p:txBody>
        </p:sp>
        <p:cxnSp>
          <p:nvCxnSpPr>
            <p:cNvPr id="19" name="直接连接符 7"/>
            <p:cNvCxnSpPr/>
            <p:nvPr>
              <p:custDataLst>
                <p:tags r:id="rId8"/>
              </p:custDataLst>
            </p:nvPr>
          </p:nvCxnSpPr>
          <p:spPr>
            <a:xfrm flipH="1">
              <a:off x="1237158" y="1789114"/>
              <a:ext cx="4346896" cy="0"/>
            </a:xfrm>
            <a:prstGeom prst="line">
              <a:avLst/>
            </a:prstGeom>
            <a:ln>
              <a:solidFill>
                <a:schemeClr val="bg1">
                  <a:lumMod val="50000"/>
                  <a:alpha val="60000"/>
                </a:schemeClr>
              </a:solidFill>
            </a:ln>
          </p:spPr>
          <p:style>
            <a:lnRef idx="1">
              <a:schemeClr val="accent1"/>
            </a:lnRef>
            <a:fillRef idx="0">
              <a:schemeClr val="accent1"/>
            </a:fillRef>
            <a:effectRef idx="0">
              <a:schemeClr val="accent1"/>
            </a:effectRef>
            <a:fontRef idx="minor">
              <a:schemeClr val="tx1"/>
            </a:fontRef>
          </p:style>
        </p:cxnSp>
      </p:grpSp>
      <p:pic>
        <p:nvPicPr>
          <p:cNvPr id="20" name="图片 6"/>
          <p:cNvPicPr>
            <a:picLocks noChangeAspect="1"/>
          </p:cNvPicPr>
          <p:nvPr/>
        </p:nvPicPr>
        <p:blipFill>
          <a:blip r:embed="rId9"/>
          <a:stretch>
            <a:fillRect/>
          </a:stretch>
        </p:blipFill>
        <p:spPr>
          <a:xfrm>
            <a:off x="1072515" y="3949700"/>
            <a:ext cx="4352290" cy="1200150"/>
          </a:xfrm>
          <a:prstGeom prst="rect">
            <a:avLst/>
          </a:prstGeom>
        </p:spPr>
      </p:pic>
    </p:spTree>
    <p:custDataLst>
      <p:tags r:id="rId10"/>
    </p:custData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7"/>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4" name="组合 23"/>
          <p:cNvGrpSpPr/>
          <p:nvPr/>
        </p:nvGrpSpPr>
        <p:grpSpPr>
          <a:xfrm>
            <a:off x="1072811" y="691926"/>
            <a:ext cx="10841022" cy="461962"/>
            <a:chOff x="1072811" y="691926"/>
            <a:chExt cx="10841022" cy="461962"/>
          </a:xfrm>
        </p:grpSpPr>
        <p:sp>
          <p:nvSpPr>
            <p:cNvPr id="28" name="文本框 34"/>
            <p:cNvSpPr txBox="1">
              <a:spLocks noChangeArrowheads="1"/>
            </p:cNvSpPr>
            <p:nvPr/>
          </p:nvSpPr>
          <p:spPr bwMode="auto">
            <a:xfrm>
              <a:off x="1072811" y="691926"/>
              <a:ext cx="536448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zh-CN" altLang="en-US" sz="2400" b="1" dirty="0">
                  <a:latin typeface="微软雅黑" panose="020B0503020204020204" charset="-122"/>
                  <a:ea typeface="微软雅黑" panose="020B0503020204020204" charset="-122"/>
                </a:rPr>
                <a:t>另一种解决办法</a:t>
              </a:r>
              <a:endParaRPr lang="zh-CN" altLang="en-US" sz="2400" b="1" dirty="0">
                <a:latin typeface="微软雅黑" panose="020B0503020204020204" charset="-122"/>
                <a:ea typeface="微软雅黑" panose="020B0503020204020204" charset="-122"/>
              </a:endParaRPr>
            </a:p>
          </p:txBody>
        </p:sp>
        <p:cxnSp>
          <p:nvCxnSpPr>
            <p:cNvPr id="29" name="直接连接符 28"/>
            <p:cNvCxnSpPr/>
            <p:nvPr/>
          </p:nvCxnSpPr>
          <p:spPr>
            <a:xfrm>
              <a:off x="1072811" y="1153888"/>
              <a:ext cx="10841022"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6" name="文本框 5"/>
          <p:cNvSpPr txBox="1"/>
          <p:nvPr/>
        </p:nvSpPr>
        <p:spPr>
          <a:xfrm>
            <a:off x="1101725" y="1685290"/>
            <a:ext cx="4064000" cy="1198880"/>
          </a:xfrm>
          <a:prstGeom prst="rect">
            <a:avLst/>
          </a:prstGeom>
          <a:noFill/>
        </p:spPr>
        <p:txBody>
          <a:bodyPr wrap="square" rtlCol="0">
            <a:spAutoFit/>
          </a:bodyPr>
          <a:p>
            <a:r>
              <a:rPr lang="zh-CN" altLang="en-US">
                <a:solidFill>
                  <a:srgbClr val="005BBB"/>
                </a:solidFill>
                <a:sym typeface="+mn-ea"/>
              </a:rPr>
              <a:t>■</a:t>
            </a:r>
            <a:r>
              <a:rPr lang="zh-CN" altLang="en-US" b="1">
                <a:latin typeface="微软雅黑" panose="020B0503020204020204" charset="-122"/>
                <a:ea typeface="微软雅黑" panose="020B0503020204020204" charset="-122"/>
              </a:rPr>
              <a:t>可以通过另一种办法来设计寄存器，实现该实验的输出要求。</a:t>
            </a:r>
            <a:endParaRPr lang="zh-CN" altLang="en-US" b="1">
              <a:latin typeface="微软雅黑" panose="020B0503020204020204" charset="-122"/>
              <a:ea typeface="微软雅黑" panose="020B0503020204020204" charset="-122"/>
            </a:endParaRPr>
          </a:p>
          <a:p>
            <a:r>
              <a:rPr lang="zh-CN" altLang="en-US" b="1">
                <a:latin typeface="微软雅黑" panose="020B0503020204020204" charset="-122"/>
                <a:ea typeface="微软雅黑" panose="020B0503020204020204" charset="-122"/>
              </a:rPr>
              <a:t>即移位寄存器模块加上闪烁模块。可见右电路图</a:t>
            </a:r>
            <a:endParaRPr lang="zh-CN" altLang="en-US" b="1">
              <a:latin typeface="微软雅黑" panose="020B0503020204020204" charset="-122"/>
              <a:ea typeface="微软雅黑" panose="020B0503020204020204" charset="-122"/>
            </a:endParaRPr>
          </a:p>
        </p:txBody>
      </p:sp>
      <p:pic>
        <p:nvPicPr>
          <p:cNvPr id="9" name="图片 8"/>
          <p:cNvPicPr>
            <a:picLocks noChangeAspect="1"/>
          </p:cNvPicPr>
          <p:nvPr/>
        </p:nvPicPr>
        <p:blipFill>
          <a:blip r:embed="rId1"/>
          <a:stretch>
            <a:fillRect/>
          </a:stretch>
        </p:blipFill>
        <p:spPr>
          <a:xfrm>
            <a:off x="5165725" y="1495425"/>
            <a:ext cx="6539865" cy="4648200"/>
          </a:xfrm>
          <a:prstGeom prst="rect">
            <a:avLst/>
          </a:prstGeom>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4" name="组合 23"/>
          <p:cNvGrpSpPr/>
          <p:nvPr/>
        </p:nvGrpSpPr>
        <p:grpSpPr>
          <a:xfrm>
            <a:off x="1072811" y="691926"/>
            <a:ext cx="10841022" cy="461962"/>
            <a:chOff x="1072811" y="691926"/>
            <a:chExt cx="10841022" cy="461962"/>
          </a:xfrm>
        </p:grpSpPr>
        <p:sp>
          <p:nvSpPr>
            <p:cNvPr id="28" name="文本框 34"/>
            <p:cNvSpPr txBox="1">
              <a:spLocks noChangeArrowheads="1"/>
            </p:cNvSpPr>
            <p:nvPr/>
          </p:nvSpPr>
          <p:spPr bwMode="auto">
            <a:xfrm>
              <a:off x="1072811" y="691926"/>
              <a:ext cx="536448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zh-CN" altLang="en-US" sz="2400" b="1" dirty="0">
                  <a:latin typeface="微软雅黑" panose="020B0503020204020204" charset="-122"/>
                  <a:ea typeface="微软雅黑" panose="020B0503020204020204" charset="-122"/>
                </a:rPr>
                <a:t>代码展示</a:t>
              </a:r>
              <a:endParaRPr lang="zh-CN" altLang="en-US" sz="2400" b="1" dirty="0">
                <a:latin typeface="微软雅黑" panose="020B0503020204020204" charset="-122"/>
                <a:ea typeface="微软雅黑" panose="020B0503020204020204" charset="-122"/>
              </a:endParaRPr>
            </a:p>
          </p:txBody>
        </p:sp>
        <p:cxnSp>
          <p:nvCxnSpPr>
            <p:cNvPr id="29" name="直接连接符 28"/>
            <p:cNvCxnSpPr/>
            <p:nvPr/>
          </p:nvCxnSpPr>
          <p:spPr>
            <a:xfrm>
              <a:off x="1072811" y="1153888"/>
              <a:ext cx="10841022"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grpSp>
      <p:pic>
        <p:nvPicPr>
          <p:cNvPr id="5" name="图片 4"/>
          <p:cNvPicPr>
            <a:picLocks noChangeAspect="1"/>
          </p:cNvPicPr>
          <p:nvPr/>
        </p:nvPicPr>
        <p:blipFill>
          <a:blip r:embed="rId1"/>
          <a:stretch>
            <a:fillRect/>
          </a:stretch>
        </p:blipFill>
        <p:spPr>
          <a:xfrm>
            <a:off x="1072515" y="2257425"/>
            <a:ext cx="3881120" cy="4294505"/>
          </a:xfrm>
          <a:prstGeom prst="rect">
            <a:avLst/>
          </a:prstGeom>
        </p:spPr>
      </p:pic>
      <p:pic>
        <p:nvPicPr>
          <p:cNvPr id="6" name="图片 5"/>
          <p:cNvPicPr>
            <a:picLocks noChangeAspect="1"/>
          </p:cNvPicPr>
          <p:nvPr/>
        </p:nvPicPr>
        <p:blipFill>
          <a:blip r:embed="rId2"/>
          <a:stretch>
            <a:fillRect/>
          </a:stretch>
        </p:blipFill>
        <p:spPr>
          <a:xfrm>
            <a:off x="6018530" y="2167255"/>
            <a:ext cx="4420870" cy="3862705"/>
          </a:xfrm>
          <a:prstGeom prst="rect">
            <a:avLst/>
          </a:prstGeom>
        </p:spPr>
      </p:pic>
      <p:grpSp>
        <p:nvGrpSpPr>
          <p:cNvPr id="7" name="组合 6"/>
          <p:cNvGrpSpPr/>
          <p:nvPr/>
        </p:nvGrpSpPr>
        <p:grpSpPr>
          <a:xfrm>
            <a:off x="1072675" y="1606233"/>
            <a:ext cx="4346896" cy="441325"/>
            <a:chOff x="1237158" y="1347789"/>
            <a:chExt cx="4346896" cy="441325"/>
          </a:xfrm>
        </p:grpSpPr>
        <p:sp>
          <p:nvSpPr>
            <p:cNvPr id="8" name="矩形 7"/>
            <p:cNvSpPr>
              <a:spLocks noChangeArrowheads="1"/>
            </p:cNvSpPr>
            <p:nvPr>
              <p:custDataLst>
                <p:tags r:id="rId3"/>
              </p:custDataLst>
            </p:nvPr>
          </p:nvSpPr>
          <p:spPr bwMode="auto">
            <a:xfrm>
              <a:off x="1237158" y="1347789"/>
              <a:ext cx="388112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zh-CN" altLang="en-US" sz="1800" b="1" dirty="0">
                  <a:solidFill>
                    <a:srgbClr val="005DAF"/>
                  </a:solidFill>
                  <a:latin typeface="微软雅黑" panose="020B0503020204020204" charset="-122"/>
                  <a:ea typeface="微软雅黑" panose="020B0503020204020204" charset="-122"/>
                </a:rPr>
                <a:t>移位寄存器模块</a:t>
              </a:r>
              <a:endParaRPr lang="zh-CN" altLang="en-US" sz="1800" b="1" dirty="0">
                <a:solidFill>
                  <a:srgbClr val="005DAF"/>
                </a:solidFill>
                <a:latin typeface="微软雅黑" panose="020B0503020204020204" charset="-122"/>
                <a:ea typeface="微软雅黑" panose="020B0503020204020204" charset="-122"/>
              </a:endParaRPr>
            </a:p>
          </p:txBody>
        </p:sp>
        <p:cxnSp>
          <p:nvCxnSpPr>
            <p:cNvPr id="9" name="直接连接符 7"/>
            <p:cNvCxnSpPr/>
            <p:nvPr>
              <p:custDataLst>
                <p:tags r:id="rId4"/>
              </p:custDataLst>
            </p:nvPr>
          </p:nvCxnSpPr>
          <p:spPr>
            <a:xfrm flipH="1">
              <a:off x="1237158" y="1789114"/>
              <a:ext cx="4346896" cy="0"/>
            </a:xfrm>
            <a:prstGeom prst="line">
              <a:avLst/>
            </a:prstGeom>
            <a:ln>
              <a:solidFill>
                <a:schemeClr val="bg1">
                  <a:lumMod val="50000"/>
                  <a:alpha val="60000"/>
                </a:schemeClr>
              </a:solidFill>
            </a:ln>
          </p:spPr>
          <p:style>
            <a:lnRef idx="1">
              <a:schemeClr val="accent1"/>
            </a:lnRef>
            <a:fillRef idx="0">
              <a:schemeClr val="accent1"/>
            </a:fillRef>
            <a:effectRef idx="0">
              <a:schemeClr val="accent1"/>
            </a:effectRef>
            <a:fontRef idx="minor">
              <a:schemeClr val="tx1"/>
            </a:fontRef>
          </p:style>
        </p:cxnSp>
      </p:grpSp>
      <p:grpSp>
        <p:nvGrpSpPr>
          <p:cNvPr id="13" name="组合 12"/>
          <p:cNvGrpSpPr/>
          <p:nvPr/>
        </p:nvGrpSpPr>
        <p:grpSpPr>
          <a:xfrm>
            <a:off x="6018690" y="1606233"/>
            <a:ext cx="4346896" cy="441325"/>
            <a:chOff x="1237158" y="1347789"/>
            <a:chExt cx="4346896" cy="441325"/>
          </a:xfrm>
        </p:grpSpPr>
        <p:sp>
          <p:nvSpPr>
            <p:cNvPr id="14" name="矩形 13"/>
            <p:cNvSpPr>
              <a:spLocks noChangeArrowheads="1"/>
            </p:cNvSpPr>
            <p:nvPr>
              <p:custDataLst>
                <p:tags r:id="rId5"/>
              </p:custDataLst>
            </p:nvPr>
          </p:nvSpPr>
          <p:spPr bwMode="auto">
            <a:xfrm>
              <a:off x="1237158" y="1347789"/>
              <a:ext cx="388112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zh-CN" altLang="en-US" sz="1800" b="1" dirty="0">
                  <a:solidFill>
                    <a:srgbClr val="005DAF"/>
                  </a:solidFill>
                  <a:latin typeface="微软雅黑" panose="020B0503020204020204" charset="-122"/>
                  <a:ea typeface="微软雅黑" panose="020B0503020204020204" charset="-122"/>
                </a:rPr>
                <a:t>闪烁模块</a:t>
              </a:r>
              <a:endParaRPr lang="zh-CN" altLang="en-US" sz="1800" b="1" dirty="0">
                <a:solidFill>
                  <a:srgbClr val="005DAF"/>
                </a:solidFill>
                <a:latin typeface="微软雅黑" panose="020B0503020204020204" charset="-122"/>
                <a:ea typeface="微软雅黑" panose="020B0503020204020204" charset="-122"/>
              </a:endParaRPr>
            </a:p>
          </p:txBody>
        </p:sp>
        <p:cxnSp>
          <p:nvCxnSpPr>
            <p:cNvPr id="15" name="直接连接符 7"/>
            <p:cNvCxnSpPr/>
            <p:nvPr>
              <p:custDataLst>
                <p:tags r:id="rId6"/>
              </p:custDataLst>
            </p:nvPr>
          </p:nvCxnSpPr>
          <p:spPr>
            <a:xfrm flipH="1">
              <a:off x="1237158" y="1789114"/>
              <a:ext cx="4346896" cy="0"/>
            </a:xfrm>
            <a:prstGeom prst="line">
              <a:avLst/>
            </a:prstGeom>
            <a:ln>
              <a:solidFill>
                <a:schemeClr val="bg1">
                  <a:lumMod val="50000"/>
                  <a:alpha val="60000"/>
                </a:schemeClr>
              </a:solidFill>
            </a:ln>
          </p:spPr>
          <p:style>
            <a:lnRef idx="1">
              <a:schemeClr val="accent1"/>
            </a:lnRef>
            <a:fillRef idx="0">
              <a:schemeClr val="accent1"/>
            </a:fillRef>
            <a:effectRef idx="0">
              <a:schemeClr val="accent1"/>
            </a:effectRef>
            <a:fontRef idx="minor">
              <a:schemeClr val="tx1"/>
            </a:fontRef>
          </p:style>
        </p:cxnSp>
      </p:gr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a:xfrm>
            <a:off x="763905" y="2103120"/>
            <a:ext cx="10515600" cy="1325563"/>
          </a:xfrm>
        </p:spPr>
        <p:txBody>
          <a:bodyPr/>
          <a:p>
            <a:r>
              <a:rPr lang="en-US" altLang="zh-CN" b="1" dirty="0">
                <a:latin typeface="微软雅黑" panose="020B0503020204020204" charset="-122"/>
                <a:ea typeface="微软雅黑" panose="020B0503020204020204" charset="-122"/>
                <a:sym typeface="+mn-ea"/>
              </a:rPr>
              <a:t>                      </a:t>
            </a:r>
            <a:r>
              <a:rPr lang="en-US" altLang="zh-CN" sz="4000" b="1" dirty="0">
                <a:latin typeface="宋体" panose="02010600030101010101" pitchFamily="2" charset="-122"/>
                <a:ea typeface="宋体" panose="02010600030101010101" pitchFamily="2" charset="-122"/>
                <a:cs typeface="宋体" panose="02010600030101010101" pitchFamily="2" charset="-122"/>
                <a:sym typeface="+mn-ea"/>
              </a:rPr>
              <a:t>Problem 3rd </a:t>
            </a:r>
            <a:br>
              <a:rPr lang="en-US" altLang="zh-CN" sz="4000" b="1" dirty="0">
                <a:latin typeface="宋体" panose="02010600030101010101" pitchFamily="2" charset="-122"/>
                <a:ea typeface="宋体" panose="02010600030101010101" pitchFamily="2" charset="-122"/>
                <a:cs typeface="宋体" panose="02010600030101010101" pitchFamily="2" charset="-122"/>
                <a:sym typeface="+mn-ea"/>
              </a:rPr>
            </a:br>
            <a:br>
              <a:rPr lang="en-US" altLang="zh-CN" sz="4000" b="1" dirty="0">
                <a:latin typeface="宋体" panose="02010600030101010101" pitchFamily="2" charset="-122"/>
                <a:ea typeface="宋体" panose="02010600030101010101" pitchFamily="2" charset="-122"/>
                <a:cs typeface="宋体" panose="02010600030101010101" pitchFamily="2" charset="-122"/>
                <a:sym typeface="+mn-ea"/>
              </a:rPr>
            </a:br>
            <a:r>
              <a:rPr lang="en-US" altLang="zh-CN" sz="4000" b="1" dirty="0">
                <a:latin typeface="宋体" panose="02010600030101010101" pitchFamily="2" charset="-122"/>
                <a:ea typeface="宋体" panose="02010600030101010101" pitchFamily="2" charset="-122"/>
                <a:cs typeface="宋体" panose="02010600030101010101" pitchFamily="2" charset="-122"/>
                <a:sym typeface="+mn-ea"/>
              </a:rPr>
              <a:t>   </a:t>
            </a:r>
            <a:r>
              <a:rPr lang="en-US" altLang="zh-CN" sz="3600" b="1" dirty="0">
                <a:latin typeface="宋体" panose="02010600030101010101" pitchFamily="2" charset="-122"/>
                <a:ea typeface="宋体" panose="02010600030101010101" pitchFamily="2" charset="-122"/>
                <a:cs typeface="宋体" panose="02010600030101010101" pitchFamily="2" charset="-122"/>
                <a:sym typeface="+mn-ea"/>
              </a:rPr>
              <a:t> </a:t>
            </a:r>
            <a:r>
              <a:rPr lang="zh-CN" altLang="en-US" sz="3600" b="1" dirty="0">
                <a:latin typeface="宋体" panose="02010600030101010101" pitchFamily="2" charset="-122"/>
                <a:ea typeface="宋体" panose="02010600030101010101" pitchFamily="2" charset="-122"/>
                <a:cs typeface="宋体" panose="02010600030101010101" pitchFamily="2" charset="-122"/>
                <a:sym typeface="+mn-ea"/>
              </a:rPr>
              <a:t>优先编码器级联过程中出现的数据传输问题</a:t>
            </a:r>
            <a:endParaRPr lang="zh-CN" altLang="en-US" sz="3600" b="1" dirty="0">
              <a:latin typeface="宋体" panose="02010600030101010101" pitchFamily="2" charset="-122"/>
              <a:ea typeface="宋体" panose="02010600030101010101" pitchFamily="2" charset="-122"/>
              <a:cs typeface="宋体" panose="02010600030101010101" pitchFamily="2" charset="-122"/>
              <a:sym typeface="+mn-ea"/>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p:transition spd="slow">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4" name="组合 23"/>
          <p:cNvGrpSpPr/>
          <p:nvPr/>
        </p:nvGrpSpPr>
        <p:grpSpPr>
          <a:xfrm>
            <a:off x="1072811" y="691926"/>
            <a:ext cx="10841022" cy="461962"/>
            <a:chOff x="1072811" y="691926"/>
            <a:chExt cx="10841022" cy="461962"/>
          </a:xfrm>
        </p:grpSpPr>
        <p:sp>
          <p:nvSpPr>
            <p:cNvPr id="28" name="文本框 34"/>
            <p:cNvSpPr txBox="1">
              <a:spLocks noChangeArrowheads="1"/>
            </p:cNvSpPr>
            <p:nvPr/>
          </p:nvSpPr>
          <p:spPr bwMode="auto">
            <a:xfrm>
              <a:off x="1072811" y="691926"/>
              <a:ext cx="536448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zh-CN" altLang="en-US" sz="2400" b="1" dirty="0">
                  <a:latin typeface="微软雅黑" panose="020B0503020204020204" charset="-122"/>
                  <a:ea typeface="微软雅黑" panose="020B0503020204020204" charset="-122"/>
                </a:rPr>
                <a:t>问题分析</a:t>
              </a:r>
              <a:endParaRPr lang="zh-CN" altLang="en-US" sz="2400" b="1" dirty="0">
                <a:latin typeface="微软雅黑" panose="020B0503020204020204" charset="-122"/>
                <a:ea typeface="微软雅黑" panose="020B0503020204020204" charset="-122"/>
              </a:endParaRPr>
            </a:p>
          </p:txBody>
        </p:sp>
        <p:cxnSp>
          <p:nvCxnSpPr>
            <p:cNvPr id="29" name="直接连接符 28"/>
            <p:cNvCxnSpPr/>
            <p:nvPr/>
          </p:nvCxnSpPr>
          <p:spPr>
            <a:xfrm>
              <a:off x="1072811" y="1153888"/>
              <a:ext cx="10841022"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3" name="组合 2"/>
          <p:cNvGrpSpPr/>
          <p:nvPr/>
        </p:nvGrpSpPr>
        <p:grpSpPr>
          <a:xfrm>
            <a:off x="1072515" y="1352803"/>
            <a:ext cx="4269740" cy="3506470"/>
            <a:chOff x="4114800" y="1352168"/>
            <a:chExt cx="4269740" cy="3506470"/>
          </a:xfrm>
        </p:grpSpPr>
        <p:sp>
          <p:nvSpPr>
            <p:cNvPr id="23" name="文本框 22"/>
            <p:cNvSpPr txBox="1"/>
            <p:nvPr/>
          </p:nvSpPr>
          <p:spPr>
            <a:xfrm>
              <a:off x="4237530" y="1352168"/>
              <a:ext cx="3556221" cy="506730"/>
            </a:xfrm>
            <a:prstGeom prst="rect">
              <a:avLst/>
            </a:prstGeom>
            <a:noFill/>
          </p:spPr>
          <p:txBody>
            <a:bodyPr wrap="square" rtlCol="0">
              <a:spAutoFit/>
            </a:bodyPr>
            <a:lstStyle/>
            <a:p>
              <a:pPr>
                <a:lnSpc>
                  <a:spcPct val="150000"/>
                </a:lnSpc>
              </a:pPr>
              <a:r>
                <a:rPr lang="zh-CN" b="1" dirty="0">
                  <a:solidFill>
                    <a:srgbClr val="005DAF"/>
                  </a:solidFill>
                  <a:latin typeface="微软雅黑" panose="020B0503020204020204" charset="-122"/>
                  <a:ea typeface="微软雅黑" panose="020B0503020204020204" charset="-122"/>
                </a:rPr>
                <a:t>优先编码器</a:t>
              </a:r>
              <a:endParaRPr lang="zh-CN" b="1" dirty="0">
                <a:solidFill>
                  <a:srgbClr val="005DAF"/>
                </a:solidFill>
                <a:latin typeface="微软雅黑" panose="020B0503020204020204" charset="-122"/>
                <a:ea typeface="微软雅黑" panose="020B0503020204020204" charset="-122"/>
              </a:endParaRPr>
            </a:p>
          </p:txBody>
        </p:sp>
        <p:sp>
          <p:nvSpPr>
            <p:cNvPr id="26" name="矩形 25"/>
            <p:cNvSpPr/>
            <p:nvPr/>
          </p:nvSpPr>
          <p:spPr>
            <a:xfrm>
              <a:off x="4114800" y="1508737"/>
              <a:ext cx="122730" cy="302337"/>
            </a:xfrm>
            <a:prstGeom prst="rect">
              <a:avLst/>
            </a:prstGeom>
            <a:solidFill>
              <a:srgbClr val="005DA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文本框 1"/>
            <p:cNvSpPr txBox="1"/>
            <p:nvPr/>
          </p:nvSpPr>
          <p:spPr>
            <a:xfrm>
              <a:off x="4237355" y="1858898"/>
              <a:ext cx="4147185" cy="2999740"/>
            </a:xfrm>
            <a:prstGeom prst="rect">
              <a:avLst/>
            </a:prstGeom>
            <a:noFill/>
          </p:spPr>
          <p:txBody>
            <a:bodyPr wrap="square" rtlCol="0">
              <a:spAutoFit/>
            </a:bodyPr>
            <a:lstStyle/>
            <a:p>
              <a:pPr>
                <a:lnSpc>
                  <a:spcPct val="150000"/>
                </a:lnSpc>
              </a:pPr>
              <a:r>
                <a:rPr lang="zh-CN" altLang="en-US" b="1" dirty="0">
                  <a:solidFill>
                    <a:schemeClr val="tx1"/>
                  </a:solidFill>
                  <a:latin typeface="微软雅黑" panose="020B0503020204020204" charset="-122"/>
                  <a:ea typeface="微软雅黑" panose="020B0503020204020204" charset="-122"/>
                </a:rPr>
                <a:t>在</a:t>
              </a:r>
              <a:r>
                <a:rPr lang="en-US" altLang="zh-CN" b="1" dirty="0">
                  <a:solidFill>
                    <a:schemeClr val="tx1"/>
                  </a:solidFill>
                  <a:latin typeface="微软雅黑" panose="020B0503020204020204" charset="-122"/>
                  <a:ea typeface="微软雅黑" panose="020B0503020204020204" charset="-122"/>
                </a:rPr>
                <a:t>Lab4</a:t>
              </a:r>
              <a:r>
                <a:rPr lang="zh-CN" altLang="en-US" b="1" dirty="0">
                  <a:solidFill>
                    <a:schemeClr val="tx1"/>
                  </a:solidFill>
                  <a:latin typeface="微软雅黑" panose="020B0503020204020204" charset="-122"/>
                  <a:ea typeface="微软雅黑" panose="020B0503020204020204" charset="-122"/>
                </a:rPr>
                <a:t>之后进行的课堂练习中，我们做了优先编码器的相关训练，通过开关控制编码器的八位输出，并在</a:t>
              </a:r>
              <a:r>
                <a:rPr lang="en-US" altLang="zh-CN" b="1" dirty="0">
                  <a:solidFill>
                    <a:schemeClr val="tx1"/>
                  </a:solidFill>
                  <a:latin typeface="微软雅黑" panose="020B0503020204020204" charset="-122"/>
                  <a:ea typeface="微软雅黑" panose="020B0503020204020204" charset="-122"/>
                </a:rPr>
                <a:t>led</a:t>
              </a:r>
              <a:r>
                <a:rPr lang="zh-CN" altLang="en-US" b="1" dirty="0">
                  <a:solidFill>
                    <a:schemeClr val="tx1"/>
                  </a:solidFill>
                  <a:latin typeface="微软雅黑" panose="020B0503020204020204" charset="-122"/>
                  <a:ea typeface="微软雅黑" panose="020B0503020204020204" charset="-122"/>
                </a:rPr>
                <a:t>灯上将输出显示出来，此部分没有遇到困难。</a:t>
              </a:r>
              <a:endParaRPr lang="zh-CN" altLang="en-US" b="1" dirty="0">
                <a:solidFill>
                  <a:schemeClr val="tx1"/>
                </a:solidFill>
                <a:latin typeface="微软雅黑" panose="020B0503020204020204" charset="-122"/>
                <a:ea typeface="微软雅黑" panose="020B0503020204020204" charset="-122"/>
              </a:endParaRPr>
            </a:p>
            <a:p>
              <a:pPr>
                <a:lnSpc>
                  <a:spcPct val="150000"/>
                </a:lnSpc>
              </a:pPr>
              <a:r>
                <a:rPr lang="zh-CN" altLang="en-US" b="1" dirty="0">
                  <a:solidFill>
                    <a:schemeClr val="tx1"/>
                  </a:solidFill>
                  <a:latin typeface="微软雅黑" panose="020B0503020204020204" charset="-122"/>
                  <a:ea typeface="微软雅黑" panose="020B0503020204020204" charset="-122"/>
                </a:rPr>
                <a:t>但在后续小组中进行三个编码器的级联时，出现了低位编码器无法向中位及高位输出信号的问题，这困扰了我们很久。</a:t>
              </a:r>
              <a:endParaRPr lang="zh-CN" altLang="en-US" b="1" dirty="0">
                <a:solidFill>
                  <a:schemeClr val="tx1"/>
                </a:solidFill>
                <a:latin typeface="微软雅黑" panose="020B0503020204020204" charset="-122"/>
                <a:ea typeface="微软雅黑" panose="020B0503020204020204" charset="-122"/>
              </a:endParaRPr>
            </a:p>
          </p:txBody>
        </p:sp>
      </p:grpSp>
      <p:pic>
        <p:nvPicPr>
          <p:cNvPr id="5" name="图片 4"/>
          <p:cNvPicPr>
            <a:picLocks noChangeAspect="1"/>
          </p:cNvPicPr>
          <p:nvPr/>
        </p:nvPicPr>
        <p:blipFill>
          <a:blip r:embed="rId1"/>
          <a:stretch>
            <a:fillRect/>
          </a:stretch>
        </p:blipFill>
        <p:spPr>
          <a:xfrm>
            <a:off x="5868035" y="1509395"/>
            <a:ext cx="6226810" cy="3427095"/>
          </a:xfrm>
          <a:prstGeom prst="rect">
            <a:avLst/>
          </a:prstGeom>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p:transition spd="slow">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4" name="组合 23"/>
          <p:cNvGrpSpPr/>
          <p:nvPr/>
        </p:nvGrpSpPr>
        <p:grpSpPr>
          <a:xfrm>
            <a:off x="1072811" y="691926"/>
            <a:ext cx="10841022" cy="461962"/>
            <a:chOff x="1072811" y="691926"/>
            <a:chExt cx="10841022" cy="461962"/>
          </a:xfrm>
        </p:grpSpPr>
        <p:sp>
          <p:nvSpPr>
            <p:cNvPr id="28" name="文本框 34"/>
            <p:cNvSpPr txBox="1">
              <a:spLocks noChangeArrowheads="1"/>
            </p:cNvSpPr>
            <p:nvPr/>
          </p:nvSpPr>
          <p:spPr bwMode="auto">
            <a:xfrm>
              <a:off x="1072811" y="691926"/>
              <a:ext cx="536448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zh-CN" altLang="en-US" sz="2400" b="1" dirty="0">
                  <a:latin typeface="微软雅黑" panose="020B0503020204020204" charset="-122"/>
                  <a:ea typeface="微软雅黑" panose="020B0503020204020204" charset="-122"/>
                </a:rPr>
                <a:t>解决办法</a:t>
              </a:r>
              <a:endParaRPr lang="zh-CN" altLang="en-US" sz="2400" b="1" dirty="0">
                <a:latin typeface="微软雅黑" panose="020B0503020204020204" charset="-122"/>
                <a:ea typeface="微软雅黑" panose="020B0503020204020204" charset="-122"/>
              </a:endParaRPr>
            </a:p>
          </p:txBody>
        </p:sp>
        <p:cxnSp>
          <p:nvCxnSpPr>
            <p:cNvPr id="29" name="直接连接符 28"/>
            <p:cNvCxnSpPr/>
            <p:nvPr/>
          </p:nvCxnSpPr>
          <p:spPr>
            <a:xfrm>
              <a:off x="1072811" y="1153888"/>
              <a:ext cx="10841022"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3" name="组合 2"/>
          <p:cNvGrpSpPr/>
          <p:nvPr/>
        </p:nvGrpSpPr>
        <p:grpSpPr>
          <a:xfrm>
            <a:off x="1072515" y="1352803"/>
            <a:ext cx="5499100" cy="4614545"/>
            <a:chOff x="4114800" y="1352168"/>
            <a:chExt cx="5499100" cy="4614545"/>
          </a:xfrm>
        </p:grpSpPr>
        <p:sp>
          <p:nvSpPr>
            <p:cNvPr id="23" name="文本框 22"/>
            <p:cNvSpPr txBox="1"/>
            <p:nvPr/>
          </p:nvSpPr>
          <p:spPr>
            <a:xfrm>
              <a:off x="4237530" y="1352168"/>
              <a:ext cx="3556221" cy="506730"/>
            </a:xfrm>
            <a:prstGeom prst="rect">
              <a:avLst/>
            </a:prstGeom>
            <a:noFill/>
          </p:spPr>
          <p:txBody>
            <a:bodyPr wrap="square" rtlCol="0">
              <a:spAutoFit/>
            </a:bodyPr>
            <a:lstStyle/>
            <a:p>
              <a:pPr>
                <a:lnSpc>
                  <a:spcPct val="150000"/>
                </a:lnSpc>
              </a:pPr>
              <a:r>
                <a:rPr lang="zh-CN" altLang="en-US" b="1" dirty="0">
                  <a:solidFill>
                    <a:srgbClr val="005DAF"/>
                  </a:solidFill>
                  <a:latin typeface="微软雅黑" panose="020B0503020204020204" charset="-122"/>
                  <a:ea typeface="微软雅黑" panose="020B0503020204020204" charset="-122"/>
                </a:rPr>
                <a:t>级联中的问题</a:t>
              </a:r>
              <a:endParaRPr lang="zh-CN" altLang="en-US" b="1" dirty="0">
                <a:solidFill>
                  <a:srgbClr val="005DAF"/>
                </a:solidFill>
                <a:latin typeface="微软雅黑" panose="020B0503020204020204" charset="-122"/>
                <a:ea typeface="微软雅黑" panose="020B0503020204020204" charset="-122"/>
              </a:endParaRPr>
            </a:p>
          </p:txBody>
        </p:sp>
        <p:sp>
          <p:nvSpPr>
            <p:cNvPr id="26" name="矩形 25"/>
            <p:cNvSpPr/>
            <p:nvPr/>
          </p:nvSpPr>
          <p:spPr>
            <a:xfrm>
              <a:off x="4114800" y="1508737"/>
              <a:ext cx="122730" cy="302337"/>
            </a:xfrm>
            <a:prstGeom prst="rect">
              <a:avLst/>
            </a:prstGeom>
            <a:solidFill>
              <a:srgbClr val="005DA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文本框 1"/>
            <p:cNvSpPr txBox="1"/>
            <p:nvPr/>
          </p:nvSpPr>
          <p:spPr>
            <a:xfrm>
              <a:off x="4237355" y="1858898"/>
              <a:ext cx="5376545" cy="4107815"/>
            </a:xfrm>
            <a:prstGeom prst="rect">
              <a:avLst/>
            </a:prstGeom>
            <a:noFill/>
          </p:spPr>
          <p:txBody>
            <a:bodyPr wrap="square" rtlCol="0">
              <a:spAutoFit/>
            </a:bodyPr>
            <a:lstStyle/>
            <a:p>
              <a:pPr>
                <a:lnSpc>
                  <a:spcPct val="150000"/>
                </a:lnSpc>
              </a:pPr>
              <a:r>
                <a:rPr lang="zh-CN" altLang="en-US" dirty="0">
                  <a:solidFill>
                    <a:srgbClr val="005BBB"/>
                  </a:solidFill>
                  <a:sym typeface="+mn-ea"/>
                </a:rPr>
                <a:t>■ </a:t>
              </a:r>
              <a:r>
                <a:rPr lang="zh-CN" altLang="en-US" b="1" dirty="0">
                  <a:solidFill>
                    <a:schemeClr val="tx1"/>
                  </a:solidFill>
                  <a:latin typeface="微软雅黑" panose="020B0503020204020204" charset="-122"/>
                  <a:ea typeface="微软雅黑" panose="020B0503020204020204" charset="-122"/>
                  <a:cs typeface="微软雅黑" panose="020B0503020204020204" charset="-122"/>
                  <a:sym typeface="+mn-ea"/>
                </a:rPr>
                <a:t>在尝试进行级联的过程中，信号一直无法正常传输</a:t>
              </a:r>
              <a:r>
                <a:rPr sz="1800" b="1">
                  <a:solidFill>
                    <a:schemeClr val="tx1"/>
                  </a:solidFill>
                  <a:latin typeface="微软雅黑" panose="020B0503020204020204" charset="-122"/>
                  <a:ea typeface="微软雅黑" panose="020B0503020204020204" charset="-122"/>
                  <a:cs typeface="微软雅黑" panose="020B0503020204020204" charset="-122"/>
                </a:rPr>
                <a:t> </a:t>
              </a:r>
              <a:r>
                <a:rPr lang="zh-CN" sz="1800" b="1">
                  <a:solidFill>
                    <a:schemeClr val="tx1"/>
                  </a:solidFill>
                  <a:latin typeface="微软雅黑" panose="020B0503020204020204" charset="-122"/>
                  <a:ea typeface="微软雅黑" panose="020B0503020204020204" charset="-122"/>
                  <a:cs typeface="微软雅黑" panose="020B0503020204020204" charset="-122"/>
                </a:rPr>
                <a:t>，我们分别在软件层面和硬件层面尝试去解决问题。</a:t>
              </a:r>
              <a:r>
                <a:rPr sz="1800" b="1">
                  <a:latin typeface="微软雅黑" panose="020B0503020204020204" charset="-122"/>
                  <a:ea typeface="微软雅黑" panose="020B0503020204020204" charset="-122"/>
                  <a:cs typeface="微软雅黑" panose="020B0503020204020204" charset="-122"/>
                </a:rPr>
                <a:t>  </a:t>
              </a:r>
              <a:r>
                <a:rPr sz="1800" b="1">
                  <a:latin typeface="微软雅黑" panose="020B0503020204020204" charset="-122"/>
                  <a:ea typeface="微软雅黑" panose="020B0503020204020204" charset="-122"/>
                </a:rPr>
                <a:t>             </a:t>
              </a:r>
              <a:endParaRPr sz="1800" b="1">
                <a:latin typeface="微软雅黑" panose="020B0503020204020204" charset="-122"/>
                <a:ea typeface="微软雅黑" panose="020B0503020204020204" charset="-122"/>
              </a:endParaRPr>
            </a:p>
            <a:p>
              <a:pPr>
                <a:lnSpc>
                  <a:spcPct val="150000"/>
                </a:lnSpc>
              </a:pPr>
              <a:r>
                <a:rPr lang="zh-CN" altLang="en-US" dirty="0">
                  <a:solidFill>
                    <a:srgbClr val="005BBB"/>
                  </a:solidFill>
                  <a:sym typeface="+mn-ea"/>
                </a:rPr>
                <a:t>■</a:t>
              </a:r>
              <a:r>
                <a:rPr lang="zh-CN" altLang="en-US" b="1" dirty="0">
                  <a:solidFill>
                    <a:schemeClr val="tx1"/>
                  </a:solidFill>
                  <a:latin typeface="微软雅黑" panose="020B0503020204020204" charset="-122"/>
                  <a:ea typeface="微软雅黑" panose="020B0503020204020204" charset="-122"/>
                  <a:cs typeface="微软雅黑" panose="020B0503020204020204" charset="-122"/>
                  <a:sym typeface="+mn-ea"/>
                </a:rPr>
                <a:t>在软件层面上，我们首先考虑的自然是传输信号的代码出现了问题，因此对低电平的代码进行了更改和简化，与另外两块板子上的代码保持一致。在上板实验后，仍旧出现可以正常显示信号输出，却无法将信号传输到下一块板子上的问题。</a:t>
              </a:r>
              <a:r>
                <a:rPr sz="1800" b="1">
                  <a:solidFill>
                    <a:schemeClr val="tx1"/>
                  </a:solidFill>
                  <a:latin typeface="微软雅黑" panose="020B0503020204020204" charset="-122"/>
                  <a:ea typeface="微软雅黑" panose="020B0503020204020204" charset="-122"/>
                  <a:cs typeface="微软雅黑" panose="020B0503020204020204" charset="-122"/>
                </a:rPr>
                <a:t> </a:t>
              </a:r>
              <a:r>
                <a:rPr sz="1800" b="1">
                  <a:latin typeface="微软雅黑" panose="020B0503020204020204" charset="-122"/>
                  <a:ea typeface="微软雅黑" panose="020B0503020204020204" charset="-122"/>
                </a:rPr>
                <a:t>              </a:t>
              </a:r>
              <a:endParaRPr sz="1800" b="1">
                <a:latin typeface="微软雅黑" panose="020B0503020204020204" charset="-122"/>
                <a:ea typeface="微软雅黑" panose="020B0503020204020204" charset="-122"/>
              </a:endParaRPr>
            </a:p>
            <a:p>
              <a:pPr>
                <a:lnSpc>
                  <a:spcPct val="150000"/>
                </a:lnSpc>
              </a:pPr>
              <a:endParaRPr sz="1800" b="1">
                <a:latin typeface="微软雅黑" panose="020B0503020204020204" charset="-122"/>
                <a:ea typeface="微软雅黑" panose="020B0503020204020204" charset="-122"/>
              </a:endParaRPr>
            </a:p>
            <a:p>
              <a:endParaRPr sz="1800" b="1">
                <a:latin typeface="微软雅黑" panose="020B0503020204020204" charset="-122"/>
                <a:ea typeface="微软雅黑" panose="020B0503020204020204" charset="-122"/>
              </a:endParaRPr>
            </a:p>
          </p:txBody>
        </p:sp>
      </p:grpSp>
      <p:pic>
        <p:nvPicPr>
          <p:cNvPr id="4" name="图片 3" descr="72c67313983d6b4a8d78dbd603bc613"/>
          <p:cNvPicPr>
            <a:picLocks noChangeAspect="1"/>
          </p:cNvPicPr>
          <p:nvPr/>
        </p:nvPicPr>
        <p:blipFill>
          <a:blip r:embed="rId1"/>
          <a:stretch>
            <a:fillRect/>
          </a:stretch>
        </p:blipFill>
        <p:spPr>
          <a:xfrm>
            <a:off x="7171690" y="1509395"/>
            <a:ext cx="3522345" cy="4424680"/>
          </a:xfrm>
          <a:prstGeom prst="rect">
            <a:avLst/>
          </a:prstGeom>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p:transition spd="slow">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4" name="组合 23"/>
          <p:cNvGrpSpPr/>
          <p:nvPr/>
        </p:nvGrpSpPr>
        <p:grpSpPr>
          <a:xfrm>
            <a:off x="1072811" y="691926"/>
            <a:ext cx="10841022" cy="461962"/>
            <a:chOff x="1072811" y="691926"/>
            <a:chExt cx="10841022" cy="461962"/>
          </a:xfrm>
        </p:grpSpPr>
        <p:sp>
          <p:nvSpPr>
            <p:cNvPr id="28" name="文本框 34"/>
            <p:cNvSpPr txBox="1">
              <a:spLocks noChangeArrowheads="1"/>
            </p:cNvSpPr>
            <p:nvPr/>
          </p:nvSpPr>
          <p:spPr bwMode="auto">
            <a:xfrm>
              <a:off x="1072811" y="691926"/>
              <a:ext cx="536448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zh-CN" altLang="en-US" sz="2400" b="1" dirty="0">
                  <a:latin typeface="微软雅黑" panose="020B0503020204020204" charset="-122"/>
                  <a:ea typeface="微软雅黑" panose="020B0503020204020204" charset="-122"/>
                </a:rPr>
                <a:t>解决办法</a:t>
              </a:r>
              <a:endParaRPr lang="zh-CN" altLang="en-US" sz="2400" b="1" dirty="0">
                <a:latin typeface="微软雅黑" panose="020B0503020204020204" charset="-122"/>
                <a:ea typeface="微软雅黑" panose="020B0503020204020204" charset="-122"/>
              </a:endParaRPr>
            </a:p>
          </p:txBody>
        </p:sp>
        <p:cxnSp>
          <p:nvCxnSpPr>
            <p:cNvPr id="29" name="直接连接符 28"/>
            <p:cNvCxnSpPr/>
            <p:nvPr/>
          </p:nvCxnSpPr>
          <p:spPr>
            <a:xfrm>
              <a:off x="1072811" y="1153888"/>
              <a:ext cx="10841022"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4" name="文本框 3"/>
          <p:cNvSpPr txBox="1"/>
          <p:nvPr/>
        </p:nvSpPr>
        <p:spPr>
          <a:xfrm>
            <a:off x="1072515" y="1964055"/>
            <a:ext cx="5157470" cy="4039235"/>
          </a:xfrm>
          <a:prstGeom prst="rect">
            <a:avLst/>
          </a:prstGeom>
          <a:noFill/>
        </p:spPr>
        <p:txBody>
          <a:bodyPr wrap="square" rtlCol="0" anchor="t">
            <a:noAutofit/>
          </a:bodyPr>
          <a:p>
            <a:r>
              <a:rPr lang="zh-CN" altLang="en-US" dirty="0">
                <a:solidFill>
                  <a:srgbClr val="005BBB"/>
                </a:solidFill>
                <a:sym typeface="+mn-ea"/>
              </a:rPr>
              <a:t>■</a:t>
            </a:r>
            <a:r>
              <a:rPr lang="zh-CN" altLang="en-US" b="1" dirty="0">
                <a:solidFill>
                  <a:schemeClr val="tx1"/>
                </a:solidFill>
                <a:latin typeface="微软雅黑" panose="020B0503020204020204" charset="-122"/>
                <a:ea typeface="微软雅黑" panose="020B0503020204020204" charset="-122"/>
                <a:cs typeface="微软雅黑" panose="020B0503020204020204" charset="-122"/>
                <a:sym typeface="+mn-ea"/>
              </a:rPr>
              <a:t>在软件层面走不通后，我们在助教老师的指导下探究到了硬件层面。</a:t>
            </a:r>
            <a:endParaRPr lang="zh-CN" altLang="en-US" b="1" dirty="0">
              <a:solidFill>
                <a:schemeClr val="tx1"/>
              </a:solidFill>
              <a:latin typeface="微软雅黑" panose="020B0503020204020204" charset="-122"/>
              <a:ea typeface="微软雅黑" panose="020B0503020204020204" charset="-122"/>
              <a:cs typeface="微软雅黑" panose="020B0503020204020204" charset="-122"/>
              <a:sym typeface="+mn-ea"/>
            </a:endParaRPr>
          </a:p>
          <a:p>
            <a:r>
              <a:rPr lang="zh-CN" altLang="en-US" b="1" dirty="0">
                <a:solidFill>
                  <a:schemeClr val="tx1"/>
                </a:solidFill>
                <a:latin typeface="微软雅黑" panose="020B0503020204020204" charset="-122"/>
                <a:ea typeface="微软雅黑" panose="020B0503020204020204" charset="-122"/>
                <a:cs typeface="微软雅黑" panose="020B0503020204020204" charset="-122"/>
                <a:sym typeface="+mn-ea"/>
              </a:rPr>
              <a:t>首先，我们考虑是不是在引脚编辑过程中出现了错误，选择的引脚不能正常输出信号。开始我们发现对</a:t>
            </a:r>
            <a:r>
              <a:rPr lang="en-US" altLang="zh-CN" b="1" dirty="0">
                <a:solidFill>
                  <a:schemeClr val="tx1"/>
                </a:solidFill>
                <a:latin typeface="微软雅黑" panose="020B0503020204020204" charset="-122"/>
                <a:ea typeface="微软雅黑" panose="020B0503020204020204" charset="-122"/>
                <a:cs typeface="微软雅黑" panose="020B0503020204020204" charset="-122"/>
                <a:sym typeface="+mn-ea"/>
              </a:rPr>
              <a:t>IO</a:t>
            </a:r>
            <a:r>
              <a:rPr lang="zh-CN" altLang="en-US" b="1" dirty="0">
                <a:solidFill>
                  <a:schemeClr val="tx1"/>
                </a:solidFill>
                <a:latin typeface="微软雅黑" panose="020B0503020204020204" charset="-122"/>
                <a:ea typeface="微软雅黑" panose="020B0503020204020204" charset="-122"/>
                <a:cs typeface="微软雅黑" panose="020B0503020204020204" charset="-122"/>
                <a:sym typeface="+mn-ea"/>
              </a:rPr>
              <a:t>接口的方向判断错误，这令我们一度以为找到了问题所在。可令人失望的是，通过反复的改变接口引脚，输出并没有出现任何变化，说明问题不在这里。</a:t>
            </a:r>
            <a:endParaRPr lang="zh-CN" altLang="en-US" b="1" dirty="0">
              <a:solidFill>
                <a:schemeClr val="tx1"/>
              </a:solidFill>
              <a:latin typeface="微软雅黑" panose="020B0503020204020204" charset="-122"/>
              <a:ea typeface="微软雅黑" panose="020B0503020204020204" charset="-122"/>
              <a:cs typeface="微软雅黑" panose="020B0503020204020204" charset="-122"/>
              <a:sym typeface="+mn-ea"/>
            </a:endParaRPr>
          </a:p>
          <a:p>
            <a:r>
              <a:rPr lang="zh-CN" altLang="en-US" b="1" dirty="0">
                <a:solidFill>
                  <a:schemeClr val="tx1"/>
                </a:solidFill>
                <a:latin typeface="微软雅黑" panose="020B0503020204020204" charset="-122"/>
                <a:ea typeface="微软雅黑" panose="020B0503020204020204" charset="-122"/>
                <a:cs typeface="微软雅黑" panose="020B0503020204020204" charset="-122"/>
                <a:sym typeface="+mn-ea"/>
              </a:rPr>
              <a:t>后来，在助教老师的指导下，我们又尝试了更改传输线等操作，最后将低位编码器的</a:t>
            </a:r>
            <a:r>
              <a:rPr lang="en-US" altLang="zh-CN" b="1" dirty="0">
                <a:solidFill>
                  <a:schemeClr val="tx1"/>
                </a:solidFill>
                <a:latin typeface="微软雅黑" panose="020B0503020204020204" charset="-122"/>
                <a:ea typeface="微软雅黑" panose="020B0503020204020204" charset="-122"/>
                <a:cs typeface="微软雅黑" panose="020B0503020204020204" charset="-122"/>
                <a:sym typeface="+mn-ea"/>
              </a:rPr>
              <a:t>EGO1</a:t>
            </a:r>
            <a:r>
              <a:rPr lang="zh-CN" altLang="en-US" b="1" dirty="0">
                <a:solidFill>
                  <a:schemeClr val="tx1"/>
                </a:solidFill>
                <a:latin typeface="微软雅黑" panose="020B0503020204020204" charset="-122"/>
                <a:ea typeface="微软雅黑" panose="020B0503020204020204" charset="-122"/>
                <a:cs typeface="微软雅黑" panose="020B0503020204020204" charset="-122"/>
                <a:sym typeface="+mn-ea"/>
              </a:rPr>
              <a:t>板换成了</a:t>
            </a:r>
            <a:r>
              <a:rPr lang="en-US" altLang="zh-CN" b="1" dirty="0">
                <a:solidFill>
                  <a:schemeClr val="tx1"/>
                </a:solidFill>
                <a:latin typeface="微软雅黑" panose="020B0503020204020204" charset="-122"/>
                <a:ea typeface="微软雅黑" panose="020B0503020204020204" charset="-122"/>
                <a:cs typeface="微软雅黑" panose="020B0503020204020204" charset="-122"/>
                <a:sym typeface="+mn-ea"/>
              </a:rPr>
              <a:t>Basys3</a:t>
            </a:r>
            <a:r>
              <a:rPr lang="zh-CN" altLang="en-US" b="1" dirty="0">
                <a:solidFill>
                  <a:schemeClr val="tx1"/>
                </a:solidFill>
                <a:latin typeface="微软雅黑" panose="020B0503020204020204" charset="-122"/>
                <a:ea typeface="微软雅黑" panose="020B0503020204020204" charset="-122"/>
                <a:cs typeface="微软雅黑" panose="020B0503020204020204" charset="-122"/>
                <a:sym typeface="+mn-ea"/>
              </a:rPr>
              <a:t>板，方才实现了信号的传输。但是在传输过程中，也出现了时断时续，传输易受影响等现象。猜想问题可能出现在系统的兼容性上面，也欢迎大家指出我们的错误和不足。</a:t>
            </a:r>
            <a:endParaRPr lang="zh-CN" altLang="en-US" b="1" dirty="0">
              <a:solidFill>
                <a:schemeClr val="tx1"/>
              </a:solidFill>
              <a:latin typeface="微软雅黑" panose="020B0503020204020204" charset="-122"/>
              <a:ea typeface="微软雅黑" panose="020B0503020204020204" charset="-122"/>
              <a:cs typeface="微软雅黑" panose="020B0503020204020204" charset="-122"/>
              <a:sym typeface="+mn-ea"/>
            </a:endParaRPr>
          </a:p>
        </p:txBody>
      </p:sp>
      <p:pic>
        <p:nvPicPr>
          <p:cNvPr id="6" name="图片 5"/>
          <p:cNvPicPr>
            <a:picLocks noChangeAspect="1"/>
          </p:cNvPicPr>
          <p:nvPr/>
        </p:nvPicPr>
        <p:blipFill>
          <a:blip r:embed="rId1"/>
          <a:stretch>
            <a:fillRect/>
          </a:stretch>
        </p:blipFill>
        <p:spPr>
          <a:xfrm>
            <a:off x="6756400" y="1964055"/>
            <a:ext cx="4667250" cy="3130550"/>
          </a:xfrm>
          <a:prstGeom prst="rect">
            <a:avLst/>
          </a:prstGeom>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p:transition spd="slow">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矩形 1"/>
          <p:cNvSpPr>
            <a:spLocks noChangeArrowheads="1"/>
          </p:cNvSpPr>
          <p:nvPr/>
        </p:nvSpPr>
        <p:spPr bwMode="auto">
          <a:xfrm>
            <a:off x="2279651" y="1052514"/>
            <a:ext cx="7750175" cy="465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indent="26670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nSpc>
                <a:spcPct val="150000"/>
              </a:lnSpc>
              <a:spcBef>
                <a:spcPct val="0"/>
              </a:spcBef>
              <a:buFontTx/>
              <a:buNone/>
            </a:pPr>
            <a:endParaRPr lang="zh-CN" altLang="zh-CN" sz="1800">
              <a:latin typeface="Palatino Linotype" panose="02040502050505030304" pitchFamily="18" charset="0"/>
            </a:endParaRPr>
          </a:p>
        </p:txBody>
      </p:sp>
      <p:sp>
        <p:nvSpPr>
          <p:cNvPr id="11268" name="文本框 34"/>
          <p:cNvSpPr txBox="1">
            <a:spLocks noChangeArrowheads="1"/>
          </p:cNvSpPr>
          <p:nvPr/>
        </p:nvSpPr>
        <p:spPr bwMode="auto">
          <a:xfrm>
            <a:off x="1377315" y="2720975"/>
            <a:ext cx="9453245" cy="9220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a:spcBef>
                <a:spcPct val="0"/>
              </a:spcBef>
              <a:buFontTx/>
              <a:buNone/>
            </a:pPr>
            <a:r>
              <a:rPr lang="zh-CN" altLang="en-US" sz="5400" b="1" dirty="0">
                <a:ea typeface="微软雅黑" panose="020B0503020204020204" charset="-122"/>
                <a:cs typeface="Arial" panose="020B0604020202020204" pitchFamily="34" charset="0"/>
              </a:rPr>
              <a:t>恳请老师和同学批评指正</a:t>
            </a:r>
            <a:endParaRPr lang="zh-CN" altLang="en-US" sz="5400" b="1" dirty="0">
              <a:ea typeface="微软雅黑" panose="020B0503020204020204" charset="-122"/>
              <a:cs typeface="Arial" panose="020B0604020202020204" pitchFamily="34" charset="0"/>
            </a:endParaRPr>
          </a:p>
        </p:txBody>
      </p:sp>
      <p:sp>
        <p:nvSpPr>
          <p:cNvPr id="3075" name="Text Placeholder 1"/>
          <p:cNvSpPr txBox="1"/>
          <p:nvPr>
            <p:custDataLst>
              <p:tags r:id="rId1"/>
            </p:custDataLst>
          </p:nvPr>
        </p:nvSpPr>
        <p:spPr bwMode="auto">
          <a:xfrm>
            <a:off x="3852545" y="3512820"/>
            <a:ext cx="4144010" cy="4292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lnSpc>
                <a:spcPct val="150000"/>
              </a:lnSpc>
              <a:spcBef>
                <a:spcPct val="0"/>
              </a:spcBef>
              <a:buFontTx/>
              <a:buNone/>
            </a:pPr>
            <a:endParaRPr lang="zh-CN" altLang="en-US" sz="2400" b="1" dirty="0">
              <a:latin typeface="微软雅黑" panose="020B0503020204020204" charset="-122"/>
              <a:ea typeface="微软雅黑" panose="020B0503020204020204" charset="-122"/>
            </a:endParaRPr>
          </a:p>
          <a:p>
            <a:pPr algn="ctr" eaLnBrk="1" hangingPunct="1">
              <a:lnSpc>
                <a:spcPct val="150000"/>
              </a:lnSpc>
              <a:spcBef>
                <a:spcPct val="0"/>
              </a:spcBef>
              <a:buFontTx/>
              <a:buNone/>
            </a:pPr>
            <a:r>
              <a:rPr lang="zh-CN" altLang="en-US" sz="1800" b="1" dirty="0">
                <a:latin typeface="微软雅黑" panose="020B0503020204020204" charset="-122"/>
                <a:ea typeface="微软雅黑" panose="020B0503020204020204" charset="-122"/>
              </a:rPr>
              <a:t>汇报人：</a:t>
            </a:r>
            <a:r>
              <a:rPr lang="en-US" altLang="zh-CN" sz="1800" b="1" dirty="0">
                <a:latin typeface="微软雅黑" panose="020B0503020204020204" charset="-122"/>
                <a:ea typeface="微软雅黑" panose="020B0503020204020204" charset="-122"/>
              </a:rPr>
              <a:t>11</a:t>
            </a:r>
            <a:r>
              <a:rPr lang="zh-CN" altLang="en-US" sz="1800" b="1" dirty="0">
                <a:latin typeface="微软雅黑" panose="020B0503020204020204" charset="-122"/>
                <a:ea typeface="微软雅黑" panose="020B0503020204020204" charset="-122"/>
              </a:rPr>
              <a:t>组</a:t>
            </a:r>
            <a:r>
              <a:rPr lang="en-US" altLang="zh-CN" sz="1800" b="1" dirty="0">
                <a:latin typeface="微软雅黑" panose="020B0503020204020204" charset="-122"/>
                <a:ea typeface="微软雅黑" panose="020B0503020204020204" charset="-122"/>
              </a:rPr>
              <a:t> </a:t>
            </a:r>
            <a:r>
              <a:rPr lang="zh-CN" altLang="en-US" sz="1800" b="1" dirty="0">
                <a:latin typeface="微软雅黑" panose="020B0503020204020204" charset="-122"/>
                <a:ea typeface="微软雅黑" panose="020B0503020204020204" charset="-122"/>
              </a:rPr>
              <a:t>郑智瑄</a:t>
            </a:r>
            <a:r>
              <a:rPr lang="en-US" altLang="zh-CN" sz="1800" b="1" dirty="0">
                <a:latin typeface="微软雅黑" panose="020B0503020204020204" charset="-122"/>
                <a:ea typeface="微软雅黑" panose="020B0503020204020204" charset="-122"/>
              </a:rPr>
              <a:t> </a:t>
            </a:r>
            <a:r>
              <a:rPr lang="zh-CN" altLang="en-US" sz="1800" b="1" dirty="0">
                <a:latin typeface="微软雅黑" panose="020B0503020204020204" charset="-122"/>
                <a:ea typeface="微软雅黑" panose="020B0503020204020204" charset="-122"/>
              </a:rPr>
              <a:t>李明远</a:t>
            </a:r>
            <a:r>
              <a:rPr lang="en-US" altLang="zh-CN" sz="1800" b="1" dirty="0">
                <a:latin typeface="微软雅黑" panose="020B0503020204020204" charset="-122"/>
                <a:ea typeface="微软雅黑" panose="020B0503020204020204" charset="-122"/>
              </a:rPr>
              <a:t> </a:t>
            </a:r>
            <a:r>
              <a:rPr lang="zh-CN" altLang="en-US" sz="1800" b="1" dirty="0">
                <a:latin typeface="微软雅黑" panose="020B0503020204020204" charset="-122"/>
                <a:ea typeface="微软雅黑" panose="020B0503020204020204" charset="-122"/>
              </a:rPr>
              <a:t>赵欧凯</a:t>
            </a:r>
            <a:endParaRPr lang="en-US" altLang="zh-CN" sz="1800" b="1" dirty="0">
              <a:latin typeface="微软雅黑" panose="020B0503020204020204" charset="-122"/>
              <a:ea typeface="微软雅黑" panose="020B0503020204020204" charset="-122"/>
            </a:endParaRPr>
          </a:p>
          <a:p>
            <a:pPr algn="ctr" eaLnBrk="1" hangingPunct="1">
              <a:lnSpc>
                <a:spcPct val="150000"/>
              </a:lnSpc>
              <a:spcBef>
                <a:spcPct val="0"/>
              </a:spcBef>
              <a:buFontTx/>
              <a:buNone/>
            </a:pPr>
            <a:r>
              <a:rPr lang="en-US" altLang="zh-CN" sz="1800" b="1" dirty="0">
                <a:latin typeface="微软雅黑" panose="020B0503020204020204" charset="-122"/>
                <a:ea typeface="微软雅黑" panose="020B0503020204020204" charset="-122"/>
              </a:rPr>
              <a:t>2024.5.9</a:t>
            </a:r>
            <a:endParaRPr lang="en-US" altLang="zh-CN" sz="1800" b="1" dirty="0">
              <a:latin typeface="微软雅黑" panose="020B0503020204020204" charset="-122"/>
              <a:ea typeface="微软雅黑" panose="020B0503020204020204" charset="-122"/>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p:transition spd="slow">
        <p:fade/>
      </p:transition>
    </mc:Fallback>
  </mc:AlternateContent>
</p:sld>
</file>

<file path=ppt/tags/tag1.xml><?xml version="1.0" encoding="utf-8"?>
<p:tagLst xmlns:p="http://schemas.openxmlformats.org/presentationml/2006/main">
  <p:tag name="KSO_WM_BEAUTIFY_FLAG" val=""/>
</p:tagLst>
</file>

<file path=ppt/tags/tag2.xml><?xml version="1.0" encoding="utf-8"?>
<p:tagLst xmlns:p="http://schemas.openxmlformats.org/presentationml/2006/main">
  <p:tag name="KSO_WM_BEAUTIFY_FLAG" val=""/>
</p:tagLst>
</file>

<file path=ppt/tags/tag3.xml><?xml version="1.0" encoding="utf-8"?>
<p:tagLst xmlns:p="http://schemas.openxmlformats.org/presentationml/2006/main">
  <p:tag name="TIMING" val="|28.2"/>
</p:tagLst>
</file>

<file path=ppt/tags/tag4.xml><?xml version="1.0" encoding="utf-8"?>
<p:tagLst xmlns:p="http://schemas.openxmlformats.org/presentationml/2006/main">
  <p:tag name="KSO_WM_BEAUTIFY_FLAG" val=""/>
</p:tagLst>
</file>

<file path=ppt/tags/tag5.xml><?xml version="1.0" encoding="utf-8"?>
<p:tagLst xmlns:p="http://schemas.openxmlformats.org/presentationml/2006/main">
  <p:tag name="KSO_WM_BEAUTIFY_FLAG" val=""/>
</p:tagLst>
</file>

<file path=ppt/tags/tag6.xml><?xml version="1.0" encoding="utf-8"?>
<p:tagLst xmlns:p="http://schemas.openxmlformats.org/presentationml/2006/main">
  <p:tag name="KSO_WM_BEAUTIFY_FLAG" val=""/>
</p:tagLst>
</file>

<file path=ppt/tags/tag7.xml><?xml version="1.0" encoding="utf-8"?>
<p:tagLst xmlns:p="http://schemas.openxmlformats.org/presentationml/2006/main">
  <p:tag name="KSO_WM_BEAUTIFY_FLAG" val=""/>
</p:tagLst>
</file>

<file path=ppt/tags/tag8.xml><?xml version="1.0" encoding="utf-8"?>
<p:tagLst xmlns:p="http://schemas.openxmlformats.org/presentationml/2006/main">
  <p:tag name="KSO_WM_BEAUTIFY_FLAG" val=""/>
</p:tagLst>
</file>

<file path=ppt/tags/tag9.xml><?xml version="1.0" encoding="utf-8"?>
<p:tagLst xmlns:p="http://schemas.openxmlformats.org/presentationml/2006/main">
  <p:tag name="KSO_WM_BEAUTIFY_FLAG" val=""/>
</p:tagLst>
</file>

<file path=ppt/tags/tag10.xml><?xml version="1.0" encoding="utf-8"?>
<p:tagLst xmlns:p="http://schemas.openxmlformats.org/presentationml/2006/main">
  <p:tag name="TIMING" val="|28.2"/>
</p:tagLst>
</file>

<file path=ppt/tags/tag11.xml><?xml version="1.0" encoding="utf-8"?>
<p:tagLst xmlns:p="http://schemas.openxmlformats.org/presentationml/2006/main">
  <p:tag name="KSO_WM_BEAUTIFY_FLAG" val=""/>
</p:tagLst>
</file>

<file path=ppt/tags/tag12.xml><?xml version="1.0" encoding="utf-8"?>
<p:tagLst xmlns:p="http://schemas.openxmlformats.org/presentationml/2006/main">
  <p:tag name="KSO_WM_BEAUTIFY_FLAG" val=""/>
</p:tagLst>
</file>

<file path=ppt/tags/tag13.xml><?xml version="1.0" encoding="utf-8"?>
<p:tagLst xmlns:p="http://schemas.openxmlformats.org/presentationml/2006/main">
  <p:tag name="KSO_WM_BEAUTIFY_FLAG" val=""/>
</p:tagLst>
</file>

<file path=ppt/tags/tag14.xml><?xml version="1.0" encoding="utf-8"?>
<p:tagLst xmlns:p="http://schemas.openxmlformats.org/presentationml/2006/main">
  <p:tag name="KSO_WM_BEAUTIFY_FLAG" val=""/>
</p:tagLst>
</file>

<file path=ppt/tags/tag15.xml><?xml version="1.0" encoding="utf-8"?>
<p:tagLst xmlns:p="http://schemas.openxmlformats.org/presentationml/2006/main">
  <p:tag name="KSO_WM_BEAUTIFY_FLAG" val=""/>
</p:tagLst>
</file>

<file path=ppt/tags/tag16.xml><?xml version="1.0" encoding="utf-8"?>
<p:tagLst xmlns:p="http://schemas.openxmlformats.org/presentationml/2006/main">
  <p:tag name="COMMONDATA" val="eyJoZGlkIjoiYmE0Y2FhYzY4NDFiN2NkNmU5ZTkwNDAwNTM0OTM0N2YifQ=="/>
  <p:tag name="commondata" val="eyJoZGlkIjoiYzcxOThhNWNmMDE4ZDZhOWVkNTFjN2Q1M2YzYmZkNGUifQ=="/>
</p:tagLst>
</file>

<file path=ppt/theme/theme1.xml><?xml version="1.0" encoding="utf-8"?>
<a:theme xmlns:a="http://schemas.openxmlformats.org/drawingml/2006/main" name="1_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2143</Words>
  <Application>WPS 演示</Application>
  <PresentationFormat>宽屏</PresentationFormat>
  <Paragraphs>151</Paragraphs>
  <Slides>22</Slides>
  <Notes>4</Notes>
  <HiddenSlides>0</HiddenSlides>
  <MMClips>0</MMClips>
  <ScaleCrop>false</ScaleCrop>
  <HeadingPairs>
    <vt:vector size="6" baseType="variant">
      <vt:variant>
        <vt:lpstr>已用的字体</vt:lpstr>
      </vt:variant>
      <vt:variant>
        <vt:i4>10</vt:i4>
      </vt:variant>
      <vt:variant>
        <vt:lpstr>主题</vt:lpstr>
      </vt:variant>
      <vt:variant>
        <vt:i4>1</vt:i4>
      </vt:variant>
      <vt:variant>
        <vt:lpstr>幻灯片标题</vt:lpstr>
      </vt:variant>
      <vt:variant>
        <vt:i4>22</vt:i4>
      </vt:variant>
    </vt:vector>
  </HeadingPairs>
  <TitlesOfParts>
    <vt:vector size="33" baseType="lpstr">
      <vt:lpstr>Arial</vt:lpstr>
      <vt:lpstr>宋体</vt:lpstr>
      <vt:lpstr>Wingdings</vt:lpstr>
      <vt:lpstr>微软雅黑</vt:lpstr>
      <vt:lpstr>Times New Roman</vt:lpstr>
      <vt:lpstr>Arial Unicode MS</vt:lpstr>
      <vt:lpstr>等线 Light</vt:lpstr>
      <vt:lpstr>等线</vt:lpstr>
      <vt:lpstr>Calibri</vt:lpstr>
      <vt:lpstr>Palatino Linotype</vt:lpstr>
      <vt:lpstr>1_Office 主题​​</vt:lpstr>
      <vt:lpstr>PowerPoint 演示文稿</vt:lpstr>
      <vt:lpstr>PowerPoint 演示文稿</vt:lpstr>
      <vt:lpstr>                      Problem 1st       Lab4中消抖代码正确性与严谨性讨论</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                      Problem 2nd       Lab5中通过循环移位寄存器使数码管滚动显示</vt:lpstr>
      <vt:lpstr>PowerPoint 演示文稿</vt:lpstr>
      <vt:lpstr>PowerPoint 演示文稿</vt:lpstr>
      <vt:lpstr>PowerPoint 演示文稿</vt:lpstr>
      <vt:lpstr>PowerPoint 演示文稿</vt:lpstr>
      <vt:lpstr>                      Problem 3rd       优先编码器级联过程中出现的数据传输问题</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空白演示</dc:title>
  <dc:creator/>
  <cp:lastModifiedBy>lxl</cp:lastModifiedBy>
  <cp:revision>164</cp:revision>
  <dcterms:created xsi:type="dcterms:W3CDTF">2019-06-19T02:08:00Z</dcterms:created>
  <dcterms:modified xsi:type="dcterms:W3CDTF">2024-05-08T23:12:38Z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2052-12.1.0.15712</vt:lpwstr>
  </property>
  <property fmtid="{D5CDD505-2E9C-101B-9397-08002B2CF9AE}" pid="3" name="ICV">
    <vt:lpwstr>D106518A98D948339105A071E91CBE54_13</vt:lpwstr>
  </property>
</Properties>
</file>