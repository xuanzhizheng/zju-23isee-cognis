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3"/>
  </p:notesMasterIdLst>
  <p:sldIdLst>
    <p:sldId id="276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4" r:id="rId15"/>
    <p:sldId id="325" r:id="rId16"/>
    <p:sldId id="326" r:id="rId17"/>
    <p:sldId id="327" r:id="rId18"/>
    <p:sldId id="320" r:id="rId19"/>
    <p:sldId id="323" r:id="rId20"/>
    <p:sldId id="321" r:id="rId21"/>
    <p:sldId id="322" r:id="rId22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-10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589FF7-A55F-4FFE-8CAB-E979E731541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800"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660D1C-B983-4336-A2CC-E48C4ECBC01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 b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 b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.png"/><Relationship Id="rId2" Type="http://schemas.openxmlformats.org/officeDocument/2006/relationships/hyperlink" Target="http://www.bloodshed.net/dev/devcpp.html" TargetMode="External"/><Relationship Id="rId1" Type="http://schemas.openxmlformats.org/officeDocument/2006/relationships/hyperlink" Target="http://sourceforge.net/projects/orwelldevcp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4.jpe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sz="4000" dirty="0">
                <a:solidFill>
                  <a:srgbClr val="FF0000"/>
                </a:solidFill>
              </a:rPr>
              <a:t>编程环境的基本使用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1844675"/>
            <a:ext cx="7772400" cy="4464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推荐的编程环境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Dev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-C++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基本使用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编辑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编译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运行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调试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Dev-C++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是一套用于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C/C++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开发的集成开发环境。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它包括多页面窗口、工程编辑器，在工程编辑器中集合了编辑器、编译器、连接程序和执行程序。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它也提供高亮度语法显示，以减少编辑错误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5363" name="标题 2"/>
          <p:cNvSpPr>
            <a:spLocks noGrp="1"/>
          </p:cNvSpPr>
          <p:nvPr>
            <p:ph type="title"/>
          </p:nvPr>
        </p:nvSpPr>
        <p:spPr>
          <a:xfrm>
            <a:off x="323850" y="47625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节 </a:t>
            </a:r>
            <a:r>
              <a:rPr lang="en-US" altLang="zh-CN" dirty="0"/>
              <a:t> Dev-C++</a:t>
            </a:r>
            <a:r>
              <a:rPr lang="zh-CN" altLang="en-US" dirty="0"/>
              <a:t>介绍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1"/>
          <p:cNvSpPr>
            <a:spLocks noGrp="1"/>
          </p:cNvSpPr>
          <p:nvPr>
            <p:ph idx="1"/>
          </p:nvPr>
        </p:nvSpPr>
        <p:spPr>
          <a:xfrm>
            <a:off x="785813" y="1643063"/>
            <a:ext cx="8107362" cy="1000125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>
                <a:hlinkClick r:id="rId1"/>
              </a:rPr>
              <a:t>下载地址：</a:t>
            </a:r>
            <a:endParaRPr lang="zh-CN" altLang="en-US" dirty="0">
              <a:ea typeface="宋体" panose="02010600030101010101" pitchFamily="2" charset="-122"/>
              <a:hlinkClick r:id="rId1"/>
            </a:endParaRPr>
          </a:p>
          <a:p>
            <a:r>
              <a:rPr lang="en-US" altLang="zh-CN" dirty="0">
                <a:ea typeface="宋体" panose="02010600030101010101" pitchFamily="2" charset="-122"/>
                <a:hlinkClick r:id="rId1"/>
              </a:rPr>
              <a:t>http://sourceforge.net/projects/orwelldevcpp/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u="sng" dirty="0">
                <a:ea typeface="宋体" panose="02010600030101010101" pitchFamily="2" charset="-122"/>
                <a:hlinkClick r:id="rId2"/>
              </a:rPr>
              <a:t>http://www.bloodshed.net/dev/devcpp.html</a:t>
            </a:r>
            <a:endParaRPr lang="zh-CN" altLang="en-US" dirty="0"/>
          </a:p>
        </p:txBody>
      </p:sp>
      <p:sp>
        <p:nvSpPr>
          <p:cNvPr id="16387" name="标题 2"/>
          <p:cNvSpPr>
            <a:spLocks noGrp="1"/>
          </p:cNvSpPr>
          <p:nvPr>
            <p:ph type="title"/>
          </p:nvPr>
        </p:nvSpPr>
        <p:spPr>
          <a:xfrm>
            <a:off x="250825" y="333375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节</a:t>
            </a:r>
            <a:r>
              <a:rPr lang="en-US" altLang="zh-CN" dirty="0"/>
              <a:t> Dev-C++</a:t>
            </a:r>
            <a:r>
              <a:rPr lang="zh-CN" altLang="en-US" dirty="0"/>
              <a:t>安装</a:t>
            </a:r>
            <a:endParaRPr lang="zh-CN" altLang="en-US" dirty="0"/>
          </a:p>
        </p:txBody>
      </p:sp>
      <p:sp>
        <p:nvSpPr>
          <p:cNvPr id="16388" name="矩形 6"/>
          <p:cNvSpPr/>
          <p:nvPr/>
        </p:nvSpPr>
        <p:spPr>
          <a:xfrm>
            <a:off x="1236663" y="3573463"/>
            <a:ext cx="4492625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1.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提示对话框，点击“确定”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6389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438" y="4584700"/>
            <a:ext cx="4857750" cy="1928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888" y="1341438"/>
            <a:ext cx="5286375" cy="1785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矩形 4"/>
          <p:cNvSpPr/>
          <p:nvPr/>
        </p:nvSpPr>
        <p:spPr>
          <a:xfrm>
            <a:off x="1119188" y="620713"/>
            <a:ext cx="51085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许可证对话框，点击“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I agree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412" name="矩形 5"/>
          <p:cNvSpPr/>
          <p:nvPr/>
        </p:nvSpPr>
        <p:spPr>
          <a:xfrm>
            <a:off x="1258888" y="3651250"/>
            <a:ext cx="47148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选择组件对话框，选择“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Full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7413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4308475"/>
            <a:ext cx="5357812" cy="2357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矩形 3"/>
          <p:cNvSpPr/>
          <p:nvPr/>
        </p:nvSpPr>
        <p:spPr>
          <a:xfrm>
            <a:off x="900113" y="1052513"/>
            <a:ext cx="57499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4.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默认安装路径，点击“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Install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843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913" y="1773238"/>
            <a:ext cx="5572125" cy="2000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6" name="矩形 5"/>
          <p:cNvSpPr/>
          <p:nvPr/>
        </p:nvSpPr>
        <p:spPr>
          <a:xfrm>
            <a:off x="1055688" y="4054475"/>
            <a:ext cx="43402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5.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安装完成后点击“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Finish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843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13" y="4532313"/>
            <a:ext cx="5643562" cy="2071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2"/>
          <p:cNvSpPr>
            <a:spLocks noGrp="1"/>
          </p:cNvSpPr>
          <p:nvPr>
            <p:ph type="title"/>
          </p:nvPr>
        </p:nvSpPr>
        <p:spPr>
          <a:xfrm>
            <a:off x="250825" y="188913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节</a:t>
            </a:r>
            <a:r>
              <a:rPr lang="en-US" altLang="zh-CN" dirty="0"/>
              <a:t> </a:t>
            </a:r>
            <a:r>
              <a:rPr lang="zh-CN" altLang="en-US" dirty="0"/>
              <a:t>配置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19459" name="矩形 3"/>
          <p:cNvSpPr/>
          <p:nvPr/>
        </p:nvSpPr>
        <p:spPr>
          <a:xfrm>
            <a:off x="1116013" y="1412875"/>
            <a:ext cx="567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打开软件，弹出提示对话框，点击确定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946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989138"/>
            <a:ext cx="4371975" cy="171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1" name="矩形 5"/>
          <p:cNvSpPr/>
          <p:nvPr/>
        </p:nvSpPr>
        <p:spPr>
          <a:xfrm>
            <a:off x="1258888" y="3789363"/>
            <a:ext cx="521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选择语言对话框，选择“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Chinese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9462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4292600"/>
            <a:ext cx="4572000" cy="2357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矩形 3"/>
          <p:cNvSpPr/>
          <p:nvPr/>
        </p:nvSpPr>
        <p:spPr>
          <a:xfrm>
            <a:off x="1017588" y="815975"/>
            <a:ext cx="64992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打开特性，该特性可以从头文件中获取信息，帮助用户找到函数、类、变量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048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1773238"/>
            <a:ext cx="4019550" cy="185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4" name="矩形 5"/>
          <p:cNvSpPr/>
          <p:nvPr/>
        </p:nvSpPr>
        <p:spPr>
          <a:xfrm>
            <a:off x="1187450" y="3789363"/>
            <a:ext cx="307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4.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创建代码补全缓存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048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75" y="4248150"/>
            <a:ext cx="4019550" cy="1928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矩形 3"/>
          <p:cNvSpPr/>
          <p:nvPr/>
        </p:nvSpPr>
        <p:spPr>
          <a:xfrm>
            <a:off x="1322388" y="765175"/>
            <a:ext cx="3536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5.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配置完成，点击“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OK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150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1412875"/>
            <a:ext cx="4019550" cy="2000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8" name="矩形 5"/>
          <p:cNvSpPr/>
          <p:nvPr/>
        </p:nvSpPr>
        <p:spPr>
          <a:xfrm>
            <a:off x="1476375" y="3644900"/>
            <a:ext cx="307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6.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第一次打开的界面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1509" name="图片 6"/>
          <p:cNvPicPr>
            <a:picLocks noChangeAspect="1"/>
          </p:cNvPicPr>
          <p:nvPr/>
        </p:nvPicPr>
        <p:blipFill>
          <a:blip r:embed="rId2"/>
          <a:srcRect l="12296" r="10127" b="9212"/>
          <a:stretch>
            <a:fillRect/>
          </a:stretch>
        </p:blipFill>
        <p:spPr>
          <a:xfrm>
            <a:off x="1508125" y="4221163"/>
            <a:ext cx="4086225" cy="2214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688" y="2420938"/>
            <a:ext cx="2519362" cy="3584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标题 2"/>
          <p:cNvSpPr>
            <a:spLocks noGrp="1"/>
          </p:cNvSpPr>
          <p:nvPr>
            <p:ph type="title"/>
          </p:nvPr>
        </p:nvSpPr>
        <p:spPr>
          <a:xfrm>
            <a:off x="685800" y="333375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节 </a:t>
            </a:r>
            <a:r>
              <a:rPr lang="en-US" altLang="zh-CN" dirty="0"/>
              <a:t>Dev-C++  </a:t>
            </a:r>
            <a:r>
              <a:rPr lang="zh-CN" altLang="en-US" dirty="0"/>
              <a:t>新建工程</a:t>
            </a:r>
            <a:endParaRPr lang="zh-CN" altLang="en-US" dirty="0"/>
          </a:p>
        </p:txBody>
      </p:sp>
      <p:sp>
        <p:nvSpPr>
          <p:cNvPr id="22532" name="矩形 3"/>
          <p:cNvSpPr/>
          <p:nvPr/>
        </p:nvSpPr>
        <p:spPr>
          <a:xfrm>
            <a:off x="820738" y="1341438"/>
            <a:ext cx="8072437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在菜单中点击文件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-&gt;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新建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-&gt;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工程，弹出如下对话框。选择“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Console Application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”，输入工程名，点击“确定”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253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2205038"/>
            <a:ext cx="4895850" cy="171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4" name="矩形 5"/>
          <p:cNvSpPr/>
          <p:nvPr/>
        </p:nvSpPr>
        <p:spPr>
          <a:xfrm>
            <a:off x="857250" y="4005263"/>
            <a:ext cx="3262313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选择工程所在的路径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2535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0" y="4454525"/>
            <a:ext cx="5273675" cy="2214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6" name="矩形 3"/>
          <p:cNvSpPr/>
          <p:nvPr/>
        </p:nvSpPr>
        <p:spPr>
          <a:xfrm>
            <a:off x="6732588" y="2636838"/>
            <a:ext cx="2124075" cy="3846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特别说明：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语言基础课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编写的程序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只涉及一个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源程序文件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不需工程方式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矩形 3"/>
          <p:cNvSpPr/>
          <p:nvPr/>
        </p:nvSpPr>
        <p:spPr>
          <a:xfrm>
            <a:off x="928688" y="836613"/>
            <a:ext cx="35718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3.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输入如下代码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355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8" y="1412875"/>
            <a:ext cx="6143625" cy="2071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矩形 6"/>
          <p:cNvSpPr/>
          <p:nvPr/>
        </p:nvSpPr>
        <p:spPr>
          <a:xfrm>
            <a:off x="928688" y="4005263"/>
            <a:ext cx="4572000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上图中间偏左的地方有一黑色竖条，其实是用来显示行数的：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rPr>
              <a:t>Tools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（工具）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rPr>
              <a:t>--&gt; Editor Options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（编辑器选项）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rPr>
              <a:t>--&gt; Display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（显示</a:t>
            </a:r>
            <a:r>
              <a:rPr lang="zh-CN" altLang="en-US" dirty="0">
                <a:latin typeface="Calibri" panose="020F0502020204030204" pitchFamily="34" charset="0"/>
              </a:rPr>
              <a:t>）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pic>
        <p:nvPicPr>
          <p:cNvPr id="23557" name="图片 12" descr="http://cpp.ga-la.com/csimage/devc++/line_numb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8" y="3933825"/>
            <a:ext cx="3429000" cy="2643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矩形 4"/>
          <p:cNvSpPr/>
          <p:nvPr/>
        </p:nvSpPr>
        <p:spPr>
          <a:xfrm>
            <a:off x="571500" y="765175"/>
            <a:ext cx="82153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4.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点击菜单中运行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-&gt;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编译运行，即看到运行结果，如下图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457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0175" y="1717675"/>
            <a:ext cx="3702050" cy="3443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图片 11" descr="http://cpp.ga-la.com/csimage/devc++/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700213"/>
            <a:ext cx="4552950" cy="2990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矩形 4"/>
          <p:cNvSpPr/>
          <p:nvPr/>
        </p:nvSpPr>
        <p:spPr>
          <a:xfrm>
            <a:off x="2051050" y="476250"/>
            <a:ext cx="5329238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语言课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Dev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的简单使用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3" name="矩形 4"/>
          <p:cNvSpPr/>
          <p:nvPr/>
        </p:nvSpPr>
        <p:spPr>
          <a:xfrm>
            <a:off x="749300" y="2092325"/>
            <a:ext cx="74231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1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、启动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DevC++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，点击新建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  <a:sym typeface="Wingdings" panose="05000000000000000000" pitchFamily="2" charset="2"/>
              </a:rPr>
              <a:t>源代码，如下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2560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888" y="2708275"/>
            <a:ext cx="6686550" cy="3313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5" name="矩形 4"/>
          <p:cNvSpPr/>
          <p:nvPr/>
        </p:nvSpPr>
        <p:spPr>
          <a:xfrm>
            <a:off x="755650" y="1341438"/>
            <a:ext cx="71294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直接 编辑、编译、运行 程序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矩形 4"/>
          <p:cNvSpPr/>
          <p:nvPr/>
        </p:nvSpPr>
        <p:spPr>
          <a:xfrm>
            <a:off x="539750" y="1228725"/>
            <a:ext cx="82153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2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、编写程序，保存，取名，比如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hello.c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2662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819275"/>
            <a:ext cx="8258175" cy="4057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矩形 4"/>
          <p:cNvSpPr/>
          <p:nvPr/>
        </p:nvSpPr>
        <p:spPr>
          <a:xfrm>
            <a:off x="604838" y="692150"/>
            <a:ext cx="821531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3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、使用“编译运行”，执行程序，界面如下。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2765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268413"/>
            <a:ext cx="7775575" cy="4514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2" name="矩形 5"/>
          <p:cNvSpPr/>
          <p:nvPr/>
        </p:nvSpPr>
        <p:spPr>
          <a:xfrm>
            <a:off x="539750" y="6124575"/>
            <a:ext cx="82153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选</a:t>
            </a:r>
            <a:r>
              <a:rPr lang="zh-CN" altLang="en-US" sz="2000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“运行”</a:t>
            </a:r>
            <a:r>
              <a:rPr lang="en-US" altLang="zh-CN" sz="2000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Wingdings" panose="05000000000000000000" pitchFamily="2" charset="2"/>
              </a:rPr>
              <a:t>“编译运行” 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  <a:sym typeface="Wingdings" panose="05000000000000000000" pitchFamily="2" charset="2"/>
              </a:rPr>
              <a:t>与 点</a:t>
            </a:r>
            <a:r>
              <a:rPr lang="zh-CN" altLang="en-US" sz="2000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Wingdings" panose="05000000000000000000" pitchFamily="2" charset="2"/>
              </a:rPr>
              <a:t>“编译运行”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  <a:sym typeface="Wingdings" panose="05000000000000000000" pitchFamily="2" charset="2"/>
              </a:rPr>
              <a:t>功能按钮，作用一样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矩形 4"/>
          <p:cNvSpPr/>
          <p:nvPr/>
        </p:nvSpPr>
        <p:spPr>
          <a:xfrm>
            <a:off x="604838" y="692150"/>
            <a:ext cx="821531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4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、程序执行结果界面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2867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268413"/>
            <a:ext cx="7056437" cy="48434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2"/>
          <p:cNvSpPr>
            <a:spLocks noGrp="1"/>
          </p:cNvSpPr>
          <p:nvPr>
            <p:ph type="title"/>
          </p:nvPr>
        </p:nvSpPr>
        <p:spPr>
          <a:xfrm>
            <a:off x="685800" y="404813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节 </a:t>
            </a:r>
            <a:r>
              <a:rPr lang="en-US" altLang="zh-CN" dirty="0"/>
              <a:t>Dev-C++</a:t>
            </a:r>
            <a:r>
              <a:rPr lang="zh-CN" altLang="en-US" dirty="0"/>
              <a:t>程序调试</a:t>
            </a:r>
            <a:endParaRPr lang="zh-CN" altLang="en-US" dirty="0"/>
          </a:p>
        </p:txBody>
      </p:sp>
      <p:pic>
        <p:nvPicPr>
          <p:cNvPr id="2969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2060575"/>
            <a:ext cx="8001000" cy="121920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29700" name="图片 5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75" y="3357563"/>
            <a:ext cx="5759450" cy="3381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1" name="TextBox 5"/>
          <p:cNvSpPr txBox="1"/>
          <p:nvPr/>
        </p:nvSpPr>
        <p:spPr>
          <a:xfrm>
            <a:off x="684213" y="1412875"/>
            <a:ext cx="26638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基本配置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内容占位符 1"/>
          <p:cNvSpPr>
            <a:spLocks noGrp="1"/>
          </p:cNvSpPr>
          <p:nvPr>
            <p:ph idx="1"/>
          </p:nvPr>
        </p:nvSpPr>
        <p:spPr>
          <a:xfrm>
            <a:off x="900113" y="763588"/>
            <a:ext cx="7408862" cy="1296987"/>
          </a:xfrm>
          <a:ln/>
        </p:spPr>
        <p:txBody>
          <a:bodyPr vert="horz" wrap="square" lIns="91440" tIns="45720" rIns="91440" bIns="45720" anchor="t" anchorCtr="0"/>
          <a:p>
            <a:pPr>
              <a:buFont typeface="Symbol" panose="05050102010706020507" pitchFamily="18" charset="2"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2. 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产生调试信息的设置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sz="1200" dirty="0"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endParaRPr lang="en-US" altLang="zh-CN" sz="12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工具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Wingdings" panose="05000000000000000000" pitchFamily="2" charset="2"/>
              </a:rPr>
              <a:t>编译选项，如下图所示操作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072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193925"/>
            <a:ext cx="7056438" cy="3827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Box 5"/>
          <p:cNvSpPr txBox="1"/>
          <p:nvPr/>
        </p:nvSpPr>
        <p:spPr>
          <a:xfrm>
            <a:off x="900113" y="908050"/>
            <a:ext cx="40322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3.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通过单击行号，设置断点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174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088" y="1628775"/>
            <a:ext cx="5095875" cy="25336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1748" name="TextBox 7"/>
          <p:cNvSpPr txBox="1"/>
          <p:nvPr/>
        </p:nvSpPr>
        <p:spPr>
          <a:xfrm>
            <a:off x="785813" y="4611688"/>
            <a:ext cx="63404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4.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菜单 ： 运行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-&gt;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编译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(Ctrl+F9)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，编译程序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7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613" y="1435100"/>
            <a:ext cx="6848475" cy="336232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2771" name="TextBox 4"/>
          <p:cNvSpPr txBox="1"/>
          <p:nvPr/>
        </p:nvSpPr>
        <p:spPr>
          <a:xfrm>
            <a:off x="755650" y="692150"/>
            <a:ext cx="587851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5.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菜单：调试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-&gt;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调试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(F8)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，进入调试模式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2772" name="TextBox 5"/>
          <p:cNvSpPr txBox="1"/>
          <p:nvPr/>
        </p:nvSpPr>
        <p:spPr>
          <a:xfrm>
            <a:off x="641350" y="5300663"/>
            <a:ext cx="72866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6.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单击“添加查看”，输入变量名，可以在左侧“调试”栏看到变量的值，单击“下一步”，程序逐步执行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ce0769c-709e-4672-9031-cd8af4df04d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</a:ln>
      </a:spPr>
      <a:bodyPr wrap="square">
        <a:spAutoFit/>
      </a:bodyPr>
      <a:lstStyle>
        <a:defPPr>
          <a:defRPr sz="2800" b="1" dirty="0" smtClean="0">
            <a:solidFill>
              <a:srgbClr val="FF0000"/>
            </a:solidFill>
            <a:latin typeface="黑体" panose="02010609060101010101" pitchFamily="2" charset="-122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WPS 演示</Application>
  <PresentationFormat>全屏显示(4:3)</PresentationFormat>
  <Paragraphs>100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Times New Roman</vt:lpstr>
      <vt:lpstr>MS PGothic</vt:lpstr>
      <vt:lpstr>黑体</vt:lpstr>
      <vt:lpstr>新宋体</vt:lpstr>
      <vt:lpstr>Symbol</vt:lpstr>
      <vt:lpstr>微软雅黑</vt:lpstr>
      <vt:lpstr>Arial Unicode MS</vt:lpstr>
      <vt:lpstr>Office 主题</vt:lpstr>
      <vt:lpstr>Blank 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 Learning by Example</dc:title>
  <dc:creator>MLH</dc:creator>
  <cp:lastModifiedBy>随心</cp:lastModifiedBy>
  <cp:revision>208</cp:revision>
  <dcterms:created xsi:type="dcterms:W3CDTF">2013-08-14T02:34:18Z</dcterms:created>
  <dcterms:modified xsi:type="dcterms:W3CDTF">2023-09-18T13:02:38Z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A25645DA068740B69DFAF6F526CFB4A4_13</vt:lpwstr>
  </property>
  <property fmtid="{D5CDD505-2E9C-101B-9397-08002B2CF9AE}" pid="3" name="KSOProductBuildVer">
    <vt:lpwstr>2052-11.1.0.14309</vt:lpwstr>
  </property>
</Properties>
</file>