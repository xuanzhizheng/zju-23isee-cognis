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8"/>
  </p:handoutMasterIdLst>
  <p:sldIdLst>
    <p:sldId id="270" r:id="rId3"/>
    <p:sldId id="271" r:id="rId5"/>
    <p:sldId id="273" r:id="rId6"/>
    <p:sldId id="274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4" r:id="rId28"/>
    <p:sldId id="305" r:id="rId29"/>
    <p:sldId id="306" r:id="rId30"/>
    <p:sldId id="303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410" r:id="rId40"/>
    <p:sldId id="411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35" r:id="rId60"/>
    <p:sldId id="336" r:id="rId61"/>
    <p:sldId id="337" r:id="rId62"/>
    <p:sldId id="338" r:id="rId63"/>
    <p:sldId id="339" r:id="rId64"/>
    <p:sldId id="340" r:id="rId65"/>
    <p:sldId id="344" r:id="rId66"/>
    <p:sldId id="341" r:id="rId67"/>
    <p:sldId id="342" r:id="rId68"/>
    <p:sldId id="343" r:id="rId69"/>
    <p:sldId id="345" r:id="rId70"/>
    <p:sldId id="346" r:id="rId71"/>
    <p:sldId id="347" r:id="rId72"/>
    <p:sldId id="349" r:id="rId73"/>
    <p:sldId id="348" r:id="rId74"/>
    <p:sldId id="350" r:id="rId75"/>
    <p:sldId id="351" r:id="rId76"/>
    <p:sldId id="352" r:id="rId77"/>
    <p:sldId id="353" r:id="rId78"/>
    <p:sldId id="354" r:id="rId79"/>
    <p:sldId id="355" r:id="rId80"/>
    <p:sldId id="356" r:id="rId81"/>
    <p:sldId id="357" r:id="rId82"/>
    <p:sldId id="359" r:id="rId83"/>
    <p:sldId id="371" r:id="rId84"/>
    <p:sldId id="360" r:id="rId85"/>
    <p:sldId id="361" r:id="rId86"/>
    <p:sldId id="362" r:id="rId87"/>
    <p:sldId id="363" r:id="rId88"/>
    <p:sldId id="364" r:id="rId89"/>
    <p:sldId id="365" r:id="rId90"/>
    <p:sldId id="366" r:id="rId91"/>
    <p:sldId id="367" r:id="rId92"/>
    <p:sldId id="368" r:id="rId93"/>
    <p:sldId id="369" r:id="rId94"/>
    <p:sldId id="370" r:id="rId95"/>
    <p:sldId id="412" r:id="rId96"/>
    <p:sldId id="372" r:id="rId97"/>
    <p:sldId id="373" r:id="rId98"/>
    <p:sldId id="374" r:id="rId99"/>
    <p:sldId id="375" r:id="rId100"/>
    <p:sldId id="376" r:id="rId101"/>
    <p:sldId id="377" r:id="rId102"/>
    <p:sldId id="378" r:id="rId103"/>
    <p:sldId id="382" r:id="rId104"/>
    <p:sldId id="383" r:id="rId105"/>
    <p:sldId id="384" r:id="rId106"/>
    <p:sldId id="385" r:id="rId107"/>
    <p:sldId id="386" r:id="rId108"/>
    <p:sldId id="387" r:id="rId109"/>
    <p:sldId id="388" r:id="rId110"/>
    <p:sldId id="389" r:id="rId111"/>
    <p:sldId id="390" r:id="rId112"/>
    <p:sldId id="391" r:id="rId113"/>
    <p:sldId id="392" r:id="rId114"/>
    <p:sldId id="393" r:id="rId115"/>
    <p:sldId id="394" r:id="rId116"/>
    <p:sldId id="395" r:id="rId117"/>
    <p:sldId id="396" r:id="rId118"/>
    <p:sldId id="397" r:id="rId119"/>
    <p:sldId id="398" r:id="rId120"/>
    <p:sldId id="399" r:id="rId121"/>
    <p:sldId id="400" r:id="rId122"/>
    <p:sldId id="401" r:id="rId123"/>
    <p:sldId id="402" r:id="rId124"/>
    <p:sldId id="403" r:id="rId125"/>
    <p:sldId id="404" r:id="rId126"/>
    <p:sldId id="409" r:id="rId127"/>
  </p:sldIdLst>
  <p:sldSz cx="9144000" cy="6858000" type="screen4x3"/>
  <p:notesSz cx="7099300" cy="10234930"/>
  <p:custDataLst>
    <p:tags r:id="rId132"/>
  </p:custDataLst>
  <p:defaultTextStyle>
    <a:defPPr>
      <a:defRPr lang="en-AU"/>
    </a:defPPr>
    <a:lvl1pPr marL="0" lvl="0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7B38"/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33"/>
    <p:restoredTop sz="94685"/>
  </p:normalViewPr>
  <p:slideViewPr>
    <p:cSldViewPr snapToObjects="1" showGuides="1">
      <p:cViewPr>
        <p:scale>
          <a:sx n="66" d="100"/>
          <a:sy n="66" d="100"/>
        </p:scale>
        <p:origin x="-1314" y="-78"/>
      </p:cViewPr>
      <p:guideLst>
        <p:guide orient="horz" pos="2122"/>
        <p:guide pos="29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1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2" Type="http://schemas.openxmlformats.org/officeDocument/2006/relationships/tags" Target="tags/tag7.xml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0.xml"/><Relationship Id="rId129" Type="http://schemas.openxmlformats.org/officeDocument/2006/relationships/presProps" Target="presProps.xml"/><Relationship Id="rId128" Type="http://schemas.openxmlformats.org/officeDocument/2006/relationships/handoutMaster" Target="handoutMasters/handoutMaster1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l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72E60E-89A1-490D-BF52-D997B8AC5AB0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l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l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0A0ADF-F7B2-44DE-BE6B-539500196021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0052" name="Rectangle 4"/>
          <p:cNvSpPr>
            <a:spLocks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l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10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0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21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41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51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61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72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82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92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02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13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23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33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43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54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64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74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84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95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05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15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25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46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56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66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6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77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87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97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07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17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28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38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48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58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69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Rectangle 2"/>
          <p:cNvSpPr>
            <a:spLocks noGrp="1"/>
          </p:cNvSpPr>
          <p:nvPr>
            <p:ph type="body" idx="1"/>
          </p:nvPr>
        </p:nvSpPr>
        <p:spPr>
          <a:xfrm>
            <a:off x="534988" y="4864100"/>
            <a:ext cx="6118225" cy="4603750"/>
          </a:xfrm>
        </p:spPr>
        <p:txBody>
          <a:bodyPr wrap="square" lIns="98215" tIns="48246" rIns="98215" bIns="48246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7939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6475" y="655638"/>
            <a:ext cx="5099050" cy="3825875"/>
          </a:xfr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Rectangle 2"/>
          <p:cNvSpPr>
            <a:spLocks noGrp="1"/>
          </p:cNvSpPr>
          <p:nvPr>
            <p:ph type="body" idx="1"/>
          </p:nvPr>
        </p:nvSpPr>
        <p:spPr>
          <a:xfrm>
            <a:off x="534988" y="4864100"/>
            <a:ext cx="6118225" cy="4603750"/>
          </a:xfrm>
        </p:spPr>
        <p:txBody>
          <a:bodyPr wrap="square" lIns="98215" tIns="48246" rIns="98215" bIns="48246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Define register reads to occur in the second half of the cycle and register writes in the first half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8963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6475" y="655638"/>
            <a:ext cx="5099050" cy="3825875"/>
          </a:xfr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99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10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0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0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0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0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20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30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30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30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30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30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0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0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0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0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0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1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1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1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1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51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61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61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61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61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61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71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71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71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71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71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81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81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81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81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81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92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02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02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02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02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02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2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2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2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2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12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22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2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3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3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3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33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3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3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3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3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53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3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3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3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3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63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3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3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3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3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73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4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4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4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4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84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94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94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04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4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4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4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4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14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5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5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5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5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25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35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35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35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35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35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5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55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6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6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6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6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66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76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6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6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6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6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86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96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96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96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96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96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7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7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7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7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07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17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17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17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17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17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7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7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7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7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27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7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7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7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7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37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58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68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8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8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8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8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78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88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8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9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9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9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89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99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09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09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09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09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09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19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29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40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50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60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70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81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91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91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91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91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91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01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01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01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01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01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1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1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1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1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11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22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32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42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42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42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42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42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2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No processor uses delayed branches of more than 1 cycle.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For longer branch delays, hardware-based branch prediction is used.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3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3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3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3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63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73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73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73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73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73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83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83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83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83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83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93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93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93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93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93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04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14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14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14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14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14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4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4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4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4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24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4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4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4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4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34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4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45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65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5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5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5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5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75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5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85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85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85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85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85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96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96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96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96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96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6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6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6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6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06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16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16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16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16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16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26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26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26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26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26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7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7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7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7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37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7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7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7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7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47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7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7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7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7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7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7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67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78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78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78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78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78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78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88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88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88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88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88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88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98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98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08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08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08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08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08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9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19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19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19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19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19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29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29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29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29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29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39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9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9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9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9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39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9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9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9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9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9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49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0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70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70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l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4 — The Processor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70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70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70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5938" name="矩形 295937"/>
          <p:cNvSpPr/>
          <p:nvPr userDrawn="1"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  <a:endParaRPr lang="en-AU" altLang="zh-CN" dirty="0"/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  <a:endParaRPr lang="en-AU" altLang="zh-CN" dirty="0"/>
          </a:p>
        </p:txBody>
      </p:sp>
      <p:sp>
        <p:nvSpPr>
          <p:cNvPr id="295941" name="矩形 295940"/>
          <p:cNvSpPr/>
          <p:nvPr userDrawn="1"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2" name="矩形 295941"/>
          <p:cNvSpPr/>
          <p:nvPr userDrawn="1"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3" name="矩形 295942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5" name="矩形 295944"/>
          <p:cNvSpPr/>
          <p:nvPr userDrawn="1"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6" name="矩形 295945"/>
          <p:cNvSpPr/>
          <p:nvPr userDrawn="1"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sz="18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sz="18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sz="18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 sz="180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tags" Target="../tags/tag2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4914" name="矩形 294913"/>
          <p:cNvSpPr/>
          <p:nvPr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/>
            <a:r>
              <a:rPr lang="en-AU" altLang="zh-CN" dirty="0"/>
              <a:t>Click to edit Master title style</a:t>
            </a:r>
            <a:endParaRPr lang="en-AU" altLang="zh-CN" dirty="0"/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AU" altLang="zh-CN" dirty="0"/>
              <a:t>Click to edit Master text styles</a:t>
            </a:r>
            <a:endParaRPr lang="en-AU" altLang="zh-CN" dirty="0"/>
          </a:p>
          <a:p>
            <a:pPr lvl="1"/>
            <a:r>
              <a:rPr lang="en-AU" altLang="zh-CN" dirty="0"/>
              <a:t>Second level</a:t>
            </a:r>
            <a:endParaRPr lang="en-AU" altLang="zh-CN" dirty="0"/>
          </a:p>
          <a:p>
            <a:pPr lvl="2"/>
            <a:r>
              <a:rPr lang="en-AU" altLang="zh-CN" dirty="0"/>
              <a:t>Third level</a:t>
            </a:r>
            <a:endParaRPr lang="en-AU" altLang="zh-CN" dirty="0"/>
          </a:p>
          <a:p>
            <a:pPr lvl="3"/>
            <a:r>
              <a:rPr lang="en-AU" altLang="zh-CN" dirty="0"/>
              <a:t>Fourth level</a:t>
            </a:r>
            <a:endParaRPr lang="en-AU" altLang="zh-CN" dirty="0"/>
          </a:p>
          <a:p>
            <a:pPr lvl="4"/>
            <a:r>
              <a:rPr lang="en-AU" altLang="zh-CN" dirty="0"/>
              <a:t>Fifth level</a:t>
            </a:r>
            <a:endParaRPr lang="en-AU" altLang="zh-CN" dirty="0"/>
          </a:p>
        </p:txBody>
      </p:sp>
      <p:sp>
        <p:nvSpPr>
          <p:cNvPr id="294917" name="页脚占位符 294916"/>
          <p:cNvSpPr>
            <a:spLocks noGrp="1"/>
          </p:cNvSpPr>
          <p:nvPr>
            <p:ph type="ftr" sz="quarter" idx="3"/>
          </p:nvPr>
        </p:nvSpPr>
        <p:spPr>
          <a:xfrm>
            <a:off x="859155" y="6381750"/>
            <a:ext cx="8105775" cy="3587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The Processor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4919" name="矩形 294918"/>
          <p:cNvSpPr/>
          <p:nvPr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0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1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2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4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buClrTx/>
              <a:buSzTx/>
              <a:buFontTx/>
            </a:pPr>
            <a:r>
              <a:rPr lang="en-AU" altLang="zh-CN" dirty="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j-cs"/>
              </a:rPr>
              <a:t>Chapter 4</a:t>
            </a:r>
            <a:endParaRPr lang="en-AU" altLang="zh-CN" dirty="0">
              <a:solidFill>
                <a:schemeClr val="tx1"/>
              </a:solidFill>
              <a:latin typeface="Arial Black" panose="020B0A0402010202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075" name="Rectangle 5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buSzPct val="60000"/>
            </a:pPr>
            <a:r>
              <a:rPr lang="en-AU" altLang="zh-CN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The Processor</a:t>
            </a:r>
            <a:endParaRPr lang="en-AU" altLang="zh-CN" dirty="0"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506413" y="1125538"/>
            <a:ext cx="8270875" cy="51117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CPU performance factors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Instruction count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Determined by ISA(Instruction Set Architecture) and compiler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CPI and Cycle time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Determined by CPU hardware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We will examine two RISC-V implementations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 simplified version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 more realistic pipelined version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Simple subset, shows most aspects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Memory reference: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lw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sw</a:t>
            </a:r>
            <a:endParaRPr lang="en-US" altLang="zh-CN" sz="24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Arithmetic/logical: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sub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and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or</a:t>
            </a:r>
            <a:endParaRPr lang="en-US" altLang="zh-CN" sz="24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Conditional branch: </a:t>
            </a:r>
            <a:r>
              <a:rPr lang="en-US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endParaRPr lang="en-US" altLang="zh-CN" sz="24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4101" name="Text Box 4"/>
          <p:cNvSpPr txBox="1"/>
          <p:nvPr/>
        </p:nvSpPr>
        <p:spPr>
          <a:xfrm rot="5400000">
            <a:off x="8016875" y="758825"/>
            <a:ext cx="18859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§4.1 Introduction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Instruction Execution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PC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 instruction memory, fetch instruction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Register numbers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 register file, read registers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Depending on instruction class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Use ALU to calculate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Arithmetic result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Memory address for load/store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Branch target address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Access data memory for load/store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PC  target address or PC + 4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CPU Overview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6148" name="图片 6" descr="f4.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201738"/>
            <a:ext cx="8137525" cy="4964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图片 15" descr="f4.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273175"/>
            <a:ext cx="8208963" cy="4964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72" name="Oval 3"/>
          <p:cNvSpPr/>
          <p:nvPr/>
        </p:nvSpPr>
        <p:spPr>
          <a:xfrm>
            <a:off x="6227763" y="3068638"/>
            <a:ext cx="936625" cy="8636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Oval 4"/>
          <p:cNvSpPr/>
          <p:nvPr/>
        </p:nvSpPr>
        <p:spPr>
          <a:xfrm>
            <a:off x="2339975" y="908050"/>
            <a:ext cx="936625" cy="865188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Multiplexers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175" name="Line 6"/>
          <p:cNvSpPr/>
          <p:nvPr/>
        </p:nvSpPr>
        <p:spPr>
          <a:xfrm flipH="1">
            <a:off x="2555875" y="1196975"/>
            <a:ext cx="576263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6" name="Arc 7"/>
          <p:cNvSpPr/>
          <p:nvPr/>
        </p:nvSpPr>
        <p:spPr>
          <a:xfrm rot="10800000" flipH="1" flipV="1">
            <a:off x="2484438" y="1412875"/>
            <a:ext cx="287337" cy="2159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177" name="Line 8"/>
          <p:cNvSpPr/>
          <p:nvPr/>
        </p:nvSpPr>
        <p:spPr>
          <a:xfrm flipH="1">
            <a:off x="6443663" y="3284538"/>
            <a:ext cx="576262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8" name="Arc 9"/>
          <p:cNvSpPr/>
          <p:nvPr/>
        </p:nvSpPr>
        <p:spPr>
          <a:xfrm rot="10800000" flipH="1" flipV="1">
            <a:off x="6372225" y="3500438"/>
            <a:ext cx="287338" cy="2159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179" name="Oval 10"/>
          <p:cNvSpPr/>
          <p:nvPr/>
        </p:nvSpPr>
        <p:spPr>
          <a:xfrm>
            <a:off x="5364163" y="4870450"/>
            <a:ext cx="936625" cy="865188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0" name="Line 11"/>
          <p:cNvSpPr/>
          <p:nvPr/>
        </p:nvSpPr>
        <p:spPr>
          <a:xfrm>
            <a:off x="5651500" y="5084763"/>
            <a:ext cx="358775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81" name="Arc 12"/>
          <p:cNvSpPr/>
          <p:nvPr/>
        </p:nvSpPr>
        <p:spPr>
          <a:xfrm rot="-10800000" flipV="1">
            <a:off x="5795963" y="5302250"/>
            <a:ext cx="144462" cy="2889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182" name="Rectangle 13"/>
          <p:cNvSpPr/>
          <p:nvPr/>
        </p:nvSpPr>
        <p:spPr>
          <a:xfrm>
            <a:off x="5508625" y="1196975"/>
            <a:ext cx="3527425" cy="14398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Can’t just join wires together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AU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Use multiplexers</a:t>
            </a:r>
            <a:endParaRPr lang="en-AU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8196" name="图片 5" descr="f4.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13" y="1052513"/>
            <a:ext cx="8178800" cy="5184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Logic Design Basics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220" name="Text Box 3"/>
          <p:cNvSpPr txBox="1"/>
          <p:nvPr/>
        </p:nvSpPr>
        <p:spPr>
          <a:xfrm rot="5400000">
            <a:off x="7286625" y="1489075"/>
            <a:ext cx="33464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§4.2 Logic Design Conventions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Information encoded in binary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Low voltage = 0, High voltage = 1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One wire per bit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Multi-bit data encoded on multi-wire buses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Combinational element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Operate on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Output is a function of input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State (sequential) elements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Store information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Combinational Elements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684213" y="1412875"/>
            <a:ext cx="3101975" cy="1295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AND-gate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Y = A &amp; B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0245" name="Group 4"/>
          <p:cNvGrpSpPr/>
          <p:nvPr/>
        </p:nvGrpSpPr>
        <p:grpSpPr>
          <a:xfrm>
            <a:off x="1258888" y="2641600"/>
            <a:ext cx="1560512" cy="655638"/>
            <a:chOff x="249" y="2299"/>
            <a:chExt cx="983" cy="413"/>
          </a:xfrm>
        </p:grpSpPr>
        <p:grpSp>
          <p:nvGrpSpPr>
            <p:cNvPr id="10297" name="Group 5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0301" name="Arc 6"/>
              <p:cNvSpPr/>
              <p:nvPr/>
            </p:nvSpPr>
            <p:spPr>
              <a:xfrm>
                <a:off x="701" y="1889"/>
                <a:ext cx="139" cy="272"/>
              </a:xfrm>
              <a:custGeom>
                <a:avLst/>
                <a:gdLst>
                  <a:gd name="txL" fmla="*/ 0 w 22080"/>
                  <a:gd name="txT" fmla="*/ 0 h 43200"/>
                  <a:gd name="txR" fmla="*/ 22080 w 22080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080" h="43200" fill="none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w="22080" h="43200" stroke="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02" name="Line 7"/>
              <p:cNvSpPr/>
              <p:nvPr/>
            </p:nvSpPr>
            <p:spPr>
              <a:xfrm>
                <a:off x="567" y="1888"/>
                <a:ext cx="1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3" name="Line 8"/>
              <p:cNvSpPr/>
              <p:nvPr/>
            </p:nvSpPr>
            <p:spPr>
              <a:xfrm>
                <a:off x="567" y="1888"/>
                <a:ext cx="0" cy="27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4" name="Line 9"/>
              <p:cNvSpPr/>
              <p:nvPr/>
            </p:nvSpPr>
            <p:spPr>
              <a:xfrm>
                <a:off x="567" y="2160"/>
                <a:ext cx="1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5" name="Line 10"/>
              <p:cNvSpPr/>
              <p:nvPr/>
            </p:nvSpPr>
            <p:spPr>
              <a:xfrm>
                <a:off x="431" y="1933"/>
                <a:ext cx="1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6" name="Line 11"/>
              <p:cNvSpPr/>
              <p:nvPr/>
            </p:nvSpPr>
            <p:spPr>
              <a:xfrm>
                <a:off x="431" y="2115"/>
                <a:ext cx="1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7" name="Line 12"/>
              <p:cNvSpPr/>
              <p:nvPr/>
            </p:nvSpPr>
            <p:spPr>
              <a:xfrm>
                <a:off x="839" y="2024"/>
                <a:ext cx="1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298" name="Text Box 13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99" name="Text Box 14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00" name="Text Box 15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246" name="Group 16"/>
          <p:cNvGrpSpPr/>
          <p:nvPr/>
        </p:nvGrpSpPr>
        <p:grpSpPr>
          <a:xfrm>
            <a:off x="1547813" y="4868863"/>
            <a:ext cx="1416050" cy="1308100"/>
            <a:chOff x="113" y="2840"/>
            <a:chExt cx="892" cy="824"/>
          </a:xfrm>
        </p:grpSpPr>
        <p:sp>
          <p:nvSpPr>
            <p:cNvPr id="10282" name="Line 17"/>
            <p:cNvSpPr/>
            <p:nvPr/>
          </p:nvSpPr>
          <p:spPr>
            <a:xfrm>
              <a:off x="340" y="2976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3" name="Line 18"/>
            <p:cNvSpPr/>
            <p:nvPr/>
          </p:nvSpPr>
          <p:spPr>
            <a:xfrm>
              <a:off x="340" y="3158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4" name="Line 19"/>
            <p:cNvSpPr/>
            <p:nvPr/>
          </p:nvSpPr>
          <p:spPr>
            <a:xfrm>
              <a:off x="657" y="3067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5" name="Text Box 20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I0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6" name="Text Box 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I1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7" name="Text Box 22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8" name="Line 23"/>
            <p:cNvSpPr/>
            <p:nvPr/>
          </p:nvSpPr>
          <p:spPr>
            <a:xfrm>
              <a:off x="476" y="2931"/>
              <a:ext cx="0" cy="2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9" name="Arc 24"/>
            <p:cNvSpPr/>
            <p:nvPr/>
          </p:nvSpPr>
          <p:spPr>
            <a:xfrm>
              <a:off x="567" y="2840"/>
              <a:ext cx="90" cy="9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0" name="Arc 25"/>
            <p:cNvSpPr/>
            <p:nvPr/>
          </p:nvSpPr>
          <p:spPr>
            <a:xfrm flipH="1">
              <a:off x="476" y="2840"/>
              <a:ext cx="90" cy="9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1" name="Arc 26"/>
            <p:cNvSpPr/>
            <p:nvPr/>
          </p:nvSpPr>
          <p:spPr>
            <a:xfrm flipV="1">
              <a:off x="567" y="3203"/>
              <a:ext cx="90" cy="9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2" name="Arc 27"/>
            <p:cNvSpPr/>
            <p:nvPr/>
          </p:nvSpPr>
          <p:spPr>
            <a:xfrm flipH="1" flipV="1">
              <a:off x="476" y="3203"/>
              <a:ext cx="90" cy="9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3" name="Line 28"/>
            <p:cNvSpPr/>
            <p:nvPr/>
          </p:nvSpPr>
          <p:spPr>
            <a:xfrm>
              <a:off x="657" y="2931"/>
              <a:ext cx="0" cy="2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4" name="Text Box 29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36000" rIns="0" bIns="0">
              <a:spAutoFit/>
            </a:bodyPr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  <a:b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</a:b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u</a:t>
              </a:r>
              <a:b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</a:b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95" name="Line 30"/>
            <p:cNvSpPr/>
            <p:nvPr/>
          </p:nvSpPr>
          <p:spPr>
            <a:xfrm flipV="1">
              <a:off x="567" y="3294"/>
              <a:ext cx="0" cy="1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6" name="Text Box 3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7" name="Rectangle 32"/>
          <p:cNvSpPr/>
          <p:nvPr/>
        </p:nvSpPr>
        <p:spPr>
          <a:xfrm>
            <a:off x="684213" y="3644900"/>
            <a:ext cx="3240087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Multiplexer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 = S ? I1 : I0</a:t>
            </a:r>
            <a:endParaRPr lang="en-AU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48" name="Group 33"/>
          <p:cNvGrpSpPr/>
          <p:nvPr/>
        </p:nvGrpSpPr>
        <p:grpSpPr>
          <a:xfrm>
            <a:off x="7092950" y="1484313"/>
            <a:ext cx="1604963" cy="1012825"/>
            <a:chOff x="1111" y="2659"/>
            <a:chExt cx="1011" cy="638"/>
          </a:xfrm>
        </p:grpSpPr>
        <p:sp>
          <p:nvSpPr>
            <p:cNvPr id="10268" name="Line 34"/>
            <p:cNvSpPr/>
            <p:nvPr/>
          </p:nvSpPr>
          <p:spPr>
            <a:xfrm>
              <a:off x="1338" y="2795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9" name="Line 35"/>
            <p:cNvSpPr/>
            <p:nvPr/>
          </p:nvSpPr>
          <p:spPr>
            <a:xfrm>
              <a:off x="1338" y="3158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70" name="Line 36"/>
            <p:cNvSpPr/>
            <p:nvPr/>
          </p:nvSpPr>
          <p:spPr>
            <a:xfrm>
              <a:off x="1791" y="2976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71" name="Text Box 37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2" name="Text Box 38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3" name="Text Box 39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4" name="Line 40"/>
            <p:cNvSpPr/>
            <p:nvPr/>
          </p:nvSpPr>
          <p:spPr>
            <a:xfrm>
              <a:off x="1474" y="2659"/>
              <a:ext cx="0" cy="22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5" name="Line 41"/>
            <p:cNvSpPr/>
            <p:nvPr/>
          </p:nvSpPr>
          <p:spPr>
            <a:xfrm>
              <a:off x="1474" y="3067"/>
              <a:ext cx="0" cy="22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6" name="Line 42"/>
            <p:cNvSpPr/>
            <p:nvPr/>
          </p:nvSpPr>
          <p:spPr>
            <a:xfrm>
              <a:off x="1474" y="2886"/>
              <a:ext cx="91" cy="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7" name="Line 43"/>
            <p:cNvSpPr/>
            <p:nvPr/>
          </p:nvSpPr>
          <p:spPr>
            <a:xfrm flipH="1">
              <a:off x="1474" y="2976"/>
              <a:ext cx="91" cy="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8" name="Line 44"/>
            <p:cNvSpPr/>
            <p:nvPr/>
          </p:nvSpPr>
          <p:spPr>
            <a:xfrm>
              <a:off x="1474" y="2659"/>
              <a:ext cx="317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9" name="Line 45"/>
            <p:cNvSpPr/>
            <p:nvPr/>
          </p:nvSpPr>
          <p:spPr>
            <a:xfrm flipV="1">
              <a:off x="1474" y="3113"/>
              <a:ext cx="317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0" name="Line 46"/>
            <p:cNvSpPr/>
            <p:nvPr/>
          </p:nvSpPr>
          <p:spPr>
            <a:xfrm>
              <a:off x="1791" y="2840"/>
              <a:ext cx="0" cy="27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1" name="Text Box 47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249" name="Group 48"/>
          <p:cNvGrpSpPr/>
          <p:nvPr/>
        </p:nvGrpSpPr>
        <p:grpSpPr>
          <a:xfrm>
            <a:off x="5580063" y="4575175"/>
            <a:ext cx="1676400" cy="1595438"/>
            <a:chOff x="2699" y="2750"/>
            <a:chExt cx="1056" cy="1005"/>
          </a:xfrm>
        </p:grpSpPr>
        <p:sp>
          <p:nvSpPr>
            <p:cNvPr id="10252" name="Line 49"/>
            <p:cNvSpPr/>
            <p:nvPr/>
          </p:nvSpPr>
          <p:spPr>
            <a:xfrm>
              <a:off x="2926" y="2886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3" name="Line 50"/>
            <p:cNvSpPr/>
            <p:nvPr/>
          </p:nvSpPr>
          <p:spPr>
            <a:xfrm>
              <a:off x="2926" y="3339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4" name="Line 51"/>
            <p:cNvSpPr/>
            <p:nvPr/>
          </p:nvSpPr>
          <p:spPr>
            <a:xfrm>
              <a:off x="3424" y="3113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5" name="Text Box 52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6" name="Text Box 53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7" name="Text Box 54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8" name="Line 55"/>
            <p:cNvSpPr/>
            <p:nvPr/>
          </p:nvSpPr>
          <p:spPr>
            <a:xfrm>
              <a:off x="3061" y="2750"/>
              <a:ext cx="1" cy="2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9" name="Line 56"/>
            <p:cNvSpPr/>
            <p:nvPr/>
          </p:nvSpPr>
          <p:spPr>
            <a:xfrm flipH="1">
              <a:off x="3061" y="3203"/>
              <a:ext cx="1" cy="2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0" name="Line 57"/>
            <p:cNvSpPr/>
            <p:nvPr/>
          </p:nvSpPr>
          <p:spPr>
            <a:xfrm>
              <a:off x="3062" y="3022"/>
              <a:ext cx="91" cy="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1" name="Line 58"/>
            <p:cNvSpPr/>
            <p:nvPr/>
          </p:nvSpPr>
          <p:spPr>
            <a:xfrm flipH="1">
              <a:off x="3062" y="3112"/>
              <a:ext cx="91" cy="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2" name="Line 59"/>
            <p:cNvSpPr/>
            <p:nvPr/>
          </p:nvSpPr>
          <p:spPr>
            <a:xfrm>
              <a:off x="3061" y="2750"/>
              <a:ext cx="363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3" name="Line 60"/>
            <p:cNvSpPr/>
            <p:nvPr/>
          </p:nvSpPr>
          <p:spPr>
            <a:xfrm flipV="1">
              <a:off x="3061" y="3294"/>
              <a:ext cx="363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4" name="Line 61"/>
            <p:cNvSpPr/>
            <p:nvPr/>
          </p:nvSpPr>
          <p:spPr>
            <a:xfrm>
              <a:off x="3424" y="2931"/>
              <a:ext cx="0" cy="36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5" name="Text Box 62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6" name="Line 63"/>
            <p:cNvSpPr/>
            <p:nvPr/>
          </p:nvSpPr>
          <p:spPr>
            <a:xfrm>
              <a:off x="3243" y="3385"/>
              <a:ext cx="0" cy="1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7" name="Text Box 64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50" name="Rectangle 65"/>
          <p:cNvSpPr/>
          <p:nvPr/>
        </p:nvSpPr>
        <p:spPr>
          <a:xfrm>
            <a:off x="4211638" y="1412875"/>
            <a:ext cx="3101975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Adder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 = A + B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1" name="Rectangle 66"/>
          <p:cNvSpPr/>
          <p:nvPr/>
        </p:nvSpPr>
        <p:spPr>
          <a:xfrm>
            <a:off x="4211638" y="3284538"/>
            <a:ext cx="4319587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Arithmetic/Logic Unit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 = F(A, B)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Sequential Elements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7654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Register: stores data in a circuit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Uses a clock signal to determine when to update the stored value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Edge-triggered: update when Clk changes from 0 to 1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11269" name="Group 4"/>
          <p:cNvGrpSpPr/>
          <p:nvPr/>
        </p:nvGrpSpPr>
        <p:grpSpPr>
          <a:xfrm>
            <a:off x="755650" y="4365625"/>
            <a:ext cx="2090738" cy="1223963"/>
            <a:chOff x="657" y="2296"/>
            <a:chExt cx="1317" cy="771"/>
          </a:xfrm>
        </p:grpSpPr>
        <p:sp>
          <p:nvSpPr>
            <p:cNvPr id="11300" name="Rectangle 5"/>
            <p:cNvSpPr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1" name="Line 6"/>
            <p:cNvSpPr/>
            <p:nvPr/>
          </p:nvSpPr>
          <p:spPr>
            <a:xfrm>
              <a:off x="975" y="2478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02" name="Line 7"/>
            <p:cNvSpPr/>
            <p:nvPr/>
          </p:nvSpPr>
          <p:spPr>
            <a:xfrm>
              <a:off x="975" y="2886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3" name="Line 8"/>
            <p:cNvSpPr/>
            <p:nvPr/>
          </p:nvSpPr>
          <p:spPr>
            <a:xfrm>
              <a:off x="1610" y="2478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04" name="Text Box 9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5" name="Text Box 10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6" name="Text Box 11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7" name="Line 12"/>
            <p:cNvSpPr/>
            <p:nvPr/>
          </p:nvSpPr>
          <p:spPr>
            <a:xfrm>
              <a:off x="1111" y="2840"/>
              <a:ext cx="91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8" name="Line 13"/>
            <p:cNvSpPr/>
            <p:nvPr/>
          </p:nvSpPr>
          <p:spPr>
            <a:xfrm flipV="1">
              <a:off x="1111" y="2886"/>
              <a:ext cx="91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270" name="Group 44"/>
          <p:cNvGrpSpPr/>
          <p:nvPr/>
        </p:nvGrpSpPr>
        <p:grpSpPr>
          <a:xfrm>
            <a:off x="3419475" y="4005263"/>
            <a:ext cx="4775200" cy="1800225"/>
            <a:chOff x="2154" y="2523"/>
            <a:chExt cx="3008" cy="1134"/>
          </a:xfrm>
        </p:grpSpPr>
        <p:sp>
          <p:nvSpPr>
            <p:cNvPr id="11271" name="Line 18"/>
            <p:cNvSpPr/>
            <p:nvPr/>
          </p:nvSpPr>
          <p:spPr>
            <a:xfrm>
              <a:off x="2712" y="261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2" name="Line 19"/>
            <p:cNvSpPr/>
            <p:nvPr/>
          </p:nvSpPr>
          <p:spPr>
            <a:xfrm>
              <a:off x="2712" y="2614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3" name="Line 20"/>
            <p:cNvSpPr/>
            <p:nvPr/>
          </p:nvSpPr>
          <p:spPr>
            <a:xfrm>
              <a:off x="3256" y="2614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4" name="Line 21"/>
            <p:cNvSpPr/>
            <p:nvPr/>
          </p:nvSpPr>
          <p:spPr>
            <a:xfrm>
              <a:off x="3256" y="2795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5" name="Line 22"/>
            <p:cNvSpPr/>
            <p:nvPr/>
          </p:nvSpPr>
          <p:spPr>
            <a:xfrm>
              <a:off x="2531" y="2795"/>
              <a:ext cx="1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6" name="Line 23"/>
            <p:cNvSpPr/>
            <p:nvPr/>
          </p:nvSpPr>
          <p:spPr>
            <a:xfrm>
              <a:off x="3801" y="261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7" name="Line 24"/>
            <p:cNvSpPr/>
            <p:nvPr/>
          </p:nvSpPr>
          <p:spPr>
            <a:xfrm>
              <a:off x="3801" y="2614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8" name="Line 25"/>
            <p:cNvSpPr/>
            <p:nvPr/>
          </p:nvSpPr>
          <p:spPr>
            <a:xfrm>
              <a:off x="4345" y="2614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9" name="Line 26"/>
            <p:cNvSpPr/>
            <p:nvPr/>
          </p:nvSpPr>
          <p:spPr>
            <a:xfrm>
              <a:off x="4345" y="2795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Line 27"/>
            <p:cNvSpPr/>
            <p:nvPr/>
          </p:nvSpPr>
          <p:spPr>
            <a:xfrm>
              <a:off x="4889" y="2614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1" name="Line 28"/>
            <p:cNvSpPr/>
            <p:nvPr/>
          </p:nvSpPr>
          <p:spPr>
            <a:xfrm flipV="1">
              <a:off x="4890" y="2613"/>
              <a:ext cx="22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2" name="Line 29"/>
            <p:cNvSpPr/>
            <p:nvPr/>
          </p:nvSpPr>
          <p:spPr>
            <a:xfrm>
              <a:off x="2531" y="3657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3" name="Line 30"/>
            <p:cNvSpPr/>
            <p:nvPr/>
          </p:nvSpPr>
          <p:spPr>
            <a:xfrm flipV="1">
              <a:off x="2531" y="2523"/>
              <a:ext cx="0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4" name="Text Box 31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Text Box 3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6" name="Text Box 33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Freeform 34"/>
            <p:cNvSpPr/>
            <p:nvPr/>
          </p:nvSpPr>
          <p:spPr>
            <a:xfrm>
              <a:off x="2531" y="2976"/>
              <a:ext cx="635" cy="182"/>
            </a:xfrm>
            <a:custGeom>
              <a:avLst/>
              <a:gdLst>
                <a:gd name="txL" fmla="*/ 0 w 635"/>
                <a:gd name="txT" fmla="*/ 0 h 182"/>
                <a:gd name="txR" fmla="*/ 635 w 635"/>
                <a:gd name="txB" fmla="*/ 182 h 182"/>
              </a:gdLst>
              <a:ahLst/>
              <a:cxnLst>
                <a:cxn ang="0">
                  <a:pos x="0" y="0"/>
                </a:cxn>
                <a:cxn ang="0">
                  <a:pos x="590" y="0"/>
                </a:cxn>
                <a:cxn ang="0">
                  <a:pos x="635" y="91"/>
                </a:cxn>
                <a:cxn ang="0">
                  <a:pos x="590" y="182"/>
                </a:cxn>
                <a:cxn ang="0">
                  <a:pos x="0" y="182"/>
                </a:cxn>
              </a:cxnLst>
              <a:rect l="txL" t="txT" r="txR" b="txB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88" name="Freeform 35"/>
            <p:cNvSpPr/>
            <p:nvPr/>
          </p:nvSpPr>
          <p:spPr>
            <a:xfrm>
              <a:off x="3166" y="2976"/>
              <a:ext cx="1089" cy="182"/>
            </a:xfrm>
            <a:custGeom>
              <a:avLst/>
              <a:gdLst>
                <a:gd name="txL" fmla="*/ 0 w 1089"/>
                <a:gd name="txT" fmla="*/ 0 h 182"/>
                <a:gd name="txR" fmla="*/ 1089 w 1089"/>
                <a:gd name="txB" fmla="*/ 182 h 182"/>
              </a:gdLst>
              <a:ahLst/>
              <a:cxnLst>
                <a:cxn ang="0">
                  <a:pos x="0" y="91"/>
                </a:cxn>
                <a:cxn ang="0">
                  <a:pos x="45" y="0"/>
                </a:cxn>
                <a:cxn ang="0">
                  <a:pos x="1043" y="0"/>
                </a:cxn>
                <a:cxn ang="0">
                  <a:pos x="1089" y="91"/>
                </a:cxn>
                <a:cxn ang="0">
                  <a:pos x="1043" y="182"/>
                </a:cxn>
                <a:cxn ang="0">
                  <a:pos x="45" y="182"/>
                </a:cxn>
                <a:cxn ang="0">
                  <a:pos x="0" y="91"/>
                </a:cxn>
              </a:cxnLst>
              <a:rect l="txL" t="txT" r="txR" b="tx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89" name="Freeform 36"/>
            <p:cNvSpPr/>
            <p:nvPr/>
          </p:nvSpPr>
          <p:spPr>
            <a:xfrm>
              <a:off x="3892" y="3339"/>
              <a:ext cx="1089" cy="182"/>
            </a:xfrm>
            <a:custGeom>
              <a:avLst/>
              <a:gdLst>
                <a:gd name="txL" fmla="*/ 0 w 1089"/>
                <a:gd name="txT" fmla="*/ 0 h 182"/>
                <a:gd name="txR" fmla="*/ 1089 w 1089"/>
                <a:gd name="txB" fmla="*/ 182 h 182"/>
              </a:gdLst>
              <a:ahLst/>
              <a:cxnLst>
                <a:cxn ang="0">
                  <a:pos x="0" y="91"/>
                </a:cxn>
                <a:cxn ang="0">
                  <a:pos x="45" y="0"/>
                </a:cxn>
                <a:cxn ang="0">
                  <a:pos x="1043" y="0"/>
                </a:cxn>
                <a:cxn ang="0">
                  <a:pos x="1089" y="91"/>
                </a:cxn>
                <a:cxn ang="0">
                  <a:pos x="1043" y="182"/>
                </a:cxn>
                <a:cxn ang="0">
                  <a:pos x="45" y="182"/>
                </a:cxn>
                <a:cxn ang="0">
                  <a:pos x="0" y="91"/>
                </a:cxn>
              </a:cxnLst>
              <a:rect l="txL" t="txT" r="txR" b="tx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0" name="Freeform 37"/>
            <p:cNvSpPr/>
            <p:nvPr/>
          </p:nvSpPr>
          <p:spPr>
            <a:xfrm>
              <a:off x="2803" y="3339"/>
              <a:ext cx="1089" cy="182"/>
            </a:xfrm>
            <a:custGeom>
              <a:avLst/>
              <a:gdLst>
                <a:gd name="txL" fmla="*/ 0 w 1089"/>
                <a:gd name="txT" fmla="*/ 0 h 182"/>
                <a:gd name="txR" fmla="*/ 1089 w 1089"/>
                <a:gd name="txB" fmla="*/ 182 h 182"/>
              </a:gdLst>
              <a:ahLst/>
              <a:cxnLst>
                <a:cxn ang="0">
                  <a:pos x="0" y="91"/>
                </a:cxn>
                <a:cxn ang="0">
                  <a:pos x="45" y="0"/>
                </a:cxn>
                <a:cxn ang="0">
                  <a:pos x="1043" y="0"/>
                </a:cxn>
                <a:cxn ang="0">
                  <a:pos x="1089" y="91"/>
                </a:cxn>
                <a:cxn ang="0">
                  <a:pos x="1043" y="182"/>
                </a:cxn>
                <a:cxn ang="0">
                  <a:pos x="45" y="182"/>
                </a:cxn>
                <a:cxn ang="0">
                  <a:pos x="0" y="91"/>
                </a:cxn>
              </a:cxnLst>
              <a:rect l="txL" t="txT" r="txR" b="tx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1" name="Freeform 38"/>
            <p:cNvSpPr/>
            <p:nvPr/>
          </p:nvSpPr>
          <p:spPr>
            <a:xfrm>
              <a:off x="2531" y="3340"/>
              <a:ext cx="272" cy="181"/>
            </a:xfrm>
            <a:custGeom>
              <a:avLst/>
              <a:gdLst>
                <a:gd name="txL" fmla="*/ 0 w 272"/>
                <a:gd name="txT" fmla="*/ 0 h 181"/>
                <a:gd name="txR" fmla="*/ 272 w 272"/>
                <a:gd name="txB" fmla="*/ 181 h 181"/>
              </a:gdLst>
              <a:ahLst/>
              <a:cxnLst>
                <a:cxn ang="0">
                  <a:pos x="0" y="0"/>
                </a:cxn>
                <a:cxn ang="0">
                  <a:pos x="227" y="0"/>
                </a:cxn>
                <a:cxn ang="0">
                  <a:pos x="272" y="90"/>
                </a:cxn>
                <a:cxn ang="0">
                  <a:pos x="227" y="181"/>
                </a:cxn>
                <a:cxn ang="0">
                  <a:pos x="0" y="181"/>
                </a:cxn>
              </a:cxnLst>
              <a:rect l="txL" t="txT" r="txR" b="txB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2" name="Freeform 39"/>
            <p:cNvSpPr/>
            <p:nvPr/>
          </p:nvSpPr>
          <p:spPr>
            <a:xfrm>
              <a:off x="2712" y="3067"/>
              <a:ext cx="169" cy="270"/>
            </a:xfrm>
            <a:custGeom>
              <a:avLst/>
              <a:gdLst>
                <a:gd name="txL" fmla="*/ 0 w 169"/>
                <a:gd name="txT" fmla="*/ 0 h 270"/>
                <a:gd name="txR" fmla="*/ 169 w 169"/>
                <a:gd name="txB" fmla="*/ 270 h 270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69" y="270"/>
                </a:cxn>
              </a:cxnLst>
              <a:rect l="txL" t="txT" r="txR" b="tx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3" name="Freeform 40"/>
            <p:cNvSpPr/>
            <p:nvPr/>
          </p:nvSpPr>
          <p:spPr>
            <a:xfrm>
              <a:off x="3801" y="3067"/>
              <a:ext cx="169" cy="270"/>
            </a:xfrm>
            <a:custGeom>
              <a:avLst/>
              <a:gdLst>
                <a:gd name="txL" fmla="*/ 0 w 169"/>
                <a:gd name="txT" fmla="*/ 0 h 270"/>
                <a:gd name="txR" fmla="*/ 169 w 169"/>
                <a:gd name="txB" fmla="*/ 270 h 270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69" y="270"/>
                </a:cxn>
              </a:cxnLst>
              <a:rect l="txL" t="txT" r="txR" b="tx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4" name="Freeform 41"/>
            <p:cNvSpPr/>
            <p:nvPr/>
          </p:nvSpPr>
          <p:spPr>
            <a:xfrm>
              <a:off x="4980" y="3339"/>
              <a:ext cx="136" cy="182"/>
            </a:xfrm>
            <a:custGeom>
              <a:avLst/>
              <a:gdLst>
                <a:gd name="txL" fmla="*/ 0 w 136"/>
                <a:gd name="txT" fmla="*/ 0 h 182"/>
                <a:gd name="txR" fmla="*/ 136 w 136"/>
                <a:gd name="txB" fmla="*/ 182 h 182"/>
              </a:gdLst>
              <a:ahLst/>
              <a:cxnLst>
                <a:cxn ang="0">
                  <a:pos x="136" y="0"/>
                </a:cxn>
                <a:cxn ang="0">
                  <a:pos x="45" y="0"/>
                </a:cxn>
                <a:cxn ang="0">
                  <a:pos x="0" y="91"/>
                </a:cxn>
                <a:cxn ang="0">
                  <a:pos x="45" y="182"/>
                </a:cxn>
                <a:cxn ang="0">
                  <a:pos x="136" y="182"/>
                </a:cxn>
              </a:cxnLst>
              <a:rect l="txL" t="txT" r="txR" b="txB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5" name="Freeform 42"/>
            <p:cNvSpPr/>
            <p:nvPr/>
          </p:nvSpPr>
          <p:spPr>
            <a:xfrm>
              <a:off x="4255" y="2976"/>
              <a:ext cx="862" cy="182"/>
            </a:xfrm>
            <a:custGeom>
              <a:avLst/>
              <a:gdLst>
                <a:gd name="txL" fmla="*/ 0 w 862"/>
                <a:gd name="txT" fmla="*/ 0 h 182"/>
                <a:gd name="txR" fmla="*/ 862 w 862"/>
                <a:gd name="txB" fmla="*/ 182 h 182"/>
              </a:gdLst>
              <a:ahLst/>
              <a:cxnLst>
                <a:cxn ang="0">
                  <a:pos x="862" y="0"/>
                </a:cxn>
                <a:cxn ang="0">
                  <a:pos x="46" y="0"/>
                </a:cxn>
                <a:cxn ang="0">
                  <a:pos x="0" y="91"/>
                </a:cxn>
                <a:cxn ang="0">
                  <a:pos x="46" y="182"/>
                </a:cxn>
                <a:cxn ang="0">
                  <a:pos x="862" y="182"/>
                </a:cxn>
              </a:cxnLst>
              <a:rect l="txL" t="txT" r="txR" b="txB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6" name="Freeform 43"/>
            <p:cNvSpPr/>
            <p:nvPr/>
          </p:nvSpPr>
          <p:spPr>
            <a:xfrm>
              <a:off x="4890" y="3067"/>
              <a:ext cx="169" cy="270"/>
            </a:xfrm>
            <a:custGeom>
              <a:avLst/>
              <a:gdLst>
                <a:gd name="txL" fmla="*/ 0 w 169"/>
                <a:gd name="txT" fmla="*/ 0 h 270"/>
                <a:gd name="txR" fmla="*/ 169 w 169"/>
                <a:gd name="txB" fmla="*/ 270 h 270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69" y="270"/>
                </a:cxn>
              </a:cxnLst>
              <a:rect l="txL" t="txT" r="txR" b="tx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7" name="Line 15"/>
            <p:cNvSpPr/>
            <p:nvPr/>
          </p:nvSpPr>
          <p:spPr>
            <a:xfrm>
              <a:off x="2712" y="2523"/>
              <a:ext cx="0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98" name="Line 16"/>
            <p:cNvSpPr/>
            <p:nvPr/>
          </p:nvSpPr>
          <p:spPr>
            <a:xfrm>
              <a:off x="3801" y="2523"/>
              <a:ext cx="0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99" name="Line 17"/>
            <p:cNvSpPr/>
            <p:nvPr/>
          </p:nvSpPr>
          <p:spPr>
            <a:xfrm>
              <a:off x="4889" y="2523"/>
              <a:ext cx="1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Sequential Elements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3034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Register with write control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Only updates on clock edge when write control input is 1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Used when stored value is required later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12293" name="Group 4"/>
          <p:cNvGrpSpPr/>
          <p:nvPr/>
        </p:nvGrpSpPr>
        <p:grpSpPr>
          <a:xfrm>
            <a:off x="539750" y="4365625"/>
            <a:ext cx="2306638" cy="1223963"/>
            <a:chOff x="340" y="2750"/>
            <a:chExt cx="1453" cy="771"/>
          </a:xfrm>
        </p:grpSpPr>
        <p:sp>
          <p:nvSpPr>
            <p:cNvPr id="12330" name="Rectangle 5"/>
            <p:cNvSpPr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31" name="Line 6"/>
            <p:cNvSpPr/>
            <p:nvPr/>
          </p:nvSpPr>
          <p:spPr>
            <a:xfrm>
              <a:off x="794" y="2932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32" name="Line 7"/>
            <p:cNvSpPr/>
            <p:nvPr/>
          </p:nvSpPr>
          <p:spPr>
            <a:xfrm>
              <a:off x="794" y="3340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3" name="Line 8"/>
            <p:cNvSpPr/>
            <p:nvPr/>
          </p:nvSpPr>
          <p:spPr>
            <a:xfrm>
              <a:off x="1429" y="2932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34" name="Text Box 9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35" name="Text Box 10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36" name="Text Box 11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37" name="Line 12"/>
            <p:cNvSpPr/>
            <p:nvPr/>
          </p:nvSpPr>
          <p:spPr>
            <a:xfrm>
              <a:off x="930" y="3294"/>
              <a:ext cx="91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8" name="Line 13"/>
            <p:cNvSpPr/>
            <p:nvPr/>
          </p:nvSpPr>
          <p:spPr>
            <a:xfrm flipV="1">
              <a:off x="930" y="3340"/>
              <a:ext cx="91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9" name="Line 14"/>
            <p:cNvSpPr/>
            <p:nvPr/>
          </p:nvSpPr>
          <p:spPr>
            <a:xfrm>
              <a:off x="793" y="3154"/>
              <a:ext cx="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40" name="Text Box 15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Write</a:t>
              </a:r>
              <a:endParaRPr lang="en-AU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294" name="Group 52"/>
          <p:cNvGrpSpPr/>
          <p:nvPr/>
        </p:nvGrpSpPr>
        <p:grpSpPr>
          <a:xfrm>
            <a:off x="3203575" y="3644900"/>
            <a:ext cx="4991100" cy="2376488"/>
            <a:chOff x="2004" y="2387"/>
            <a:chExt cx="3144" cy="1497"/>
          </a:xfrm>
        </p:grpSpPr>
        <p:sp>
          <p:nvSpPr>
            <p:cNvPr id="12295" name="Line 20"/>
            <p:cNvSpPr/>
            <p:nvPr/>
          </p:nvSpPr>
          <p:spPr>
            <a:xfrm>
              <a:off x="2517" y="2840"/>
              <a:ext cx="81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6" name="Line 21"/>
            <p:cNvSpPr/>
            <p:nvPr/>
          </p:nvSpPr>
          <p:spPr>
            <a:xfrm>
              <a:off x="3334" y="2840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7" name="Line 22"/>
            <p:cNvSpPr/>
            <p:nvPr/>
          </p:nvSpPr>
          <p:spPr>
            <a:xfrm>
              <a:off x="3334" y="3022"/>
              <a:ext cx="12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8" name="Line 23"/>
            <p:cNvSpPr/>
            <p:nvPr/>
          </p:nvSpPr>
          <p:spPr>
            <a:xfrm>
              <a:off x="4558" y="2840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9" name="Line 24"/>
            <p:cNvSpPr/>
            <p:nvPr/>
          </p:nvSpPr>
          <p:spPr>
            <a:xfrm flipV="1">
              <a:off x="4558" y="2840"/>
              <a:ext cx="5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0" name="Line 25"/>
            <p:cNvSpPr/>
            <p:nvPr/>
          </p:nvSpPr>
          <p:spPr>
            <a:xfrm>
              <a:off x="2517" y="3884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1" name="Line 26"/>
            <p:cNvSpPr/>
            <p:nvPr/>
          </p:nvSpPr>
          <p:spPr>
            <a:xfrm flipH="1" flipV="1">
              <a:off x="2503" y="2387"/>
              <a:ext cx="14" cy="14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2" name="Text Box 27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Write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Text Box 28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Text Box 29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Freeform 30"/>
            <p:cNvSpPr/>
            <p:nvPr/>
          </p:nvSpPr>
          <p:spPr>
            <a:xfrm>
              <a:off x="2517" y="3203"/>
              <a:ext cx="635" cy="182"/>
            </a:xfrm>
            <a:custGeom>
              <a:avLst/>
              <a:gdLst>
                <a:gd name="txL" fmla="*/ 0 w 635"/>
                <a:gd name="txT" fmla="*/ 0 h 182"/>
                <a:gd name="txR" fmla="*/ 635 w 635"/>
                <a:gd name="txB" fmla="*/ 182 h 182"/>
              </a:gdLst>
              <a:ahLst/>
              <a:cxnLst>
                <a:cxn ang="0">
                  <a:pos x="0" y="0"/>
                </a:cxn>
                <a:cxn ang="0">
                  <a:pos x="590" y="0"/>
                </a:cxn>
                <a:cxn ang="0">
                  <a:pos x="635" y="91"/>
                </a:cxn>
                <a:cxn ang="0">
                  <a:pos x="590" y="182"/>
                </a:cxn>
                <a:cxn ang="0">
                  <a:pos x="0" y="182"/>
                </a:cxn>
              </a:cxnLst>
              <a:rect l="txL" t="txT" r="txR" b="txB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06" name="Freeform 31"/>
            <p:cNvSpPr/>
            <p:nvPr/>
          </p:nvSpPr>
          <p:spPr>
            <a:xfrm>
              <a:off x="3152" y="3203"/>
              <a:ext cx="1089" cy="182"/>
            </a:xfrm>
            <a:custGeom>
              <a:avLst/>
              <a:gdLst>
                <a:gd name="txL" fmla="*/ 0 w 1089"/>
                <a:gd name="txT" fmla="*/ 0 h 182"/>
                <a:gd name="txR" fmla="*/ 1089 w 1089"/>
                <a:gd name="txB" fmla="*/ 182 h 182"/>
              </a:gdLst>
              <a:ahLst/>
              <a:cxnLst>
                <a:cxn ang="0">
                  <a:pos x="0" y="91"/>
                </a:cxn>
                <a:cxn ang="0">
                  <a:pos x="45" y="0"/>
                </a:cxn>
                <a:cxn ang="0">
                  <a:pos x="1043" y="0"/>
                </a:cxn>
                <a:cxn ang="0">
                  <a:pos x="1089" y="91"/>
                </a:cxn>
                <a:cxn ang="0">
                  <a:pos x="1043" y="182"/>
                </a:cxn>
                <a:cxn ang="0">
                  <a:pos x="45" y="182"/>
                </a:cxn>
                <a:cxn ang="0">
                  <a:pos x="0" y="91"/>
                </a:cxn>
              </a:cxnLst>
              <a:rect l="txL" t="txT" r="txR" b="tx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07" name="Freeform 32"/>
            <p:cNvSpPr/>
            <p:nvPr/>
          </p:nvSpPr>
          <p:spPr>
            <a:xfrm>
              <a:off x="2517" y="3567"/>
              <a:ext cx="272" cy="181"/>
            </a:xfrm>
            <a:custGeom>
              <a:avLst/>
              <a:gdLst>
                <a:gd name="txL" fmla="*/ 0 w 272"/>
                <a:gd name="txT" fmla="*/ 0 h 181"/>
                <a:gd name="txR" fmla="*/ 272 w 272"/>
                <a:gd name="txB" fmla="*/ 181 h 181"/>
              </a:gdLst>
              <a:ahLst/>
              <a:cxnLst>
                <a:cxn ang="0">
                  <a:pos x="0" y="0"/>
                </a:cxn>
                <a:cxn ang="0">
                  <a:pos x="227" y="0"/>
                </a:cxn>
                <a:cxn ang="0">
                  <a:pos x="272" y="90"/>
                </a:cxn>
                <a:cxn ang="0">
                  <a:pos x="227" y="181"/>
                </a:cxn>
                <a:cxn ang="0">
                  <a:pos x="0" y="181"/>
                </a:cxn>
              </a:cxnLst>
              <a:rect l="txL" t="txT" r="txR" b="txB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08" name="Freeform 33"/>
            <p:cNvSpPr/>
            <p:nvPr/>
          </p:nvSpPr>
          <p:spPr>
            <a:xfrm>
              <a:off x="2698" y="3294"/>
              <a:ext cx="169" cy="270"/>
            </a:xfrm>
            <a:custGeom>
              <a:avLst/>
              <a:gdLst>
                <a:gd name="txL" fmla="*/ 0 w 169"/>
                <a:gd name="txT" fmla="*/ 0 h 270"/>
                <a:gd name="txR" fmla="*/ 169 w 169"/>
                <a:gd name="txB" fmla="*/ 270 h 270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69" y="270"/>
                </a:cxn>
              </a:cxnLst>
              <a:rect l="txL" t="txT" r="txR" b="tx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09" name="Freeform 34"/>
            <p:cNvSpPr/>
            <p:nvPr/>
          </p:nvSpPr>
          <p:spPr>
            <a:xfrm>
              <a:off x="2699" y="2840"/>
              <a:ext cx="157" cy="688"/>
            </a:xfrm>
            <a:custGeom>
              <a:avLst/>
              <a:gdLst>
                <a:gd name="txL" fmla="*/ 0 w 157"/>
                <a:gd name="txT" fmla="*/ 0 h 688"/>
                <a:gd name="txR" fmla="*/ 157 w 157"/>
                <a:gd name="txB" fmla="*/ 688 h 688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57" y="688"/>
                </a:cxn>
              </a:cxnLst>
              <a:rect l="txL" t="txT" r="txR" b="txB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10" name="Freeform 35"/>
            <p:cNvSpPr/>
            <p:nvPr/>
          </p:nvSpPr>
          <p:spPr>
            <a:xfrm>
              <a:off x="4966" y="3566"/>
              <a:ext cx="136" cy="182"/>
            </a:xfrm>
            <a:custGeom>
              <a:avLst/>
              <a:gdLst>
                <a:gd name="txL" fmla="*/ 0 w 136"/>
                <a:gd name="txT" fmla="*/ 0 h 182"/>
                <a:gd name="txR" fmla="*/ 136 w 136"/>
                <a:gd name="txB" fmla="*/ 182 h 182"/>
              </a:gdLst>
              <a:ahLst/>
              <a:cxnLst>
                <a:cxn ang="0">
                  <a:pos x="136" y="0"/>
                </a:cxn>
                <a:cxn ang="0">
                  <a:pos x="45" y="0"/>
                </a:cxn>
                <a:cxn ang="0">
                  <a:pos x="0" y="91"/>
                </a:cxn>
                <a:cxn ang="0">
                  <a:pos x="45" y="182"/>
                </a:cxn>
                <a:cxn ang="0">
                  <a:pos x="136" y="182"/>
                </a:cxn>
              </a:cxnLst>
              <a:rect l="txL" t="txT" r="txR" b="txB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11" name="Freeform 36"/>
            <p:cNvSpPr/>
            <p:nvPr/>
          </p:nvSpPr>
          <p:spPr>
            <a:xfrm>
              <a:off x="4241" y="3203"/>
              <a:ext cx="862" cy="182"/>
            </a:xfrm>
            <a:custGeom>
              <a:avLst/>
              <a:gdLst>
                <a:gd name="txL" fmla="*/ 0 w 862"/>
                <a:gd name="txT" fmla="*/ 0 h 182"/>
                <a:gd name="txR" fmla="*/ 862 w 862"/>
                <a:gd name="txB" fmla="*/ 182 h 182"/>
              </a:gdLst>
              <a:ahLst/>
              <a:cxnLst>
                <a:cxn ang="0">
                  <a:pos x="862" y="0"/>
                </a:cxn>
                <a:cxn ang="0">
                  <a:pos x="46" y="0"/>
                </a:cxn>
                <a:cxn ang="0">
                  <a:pos x="0" y="91"/>
                </a:cxn>
                <a:cxn ang="0">
                  <a:pos x="46" y="182"/>
                </a:cxn>
                <a:cxn ang="0">
                  <a:pos x="862" y="182"/>
                </a:cxn>
              </a:cxnLst>
              <a:rect l="txL" t="txT" r="txR" b="txB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12" name="Line 37"/>
            <p:cNvSpPr/>
            <p:nvPr/>
          </p:nvSpPr>
          <p:spPr>
            <a:xfrm>
              <a:off x="2698" y="2478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3" name="Line 38"/>
            <p:cNvSpPr/>
            <p:nvPr/>
          </p:nvSpPr>
          <p:spPr>
            <a:xfrm>
              <a:off x="2698" y="2478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4" name="Line 39"/>
            <p:cNvSpPr/>
            <p:nvPr/>
          </p:nvSpPr>
          <p:spPr>
            <a:xfrm>
              <a:off x="3242" y="2478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5" name="Line 40"/>
            <p:cNvSpPr/>
            <p:nvPr/>
          </p:nvSpPr>
          <p:spPr>
            <a:xfrm>
              <a:off x="3242" y="2659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6" name="Line 41"/>
            <p:cNvSpPr/>
            <p:nvPr/>
          </p:nvSpPr>
          <p:spPr>
            <a:xfrm>
              <a:off x="2517" y="2659"/>
              <a:ext cx="1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7" name="Line 42"/>
            <p:cNvSpPr/>
            <p:nvPr/>
          </p:nvSpPr>
          <p:spPr>
            <a:xfrm>
              <a:off x="3787" y="2478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8" name="Line 43"/>
            <p:cNvSpPr/>
            <p:nvPr/>
          </p:nvSpPr>
          <p:spPr>
            <a:xfrm>
              <a:off x="3787" y="2478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9" name="Line 44"/>
            <p:cNvSpPr/>
            <p:nvPr/>
          </p:nvSpPr>
          <p:spPr>
            <a:xfrm>
              <a:off x="4331" y="2478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0" name="Line 45"/>
            <p:cNvSpPr/>
            <p:nvPr/>
          </p:nvSpPr>
          <p:spPr>
            <a:xfrm>
              <a:off x="4331" y="2659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1" name="Line 46"/>
            <p:cNvSpPr/>
            <p:nvPr/>
          </p:nvSpPr>
          <p:spPr>
            <a:xfrm>
              <a:off x="4875" y="2478"/>
              <a:ext cx="0" cy="1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2" name="Line 47"/>
            <p:cNvSpPr/>
            <p:nvPr/>
          </p:nvSpPr>
          <p:spPr>
            <a:xfrm flipV="1">
              <a:off x="4876" y="2477"/>
              <a:ext cx="22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3" name="Text Box 48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24" name="Freeform 49"/>
            <p:cNvSpPr/>
            <p:nvPr/>
          </p:nvSpPr>
          <p:spPr>
            <a:xfrm>
              <a:off x="2789" y="3566"/>
              <a:ext cx="2178" cy="182"/>
            </a:xfrm>
            <a:custGeom>
              <a:avLst/>
              <a:gdLst>
                <a:gd name="txL" fmla="*/ 0 w 2178"/>
                <a:gd name="txT" fmla="*/ 0 h 182"/>
                <a:gd name="txR" fmla="*/ 2178 w 2178"/>
                <a:gd name="txB" fmla="*/ 182 h 182"/>
              </a:gdLst>
              <a:ahLst/>
              <a:cxnLst>
                <a:cxn ang="0">
                  <a:pos x="0" y="91"/>
                </a:cxn>
                <a:cxn ang="0">
                  <a:pos x="46" y="0"/>
                </a:cxn>
                <a:cxn ang="0">
                  <a:pos x="2132" y="0"/>
                </a:cxn>
                <a:cxn ang="0">
                  <a:pos x="2178" y="91"/>
                </a:cxn>
                <a:cxn ang="0">
                  <a:pos x="2132" y="182"/>
                </a:cxn>
                <a:cxn ang="0">
                  <a:pos x="46" y="182"/>
                </a:cxn>
                <a:cxn ang="0">
                  <a:pos x="0" y="91"/>
                </a:cxn>
              </a:cxnLst>
              <a:rect l="txL" t="txT" r="txR" b="txB"/>
              <a:pathLst>
                <a:path w="2178" h="182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25" name="Freeform 50"/>
            <p:cNvSpPr/>
            <p:nvPr/>
          </p:nvSpPr>
          <p:spPr>
            <a:xfrm>
              <a:off x="4875" y="3294"/>
              <a:ext cx="169" cy="270"/>
            </a:xfrm>
            <a:custGeom>
              <a:avLst/>
              <a:gdLst>
                <a:gd name="txL" fmla="*/ 0 w 169"/>
                <a:gd name="txT" fmla="*/ 0 h 270"/>
                <a:gd name="txR" fmla="*/ 169 w 169"/>
                <a:gd name="txB" fmla="*/ 270 h 270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69" y="270"/>
                </a:cxn>
              </a:cxnLst>
              <a:rect l="txL" t="txT" r="txR" b="tx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26" name="Freeform 51"/>
            <p:cNvSpPr/>
            <p:nvPr/>
          </p:nvSpPr>
          <p:spPr>
            <a:xfrm>
              <a:off x="4876" y="2840"/>
              <a:ext cx="157" cy="688"/>
            </a:xfrm>
            <a:custGeom>
              <a:avLst/>
              <a:gdLst>
                <a:gd name="txL" fmla="*/ 0 w 157"/>
                <a:gd name="txT" fmla="*/ 0 h 688"/>
                <a:gd name="txR" fmla="*/ 157 w 157"/>
                <a:gd name="txB" fmla="*/ 688 h 688"/>
              </a:gdLst>
              <a:ahLst/>
              <a:cxnLst>
                <a:cxn ang="0">
                  <a:pos x="0" y="0"/>
                </a:cxn>
                <a:cxn ang="0">
                  <a:pos x="45" y="190"/>
                </a:cxn>
                <a:cxn ang="0">
                  <a:pos x="137" y="158"/>
                </a:cxn>
                <a:cxn ang="0">
                  <a:pos x="157" y="688"/>
                </a:cxn>
              </a:cxnLst>
              <a:rect l="txL" t="txT" r="txR" b="txB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27" name="Line 17"/>
            <p:cNvSpPr/>
            <p:nvPr/>
          </p:nvSpPr>
          <p:spPr>
            <a:xfrm>
              <a:off x="2698" y="2387"/>
              <a:ext cx="0" cy="14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8" name="Line 18"/>
            <p:cNvSpPr/>
            <p:nvPr/>
          </p:nvSpPr>
          <p:spPr>
            <a:xfrm>
              <a:off x="3787" y="2387"/>
              <a:ext cx="0" cy="14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9" name="Line 19"/>
            <p:cNvSpPr/>
            <p:nvPr/>
          </p:nvSpPr>
          <p:spPr>
            <a:xfrm>
              <a:off x="4875" y="2387"/>
              <a:ext cx="1" cy="14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Clocking Methodology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841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Combinational logic transforms data during clock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Between clock edges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Input from state elements, output to state element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Longest delay determines clock period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3317" name="Picture 6" descr="f04-0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625" y="4581525"/>
            <a:ext cx="2865438" cy="669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7" descr="f04-03-P3744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437063"/>
            <a:ext cx="3851275" cy="1136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Building a Datapath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Datapath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Elements that process data and addresses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the CPU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Registers, ALUs, mux’s, memories, …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We will build a RISC-V datapath incrementally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Refining the overview design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4341" name="Text Box 4"/>
          <p:cNvSpPr txBox="1"/>
          <p:nvPr/>
        </p:nvSpPr>
        <p:spPr>
          <a:xfrm rot="5400000">
            <a:off x="7616825" y="1158875"/>
            <a:ext cx="26860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§4.3 Building a Datapath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Instruction Fetch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5364" name="AutoShape 4"/>
          <p:cNvSpPr/>
          <p:nvPr/>
        </p:nvSpPr>
        <p:spPr>
          <a:xfrm>
            <a:off x="611188" y="4437063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32-bit register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AutoShape 5"/>
          <p:cNvSpPr/>
          <p:nvPr/>
        </p:nvSpPr>
        <p:spPr>
          <a:xfrm>
            <a:off x="7308850" y="3860800"/>
            <a:ext cx="1439863" cy="863600"/>
          </a:xfrm>
          <a:prstGeom prst="borderCallout1">
            <a:avLst>
              <a:gd name="adj1" fmla="val 13236"/>
              <a:gd name="adj2" fmla="val -5292"/>
              <a:gd name="adj3" fmla="val -41912"/>
              <a:gd name="adj4" fmla="val -554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Increment by 4 for next instruction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366" name="Picture 6" descr="f04-06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16387" name="Picture 6" descr="f04-07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3356293"/>
            <a:ext cx="6316662" cy="2573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R-Format Instructions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9208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Read two register operands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Perform arithmetic/logical operation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Write register result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Load/Store Instructions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04200" cy="26114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Read register operands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Calculate address using 12-bit offset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Use ALU, but sign-extend offset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Load: Read memory and update register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Store: Write register value to memory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pic>
        <p:nvPicPr>
          <p:cNvPr id="2" name="图片 1" descr="f4.8 -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2275" y="3534410"/>
            <a:ext cx="494284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Branch Instructions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Read register operands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Compare operands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 ALU, subtract and check Zero output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Calculate target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Sign-extend displacement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Shift left 1 places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Add to PC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Already calculated by instruction fetch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9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171575"/>
            <a:ext cx="7148830" cy="5210175"/>
          </a:xfrm>
          <a:prstGeom prst="rect">
            <a:avLst/>
          </a:prstGeom>
        </p:spPr>
      </p:pic>
      <p:sp>
        <p:nvSpPr>
          <p:cNvPr id="1945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Branch Instructions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9461" name="AutoShape 4"/>
          <p:cNvSpPr/>
          <p:nvPr/>
        </p:nvSpPr>
        <p:spPr>
          <a:xfrm>
            <a:off x="1187450" y="1557338"/>
            <a:ext cx="1079500" cy="865187"/>
          </a:xfrm>
          <a:prstGeom prst="borderCallout1">
            <a:avLst>
              <a:gd name="adj1" fmla="val 45321"/>
              <a:gd name="adj2" fmla="val 107647"/>
              <a:gd name="adj3" fmla="val 72403"/>
              <a:gd name="adj4" fmla="val 31364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Just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re-routes wires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AutoShape 5"/>
          <p:cNvSpPr/>
          <p:nvPr/>
        </p:nvSpPr>
        <p:spPr>
          <a:xfrm>
            <a:off x="5364163" y="5661025"/>
            <a:ext cx="1368425" cy="647700"/>
          </a:xfrm>
          <a:prstGeom prst="borderCallout1">
            <a:avLst>
              <a:gd name="adj1" fmla="val 17648"/>
              <a:gd name="adj2" fmla="val -5569"/>
              <a:gd name="adj3" fmla="val 8579"/>
              <a:gd name="adj4" fmla="val -5963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Sign-bit wire replicated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Composing the Elements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First-cut data path does an instruction in one clock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Each datapath element can only do one function at a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Hence, we need separate instruction and data memories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 multiplexers where alternate data sources are used for different instructions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f4.10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" y="1197610"/>
            <a:ext cx="8264525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Full Datapath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1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124585"/>
            <a:ext cx="7931150" cy="52749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3812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 used for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Load/Store: F = add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Branch: F = subtract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R-type: F depends on funct field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557" name="Text Box 4"/>
          <p:cNvSpPr txBox="1"/>
          <p:nvPr/>
        </p:nvSpPr>
        <p:spPr>
          <a:xfrm rot="5400000">
            <a:off x="6892925" y="1882775"/>
            <a:ext cx="41338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§4.4 A Simple Implementation Scheme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989" name="Group 5"/>
          <p:cNvGraphicFramePr>
            <a:graphicFrameLocks noGrp="1"/>
          </p:cNvGraphicFramePr>
          <p:nvPr/>
        </p:nvGraphicFramePr>
        <p:xfrm>
          <a:off x="1187450" y="3500438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ALU control lines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Function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subtract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ALU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Assume 2-bit ALUOp derived from opcode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Combinational logic derives ALU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0101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4213" y="2636838"/>
          <a:ext cx="8064500" cy="3240435"/>
        </p:xfrm>
        <a:graphic>
          <a:graphicData uri="http://schemas.openxmlformats.org/drawingml/2006/table">
            <a:tbl>
              <a:tblPr/>
              <a:tblGrid>
                <a:gridCol w="841488"/>
                <a:gridCol w="911612"/>
                <a:gridCol w="1753099"/>
                <a:gridCol w="1192108"/>
                <a:gridCol w="981736"/>
                <a:gridCol w="1281992"/>
                <a:gridCol w="1102465"/>
              </a:tblGrid>
              <a:tr h="682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opcode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ALUOp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Operation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Funct7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field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Funct3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field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ALU action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ALU control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load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XXXXXXX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4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sw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store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XXXXXXX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5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beq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branch if equal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XXXXXXX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XXX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subtract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4202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R-type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58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subtract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subtract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420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30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0000000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Main Control Unit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905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Control signals derived from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605" name="Text Box 35"/>
          <p:cNvSpPr txBox="1"/>
          <p:nvPr/>
        </p:nvSpPr>
        <p:spPr>
          <a:xfrm>
            <a:off x="487363" y="2112963"/>
            <a:ext cx="92868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R-type: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Text Box 36"/>
          <p:cNvSpPr txBox="1"/>
          <p:nvPr/>
        </p:nvSpPr>
        <p:spPr>
          <a:xfrm>
            <a:off x="576263" y="2816225"/>
            <a:ext cx="82708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I-type: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7" name="AutoShape 38"/>
          <p:cNvSpPr/>
          <p:nvPr/>
        </p:nvSpPr>
        <p:spPr>
          <a:xfrm rot="-5400000">
            <a:off x="8264525" y="4649788"/>
            <a:ext cx="144463" cy="823912"/>
          </a:xfrm>
          <a:prstGeom prst="leftBrace">
            <a:avLst>
              <a:gd name="adj1" fmla="val 6651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8" name="AutoShape 39"/>
          <p:cNvSpPr/>
          <p:nvPr/>
        </p:nvSpPr>
        <p:spPr>
          <a:xfrm rot="-5400000">
            <a:off x="3578225" y="4645025"/>
            <a:ext cx="144463" cy="833438"/>
          </a:xfrm>
          <a:prstGeom prst="leftBrace">
            <a:avLst>
              <a:gd name="adj1" fmla="val 5384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9" name="AutoShape 40"/>
          <p:cNvSpPr/>
          <p:nvPr/>
        </p:nvSpPr>
        <p:spPr>
          <a:xfrm rot="-5400000">
            <a:off x="4500563" y="4630738"/>
            <a:ext cx="144462" cy="860425"/>
          </a:xfrm>
          <a:prstGeom prst="leftBrace">
            <a:avLst>
              <a:gd name="adj1" fmla="val 5390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0" name="Text Box 41"/>
          <p:cNvSpPr txBox="1"/>
          <p:nvPr/>
        </p:nvSpPr>
        <p:spPr>
          <a:xfrm>
            <a:off x="7839075" y="5205413"/>
            <a:ext cx="1104900" cy="9239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opcode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AU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for main control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1" name="Text Box 42"/>
          <p:cNvSpPr txBox="1"/>
          <p:nvPr/>
        </p:nvSpPr>
        <p:spPr>
          <a:xfrm>
            <a:off x="4140200" y="5205413"/>
            <a:ext cx="1008063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always read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2" name="Text Box 43"/>
          <p:cNvSpPr txBox="1"/>
          <p:nvPr/>
        </p:nvSpPr>
        <p:spPr>
          <a:xfrm>
            <a:off x="3059113" y="5205413"/>
            <a:ext cx="1008062" cy="9255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read, except for load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3" name="Text Box 44"/>
          <p:cNvSpPr txBox="1"/>
          <p:nvPr/>
        </p:nvSpPr>
        <p:spPr>
          <a:xfrm>
            <a:off x="6300788" y="5205413"/>
            <a:ext cx="1223962" cy="9255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write for R-type and load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4" name="Line 45"/>
          <p:cNvSpPr/>
          <p:nvPr/>
        </p:nvSpPr>
        <p:spPr>
          <a:xfrm flipH="1" flipV="1">
            <a:off x="6518275" y="3186113"/>
            <a:ext cx="430213" cy="1889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5" name="Line 46"/>
          <p:cNvSpPr/>
          <p:nvPr/>
        </p:nvSpPr>
        <p:spPr>
          <a:xfrm flipH="1" flipV="1">
            <a:off x="6683375" y="2482850"/>
            <a:ext cx="360363" cy="25923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6" name="Text Box 47"/>
          <p:cNvSpPr txBox="1"/>
          <p:nvPr/>
        </p:nvSpPr>
        <p:spPr>
          <a:xfrm>
            <a:off x="1403350" y="5226050"/>
            <a:ext cx="1439863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sign-extend and add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7" name="Line 48"/>
          <p:cNvSpPr/>
          <p:nvPr/>
        </p:nvSpPr>
        <p:spPr>
          <a:xfrm flipV="1">
            <a:off x="2339975" y="4149725"/>
            <a:ext cx="4178300" cy="9255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8" name="Line 49"/>
          <p:cNvSpPr/>
          <p:nvPr/>
        </p:nvSpPr>
        <p:spPr>
          <a:xfrm flipV="1">
            <a:off x="1835150" y="3186113"/>
            <a:ext cx="0" cy="1889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9" name="Text Box 11"/>
          <p:cNvSpPr txBox="1"/>
          <p:nvPr/>
        </p:nvSpPr>
        <p:spPr>
          <a:xfrm>
            <a:off x="2001838" y="1722438"/>
            <a:ext cx="6985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31:25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0" name="Text Box 11"/>
          <p:cNvSpPr txBox="1"/>
          <p:nvPr/>
        </p:nvSpPr>
        <p:spPr>
          <a:xfrm>
            <a:off x="3370263" y="1722438"/>
            <a:ext cx="696912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24:20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1" name="Text Box 11"/>
          <p:cNvSpPr txBox="1"/>
          <p:nvPr/>
        </p:nvSpPr>
        <p:spPr>
          <a:xfrm>
            <a:off x="4233863" y="1722438"/>
            <a:ext cx="6985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19:15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2" name="Text Box 11"/>
          <p:cNvSpPr txBox="1"/>
          <p:nvPr/>
        </p:nvSpPr>
        <p:spPr>
          <a:xfrm>
            <a:off x="5241925" y="1722438"/>
            <a:ext cx="6985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14:12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3" name="Text Box 11"/>
          <p:cNvSpPr txBox="1"/>
          <p:nvPr/>
        </p:nvSpPr>
        <p:spPr>
          <a:xfrm>
            <a:off x="6683375" y="1722438"/>
            <a:ext cx="69691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11:7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4" name="Text Box 11"/>
          <p:cNvSpPr txBox="1"/>
          <p:nvPr/>
        </p:nvSpPr>
        <p:spPr>
          <a:xfrm>
            <a:off x="7978775" y="1722438"/>
            <a:ext cx="69691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6:0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625" name="Group 4"/>
          <p:cNvGrpSpPr/>
          <p:nvPr/>
        </p:nvGrpSpPr>
        <p:grpSpPr>
          <a:xfrm>
            <a:off x="1403350" y="4287838"/>
            <a:ext cx="7467600" cy="400050"/>
            <a:chOff x="703" y="981"/>
            <a:chExt cx="4472" cy="252"/>
          </a:xfrm>
        </p:grpSpPr>
        <p:sp>
          <p:nvSpPr>
            <p:cNvPr id="25651" name="Text Box 5"/>
            <p:cNvSpPr txBox="1"/>
            <p:nvPr/>
          </p:nvSpPr>
          <p:spPr>
            <a:xfrm>
              <a:off x="703" y="981"/>
              <a:ext cx="1088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Imm[12,10:5]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2" name="Text Box 6"/>
            <p:cNvSpPr txBox="1"/>
            <p:nvPr/>
          </p:nvSpPr>
          <p:spPr>
            <a:xfrm>
              <a:off x="1791" y="981"/>
              <a:ext cx="543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rs2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3" name="Text Box 7"/>
            <p:cNvSpPr txBox="1"/>
            <p:nvPr/>
          </p:nvSpPr>
          <p:spPr>
            <a:xfrm>
              <a:off x="2335" y="981"/>
              <a:ext cx="545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rs1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4" name="Text Box 8"/>
            <p:cNvSpPr txBox="1"/>
            <p:nvPr/>
          </p:nvSpPr>
          <p:spPr>
            <a:xfrm>
              <a:off x="2880" y="981"/>
              <a:ext cx="673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funct3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5" name="Text Box 9"/>
            <p:cNvSpPr txBox="1"/>
            <p:nvPr/>
          </p:nvSpPr>
          <p:spPr>
            <a:xfrm>
              <a:off x="3561" y="981"/>
              <a:ext cx="99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Imm[4:1,11]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6" name="Text Box 10"/>
            <p:cNvSpPr txBox="1"/>
            <p:nvPr/>
          </p:nvSpPr>
          <p:spPr>
            <a:xfrm>
              <a:off x="4558" y="981"/>
              <a:ext cx="61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26" name="Text Box 35"/>
          <p:cNvSpPr txBox="1"/>
          <p:nvPr/>
        </p:nvSpPr>
        <p:spPr>
          <a:xfrm>
            <a:off x="468313" y="3548063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S-type: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27" name="Text Box 35"/>
          <p:cNvSpPr txBox="1"/>
          <p:nvPr/>
        </p:nvSpPr>
        <p:spPr>
          <a:xfrm>
            <a:off x="387350" y="4333875"/>
            <a:ext cx="10906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SB-type: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628" name="Group 4"/>
          <p:cNvGrpSpPr/>
          <p:nvPr/>
        </p:nvGrpSpPr>
        <p:grpSpPr>
          <a:xfrm>
            <a:off x="1416050" y="2082800"/>
            <a:ext cx="7467600" cy="400050"/>
            <a:chOff x="703" y="981"/>
            <a:chExt cx="4472" cy="252"/>
          </a:xfrm>
        </p:grpSpPr>
        <p:sp>
          <p:nvSpPr>
            <p:cNvPr id="25645" name="Text Box 5"/>
            <p:cNvSpPr txBox="1"/>
            <p:nvPr/>
          </p:nvSpPr>
          <p:spPr>
            <a:xfrm>
              <a:off x="703" y="981"/>
              <a:ext cx="1088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funct7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6" name="Text Box 6"/>
            <p:cNvSpPr txBox="1"/>
            <p:nvPr/>
          </p:nvSpPr>
          <p:spPr>
            <a:xfrm>
              <a:off x="1791" y="981"/>
              <a:ext cx="545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rs2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7" name="Text Box 7"/>
            <p:cNvSpPr txBox="1"/>
            <p:nvPr/>
          </p:nvSpPr>
          <p:spPr>
            <a:xfrm>
              <a:off x="2335" y="981"/>
              <a:ext cx="545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rs1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8" name="Text Box 8"/>
            <p:cNvSpPr txBox="1"/>
            <p:nvPr/>
          </p:nvSpPr>
          <p:spPr>
            <a:xfrm>
              <a:off x="2880" y="981"/>
              <a:ext cx="673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funct3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9" name="Text Box 9"/>
            <p:cNvSpPr txBox="1"/>
            <p:nvPr/>
          </p:nvSpPr>
          <p:spPr>
            <a:xfrm>
              <a:off x="3561" y="981"/>
              <a:ext cx="99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rd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0" name="Text Box 10"/>
            <p:cNvSpPr txBox="1"/>
            <p:nvPr/>
          </p:nvSpPr>
          <p:spPr>
            <a:xfrm>
              <a:off x="4558" y="981"/>
              <a:ext cx="61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29" name="Group 4"/>
          <p:cNvGrpSpPr/>
          <p:nvPr/>
        </p:nvGrpSpPr>
        <p:grpSpPr>
          <a:xfrm>
            <a:off x="1403350" y="2786063"/>
            <a:ext cx="7466013" cy="400050"/>
            <a:chOff x="703" y="981"/>
            <a:chExt cx="4472" cy="252"/>
          </a:xfrm>
        </p:grpSpPr>
        <p:sp>
          <p:nvSpPr>
            <p:cNvPr id="25640" name="Text Box 5"/>
            <p:cNvSpPr txBox="1"/>
            <p:nvPr/>
          </p:nvSpPr>
          <p:spPr>
            <a:xfrm>
              <a:off x="703" y="981"/>
              <a:ext cx="1632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Imm[11:0]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1" name="Text Box 7"/>
            <p:cNvSpPr txBox="1"/>
            <p:nvPr/>
          </p:nvSpPr>
          <p:spPr>
            <a:xfrm>
              <a:off x="2335" y="981"/>
              <a:ext cx="545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rs1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2" name="Text Box 8"/>
            <p:cNvSpPr txBox="1"/>
            <p:nvPr/>
          </p:nvSpPr>
          <p:spPr>
            <a:xfrm>
              <a:off x="2880" y="981"/>
              <a:ext cx="673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funct3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3" name="Text Box 9"/>
            <p:cNvSpPr txBox="1"/>
            <p:nvPr/>
          </p:nvSpPr>
          <p:spPr>
            <a:xfrm>
              <a:off x="3561" y="981"/>
              <a:ext cx="99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rd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4" name="Text Box 10"/>
            <p:cNvSpPr txBox="1"/>
            <p:nvPr/>
          </p:nvSpPr>
          <p:spPr>
            <a:xfrm>
              <a:off x="4558" y="981"/>
              <a:ext cx="61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30" name="Group 4"/>
          <p:cNvGrpSpPr/>
          <p:nvPr/>
        </p:nvGrpSpPr>
        <p:grpSpPr>
          <a:xfrm>
            <a:off x="1403350" y="3548063"/>
            <a:ext cx="7466013" cy="400050"/>
            <a:chOff x="703" y="981"/>
            <a:chExt cx="4472" cy="252"/>
          </a:xfrm>
        </p:grpSpPr>
        <p:sp>
          <p:nvSpPr>
            <p:cNvPr id="25634" name="Text Box 5"/>
            <p:cNvSpPr txBox="1"/>
            <p:nvPr/>
          </p:nvSpPr>
          <p:spPr>
            <a:xfrm>
              <a:off x="703" y="981"/>
              <a:ext cx="1088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Imm[11:5]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5" name="Text Box 6"/>
            <p:cNvSpPr txBox="1"/>
            <p:nvPr/>
          </p:nvSpPr>
          <p:spPr>
            <a:xfrm>
              <a:off x="1791" y="981"/>
              <a:ext cx="544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rs2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6" name="Text Box 7"/>
            <p:cNvSpPr txBox="1"/>
            <p:nvPr/>
          </p:nvSpPr>
          <p:spPr>
            <a:xfrm>
              <a:off x="2335" y="981"/>
              <a:ext cx="545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rs1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7" name="Text Box 8"/>
            <p:cNvSpPr txBox="1"/>
            <p:nvPr/>
          </p:nvSpPr>
          <p:spPr>
            <a:xfrm>
              <a:off x="2880" y="981"/>
              <a:ext cx="673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funct3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8" name="Text Box 9"/>
            <p:cNvSpPr txBox="1"/>
            <p:nvPr/>
          </p:nvSpPr>
          <p:spPr>
            <a:xfrm>
              <a:off x="3561" y="981"/>
              <a:ext cx="99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Imm[4:0]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9" name="Text Box 10"/>
            <p:cNvSpPr txBox="1"/>
            <p:nvPr/>
          </p:nvSpPr>
          <p:spPr>
            <a:xfrm>
              <a:off x="4558" y="981"/>
              <a:ext cx="617" cy="25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en-AU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31" name="Line 49"/>
          <p:cNvSpPr/>
          <p:nvPr/>
        </p:nvSpPr>
        <p:spPr>
          <a:xfrm flipH="1" flipV="1">
            <a:off x="2001838" y="3948113"/>
            <a:ext cx="0" cy="1127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32" name="Line 49"/>
          <p:cNvSpPr/>
          <p:nvPr/>
        </p:nvSpPr>
        <p:spPr>
          <a:xfrm flipV="1">
            <a:off x="1835150" y="3186113"/>
            <a:ext cx="0" cy="180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33" name="Line 49"/>
          <p:cNvSpPr/>
          <p:nvPr/>
        </p:nvSpPr>
        <p:spPr>
          <a:xfrm flipV="1">
            <a:off x="2195513" y="4703763"/>
            <a:ext cx="0" cy="4302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662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Datapath With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3" name="图片 2" descr="f4.17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124585"/>
            <a:ext cx="6838315" cy="53193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19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" y="1108710"/>
            <a:ext cx="6779260" cy="5273040"/>
          </a:xfrm>
          <a:prstGeom prst="rect">
            <a:avLst/>
          </a:prstGeom>
        </p:spPr>
      </p:pic>
      <p:sp>
        <p:nvSpPr>
          <p:cNvPr id="2765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765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R-Type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867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Load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20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124585"/>
            <a:ext cx="6680835" cy="5196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9700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Branch-on-Equal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2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123315"/>
            <a:ext cx="6670040" cy="51873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Performance Issues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Longest delay determines clock period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Critical path: load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Instruction memory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register file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ALU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data memory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anose="02010600030101010101" pitchFamily="2" charset="-122"/>
              </a:rPr>
              <a:t> register file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Not feasible to vary period for different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Violates design principle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Making the common case fast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We will improve performance by pipelining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31747" name="Picture 8" descr="f04-25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2420938"/>
            <a:ext cx="4484687" cy="3579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Pipelining Analogy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2287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Pipelined laundry: overlapping execution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Parallelism improves performance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50" name="Text Box 4"/>
          <p:cNvSpPr txBox="1"/>
          <p:nvPr/>
        </p:nvSpPr>
        <p:spPr>
          <a:xfrm rot="5400000">
            <a:off x="7312025" y="1463675"/>
            <a:ext cx="33832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§4.6 An Overview of Pipelining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6"/>
          <p:cNvSpPr/>
          <p:nvPr/>
        </p:nvSpPr>
        <p:spPr>
          <a:xfrm>
            <a:off x="5292725" y="2708275"/>
            <a:ext cx="3735388" cy="3384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Four loads: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Speedup</a:t>
            </a:r>
            <a:b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 8/3.5 = 2.3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Non-stop: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Speedup</a:t>
            </a:r>
            <a:b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 2n/(0.5n + 1.5) ≈ 4</a:t>
            </a:r>
            <a:b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 number of stages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RISC-V Pipeline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609600" indent="-609600" eaLnBrk="1" hangingPunct="1"/>
            <a:r>
              <a:rPr lang="en-US" altLang="zh-CN" dirty="0">
                <a:ea typeface="宋体" panose="02010600030101010101" pitchFamily="2" charset="-122"/>
              </a:rPr>
              <a:t>Five stages, one step per stage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IF: Instruction fetch from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ID: Instruction decode &amp; register read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EX: Execute operation or calculate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MEM: Access data memory operand</a:t>
            </a:r>
            <a:endParaRPr lang="en-US" altLang="zh-CN" dirty="0">
              <a:ea typeface="宋体" panose="02010600030101010101" pitchFamily="2" charset="-122"/>
            </a:endParaRP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WB: Write result back to register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Performance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5336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Assume time for stages is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100ps for register read or write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200ps for other stages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Compare pipelined datapath with single-cycle datapath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327684" name="Group 4"/>
          <p:cNvGraphicFramePr>
            <a:graphicFrameLocks noGrp="1"/>
          </p:cNvGraphicFramePr>
          <p:nvPr/>
        </p:nvGraphicFramePr>
        <p:xfrm>
          <a:off x="395288" y="3846513"/>
          <a:ext cx="8353425" cy="2246313"/>
        </p:xfrm>
        <a:graphic>
          <a:graphicData uri="http://schemas.openxmlformats.org/drawingml/2006/table">
            <a:tbl>
              <a:tblPr/>
              <a:tblGrid>
                <a:gridCol w="1193800"/>
                <a:gridCol w="1192212"/>
                <a:gridCol w="1195388"/>
                <a:gridCol w="1190625"/>
                <a:gridCol w="1195387"/>
                <a:gridCol w="1192213"/>
                <a:gridCol w="11938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 fetch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Register read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op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 access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Register write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Total time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sd</a:t>
                      </a:r>
                      <a:endParaRPr kumimoji="0" lang="en-AU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R-format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beq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 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500ps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25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1555750"/>
            <a:ext cx="7698740" cy="4725670"/>
          </a:xfrm>
          <a:prstGeom prst="rect">
            <a:avLst/>
          </a:prstGeom>
        </p:spPr>
      </p:pic>
      <p:sp>
        <p:nvSpPr>
          <p:cNvPr id="3481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Performance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4821" name="Text Box 4"/>
          <p:cNvSpPr txBox="1"/>
          <p:nvPr/>
        </p:nvSpPr>
        <p:spPr>
          <a:xfrm>
            <a:off x="3132138" y="1196975"/>
            <a:ext cx="2676525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Single-cycle (T</a:t>
            </a:r>
            <a:r>
              <a:rPr lang="en-US" altLang="zh-CN" sz="1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= 800ps)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Text Box 5"/>
          <p:cNvSpPr txBox="1"/>
          <p:nvPr/>
        </p:nvSpPr>
        <p:spPr>
          <a:xfrm>
            <a:off x="3276600" y="3644900"/>
            <a:ext cx="2384425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Pipelined (T</a:t>
            </a:r>
            <a:r>
              <a:rPr lang="en-US" altLang="zh-CN" sz="1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= 200ps)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Speedup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all stages are balanced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i.e., all take the same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Time between instructions</a:t>
            </a:r>
            <a:r>
              <a:rPr lang="en-US" altLang="zh-CN" baseline="-25000" dirty="0">
                <a:ea typeface="宋体" panose="02010600030101010101" pitchFamily="2" charset="-122"/>
              </a:rPr>
              <a:t>pipelined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= Time between instructions</a:t>
            </a:r>
            <a:r>
              <a:rPr lang="en-US" altLang="zh-CN" baseline="-25000" dirty="0">
                <a:ea typeface="宋体" panose="02010600030101010101" pitchFamily="2" charset="-122"/>
              </a:rPr>
              <a:t>nonpipelined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Number of stages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not balanced, speedup is less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Speedup due to increased throughput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Latency (time for each instruction) does not decrease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5845" name="Line 4"/>
          <p:cNvSpPr/>
          <p:nvPr/>
        </p:nvSpPr>
        <p:spPr>
          <a:xfrm>
            <a:off x="1835150" y="3284538"/>
            <a:ext cx="55451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Pipelining and ISA Design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RISC-V ISA designed for pipelining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All instructions are 32-bits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Easier to fetch and decode in one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c.f. x86: 1- to 17-byte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Few and regular instruction formats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decode and read registers in one step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Load/store addressing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calculate address in 3</a:t>
            </a:r>
            <a:r>
              <a:rPr lang="en-US" altLang="zh-CN" baseline="30000" dirty="0">
                <a:ea typeface="宋体" panose="02010600030101010101" pitchFamily="2" charset="-122"/>
              </a:rPr>
              <a:t>rd</a:t>
            </a:r>
            <a:r>
              <a:rPr lang="en-US" altLang="zh-CN" dirty="0">
                <a:ea typeface="宋体" panose="02010600030101010101" pitchFamily="2" charset="-122"/>
              </a:rPr>
              <a:t> stage, access memory in 4</a:t>
            </a:r>
            <a:r>
              <a:rPr lang="en-US" altLang="zh-CN" baseline="30000" dirty="0">
                <a:ea typeface="宋体" panose="02010600030101010101" pitchFamily="2" charset="-122"/>
              </a:rPr>
              <a:t>th</a:t>
            </a:r>
            <a:r>
              <a:rPr lang="en-US" altLang="zh-CN" dirty="0">
                <a:ea typeface="宋体" panose="02010600030101010101" pitchFamily="2" charset="-122"/>
              </a:rPr>
              <a:t> stage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Hazards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Situations that prevent starting the next instruction in the next cycle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Structure hazards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required resource is busy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Data hazard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Need to wait for previous instruction to complete its data read/write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Control hazard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Deciding on control action depends on previous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Structure Hazards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Conflict for use of a resource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 RISC-V pipeline with a single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Load/store requires data access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Instruction fetch would have to </a:t>
            </a:r>
            <a:r>
              <a:rPr lang="en-US" altLang="zh-CN" i="1" dirty="0">
                <a:ea typeface="宋体" panose="02010600030101010101" pitchFamily="2" charset="-122"/>
              </a:rPr>
              <a:t>stall</a:t>
            </a:r>
            <a:r>
              <a:rPr lang="en-US" altLang="zh-CN" dirty="0">
                <a:ea typeface="宋体" panose="02010600030101010101" pitchFamily="2" charset="-122"/>
              </a:rPr>
              <a:t> for that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Would cause a pipeline “bubble”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Hence, pipelined datapaths require separate instruction/data memories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Or separate instruction/data caches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1394" name="Rectangle 2"/>
          <p:cNvSpPr/>
          <p:nvPr/>
        </p:nvSpPr>
        <p:spPr>
          <a:xfrm>
            <a:off x="4114800" y="4343400"/>
            <a:ext cx="5334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1395" name="Rectangle 3"/>
          <p:cNvSpPr/>
          <p:nvPr/>
        </p:nvSpPr>
        <p:spPr>
          <a:xfrm>
            <a:off x="4114800" y="1828800"/>
            <a:ext cx="5334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4"/>
          <p:cNvSpPr/>
          <p:nvPr/>
        </p:nvSpPr>
        <p:spPr>
          <a:xfrm>
            <a:off x="328613" y="1906588"/>
            <a:ext cx="358775" cy="3109912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Line 5"/>
          <p:cNvSpPr/>
          <p:nvPr/>
        </p:nvSpPr>
        <p:spPr>
          <a:xfrm>
            <a:off x="1447800" y="1300163"/>
            <a:ext cx="6311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42" name="Rectangle 6"/>
          <p:cNvSpPr/>
          <p:nvPr/>
        </p:nvSpPr>
        <p:spPr>
          <a:xfrm>
            <a:off x="3581400" y="838200"/>
            <a:ext cx="2124075" cy="363538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7"/>
          <p:cNvSpPr/>
          <p:nvPr/>
        </p:nvSpPr>
        <p:spPr>
          <a:xfrm>
            <a:off x="762000" y="1752600"/>
            <a:ext cx="546100" cy="45783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lw</a:t>
            </a: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39944" name="Rectangle 8"/>
          <p:cNvSpPr/>
          <p:nvPr/>
        </p:nvSpPr>
        <p:spPr>
          <a:xfrm>
            <a:off x="762000" y="2590800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9"/>
          <p:cNvSpPr/>
          <p:nvPr/>
        </p:nvSpPr>
        <p:spPr>
          <a:xfrm>
            <a:off x="762000" y="3471863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Rectangle 10"/>
          <p:cNvSpPr/>
          <p:nvPr/>
        </p:nvSpPr>
        <p:spPr>
          <a:xfrm>
            <a:off x="762000" y="5181600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4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7" name="Line 11"/>
          <p:cNvSpPr/>
          <p:nvPr/>
        </p:nvSpPr>
        <p:spPr>
          <a:xfrm>
            <a:off x="26289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48" name="Line 12"/>
          <p:cNvSpPr/>
          <p:nvPr/>
        </p:nvSpPr>
        <p:spPr>
          <a:xfrm>
            <a:off x="33147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49" name="Line 13"/>
          <p:cNvSpPr/>
          <p:nvPr/>
        </p:nvSpPr>
        <p:spPr>
          <a:xfrm>
            <a:off x="40005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0" name="Line 14"/>
          <p:cNvSpPr/>
          <p:nvPr/>
        </p:nvSpPr>
        <p:spPr>
          <a:xfrm>
            <a:off x="46863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1" name="Line 15"/>
          <p:cNvSpPr/>
          <p:nvPr/>
        </p:nvSpPr>
        <p:spPr>
          <a:xfrm>
            <a:off x="53721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2" name="Line 16"/>
          <p:cNvSpPr/>
          <p:nvPr/>
        </p:nvSpPr>
        <p:spPr>
          <a:xfrm>
            <a:off x="60579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3" name="Line 17"/>
          <p:cNvSpPr/>
          <p:nvPr/>
        </p:nvSpPr>
        <p:spPr>
          <a:xfrm>
            <a:off x="67437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4" name="Line 18"/>
          <p:cNvSpPr/>
          <p:nvPr/>
        </p:nvSpPr>
        <p:spPr>
          <a:xfrm>
            <a:off x="7429500" y="14271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5" name="Rectangle 19"/>
          <p:cNvSpPr/>
          <p:nvPr/>
        </p:nvSpPr>
        <p:spPr>
          <a:xfrm>
            <a:off x="762000" y="4310063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3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6" name="Line 20"/>
          <p:cNvSpPr/>
          <p:nvPr/>
        </p:nvSpPr>
        <p:spPr>
          <a:xfrm>
            <a:off x="685800" y="1828800"/>
            <a:ext cx="0" cy="3886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9957" name="Group 21"/>
          <p:cNvGrpSpPr/>
          <p:nvPr/>
        </p:nvGrpSpPr>
        <p:grpSpPr>
          <a:xfrm>
            <a:off x="1939925" y="1676400"/>
            <a:ext cx="3473450" cy="838200"/>
            <a:chOff x="1488" y="1152"/>
            <a:chExt cx="2188" cy="528"/>
          </a:xfrm>
        </p:grpSpPr>
        <p:grpSp>
          <p:nvGrpSpPr>
            <p:cNvPr id="40099" name="Group 22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0129" name="Freeform 23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130" name="Rectangle 24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100" name="Group 25"/>
            <p:cNvGrpSpPr/>
            <p:nvPr/>
          </p:nvGrpSpPr>
          <p:grpSpPr>
            <a:xfrm>
              <a:off x="1488" y="1248"/>
              <a:ext cx="423" cy="289"/>
              <a:chOff x="1208" y="1509"/>
              <a:chExt cx="423" cy="289"/>
            </a:xfrm>
          </p:grpSpPr>
          <p:sp>
            <p:nvSpPr>
              <p:cNvPr id="40125" name="Rectangle 26"/>
              <p:cNvSpPr/>
              <p:nvPr/>
            </p:nvSpPr>
            <p:spPr>
              <a:xfrm>
                <a:off x="1208" y="1511"/>
                <a:ext cx="40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0126" name="Group 27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0127" name="Freeform 28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128" name="Freeform 29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0101" name="Rectangle 30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102" name="Group 31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0123" name="Freeform 32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124" name="Freeform 33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103" name="Line 34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04" name="Freeform 35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105" name="Line 36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06" name="Rectangle 37"/>
            <p:cNvSpPr/>
            <p:nvPr/>
          </p:nvSpPr>
          <p:spPr>
            <a:xfrm>
              <a:off x="2829" y="1250"/>
              <a:ext cx="406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107" name="Group 38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0121" name="Freeform 39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122" name="Freeform 40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108" name="Rectangle 41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109" name="Group 42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0119" name="Freeform 43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120" name="Freeform 44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110" name="Line 45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1" name="Line 46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2" name="Line 47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3" name="Line 48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4" name="Line 49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5" name="Line 50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6" name="Line 51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7" name="Line 52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118" name="Line 53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58" name="Group 54"/>
          <p:cNvGrpSpPr/>
          <p:nvPr/>
        </p:nvGrpSpPr>
        <p:grpSpPr>
          <a:xfrm>
            <a:off x="2625725" y="2514600"/>
            <a:ext cx="3473450" cy="838200"/>
            <a:chOff x="1488" y="1152"/>
            <a:chExt cx="2188" cy="528"/>
          </a:xfrm>
        </p:grpSpPr>
        <p:grpSp>
          <p:nvGrpSpPr>
            <p:cNvPr id="40067" name="Group 55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0097" name="Freeform 56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98" name="Rectangle 57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068" name="Group 58"/>
            <p:cNvGrpSpPr/>
            <p:nvPr/>
          </p:nvGrpSpPr>
          <p:grpSpPr>
            <a:xfrm>
              <a:off x="1488" y="1248"/>
              <a:ext cx="423" cy="289"/>
              <a:chOff x="1208" y="1509"/>
              <a:chExt cx="423" cy="289"/>
            </a:xfrm>
          </p:grpSpPr>
          <p:sp>
            <p:nvSpPr>
              <p:cNvPr id="40093" name="Rectangle 59"/>
              <p:cNvSpPr/>
              <p:nvPr/>
            </p:nvSpPr>
            <p:spPr>
              <a:xfrm>
                <a:off x="1208" y="1511"/>
                <a:ext cx="40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0094" name="Group 60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0095" name="Freeform 61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096" name="Freeform 62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0069" name="Rectangle 63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70" name="Group 64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0091" name="Freeform 65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92" name="Freeform 66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71" name="Line 67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72" name="Freeform 68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73" name="Line 69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74" name="Rectangle 70"/>
            <p:cNvSpPr/>
            <p:nvPr/>
          </p:nvSpPr>
          <p:spPr>
            <a:xfrm>
              <a:off x="2829" y="1250"/>
              <a:ext cx="406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75" name="Group 71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0089" name="Freeform 72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90" name="Freeform 73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76" name="Rectangle 74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77" name="Group 75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0087" name="Freeform 76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88" name="Freeform 77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78" name="Line 78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79" name="Line 79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0" name="Line 80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1" name="Line 81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2" name="Line 82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3" name="Line 83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4" name="Line 84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5" name="Line 85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86" name="Line 86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59" name="Group 87"/>
          <p:cNvGrpSpPr/>
          <p:nvPr/>
        </p:nvGrpSpPr>
        <p:grpSpPr>
          <a:xfrm>
            <a:off x="3311525" y="3352800"/>
            <a:ext cx="3473450" cy="838200"/>
            <a:chOff x="1488" y="1152"/>
            <a:chExt cx="2188" cy="528"/>
          </a:xfrm>
        </p:grpSpPr>
        <p:grpSp>
          <p:nvGrpSpPr>
            <p:cNvPr id="40035" name="Group 88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0065" name="Freeform 89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66" name="Rectangle 90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036" name="Group 91"/>
            <p:cNvGrpSpPr/>
            <p:nvPr/>
          </p:nvGrpSpPr>
          <p:grpSpPr>
            <a:xfrm>
              <a:off x="1488" y="1248"/>
              <a:ext cx="423" cy="289"/>
              <a:chOff x="1208" y="1509"/>
              <a:chExt cx="423" cy="289"/>
            </a:xfrm>
          </p:grpSpPr>
          <p:sp>
            <p:nvSpPr>
              <p:cNvPr id="40061" name="Rectangle 92"/>
              <p:cNvSpPr/>
              <p:nvPr/>
            </p:nvSpPr>
            <p:spPr>
              <a:xfrm>
                <a:off x="1208" y="1511"/>
                <a:ext cx="40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0062" name="Group 93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0063" name="Freeform 94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064" name="Freeform 95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0037" name="Rectangle 96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38" name="Group 97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0059" name="Freeform 98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60" name="Freeform 99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39" name="Line 100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40" name="Freeform 101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41" name="Line 102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42" name="Rectangle 103"/>
            <p:cNvSpPr/>
            <p:nvPr/>
          </p:nvSpPr>
          <p:spPr>
            <a:xfrm>
              <a:off x="2829" y="1250"/>
              <a:ext cx="406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43" name="Group 104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0057" name="Freeform 105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58" name="Freeform 106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44" name="Rectangle 107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45" name="Group 108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0055" name="Freeform 109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56" name="Freeform 110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46" name="Line 111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47" name="Line 112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48" name="Line 113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49" name="Line 114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50" name="Line 115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51" name="Line 116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52" name="Line 117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53" name="Line 118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54" name="Line 119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60" name="Group 120"/>
          <p:cNvGrpSpPr/>
          <p:nvPr/>
        </p:nvGrpSpPr>
        <p:grpSpPr>
          <a:xfrm>
            <a:off x="3997325" y="4191000"/>
            <a:ext cx="3473450" cy="838200"/>
            <a:chOff x="1488" y="1152"/>
            <a:chExt cx="2188" cy="528"/>
          </a:xfrm>
        </p:grpSpPr>
        <p:grpSp>
          <p:nvGrpSpPr>
            <p:cNvPr id="40003" name="Group 121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0033" name="Freeform 122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34" name="Rectangle 123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004" name="Group 124"/>
            <p:cNvGrpSpPr/>
            <p:nvPr/>
          </p:nvGrpSpPr>
          <p:grpSpPr>
            <a:xfrm>
              <a:off x="1488" y="1248"/>
              <a:ext cx="423" cy="289"/>
              <a:chOff x="1208" y="1509"/>
              <a:chExt cx="423" cy="289"/>
            </a:xfrm>
          </p:grpSpPr>
          <p:sp>
            <p:nvSpPr>
              <p:cNvPr id="40029" name="Rectangle 125"/>
              <p:cNvSpPr/>
              <p:nvPr/>
            </p:nvSpPr>
            <p:spPr>
              <a:xfrm>
                <a:off x="1208" y="1511"/>
                <a:ext cx="40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0030" name="Group 126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0031" name="Freeform 127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032" name="Freeform 128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0005" name="Rectangle 129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06" name="Group 130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0027" name="Freeform 131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28" name="Freeform 132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07" name="Line 133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8" name="Freeform 134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09" name="Line 135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0" name="Rectangle 136"/>
            <p:cNvSpPr/>
            <p:nvPr/>
          </p:nvSpPr>
          <p:spPr>
            <a:xfrm>
              <a:off x="2829" y="1250"/>
              <a:ext cx="406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11" name="Group 137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0025" name="Freeform 138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26" name="Freeform 139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12" name="Rectangle 140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013" name="Group 141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0023" name="Freeform 142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24" name="Freeform 143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0014" name="Line 144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5" name="Line 145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6" name="Line 146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7" name="Line 147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8" name="Line 148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9" name="Line 149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0" name="Line 150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1" name="Line 151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2" name="Line 152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61" name="Group 153"/>
          <p:cNvGrpSpPr/>
          <p:nvPr/>
        </p:nvGrpSpPr>
        <p:grpSpPr>
          <a:xfrm>
            <a:off x="4683125" y="5029200"/>
            <a:ext cx="3473450" cy="838200"/>
            <a:chOff x="1488" y="1152"/>
            <a:chExt cx="2188" cy="528"/>
          </a:xfrm>
        </p:grpSpPr>
        <p:grpSp>
          <p:nvGrpSpPr>
            <p:cNvPr id="39971" name="Group 154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0001" name="Freeform 155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02" name="Rectangle 156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9972" name="Group 157"/>
            <p:cNvGrpSpPr/>
            <p:nvPr/>
          </p:nvGrpSpPr>
          <p:grpSpPr>
            <a:xfrm>
              <a:off x="1488" y="1248"/>
              <a:ext cx="423" cy="289"/>
              <a:chOff x="1208" y="1509"/>
              <a:chExt cx="423" cy="289"/>
            </a:xfrm>
          </p:grpSpPr>
          <p:sp>
            <p:nvSpPr>
              <p:cNvPr id="39997" name="Rectangle 158"/>
              <p:cNvSpPr/>
              <p:nvPr/>
            </p:nvSpPr>
            <p:spPr>
              <a:xfrm>
                <a:off x="1208" y="1511"/>
                <a:ext cx="40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9998" name="Group 159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39999" name="Freeform 160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000" name="Freeform 161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39973" name="Rectangle 162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974" name="Group 163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39995" name="Freeform 164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96" name="Freeform 165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9975" name="Line 166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6" name="Freeform 167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77" name="Line 168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8" name="Rectangle 169"/>
            <p:cNvSpPr/>
            <p:nvPr/>
          </p:nvSpPr>
          <p:spPr>
            <a:xfrm>
              <a:off x="2829" y="1250"/>
              <a:ext cx="406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979" name="Group 170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39993" name="Freeform 171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94" name="Freeform 172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9980" name="Rectangle 173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981" name="Group 174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39991" name="Freeform 175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92" name="Freeform 176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9982" name="Line 177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3" name="Line 178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4" name="Line 179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5" name="Line 180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6" name="Line 181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7" name="Line 182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8" name="Line 183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9" name="Line 184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Line 185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62" name="Rectangle 186"/>
          <p:cNvSpPr>
            <a:spLocks noGrp="1"/>
          </p:cNvSpPr>
          <p:nvPr>
            <p:ph type="title"/>
          </p:nvPr>
        </p:nvSpPr>
        <p:spPr>
          <a:xfrm>
            <a:off x="533400" y="203200"/>
            <a:ext cx="8382000" cy="523875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Single Memory Would Be a Structural Hazard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pSp>
        <p:nvGrpSpPr>
          <p:cNvPr id="1211590" name="Group 187"/>
          <p:cNvGrpSpPr/>
          <p:nvPr/>
        </p:nvGrpSpPr>
        <p:grpSpPr>
          <a:xfrm>
            <a:off x="4381500" y="1600200"/>
            <a:ext cx="4076700" cy="698500"/>
            <a:chOff x="2760" y="1008"/>
            <a:chExt cx="2568" cy="440"/>
          </a:xfrm>
        </p:grpSpPr>
        <p:sp>
          <p:nvSpPr>
            <p:cNvPr id="39969" name="Rectangle 188"/>
            <p:cNvSpPr/>
            <p:nvPr/>
          </p:nvSpPr>
          <p:spPr>
            <a:xfrm>
              <a:off x="3792" y="1008"/>
              <a:ext cx="1536" cy="44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Reading data from memory</a:t>
              </a:r>
              <a:endPara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9970" name="AutoShape 189"/>
            <p:cNvCxnSpPr>
              <a:stCxn id="39969" idx="1"/>
              <a:endCxn id="1211395" idx="0"/>
            </p:cNvCxnSpPr>
            <p:nvPr/>
          </p:nvCxnSpPr>
          <p:spPr>
            <a:xfrm rot="10800000">
              <a:off x="2760" y="1152"/>
              <a:ext cx="1032" cy="76"/>
            </a:xfrm>
            <a:prstGeom prst="curvedConnector4">
              <a:avLst>
                <a:gd name="adj1" fmla="val 41861"/>
                <a:gd name="adj2" fmla="val 289472"/>
              </a:avLst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211591" name="Group 190"/>
          <p:cNvGrpSpPr/>
          <p:nvPr/>
        </p:nvGrpSpPr>
        <p:grpSpPr>
          <a:xfrm>
            <a:off x="2057400" y="4813300"/>
            <a:ext cx="2438400" cy="1143000"/>
            <a:chOff x="1296" y="3032"/>
            <a:chExt cx="1536" cy="720"/>
          </a:xfrm>
        </p:grpSpPr>
        <p:sp>
          <p:nvSpPr>
            <p:cNvPr id="39967" name="Rectangle 191"/>
            <p:cNvSpPr/>
            <p:nvPr/>
          </p:nvSpPr>
          <p:spPr>
            <a:xfrm>
              <a:off x="1296" y="3312"/>
              <a:ext cx="1536" cy="44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Reading instruction from memory</a:t>
              </a:r>
              <a:endPara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9968" name="AutoShape 192"/>
            <p:cNvCxnSpPr>
              <a:stCxn id="39967" idx="0"/>
              <a:endCxn id="40031" idx="2"/>
            </p:cNvCxnSpPr>
            <p:nvPr/>
          </p:nvCxnSpPr>
          <p:spPr>
            <a:xfrm rot="-5400000">
              <a:off x="2192" y="2903"/>
              <a:ext cx="280" cy="537"/>
            </a:xfrm>
            <a:prstGeom prst="curvedConnector3">
              <a:avLst>
                <a:gd name="adj1" fmla="val 51069"/>
              </a:avLst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211585" name="Rectangle 193"/>
          <p:cNvSpPr/>
          <p:nvPr/>
        </p:nvSpPr>
        <p:spPr>
          <a:xfrm>
            <a:off x="685800" y="5956300"/>
            <a:ext cx="7848600" cy="379413"/>
          </a:xfrm>
          <a:prstGeom prst="rect">
            <a:avLst/>
          </a:prstGeom>
          <a:noFill/>
          <a:ln w="12700">
            <a:noFill/>
          </a:ln>
        </p:spPr>
        <p:txBody>
          <a:bodyPr lIns="63500" tIns="25400" rIns="63500" bIns="25400">
            <a:spAutoFit/>
          </a:bodyPr>
          <a:p>
            <a:pPr marL="287655" indent="-287655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Fix with separate instr and data memories (I$ and D$)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585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4" grpId="0" animBg="1"/>
      <p:bldP spid="1211395" grpId="0" animBg="1"/>
      <p:bldP spid="121158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029200" y="1676400"/>
            <a:ext cx="457200" cy="2971800"/>
            <a:chOff x="3072" y="1152"/>
            <a:chExt cx="288" cy="1872"/>
          </a:xfrm>
        </p:grpSpPr>
        <p:sp>
          <p:nvSpPr>
            <p:cNvPr id="41129" name="Rectangle 3"/>
            <p:cNvSpPr/>
            <p:nvPr/>
          </p:nvSpPr>
          <p:spPr>
            <a:xfrm>
              <a:off x="3216" y="2736"/>
              <a:ext cx="144" cy="288"/>
            </a:xfrm>
            <a:prstGeom prst="rect">
              <a:avLst/>
            </a:prstGeom>
            <a:solidFill>
              <a:srgbClr val="009900"/>
            </a:solidFill>
            <a:ln w="12700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30" name="Rectangle 4"/>
            <p:cNvSpPr/>
            <p:nvPr/>
          </p:nvSpPr>
          <p:spPr>
            <a:xfrm>
              <a:off x="3072" y="1152"/>
              <a:ext cx="144" cy="28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31" name="Line 5"/>
            <p:cNvSpPr/>
            <p:nvPr/>
          </p:nvSpPr>
          <p:spPr>
            <a:xfrm>
              <a:off x="3216" y="1440"/>
              <a:ext cx="0" cy="1296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0963" name="Rectangle 6"/>
          <p:cNvSpPr>
            <a:spLocks noGrp="1"/>
          </p:cNvSpPr>
          <p:nvPr>
            <p:ph type="title"/>
          </p:nvPr>
        </p:nvSpPr>
        <p:spPr>
          <a:xfrm>
            <a:off x="652463" y="203200"/>
            <a:ext cx="5918200" cy="523875"/>
          </a:xfrm>
        </p:spPr>
        <p:txBody>
          <a:bodyPr vert="horz" wrap="none" lIns="91440" tIns="45720" rIns="91440" bIns="45720" anchor="b" anchorCtr="0">
            <a:spAutoFit/>
          </a:bodyPr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How About Register File Access?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64" name="Rectangle 7"/>
          <p:cNvSpPr/>
          <p:nvPr/>
        </p:nvSpPr>
        <p:spPr>
          <a:xfrm>
            <a:off x="328613" y="1754188"/>
            <a:ext cx="358775" cy="3109912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Line 8"/>
          <p:cNvSpPr/>
          <p:nvPr/>
        </p:nvSpPr>
        <p:spPr>
          <a:xfrm>
            <a:off x="1600200" y="1147763"/>
            <a:ext cx="6311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66" name="Rectangle 9"/>
          <p:cNvSpPr/>
          <p:nvPr/>
        </p:nvSpPr>
        <p:spPr>
          <a:xfrm>
            <a:off x="3733800" y="685800"/>
            <a:ext cx="2124075" cy="363538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11"/>
          <p:cNvSpPr/>
          <p:nvPr/>
        </p:nvSpPr>
        <p:spPr>
          <a:xfrm>
            <a:off x="762000" y="2438400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12"/>
          <p:cNvSpPr/>
          <p:nvPr/>
        </p:nvSpPr>
        <p:spPr>
          <a:xfrm>
            <a:off x="762000" y="3319463"/>
            <a:ext cx="925513" cy="45402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Inst 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Line 14"/>
          <p:cNvSpPr/>
          <p:nvPr/>
        </p:nvSpPr>
        <p:spPr>
          <a:xfrm>
            <a:off x="27813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0" name="Line 15"/>
          <p:cNvSpPr/>
          <p:nvPr/>
        </p:nvSpPr>
        <p:spPr>
          <a:xfrm>
            <a:off x="34671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1" name="Line 16"/>
          <p:cNvSpPr/>
          <p:nvPr/>
        </p:nvSpPr>
        <p:spPr>
          <a:xfrm>
            <a:off x="41529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2" name="Line 17"/>
          <p:cNvSpPr/>
          <p:nvPr/>
        </p:nvSpPr>
        <p:spPr>
          <a:xfrm>
            <a:off x="48387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3" name="Line 18"/>
          <p:cNvSpPr/>
          <p:nvPr/>
        </p:nvSpPr>
        <p:spPr>
          <a:xfrm>
            <a:off x="55245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4" name="Line 19"/>
          <p:cNvSpPr/>
          <p:nvPr/>
        </p:nvSpPr>
        <p:spPr>
          <a:xfrm>
            <a:off x="62103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5" name="Line 20"/>
          <p:cNvSpPr/>
          <p:nvPr/>
        </p:nvSpPr>
        <p:spPr>
          <a:xfrm>
            <a:off x="68961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6" name="Line 21"/>
          <p:cNvSpPr/>
          <p:nvPr/>
        </p:nvSpPr>
        <p:spPr>
          <a:xfrm>
            <a:off x="7581900" y="1274763"/>
            <a:ext cx="0" cy="4470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7" name="Line 23"/>
          <p:cNvSpPr/>
          <p:nvPr/>
        </p:nvSpPr>
        <p:spPr>
          <a:xfrm>
            <a:off x="685800" y="1676400"/>
            <a:ext cx="0" cy="3886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0978" name="Group 24"/>
          <p:cNvGrpSpPr/>
          <p:nvPr/>
        </p:nvGrpSpPr>
        <p:grpSpPr>
          <a:xfrm>
            <a:off x="2209800" y="1524000"/>
            <a:ext cx="3355975" cy="838200"/>
            <a:chOff x="1562" y="1152"/>
            <a:chExt cx="2114" cy="528"/>
          </a:xfrm>
        </p:grpSpPr>
        <p:grpSp>
          <p:nvGrpSpPr>
            <p:cNvPr id="41097" name="Group 25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1127" name="Freeform 26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28" name="Rectangle 27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098" name="Group 28"/>
            <p:cNvGrpSpPr/>
            <p:nvPr/>
          </p:nvGrpSpPr>
          <p:grpSpPr>
            <a:xfrm>
              <a:off x="1562" y="1248"/>
              <a:ext cx="349" cy="289"/>
              <a:chOff x="1282" y="1509"/>
              <a:chExt cx="349" cy="289"/>
            </a:xfrm>
          </p:grpSpPr>
          <p:sp>
            <p:nvSpPr>
              <p:cNvPr id="41123" name="Rectangle 29"/>
              <p:cNvSpPr/>
              <p:nvPr/>
            </p:nvSpPr>
            <p:spPr>
              <a:xfrm>
                <a:off x="1282" y="1511"/>
                <a:ext cx="257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IM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124" name="Group 30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1125" name="Freeform 31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126" name="Freeform 32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1099" name="Rectangle 33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100" name="Group 34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1121" name="Freeform 35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22" name="Freeform 36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101" name="Line 37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02" name="Freeform 38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103" name="Line 39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04" name="Rectangle 40"/>
            <p:cNvSpPr/>
            <p:nvPr/>
          </p:nvSpPr>
          <p:spPr>
            <a:xfrm>
              <a:off x="2829" y="1250"/>
              <a:ext cx="313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DM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105" name="Group 41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1119" name="Freeform 42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20" name="Freeform 43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106" name="Rectangle 44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107" name="Group 45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1117" name="Freeform 46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18" name="Freeform 47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108" name="Line 48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09" name="Line 49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0" name="Line 50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1" name="Line 51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2" name="Line 52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3" name="Line 53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4" name="Line 54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5" name="Line 55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6" name="Line 56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79" name="Group 57"/>
          <p:cNvGrpSpPr/>
          <p:nvPr/>
        </p:nvGrpSpPr>
        <p:grpSpPr>
          <a:xfrm>
            <a:off x="2895600" y="2362200"/>
            <a:ext cx="3355975" cy="838200"/>
            <a:chOff x="1562" y="1152"/>
            <a:chExt cx="2114" cy="528"/>
          </a:xfrm>
        </p:grpSpPr>
        <p:grpSp>
          <p:nvGrpSpPr>
            <p:cNvPr id="41065" name="Group 58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1095" name="Freeform 59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96" name="Rectangle 60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066" name="Group 61"/>
            <p:cNvGrpSpPr/>
            <p:nvPr/>
          </p:nvGrpSpPr>
          <p:grpSpPr>
            <a:xfrm>
              <a:off x="1562" y="1248"/>
              <a:ext cx="349" cy="289"/>
              <a:chOff x="1282" y="1509"/>
              <a:chExt cx="349" cy="289"/>
            </a:xfrm>
          </p:grpSpPr>
          <p:sp>
            <p:nvSpPr>
              <p:cNvPr id="41091" name="Rectangle 62"/>
              <p:cNvSpPr/>
              <p:nvPr/>
            </p:nvSpPr>
            <p:spPr>
              <a:xfrm>
                <a:off x="1282" y="1511"/>
                <a:ext cx="257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IM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092" name="Group 63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1093" name="Freeform 64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094" name="Freeform 65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1067" name="Rectangle 66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68" name="Group 67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1089" name="Freeform 68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90" name="Freeform 69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69" name="Line 70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0" name="Freeform 71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071" name="Line 72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2" name="Rectangle 73"/>
            <p:cNvSpPr/>
            <p:nvPr/>
          </p:nvSpPr>
          <p:spPr>
            <a:xfrm>
              <a:off x="2829" y="1250"/>
              <a:ext cx="313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DM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73" name="Group 74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1087" name="Freeform 75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88" name="Freeform 76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74" name="Rectangle 77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75" name="Group 78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1085" name="Freeform 79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86" name="Freeform 80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76" name="Line 81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7" name="Line 82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8" name="Line 83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9" name="Line 84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0" name="Line 85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1" name="Line 86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2" name="Line 87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3" name="Line 88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4" name="Line 89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80" name="Group 90"/>
          <p:cNvGrpSpPr/>
          <p:nvPr/>
        </p:nvGrpSpPr>
        <p:grpSpPr>
          <a:xfrm>
            <a:off x="3581400" y="3200400"/>
            <a:ext cx="3355975" cy="838200"/>
            <a:chOff x="1562" y="1152"/>
            <a:chExt cx="2114" cy="528"/>
          </a:xfrm>
        </p:grpSpPr>
        <p:grpSp>
          <p:nvGrpSpPr>
            <p:cNvPr id="41033" name="Group 91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1063" name="Freeform 92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64" name="Rectangle 93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034" name="Group 94"/>
            <p:cNvGrpSpPr/>
            <p:nvPr/>
          </p:nvGrpSpPr>
          <p:grpSpPr>
            <a:xfrm>
              <a:off x="1562" y="1248"/>
              <a:ext cx="349" cy="289"/>
              <a:chOff x="1282" y="1509"/>
              <a:chExt cx="349" cy="289"/>
            </a:xfrm>
          </p:grpSpPr>
          <p:sp>
            <p:nvSpPr>
              <p:cNvPr id="41059" name="Rectangle 95"/>
              <p:cNvSpPr/>
              <p:nvPr/>
            </p:nvSpPr>
            <p:spPr>
              <a:xfrm>
                <a:off x="1282" y="1511"/>
                <a:ext cx="257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IM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060" name="Group 96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1061" name="Freeform 97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062" name="Freeform 98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1035" name="Rectangle 99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36" name="Group 100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1057" name="Freeform 101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58" name="Freeform 102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37" name="Line 103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38" name="Freeform 104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039" name="Line 105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0" name="Rectangle 106"/>
            <p:cNvSpPr/>
            <p:nvPr/>
          </p:nvSpPr>
          <p:spPr>
            <a:xfrm>
              <a:off x="2829" y="1250"/>
              <a:ext cx="313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DM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41" name="Group 107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1055" name="Freeform 108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56" name="Freeform 109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42" name="Rectangle 110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43" name="Group 111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1053" name="Freeform 112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54" name="Freeform 113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44" name="Line 114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5" name="Line 115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6" name="Line 116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7" name="Line 117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8" name="Line 118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49" name="Line 119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50" name="Line 120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51" name="Line 121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52" name="Line 122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0981" name="Group 123"/>
          <p:cNvGrpSpPr/>
          <p:nvPr/>
        </p:nvGrpSpPr>
        <p:grpSpPr>
          <a:xfrm>
            <a:off x="4267200" y="4038600"/>
            <a:ext cx="3355975" cy="838200"/>
            <a:chOff x="1562" y="1152"/>
            <a:chExt cx="2114" cy="528"/>
          </a:xfrm>
        </p:grpSpPr>
        <p:grpSp>
          <p:nvGrpSpPr>
            <p:cNvPr id="41001" name="Group 124"/>
            <p:cNvGrpSpPr/>
            <p:nvPr/>
          </p:nvGrpSpPr>
          <p:grpSpPr>
            <a:xfrm>
              <a:off x="2487" y="1152"/>
              <a:ext cx="223" cy="481"/>
              <a:chOff x="2207" y="1413"/>
              <a:chExt cx="223" cy="481"/>
            </a:xfrm>
          </p:grpSpPr>
          <p:sp>
            <p:nvSpPr>
              <p:cNvPr id="41031" name="Freeform 125"/>
              <p:cNvSpPr/>
              <p:nvPr/>
            </p:nvSpPr>
            <p:spPr>
              <a:xfrm>
                <a:off x="2217" y="1413"/>
                <a:ext cx="213" cy="481"/>
              </a:xfrm>
              <a:custGeom>
                <a:avLst/>
                <a:gdLst>
                  <a:gd name="txL" fmla="*/ 0 w 213"/>
                  <a:gd name="txT" fmla="*/ 0 h 481"/>
                  <a:gd name="txR" fmla="*/ 213 w 213"/>
                  <a:gd name="txB" fmla="*/ 481 h 481"/>
                </a:gdLst>
                <a:ahLst/>
                <a:cxnLst>
                  <a:cxn ang="0">
                    <a:pos x="0" y="320"/>
                  </a:cxn>
                  <a:cxn ang="0">
                    <a:pos x="71" y="240"/>
                  </a:cxn>
                  <a:cxn ang="0">
                    <a:pos x="0" y="160"/>
                  </a:cxn>
                  <a:cxn ang="0">
                    <a:pos x="0" y="0"/>
                  </a:cxn>
                  <a:cxn ang="0">
                    <a:pos x="212" y="160"/>
                  </a:cxn>
                  <a:cxn ang="0">
                    <a:pos x="212" y="320"/>
                  </a:cxn>
                  <a:cxn ang="0">
                    <a:pos x="0" y="480"/>
                  </a:cxn>
                  <a:cxn ang="0">
                    <a:pos x="0" y="320"/>
                  </a:cxn>
                </a:cxnLst>
                <a:rect l="txL" t="txT" r="txR" b="tx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32" name="Rectangle 126"/>
              <p:cNvSpPr/>
              <p:nvPr/>
            </p:nvSpPr>
            <p:spPr>
              <a:xfrm rot="5400000">
                <a:off x="2124" y="1532"/>
                <a:ext cx="376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002" name="Group 127"/>
            <p:cNvGrpSpPr/>
            <p:nvPr/>
          </p:nvGrpSpPr>
          <p:grpSpPr>
            <a:xfrm>
              <a:off x="1562" y="1248"/>
              <a:ext cx="349" cy="289"/>
              <a:chOff x="1282" y="1509"/>
              <a:chExt cx="349" cy="289"/>
            </a:xfrm>
          </p:grpSpPr>
          <p:sp>
            <p:nvSpPr>
              <p:cNvPr id="41027" name="Rectangle 128"/>
              <p:cNvSpPr/>
              <p:nvPr/>
            </p:nvSpPr>
            <p:spPr>
              <a:xfrm>
                <a:off x="1282" y="1511"/>
                <a:ext cx="257" cy="2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488" tIns="44450" rIns="90488" bIns="44450">
                <a:spAutoFit/>
              </a:bodyPr>
              <a:p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IM</a:t>
                </a:r>
                <a:endPara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028" name="Group 129"/>
              <p:cNvGrpSpPr/>
              <p:nvPr/>
            </p:nvGrpSpPr>
            <p:grpSpPr>
              <a:xfrm>
                <a:off x="1291" y="1509"/>
                <a:ext cx="340" cy="289"/>
                <a:chOff x="1291" y="1509"/>
                <a:chExt cx="340" cy="289"/>
              </a:xfrm>
            </p:grpSpPr>
            <p:sp>
              <p:nvSpPr>
                <p:cNvPr id="41029" name="Freeform 130"/>
                <p:cNvSpPr/>
                <p:nvPr/>
              </p:nvSpPr>
              <p:spPr>
                <a:xfrm>
                  <a:off x="1291" y="1509"/>
                  <a:ext cx="170" cy="289"/>
                </a:xfrm>
                <a:custGeom>
                  <a:avLst/>
                  <a:gdLst>
                    <a:gd name="txL" fmla="*/ 0 w 170"/>
                    <a:gd name="txT" fmla="*/ 0 h 289"/>
                    <a:gd name="txR" fmla="*/ 170 w 170"/>
                    <a:gd name="txB" fmla="*/ 289 h 289"/>
                  </a:gdLst>
                  <a:ahLst/>
                  <a:cxnLst>
                    <a:cxn ang="0">
                      <a:pos x="169" y="0"/>
                    </a:cxn>
                    <a:cxn ang="0">
                      <a:pos x="0" y="0"/>
                    </a:cxn>
                    <a:cxn ang="0">
                      <a:pos x="0" y="288"/>
                    </a:cxn>
                    <a:cxn ang="0">
                      <a:pos x="169" y="288"/>
                    </a:cxn>
                  </a:cxnLst>
                  <a:rect l="txL" t="txT" r="txR" b="tx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1030" name="Freeform 131"/>
                <p:cNvSpPr/>
                <p:nvPr/>
              </p:nvSpPr>
              <p:spPr>
                <a:xfrm>
                  <a:off x="1460" y="1509"/>
                  <a:ext cx="171" cy="289"/>
                </a:xfrm>
                <a:custGeom>
                  <a:avLst/>
                  <a:gdLst>
                    <a:gd name="txL" fmla="*/ 0 w 171"/>
                    <a:gd name="txT" fmla="*/ 0 h 289"/>
                    <a:gd name="txR" fmla="*/ 171 w 171"/>
                    <a:gd name="txB" fmla="*/ 289 h 289"/>
                  </a:gdLst>
                  <a:ahLst/>
                  <a:cxnLst>
                    <a:cxn ang="0">
                      <a:pos x="0" y="0"/>
                    </a:cxn>
                    <a:cxn ang="0">
                      <a:pos x="170" y="0"/>
                    </a:cxn>
                    <a:cxn ang="0">
                      <a:pos x="170" y="288"/>
                    </a:cxn>
                    <a:cxn ang="0">
                      <a:pos x="0" y="288"/>
                    </a:cxn>
                  </a:cxnLst>
                  <a:rect l="txL" t="txT" r="txR" b="tx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41003" name="Rectangle 132"/>
            <p:cNvSpPr/>
            <p:nvPr/>
          </p:nvSpPr>
          <p:spPr>
            <a:xfrm>
              <a:off x="2012" y="1255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04" name="Group 133"/>
            <p:cNvGrpSpPr/>
            <p:nvPr/>
          </p:nvGrpSpPr>
          <p:grpSpPr>
            <a:xfrm>
              <a:off x="2031" y="1248"/>
              <a:ext cx="296" cy="289"/>
              <a:chOff x="1751" y="1509"/>
              <a:chExt cx="296" cy="289"/>
            </a:xfrm>
          </p:grpSpPr>
          <p:sp>
            <p:nvSpPr>
              <p:cNvPr id="41025" name="Freeform 134"/>
              <p:cNvSpPr/>
              <p:nvPr/>
            </p:nvSpPr>
            <p:spPr>
              <a:xfrm>
                <a:off x="1751" y="1509"/>
                <a:ext cx="149" cy="289"/>
              </a:xfrm>
              <a:custGeom>
                <a:avLst/>
                <a:gdLst>
                  <a:gd name="txL" fmla="*/ 0 w 149"/>
                  <a:gd name="txT" fmla="*/ 0 h 289"/>
                  <a:gd name="txR" fmla="*/ 149 w 149"/>
                  <a:gd name="txB" fmla="*/ 289 h 289"/>
                </a:gdLst>
                <a:ahLst/>
                <a:cxnLst>
                  <a:cxn ang="0">
                    <a:pos x="148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8" y="288"/>
                  </a:cxn>
                </a:cxnLst>
                <a:rect l="txL" t="txT" r="txR" b="tx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26" name="Freeform 135"/>
              <p:cNvSpPr/>
              <p:nvPr/>
            </p:nvSpPr>
            <p:spPr>
              <a:xfrm>
                <a:off x="1899" y="1509"/>
                <a:ext cx="148" cy="289"/>
              </a:xfrm>
              <a:custGeom>
                <a:avLst/>
                <a:gdLst>
                  <a:gd name="txL" fmla="*/ 0 w 148"/>
                  <a:gd name="txT" fmla="*/ 0 h 289"/>
                  <a:gd name="txR" fmla="*/ 148 w 148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7" y="0"/>
                  </a:cxn>
                  <a:cxn ang="0">
                    <a:pos x="147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05" name="Line 136"/>
            <p:cNvSpPr/>
            <p:nvPr/>
          </p:nvSpPr>
          <p:spPr>
            <a:xfrm>
              <a:off x="1916" y="1392"/>
              <a:ext cx="11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6" name="Freeform 137"/>
            <p:cNvSpPr/>
            <p:nvPr/>
          </p:nvSpPr>
          <p:spPr>
            <a:xfrm>
              <a:off x="1984" y="1296"/>
              <a:ext cx="48" cy="97"/>
            </a:xfrm>
            <a:custGeom>
              <a:avLst/>
              <a:gdLst>
                <a:gd name="txL" fmla="*/ 0 w 48"/>
                <a:gd name="txT" fmla="*/ 0 h 97"/>
                <a:gd name="txR" fmla="*/ 48 w 48"/>
                <a:gd name="txB" fmla="*/ 97 h 97"/>
              </a:gdLst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txL" t="txT" r="txR" b="tx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007" name="Line 138"/>
            <p:cNvSpPr/>
            <p:nvPr/>
          </p:nvSpPr>
          <p:spPr>
            <a:xfrm>
              <a:off x="2332" y="1296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8" name="Rectangle 139"/>
            <p:cNvSpPr/>
            <p:nvPr/>
          </p:nvSpPr>
          <p:spPr>
            <a:xfrm>
              <a:off x="2829" y="1250"/>
              <a:ext cx="313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DM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09" name="Group 140"/>
            <p:cNvGrpSpPr/>
            <p:nvPr/>
          </p:nvGrpSpPr>
          <p:grpSpPr>
            <a:xfrm>
              <a:off x="2880" y="1248"/>
              <a:ext cx="325" cy="289"/>
              <a:chOff x="2600" y="1509"/>
              <a:chExt cx="325" cy="289"/>
            </a:xfrm>
          </p:grpSpPr>
          <p:sp>
            <p:nvSpPr>
              <p:cNvPr id="41023" name="Freeform 141"/>
              <p:cNvSpPr/>
              <p:nvPr/>
            </p:nvSpPr>
            <p:spPr>
              <a:xfrm>
                <a:off x="2600" y="1509"/>
                <a:ext cx="162" cy="289"/>
              </a:xfrm>
              <a:custGeom>
                <a:avLst/>
                <a:gdLst>
                  <a:gd name="txL" fmla="*/ 0 w 162"/>
                  <a:gd name="txT" fmla="*/ 0 h 289"/>
                  <a:gd name="txR" fmla="*/ 162 w 162"/>
                  <a:gd name="txB" fmla="*/ 289 h 289"/>
                </a:gdLst>
                <a:ahLst/>
                <a:cxnLst>
                  <a:cxn ang="0">
                    <a:pos x="16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61" y="288"/>
                  </a:cxn>
                </a:cxnLst>
                <a:rect l="txL" t="txT" r="txR" b="tx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24" name="Freeform 142"/>
              <p:cNvSpPr/>
              <p:nvPr/>
            </p:nvSpPr>
            <p:spPr>
              <a:xfrm>
                <a:off x="2761" y="1509"/>
                <a:ext cx="164" cy="289"/>
              </a:xfrm>
              <a:custGeom>
                <a:avLst/>
                <a:gdLst>
                  <a:gd name="txL" fmla="*/ 0 w 164"/>
                  <a:gd name="txT" fmla="*/ 0 h 289"/>
                  <a:gd name="txR" fmla="*/ 164 w 164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63" y="0"/>
                  </a:cxn>
                  <a:cxn ang="0">
                    <a:pos x="163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10" name="Rectangle 143"/>
            <p:cNvSpPr/>
            <p:nvPr/>
          </p:nvSpPr>
          <p:spPr>
            <a:xfrm>
              <a:off x="3321" y="1250"/>
              <a:ext cx="355" cy="2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p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011" name="Group 144"/>
            <p:cNvGrpSpPr/>
            <p:nvPr/>
          </p:nvGrpSpPr>
          <p:grpSpPr>
            <a:xfrm>
              <a:off x="3348" y="1248"/>
              <a:ext cx="284" cy="289"/>
              <a:chOff x="3068" y="1509"/>
              <a:chExt cx="284" cy="289"/>
            </a:xfrm>
          </p:grpSpPr>
          <p:sp>
            <p:nvSpPr>
              <p:cNvPr id="41021" name="Freeform 145"/>
              <p:cNvSpPr/>
              <p:nvPr/>
            </p:nvSpPr>
            <p:spPr>
              <a:xfrm>
                <a:off x="3068" y="1509"/>
                <a:ext cx="142" cy="289"/>
              </a:xfrm>
              <a:custGeom>
                <a:avLst/>
                <a:gdLst>
                  <a:gd name="txL" fmla="*/ 0 w 142"/>
                  <a:gd name="txT" fmla="*/ 0 h 289"/>
                  <a:gd name="txR" fmla="*/ 142 w 142"/>
                  <a:gd name="txB" fmla="*/ 289 h 289"/>
                </a:gdLst>
                <a:ahLst/>
                <a:cxnLst>
                  <a:cxn ang="0">
                    <a:pos x="141" y="0"/>
                  </a:cxn>
                  <a:cxn ang="0">
                    <a:pos x="0" y="0"/>
                  </a:cxn>
                  <a:cxn ang="0">
                    <a:pos x="0" y="288"/>
                  </a:cxn>
                  <a:cxn ang="0">
                    <a:pos x="141" y="288"/>
                  </a:cxn>
                </a:cxnLst>
                <a:rect l="txL" t="txT" r="txR" b="tx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22" name="Freeform 146"/>
              <p:cNvSpPr/>
              <p:nvPr/>
            </p:nvSpPr>
            <p:spPr>
              <a:xfrm>
                <a:off x="3209" y="1509"/>
                <a:ext cx="143" cy="289"/>
              </a:xfrm>
              <a:custGeom>
                <a:avLst/>
                <a:gdLst>
                  <a:gd name="txL" fmla="*/ 0 w 143"/>
                  <a:gd name="txT" fmla="*/ 0 h 289"/>
                  <a:gd name="txR" fmla="*/ 143 w 143"/>
                  <a:gd name="txB" fmla="*/ 289 h 289"/>
                </a:gdLst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288"/>
                  </a:cxn>
                  <a:cxn ang="0">
                    <a:pos x="0" y="288"/>
                  </a:cxn>
                </a:cxnLst>
                <a:rect l="txL" t="txT" r="txR" b="tx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1012" name="Line 147"/>
            <p:cNvSpPr/>
            <p:nvPr/>
          </p:nvSpPr>
          <p:spPr>
            <a:xfrm>
              <a:off x="3201" y="1392"/>
              <a:ext cx="13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3" name="Line 148"/>
            <p:cNvSpPr/>
            <p:nvPr/>
          </p:nvSpPr>
          <p:spPr>
            <a:xfrm>
              <a:off x="2717" y="1392"/>
              <a:ext cx="1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4" name="Line 149"/>
            <p:cNvSpPr/>
            <p:nvPr/>
          </p:nvSpPr>
          <p:spPr>
            <a:xfrm>
              <a:off x="2332" y="1488"/>
              <a:ext cx="15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5" name="Line 150"/>
            <p:cNvSpPr/>
            <p:nvPr/>
          </p:nvSpPr>
          <p:spPr>
            <a:xfrm>
              <a:off x="2416" y="14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6" name="Line 151"/>
            <p:cNvSpPr/>
            <p:nvPr/>
          </p:nvSpPr>
          <p:spPr>
            <a:xfrm>
              <a:off x="2416" y="16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7" name="Line 152"/>
            <p:cNvSpPr/>
            <p:nvPr/>
          </p:nvSpPr>
          <p:spPr>
            <a:xfrm>
              <a:off x="2752" y="139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8" name="Line 153"/>
            <p:cNvSpPr/>
            <p:nvPr/>
          </p:nvSpPr>
          <p:spPr>
            <a:xfrm flipH="1">
              <a:off x="2832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9" name="Line 154"/>
            <p:cNvSpPr/>
            <p:nvPr/>
          </p:nvSpPr>
          <p:spPr>
            <a:xfrm>
              <a:off x="2832" y="163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0" name="Line 155"/>
            <p:cNvSpPr/>
            <p:nvPr/>
          </p:nvSpPr>
          <p:spPr>
            <a:xfrm>
              <a:off x="3264" y="139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15677" name="Rectangle 189"/>
          <p:cNvSpPr/>
          <p:nvPr/>
        </p:nvSpPr>
        <p:spPr>
          <a:xfrm>
            <a:off x="6400800" y="1371600"/>
            <a:ext cx="2438400" cy="19177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algn="r"/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Fix register file access hazard by doing reads in the second half of the cycle and writes in the first half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3" name="Rectangle 190"/>
          <p:cNvSpPr/>
          <p:nvPr/>
        </p:nvSpPr>
        <p:spPr>
          <a:xfrm>
            <a:off x="755650" y="1600200"/>
            <a:ext cx="1471613" cy="458788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add x1,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0984" name="Rectangle 191"/>
          <p:cNvSpPr/>
          <p:nvPr/>
        </p:nvSpPr>
        <p:spPr>
          <a:xfrm>
            <a:off x="752475" y="4157663"/>
            <a:ext cx="2025650" cy="45878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add x2,</a:t>
            </a:r>
            <a:r>
              <a:rPr lang="en-US" altLang="zh-CN" sz="2400" b="1" dirty="0">
                <a:solidFill>
                  <a:srgbClr val="0099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,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pSp>
        <p:nvGrpSpPr>
          <p:cNvPr id="31" name="Group 207"/>
          <p:cNvGrpSpPr/>
          <p:nvPr/>
        </p:nvGrpSpPr>
        <p:grpSpPr>
          <a:xfrm>
            <a:off x="4572000" y="5181600"/>
            <a:ext cx="1219200" cy="381000"/>
            <a:chOff x="2880" y="3552"/>
            <a:chExt cx="768" cy="240"/>
          </a:xfrm>
        </p:grpSpPr>
        <p:sp>
          <p:nvSpPr>
            <p:cNvPr id="40994" name="Line 196"/>
            <p:cNvSpPr/>
            <p:nvPr/>
          </p:nvSpPr>
          <p:spPr>
            <a:xfrm>
              <a:off x="3456" y="35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5" name="Line 198"/>
            <p:cNvSpPr/>
            <p:nvPr/>
          </p:nvSpPr>
          <p:spPr>
            <a:xfrm flipV="1">
              <a:off x="3264" y="35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6" name="Line 200"/>
            <p:cNvSpPr/>
            <p:nvPr/>
          </p:nvSpPr>
          <p:spPr>
            <a:xfrm>
              <a:off x="3456" y="3792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7" name="Line 203"/>
            <p:cNvSpPr/>
            <p:nvPr/>
          </p:nvSpPr>
          <p:spPr>
            <a:xfrm>
              <a:off x="3264" y="3552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8" name="Line 204"/>
            <p:cNvSpPr/>
            <p:nvPr/>
          </p:nvSpPr>
          <p:spPr>
            <a:xfrm>
              <a:off x="3072" y="3792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9" name="Line 205"/>
            <p:cNvSpPr/>
            <p:nvPr/>
          </p:nvSpPr>
          <p:spPr>
            <a:xfrm>
              <a:off x="3072" y="35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00" name="Line 206"/>
            <p:cNvSpPr/>
            <p:nvPr/>
          </p:nvSpPr>
          <p:spPr>
            <a:xfrm>
              <a:off x="2880" y="3552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14"/>
          <p:cNvGrpSpPr/>
          <p:nvPr/>
        </p:nvGrpSpPr>
        <p:grpSpPr>
          <a:xfrm>
            <a:off x="990600" y="5334000"/>
            <a:ext cx="4114800" cy="704850"/>
            <a:chOff x="624" y="3360"/>
            <a:chExt cx="2592" cy="444"/>
          </a:xfrm>
        </p:grpSpPr>
        <p:sp>
          <p:nvSpPr>
            <p:cNvPr id="40992" name="Rectangle 209"/>
            <p:cNvSpPr/>
            <p:nvPr/>
          </p:nvSpPr>
          <p:spPr>
            <a:xfrm>
              <a:off x="624" y="3360"/>
              <a:ext cx="1872" cy="44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clock edge that controls register writing</a:t>
              </a:r>
              <a:endPara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3" name="Line 210"/>
            <p:cNvSpPr/>
            <p:nvPr/>
          </p:nvSpPr>
          <p:spPr>
            <a:xfrm flipV="1">
              <a:off x="2442" y="3360"/>
              <a:ext cx="774" cy="24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213"/>
          <p:cNvGrpSpPr/>
          <p:nvPr/>
        </p:nvGrpSpPr>
        <p:grpSpPr>
          <a:xfrm>
            <a:off x="4876800" y="5181600"/>
            <a:ext cx="4051300" cy="1003300"/>
            <a:chOff x="3072" y="3264"/>
            <a:chExt cx="2552" cy="632"/>
          </a:xfrm>
        </p:grpSpPr>
        <p:sp>
          <p:nvSpPr>
            <p:cNvPr id="40989" name="Rectangle 208"/>
            <p:cNvSpPr/>
            <p:nvPr/>
          </p:nvSpPr>
          <p:spPr>
            <a:xfrm>
              <a:off x="3752" y="3264"/>
              <a:ext cx="1872" cy="63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clock edge that controls loading of pipeline state registers</a:t>
              </a:r>
              <a:endPara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0" name="Line 211"/>
            <p:cNvSpPr/>
            <p:nvPr/>
          </p:nvSpPr>
          <p:spPr>
            <a:xfrm>
              <a:off x="3456" y="3360"/>
              <a:ext cx="387" cy="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0991" name="Line 212"/>
            <p:cNvSpPr/>
            <p:nvPr/>
          </p:nvSpPr>
          <p:spPr>
            <a:xfrm>
              <a:off x="3072" y="3360"/>
              <a:ext cx="751" cy="24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4098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67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Hazards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2272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 instruction depends on completion of data access by a previous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	</a:t>
            </a:r>
            <a:r>
              <a:rPr lang="en-US" altLang="zh-CN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x2, x3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sub	x4, </a:t>
            </a:r>
            <a:r>
              <a:rPr lang="en-US" altLang="zh-CN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x5</a:t>
            </a:r>
            <a:endParaRPr lang="en-US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pic>
        <p:nvPicPr>
          <p:cNvPr id="41989" name="图片 6" descr="f4.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3228975"/>
            <a:ext cx="7991475" cy="2792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Forwarding (aka Bypassing)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7668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 result when it is computed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Don’t wait for it to be stored in a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Requires extra connections in the datapath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43013" name="图片 5" descr="f4.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3081338"/>
            <a:ext cx="8062913" cy="3006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Load-Use Data Hazard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8430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Can’t always avoid stalls by forwarding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If value not computed when needed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Can’t forward backward in time!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28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2853055"/>
            <a:ext cx="8054975" cy="31908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Code Scheduling to Avoid Stalls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8430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Reorder code to avoid use of load result in the next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 code for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 = B + E; C = B + F;</a:t>
            </a:r>
            <a:endParaRPr lang="en-AU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45061" name="Text Box 4"/>
          <p:cNvSpPr txBox="1"/>
          <p:nvPr/>
        </p:nvSpPr>
        <p:spPr>
          <a:xfrm>
            <a:off x="2146300" y="3225800"/>
            <a:ext cx="2494915" cy="2614930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>
            <a:spAutoFit/>
          </a:bodyPr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x1, 0(x31)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4(x31)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	x3, x1, 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endParaRPr lang="en-US" altLang="zh-CN" sz="2000" dirty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sw	x3, 12(x31)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8(x31)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	x5, x1, 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endParaRPr lang="en-US" altLang="zh-CN" sz="2000" dirty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sw	x5, 16(x31)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45062" name="AutoShape 5"/>
          <p:cNvSpPr/>
          <p:nvPr/>
        </p:nvSpPr>
        <p:spPr>
          <a:xfrm>
            <a:off x="777875" y="4078288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stall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AutoShape 6"/>
          <p:cNvSpPr/>
          <p:nvPr/>
        </p:nvSpPr>
        <p:spPr>
          <a:xfrm>
            <a:off x="777875" y="5157788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stall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Text Box 7"/>
          <p:cNvSpPr txBox="1"/>
          <p:nvPr/>
        </p:nvSpPr>
        <p:spPr>
          <a:xfrm>
            <a:off x="5457825" y="3225800"/>
            <a:ext cx="2494915" cy="2614930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>
            <a:spAutoFit/>
          </a:bodyPr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x1, 0(x31)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4(x31)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	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8(x31)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	x3, x1, 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endParaRPr lang="en-US" altLang="zh-CN" sz="2000" dirty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sw	x3, 12(x31)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	x5, x1, </a:t>
            </a:r>
            <a:r>
              <a:rPr lang="en-US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endParaRPr lang="en-US" altLang="zh-CN" sz="2000" dirty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 defTabSz="628650">
              <a:spcBef>
                <a:spcPct val="20000"/>
              </a:spcBef>
            </a:pP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sw	x5, 16(x31)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45065" name="Line 8"/>
          <p:cNvSpPr/>
          <p:nvPr/>
        </p:nvSpPr>
        <p:spPr>
          <a:xfrm flipV="1">
            <a:off x="4572000" y="4221163"/>
            <a:ext cx="936625" cy="6477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66" name="Oval 9"/>
          <p:cNvSpPr/>
          <p:nvPr/>
        </p:nvSpPr>
        <p:spPr>
          <a:xfrm>
            <a:off x="2700338" y="3573463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7" name="Oval 10"/>
          <p:cNvSpPr/>
          <p:nvPr/>
        </p:nvSpPr>
        <p:spPr>
          <a:xfrm>
            <a:off x="3924300" y="3933825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8" name="Oval 11"/>
          <p:cNvSpPr/>
          <p:nvPr/>
        </p:nvSpPr>
        <p:spPr>
          <a:xfrm>
            <a:off x="2700338" y="4652963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9" name="Oval 12"/>
          <p:cNvSpPr/>
          <p:nvPr/>
        </p:nvSpPr>
        <p:spPr>
          <a:xfrm>
            <a:off x="3924300" y="5013325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0" name="Oval 13"/>
          <p:cNvSpPr/>
          <p:nvPr/>
        </p:nvSpPr>
        <p:spPr>
          <a:xfrm>
            <a:off x="6011863" y="3573463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1" name="Oval 14"/>
          <p:cNvSpPr/>
          <p:nvPr/>
        </p:nvSpPr>
        <p:spPr>
          <a:xfrm>
            <a:off x="7235825" y="4292600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2" name="Oval 15"/>
          <p:cNvSpPr/>
          <p:nvPr/>
        </p:nvSpPr>
        <p:spPr>
          <a:xfrm>
            <a:off x="7235825" y="5013325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3" name="Oval 16"/>
          <p:cNvSpPr/>
          <p:nvPr/>
        </p:nvSpPr>
        <p:spPr>
          <a:xfrm>
            <a:off x="6011863" y="3933825"/>
            <a:ext cx="647700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4" name="Line 17"/>
          <p:cNvSpPr/>
          <p:nvPr/>
        </p:nvSpPr>
        <p:spPr>
          <a:xfrm>
            <a:off x="3409950" y="3819525"/>
            <a:ext cx="514350" cy="185738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5" name="Line 18"/>
          <p:cNvSpPr/>
          <p:nvPr/>
        </p:nvSpPr>
        <p:spPr>
          <a:xfrm>
            <a:off x="3400425" y="4918075"/>
            <a:ext cx="604838" cy="2159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19"/>
          <p:cNvSpPr/>
          <p:nvPr/>
        </p:nvSpPr>
        <p:spPr>
          <a:xfrm>
            <a:off x="6726238" y="3829050"/>
            <a:ext cx="592137" cy="53657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7" name="Line 20"/>
          <p:cNvSpPr/>
          <p:nvPr/>
        </p:nvSpPr>
        <p:spPr>
          <a:xfrm>
            <a:off x="6654800" y="4287838"/>
            <a:ext cx="663575" cy="7969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8" name="Text Box 21"/>
          <p:cNvSpPr txBox="1"/>
          <p:nvPr/>
        </p:nvSpPr>
        <p:spPr>
          <a:xfrm>
            <a:off x="6300788" y="5876925"/>
            <a:ext cx="1017587" cy="3698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7 cycles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9" name="Text Box 22"/>
          <p:cNvSpPr txBox="1"/>
          <p:nvPr/>
        </p:nvSpPr>
        <p:spPr>
          <a:xfrm>
            <a:off x="2987675" y="5876925"/>
            <a:ext cx="1017588" cy="3698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9 cycles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Control Hazards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Branch determines flow of control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Fetching next instruction depends on branch outcome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Pipeline can’t always fetch correct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Still working on ID stage of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 RISC-V pipeline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Need to compare registers and compute target early in the pipeline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Add hardware to do it in ID stage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Stall on Branch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3065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Wait until branch outcome determined before fetching next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47109" name="图片 5" descr="f4.2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35225"/>
            <a:ext cx="8208963" cy="3514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Branch Prediction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Longer pipelines can’t readily determine branch outcome early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Stall penalty becomes unacceptable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Predict outcome of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Only stall if prediction is wrong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 pipeline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predict branches not taken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Delayed branch (MIPS)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Others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RISC-V with Predict Not Taken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9156" name="Text Box 5"/>
          <p:cNvSpPr txBox="1"/>
          <p:nvPr/>
        </p:nvSpPr>
        <p:spPr>
          <a:xfrm>
            <a:off x="755650" y="2133600"/>
            <a:ext cx="1295400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Prediction correct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Text Box 6"/>
          <p:cNvSpPr txBox="1"/>
          <p:nvPr/>
        </p:nvSpPr>
        <p:spPr>
          <a:xfrm>
            <a:off x="755650" y="4797425"/>
            <a:ext cx="1295400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Prediction incorrect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 descr="f4.30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40" y="1124585"/>
            <a:ext cx="6309360" cy="51130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More-Realistic Branch Prediction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Static branch prediction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Based on typical branch behavior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Example: loop and if-statement branches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Predict backward branches taken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Predict forward branches taken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Dynamic branch prediction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Hardware measures actual branch behavior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e.g., record recent history of each branch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Assume future behavior will continue the trend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When wrong, stall while re-fetching, and update history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Summary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684213" y="1844675"/>
            <a:ext cx="8270875" cy="43926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Pipelining improves performance by increasing instruction throughput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Executes multiple instructions in parallel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Each instruction has the same latency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Subject to hazards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Structure, data, control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Instruction set design affects complexity of pipeline implementation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05" name="Text Box 4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The BIG Picture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图片 8" descr="f4.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25538"/>
            <a:ext cx="7993063" cy="5040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RISC-V Pipelined Datapath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2229" name="Text Box 3"/>
          <p:cNvSpPr txBox="1"/>
          <p:nvPr/>
        </p:nvSpPr>
        <p:spPr>
          <a:xfrm rot="5400000">
            <a:off x="6959600" y="1816100"/>
            <a:ext cx="400050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§4.7 Pipelined Datapath and Control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30" name="AutoShape 5"/>
          <p:cNvSpPr/>
          <p:nvPr/>
        </p:nvSpPr>
        <p:spPr>
          <a:xfrm>
            <a:off x="2124075" y="5157788"/>
            <a:ext cx="571500" cy="330200"/>
          </a:xfrm>
          <a:prstGeom prst="borderCallout1">
            <a:avLst>
              <a:gd name="adj1" fmla="val 34616"/>
              <a:gd name="adj2" fmla="val 113333"/>
              <a:gd name="adj3" fmla="val -149519"/>
              <a:gd name="adj4" fmla="val 18654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31" name="AutoShape 6"/>
          <p:cNvSpPr/>
          <p:nvPr/>
        </p:nvSpPr>
        <p:spPr>
          <a:xfrm>
            <a:off x="358775" y="4622800"/>
            <a:ext cx="650875" cy="330200"/>
          </a:xfrm>
          <a:prstGeom prst="borderCallout1">
            <a:avLst>
              <a:gd name="adj1" fmla="val 34616"/>
              <a:gd name="adj2" fmla="val 111708"/>
              <a:gd name="adj3" fmla="val -77940"/>
              <a:gd name="adj4" fmla="val 23614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32" name="Text Box 7"/>
          <p:cNvSpPr txBox="1"/>
          <p:nvPr/>
        </p:nvSpPr>
        <p:spPr>
          <a:xfrm>
            <a:off x="179388" y="5013325"/>
            <a:ext cx="1512887" cy="9255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Right-to-left flow leads to hazards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19475" y="4953000"/>
            <a:ext cx="215900" cy="20510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11955" y="4953000"/>
            <a:ext cx="215900" cy="20510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registers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351837" cy="13065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Need registers between stages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To hold information produced in previous cycle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53253" name="图片 5" descr="f4.3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2349500"/>
            <a:ext cx="8064500" cy="3721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780155" y="5157470"/>
            <a:ext cx="215900" cy="1435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98975" y="5157470"/>
            <a:ext cx="144780" cy="1517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Operation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Cycle-by-cycle flow of instructions through the pipelined datapath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“Single-clock-cycle” pipeline diagram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Shows pipeline usage in a single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Highlight resources used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c.f. “multi-clock-cycle” diagram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Graph of operation over time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We’ll look at “single-clock-cycle” diagrams for load &amp; store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for Load, Store, …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4-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130935"/>
            <a:ext cx="8177530" cy="475551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ID for Load, Store, …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4-2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217930"/>
            <a:ext cx="8077835" cy="48539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 for Load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5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1124585"/>
            <a:ext cx="807720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 for Load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6-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30" y="1052830"/>
            <a:ext cx="812419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36-2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96975"/>
            <a:ext cx="8303895" cy="4822825"/>
          </a:xfrm>
          <a:prstGeom prst="rect">
            <a:avLst/>
          </a:prstGeom>
        </p:spPr>
      </p:pic>
      <p:sp>
        <p:nvSpPr>
          <p:cNvPr id="5939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WB for Load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74788" name="Oval 4"/>
          <p:cNvSpPr/>
          <p:nvPr/>
        </p:nvSpPr>
        <p:spPr>
          <a:xfrm>
            <a:off x="2916238" y="4149725"/>
            <a:ext cx="865187" cy="431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4789" name="AutoShape 5"/>
          <p:cNvSpPr/>
          <p:nvPr/>
        </p:nvSpPr>
        <p:spPr>
          <a:xfrm>
            <a:off x="1187450" y="5084763"/>
            <a:ext cx="1063625" cy="865187"/>
          </a:xfrm>
          <a:prstGeom prst="borderCallout1">
            <a:avLst>
              <a:gd name="adj1" fmla="val 13213"/>
              <a:gd name="adj2" fmla="val 107162"/>
              <a:gd name="adj3" fmla="val -52292"/>
              <a:gd name="adj4" fmla="val 167912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Wrong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number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8" grpId="0" animBg="1"/>
      <p:bldP spid="37478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Corrected Datapath for Load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60420" name="图片 4" descr="f4.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320800"/>
            <a:ext cx="8207375" cy="4700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779520" y="4940935"/>
            <a:ext cx="144145" cy="14414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00245" y="4940935"/>
            <a:ext cx="144145" cy="14414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 for Store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7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65" y="1124585"/>
            <a:ext cx="813435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 for Store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8-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65" y="1124585"/>
            <a:ext cx="817816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WB for Store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38-2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1124585"/>
            <a:ext cx="8144510" cy="478917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Multi-Cycle Pipeline Diagram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905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Form showing resource usage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4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701165"/>
            <a:ext cx="7790180" cy="455041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Multi-Cycle Pipeline Diagram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905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Traditional form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42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844675"/>
            <a:ext cx="8150225" cy="368427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Single-Cycle Pipeline Diagram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477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State of pipeline in a given cycle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43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1701165"/>
            <a:ext cx="8168640" cy="460121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Pipelined Control (Simplified)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67588" name="图片 4" descr="f4.4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150938"/>
            <a:ext cx="8135938" cy="507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500245" y="4580890"/>
            <a:ext cx="144145" cy="755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68611" name="Picture 6" descr="f04-50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2492375"/>
            <a:ext cx="5462588" cy="3402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Pipelined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8613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1509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Control signals derived from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As in single-cycle implementation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Pipelined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69636" name="图片 4" descr="f4.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108075"/>
            <a:ext cx="8207375" cy="527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456430" y="4975225"/>
            <a:ext cx="119380" cy="1136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684213" y="236538"/>
            <a:ext cx="8259762" cy="671512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3800" dirty="0">
                <a:ea typeface="宋体" panose="02010600030101010101" pitchFamily="2" charset="-122"/>
              </a:rPr>
              <a:t>Data Hazards in ALU Instructions</a:t>
            </a:r>
            <a:endParaRPr lang="en-AU" altLang="zh-CN" sz="3800" dirty="0">
              <a:ea typeface="宋体" panose="02010600030101010101" pitchFamily="2" charset="-122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Consider this sequence: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	sub 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x1,x3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and x12,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,x5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or  x13,x6,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x14,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</a:t>
            </a:r>
            <a:r>
              <a:rPr lang="en-US" altLang="en-AU" dirty="0">
                <a:latin typeface="Lucida Console" panose="020B0609040504020204" pitchFamily="49" charset="0"/>
                <a:ea typeface="宋体" panose="02010600030101010101" pitchFamily="2" charset="-122"/>
              </a:rPr>
              <a:t>w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  x15,100(</a:t>
            </a:r>
            <a:r>
              <a:rPr lang="en-AU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</a:t>
            </a: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AU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We can resolve hazards with forwarding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How do we detect when to forward?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0661" name="Text Box 4"/>
          <p:cNvSpPr txBox="1"/>
          <p:nvPr/>
        </p:nvSpPr>
        <p:spPr>
          <a:xfrm rot="5400000">
            <a:off x="6696075" y="2079625"/>
            <a:ext cx="46278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§4.8 Data Hazards: Forwarding vs. Stalling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50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124585"/>
            <a:ext cx="7802880" cy="5125720"/>
          </a:xfrm>
          <a:prstGeom prst="rect">
            <a:avLst/>
          </a:prstGeom>
        </p:spPr>
      </p:pic>
      <p:sp>
        <p:nvSpPr>
          <p:cNvPr id="7168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6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Dependencies &amp; Forwarding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1685" name="Line 4"/>
          <p:cNvSpPr/>
          <p:nvPr/>
        </p:nvSpPr>
        <p:spPr>
          <a:xfrm>
            <a:off x="4284345" y="2853055"/>
            <a:ext cx="136525" cy="6318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6" name="Line 5"/>
          <p:cNvSpPr/>
          <p:nvPr/>
        </p:nvSpPr>
        <p:spPr>
          <a:xfrm>
            <a:off x="5003800" y="2835275"/>
            <a:ext cx="123190" cy="160845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Detecting the Need to Forward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72708" name="Rectangle 3"/>
          <p:cNvSpPr>
            <a:spLocks noGrp="1"/>
          </p:cNvSpPr>
          <p:nvPr>
            <p:ph idx="1"/>
          </p:nvPr>
        </p:nvSpPr>
        <p:spPr>
          <a:xfrm>
            <a:off x="696913" y="1341438"/>
            <a:ext cx="7772400" cy="47910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Pass register numbers along pipeline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e.g., ID/EX.RegisterRs1 = register number for Rs1 sitting in ID/EX pipeline register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ALU operand register numbers in EX stage are given by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ID/EX.RegisterRs1, ID/EX.RegisterRs2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Data hazards when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1a.</a:t>
            </a:r>
            <a:r>
              <a:rPr lang="en-US" altLang="zh-CN" sz="2400" dirty="0">
                <a:ea typeface="宋体" panose="02010600030101010101" pitchFamily="2" charset="-122"/>
              </a:rPr>
              <a:t> EX/MEM.RegisterRd = ID/EX.RegisterRs1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1b.</a:t>
            </a:r>
            <a:r>
              <a:rPr lang="en-US" altLang="zh-CN" sz="2400" dirty="0">
                <a:ea typeface="宋体" panose="02010600030101010101" pitchFamily="2" charset="-122"/>
              </a:rPr>
              <a:t> EX/MEM.RegisterRd = ID/EX.RegisterRs2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2a.</a:t>
            </a:r>
            <a:r>
              <a:rPr lang="en-US" altLang="zh-CN" sz="2400" dirty="0">
                <a:ea typeface="宋体" panose="02010600030101010101" pitchFamily="2" charset="-122"/>
              </a:rPr>
              <a:t> MEM/WB.RegisterRd = ID/EX.RegisterRs1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hlink"/>
                </a:solidFill>
                <a:ea typeface="宋体" panose="02010600030101010101" pitchFamily="2" charset="-122"/>
              </a:rPr>
              <a:t>2b.</a:t>
            </a:r>
            <a:r>
              <a:rPr lang="en-US" altLang="zh-CN" sz="2400" dirty="0">
                <a:ea typeface="宋体" panose="02010600030101010101" pitchFamily="2" charset="-122"/>
              </a:rPr>
              <a:t> MEM/WB.RegisterRd = ID/EX.RegisterRs2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72709" name="Text Box 4"/>
          <p:cNvSpPr txBox="1"/>
          <p:nvPr/>
        </p:nvSpPr>
        <p:spPr>
          <a:xfrm>
            <a:off x="7723188" y="4111625"/>
            <a:ext cx="1241425" cy="835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Fwd from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pipeline reg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0" name="AutoShape 5"/>
          <p:cNvSpPr/>
          <p:nvPr/>
        </p:nvSpPr>
        <p:spPr>
          <a:xfrm>
            <a:off x="7473950" y="4129088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1" name="AutoShape 6"/>
          <p:cNvSpPr/>
          <p:nvPr/>
        </p:nvSpPr>
        <p:spPr>
          <a:xfrm>
            <a:off x="7473950" y="5033963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2" name="Text Box 7"/>
          <p:cNvSpPr txBox="1"/>
          <p:nvPr/>
        </p:nvSpPr>
        <p:spPr>
          <a:xfrm>
            <a:off x="7723188" y="5105400"/>
            <a:ext cx="1241425" cy="835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Fwd from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MEM/WB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pipeline reg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Detecting the Need to Forward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But only if forwarding instruction will write to a register!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EX/MEM.RegWrite, MEM/WB.RegWrite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And only if Rd for that instruction is not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x0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EX/MEM.RegisterRd ≠ 0,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MEM/WB.RegisterRd ≠ 0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Forwarding Paths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74756" name="图片 4" descr="f4.5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196975"/>
            <a:ext cx="8135938" cy="496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Forwarding Conditions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57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EX hazard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(EX/MEM.RegWrite and (EX/MEM.RegisterRd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(EX/MEM.RegisterRd = ID/EX.RegisterRs1))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ForwardA = 10</a:t>
            </a:r>
            <a:endParaRPr lang="en-AU" altLang="zh-CN" sz="20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(EX/MEM.RegWrite and (EX/MEM.RegisterRd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(EX/MEM.RegisterRd = ID/EX.RegisterRs2))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ForwardB = 10</a:t>
            </a:r>
            <a:endParaRPr lang="en-AU" altLang="zh-CN" sz="20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MEM hazard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(MEM/WB.RegWrite and (MEM/WB.RegisterRd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(MEM/WB.RegisterRd = ID/EX.RegisterRs1))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ForwardA = 01</a:t>
            </a:r>
            <a:endParaRPr lang="en-AU" altLang="zh-CN" sz="20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dirty="0">
                <a:ea typeface="宋体" panose="02010600030101010101" pitchFamily="2" charset="-122"/>
              </a:rPr>
              <a:t>if (MEM/WB.RegWrite and (MEM/WB.RegisterRd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(MEM/WB.RegisterRd = ID/EX.RegisterRs2))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ForwardB = 01</a:t>
            </a:r>
            <a:endParaRPr lang="en-AU" altLang="zh-CN" sz="2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Double Data Hazard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Consider the sequence: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	add 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,x1,x2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,x3</a:t>
            </a:r>
            <a:b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x1,</a:t>
            </a:r>
            <a:r>
              <a:rPr lang="en-US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,x4</a:t>
            </a:r>
            <a:endParaRPr lang="en-US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Both hazards occur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Want to use the most recent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Revise MEM hazard condition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Only fwd if EX hazard condition isn’t true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Revised Forwarding Condition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MEM hazard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AU" altLang="zh-CN" sz="2000" dirty="0">
                <a:ea typeface="宋体" panose="02010600030101010101" pitchFamily="2" charset="-122"/>
              </a:rPr>
              <a:t>if (MEM/WB.RegWrite and (MEM/WB.RegisterRd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and not (EX/MEM.RegWrite and (EX/MEM.RegisterRd ≠ 0)</a:t>
            </a:r>
            <a:b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                and (EX/MEM.RegisterRd = ID/EX.RegisterRs1))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(MEM/WB.RegisterRd = ID/EX.RegisterRs1))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ForwardA = 01</a:t>
            </a:r>
            <a:endParaRPr lang="en-AU" altLang="zh-CN" sz="2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AU" altLang="zh-CN" sz="2000" dirty="0">
                <a:ea typeface="宋体" panose="02010600030101010101" pitchFamily="2" charset="-122"/>
              </a:rPr>
              <a:t>if (MEM/WB.RegWrite and (MEM/WB.RegisterRd ≠ 0)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</a:t>
            </a: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and not (EX/MEM.RegWrite and (EX/MEM.RegisterRd ≠ 0)</a:t>
            </a:r>
            <a:b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en-AU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                and (EX/MEM.RegisterRd = ID/EX.RegisterRs2))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  and (MEM/WB.RegisterRd = ID/EX.RegisterRs2))</a:t>
            </a:r>
            <a:br>
              <a:rPr lang="en-AU" altLang="zh-CN" sz="2000" dirty="0">
                <a:ea typeface="宋体" panose="02010600030101010101" pitchFamily="2" charset="-122"/>
              </a:rPr>
            </a:br>
            <a:r>
              <a:rPr lang="en-AU" altLang="zh-CN" sz="2000" dirty="0">
                <a:ea typeface="宋体" panose="02010600030101010101" pitchFamily="2" charset="-122"/>
              </a:rPr>
              <a:t>  ForwardB = 01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323850" y="1773238"/>
            <a:ext cx="360363" cy="1871663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Datapath with Forwarding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78853" name="图片 5" descr="f4.5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147763"/>
            <a:ext cx="8207375" cy="5089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56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124585"/>
            <a:ext cx="7393940" cy="5194935"/>
          </a:xfrm>
          <a:prstGeom prst="rect">
            <a:avLst/>
          </a:prstGeom>
        </p:spPr>
      </p:pic>
      <p:sp>
        <p:nvSpPr>
          <p:cNvPr id="7987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98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Load-Use Data Hazard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9877" name="Oval 6"/>
          <p:cNvSpPr/>
          <p:nvPr/>
        </p:nvSpPr>
        <p:spPr>
          <a:xfrm rot="2714808">
            <a:off x="4532313" y="2605088"/>
            <a:ext cx="360362" cy="106997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8" name="AutoShape 7"/>
          <p:cNvSpPr/>
          <p:nvPr/>
        </p:nvSpPr>
        <p:spPr>
          <a:xfrm>
            <a:off x="6953250" y="2593975"/>
            <a:ext cx="1579563" cy="690563"/>
          </a:xfrm>
          <a:prstGeom prst="borderCallout1">
            <a:avLst>
              <a:gd name="adj1" fmla="val 45977"/>
              <a:gd name="adj2" fmla="val -5741"/>
              <a:gd name="adj3" fmla="val 61611"/>
              <a:gd name="adj4" fmla="val -1135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AU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Need to stall for one cycle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Load-Use Hazard Detection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Check when using instruction is decoded in ID stage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ALU operand register numbers in ID stage are given by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IF/ID.RegisterRs1, IF/ID.RegisterRs2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Load-use hazard when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ID/EX.MemRead and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((ID/EX.RegisterRd = IF/ID.RegisterRs1) or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(ID/EX.RegisterRd = IF/ID.RegisterRs2))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detected, stall and insert bubble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How to Stall the Pipeline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Force control values in ID/EX register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to 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EX, MEM and WB do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nop</a:t>
            </a:r>
            <a:r>
              <a:rPr lang="en-US" altLang="zh-CN" dirty="0">
                <a:ea typeface="宋体" panose="02010600030101010101" pitchFamily="2" charset="-122"/>
              </a:rPr>
              <a:t> (no-operation)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Prevent update of PC and IF/ID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Using instruction is decoded again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Following instruction is fetched again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1-cycle stall allows MEM to read data for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lw</a:t>
            </a:r>
            <a:endParaRPr lang="en-US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Can subsequently forward to EX stage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57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061085"/>
            <a:ext cx="8034020" cy="5167630"/>
          </a:xfrm>
          <a:prstGeom prst="rect">
            <a:avLst/>
          </a:prstGeom>
        </p:spPr>
      </p:pic>
      <p:sp>
        <p:nvSpPr>
          <p:cNvPr id="8294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29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Stall/Bubble in the Pipeline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2949" name="AutoShape 6"/>
          <p:cNvSpPr/>
          <p:nvPr/>
        </p:nvSpPr>
        <p:spPr>
          <a:xfrm>
            <a:off x="7235825" y="3068638"/>
            <a:ext cx="1579563" cy="690562"/>
          </a:xfrm>
          <a:prstGeom prst="borderCallout1">
            <a:avLst>
              <a:gd name="adj1" fmla="val 48079"/>
              <a:gd name="adj2" fmla="val -6662"/>
              <a:gd name="adj3" fmla="val 65384"/>
              <a:gd name="adj4" fmla="val -7260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AU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Stall inserted here</a:t>
            </a:r>
            <a:endParaRPr lang="en-AU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39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Datapath with Hazard Detection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pic>
        <p:nvPicPr>
          <p:cNvPr id="83972" name="图片 4" descr="f4.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125538"/>
            <a:ext cx="8135938" cy="4964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Stalls and Performance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>
          <a:xfrm>
            <a:off x="684213" y="1844675"/>
            <a:ext cx="8270875" cy="43926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Stalls reduce performance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But are required to get correct results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Compiler can arrange code to avoid hazards and stalls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Requires knowledge of the pipeline structure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4997" name="Text Box 4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The BIG Picture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.59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1917065"/>
            <a:ext cx="6135370" cy="4307205"/>
          </a:xfrm>
          <a:prstGeom prst="rect">
            <a:avLst/>
          </a:prstGeom>
        </p:spPr>
      </p:pic>
      <p:sp>
        <p:nvSpPr>
          <p:cNvPr id="86019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60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Branch Hazards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6021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905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branch outcome determined in MEM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6022" name="Text Box 4"/>
          <p:cNvSpPr txBox="1"/>
          <p:nvPr/>
        </p:nvSpPr>
        <p:spPr>
          <a:xfrm rot="5400000">
            <a:off x="7710488" y="1066800"/>
            <a:ext cx="2500312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§4.9 Control Hazards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3" name="AutoShape 6"/>
          <p:cNvSpPr/>
          <p:nvPr/>
        </p:nvSpPr>
        <p:spPr>
          <a:xfrm>
            <a:off x="2952750" y="6118225"/>
            <a:ext cx="501650" cy="330200"/>
          </a:xfrm>
          <a:prstGeom prst="borderCallout1">
            <a:avLst>
              <a:gd name="adj1" fmla="val 34616"/>
              <a:gd name="adj2" fmla="val 115190"/>
              <a:gd name="adj3" fmla="val -43269"/>
              <a:gd name="adj4" fmla="val 24335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4" name="Text Box 7"/>
          <p:cNvSpPr txBox="1"/>
          <p:nvPr/>
        </p:nvSpPr>
        <p:spPr>
          <a:xfrm>
            <a:off x="7451725" y="4010025"/>
            <a:ext cx="1244600" cy="1079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Flush these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instructions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(Set control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values to 0)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5" name="AutoShape 8"/>
          <p:cNvSpPr/>
          <p:nvPr/>
        </p:nvSpPr>
        <p:spPr>
          <a:xfrm>
            <a:off x="7092950" y="3644900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70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Reducing Branch Delay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7044" name="Rectangle 3"/>
          <p:cNvSpPr>
            <a:spLocks noGrp="1"/>
          </p:cNvSpPr>
          <p:nvPr>
            <p:ph idx="1"/>
          </p:nvPr>
        </p:nvSpPr>
        <p:spPr>
          <a:xfrm>
            <a:off x="539750" y="1125538"/>
            <a:ext cx="8415338" cy="51117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Move hardware to determine outcome to ID stage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Target address adder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Register comparator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Example: branch taken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36:  sub  x10, x4, x8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40:  beq  x1,  x3, 16	</a:t>
            </a:r>
            <a:r>
              <a:rPr lang="en-US" altLang="zh-CN" sz="1800" dirty="0">
                <a:ea typeface="宋体" panose="02010600030101010101" pitchFamily="2" charset="-122"/>
              </a:rPr>
              <a:t>//PC-relative branch  to 40+16*2=72</a:t>
            </a:r>
            <a:br>
              <a:rPr lang="en-US" altLang="zh-CN" sz="1600" dirty="0"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44:  and  x12, x2, x5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48:  or   x13, x2, x6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52:  add  x14, x4, x2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56:  sub  x15, x6, x7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...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72:  lw   x4, 50(x7)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806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Branch Taken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88068" name="图片 4" descr="f4.60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154113"/>
            <a:ext cx="8235950" cy="5011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909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Branch Taken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4.60-2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268730"/>
            <a:ext cx="7915275" cy="477139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01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Hazards for Branches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0116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2287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a comparison register is a destination of 2</a:t>
            </a:r>
            <a:r>
              <a:rPr lang="en-US" altLang="zh-CN" baseline="30000" dirty="0">
                <a:ea typeface="宋体" panose="02010600030101010101" pitchFamily="2" charset="-122"/>
              </a:rPr>
              <a:t>nd</a:t>
            </a:r>
            <a:r>
              <a:rPr lang="en-US" altLang="zh-CN" dirty="0">
                <a:ea typeface="宋体" panose="02010600030101010101" pitchFamily="2" charset="-122"/>
              </a:rPr>
              <a:t> or 3</a:t>
            </a:r>
            <a:r>
              <a:rPr lang="en-US" altLang="zh-CN" baseline="30000" dirty="0">
                <a:ea typeface="宋体" panose="02010600030101010101" pitchFamily="2" charset="-122"/>
              </a:rPr>
              <a:t>rd</a:t>
            </a:r>
            <a:r>
              <a:rPr lang="en-US" altLang="zh-CN" dirty="0">
                <a:ea typeface="宋体" panose="02010600030101010101" pitchFamily="2" charset="-122"/>
              </a:rPr>
              <a:t> preceding ALU instruction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0117" name="Rectangle 4"/>
          <p:cNvSpPr/>
          <p:nvPr/>
        </p:nvSpPr>
        <p:spPr>
          <a:xfrm>
            <a:off x="755650" y="3870325"/>
            <a:ext cx="32226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…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90118" name="Group 5"/>
          <p:cNvGrpSpPr/>
          <p:nvPr/>
        </p:nvGrpSpPr>
        <p:grpSpPr>
          <a:xfrm>
            <a:off x="3132138" y="2636838"/>
            <a:ext cx="3024187" cy="504825"/>
            <a:chOff x="2018" y="2341"/>
            <a:chExt cx="1905" cy="318"/>
          </a:xfrm>
        </p:grpSpPr>
        <p:sp>
          <p:nvSpPr>
            <p:cNvPr id="90155" name="Rectangle 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6" name="Rectangle 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7" name="Rectangle 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8" name="Rectangle 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9" name="Rectangle 1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60" name="Rectangle 1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61" name="Rectangle 1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62" name="Rectangle 1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63" name="Rectangle 1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0119" name="Group 15"/>
          <p:cNvGrpSpPr/>
          <p:nvPr/>
        </p:nvGrpSpPr>
        <p:grpSpPr>
          <a:xfrm>
            <a:off x="3779838" y="3213100"/>
            <a:ext cx="3024187" cy="504825"/>
            <a:chOff x="2018" y="2341"/>
            <a:chExt cx="1905" cy="318"/>
          </a:xfrm>
        </p:grpSpPr>
        <p:sp>
          <p:nvSpPr>
            <p:cNvPr id="90146" name="Rectangle 1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7" name="Rectangle 1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8" name="Rectangle 1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9" name="Rectangle 1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0" name="Rectangle 2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1" name="Rectangle 2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2" name="Rectangle 2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3" name="Rectangle 2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54" name="Rectangle 2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0120" name="Group 25"/>
          <p:cNvGrpSpPr/>
          <p:nvPr/>
        </p:nvGrpSpPr>
        <p:grpSpPr>
          <a:xfrm>
            <a:off x="4427538" y="3787775"/>
            <a:ext cx="3024187" cy="504825"/>
            <a:chOff x="2018" y="2341"/>
            <a:chExt cx="1905" cy="318"/>
          </a:xfrm>
        </p:grpSpPr>
        <p:sp>
          <p:nvSpPr>
            <p:cNvPr id="90137" name="Rectangle 2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8" name="Rectangle 2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9" name="Rectangle 2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0" name="Rectangle 2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1" name="Rectangle 3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2" name="Rectangle 3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3" name="Rectangle 3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4" name="Rectangle 3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5" name="Rectangle 3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0121" name="Group 35"/>
          <p:cNvGrpSpPr/>
          <p:nvPr/>
        </p:nvGrpSpPr>
        <p:grpSpPr>
          <a:xfrm>
            <a:off x="5076825" y="4364038"/>
            <a:ext cx="3024188" cy="504825"/>
            <a:chOff x="2018" y="2341"/>
            <a:chExt cx="1905" cy="318"/>
          </a:xfrm>
        </p:grpSpPr>
        <p:sp>
          <p:nvSpPr>
            <p:cNvPr id="90128" name="Rectangle 3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29" name="Rectangle 3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0" name="Rectangle 3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1" name="Rectangle 3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2" name="Rectangle 4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3" name="Rectangle 4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4" name="Rectangle 4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5" name="Rectangle 4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36" name="Rectangle 4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0122" name="Rectangle 45"/>
          <p:cNvSpPr/>
          <p:nvPr/>
        </p:nvSpPr>
        <p:spPr>
          <a:xfrm>
            <a:off x="755650" y="3294063"/>
            <a:ext cx="213677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x5, x6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0123" name="Rectangle 46"/>
          <p:cNvSpPr/>
          <p:nvPr/>
        </p:nvSpPr>
        <p:spPr>
          <a:xfrm>
            <a:off x="755650" y="2717800"/>
            <a:ext cx="21367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x2, x3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0124" name="Rectangle 47"/>
          <p:cNvSpPr/>
          <p:nvPr/>
        </p:nvSpPr>
        <p:spPr>
          <a:xfrm>
            <a:off x="755650" y="4446588"/>
            <a:ext cx="269557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0125" name="Line 48"/>
          <p:cNvSpPr/>
          <p:nvPr/>
        </p:nvSpPr>
        <p:spPr>
          <a:xfrm>
            <a:off x="5651500" y="2852738"/>
            <a:ext cx="433388" cy="172720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6" name="Line 49"/>
          <p:cNvSpPr/>
          <p:nvPr/>
        </p:nvSpPr>
        <p:spPr>
          <a:xfrm>
            <a:off x="5651500" y="3429000"/>
            <a:ext cx="433388" cy="1223963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7" name="Rectangle 50"/>
          <p:cNvSpPr/>
          <p:nvPr/>
        </p:nvSpPr>
        <p:spPr>
          <a:xfrm>
            <a:off x="684213" y="5157788"/>
            <a:ext cx="7772400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Can resolve using forwarding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11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Hazards for Branches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1140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3812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a comparison register is a destination of preceding ALU instruction or 2</a:t>
            </a:r>
            <a:r>
              <a:rPr lang="en-US" altLang="zh-CN" baseline="30000" dirty="0">
                <a:ea typeface="宋体" panose="02010600030101010101" pitchFamily="2" charset="-122"/>
              </a:rPr>
              <a:t>nd</a:t>
            </a:r>
            <a:r>
              <a:rPr lang="en-US" altLang="zh-CN" dirty="0">
                <a:ea typeface="宋体" panose="02010600030101010101" pitchFamily="2" charset="-122"/>
              </a:rPr>
              <a:t> preceding load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Need 1 stall cycle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1141" name="Rectangle 4"/>
          <p:cNvSpPr/>
          <p:nvPr/>
        </p:nvSpPr>
        <p:spPr>
          <a:xfrm>
            <a:off x="755650" y="4878388"/>
            <a:ext cx="17033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91142" name="Group 5"/>
          <p:cNvGrpSpPr/>
          <p:nvPr/>
        </p:nvGrpSpPr>
        <p:grpSpPr>
          <a:xfrm>
            <a:off x="3132138" y="3644900"/>
            <a:ext cx="3024187" cy="504825"/>
            <a:chOff x="2018" y="2341"/>
            <a:chExt cx="1905" cy="318"/>
          </a:xfrm>
        </p:grpSpPr>
        <p:sp>
          <p:nvSpPr>
            <p:cNvPr id="91175" name="Rectangle 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6" name="Rectangle 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7" name="Rectangle 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8" name="Rectangle 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9" name="Rectangle 1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0" name="Rectangle 1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1" name="Rectangle 1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2" name="Rectangle 1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3" name="Rectangle 1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1143" name="Group 15"/>
          <p:cNvGrpSpPr/>
          <p:nvPr/>
        </p:nvGrpSpPr>
        <p:grpSpPr>
          <a:xfrm>
            <a:off x="3779838" y="4221163"/>
            <a:ext cx="3024187" cy="504825"/>
            <a:chOff x="2018" y="2341"/>
            <a:chExt cx="1905" cy="318"/>
          </a:xfrm>
        </p:grpSpPr>
        <p:sp>
          <p:nvSpPr>
            <p:cNvPr id="91166" name="Rectangle 1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7" name="Rectangle 1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8" name="Rectangle 1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69" name="Rectangle 1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0" name="Rectangle 2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1" name="Rectangle 2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2" name="Rectangle 2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3" name="Rectangle 2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4" name="Rectangle 2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1144" name="Rectangle 25"/>
          <p:cNvSpPr/>
          <p:nvPr/>
        </p:nvSpPr>
        <p:spPr>
          <a:xfrm>
            <a:off x="4427538" y="4868863"/>
            <a:ext cx="431800" cy="3603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5" name="Rectangle 26"/>
          <p:cNvSpPr/>
          <p:nvPr/>
        </p:nvSpPr>
        <p:spPr>
          <a:xfrm>
            <a:off x="5075238" y="4868863"/>
            <a:ext cx="431800" cy="3603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6" name="Rectangle 27"/>
          <p:cNvSpPr/>
          <p:nvPr/>
        </p:nvSpPr>
        <p:spPr>
          <a:xfrm>
            <a:off x="49323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7" name="Rectangle 28"/>
          <p:cNvSpPr/>
          <p:nvPr/>
        </p:nvSpPr>
        <p:spPr>
          <a:xfrm>
            <a:off x="55800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8" name="Rectangle 29"/>
          <p:cNvSpPr/>
          <p:nvPr/>
        </p:nvSpPr>
        <p:spPr>
          <a:xfrm>
            <a:off x="62277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9" name="Rectangle 30"/>
          <p:cNvSpPr/>
          <p:nvPr/>
        </p:nvSpPr>
        <p:spPr>
          <a:xfrm>
            <a:off x="68754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0" name="Rectangle 31"/>
          <p:cNvSpPr/>
          <p:nvPr/>
        </p:nvSpPr>
        <p:spPr>
          <a:xfrm>
            <a:off x="5724525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1" name="Rectangle 32"/>
          <p:cNvSpPr/>
          <p:nvPr/>
        </p:nvSpPr>
        <p:spPr>
          <a:xfrm>
            <a:off x="63738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2" name="Rectangle 33"/>
          <p:cNvSpPr/>
          <p:nvPr/>
        </p:nvSpPr>
        <p:spPr>
          <a:xfrm>
            <a:off x="70215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3" name="Rectangle 34"/>
          <p:cNvSpPr/>
          <p:nvPr/>
        </p:nvSpPr>
        <p:spPr>
          <a:xfrm>
            <a:off x="76692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4" name="Rectangle 35"/>
          <p:cNvSpPr/>
          <p:nvPr/>
        </p:nvSpPr>
        <p:spPr>
          <a:xfrm>
            <a:off x="55816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5" name="Rectangle 36"/>
          <p:cNvSpPr/>
          <p:nvPr/>
        </p:nvSpPr>
        <p:spPr>
          <a:xfrm>
            <a:off x="62293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6" name="Rectangle 37"/>
          <p:cNvSpPr/>
          <p:nvPr/>
        </p:nvSpPr>
        <p:spPr>
          <a:xfrm>
            <a:off x="68770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7" name="Rectangle 38"/>
          <p:cNvSpPr/>
          <p:nvPr/>
        </p:nvSpPr>
        <p:spPr>
          <a:xfrm>
            <a:off x="75247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58" name="Rectangle 39"/>
          <p:cNvSpPr/>
          <p:nvPr/>
        </p:nvSpPr>
        <p:spPr>
          <a:xfrm>
            <a:off x="755650" y="4302125"/>
            <a:ext cx="21367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add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x5, x6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1159" name="Rectangle 40"/>
          <p:cNvSpPr/>
          <p:nvPr/>
        </p:nvSpPr>
        <p:spPr>
          <a:xfrm>
            <a:off x="755650" y="3725863"/>
            <a:ext cx="183642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lw 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addr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1160" name="Rectangle 41"/>
          <p:cNvSpPr/>
          <p:nvPr/>
        </p:nvSpPr>
        <p:spPr>
          <a:xfrm>
            <a:off x="755650" y="5454650"/>
            <a:ext cx="26955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x4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1161" name="Line 42"/>
          <p:cNvSpPr/>
          <p:nvPr/>
        </p:nvSpPr>
        <p:spPr>
          <a:xfrm>
            <a:off x="5651500" y="3860800"/>
            <a:ext cx="433388" cy="172720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162" name="Line 43"/>
          <p:cNvSpPr/>
          <p:nvPr/>
        </p:nvSpPr>
        <p:spPr>
          <a:xfrm>
            <a:off x="5651500" y="4437063"/>
            <a:ext cx="433388" cy="1223962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163" name="AutoShape 44"/>
          <p:cNvSpPr/>
          <p:nvPr/>
        </p:nvSpPr>
        <p:spPr>
          <a:xfrm>
            <a:off x="5724525" y="4940300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64" name="AutoShape 45"/>
          <p:cNvSpPr/>
          <p:nvPr/>
        </p:nvSpPr>
        <p:spPr>
          <a:xfrm>
            <a:off x="63722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65" name="AutoShape 46"/>
          <p:cNvSpPr/>
          <p:nvPr/>
        </p:nvSpPr>
        <p:spPr>
          <a:xfrm>
            <a:off x="70199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Hazards for Branches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64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3812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If a comparison register is a destination of immediately preceding load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Need 2 stall cycles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65" name="Rectangle 4"/>
          <p:cNvSpPr/>
          <p:nvPr/>
        </p:nvSpPr>
        <p:spPr>
          <a:xfrm>
            <a:off x="755650" y="4878388"/>
            <a:ext cx="17033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pSp>
        <p:nvGrpSpPr>
          <p:cNvPr id="92166" name="Group 5"/>
          <p:cNvGrpSpPr/>
          <p:nvPr/>
        </p:nvGrpSpPr>
        <p:grpSpPr>
          <a:xfrm>
            <a:off x="3132138" y="3644900"/>
            <a:ext cx="3024187" cy="504825"/>
            <a:chOff x="2018" y="2341"/>
            <a:chExt cx="1905" cy="318"/>
          </a:xfrm>
        </p:grpSpPr>
        <p:sp>
          <p:nvSpPr>
            <p:cNvPr id="92196" name="Rectangle 6"/>
            <p:cNvSpPr/>
            <p:nvPr/>
          </p:nvSpPr>
          <p:spPr>
            <a:xfrm>
              <a:off x="2018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IF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7" name="Rectangle 7"/>
            <p:cNvSpPr/>
            <p:nvPr/>
          </p:nvSpPr>
          <p:spPr>
            <a:xfrm>
              <a:off x="2426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ID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8" name="Rectangle 8"/>
            <p:cNvSpPr/>
            <p:nvPr/>
          </p:nvSpPr>
          <p:spPr>
            <a:xfrm>
              <a:off x="2835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9" name="Rectangle 9"/>
            <p:cNvSpPr/>
            <p:nvPr/>
          </p:nvSpPr>
          <p:spPr>
            <a:xfrm>
              <a:off x="3243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00" name="Rectangle 10"/>
            <p:cNvSpPr/>
            <p:nvPr/>
          </p:nvSpPr>
          <p:spPr>
            <a:xfrm>
              <a:off x="3651" y="2387"/>
              <a:ext cx="272" cy="22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WB</a:t>
              </a:r>
              <a:endParaRPr lang="en-AU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01" name="Rectangle 11"/>
            <p:cNvSpPr/>
            <p:nvPr/>
          </p:nvSpPr>
          <p:spPr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02" name="Rectangle 12"/>
            <p:cNvSpPr/>
            <p:nvPr/>
          </p:nvSpPr>
          <p:spPr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03" name="Rectangle 13"/>
            <p:cNvSpPr/>
            <p:nvPr/>
          </p:nvSpPr>
          <p:spPr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04" name="Rectangle 14"/>
            <p:cNvSpPr/>
            <p:nvPr/>
          </p:nvSpPr>
          <p:spPr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167" name="Rectangle 15"/>
          <p:cNvSpPr/>
          <p:nvPr/>
        </p:nvSpPr>
        <p:spPr>
          <a:xfrm>
            <a:off x="3779838" y="4294188"/>
            <a:ext cx="431800" cy="3603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68" name="Rectangle 16"/>
          <p:cNvSpPr/>
          <p:nvPr/>
        </p:nvSpPr>
        <p:spPr>
          <a:xfrm>
            <a:off x="4427538" y="4294188"/>
            <a:ext cx="431800" cy="3603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69" name="Rectangle 17"/>
          <p:cNvSpPr/>
          <p:nvPr/>
        </p:nvSpPr>
        <p:spPr>
          <a:xfrm>
            <a:off x="4284663" y="4221163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0" name="Rectangle 18"/>
          <p:cNvSpPr/>
          <p:nvPr/>
        </p:nvSpPr>
        <p:spPr>
          <a:xfrm>
            <a:off x="4932363" y="4221163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1" name="Rectangle 19"/>
          <p:cNvSpPr/>
          <p:nvPr/>
        </p:nvSpPr>
        <p:spPr>
          <a:xfrm>
            <a:off x="5580063" y="4221163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2" name="Rectangle 20"/>
          <p:cNvSpPr/>
          <p:nvPr/>
        </p:nvSpPr>
        <p:spPr>
          <a:xfrm>
            <a:off x="6227763" y="4221163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3" name="Rectangle 21"/>
          <p:cNvSpPr/>
          <p:nvPr/>
        </p:nvSpPr>
        <p:spPr>
          <a:xfrm>
            <a:off x="5075238" y="4868863"/>
            <a:ext cx="431800" cy="3603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4" name="Rectangle 22"/>
          <p:cNvSpPr/>
          <p:nvPr/>
        </p:nvSpPr>
        <p:spPr>
          <a:xfrm>
            <a:off x="49323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5" name="Rectangle 23"/>
          <p:cNvSpPr/>
          <p:nvPr/>
        </p:nvSpPr>
        <p:spPr>
          <a:xfrm>
            <a:off x="55800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6" name="Rectangle 24"/>
          <p:cNvSpPr/>
          <p:nvPr/>
        </p:nvSpPr>
        <p:spPr>
          <a:xfrm>
            <a:off x="62277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7" name="Rectangle 25"/>
          <p:cNvSpPr/>
          <p:nvPr/>
        </p:nvSpPr>
        <p:spPr>
          <a:xfrm>
            <a:off x="6875463" y="4795838"/>
            <a:ext cx="71437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8" name="Rectangle 26"/>
          <p:cNvSpPr/>
          <p:nvPr/>
        </p:nvSpPr>
        <p:spPr>
          <a:xfrm>
            <a:off x="5724525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79" name="Rectangle 27"/>
          <p:cNvSpPr/>
          <p:nvPr/>
        </p:nvSpPr>
        <p:spPr>
          <a:xfrm>
            <a:off x="63738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0" name="Rectangle 28"/>
          <p:cNvSpPr/>
          <p:nvPr/>
        </p:nvSpPr>
        <p:spPr>
          <a:xfrm>
            <a:off x="70215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1" name="Rectangle 29"/>
          <p:cNvSpPr/>
          <p:nvPr/>
        </p:nvSpPr>
        <p:spPr>
          <a:xfrm>
            <a:off x="7669213" y="5445125"/>
            <a:ext cx="43180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2" name="Rectangle 30"/>
          <p:cNvSpPr/>
          <p:nvPr/>
        </p:nvSpPr>
        <p:spPr>
          <a:xfrm>
            <a:off x="55816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3" name="Rectangle 31"/>
          <p:cNvSpPr/>
          <p:nvPr/>
        </p:nvSpPr>
        <p:spPr>
          <a:xfrm>
            <a:off x="62293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4" name="Rectangle 32"/>
          <p:cNvSpPr/>
          <p:nvPr/>
        </p:nvSpPr>
        <p:spPr>
          <a:xfrm>
            <a:off x="68770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5" name="Rectangle 33"/>
          <p:cNvSpPr/>
          <p:nvPr/>
        </p:nvSpPr>
        <p:spPr>
          <a:xfrm>
            <a:off x="7524750" y="5372100"/>
            <a:ext cx="71438" cy="5048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6" name="Rectangle 34"/>
          <p:cNvSpPr/>
          <p:nvPr/>
        </p:nvSpPr>
        <p:spPr>
          <a:xfrm>
            <a:off x="755650" y="4302125"/>
            <a:ext cx="17033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stalled</a:t>
            </a:r>
            <a:endParaRPr lang="en-AU" altLang="zh-CN" sz="1800" dirty="0">
              <a:solidFill>
                <a:schemeClr val="hlink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87" name="Rectangle 35"/>
          <p:cNvSpPr/>
          <p:nvPr/>
        </p:nvSpPr>
        <p:spPr>
          <a:xfrm>
            <a:off x="755650" y="3725863"/>
            <a:ext cx="183642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lw 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addr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88" name="Rectangle 36"/>
          <p:cNvSpPr/>
          <p:nvPr/>
        </p:nvSpPr>
        <p:spPr>
          <a:xfrm>
            <a:off x="755650" y="5454650"/>
            <a:ext cx="26955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beq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x1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x0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target</a:t>
            </a:r>
            <a:endParaRPr lang="en-AU" altLang="zh-CN" sz="18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2189" name="Line 37"/>
          <p:cNvSpPr/>
          <p:nvPr/>
        </p:nvSpPr>
        <p:spPr>
          <a:xfrm>
            <a:off x="5651500" y="3860800"/>
            <a:ext cx="433388" cy="172720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0" name="AutoShape 38"/>
          <p:cNvSpPr/>
          <p:nvPr/>
        </p:nvSpPr>
        <p:spPr>
          <a:xfrm>
            <a:off x="5724525" y="4940300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1" name="AutoShape 39"/>
          <p:cNvSpPr/>
          <p:nvPr/>
        </p:nvSpPr>
        <p:spPr>
          <a:xfrm>
            <a:off x="63722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2" name="AutoShape 40"/>
          <p:cNvSpPr/>
          <p:nvPr/>
        </p:nvSpPr>
        <p:spPr>
          <a:xfrm>
            <a:off x="70199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3" name="AutoShape 41"/>
          <p:cNvSpPr/>
          <p:nvPr/>
        </p:nvSpPr>
        <p:spPr>
          <a:xfrm>
            <a:off x="5076825" y="4364038"/>
            <a:ext cx="360363" cy="287337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4" name="AutoShape 42"/>
          <p:cNvSpPr/>
          <p:nvPr/>
        </p:nvSpPr>
        <p:spPr>
          <a:xfrm>
            <a:off x="5724525" y="4364038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5" name="AutoShape 43"/>
          <p:cNvSpPr/>
          <p:nvPr/>
        </p:nvSpPr>
        <p:spPr>
          <a:xfrm>
            <a:off x="6372225" y="4364038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Dynamic Branch Prediction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318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 deeper and superscalar pipelines, branch penalty is more significant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Use dynamic prediction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Branch prediction buffer (aka branch history table)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Indexed by recent branch instruction addresses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Stores outcome (taken/not taken)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To execute a branch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Check table, expect the same outcome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Start fetching from fall-through or target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If wrong, flush pipeline and flip prediction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4211" name="Rectangle 2"/>
          <p:cNvSpPr/>
          <p:nvPr/>
        </p:nvSpPr>
        <p:spPr>
          <a:xfrm>
            <a:off x="2700338" y="3140075"/>
            <a:ext cx="2447925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2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1-Bit Predictor: Shortcoming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4213" name="Rectangle 4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71913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Inner loop branches mispredicted twice!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4214" name="Text Box 5"/>
          <p:cNvSpPr txBox="1"/>
          <p:nvPr/>
        </p:nvSpPr>
        <p:spPr>
          <a:xfrm>
            <a:off x="1617663" y="1916113"/>
            <a:ext cx="3536950" cy="2225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outer: …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inner: …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 beq …, …, inner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 …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 beq …, …, outer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4215" name="Line 6"/>
          <p:cNvSpPr/>
          <p:nvPr/>
        </p:nvSpPr>
        <p:spPr>
          <a:xfrm>
            <a:off x="5219700" y="3378200"/>
            <a:ext cx="360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6" name="Line 7"/>
          <p:cNvSpPr/>
          <p:nvPr/>
        </p:nvSpPr>
        <p:spPr>
          <a:xfrm flipV="1">
            <a:off x="5580063" y="273050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7" name="Line 8"/>
          <p:cNvSpPr/>
          <p:nvPr/>
        </p:nvSpPr>
        <p:spPr>
          <a:xfrm flipH="1">
            <a:off x="4356100" y="2730500"/>
            <a:ext cx="12239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18" name="Line 9"/>
          <p:cNvSpPr/>
          <p:nvPr/>
        </p:nvSpPr>
        <p:spPr>
          <a:xfrm>
            <a:off x="5219700" y="3954463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10"/>
          <p:cNvSpPr/>
          <p:nvPr/>
        </p:nvSpPr>
        <p:spPr>
          <a:xfrm flipV="1">
            <a:off x="5940425" y="2082800"/>
            <a:ext cx="0" cy="18716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0" name="Line 11"/>
          <p:cNvSpPr/>
          <p:nvPr/>
        </p:nvSpPr>
        <p:spPr>
          <a:xfrm flipH="1">
            <a:off x="4356100" y="2082800"/>
            <a:ext cx="1584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21" name="Rectangle 12"/>
          <p:cNvSpPr/>
          <p:nvPr/>
        </p:nvSpPr>
        <p:spPr>
          <a:xfrm>
            <a:off x="684213" y="4364038"/>
            <a:ext cx="7772400" cy="1873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Mispredict as taken on last iteration of inner loop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Then mispredict as not taken on first iteration of inner loop next time around</a:t>
            </a:r>
            <a:endParaRPr lang="en-AU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95235" name="Picture 6" descr="f04-63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349500"/>
            <a:ext cx="6132513" cy="3722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2-Bit Predictor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52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Only change prediction on two successive mispredictions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Calculating the Branch Target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62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Even with predictor, still need to calculate the target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1-cycle penalty for a taken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Branch target buffer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Cache of target addresses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Indexed by PC when instruction fetched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If hit and instruction is branch predicted taken, can fetch target immediately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r>
              <a:rPr lang="en-US" altLang="zh-CN" dirty="0">
                <a:ea typeface="宋体" panose="02010600030101010101" pitchFamily="2" charset="-122"/>
              </a:rPr>
              <a:t>Delayed Branches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7283" name="Rectangle 3"/>
          <p:cNvSpPr>
            <a:spLocks noGrp="1"/>
          </p:cNvSpPr>
          <p:nvPr>
            <p:ph idx="1"/>
          </p:nvPr>
        </p:nvSpPr>
        <p:spPr>
          <a:xfrm>
            <a:off x="457200" y="1071563"/>
            <a:ext cx="8458200" cy="5357812"/>
          </a:xfrm>
        </p:spPr>
        <p:txBody>
          <a:bodyPr vert="horz" wrap="square" lIns="91440" tIns="45720" rIns="91440" bIns="45720" anchor="t" anchorCtr="0"/>
          <a:p>
            <a:r>
              <a:rPr lang="en-US" altLang="zh-CN" sz="2400" dirty="0">
                <a:ea typeface="宋体" panose="02010600030101010101" pitchFamily="2" charset="-122"/>
              </a:rPr>
              <a:t>If the branch hardware has been moved to the ID stage, then we can eliminate all branch stalls with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delayed branches</a:t>
            </a:r>
            <a:r>
              <a:rPr lang="en-US" altLang="zh-CN" sz="2400" dirty="0">
                <a:ea typeface="宋体" panose="02010600030101010101" pitchFamily="2" charset="-122"/>
              </a:rPr>
              <a:t> which are defined as always executing the next sequential instruction after the branch instruction – the branch takes effect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after</a:t>
            </a:r>
            <a:r>
              <a:rPr lang="en-US" altLang="zh-CN" sz="2400" dirty="0">
                <a:ea typeface="宋体" panose="02010600030101010101" pitchFamily="2" charset="-122"/>
              </a:rPr>
              <a:t> that next instruction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>
                <a:ea typeface="宋体" panose="02010600030101010101" pitchFamily="2" charset="-122"/>
              </a:rPr>
              <a:t>MIPS compiler moves an instruction to immediately after the branch that is not affected by the branch (a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safe</a:t>
            </a:r>
            <a:r>
              <a:rPr lang="en-US" altLang="zh-CN" sz="2000" dirty="0">
                <a:ea typeface="宋体" panose="02010600030101010101" pitchFamily="2" charset="-122"/>
              </a:rPr>
              <a:t> instruction) thereby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hiding</a:t>
            </a:r>
            <a:r>
              <a:rPr lang="en-US" altLang="zh-CN" sz="2000" dirty="0">
                <a:ea typeface="宋体" panose="02010600030101010101" pitchFamily="2" charset="-122"/>
              </a:rPr>
              <a:t> the branch delay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 dirty="0">
                <a:ea typeface="宋体" panose="02010600030101010101" pitchFamily="2" charset="-122"/>
              </a:rPr>
              <a:t>With deeper pipelines, the branch delay grows requiring more than one delay slot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3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altLang="zh-CN" sz="2000" dirty="0">
                <a:ea typeface="宋体" panose="02010600030101010101" pitchFamily="2" charset="-122"/>
              </a:rPr>
              <a:t>Delayed branches have lost popularity compared to more expensive but more flexible (dynamic) hardware branch prediction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>
              <a:spcBef>
                <a:spcPct val="3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altLang="zh-CN" sz="2000" dirty="0">
                <a:ea typeface="宋体" panose="02010600030101010101" pitchFamily="2" charset="-122"/>
              </a:rPr>
              <a:t>Growth in available transistors has made hardware branch prediction relatively cheaper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n"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83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Exceptions and Interrupts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83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“Unexpected” events requiring change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in flow of control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Different ISAs use the terms differently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Exception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Arises within the CPU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e.g., undefined opcode, overflow, syscall, …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Interrupt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From an external I/O controller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Dealing with them without sacrificing performance is hard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98309" name="Text Box 4"/>
          <p:cNvSpPr txBox="1"/>
          <p:nvPr/>
        </p:nvSpPr>
        <p:spPr>
          <a:xfrm rot="5400000">
            <a:off x="7891145" y="885190"/>
            <a:ext cx="211137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§4.10 Exceptions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93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Handling Exceptions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93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Save PC of offending (or interrupted) instruction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 RISC-V: Supervisor Exception Program Counter (SEPC)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Save indication of the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 RISC-V : Cause register (SCAUSE)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We’ll assume 1-bit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0 for undefined instruction, 1 for system error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Jump to handler at 0000 0000 1C09 0000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An Alternate Mechanism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035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Vectored Interrupts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Handler address determined by the cause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Example: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Undefined instruction:	00 0100 0000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 error:		01 1000 0000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…:				11 1000 0000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Jump to real handler by the cause of the exception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13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Handler Actions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13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Read cause, and transfer to relevant handler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Determine action required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restartable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Take corrective action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SEPC to return to program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Otherwise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Terminate program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Report error using SEPC, cause, …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Exceptions in a Pipeline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24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Another form of control hazard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Consider overflow on add in EX stage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x1, x2, x1</a:t>
            </a:r>
            <a:endParaRPr lang="en-US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Prevent  x1 from being clobbered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Complete previous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Flush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</a:t>
            </a:r>
            <a:r>
              <a:rPr lang="en-US" altLang="zh-CN" dirty="0">
                <a:ea typeface="宋体" panose="02010600030101010101" pitchFamily="2" charset="-122"/>
              </a:rPr>
              <a:t> and subsequent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Set Cause and SEPC register values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Transfer control to handler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Similar to mispredicted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much of the same hardware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34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Pipeline with Exceptions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03428" name="图片 5" descr="f4.6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125538"/>
            <a:ext cx="8207375" cy="4935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44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Exception Properties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44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Restartable exceptions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Pipeline can flush the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Handler executes, then returns to the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Refetched and executed from scratch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PC saved in SEPC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SCAUSE register records the highest priority exception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54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Multiple Exceptions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54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Pipelining overlaps multiple instructions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Could have multiple exceptions at once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Simple approach: deal with exception from earliest instruction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Flush subsequent instructions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“Precise” exceptions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 complex pipelines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Multiple instructions issued per cycle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Out-of-order completion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Maintaining precise exceptions is difficult!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64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Imprecise Exceptions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65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Just stop pipeline and save state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Including exception cause(s)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Let the handler work out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Which instruction(s) had exceptions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Which to complete or flush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May require “manual” completion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Simplifies hardware, but more complex handler software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Not feasible for complex multiple-issue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out-of-order pipelines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75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Instruction-Level Parallelism (ILP)</a:t>
            </a:r>
            <a:endParaRPr lang="en-AU" altLang="zh-CN" sz="3600" dirty="0">
              <a:ea typeface="宋体" panose="02010600030101010101" pitchFamily="2" charset="-122"/>
            </a:endParaRPr>
          </a:p>
        </p:txBody>
      </p:sp>
      <p:sp>
        <p:nvSpPr>
          <p:cNvPr id="1075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Pipelining: executing multiple instructions in parallel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To increase ILP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Deeper pipeline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Less work per stage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 shorter clock cycle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Multiple issue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Replicate pipeline stages  multiple pipelines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Start multiple instructions per clock cycle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CPI &lt; 1, so use Instructions Per Cycle (IPC)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E.g., 4GHz 4-way multiple-issue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  <a:sym typeface="Symbol" panose="05050102010706020507" pitchFamily="18" charset="2"/>
              </a:rPr>
              <a:t>16 BIPS, peak CPI = 0.25, peak IPC = 4</a:t>
            </a:r>
            <a:endParaRPr lang="en-US" altLang="zh-CN" sz="1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But dependencies reduce this in practice</a:t>
            </a:r>
            <a:endParaRPr lang="en-US" altLang="zh-CN" sz="20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7525" name="Text Box 4"/>
          <p:cNvSpPr txBox="1"/>
          <p:nvPr/>
        </p:nvSpPr>
        <p:spPr>
          <a:xfrm rot="5400000">
            <a:off x="7146925" y="1628775"/>
            <a:ext cx="362585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§4.11 </a:t>
            </a:r>
            <a:r>
              <a:rPr lang="en-AU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Parallelism </a:t>
            </a:r>
            <a:r>
              <a:rPr lang="en-US" altLang="en-AU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via</a:t>
            </a:r>
            <a:r>
              <a:rPr lang="en-AU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Instruction</a:t>
            </a:r>
            <a:r>
              <a:rPr lang="en-US" altLang="en-AU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en-AU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Multiple Issue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85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Static multiple issue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Compiler groups instructions to be issued together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Packages them into “issue slots”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Compiler detects and avoids hazards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Dynamic multiple issue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CPU examines instruction stream and chooses instructions to issue each cycle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Compiler can help by reordering instructions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CPU resolves hazards using advanced techniques at runtime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95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Speculation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95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“Guess” what to do with an instruction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Start operation as soon as possible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Check whether guess was right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If so, complete the operation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If not, roll-back and do the right thing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Common to static and dynamic multiple issue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Speculate on branch outcome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Roll back if path taken is different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Speculate on load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Roll back if location is updated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05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Compiler/Hardware Speculation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105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Compiler can reorder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move load before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include “fix-up” instructions to recover from incorrect guess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Hardware can look ahead for instructions to execute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Buffer results until it determines they are actually needed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Flush buffers on incorrect speculation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16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Speculation and Exceptions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162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if exception occurs on a speculatively executed instruction?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e.g., speculative load before null-pointer check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Static speculation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add ISA support for deferring exceptions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Dynamic speculation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buffer exceptions until instruction completion (which may not occur)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26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Static Multiple Issue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264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Compiler groups instructions into “issue packets”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Group of instructions that can be issued on a single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Determined by pipeline resources required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Think of an issue packet as a very long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Specifies multiple concurrent operations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Very Long Instruction Word (</a:t>
            </a:r>
            <a:r>
              <a:rPr lang="en-US" altLang="zh-CN" dirty="0">
                <a:ea typeface="宋体" panose="02010600030101010101" pitchFamily="2" charset="-122"/>
              </a:rPr>
              <a:t>VLIW)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36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Scheduling Static Multiple Issue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136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Compiler must remove some/all hazards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Reorder instructions into issue packets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No dependencies with a packet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Possibly some dependencies between packets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Varies between ISAs; compiler must know!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Pad with nop if necessary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46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RISC-V with Static Dual Issue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4692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27654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Two-issue packets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One ALU/branch instruction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One load/store instruction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64-bit aligned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ALU/branch, then load/store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Pad an unused instruction with nop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  <p:graphicFrame>
        <p:nvGraphicFramePr>
          <p:cNvPr id="493656" name="Group 88"/>
          <p:cNvGraphicFramePr>
            <a:graphicFrameLocks noGrp="1"/>
          </p:cNvGraphicFramePr>
          <p:nvPr/>
        </p:nvGraphicFramePr>
        <p:xfrm>
          <a:off x="1258888" y="4005263"/>
          <a:ext cx="7231063" cy="2133600"/>
        </p:xfrm>
        <a:graphic>
          <a:graphicData uri="http://schemas.openxmlformats.org/drawingml/2006/table">
            <a:tbl>
              <a:tblPr/>
              <a:tblGrid>
                <a:gridCol w="936625"/>
                <a:gridCol w="1547812"/>
                <a:gridCol w="677863"/>
                <a:gridCol w="677862"/>
                <a:gridCol w="679450"/>
                <a:gridCol w="677863"/>
                <a:gridCol w="677862"/>
                <a:gridCol w="677863"/>
                <a:gridCol w="677862"/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  <a:endParaRPr kumimoji="0" lang="en-AU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 type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Pipeline Stages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+ 4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+ 12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+ 16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 + 20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WB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57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RISC-V with Static Dual Issue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15716" name="图片 4" descr="f4.6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38" y="1136650"/>
            <a:ext cx="8556625" cy="502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6739" name="Rectangle 2"/>
          <p:cNvSpPr>
            <a:spLocks noGrp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Hazards in the Dual-Issue RISC-V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1167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More instructions executing in parallel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 data hazard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Forwarding avoided stalls with single-issue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Now can’t use ALU result in load/store in same packet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add  </a:t>
            </a:r>
            <a:r>
              <a:rPr lang="en-US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x5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x0, x1</a:t>
            </a:r>
            <a:b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lw   x2, 0(</a:t>
            </a:r>
            <a:r>
              <a:rPr lang="en-US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x5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Split into two packets, effectively a stall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Load-use hazard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Still one cycle use latency, but now two instructions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More aggressive scheduling required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77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Scheduling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7764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6905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Schedule this for dual-issue RISC-V</a:t>
            </a:r>
            <a:endParaRPr lang="en-AU" altLang="zh-CN" sz="24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17765" name="Rectangle 4"/>
          <p:cNvSpPr/>
          <p:nvPr/>
        </p:nvSpPr>
        <p:spPr>
          <a:xfrm>
            <a:off x="1258888" y="1989138"/>
            <a:ext cx="7834630" cy="16300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Loop: l</a:t>
            </a:r>
            <a:r>
              <a:rPr lang="en-US" altLang="en-AU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w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</a:t>
            </a:r>
            <a:r>
              <a:rPr lang="en-AU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0(x20)      // x31=array element</a:t>
            </a:r>
            <a:b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add  </a:t>
            </a:r>
            <a:r>
              <a:rPr lang="en-AU" altLang="zh-CN" sz="2000" dirty="0">
                <a:solidFill>
                  <a:srgbClr val="0099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AU" altLang="zh-CN" sz="2000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x21    // add scalar in x21</a:t>
            </a:r>
            <a:b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s</a:t>
            </a:r>
            <a:r>
              <a:rPr lang="en-US" altLang="en-AU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w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</a:t>
            </a:r>
            <a:r>
              <a:rPr lang="en-AU" altLang="zh-CN" sz="2000" dirty="0">
                <a:solidFill>
                  <a:srgbClr val="0099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en-AU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(x20)      // store result</a:t>
            </a:r>
            <a:b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addi </a:t>
            </a:r>
            <a:r>
              <a:rPr lang="en-AU" altLang="zh-CN" sz="2000" dirty="0">
                <a:solidFill>
                  <a:srgbClr val="A47B38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x20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x20,–</a:t>
            </a:r>
            <a:r>
              <a:rPr lang="en-US" altLang="en-AU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4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// decrement pointer</a:t>
            </a:r>
            <a:b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    blt  </a:t>
            </a:r>
            <a:r>
              <a:rPr lang="en-AU" altLang="zh-CN" sz="2000" dirty="0">
                <a:solidFill>
                  <a:srgbClr val="A47B38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x22</a:t>
            </a: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, x20, Loop   // branch if x20 &gt; x22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499754" name="Group 4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7450" y="3789363"/>
          <a:ext cx="7272338" cy="1676400"/>
        </p:xfrm>
        <a:graphic>
          <a:graphicData uri="http://schemas.openxmlformats.org/drawingml/2006/table">
            <a:tbl>
              <a:tblPr/>
              <a:tblGrid>
                <a:gridCol w="817563"/>
                <a:gridCol w="2803525"/>
                <a:gridCol w="2803525"/>
                <a:gridCol w="847725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cycle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Loop: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0(x20)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addi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x20, –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blt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x22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x20, Loop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7798" name="Rectangle 37"/>
          <p:cNvSpPr/>
          <p:nvPr/>
        </p:nvSpPr>
        <p:spPr>
          <a:xfrm>
            <a:off x="1182688" y="5661025"/>
            <a:ext cx="7772400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IPC = 5/4 = 1.25 (c.f. peak IPC = 2)</a:t>
            </a: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87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Loop Unrolling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878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Replicate loop body to expose more parallelism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Reduces loop-control overhead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 different registers per replication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Called “register renaming”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Avoid loop-carried “anti-dependencies”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Store followed by a load of the same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Aka “name dependence” </a:t>
            </a:r>
            <a:endParaRPr lang="en-US" altLang="zh-CN" dirty="0">
              <a:ea typeface="宋体" panose="02010600030101010101" pitchFamily="2" charset="-122"/>
            </a:endParaRPr>
          </a:p>
          <a:p>
            <a:pPr lvl="3" eaLnBrk="1" hangingPunct="1"/>
            <a:r>
              <a:rPr lang="en-US" altLang="zh-CN" dirty="0">
                <a:ea typeface="宋体" panose="02010600030101010101" pitchFamily="2" charset="-122"/>
              </a:rPr>
              <a:t>Reuse of a register name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98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Loop Unrolling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9812" name="Rectangle 3"/>
          <p:cNvSpPr>
            <a:spLocks noGrp="1"/>
          </p:cNvSpPr>
          <p:nvPr>
            <p:ph idx="1"/>
          </p:nvPr>
        </p:nvSpPr>
        <p:spPr>
          <a:xfrm>
            <a:off x="684213" y="4889500"/>
            <a:ext cx="8270875" cy="13477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IPC = 14/8 = 1.75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Closer to 2, but at cost of registers and code size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503867" name="Group 5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7450" y="1557338"/>
          <a:ext cx="7272338" cy="3017838"/>
        </p:xfrm>
        <a:graphic>
          <a:graphicData uri="http://schemas.openxmlformats.org/drawingml/2006/table">
            <a:tbl>
              <a:tblPr/>
              <a:tblGrid>
                <a:gridCol w="817563"/>
                <a:gridCol w="2803525"/>
                <a:gridCol w="2803525"/>
                <a:gridCol w="847725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ALU/branch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Load/store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cycle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Loop: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addi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x20,–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alt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0(x20)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x29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x29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x29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x21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x29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nop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x30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blt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x22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x20, Loop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x31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AU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(x20)</a:t>
                      </a:r>
                      <a:endParaRPr kumimoji="0" lang="en-AU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08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Dynamic Multiple Issue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08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“Superscalar” processors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CPU decides whether to issue 0, 1, 2, … each cycle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Avoiding structural and data hazards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Avoids the need for compiler scheduling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Though it may still help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Code semantics ensured by the CPU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18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Dynamic Pipeline Scheduling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18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Allow the CPU to execute instructions out of order to avoid stalls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But commit result to registers in order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l</a:t>
            </a:r>
            <a:r>
              <a:rPr lang="en-US" altLang="fr-FR" dirty="0">
                <a:latin typeface="Lucida Console" panose="020B0609040504020204" pitchFamily="49" charset="0"/>
                <a:ea typeface="宋体" panose="02010600030101010101" pitchFamily="2" charset="-122"/>
              </a:rPr>
              <a:t>w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    </a:t>
            </a:r>
            <a:r>
              <a:rPr lang="fr-FR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0(x21)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   x1, </a:t>
            </a:r>
            <a:r>
              <a:rPr lang="fr-FR" altLang="zh-CN" dirty="0">
                <a:solidFill>
                  <a:schemeClr val="hlink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x31</a:t>
            </a: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, x2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sub   x23, x23, x3</a:t>
            </a:r>
            <a:b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fr-FR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andi  x5, x23, 20</a:t>
            </a:r>
            <a:endParaRPr lang="fr-FR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start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sub</a:t>
            </a:r>
            <a:r>
              <a:rPr lang="en-US" altLang="zh-CN" dirty="0">
                <a:ea typeface="宋体" panose="02010600030101010101" pitchFamily="2" charset="-122"/>
              </a:rPr>
              <a:t> while </a:t>
            </a:r>
            <a:r>
              <a:rPr lang="en-US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add</a:t>
            </a:r>
            <a:r>
              <a:rPr lang="en-US" altLang="zh-CN" dirty="0">
                <a:ea typeface="宋体" panose="02010600030101010101" pitchFamily="2" charset="-122"/>
              </a:rPr>
              <a:t> is waiting for l</a:t>
            </a:r>
            <a:r>
              <a:rPr lang="en-US" altLang="zh-CN" dirty="0">
                <a:ea typeface="宋体" panose="02010600030101010101" pitchFamily="2" charset="-122"/>
              </a:rPr>
              <a:t>w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2883" name="Freeform 9"/>
          <p:cNvSpPr/>
          <p:nvPr/>
        </p:nvSpPr>
        <p:spPr>
          <a:xfrm>
            <a:off x="5295900" y="3194050"/>
            <a:ext cx="1065213" cy="1362075"/>
          </a:xfrm>
          <a:custGeom>
            <a:avLst/>
            <a:gdLst>
              <a:gd name="txL" fmla="*/ 0 w 671"/>
              <a:gd name="txT" fmla="*/ 0 h 858"/>
              <a:gd name="txR" fmla="*/ 671 w 671"/>
              <a:gd name="txB" fmla="*/ 858 h 85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671" h="858">
                <a:moveTo>
                  <a:pt x="0" y="858"/>
                </a:moveTo>
                <a:cubicBezTo>
                  <a:pt x="95" y="838"/>
                  <a:pt x="469" y="850"/>
                  <a:pt x="570" y="738"/>
                </a:cubicBezTo>
                <a:cubicBezTo>
                  <a:pt x="671" y="626"/>
                  <a:pt x="652" y="309"/>
                  <a:pt x="606" y="186"/>
                </a:cubicBezTo>
                <a:cubicBezTo>
                  <a:pt x="560" y="63"/>
                  <a:pt x="359" y="39"/>
                  <a:pt x="294" y="0"/>
                </a:cubicBezTo>
              </a:path>
            </a:pathLst>
          </a:custGeom>
          <a:noFill/>
          <a:ln w="28575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2884" name="Freeform 13"/>
          <p:cNvSpPr/>
          <p:nvPr/>
        </p:nvSpPr>
        <p:spPr>
          <a:xfrm>
            <a:off x="4257675" y="3041650"/>
            <a:ext cx="2459038" cy="2152650"/>
          </a:xfrm>
          <a:custGeom>
            <a:avLst/>
            <a:gdLst>
              <a:gd name="txL" fmla="*/ 0 w 1549"/>
              <a:gd name="txT" fmla="*/ 0 h 1356"/>
              <a:gd name="txR" fmla="*/ 1549 w 1549"/>
              <a:gd name="txB" fmla="*/ 1356 h 1356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549" h="1356">
                <a:moveTo>
                  <a:pt x="0" y="1356"/>
                </a:moveTo>
                <a:cubicBezTo>
                  <a:pt x="219" y="1298"/>
                  <a:pt x="1079" y="1198"/>
                  <a:pt x="1314" y="1008"/>
                </a:cubicBezTo>
                <a:cubicBezTo>
                  <a:pt x="1549" y="818"/>
                  <a:pt x="1466" y="384"/>
                  <a:pt x="1410" y="216"/>
                </a:cubicBezTo>
                <a:cubicBezTo>
                  <a:pt x="1354" y="48"/>
                  <a:pt x="1068" y="45"/>
                  <a:pt x="978" y="0"/>
                </a:cubicBezTo>
              </a:path>
            </a:pathLst>
          </a:custGeom>
          <a:noFill/>
          <a:ln w="28575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2885" name="Rectangle 14"/>
          <p:cNvSpPr/>
          <p:nvPr/>
        </p:nvSpPr>
        <p:spPr>
          <a:xfrm>
            <a:off x="5580063" y="3717925"/>
            <a:ext cx="1512887" cy="2873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Dynamically Scheduled CPU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122887" name="Picture 4" descr="f04-72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412875"/>
            <a:ext cx="6550025" cy="4268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8" name="AutoShape 11"/>
          <p:cNvSpPr/>
          <p:nvPr/>
        </p:nvSpPr>
        <p:spPr>
          <a:xfrm>
            <a:off x="7235825" y="4292600"/>
            <a:ext cx="1727200" cy="936625"/>
          </a:xfrm>
          <a:prstGeom prst="borderCallout1">
            <a:avLst>
              <a:gd name="adj1" fmla="val 12204"/>
              <a:gd name="adj2" fmla="val -4412"/>
              <a:gd name="adj3" fmla="val 6273"/>
              <a:gd name="adj4" fmla="val -5514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ctr" anchorCtr="0"/>
          <a:p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Results also sent to any waiting reservation stations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9" name="AutoShape 12"/>
          <p:cNvSpPr/>
          <p:nvPr/>
        </p:nvSpPr>
        <p:spPr>
          <a:xfrm>
            <a:off x="323850" y="5229225"/>
            <a:ext cx="1692275" cy="649288"/>
          </a:xfrm>
          <a:prstGeom prst="borderCallout1">
            <a:avLst>
              <a:gd name="adj1" fmla="val 17602"/>
              <a:gd name="adj2" fmla="val 104505"/>
              <a:gd name="adj3" fmla="val 12958"/>
              <a:gd name="adj4" fmla="val 1318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ctr" anchorCtr="0"/>
          <a:p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Reorders buffer for register writes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90" name="AutoShape 15"/>
          <p:cNvSpPr/>
          <p:nvPr/>
        </p:nvSpPr>
        <p:spPr>
          <a:xfrm>
            <a:off x="5003800" y="5589588"/>
            <a:ext cx="1692275" cy="792162"/>
          </a:xfrm>
          <a:prstGeom prst="borderCallout1">
            <a:avLst>
              <a:gd name="adj1" fmla="val 14431"/>
              <a:gd name="adj2" fmla="val -4505"/>
              <a:gd name="adj3" fmla="val -45292"/>
              <a:gd name="adj4" fmla="val -3620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ctr" anchorCtr="0"/>
          <a:p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Can supply operands for issued instructions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91" name="AutoShape 16"/>
          <p:cNvSpPr/>
          <p:nvPr/>
        </p:nvSpPr>
        <p:spPr>
          <a:xfrm>
            <a:off x="7235825" y="1268413"/>
            <a:ext cx="1404938" cy="649287"/>
          </a:xfrm>
          <a:prstGeom prst="borderCallout1">
            <a:avLst>
              <a:gd name="adj1" fmla="val 17602"/>
              <a:gd name="adj2" fmla="val -5426"/>
              <a:gd name="adj3" fmla="val 65769"/>
              <a:gd name="adj4" fmla="val -458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ctr" anchorCtr="0"/>
          <a:p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Preserves dependencies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92" name="AutoShape 17"/>
          <p:cNvSpPr/>
          <p:nvPr/>
        </p:nvSpPr>
        <p:spPr>
          <a:xfrm>
            <a:off x="7235825" y="2565400"/>
            <a:ext cx="1404938" cy="649288"/>
          </a:xfrm>
          <a:prstGeom prst="borderCallout1">
            <a:avLst>
              <a:gd name="adj1" fmla="val 17602"/>
              <a:gd name="adj2" fmla="val -5426"/>
              <a:gd name="adj3" fmla="val 22736"/>
              <a:gd name="adj4" fmla="val -10067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anchor="ctr" anchorCtr="0"/>
          <a:p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Hold pending operands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39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Register Renaming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39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Reservation stations and reorder buffer effectively provide register renaming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On instruction issue to reservation station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operand is available in register file or reorder buffer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Copied to reservation station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No longer required in the register; can be overwritten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operand is not yet available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It will be provided to the reservation station by a function unit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Register update may not be required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493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Speculation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493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Predict branch and continue issuing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Don’t commit until branch outcome determined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Load speculation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Avoid load and cache miss delay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Predict the effective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Predict loaded value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Load before completing outstanding stores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Bypass stored values to load unit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Don’t commit load until speculation cleared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59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Why Do Dynamic Scheduling?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595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Why not just let the compiler schedule code?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Not all stalls are predicable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cache misses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Can’t always schedule around branches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Branch outcome is dynamically determined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 implementations of an ISA have different latencies and hazards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69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Does Multiple Issue Work?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6980" name="Rectangle 3"/>
          <p:cNvSpPr>
            <a:spLocks noGrp="1"/>
          </p:cNvSpPr>
          <p:nvPr>
            <p:ph idx="1"/>
          </p:nvPr>
        </p:nvSpPr>
        <p:spPr>
          <a:xfrm>
            <a:off x="684213" y="1844675"/>
            <a:ext cx="8270875" cy="43926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Yes, but not as much as we’d like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Programs have real dependencies that limit ILP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Some dependencies are hard to eliminate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e.g., pointer aliasing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Some parallelism is hard to expose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Limited window size during instruction issue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Memory delays and limited bandwidth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Hard to keep pipelines full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Speculation can help if done well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126981" name="Text Box 4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The BIG Picture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80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Power Efficiency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8004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72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Complexity of dynamic scheduling and speculations requires power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Multiple simpler cores may be better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28005" name="表格 128004"/>
          <p:cNvGraphicFramePr/>
          <p:nvPr/>
        </p:nvGraphicFramePr>
        <p:xfrm>
          <a:off x="684213" y="2924175"/>
          <a:ext cx="8208963" cy="3109913"/>
        </p:xfrm>
        <a:graphic>
          <a:graphicData uri="http://schemas.openxmlformats.org/drawingml/2006/table">
            <a:tbl>
              <a:tblPr/>
              <a:tblGrid>
                <a:gridCol w="1422400"/>
                <a:gridCol w="881063"/>
                <a:gridCol w="1058862"/>
                <a:gridCol w="968375"/>
                <a:gridCol w="863600"/>
                <a:gridCol w="1209675"/>
                <a:gridCol w="835025"/>
                <a:gridCol w="969963"/>
              </a:tblGrid>
              <a:tr h="51752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Microprocessor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Year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Clock Rate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Pipeline Stages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Issue width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Out-of-order/ Speculation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Cores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Power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i486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1989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Pentium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1993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66MHz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7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Pentium Pro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1997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26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P4 Willamette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P4 Prescott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2004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3600MHz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103W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Core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2006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2930MHz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UltraSparc III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2003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1950MHz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UltraSparc T1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2005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1200MHz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14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70W</a:t>
                      </a:r>
                      <a:endParaRPr lang="en-AU" altLang="zh-CN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4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The Processor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90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Concluding Remarks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90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ISA influences design of datapath and control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Datapath and control influence design of ISA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Pipelining improves instruction throughput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using parallelism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More instructions completed per second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Latency for each instruction not reduced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Hazards: structural, data, control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Multiple issue and dynamic scheduling (ILP)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Dependencies limit achievable parallelism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Complexity leads to the power wall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29029" name="Text Box 4"/>
          <p:cNvSpPr txBox="1"/>
          <p:nvPr/>
        </p:nvSpPr>
        <p:spPr>
          <a:xfrm rot="5400000">
            <a:off x="7424738" y="1284288"/>
            <a:ext cx="3070225" cy="3698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18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§4.15 Concluding Remarks</a:t>
            </a:r>
            <a:endParaRPr lang="en-US" altLang="zh-CN" sz="180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2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p="http://schemas.openxmlformats.org/presentationml/2006/main">
  <p:tag name="KSO_WM_UNIT_PLACING_PICTURE_USER_VIEWPORT" val="{&quot;height&quot;:6105,&quot;width&quot;:10950}"/>
</p:tagLst>
</file>

<file path=ppt/tags/tag4.xml><?xml version="1.0" encoding="utf-8"?>
<p:tagLst xmlns:p="http://schemas.openxmlformats.org/presentationml/2006/main">
  <p:tag name="KSO_WM_UNIT_TABLE_BEAUTIFY" val="smartTable{fd4a37f6-bc5b-44b9-8b95-c1bfb65399c1}"/>
</p:tagLst>
</file>

<file path=ppt/tags/tag5.xml><?xml version="1.0" encoding="utf-8"?>
<p:tagLst xmlns:p="http://schemas.openxmlformats.org/presentationml/2006/main">
  <p:tag name="KSO_WM_UNIT_TABLE_BEAUTIFY" val="smartTable{34a49bfc-9812-424e-a3c4-1e86ccb9916d}"/>
</p:tagLst>
</file>

<file path=ppt/tags/tag6.xml><?xml version="1.0" encoding="utf-8"?>
<p:tagLst xmlns:p="http://schemas.openxmlformats.org/presentationml/2006/main">
  <p:tag name="KSO_WM_UNIT_TABLE_BEAUTIFY" val="smartTable{1b8a944d-7fef-4f11-b475-7bef1b6e363b}"/>
</p:tagLst>
</file>

<file path=ppt/tags/tag7.xml><?xml version="1.0" encoding="utf-8"?>
<p:tagLst xmlns:p="http://schemas.openxmlformats.org/presentationml/2006/main">
  <p:tag name="KSO_WPP_MARK_KEY" val="d35f0dd2-0f22-4730-b56c-45a2403f3b35"/>
  <p:tag name="COMMONDATA" val="eyJoZGlkIjoiZmE0NWRmMzVhNTY5Y2FiMzY2OGM1ZWRkMzQwMWFiMzEifQ==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0</TotalTime>
  <Words>28728</Words>
  <Application>WPS 演示</Application>
  <PresentationFormat>全屏显示(4:3)</PresentationFormat>
  <Paragraphs>2099</Paragraphs>
  <Slides>124</Slides>
  <Notes>124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124</vt:i4>
      </vt:variant>
    </vt:vector>
  </HeadingPairs>
  <TitlesOfParts>
    <vt:vector size="137" baseType="lpstr">
      <vt:lpstr>Arial</vt:lpstr>
      <vt:lpstr>宋体</vt:lpstr>
      <vt:lpstr>Wingdings</vt:lpstr>
      <vt:lpstr>Arial Black</vt:lpstr>
      <vt:lpstr>Times New Roman</vt:lpstr>
      <vt:lpstr>Lucida Console</vt:lpstr>
      <vt:lpstr>Symbol</vt:lpstr>
      <vt:lpstr>微软雅黑</vt:lpstr>
      <vt:lpstr>Arial Unicode MS</vt:lpstr>
      <vt:lpstr>Courier New</vt:lpstr>
      <vt:lpstr>Monotype Sorts</vt:lpstr>
      <vt:lpstr>Wingdings</vt:lpstr>
      <vt:lpstr>2_Blends</vt:lpstr>
      <vt:lpstr>Chapter 4</vt:lpstr>
      <vt:lpstr>Introduction</vt:lpstr>
      <vt:lpstr>Instruction Execution</vt:lpstr>
      <vt:lpstr>CPU Overview</vt:lpstr>
      <vt:lpstr>Multiplexers</vt:lpstr>
      <vt:lpstr>Control</vt:lpstr>
      <vt:lpstr>Logic Design Basics</vt:lpstr>
      <vt:lpstr>Combinational Elements</vt:lpstr>
      <vt:lpstr>Sequential Elements</vt:lpstr>
      <vt:lpstr>Sequential Elements</vt:lpstr>
      <vt:lpstr>Clocking Methodology</vt:lpstr>
      <vt:lpstr>Building a Datapath</vt:lpstr>
      <vt:lpstr>Instruction Fetch</vt:lpstr>
      <vt:lpstr>R-Format Instructions</vt:lpstr>
      <vt:lpstr>Load/Store Instructions</vt:lpstr>
      <vt:lpstr>Branch Instructions</vt:lpstr>
      <vt:lpstr>Branch Instructions</vt:lpstr>
      <vt:lpstr>Composing the Elements</vt:lpstr>
      <vt:lpstr>PowerPoint 演示文稿</vt:lpstr>
      <vt:lpstr>Full Datapath</vt:lpstr>
      <vt:lpstr>ALU Control</vt:lpstr>
      <vt:lpstr>ALU Control</vt:lpstr>
      <vt:lpstr>The Main Control Unit</vt:lpstr>
      <vt:lpstr>Datapath With Control</vt:lpstr>
      <vt:lpstr>R-Type Instruction</vt:lpstr>
      <vt:lpstr>Load Instruction</vt:lpstr>
      <vt:lpstr>Branch-on-Equal Instruction</vt:lpstr>
      <vt:lpstr>Performance Issues</vt:lpstr>
      <vt:lpstr>Pipelining Analogy</vt:lpstr>
      <vt:lpstr>RISC-V Pipeline</vt:lpstr>
      <vt:lpstr>Pipeline Performance</vt:lpstr>
      <vt:lpstr>Pipeline Performance</vt:lpstr>
      <vt:lpstr>Pipeline Speedup</vt:lpstr>
      <vt:lpstr>Pipelining and ISA Design</vt:lpstr>
      <vt:lpstr>Hazards</vt:lpstr>
      <vt:lpstr>Structure Hazards</vt:lpstr>
      <vt:lpstr>A Single Memory Would Be a Structural Hazard</vt:lpstr>
      <vt:lpstr>How About Register File Access?</vt:lpstr>
      <vt:lpstr>Data Hazards</vt:lpstr>
      <vt:lpstr>Forwarding (aka Bypassing)</vt:lpstr>
      <vt:lpstr>Load-Use Data Hazard</vt:lpstr>
      <vt:lpstr>Code Scheduling to Avoid Stalls</vt:lpstr>
      <vt:lpstr>Control Hazards</vt:lpstr>
      <vt:lpstr>Stall on Branch</vt:lpstr>
      <vt:lpstr>Branch Prediction</vt:lpstr>
      <vt:lpstr>RISC-V with Predict Not Taken</vt:lpstr>
      <vt:lpstr>More-Realistic Branch Prediction</vt:lpstr>
      <vt:lpstr>Pipeline Summary</vt:lpstr>
      <vt:lpstr>RISC-V Pipelined Datapath</vt:lpstr>
      <vt:lpstr>Pipeline registers</vt:lpstr>
      <vt:lpstr>Pipeline Operation</vt:lpstr>
      <vt:lpstr>IF for Load, Store, …</vt:lpstr>
      <vt:lpstr>ID for Load, Store, …</vt:lpstr>
      <vt:lpstr>EX for Load</vt:lpstr>
      <vt:lpstr>MEM for Load</vt:lpstr>
      <vt:lpstr>WB for Load</vt:lpstr>
      <vt:lpstr>Corrected Datapath for Load</vt:lpstr>
      <vt:lpstr>EX for Store</vt:lpstr>
      <vt:lpstr>MEM for Store</vt:lpstr>
      <vt:lpstr>WB for Store</vt:lpstr>
      <vt:lpstr>Multi-Cycle Pipeline Diagram</vt:lpstr>
      <vt:lpstr>Multi-Cycle Pipeline Diagram</vt:lpstr>
      <vt:lpstr>Single-Cycle Pipeline Diagram</vt:lpstr>
      <vt:lpstr>Pipelined Control (Simplified)</vt:lpstr>
      <vt:lpstr>Pipelined Control</vt:lpstr>
      <vt:lpstr>Pipelined Control</vt:lpstr>
      <vt:lpstr>Data Hazards in ALU Instructions</vt:lpstr>
      <vt:lpstr>Dependencies &amp; Forwarding</vt:lpstr>
      <vt:lpstr>Detecting the Need to Forward</vt:lpstr>
      <vt:lpstr>Detecting the Need to Forward</vt:lpstr>
      <vt:lpstr>Forwarding Paths</vt:lpstr>
      <vt:lpstr>Forwarding Conditions</vt:lpstr>
      <vt:lpstr>Double Data Hazard</vt:lpstr>
      <vt:lpstr>Revised Forwarding Condition</vt:lpstr>
      <vt:lpstr>Datapath with Forwarding</vt:lpstr>
      <vt:lpstr>Load-Use Data Hazard</vt:lpstr>
      <vt:lpstr>Load-Use Hazard Detection</vt:lpstr>
      <vt:lpstr>How to Stall the Pipeline</vt:lpstr>
      <vt:lpstr>Stall/Bubble in the Pipeline</vt:lpstr>
      <vt:lpstr>Datapath with Hazard Detection</vt:lpstr>
      <vt:lpstr>Stalls and Performance</vt:lpstr>
      <vt:lpstr>Branch Hazards</vt:lpstr>
      <vt:lpstr>Reducing Branch Delay</vt:lpstr>
      <vt:lpstr>Example: Branch Taken</vt:lpstr>
      <vt:lpstr>Example: Branch Taken</vt:lpstr>
      <vt:lpstr>Data Hazards for Branches</vt:lpstr>
      <vt:lpstr>Data Hazards for Branches</vt:lpstr>
      <vt:lpstr>Data Hazards for Branches</vt:lpstr>
      <vt:lpstr>Dynamic Branch Prediction</vt:lpstr>
      <vt:lpstr>1-Bit Predictor: Shortcoming</vt:lpstr>
      <vt:lpstr>2-Bit Predictor</vt:lpstr>
      <vt:lpstr>Calculating the Branch Target</vt:lpstr>
      <vt:lpstr>Delayed Branches</vt:lpstr>
      <vt:lpstr>Exceptions and Interrupts</vt:lpstr>
      <vt:lpstr>Handling Exceptions</vt:lpstr>
      <vt:lpstr>An Alternate Mechanism</vt:lpstr>
      <vt:lpstr>Handler Actions</vt:lpstr>
      <vt:lpstr>Exceptions in a Pipeline</vt:lpstr>
      <vt:lpstr>Pipeline with Exceptions</vt:lpstr>
      <vt:lpstr>Exception Properties</vt:lpstr>
      <vt:lpstr>Multiple Exceptions</vt:lpstr>
      <vt:lpstr>Imprecise Exceptions</vt:lpstr>
      <vt:lpstr>Instruction-Level Parallelism (ILP)</vt:lpstr>
      <vt:lpstr>Multiple Issue</vt:lpstr>
      <vt:lpstr>Speculation</vt:lpstr>
      <vt:lpstr>Compiler/Hardware Speculation</vt:lpstr>
      <vt:lpstr>Speculation and Exceptions</vt:lpstr>
      <vt:lpstr>Static Multiple Issue</vt:lpstr>
      <vt:lpstr>Scheduling Static Multiple Issue</vt:lpstr>
      <vt:lpstr>RISC-V with Static Dual Issue</vt:lpstr>
      <vt:lpstr>RISC-V with Static Dual Issue</vt:lpstr>
      <vt:lpstr>Hazards in the Dual-Issue RISC-V</vt:lpstr>
      <vt:lpstr>Scheduling Example</vt:lpstr>
      <vt:lpstr>Loop Unrolling</vt:lpstr>
      <vt:lpstr>Loop Unrolling Example</vt:lpstr>
      <vt:lpstr>Dynamic Multiple Issue</vt:lpstr>
      <vt:lpstr>Dynamic Pipeline Scheduling</vt:lpstr>
      <vt:lpstr>Dynamically Scheduled CPU</vt:lpstr>
      <vt:lpstr>Register Renaming</vt:lpstr>
      <vt:lpstr>Speculation</vt:lpstr>
      <vt:lpstr>Why Do Dynamic Scheduling?</vt:lpstr>
      <vt:lpstr>Does Multiple Issue Work?</vt:lpstr>
      <vt:lpstr>Power Efficiency</vt:lpstr>
      <vt:lpstr>Concluding Remarks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赵武锋</cp:lastModifiedBy>
  <cp:revision>168</cp:revision>
  <dcterms:created xsi:type="dcterms:W3CDTF">2008-08-18T10:44:00Z</dcterms:created>
  <dcterms:modified xsi:type="dcterms:W3CDTF">2025-09-17T06:24:28Z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8D88C3FE81CE4AAFBB57C6412A2B795B</vt:lpwstr>
  </property>
  <property fmtid="{D5CDD505-2E9C-101B-9397-08002B2CF9AE}" pid="3" name="KSOProductBuildVer">
    <vt:lpwstr>2052-11.1.0.12165</vt:lpwstr>
  </property>
</Properties>
</file>