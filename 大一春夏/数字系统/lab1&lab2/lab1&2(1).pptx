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0"/>
  </p:notesMasterIdLst>
  <p:sldIdLst>
    <p:sldId id="282" r:id="rId3"/>
    <p:sldId id="315" r:id="rId4"/>
    <p:sldId id="309" r:id="rId5"/>
    <p:sldId id="310" r:id="rId6"/>
    <p:sldId id="311" r:id="rId7"/>
    <p:sldId id="312" r:id="rId8"/>
    <p:sldId id="299" r:id="rId9"/>
    <p:sldId id="300" r:id="rId11"/>
    <p:sldId id="301" r:id="rId12"/>
    <p:sldId id="302" r:id="rId13"/>
    <p:sldId id="303" r:id="rId14"/>
    <p:sldId id="304" r:id="rId15"/>
    <p:sldId id="305" r:id="rId16"/>
    <p:sldId id="306" r:id="rId17"/>
    <p:sldId id="307" r:id="rId18"/>
    <p:sldId id="308" r:id="rId19"/>
  </p:sldIdLst>
  <p:sldSz cx="12192000" cy="6858000"/>
  <p:notesSz cx="6858000" cy="91440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725" autoAdjust="0"/>
  </p:normalViewPr>
  <p:slideViewPr>
    <p:cSldViewPr snapToGrid="0">
      <p:cViewPr>
        <p:scale>
          <a:sx n="100" d="100"/>
          <a:sy n="100" d="100"/>
        </p:scale>
        <p:origin x="48"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B33B53-E84E-4664-8863-E0D117BCB44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1ACA4F-244B-43D4-B65C-9E6B183DB61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1ACA4F-244B-43D4-B65C-9E6B183DB61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a:xfrm>
            <a:off x="2692397" y="5037663"/>
            <a:ext cx="5214635" cy="279400"/>
          </a:xfrm>
        </p:spPr>
        <p:txBody>
          <a:bodyPr/>
          <a:lstStyle/>
          <a:p>
            <a:endParaRPr lang="zh-CN" altLang="en-US"/>
          </a:p>
        </p:txBody>
      </p:sp>
      <p:sp>
        <p:nvSpPr>
          <p:cNvPr id="6" name="Slide Number Placeholder 5"/>
          <p:cNvSpPr>
            <a:spLocks noGrp="1"/>
          </p:cNvSpPr>
          <p:nvPr>
            <p:ph type="sldNum" sz="quarter" idx="12"/>
          </p:nvPr>
        </p:nvSpPr>
        <p:spPr>
          <a:xfrm>
            <a:off x="8956900" y="5037663"/>
            <a:ext cx="551167" cy="279400"/>
          </a:xfrm>
        </p:spPr>
        <p:txBody>
          <a:bodyPr/>
          <a:lstStyle/>
          <a:p>
            <a:fld id="{EECE36C4-A99B-4A00-803E-98DF2BC33EB0}" type="slidenum">
              <a:rPr lang="zh-CN" altLang="en-US" smtClean="0"/>
            </a:fld>
            <a:endParaRPr lang="zh-CN" alt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CE36C4-A99B-4A00-803E-98DF2BC33EB0}" type="slidenum">
              <a:rPr lang="zh-CN" altLang="en-US" smtClean="0"/>
            </a:fld>
            <a:endParaRPr lang="zh-CN" alt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2.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9B8CCDB-65DA-4F57-BB32-EBA29EB7F3FB}" type="datetimeFigureOut">
              <a:rPr lang="zh-CN" altLang="en-US" smtClean="0"/>
            </a:fld>
            <a:endParaRPr lang="zh-CN"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ECE36C4-A99B-4A00-803E-98DF2BC33EB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34088" y="2782669"/>
            <a:ext cx="2723823" cy="646331"/>
          </a:xfrm>
          <a:prstGeom prst="rect">
            <a:avLst/>
          </a:prstGeom>
          <a:noFill/>
        </p:spPr>
        <p:txBody>
          <a:bodyPr wrap="none" rtlCol="0">
            <a:spAutoFit/>
          </a:bodyPr>
          <a:lstStyle/>
          <a:p>
            <a:r>
              <a:rPr lang="en-US" altLang="zh-CN" sz="3600" dirty="0">
                <a:latin typeface="楷体" panose="02010609060101010101" pitchFamily="49" charset="-122"/>
                <a:ea typeface="楷体" panose="02010609060101010101" pitchFamily="49" charset="-122"/>
              </a:rPr>
              <a:t>Lab1 + Lab2</a:t>
            </a:r>
            <a:endParaRPr lang="zh-CN" altLang="en-US" sz="3600"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96005" y="3949065"/>
            <a:ext cx="4999355" cy="1795145"/>
          </a:xfrm>
          <a:prstGeom prst="rect">
            <a:avLst/>
          </a:prstGeom>
        </p:spPr>
      </p:pic>
      <p:sp>
        <p:nvSpPr>
          <p:cNvPr id="10" name="文本框 9"/>
          <p:cNvSpPr txBox="1"/>
          <p:nvPr/>
        </p:nvSpPr>
        <p:spPr>
          <a:xfrm>
            <a:off x="4788946" y="900584"/>
            <a:ext cx="2218055" cy="583565"/>
          </a:xfrm>
          <a:prstGeom prst="rect">
            <a:avLst/>
          </a:prstGeom>
          <a:noFill/>
        </p:spPr>
        <p:txBody>
          <a:bodyPr wrap="none" rtlCol="0">
            <a:spAutoFit/>
          </a:bodyPr>
          <a:p>
            <a:r>
              <a:rPr lang="zh-CN" altLang="en-US" sz="3200" b="1" dirty="0"/>
              <a:t>开发板领取</a:t>
            </a:r>
            <a:endParaRPr lang="zh-CN" altLang="en-US" sz="3200" b="1" dirty="0"/>
          </a:p>
        </p:txBody>
      </p:sp>
      <p:sp>
        <p:nvSpPr>
          <p:cNvPr id="3" name="文本框 2"/>
          <p:cNvSpPr txBox="1"/>
          <p:nvPr/>
        </p:nvSpPr>
        <p:spPr>
          <a:xfrm>
            <a:off x="3689350" y="1642110"/>
            <a:ext cx="4813935" cy="2306955"/>
          </a:xfrm>
          <a:prstGeom prst="rect">
            <a:avLst/>
          </a:prstGeom>
          <a:noFill/>
        </p:spPr>
        <p:txBody>
          <a:bodyPr wrap="square" rtlCol="0">
            <a:spAutoFit/>
          </a:bodyPr>
          <a:p>
            <a:pPr indent="0" fontAlgn="auto">
              <a:lnSpc>
                <a:spcPct val="150000"/>
              </a:lnSpc>
            </a:pPr>
            <a:r>
              <a:rPr lang="zh-CN" altLang="en-US" sz="2400"/>
              <a:t>蓝色盒子中是老板子</a:t>
            </a:r>
            <a:r>
              <a:rPr lang="en-US" altLang="zh-CN" sz="2400"/>
              <a:t>Basys3</a:t>
            </a:r>
            <a:endParaRPr lang="en-US" altLang="zh-CN" sz="2400"/>
          </a:p>
          <a:p>
            <a:pPr indent="0" fontAlgn="auto">
              <a:lnSpc>
                <a:spcPct val="150000"/>
              </a:lnSpc>
            </a:pPr>
            <a:r>
              <a:rPr lang="zh-CN" altLang="en-US" sz="2400"/>
              <a:t>红色及灰色盒子中是新板子</a:t>
            </a:r>
            <a:r>
              <a:rPr lang="en-US" altLang="zh-CN" sz="2400"/>
              <a:t>EGO1</a:t>
            </a:r>
            <a:endParaRPr lang="en-US" altLang="zh-CN" sz="2400"/>
          </a:p>
          <a:p>
            <a:pPr indent="0" fontAlgn="auto">
              <a:lnSpc>
                <a:spcPct val="150000"/>
              </a:lnSpc>
            </a:pPr>
            <a:r>
              <a:rPr lang="zh-CN" altLang="en-US" sz="2400"/>
              <a:t>开发板手册已经上传到学在浙大</a:t>
            </a:r>
            <a:endParaRPr lang="zh-CN" altLang="en-US" sz="2400"/>
          </a:p>
          <a:p>
            <a:pPr indent="0" fontAlgn="auto">
              <a:lnSpc>
                <a:spcPct val="150000"/>
              </a:lnSpc>
            </a:pPr>
            <a:r>
              <a:rPr lang="zh-CN" altLang="en-US" sz="2400"/>
              <a:t>若</a:t>
            </a:r>
            <a:r>
              <a:rPr lang="zh-CN" altLang="en-US" sz="2400"/>
              <a:t>板子有问题请及时联系助教</a:t>
            </a:r>
            <a:r>
              <a:rPr lang="zh-CN" altLang="en-US" sz="2400"/>
              <a:t>更换！</a:t>
            </a:r>
            <a:endParaRPr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286510" y="1289050"/>
            <a:ext cx="9781540" cy="4030980"/>
          </a:xfrm>
          <a:prstGeom prst="rect">
            <a:avLst/>
          </a:prstGeom>
          <a:noFill/>
          <a:ln w="9525">
            <a:noFill/>
          </a:ln>
        </p:spPr>
        <p:txBody>
          <a:bodyPr wrap="square">
            <a:spAutoFit/>
          </a:bodyPr>
          <a:p>
            <a:pPr indent="0" algn="l"/>
            <a:r>
              <a:rPr lang="en-US" sz="3200" b="1">
                <a:latin typeface="Arial" panose="020B0604020202020204" pitchFamily="34" charset="0"/>
                <a:ea typeface="宋体" panose="02010600030101010101" pitchFamily="2" charset="-122"/>
                <a:cs typeface="Times New Roman" panose="02020603050405020304" charset="0"/>
              </a:rPr>
              <a:t>Lab 1: Xilinx Development Software</a:t>
            </a:r>
            <a:r>
              <a:rPr lang="en-US" sz="2200" b="0">
                <a:latin typeface="Times New Roman" panose="02020603050405020304" charset="0"/>
                <a:ea typeface="宋体" panose="02010600030101010101" pitchFamily="2" charset="-122"/>
              </a:rPr>
              <a:t></a:t>
            </a:r>
            <a:r>
              <a:rPr lang="en-US" sz="2200" b="1" i="1">
                <a:latin typeface="Arial" panose="020B0604020202020204" pitchFamily="34" charset="0"/>
                <a:ea typeface="宋体" panose="02010600030101010101" pitchFamily="2" charset="-122"/>
                <a:cs typeface="Times New Roman" panose="02020603050405020304" charset="0"/>
              </a:rPr>
              <a:t>Goal</a:t>
            </a:r>
            <a:r>
              <a:rPr lang="en-US" b="0">
                <a:latin typeface="Times New Roman" panose="02020603050405020304" charset="0"/>
                <a:ea typeface="宋体" panose="02010600030101010101" pitchFamily="2" charset="-122"/>
              </a:rPr>
              <a:t>To learn how to use the Xilinx circuit design software to design and implement digital circuits. </a:t>
            </a:r>
            <a:r>
              <a:rPr lang="en-US" sz="2200" b="1" i="1">
                <a:latin typeface="Arial" panose="020B0604020202020204" pitchFamily="34" charset="0"/>
                <a:ea typeface="宋体" panose="02010600030101010101" pitchFamily="2" charset="-122"/>
                <a:cs typeface="Times New Roman" panose="02020603050405020304" charset="0"/>
              </a:rPr>
              <a:t>Procedure</a:t>
            </a:r>
            <a:r>
              <a:rPr lang="en-US" b="0">
                <a:latin typeface="Times New Roman" panose="02020603050405020304" charset="0"/>
                <a:ea typeface="宋体" panose="02010600030101010101" pitchFamily="2" charset="-122"/>
              </a:rPr>
              <a:t>1. Design a 2-1 Mux with the Xilinx software. Connect the input a, b, s to three switches. Connect the y output to an LED. Implement the circuit onto the FPGA board to test and verify that it works correctly.1) Design it with AND/OR/NOT gate level Verilog description. </a:t>
            </a:r>
            <a:r>
              <a:rPr lang="zh-CN" altLang="en-US" b="0">
                <a:latin typeface="Times New Roman" panose="02020603050405020304" charset="0"/>
                <a:ea typeface="宋体" panose="02010600030101010101" pitchFamily="2" charset="-122"/>
              </a:rPr>
              <a:t>（门级</a:t>
            </a:r>
            <a:r>
              <a:rPr lang="zh-CN" altLang="en-US" b="0">
                <a:latin typeface="Times New Roman" panose="02020603050405020304" charset="0"/>
                <a:ea typeface="宋体" panose="02010600030101010101" pitchFamily="2" charset="-122"/>
              </a:rPr>
              <a:t>描述）</a:t>
            </a:r>
            <a:endParaRPr lang="en-US" b="0">
              <a:latin typeface="Times New Roman" panose="02020603050405020304" charset="0"/>
              <a:ea typeface="宋体" panose="02010600030101010101" pitchFamily="2" charset="-122"/>
            </a:endParaRPr>
          </a:p>
          <a:p>
            <a:pPr indent="0" algn="l"/>
            <a:r>
              <a:rPr lang="en-US" b="0">
                <a:latin typeface="Times New Roman" panose="02020603050405020304" charset="0"/>
                <a:ea typeface="宋体" panose="02010600030101010101" pitchFamily="2" charset="-122"/>
              </a:rPr>
              <a:t>2) Design it with Boolean function Verilog description. </a:t>
            </a:r>
            <a:r>
              <a:rPr lang="zh-CN" altLang="en-US" b="0">
                <a:latin typeface="Times New Roman" panose="02020603050405020304" charset="0"/>
                <a:ea typeface="宋体" panose="02010600030101010101" pitchFamily="2" charset="-122"/>
              </a:rPr>
              <a:t>（数据流描述）</a:t>
            </a:r>
            <a:r>
              <a:rPr lang="en-US" b="0">
                <a:latin typeface="Times New Roman" panose="02020603050405020304" charset="0"/>
                <a:ea typeface="宋体" panose="02010600030101010101" pitchFamily="2" charset="-122"/>
              </a:rPr>
              <a:t>3) Design it with Always statement and if-else statement. </a:t>
            </a:r>
            <a:r>
              <a:rPr lang="zh-CN" altLang="en-US" b="0">
                <a:latin typeface="Times New Roman" panose="02020603050405020304" charset="0"/>
                <a:ea typeface="宋体" panose="02010600030101010101" pitchFamily="2" charset="-122"/>
              </a:rPr>
              <a:t>（行为描述）</a:t>
            </a:r>
            <a:r>
              <a:rPr lang="en-US" b="0">
                <a:latin typeface="Times New Roman" panose="02020603050405020304" charset="0"/>
                <a:ea typeface="宋体" panose="02010600030101010101" pitchFamily="2" charset="-122"/>
              </a:rPr>
              <a:t>4) Design it with always statement and case statement. </a:t>
            </a:r>
            <a:r>
              <a:rPr lang="zh-CN" altLang="en-US" b="0">
                <a:latin typeface="Times New Roman" panose="02020603050405020304" charset="0"/>
                <a:ea typeface="宋体" panose="02010600030101010101" pitchFamily="2" charset="-122"/>
              </a:rPr>
              <a:t>（行为</a:t>
            </a:r>
            <a:r>
              <a:rPr lang="zh-CN" altLang="en-US" b="0">
                <a:latin typeface="Times New Roman" panose="02020603050405020304" charset="0"/>
                <a:ea typeface="宋体" panose="02010600030101010101" pitchFamily="2" charset="-122"/>
              </a:rPr>
              <a:t>描述）</a:t>
            </a:r>
            <a:r>
              <a:rPr lang="en-US" b="0">
                <a:latin typeface="Times New Roman" panose="02020603050405020304" charset="0"/>
                <a:ea typeface="宋体" panose="02010600030101010101" pitchFamily="2" charset="-122"/>
              </a:rPr>
              <a:t> 2. Design 4-1 Mux by using hierarchy structure of the module</a:t>
            </a:r>
            <a:r>
              <a:rPr lang="en-US" b="0">
                <a:latin typeface="Times New Roman" panose="02020603050405020304" charset="0"/>
                <a:ea typeface="宋体" panose="02010600030101010101" pitchFamily="2" charset="-122"/>
                <a:cs typeface="Times New Roman" panose="02020603050405020304" charset="0"/>
              </a:rPr>
              <a:t> </a:t>
            </a:r>
            <a:r>
              <a:rPr lang="en-US" b="0">
                <a:latin typeface="Times New Roman" panose="02020603050405020304" charset="0"/>
                <a:ea typeface="宋体" panose="02010600030101010101" pitchFamily="2" charset="-122"/>
              </a:rPr>
              <a:t>2-1 Mux designed above.</a:t>
            </a:r>
            <a:endParaRPr lang="en-US" altLang="en-US" b="0">
              <a:latin typeface="Times New Roman" panose="0202060305040502030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941705" y="640080"/>
            <a:ext cx="10050780" cy="2091690"/>
          </a:xfrm>
          <a:prstGeom prst="rect">
            <a:avLst/>
          </a:prstGeom>
          <a:noFill/>
          <a:ln w="9525">
            <a:noFill/>
          </a:ln>
        </p:spPr>
        <p:txBody>
          <a:bodyPr wrap="square">
            <a:spAutoFit/>
          </a:bodyPr>
          <a:p>
            <a:pPr indent="0" algn="ctr"/>
            <a:r>
              <a:rPr lang="en-US" sz="3200" b="1">
                <a:latin typeface="Arial" panose="020B0604020202020204" pitchFamily="34" charset="0"/>
                <a:ea typeface="宋体" panose="02010600030101010101" pitchFamily="2" charset="-122"/>
                <a:cs typeface="Times New Roman" panose="02020603050405020304" charset="0"/>
              </a:rPr>
              <a:t>Lab 2: Design a</a:t>
            </a:r>
            <a:r>
              <a:rPr lang="en-US" sz="3200" b="1">
                <a:latin typeface="Arial" panose="020B0604020202020204" pitchFamily="34" charset="0"/>
                <a:ea typeface="宋体" panose="02010600030101010101" pitchFamily="2" charset="-122"/>
              </a:rPr>
              <a:t>n</a:t>
            </a:r>
            <a:r>
              <a:rPr lang="en-US" sz="3200" b="1">
                <a:latin typeface="Arial" panose="020B0604020202020204" pitchFamily="34" charset="0"/>
                <a:ea typeface="宋体" panose="02010600030101010101" pitchFamily="2" charset="-122"/>
                <a:cs typeface="Times New Roman" panose="02020603050405020304" charset="0"/>
              </a:rPr>
              <a:t> ALU</a:t>
            </a:r>
            <a:r>
              <a:rPr lang="en-US" sz="2200" b="0">
                <a:latin typeface="Times New Roman" panose="02020603050405020304" charset="0"/>
                <a:ea typeface="宋体" panose="02010600030101010101" pitchFamily="2" charset="-122"/>
              </a:rPr>
              <a:t></a:t>
            </a:r>
            <a:r>
              <a:rPr lang="en-US" sz="2200" b="1" i="1">
                <a:latin typeface="Arial" panose="020B0604020202020204" pitchFamily="34" charset="0"/>
                <a:ea typeface="宋体" panose="02010600030101010101" pitchFamily="2" charset="-122"/>
                <a:cs typeface="Times New Roman" panose="02020603050405020304" charset="0"/>
              </a:rPr>
              <a:t>Goal</a:t>
            </a:r>
            <a:r>
              <a:rPr lang="en-US" b="0">
                <a:latin typeface="Times New Roman" panose="02020603050405020304" charset="0"/>
                <a:ea typeface="宋体" panose="02010600030101010101" pitchFamily="2" charset="-122"/>
              </a:rPr>
              <a:t>To learn how to use the behavior model Verilog HDL description to design and implement an ALU. </a:t>
            </a:r>
            <a:r>
              <a:rPr lang="en-US" sz="2200" b="1" i="1">
                <a:latin typeface="Arial" panose="020B0604020202020204" pitchFamily="34" charset="0"/>
                <a:ea typeface="宋体" panose="02010600030101010101" pitchFamily="2" charset="-122"/>
                <a:cs typeface="Times New Roman" panose="02020603050405020304" charset="0"/>
              </a:rPr>
              <a:t>Procedure</a:t>
            </a:r>
            <a:r>
              <a:rPr lang="en-US" b="0">
                <a:latin typeface="Times New Roman" panose="02020603050405020304" charset="0"/>
                <a:ea typeface="宋体" panose="02010600030101010101" pitchFamily="2" charset="-122"/>
              </a:rPr>
              <a:t>Design an ALU with the following functions. Refer to slides of Lecture 3.</a:t>
            </a:r>
            <a:endParaRPr lang="en-US" altLang="en-US" b="0">
              <a:latin typeface="Times New Roman" panose="02020603050405020304" charset="0"/>
              <a:ea typeface="宋体" panose="02010600030101010101" pitchFamily="2" charset="-122"/>
            </a:endParaRPr>
          </a:p>
        </p:txBody>
      </p:sp>
      <p:pic>
        <p:nvPicPr>
          <p:cNvPr id="2" name="图片 1"/>
          <p:cNvPicPr/>
          <p:nvPr/>
        </p:nvPicPr>
        <p:blipFill>
          <a:blip r:embed="rId1"/>
          <a:srcRect r="40813"/>
          <a:stretch>
            <a:fillRect/>
          </a:stretch>
        </p:blipFill>
        <p:spPr>
          <a:xfrm>
            <a:off x="941705" y="2664460"/>
            <a:ext cx="2069465" cy="1793240"/>
          </a:xfrm>
          <a:prstGeom prst="rect">
            <a:avLst/>
          </a:prstGeom>
          <a:noFill/>
          <a:ln w="9525">
            <a:noFill/>
          </a:ln>
        </p:spPr>
      </p:pic>
      <p:sp>
        <p:nvSpPr>
          <p:cNvPr id="101" name="文本框 100"/>
          <p:cNvSpPr txBox="1"/>
          <p:nvPr/>
        </p:nvSpPr>
        <p:spPr>
          <a:xfrm>
            <a:off x="3155315" y="2992755"/>
            <a:ext cx="8334375" cy="2672080"/>
          </a:xfrm>
          <a:prstGeom prst="rect">
            <a:avLst/>
          </a:prstGeom>
          <a:noFill/>
          <a:ln w="9525">
            <a:noFill/>
          </a:ln>
        </p:spPr>
        <p:txBody>
          <a:bodyPr wrap="square">
            <a:noAutofit/>
          </a:bodyPr>
          <a:p>
            <a:pPr indent="0" algn="l" fontAlgn="auto"/>
            <a:r>
              <a:rPr lang="en-US" b="0">
                <a:latin typeface="Times New Roman" panose="02020603050405020304" charset="0"/>
                <a:ea typeface="宋体" panose="02010600030101010101" pitchFamily="2" charset="-122"/>
              </a:rPr>
              <a:t>1) Design the modules of 4-bit 2-1 Mux, 4-bit 3-1 Mux, 4-bit Adder, 4-bit Subtracter, and 4-bit Multiplier. You do not need to consider the situation of overflow.2) Design the top module for the ALU with hierarchy structure of the modules defined in step 1). 3) Implement the design in FPGA, with the data input A[3:0], B[3:0], and the control input F[2:0] connected to the switches on Basys3 board, and the output R[3:0] to the LEDs on board.4) (optional) Try to solve the overflow problem in this design with your own method.5) (optional) Try to extend the Function table with new functions.</a:t>
            </a:r>
            <a:endParaRPr lang="en-US" altLang="en-US" b="0">
              <a:latin typeface="Times New Roman" panose="02020603050405020304" charset="0"/>
              <a:ea typeface="宋体" panose="02010600030101010101" pitchFamily="2" charset="-122"/>
            </a:endParaRPr>
          </a:p>
        </p:txBody>
      </p:sp>
      <p:pic>
        <p:nvPicPr>
          <p:cNvPr id="3" name="图片 2"/>
          <p:cNvPicPr/>
          <p:nvPr/>
        </p:nvPicPr>
        <p:blipFill>
          <a:blip r:embed="rId1"/>
          <a:srcRect l="58780" b="21875"/>
          <a:stretch>
            <a:fillRect/>
          </a:stretch>
        </p:blipFill>
        <p:spPr>
          <a:xfrm>
            <a:off x="941705" y="4457700"/>
            <a:ext cx="2069465" cy="172529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 name="组合 6"/>
          <p:cNvGrpSpPr/>
          <p:nvPr/>
        </p:nvGrpSpPr>
        <p:grpSpPr>
          <a:xfrm>
            <a:off x="1472565" y="1447165"/>
            <a:ext cx="9246235" cy="2282825"/>
            <a:chOff x="1920" y="2453"/>
            <a:chExt cx="14561" cy="3595"/>
          </a:xfrm>
        </p:grpSpPr>
        <p:pic>
          <p:nvPicPr>
            <p:cNvPr id="2" name="图片 1"/>
            <p:cNvPicPr>
              <a:picLocks noChangeAspect="1"/>
            </p:cNvPicPr>
            <p:nvPr/>
          </p:nvPicPr>
          <p:blipFill>
            <a:blip r:embed="rId1"/>
            <a:stretch>
              <a:fillRect/>
            </a:stretch>
          </p:blipFill>
          <p:spPr>
            <a:xfrm>
              <a:off x="1920" y="2453"/>
              <a:ext cx="14561" cy="3595"/>
            </a:xfrm>
            <a:prstGeom prst="rect">
              <a:avLst/>
            </a:prstGeom>
          </p:spPr>
        </p:pic>
        <p:sp>
          <p:nvSpPr>
            <p:cNvPr id="4" name="文本框 3"/>
            <p:cNvSpPr txBox="1"/>
            <p:nvPr/>
          </p:nvSpPr>
          <p:spPr>
            <a:xfrm>
              <a:off x="5148" y="5400"/>
              <a:ext cx="2474" cy="580"/>
            </a:xfrm>
            <a:prstGeom prst="rect">
              <a:avLst/>
            </a:prstGeom>
            <a:noFill/>
          </p:spPr>
          <p:txBody>
            <a:bodyPr wrap="square" rtlCol="0">
              <a:spAutoFit/>
            </a:bodyPr>
            <a:p>
              <a:r>
                <a:rPr lang="zh-CN" altLang="en-US">
                  <a:latin typeface="黑体" panose="02010609060101010101" charset="-122"/>
                  <a:ea typeface="黑体" panose="02010609060101010101" charset="-122"/>
                </a:rPr>
                <a:t>整个设计流程</a:t>
              </a:r>
              <a:endParaRPr lang="zh-CN" altLang="en-US">
                <a:latin typeface="黑体" panose="02010609060101010101" charset="-122"/>
                <a:ea typeface="黑体" panose="02010609060101010101" charset="-122"/>
              </a:endParaRPr>
            </a:p>
          </p:txBody>
        </p:sp>
        <p:sp>
          <p:nvSpPr>
            <p:cNvPr id="5" name="文本框 4"/>
            <p:cNvSpPr txBox="1"/>
            <p:nvPr/>
          </p:nvSpPr>
          <p:spPr>
            <a:xfrm>
              <a:off x="5148" y="4815"/>
              <a:ext cx="2474" cy="580"/>
            </a:xfrm>
            <a:prstGeom prst="rect">
              <a:avLst/>
            </a:prstGeom>
            <a:noFill/>
          </p:spPr>
          <p:txBody>
            <a:bodyPr wrap="square" rtlCol="0">
              <a:spAutoFit/>
            </a:bodyPr>
            <a:p>
              <a:r>
                <a:rPr lang="zh-CN" altLang="en-US">
                  <a:latin typeface="微软雅黑" panose="020B0503020204020204" charset="-122"/>
                  <a:ea typeface="微软雅黑" panose="020B0503020204020204" charset="-122"/>
                </a:rPr>
                <a:t>具体操作</a:t>
              </a:r>
              <a:endParaRPr lang="zh-CN" altLang="en-US">
                <a:latin typeface="微软雅黑" panose="020B0503020204020204" charset="-122"/>
                <a:ea typeface="微软雅黑" panose="020B0503020204020204" charset="-122"/>
              </a:endParaRPr>
            </a:p>
          </p:txBody>
        </p:sp>
      </p:grpSp>
      <p:grpSp>
        <p:nvGrpSpPr>
          <p:cNvPr id="8" name="组合 7"/>
          <p:cNvGrpSpPr/>
          <p:nvPr/>
        </p:nvGrpSpPr>
        <p:grpSpPr>
          <a:xfrm>
            <a:off x="1472565" y="3729990"/>
            <a:ext cx="9246235" cy="2553544"/>
            <a:chOff x="1920" y="5114"/>
            <a:chExt cx="15360" cy="5023"/>
          </a:xfrm>
        </p:grpSpPr>
        <p:pic>
          <p:nvPicPr>
            <p:cNvPr id="3" name="图片 2"/>
            <p:cNvPicPr>
              <a:picLocks noChangeAspect="1"/>
            </p:cNvPicPr>
            <p:nvPr/>
          </p:nvPicPr>
          <p:blipFill>
            <a:blip r:embed="rId2"/>
            <a:stretch>
              <a:fillRect/>
            </a:stretch>
          </p:blipFill>
          <p:spPr>
            <a:xfrm>
              <a:off x="1920" y="5114"/>
              <a:ext cx="15360" cy="4458"/>
            </a:xfrm>
            <a:prstGeom prst="rect">
              <a:avLst/>
            </a:prstGeom>
          </p:spPr>
        </p:pic>
        <p:sp>
          <p:nvSpPr>
            <p:cNvPr id="6" name="文本框 5"/>
            <p:cNvSpPr txBox="1"/>
            <p:nvPr/>
          </p:nvSpPr>
          <p:spPr>
            <a:xfrm>
              <a:off x="6038" y="8868"/>
              <a:ext cx="3196" cy="1269"/>
            </a:xfrm>
            <a:prstGeom prst="rect">
              <a:avLst/>
            </a:prstGeom>
            <a:noFill/>
          </p:spPr>
          <p:txBody>
            <a:bodyPr wrap="square" rtlCol="0">
              <a:spAutoFit/>
            </a:bodyPr>
            <a:p>
              <a:r>
                <a:rPr lang="zh-CN" altLang="en-US">
                  <a:latin typeface="微软雅黑" panose="020B0503020204020204" charset="-122"/>
                  <a:ea typeface="微软雅黑" panose="020B0503020204020204" charset="-122"/>
                </a:rPr>
                <a:t>推荐优先看</a:t>
              </a:r>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不要在网上</a:t>
              </a:r>
              <a:r>
                <a:rPr lang="zh-CN" altLang="en-US">
                  <a:latin typeface="微软雅黑" panose="020B0503020204020204" charset="-122"/>
                  <a:ea typeface="微软雅黑" panose="020B0503020204020204" charset="-122"/>
                </a:rPr>
                <a:t>传播</a:t>
              </a:r>
              <a:endParaRPr lang="zh-CN" altLang="en-US">
                <a:latin typeface="微软雅黑" panose="020B0503020204020204" charset="-122"/>
                <a:ea typeface="微软雅黑" panose="020B0503020204020204" charset="-122"/>
              </a:endParaRPr>
            </a:p>
          </p:txBody>
        </p:sp>
      </p:grpSp>
      <p:sp>
        <p:nvSpPr>
          <p:cNvPr id="10" name="文本框 9"/>
          <p:cNvSpPr txBox="1"/>
          <p:nvPr/>
        </p:nvSpPr>
        <p:spPr>
          <a:xfrm>
            <a:off x="4077111" y="804064"/>
            <a:ext cx="4036060" cy="521970"/>
          </a:xfrm>
          <a:prstGeom prst="rect">
            <a:avLst/>
          </a:prstGeom>
          <a:noFill/>
        </p:spPr>
        <p:txBody>
          <a:bodyPr wrap="none" rtlCol="0">
            <a:spAutoFit/>
          </a:bodyPr>
          <a:p>
            <a:r>
              <a:rPr lang="en-US" altLang="zh-CN" sz="2800" dirty="0"/>
              <a:t>vivado &amp; </a:t>
            </a:r>
            <a:r>
              <a:rPr lang="en-US" altLang="zh-CN" sz="2800" dirty="0"/>
              <a:t>verilog</a:t>
            </a:r>
            <a:r>
              <a:rPr lang="zh-CN" altLang="en-US" sz="2800" dirty="0"/>
              <a:t>学习</a:t>
            </a:r>
            <a:r>
              <a:rPr lang="zh-CN" altLang="en-US" sz="2800" dirty="0"/>
              <a:t>资料</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7235" r="19901" b="13343"/>
          <a:stretch>
            <a:fillRect/>
          </a:stretch>
        </p:blipFill>
        <p:spPr>
          <a:xfrm>
            <a:off x="1828165" y="1390650"/>
            <a:ext cx="8689975" cy="4918710"/>
          </a:xfrm>
          <a:prstGeom prst="rect">
            <a:avLst/>
          </a:prstGeom>
        </p:spPr>
      </p:pic>
      <p:sp>
        <p:nvSpPr>
          <p:cNvPr id="10" name="文本框 9"/>
          <p:cNvSpPr txBox="1"/>
          <p:nvPr/>
        </p:nvSpPr>
        <p:spPr>
          <a:xfrm>
            <a:off x="4788946" y="804064"/>
            <a:ext cx="2613025" cy="521970"/>
          </a:xfrm>
          <a:prstGeom prst="rect">
            <a:avLst/>
          </a:prstGeom>
          <a:noFill/>
        </p:spPr>
        <p:txBody>
          <a:bodyPr wrap="none" rtlCol="0">
            <a:spAutoFit/>
          </a:bodyPr>
          <a:p>
            <a:r>
              <a:rPr lang="en-US" altLang="zh-CN" sz="2800" dirty="0"/>
              <a:t>verilog</a:t>
            </a:r>
            <a:r>
              <a:rPr lang="zh-CN" altLang="en-US" sz="2800" dirty="0"/>
              <a:t>菜鸟</a:t>
            </a:r>
            <a:r>
              <a:rPr lang="zh-CN" altLang="en-US" sz="2800" dirty="0"/>
              <a:t>教程</a:t>
            </a:r>
            <a:endParaRPr lang="zh-CN"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588921" y="870739"/>
            <a:ext cx="2677592" cy="523220"/>
          </a:xfrm>
          <a:prstGeom prst="rect">
            <a:avLst/>
          </a:prstGeom>
          <a:noFill/>
        </p:spPr>
        <p:txBody>
          <a:bodyPr wrap="none" rtlCol="0">
            <a:spAutoFit/>
          </a:bodyPr>
          <a:lstStyle/>
          <a:p>
            <a:r>
              <a:rPr lang="en-US" altLang="zh-CN" sz="2800" dirty="0"/>
              <a:t>Verilog</a:t>
            </a:r>
            <a:r>
              <a:rPr lang="zh-CN" altLang="en-US" sz="2800" dirty="0"/>
              <a:t>基本语法</a:t>
            </a:r>
            <a:endParaRPr lang="zh-CN" altLang="en-US" sz="2800" dirty="0"/>
          </a:p>
        </p:txBody>
      </p:sp>
      <p:sp>
        <p:nvSpPr>
          <p:cNvPr id="2" name="文本框 1"/>
          <p:cNvSpPr txBox="1"/>
          <p:nvPr/>
        </p:nvSpPr>
        <p:spPr>
          <a:xfrm>
            <a:off x="1390399" y="3692329"/>
            <a:ext cx="9803330" cy="2520370"/>
          </a:xfrm>
          <a:prstGeom prst="rect">
            <a:avLst/>
          </a:prstGeom>
          <a:noFill/>
        </p:spPr>
        <p:txBody>
          <a:bodyPr wrap="square" rtlCol="0">
            <a:spAutoFit/>
          </a:bodyPr>
          <a:lstStyle/>
          <a:p>
            <a:pPr marL="342900" indent="-342900">
              <a:lnSpc>
                <a:spcPct val="150000"/>
              </a:lnSpc>
              <a:buFont typeface="+mj-lt"/>
              <a:buAutoNum type="arabicPeriod"/>
            </a:pPr>
            <a:r>
              <a:rPr lang="en-US" altLang="zh-CN" dirty="0">
                <a:latin typeface="楷体" panose="02010609060101010101" pitchFamily="49" charset="-122"/>
                <a:ea typeface="楷体" panose="02010609060101010101" pitchFamily="49" charset="-122"/>
              </a:rPr>
              <a:t>Verilog</a:t>
            </a:r>
            <a:r>
              <a:rPr lang="zh-CN" altLang="en-US" dirty="0">
                <a:latin typeface="楷体" panose="02010609060101010101" pitchFamily="49" charset="-122"/>
                <a:ea typeface="楷体" panose="02010609060101010101" pitchFamily="49" charset="-122"/>
              </a:rPr>
              <a:t>程序的基本设计单元是“</a:t>
            </a:r>
            <a:r>
              <a:rPr lang="zh-CN" altLang="en-US" dirty="0">
                <a:solidFill>
                  <a:srgbClr val="FF0000"/>
                </a:solidFill>
                <a:latin typeface="楷体" panose="02010609060101010101" pitchFamily="49" charset="-122"/>
                <a:ea typeface="楷体" panose="02010609060101010101" pitchFamily="49" charset="-122"/>
              </a:rPr>
              <a:t>模块</a:t>
            </a:r>
            <a:r>
              <a:rPr lang="zh-CN" altLang="en-US" dirty="0">
                <a:latin typeface="楷体" panose="02010609060101010101" pitchFamily="49" charset="-122"/>
                <a:ea typeface="楷体" panose="02010609060101010101" pitchFamily="49" charset="-122"/>
              </a:rPr>
              <a:t>”。每个模块内容位于“</a:t>
            </a:r>
            <a:r>
              <a:rPr lang="en-US" altLang="zh-CN" dirty="0">
                <a:latin typeface="楷体" panose="02010609060101010101" pitchFamily="49" charset="-122"/>
                <a:ea typeface="楷体" panose="02010609060101010101" pitchFamily="49" charset="-122"/>
              </a:rPr>
              <a:t>module</a:t>
            </a:r>
            <a:r>
              <a:rPr lang="zh-CN" altLang="en-US" dirty="0">
                <a:latin typeface="楷体" panose="02010609060101010101" pitchFamily="49" charset="-122"/>
                <a:ea typeface="楷体" panose="02010609060101010101" pitchFamily="49" charset="-122"/>
              </a:rPr>
              <a:t>”和“</a:t>
            </a:r>
            <a:r>
              <a:rPr lang="en-US" altLang="zh-CN" dirty="0" err="1">
                <a:latin typeface="楷体" panose="02010609060101010101" pitchFamily="49" charset="-122"/>
                <a:ea typeface="楷体" panose="02010609060101010101" pitchFamily="49" charset="-122"/>
              </a:rPr>
              <a:t>endmodule</a:t>
            </a:r>
            <a:r>
              <a:rPr lang="zh-CN" altLang="en-US" dirty="0">
                <a:latin typeface="楷体" panose="02010609060101010101" pitchFamily="49" charset="-122"/>
                <a:ea typeface="楷体" panose="02010609060101010101" pitchFamily="49" charset="-122"/>
              </a:rPr>
              <a:t>”之间，实现特定的功能。</a:t>
            </a:r>
            <a:endParaRPr lang="en-US" altLang="zh-CN" dirty="0">
              <a:latin typeface="楷体" panose="02010609060101010101" pitchFamily="49" charset="-122"/>
              <a:ea typeface="楷体" panose="02010609060101010101" pitchFamily="49" charset="-122"/>
            </a:endParaRPr>
          </a:p>
          <a:p>
            <a:pPr marL="342900" indent="-342900">
              <a:lnSpc>
                <a:spcPct val="150000"/>
              </a:lnSpc>
              <a:buFont typeface="+mj-lt"/>
              <a:buAutoNum type="arabicPeriod"/>
            </a:pPr>
            <a:r>
              <a:rPr lang="zh-CN" altLang="en-US" dirty="0">
                <a:latin typeface="楷体" panose="02010609060101010101" pitchFamily="49" charset="-122"/>
                <a:ea typeface="楷体" panose="02010609060101010101" pitchFamily="49" charset="-122"/>
              </a:rPr>
              <a:t>实际上，编写</a:t>
            </a:r>
            <a:r>
              <a:rPr lang="en-US" altLang="zh-CN" dirty="0">
                <a:latin typeface="楷体" panose="02010609060101010101" pitchFamily="49" charset="-122"/>
                <a:ea typeface="楷体" panose="02010609060101010101" pitchFamily="49" charset="-122"/>
              </a:rPr>
              <a:t>Verilog</a:t>
            </a:r>
            <a:r>
              <a:rPr lang="zh-CN" altLang="en-US" dirty="0">
                <a:latin typeface="楷体" panose="02010609060101010101" pitchFamily="49" charset="-122"/>
                <a:ea typeface="楷体" panose="02010609060101010101" pitchFamily="49" charset="-122"/>
              </a:rPr>
              <a:t>代码可以分成两部分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即</a:t>
            </a:r>
            <a:r>
              <a:rPr lang="zh-CN" altLang="en-US" dirty="0">
                <a:solidFill>
                  <a:srgbClr val="FF0000"/>
                </a:solidFill>
                <a:latin typeface="楷体" panose="02010609060101010101" pitchFamily="49" charset="-122"/>
                <a:ea typeface="楷体" panose="02010609060101010101" pitchFamily="49" charset="-122"/>
              </a:rPr>
              <a:t>实现</a:t>
            </a:r>
            <a:r>
              <a:rPr lang="zh-CN" altLang="en-US" dirty="0">
                <a:latin typeface="楷体" panose="02010609060101010101" pitchFamily="49" charset="-122"/>
                <a:ea typeface="楷体" panose="02010609060101010101" pitchFamily="49" charset="-122"/>
              </a:rPr>
              <a:t>“模块”和</a:t>
            </a:r>
            <a:r>
              <a:rPr lang="zh-CN" altLang="en-US" dirty="0">
                <a:solidFill>
                  <a:srgbClr val="FF0000"/>
                </a:solidFill>
                <a:latin typeface="楷体" panose="02010609060101010101" pitchFamily="49" charset="-122"/>
                <a:ea typeface="楷体" panose="02010609060101010101" pitchFamily="49" charset="-122"/>
              </a:rPr>
              <a:t>调用</a:t>
            </a:r>
            <a:r>
              <a:rPr lang="zh-CN" altLang="en-US" dirty="0">
                <a:latin typeface="楷体" panose="02010609060101010101" pitchFamily="49" charset="-122"/>
                <a:ea typeface="楷体" panose="02010609060101010101" pitchFamily="49" charset="-122"/>
              </a:rPr>
              <a:t>“模块”，这和</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语言的“函数”有相似之处。</a:t>
            </a:r>
            <a:endParaRPr lang="en-US" altLang="zh-CN" dirty="0">
              <a:latin typeface="楷体" panose="02010609060101010101" pitchFamily="49" charset="-122"/>
              <a:ea typeface="楷体" panose="02010609060101010101" pitchFamily="49" charset="-122"/>
            </a:endParaRPr>
          </a:p>
          <a:p>
            <a:pPr marL="342900" indent="-342900">
              <a:lnSpc>
                <a:spcPct val="150000"/>
              </a:lnSpc>
              <a:buFont typeface="+mj-lt"/>
              <a:buAutoNum type="arabicPeriod"/>
            </a:pPr>
            <a:r>
              <a:rPr lang="zh-CN" altLang="en-US" dirty="0">
                <a:latin typeface="楷体" panose="02010609060101010101" pitchFamily="49" charset="-122"/>
                <a:ea typeface="楷体" panose="02010609060101010101" pitchFamily="49" charset="-122"/>
              </a:rPr>
              <a:t>需要特别注意！</a:t>
            </a:r>
            <a:r>
              <a:rPr lang="en-US" altLang="zh-CN" dirty="0">
                <a:latin typeface="楷体" panose="02010609060101010101" pitchFamily="49" charset="-122"/>
                <a:ea typeface="楷体" panose="02010609060101010101" pitchFamily="49" charset="-122"/>
              </a:rPr>
              <a:t>Verilog</a:t>
            </a:r>
            <a:r>
              <a:rPr lang="zh-CN" altLang="en-US" dirty="0">
                <a:latin typeface="楷体" panose="02010609060101010101" pitchFamily="49" charset="-122"/>
                <a:ea typeface="楷体" panose="02010609060101010101" pitchFamily="49" charset="-122"/>
              </a:rPr>
              <a:t>作为</a:t>
            </a:r>
            <a:r>
              <a:rPr lang="zh-CN" altLang="en-US" dirty="0">
                <a:solidFill>
                  <a:srgbClr val="FF0000"/>
                </a:solidFill>
                <a:latin typeface="楷体" panose="02010609060101010101" pitchFamily="49" charset="-122"/>
                <a:ea typeface="楷体" panose="02010609060101010101" pitchFamily="49" charset="-122"/>
              </a:rPr>
              <a:t>硬件描述语言</a:t>
            </a:r>
            <a:r>
              <a:rPr lang="zh-CN" altLang="en-US" dirty="0">
                <a:latin typeface="楷体" panose="02010609060101010101" pitchFamily="49" charset="-122"/>
                <a:ea typeface="楷体" panose="02010609060101010101" pitchFamily="49" charset="-122"/>
              </a:rPr>
              <a:t>，每个语句都和</a:t>
            </a:r>
            <a:r>
              <a:rPr lang="zh-CN" altLang="en-US" dirty="0">
                <a:solidFill>
                  <a:srgbClr val="FF0000"/>
                </a:solidFill>
                <a:latin typeface="楷体" panose="02010609060101010101" pitchFamily="49" charset="-122"/>
                <a:ea typeface="楷体" panose="02010609060101010101" pitchFamily="49" charset="-122"/>
              </a:rPr>
              <a:t>实际的数字电路器件相对应</a:t>
            </a:r>
            <a:r>
              <a:rPr lang="zh-CN" altLang="en-US" dirty="0">
                <a:latin typeface="楷体" panose="02010609060101010101" pitchFamily="49" charset="-122"/>
                <a:ea typeface="楷体" panose="02010609060101010101" pitchFamily="49" charset="-122"/>
              </a:rPr>
              <a:t>，编写代码的时候就要清楚电路构成，而不能和</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语言一样只当代码来编写。</a:t>
            </a: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3727559" y="1519206"/>
            <a:ext cx="4876800" cy="2047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588921" y="870739"/>
            <a:ext cx="2677592" cy="523220"/>
          </a:xfrm>
          <a:prstGeom prst="rect">
            <a:avLst/>
          </a:prstGeom>
          <a:noFill/>
        </p:spPr>
        <p:txBody>
          <a:bodyPr wrap="none" rtlCol="0">
            <a:spAutoFit/>
          </a:bodyPr>
          <a:lstStyle/>
          <a:p>
            <a:r>
              <a:rPr lang="en-US" altLang="zh-CN" sz="2800" dirty="0"/>
              <a:t>Verilog</a:t>
            </a:r>
            <a:r>
              <a:rPr lang="zh-CN" altLang="en-US" sz="2800" dirty="0"/>
              <a:t>基本语法</a:t>
            </a:r>
            <a:endParaRPr lang="zh-CN" altLang="en-US" sz="2800" dirty="0"/>
          </a:p>
        </p:txBody>
      </p:sp>
      <p:sp>
        <p:nvSpPr>
          <p:cNvPr id="2" name="文本框 1"/>
          <p:cNvSpPr txBox="1"/>
          <p:nvPr/>
        </p:nvSpPr>
        <p:spPr>
          <a:xfrm>
            <a:off x="1353578" y="1393959"/>
            <a:ext cx="9803330" cy="858377"/>
          </a:xfrm>
          <a:prstGeom prst="rect">
            <a:avLst/>
          </a:prstGeom>
          <a:noFill/>
        </p:spPr>
        <p:txBody>
          <a:bodyPr wrap="square" rtlCol="0">
            <a:spAutoFit/>
          </a:bodyPr>
          <a:lstStyle/>
          <a:p>
            <a:pPr>
              <a:lnSpc>
                <a:spcPct val="150000"/>
              </a:lnSpc>
            </a:pPr>
            <a:r>
              <a:rPr lang="en-US" altLang="zh-CN" dirty="0">
                <a:latin typeface="楷体" panose="02010609060101010101" pitchFamily="49" charset="-122"/>
                <a:ea typeface="楷体" panose="02010609060101010101" pitchFamily="49" charset="-122"/>
              </a:rPr>
              <a:t>Verilog</a:t>
            </a:r>
            <a:r>
              <a:rPr lang="zh-CN" altLang="en-US" dirty="0">
                <a:latin typeface="楷体" panose="02010609060101010101" pitchFamily="49" charset="-122"/>
                <a:ea typeface="楷体" panose="02010609060101010101" pitchFamily="49" charset="-122"/>
              </a:rPr>
              <a:t>有三种常见的描述方式：</a:t>
            </a:r>
            <a:r>
              <a:rPr lang="zh-CN" altLang="en-US" dirty="0">
                <a:solidFill>
                  <a:srgbClr val="FF0000"/>
                </a:solidFill>
                <a:latin typeface="楷体" panose="02010609060101010101" pitchFamily="49" charset="-122"/>
                <a:ea typeface="楷体" panose="02010609060101010101" pitchFamily="49" charset="-122"/>
              </a:rPr>
              <a:t>数据流描述</a:t>
            </a:r>
            <a:r>
              <a:rPr lang="zh-CN" altLang="en-US"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门级描述</a:t>
            </a:r>
            <a:r>
              <a:rPr lang="zh-CN" altLang="en-US"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行为描述</a:t>
            </a:r>
            <a:r>
              <a:rPr lang="zh-CN" altLang="en-US" dirty="0">
                <a:latin typeface="楷体" panose="02010609060101010101" pitchFamily="49" charset="-122"/>
                <a:ea typeface="楷体" panose="02010609060101010101" pitchFamily="49" charset="-122"/>
              </a:rPr>
              <a:t>，接下来以</a:t>
            </a:r>
            <a:r>
              <a:rPr lang="zh-CN" altLang="en-US" dirty="0">
                <a:solidFill>
                  <a:srgbClr val="FF0000"/>
                </a:solidFill>
                <a:latin typeface="楷体" panose="02010609060101010101" pitchFamily="49" charset="-122"/>
                <a:ea typeface="楷体" panose="02010609060101010101" pitchFamily="49" charset="-122"/>
              </a:rPr>
              <a:t>二选一数据选择器（</a:t>
            </a:r>
            <a:r>
              <a:rPr lang="en-US" altLang="zh-CN" dirty="0">
                <a:solidFill>
                  <a:srgbClr val="FF0000"/>
                </a:solidFill>
                <a:latin typeface="楷体" panose="02010609060101010101" pitchFamily="49" charset="-122"/>
                <a:ea typeface="楷体" panose="02010609060101010101" pitchFamily="49" charset="-122"/>
              </a:rPr>
              <a:t>Lab1</a:t>
            </a:r>
            <a:r>
              <a:rPr lang="zh-CN" altLang="en-US" dirty="0">
                <a:solidFill>
                  <a:srgbClr val="FF0000"/>
                </a:solidFill>
                <a:latin typeface="楷体" panose="02010609060101010101" pitchFamily="49" charset="-122"/>
                <a:ea typeface="楷体" panose="02010609060101010101" pitchFamily="49" charset="-122"/>
              </a:rPr>
              <a:t>的内容）</a:t>
            </a:r>
            <a:r>
              <a:rPr lang="zh-CN" altLang="en-US" dirty="0">
                <a:latin typeface="楷体" panose="02010609060101010101" pitchFamily="49" charset="-122"/>
                <a:ea typeface="楷体" panose="02010609060101010101" pitchFamily="49" charset="-122"/>
              </a:rPr>
              <a:t>的设计为例，介绍一下这三种描述方式。</a:t>
            </a:r>
            <a:endParaRPr lang="zh-CN" altLang="en-US" dirty="0">
              <a:latin typeface="楷体" panose="02010609060101010101" pitchFamily="49" charset="-122"/>
              <a:ea typeface="楷体" panose="02010609060101010101" pitchFamily="49" charset="-122"/>
            </a:endParaRPr>
          </a:p>
        </p:txBody>
      </p:sp>
      <p:pic>
        <p:nvPicPr>
          <p:cNvPr id="7" name="图片 6"/>
          <p:cNvPicPr>
            <a:picLocks noChangeAspect="1"/>
          </p:cNvPicPr>
          <p:nvPr/>
        </p:nvPicPr>
        <p:blipFill>
          <a:blip r:embed="rId1"/>
          <a:stretch>
            <a:fillRect/>
          </a:stretch>
        </p:blipFill>
        <p:spPr>
          <a:xfrm>
            <a:off x="3362645" y="2474069"/>
            <a:ext cx="6014558" cy="3147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05985" y="870739"/>
            <a:ext cx="1980029" cy="523220"/>
          </a:xfrm>
          <a:prstGeom prst="rect">
            <a:avLst/>
          </a:prstGeom>
          <a:noFill/>
        </p:spPr>
        <p:txBody>
          <a:bodyPr wrap="none" rtlCol="0">
            <a:spAutoFit/>
          </a:bodyPr>
          <a:lstStyle/>
          <a:p>
            <a:r>
              <a:rPr lang="zh-CN" altLang="en-US" sz="2800" dirty="0"/>
              <a:t>数据流描述</a:t>
            </a:r>
            <a:endParaRPr lang="zh-CN" altLang="en-US" sz="2800" dirty="0"/>
          </a:p>
        </p:txBody>
      </p:sp>
      <p:pic>
        <p:nvPicPr>
          <p:cNvPr id="7" name="图片 6"/>
          <p:cNvPicPr>
            <a:picLocks noChangeAspect="1"/>
          </p:cNvPicPr>
          <p:nvPr/>
        </p:nvPicPr>
        <p:blipFill>
          <a:blip r:embed="rId1"/>
          <a:stretch>
            <a:fillRect/>
          </a:stretch>
        </p:blipFill>
        <p:spPr>
          <a:xfrm>
            <a:off x="895163" y="2526394"/>
            <a:ext cx="5414696" cy="2833271"/>
          </a:xfrm>
          <a:prstGeom prst="rect">
            <a:avLst/>
          </a:prstGeom>
        </p:spPr>
      </p:pic>
      <p:pic>
        <p:nvPicPr>
          <p:cNvPr id="5" name="图片 4"/>
          <p:cNvPicPr>
            <a:picLocks noChangeAspect="1"/>
          </p:cNvPicPr>
          <p:nvPr/>
        </p:nvPicPr>
        <p:blipFill>
          <a:blip r:embed="rId2"/>
          <a:stretch>
            <a:fillRect/>
          </a:stretch>
        </p:blipFill>
        <p:spPr>
          <a:xfrm>
            <a:off x="6568950" y="3282640"/>
            <a:ext cx="4876800" cy="2047875"/>
          </a:xfrm>
          <a:prstGeom prst="rect">
            <a:avLst/>
          </a:prstGeom>
        </p:spPr>
      </p:pic>
      <p:pic>
        <p:nvPicPr>
          <p:cNvPr id="9" name="图片 8"/>
          <p:cNvPicPr>
            <a:picLocks noChangeAspect="1"/>
          </p:cNvPicPr>
          <p:nvPr/>
        </p:nvPicPr>
        <p:blipFill>
          <a:blip r:embed="rId3"/>
          <a:stretch>
            <a:fillRect/>
          </a:stretch>
        </p:blipFill>
        <p:spPr>
          <a:xfrm>
            <a:off x="6568950" y="2526394"/>
            <a:ext cx="3827939" cy="625525"/>
          </a:xfrm>
          <a:prstGeom prst="rect">
            <a:avLst/>
          </a:prstGeom>
        </p:spPr>
      </p:pic>
      <p:sp>
        <p:nvSpPr>
          <p:cNvPr id="10" name="文本框 9"/>
          <p:cNvSpPr txBox="1"/>
          <p:nvPr/>
        </p:nvSpPr>
        <p:spPr>
          <a:xfrm>
            <a:off x="1353578" y="1393959"/>
            <a:ext cx="9803330" cy="442878"/>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数据流描述多用于描述组合逻辑电路，使用</a:t>
            </a:r>
            <a:r>
              <a:rPr lang="en-US" altLang="zh-CN" dirty="0">
                <a:latin typeface="楷体" panose="02010609060101010101" pitchFamily="49" charset="-122"/>
                <a:ea typeface="楷体" panose="02010609060101010101" pitchFamily="49" charset="-122"/>
              </a:rPr>
              <a:t>assign</a:t>
            </a:r>
            <a:r>
              <a:rPr lang="zh-CN" altLang="en-US" dirty="0">
                <a:latin typeface="楷体" panose="02010609060101010101" pitchFamily="49" charset="-122"/>
                <a:ea typeface="楷体" panose="02010609060101010101" pitchFamily="49" charset="-122"/>
              </a:rPr>
              <a:t>，简单粗暴，直接使用布尔表达式赋值。</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1620957" cy="523220"/>
          </a:xfrm>
          <a:prstGeom prst="rect">
            <a:avLst/>
          </a:prstGeom>
          <a:noFill/>
        </p:spPr>
        <p:txBody>
          <a:bodyPr wrap="none" rtlCol="0">
            <a:spAutoFit/>
          </a:bodyPr>
          <a:lstStyle/>
          <a:p>
            <a:r>
              <a:rPr lang="zh-CN" altLang="en-US" sz="2800" dirty="0"/>
              <a:t>门级描述</a:t>
            </a:r>
            <a:endParaRPr lang="zh-CN" altLang="en-US" sz="2800" dirty="0"/>
          </a:p>
        </p:txBody>
      </p:sp>
      <p:pic>
        <p:nvPicPr>
          <p:cNvPr id="7" name="图片 6"/>
          <p:cNvPicPr>
            <a:picLocks noChangeAspect="1"/>
          </p:cNvPicPr>
          <p:nvPr/>
        </p:nvPicPr>
        <p:blipFill>
          <a:blip r:embed="rId1"/>
          <a:stretch>
            <a:fillRect/>
          </a:stretch>
        </p:blipFill>
        <p:spPr>
          <a:xfrm>
            <a:off x="840547" y="2149537"/>
            <a:ext cx="5414696" cy="2833271"/>
          </a:xfrm>
          <a:prstGeom prst="rect">
            <a:avLst/>
          </a:prstGeom>
        </p:spPr>
      </p:pic>
      <p:sp>
        <p:nvSpPr>
          <p:cNvPr id="10" name="文本框 9"/>
          <p:cNvSpPr txBox="1"/>
          <p:nvPr/>
        </p:nvSpPr>
        <p:spPr>
          <a:xfrm>
            <a:off x="1353578" y="1393959"/>
            <a:ext cx="9803330" cy="442878"/>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门级描述直接调用逻辑门元件构建电路，按照电路图搭建即可。</a:t>
            </a: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6670664" y="2149537"/>
            <a:ext cx="3514725" cy="3038475"/>
          </a:xfrm>
          <a:prstGeom prst="rect">
            <a:avLst/>
          </a:prstGeom>
        </p:spPr>
      </p:pic>
      <p:sp>
        <p:nvSpPr>
          <p:cNvPr id="6" name="文本框 5"/>
          <p:cNvSpPr txBox="1"/>
          <p:nvPr/>
        </p:nvSpPr>
        <p:spPr>
          <a:xfrm>
            <a:off x="2756993" y="4581692"/>
            <a:ext cx="748703" cy="369332"/>
          </a:xfrm>
          <a:prstGeom prst="rect">
            <a:avLst/>
          </a:prstGeom>
          <a:noFill/>
        </p:spPr>
        <p:txBody>
          <a:bodyPr wrap="square" rtlCol="0">
            <a:spAutoFit/>
          </a:bodyPr>
          <a:lstStyle/>
          <a:p>
            <a:r>
              <a:rPr lang="en-US" altLang="zh-CN" dirty="0" err="1">
                <a:latin typeface="楷体" panose="02010609060101010101" pitchFamily="49" charset="-122"/>
                <a:ea typeface="楷体" panose="02010609060101010101" pitchFamily="49" charset="-122"/>
              </a:rPr>
              <a:t>notA</a:t>
            </a:r>
            <a:endParaRPr lang="zh-CN" altLang="en-US" dirty="0">
              <a:latin typeface="楷体" panose="02010609060101010101" pitchFamily="49" charset="-122"/>
              <a:ea typeface="楷体" panose="02010609060101010101" pitchFamily="49" charset="-122"/>
            </a:endParaRPr>
          </a:p>
        </p:txBody>
      </p:sp>
      <p:sp>
        <p:nvSpPr>
          <p:cNvPr id="8" name="文本框 7"/>
          <p:cNvSpPr txBox="1"/>
          <p:nvPr/>
        </p:nvSpPr>
        <p:spPr>
          <a:xfrm>
            <a:off x="3971079" y="2230232"/>
            <a:ext cx="748703" cy="369332"/>
          </a:xfrm>
          <a:prstGeom prst="rect">
            <a:avLst/>
          </a:prstGeom>
          <a:noFill/>
        </p:spPr>
        <p:txBody>
          <a:bodyPr wrap="square" rtlCol="0">
            <a:spAutoFit/>
          </a:bodyPr>
          <a:lstStyle/>
          <a:p>
            <a:r>
              <a:rPr lang="en-US" altLang="zh-CN" dirty="0">
                <a:latin typeface="楷体" panose="02010609060101010101" pitchFamily="49" charset="-122"/>
                <a:ea typeface="楷体" panose="02010609060101010101" pitchFamily="49" charset="-122"/>
              </a:rPr>
              <a:t>Y1</a:t>
            </a:r>
            <a:endParaRPr lang="zh-CN" altLang="en-US" dirty="0">
              <a:latin typeface="楷体" panose="02010609060101010101" pitchFamily="49" charset="-122"/>
              <a:ea typeface="楷体" panose="02010609060101010101" pitchFamily="49" charset="-122"/>
            </a:endParaRPr>
          </a:p>
        </p:txBody>
      </p:sp>
      <p:sp>
        <p:nvSpPr>
          <p:cNvPr id="11" name="文本框 10"/>
          <p:cNvSpPr txBox="1"/>
          <p:nvPr/>
        </p:nvSpPr>
        <p:spPr>
          <a:xfrm>
            <a:off x="4037562" y="3591592"/>
            <a:ext cx="748703" cy="369332"/>
          </a:xfrm>
          <a:prstGeom prst="rect">
            <a:avLst/>
          </a:prstGeom>
          <a:noFill/>
        </p:spPr>
        <p:txBody>
          <a:bodyPr wrap="square" rtlCol="0">
            <a:spAutoFit/>
          </a:bodyPr>
          <a:lstStyle/>
          <a:p>
            <a:r>
              <a:rPr lang="en-US" altLang="zh-CN" dirty="0">
                <a:latin typeface="楷体" panose="02010609060101010101" pitchFamily="49" charset="-122"/>
                <a:ea typeface="楷体" panose="02010609060101010101" pitchFamily="49" charset="-122"/>
              </a:rPr>
              <a:t>Y2</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1620957" cy="523220"/>
          </a:xfrm>
          <a:prstGeom prst="rect">
            <a:avLst/>
          </a:prstGeom>
          <a:noFill/>
        </p:spPr>
        <p:txBody>
          <a:bodyPr wrap="none" rtlCol="0">
            <a:spAutoFit/>
          </a:bodyPr>
          <a:lstStyle/>
          <a:p>
            <a:r>
              <a:rPr lang="zh-CN" altLang="en-US" sz="2800" dirty="0"/>
              <a:t>行为描述</a:t>
            </a:r>
            <a:endParaRPr lang="zh-CN" altLang="en-US" sz="2800" dirty="0"/>
          </a:p>
        </p:txBody>
      </p:sp>
      <p:pic>
        <p:nvPicPr>
          <p:cNvPr id="7" name="图片 6"/>
          <p:cNvPicPr>
            <a:picLocks noChangeAspect="1"/>
          </p:cNvPicPr>
          <p:nvPr/>
        </p:nvPicPr>
        <p:blipFill>
          <a:blip r:embed="rId1"/>
          <a:stretch>
            <a:fillRect/>
          </a:stretch>
        </p:blipFill>
        <p:spPr>
          <a:xfrm>
            <a:off x="883506" y="2303538"/>
            <a:ext cx="5414696" cy="2833271"/>
          </a:xfrm>
          <a:prstGeom prst="rect">
            <a:avLst/>
          </a:prstGeom>
        </p:spPr>
      </p:pic>
      <p:sp>
        <p:nvSpPr>
          <p:cNvPr id="10" name="文本框 9"/>
          <p:cNvSpPr txBox="1"/>
          <p:nvPr/>
        </p:nvSpPr>
        <p:spPr>
          <a:xfrm>
            <a:off x="1353578" y="1393959"/>
            <a:ext cx="9803330" cy="858377"/>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行为描述不再关注具体电路的结构，而是注重描述清楚输入和输出信号的行为，常用于</a:t>
            </a:r>
            <a:r>
              <a:rPr lang="zh-CN" altLang="en-US" dirty="0">
                <a:solidFill>
                  <a:srgbClr val="FF0000"/>
                </a:solidFill>
                <a:latin typeface="楷体" panose="02010609060101010101" pitchFamily="49" charset="-122"/>
                <a:ea typeface="楷体" panose="02010609060101010101" pitchFamily="49" charset="-122"/>
              </a:rPr>
              <a:t>复杂逻辑电路</a:t>
            </a:r>
            <a:r>
              <a:rPr lang="zh-CN" altLang="en-US" dirty="0">
                <a:latin typeface="楷体" panose="02010609060101010101" pitchFamily="49" charset="-122"/>
                <a:ea typeface="楷体" panose="02010609060101010101" pitchFamily="49" charset="-122"/>
              </a:rPr>
              <a:t>的设计。对于简单的组合逻辑电路，并不推荐用行为描述的方式！</a:t>
            </a:r>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7434837" y="2303538"/>
            <a:ext cx="2918135" cy="2968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2002471" cy="523220"/>
          </a:xfrm>
          <a:prstGeom prst="rect">
            <a:avLst/>
          </a:prstGeom>
          <a:noFill/>
        </p:spPr>
        <p:txBody>
          <a:bodyPr wrap="none" rtlCol="0">
            <a:spAutoFit/>
          </a:bodyPr>
          <a:lstStyle/>
          <a:p>
            <a:r>
              <a:rPr lang="zh-CN" altLang="en-US" sz="2800" dirty="0"/>
              <a:t>层次化设计</a:t>
            </a:r>
            <a:endParaRPr lang="zh-CN" altLang="en-US" sz="2800" dirty="0"/>
          </a:p>
        </p:txBody>
      </p:sp>
      <p:sp>
        <p:nvSpPr>
          <p:cNvPr id="10" name="文本框 9"/>
          <p:cNvSpPr txBox="1"/>
          <p:nvPr/>
        </p:nvSpPr>
        <p:spPr>
          <a:xfrm>
            <a:off x="1353578" y="1393959"/>
            <a:ext cx="9803330" cy="1273875"/>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之前已经讲过，编写</a:t>
            </a:r>
            <a:r>
              <a:rPr lang="en-US" altLang="zh-CN" dirty="0">
                <a:latin typeface="楷体" panose="02010609060101010101" pitchFamily="49" charset="-122"/>
                <a:ea typeface="楷体" panose="02010609060101010101" pitchFamily="49" charset="-122"/>
              </a:rPr>
              <a:t>Verilog</a:t>
            </a:r>
            <a:r>
              <a:rPr lang="zh-CN" altLang="en-US" dirty="0">
                <a:latin typeface="楷体" panose="02010609060101010101" pitchFamily="49" charset="-122"/>
                <a:ea typeface="楷体" panose="02010609060101010101" pitchFamily="49" charset="-122"/>
              </a:rPr>
              <a:t>代码可以分成两部分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即</a:t>
            </a:r>
            <a:r>
              <a:rPr lang="zh-CN" altLang="en-US" dirty="0">
                <a:solidFill>
                  <a:srgbClr val="FF0000"/>
                </a:solidFill>
                <a:latin typeface="楷体" panose="02010609060101010101" pitchFamily="49" charset="-122"/>
                <a:ea typeface="楷体" panose="02010609060101010101" pitchFamily="49" charset="-122"/>
              </a:rPr>
              <a:t>实现</a:t>
            </a:r>
            <a:r>
              <a:rPr lang="zh-CN" altLang="en-US" dirty="0">
                <a:latin typeface="楷体" panose="02010609060101010101" pitchFamily="49" charset="-122"/>
                <a:ea typeface="楷体" panose="02010609060101010101" pitchFamily="49" charset="-122"/>
              </a:rPr>
              <a:t>“模块”和</a:t>
            </a:r>
            <a:r>
              <a:rPr lang="zh-CN" altLang="en-US" dirty="0">
                <a:solidFill>
                  <a:srgbClr val="FF0000"/>
                </a:solidFill>
                <a:latin typeface="楷体" panose="02010609060101010101" pitchFamily="49" charset="-122"/>
                <a:ea typeface="楷体" panose="02010609060101010101" pitchFamily="49" charset="-122"/>
              </a:rPr>
              <a:t>调用</a:t>
            </a:r>
            <a:r>
              <a:rPr lang="zh-CN" altLang="en-US" dirty="0">
                <a:latin typeface="楷体" panose="02010609060101010101" pitchFamily="49" charset="-122"/>
                <a:ea typeface="楷体" panose="02010609060101010101" pitchFamily="49" charset="-122"/>
              </a:rPr>
              <a:t>“模块”，实现模块的三种基本风格已经在前面讲过了。接下来讲如何调用。</a:t>
            </a:r>
            <a:endParaRPr lang="en-US" altLang="zh-CN" dirty="0">
              <a:latin typeface="楷体" panose="02010609060101010101" pitchFamily="49" charset="-122"/>
              <a:ea typeface="楷体" panose="02010609060101010101" pitchFamily="49" charset="-122"/>
            </a:endParaRPr>
          </a:p>
          <a:p>
            <a:pPr>
              <a:lnSpc>
                <a:spcPct val="150000"/>
              </a:lnSpc>
            </a:pPr>
            <a:r>
              <a:rPr lang="zh-CN" altLang="en-US" dirty="0">
                <a:latin typeface="楷体" panose="02010609060101010101" pitchFamily="49" charset="-122"/>
                <a:ea typeface="楷体" panose="02010609060101010101" pitchFamily="49" charset="-122"/>
              </a:rPr>
              <a:t>一个典型的调用模块的例子：</a:t>
            </a: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2662237" y="2790825"/>
            <a:ext cx="6867525" cy="638175"/>
          </a:xfrm>
          <a:prstGeom prst="rect">
            <a:avLst/>
          </a:prstGeom>
        </p:spPr>
      </p:pic>
      <p:sp>
        <p:nvSpPr>
          <p:cNvPr id="6" name="文本框 5"/>
          <p:cNvSpPr txBox="1"/>
          <p:nvPr/>
        </p:nvSpPr>
        <p:spPr>
          <a:xfrm>
            <a:off x="1353578" y="3553229"/>
            <a:ext cx="9803330" cy="1689373"/>
          </a:xfrm>
          <a:prstGeom prst="rect">
            <a:avLst/>
          </a:prstGeom>
          <a:noFill/>
        </p:spPr>
        <p:txBody>
          <a:bodyPr wrap="square" rtlCol="0">
            <a:spAutoFit/>
          </a:bodyPr>
          <a:lstStyle/>
          <a:p>
            <a:pPr>
              <a:lnSpc>
                <a:spcPct val="150000"/>
              </a:lnSpc>
            </a:pPr>
            <a:r>
              <a:rPr lang="en-US" altLang="zh-CN" dirty="0" err="1">
                <a:latin typeface="楷体" panose="02010609060101010101" pitchFamily="49" charset="-122"/>
                <a:ea typeface="楷体" panose="02010609060101010101" pitchFamily="49" charset="-122"/>
              </a:rPr>
              <a:t>counter_n</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模块名，用于帮助找到调用的是哪个模块。</a:t>
            </a:r>
            <a:endParaRPr lang="en-US" altLang="zh-CN" dirty="0">
              <a:latin typeface="楷体" panose="02010609060101010101" pitchFamily="49" charset="-122"/>
              <a:ea typeface="楷体" panose="02010609060101010101" pitchFamily="49" charset="-122"/>
            </a:endParaRPr>
          </a:p>
          <a:p>
            <a:pPr>
              <a:lnSpc>
                <a:spcPct val="150000"/>
              </a:lnSpc>
            </a:pPr>
            <a:r>
              <a:rPr lang="en-US" altLang="zh-CN" dirty="0">
                <a:latin typeface="楷体" panose="02010609060101010101" pitchFamily="49" charset="-122"/>
                <a:ea typeface="楷体" panose="02010609060101010101" pitchFamily="49" charset="-122"/>
              </a:rPr>
              <a:t>#</a:t>
            </a:r>
            <a:r>
              <a:rPr lang="pt-BR" altLang="zh-CN" dirty="0">
                <a:latin typeface="楷体" panose="02010609060101010101" pitchFamily="49" charset="-122"/>
                <a:ea typeface="楷体" panose="02010609060101010101" pitchFamily="49" charset="-122"/>
              </a:rPr>
              <a:t>(.n(sim?10:5000_0000),.counter_bits(sim?4:26))</a:t>
            </a:r>
            <a:r>
              <a:rPr lang="zh-CN" altLang="en-US" dirty="0">
                <a:latin typeface="楷体" panose="02010609060101010101" pitchFamily="49" charset="-122"/>
                <a:ea typeface="楷体" panose="02010609060101010101" pitchFamily="49" charset="-122"/>
              </a:rPr>
              <a:t>：在线显式重载参数。</a:t>
            </a:r>
            <a:endParaRPr lang="en-US" altLang="zh-CN" dirty="0">
              <a:latin typeface="楷体" panose="02010609060101010101" pitchFamily="49" charset="-122"/>
              <a:ea typeface="楷体" panose="02010609060101010101" pitchFamily="49" charset="-122"/>
            </a:endParaRPr>
          </a:p>
          <a:p>
            <a:pPr>
              <a:lnSpc>
                <a:spcPct val="150000"/>
              </a:lnSpc>
            </a:pPr>
            <a:r>
              <a:rPr lang="en-US" altLang="zh-CN" dirty="0" err="1">
                <a:latin typeface="楷体" panose="02010609060101010101" pitchFamily="49" charset="-122"/>
                <a:ea typeface="楷体" panose="02010609060101010101" pitchFamily="49" charset="-122"/>
              </a:rPr>
              <a:t>div_inst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实例名，用于在综合后标注该器件的名字，实例名不能重复。</a:t>
            </a:r>
            <a:endParaRPr lang="en-US" altLang="zh-CN" dirty="0">
              <a:latin typeface="楷体" panose="02010609060101010101" pitchFamily="49" charset="-122"/>
              <a:ea typeface="楷体" panose="02010609060101010101" pitchFamily="49" charset="-122"/>
            </a:endParaRPr>
          </a:p>
          <a:p>
            <a:pPr>
              <a:lnSpc>
                <a:spcPct val="150000"/>
              </a:lnSpc>
            </a:pPr>
            <a:r>
              <a:rPr lang="en-US" altLang="zh-CN" dirty="0">
                <a:latin typeface="楷体" panose="02010609060101010101" pitchFamily="49" charset="-122"/>
                <a:ea typeface="楷体" panose="02010609060101010101" pitchFamily="49" charset="-122"/>
              </a:rPr>
              <a:t>(.</a:t>
            </a:r>
            <a:r>
              <a:rPr lang="en-US" altLang="zh-CN" dirty="0" err="1">
                <a:latin typeface="楷体" panose="02010609060101010101" pitchFamily="49" charset="-122"/>
                <a:ea typeface="楷体" panose="02010609060101010101" pitchFamily="49" charset="-122"/>
              </a:rPr>
              <a:t>clk</a:t>
            </a:r>
            <a:r>
              <a:rPr lang="en-US" altLang="zh-CN" dirty="0">
                <a:latin typeface="楷体" panose="02010609060101010101" pitchFamily="49" charset="-122"/>
                <a:ea typeface="楷体" panose="02010609060101010101" pitchFamily="49" charset="-122"/>
              </a:rPr>
              <a:t>(</a:t>
            </a:r>
            <a:r>
              <a:rPr lang="en-US" altLang="zh-CN" dirty="0" err="1">
                <a:latin typeface="楷体" panose="02010609060101010101" pitchFamily="49" charset="-122"/>
                <a:ea typeface="楷体" panose="02010609060101010101" pitchFamily="49" charset="-122"/>
              </a:rPr>
              <a:t>clk</a:t>
            </a:r>
            <a:r>
              <a:rPr lang="en-US"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en</a:t>
            </a:r>
            <a:r>
              <a:rPr lang="en-US" altLang="zh-CN" dirty="0">
                <a:latin typeface="楷体" panose="02010609060101010101" pitchFamily="49" charset="-122"/>
                <a:ea typeface="楷体" panose="02010609060101010101" pitchFamily="49" charset="-122"/>
              </a:rPr>
              <a:t>(1), .r(0), .q(),.co(pulse2Hz))</a:t>
            </a:r>
            <a:r>
              <a:rPr lang="zh-CN" altLang="en-US" dirty="0">
                <a:latin typeface="楷体" panose="02010609060101010101" pitchFamily="49" charset="-122"/>
                <a:ea typeface="楷体" panose="02010609060101010101" pitchFamily="49" charset="-122"/>
              </a:rPr>
              <a:t>：端口连线。</a:t>
            </a:r>
            <a:endParaRPr lang="zh-CN" altLang="en-US" dirty="0">
              <a:latin typeface="楷体" panose="02010609060101010101" pitchFamily="49" charset="-122"/>
              <a:ea typeface="楷体" panose="02010609060101010101" pitchFamily="49" charset="-122"/>
            </a:endParaRPr>
          </a:p>
        </p:txBody>
      </p:sp>
      <p:sp>
        <p:nvSpPr>
          <p:cNvPr id="2" name="矩形 1"/>
          <p:cNvSpPr/>
          <p:nvPr/>
        </p:nvSpPr>
        <p:spPr>
          <a:xfrm>
            <a:off x="3978275" y="2757805"/>
            <a:ext cx="5267960" cy="36385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2"/>
          <a:stretch>
            <a:fillRect/>
          </a:stretch>
        </p:blipFill>
        <p:spPr>
          <a:xfrm>
            <a:off x="9110980" y="3787775"/>
            <a:ext cx="2569210" cy="1221105"/>
          </a:xfrm>
          <a:prstGeom prst="rect">
            <a:avLst/>
          </a:prstGeom>
        </p:spPr>
      </p:pic>
      <p:sp>
        <p:nvSpPr>
          <p:cNvPr id="7" name="矩形 6"/>
          <p:cNvSpPr/>
          <p:nvPr/>
        </p:nvSpPr>
        <p:spPr>
          <a:xfrm>
            <a:off x="1388110" y="4107815"/>
            <a:ext cx="7662545" cy="34480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2" grpId="1" animBg="1"/>
      <p:bldP spid="7" grpId="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2002471" cy="523220"/>
          </a:xfrm>
          <a:prstGeom prst="rect">
            <a:avLst/>
          </a:prstGeom>
          <a:noFill/>
        </p:spPr>
        <p:txBody>
          <a:bodyPr wrap="none" rtlCol="0">
            <a:spAutoFit/>
          </a:bodyPr>
          <a:lstStyle/>
          <a:p>
            <a:r>
              <a:rPr lang="zh-CN" altLang="en-US" sz="2800" dirty="0"/>
              <a:t>层次化设计</a:t>
            </a:r>
            <a:endParaRPr lang="zh-CN" altLang="en-US" sz="28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84662" y="2525038"/>
            <a:ext cx="6622675" cy="3624398"/>
          </a:xfrm>
          <a:prstGeom prst="rect">
            <a:avLst/>
          </a:prstGeom>
          <a:noFill/>
          <a:ln>
            <a:noFill/>
          </a:ln>
        </p:spPr>
      </p:pic>
      <p:sp>
        <p:nvSpPr>
          <p:cNvPr id="5" name="文本框 4"/>
          <p:cNvSpPr txBox="1"/>
          <p:nvPr/>
        </p:nvSpPr>
        <p:spPr>
          <a:xfrm>
            <a:off x="1353578" y="1393959"/>
            <a:ext cx="9803330" cy="442878"/>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以</a:t>
            </a:r>
            <a:r>
              <a:rPr lang="en-US" altLang="zh-CN" dirty="0">
                <a:latin typeface="楷体" panose="02010609060101010101" pitchFamily="49" charset="-122"/>
                <a:ea typeface="楷体" panose="02010609060101010101" pitchFamily="49" charset="-122"/>
              </a:rPr>
              <a:t>Lab2</a:t>
            </a:r>
            <a:r>
              <a:rPr lang="zh-CN" altLang="en-US" dirty="0">
                <a:latin typeface="楷体" panose="02010609060101010101" pitchFamily="49" charset="-122"/>
                <a:ea typeface="楷体" panose="02010609060101010101" pitchFamily="49" charset="-122"/>
              </a:rPr>
              <a:t>为例，如何构建顶层模块？</a:t>
            </a:r>
            <a:endParaRPr lang="en-US" altLang="zh-CN" dirty="0">
              <a:latin typeface="楷体" panose="02010609060101010101" pitchFamily="49" charset="-122"/>
              <a:ea typeface="楷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2002471" cy="523220"/>
          </a:xfrm>
          <a:prstGeom prst="rect">
            <a:avLst/>
          </a:prstGeom>
          <a:noFill/>
        </p:spPr>
        <p:txBody>
          <a:bodyPr wrap="none" rtlCol="0">
            <a:spAutoFit/>
          </a:bodyPr>
          <a:lstStyle/>
          <a:p>
            <a:r>
              <a:rPr lang="zh-CN" altLang="en-US" sz="2800" dirty="0"/>
              <a:t>层次化设计</a:t>
            </a:r>
            <a:endParaRPr lang="zh-CN" altLang="en-US" sz="2800" dirty="0"/>
          </a:p>
        </p:txBody>
      </p:sp>
      <p:sp>
        <p:nvSpPr>
          <p:cNvPr id="5" name="文本框 4"/>
          <p:cNvSpPr txBox="1"/>
          <p:nvPr/>
        </p:nvSpPr>
        <p:spPr>
          <a:xfrm>
            <a:off x="1353578" y="1393959"/>
            <a:ext cx="9803330" cy="1273875"/>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统计所有模块：</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个加法器，</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个减法器，</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个乘法器，</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个二选一选择器，</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个三选一选择器。最后外加大量的端口连线。</a:t>
            </a:r>
            <a:endParaRPr lang="zh-CN" altLang="en-US" dirty="0">
              <a:latin typeface="楷体" panose="02010609060101010101" pitchFamily="49" charset="-122"/>
              <a:ea typeface="楷体" panose="02010609060101010101" pitchFamily="49" charset="-122"/>
            </a:endParaRPr>
          </a:p>
          <a:p>
            <a:pPr>
              <a:lnSpc>
                <a:spcPct val="150000"/>
              </a:lnSpc>
            </a:pPr>
            <a:r>
              <a:rPr lang="zh-CN" altLang="en-US" dirty="0">
                <a:latin typeface="楷体" panose="02010609060101010101" pitchFamily="49" charset="-122"/>
                <a:ea typeface="楷体" panose="02010609060101010101" pitchFamily="49" charset="-122"/>
              </a:rPr>
              <a:t>现在假设我们已经设计好了所有的模块，如何在顶层模块把这些模块调用进来呢？</a:t>
            </a:r>
            <a:endParaRPr lang="zh-CN" altLang="en-US" dirty="0">
              <a:latin typeface="楷体" panose="02010609060101010101" pitchFamily="49" charset="-122"/>
              <a:ea typeface="楷体" panose="02010609060101010101" pitchFamily="49"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06575" y="2942348"/>
            <a:ext cx="5978849" cy="3272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028320" y="1245091"/>
            <a:ext cx="2845711" cy="3198759"/>
          </a:xfrm>
          <a:prstGeom prst="rect">
            <a:avLst/>
          </a:prstGeom>
        </p:spPr>
      </p:pic>
      <p:pic>
        <p:nvPicPr>
          <p:cNvPr id="8" name="图片 7"/>
          <p:cNvPicPr>
            <a:picLocks noChangeAspect="1"/>
          </p:cNvPicPr>
          <p:nvPr/>
        </p:nvPicPr>
        <p:blipFill>
          <a:blip r:embed="rId2"/>
          <a:stretch>
            <a:fillRect/>
          </a:stretch>
        </p:blipFill>
        <p:spPr>
          <a:xfrm>
            <a:off x="4162466" y="1245091"/>
            <a:ext cx="7407912" cy="46033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5521" y="870739"/>
            <a:ext cx="1620957" cy="523220"/>
          </a:xfrm>
          <a:prstGeom prst="rect">
            <a:avLst/>
          </a:prstGeom>
          <a:noFill/>
        </p:spPr>
        <p:txBody>
          <a:bodyPr wrap="none" rtlCol="0">
            <a:spAutoFit/>
          </a:bodyPr>
          <a:lstStyle/>
          <a:p>
            <a:r>
              <a:rPr lang="zh-CN" altLang="en-US" sz="2800" dirty="0"/>
              <a:t>实验要求</a:t>
            </a:r>
            <a:endParaRPr lang="zh-CN" altLang="en-US" sz="2800" dirty="0"/>
          </a:p>
        </p:txBody>
      </p:sp>
      <p:sp>
        <p:nvSpPr>
          <p:cNvPr id="5" name="文本框 4"/>
          <p:cNvSpPr txBox="1"/>
          <p:nvPr/>
        </p:nvSpPr>
        <p:spPr>
          <a:xfrm>
            <a:off x="1353578" y="1460634"/>
            <a:ext cx="9803330" cy="3415030"/>
          </a:xfrm>
          <a:prstGeom prst="rect">
            <a:avLst/>
          </a:prstGeom>
          <a:noFill/>
        </p:spPr>
        <p:txBody>
          <a:bodyPr wrap="square" rtlCol="0">
            <a:spAutoFit/>
          </a:bodyPr>
          <a:lstStyle/>
          <a:p>
            <a:pPr indent="0">
              <a:lnSpc>
                <a:spcPct val="150000"/>
              </a:lnSpc>
              <a:buFont typeface="+mj-lt"/>
              <a:buNone/>
            </a:pPr>
            <a:r>
              <a:rPr lang="en-US" altLang="zh-CN" dirty="0">
                <a:latin typeface="楷体" panose="02010609060101010101" pitchFamily="49" charset="-122"/>
                <a:ea typeface="楷体" panose="02010609060101010101" pitchFamily="49" charset="-122"/>
              </a:rPr>
              <a:t>Lab1</a:t>
            </a:r>
            <a:r>
              <a:rPr lang="zh-CN" altLang="en-US" dirty="0">
                <a:latin typeface="楷体" panose="02010609060101010101" pitchFamily="49" charset="-122"/>
                <a:ea typeface="楷体" panose="02010609060101010101" pitchFamily="49" charset="-122"/>
              </a:rPr>
              <a:t>：验收四选一数据选择器。其余内容（门级电路、数据流、两种行为描述的二选一数据选择器）在课下完成，写实验报告。</a:t>
            </a:r>
            <a:endParaRPr lang="en-US" altLang="zh-CN" dirty="0">
              <a:latin typeface="楷体" panose="02010609060101010101" pitchFamily="49" charset="-122"/>
              <a:ea typeface="楷体" panose="02010609060101010101" pitchFamily="49" charset="-122"/>
            </a:endParaRPr>
          </a:p>
          <a:p>
            <a:pPr indent="0">
              <a:lnSpc>
                <a:spcPct val="150000"/>
              </a:lnSpc>
              <a:buFont typeface="+mj-lt"/>
              <a:buNone/>
            </a:pPr>
            <a:r>
              <a:rPr lang="en-US" altLang="zh-CN" dirty="0">
                <a:latin typeface="楷体" panose="02010609060101010101" pitchFamily="49" charset="-122"/>
                <a:ea typeface="楷体" panose="02010609060101010101" pitchFamily="49" charset="-122"/>
              </a:rPr>
              <a:t>Lab2</a:t>
            </a:r>
            <a:r>
              <a:rPr lang="zh-CN" altLang="en-US" dirty="0">
                <a:latin typeface="楷体" panose="02010609060101010101" pitchFamily="49" charset="-122"/>
                <a:ea typeface="楷体" panose="02010609060101010101" pitchFamily="49" charset="-122"/>
              </a:rPr>
              <a:t>：验收</a:t>
            </a:r>
            <a:r>
              <a:rPr lang="en-US" altLang="zh-CN" dirty="0">
                <a:latin typeface="楷体" panose="02010609060101010101" pitchFamily="49" charset="-122"/>
                <a:ea typeface="楷体" panose="02010609060101010101" pitchFamily="49" charset="-122"/>
              </a:rPr>
              <a:t>ALU</a:t>
            </a:r>
            <a:r>
              <a:rPr lang="zh-CN" altLang="en-US" dirty="0">
                <a:latin typeface="楷体" panose="02010609060101010101" pitchFamily="49" charset="-122"/>
                <a:ea typeface="楷体" panose="02010609060101010101" pitchFamily="49" charset="-122"/>
              </a:rPr>
              <a:t>。完成实验报告（要求实现</a:t>
            </a:r>
            <a:r>
              <a:rPr lang="en-US" altLang="zh-CN" dirty="0">
                <a:latin typeface="楷体" panose="02010609060101010101" pitchFamily="49" charset="-122"/>
                <a:ea typeface="楷体" panose="02010609060101010101" pitchFamily="49" charset="-122"/>
              </a:rPr>
              <a:t>ALU</a:t>
            </a:r>
            <a:r>
              <a:rPr lang="zh-CN" altLang="en-US" dirty="0">
                <a:latin typeface="楷体" panose="02010609060101010101" pitchFamily="49" charset="-122"/>
                <a:ea typeface="楷体" panose="02010609060101010101" pitchFamily="49" charset="-122"/>
              </a:rPr>
              <a:t>的各个子模块，</a:t>
            </a:r>
            <a:r>
              <a:rPr lang="en-US" altLang="zh-CN" dirty="0">
                <a:latin typeface="楷体" panose="02010609060101010101" pitchFamily="49" charset="-122"/>
                <a:ea typeface="楷体" panose="02010609060101010101" pitchFamily="49" charset="-122"/>
              </a:rPr>
              <a:t>ALU</a:t>
            </a:r>
            <a:r>
              <a:rPr lang="zh-CN" altLang="en-US" dirty="0">
                <a:latin typeface="楷体" panose="02010609060101010101" pitchFamily="49" charset="-122"/>
                <a:ea typeface="楷体" panose="02010609060101010101" pitchFamily="49" charset="-122"/>
              </a:rPr>
              <a:t>的顶层模块；鼓励自行设计办法解决</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位</a:t>
            </a:r>
            <a:r>
              <a:rPr lang="en-US" altLang="zh-CN" dirty="0">
                <a:latin typeface="楷体" panose="02010609060101010101" pitchFamily="49" charset="-122"/>
                <a:ea typeface="楷体" panose="02010609060101010101" pitchFamily="49" charset="-122"/>
              </a:rPr>
              <a:t>ALU</a:t>
            </a:r>
            <a:r>
              <a:rPr lang="zh-CN" altLang="en-US">
                <a:latin typeface="楷体" panose="02010609060101010101" pitchFamily="49" charset="-122"/>
                <a:ea typeface="楷体" panose="02010609060101010101" pitchFamily="49" charset="-122"/>
              </a:rPr>
              <a:t>的溢出问题，鼓励设计新的函数功能）</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pPr indent="0">
              <a:lnSpc>
                <a:spcPct val="150000"/>
              </a:lnSpc>
              <a:buFont typeface="+mj-lt"/>
              <a:buNone/>
            </a:pPr>
            <a:r>
              <a:rPr lang="zh-CN" altLang="en-US" dirty="0">
                <a:latin typeface="楷体" panose="02010609060101010101" pitchFamily="49" charset="-122"/>
                <a:ea typeface="楷体" panose="02010609060101010101" pitchFamily="49" charset="-122"/>
              </a:rPr>
              <a:t>验收时间：下周四实验课（</a:t>
            </a:r>
            <a:r>
              <a:rPr lang="en-US" altLang="zh-CN" dirty="0">
                <a:latin typeface="楷体" panose="02010609060101010101" pitchFamily="49" charset="-122"/>
                <a:ea typeface="楷体" panose="02010609060101010101" pitchFamily="49" charset="-122"/>
              </a:rPr>
              <a:t>2024.3.14</a:t>
            </a:r>
            <a:r>
              <a:rPr lang="zh-CN" altLang="en-US" dirty="0">
                <a:latin typeface="楷体" panose="02010609060101010101" pitchFamily="49" charset="-122"/>
                <a:ea typeface="楷体" panose="02010609060101010101" pitchFamily="49" charset="-122"/>
              </a:rPr>
              <a:t>），也可拍摄视频钉钉私戳</a:t>
            </a:r>
            <a:r>
              <a:rPr lang="zh-CN" altLang="en-US" dirty="0">
                <a:latin typeface="楷体" panose="02010609060101010101" pitchFamily="49" charset="-122"/>
                <a:ea typeface="楷体" panose="02010609060101010101" pitchFamily="49" charset="-122"/>
              </a:rPr>
              <a:t>助教。</a:t>
            </a:r>
            <a:endParaRPr lang="zh-CN" altLang="en-US" dirty="0">
              <a:latin typeface="楷体" panose="02010609060101010101" pitchFamily="49" charset="-122"/>
              <a:ea typeface="楷体" panose="02010609060101010101" pitchFamily="49" charset="-122"/>
            </a:endParaRPr>
          </a:p>
          <a:p>
            <a:pPr indent="0">
              <a:lnSpc>
                <a:spcPct val="150000"/>
              </a:lnSpc>
              <a:buFont typeface="+mj-lt"/>
              <a:buNone/>
            </a:pPr>
            <a:r>
              <a:rPr lang="zh-CN" altLang="en-US" dirty="0">
                <a:latin typeface="楷体" panose="02010609060101010101" pitchFamily="49" charset="-122"/>
                <a:ea typeface="楷体" panose="02010609060101010101" pitchFamily="49" charset="-122"/>
              </a:rPr>
              <a:t>验收要求：测试所有功能，线上验收请自行</a:t>
            </a:r>
            <a:r>
              <a:rPr lang="zh-CN" altLang="en-US" dirty="0">
                <a:latin typeface="楷体" panose="02010609060101010101" pitchFamily="49" charset="-122"/>
                <a:ea typeface="楷体" panose="02010609060101010101" pitchFamily="49" charset="-122"/>
              </a:rPr>
              <a:t>设计测试。</a:t>
            </a:r>
            <a:endParaRPr lang="zh-CN" altLang="en-US" dirty="0">
              <a:latin typeface="楷体" panose="02010609060101010101" pitchFamily="49" charset="-122"/>
              <a:ea typeface="楷体" panose="02010609060101010101" pitchFamily="49" charset="-122"/>
            </a:endParaRPr>
          </a:p>
          <a:p>
            <a:pPr indent="0">
              <a:lnSpc>
                <a:spcPct val="150000"/>
              </a:lnSpc>
              <a:buFont typeface="+mj-lt"/>
              <a:buNone/>
            </a:pPr>
            <a:r>
              <a:rPr lang="zh-CN" altLang="en-US" dirty="0">
                <a:latin typeface="楷体" panose="02010609060101010101" pitchFamily="49" charset="-122"/>
                <a:ea typeface="楷体" panose="02010609060101010101" pitchFamily="49" charset="-122"/>
              </a:rPr>
              <a:t>实验报告无格式要求，内容完整，逻辑清晰</a:t>
            </a:r>
            <a:r>
              <a:rPr lang="zh-CN" altLang="en-US" dirty="0">
                <a:latin typeface="楷体" panose="02010609060101010101" pitchFamily="49" charset="-122"/>
                <a:ea typeface="楷体" panose="02010609060101010101" pitchFamily="49" charset="-122"/>
              </a:rPr>
              <a:t>即可。</a:t>
            </a:r>
            <a:endParaRPr lang="zh-CN" altLang="en-US" dirty="0">
              <a:latin typeface="楷体" panose="02010609060101010101" pitchFamily="49" charset="-122"/>
              <a:ea typeface="楷体" panose="02010609060101010101" pitchFamily="49" charset="-122"/>
            </a:endParaRPr>
          </a:p>
          <a:p>
            <a:pPr indent="0">
              <a:lnSpc>
                <a:spcPct val="150000"/>
              </a:lnSpc>
              <a:buFont typeface="+mj-lt"/>
              <a:buNone/>
            </a:pP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tags/tag1.xml><?xml version="1.0" encoding="utf-8"?>
<p:tagLst xmlns:p="http://schemas.openxmlformats.org/presentationml/2006/main">
  <p:tag name="commondata" val="eyJoZGlkIjoiOGRhMzcyMzEyODlhOWM2Njg5MjExZjU2M2JhNTg5NzEifQ=="/>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自定义 1">
      <a:majorFont>
        <a:latin typeface="Times New Roman"/>
        <a:ea typeface="华文楷体"/>
        <a:cs typeface=""/>
      </a:majorFont>
      <a:minorFont>
        <a:latin typeface="Times New Roman"/>
        <a:ea typeface="华文楷体"/>
        <a:cs typeface=""/>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2666</Words>
  <Application>WPS 演示</Application>
  <PresentationFormat>宽屏</PresentationFormat>
  <Paragraphs>102</Paragraphs>
  <Slides>16</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Arial</vt:lpstr>
      <vt:lpstr>楷体</vt:lpstr>
      <vt:lpstr>微软雅黑</vt:lpstr>
      <vt:lpstr>Arial Unicode MS</vt:lpstr>
      <vt:lpstr>华文楷体</vt:lpstr>
      <vt:lpstr>Times New Roman</vt:lpstr>
      <vt:lpstr>等线</vt:lpstr>
      <vt:lpstr>Calibri</vt:lpstr>
      <vt:lpstr>华文仿宋</vt:lpstr>
      <vt:lpstr>黑体</vt:lpstr>
      <vt:lpstr>环保</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卓 若凡</dc:creator>
  <cp:lastModifiedBy>楚佳</cp:lastModifiedBy>
  <cp:revision>174</cp:revision>
  <dcterms:created xsi:type="dcterms:W3CDTF">2020-03-05T07:00:00Z</dcterms:created>
  <dcterms:modified xsi:type="dcterms:W3CDTF">2024-03-07T03:49:28Z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DECEA6121F7644078927D252ADCEFF3C_12</vt:lpwstr>
  </property>
  <property fmtid="{D5CDD505-2E9C-101B-9397-08002B2CF9AE}" pid="3" name="KSOProductBuildVer">
    <vt:lpwstr>2052-12.1.0.16388</vt:lpwstr>
  </property>
</Properties>
</file>