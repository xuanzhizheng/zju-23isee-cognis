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5"/>
  </p:notesMasterIdLst>
  <p:sldIdLst>
    <p:sldId id="256" r:id="rId2"/>
    <p:sldId id="683" r:id="rId3"/>
    <p:sldId id="687" r:id="rId4"/>
    <p:sldId id="684" r:id="rId5"/>
    <p:sldId id="709" r:id="rId6"/>
    <p:sldId id="690" r:id="rId7"/>
    <p:sldId id="708" r:id="rId8"/>
    <p:sldId id="707" r:id="rId9"/>
    <p:sldId id="706" r:id="rId10"/>
    <p:sldId id="710" r:id="rId11"/>
    <p:sldId id="692" r:id="rId12"/>
    <p:sldId id="730" r:id="rId13"/>
    <p:sldId id="731" r:id="rId14"/>
    <p:sldId id="729" r:id="rId15"/>
    <p:sldId id="732" r:id="rId16"/>
    <p:sldId id="735" r:id="rId17"/>
    <p:sldId id="733" r:id="rId18"/>
    <p:sldId id="734" r:id="rId19"/>
    <p:sldId id="736" r:id="rId20"/>
    <p:sldId id="711" r:id="rId21"/>
    <p:sldId id="701" r:id="rId22"/>
    <p:sldId id="714" r:id="rId23"/>
    <p:sldId id="713" r:id="rId24"/>
    <p:sldId id="715" r:id="rId25"/>
    <p:sldId id="693" r:id="rId26"/>
    <p:sldId id="698" r:id="rId27"/>
    <p:sldId id="727" r:id="rId28"/>
    <p:sldId id="728" r:id="rId29"/>
    <p:sldId id="737" r:id="rId30"/>
    <p:sldId id="702" r:id="rId31"/>
    <p:sldId id="716" r:id="rId32"/>
    <p:sldId id="700" r:id="rId33"/>
    <p:sldId id="717" r:id="rId34"/>
    <p:sldId id="719" r:id="rId35"/>
    <p:sldId id="718" r:id="rId36"/>
    <p:sldId id="704" r:id="rId37"/>
    <p:sldId id="722" r:id="rId38"/>
    <p:sldId id="738" r:id="rId39"/>
    <p:sldId id="720" r:id="rId40"/>
    <p:sldId id="721" r:id="rId41"/>
    <p:sldId id="696" r:id="rId42"/>
    <p:sldId id="723" r:id="rId43"/>
    <p:sldId id="724" r:id="rId44"/>
    <p:sldId id="699" r:id="rId45"/>
    <p:sldId id="725" r:id="rId46"/>
    <p:sldId id="705" r:id="rId47"/>
    <p:sldId id="726" r:id="rId48"/>
    <p:sldId id="257" r:id="rId49"/>
    <p:sldId id="258" r:id="rId50"/>
    <p:sldId id="259" r:id="rId51"/>
    <p:sldId id="314" r:id="rId52"/>
    <p:sldId id="260" r:id="rId53"/>
    <p:sldId id="261" r:id="rId54"/>
    <p:sldId id="262" r:id="rId55"/>
    <p:sldId id="263" r:id="rId56"/>
    <p:sldId id="264" r:id="rId57"/>
    <p:sldId id="316" r:id="rId58"/>
    <p:sldId id="317" r:id="rId59"/>
    <p:sldId id="265" r:id="rId60"/>
    <p:sldId id="266" r:id="rId61"/>
    <p:sldId id="267" r:id="rId62"/>
    <p:sldId id="268" r:id="rId63"/>
    <p:sldId id="688" r:id="rId64"/>
    <p:sldId id="320" r:id="rId65"/>
    <p:sldId id="319" r:id="rId66"/>
    <p:sldId id="303" r:id="rId67"/>
    <p:sldId id="272" r:id="rId68"/>
    <p:sldId id="273" r:id="rId69"/>
    <p:sldId id="274" r:id="rId70"/>
    <p:sldId id="275" r:id="rId71"/>
    <p:sldId id="276" r:id="rId72"/>
    <p:sldId id="277" r:id="rId73"/>
    <p:sldId id="278" r:id="rId74"/>
    <p:sldId id="279" r:id="rId75"/>
    <p:sldId id="310" r:id="rId76"/>
    <p:sldId id="280" r:id="rId77"/>
    <p:sldId id="315" r:id="rId78"/>
    <p:sldId id="311" r:id="rId79"/>
    <p:sldId id="281" r:id="rId80"/>
    <p:sldId id="282" r:id="rId81"/>
    <p:sldId id="283" r:id="rId82"/>
    <p:sldId id="284" r:id="rId83"/>
    <p:sldId id="285" r:id="rId84"/>
    <p:sldId id="313" r:id="rId85"/>
    <p:sldId id="287" r:id="rId86"/>
    <p:sldId id="288" r:id="rId87"/>
    <p:sldId id="289" r:id="rId88"/>
    <p:sldId id="290" r:id="rId89"/>
    <p:sldId id="291" r:id="rId90"/>
    <p:sldId id="292" r:id="rId91"/>
    <p:sldId id="739" r:id="rId92"/>
    <p:sldId id="323" r:id="rId93"/>
    <p:sldId id="321" r:id="rId94"/>
    <p:sldId id="322" r:id="rId95"/>
    <p:sldId id="689" r:id="rId96"/>
    <p:sldId id="327" r:id="rId97"/>
    <p:sldId id="326" r:id="rId98"/>
    <p:sldId id="329" r:id="rId99"/>
    <p:sldId id="330" r:id="rId100"/>
    <p:sldId id="332" r:id="rId101"/>
    <p:sldId id="333" r:id="rId102"/>
    <p:sldId id="334" r:id="rId103"/>
    <p:sldId id="355" r:id="rId104"/>
    <p:sldId id="336" r:id="rId105"/>
    <p:sldId id="344" r:id="rId106"/>
    <p:sldId id="353" r:id="rId107"/>
    <p:sldId id="354" r:id="rId108"/>
    <p:sldId id="352" r:id="rId109"/>
    <p:sldId id="337" r:id="rId110"/>
    <p:sldId id="345" r:id="rId111"/>
    <p:sldId id="347" r:id="rId112"/>
    <p:sldId id="346" r:id="rId113"/>
    <p:sldId id="339" r:id="rId114"/>
    <p:sldId id="746" r:id="rId115"/>
    <p:sldId id="342" r:id="rId116"/>
    <p:sldId id="343" r:id="rId117"/>
    <p:sldId id="341" r:id="rId118"/>
    <p:sldId id="740" r:id="rId119"/>
    <p:sldId id="741" r:id="rId120"/>
    <p:sldId id="744" r:id="rId121"/>
    <p:sldId id="743" r:id="rId122"/>
    <p:sldId id="745" r:id="rId123"/>
    <p:sldId id="356" r:id="rId12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F88"/>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4339" autoAdjust="0"/>
  </p:normalViewPr>
  <p:slideViewPr>
    <p:cSldViewPr snapToGrid="0">
      <p:cViewPr varScale="1">
        <p:scale>
          <a:sx n="68" d="100"/>
          <a:sy n="68" d="100"/>
        </p:scale>
        <p:origin x="1132"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tableStyles" Target="tableStyle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1512BF-658B-4A6C-B60A-F979B5DE89DA}" type="datetimeFigureOut">
              <a:rPr lang="zh-CN" altLang="en-US" smtClean="0"/>
              <a:t>2025/3/5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918B77-9CB1-4C48-BED5-B02F24F09A98}" type="slidenum">
              <a:rPr lang="zh-CN" altLang="en-US" smtClean="0"/>
              <a:t>‹#›</a:t>
            </a:fld>
            <a:endParaRPr lang="zh-CN" altLang="en-US"/>
          </a:p>
        </p:txBody>
      </p:sp>
    </p:spTree>
    <p:extLst>
      <p:ext uri="{BB962C8B-B14F-4D97-AF65-F5344CB8AC3E}">
        <p14:creationId xmlns:p14="http://schemas.microsoft.com/office/powerpoint/2010/main" val="25946816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3" Type="http://schemas.openxmlformats.org/officeDocument/2006/relationships/hyperlink" Target="https://www.baidu.com/s?rsv_dl=re_dqa_generate&amp;sa=re_dqa_generate&amp;wd=Top%20Layer&amp;rsv_pq=8306a2e80019c8b9&amp;oq=top%20overlay&amp;rsv_t=8ab3KLYuWn+eep3RsGsSKfdRkYKKxqNuYiYwmkqFBMnd22/5ILNC17nibq4oj0xWC6cc&amp;tn=baiduhome_pg&amp;ie=utf-8" TargetMode="External"/><Relationship Id="rId2" Type="http://schemas.openxmlformats.org/officeDocument/2006/relationships/slide" Target="../slides/slide119.xml"/><Relationship Id="rId1" Type="http://schemas.openxmlformats.org/officeDocument/2006/relationships/notesMaster" Target="../notesMasters/notesMaster1.xml"/><Relationship Id="rId5" Type="http://schemas.openxmlformats.org/officeDocument/2006/relationships/hyperlink" Target="https://www.baidu.com/s?rsv_dl=re_dqa_generate&amp;sa=re_dqa_generate&amp;wd=Top%20Paste&amp;rsv_pq=8306a2e80019c8b9&amp;oq=top%20overlay&amp;rsv_t=8ab3KLYuWn+eep3RsGsSKfdRkYKKxqNuYiYwmkqFBMnd22/5ILNC17nibq4oj0xWC6cc&amp;tn=baiduhome_pg&amp;ie=utf-8" TargetMode="External"/><Relationship Id="rId4" Type="http://schemas.openxmlformats.org/officeDocument/2006/relationships/hyperlink" Target="https://www.baidu.com/s?rsv_dl=re_dqa_generate&amp;sa=re_dqa_generate&amp;wd=Top%20Solder&amp;rsv_pq=8306a2e80019c8b9&amp;oq=top%20overlay&amp;rsv_t=8ab3KLYuWn+eep3RsGsSKfdRkYKKxqNuYiYwmkqFBMnd22/5ILNC17nibq4oj0xWC6cc&amp;tn=baiduhome_pg&amp;ie=utf-8" TargetMode="Externa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集成度不同、工艺不同、特性和应用场景不同</a:t>
            </a:r>
          </a:p>
        </p:txBody>
      </p:sp>
      <p:sp>
        <p:nvSpPr>
          <p:cNvPr id="4" name="灯片编号占位符 3"/>
          <p:cNvSpPr>
            <a:spLocks noGrp="1"/>
          </p:cNvSpPr>
          <p:nvPr>
            <p:ph type="sldNum" sz="quarter" idx="5"/>
          </p:nvPr>
        </p:nvSpPr>
        <p:spPr/>
        <p:txBody>
          <a:bodyPr/>
          <a:lstStyle/>
          <a:p>
            <a:fld id="{84918B77-9CB1-4C48-BED5-B02F24F09A98}" type="slidenum">
              <a:rPr lang="zh-CN" altLang="en-US" smtClean="0"/>
              <a:t>4</a:t>
            </a:fld>
            <a:endParaRPr lang="zh-CN" altLang="en-US"/>
          </a:p>
        </p:txBody>
      </p:sp>
    </p:spTree>
    <p:extLst>
      <p:ext uri="{BB962C8B-B14F-4D97-AF65-F5344CB8AC3E}">
        <p14:creationId xmlns:p14="http://schemas.microsoft.com/office/powerpoint/2010/main" val="9703654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47CF6-EC5E-7C52-27E5-FC7365C13C2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B771E5A-F9F7-D8CE-FBCF-7B7D3F0390B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51886C6-FCC0-C9E8-5A5B-1B093046C70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51EDD10-3461-0D1E-24E0-EC79EAECF743}"/>
              </a:ext>
            </a:extLst>
          </p:cNvPr>
          <p:cNvSpPr>
            <a:spLocks noGrp="1"/>
          </p:cNvSpPr>
          <p:nvPr>
            <p:ph type="sldNum" sz="quarter" idx="5"/>
          </p:nvPr>
        </p:nvSpPr>
        <p:spPr/>
        <p:txBody>
          <a:bodyPr/>
          <a:lstStyle/>
          <a:p>
            <a:fld id="{84918B77-9CB1-4C48-BED5-B02F24F09A98}" type="slidenum">
              <a:rPr lang="zh-CN" altLang="en-US" smtClean="0"/>
              <a:t>5</a:t>
            </a:fld>
            <a:endParaRPr lang="zh-CN" altLang="en-US"/>
          </a:p>
        </p:txBody>
      </p:sp>
    </p:spTree>
    <p:extLst>
      <p:ext uri="{BB962C8B-B14F-4D97-AF65-F5344CB8AC3E}">
        <p14:creationId xmlns:p14="http://schemas.microsoft.com/office/powerpoint/2010/main" val="11965498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D292A-AA80-A792-4962-B6773FEC26C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C1E4E02-7214-6FE6-F7CB-8E1DE0B12E9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7400381-FCA8-2CB9-A5FB-CEEC98B23BB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黑体" panose="02010609060101010101" pitchFamily="49" charset="-122"/>
                <a:ea typeface="黑体" panose="02010609060101010101" pitchFamily="49" charset="-122"/>
              </a:rPr>
              <a:t>大规模集成电路一般是在晶圆上制造的，经过光刻、刻蚀、沉积、掺杂和平坦化等物理化学过程，电子电路逐渐在晶圆上创建</a:t>
            </a:r>
          </a:p>
          <a:p>
            <a:endParaRPr lang="zh-CN" altLang="en-US" dirty="0"/>
          </a:p>
        </p:txBody>
      </p:sp>
      <p:sp>
        <p:nvSpPr>
          <p:cNvPr id="4" name="灯片编号占位符 3">
            <a:extLst>
              <a:ext uri="{FF2B5EF4-FFF2-40B4-BE49-F238E27FC236}">
                <a16:creationId xmlns:a16="http://schemas.microsoft.com/office/drawing/2014/main" id="{6FB61BBE-1A2A-6DDB-41C8-19417F02968C}"/>
              </a:ext>
            </a:extLst>
          </p:cNvPr>
          <p:cNvSpPr>
            <a:spLocks noGrp="1"/>
          </p:cNvSpPr>
          <p:nvPr>
            <p:ph type="sldNum" sz="quarter" idx="5"/>
          </p:nvPr>
        </p:nvSpPr>
        <p:spPr/>
        <p:txBody>
          <a:bodyPr/>
          <a:lstStyle/>
          <a:p>
            <a:fld id="{84918B77-9CB1-4C48-BED5-B02F24F09A98}" type="slidenum">
              <a:rPr lang="zh-CN" altLang="en-US" smtClean="0"/>
              <a:t>6</a:t>
            </a:fld>
            <a:endParaRPr lang="zh-CN" altLang="en-US"/>
          </a:p>
        </p:txBody>
      </p:sp>
    </p:spTree>
    <p:extLst>
      <p:ext uri="{BB962C8B-B14F-4D97-AF65-F5344CB8AC3E}">
        <p14:creationId xmlns:p14="http://schemas.microsoft.com/office/powerpoint/2010/main" val="25045788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3AFDF-65B7-F23F-076E-9731CC4EF83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97B3264-BC10-40CD-C9C7-9ECDFA3492C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899D78B-015A-4F87-8A75-9531E748EF5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520EB99-5141-5A93-DE99-042E76D2E365}"/>
              </a:ext>
            </a:extLst>
          </p:cNvPr>
          <p:cNvSpPr>
            <a:spLocks noGrp="1"/>
          </p:cNvSpPr>
          <p:nvPr>
            <p:ph type="sldNum" sz="quarter" idx="5"/>
          </p:nvPr>
        </p:nvSpPr>
        <p:spPr/>
        <p:txBody>
          <a:bodyPr/>
          <a:lstStyle/>
          <a:p>
            <a:fld id="{84918B77-9CB1-4C48-BED5-B02F24F09A98}" type="slidenum">
              <a:rPr lang="zh-CN" altLang="en-US" smtClean="0"/>
              <a:t>7</a:t>
            </a:fld>
            <a:endParaRPr lang="zh-CN" altLang="en-US"/>
          </a:p>
        </p:txBody>
      </p:sp>
    </p:spTree>
    <p:extLst>
      <p:ext uri="{BB962C8B-B14F-4D97-AF65-F5344CB8AC3E}">
        <p14:creationId xmlns:p14="http://schemas.microsoft.com/office/powerpoint/2010/main" val="19999236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D059A-57CC-DF43-5CB4-CEDECC794F1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5B24EF6-18C3-1C0E-9617-FA04535359A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2F24651-BC5A-983E-284E-E052B978A92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43A20F7-604D-9586-22DD-BDE6A9238252}"/>
              </a:ext>
            </a:extLst>
          </p:cNvPr>
          <p:cNvSpPr>
            <a:spLocks noGrp="1"/>
          </p:cNvSpPr>
          <p:nvPr>
            <p:ph type="sldNum" sz="quarter" idx="5"/>
          </p:nvPr>
        </p:nvSpPr>
        <p:spPr/>
        <p:txBody>
          <a:bodyPr/>
          <a:lstStyle/>
          <a:p>
            <a:fld id="{84918B77-9CB1-4C48-BED5-B02F24F09A98}" type="slidenum">
              <a:rPr lang="zh-CN" altLang="en-US" smtClean="0"/>
              <a:t>8</a:t>
            </a:fld>
            <a:endParaRPr lang="zh-CN" altLang="en-US"/>
          </a:p>
        </p:txBody>
      </p:sp>
    </p:spTree>
    <p:extLst>
      <p:ext uri="{BB962C8B-B14F-4D97-AF65-F5344CB8AC3E}">
        <p14:creationId xmlns:p14="http://schemas.microsoft.com/office/powerpoint/2010/main" val="1225282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267AD-DFCB-DA5C-85A1-EF0E5B737E7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F9378D1-7897-9843-E442-82D97009B50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BFB9804-517B-871E-66DB-D0F243BE249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84119F4-0DFC-8F36-1EBA-58AAEACB28A6}"/>
              </a:ext>
            </a:extLst>
          </p:cNvPr>
          <p:cNvSpPr>
            <a:spLocks noGrp="1"/>
          </p:cNvSpPr>
          <p:nvPr>
            <p:ph type="sldNum" sz="quarter" idx="5"/>
          </p:nvPr>
        </p:nvSpPr>
        <p:spPr/>
        <p:txBody>
          <a:bodyPr/>
          <a:lstStyle/>
          <a:p>
            <a:fld id="{84918B77-9CB1-4C48-BED5-B02F24F09A98}" type="slidenum">
              <a:rPr lang="zh-CN" altLang="en-US" smtClean="0"/>
              <a:t>9</a:t>
            </a:fld>
            <a:endParaRPr lang="zh-CN" altLang="en-US"/>
          </a:p>
        </p:txBody>
      </p:sp>
    </p:spTree>
    <p:extLst>
      <p:ext uri="{BB962C8B-B14F-4D97-AF65-F5344CB8AC3E}">
        <p14:creationId xmlns:p14="http://schemas.microsoft.com/office/powerpoint/2010/main" val="11518980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D31CD-AAF3-4C93-34D8-3469EB0A17E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5632A9B-D59E-82D9-10D6-5A3E4A2AD18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108ED9F-BAFF-CEC2-FEC1-44EBE384A2A5}"/>
              </a:ext>
            </a:extLst>
          </p:cNvPr>
          <p:cNvSpPr>
            <a:spLocks noGrp="1"/>
          </p:cNvSpPr>
          <p:nvPr>
            <p:ph type="body" idx="1"/>
          </p:nvPr>
        </p:nvSpPr>
        <p:spPr/>
        <p:txBody>
          <a:bodyPr/>
          <a:lstStyle/>
          <a:p>
            <a:r>
              <a:rPr lang="zh-CN" altLang="en-US" dirty="0"/>
              <a:t>元件数量相对集成度没有那么高的电路，他的载体常见的有印刷电路板、柔性印刷电路板，现在还有刚性柔性印刷电路，是</a:t>
            </a:r>
            <a:r>
              <a:rPr lang="en-US" altLang="zh-CN" dirty="0"/>
              <a:t>PCB</a:t>
            </a:r>
            <a:r>
              <a:rPr lang="zh-CN" altLang="en-US" dirty="0"/>
              <a:t>和</a:t>
            </a:r>
            <a:r>
              <a:rPr lang="en-US" altLang="zh-CN" dirty="0"/>
              <a:t>FPC</a:t>
            </a:r>
            <a:r>
              <a:rPr lang="zh-CN" altLang="en-US" dirty="0"/>
              <a:t>的混合。</a:t>
            </a:r>
          </a:p>
        </p:txBody>
      </p:sp>
      <p:sp>
        <p:nvSpPr>
          <p:cNvPr id="4" name="灯片编号占位符 3">
            <a:extLst>
              <a:ext uri="{FF2B5EF4-FFF2-40B4-BE49-F238E27FC236}">
                <a16:creationId xmlns:a16="http://schemas.microsoft.com/office/drawing/2014/main" id="{09616A34-A26C-CF00-0D7A-C31BD0F564FC}"/>
              </a:ext>
            </a:extLst>
          </p:cNvPr>
          <p:cNvSpPr>
            <a:spLocks noGrp="1"/>
          </p:cNvSpPr>
          <p:nvPr>
            <p:ph type="sldNum" sz="quarter" idx="5"/>
          </p:nvPr>
        </p:nvSpPr>
        <p:spPr/>
        <p:txBody>
          <a:bodyPr/>
          <a:lstStyle/>
          <a:p>
            <a:fld id="{84918B77-9CB1-4C48-BED5-B02F24F09A98}" type="slidenum">
              <a:rPr lang="zh-CN" altLang="en-US" smtClean="0"/>
              <a:t>10</a:t>
            </a:fld>
            <a:endParaRPr lang="zh-CN" altLang="en-US"/>
          </a:p>
        </p:txBody>
      </p:sp>
    </p:spTree>
    <p:extLst>
      <p:ext uri="{BB962C8B-B14F-4D97-AF65-F5344CB8AC3E}">
        <p14:creationId xmlns:p14="http://schemas.microsoft.com/office/powerpoint/2010/main" val="24606527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1E5FC-7D1C-6827-8C4B-8C6D5DC8257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9E9670D-56CD-CE54-055C-86C95C82DC8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5EED9EC-D643-6E25-9104-CF4E1E01C56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5664534-05E3-2AAF-B760-2F866554539B}"/>
              </a:ext>
            </a:extLst>
          </p:cNvPr>
          <p:cNvSpPr>
            <a:spLocks noGrp="1"/>
          </p:cNvSpPr>
          <p:nvPr>
            <p:ph type="sldNum" sz="quarter" idx="5"/>
          </p:nvPr>
        </p:nvSpPr>
        <p:spPr/>
        <p:txBody>
          <a:bodyPr/>
          <a:lstStyle/>
          <a:p>
            <a:fld id="{84918B77-9CB1-4C48-BED5-B02F24F09A98}" type="slidenum">
              <a:rPr lang="zh-CN" altLang="en-US" smtClean="0"/>
              <a:t>11</a:t>
            </a:fld>
            <a:endParaRPr lang="zh-CN" altLang="en-US"/>
          </a:p>
        </p:txBody>
      </p:sp>
    </p:spTree>
    <p:extLst>
      <p:ext uri="{BB962C8B-B14F-4D97-AF65-F5344CB8AC3E}">
        <p14:creationId xmlns:p14="http://schemas.microsoft.com/office/powerpoint/2010/main" val="3368128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63993-7D74-3F92-B3BA-F69AA4C793F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4DF3006-9448-E043-A34E-069D95A8328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ADEC9E0-86E7-E3CE-D5AB-CBFC62F323C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ECD2F82-C8DA-189E-BD16-8C2609FE12CD}"/>
              </a:ext>
            </a:extLst>
          </p:cNvPr>
          <p:cNvSpPr>
            <a:spLocks noGrp="1"/>
          </p:cNvSpPr>
          <p:nvPr>
            <p:ph type="sldNum" sz="quarter" idx="5"/>
          </p:nvPr>
        </p:nvSpPr>
        <p:spPr/>
        <p:txBody>
          <a:bodyPr/>
          <a:lstStyle/>
          <a:p>
            <a:fld id="{84918B77-9CB1-4C48-BED5-B02F24F09A98}" type="slidenum">
              <a:rPr lang="zh-CN" altLang="en-US" smtClean="0"/>
              <a:t>12</a:t>
            </a:fld>
            <a:endParaRPr lang="zh-CN" altLang="en-US"/>
          </a:p>
        </p:txBody>
      </p:sp>
    </p:spTree>
    <p:extLst>
      <p:ext uri="{BB962C8B-B14F-4D97-AF65-F5344CB8AC3E}">
        <p14:creationId xmlns:p14="http://schemas.microsoft.com/office/powerpoint/2010/main" val="24721276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89E29-1CC5-7920-2E6E-64BC1144938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902E6E0-471E-64B2-978A-6F5C1F103F1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06112F4-FD5C-AD67-751B-EC8F1AFF04C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9B59D44-B392-E81C-5995-C83530A3E1D8}"/>
              </a:ext>
            </a:extLst>
          </p:cNvPr>
          <p:cNvSpPr>
            <a:spLocks noGrp="1"/>
          </p:cNvSpPr>
          <p:nvPr>
            <p:ph type="sldNum" sz="quarter" idx="5"/>
          </p:nvPr>
        </p:nvSpPr>
        <p:spPr/>
        <p:txBody>
          <a:bodyPr/>
          <a:lstStyle/>
          <a:p>
            <a:fld id="{84918B77-9CB1-4C48-BED5-B02F24F09A98}" type="slidenum">
              <a:rPr lang="zh-CN" altLang="en-US" smtClean="0"/>
              <a:t>13</a:t>
            </a:fld>
            <a:endParaRPr lang="zh-CN" altLang="en-US"/>
          </a:p>
        </p:txBody>
      </p:sp>
    </p:spTree>
    <p:extLst>
      <p:ext uri="{BB962C8B-B14F-4D97-AF65-F5344CB8AC3E}">
        <p14:creationId xmlns:p14="http://schemas.microsoft.com/office/powerpoint/2010/main" val="6990095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3FBE7A-75AD-2521-C80D-24ED9C8BE17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D545DBA-66A9-26AC-3963-D21455002A9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D7CA4B8-E567-D8DB-4E6E-8991A87C5E44}"/>
              </a:ext>
            </a:extLst>
          </p:cNvPr>
          <p:cNvSpPr>
            <a:spLocks noGrp="1"/>
          </p:cNvSpPr>
          <p:nvPr>
            <p:ph type="body" idx="1"/>
          </p:nvPr>
        </p:nvSpPr>
        <p:spPr/>
        <p:txBody>
          <a:bodyPr/>
          <a:lstStyle/>
          <a:p>
            <a:r>
              <a:rPr lang="zh-CN" altLang="en-US" dirty="0"/>
              <a:t>印刷电路板 </a:t>
            </a:r>
            <a:r>
              <a:rPr lang="en-US" altLang="zh-CN" dirty="0"/>
              <a:t>(PCB) </a:t>
            </a:r>
            <a:r>
              <a:rPr lang="zh-CN" altLang="en-US" dirty="0"/>
              <a:t>是一种由层压材料制成的薄板，例如玻璃纤维和复合环氧树脂。电路板上蚀刻</a:t>
            </a:r>
            <a:r>
              <a:rPr lang="en-US" altLang="zh-CN" dirty="0"/>
              <a:t>/</a:t>
            </a:r>
            <a:r>
              <a:rPr lang="zh-CN" altLang="en-US" dirty="0"/>
              <a:t>印刷有导电通路，用于电连接电路板上的各种元件，例如晶体管、电阻器和集成电路 </a:t>
            </a:r>
            <a:r>
              <a:rPr lang="en-US" altLang="zh-CN" dirty="0"/>
              <a:t>(IC) [18]</a:t>
            </a:r>
            <a:r>
              <a:rPr lang="zh-CN" altLang="en-US" dirty="0"/>
              <a:t>。换句话说，</a:t>
            </a:r>
            <a:r>
              <a:rPr lang="en-US" altLang="zh-CN" dirty="0"/>
              <a:t>PCB </a:t>
            </a:r>
            <a:r>
              <a:rPr lang="zh-CN" altLang="en-US" dirty="0"/>
              <a:t>被开发用于通过导电轨道和焊盘来机械支撑和电连接电子元件。元件通常焊接到 </a:t>
            </a:r>
            <a:r>
              <a:rPr lang="en-US" altLang="zh-CN" dirty="0"/>
              <a:t>PCB </a:t>
            </a:r>
            <a:r>
              <a:rPr lang="zh-CN" altLang="en-US" dirty="0"/>
              <a:t>上，以机械和电气方式连接到 </a:t>
            </a:r>
            <a:r>
              <a:rPr lang="en-US" altLang="zh-CN" dirty="0"/>
              <a:t>PCB</a:t>
            </a:r>
            <a:r>
              <a:rPr lang="zh-CN" altLang="en-US" dirty="0"/>
              <a:t>。图 </a:t>
            </a:r>
            <a:r>
              <a:rPr lang="en-US" altLang="zh-CN" dirty="0"/>
              <a:t>2.10 </a:t>
            </a:r>
            <a:r>
              <a:rPr lang="zh-CN" altLang="en-US" dirty="0"/>
              <a:t>显示了 </a:t>
            </a:r>
            <a:r>
              <a:rPr lang="en-US" altLang="zh-CN" dirty="0"/>
              <a:t>PCB </a:t>
            </a:r>
            <a:r>
              <a:rPr lang="zh-CN" altLang="en-US" dirty="0"/>
              <a:t>的图片，该图片由本书的作者为硬件黑客目的而构建。该图包括导电迹线、过孔和电子元件。</a:t>
            </a:r>
            <a:r>
              <a:rPr lang="en-US" altLang="zh-CN" dirty="0"/>
              <a:t>PCB </a:t>
            </a:r>
            <a:r>
              <a:rPr lang="zh-CN" altLang="en-US" dirty="0"/>
              <a:t>广泛应用于各种应用，例如台式计算机、笔记本电脑、移动设备、电视、收音机、物联网、汽车、数码相机等。它们是许多计算机组件的基础，包括显卡、声卡、适配器卡和扩展卡。所有这些组件都进一步连接到 </a:t>
            </a:r>
            <a:r>
              <a:rPr lang="en-US" altLang="zh-CN" dirty="0"/>
              <a:t>PCB</a:t>
            </a:r>
            <a:r>
              <a:rPr lang="zh-CN" altLang="en-US" dirty="0"/>
              <a:t>，即主板。虽然 </a:t>
            </a:r>
            <a:r>
              <a:rPr lang="en-US" altLang="zh-CN" dirty="0"/>
              <a:t>PCB </a:t>
            </a:r>
            <a:r>
              <a:rPr lang="zh-CN" altLang="en-US" dirty="0"/>
              <a:t>普遍用于计算机、移动设备和电器，但需要注意的是，移动设备中使用的 </a:t>
            </a:r>
            <a:r>
              <a:rPr lang="en-US" altLang="zh-CN" dirty="0"/>
              <a:t>PCB </a:t>
            </a:r>
            <a:r>
              <a:rPr lang="zh-CN" altLang="en-US" dirty="0"/>
              <a:t>通常比其他应用中使用的 </a:t>
            </a:r>
            <a:r>
              <a:rPr lang="en-US" altLang="zh-CN" dirty="0"/>
              <a:t>PCB </a:t>
            </a:r>
            <a:r>
              <a:rPr lang="zh-CN" altLang="en-US" dirty="0"/>
              <a:t>更薄，包含更精细的电路 </a:t>
            </a:r>
            <a:r>
              <a:rPr lang="en-US" altLang="zh-CN" dirty="0"/>
              <a:t>[182.6.1 PCB </a:t>
            </a:r>
            <a:r>
              <a:rPr lang="zh-CN" altLang="en-US" dirty="0"/>
              <a:t>的分类根据要求，</a:t>
            </a:r>
            <a:r>
              <a:rPr lang="en-US" altLang="zh-CN" dirty="0"/>
              <a:t>PCB </a:t>
            </a:r>
            <a:r>
              <a:rPr lang="zh-CN" altLang="en-US" dirty="0"/>
              <a:t>可以是单面键合 </a:t>
            </a:r>
            <a:r>
              <a:rPr lang="en-US" altLang="zh-CN" dirty="0"/>
              <a:t>(SSB</a:t>
            </a:r>
            <a:r>
              <a:rPr lang="zh-CN" altLang="en-US" dirty="0"/>
              <a:t>，即一个铜层</a:t>
            </a:r>
            <a:r>
              <a:rPr lang="en-US" altLang="zh-CN" dirty="0"/>
              <a:t>)</a:t>
            </a:r>
            <a:r>
              <a:rPr lang="zh-CN" altLang="en-US" dirty="0"/>
              <a:t>、双面键合 </a:t>
            </a:r>
            <a:r>
              <a:rPr lang="en-US" altLang="zh-CN" dirty="0"/>
              <a:t>(DSB</a:t>
            </a:r>
            <a:r>
              <a:rPr lang="zh-CN" altLang="en-US" dirty="0"/>
              <a:t>，即一个基板层两侧有两个铜层</a:t>
            </a:r>
            <a:r>
              <a:rPr lang="en-US" altLang="zh-CN" dirty="0"/>
              <a:t>) </a:t>
            </a:r>
            <a:r>
              <a:rPr lang="zh-CN" altLang="en-US" dirty="0"/>
              <a:t>或多层键合 </a:t>
            </a:r>
            <a:r>
              <a:rPr lang="en-US" altLang="zh-CN" dirty="0"/>
              <a:t>(MLB</a:t>
            </a:r>
            <a:r>
              <a:rPr lang="zh-CN" altLang="en-US" dirty="0"/>
              <a:t>，即内外层铜，与基板层交替</a:t>
            </a:r>
            <a:r>
              <a:rPr lang="en-US" altLang="zh-CN" dirty="0"/>
              <a:t>)</a:t>
            </a:r>
            <a:r>
              <a:rPr lang="zh-CN" altLang="en-US" dirty="0"/>
              <a:t>。</a:t>
            </a:r>
            <a:r>
              <a:rPr lang="en-US" altLang="zh-CN" dirty="0"/>
              <a:t>SSB PCB</a:t>
            </a:r>
            <a:r>
              <a:rPr lang="zh-CN" altLang="en-US" dirty="0"/>
              <a:t>单面键合 </a:t>
            </a:r>
            <a:r>
              <a:rPr lang="en-US" altLang="zh-CN" dirty="0"/>
              <a:t>PCB </a:t>
            </a:r>
            <a:r>
              <a:rPr lang="zh-CN" altLang="en-US" dirty="0"/>
              <a:t>只有一面铜层，另一面是绝缘材料。因此，只能使用单面铜来制造设备，因为铜是导电材料。</a:t>
            </a:r>
            <a:r>
              <a:rPr lang="en-US" altLang="zh-CN" dirty="0"/>
              <a:t>DSB</a:t>
            </a:r>
            <a:r>
              <a:rPr lang="zh-CN" altLang="en-US" dirty="0"/>
              <a:t>双面键合 </a:t>
            </a:r>
            <a:r>
              <a:rPr lang="en-US" altLang="zh-CN" dirty="0"/>
              <a:t>PCB </a:t>
            </a:r>
            <a:r>
              <a:rPr lang="zh-CN" altLang="en-US" dirty="0"/>
              <a:t>有三层；其中两层是侧面铜层。两端涂有铜材料，中间部分是绝缘材料。因此，两端均可用于设计、制造和放置电子元件。</a:t>
            </a:r>
            <a:r>
              <a:rPr lang="en-US" altLang="zh-CN" dirty="0"/>
              <a:t>ML PCB </a:t>
            </a:r>
            <a:r>
              <a:rPr lang="zh-CN" altLang="en-US" dirty="0"/>
              <a:t>多层键合 </a:t>
            </a:r>
            <a:r>
              <a:rPr lang="en-US" altLang="zh-CN" dirty="0"/>
              <a:t>PCB </a:t>
            </a:r>
            <a:r>
              <a:rPr lang="zh-CN" altLang="en-US" dirty="0"/>
              <a:t>具有两个以上的铜层，其中铜根据需要放置在不同的层中。</a:t>
            </a:r>
            <a:r>
              <a:rPr lang="en-US" altLang="zh-CN" dirty="0"/>
              <a:t>ML PCB </a:t>
            </a:r>
            <a:r>
              <a:rPr lang="zh-CN" altLang="en-US" dirty="0"/>
              <a:t>允许更高的元件密度，因为否则内层的电路走线将占用元件之间的表面空间。如今，</a:t>
            </a:r>
            <a:r>
              <a:rPr lang="en-US" altLang="zh-CN" dirty="0"/>
              <a:t>ML PCB </a:t>
            </a:r>
            <a:r>
              <a:rPr lang="zh-CN" altLang="en-US" dirty="0"/>
              <a:t>主要用于不同的应用。然而，</a:t>
            </a:r>
            <a:r>
              <a:rPr lang="en-US" altLang="zh-CN" dirty="0"/>
              <a:t>ML PCB </a:t>
            </a:r>
            <a:r>
              <a:rPr lang="zh-CN" altLang="en-US" dirty="0"/>
              <a:t>使分析、维修和电路现场修改变得更加困难。</a:t>
            </a:r>
            <a:endParaRPr lang="en-US" altLang="zh-CN" dirty="0"/>
          </a:p>
          <a:p>
            <a:r>
              <a:rPr lang="en-US" altLang="zh-CN" dirty="0"/>
              <a:t>2.6.2 PCB </a:t>
            </a:r>
            <a:r>
              <a:rPr lang="zh-CN" altLang="en-US" dirty="0"/>
              <a:t>设计流程</a:t>
            </a:r>
            <a:r>
              <a:rPr lang="en-US" altLang="zh-CN" dirty="0"/>
              <a:t>PCB </a:t>
            </a:r>
            <a:r>
              <a:rPr lang="zh-CN" altLang="en-US" dirty="0"/>
              <a:t>设计流程包括四个阶段，即零件选择、原理图捕获和仿真、电路板布局以及电路板验证和确认 </a:t>
            </a:r>
            <a:r>
              <a:rPr lang="en-US" altLang="zh-CN" dirty="0"/>
              <a:t>[19]</a:t>
            </a:r>
            <a:r>
              <a:rPr lang="zh-CN" altLang="en-US" dirty="0"/>
              <a:t>。</a:t>
            </a:r>
            <a:r>
              <a:rPr lang="en-US" altLang="zh-CN" dirty="0"/>
              <a:t>PCB </a:t>
            </a:r>
            <a:r>
              <a:rPr lang="zh-CN" altLang="en-US" dirty="0"/>
              <a:t>设计流程如图 </a:t>
            </a:r>
            <a:r>
              <a:rPr lang="en-US" altLang="zh-CN" dirty="0"/>
              <a:t>2.11 </a:t>
            </a:r>
            <a:r>
              <a:rPr lang="zh-CN" altLang="en-US" dirty="0"/>
              <a:t>所示。</a:t>
            </a:r>
            <a:endParaRPr lang="en-US" altLang="zh-CN" dirty="0"/>
          </a:p>
          <a:p>
            <a:r>
              <a:rPr lang="zh-CN" altLang="en-US" dirty="0"/>
              <a:t>零件选择元件（例如晶体管、电阻器、运算放大器和数字元件）是设计中最基本的部分。零件选择阶段评估和研究组件如何相互协调并作为整体设计的一部分工作。通常，有关物理组件的信息可以在线获取，例如数据表，它提供了操作点、开关特性和设计注意事项。原理图捕获和仿真作为 </a:t>
            </a:r>
            <a:r>
              <a:rPr lang="en-US" altLang="zh-CN" dirty="0"/>
              <a:t>PCB </a:t>
            </a:r>
            <a:r>
              <a:rPr lang="zh-CN" altLang="en-US" dirty="0"/>
              <a:t>设计流程的基本阶段，捕获是一个设计界面，其中放置和连接组件的图形符号以构建设计拓扑。捕获原理图后，通常使用 </a:t>
            </a:r>
            <a:r>
              <a:rPr lang="en-US" altLang="zh-CN" dirty="0"/>
              <a:t>SPICE </a:t>
            </a:r>
            <a:r>
              <a:rPr lang="zh-CN" altLang="en-US" dirty="0"/>
              <a:t>仿真来预测电路行为，检查电路设计的完整性，并分析组件和信号对设计的影响。仿真能够在设计实际制造之前快速识别大多数错误和错误，从而大大缩短上市时间和生产成本。电路板布局捕获原理图并模拟设计后，构建物理原型以在实际工作负载条件下测试设计性能。布局通过 </a:t>
            </a:r>
            <a:r>
              <a:rPr lang="en-US" altLang="zh-CN" dirty="0"/>
              <a:t>EDA </a:t>
            </a:r>
            <a:r>
              <a:rPr lang="zh-CN" altLang="en-US" dirty="0"/>
              <a:t>工具和 </a:t>
            </a:r>
            <a:r>
              <a:rPr lang="en-US" altLang="zh-CN" dirty="0"/>
              <a:t>CAD </a:t>
            </a:r>
            <a:r>
              <a:rPr lang="zh-CN" altLang="en-US" dirty="0"/>
              <a:t>环境完成，其中在捕获阶段代表设计的组件符号以实际组件物理尺寸的格式显示。此阶段的最终设计形式将导出为 </a:t>
            </a:r>
            <a:r>
              <a:rPr lang="en-US" altLang="zh-CN" dirty="0"/>
              <a:t>Gerber </a:t>
            </a:r>
            <a:r>
              <a:rPr lang="zh-CN" altLang="en-US" dirty="0"/>
              <a:t>格式，</a:t>
            </a:r>
            <a:r>
              <a:rPr lang="en-US" altLang="zh-CN" dirty="0"/>
              <a:t>PCB </a:t>
            </a:r>
            <a:r>
              <a:rPr lang="zh-CN" altLang="en-US" dirty="0"/>
              <a:t>制造商可以使用该格式将其转换为电路板的物理表示。尽管先进的 </a:t>
            </a:r>
            <a:r>
              <a:rPr lang="en-US" altLang="zh-CN" dirty="0"/>
              <a:t>EDA </a:t>
            </a:r>
            <a:r>
              <a:rPr lang="zh-CN" altLang="en-US" dirty="0"/>
              <a:t>工具能够自动放置和布线电路板，但关键元件和组件必须由经验丰富的工程师手动处理，并进行额外审查，以确保设计的性能和稳定性。原型测试和制造测试原型测试和制造测试是 </a:t>
            </a:r>
            <a:r>
              <a:rPr lang="en-US" altLang="zh-CN" dirty="0"/>
              <a:t>PCB </a:t>
            </a:r>
            <a:r>
              <a:rPr lang="zh-CN" altLang="en-US" dirty="0"/>
              <a:t>验证的最后步骤。原型测试可验证设计是否符合目标规格，而大批量生产中的制造测试则可确保每台设备都符合测试原则和预期响应。</a:t>
            </a:r>
          </a:p>
          <a:p>
            <a:endParaRPr lang="zh-CN" altLang="en-US" dirty="0"/>
          </a:p>
        </p:txBody>
      </p:sp>
      <p:sp>
        <p:nvSpPr>
          <p:cNvPr id="4" name="灯片编号占位符 3">
            <a:extLst>
              <a:ext uri="{FF2B5EF4-FFF2-40B4-BE49-F238E27FC236}">
                <a16:creationId xmlns:a16="http://schemas.microsoft.com/office/drawing/2014/main" id="{9FFD258E-C8F6-E342-F20B-E55D4F66BE0F}"/>
              </a:ext>
            </a:extLst>
          </p:cNvPr>
          <p:cNvSpPr>
            <a:spLocks noGrp="1"/>
          </p:cNvSpPr>
          <p:nvPr>
            <p:ph type="sldNum" sz="quarter" idx="5"/>
          </p:nvPr>
        </p:nvSpPr>
        <p:spPr/>
        <p:txBody>
          <a:bodyPr/>
          <a:lstStyle/>
          <a:p>
            <a:fld id="{84918B77-9CB1-4C48-BED5-B02F24F09A98}" type="slidenum">
              <a:rPr lang="zh-CN" altLang="en-US" smtClean="0"/>
              <a:t>14</a:t>
            </a:fld>
            <a:endParaRPr lang="zh-CN" altLang="en-US"/>
          </a:p>
        </p:txBody>
      </p:sp>
    </p:spTree>
    <p:extLst>
      <p:ext uri="{BB962C8B-B14F-4D97-AF65-F5344CB8AC3E}">
        <p14:creationId xmlns:p14="http://schemas.microsoft.com/office/powerpoint/2010/main" val="4231736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77ACF-B7B0-9765-F7EE-668E20BD519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F21EE0F-9A17-1828-74EA-D05EEC49D1C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B65B584-9DD3-5F68-9545-769FA9E35E1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9FC19CF-E352-C5D4-0140-9579DECC1AA6}"/>
              </a:ext>
            </a:extLst>
          </p:cNvPr>
          <p:cNvSpPr>
            <a:spLocks noGrp="1"/>
          </p:cNvSpPr>
          <p:nvPr>
            <p:ph type="sldNum" sz="quarter" idx="5"/>
          </p:nvPr>
        </p:nvSpPr>
        <p:spPr/>
        <p:txBody>
          <a:bodyPr/>
          <a:lstStyle/>
          <a:p>
            <a:fld id="{84918B77-9CB1-4C48-BED5-B02F24F09A98}" type="slidenum">
              <a:rPr lang="zh-CN" altLang="en-US" smtClean="0"/>
              <a:t>15</a:t>
            </a:fld>
            <a:endParaRPr lang="zh-CN" altLang="en-US"/>
          </a:p>
        </p:txBody>
      </p:sp>
    </p:spTree>
    <p:extLst>
      <p:ext uri="{BB962C8B-B14F-4D97-AF65-F5344CB8AC3E}">
        <p14:creationId xmlns:p14="http://schemas.microsoft.com/office/powerpoint/2010/main" val="12194669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1F9D0-D53F-6A66-F2A1-0644002ACF7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B7395E4-D32A-8AF2-167E-EACAE480A1B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1A970DE-EDCA-D1A7-A505-52F40E1540D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3C4B2FA-B8B8-FC09-4064-72903F7CD242}"/>
              </a:ext>
            </a:extLst>
          </p:cNvPr>
          <p:cNvSpPr>
            <a:spLocks noGrp="1"/>
          </p:cNvSpPr>
          <p:nvPr>
            <p:ph type="sldNum" sz="quarter" idx="5"/>
          </p:nvPr>
        </p:nvSpPr>
        <p:spPr/>
        <p:txBody>
          <a:bodyPr/>
          <a:lstStyle/>
          <a:p>
            <a:fld id="{84918B77-9CB1-4C48-BED5-B02F24F09A98}" type="slidenum">
              <a:rPr lang="zh-CN" altLang="en-US" smtClean="0"/>
              <a:t>16</a:t>
            </a:fld>
            <a:endParaRPr lang="zh-CN" altLang="en-US"/>
          </a:p>
        </p:txBody>
      </p:sp>
    </p:spTree>
    <p:extLst>
      <p:ext uri="{BB962C8B-B14F-4D97-AF65-F5344CB8AC3E}">
        <p14:creationId xmlns:p14="http://schemas.microsoft.com/office/powerpoint/2010/main" val="33540043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69B93-8BDA-E73E-1F65-0E82086F44E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0E7B33A-F2CC-9E10-83F8-4BF99C7CFBD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F927C43-E88F-8856-D20A-19E5DA61EAB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7D036C4-F554-36CB-A4B3-14D045A30005}"/>
              </a:ext>
            </a:extLst>
          </p:cNvPr>
          <p:cNvSpPr>
            <a:spLocks noGrp="1"/>
          </p:cNvSpPr>
          <p:nvPr>
            <p:ph type="sldNum" sz="quarter" idx="5"/>
          </p:nvPr>
        </p:nvSpPr>
        <p:spPr/>
        <p:txBody>
          <a:bodyPr/>
          <a:lstStyle/>
          <a:p>
            <a:fld id="{84918B77-9CB1-4C48-BED5-B02F24F09A98}" type="slidenum">
              <a:rPr lang="zh-CN" altLang="en-US" smtClean="0"/>
              <a:t>17</a:t>
            </a:fld>
            <a:endParaRPr lang="zh-CN" altLang="en-US"/>
          </a:p>
        </p:txBody>
      </p:sp>
    </p:spTree>
    <p:extLst>
      <p:ext uri="{BB962C8B-B14F-4D97-AF65-F5344CB8AC3E}">
        <p14:creationId xmlns:p14="http://schemas.microsoft.com/office/powerpoint/2010/main" val="1530998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08F4F-CC2B-94AF-13DE-C8962135723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5000403-6BF4-97BC-91CA-1AB98A5F1B9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545D8E1-9B26-1DD8-5D59-5741D3A1DD8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5152A66-1746-E185-D11B-E7A6B0BD842B}"/>
              </a:ext>
            </a:extLst>
          </p:cNvPr>
          <p:cNvSpPr>
            <a:spLocks noGrp="1"/>
          </p:cNvSpPr>
          <p:nvPr>
            <p:ph type="sldNum" sz="quarter" idx="5"/>
          </p:nvPr>
        </p:nvSpPr>
        <p:spPr/>
        <p:txBody>
          <a:bodyPr/>
          <a:lstStyle/>
          <a:p>
            <a:fld id="{84918B77-9CB1-4C48-BED5-B02F24F09A98}" type="slidenum">
              <a:rPr lang="zh-CN" altLang="en-US" smtClean="0"/>
              <a:t>18</a:t>
            </a:fld>
            <a:endParaRPr lang="zh-CN" altLang="en-US"/>
          </a:p>
        </p:txBody>
      </p:sp>
    </p:spTree>
    <p:extLst>
      <p:ext uri="{BB962C8B-B14F-4D97-AF65-F5344CB8AC3E}">
        <p14:creationId xmlns:p14="http://schemas.microsoft.com/office/powerpoint/2010/main" val="5755163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9E798-44FE-E7FE-A992-3442CB8476D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1BFF5A6-5087-D865-9368-1CB877A06CF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DCB6C34-DEBF-5CA9-F49C-51997DFA26C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A081C1A-8607-9DAB-8223-E3078351F484}"/>
              </a:ext>
            </a:extLst>
          </p:cNvPr>
          <p:cNvSpPr>
            <a:spLocks noGrp="1"/>
          </p:cNvSpPr>
          <p:nvPr>
            <p:ph type="sldNum" sz="quarter" idx="5"/>
          </p:nvPr>
        </p:nvSpPr>
        <p:spPr/>
        <p:txBody>
          <a:bodyPr/>
          <a:lstStyle/>
          <a:p>
            <a:fld id="{84918B77-9CB1-4C48-BED5-B02F24F09A98}" type="slidenum">
              <a:rPr lang="zh-CN" altLang="en-US" smtClean="0"/>
              <a:t>19</a:t>
            </a:fld>
            <a:endParaRPr lang="zh-CN" altLang="en-US"/>
          </a:p>
        </p:txBody>
      </p:sp>
    </p:spTree>
    <p:extLst>
      <p:ext uri="{BB962C8B-B14F-4D97-AF65-F5344CB8AC3E}">
        <p14:creationId xmlns:p14="http://schemas.microsoft.com/office/powerpoint/2010/main" val="17078948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11247-09E1-017F-60C1-51DDBDA015E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A3573CC-5B1E-B8CE-82CD-2380A76F7A7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BF38805-4BCB-BDAC-A9D5-ABBE286484F4}"/>
              </a:ext>
            </a:extLst>
          </p:cNvPr>
          <p:cNvSpPr>
            <a:spLocks noGrp="1"/>
          </p:cNvSpPr>
          <p:nvPr>
            <p:ph type="body" idx="1"/>
          </p:nvPr>
        </p:nvSpPr>
        <p:spPr/>
        <p:txBody>
          <a:bodyPr/>
          <a:lstStyle/>
          <a:p>
            <a:r>
              <a:rPr lang="en-US" altLang="zh-CN" dirty="0"/>
              <a:t>PCB</a:t>
            </a:r>
            <a:r>
              <a:rPr lang="zh-CN" altLang="en-US" dirty="0"/>
              <a:t>刚性电路板坚硬的板材可以保护电子元件免受损坏，但它限制了电子产品的延展性和柔韧性。于是有了柔性印刷电路。</a:t>
            </a:r>
          </a:p>
        </p:txBody>
      </p:sp>
      <p:sp>
        <p:nvSpPr>
          <p:cNvPr id="4" name="灯片编号占位符 3">
            <a:extLst>
              <a:ext uri="{FF2B5EF4-FFF2-40B4-BE49-F238E27FC236}">
                <a16:creationId xmlns:a16="http://schemas.microsoft.com/office/drawing/2014/main" id="{68886100-F286-C0A9-DF95-C054FD298471}"/>
              </a:ext>
            </a:extLst>
          </p:cNvPr>
          <p:cNvSpPr>
            <a:spLocks noGrp="1"/>
          </p:cNvSpPr>
          <p:nvPr>
            <p:ph type="sldNum" sz="quarter" idx="5"/>
          </p:nvPr>
        </p:nvSpPr>
        <p:spPr/>
        <p:txBody>
          <a:bodyPr/>
          <a:lstStyle/>
          <a:p>
            <a:fld id="{84918B77-9CB1-4C48-BED5-B02F24F09A98}" type="slidenum">
              <a:rPr lang="zh-CN" altLang="en-US" smtClean="0"/>
              <a:t>20</a:t>
            </a:fld>
            <a:endParaRPr lang="zh-CN" altLang="en-US"/>
          </a:p>
        </p:txBody>
      </p:sp>
    </p:spTree>
    <p:extLst>
      <p:ext uri="{BB962C8B-B14F-4D97-AF65-F5344CB8AC3E}">
        <p14:creationId xmlns:p14="http://schemas.microsoft.com/office/powerpoint/2010/main" val="30182840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2D0D9-CA7B-8A30-5D9F-90CD14B6157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3A1D348-348B-2862-82BC-57F5CF87FFD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F996F01-7776-2A70-DFDE-E83D8D41BCD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0678E03-41CA-B23F-3C23-614EE580C803}"/>
              </a:ext>
            </a:extLst>
          </p:cNvPr>
          <p:cNvSpPr>
            <a:spLocks noGrp="1"/>
          </p:cNvSpPr>
          <p:nvPr>
            <p:ph type="sldNum" sz="quarter" idx="5"/>
          </p:nvPr>
        </p:nvSpPr>
        <p:spPr/>
        <p:txBody>
          <a:bodyPr/>
          <a:lstStyle/>
          <a:p>
            <a:fld id="{84918B77-9CB1-4C48-BED5-B02F24F09A98}" type="slidenum">
              <a:rPr lang="zh-CN" altLang="en-US" smtClean="0"/>
              <a:t>21</a:t>
            </a:fld>
            <a:endParaRPr lang="zh-CN" altLang="en-US"/>
          </a:p>
        </p:txBody>
      </p:sp>
    </p:spTree>
    <p:extLst>
      <p:ext uri="{BB962C8B-B14F-4D97-AF65-F5344CB8AC3E}">
        <p14:creationId xmlns:p14="http://schemas.microsoft.com/office/powerpoint/2010/main" val="30573482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CB3A9-2516-65DE-4CC1-6C453456BDF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BE67BB0-A824-95CF-84CE-74CC72D593C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CB44B3E-1955-2EBB-3A8C-1AAE40C436B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6AD361A-C7BB-034C-840D-73C8CDF78E28}"/>
              </a:ext>
            </a:extLst>
          </p:cNvPr>
          <p:cNvSpPr>
            <a:spLocks noGrp="1"/>
          </p:cNvSpPr>
          <p:nvPr>
            <p:ph type="sldNum" sz="quarter" idx="5"/>
          </p:nvPr>
        </p:nvSpPr>
        <p:spPr/>
        <p:txBody>
          <a:bodyPr/>
          <a:lstStyle/>
          <a:p>
            <a:fld id="{84918B77-9CB1-4C48-BED5-B02F24F09A98}" type="slidenum">
              <a:rPr lang="zh-CN" altLang="en-US" smtClean="0"/>
              <a:t>22</a:t>
            </a:fld>
            <a:endParaRPr lang="zh-CN" altLang="en-US"/>
          </a:p>
        </p:txBody>
      </p:sp>
    </p:spTree>
    <p:extLst>
      <p:ext uri="{BB962C8B-B14F-4D97-AF65-F5344CB8AC3E}">
        <p14:creationId xmlns:p14="http://schemas.microsoft.com/office/powerpoint/2010/main" val="21421760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21EB5-B365-6368-F788-F3C7D2D7D02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5483DC0-9C19-E97E-C7A7-0621316DECF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18541F7-F0E8-7895-DE1E-099AA214C0A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078F4B2-D153-9E75-3C36-0C8045C70CA7}"/>
              </a:ext>
            </a:extLst>
          </p:cNvPr>
          <p:cNvSpPr>
            <a:spLocks noGrp="1"/>
          </p:cNvSpPr>
          <p:nvPr>
            <p:ph type="sldNum" sz="quarter" idx="5"/>
          </p:nvPr>
        </p:nvSpPr>
        <p:spPr/>
        <p:txBody>
          <a:bodyPr/>
          <a:lstStyle/>
          <a:p>
            <a:fld id="{84918B77-9CB1-4C48-BED5-B02F24F09A98}" type="slidenum">
              <a:rPr lang="zh-CN" altLang="en-US" smtClean="0"/>
              <a:t>23</a:t>
            </a:fld>
            <a:endParaRPr lang="zh-CN" altLang="en-US"/>
          </a:p>
        </p:txBody>
      </p:sp>
    </p:spTree>
    <p:extLst>
      <p:ext uri="{BB962C8B-B14F-4D97-AF65-F5344CB8AC3E}">
        <p14:creationId xmlns:p14="http://schemas.microsoft.com/office/powerpoint/2010/main" val="4963633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79973-5A3C-95F4-6328-9CB091E4E1B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351C0AA-BB94-1551-725B-64C912EA0F9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32B82B7-EE6E-507A-16CE-AF38D7F4311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42383ED-360F-F64F-48AC-C2B98C3FC0F6}"/>
              </a:ext>
            </a:extLst>
          </p:cNvPr>
          <p:cNvSpPr>
            <a:spLocks noGrp="1"/>
          </p:cNvSpPr>
          <p:nvPr>
            <p:ph type="sldNum" sz="quarter" idx="5"/>
          </p:nvPr>
        </p:nvSpPr>
        <p:spPr/>
        <p:txBody>
          <a:bodyPr/>
          <a:lstStyle/>
          <a:p>
            <a:fld id="{84918B77-9CB1-4C48-BED5-B02F24F09A98}" type="slidenum">
              <a:rPr lang="zh-CN" altLang="en-US" smtClean="0"/>
              <a:t>24</a:t>
            </a:fld>
            <a:endParaRPr lang="zh-CN" altLang="en-US"/>
          </a:p>
        </p:txBody>
      </p:sp>
    </p:spTree>
    <p:extLst>
      <p:ext uri="{BB962C8B-B14F-4D97-AF65-F5344CB8AC3E}">
        <p14:creationId xmlns:p14="http://schemas.microsoft.com/office/powerpoint/2010/main" val="26234940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AD654-34FF-4A34-430B-781AB2AFE6F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7B62D8C-3D97-FB0A-F048-A082794FF8C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160307D-83D0-BED6-9D22-B3E3FB5F58A0}"/>
              </a:ext>
            </a:extLst>
          </p:cNvPr>
          <p:cNvSpPr>
            <a:spLocks noGrp="1"/>
          </p:cNvSpPr>
          <p:nvPr>
            <p:ph type="body" idx="1"/>
          </p:nvPr>
        </p:nvSpPr>
        <p:spPr/>
        <p:txBody>
          <a:bodyPr/>
          <a:lstStyle/>
          <a:p>
            <a:endParaRPr lang="en-US" altLang="zh-CN" dirty="0"/>
          </a:p>
          <a:p>
            <a:r>
              <a:rPr lang="zh-CN" altLang="en-US" dirty="0"/>
              <a:t>印刷电子是基于印刷原理制造电子设备的技术</a:t>
            </a:r>
            <a:r>
              <a:rPr lang="en-US" altLang="zh-CN" dirty="0"/>
              <a:t>[1]</a:t>
            </a:r>
            <a:r>
              <a:rPr lang="zh-CN" altLang="en-US" dirty="0"/>
              <a:t>。与传统印刷技术不同，印刷机中使用的油墨是具有导电、介电、半导体或磁性的电子材料。印刷电子与有机电子、塑料电子、柔性电子和纸电子等多个领域密切相关</a:t>
            </a:r>
            <a:r>
              <a:rPr lang="en-US" altLang="zh-CN" dirty="0"/>
              <a:t>[2]</a:t>
            </a:r>
            <a:r>
              <a:rPr lang="zh-CN" altLang="en-US" dirty="0"/>
              <a:t>，这意味着不仅可以在硅和玻璃上印刷电路，还可以在塑料、纸张和更柔性的基板上印刷电路。生产柔性电子产品的方法之一是将导电材料直接印刷到柔性基板上。经典的柔性电子是指将有机</a:t>
            </a:r>
            <a:r>
              <a:rPr lang="en-US" altLang="zh-CN" dirty="0"/>
              <a:t>/</a:t>
            </a:r>
            <a:r>
              <a:rPr lang="zh-CN" altLang="en-US" dirty="0"/>
              <a:t>无机电子器件沉积在柔性基板上形成电路的技术</a:t>
            </a:r>
            <a:r>
              <a:rPr lang="en-US" altLang="zh-CN" dirty="0"/>
              <a:t>[3]</a:t>
            </a:r>
            <a:r>
              <a:rPr lang="zh-CN" altLang="en-US" dirty="0"/>
              <a:t>。虽然刚性电路板可以保护电子元件免受损坏，但它限制了电子产品的延展性和柔韧性。柔性电子具有柔软、延展性好、制造成本低等优点，可在信息、能源、医学和国防技术领域提供智能传感器、执行器、柔性显示器、有机发光二极管 </a:t>
            </a:r>
            <a:r>
              <a:rPr lang="en-US" altLang="zh-CN" dirty="0"/>
              <a:t>(OLED) </a:t>
            </a:r>
            <a:r>
              <a:rPr lang="zh-CN" altLang="en-US" dirty="0"/>
              <a:t>等。与传统的刚性微电子相比，柔性电子最显著的特点是其柔韧性，这使得它们可拉伸、保形、便携、可穿戴，并易于快速打印 </a:t>
            </a:r>
            <a:r>
              <a:rPr lang="en-US" altLang="zh-CN" dirty="0"/>
              <a:t>[4,5,6,7,8]</a:t>
            </a:r>
            <a:r>
              <a:rPr lang="zh-CN" altLang="en-US" dirty="0"/>
              <a:t>。由于柔性电子在电气、可打印、生物医学和传感特性方面的独特优势，它可以在电子元件 </a:t>
            </a:r>
            <a:r>
              <a:rPr lang="en-US" altLang="zh-CN" dirty="0"/>
              <a:t>[9]</a:t>
            </a:r>
            <a:r>
              <a:rPr lang="zh-CN" altLang="en-US" dirty="0"/>
              <a:t>、打印技术、植入式设备 </a:t>
            </a:r>
            <a:r>
              <a:rPr lang="en-US" altLang="zh-CN" dirty="0"/>
              <a:t>[10] </a:t>
            </a:r>
            <a:r>
              <a:rPr lang="zh-CN" altLang="en-US" dirty="0"/>
              <a:t>和健康监测器 </a:t>
            </a:r>
            <a:r>
              <a:rPr lang="en-US" altLang="zh-CN" dirty="0"/>
              <a:t>[11] </a:t>
            </a:r>
            <a:r>
              <a:rPr lang="zh-CN" altLang="en-US" dirty="0"/>
              <a:t>等领域得到广泛应用，具体用途包括天线 </a:t>
            </a:r>
            <a:r>
              <a:rPr lang="en-US" altLang="zh-CN" dirty="0"/>
              <a:t>[12]</a:t>
            </a:r>
            <a:r>
              <a:rPr lang="zh-CN" altLang="en-US" dirty="0"/>
              <a:t>、眼球摄像头 </a:t>
            </a:r>
            <a:r>
              <a:rPr lang="en-US" altLang="zh-CN" dirty="0"/>
              <a:t>[13] </a:t>
            </a:r>
            <a:r>
              <a:rPr lang="zh-CN" altLang="en-US" dirty="0"/>
              <a:t>和压力传感器 </a:t>
            </a:r>
            <a:r>
              <a:rPr lang="en-US" altLang="zh-CN" dirty="0"/>
              <a:t>[14] </a:t>
            </a:r>
            <a:r>
              <a:rPr lang="zh-CN" altLang="en-US" dirty="0"/>
              <a:t>等。如今，人们已采用两种常见策略来提高电子产品的柔软度 </a:t>
            </a:r>
            <a:r>
              <a:rPr lang="en-US" altLang="zh-CN" dirty="0"/>
              <a:t>[15]</a:t>
            </a:r>
            <a:r>
              <a:rPr lang="zh-CN" altLang="en-US" dirty="0"/>
              <a:t>。一种是将坚硬的导电材料嵌入到可拉伸的基底上，例如聚二甲基硅氧烷 </a:t>
            </a:r>
            <a:r>
              <a:rPr lang="en-US" altLang="zh-CN" dirty="0"/>
              <a:t>(PDMS)</a:t>
            </a:r>
            <a:r>
              <a:rPr lang="zh-CN" altLang="en-US" dirty="0"/>
              <a:t>。</a:t>
            </a:r>
            <a:r>
              <a:rPr lang="en-US" altLang="zh-CN" dirty="0"/>
              <a:t>Rogers </a:t>
            </a:r>
            <a:r>
              <a:rPr lang="zh-CN" altLang="en-US" dirty="0"/>
              <a:t>等人引入了一种复杂的波浪结构来保持电路的可拉伸性，当应力作用于柔软的基底上时，它可以吸收较大的张力 </a:t>
            </a:r>
            <a:r>
              <a:rPr lang="en-US" altLang="zh-CN" dirty="0"/>
              <a:t>[16,17]</a:t>
            </a:r>
            <a:r>
              <a:rPr lang="zh-CN" altLang="en-US" dirty="0"/>
              <a:t>。另一种是使用固有可拉伸的导体来形成电路 </a:t>
            </a:r>
            <a:r>
              <a:rPr lang="en-US" altLang="zh-CN" dirty="0"/>
              <a:t>[18]</a:t>
            </a:r>
            <a:r>
              <a:rPr lang="zh-CN" altLang="en-US" dirty="0"/>
              <a:t>。</a:t>
            </a:r>
            <a:r>
              <a:rPr lang="en-US" altLang="zh-CN" dirty="0"/>
              <a:t>Russo </a:t>
            </a:r>
            <a:r>
              <a:rPr lang="zh-CN" altLang="en-US" dirty="0"/>
              <a:t>等人展示了一种使用导电银墨水连接电路的方法，这种方法可以直接在纸上书写导电文字以连接发光二极管 </a:t>
            </a:r>
            <a:r>
              <a:rPr lang="en-US" altLang="zh-CN" dirty="0"/>
              <a:t>(LED) </a:t>
            </a:r>
            <a:r>
              <a:rPr lang="zh-CN" altLang="en-US" dirty="0"/>
              <a:t>阵列和三维 </a:t>
            </a:r>
            <a:r>
              <a:rPr lang="en-US" altLang="zh-CN" dirty="0"/>
              <a:t>(3D) </a:t>
            </a:r>
            <a:r>
              <a:rPr lang="zh-CN" altLang="en-US" dirty="0"/>
              <a:t>天线 </a:t>
            </a:r>
            <a:r>
              <a:rPr lang="en-US" altLang="zh-CN" dirty="0"/>
              <a:t>[12]</a:t>
            </a:r>
            <a:r>
              <a:rPr lang="zh-CN" altLang="en-US" dirty="0"/>
              <a:t>。显然，柔性印刷电子 </a:t>
            </a:r>
            <a:r>
              <a:rPr lang="en-US" altLang="zh-CN" dirty="0"/>
              <a:t>(FPE) </a:t>
            </a:r>
            <a:r>
              <a:rPr lang="zh-CN" altLang="en-US" dirty="0"/>
              <a:t>结合了柔性电子和印刷电子的特点。通过这种方式，人们可以快速制造出功能齐全的柔性电子设备。随着印刷技术的成熟，柔性印刷已成为研究的热门话题。目前已经出现了几种典型的印刷技术，例如敲击模式印刷</a:t>
            </a:r>
            <a:r>
              <a:rPr lang="en-US" altLang="zh-CN" dirty="0"/>
              <a:t>[18]</a:t>
            </a:r>
            <a:r>
              <a:rPr lang="zh-CN" altLang="en-US" dirty="0"/>
              <a:t>、气溶胶喷射印刷、卷对卷技术</a:t>
            </a:r>
            <a:r>
              <a:rPr lang="en-US" altLang="zh-CN" dirty="0"/>
              <a:t>[19]</a:t>
            </a:r>
            <a:r>
              <a:rPr lang="zh-CN" altLang="en-US" dirty="0"/>
              <a:t>、喷墨印刷</a:t>
            </a:r>
            <a:r>
              <a:rPr lang="en-US" altLang="zh-CN" dirty="0"/>
              <a:t>[20]</a:t>
            </a:r>
            <a:r>
              <a:rPr lang="zh-CN" altLang="en-US" dirty="0"/>
              <a:t>以及微笔和刷子印刷</a:t>
            </a:r>
            <a:r>
              <a:rPr lang="en-US" altLang="zh-CN" dirty="0"/>
              <a:t>[21,22]</a:t>
            </a:r>
            <a:r>
              <a:rPr lang="zh-CN" altLang="en-US" dirty="0"/>
              <a:t>。其中，微笔也许是最简单的方法：将电墨水泵入墨盒中直接写出导电文字。这使得在 </a:t>
            </a:r>
            <a:r>
              <a:rPr lang="en-US" altLang="zh-CN" dirty="0"/>
              <a:t>A4 </a:t>
            </a:r>
            <a:r>
              <a:rPr lang="zh-CN" altLang="en-US" dirty="0"/>
              <a:t>纸上绘制电路图成为可能。微笔明显降低了电路生产的复杂性并提高了电子电路制造的效率。</a:t>
            </a:r>
            <a:r>
              <a:rPr lang="en-US" altLang="zh-CN" dirty="0"/>
              <a:t>FPE </a:t>
            </a:r>
            <a:r>
              <a:rPr lang="zh-CN" altLang="en-US" dirty="0"/>
              <a:t>在不同领域取得了重大成就，例如柔性显示设备</a:t>
            </a:r>
            <a:r>
              <a:rPr lang="en-US" altLang="zh-CN" dirty="0"/>
              <a:t>[23]</a:t>
            </a:r>
            <a:r>
              <a:rPr lang="zh-CN" altLang="en-US" dirty="0"/>
              <a:t>、薄膜太阳能电池</a:t>
            </a:r>
            <a:r>
              <a:rPr lang="en-US" altLang="zh-CN" dirty="0"/>
              <a:t>[24,25]</a:t>
            </a:r>
            <a:r>
              <a:rPr lang="zh-CN" altLang="en-US" dirty="0"/>
              <a:t>、大面积传感器和驱动器</a:t>
            </a:r>
            <a:r>
              <a:rPr lang="en-US" altLang="zh-CN" dirty="0"/>
              <a:t>[26,27]</a:t>
            </a:r>
            <a:r>
              <a:rPr lang="zh-CN" altLang="en-US" dirty="0"/>
              <a:t>、电子皮肤</a:t>
            </a:r>
            <a:r>
              <a:rPr lang="en-US" altLang="zh-CN" dirty="0"/>
              <a:t>[28]</a:t>
            </a:r>
            <a:r>
              <a:rPr lang="zh-CN" altLang="en-US" dirty="0"/>
              <a:t>、可穿戴电子和生物假肢设备</a:t>
            </a:r>
            <a:r>
              <a:rPr lang="en-US" altLang="zh-CN" dirty="0"/>
              <a:t>[29]</a:t>
            </a:r>
            <a:r>
              <a:rPr lang="zh-CN" altLang="en-US" dirty="0"/>
              <a:t>、自充电系统</a:t>
            </a:r>
            <a:r>
              <a:rPr lang="en-US" altLang="zh-CN" dirty="0"/>
              <a:t>[30]</a:t>
            </a:r>
            <a:r>
              <a:rPr lang="zh-CN" altLang="en-US" dirty="0"/>
              <a:t>、自供电无线监控</a:t>
            </a:r>
            <a:r>
              <a:rPr lang="en-US" altLang="zh-CN" dirty="0"/>
              <a:t>[31]</a:t>
            </a:r>
            <a:r>
              <a:rPr lang="zh-CN" altLang="en-US" dirty="0"/>
              <a:t>等。如果电路具有柔软性、顺应性、可拉伸性和便携性等特性，则可以称其为可弯曲电子设备。与此同时，许多实验室已经开发出具有柔性的电子设备，如弯曲显示器</a:t>
            </a:r>
            <a:r>
              <a:rPr lang="en-US" altLang="zh-CN" dirty="0"/>
              <a:t>[32]</a:t>
            </a:r>
            <a:r>
              <a:rPr lang="zh-CN" altLang="en-US" dirty="0"/>
              <a:t>、折叠电池</a:t>
            </a:r>
            <a:r>
              <a:rPr lang="en-US" altLang="zh-CN" dirty="0"/>
              <a:t>[9]</a:t>
            </a:r>
            <a:r>
              <a:rPr lang="zh-CN" altLang="en-US" dirty="0"/>
              <a:t>、软场效应晶体管</a:t>
            </a:r>
            <a:r>
              <a:rPr lang="en-US" altLang="zh-CN" dirty="0"/>
              <a:t>[33]</a:t>
            </a:r>
            <a:r>
              <a:rPr lang="zh-CN" altLang="en-US" dirty="0"/>
              <a:t>、可拉伸导线</a:t>
            </a:r>
            <a:r>
              <a:rPr lang="en-US" altLang="zh-CN" dirty="0"/>
              <a:t>[34]</a:t>
            </a:r>
            <a:r>
              <a:rPr lang="zh-CN" altLang="en-US" dirty="0"/>
              <a:t>等。</a:t>
            </a:r>
            <a:r>
              <a:rPr lang="en-US" altLang="zh-CN" dirty="0"/>
              <a:t>FPE</a:t>
            </a:r>
            <a:r>
              <a:rPr lang="zh-CN" altLang="en-US" dirty="0"/>
              <a:t>还可以用于健康监测、医学检查、生命体征检测和其他日常生活需求。柔性生物医学设备已广泛应用于植入式设备</a:t>
            </a:r>
            <a:r>
              <a:rPr lang="en-US" altLang="zh-CN" dirty="0"/>
              <a:t>[10]</a:t>
            </a:r>
            <a:r>
              <a:rPr lang="zh-CN" altLang="en-US" dirty="0"/>
              <a:t>、神经连接</a:t>
            </a:r>
            <a:r>
              <a:rPr lang="en-US" altLang="zh-CN" dirty="0"/>
              <a:t>[35,36]</a:t>
            </a:r>
            <a:r>
              <a:rPr lang="zh-CN" altLang="en-US" dirty="0"/>
              <a:t>、健康监测</a:t>
            </a:r>
            <a:r>
              <a:rPr lang="en-US" altLang="zh-CN" dirty="0"/>
              <a:t>[11]</a:t>
            </a:r>
            <a:r>
              <a:rPr lang="zh-CN" altLang="en-US" dirty="0"/>
              <a:t>和可穿戴医疗设备领域。</a:t>
            </a:r>
            <a:r>
              <a:rPr lang="en-US" altLang="zh-CN" dirty="0"/>
              <a:t>FPE</a:t>
            </a:r>
            <a:r>
              <a:rPr lang="zh-CN" altLang="en-US" dirty="0"/>
              <a:t>还用于生物传感，其中最重要的应用是电子皮肤（</a:t>
            </a:r>
            <a:r>
              <a:rPr lang="en-US" altLang="zh-CN" dirty="0"/>
              <a:t>E-skin</a:t>
            </a:r>
            <a:r>
              <a:rPr lang="zh-CN" altLang="en-US" dirty="0"/>
              <a:t>），如压力映射</a:t>
            </a:r>
            <a:r>
              <a:rPr lang="en-US" altLang="zh-CN" dirty="0"/>
              <a:t>[37]</a:t>
            </a:r>
            <a:r>
              <a:rPr lang="zh-CN" altLang="en-US" dirty="0"/>
              <a:t>、自愈传感器</a:t>
            </a:r>
            <a:r>
              <a:rPr lang="en-US" altLang="zh-CN" dirty="0"/>
              <a:t>[38]</a:t>
            </a:r>
            <a:r>
              <a:rPr lang="zh-CN" altLang="en-US" dirty="0"/>
              <a:t>、假肢</a:t>
            </a:r>
            <a:r>
              <a:rPr lang="en-US" altLang="zh-CN" dirty="0"/>
              <a:t>[39]</a:t>
            </a:r>
            <a:r>
              <a:rPr lang="zh-CN" altLang="en-US" dirty="0"/>
              <a:t>、压力传感器</a:t>
            </a:r>
            <a:r>
              <a:rPr lang="en-US" altLang="zh-CN" dirty="0"/>
              <a:t>[14]</a:t>
            </a:r>
            <a:r>
              <a:rPr lang="zh-CN" altLang="en-US" dirty="0"/>
              <a:t>等。许多研究机构正在研究应用于柔性电子皮肤的不同材料。在鲍哲南的实验室，他们发明了一种受皮肤启发的人工机械感受器系统，该受体可以将压力刺激信号转化为人类神经元可以感知的电生理信号</a:t>
            </a:r>
            <a:r>
              <a:rPr lang="en-US" altLang="zh-CN" dirty="0"/>
              <a:t>[40]</a:t>
            </a:r>
          </a:p>
          <a:p>
            <a:endParaRPr lang="en-US" altLang="zh-CN" dirty="0"/>
          </a:p>
          <a:p>
            <a:endParaRPr lang="en-US" altLang="zh-CN" dirty="0"/>
          </a:p>
          <a:p>
            <a:r>
              <a:rPr lang="zh-CN" altLang="en-US" dirty="0"/>
              <a:t>在电子电路设计领域，必须特别注意柔性印刷电路的使用和放置。这些组件以其在各种应用中的灵活性和适应性而闻名，需要小心处理和战略定位以确保最佳性能和使用寿命</a:t>
            </a:r>
            <a:r>
              <a:rPr lang="en-US" altLang="zh-CN" dirty="0"/>
              <a:t>21</a:t>
            </a:r>
            <a:r>
              <a:rPr lang="zh-CN" altLang="en-US" dirty="0"/>
              <a:t>。这种谨慎方法的原因是多方面的：在柔性印刷电路 </a:t>
            </a:r>
            <a:r>
              <a:rPr lang="en-US" altLang="zh-CN" dirty="0"/>
              <a:t>(FPC) </a:t>
            </a:r>
            <a:r>
              <a:rPr lang="zh-CN" altLang="en-US" dirty="0"/>
              <a:t>的设计中，必须解决几个问题以确保其耐用性和功能性。首先，</a:t>
            </a:r>
            <a:r>
              <a:rPr lang="en-US" altLang="zh-CN" dirty="0"/>
              <a:t>FPC </a:t>
            </a:r>
            <a:r>
              <a:rPr lang="zh-CN" altLang="en-US" dirty="0"/>
              <a:t>本质上比刚性对应物更脆弱，容易受到机械损坏，例如裂缝或断裂</a:t>
            </a:r>
            <a:r>
              <a:rPr lang="en-US" altLang="zh-CN" dirty="0"/>
              <a:t>22</a:t>
            </a:r>
            <a:r>
              <a:rPr lang="zh-CN" altLang="en-US" dirty="0"/>
              <a:t>，尤其是在受到外部应力或力</a:t>
            </a:r>
            <a:r>
              <a:rPr lang="en-US" altLang="zh-CN" dirty="0"/>
              <a:t>23 </a:t>
            </a:r>
            <a:r>
              <a:rPr lang="zh-CN" altLang="en-US" dirty="0"/>
              <a:t>时。在 </a:t>
            </a:r>
            <a:r>
              <a:rPr lang="en-US" altLang="zh-CN" dirty="0"/>
              <a:t>FPC </a:t>
            </a:r>
            <a:r>
              <a:rPr lang="zh-CN" altLang="en-US" dirty="0"/>
              <a:t>可能接触其他组件的环境中，尤其是在容易移动或振动的环境中，这种脆弱性会加剧。战略性的物理分离可以显著降低此类损坏的风险。此外，当 </a:t>
            </a:r>
            <a:r>
              <a:rPr lang="en-US" altLang="zh-CN" dirty="0"/>
              <a:t>FPC </a:t>
            </a:r>
            <a:r>
              <a:rPr lang="zh-CN" altLang="en-US" dirty="0"/>
              <a:t>放置得太靠近其他电子元件（尤其是那些产生强电磁场的电子元件）时，</a:t>
            </a:r>
            <a:r>
              <a:rPr lang="en-US" altLang="zh-CN" dirty="0"/>
              <a:t>FPC </a:t>
            </a:r>
            <a:r>
              <a:rPr lang="zh-CN" altLang="en-US" dirty="0"/>
              <a:t>面临着电气干扰的挑战</a:t>
            </a:r>
            <a:r>
              <a:rPr lang="en-US" altLang="zh-CN" dirty="0"/>
              <a:t>24</a:t>
            </a:r>
            <a:r>
              <a:rPr lang="zh-CN" altLang="en-US" dirty="0"/>
              <a:t>。这种干扰会破坏 </a:t>
            </a:r>
            <a:r>
              <a:rPr lang="en-US" altLang="zh-CN" dirty="0"/>
              <a:t>FPC </a:t>
            </a:r>
            <a:r>
              <a:rPr lang="zh-CN" altLang="en-US" dirty="0"/>
              <a:t>上电路的正常运行，导致故障或效率低下。此外，保持信号完整性至关重要</a:t>
            </a:r>
            <a:r>
              <a:rPr lang="en-US" altLang="zh-CN" dirty="0"/>
              <a:t>25</a:t>
            </a:r>
            <a:r>
              <a:rPr lang="zh-CN" altLang="en-US" dirty="0"/>
              <a:t>，因为与其他组件的距离太近可能会导致信号丢失或干扰，这在高频或精密应用中至关重要，因为信号清晰度和完整性至关重要。有效的热管理是另一个关键考虑因素</a:t>
            </a:r>
            <a:r>
              <a:rPr lang="en-US" altLang="zh-CN" dirty="0"/>
              <a:t>26,27</a:t>
            </a:r>
            <a:r>
              <a:rPr lang="zh-CN" altLang="en-US" dirty="0"/>
              <a:t>。如果 </a:t>
            </a:r>
            <a:r>
              <a:rPr lang="en-US" altLang="zh-CN" dirty="0"/>
              <a:t>FPC </a:t>
            </a:r>
            <a:r>
              <a:rPr lang="zh-CN" altLang="en-US" dirty="0"/>
              <a:t>的位置太靠近发热组件，由此产生的高温会对其性能和寿命产生不利影响。足够的间距对于促进适当的散热和防止热过载至关重要，热过载会降低 </a:t>
            </a:r>
            <a:r>
              <a:rPr lang="en-US" altLang="zh-CN" dirty="0"/>
              <a:t>FPC </a:t>
            </a:r>
            <a:r>
              <a:rPr lang="zh-CN" altLang="en-US" dirty="0"/>
              <a:t>的材料和电路性能。最后，</a:t>
            </a:r>
            <a:r>
              <a:rPr lang="en-US" altLang="zh-CN" dirty="0"/>
              <a:t>FPC </a:t>
            </a:r>
            <a:r>
              <a:rPr lang="zh-CN" altLang="en-US" dirty="0"/>
              <a:t>独特的灵活性使它们可以弯曲或弯曲以适应特定的设计，但这种弯曲应该小心控制</a:t>
            </a:r>
            <a:r>
              <a:rPr lang="en-US" altLang="zh-CN" dirty="0"/>
              <a:t>28</a:t>
            </a:r>
            <a:r>
              <a:rPr lang="zh-CN" altLang="en-US" dirty="0"/>
              <a:t>。过度的曲率会对材料施加不当的压力，增加随着时间的推移疲劳和损坏的风险</a:t>
            </a:r>
            <a:r>
              <a:rPr lang="en-US" altLang="zh-CN" dirty="0"/>
              <a:t>29</a:t>
            </a:r>
            <a:r>
              <a:rPr lang="zh-CN" altLang="en-US" dirty="0"/>
              <a:t>。正确管理曲率对于保持 </a:t>
            </a:r>
            <a:r>
              <a:rPr lang="en-US" altLang="zh-CN" dirty="0"/>
              <a:t>FPC </a:t>
            </a:r>
            <a:r>
              <a:rPr lang="zh-CN" altLang="en-US" dirty="0"/>
              <a:t>的结构完整性至关重要。总之，</a:t>
            </a:r>
            <a:r>
              <a:rPr lang="en-US" altLang="zh-CN" dirty="0"/>
              <a:t>FPC </a:t>
            </a:r>
            <a:r>
              <a:rPr lang="zh-CN" altLang="en-US" dirty="0"/>
              <a:t>的战略性放置和处理在电路设计中至关重要。这不仅涉及避免与其他组件的物理接触，还需要考虑电磁兼容性、信号完整性</a:t>
            </a:r>
            <a:r>
              <a:rPr lang="en-US" altLang="zh-CN" dirty="0"/>
              <a:t>30</a:t>
            </a:r>
            <a:r>
              <a:rPr lang="zh-CN" altLang="en-US" dirty="0"/>
              <a:t>、热管理</a:t>
            </a:r>
            <a:r>
              <a:rPr lang="en-US" altLang="zh-CN" dirty="0"/>
              <a:t>31</a:t>
            </a:r>
            <a:r>
              <a:rPr lang="zh-CN" altLang="en-US" dirty="0"/>
              <a:t>和机械应力</a:t>
            </a:r>
            <a:r>
              <a:rPr lang="en-US" altLang="zh-CN" dirty="0"/>
              <a:t>32,33,34</a:t>
            </a:r>
            <a:r>
              <a:rPr lang="zh-CN" altLang="en-US" dirty="0"/>
              <a:t>等方面。这些考虑因素是设计过程不可或缺的，可确保 </a:t>
            </a:r>
            <a:r>
              <a:rPr lang="en-US" altLang="zh-CN" dirty="0"/>
              <a:t>FPC </a:t>
            </a:r>
            <a:r>
              <a:rPr lang="zh-CN" altLang="en-US" dirty="0"/>
              <a:t>在预期应用中有效可靠地发挥作用。对 </a:t>
            </a:r>
            <a:r>
              <a:rPr lang="en-US" altLang="zh-CN" dirty="0"/>
              <a:t>FPC </a:t>
            </a:r>
            <a:r>
              <a:rPr lang="zh-CN" altLang="en-US" dirty="0"/>
              <a:t>相关的细微差别的详细了解对于电子设计领域的专业人士至关重要，值得在学术和技术文献中进行深入讨论。在 </a:t>
            </a:r>
            <a:r>
              <a:rPr lang="en-US" altLang="zh-CN" dirty="0"/>
              <a:t>FPC </a:t>
            </a:r>
            <a:r>
              <a:rPr lang="zh-CN" altLang="en-US" dirty="0"/>
              <a:t>力学和变形领域，</a:t>
            </a:r>
            <a:r>
              <a:rPr lang="en-US" altLang="zh-CN" dirty="0"/>
              <a:t>John </a:t>
            </a:r>
            <a:r>
              <a:rPr lang="zh-CN" altLang="en-US" dirty="0"/>
              <a:t>等人</a:t>
            </a:r>
            <a:r>
              <a:rPr lang="en-US" altLang="zh-CN" dirty="0"/>
              <a:t>35 </a:t>
            </a:r>
            <a:r>
              <a:rPr lang="zh-CN" altLang="en-US" dirty="0"/>
              <a:t>深入研究了与弯曲、成型和弯曲印刷电路相关的机械和材料挑战，特别是针对非玻璃编织材料。他们的研究全面分析了弯曲过程中应变对铜层的影响及其对静态和动态应用的影响，强调了了解材料特性和铜在机械应力下的行为的重要性。同时，</a:t>
            </a:r>
            <a:r>
              <a:rPr lang="en-US" altLang="zh-CN" dirty="0" err="1"/>
              <a:t>Hirotaka</a:t>
            </a:r>
            <a:r>
              <a:rPr lang="en-US" altLang="zh-CN" dirty="0"/>
              <a:t> </a:t>
            </a:r>
            <a:r>
              <a:rPr lang="zh-CN" altLang="en-US" dirty="0"/>
              <a:t>等人 </a:t>
            </a:r>
            <a:r>
              <a:rPr lang="en-US" altLang="zh-CN" dirty="0"/>
              <a:t>36 </a:t>
            </a:r>
            <a:r>
              <a:rPr lang="zh-CN" altLang="en-US" dirty="0"/>
              <a:t>研究了基于 </a:t>
            </a:r>
            <a:r>
              <a:rPr lang="en-US" altLang="zh-CN" dirty="0"/>
              <a:t>FPC </a:t>
            </a:r>
            <a:r>
              <a:rPr lang="zh-CN" altLang="en-US" dirty="0"/>
              <a:t>的平面倒置 </a:t>
            </a:r>
            <a:r>
              <a:rPr lang="en-US" altLang="zh-CN" dirty="0"/>
              <a:t>F </a:t>
            </a:r>
            <a:r>
              <a:rPr lang="zh-CN" altLang="en-US" dirty="0"/>
              <a:t>天线 </a:t>
            </a:r>
            <a:r>
              <a:rPr lang="en-US" altLang="zh-CN" dirty="0"/>
              <a:t>(PIFA) </a:t>
            </a:r>
            <a:r>
              <a:rPr lang="zh-CN" altLang="en-US" dirty="0"/>
              <a:t>的性能特征，重点研究了它在受到机械变形时保持稳定辐射模式和效率的稳健性。他们的研究结果证实了天线适用于紧凑型移动设备，且性能下降最小。此外，</a:t>
            </a:r>
            <a:r>
              <a:rPr lang="en-US" altLang="zh-CN" dirty="0"/>
              <a:t>Ping </a:t>
            </a:r>
            <a:r>
              <a:rPr lang="zh-CN" altLang="en-US" dirty="0"/>
              <a:t>等人 </a:t>
            </a:r>
            <a:r>
              <a:rPr lang="en-US" altLang="zh-CN" dirty="0"/>
              <a:t>22 </a:t>
            </a:r>
            <a:r>
              <a:rPr lang="zh-CN" altLang="en-US" dirty="0"/>
              <a:t>确定了 </a:t>
            </a:r>
            <a:r>
              <a:rPr lang="en-US" altLang="zh-CN" dirty="0"/>
              <a:t>FPC </a:t>
            </a:r>
            <a:r>
              <a:rPr lang="zh-CN" altLang="en-US" dirty="0"/>
              <a:t>应用中常见的故障模式，例如通孔互连问题、走线裂缝和黑垫现象。他们提出了通过改进制造工艺、机械设计和动态应力分布来提高 </a:t>
            </a:r>
            <a:r>
              <a:rPr lang="en-US" altLang="zh-CN" dirty="0"/>
              <a:t>FPC </a:t>
            </a:r>
            <a:r>
              <a:rPr lang="zh-CN" altLang="en-US" dirty="0"/>
              <a:t>可靠性和质量的方法。总的来说，这些研究阐明了 </a:t>
            </a:r>
            <a:r>
              <a:rPr lang="en-US" altLang="zh-CN" dirty="0"/>
              <a:t>FPC </a:t>
            </a:r>
            <a:r>
              <a:rPr lang="zh-CN" altLang="en-US" dirty="0"/>
              <a:t>在先进电子领域设计和应用方面取得的重大进展和持续存在的挑战。基于这些对 </a:t>
            </a:r>
            <a:r>
              <a:rPr lang="en-US" altLang="zh-CN" dirty="0"/>
              <a:t>FPC </a:t>
            </a:r>
            <a:r>
              <a:rPr lang="zh-CN" altLang="en-US" dirty="0"/>
              <a:t>力学和变形的基础见解，进一步的研究专门针对柔性印刷电路板 </a:t>
            </a:r>
            <a:r>
              <a:rPr lang="en-US" altLang="zh-CN" dirty="0"/>
              <a:t>(FPCB) </a:t>
            </a:r>
            <a:r>
              <a:rPr lang="zh-CN" altLang="en-US" dirty="0"/>
              <a:t>的复杂性。最近的研究为这一领域做出了重大贡献。 </a:t>
            </a:r>
            <a:r>
              <a:rPr lang="en-US" altLang="zh-CN" dirty="0"/>
              <a:t>Chong </a:t>
            </a:r>
            <a:r>
              <a:rPr lang="zh-CN" altLang="en-US" dirty="0"/>
              <a:t>等人 </a:t>
            </a:r>
            <a:r>
              <a:rPr lang="en-US" altLang="zh-CN" dirty="0"/>
              <a:t>37 </a:t>
            </a:r>
            <a:r>
              <a:rPr lang="zh-CN" altLang="en-US" dirty="0"/>
              <a:t>深入研究了热条件下的传热和变形方面，使用流体结构相互作用进行模拟。</a:t>
            </a:r>
            <a:r>
              <a:rPr lang="en-US" altLang="zh-CN" dirty="0"/>
              <a:t>Leong </a:t>
            </a:r>
            <a:r>
              <a:rPr lang="zh-CN" altLang="en-US" dirty="0"/>
              <a:t>等人 </a:t>
            </a:r>
            <a:r>
              <a:rPr lang="en-US" altLang="zh-CN" dirty="0"/>
              <a:t>38 </a:t>
            </a:r>
            <a:r>
              <a:rPr lang="zh-CN" altLang="en-US" dirty="0"/>
              <a:t>旨在采用先进的方法优化 </a:t>
            </a:r>
            <a:r>
              <a:rPr lang="en-US" altLang="zh-CN" dirty="0"/>
              <a:t>FPCB </a:t>
            </a:r>
            <a:r>
              <a:rPr lang="zh-CN" altLang="en-US" dirty="0"/>
              <a:t>以减轻应力和挠度。</a:t>
            </a:r>
            <a:r>
              <a:rPr lang="en-US" altLang="zh-CN" dirty="0"/>
              <a:t>Alexander 39 </a:t>
            </a:r>
            <a:r>
              <a:rPr lang="zh-CN" altLang="en-US" dirty="0"/>
              <a:t>专注于 </a:t>
            </a:r>
            <a:r>
              <a:rPr lang="en-US" altLang="zh-CN" dirty="0"/>
              <a:t>FPC </a:t>
            </a:r>
            <a:r>
              <a:rPr lang="zh-CN" altLang="en-US" dirty="0"/>
              <a:t>的机械可靠性，特别是在动态环境中，将疲劳测试与计算分析相结合。</a:t>
            </a:r>
            <a:r>
              <a:rPr lang="en-US" altLang="zh-CN" dirty="0"/>
              <a:t>Liu </a:t>
            </a:r>
            <a:r>
              <a:rPr lang="zh-CN" altLang="en-US" dirty="0"/>
              <a:t>等人 </a:t>
            </a:r>
            <a:r>
              <a:rPr lang="en-US" altLang="zh-CN" dirty="0"/>
              <a:t>40 </a:t>
            </a:r>
            <a:r>
              <a:rPr lang="zh-CN" altLang="en-US" dirty="0"/>
              <a:t>研究了影响 </a:t>
            </a:r>
            <a:r>
              <a:rPr lang="en-US" altLang="zh-CN" dirty="0"/>
              <a:t>FPC </a:t>
            </a:r>
            <a:r>
              <a:rPr lang="zh-CN" altLang="en-US" dirty="0"/>
              <a:t>弯曲的因素，揭示了为材料和设计选择提供了重要见解。</a:t>
            </a:r>
            <a:r>
              <a:rPr lang="en-US" altLang="zh-CN" dirty="0"/>
              <a:t>Zhang </a:t>
            </a:r>
            <a:r>
              <a:rPr lang="zh-CN" altLang="en-US" dirty="0"/>
              <a:t>等人 </a:t>
            </a:r>
            <a:r>
              <a:rPr lang="en-US" altLang="zh-CN" dirty="0"/>
              <a:t>41 </a:t>
            </a:r>
            <a:r>
              <a:rPr lang="zh-CN" altLang="en-US" dirty="0"/>
              <a:t>探索了高加速度下刚挠结合 </a:t>
            </a:r>
            <a:r>
              <a:rPr lang="en-US" altLang="zh-CN" dirty="0"/>
              <a:t>PCB </a:t>
            </a:r>
            <a:r>
              <a:rPr lang="zh-CN" altLang="en-US" dirty="0"/>
              <a:t>的可靠性，揭示了应力动力学。</a:t>
            </a:r>
            <a:r>
              <a:rPr lang="en-US" altLang="zh-CN" dirty="0"/>
              <a:t>Lall </a:t>
            </a:r>
            <a:r>
              <a:rPr lang="zh-CN" altLang="en-US" dirty="0"/>
              <a:t>等人 </a:t>
            </a:r>
            <a:r>
              <a:rPr lang="en-US" altLang="zh-CN" dirty="0"/>
              <a:t>42 </a:t>
            </a:r>
            <a:r>
              <a:rPr lang="zh-CN" altLang="en-US" dirty="0"/>
              <a:t>研究了焊接过程中的变形挑战，而 </a:t>
            </a:r>
            <a:r>
              <a:rPr lang="en-US" altLang="zh-CN" dirty="0"/>
              <a:t>Muhammad </a:t>
            </a:r>
            <a:r>
              <a:rPr lang="zh-CN" altLang="en-US" dirty="0"/>
              <a:t>等人 </a:t>
            </a:r>
            <a:r>
              <a:rPr lang="en-US" altLang="zh-CN" dirty="0"/>
              <a:t>43 </a:t>
            </a:r>
            <a:r>
              <a:rPr lang="zh-CN" altLang="en-US" dirty="0"/>
              <a:t>评估了 </a:t>
            </a:r>
            <a:r>
              <a:rPr lang="en-US" altLang="zh-CN" dirty="0"/>
              <a:t>FPCB </a:t>
            </a:r>
            <a:r>
              <a:rPr lang="zh-CN" altLang="en-US" dirty="0"/>
              <a:t>的焊接后可靠性，强调了制造复杂性。这些研究共同促进了对微电子领域 </a:t>
            </a:r>
            <a:r>
              <a:rPr lang="en-US" altLang="zh-CN" dirty="0"/>
              <a:t>FPCB </a:t>
            </a:r>
            <a:r>
              <a:rPr lang="zh-CN" altLang="en-US" dirty="0"/>
              <a:t>的理解和设计。这项研究解决了理解和应用 </a:t>
            </a:r>
            <a:r>
              <a:rPr lang="en-US" altLang="zh-CN" dirty="0"/>
              <a:t>FPC </a:t>
            </a:r>
            <a:r>
              <a:rPr lang="zh-CN" altLang="en-US" dirty="0"/>
              <a:t>变形的关键差距。我们对不同条件下的 </a:t>
            </a:r>
            <a:r>
              <a:rPr lang="en-US" altLang="zh-CN" dirty="0"/>
              <a:t>FPC </a:t>
            </a:r>
            <a:r>
              <a:rPr lang="zh-CN" altLang="en-US" dirty="0"/>
              <a:t>曲率进行了广泛分析，这是以前研究不足的领域。我们的方法结合了使用 </a:t>
            </a:r>
            <a:r>
              <a:rPr lang="en-US" altLang="zh-CN" dirty="0"/>
              <a:t>Abaqus 2020 </a:t>
            </a:r>
            <a:r>
              <a:rPr lang="zh-CN" altLang="en-US" dirty="0"/>
              <a:t>进行变形行为分析的有限元法 </a:t>
            </a:r>
            <a:r>
              <a:rPr lang="en-US" altLang="zh-CN" dirty="0"/>
              <a:t>(FEM) </a:t>
            </a:r>
            <a:r>
              <a:rPr lang="zh-CN" altLang="en-US" dirty="0"/>
              <a:t>模拟和高级数学建模来检查 </a:t>
            </a:r>
            <a:r>
              <a:rPr lang="en-US" altLang="zh-CN" dirty="0"/>
              <a:t>FPC </a:t>
            </a:r>
            <a:r>
              <a:rPr lang="zh-CN" altLang="en-US" dirty="0"/>
              <a:t>上的曲率和空间分离。在我们的研究中，我们采用了雅可比矩阵迭代法，大大提高了预测 </a:t>
            </a:r>
            <a:r>
              <a:rPr lang="en-US" altLang="zh-CN" dirty="0"/>
              <a:t>FPC </a:t>
            </a:r>
            <a:r>
              <a:rPr lang="zh-CN" altLang="en-US" dirty="0"/>
              <a:t>曲率的精度。我们的发现对 </a:t>
            </a:r>
            <a:r>
              <a:rPr lang="en-US" altLang="zh-CN" dirty="0"/>
              <a:t>FPC </a:t>
            </a:r>
            <a:r>
              <a:rPr lang="zh-CN" altLang="en-US" dirty="0"/>
              <a:t>的设计和制造具有重要意义。它们强调了在 </a:t>
            </a:r>
            <a:r>
              <a:rPr lang="en-US" altLang="zh-CN" dirty="0"/>
              <a:t>FPC </a:t>
            </a:r>
            <a:r>
              <a:rPr lang="zh-CN" altLang="en-US" dirty="0"/>
              <a:t>和相邻组件之间保持自由接触空间以及优化曲率的必要性。这种方法对于防止机械应力、散热效率低下和物理损坏等问题至关重要，这些问题都会对电路功能和整体设备可靠性产生不利影响。此外，我们的研究确定了 </a:t>
            </a:r>
            <a:r>
              <a:rPr lang="en-US" altLang="zh-CN" dirty="0"/>
              <a:t>FPC </a:t>
            </a:r>
            <a:r>
              <a:rPr lang="zh-CN" altLang="en-US" dirty="0"/>
              <a:t>的理想长度，以最大限度地减少最大曲率，从而实现灵活性、结构完整性和可靠性之间的平衡。总之，我们的研究标志着 </a:t>
            </a:r>
            <a:r>
              <a:rPr lang="en-US" altLang="zh-CN" dirty="0"/>
              <a:t>FPC </a:t>
            </a:r>
            <a:r>
              <a:rPr lang="zh-CN" altLang="en-US" dirty="0"/>
              <a:t>研究的重大进步，提供了新的见解和方法。它旨在提高对各种条件下 </a:t>
            </a:r>
            <a:r>
              <a:rPr lang="en-US" altLang="zh-CN" dirty="0"/>
              <a:t>FPC </a:t>
            </a:r>
            <a:r>
              <a:rPr lang="zh-CN" altLang="en-US" dirty="0"/>
              <a:t>行为的理解，为未来的 </a:t>
            </a:r>
            <a:r>
              <a:rPr lang="en-US" altLang="zh-CN" dirty="0"/>
              <a:t>FPC </a:t>
            </a:r>
            <a:r>
              <a:rPr lang="zh-CN" altLang="en-US" dirty="0"/>
              <a:t>设计和应用增强奠定基础，为电子设计和制造领域的设备寿命和性能做出重大贡献。</a:t>
            </a:r>
            <a:endParaRPr lang="en-US" altLang="zh-CN" dirty="0"/>
          </a:p>
          <a:p>
            <a:endParaRPr lang="en-US" altLang="zh-CN" dirty="0"/>
          </a:p>
          <a:p>
            <a:endParaRPr lang="en-US" altLang="zh-CN" dirty="0"/>
          </a:p>
          <a:p>
            <a:endParaRPr lang="en-US" altLang="zh-CN" dirty="0"/>
          </a:p>
          <a:p>
            <a:endParaRPr lang="en-US" altLang="zh-CN" dirty="0"/>
          </a:p>
          <a:p>
            <a:r>
              <a:rPr lang="zh-CN" altLang="en-US" dirty="0"/>
              <a:t>图 </a:t>
            </a:r>
            <a:r>
              <a:rPr lang="en-US" altLang="zh-CN" dirty="0"/>
              <a:t>1. </a:t>
            </a:r>
            <a:r>
              <a:rPr lang="zh-CN" altLang="en-US" dirty="0"/>
              <a:t>基于液态金属的个性化柔性印刷电子产品。“可植入设备”：液态金属神经连接 </a:t>
            </a:r>
            <a:r>
              <a:rPr lang="en-US" altLang="zh-CN" dirty="0"/>
              <a:t>[35] (https://arxiv.org/abs/1404.5931)</a:t>
            </a:r>
            <a:r>
              <a:rPr lang="zh-CN" altLang="en-US" dirty="0"/>
              <a:t>；可注射 </a:t>
            </a:r>
            <a:r>
              <a:rPr lang="en-US" altLang="zh-CN" dirty="0"/>
              <a:t>3D </a:t>
            </a:r>
            <a:r>
              <a:rPr lang="zh-CN" altLang="en-US" dirty="0"/>
              <a:t>生物电极 </a:t>
            </a:r>
            <a:r>
              <a:rPr lang="en-US" altLang="zh-CN" dirty="0"/>
              <a:t>[54]</a:t>
            </a:r>
            <a:r>
              <a:rPr lang="zh-CN" altLang="en-US" dirty="0"/>
              <a:t>（经 </a:t>
            </a:r>
            <a:r>
              <a:rPr lang="en-US" altLang="zh-CN" dirty="0"/>
              <a:t>Jin, C.; Liu, J. et al. </a:t>
            </a:r>
            <a:r>
              <a:rPr lang="zh-CN" altLang="en-US" dirty="0"/>
              <a:t>许可转载，在目标生物组织中可注射 </a:t>
            </a:r>
            <a:r>
              <a:rPr lang="en-US" altLang="zh-CN" dirty="0"/>
              <a:t>3D </a:t>
            </a:r>
            <a:r>
              <a:rPr lang="zh-CN" altLang="en-US" dirty="0"/>
              <a:t>制造医疗电子产品；由 </a:t>
            </a:r>
            <a:r>
              <a:rPr lang="en-US" altLang="zh-CN" dirty="0"/>
              <a:t>Scientific Reports </a:t>
            </a:r>
            <a:r>
              <a:rPr lang="zh-CN" altLang="en-US" dirty="0"/>
              <a:t>于 </a:t>
            </a:r>
            <a:r>
              <a:rPr lang="en-US" altLang="zh-CN" dirty="0"/>
              <a:t>2013 </a:t>
            </a:r>
            <a:r>
              <a:rPr lang="zh-CN" altLang="en-US" dirty="0"/>
              <a:t>年发表。）；液态金属重连神经的电生理测量 </a:t>
            </a:r>
            <a:r>
              <a:rPr lang="en-US" altLang="zh-CN" dirty="0"/>
              <a:t>[36]</a:t>
            </a:r>
            <a:r>
              <a:rPr lang="zh-CN" altLang="en-US" dirty="0"/>
              <a:t>；“电皮肤”：人体上的液态金属电路 </a:t>
            </a:r>
            <a:r>
              <a:rPr lang="en-US" altLang="zh-CN" dirty="0"/>
              <a:t>[55]</a:t>
            </a:r>
            <a:r>
              <a:rPr lang="zh-CN" altLang="en-US" dirty="0"/>
              <a:t>（经 </a:t>
            </a:r>
            <a:r>
              <a:rPr lang="en-US" altLang="zh-CN" dirty="0"/>
              <a:t>Guo, C.; Liu, J. et al. </a:t>
            </a:r>
            <a:r>
              <a:rPr lang="zh-CN" altLang="en-US" dirty="0"/>
              <a:t>许可转载，通过液态金属喷涂和预先设计的掩模在皮肤基底上快速图案化导电元件作为生理测试设备；由 </a:t>
            </a:r>
            <a:r>
              <a:rPr lang="en-US" altLang="zh-CN" dirty="0"/>
              <a:t>Journal of </a:t>
            </a:r>
            <a:r>
              <a:rPr lang="en-US" altLang="zh-CN" dirty="0" err="1"/>
              <a:t>Mterials</a:t>
            </a:r>
            <a:r>
              <a:rPr lang="en-US" altLang="zh-CN" dirty="0"/>
              <a:t> Chemistry B </a:t>
            </a:r>
            <a:r>
              <a:rPr lang="zh-CN" altLang="en-US" dirty="0"/>
              <a:t>于 </a:t>
            </a:r>
            <a:r>
              <a:rPr lang="en-US" altLang="zh-CN" dirty="0"/>
              <a:t>2014 </a:t>
            </a:r>
            <a:r>
              <a:rPr lang="zh-CN" altLang="en-US" dirty="0"/>
              <a:t>年发表。）；人体皮肤上的液态金属标签 </a:t>
            </a:r>
            <a:r>
              <a:rPr lang="en-US" altLang="zh-CN" dirty="0"/>
              <a:t>[56]</a:t>
            </a:r>
            <a:r>
              <a:rPr lang="zh-CN" altLang="en-US" dirty="0"/>
              <a:t>（经 </a:t>
            </a:r>
            <a:r>
              <a:rPr lang="en-US" altLang="zh-CN" dirty="0"/>
              <a:t>Jeong, S.H.; Wu, Z. et al., Liquid Alloy Printing of Microfluidic Stable Electronics </a:t>
            </a:r>
            <a:r>
              <a:rPr lang="zh-CN" altLang="en-US" dirty="0"/>
              <a:t>许可转载；</a:t>
            </a:r>
            <a:r>
              <a:rPr lang="en-US" altLang="zh-CN" dirty="0"/>
              <a:t>Lab on a Chip</a:t>
            </a:r>
            <a:r>
              <a:rPr lang="zh-CN" altLang="en-US" dirty="0"/>
              <a:t>，</a:t>
            </a:r>
            <a:r>
              <a:rPr lang="en-US" altLang="zh-CN" dirty="0"/>
              <a:t>2012 </a:t>
            </a:r>
            <a:r>
              <a:rPr lang="zh-CN" altLang="en-US" dirty="0"/>
              <a:t>年出版）；通过液态金属电极进行心电图测试 </a:t>
            </a:r>
            <a:r>
              <a:rPr lang="en-US" altLang="zh-CN" dirty="0"/>
              <a:t>[57]</a:t>
            </a:r>
            <a:r>
              <a:rPr lang="zh-CN" altLang="en-US" dirty="0"/>
              <a:t>（经 </a:t>
            </a:r>
            <a:r>
              <a:rPr lang="en-US" altLang="zh-CN" dirty="0"/>
              <a:t>Yu, Y.; Zhang, J.; Liu, J., Biomedical Implementation of Liquid Metal Ink as Drawable ECG Electrode and Skin Circuit </a:t>
            </a:r>
            <a:r>
              <a:rPr lang="zh-CN" altLang="en-US" dirty="0"/>
              <a:t>许可转载；</a:t>
            </a:r>
            <a:r>
              <a:rPr lang="en-US" altLang="zh-CN" dirty="0" err="1"/>
              <a:t>PLoS</a:t>
            </a:r>
            <a:r>
              <a:rPr lang="en-US" altLang="zh-CN" dirty="0"/>
              <a:t> ONE</a:t>
            </a:r>
            <a:r>
              <a:rPr lang="zh-CN" altLang="en-US" dirty="0"/>
              <a:t>，</a:t>
            </a:r>
            <a:r>
              <a:rPr lang="en-US" altLang="zh-CN" dirty="0"/>
              <a:t>2013 </a:t>
            </a:r>
            <a:r>
              <a:rPr lang="zh-CN" altLang="en-US" dirty="0"/>
              <a:t>年出版）；“可穿戴生物电子学”：液态金属腕带 </a:t>
            </a:r>
            <a:r>
              <a:rPr lang="en-US" altLang="zh-CN" dirty="0"/>
              <a:t>[58]</a:t>
            </a:r>
            <a:r>
              <a:rPr lang="zh-CN" altLang="en-US" dirty="0"/>
              <a:t>（经 </a:t>
            </a:r>
            <a:r>
              <a:rPr lang="en-US" altLang="zh-CN" dirty="0"/>
              <a:t>Wang, Q.; Yu, Y.; Yang, J.; Liu, J., Fast Fabrication of Flexible Functional Circuits based on Liquid Metal Dual-Trans Printing </a:t>
            </a:r>
            <a:r>
              <a:rPr lang="zh-CN" altLang="en-US" dirty="0"/>
              <a:t>许可转载；</a:t>
            </a:r>
            <a:r>
              <a:rPr lang="en-US" altLang="zh-CN" dirty="0"/>
              <a:t>Advanced Material</a:t>
            </a:r>
            <a:r>
              <a:rPr lang="zh-CN" altLang="en-US" dirty="0"/>
              <a:t>，</a:t>
            </a:r>
            <a:r>
              <a:rPr lang="en-US" altLang="zh-CN" dirty="0"/>
              <a:t>2015 </a:t>
            </a:r>
            <a:r>
              <a:rPr lang="zh-CN" altLang="en-US" dirty="0"/>
              <a:t>年出版）；可穿戴数据手套 </a:t>
            </a:r>
            <a:r>
              <a:rPr lang="en-US" altLang="zh-CN" dirty="0"/>
              <a:t>[59]</a:t>
            </a:r>
            <a:r>
              <a:rPr lang="zh-CN" altLang="en-US" dirty="0"/>
              <a:t>（经 </a:t>
            </a:r>
            <a:r>
              <a:rPr lang="en-US" altLang="zh-CN" dirty="0"/>
              <a:t>Matsuzaki, R.; </a:t>
            </a:r>
            <a:r>
              <a:rPr lang="en-US" altLang="zh-CN" dirty="0" err="1"/>
              <a:t>Tabayashi</a:t>
            </a:r>
            <a:r>
              <a:rPr lang="en-US" altLang="zh-CN" dirty="0"/>
              <a:t>, K. </a:t>
            </a:r>
            <a:r>
              <a:rPr lang="zh-CN" altLang="en-US" dirty="0"/>
              <a:t>许可转载，用于可穿戴电子产品的高拉伸、全局和分布式局部应变传感线，使用增益电极；</a:t>
            </a:r>
            <a:r>
              <a:rPr lang="en-US" altLang="zh-CN" dirty="0"/>
              <a:t>Advanced Functional Material</a:t>
            </a:r>
            <a:r>
              <a:rPr lang="zh-CN" altLang="en-US" dirty="0"/>
              <a:t>，</a:t>
            </a:r>
            <a:r>
              <a:rPr lang="en-US" altLang="zh-CN" dirty="0"/>
              <a:t>2015 </a:t>
            </a:r>
            <a:r>
              <a:rPr lang="zh-CN" altLang="en-US" dirty="0"/>
              <a:t>年出版）；鞋类嵌入式微流体能量收集 </a:t>
            </a:r>
            <a:r>
              <a:rPr lang="en-US" altLang="zh-CN" dirty="0"/>
              <a:t>[60]</a:t>
            </a:r>
            <a:r>
              <a:rPr lang="zh-CN" altLang="en-US" dirty="0"/>
              <a:t>（经 </a:t>
            </a:r>
            <a:r>
              <a:rPr lang="en-US" altLang="zh-CN" dirty="0" err="1"/>
              <a:t>Krupenkin</a:t>
            </a:r>
            <a:r>
              <a:rPr lang="en-US" altLang="zh-CN" dirty="0"/>
              <a:t>, T.; Taylor, J.A. </a:t>
            </a:r>
            <a:r>
              <a:rPr lang="zh-CN" altLang="en-US" dirty="0"/>
              <a:t>许可转载，反向电润湿作为高功率能量收集的新方法；</a:t>
            </a:r>
            <a:r>
              <a:rPr lang="en-US" altLang="zh-CN" dirty="0"/>
              <a:t>Nature Communication</a:t>
            </a:r>
            <a:r>
              <a:rPr lang="zh-CN" altLang="en-US" dirty="0"/>
              <a:t>，</a:t>
            </a:r>
            <a:r>
              <a:rPr lang="en-US" altLang="zh-CN" dirty="0"/>
              <a:t>2011 </a:t>
            </a:r>
            <a:r>
              <a:rPr lang="zh-CN" altLang="en-US" dirty="0"/>
              <a:t>年出版）目前主要以镓及其合金为代表，具有电阻率高、弯曲性强、粘附性低、表面张力大等特性，在当代电子学中，柔性印刷电路 </a:t>
            </a:r>
            <a:r>
              <a:rPr lang="en-US" altLang="zh-CN" dirty="0"/>
              <a:t>(FPC) </a:t>
            </a:r>
            <a:r>
              <a:rPr lang="zh-CN" altLang="en-US" dirty="0"/>
              <a:t>已成为关键，改变了电子设备的设计和功能 </a:t>
            </a:r>
            <a:r>
              <a:rPr lang="en-US" altLang="zh-CN" dirty="0"/>
              <a:t>1,2,3</a:t>
            </a:r>
            <a:r>
              <a:rPr lang="zh-CN" altLang="en-US" dirty="0"/>
              <a:t>。这些电路超越了传统的刚性柔性印刷电路板 </a:t>
            </a:r>
            <a:r>
              <a:rPr lang="en-US" altLang="zh-CN" dirty="0"/>
              <a:t>(PCB)</a:t>
            </a:r>
            <a:r>
              <a:rPr lang="zh-CN" altLang="en-US" dirty="0"/>
              <a:t>，由于采用聚酰亚胺等柔韧的高质量材料构造，因此具有无与伦比的灵活性和适应性。它们能够折叠或扭曲成小空间或不规则空间，从而提高了在物理压力下的耐用性。</a:t>
            </a:r>
            <a:r>
              <a:rPr lang="en-US" altLang="zh-CN" dirty="0"/>
              <a:t>FPC </a:t>
            </a:r>
            <a:r>
              <a:rPr lang="zh-CN" altLang="en-US" dirty="0"/>
              <a:t>的空间和重量效率特别有利，可将多个刚性板和线路整合成更轻、更紧凑的组件 </a:t>
            </a:r>
            <a:r>
              <a:rPr lang="en-US" altLang="zh-CN" dirty="0"/>
              <a:t>4</a:t>
            </a:r>
            <a:r>
              <a:rPr lang="zh-CN" altLang="en-US" dirty="0"/>
              <a:t>、</a:t>
            </a:r>
            <a:r>
              <a:rPr lang="en-US" altLang="zh-CN" dirty="0"/>
              <a:t>5</a:t>
            </a:r>
            <a:r>
              <a:rPr lang="zh-CN" altLang="en-US" dirty="0"/>
              <a:t>、</a:t>
            </a:r>
            <a:r>
              <a:rPr lang="en-US" altLang="zh-CN" dirty="0"/>
              <a:t>6</a:t>
            </a:r>
            <a:r>
              <a:rPr lang="zh-CN" altLang="en-US" dirty="0"/>
              <a:t>。这在航空航天、可穿戴技术和移动设备等必须减少空间和重量的领域至关重要。此外，它们固有的灵活性使它们可用于动态应用，而不会牺牲电路性能或完整性。它们的应用涵盖各个行业，如图 </a:t>
            </a:r>
            <a:r>
              <a:rPr lang="en-US" altLang="zh-CN" dirty="0"/>
              <a:t>17 </a:t>
            </a:r>
            <a:r>
              <a:rPr lang="zh-CN" altLang="en-US" dirty="0"/>
              <a:t>所示。在医疗领域，</a:t>
            </a:r>
            <a:r>
              <a:rPr lang="en-US" altLang="zh-CN" dirty="0"/>
              <a:t>FPC </a:t>
            </a:r>
            <a:r>
              <a:rPr lang="zh-CN" altLang="en-US" dirty="0"/>
              <a:t>有助于实现传感器和植入物等紧凑、灵活的设备，从而提高患者的舒适度和效率 </a:t>
            </a:r>
            <a:r>
              <a:rPr lang="en-US" altLang="zh-CN" dirty="0"/>
              <a:t>8</a:t>
            </a:r>
            <a:r>
              <a:rPr lang="zh-CN" altLang="en-US" dirty="0"/>
              <a:t>、</a:t>
            </a:r>
            <a:r>
              <a:rPr lang="en-US" altLang="zh-CN" dirty="0"/>
              <a:t>9</a:t>
            </a:r>
            <a:r>
              <a:rPr lang="zh-CN" altLang="en-US" dirty="0"/>
              <a:t>、</a:t>
            </a:r>
            <a:r>
              <a:rPr lang="en-US" altLang="zh-CN" dirty="0"/>
              <a:t>10</a:t>
            </a:r>
            <a:r>
              <a:rPr lang="zh-CN" altLang="en-US" dirty="0"/>
              <a:t>、</a:t>
            </a:r>
            <a:r>
              <a:rPr lang="en-US" altLang="zh-CN" dirty="0"/>
              <a:t>11</a:t>
            </a:r>
            <a:r>
              <a:rPr lang="zh-CN" altLang="en-US" dirty="0"/>
              <a:t>。汽车行业将它们用于仪表板显示器和传感器网络等系统中，看重它们对振动和温度变化的抵抗力。在消费电子产品中，</a:t>
            </a:r>
            <a:r>
              <a:rPr lang="en-US" altLang="zh-CN" dirty="0"/>
              <a:t>FPC </a:t>
            </a:r>
            <a:r>
              <a:rPr lang="zh-CN" altLang="en-US" dirty="0"/>
              <a:t>是智能手机、平板电脑和笔记本电脑实现轻薄化的关键</a:t>
            </a:r>
            <a:r>
              <a:rPr lang="en-US" altLang="zh-CN" dirty="0"/>
              <a:t>12</a:t>
            </a:r>
            <a:r>
              <a:rPr lang="zh-CN" altLang="en-US" dirty="0"/>
              <a:t>、</a:t>
            </a:r>
            <a:r>
              <a:rPr lang="en-US" altLang="zh-CN" dirty="0"/>
              <a:t>13</a:t>
            </a:r>
            <a:r>
              <a:rPr lang="zh-CN" altLang="en-US" dirty="0"/>
              <a:t>、</a:t>
            </a:r>
            <a:r>
              <a:rPr lang="en-US" altLang="zh-CN" dirty="0"/>
              <a:t>14</a:t>
            </a:r>
            <a:r>
              <a:rPr lang="zh-CN" altLang="en-US" dirty="0"/>
              <a:t>、</a:t>
            </a:r>
            <a:r>
              <a:rPr lang="en-US" altLang="zh-CN" dirty="0"/>
              <a:t>15</a:t>
            </a:r>
            <a:r>
              <a:rPr lang="zh-CN" altLang="en-US" dirty="0"/>
              <a:t>。此外，它们也是新兴柔性和可穿戴电子产品领域的核心，可实现符合人体工程学设计和人体运动的创新设备</a:t>
            </a:r>
            <a:r>
              <a:rPr lang="en-US" altLang="zh-CN" dirty="0"/>
              <a:t>16</a:t>
            </a:r>
            <a:r>
              <a:rPr lang="zh-CN" altLang="en-US" dirty="0"/>
              <a:t>、</a:t>
            </a:r>
            <a:r>
              <a:rPr lang="en-US" altLang="zh-CN" dirty="0"/>
              <a:t>17</a:t>
            </a:r>
            <a:r>
              <a:rPr lang="zh-CN" altLang="en-US" dirty="0"/>
              <a:t>、</a:t>
            </a:r>
            <a:r>
              <a:rPr lang="en-US" altLang="zh-CN" dirty="0"/>
              <a:t>18</a:t>
            </a:r>
            <a:r>
              <a:rPr lang="zh-CN" altLang="en-US" dirty="0"/>
              <a:t>、</a:t>
            </a:r>
            <a:r>
              <a:rPr lang="en-US" altLang="zh-CN" dirty="0"/>
              <a:t>19</a:t>
            </a:r>
            <a:r>
              <a:rPr lang="zh-CN" altLang="en-US" dirty="0"/>
              <a:t>、</a:t>
            </a:r>
            <a:r>
              <a:rPr lang="en-US" altLang="zh-CN" dirty="0"/>
              <a:t>20</a:t>
            </a:r>
            <a:r>
              <a:rPr lang="zh-CN" altLang="en-US" dirty="0"/>
              <a:t>。</a:t>
            </a:r>
          </a:p>
        </p:txBody>
      </p:sp>
      <p:sp>
        <p:nvSpPr>
          <p:cNvPr id="4" name="灯片编号占位符 3">
            <a:extLst>
              <a:ext uri="{FF2B5EF4-FFF2-40B4-BE49-F238E27FC236}">
                <a16:creationId xmlns:a16="http://schemas.microsoft.com/office/drawing/2014/main" id="{A2D1BE55-2728-3108-5F69-F65BF927555C}"/>
              </a:ext>
            </a:extLst>
          </p:cNvPr>
          <p:cNvSpPr>
            <a:spLocks noGrp="1"/>
          </p:cNvSpPr>
          <p:nvPr>
            <p:ph type="sldNum" sz="quarter" idx="5"/>
          </p:nvPr>
        </p:nvSpPr>
        <p:spPr/>
        <p:txBody>
          <a:bodyPr/>
          <a:lstStyle/>
          <a:p>
            <a:fld id="{84918B77-9CB1-4C48-BED5-B02F24F09A98}" type="slidenum">
              <a:rPr lang="zh-CN" altLang="en-US" smtClean="0"/>
              <a:t>25</a:t>
            </a:fld>
            <a:endParaRPr lang="zh-CN" altLang="en-US"/>
          </a:p>
        </p:txBody>
      </p:sp>
    </p:spTree>
    <p:extLst>
      <p:ext uri="{BB962C8B-B14F-4D97-AF65-F5344CB8AC3E}">
        <p14:creationId xmlns:p14="http://schemas.microsoft.com/office/powerpoint/2010/main" val="6188648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A5D8F-1D52-AE19-9FF0-93AB08A8EBD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343D7BD-1D0F-1330-208C-99E48828DC4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551A099-3EF9-0AED-66DF-CC0C570E0037}"/>
              </a:ext>
            </a:extLst>
          </p:cNvPr>
          <p:cNvSpPr>
            <a:spLocks noGrp="1"/>
          </p:cNvSpPr>
          <p:nvPr>
            <p:ph type="body" idx="1"/>
          </p:nvPr>
        </p:nvSpPr>
        <p:spPr/>
        <p:txBody>
          <a:bodyPr/>
          <a:lstStyle/>
          <a:p>
            <a:r>
              <a:rPr lang="zh-CN" altLang="en-US" dirty="0"/>
              <a:t>除了有源传感材料外，柔性印刷电路板对于将柔性电子设备集成到功能齐全的系统中也起着重要作用；它们集成了各种电子元件，如微控制器（处理）、转换器（电源管理）、闪存（数据存储）、天线（电信）和电池（电源）</a:t>
            </a:r>
            <a:r>
              <a:rPr lang="en-US" altLang="zh-CN" dirty="0"/>
              <a:t>[15,18,288,289]</a:t>
            </a:r>
            <a:r>
              <a:rPr lang="zh-CN" altLang="en-US" dirty="0"/>
              <a:t>，以及基板和封装材料，如聚酰亚胺 </a:t>
            </a:r>
            <a:r>
              <a:rPr lang="en-US" altLang="zh-CN" dirty="0"/>
              <a:t>(PI) </a:t>
            </a:r>
            <a:r>
              <a:rPr lang="zh-CN" altLang="en-US" dirty="0"/>
              <a:t>和 </a:t>
            </a:r>
            <a:r>
              <a:rPr lang="en-US" altLang="zh-CN" dirty="0"/>
              <a:t>PET [288]</a:t>
            </a:r>
            <a:r>
              <a:rPr lang="zh-CN" altLang="en-US" dirty="0"/>
              <a:t>。柔性印刷电路板通常重量轻且高度可靠，并且可以小型化到厘米级，用于众多可穿戴监测应用 </a:t>
            </a:r>
            <a:r>
              <a:rPr lang="en-US" altLang="zh-CN" dirty="0"/>
              <a:t>[15,289]</a:t>
            </a:r>
            <a:r>
              <a:rPr lang="zh-CN" altLang="en-US" dirty="0"/>
              <a:t>。设计的电路可以通过激光烧蚀 </a:t>
            </a:r>
            <a:r>
              <a:rPr lang="en-US" altLang="zh-CN" dirty="0"/>
              <a:t>[290]</a:t>
            </a:r>
            <a:r>
              <a:rPr lang="zh-CN" altLang="en-US" dirty="0"/>
              <a:t>、丝网印刷 </a:t>
            </a:r>
            <a:r>
              <a:rPr lang="en-US" altLang="zh-CN" dirty="0"/>
              <a:t>[291]</a:t>
            </a:r>
            <a:r>
              <a:rPr lang="zh-CN" altLang="en-US" dirty="0"/>
              <a:t>、光刻后湿法蚀刻 </a:t>
            </a:r>
            <a:r>
              <a:rPr lang="en-US" altLang="zh-CN" dirty="0"/>
              <a:t>[292] </a:t>
            </a:r>
            <a:r>
              <a:rPr lang="zh-CN" altLang="en-US" dirty="0"/>
              <a:t>或液态金属模板印刷 </a:t>
            </a:r>
            <a:r>
              <a:rPr lang="en-US" altLang="zh-CN" dirty="0"/>
              <a:t>[234] </a:t>
            </a:r>
            <a:r>
              <a:rPr lang="zh-CN" altLang="en-US" dirty="0"/>
              <a:t>图案化到柔性</a:t>
            </a:r>
            <a:r>
              <a:rPr lang="en-US" altLang="zh-CN" dirty="0"/>
              <a:t>/</a:t>
            </a:r>
            <a:r>
              <a:rPr lang="zh-CN" altLang="en-US" dirty="0"/>
              <a:t>可拉伸基板上。例如，用于测量脑脊液分流器血流量的非侵入式皮肤安装传感器平台的柔性印刷电路板（图 </a:t>
            </a:r>
            <a:r>
              <a:rPr lang="en-US" altLang="zh-CN" dirty="0"/>
              <a:t>8a</a:t>
            </a:r>
            <a:r>
              <a:rPr lang="zh-CN" altLang="en-US" dirty="0"/>
              <a:t>）是通过激光图案化 </a:t>
            </a:r>
            <a:r>
              <a:rPr lang="en-US" altLang="zh-CN" dirty="0"/>
              <a:t>Cu/PI/Cu </a:t>
            </a:r>
            <a:r>
              <a:rPr lang="zh-CN" altLang="en-US" dirty="0"/>
              <a:t>三层制成的。集成电子元件、温度和流量传感器的整个装置尺寸为 </a:t>
            </a:r>
            <a:r>
              <a:rPr lang="en-US" altLang="zh-CN" dirty="0"/>
              <a:t>1.8 cm x 4.1 cm</a:t>
            </a:r>
            <a:r>
              <a:rPr lang="zh-CN" altLang="en-US" dirty="0"/>
              <a:t>，厚度约为 </a:t>
            </a:r>
            <a:r>
              <a:rPr lang="en-US" altLang="zh-CN" dirty="0"/>
              <a:t>100 µm</a:t>
            </a:r>
            <a:r>
              <a:rPr lang="zh-CN" altLang="en-US" dirty="0"/>
              <a:t>（不包括 </a:t>
            </a:r>
            <a:r>
              <a:rPr lang="en-US" altLang="zh-CN" dirty="0"/>
              <a:t>4 mm </a:t>
            </a:r>
            <a:r>
              <a:rPr lang="zh-CN" altLang="en-US" dirty="0"/>
              <a:t>厚的电池），重量为 </a:t>
            </a:r>
            <a:r>
              <a:rPr lang="en-US" altLang="zh-CN" dirty="0"/>
              <a:t>680 mg</a:t>
            </a:r>
            <a:r>
              <a:rPr lang="zh-CN" altLang="en-US" dirty="0"/>
              <a:t>（包括 </a:t>
            </a:r>
            <a:r>
              <a:rPr lang="en-US" altLang="zh-CN" dirty="0"/>
              <a:t>330 mg </a:t>
            </a:r>
            <a:r>
              <a:rPr lang="zh-CN" altLang="en-US" dirty="0"/>
              <a:t>电池）</a:t>
            </a:r>
            <a:r>
              <a:rPr lang="en-US" altLang="zh-CN" dirty="0"/>
              <a:t>[15]</a:t>
            </a:r>
            <a:r>
              <a:rPr lang="zh-CN" altLang="en-US" dirty="0"/>
              <a:t>。该装置在柔性印刷电路板上集成了软传感元件、锂聚合物电池、蓝牙芯片和电源调节器，为连续血流监测提供保形接触和无线传输</a:t>
            </a:r>
            <a:r>
              <a:rPr lang="en-US" altLang="zh-CN" dirty="0"/>
              <a:t>[15]</a:t>
            </a:r>
            <a:r>
              <a:rPr lang="zh-CN" altLang="en-US" dirty="0"/>
              <a:t>。</a:t>
            </a:r>
          </a:p>
        </p:txBody>
      </p:sp>
      <p:sp>
        <p:nvSpPr>
          <p:cNvPr id="4" name="灯片编号占位符 3">
            <a:extLst>
              <a:ext uri="{FF2B5EF4-FFF2-40B4-BE49-F238E27FC236}">
                <a16:creationId xmlns:a16="http://schemas.microsoft.com/office/drawing/2014/main" id="{DC3DA59C-03FC-9ECB-20EB-AC1893D1B7E6}"/>
              </a:ext>
            </a:extLst>
          </p:cNvPr>
          <p:cNvSpPr>
            <a:spLocks noGrp="1"/>
          </p:cNvSpPr>
          <p:nvPr>
            <p:ph type="sldNum" sz="quarter" idx="5"/>
          </p:nvPr>
        </p:nvSpPr>
        <p:spPr/>
        <p:txBody>
          <a:bodyPr/>
          <a:lstStyle/>
          <a:p>
            <a:fld id="{84918B77-9CB1-4C48-BED5-B02F24F09A98}" type="slidenum">
              <a:rPr lang="zh-CN" altLang="en-US" smtClean="0"/>
              <a:t>26</a:t>
            </a:fld>
            <a:endParaRPr lang="zh-CN" altLang="en-US"/>
          </a:p>
        </p:txBody>
      </p:sp>
    </p:spTree>
    <p:extLst>
      <p:ext uri="{BB962C8B-B14F-4D97-AF65-F5344CB8AC3E}">
        <p14:creationId xmlns:p14="http://schemas.microsoft.com/office/powerpoint/2010/main" val="21058968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519BE-5D04-479A-4D74-06B3C477672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B9A8818-CD42-1FC4-AF58-27859F1BE07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762700E-A5A7-0FD2-25DE-6310792D68B3}"/>
              </a:ext>
            </a:extLst>
          </p:cNvPr>
          <p:cNvSpPr>
            <a:spLocks noGrp="1"/>
          </p:cNvSpPr>
          <p:nvPr>
            <p:ph type="body" idx="1"/>
          </p:nvPr>
        </p:nvSpPr>
        <p:spPr/>
        <p:txBody>
          <a:bodyPr/>
          <a:lstStyle/>
          <a:p>
            <a:r>
              <a:rPr lang="zh-CN" altLang="en-US" dirty="0"/>
              <a:t>除了有源传感材料外，柔性印刷电路板对于将柔性电子设备集成到功能齐全的系统中也起着重要作用；它们集成了各种电子元件，如微控制器（处理）、转换器（电源管理）、闪存（数据存储）、天线（电信）和电池（电源）</a:t>
            </a:r>
            <a:r>
              <a:rPr lang="en-US" altLang="zh-CN" dirty="0"/>
              <a:t>[15,18,288,289]</a:t>
            </a:r>
            <a:r>
              <a:rPr lang="zh-CN" altLang="en-US" dirty="0"/>
              <a:t>，以及基板和封装材料，如聚酰亚胺 </a:t>
            </a:r>
            <a:r>
              <a:rPr lang="en-US" altLang="zh-CN" dirty="0"/>
              <a:t>(PI) </a:t>
            </a:r>
            <a:r>
              <a:rPr lang="zh-CN" altLang="en-US" dirty="0"/>
              <a:t>和 </a:t>
            </a:r>
            <a:r>
              <a:rPr lang="en-US" altLang="zh-CN" dirty="0"/>
              <a:t>PET [288]</a:t>
            </a:r>
            <a:r>
              <a:rPr lang="zh-CN" altLang="en-US" dirty="0"/>
              <a:t>。柔性印刷电路板通常重量轻且高度可靠，并且可以小型化到厘米级，用于众多可穿戴监测应用 </a:t>
            </a:r>
            <a:r>
              <a:rPr lang="en-US" altLang="zh-CN" dirty="0"/>
              <a:t>[15,289]</a:t>
            </a:r>
            <a:r>
              <a:rPr lang="zh-CN" altLang="en-US" dirty="0"/>
              <a:t>。设计的电路可以通过激光烧蚀 </a:t>
            </a:r>
            <a:r>
              <a:rPr lang="en-US" altLang="zh-CN" dirty="0"/>
              <a:t>[290]</a:t>
            </a:r>
            <a:r>
              <a:rPr lang="zh-CN" altLang="en-US" dirty="0"/>
              <a:t>、丝网印刷 </a:t>
            </a:r>
            <a:r>
              <a:rPr lang="en-US" altLang="zh-CN" dirty="0"/>
              <a:t>[291]</a:t>
            </a:r>
            <a:r>
              <a:rPr lang="zh-CN" altLang="en-US" dirty="0"/>
              <a:t>、光刻后湿法蚀刻 </a:t>
            </a:r>
            <a:r>
              <a:rPr lang="en-US" altLang="zh-CN" dirty="0"/>
              <a:t>[292] </a:t>
            </a:r>
            <a:r>
              <a:rPr lang="zh-CN" altLang="en-US" dirty="0"/>
              <a:t>或液态金属模板印刷 </a:t>
            </a:r>
            <a:r>
              <a:rPr lang="en-US" altLang="zh-CN" dirty="0"/>
              <a:t>[234] </a:t>
            </a:r>
            <a:r>
              <a:rPr lang="zh-CN" altLang="en-US" dirty="0"/>
              <a:t>图案化到柔性</a:t>
            </a:r>
            <a:r>
              <a:rPr lang="en-US" altLang="zh-CN" dirty="0"/>
              <a:t>/</a:t>
            </a:r>
            <a:r>
              <a:rPr lang="zh-CN" altLang="en-US" dirty="0"/>
              <a:t>可拉伸基板上。例如，用于测量脑脊液分流器血流量的非侵入式皮肤安装传感器平台的柔性印刷电路板（图 </a:t>
            </a:r>
            <a:r>
              <a:rPr lang="en-US" altLang="zh-CN" dirty="0"/>
              <a:t>8a</a:t>
            </a:r>
            <a:r>
              <a:rPr lang="zh-CN" altLang="en-US" dirty="0"/>
              <a:t>）是通过激光图案化 </a:t>
            </a:r>
            <a:r>
              <a:rPr lang="en-US" altLang="zh-CN" dirty="0"/>
              <a:t>Cu/PI/Cu </a:t>
            </a:r>
            <a:r>
              <a:rPr lang="zh-CN" altLang="en-US" dirty="0"/>
              <a:t>三层制成的。集成电子元件、温度和流量传感器的整个装置尺寸为 </a:t>
            </a:r>
            <a:r>
              <a:rPr lang="en-US" altLang="zh-CN" dirty="0"/>
              <a:t>1.8 cm x 4.1 cm</a:t>
            </a:r>
            <a:r>
              <a:rPr lang="zh-CN" altLang="en-US" dirty="0"/>
              <a:t>，厚度约为 </a:t>
            </a:r>
            <a:r>
              <a:rPr lang="en-US" altLang="zh-CN" dirty="0"/>
              <a:t>100 µm</a:t>
            </a:r>
            <a:r>
              <a:rPr lang="zh-CN" altLang="en-US" dirty="0"/>
              <a:t>（不包括 </a:t>
            </a:r>
            <a:r>
              <a:rPr lang="en-US" altLang="zh-CN" dirty="0"/>
              <a:t>4 mm </a:t>
            </a:r>
            <a:r>
              <a:rPr lang="zh-CN" altLang="en-US" dirty="0"/>
              <a:t>厚的电池），重量为 </a:t>
            </a:r>
            <a:r>
              <a:rPr lang="en-US" altLang="zh-CN" dirty="0"/>
              <a:t>680 mg</a:t>
            </a:r>
            <a:r>
              <a:rPr lang="zh-CN" altLang="en-US" dirty="0"/>
              <a:t>（包括 </a:t>
            </a:r>
            <a:r>
              <a:rPr lang="en-US" altLang="zh-CN" dirty="0"/>
              <a:t>330 mg </a:t>
            </a:r>
            <a:r>
              <a:rPr lang="zh-CN" altLang="en-US" dirty="0"/>
              <a:t>电池）</a:t>
            </a:r>
            <a:r>
              <a:rPr lang="en-US" altLang="zh-CN" dirty="0"/>
              <a:t>[15]</a:t>
            </a:r>
            <a:r>
              <a:rPr lang="zh-CN" altLang="en-US" dirty="0"/>
              <a:t>。该装置在柔性印刷电路板上集成了软传感元件、锂聚合物电池、蓝牙芯片和电源调节器，为连续血流监测提供保形接触和无线传输</a:t>
            </a:r>
            <a:r>
              <a:rPr lang="en-US" altLang="zh-CN" dirty="0"/>
              <a:t>[15]</a:t>
            </a:r>
            <a:r>
              <a:rPr lang="zh-CN" altLang="en-US" dirty="0"/>
              <a:t>。</a:t>
            </a:r>
          </a:p>
        </p:txBody>
      </p:sp>
      <p:sp>
        <p:nvSpPr>
          <p:cNvPr id="4" name="灯片编号占位符 3">
            <a:extLst>
              <a:ext uri="{FF2B5EF4-FFF2-40B4-BE49-F238E27FC236}">
                <a16:creationId xmlns:a16="http://schemas.microsoft.com/office/drawing/2014/main" id="{6D404EFE-738A-171B-8DCB-F101D59364B8}"/>
              </a:ext>
            </a:extLst>
          </p:cNvPr>
          <p:cNvSpPr>
            <a:spLocks noGrp="1"/>
          </p:cNvSpPr>
          <p:nvPr>
            <p:ph type="sldNum" sz="quarter" idx="5"/>
          </p:nvPr>
        </p:nvSpPr>
        <p:spPr/>
        <p:txBody>
          <a:bodyPr/>
          <a:lstStyle/>
          <a:p>
            <a:fld id="{84918B77-9CB1-4C48-BED5-B02F24F09A98}" type="slidenum">
              <a:rPr lang="zh-CN" altLang="en-US" smtClean="0"/>
              <a:t>27</a:t>
            </a:fld>
            <a:endParaRPr lang="zh-CN" altLang="en-US"/>
          </a:p>
        </p:txBody>
      </p:sp>
    </p:spTree>
    <p:extLst>
      <p:ext uri="{BB962C8B-B14F-4D97-AF65-F5344CB8AC3E}">
        <p14:creationId xmlns:p14="http://schemas.microsoft.com/office/powerpoint/2010/main" val="369646115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878A9-15A0-B183-C4C2-58E203318F7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0ED64AC-AD15-374A-E4B3-3A5AF6E0662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0FB0F34-5274-E4EA-AB77-F8BCE4126AF2}"/>
              </a:ext>
            </a:extLst>
          </p:cNvPr>
          <p:cNvSpPr>
            <a:spLocks noGrp="1"/>
          </p:cNvSpPr>
          <p:nvPr>
            <p:ph type="body" idx="1"/>
          </p:nvPr>
        </p:nvSpPr>
        <p:spPr/>
        <p:txBody>
          <a:bodyPr/>
          <a:lstStyle/>
          <a:p>
            <a:r>
              <a:rPr lang="zh-CN" altLang="en-US" dirty="0"/>
              <a:t>除了有源传感材料外，柔性印刷电路板对于将柔性电子设备集成到功能齐全的系统中也起着重要作用；它们集成了各种电子元件，如微控制器（处理）、转换器（电源管理）、闪存（数据存储）、天线（电信）和电池（电源）</a:t>
            </a:r>
            <a:r>
              <a:rPr lang="en-US" altLang="zh-CN" dirty="0"/>
              <a:t>[15,18,288,289]</a:t>
            </a:r>
            <a:r>
              <a:rPr lang="zh-CN" altLang="en-US" dirty="0"/>
              <a:t>，以及基板和封装材料，如聚酰亚胺 </a:t>
            </a:r>
            <a:r>
              <a:rPr lang="en-US" altLang="zh-CN" dirty="0"/>
              <a:t>(PI) </a:t>
            </a:r>
            <a:r>
              <a:rPr lang="zh-CN" altLang="en-US" dirty="0"/>
              <a:t>和 </a:t>
            </a:r>
            <a:r>
              <a:rPr lang="en-US" altLang="zh-CN" dirty="0"/>
              <a:t>PET [288]</a:t>
            </a:r>
            <a:r>
              <a:rPr lang="zh-CN" altLang="en-US" dirty="0"/>
              <a:t>。柔性印刷电路板通常重量轻且高度可靠，并且可以小型化到厘米级，用于众多可穿戴监测应用 </a:t>
            </a:r>
            <a:r>
              <a:rPr lang="en-US" altLang="zh-CN" dirty="0"/>
              <a:t>[15,289]</a:t>
            </a:r>
            <a:r>
              <a:rPr lang="zh-CN" altLang="en-US" dirty="0"/>
              <a:t>。设计的电路可以通过激光烧蚀 </a:t>
            </a:r>
            <a:r>
              <a:rPr lang="en-US" altLang="zh-CN" dirty="0"/>
              <a:t>[290]</a:t>
            </a:r>
            <a:r>
              <a:rPr lang="zh-CN" altLang="en-US" dirty="0"/>
              <a:t>、丝网印刷 </a:t>
            </a:r>
            <a:r>
              <a:rPr lang="en-US" altLang="zh-CN" dirty="0"/>
              <a:t>[291]</a:t>
            </a:r>
            <a:r>
              <a:rPr lang="zh-CN" altLang="en-US" dirty="0"/>
              <a:t>、光刻后湿法蚀刻 </a:t>
            </a:r>
            <a:r>
              <a:rPr lang="en-US" altLang="zh-CN" dirty="0"/>
              <a:t>[292] </a:t>
            </a:r>
            <a:r>
              <a:rPr lang="zh-CN" altLang="en-US" dirty="0"/>
              <a:t>或液态金属模板印刷 </a:t>
            </a:r>
            <a:r>
              <a:rPr lang="en-US" altLang="zh-CN" dirty="0"/>
              <a:t>[234] </a:t>
            </a:r>
            <a:r>
              <a:rPr lang="zh-CN" altLang="en-US" dirty="0"/>
              <a:t>图案化到柔性</a:t>
            </a:r>
            <a:r>
              <a:rPr lang="en-US" altLang="zh-CN" dirty="0"/>
              <a:t>/</a:t>
            </a:r>
            <a:r>
              <a:rPr lang="zh-CN" altLang="en-US" dirty="0"/>
              <a:t>可拉伸基板上。例如，用于测量脑脊液分流器血流量的非侵入式皮肤安装传感器平台的柔性印刷电路板（图 </a:t>
            </a:r>
            <a:r>
              <a:rPr lang="en-US" altLang="zh-CN" dirty="0"/>
              <a:t>8a</a:t>
            </a:r>
            <a:r>
              <a:rPr lang="zh-CN" altLang="en-US" dirty="0"/>
              <a:t>）是通过激光图案化 </a:t>
            </a:r>
            <a:r>
              <a:rPr lang="en-US" altLang="zh-CN" dirty="0"/>
              <a:t>Cu/PI/Cu </a:t>
            </a:r>
            <a:r>
              <a:rPr lang="zh-CN" altLang="en-US" dirty="0"/>
              <a:t>三层制成的。集成电子元件、温度和流量传感器的整个装置尺寸为 </a:t>
            </a:r>
            <a:r>
              <a:rPr lang="en-US" altLang="zh-CN" dirty="0"/>
              <a:t>1.8 cm x 4.1 cm</a:t>
            </a:r>
            <a:r>
              <a:rPr lang="zh-CN" altLang="en-US" dirty="0"/>
              <a:t>，厚度约为 </a:t>
            </a:r>
            <a:r>
              <a:rPr lang="en-US" altLang="zh-CN" dirty="0"/>
              <a:t>100 µm</a:t>
            </a:r>
            <a:r>
              <a:rPr lang="zh-CN" altLang="en-US" dirty="0"/>
              <a:t>（不包括 </a:t>
            </a:r>
            <a:r>
              <a:rPr lang="en-US" altLang="zh-CN" dirty="0"/>
              <a:t>4 mm </a:t>
            </a:r>
            <a:r>
              <a:rPr lang="zh-CN" altLang="en-US" dirty="0"/>
              <a:t>厚的电池），重量为 </a:t>
            </a:r>
            <a:r>
              <a:rPr lang="en-US" altLang="zh-CN" dirty="0"/>
              <a:t>680 mg</a:t>
            </a:r>
            <a:r>
              <a:rPr lang="zh-CN" altLang="en-US" dirty="0"/>
              <a:t>（包括 </a:t>
            </a:r>
            <a:r>
              <a:rPr lang="en-US" altLang="zh-CN" dirty="0"/>
              <a:t>330 mg </a:t>
            </a:r>
            <a:r>
              <a:rPr lang="zh-CN" altLang="en-US" dirty="0"/>
              <a:t>电池）</a:t>
            </a:r>
            <a:r>
              <a:rPr lang="en-US" altLang="zh-CN" dirty="0"/>
              <a:t>[15]</a:t>
            </a:r>
            <a:r>
              <a:rPr lang="zh-CN" altLang="en-US" dirty="0"/>
              <a:t>。该装置在柔性印刷电路板上集成了软传感元件、锂聚合物电池、蓝牙芯片和电源调节器，为连续血流监测提供保形接触和无线传输</a:t>
            </a:r>
            <a:r>
              <a:rPr lang="en-US" altLang="zh-CN" dirty="0"/>
              <a:t>[15]</a:t>
            </a:r>
            <a:r>
              <a:rPr lang="zh-CN" altLang="en-US" dirty="0"/>
              <a:t>。</a:t>
            </a:r>
          </a:p>
        </p:txBody>
      </p:sp>
      <p:sp>
        <p:nvSpPr>
          <p:cNvPr id="4" name="灯片编号占位符 3">
            <a:extLst>
              <a:ext uri="{FF2B5EF4-FFF2-40B4-BE49-F238E27FC236}">
                <a16:creationId xmlns:a16="http://schemas.microsoft.com/office/drawing/2014/main" id="{8511634A-B184-0643-105F-DEADDE0C7213}"/>
              </a:ext>
            </a:extLst>
          </p:cNvPr>
          <p:cNvSpPr>
            <a:spLocks noGrp="1"/>
          </p:cNvSpPr>
          <p:nvPr>
            <p:ph type="sldNum" sz="quarter" idx="5"/>
          </p:nvPr>
        </p:nvSpPr>
        <p:spPr/>
        <p:txBody>
          <a:bodyPr/>
          <a:lstStyle/>
          <a:p>
            <a:fld id="{84918B77-9CB1-4C48-BED5-B02F24F09A98}" type="slidenum">
              <a:rPr lang="zh-CN" altLang="en-US" smtClean="0"/>
              <a:t>28</a:t>
            </a:fld>
            <a:endParaRPr lang="zh-CN" altLang="en-US"/>
          </a:p>
        </p:txBody>
      </p:sp>
    </p:spTree>
    <p:extLst>
      <p:ext uri="{BB962C8B-B14F-4D97-AF65-F5344CB8AC3E}">
        <p14:creationId xmlns:p14="http://schemas.microsoft.com/office/powerpoint/2010/main" val="38363660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C92EA-6804-52B5-5CB7-E4AF733F303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A8631BC-55E3-A697-303A-50E215AC125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E1D5B0C-7B9D-A317-22EC-A480CF8D91DC}"/>
              </a:ext>
            </a:extLst>
          </p:cNvPr>
          <p:cNvSpPr>
            <a:spLocks noGrp="1"/>
          </p:cNvSpPr>
          <p:nvPr>
            <p:ph type="body" idx="1"/>
          </p:nvPr>
        </p:nvSpPr>
        <p:spPr/>
        <p:txBody>
          <a:bodyPr/>
          <a:lstStyle/>
          <a:p>
            <a:r>
              <a:rPr lang="zh-CN" altLang="en-US" dirty="0"/>
              <a:t>除了有源传感材料外，柔性印刷电路板对于将柔性电子设备集成到功能齐全的系统中也起着重要作用；它们集成了各种电子元件，如微控制器（处理）、转换器（电源管理）、闪存（数据存储）、天线（电信）和电池（电源）</a:t>
            </a:r>
            <a:r>
              <a:rPr lang="en-US" altLang="zh-CN" dirty="0"/>
              <a:t>[15,18,288,289]</a:t>
            </a:r>
            <a:r>
              <a:rPr lang="zh-CN" altLang="en-US" dirty="0"/>
              <a:t>，以及基板和封装材料，如聚酰亚胺 </a:t>
            </a:r>
            <a:r>
              <a:rPr lang="en-US" altLang="zh-CN" dirty="0"/>
              <a:t>(PI) </a:t>
            </a:r>
            <a:r>
              <a:rPr lang="zh-CN" altLang="en-US" dirty="0"/>
              <a:t>和 </a:t>
            </a:r>
            <a:r>
              <a:rPr lang="en-US" altLang="zh-CN" dirty="0"/>
              <a:t>PET [288]</a:t>
            </a:r>
            <a:r>
              <a:rPr lang="zh-CN" altLang="en-US" dirty="0"/>
              <a:t>。柔性印刷电路板通常重量轻且高度可靠，并且可以小型化到厘米级，用于众多可穿戴监测应用 </a:t>
            </a:r>
            <a:r>
              <a:rPr lang="en-US" altLang="zh-CN" dirty="0"/>
              <a:t>[15,289]</a:t>
            </a:r>
            <a:r>
              <a:rPr lang="zh-CN" altLang="en-US" dirty="0"/>
              <a:t>。设计的电路可以通过激光烧蚀 </a:t>
            </a:r>
            <a:r>
              <a:rPr lang="en-US" altLang="zh-CN" dirty="0"/>
              <a:t>[290]</a:t>
            </a:r>
            <a:r>
              <a:rPr lang="zh-CN" altLang="en-US" dirty="0"/>
              <a:t>、丝网印刷 </a:t>
            </a:r>
            <a:r>
              <a:rPr lang="en-US" altLang="zh-CN" dirty="0"/>
              <a:t>[291]</a:t>
            </a:r>
            <a:r>
              <a:rPr lang="zh-CN" altLang="en-US" dirty="0"/>
              <a:t>、光刻后湿法蚀刻 </a:t>
            </a:r>
            <a:r>
              <a:rPr lang="en-US" altLang="zh-CN" dirty="0"/>
              <a:t>[292] </a:t>
            </a:r>
            <a:r>
              <a:rPr lang="zh-CN" altLang="en-US" dirty="0"/>
              <a:t>或液态金属模板印刷 </a:t>
            </a:r>
            <a:r>
              <a:rPr lang="en-US" altLang="zh-CN" dirty="0"/>
              <a:t>[234] </a:t>
            </a:r>
            <a:r>
              <a:rPr lang="zh-CN" altLang="en-US" dirty="0"/>
              <a:t>图案化到柔性</a:t>
            </a:r>
            <a:r>
              <a:rPr lang="en-US" altLang="zh-CN" dirty="0"/>
              <a:t>/</a:t>
            </a:r>
            <a:r>
              <a:rPr lang="zh-CN" altLang="en-US" dirty="0"/>
              <a:t>可拉伸基板上。例如，用于测量脑脊液分流器血流量的非侵入式皮肤安装传感器平台的柔性印刷电路板（图 </a:t>
            </a:r>
            <a:r>
              <a:rPr lang="en-US" altLang="zh-CN" dirty="0"/>
              <a:t>8a</a:t>
            </a:r>
            <a:r>
              <a:rPr lang="zh-CN" altLang="en-US" dirty="0"/>
              <a:t>）是通过激光图案化 </a:t>
            </a:r>
            <a:r>
              <a:rPr lang="en-US" altLang="zh-CN" dirty="0"/>
              <a:t>Cu/PI/Cu </a:t>
            </a:r>
            <a:r>
              <a:rPr lang="zh-CN" altLang="en-US" dirty="0"/>
              <a:t>三层制成的。集成电子元件、温度和流量传感器的整个装置尺寸为 </a:t>
            </a:r>
            <a:r>
              <a:rPr lang="en-US" altLang="zh-CN" dirty="0"/>
              <a:t>1.8 cm x 4.1 cm</a:t>
            </a:r>
            <a:r>
              <a:rPr lang="zh-CN" altLang="en-US" dirty="0"/>
              <a:t>，厚度约为 </a:t>
            </a:r>
            <a:r>
              <a:rPr lang="en-US" altLang="zh-CN" dirty="0"/>
              <a:t>100 µm</a:t>
            </a:r>
            <a:r>
              <a:rPr lang="zh-CN" altLang="en-US" dirty="0"/>
              <a:t>（不包括 </a:t>
            </a:r>
            <a:r>
              <a:rPr lang="en-US" altLang="zh-CN" dirty="0"/>
              <a:t>4 mm </a:t>
            </a:r>
            <a:r>
              <a:rPr lang="zh-CN" altLang="en-US" dirty="0"/>
              <a:t>厚的电池），重量为 </a:t>
            </a:r>
            <a:r>
              <a:rPr lang="en-US" altLang="zh-CN" dirty="0"/>
              <a:t>680 mg</a:t>
            </a:r>
            <a:r>
              <a:rPr lang="zh-CN" altLang="en-US" dirty="0"/>
              <a:t>（包括 </a:t>
            </a:r>
            <a:r>
              <a:rPr lang="en-US" altLang="zh-CN" dirty="0"/>
              <a:t>330 mg </a:t>
            </a:r>
            <a:r>
              <a:rPr lang="zh-CN" altLang="en-US" dirty="0"/>
              <a:t>电池）</a:t>
            </a:r>
            <a:r>
              <a:rPr lang="en-US" altLang="zh-CN" dirty="0"/>
              <a:t>[15]</a:t>
            </a:r>
            <a:r>
              <a:rPr lang="zh-CN" altLang="en-US" dirty="0"/>
              <a:t>。该装置在柔性印刷电路板上集成了软传感元件、锂聚合物电池、蓝牙芯片和电源调节器，为连续血流监测提供保形接触和无线传输</a:t>
            </a:r>
            <a:r>
              <a:rPr lang="en-US" altLang="zh-CN" dirty="0"/>
              <a:t>[15]</a:t>
            </a:r>
            <a:r>
              <a:rPr lang="zh-CN" altLang="en-US" dirty="0"/>
              <a:t>。</a:t>
            </a:r>
          </a:p>
        </p:txBody>
      </p:sp>
      <p:sp>
        <p:nvSpPr>
          <p:cNvPr id="4" name="灯片编号占位符 3">
            <a:extLst>
              <a:ext uri="{FF2B5EF4-FFF2-40B4-BE49-F238E27FC236}">
                <a16:creationId xmlns:a16="http://schemas.microsoft.com/office/drawing/2014/main" id="{3B42EC56-84D8-CB58-D7A6-2960C23807EF}"/>
              </a:ext>
            </a:extLst>
          </p:cNvPr>
          <p:cNvSpPr>
            <a:spLocks noGrp="1"/>
          </p:cNvSpPr>
          <p:nvPr>
            <p:ph type="sldNum" sz="quarter" idx="5"/>
          </p:nvPr>
        </p:nvSpPr>
        <p:spPr/>
        <p:txBody>
          <a:bodyPr/>
          <a:lstStyle/>
          <a:p>
            <a:fld id="{84918B77-9CB1-4C48-BED5-B02F24F09A98}" type="slidenum">
              <a:rPr lang="zh-CN" altLang="en-US" smtClean="0"/>
              <a:t>29</a:t>
            </a:fld>
            <a:endParaRPr lang="zh-CN" altLang="en-US"/>
          </a:p>
        </p:txBody>
      </p:sp>
    </p:spTree>
    <p:extLst>
      <p:ext uri="{BB962C8B-B14F-4D97-AF65-F5344CB8AC3E}">
        <p14:creationId xmlns:p14="http://schemas.microsoft.com/office/powerpoint/2010/main" val="402924026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98AE9-5B0C-444F-D115-524AC8AE2CC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BE0FB47-BE22-958C-F7AA-3EEE671BF61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C0A86C8-B555-5BA6-8995-47201533B45C}"/>
              </a:ext>
            </a:extLst>
          </p:cNvPr>
          <p:cNvSpPr>
            <a:spLocks noGrp="1"/>
          </p:cNvSpPr>
          <p:nvPr>
            <p:ph type="body" idx="1"/>
          </p:nvPr>
        </p:nvSpPr>
        <p:spPr/>
        <p:txBody>
          <a:bodyPr/>
          <a:lstStyle/>
          <a:p>
            <a:endParaRPr lang="en-US" altLang="zh-CN" dirty="0"/>
          </a:p>
          <a:p>
            <a:r>
              <a:rPr lang="zh-CN" altLang="en-US" dirty="0"/>
              <a:t>印刷电子是基于印刷原理制造电子设备的技术</a:t>
            </a:r>
            <a:r>
              <a:rPr lang="en-US" altLang="zh-CN" dirty="0"/>
              <a:t>[1]</a:t>
            </a:r>
            <a:r>
              <a:rPr lang="zh-CN" altLang="en-US" dirty="0"/>
              <a:t>。与传统印刷技术不同，印刷机中使用的油墨是具有导电、介电、半导体或磁性的电子材料。印刷电子与有机电子、塑料电子、柔性电子和纸电子等多个领域密切相关</a:t>
            </a:r>
            <a:r>
              <a:rPr lang="en-US" altLang="zh-CN" dirty="0"/>
              <a:t>[2]</a:t>
            </a:r>
            <a:r>
              <a:rPr lang="zh-CN" altLang="en-US" dirty="0"/>
              <a:t>，这意味着不仅可以在硅和玻璃上印刷电路，还可以在塑料、纸张和更柔性的基板上印刷电路。生产柔性电子产品的方法之一是将导电材料直接印刷到柔性基板上。经典的柔性电子是指将有机</a:t>
            </a:r>
            <a:r>
              <a:rPr lang="en-US" altLang="zh-CN" dirty="0"/>
              <a:t>/</a:t>
            </a:r>
            <a:r>
              <a:rPr lang="zh-CN" altLang="en-US" dirty="0"/>
              <a:t>无机电子器件沉积在柔性基板上形成电路的技术</a:t>
            </a:r>
            <a:r>
              <a:rPr lang="en-US" altLang="zh-CN" dirty="0"/>
              <a:t>[3]</a:t>
            </a:r>
            <a:r>
              <a:rPr lang="zh-CN" altLang="en-US" dirty="0"/>
              <a:t>。虽然刚性电路板可以保护电子元件免受损坏，但它限制了电子产品的延展性和柔韧性。柔性电子具有柔软、延展性好、制造成本低等优点，可在信息、能源、医学和国防技术领域提供智能传感器、执行器、柔性显示器、有机发光二极管 </a:t>
            </a:r>
            <a:r>
              <a:rPr lang="en-US" altLang="zh-CN" dirty="0"/>
              <a:t>(OLED) </a:t>
            </a:r>
            <a:r>
              <a:rPr lang="zh-CN" altLang="en-US" dirty="0"/>
              <a:t>等。与传统的刚性微电子相比，柔性电子最显著的特点是其柔韧性，这使得它们可拉伸、保形、便携、可穿戴，并易于快速打印 </a:t>
            </a:r>
            <a:r>
              <a:rPr lang="en-US" altLang="zh-CN" dirty="0"/>
              <a:t>[4,5,6,7,8]</a:t>
            </a:r>
            <a:r>
              <a:rPr lang="zh-CN" altLang="en-US" dirty="0"/>
              <a:t>。由于柔性电子在电气、可打印、生物医学和传感特性方面的独特优势，它可以在电子元件 </a:t>
            </a:r>
            <a:r>
              <a:rPr lang="en-US" altLang="zh-CN" dirty="0"/>
              <a:t>[9]</a:t>
            </a:r>
            <a:r>
              <a:rPr lang="zh-CN" altLang="en-US" dirty="0"/>
              <a:t>、打印技术、植入式设备 </a:t>
            </a:r>
            <a:r>
              <a:rPr lang="en-US" altLang="zh-CN" dirty="0"/>
              <a:t>[10] </a:t>
            </a:r>
            <a:r>
              <a:rPr lang="zh-CN" altLang="en-US" dirty="0"/>
              <a:t>和健康监测器 </a:t>
            </a:r>
            <a:r>
              <a:rPr lang="en-US" altLang="zh-CN" dirty="0"/>
              <a:t>[11] </a:t>
            </a:r>
            <a:r>
              <a:rPr lang="zh-CN" altLang="en-US" dirty="0"/>
              <a:t>等领域得到广泛应用，具体用途包括天线 </a:t>
            </a:r>
            <a:r>
              <a:rPr lang="en-US" altLang="zh-CN" dirty="0"/>
              <a:t>[12]</a:t>
            </a:r>
            <a:r>
              <a:rPr lang="zh-CN" altLang="en-US" dirty="0"/>
              <a:t>、眼球摄像头 </a:t>
            </a:r>
            <a:r>
              <a:rPr lang="en-US" altLang="zh-CN" dirty="0"/>
              <a:t>[13] </a:t>
            </a:r>
            <a:r>
              <a:rPr lang="zh-CN" altLang="en-US" dirty="0"/>
              <a:t>和压力传感器 </a:t>
            </a:r>
            <a:r>
              <a:rPr lang="en-US" altLang="zh-CN" dirty="0"/>
              <a:t>[14] </a:t>
            </a:r>
            <a:r>
              <a:rPr lang="zh-CN" altLang="en-US" dirty="0"/>
              <a:t>等。如今，人们已采用两种常见策略来提高电子产品的柔软度 </a:t>
            </a:r>
            <a:r>
              <a:rPr lang="en-US" altLang="zh-CN" dirty="0"/>
              <a:t>[15]</a:t>
            </a:r>
            <a:r>
              <a:rPr lang="zh-CN" altLang="en-US" dirty="0"/>
              <a:t>。一种是将坚硬的导电材料嵌入到可拉伸的基底上，例如聚二甲基硅氧烷 </a:t>
            </a:r>
            <a:r>
              <a:rPr lang="en-US" altLang="zh-CN" dirty="0"/>
              <a:t>(PDMS)</a:t>
            </a:r>
            <a:r>
              <a:rPr lang="zh-CN" altLang="en-US" dirty="0"/>
              <a:t>。</a:t>
            </a:r>
            <a:r>
              <a:rPr lang="en-US" altLang="zh-CN" dirty="0"/>
              <a:t>Rogers </a:t>
            </a:r>
            <a:r>
              <a:rPr lang="zh-CN" altLang="en-US" dirty="0"/>
              <a:t>等人引入了一种复杂的波浪结构来保持电路的可拉伸性，当应力作用于柔软的基底上时，它可以吸收较大的张力 </a:t>
            </a:r>
            <a:r>
              <a:rPr lang="en-US" altLang="zh-CN" dirty="0"/>
              <a:t>[16,17]</a:t>
            </a:r>
            <a:r>
              <a:rPr lang="zh-CN" altLang="en-US" dirty="0"/>
              <a:t>。另一种是使用固有可拉伸的导体来形成电路 </a:t>
            </a:r>
            <a:r>
              <a:rPr lang="en-US" altLang="zh-CN" dirty="0"/>
              <a:t>[18]</a:t>
            </a:r>
            <a:r>
              <a:rPr lang="zh-CN" altLang="en-US" dirty="0"/>
              <a:t>。</a:t>
            </a:r>
            <a:r>
              <a:rPr lang="en-US" altLang="zh-CN" dirty="0"/>
              <a:t>Russo </a:t>
            </a:r>
            <a:r>
              <a:rPr lang="zh-CN" altLang="en-US" dirty="0"/>
              <a:t>等人展示了一种使用导电银墨水连接电路的方法，这种方法可以直接在纸上书写导电文字以连接发光二极管 </a:t>
            </a:r>
            <a:r>
              <a:rPr lang="en-US" altLang="zh-CN" dirty="0"/>
              <a:t>(LED) </a:t>
            </a:r>
            <a:r>
              <a:rPr lang="zh-CN" altLang="en-US" dirty="0"/>
              <a:t>阵列和三维 </a:t>
            </a:r>
            <a:r>
              <a:rPr lang="en-US" altLang="zh-CN" dirty="0"/>
              <a:t>(3D) </a:t>
            </a:r>
            <a:r>
              <a:rPr lang="zh-CN" altLang="en-US" dirty="0"/>
              <a:t>天线 </a:t>
            </a:r>
            <a:r>
              <a:rPr lang="en-US" altLang="zh-CN" dirty="0"/>
              <a:t>[12]</a:t>
            </a:r>
            <a:r>
              <a:rPr lang="zh-CN" altLang="en-US" dirty="0"/>
              <a:t>。显然，柔性印刷电子 </a:t>
            </a:r>
            <a:r>
              <a:rPr lang="en-US" altLang="zh-CN" dirty="0"/>
              <a:t>(FPE) </a:t>
            </a:r>
            <a:r>
              <a:rPr lang="zh-CN" altLang="en-US" dirty="0"/>
              <a:t>结合了柔性电子和印刷电子的特点。通过这种方式，人们可以快速制造出功能齐全的柔性电子设备。随着印刷技术的成熟，柔性印刷已成为研究的热门话题。目前已经出现了几种典型的印刷技术，例如敲击模式印刷</a:t>
            </a:r>
            <a:r>
              <a:rPr lang="en-US" altLang="zh-CN" dirty="0"/>
              <a:t>[18]</a:t>
            </a:r>
            <a:r>
              <a:rPr lang="zh-CN" altLang="en-US" dirty="0"/>
              <a:t>、气溶胶喷射印刷、卷对卷技术</a:t>
            </a:r>
            <a:r>
              <a:rPr lang="en-US" altLang="zh-CN" dirty="0"/>
              <a:t>[19]</a:t>
            </a:r>
            <a:r>
              <a:rPr lang="zh-CN" altLang="en-US" dirty="0"/>
              <a:t>、喷墨印刷</a:t>
            </a:r>
            <a:r>
              <a:rPr lang="en-US" altLang="zh-CN" dirty="0"/>
              <a:t>[20]</a:t>
            </a:r>
            <a:r>
              <a:rPr lang="zh-CN" altLang="en-US" dirty="0"/>
              <a:t>以及微笔和刷子印刷</a:t>
            </a:r>
            <a:r>
              <a:rPr lang="en-US" altLang="zh-CN" dirty="0"/>
              <a:t>[21,22]</a:t>
            </a:r>
            <a:r>
              <a:rPr lang="zh-CN" altLang="en-US" dirty="0"/>
              <a:t>。其中，微笔也许是最简单的方法：将电墨水泵入墨盒中直接写出导电文字。这使得在 </a:t>
            </a:r>
            <a:r>
              <a:rPr lang="en-US" altLang="zh-CN" dirty="0"/>
              <a:t>A4 </a:t>
            </a:r>
            <a:r>
              <a:rPr lang="zh-CN" altLang="en-US" dirty="0"/>
              <a:t>纸上绘制电路图成为可能。微笔明显降低了电路生产的复杂性并提高了电子电路制造的效率。</a:t>
            </a:r>
            <a:r>
              <a:rPr lang="en-US" altLang="zh-CN" dirty="0"/>
              <a:t>FPE </a:t>
            </a:r>
            <a:r>
              <a:rPr lang="zh-CN" altLang="en-US" dirty="0"/>
              <a:t>在不同领域取得了重大成就，例如柔性显示设备</a:t>
            </a:r>
            <a:r>
              <a:rPr lang="en-US" altLang="zh-CN" dirty="0"/>
              <a:t>[23]</a:t>
            </a:r>
            <a:r>
              <a:rPr lang="zh-CN" altLang="en-US" dirty="0"/>
              <a:t>、薄膜太阳能电池</a:t>
            </a:r>
            <a:r>
              <a:rPr lang="en-US" altLang="zh-CN" dirty="0"/>
              <a:t>[24,25]</a:t>
            </a:r>
            <a:r>
              <a:rPr lang="zh-CN" altLang="en-US" dirty="0"/>
              <a:t>、大面积传感器和驱动器</a:t>
            </a:r>
            <a:r>
              <a:rPr lang="en-US" altLang="zh-CN" dirty="0"/>
              <a:t>[26,27]</a:t>
            </a:r>
            <a:r>
              <a:rPr lang="zh-CN" altLang="en-US" dirty="0"/>
              <a:t>、电子皮肤</a:t>
            </a:r>
            <a:r>
              <a:rPr lang="en-US" altLang="zh-CN" dirty="0"/>
              <a:t>[28]</a:t>
            </a:r>
            <a:r>
              <a:rPr lang="zh-CN" altLang="en-US" dirty="0"/>
              <a:t>、可穿戴电子和生物假肢设备</a:t>
            </a:r>
            <a:r>
              <a:rPr lang="en-US" altLang="zh-CN" dirty="0"/>
              <a:t>[29]</a:t>
            </a:r>
            <a:r>
              <a:rPr lang="zh-CN" altLang="en-US" dirty="0"/>
              <a:t>、自充电系统</a:t>
            </a:r>
            <a:r>
              <a:rPr lang="en-US" altLang="zh-CN" dirty="0"/>
              <a:t>[30]</a:t>
            </a:r>
            <a:r>
              <a:rPr lang="zh-CN" altLang="en-US" dirty="0"/>
              <a:t>、自供电无线监控</a:t>
            </a:r>
            <a:r>
              <a:rPr lang="en-US" altLang="zh-CN" dirty="0"/>
              <a:t>[31]</a:t>
            </a:r>
            <a:r>
              <a:rPr lang="zh-CN" altLang="en-US" dirty="0"/>
              <a:t>等。如果电路具有柔软性、顺应性、可拉伸性和便携性等特性，则可以称其为可弯曲电子设备。与此同时，许多实验室已经开发出具有柔性的电子设备，如弯曲显示器</a:t>
            </a:r>
            <a:r>
              <a:rPr lang="en-US" altLang="zh-CN" dirty="0"/>
              <a:t>[32]</a:t>
            </a:r>
            <a:r>
              <a:rPr lang="zh-CN" altLang="en-US" dirty="0"/>
              <a:t>、折叠电池</a:t>
            </a:r>
            <a:r>
              <a:rPr lang="en-US" altLang="zh-CN" dirty="0"/>
              <a:t>[9]</a:t>
            </a:r>
            <a:r>
              <a:rPr lang="zh-CN" altLang="en-US" dirty="0"/>
              <a:t>、软场效应晶体管</a:t>
            </a:r>
            <a:r>
              <a:rPr lang="en-US" altLang="zh-CN" dirty="0"/>
              <a:t>[33]</a:t>
            </a:r>
            <a:r>
              <a:rPr lang="zh-CN" altLang="en-US" dirty="0"/>
              <a:t>、可拉伸导线</a:t>
            </a:r>
            <a:r>
              <a:rPr lang="en-US" altLang="zh-CN" dirty="0"/>
              <a:t>[34]</a:t>
            </a:r>
            <a:r>
              <a:rPr lang="zh-CN" altLang="en-US" dirty="0"/>
              <a:t>等。</a:t>
            </a:r>
            <a:r>
              <a:rPr lang="en-US" altLang="zh-CN" dirty="0"/>
              <a:t>FPE</a:t>
            </a:r>
            <a:r>
              <a:rPr lang="zh-CN" altLang="en-US" dirty="0"/>
              <a:t>还可以用于健康监测、医学检查、生命体征检测和其他日常生活需求。柔性生物医学设备已广泛应用于植入式设备</a:t>
            </a:r>
            <a:r>
              <a:rPr lang="en-US" altLang="zh-CN" dirty="0"/>
              <a:t>[10]</a:t>
            </a:r>
            <a:r>
              <a:rPr lang="zh-CN" altLang="en-US" dirty="0"/>
              <a:t>、神经连接</a:t>
            </a:r>
            <a:r>
              <a:rPr lang="en-US" altLang="zh-CN" dirty="0"/>
              <a:t>[35,36]</a:t>
            </a:r>
            <a:r>
              <a:rPr lang="zh-CN" altLang="en-US" dirty="0"/>
              <a:t>、健康监测</a:t>
            </a:r>
            <a:r>
              <a:rPr lang="en-US" altLang="zh-CN" dirty="0"/>
              <a:t>[11]</a:t>
            </a:r>
            <a:r>
              <a:rPr lang="zh-CN" altLang="en-US" dirty="0"/>
              <a:t>和可穿戴医疗设备领域。</a:t>
            </a:r>
            <a:r>
              <a:rPr lang="en-US" altLang="zh-CN" dirty="0"/>
              <a:t>FPE</a:t>
            </a:r>
            <a:r>
              <a:rPr lang="zh-CN" altLang="en-US" dirty="0"/>
              <a:t>还用于生物传感，其中最重要的应用是电子皮肤（</a:t>
            </a:r>
            <a:r>
              <a:rPr lang="en-US" altLang="zh-CN" dirty="0"/>
              <a:t>E-skin</a:t>
            </a:r>
            <a:r>
              <a:rPr lang="zh-CN" altLang="en-US" dirty="0"/>
              <a:t>），如压力映射</a:t>
            </a:r>
            <a:r>
              <a:rPr lang="en-US" altLang="zh-CN" dirty="0"/>
              <a:t>[37]</a:t>
            </a:r>
            <a:r>
              <a:rPr lang="zh-CN" altLang="en-US" dirty="0"/>
              <a:t>、自愈传感器</a:t>
            </a:r>
            <a:r>
              <a:rPr lang="en-US" altLang="zh-CN" dirty="0"/>
              <a:t>[38]</a:t>
            </a:r>
            <a:r>
              <a:rPr lang="zh-CN" altLang="en-US" dirty="0"/>
              <a:t>、假肢</a:t>
            </a:r>
            <a:r>
              <a:rPr lang="en-US" altLang="zh-CN" dirty="0"/>
              <a:t>[39]</a:t>
            </a:r>
            <a:r>
              <a:rPr lang="zh-CN" altLang="en-US" dirty="0"/>
              <a:t>、压力传感器</a:t>
            </a:r>
            <a:r>
              <a:rPr lang="en-US" altLang="zh-CN" dirty="0"/>
              <a:t>[14]</a:t>
            </a:r>
            <a:r>
              <a:rPr lang="zh-CN" altLang="en-US" dirty="0"/>
              <a:t>等。许多研究机构正在研究应用于柔性电子皮肤的不同材料。在鲍哲南的实验室，他们发明了一种受皮肤启发的人工机械感受器系统，该受体可以将压力刺激信号转化为人类神经元可以感知的电生理信号</a:t>
            </a:r>
            <a:r>
              <a:rPr lang="en-US" altLang="zh-CN" dirty="0"/>
              <a:t>[40]</a:t>
            </a:r>
          </a:p>
          <a:p>
            <a:endParaRPr lang="en-US" altLang="zh-CN" dirty="0"/>
          </a:p>
          <a:p>
            <a:endParaRPr lang="en-US" altLang="zh-CN" dirty="0"/>
          </a:p>
          <a:p>
            <a:r>
              <a:rPr lang="zh-CN" altLang="en-US" dirty="0"/>
              <a:t>在电子电路设计领域，必须特别注意柔性印刷电路的使用和放置。这些组件以其在各种应用中的灵活性和适应性而闻名，需要小心处理和战略定位以确保最佳性能和使用寿命</a:t>
            </a:r>
            <a:r>
              <a:rPr lang="en-US" altLang="zh-CN" dirty="0"/>
              <a:t>21</a:t>
            </a:r>
            <a:r>
              <a:rPr lang="zh-CN" altLang="en-US" dirty="0"/>
              <a:t>。这种谨慎方法的原因是多方面的：在柔性印刷电路 </a:t>
            </a:r>
            <a:r>
              <a:rPr lang="en-US" altLang="zh-CN" dirty="0"/>
              <a:t>(FPC) </a:t>
            </a:r>
            <a:r>
              <a:rPr lang="zh-CN" altLang="en-US" dirty="0"/>
              <a:t>的设计中，必须解决几个问题以确保其耐用性和功能性。首先，</a:t>
            </a:r>
            <a:r>
              <a:rPr lang="en-US" altLang="zh-CN" dirty="0"/>
              <a:t>FPC </a:t>
            </a:r>
            <a:r>
              <a:rPr lang="zh-CN" altLang="en-US" dirty="0"/>
              <a:t>本质上比刚性对应物更脆弱，容易受到机械损坏，例如裂缝或断裂</a:t>
            </a:r>
            <a:r>
              <a:rPr lang="en-US" altLang="zh-CN" dirty="0"/>
              <a:t>22</a:t>
            </a:r>
            <a:r>
              <a:rPr lang="zh-CN" altLang="en-US" dirty="0"/>
              <a:t>，尤其是在受到外部应力或力</a:t>
            </a:r>
            <a:r>
              <a:rPr lang="en-US" altLang="zh-CN" dirty="0"/>
              <a:t>23 </a:t>
            </a:r>
            <a:r>
              <a:rPr lang="zh-CN" altLang="en-US" dirty="0"/>
              <a:t>时。在 </a:t>
            </a:r>
            <a:r>
              <a:rPr lang="en-US" altLang="zh-CN" dirty="0"/>
              <a:t>FPC </a:t>
            </a:r>
            <a:r>
              <a:rPr lang="zh-CN" altLang="en-US" dirty="0"/>
              <a:t>可能接触其他组件的环境中，尤其是在容易移动或振动的环境中，这种脆弱性会加剧。战略性的物理分离可以显著降低此类损坏的风险。此外，当 </a:t>
            </a:r>
            <a:r>
              <a:rPr lang="en-US" altLang="zh-CN" dirty="0"/>
              <a:t>FPC </a:t>
            </a:r>
            <a:r>
              <a:rPr lang="zh-CN" altLang="en-US" dirty="0"/>
              <a:t>放置得太靠近其他电子元件（尤其是那些产生强电磁场的电子元件）时，</a:t>
            </a:r>
            <a:r>
              <a:rPr lang="en-US" altLang="zh-CN" dirty="0"/>
              <a:t>FPC </a:t>
            </a:r>
            <a:r>
              <a:rPr lang="zh-CN" altLang="en-US" dirty="0"/>
              <a:t>面临着电气干扰的挑战</a:t>
            </a:r>
            <a:r>
              <a:rPr lang="en-US" altLang="zh-CN" dirty="0"/>
              <a:t>24</a:t>
            </a:r>
            <a:r>
              <a:rPr lang="zh-CN" altLang="en-US" dirty="0"/>
              <a:t>。这种干扰会破坏 </a:t>
            </a:r>
            <a:r>
              <a:rPr lang="en-US" altLang="zh-CN" dirty="0"/>
              <a:t>FPC </a:t>
            </a:r>
            <a:r>
              <a:rPr lang="zh-CN" altLang="en-US" dirty="0"/>
              <a:t>上电路的正常运行，导致故障或效率低下。此外，保持信号完整性至关重要</a:t>
            </a:r>
            <a:r>
              <a:rPr lang="en-US" altLang="zh-CN" dirty="0"/>
              <a:t>25</a:t>
            </a:r>
            <a:r>
              <a:rPr lang="zh-CN" altLang="en-US" dirty="0"/>
              <a:t>，因为与其他组件的距离太近可能会导致信号丢失或干扰，这在高频或精密应用中至关重要，因为信号清晰度和完整性至关重要。有效的热管理是另一个关键考虑因素</a:t>
            </a:r>
            <a:r>
              <a:rPr lang="en-US" altLang="zh-CN" dirty="0"/>
              <a:t>26,27</a:t>
            </a:r>
            <a:r>
              <a:rPr lang="zh-CN" altLang="en-US" dirty="0"/>
              <a:t>。如果 </a:t>
            </a:r>
            <a:r>
              <a:rPr lang="en-US" altLang="zh-CN" dirty="0"/>
              <a:t>FPC </a:t>
            </a:r>
            <a:r>
              <a:rPr lang="zh-CN" altLang="en-US" dirty="0"/>
              <a:t>的位置太靠近发热组件，由此产生的高温会对其性能和寿命产生不利影响。足够的间距对于促进适当的散热和防止热过载至关重要，热过载会降低 </a:t>
            </a:r>
            <a:r>
              <a:rPr lang="en-US" altLang="zh-CN" dirty="0"/>
              <a:t>FPC </a:t>
            </a:r>
            <a:r>
              <a:rPr lang="zh-CN" altLang="en-US" dirty="0"/>
              <a:t>的材料和电路性能。最后，</a:t>
            </a:r>
            <a:r>
              <a:rPr lang="en-US" altLang="zh-CN" dirty="0"/>
              <a:t>FPC </a:t>
            </a:r>
            <a:r>
              <a:rPr lang="zh-CN" altLang="en-US" dirty="0"/>
              <a:t>独特的灵活性使它们可以弯曲或弯曲以适应特定的设计，但这种弯曲应该小心控制</a:t>
            </a:r>
            <a:r>
              <a:rPr lang="en-US" altLang="zh-CN" dirty="0"/>
              <a:t>28</a:t>
            </a:r>
            <a:r>
              <a:rPr lang="zh-CN" altLang="en-US" dirty="0"/>
              <a:t>。过度的曲率会对材料施加不当的压力，增加随着时间的推移疲劳和损坏的风险</a:t>
            </a:r>
            <a:r>
              <a:rPr lang="en-US" altLang="zh-CN" dirty="0"/>
              <a:t>29</a:t>
            </a:r>
            <a:r>
              <a:rPr lang="zh-CN" altLang="en-US" dirty="0"/>
              <a:t>。正确管理曲率对于保持 </a:t>
            </a:r>
            <a:r>
              <a:rPr lang="en-US" altLang="zh-CN" dirty="0"/>
              <a:t>FPC </a:t>
            </a:r>
            <a:r>
              <a:rPr lang="zh-CN" altLang="en-US" dirty="0"/>
              <a:t>的结构完整性至关重要。总之，</a:t>
            </a:r>
            <a:r>
              <a:rPr lang="en-US" altLang="zh-CN" dirty="0"/>
              <a:t>FPC </a:t>
            </a:r>
            <a:r>
              <a:rPr lang="zh-CN" altLang="en-US" dirty="0"/>
              <a:t>的战略性放置和处理在电路设计中至关重要。这不仅涉及避免与其他组件的物理接触，还需要考虑电磁兼容性、信号完整性</a:t>
            </a:r>
            <a:r>
              <a:rPr lang="en-US" altLang="zh-CN" dirty="0"/>
              <a:t>30</a:t>
            </a:r>
            <a:r>
              <a:rPr lang="zh-CN" altLang="en-US" dirty="0"/>
              <a:t>、热管理</a:t>
            </a:r>
            <a:r>
              <a:rPr lang="en-US" altLang="zh-CN" dirty="0"/>
              <a:t>31</a:t>
            </a:r>
            <a:r>
              <a:rPr lang="zh-CN" altLang="en-US" dirty="0"/>
              <a:t>和机械应力</a:t>
            </a:r>
            <a:r>
              <a:rPr lang="en-US" altLang="zh-CN" dirty="0"/>
              <a:t>32,33,34</a:t>
            </a:r>
            <a:r>
              <a:rPr lang="zh-CN" altLang="en-US" dirty="0"/>
              <a:t>等方面。这些考虑因素是设计过程不可或缺的，可确保 </a:t>
            </a:r>
            <a:r>
              <a:rPr lang="en-US" altLang="zh-CN" dirty="0"/>
              <a:t>FPC </a:t>
            </a:r>
            <a:r>
              <a:rPr lang="zh-CN" altLang="en-US" dirty="0"/>
              <a:t>在预期应用中有效可靠地发挥作用。对 </a:t>
            </a:r>
            <a:r>
              <a:rPr lang="en-US" altLang="zh-CN" dirty="0"/>
              <a:t>FPC </a:t>
            </a:r>
            <a:r>
              <a:rPr lang="zh-CN" altLang="en-US" dirty="0"/>
              <a:t>相关的细微差别的详细了解对于电子设计领域的专业人士至关重要，值得在学术和技术文献中进行深入讨论。在 </a:t>
            </a:r>
            <a:r>
              <a:rPr lang="en-US" altLang="zh-CN" dirty="0"/>
              <a:t>FPC </a:t>
            </a:r>
            <a:r>
              <a:rPr lang="zh-CN" altLang="en-US" dirty="0"/>
              <a:t>力学和变形领域，</a:t>
            </a:r>
            <a:r>
              <a:rPr lang="en-US" altLang="zh-CN" dirty="0"/>
              <a:t>John </a:t>
            </a:r>
            <a:r>
              <a:rPr lang="zh-CN" altLang="en-US" dirty="0"/>
              <a:t>等人</a:t>
            </a:r>
            <a:r>
              <a:rPr lang="en-US" altLang="zh-CN" dirty="0"/>
              <a:t>35 </a:t>
            </a:r>
            <a:r>
              <a:rPr lang="zh-CN" altLang="en-US" dirty="0"/>
              <a:t>深入研究了与弯曲、成型和弯曲印刷电路相关的机械和材料挑战，特别是针对非玻璃编织材料。他们的研究全面分析了弯曲过程中应变对铜层的影响及其对静态和动态应用的影响，强调了了解材料特性和铜在机械应力下的行为的重要性。同时，</a:t>
            </a:r>
            <a:r>
              <a:rPr lang="en-US" altLang="zh-CN" dirty="0" err="1"/>
              <a:t>Hirotaka</a:t>
            </a:r>
            <a:r>
              <a:rPr lang="en-US" altLang="zh-CN" dirty="0"/>
              <a:t> </a:t>
            </a:r>
            <a:r>
              <a:rPr lang="zh-CN" altLang="en-US" dirty="0"/>
              <a:t>等人 </a:t>
            </a:r>
            <a:r>
              <a:rPr lang="en-US" altLang="zh-CN" dirty="0"/>
              <a:t>36 </a:t>
            </a:r>
            <a:r>
              <a:rPr lang="zh-CN" altLang="en-US" dirty="0"/>
              <a:t>研究了基于 </a:t>
            </a:r>
            <a:r>
              <a:rPr lang="en-US" altLang="zh-CN" dirty="0"/>
              <a:t>FPC </a:t>
            </a:r>
            <a:r>
              <a:rPr lang="zh-CN" altLang="en-US" dirty="0"/>
              <a:t>的平面倒置 </a:t>
            </a:r>
            <a:r>
              <a:rPr lang="en-US" altLang="zh-CN" dirty="0"/>
              <a:t>F </a:t>
            </a:r>
            <a:r>
              <a:rPr lang="zh-CN" altLang="en-US" dirty="0"/>
              <a:t>天线 </a:t>
            </a:r>
            <a:r>
              <a:rPr lang="en-US" altLang="zh-CN" dirty="0"/>
              <a:t>(PIFA) </a:t>
            </a:r>
            <a:r>
              <a:rPr lang="zh-CN" altLang="en-US" dirty="0"/>
              <a:t>的性能特征，重点研究了它在受到机械变形时保持稳定辐射模式和效率的稳健性。他们的研究结果证实了天线适用于紧凑型移动设备，且性能下降最小。此外，</a:t>
            </a:r>
            <a:r>
              <a:rPr lang="en-US" altLang="zh-CN" dirty="0"/>
              <a:t>Ping </a:t>
            </a:r>
            <a:r>
              <a:rPr lang="zh-CN" altLang="en-US" dirty="0"/>
              <a:t>等人 </a:t>
            </a:r>
            <a:r>
              <a:rPr lang="en-US" altLang="zh-CN" dirty="0"/>
              <a:t>22 </a:t>
            </a:r>
            <a:r>
              <a:rPr lang="zh-CN" altLang="en-US" dirty="0"/>
              <a:t>确定了 </a:t>
            </a:r>
            <a:r>
              <a:rPr lang="en-US" altLang="zh-CN" dirty="0"/>
              <a:t>FPC </a:t>
            </a:r>
            <a:r>
              <a:rPr lang="zh-CN" altLang="en-US" dirty="0"/>
              <a:t>应用中常见的故障模式，例如通孔互连问题、走线裂缝和黑垫现象。他们提出了通过改进制造工艺、机械设计和动态应力分布来提高 </a:t>
            </a:r>
            <a:r>
              <a:rPr lang="en-US" altLang="zh-CN" dirty="0"/>
              <a:t>FPC </a:t>
            </a:r>
            <a:r>
              <a:rPr lang="zh-CN" altLang="en-US" dirty="0"/>
              <a:t>可靠性和质量的方法。总的来说，这些研究阐明了 </a:t>
            </a:r>
            <a:r>
              <a:rPr lang="en-US" altLang="zh-CN" dirty="0"/>
              <a:t>FPC </a:t>
            </a:r>
            <a:r>
              <a:rPr lang="zh-CN" altLang="en-US" dirty="0"/>
              <a:t>在先进电子领域设计和应用方面取得的重大进展和持续存在的挑战。基于这些对 </a:t>
            </a:r>
            <a:r>
              <a:rPr lang="en-US" altLang="zh-CN" dirty="0"/>
              <a:t>FPC </a:t>
            </a:r>
            <a:r>
              <a:rPr lang="zh-CN" altLang="en-US" dirty="0"/>
              <a:t>力学和变形的基础见解，进一步的研究专门针对柔性印刷电路板 </a:t>
            </a:r>
            <a:r>
              <a:rPr lang="en-US" altLang="zh-CN" dirty="0"/>
              <a:t>(FPCB) </a:t>
            </a:r>
            <a:r>
              <a:rPr lang="zh-CN" altLang="en-US" dirty="0"/>
              <a:t>的复杂性。最近的研究为这一领域做出了重大贡献。 </a:t>
            </a:r>
            <a:r>
              <a:rPr lang="en-US" altLang="zh-CN" dirty="0"/>
              <a:t>Chong </a:t>
            </a:r>
            <a:r>
              <a:rPr lang="zh-CN" altLang="en-US" dirty="0"/>
              <a:t>等人 </a:t>
            </a:r>
            <a:r>
              <a:rPr lang="en-US" altLang="zh-CN" dirty="0"/>
              <a:t>37 </a:t>
            </a:r>
            <a:r>
              <a:rPr lang="zh-CN" altLang="en-US" dirty="0"/>
              <a:t>深入研究了热条件下的传热和变形方面，使用流体结构相互作用进行模拟。</a:t>
            </a:r>
            <a:r>
              <a:rPr lang="en-US" altLang="zh-CN" dirty="0"/>
              <a:t>Leong </a:t>
            </a:r>
            <a:r>
              <a:rPr lang="zh-CN" altLang="en-US" dirty="0"/>
              <a:t>等人 </a:t>
            </a:r>
            <a:r>
              <a:rPr lang="en-US" altLang="zh-CN" dirty="0"/>
              <a:t>38 </a:t>
            </a:r>
            <a:r>
              <a:rPr lang="zh-CN" altLang="en-US" dirty="0"/>
              <a:t>旨在采用先进的方法优化 </a:t>
            </a:r>
            <a:r>
              <a:rPr lang="en-US" altLang="zh-CN" dirty="0"/>
              <a:t>FPCB </a:t>
            </a:r>
            <a:r>
              <a:rPr lang="zh-CN" altLang="en-US" dirty="0"/>
              <a:t>以减轻应力和挠度。</a:t>
            </a:r>
            <a:r>
              <a:rPr lang="en-US" altLang="zh-CN" dirty="0"/>
              <a:t>Alexander 39 </a:t>
            </a:r>
            <a:r>
              <a:rPr lang="zh-CN" altLang="en-US" dirty="0"/>
              <a:t>专注于 </a:t>
            </a:r>
            <a:r>
              <a:rPr lang="en-US" altLang="zh-CN" dirty="0"/>
              <a:t>FPC </a:t>
            </a:r>
            <a:r>
              <a:rPr lang="zh-CN" altLang="en-US" dirty="0"/>
              <a:t>的机械可靠性，特别是在动态环境中，将疲劳测试与计算分析相结合。</a:t>
            </a:r>
            <a:r>
              <a:rPr lang="en-US" altLang="zh-CN" dirty="0"/>
              <a:t>Liu </a:t>
            </a:r>
            <a:r>
              <a:rPr lang="zh-CN" altLang="en-US" dirty="0"/>
              <a:t>等人 </a:t>
            </a:r>
            <a:r>
              <a:rPr lang="en-US" altLang="zh-CN" dirty="0"/>
              <a:t>40 </a:t>
            </a:r>
            <a:r>
              <a:rPr lang="zh-CN" altLang="en-US" dirty="0"/>
              <a:t>研究了影响 </a:t>
            </a:r>
            <a:r>
              <a:rPr lang="en-US" altLang="zh-CN" dirty="0"/>
              <a:t>FPC </a:t>
            </a:r>
            <a:r>
              <a:rPr lang="zh-CN" altLang="en-US" dirty="0"/>
              <a:t>弯曲的因素，揭示了为材料和设计选择提供了重要见解。</a:t>
            </a:r>
            <a:r>
              <a:rPr lang="en-US" altLang="zh-CN" dirty="0"/>
              <a:t>Zhang </a:t>
            </a:r>
            <a:r>
              <a:rPr lang="zh-CN" altLang="en-US" dirty="0"/>
              <a:t>等人 </a:t>
            </a:r>
            <a:r>
              <a:rPr lang="en-US" altLang="zh-CN" dirty="0"/>
              <a:t>41 </a:t>
            </a:r>
            <a:r>
              <a:rPr lang="zh-CN" altLang="en-US" dirty="0"/>
              <a:t>探索了高加速度下刚挠结合 </a:t>
            </a:r>
            <a:r>
              <a:rPr lang="en-US" altLang="zh-CN" dirty="0"/>
              <a:t>PCB </a:t>
            </a:r>
            <a:r>
              <a:rPr lang="zh-CN" altLang="en-US" dirty="0"/>
              <a:t>的可靠性，揭示了应力动力学。</a:t>
            </a:r>
            <a:r>
              <a:rPr lang="en-US" altLang="zh-CN" dirty="0"/>
              <a:t>Lall </a:t>
            </a:r>
            <a:r>
              <a:rPr lang="zh-CN" altLang="en-US" dirty="0"/>
              <a:t>等人 </a:t>
            </a:r>
            <a:r>
              <a:rPr lang="en-US" altLang="zh-CN" dirty="0"/>
              <a:t>42 </a:t>
            </a:r>
            <a:r>
              <a:rPr lang="zh-CN" altLang="en-US" dirty="0"/>
              <a:t>研究了焊接过程中的变形挑战，而 </a:t>
            </a:r>
            <a:r>
              <a:rPr lang="en-US" altLang="zh-CN" dirty="0"/>
              <a:t>Muhammad </a:t>
            </a:r>
            <a:r>
              <a:rPr lang="zh-CN" altLang="en-US" dirty="0"/>
              <a:t>等人 </a:t>
            </a:r>
            <a:r>
              <a:rPr lang="en-US" altLang="zh-CN" dirty="0"/>
              <a:t>43 </a:t>
            </a:r>
            <a:r>
              <a:rPr lang="zh-CN" altLang="en-US" dirty="0"/>
              <a:t>评估了 </a:t>
            </a:r>
            <a:r>
              <a:rPr lang="en-US" altLang="zh-CN" dirty="0"/>
              <a:t>FPCB </a:t>
            </a:r>
            <a:r>
              <a:rPr lang="zh-CN" altLang="en-US" dirty="0"/>
              <a:t>的焊接后可靠性，强调了制造复杂性。这些研究共同促进了对微电子领域 </a:t>
            </a:r>
            <a:r>
              <a:rPr lang="en-US" altLang="zh-CN" dirty="0"/>
              <a:t>FPCB </a:t>
            </a:r>
            <a:r>
              <a:rPr lang="zh-CN" altLang="en-US" dirty="0"/>
              <a:t>的理解和设计。这项研究解决了理解和应用 </a:t>
            </a:r>
            <a:r>
              <a:rPr lang="en-US" altLang="zh-CN" dirty="0"/>
              <a:t>FPC </a:t>
            </a:r>
            <a:r>
              <a:rPr lang="zh-CN" altLang="en-US" dirty="0"/>
              <a:t>变形的关键差距。我们对不同条件下的 </a:t>
            </a:r>
            <a:r>
              <a:rPr lang="en-US" altLang="zh-CN" dirty="0"/>
              <a:t>FPC </a:t>
            </a:r>
            <a:r>
              <a:rPr lang="zh-CN" altLang="en-US" dirty="0"/>
              <a:t>曲率进行了广泛分析，这是以前研究不足的领域。我们的方法结合了使用 </a:t>
            </a:r>
            <a:r>
              <a:rPr lang="en-US" altLang="zh-CN" dirty="0"/>
              <a:t>Abaqus 2020 </a:t>
            </a:r>
            <a:r>
              <a:rPr lang="zh-CN" altLang="en-US" dirty="0"/>
              <a:t>进行变形行为分析的有限元法 </a:t>
            </a:r>
            <a:r>
              <a:rPr lang="en-US" altLang="zh-CN" dirty="0"/>
              <a:t>(FEM) </a:t>
            </a:r>
            <a:r>
              <a:rPr lang="zh-CN" altLang="en-US" dirty="0"/>
              <a:t>模拟和高级数学建模来检查 </a:t>
            </a:r>
            <a:r>
              <a:rPr lang="en-US" altLang="zh-CN" dirty="0"/>
              <a:t>FPC </a:t>
            </a:r>
            <a:r>
              <a:rPr lang="zh-CN" altLang="en-US" dirty="0"/>
              <a:t>上的曲率和空间分离。在我们的研究中，我们采用了雅可比矩阵迭代法，大大提高了预测 </a:t>
            </a:r>
            <a:r>
              <a:rPr lang="en-US" altLang="zh-CN" dirty="0"/>
              <a:t>FPC </a:t>
            </a:r>
            <a:r>
              <a:rPr lang="zh-CN" altLang="en-US" dirty="0"/>
              <a:t>曲率的精度。我们的发现对 </a:t>
            </a:r>
            <a:r>
              <a:rPr lang="en-US" altLang="zh-CN" dirty="0"/>
              <a:t>FPC </a:t>
            </a:r>
            <a:r>
              <a:rPr lang="zh-CN" altLang="en-US" dirty="0"/>
              <a:t>的设计和制造具有重要意义。它们强调了在 </a:t>
            </a:r>
            <a:r>
              <a:rPr lang="en-US" altLang="zh-CN" dirty="0"/>
              <a:t>FPC </a:t>
            </a:r>
            <a:r>
              <a:rPr lang="zh-CN" altLang="en-US" dirty="0"/>
              <a:t>和相邻组件之间保持自由接触空间以及优化曲率的必要性。这种方法对于防止机械应力、散热效率低下和物理损坏等问题至关重要，这些问题都会对电路功能和整体设备可靠性产生不利影响。此外，我们的研究确定了 </a:t>
            </a:r>
            <a:r>
              <a:rPr lang="en-US" altLang="zh-CN" dirty="0"/>
              <a:t>FPC </a:t>
            </a:r>
            <a:r>
              <a:rPr lang="zh-CN" altLang="en-US" dirty="0"/>
              <a:t>的理想长度，以最大限度地减少最大曲率，从而实现灵活性、结构完整性和可靠性之间的平衡。总之，我们的研究标志着 </a:t>
            </a:r>
            <a:r>
              <a:rPr lang="en-US" altLang="zh-CN" dirty="0"/>
              <a:t>FPC </a:t>
            </a:r>
            <a:r>
              <a:rPr lang="zh-CN" altLang="en-US" dirty="0"/>
              <a:t>研究的重大进步，提供了新的见解和方法。它旨在提高对各种条件下 </a:t>
            </a:r>
            <a:r>
              <a:rPr lang="en-US" altLang="zh-CN" dirty="0"/>
              <a:t>FPC </a:t>
            </a:r>
            <a:r>
              <a:rPr lang="zh-CN" altLang="en-US" dirty="0"/>
              <a:t>行为的理解，为未来的 </a:t>
            </a:r>
            <a:r>
              <a:rPr lang="en-US" altLang="zh-CN" dirty="0"/>
              <a:t>FPC </a:t>
            </a:r>
            <a:r>
              <a:rPr lang="zh-CN" altLang="en-US" dirty="0"/>
              <a:t>设计和应用增强奠定基础，为电子设计和制造领域的设备寿命和性能做出重大贡献。</a:t>
            </a:r>
            <a:endParaRPr lang="en-US" altLang="zh-CN" dirty="0"/>
          </a:p>
          <a:p>
            <a:endParaRPr lang="en-US" altLang="zh-CN" dirty="0"/>
          </a:p>
          <a:p>
            <a:endParaRPr lang="en-US" altLang="zh-CN" dirty="0"/>
          </a:p>
          <a:p>
            <a:endParaRPr lang="en-US" altLang="zh-CN" dirty="0"/>
          </a:p>
          <a:p>
            <a:endParaRPr lang="en-US" altLang="zh-CN" dirty="0"/>
          </a:p>
          <a:p>
            <a:r>
              <a:rPr lang="zh-CN" altLang="en-US" dirty="0"/>
              <a:t>图 </a:t>
            </a:r>
            <a:r>
              <a:rPr lang="en-US" altLang="zh-CN" dirty="0"/>
              <a:t>1. </a:t>
            </a:r>
            <a:r>
              <a:rPr lang="zh-CN" altLang="en-US" dirty="0"/>
              <a:t>基于液态金属的个性化柔性印刷电子产品。“可植入设备”：液态金属神经连接 </a:t>
            </a:r>
            <a:r>
              <a:rPr lang="en-US" altLang="zh-CN" dirty="0"/>
              <a:t>[35] (https://arxiv.org/abs/1404.5931)</a:t>
            </a:r>
            <a:r>
              <a:rPr lang="zh-CN" altLang="en-US" dirty="0"/>
              <a:t>；可注射 </a:t>
            </a:r>
            <a:r>
              <a:rPr lang="en-US" altLang="zh-CN" dirty="0"/>
              <a:t>3D </a:t>
            </a:r>
            <a:r>
              <a:rPr lang="zh-CN" altLang="en-US" dirty="0"/>
              <a:t>生物电极 </a:t>
            </a:r>
            <a:r>
              <a:rPr lang="en-US" altLang="zh-CN" dirty="0"/>
              <a:t>[54]</a:t>
            </a:r>
            <a:r>
              <a:rPr lang="zh-CN" altLang="en-US" dirty="0"/>
              <a:t>（经 </a:t>
            </a:r>
            <a:r>
              <a:rPr lang="en-US" altLang="zh-CN" dirty="0"/>
              <a:t>Jin, C.; Liu, J. et al. </a:t>
            </a:r>
            <a:r>
              <a:rPr lang="zh-CN" altLang="en-US" dirty="0"/>
              <a:t>许可转载，在目标生物组织中可注射 </a:t>
            </a:r>
            <a:r>
              <a:rPr lang="en-US" altLang="zh-CN" dirty="0"/>
              <a:t>3D </a:t>
            </a:r>
            <a:r>
              <a:rPr lang="zh-CN" altLang="en-US" dirty="0"/>
              <a:t>制造医疗电子产品；由 </a:t>
            </a:r>
            <a:r>
              <a:rPr lang="en-US" altLang="zh-CN" dirty="0"/>
              <a:t>Scientific Reports </a:t>
            </a:r>
            <a:r>
              <a:rPr lang="zh-CN" altLang="en-US" dirty="0"/>
              <a:t>于 </a:t>
            </a:r>
            <a:r>
              <a:rPr lang="en-US" altLang="zh-CN" dirty="0"/>
              <a:t>2013 </a:t>
            </a:r>
            <a:r>
              <a:rPr lang="zh-CN" altLang="en-US" dirty="0"/>
              <a:t>年发表。）；液态金属重连神经的电生理测量 </a:t>
            </a:r>
            <a:r>
              <a:rPr lang="en-US" altLang="zh-CN" dirty="0"/>
              <a:t>[36]</a:t>
            </a:r>
            <a:r>
              <a:rPr lang="zh-CN" altLang="en-US" dirty="0"/>
              <a:t>；“电皮肤”：人体上的液态金属电路 </a:t>
            </a:r>
            <a:r>
              <a:rPr lang="en-US" altLang="zh-CN" dirty="0"/>
              <a:t>[55]</a:t>
            </a:r>
            <a:r>
              <a:rPr lang="zh-CN" altLang="en-US" dirty="0"/>
              <a:t>（经 </a:t>
            </a:r>
            <a:r>
              <a:rPr lang="en-US" altLang="zh-CN" dirty="0"/>
              <a:t>Guo, C.; Liu, J. et al. </a:t>
            </a:r>
            <a:r>
              <a:rPr lang="zh-CN" altLang="en-US" dirty="0"/>
              <a:t>许可转载，通过液态金属喷涂和预先设计的掩模在皮肤基底上快速图案化导电元件作为生理测试设备；由 </a:t>
            </a:r>
            <a:r>
              <a:rPr lang="en-US" altLang="zh-CN" dirty="0"/>
              <a:t>Journal of </a:t>
            </a:r>
            <a:r>
              <a:rPr lang="en-US" altLang="zh-CN" dirty="0" err="1"/>
              <a:t>Mterials</a:t>
            </a:r>
            <a:r>
              <a:rPr lang="en-US" altLang="zh-CN" dirty="0"/>
              <a:t> Chemistry B </a:t>
            </a:r>
            <a:r>
              <a:rPr lang="zh-CN" altLang="en-US" dirty="0"/>
              <a:t>于 </a:t>
            </a:r>
            <a:r>
              <a:rPr lang="en-US" altLang="zh-CN" dirty="0"/>
              <a:t>2014 </a:t>
            </a:r>
            <a:r>
              <a:rPr lang="zh-CN" altLang="en-US" dirty="0"/>
              <a:t>年发表。）；人体皮肤上的液态金属标签 </a:t>
            </a:r>
            <a:r>
              <a:rPr lang="en-US" altLang="zh-CN" dirty="0"/>
              <a:t>[56]</a:t>
            </a:r>
            <a:r>
              <a:rPr lang="zh-CN" altLang="en-US" dirty="0"/>
              <a:t>（经 </a:t>
            </a:r>
            <a:r>
              <a:rPr lang="en-US" altLang="zh-CN" dirty="0"/>
              <a:t>Jeong, S.H.; Wu, Z. et al., Liquid Alloy Printing of Microfluidic Stable Electronics </a:t>
            </a:r>
            <a:r>
              <a:rPr lang="zh-CN" altLang="en-US" dirty="0"/>
              <a:t>许可转载；</a:t>
            </a:r>
            <a:r>
              <a:rPr lang="en-US" altLang="zh-CN" dirty="0"/>
              <a:t>Lab on a Chip</a:t>
            </a:r>
            <a:r>
              <a:rPr lang="zh-CN" altLang="en-US" dirty="0"/>
              <a:t>，</a:t>
            </a:r>
            <a:r>
              <a:rPr lang="en-US" altLang="zh-CN" dirty="0"/>
              <a:t>2012 </a:t>
            </a:r>
            <a:r>
              <a:rPr lang="zh-CN" altLang="en-US" dirty="0"/>
              <a:t>年出版）；通过液态金属电极进行心电图测试 </a:t>
            </a:r>
            <a:r>
              <a:rPr lang="en-US" altLang="zh-CN" dirty="0"/>
              <a:t>[57]</a:t>
            </a:r>
            <a:r>
              <a:rPr lang="zh-CN" altLang="en-US" dirty="0"/>
              <a:t>（经 </a:t>
            </a:r>
            <a:r>
              <a:rPr lang="en-US" altLang="zh-CN" dirty="0"/>
              <a:t>Yu, Y.; Zhang, J.; Liu, J., Biomedical Implementation of Liquid Metal Ink as Drawable ECG Electrode and Skin Circuit </a:t>
            </a:r>
            <a:r>
              <a:rPr lang="zh-CN" altLang="en-US" dirty="0"/>
              <a:t>许可转载；</a:t>
            </a:r>
            <a:r>
              <a:rPr lang="en-US" altLang="zh-CN" dirty="0" err="1"/>
              <a:t>PLoS</a:t>
            </a:r>
            <a:r>
              <a:rPr lang="en-US" altLang="zh-CN" dirty="0"/>
              <a:t> ONE</a:t>
            </a:r>
            <a:r>
              <a:rPr lang="zh-CN" altLang="en-US" dirty="0"/>
              <a:t>，</a:t>
            </a:r>
            <a:r>
              <a:rPr lang="en-US" altLang="zh-CN" dirty="0"/>
              <a:t>2013 </a:t>
            </a:r>
            <a:r>
              <a:rPr lang="zh-CN" altLang="en-US" dirty="0"/>
              <a:t>年出版）；“可穿戴生物电子学”：液态金属腕带 </a:t>
            </a:r>
            <a:r>
              <a:rPr lang="en-US" altLang="zh-CN" dirty="0"/>
              <a:t>[58]</a:t>
            </a:r>
            <a:r>
              <a:rPr lang="zh-CN" altLang="en-US" dirty="0"/>
              <a:t>（经 </a:t>
            </a:r>
            <a:r>
              <a:rPr lang="en-US" altLang="zh-CN" dirty="0"/>
              <a:t>Wang, Q.; Yu, Y.; Yang, J.; Liu, J., Fast Fabrication of Flexible Functional Circuits based on Liquid Metal Dual-Trans Printing </a:t>
            </a:r>
            <a:r>
              <a:rPr lang="zh-CN" altLang="en-US" dirty="0"/>
              <a:t>许可转载；</a:t>
            </a:r>
            <a:r>
              <a:rPr lang="en-US" altLang="zh-CN" dirty="0"/>
              <a:t>Advanced Material</a:t>
            </a:r>
            <a:r>
              <a:rPr lang="zh-CN" altLang="en-US" dirty="0"/>
              <a:t>，</a:t>
            </a:r>
            <a:r>
              <a:rPr lang="en-US" altLang="zh-CN" dirty="0"/>
              <a:t>2015 </a:t>
            </a:r>
            <a:r>
              <a:rPr lang="zh-CN" altLang="en-US" dirty="0"/>
              <a:t>年出版）；可穿戴数据手套 </a:t>
            </a:r>
            <a:r>
              <a:rPr lang="en-US" altLang="zh-CN" dirty="0"/>
              <a:t>[59]</a:t>
            </a:r>
            <a:r>
              <a:rPr lang="zh-CN" altLang="en-US" dirty="0"/>
              <a:t>（经 </a:t>
            </a:r>
            <a:r>
              <a:rPr lang="en-US" altLang="zh-CN" dirty="0"/>
              <a:t>Matsuzaki, R.; </a:t>
            </a:r>
            <a:r>
              <a:rPr lang="en-US" altLang="zh-CN" dirty="0" err="1"/>
              <a:t>Tabayashi</a:t>
            </a:r>
            <a:r>
              <a:rPr lang="en-US" altLang="zh-CN" dirty="0"/>
              <a:t>, K. </a:t>
            </a:r>
            <a:r>
              <a:rPr lang="zh-CN" altLang="en-US" dirty="0"/>
              <a:t>许可转载，用于可穿戴电子产品的高拉伸、全局和分布式局部应变传感线，使用增益电极；</a:t>
            </a:r>
            <a:r>
              <a:rPr lang="en-US" altLang="zh-CN" dirty="0"/>
              <a:t>Advanced Functional Material</a:t>
            </a:r>
            <a:r>
              <a:rPr lang="zh-CN" altLang="en-US" dirty="0"/>
              <a:t>，</a:t>
            </a:r>
            <a:r>
              <a:rPr lang="en-US" altLang="zh-CN" dirty="0"/>
              <a:t>2015 </a:t>
            </a:r>
            <a:r>
              <a:rPr lang="zh-CN" altLang="en-US" dirty="0"/>
              <a:t>年出版）；鞋类嵌入式微流体能量收集 </a:t>
            </a:r>
            <a:r>
              <a:rPr lang="en-US" altLang="zh-CN" dirty="0"/>
              <a:t>[60]</a:t>
            </a:r>
            <a:r>
              <a:rPr lang="zh-CN" altLang="en-US" dirty="0"/>
              <a:t>（经 </a:t>
            </a:r>
            <a:r>
              <a:rPr lang="en-US" altLang="zh-CN" dirty="0" err="1"/>
              <a:t>Krupenkin</a:t>
            </a:r>
            <a:r>
              <a:rPr lang="en-US" altLang="zh-CN" dirty="0"/>
              <a:t>, T.; Taylor, J.A. </a:t>
            </a:r>
            <a:r>
              <a:rPr lang="zh-CN" altLang="en-US" dirty="0"/>
              <a:t>许可转载，反向电润湿作为高功率能量收集的新方法；</a:t>
            </a:r>
            <a:r>
              <a:rPr lang="en-US" altLang="zh-CN" dirty="0"/>
              <a:t>Nature Communication</a:t>
            </a:r>
            <a:r>
              <a:rPr lang="zh-CN" altLang="en-US" dirty="0"/>
              <a:t>，</a:t>
            </a:r>
            <a:r>
              <a:rPr lang="en-US" altLang="zh-CN" dirty="0"/>
              <a:t>2011 </a:t>
            </a:r>
            <a:r>
              <a:rPr lang="zh-CN" altLang="en-US" dirty="0"/>
              <a:t>年出版）目前主要以镓及其合金为代表，具有电阻率高、弯曲性强、粘附性低、表面张力大等特性，在当代电子学中，柔性印刷电路 </a:t>
            </a:r>
            <a:r>
              <a:rPr lang="en-US" altLang="zh-CN" dirty="0"/>
              <a:t>(FPC) </a:t>
            </a:r>
            <a:r>
              <a:rPr lang="zh-CN" altLang="en-US" dirty="0"/>
              <a:t>已成为关键，改变了电子设备的设计和功能 </a:t>
            </a:r>
            <a:r>
              <a:rPr lang="en-US" altLang="zh-CN" dirty="0"/>
              <a:t>1,2,3</a:t>
            </a:r>
            <a:r>
              <a:rPr lang="zh-CN" altLang="en-US" dirty="0"/>
              <a:t>。这些电路超越了传统的刚性柔性印刷电路板 </a:t>
            </a:r>
            <a:r>
              <a:rPr lang="en-US" altLang="zh-CN" dirty="0"/>
              <a:t>(PCB)</a:t>
            </a:r>
            <a:r>
              <a:rPr lang="zh-CN" altLang="en-US" dirty="0"/>
              <a:t>，由于采用聚酰亚胺等柔韧的高质量材料构造，因此具有无与伦比的灵活性和适应性。它们能够折叠或扭曲成小空间或不规则空间，从而提高了在物理压力下的耐用性。</a:t>
            </a:r>
            <a:r>
              <a:rPr lang="en-US" altLang="zh-CN" dirty="0"/>
              <a:t>FPC </a:t>
            </a:r>
            <a:r>
              <a:rPr lang="zh-CN" altLang="en-US" dirty="0"/>
              <a:t>的空间和重量效率特别有利，可将多个刚性板和线路整合成更轻、更紧凑的组件 </a:t>
            </a:r>
            <a:r>
              <a:rPr lang="en-US" altLang="zh-CN" dirty="0"/>
              <a:t>4</a:t>
            </a:r>
            <a:r>
              <a:rPr lang="zh-CN" altLang="en-US" dirty="0"/>
              <a:t>、</a:t>
            </a:r>
            <a:r>
              <a:rPr lang="en-US" altLang="zh-CN" dirty="0"/>
              <a:t>5</a:t>
            </a:r>
            <a:r>
              <a:rPr lang="zh-CN" altLang="en-US" dirty="0"/>
              <a:t>、</a:t>
            </a:r>
            <a:r>
              <a:rPr lang="en-US" altLang="zh-CN" dirty="0"/>
              <a:t>6</a:t>
            </a:r>
            <a:r>
              <a:rPr lang="zh-CN" altLang="en-US" dirty="0"/>
              <a:t>。这在航空航天、可穿戴技术和移动设备等必须减少空间和重量的领域至关重要。此外，它们固有的灵活性使它们可用于动态应用，而不会牺牲电路性能或完整性。它们的应用涵盖各个行业，如图 </a:t>
            </a:r>
            <a:r>
              <a:rPr lang="en-US" altLang="zh-CN" dirty="0"/>
              <a:t>17 </a:t>
            </a:r>
            <a:r>
              <a:rPr lang="zh-CN" altLang="en-US" dirty="0"/>
              <a:t>所示。在医疗领域，</a:t>
            </a:r>
            <a:r>
              <a:rPr lang="en-US" altLang="zh-CN" dirty="0"/>
              <a:t>FPC </a:t>
            </a:r>
            <a:r>
              <a:rPr lang="zh-CN" altLang="en-US" dirty="0"/>
              <a:t>有助于实现传感器和植入物等紧凑、灵活的设备，从而提高患者的舒适度和效率 </a:t>
            </a:r>
            <a:r>
              <a:rPr lang="en-US" altLang="zh-CN" dirty="0"/>
              <a:t>8</a:t>
            </a:r>
            <a:r>
              <a:rPr lang="zh-CN" altLang="en-US" dirty="0"/>
              <a:t>、</a:t>
            </a:r>
            <a:r>
              <a:rPr lang="en-US" altLang="zh-CN" dirty="0"/>
              <a:t>9</a:t>
            </a:r>
            <a:r>
              <a:rPr lang="zh-CN" altLang="en-US" dirty="0"/>
              <a:t>、</a:t>
            </a:r>
            <a:r>
              <a:rPr lang="en-US" altLang="zh-CN" dirty="0"/>
              <a:t>10</a:t>
            </a:r>
            <a:r>
              <a:rPr lang="zh-CN" altLang="en-US" dirty="0"/>
              <a:t>、</a:t>
            </a:r>
            <a:r>
              <a:rPr lang="en-US" altLang="zh-CN" dirty="0"/>
              <a:t>11</a:t>
            </a:r>
            <a:r>
              <a:rPr lang="zh-CN" altLang="en-US" dirty="0"/>
              <a:t>。汽车行业将它们用于仪表板显示器和传感器网络等系统中，看重它们对振动和温度变化的抵抗力。在消费电子产品中，</a:t>
            </a:r>
            <a:r>
              <a:rPr lang="en-US" altLang="zh-CN" dirty="0"/>
              <a:t>FPC </a:t>
            </a:r>
            <a:r>
              <a:rPr lang="zh-CN" altLang="en-US" dirty="0"/>
              <a:t>是智能手机、平板电脑和笔记本电脑实现轻薄化的关键</a:t>
            </a:r>
            <a:r>
              <a:rPr lang="en-US" altLang="zh-CN" dirty="0"/>
              <a:t>12</a:t>
            </a:r>
            <a:r>
              <a:rPr lang="zh-CN" altLang="en-US" dirty="0"/>
              <a:t>、</a:t>
            </a:r>
            <a:r>
              <a:rPr lang="en-US" altLang="zh-CN" dirty="0"/>
              <a:t>13</a:t>
            </a:r>
            <a:r>
              <a:rPr lang="zh-CN" altLang="en-US" dirty="0"/>
              <a:t>、</a:t>
            </a:r>
            <a:r>
              <a:rPr lang="en-US" altLang="zh-CN" dirty="0"/>
              <a:t>14</a:t>
            </a:r>
            <a:r>
              <a:rPr lang="zh-CN" altLang="en-US" dirty="0"/>
              <a:t>、</a:t>
            </a:r>
            <a:r>
              <a:rPr lang="en-US" altLang="zh-CN" dirty="0"/>
              <a:t>15</a:t>
            </a:r>
            <a:r>
              <a:rPr lang="zh-CN" altLang="en-US" dirty="0"/>
              <a:t>。此外，它们也是新兴柔性和可穿戴电子产品领域的核心，可实现符合人体工程学设计和人体运动的创新设备</a:t>
            </a:r>
            <a:r>
              <a:rPr lang="en-US" altLang="zh-CN" dirty="0"/>
              <a:t>16</a:t>
            </a:r>
            <a:r>
              <a:rPr lang="zh-CN" altLang="en-US" dirty="0"/>
              <a:t>、</a:t>
            </a:r>
            <a:r>
              <a:rPr lang="en-US" altLang="zh-CN" dirty="0"/>
              <a:t>17</a:t>
            </a:r>
            <a:r>
              <a:rPr lang="zh-CN" altLang="en-US" dirty="0"/>
              <a:t>、</a:t>
            </a:r>
            <a:r>
              <a:rPr lang="en-US" altLang="zh-CN" dirty="0"/>
              <a:t>18</a:t>
            </a:r>
            <a:r>
              <a:rPr lang="zh-CN" altLang="en-US" dirty="0"/>
              <a:t>、</a:t>
            </a:r>
            <a:r>
              <a:rPr lang="en-US" altLang="zh-CN" dirty="0"/>
              <a:t>19</a:t>
            </a:r>
            <a:r>
              <a:rPr lang="zh-CN" altLang="en-US" dirty="0"/>
              <a:t>、</a:t>
            </a:r>
            <a:r>
              <a:rPr lang="en-US" altLang="zh-CN" dirty="0"/>
              <a:t>20</a:t>
            </a:r>
            <a:r>
              <a:rPr lang="zh-CN" altLang="en-US" dirty="0"/>
              <a:t>。</a:t>
            </a:r>
          </a:p>
        </p:txBody>
      </p:sp>
      <p:sp>
        <p:nvSpPr>
          <p:cNvPr id="4" name="灯片编号占位符 3">
            <a:extLst>
              <a:ext uri="{FF2B5EF4-FFF2-40B4-BE49-F238E27FC236}">
                <a16:creationId xmlns:a16="http://schemas.microsoft.com/office/drawing/2014/main" id="{DD140895-DA47-A9A3-BF8B-CF371F74E2D8}"/>
              </a:ext>
            </a:extLst>
          </p:cNvPr>
          <p:cNvSpPr>
            <a:spLocks noGrp="1"/>
          </p:cNvSpPr>
          <p:nvPr>
            <p:ph type="sldNum" sz="quarter" idx="5"/>
          </p:nvPr>
        </p:nvSpPr>
        <p:spPr/>
        <p:txBody>
          <a:bodyPr/>
          <a:lstStyle/>
          <a:p>
            <a:fld id="{84918B77-9CB1-4C48-BED5-B02F24F09A98}" type="slidenum">
              <a:rPr lang="zh-CN" altLang="en-US" smtClean="0"/>
              <a:t>30</a:t>
            </a:fld>
            <a:endParaRPr lang="zh-CN" altLang="en-US"/>
          </a:p>
        </p:txBody>
      </p:sp>
    </p:spTree>
    <p:extLst>
      <p:ext uri="{BB962C8B-B14F-4D97-AF65-F5344CB8AC3E}">
        <p14:creationId xmlns:p14="http://schemas.microsoft.com/office/powerpoint/2010/main" val="391055413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F5690-9445-B833-EAD6-69CD4AD065D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B4ACBF5-9056-4F3A-6EBC-AA97875F636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668B24F-4895-7AB0-944A-3C0645751757}"/>
              </a:ext>
            </a:extLst>
          </p:cNvPr>
          <p:cNvSpPr>
            <a:spLocks noGrp="1"/>
          </p:cNvSpPr>
          <p:nvPr>
            <p:ph type="body" idx="1"/>
          </p:nvPr>
        </p:nvSpPr>
        <p:spPr/>
        <p:txBody>
          <a:bodyPr/>
          <a:lstStyle/>
          <a:p>
            <a:endParaRPr lang="en-US" altLang="zh-CN" dirty="0"/>
          </a:p>
          <a:p>
            <a:r>
              <a:rPr lang="zh-CN" altLang="en-US" dirty="0"/>
              <a:t>印刷电子是基于印刷原理制造电子设备的技术</a:t>
            </a:r>
            <a:r>
              <a:rPr lang="en-US" altLang="zh-CN" dirty="0"/>
              <a:t>[1]</a:t>
            </a:r>
            <a:r>
              <a:rPr lang="zh-CN" altLang="en-US" dirty="0"/>
              <a:t>。与传统印刷技术不同，印刷机中使用的油墨是具有导电、介电、半导体或磁性的电子材料。印刷电子与有机电子、塑料电子、柔性电子和纸电子等多个领域密切相关</a:t>
            </a:r>
            <a:r>
              <a:rPr lang="en-US" altLang="zh-CN" dirty="0"/>
              <a:t>[2]</a:t>
            </a:r>
            <a:r>
              <a:rPr lang="zh-CN" altLang="en-US" dirty="0"/>
              <a:t>，这意味着不仅可以在硅和玻璃上印刷电路，还可以在塑料、纸张和更柔性的基板上印刷电路。生产柔性电子产品的方法之一是将导电材料直接印刷到柔性基板上。经典的柔性电子是指将有机</a:t>
            </a:r>
            <a:r>
              <a:rPr lang="en-US" altLang="zh-CN" dirty="0"/>
              <a:t>/</a:t>
            </a:r>
            <a:r>
              <a:rPr lang="zh-CN" altLang="en-US" dirty="0"/>
              <a:t>无机电子器件沉积在柔性基板上形成电路的技术</a:t>
            </a:r>
            <a:r>
              <a:rPr lang="en-US" altLang="zh-CN" dirty="0"/>
              <a:t>[3]</a:t>
            </a:r>
            <a:r>
              <a:rPr lang="zh-CN" altLang="en-US" dirty="0"/>
              <a:t>。虽然刚性电路板可以保护电子元件免受损坏，但它限制了电子产品的延展性和柔韧性。柔性电子具有柔软、延展性好、制造成本低等优点，可在信息、能源、医学和国防技术领域提供智能传感器、执行器、柔性显示器、有机发光二极管 </a:t>
            </a:r>
            <a:r>
              <a:rPr lang="en-US" altLang="zh-CN" dirty="0"/>
              <a:t>(OLED) </a:t>
            </a:r>
            <a:r>
              <a:rPr lang="zh-CN" altLang="en-US" dirty="0"/>
              <a:t>等。与传统的刚性微电子相比，柔性电子最显著的特点是其柔韧性，这使得它们可拉伸、保形、便携、可穿戴，并易于快速打印 </a:t>
            </a:r>
            <a:r>
              <a:rPr lang="en-US" altLang="zh-CN" dirty="0"/>
              <a:t>[4,5,6,7,8]</a:t>
            </a:r>
            <a:r>
              <a:rPr lang="zh-CN" altLang="en-US" dirty="0"/>
              <a:t>。由于柔性电子在电气、可打印、生物医学和传感特性方面的独特优势，它可以在电子元件 </a:t>
            </a:r>
            <a:r>
              <a:rPr lang="en-US" altLang="zh-CN" dirty="0"/>
              <a:t>[9]</a:t>
            </a:r>
            <a:r>
              <a:rPr lang="zh-CN" altLang="en-US" dirty="0"/>
              <a:t>、打印技术、植入式设备 </a:t>
            </a:r>
            <a:r>
              <a:rPr lang="en-US" altLang="zh-CN" dirty="0"/>
              <a:t>[10] </a:t>
            </a:r>
            <a:r>
              <a:rPr lang="zh-CN" altLang="en-US" dirty="0"/>
              <a:t>和健康监测器 </a:t>
            </a:r>
            <a:r>
              <a:rPr lang="en-US" altLang="zh-CN" dirty="0"/>
              <a:t>[11] </a:t>
            </a:r>
            <a:r>
              <a:rPr lang="zh-CN" altLang="en-US" dirty="0"/>
              <a:t>等领域得到广泛应用，具体用途包括天线 </a:t>
            </a:r>
            <a:r>
              <a:rPr lang="en-US" altLang="zh-CN" dirty="0"/>
              <a:t>[12]</a:t>
            </a:r>
            <a:r>
              <a:rPr lang="zh-CN" altLang="en-US" dirty="0"/>
              <a:t>、眼球摄像头 </a:t>
            </a:r>
            <a:r>
              <a:rPr lang="en-US" altLang="zh-CN" dirty="0"/>
              <a:t>[13] </a:t>
            </a:r>
            <a:r>
              <a:rPr lang="zh-CN" altLang="en-US" dirty="0"/>
              <a:t>和压力传感器 </a:t>
            </a:r>
            <a:r>
              <a:rPr lang="en-US" altLang="zh-CN" dirty="0"/>
              <a:t>[14] </a:t>
            </a:r>
            <a:r>
              <a:rPr lang="zh-CN" altLang="en-US" dirty="0"/>
              <a:t>等。如今，人们已采用两种常见策略来提高电子产品的柔软度 </a:t>
            </a:r>
            <a:r>
              <a:rPr lang="en-US" altLang="zh-CN" dirty="0"/>
              <a:t>[15]</a:t>
            </a:r>
            <a:r>
              <a:rPr lang="zh-CN" altLang="en-US" dirty="0"/>
              <a:t>。一种是将坚硬的导电材料嵌入到可拉伸的基底上，例如聚二甲基硅氧烷 </a:t>
            </a:r>
            <a:r>
              <a:rPr lang="en-US" altLang="zh-CN" dirty="0"/>
              <a:t>(PDMS)</a:t>
            </a:r>
            <a:r>
              <a:rPr lang="zh-CN" altLang="en-US" dirty="0"/>
              <a:t>。</a:t>
            </a:r>
            <a:r>
              <a:rPr lang="en-US" altLang="zh-CN" dirty="0"/>
              <a:t>Rogers </a:t>
            </a:r>
            <a:r>
              <a:rPr lang="zh-CN" altLang="en-US" dirty="0"/>
              <a:t>等人引入了一种复杂的波浪结构来保持电路的可拉伸性，当应力作用于柔软的基底上时，它可以吸收较大的张力 </a:t>
            </a:r>
            <a:r>
              <a:rPr lang="en-US" altLang="zh-CN" dirty="0"/>
              <a:t>[16,17]</a:t>
            </a:r>
            <a:r>
              <a:rPr lang="zh-CN" altLang="en-US" dirty="0"/>
              <a:t>。另一种是使用固有可拉伸的导体来形成电路 </a:t>
            </a:r>
            <a:r>
              <a:rPr lang="en-US" altLang="zh-CN" dirty="0"/>
              <a:t>[18]</a:t>
            </a:r>
            <a:r>
              <a:rPr lang="zh-CN" altLang="en-US" dirty="0"/>
              <a:t>。</a:t>
            </a:r>
            <a:r>
              <a:rPr lang="en-US" altLang="zh-CN" dirty="0"/>
              <a:t>Russo </a:t>
            </a:r>
            <a:r>
              <a:rPr lang="zh-CN" altLang="en-US" dirty="0"/>
              <a:t>等人展示了一种使用导电银墨水连接电路的方法，这种方法可以直接在纸上书写导电文字以连接发光二极管 </a:t>
            </a:r>
            <a:r>
              <a:rPr lang="en-US" altLang="zh-CN" dirty="0"/>
              <a:t>(LED) </a:t>
            </a:r>
            <a:r>
              <a:rPr lang="zh-CN" altLang="en-US" dirty="0"/>
              <a:t>阵列和三维 </a:t>
            </a:r>
            <a:r>
              <a:rPr lang="en-US" altLang="zh-CN" dirty="0"/>
              <a:t>(3D) </a:t>
            </a:r>
            <a:r>
              <a:rPr lang="zh-CN" altLang="en-US" dirty="0"/>
              <a:t>天线 </a:t>
            </a:r>
            <a:r>
              <a:rPr lang="en-US" altLang="zh-CN" dirty="0"/>
              <a:t>[12]</a:t>
            </a:r>
            <a:r>
              <a:rPr lang="zh-CN" altLang="en-US" dirty="0"/>
              <a:t>。显然，柔性印刷电子 </a:t>
            </a:r>
            <a:r>
              <a:rPr lang="en-US" altLang="zh-CN" dirty="0"/>
              <a:t>(FPE) </a:t>
            </a:r>
            <a:r>
              <a:rPr lang="zh-CN" altLang="en-US" dirty="0"/>
              <a:t>结合了柔性电子和印刷电子的特点。通过这种方式，人们可以快速制造出功能齐全的柔性电子设备。随着印刷技术的成熟，柔性印刷已成为研究的热门话题。目前已经出现了几种典型的印刷技术，例如敲击模式印刷</a:t>
            </a:r>
            <a:r>
              <a:rPr lang="en-US" altLang="zh-CN" dirty="0"/>
              <a:t>[18]</a:t>
            </a:r>
            <a:r>
              <a:rPr lang="zh-CN" altLang="en-US" dirty="0"/>
              <a:t>、气溶胶喷射印刷、卷对卷技术</a:t>
            </a:r>
            <a:r>
              <a:rPr lang="en-US" altLang="zh-CN" dirty="0"/>
              <a:t>[19]</a:t>
            </a:r>
            <a:r>
              <a:rPr lang="zh-CN" altLang="en-US" dirty="0"/>
              <a:t>、喷墨印刷</a:t>
            </a:r>
            <a:r>
              <a:rPr lang="en-US" altLang="zh-CN" dirty="0"/>
              <a:t>[20]</a:t>
            </a:r>
            <a:r>
              <a:rPr lang="zh-CN" altLang="en-US" dirty="0"/>
              <a:t>以及微笔和刷子印刷</a:t>
            </a:r>
            <a:r>
              <a:rPr lang="en-US" altLang="zh-CN" dirty="0"/>
              <a:t>[21,22]</a:t>
            </a:r>
            <a:r>
              <a:rPr lang="zh-CN" altLang="en-US" dirty="0"/>
              <a:t>。其中，微笔也许是最简单的方法：将电墨水泵入墨盒中直接写出导电文字。这使得在 </a:t>
            </a:r>
            <a:r>
              <a:rPr lang="en-US" altLang="zh-CN" dirty="0"/>
              <a:t>A4 </a:t>
            </a:r>
            <a:r>
              <a:rPr lang="zh-CN" altLang="en-US" dirty="0"/>
              <a:t>纸上绘制电路图成为可能。微笔明显降低了电路生产的复杂性并提高了电子电路制造的效率。</a:t>
            </a:r>
            <a:r>
              <a:rPr lang="en-US" altLang="zh-CN" dirty="0"/>
              <a:t>FPE </a:t>
            </a:r>
            <a:r>
              <a:rPr lang="zh-CN" altLang="en-US" dirty="0"/>
              <a:t>在不同领域取得了重大成就，例如柔性显示设备</a:t>
            </a:r>
            <a:r>
              <a:rPr lang="en-US" altLang="zh-CN" dirty="0"/>
              <a:t>[23]</a:t>
            </a:r>
            <a:r>
              <a:rPr lang="zh-CN" altLang="en-US" dirty="0"/>
              <a:t>、薄膜太阳能电池</a:t>
            </a:r>
            <a:r>
              <a:rPr lang="en-US" altLang="zh-CN" dirty="0"/>
              <a:t>[24,25]</a:t>
            </a:r>
            <a:r>
              <a:rPr lang="zh-CN" altLang="en-US" dirty="0"/>
              <a:t>、大面积传感器和驱动器</a:t>
            </a:r>
            <a:r>
              <a:rPr lang="en-US" altLang="zh-CN" dirty="0"/>
              <a:t>[26,27]</a:t>
            </a:r>
            <a:r>
              <a:rPr lang="zh-CN" altLang="en-US" dirty="0"/>
              <a:t>、电子皮肤</a:t>
            </a:r>
            <a:r>
              <a:rPr lang="en-US" altLang="zh-CN" dirty="0"/>
              <a:t>[28]</a:t>
            </a:r>
            <a:r>
              <a:rPr lang="zh-CN" altLang="en-US" dirty="0"/>
              <a:t>、可穿戴电子和生物假肢设备</a:t>
            </a:r>
            <a:r>
              <a:rPr lang="en-US" altLang="zh-CN" dirty="0"/>
              <a:t>[29]</a:t>
            </a:r>
            <a:r>
              <a:rPr lang="zh-CN" altLang="en-US" dirty="0"/>
              <a:t>、自充电系统</a:t>
            </a:r>
            <a:r>
              <a:rPr lang="en-US" altLang="zh-CN" dirty="0"/>
              <a:t>[30]</a:t>
            </a:r>
            <a:r>
              <a:rPr lang="zh-CN" altLang="en-US" dirty="0"/>
              <a:t>、自供电无线监控</a:t>
            </a:r>
            <a:r>
              <a:rPr lang="en-US" altLang="zh-CN" dirty="0"/>
              <a:t>[31]</a:t>
            </a:r>
            <a:r>
              <a:rPr lang="zh-CN" altLang="en-US" dirty="0"/>
              <a:t>等。如果电路具有柔软性、顺应性、可拉伸性和便携性等特性，则可以称其为可弯曲电子设备。与此同时，许多实验室已经开发出具有柔性的电子设备，如弯曲显示器</a:t>
            </a:r>
            <a:r>
              <a:rPr lang="en-US" altLang="zh-CN" dirty="0"/>
              <a:t>[32]</a:t>
            </a:r>
            <a:r>
              <a:rPr lang="zh-CN" altLang="en-US" dirty="0"/>
              <a:t>、折叠电池</a:t>
            </a:r>
            <a:r>
              <a:rPr lang="en-US" altLang="zh-CN" dirty="0"/>
              <a:t>[9]</a:t>
            </a:r>
            <a:r>
              <a:rPr lang="zh-CN" altLang="en-US" dirty="0"/>
              <a:t>、软场效应晶体管</a:t>
            </a:r>
            <a:r>
              <a:rPr lang="en-US" altLang="zh-CN" dirty="0"/>
              <a:t>[33]</a:t>
            </a:r>
            <a:r>
              <a:rPr lang="zh-CN" altLang="en-US" dirty="0"/>
              <a:t>、可拉伸导线</a:t>
            </a:r>
            <a:r>
              <a:rPr lang="en-US" altLang="zh-CN" dirty="0"/>
              <a:t>[34]</a:t>
            </a:r>
            <a:r>
              <a:rPr lang="zh-CN" altLang="en-US" dirty="0"/>
              <a:t>等。</a:t>
            </a:r>
            <a:r>
              <a:rPr lang="en-US" altLang="zh-CN" dirty="0"/>
              <a:t>FPE</a:t>
            </a:r>
            <a:r>
              <a:rPr lang="zh-CN" altLang="en-US" dirty="0"/>
              <a:t>还可以用于健康监测、医学检查、生命体征检测和其他日常生活需求。柔性生物医学设备已广泛应用于植入式设备</a:t>
            </a:r>
            <a:r>
              <a:rPr lang="en-US" altLang="zh-CN" dirty="0"/>
              <a:t>[10]</a:t>
            </a:r>
            <a:r>
              <a:rPr lang="zh-CN" altLang="en-US" dirty="0"/>
              <a:t>、神经连接</a:t>
            </a:r>
            <a:r>
              <a:rPr lang="en-US" altLang="zh-CN" dirty="0"/>
              <a:t>[35,36]</a:t>
            </a:r>
            <a:r>
              <a:rPr lang="zh-CN" altLang="en-US" dirty="0"/>
              <a:t>、健康监测</a:t>
            </a:r>
            <a:r>
              <a:rPr lang="en-US" altLang="zh-CN" dirty="0"/>
              <a:t>[11]</a:t>
            </a:r>
            <a:r>
              <a:rPr lang="zh-CN" altLang="en-US" dirty="0"/>
              <a:t>和可穿戴医疗设备领域。</a:t>
            </a:r>
            <a:r>
              <a:rPr lang="en-US" altLang="zh-CN" dirty="0"/>
              <a:t>FPE</a:t>
            </a:r>
            <a:r>
              <a:rPr lang="zh-CN" altLang="en-US" dirty="0"/>
              <a:t>还用于生物传感，其中最重要的应用是电子皮肤（</a:t>
            </a:r>
            <a:r>
              <a:rPr lang="en-US" altLang="zh-CN" dirty="0"/>
              <a:t>E-skin</a:t>
            </a:r>
            <a:r>
              <a:rPr lang="zh-CN" altLang="en-US" dirty="0"/>
              <a:t>），如压力映射</a:t>
            </a:r>
            <a:r>
              <a:rPr lang="en-US" altLang="zh-CN" dirty="0"/>
              <a:t>[37]</a:t>
            </a:r>
            <a:r>
              <a:rPr lang="zh-CN" altLang="en-US" dirty="0"/>
              <a:t>、自愈传感器</a:t>
            </a:r>
            <a:r>
              <a:rPr lang="en-US" altLang="zh-CN" dirty="0"/>
              <a:t>[38]</a:t>
            </a:r>
            <a:r>
              <a:rPr lang="zh-CN" altLang="en-US" dirty="0"/>
              <a:t>、假肢</a:t>
            </a:r>
            <a:r>
              <a:rPr lang="en-US" altLang="zh-CN" dirty="0"/>
              <a:t>[39]</a:t>
            </a:r>
            <a:r>
              <a:rPr lang="zh-CN" altLang="en-US" dirty="0"/>
              <a:t>、压力传感器</a:t>
            </a:r>
            <a:r>
              <a:rPr lang="en-US" altLang="zh-CN" dirty="0"/>
              <a:t>[14]</a:t>
            </a:r>
            <a:r>
              <a:rPr lang="zh-CN" altLang="en-US" dirty="0"/>
              <a:t>等。许多研究机构正在研究应用于柔性电子皮肤的不同材料。在鲍哲南的实验室，他们发明了一种受皮肤启发的人工机械感受器系统，该受体可以将压力刺激信号转化为人类神经元可以感知的电生理信号</a:t>
            </a:r>
            <a:r>
              <a:rPr lang="en-US" altLang="zh-CN" dirty="0"/>
              <a:t>[40]</a:t>
            </a:r>
          </a:p>
          <a:p>
            <a:endParaRPr lang="en-US" altLang="zh-CN" dirty="0"/>
          </a:p>
          <a:p>
            <a:endParaRPr lang="en-US" altLang="zh-CN" dirty="0"/>
          </a:p>
          <a:p>
            <a:r>
              <a:rPr lang="zh-CN" altLang="en-US" dirty="0"/>
              <a:t>在电子电路设计领域，必须特别注意柔性印刷电路的使用和放置。这些组件以其在各种应用中的灵活性和适应性而闻名，需要小心处理和战略定位以确保最佳性能和使用寿命</a:t>
            </a:r>
            <a:r>
              <a:rPr lang="en-US" altLang="zh-CN" dirty="0"/>
              <a:t>21</a:t>
            </a:r>
            <a:r>
              <a:rPr lang="zh-CN" altLang="en-US" dirty="0"/>
              <a:t>。这种谨慎方法的原因是多方面的：在柔性印刷电路 </a:t>
            </a:r>
            <a:r>
              <a:rPr lang="en-US" altLang="zh-CN" dirty="0"/>
              <a:t>(FPC) </a:t>
            </a:r>
            <a:r>
              <a:rPr lang="zh-CN" altLang="en-US" dirty="0"/>
              <a:t>的设计中，必须解决几个问题以确保其耐用性和功能性。首先，</a:t>
            </a:r>
            <a:r>
              <a:rPr lang="en-US" altLang="zh-CN" dirty="0"/>
              <a:t>FPC </a:t>
            </a:r>
            <a:r>
              <a:rPr lang="zh-CN" altLang="en-US" dirty="0"/>
              <a:t>本质上比刚性对应物更脆弱，容易受到机械损坏，例如裂缝或断裂</a:t>
            </a:r>
            <a:r>
              <a:rPr lang="en-US" altLang="zh-CN" dirty="0"/>
              <a:t>22</a:t>
            </a:r>
            <a:r>
              <a:rPr lang="zh-CN" altLang="en-US" dirty="0"/>
              <a:t>，尤其是在受到外部应力或力</a:t>
            </a:r>
            <a:r>
              <a:rPr lang="en-US" altLang="zh-CN" dirty="0"/>
              <a:t>23 </a:t>
            </a:r>
            <a:r>
              <a:rPr lang="zh-CN" altLang="en-US" dirty="0"/>
              <a:t>时。在 </a:t>
            </a:r>
            <a:r>
              <a:rPr lang="en-US" altLang="zh-CN" dirty="0"/>
              <a:t>FPC </a:t>
            </a:r>
            <a:r>
              <a:rPr lang="zh-CN" altLang="en-US" dirty="0"/>
              <a:t>可能接触其他组件的环境中，尤其是在容易移动或振动的环境中，这种脆弱性会加剧。战略性的物理分离可以显著降低此类损坏的风险。此外，当 </a:t>
            </a:r>
            <a:r>
              <a:rPr lang="en-US" altLang="zh-CN" dirty="0"/>
              <a:t>FPC </a:t>
            </a:r>
            <a:r>
              <a:rPr lang="zh-CN" altLang="en-US" dirty="0"/>
              <a:t>放置得太靠近其他电子元件（尤其是那些产生强电磁场的电子元件）时，</a:t>
            </a:r>
            <a:r>
              <a:rPr lang="en-US" altLang="zh-CN" dirty="0"/>
              <a:t>FPC </a:t>
            </a:r>
            <a:r>
              <a:rPr lang="zh-CN" altLang="en-US" dirty="0"/>
              <a:t>面临着电气干扰的挑战</a:t>
            </a:r>
            <a:r>
              <a:rPr lang="en-US" altLang="zh-CN" dirty="0"/>
              <a:t>24</a:t>
            </a:r>
            <a:r>
              <a:rPr lang="zh-CN" altLang="en-US" dirty="0"/>
              <a:t>。这种干扰会破坏 </a:t>
            </a:r>
            <a:r>
              <a:rPr lang="en-US" altLang="zh-CN" dirty="0"/>
              <a:t>FPC </a:t>
            </a:r>
            <a:r>
              <a:rPr lang="zh-CN" altLang="en-US" dirty="0"/>
              <a:t>上电路的正常运行，导致故障或效率低下。此外，保持信号完整性至关重要</a:t>
            </a:r>
            <a:r>
              <a:rPr lang="en-US" altLang="zh-CN" dirty="0"/>
              <a:t>25</a:t>
            </a:r>
            <a:r>
              <a:rPr lang="zh-CN" altLang="en-US" dirty="0"/>
              <a:t>，因为与其他组件的距离太近可能会导致信号丢失或干扰，这在高频或精密应用中至关重要，因为信号清晰度和完整性至关重要。有效的热管理是另一个关键考虑因素</a:t>
            </a:r>
            <a:r>
              <a:rPr lang="en-US" altLang="zh-CN" dirty="0"/>
              <a:t>26,27</a:t>
            </a:r>
            <a:r>
              <a:rPr lang="zh-CN" altLang="en-US" dirty="0"/>
              <a:t>。如果 </a:t>
            </a:r>
            <a:r>
              <a:rPr lang="en-US" altLang="zh-CN" dirty="0"/>
              <a:t>FPC </a:t>
            </a:r>
            <a:r>
              <a:rPr lang="zh-CN" altLang="en-US" dirty="0"/>
              <a:t>的位置太靠近发热组件，由此产生的高温会对其性能和寿命产生不利影响。足够的间距对于促进适当的散热和防止热过载至关重要，热过载会降低 </a:t>
            </a:r>
            <a:r>
              <a:rPr lang="en-US" altLang="zh-CN" dirty="0"/>
              <a:t>FPC </a:t>
            </a:r>
            <a:r>
              <a:rPr lang="zh-CN" altLang="en-US" dirty="0"/>
              <a:t>的材料和电路性能。最后，</a:t>
            </a:r>
            <a:r>
              <a:rPr lang="en-US" altLang="zh-CN" dirty="0"/>
              <a:t>FPC </a:t>
            </a:r>
            <a:r>
              <a:rPr lang="zh-CN" altLang="en-US" dirty="0"/>
              <a:t>独特的灵活性使它们可以弯曲或弯曲以适应特定的设计，但这种弯曲应该小心控制</a:t>
            </a:r>
            <a:r>
              <a:rPr lang="en-US" altLang="zh-CN" dirty="0"/>
              <a:t>28</a:t>
            </a:r>
            <a:r>
              <a:rPr lang="zh-CN" altLang="en-US" dirty="0"/>
              <a:t>。过度的曲率会对材料施加不当的压力，增加随着时间的推移疲劳和损坏的风险</a:t>
            </a:r>
            <a:r>
              <a:rPr lang="en-US" altLang="zh-CN" dirty="0"/>
              <a:t>29</a:t>
            </a:r>
            <a:r>
              <a:rPr lang="zh-CN" altLang="en-US" dirty="0"/>
              <a:t>。正确管理曲率对于保持 </a:t>
            </a:r>
            <a:r>
              <a:rPr lang="en-US" altLang="zh-CN" dirty="0"/>
              <a:t>FPC </a:t>
            </a:r>
            <a:r>
              <a:rPr lang="zh-CN" altLang="en-US" dirty="0"/>
              <a:t>的结构完整性至关重要。总之，</a:t>
            </a:r>
            <a:r>
              <a:rPr lang="en-US" altLang="zh-CN" dirty="0"/>
              <a:t>FPC </a:t>
            </a:r>
            <a:r>
              <a:rPr lang="zh-CN" altLang="en-US" dirty="0"/>
              <a:t>的战略性放置和处理在电路设计中至关重要。这不仅涉及避免与其他组件的物理接触，还需要考虑电磁兼容性、信号完整性</a:t>
            </a:r>
            <a:r>
              <a:rPr lang="en-US" altLang="zh-CN" dirty="0"/>
              <a:t>30</a:t>
            </a:r>
            <a:r>
              <a:rPr lang="zh-CN" altLang="en-US" dirty="0"/>
              <a:t>、热管理</a:t>
            </a:r>
            <a:r>
              <a:rPr lang="en-US" altLang="zh-CN" dirty="0"/>
              <a:t>31</a:t>
            </a:r>
            <a:r>
              <a:rPr lang="zh-CN" altLang="en-US" dirty="0"/>
              <a:t>和机械应力</a:t>
            </a:r>
            <a:r>
              <a:rPr lang="en-US" altLang="zh-CN" dirty="0"/>
              <a:t>32,33,34</a:t>
            </a:r>
            <a:r>
              <a:rPr lang="zh-CN" altLang="en-US" dirty="0"/>
              <a:t>等方面。这些考虑因素是设计过程不可或缺的，可确保 </a:t>
            </a:r>
            <a:r>
              <a:rPr lang="en-US" altLang="zh-CN" dirty="0"/>
              <a:t>FPC </a:t>
            </a:r>
            <a:r>
              <a:rPr lang="zh-CN" altLang="en-US" dirty="0"/>
              <a:t>在预期应用中有效可靠地发挥作用。对 </a:t>
            </a:r>
            <a:r>
              <a:rPr lang="en-US" altLang="zh-CN" dirty="0"/>
              <a:t>FPC </a:t>
            </a:r>
            <a:r>
              <a:rPr lang="zh-CN" altLang="en-US" dirty="0"/>
              <a:t>相关的细微差别的详细了解对于电子设计领域的专业人士至关重要，值得在学术和技术文献中进行深入讨论。在 </a:t>
            </a:r>
            <a:r>
              <a:rPr lang="en-US" altLang="zh-CN" dirty="0"/>
              <a:t>FPC </a:t>
            </a:r>
            <a:r>
              <a:rPr lang="zh-CN" altLang="en-US" dirty="0"/>
              <a:t>力学和变形领域，</a:t>
            </a:r>
            <a:r>
              <a:rPr lang="en-US" altLang="zh-CN" dirty="0"/>
              <a:t>John </a:t>
            </a:r>
            <a:r>
              <a:rPr lang="zh-CN" altLang="en-US" dirty="0"/>
              <a:t>等人</a:t>
            </a:r>
            <a:r>
              <a:rPr lang="en-US" altLang="zh-CN" dirty="0"/>
              <a:t>35 </a:t>
            </a:r>
            <a:r>
              <a:rPr lang="zh-CN" altLang="en-US" dirty="0"/>
              <a:t>深入研究了与弯曲、成型和弯曲印刷电路相关的机械和材料挑战，特别是针对非玻璃编织材料。他们的研究全面分析了弯曲过程中应变对铜层的影响及其对静态和动态应用的影响，强调了了解材料特性和铜在机械应力下的行为的重要性。同时，</a:t>
            </a:r>
            <a:r>
              <a:rPr lang="en-US" altLang="zh-CN" dirty="0" err="1"/>
              <a:t>Hirotaka</a:t>
            </a:r>
            <a:r>
              <a:rPr lang="en-US" altLang="zh-CN" dirty="0"/>
              <a:t> </a:t>
            </a:r>
            <a:r>
              <a:rPr lang="zh-CN" altLang="en-US" dirty="0"/>
              <a:t>等人 </a:t>
            </a:r>
            <a:r>
              <a:rPr lang="en-US" altLang="zh-CN" dirty="0"/>
              <a:t>36 </a:t>
            </a:r>
            <a:r>
              <a:rPr lang="zh-CN" altLang="en-US" dirty="0"/>
              <a:t>研究了基于 </a:t>
            </a:r>
            <a:r>
              <a:rPr lang="en-US" altLang="zh-CN" dirty="0"/>
              <a:t>FPC </a:t>
            </a:r>
            <a:r>
              <a:rPr lang="zh-CN" altLang="en-US" dirty="0"/>
              <a:t>的平面倒置 </a:t>
            </a:r>
            <a:r>
              <a:rPr lang="en-US" altLang="zh-CN" dirty="0"/>
              <a:t>F </a:t>
            </a:r>
            <a:r>
              <a:rPr lang="zh-CN" altLang="en-US" dirty="0"/>
              <a:t>天线 </a:t>
            </a:r>
            <a:r>
              <a:rPr lang="en-US" altLang="zh-CN" dirty="0"/>
              <a:t>(PIFA) </a:t>
            </a:r>
            <a:r>
              <a:rPr lang="zh-CN" altLang="en-US" dirty="0"/>
              <a:t>的性能特征，重点研究了它在受到机械变形时保持稳定辐射模式和效率的稳健性。他们的研究结果证实了天线适用于紧凑型移动设备，且性能下降最小。此外，</a:t>
            </a:r>
            <a:r>
              <a:rPr lang="en-US" altLang="zh-CN" dirty="0"/>
              <a:t>Ping </a:t>
            </a:r>
            <a:r>
              <a:rPr lang="zh-CN" altLang="en-US" dirty="0"/>
              <a:t>等人 </a:t>
            </a:r>
            <a:r>
              <a:rPr lang="en-US" altLang="zh-CN" dirty="0"/>
              <a:t>22 </a:t>
            </a:r>
            <a:r>
              <a:rPr lang="zh-CN" altLang="en-US" dirty="0"/>
              <a:t>确定了 </a:t>
            </a:r>
            <a:r>
              <a:rPr lang="en-US" altLang="zh-CN" dirty="0"/>
              <a:t>FPC </a:t>
            </a:r>
            <a:r>
              <a:rPr lang="zh-CN" altLang="en-US" dirty="0"/>
              <a:t>应用中常见的故障模式，例如通孔互连问题、走线裂缝和黑垫现象。他们提出了通过改进制造工艺、机械设计和动态应力分布来提高 </a:t>
            </a:r>
            <a:r>
              <a:rPr lang="en-US" altLang="zh-CN" dirty="0"/>
              <a:t>FPC </a:t>
            </a:r>
            <a:r>
              <a:rPr lang="zh-CN" altLang="en-US" dirty="0"/>
              <a:t>可靠性和质量的方法。总的来说，这些研究阐明了 </a:t>
            </a:r>
            <a:r>
              <a:rPr lang="en-US" altLang="zh-CN" dirty="0"/>
              <a:t>FPC </a:t>
            </a:r>
            <a:r>
              <a:rPr lang="zh-CN" altLang="en-US" dirty="0"/>
              <a:t>在先进电子领域设计和应用方面取得的重大进展和持续存在的挑战。基于这些对 </a:t>
            </a:r>
            <a:r>
              <a:rPr lang="en-US" altLang="zh-CN" dirty="0"/>
              <a:t>FPC </a:t>
            </a:r>
            <a:r>
              <a:rPr lang="zh-CN" altLang="en-US" dirty="0"/>
              <a:t>力学和变形的基础见解，进一步的研究专门针对柔性印刷电路板 </a:t>
            </a:r>
            <a:r>
              <a:rPr lang="en-US" altLang="zh-CN" dirty="0"/>
              <a:t>(FPCB) </a:t>
            </a:r>
            <a:r>
              <a:rPr lang="zh-CN" altLang="en-US" dirty="0"/>
              <a:t>的复杂性。最近的研究为这一领域做出了重大贡献。 </a:t>
            </a:r>
            <a:r>
              <a:rPr lang="en-US" altLang="zh-CN" dirty="0"/>
              <a:t>Chong </a:t>
            </a:r>
            <a:r>
              <a:rPr lang="zh-CN" altLang="en-US" dirty="0"/>
              <a:t>等人 </a:t>
            </a:r>
            <a:r>
              <a:rPr lang="en-US" altLang="zh-CN" dirty="0"/>
              <a:t>37 </a:t>
            </a:r>
            <a:r>
              <a:rPr lang="zh-CN" altLang="en-US" dirty="0"/>
              <a:t>深入研究了热条件下的传热和变形方面，使用流体结构相互作用进行模拟。</a:t>
            </a:r>
            <a:r>
              <a:rPr lang="en-US" altLang="zh-CN" dirty="0"/>
              <a:t>Leong </a:t>
            </a:r>
            <a:r>
              <a:rPr lang="zh-CN" altLang="en-US" dirty="0"/>
              <a:t>等人 </a:t>
            </a:r>
            <a:r>
              <a:rPr lang="en-US" altLang="zh-CN" dirty="0"/>
              <a:t>38 </a:t>
            </a:r>
            <a:r>
              <a:rPr lang="zh-CN" altLang="en-US" dirty="0"/>
              <a:t>旨在采用先进的方法优化 </a:t>
            </a:r>
            <a:r>
              <a:rPr lang="en-US" altLang="zh-CN" dirty="0"/>
              <a:t>FPCB </a:t>
            </a:r>
            <a:r>
              <a:rPr lang="zh-CN" altLang="en-US" dirty="0"/>
              <a:t>以减轻应力和挠度。</a:t>
            </a:r>
            <a:r>
              <a:rPr lang="en-US" altLang="zh-CN" dirty="0"/>
              <a:t>Alexander 39 </a:t>
            </a:r>
            <a:r>
              <a:rPr lang="zh-CN" altLang="en-US" dirty="0"/>
              <a:t>专注于 </a:t>
            </a:r>
            <a:r>
              <a:rPr lang="en-US" altLang="zh-CN" dirty="0"/>
              <a:t>FPC </a:t>
            </a:r>
            <a:r>
              <a:rPr lang="zh-CN" altLang="en-US" dirty="0"/>
              <a:t>的机械可靠性，特别是在动态环境中，将疲劳测试与计算分析相结合。</a:t>
            </a:r>
            <a:r>
              <a:rPr lang="en-US" altLang="zh-CN" dirty="0"/>
              <a:t>Liu </a:t>
            </a:r>
            <a:r>
              <a:rPr lang="zh-CN" altLang="en-US" dirty="0"/>
              <a:t>等人 </a:t>
            </a:r>
            <a:r>
              <a:rPr lang="en-US" altLang="zh-CN" dirty="0"/>
              <a:t>40 </a:t>
            </a:r>
            <a:r>
              <a:rPr lang="zh-CN" altLang="en-US" dirty="0"/>
              <a:t>研究了影响 </a:t>
            </a:r>
            <a:r>
              <a:rPr lang="en-US" altLang="zh-CN" dirty="0"/>
              <a:t>FPC </a:t>
            </a:r>
            <a:r>
              <a:rPr lang="zh-CN" altLang="en-US" dirty="0"/>
              <a:t>弯曲的因素，揭示了为材料和设计选择提供了重要见解。</a:t>
            </a:r>
            <a:r>
              <a:rPr lang="en-US" altLang="zh-CN" dirty="0"/>
              <a:t>Zhang </a:t>
            </a:r>
            <a:r>
              <a:rPr lang="zh-CN" altLang="en-US" dirty="0"/>
              <a:t>等人 </a:t>
            </a:r>
            <a:r>
              <a:rPr lang="en-US" altLang="zh-CN" dirty="0"/>
              <a:t>41 </a:t>
            </a:r>
            <a:r>
              <a:rPr lang="zh-CN" altLang="en-US" dirty="0"/>
              <a:t>探索了高加速度下刚挠结合 </a:t>
            </a:r>
            <a:r>
              <a:rPr lang="en-US" altLang="zh-CN" dirty="0"/>
              <a:t>PCB </a:t>
            </a:r>
            <a:r>
              <a:rPr lang="zh-CN" altLang="en-US" dirty="0"/>
              <a:t>的可靠性，揭示了应力动力学。</a:t>
            </a:r>
            <a:r>
              <a:rPr lang="en-US" altLang="zh-CN" dirty="0"/>
              <a:t>Lall </a:t>
            </a:r>
            <a:r>
              <a:rPr lang="zh-CN" altLang="en-US" dirty="0"/>
              <a:t>等人 </a:t>
            </a:r>
            <a:r>
              <a:rPr lang="en-US" altLang="zh-CN" dirty="0"/>
              <a:t>42 </a:t>
            </a:r>
            <a:r>
              <a:rPr lang="zh-CN" altLang="en-US" dirty="0"/>
              <a:t>研究了焊接过程中的变形挑战，而 </a:t>
            </a:r>
            <a:r>
              <a:rPr lang="en-US" altLang="zh-CN" dirty="0"/>
              <a:t>Muhammad </a:t>
            </a:r>
            <a:r>
              <a:rPr lang="zh-CN" altLang="en-US" dirty="0"/>
              <a:t>等人 </a:t>
            </a:r>
            <a:r>
              <a:rPr lang="en-US" altLang="zh-CN" dirty="0"/>
              <a:t>43 </a:t>
            </a:r>
            <a:r>
              <a:rPr lang="zh-CN" altLang="en-US" dirty="0"/>
              <a:t>评估了 </a:t>
            </a:r>
            <a:r>
              <a:rPr lang="en-US" altLang="zh-CN" dirty="0"/>
              <a:t>FPCB </a:t>
            </a:r>
            <a:r>
              <a:rPr lang="zh-CN" altLang="en-US" dirty="0"/>
              <a:t>的焊接后可靠性，强调了制造复杂性。这些研究共同促进了对微电子领域 </a:t>
            </a:r>
            <a:r>
              <a:rPr lang="en-US" altLang="zh-CN" dirty="0"/>
              <a:t>FPCB </a:t>
            </a:r>
            <a:r>
              <a:rPr lang="zh-CN" altLang="en-US" dirty="0"/>
              <a:t>的理解和设计。这项研究解决了理解和应用 </a:t>
            </a:r>
            <a:r>
              <a:rPr lang="en-US" altLang="zh-CN" dirty="0"/>
              <a:t>FPC </a:t>
            </a:r>
            <a:r>
              <a:rPr lang="zh-CN" altLang="en-US" dirty="0"/>
              <a:t>变形的关键差距。我们对不同条件下的 </a:t>
            </a:r>
            <a:r>
              <a:rPr lang="en-US" altLang="zh-CN" dirty="0"/>
              <a:t>FPC </a:t>
            </a:r>
            <a:r>
              <a:rPr lang="zh-CN" altLang="en-US" dirty="0"/>
              <a:t>曲率进行了广泛分析，这是以前研究不足的领域。我们的方法结合了使用 </a:t>
            </a:r>
            <a:r>
              <a:rPr lang="en-US" altLang="zh-CN" dirty="0"/>
              <a:t>Abaqus 2020 </a:t>
            </a:r>
            <a:r>
              <a:rPr lang="zh-CN" altLang="en-US" dirty="0"/>
              <a:t>进行变形行为分析的有限元法 </a:t>
            </a:r>
            <a:r>
              <a:rPr lang="en-US" altLang="zh-CN" dirty="0"/>
              <a:t>(FEM) </a:t>
            </a:r>
            <a:r>
              <a:rPr lang="zh-CN" altLang="en-US" dirty="0"/>
              <a:t>模拟和高级数学建模来检查 </a:t>
            </a:r>
            <a:r>
              <a:rPr lang="en-US" altLang="zh-CN" dirty="0"/>
              <a:t>FPC </a:t>
            </a:r>
            <a:r>
              <a:rPr lang="zh-CN" altLang="en-US" dirty="0"/>
              <a:t>上的曲率和空间分离。在我们的研究中，我们采用了雅可比矩阵迭代法，大大提高了预测 </a:t>
            </a:r>
            <a:r>
              <a:rPr lang="en-US" altLang="zh-CN" dirty="0"/>
              <a:t>FPC </a:t>
            </a:r>
            <a:r>
              <a:rPr lang="zh-CN" altLang="en-US" dirty="0"/>
              <a:t>曲率的精度。我们的发现对 </a:t>
            </a:r>
            <a:r>
              <a:rPr lang="en-US" altLang="zh-CN" dirty="0"/>
              <a:t>FPC </a:t>
            </a:r>
            <a:r>
              <a:rPr lang="zh-CN" altLang="en-US" dirty="0"/>
              <a:t>的设计和制造具有重要意义。它们强调了在 </a:t>
            </a:r>
            <a:r>
              <a:rPr lang="en-US" altLang="zh-CN" dirty="0"/>
              <a:t>FPC </a:t>
            </a:r>
            <a:r>
              <a:rPr lang="zh-CN" altLang="en-US" dirty="0"/>
              <a:t>和相邻组件之间保持自由接触空间以及优化曲率的必要性。这种方法对于防止机械应力、散热效率低下和物理损坏等问题至关重要，这些问题都会对电路功能和整体设备可靠性产生不利影响。此外，我们的研究确定了 </a:t>
            </a:r>
            <a:r>
              <a:rPr lang="en-US" altLang="zh-CN" dirty="0"/>
              <a:t>FPC </a:t>
            </a:r>
            <a:r>
              <a:rPr lang="zh-CN" altLang="en-US" dirty="0"/>
              <a:t>的理想长度，以最大限度地减少最大曲率，从而实现灵活性、结构完整性和可靠性之间的平衡。总之，我们的研究标志着 </a:t>
            </a:r>
            <a:r>
              <a:rPr lang="en-US" altLang="zh-CN" dirty="0"/>
              <a:t>FPC </a:t>
            </a:r>
            <a:r>
              <a:rPr lang="zh-CN" altLang="en-US" dirty="0"/>
              <a:t>研究的重大进步，提供了新的见解和方法。它旨在提高对各种条件下 </a:t>
            </a:r>
            <a:r>
              <a:rPr lang="en-US" altLang="zh-CN" dirty="0"/>
              <a:t>FPC </a:t>
            </a:r>
            <a:r>
              <a:rPr lang="zh-CN" altLang="en-US" dirty="0"/>
              <a:t>行为的理解，为未来的 </a:t>
            </a:r>
            <a:r>
              <a:rPr lang="en-US" altLang="zh-CN" dirty="0"/>
              <a:t>FPC </a:t>
            </a:r>
            <a:r>
              <a:rPr lang="zh-CN" altLang="en-US" dirty="0"/>
              <a:t>设计和应用增强奠定基础，为电子设计和制造领域的设备寿命和性能做出重大贡献。</a:t>
            </a:r>
            <a:endParaRPr lang="en-US" altLang="zh-CN" dirty="0"/>
          </a:p>
          <a:p>
            <a:endParaRPr lang="en-US" altLang="zh-CN" dirty="0"/>
          </a:p>
          <a:p>
            <a:endParaRPr lang="en-US" altLang="zh-CN" dirty="0"/>
          </a:p>
          <a:p>
            <a:endParaRPr lang="en-US" altLang="zh-CN" dirty="0"/>
          </a:p>
          <a:p>
            <a:endParaRPr lang="en-US" altLang="zh-CN" dirty="0"/>
          </a:p>
          <a:p>
            <a:r>
              <a:rPr lang="zh-CN" altLang="en-US" dirty="0"/>
              <a:t>图 </a:t>
            </a:r>
            <a:r>
              <a:rPr lang="en-US" altLang="zh-CN" dirty="0"/>
              <a:t>1. </a:t>
            </a:r>
            <a:r>
              <a:rPr lang="zh-CN" altLang="en-US" dirty="0"/>
              <a:t>基于液态金属的个性化柔性印刷电子产品。“可植入设备”：液态金属神经连接 </a:t>
            </a:r>
            <a:r>
              <a:rPr lang="en-US" altLang="zh-CN" dirty="0"/>
              <a:t>[35] (https://arxiv.org/abs/1404.5931)</a:t>
            </a:r>
            <a:r>
              <a:rPr lang="zh-CN" altLang="en-US" dirty="0"/>
              <a:t>；可注射 </a:t>
            </a:r>
            <a:r>
              <a:rPr lang="en-US" altLang="zh-CN" dirty="0"/>
              <a:t>3D </a:t>
            </a:r>
            <a:r>
              <a:rPr lang="zh-CN" altLang="en-US" dirty="0"/>
              <a:t>生物电极 </a:t>
            </a:r>
            <a:r>
              <a:rPr lang="en-US" altLang="zh-CN" dirty="0"/>
              <a:t>[54]</a:t>
            </a:r>
            <a:r>
              <a:rPr lang="zh-CN" altLang="en-US" dirty="0"/>
              <a:t>（经 </a:t>
            </a:r>
            <a:r>
              <a:rPr lang="en-US" altLang="zh-CN" dirty="0"/>
              <a:t>Jin, C.; Liu, J. et al. </a:t>
            </a:r>
            <a:r>
              <a:rPr lang="zh-CN" altLang="en-US" dirty="0"/>
              <a:t>许可转载，在目标生物组织中可注射 </a:t>
            </a:r>
            <a:r>
              <a:rPr lang="en-US" altLang="zh-CN" dirty="0"/>
              <a:t>3D </a:t>
            </a:r>
            <a:r>
              <a:rPr lang="zh-CN" altLang="en-US" dirty="0"/>
              <a:t>制造医疗电子产品；由 </a:t>
            </a:r>
            <a:r>
              <a:rPr lang="en-US" altLang="zh-CN" dirty="0"/>
              <a:t>Scientific Reports </a:t>
            </a:r>
            <a:r>
              <a:rPr lang="zh-CN" altLang="en-US" dirty="0"/>
              <a:t>于 </a:t>
            </a:r>
            <a:r>
              <a:rPr lang="en-US" altLang="zh-CN" dirty="0"/>
              <a:t>2013 </a:t>
            </a:r>
            <a:r>
              <a:rPr lang="zh-CN" altLang="en-US" dirty="0"/>
              <a:t>年发表。）；液态金属重连神经的电生理测量 </a:t>
            </a:r>
            <a:r>
              <a:rPr lang="en-US" altLang="zh-CN" dirty="0"/>
              <a:t>[36]</a:t>
            </a:r>
            <a:r>
              <a:rPr lang="zh-CN" altLang="en-US" dirty="0"/>
              <a:t>；“电皮肤”：人体上的液态金属电路 </a:t>
            </a:r>
            <a:r>
              <a:rPr lang="en-US" altLang="zh-CN" dirty="0"/>
              <a:t>[55]</a:t>
            </a:r>
            <a:r>
              <a:rPr lang="zh-CN" altLang="en-US" dirty="0"/>
              <a:t>（经 </a:t>
            </a:r>
            <a:r>
              <a:rPr lang="en-US" altLang="zh-CN" dirty="0"/>
              <a:t>Guo, C.; Liu, J. et al. </a:t>
            </a:r>
            <a:r>
              <a:rPr lang="zh-CN" altLang="en-US" dirty="0"/>
              <a:t>许可转载，通过液态金属喷涂和预先设计的掩模在皮肤基底上快速图案化导电元件作为生理测试设备；由 </a:t>
            </a:r>
            <a:r>
              <a:rPr lang="en-US" altLang="zh-CN" dirty="0"/>
              <a:t>Journal of </a:t>
            </a:r>
            <a:r>
              <a:rPr lang="en-US" altLang="zh-CN" dirty="0" err="1"/>
              <a:t>Mterials</a:t>
            </a:r>
            <a:r>
              <a:rPr lang="en-US" altLang="zh-CN" dirty="0"/>
              <a:t> Chemistry B </a:t>
            </a:r>
            <a:r>
              <a:rPr lang="zh-CN" altLang="en-US" dirty="0"/>
              <a:t>于 </a:t>
            </a:r>
            <a:r>
              <a:rPr lang="en-US" altLang="zh-CN" dirty="0"/>
              <a:t>2014 </a:t>
            </a:r>
            <a:r>
              <a:rPr lang="zh-CN" altLang="en-US" dirty="0"/>
              <a:t>年发表。）；人体皮肤上的液态金属标签 </a:t>
            </a:r>
            <a:r>
              <a:rPr lang="en-US" altLang="zh-CN" dirty="0"/>
              <a:t>[56]</a:t>
            </a:r>
            <a:r>
              <a:rPr lang="zh-CN" altLang="en-US" dirty="0"/>
              <a:t>（经 </a:t>
            </a:r>
            <a:r>
              <a:rPr lang="en-US" altLang="zh-CN" dirty="0"/>
              <a:t>Jeong, S.H.; Wu, Z. et al., Liquid Alloy Printing of Microfluidic Stable Electronics </a:t>
            </a:r>
            <a:r>
              <a:rPr lang="zh-CN" altLang="en-US" dirty="0"/>
              <a:t>许可转载；</a:t>
            </a:r>
            <a:r>
              <a:rPr lang="en-US" altLang="zh-CN" dirty="0"/>
              <a:t>Lab on a Chip</a:t>
            </a:r>
            <a:r>
              <a:rPr lang="zh-CN" altLang="en-US" dirty="0"/>
              <a:t>，</a:t>
            </a:r>
            <a:r>
              <a:rPr lang="en-US" altLang="zh-CN" dirty="0"/>
              <a:t>2012 </a:t>
            </a:r>
            <a:r>
              <a:rPr lang="zh-CN" altLang="en-US" dirty="0"/>
              <a:t>年出版）；通过液态金属电极进行心电图测试 </a:t>
            </a:r>
            <a:r>
              <a:rPr lang="en-US" altLang="zh-CN" dirty="0"/>
              <a:t>[57]</a:t>
            </a:r>
            <a:r>
              <a:rPr lang="zh-CN" altLang="en-US" dirty="0"/>
              <a:t>（经 </a:t>
            </a:r>
            <a:r>
              <a:rPr lang="en-US" altLang="zh-CN" dirty="0"/>
              <a:t>Yu, Y.; Zhang, J.; Liu, J., Biomedical Implementation of Liquid Metal Ink as Drawable ECG Electrode and Skin Circuit </a:t>
            </a:r>
            <a:r>
              <a:rPr lang="zh-CN" altLang="en-US" dirty="0"/>
              <a:t>许可转载；</a:t>
            </a:r>
            <a:r>
              <a:rPr lang="en-US" altLang="zh-CN" dirty="0" err="1"/>
              <a:t>PLoS</a:t>
            </a:r>
            <a:r>
              <a:rPr lang="en-US" altLang="zh-CN" dirty="0"/>
              <a:t> ONE</a:t>
            </a:r>
            <a:r>
              <a:rPr lang="zh-CN" altLang="en-US" dirty="0"/>
              <a:t>，</a:t>
            </a:r>
            <a:r>
              <a:rPr lang="en-US" altLang="zh-CN" dirty="0"/>
              <a:t>2013 </a:t>
            </a:r>
            <a:r>
              <a:rPr lang="zh-CN" altLang="en-US" dirty="0"/>
              <a:t>年出版）；“可穿戴生物电子学”：液态金属腕带 </a:t>
            </a:r>
            <a:r>
              <a:rPr lang="en-US" altLang="zh-CN" dirty="0"/>
              <a:t>[58]</a:t>
            </a:r>
            <a:r>
              <a:rPr lang="zh-CN" altLang="en-US" dirty="0"/>
              <a:t>（经 </a:t>
            </a:r>
            <a:r>
              <a:rPr lang="en-US" altLang="zh-CN" dirty="0"/>
              <a:t>Wang, Q.; Yu, Y.; Yang, J.; Liu, J., Fast Fabrication of Flexible Functional Circuits based on Liquid Metal Dual-Trans Printing </a:t>
            </a:r>
            <a:r>
              <a:rPr lang="zh-CN" altLang="en-US" dirty="0"/>
              <a:t>许可转载；</a:t>
            </a:r>
            <a:r>
              <a:rPr lang="en-US" altLang="zh-CN" dirty="0"/>
              <a:t>Advanced Material</a:t>
            </a:r>
            <a:r>
              <a:rPr lang="zh-CN" altLang="en-US" dirty="0"/>
              <a:t>，</a:t>
            </a:r>
            <a:r>
              <a:rPr lang="en-US" altLang="zh-CN" dirty="0"/>
              <a:t>2015 </a:t>
            </a:r>
            <a:r>
              <a:rPr lang="zh-CN" altLang="en-US" dirty="0"/>
              <a:t>年出版）；可穿戴数据手套 </a:t>
            </a:r>
            <a:r>
              <a:rPr lang="en-US" altLang="zh-CN" dirty="0"/>
              <a:t>[59]</a:t>
            </a:r>
            <a:r>
              <a:rPr lang="zh-CN" altLang="en-US" dirty="0"/>
              <a:t>（经 </a:t>
            </a:r>
            <a:r>
              <a:rPr lang="en-US" altLang="zh-CN" dirty="0"/>
              <a:t>Matsuzaki, R.; </a:t>
            </a:r>
            <a:r>
              <a:rPr lang="en-US" altLang="zh-CN" dirty="0" err="1"/>
              <a:t>Tabayashi</a:t>
            </a:r>
            <a:r>
              <a:rPr lang="en-US" altLang="zh-CN" dirty="0"/>
              <a:t>, K. </a:t>
            </a:r>
            <a:r>
              <a:rPr lang="zh-CN" altLang="en-US" dirty="0"/>
              <a:t>许可转载，用于可穿戴电子产品的高拉伸、全局和分布式局部应变传感线，使用增益电极；</a:t>
            </a:r>
            <a:r>
              <a:rPr lang="en-US" altLang="zh-CN" dirty="0"/>
              <a:t>Advanced Functional Material</a:t>
            </a:r>
            <a:r>
              <a:rPr lang="zh-CN" altLang="en-US" dirty="0"/>
              <a:t>，</a:t>
            </a:r>
            <a:r>
              <a:rPr lang="en-US" altLang="zh-CN" dirty="0"/>
              <a:t>2015 </a:t>
            </a:r>
            <a:r>
              <a:rPr lang="zh-CN" altLang="en-US" dirty="0"/>
              <a:t>年出版）；鞋类嵌入式微流体能量收集 </a:t>
            </a:r>
            <a:r>
              <a:rPr lang="en-US" altLang="zh-CN" dirty="0"/>
              <a:t>[60]</a:t>
            </a:r>
            <a:r>
              <a:rPr lang="zh-CN" altLang="en-US" dirty="0"/>
              <a:t>（经 </a:t>
            </a:r>
            <a:r>
              <a:rPr lang="en-US" altLang="zh-CN" dirty="0" err="1"/>
              <a:t>Krupenkin</a:t>
            </a:r>
            <a:r>
              <a:rPr lang="en-US" altLang="zh-CN" dirty="0"/>
              <a:t>, T.; Taylor, J.A. </a:t>
            </a:r>
            <a:r>
              <a:rPr lang="zh-CN" altLang="en-US" dirty="0"/>
              <a:t>许可转载，反向电润湿作为高功率能量收集的新方法；</a:t>
            </a:r>
            <a:r>
              <a:rPr lang="en-US" altLang="zh-CN" dirty="0"/>
              <a:t>Nature Communication</a:t>
            </a:r>
            <a:r>
              <a:rPr lang="zh-CN" altLang="en-US" dirty="0"/>
              <a:t>，</a:t>
            </a:r>
            <a:r>
              <a:rPr lang="en-US" altLang="zh-CN" dirty="0"/>
              <a:t>2011 </a:t>
            </a:r>
            <a:r>
              <a:rPr lang="zh-CN" altLang="en-US" dirty="0"/>
              <a:t>年出版）目前主要以镓及其合金为代表，具有电阻率高、弯曲性强、粘附性低、表面张力大等特性，在当代电子学中，柔性印刷电路 </a:t>
            </a:r>
            <a:r>
              <a:rPr lang="en-US" altLang="zh-CN" dirty="0"/>
              <a:t>(FPC) </a:t>
            </a:r>
            <a:r>
              <a:rPr lang="zh-CN" altLang="en-US" dirty="0"/>
              <a:t>已成为关键，改变了电子设备的设计和功能 </a:t>
            </a:r>
            <a:r>
              <a:rPr lang="en-US" altLang="zh-CN" dirty="0"/>
              <a:t>1,2,3</a:t>
            </a:r>
            <a:r>
              <a:rPr lang="zh-CN" altLang="en-US" dirty="0"/>
              <a:t>。这些电路超越了传统的刚性柔性印刷电路板 </a:t>
            </a:r>
            <a:r>
              <a:rPr lang="en-US" altLang="zh-CN" dirty="0"/>
              <a:t>(PCB)</a:t>
            </a:r>
            <a:r>
              <a:rPr lang="zh-CN" altLang="en-US" dirty="0"/>
              <a:t>，由于采用聚酰亚胺等柔韧的高质量材料构造，因此具有无与伦比的灵活性和适应性。它们能够折叠或扭曲成小空间或不规则空间，从而提高了在物理压力下的耐用性。</a:t>
            </a:r>
            <a:r>
              <a:rPr lang="en-US" altLang="zh-CN" dirty="0"/>
              <a:t>FPC </a:t>
            </a:r>
            <a:r>
              <a:rPr lang="zh-CN" altLang="en-US" dirty="0"/>
              <a:t>的空间和重量效率特别有利，可将多个刚性板和线路整合成更轻、更紧凑的组件 </a:t>
            </a:r>
            <a:r>
              <a:rPr lang="en-US" altLang="zh-CN" dirty="0"/>
              <a:t>4</a:t>
            </a:r>
            <a:r>
              <a:rPr lang="zh-CN" altLang="en-US" dirty="0"/>
              <a:t>、</a:t>
            </a:r>
            <a:r>
              <a:rPr lang="en-US" altLang="zh-CN" dirty="0"/>
              <a:t>5</a:t>
            </a:r>
            <a:r>
              <a:rPr lang="zh-CN" altLang="en-US" dirty="0"/>
              <a:t>、</a:t>
            </a:r>
            <a:r>
              <a:rPr lang="en-US" altLang="zh-CN" dirty="0"/>
              <a:t>6</a:t>
            </a:r>
            <a:r>
              <a:rPr lang="zh-CN" altLang="en-US" dirty="0"/>
              <a:t>。这在航空航天、可穿戴技术和移动设备等必须减少空间和重量的领域至关重要。此外，它们固有的灵活性使它们可用于动态应用，而不会牺牲电路性能或完整性。它们的应用涵盖各个行业，如图 </a:t>
            </a:r>
            <a:r>
              <a:rPr lang="en-US" altLang="zh-CN" dirty="0"/>
              <a:t>17 </a:t>
            </a:r>
            <a:r>
              <a:rPr lang="zh-CN" altLang="en-US" dirty="0"/>
              <a:t>所示。在医疗领域，</a:t>
            </a:r>
            <a:r>
              <a:rPr lang="en-US" altLang="zh-CN" dirty="0"/>
              <a:t>FPC </a:t>
            </a:r>
            <a:r>
              <a:rPr lang="zh-CN" altLang="en-US" dirty="0"/>
              <a:t>有助于实现传感器和植入物等紧凑、灵活的设备，从而提高患者的舒适度和效率 </a:t>
            </a:r>
            <a:r>
              <a:rPr lang="en-US" altLang="zh-CN" dirty="0"/>
              <a:t>8</a:t>
            </a:r>
            <a:r>
              <a:rPr lang="zh-CN" altLang="en-US" dirty="0"/>
              <a:t>、</a:t>
            </a:r>
            <a:r>
              <a:rPr lang="en-US" altLang="zh-CN" dirty="0"/>
              <a:t>9</a:t>
            </a:r>
            <a:r>
              <a:rPr lang="zh-CN" altLang="en-US" dirty="0"/>
              <a:t>、</a:t>
            </a:r>
            <a:r>
              <a:rPr lang="en-US" altLang="zh-CN" dirty="0"/>
              <a:t>10</a:t>
            </a:r>
            <a:r>
              <a:rPr lang="zh-CN" altLang="en-US" dirty="0"/>
              <a:t>、</a:t>
            </a:r>
            <a:r>
              <a:rPr lang="en-US" altLang="zh-CN" dirty="0"/>
              <a:t>11</a:t>
            </a:r>
            <a:r>
              <a:rPr lang="zh-CN" altLang="en-US" dirty="0"/>
              <a:t>。汽车行业将它们用于仪表板显示器和传感器网络等系统中，看重它们对振动和温度变化的抵抗力。在消费电子产品中，</a:t>
            </a:r>
            <a:r>
              <a:rPr lang="en-US" altLang="zh-CN" dirty="0"/>
              <a:t>FPC </a:t>
            </a:r>
            <a:r>
              <a:rPr lang="zh-CN" altLang="en-US" dirty="0"/>
              <a:t>是智能手机、平板电脑和笔记本电脑实现轻薄化的关键</a:t>
            </a:r>
            <a:r>
              <a:rPr lang="en-US" altLang="zh-CN" dirty="0"/>
              <a:t>12</a:t>
            </a:r>
            <a:r>
              <a:rPr lang="zh-CN" altLang="en-US" dirty="0"/>
              <a:t>、</a:t>
            </a:r>
            <a:r>
              <a:rPr lang="en-US" altLang="zh-CN" dirty="0"/>
              <a:t>13</a:t>
            </a:r>
            <a:r>
              <a:rPr lang="zh-CN" altLang="en-US" dirty="0"/>
              <a:t>、</a:t>
            </a:r>
            <a:r>
              <a:rPr lang="en-US" altLang="zh-CN" dirty="0"/>
              <a:t>14</a:t>
            </a:r>
            <a:r>
              <a:rPr lang="zh-CN" altLang="en-US" dirty="0"/>
              <a:t>、</a:t>
            </a:r>
            <a:r>
              <a:rPr lang="en-US" altLang="zh-CN" dirty="0"/>
              <a:t>15</a:t>
            </a:r>
            <a:r>
              <a:rPr lang="zh-CN" altLang="en-US" dirty="0"/>
              <a:t>。此外，它们也是新兴柔性和可穿戴电子产品领域的核心，可实现符合人体工程学设计和人体运动的创新设备</a:t>
            </a:r>
            <a:r>
              <a:rPr lang="en-US" altLang="zh-CN" dirty="0"/>
              <a:t>16</a:t>
            </a:r>
            <a:r>
              <a:rPr lang="zh-CN" altLang="en-US" dirty="0"/>
              <a:t>、</a:t>
            </a:r>
            <a:r>
              <a:rPr lang="en-US" altLang="zh-CN" dirty="0"/>
              <a:t>17</a:t>
            </a:r>
            <a:r>
              <a:rPr lang="zh-CN" altLang="en-US" dirty="0"/>
              <a:t>、</a:t>
            </a:r>
            <a:r>
              <a:rPr lang="en-US" altLang="zh-CN" dirty="0"/>
              <a:t>18</a:t>
            </a:r>
            <a:r>
              <a:rPr lang="zh-CN" altLang="en-US" dirty="0"/>
              <a:t>、</a:t>
            </a:r>
            <a:r>
              <a:rPr lang="en-US" altLang="zh-CN" dirty="0"/>
              <a:t>19</a:t>
            </a:r>
            <a:r>
              <a:rPr lang="zh-CN" altLang="en-US" dirty="0"/>
              <a:t>、</a:t>
            </a:r>
            <a:r>
              <a:rPr lang="en-US" altLang="zh-CN" dirty="0"/>
              <a:t>20</a:t>
            </a:r>
            <a:r>
              <a:rPr lang="zh-CN" altLang="en-US" dirty="0"/>
              <a:t>。</a:t>
            </a:r>
          </a:p>
        </p:txBody>
      </p:sp>
      <p:sp>
        <p:nvSpPr>
          <p:cNvPr id="4" name="灯片编号占位符 3">
            <a:extLst>
              <a:ext uri="{FF2B5EF4-FFF2-40B4-BE49-F238E27FC236}">
                <a16:creationId xmlns:a16="http://schemas.microsoft.com/office/drawing/2014/main" id="{C1C805A6-47F7-550A-9329-CD7CC061C044}"/>
              </a:ext>
            </a:extLst>
          </p:cNvPr>
          <p:cNvSpPr>
            <a:spLocks noGrp="1"/>
          </p:cNvSpPr>
          <p:nvPr>
            <p:ph type="sldNum" sz="quarter" idx="5"/>
          </p:nvPr>
        </p:nvSpPr>
        <p:spPr/>
        <p:txBody>
          <a:bodyPr/>
          <a:lstStyle/>
          <a:p>
            <a:fld id="{84918B77-9CB1-4C48-BED5-B02F24F09A98}" type="slidenum">
              <a:rPr lang="zh-CN" altLang="en-US" smtClean="0"/>
              <a:t>31</a:t>
            </a:fld>
            <a:endParaRPr lang="zh-CN" altLang="en-US"/>
          </a:p>
        </p:txBody>
      </p:sp>
    </p:spTree>
    <p:extLst>
      <p:ext uri="{BB962C8B-B14F-4D97-AF65-F5344CB8AC3E}">
        <p14:creationId xmlns:p14="http://schemas.microsoft.com/office/powerpoint/2010/main" val="225805598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C26D6-ECD9-7C26-8E13-1B0414FD3C1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4EB2334-EEFB-23C6-7523-3765FA3A538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DC05218-5898-B928-77BE-3BD53BEF739F}"/>
              </a:ext>
            </a:extLst>
          </p:cNvPr>
          <p:cNvSpPr>
            <a:spLocks noGrp="1"/>
          </p:cNvSpPr>
          <p:nvPr>
            <p:ph type="body" idx="1"/>
          </p:nvPr>
        </p:nvSpPr>
        <p:spPr/>
        <p:txBody>
          <a:bodyPr/>
          <a:lstStyle/>
          <a:p>
            <a:endParaRPr lang="en-US" altLang="zh-CN" dirty="0"/>
          </a:p>
          <a:p>
            <a:r>
              <a:rPr lang="zh-CN" altLang="en-US" dirty="0"/>
              <a:t>印刷电子是基于印刷原理制造电子设备的技术</a:t>
            </a:r>
            <a:r>
              <a:rPr lang="en-US" altLang="zh-CN" dirty="0"/>
              <a:t>[1]</a:t>
            </a:r>
            <a:r>
              <a:rPr lang="zh-CN" altLang="en-US" dirty="0"/>
              <a:t>。与传统印刷技术不同，印刷机中使用的油墨是具有导电、介电、半导体或磁性的电子材料。印刷电子与有机电子、塑料电子、柔性电子和纸电子等多个领域密切相关</a:t>
            </a:r>
            <a:r>
              <a:rPr lang="en-US" altLang="zh-CN" dirty="0"/>
              <a:t>[2]</a:t>
            </a:r>
            <a:r>
              <a:rPr lang="zh-CN" altLang="en-US" dirty="0"/>
              <a:t>，这意味着不仅可以在硅和玻璃上印刷电路，还可以在塑料、纸张和更柔性的基板上印刷电路。生产柔性电子产品的方法之一是将导电材料直接印刷到柔性基板上。经典的柔性电子是指将有机</a:t>
            </a:r>
            <a:r>
              <a:rPr lang="en-US" altLang="zh-CN" dirty="0"/>
              <a:t>/</a:t>
            </a:r>
            <a:r>
              <a:rPr lang="zh-CN" altLang="en-US" dirty="0"/>
              <a:t>无机电子器件沉积在柔性基板上形成电路的技术</a:t>
            </a:r>
            <a:r>
              <a:rPr lang="en-US" altLang="zh-CN" dirty="0"/>
              <a:t>[3]</a:t>
            </a:r>
            <a:r>
              <a:rPr lang="zh-CN" altLang="en-US" dirty="0"/>
              <a:t>。虽然刚性电路板可以保护电子元件免受损坏，但它限制了电子产品的延展性和柔韧性。柔性电子具有柔软、延展性好、制造成本低等优点，可在信息、能源、医学和国防技术领域提供智能传感器、执行器、柔性显示器、有机发光二极管 </a:t>
            </a:r>
            <a:r>
              <a:rPr lang="en-US" altLang="zh-CN" dirty="0"/>
              <a:t>(OLED) </a:t>
            </a:r>
            <a:r>
              <a:rPr lang="zh-CN" altLang="en-US" dirty="0"/>
              <a:t>等。与传统的刚性微电子相比，柔性电子最显著的特点是其柔韧性，这使得它们可拉伸、保形、便携、可穿戴，并易于快速打印 </a:t>
            </a:r>
            <a:r>
              <a:rPr lang="en-US" altLang="zh-CN" dirty="0"/>
              <a:t>[4,5,6,7,8]</a:t>
            </a:r>
            <a:r>
              <a:rPr lang="zh-CN" altLang="en-US" dirty="0"/>
              <a:t>。由于柔性电子在电气、可打印、生物医学和传感特性方面的独特优势，它可以在电子元件 </a:t>
            </a:r>
            <a:r>
              <a:rPr lang="en-US" altLang="zh-CN" dirty="0"/>
              <a:t>[9]</a:t>
            </a:r>
            <a:r>
              <a:rPr lang="zh-CN" altLang="en-US" dirty="0"/>
              <a:t>、打印技术、植入式设备 </a:t>
            </a:r>
            <a:r>
              <a:rPr lang="en-US" altLang="zh-CN" dirty="0"/>
              <a:t>[10] </a:t>
            </a:r>
            <a:r>
              <a:rPr lang="zh-CN" altLang="en-US" dirty="0"/>
              <a:t>和健康监测器 </a:t>
            </a:r>
            <a:r>
              <a:rPr lang="en-US" altLang="zh-CN" dirty="0"/>
              <a:t>[11] </a:t>
            </a:r>
            <a:r>
              <a:rPr lang="zh-CN" altLang="en-US" dirty="0"/>
              <a:t>等领域得到广泛应用，具体用途包括天线 </a:t>
            </a:r>
            <a:r>
              <a:rPr lang="en-US" altLang="zh-CN" dirty="0"/>
              <a:t>[12]</a:t>
            </a:r>
            <a:r>
              <a:rPr lang="zh-CN" altLang="en-US" dirty="0"/>
              <a:t>、眼球摄像头 </a:t>
            </a:r>
            <a:r>
              <a:rPr lang="en-US" altLang="zh-CN" dirty="0"/>
              <a:t>[13] </a:t>
            </a:r>
            <a:r>
              <a:rPr lang="zh-CN" altLang="en-US" dirty="0"/>
              <a:t>和压力传感器 </a:t>
            </a:r>
            <a:r>
              <a:rPr lang="en-US" altLang="zh-CN" dirty="0"/>
              <a:t>[14] </a:t>
            </a:r>
            <a:r>
              <a:rPr lang="zh-CN" altLang="en-US" dirty="0"/>
              <a:t>等。如今，人们已采用两种常见策略来提高电子产品的柔软度 </a:t>
            </a:r>
            <a:r>
              <a:rPr lang="en-US" altLang="zh-CN" dirty="0"/>
              <a:t>[15]</a:t>
            </a:r>
            <a:r>
              <a:rPr lang="zh-CN" altLang="en-US" dirty="0"/>
              <a:t>。一种是将坚硬的导电材料嵌入到可拉伸的基底上，例如聚二甲基硅氧烷 </a:t>
            </a:r>
            <a:r>
              <a:rPr lang="en-US" altLang="zh-CN" dirty="0"/>
              <a:t>(PDMS)</a:t>
            </a:r>
            <a:r>
              <a:rPr lang="zh-CN" altLang="en-US" dirty="0"/>
              <a:t>。</a:t>
            </a:r>
            <a:r>
              <a:rPr lang="en-US" altLang="zh-CN" dirty="0"/>
              <a:t>Rogers </a:t>
            </a:r>
            <a:r>
              <a:rPr lang="zh-CN" altLang="en-US" dirty="0"/>
              <a:t>等人引入了一种复杂的波浪结构来保持电路的可拉伸性，当应力作用于柔软的基底上时，它可以吸收较大的张力 </a:t>
            </a:r>
            <a:r>
              <a:rPr lang="en-US" altLang="zh-CN" dirty="0"/>
              <a:t>[16,17]</a:t>
            </a:r>
            <a:r>
              <a:rPr lang="zh-CN" altLang="en-US" dirty="0"/>
              <a:t>。另一种是使用固有可拉伸的导体来形成电路 </a:t>
            </a:r>
            <a:r>
              <a:rPr lang="en-US" altLang="zh-CN" dirty="0"/>
              <a:t>[18]</a:t>
            </a:r>
            <a:r>
              <a:rPr lang="zh-CN" altLang="en-US" dirty="0"/>
              <a:t>。</a:t>
            </a:r>
            <a:r>
              <a:rPr lang="en-US" altLang="zh-CN" dirty="0"/>
              <a:t>Russo </a:t>
            </a:r>
            <a:r>
              <a:rPr lang="zh-CN" altLang="en-US" dirty="0"/>
              <a:t>等人展示了一种使用导电银墨水连接电路的方法，这种方法可以直接在纸上书写导电文字以连接发光二极管 </a:t>
            </a:r>
            <a:r>
              <a:rPr lang="en-US" altLang="zh-CN" dirty="0"/>
              <a:t>(LED) </a:t>
            </a:r>
            <a:r>
              <a:rPr lang="zh-CN" altLang="en-US" dirty="0"/>
              <a:t>阵列和三维 </a:t>
            </a:r>
            <a:r>
              <a:rPr lang="en-US" altLang="zh-CN" dirty="0"/>
              <a:t>(3D) </a:t>
            </a:r>
            <a:r>
              <a:rPr lang="zh-CN" altLang="en-US" dirty="0"/>
              <a:t>天线 </a:t>
            </a:r>
            <a:r>
              <a:rPr lang="en-US" altLang="zh-CN" dirty="0"/>
              <a:t>[12]</a:t>
            </a:r>
            <a:r>
              <a:rPr lang="zh-CN" altLang="en-US" dirty="0"/>
              <a:t>。显然，柔性印刷电子 </a:t>
            </a:r>
            <a:r>
              <a:rPr lang="en-US" altLang="zh-CN" dirty="0"/>
              <a:t>(FPE) </a:t>
            </a:r>
            <a:r>
              <a:rPr lang="zh-CN" altLang="en-US" dirty="0"/>
              <a:t>结合了柔性电子和印刷电子的特点。通过这种方式，人们可以快速制造出功能齐全的柔性电子设备。随着印刷技术的成熟，柔性印刷已成为研究的热门话题。目前已经出现了几种典型的印刷技术，例如敲击模式印刷</a:t>
            </a:r>
            <a:r>
              <a:rPr lang="en-US" altLang="zh-CN" dirty="0"/>
              <a:t>[18]</a:t>
            </a:r>
            <a:r>
              <a:rPr lang="zh-CN" altLang="en-US" dirty="0"/>
              <a:t>、气溶胶喷射印刷、卷对卷技术</a:t>
            </a:r>
            <a:r>
              <a:rPr lang="en-US" altLang="zh-CN" dirty="0"/>
              <a:t>[19]</a:t>
            </a:r>
            <a:r>
              <a:rPr lang="zh-CN" altLang="en-US" dirty="0"/>
              <a:t>、喷墨印刷</a:t>
            </a:r>
            <a:r>
              <a:rPr lang="en-US" altLang="zh-CN" dirty="0"/>
              <a:t>[20]</a:t>
            </a:r>
            <a:r>
              <a:rPr lang="zh-CN" altLang="en-US" dirty="0"/>
              <a:t>以及微笔和刷子印刷</a:t>
            </a:r>
            <a:r>
              <a:rPr lang="en-US" altLang="zh-CN" dirty="0"/>
              <a:t>[21,22]</a:t>
            </a:r>
            <a:r>
              <a:rPr lang="zh-CN" altLang="en-US" dirty="0"/>
              <a:t>。其中，微笔也许是最简单的方法：将电墨水泵入墨盒中直接写出导电文字。这使得在 </a:t>
            </a:r>
            <a:r>
              <a:rPr lang="en-US" altLang="zh-CN" dirty="0"/>
              <a:t>A4 </a:t>
            </a:r>
            <a:r>
              <a:rPr lang="zh-CN" altLang="en-US" dirty="0"/>
              <a:t>纸上绘制电路图成为可能。微笔明显降低了电路生产的复杂性并提高了电子电路制造的效率。</a:t>
            </a:r>
            <a:r>
              <a:rPr lang="en-US" altLang="zh-CN" dirty="0"/>
              <a:t>FPE </a:t>
            </a:r>
            <a:r>
              <a:rPr lang="zh-CN" altLang="en-US" dirty="0"/>
              <a:t>在不同领域取得了重大成就，例如柔性显示设备</a:t>
            </a:r>
            <a:r>
              <a:rPr lang="en-US" altLang="zh-CN" dirty="0"/>
              <a:t>[23]</a:t>
            </a:r>
            <a:r>
              <a:rPr lang="zh-CN" altLang="en-US" dirty="0"/>
              <a:t>、薄膜太阳能电池</a:t>
            </a:r>
            <a:r>
              <a:rPr lang="en-US" altLang="zh-CN" dirty="0"/>
              <a:t>[24,25]</a:t>
            </a:r>
            <a:r>
              <a:rPr lang="zh-CN" altLang="en-US" dirty="0"/>
              <a:t>、大面积传感器和驱动器</a:t>
            </a:r>
            <a:r>
              <a:rPr lang="en-US" altLang="zh-CN" dirty="0"/>
              <a:t>[26,27]</a:t>
            </a:r>
            <a:r>
              <a:rPr lang="zh-CN" altLang="en-US" dirty="0"/>
              <a:t>、电子皮肤</a:t>
            </a:r>
            <a:r>
              <a:rPr lang="en-US" altLang="zh-CN" dirty="0"/>
              <a:t>[28]</a:t>
            </a:r>
            <a:r>
              <a:rPr lang="zh-CN" altLang="en-US" dirty="0"/>
              <a:t>、可穿戴电子和生物假肢设备</a:t>
            </a:r>
            <a:r>
              <a:rPr lang="en-US" altLang="zh-CN" dirty="0"/>
              <a:t>[29]</a:t>
            </a:r>
            <a:r>
              <a:rPr lang="zh-CN" altLang="en-US" dirty="0"/>
              <a:t>、自充电系统</a:t>
            </a:r>
            <a:r>
              <a:rPr lang="en-US" altLang="zh-CN" dirty="0"/>
              <a:t>[30]</a:t>
            </a:r>
            <a:r>
              <a:rPr lang="zh-CN" altLang="en-US" dirty="0"/>
              <a:t>、自供电无线监控</a:t>
            </a:r>
            <a:r>
              <a:rPr lang="en-US" altLang="zh-CN" dirty="0"/>
              <a:t>[31]</a:t>
            </a:r>
            <a:r>
              <a:rPr lang="zh-CN" altLang="en-US" dirty="0"/>
              <a:t>等。如果电路具有柔软性、顺应性、可拉伸性和便携性等特性，则可以称其为可弯曲电子设备。与此同时，许多实验室已经开发出具有柔性的电子设备，如弯曲显示器</a:t>
            </a:r>
            <a:r>
              <a:rPr lang="en-US" altLang="zh-CN" dirty="0"/>
              <a:t>[32]</a:t>
            </a:r>
            <a:r>
              <a:rPr lang="zh-CN" altLang="en-US" dirty="0"/>
              <a:t>、折叠电池</a:t>
            </a:r>
            <a:r>
              <a:rPr lang="en-US" altLang="zh-CN" dirty="0"/>
              <a:t>[9]</a:t>
            </a:r>
            <a:r>
              <a:rPr lang="zh-CN" altLang="en-US" dirty="0"/>
              <a:t>、软场效应晶体管</a:t>
            </a:r>
            <a:r>
              <a:rPr lang="en-US" altLang="zh-CN" dirty="0"/>
              <a:t>[33]</a:t>
            </a:r>
            <a:r>
              <a:rPr lang="zh-CN" altLang="en-US" dirty="0"/>
              <a:t>、可拉伸导线</a:t>
            </a:r>
            <a:r>
              <a:rPr lang="en-US" altLang="zh-CN" dirty="0"/>
              <a:t>[34]</a:t>
            </a:r>
            <a:r>
              <a:rPr lang="zh-CN" altLang="en-US" dirty="0"/>
              <a:t>等。</a:t>
            </a:r>
            <a:r>
              <a:rPr lang="en-US" altLang="zh-CN" dirty="0"/>
              <a:t>FPE</a:t>
            </a:r>
            <a:r>
              <a:rPr lang="zh-CN" altLang="en-US" dirty="0"/>
              <a:t>还可以用于健康监测、医学检查、生命体征检测和其他日常生活需求。柔性生物医学设备已广泛应用于植入式设备</a:t>
            </a:r>
            <a:r>
              <a:rPr lang="en-US" altLang="zh-CN" dirty="0"/>
              <a:t>[10]</a:t>
            </a:r>
            <a:r>
              <a:rPr lang="zh-CN" altLang="en-US" dirty="0"/>
              <a:t>、神经连接</a:t>
            </a:r>
            <a:r>
              <a:rPr lang="en-US" altLang="zh-CN" dirty="0"/>
              <a:t>[35,36]</a:t>
            </a:r>
            <a:r>
              <a:rPr lang="zh-CN" altLang="en-US" dirty="0"/>
              <a:t>、健康监测</a:t>
            </a:r>
            <a:r>
              <a:rPr lang="en-US" altLang="zh-CN" dirty="0"/>
              <a:t>[11]</a:t>
            </a:r>
            <a:r>
              <a:rPr lang="zh-CN" altLang="en-US" dirty="0"/>
              <a:t>和可穿戴医疗设备领域。</a:t>
            </a:r>
            <a:r>
              <a:rPr lang="en-US" altLang="zh-CN" dirty="0"/>
              <a:t>FPE</a:t>
            </a:r>
            <a:r>
              <a:rPr lang="zh-CN" altLang="en-US" dirty="0"/>
              <a:t>还用于生物传感，其中最重要的应用是电子皮肤（</a:t>
            </a:r>
            <a:r>
              <a:rPr lang="en-US" altLang="zh-CN" dirty="0"/>
              <a:t>E-skin</a:t>
            </a:r>
            <a:r>
              <a:rPr lang="zh-CN" altLang="en-US" dirty="0"/>
              <a:t>），如压力映射</a:t>
            </a:r>
            <a:r>
              <a:rPr lang="en-US" altLang="zh-CN" dirty="0"/>
              <a:t>[37]</a:t>
            </a:r>
            <a:r>
              <a:rPr lang="zh-CN" altLang="en-US" dirty="0"/>
              <a:t>、自愈传感器</a:t>
            </a:r>
            <a:r>
              <a:rPr lang="en-US" altLang="zh-CN" dirty="0"/>
              <a:t>[38]</a:t>
            </a:r>
            <a:r>
              <a:rPr lang="zh-CN" altLang="en-US" dirty="0"/>
              <a:t>、假肢</a:t>
            </a:r>
            <a:r>
              <a:rPr lang="en-US" altLang="zh-CN" dirty="0"/>
              <a:t>[39]</a:t>
            </a:r>
            <a:r>
              <a:rPr lang="zh-CN" altLang="en-US" dirty="0"/>
              <a:t>、压力传感器</a:t>
            </a:r>
            <a:r>
              <a:rPr lang="en-US" altLang="zh-CN" dirty="0"/>
              <a:t>[14]</a:t>
            </a:r>
            <a:r>
              <a:rPr lang="zh-CN" altLang="en-US" dirty="0"/>
              <a:t>等。许多研究机构正在研究应用于柔性电子皮肤的不同材料。在鲍哲南的实验室，他们发明了一种受皮肤启发的人工机械感受器系统，该受体可以将压力刺激信号转化为人类神经元可以感知的电生理信号</a:t>
            </a:r>
            <a:r>
              <a:rPr lang="en-US" altLang="zh-CN" dirty="0"/>
              <a:t>[40]</a:t>
            </a:r>
          </a:p>
          <a:p>
            <a:endParaRPr lang="en-US" altLang="zh-CN" dirty="0"/>
          </a:p>
          <a:p>
            <a:endParaRPr lang="en-US" altLang="zh-CN" dirty="0"/>
          </a:p>
          <a:p>
            <a:r>
              <a:rPr lang="zh-CN" altLang="en-US" dirty="0"/>
              <a:t>在电子电路设计领域，必须特别注意柔性印刷电路的使用和放置。这些组件以其在各种应用中的灵活性和适应性而闻名，需要小心处理和战略定位以确保最佳性能和使用寿命</a:t>
            </a:r>
            <a:r>
              <a:rPr lang="en-US" altLang="zh-CN" dirty="0"/>
              <a:t>21</a:t>
            </a:r>
            <a:r>
              <a:rPr lang="zh-CN" altLang="en-US" dirty="0"/>
              <a:t>。这种谨慎方法的原因是多方面的：在柔性印刷电路 </a:t>
            </a:r>
            <a:r>
              <a:rPr lang="en-US" altLang="zh-CN" dirty="0"/>
              <a:t>(FPC) </a:t>
            </a:r>
            <a:r>
              <a:rPr lang="zh-CN" altLang="en-US" dirty="0"/>
              <a:t>的设计中，必须解决几个问题以确保其耐用性和功能性。首先，</a:t>
            </a:r>
            <a:r>
              <a:rPr lang="en-US" altLang="zh-CN" dirty="0"/>
              <a:t>FPC </a:t>
            </a:r>
            <a:r>
              <a:rPr lang="zh-CN" altLang="en-US" dirty="0"/>
              <a:t>本质上比刚性对应物更脆弱，容易受到机械损坏，例如裂缝或断裂</a:t>
            </a:r>
            <a:r>
              <a:rPr lang="en-US" altLang="zh-CN" dirty="0"/>
              <a:t>22</a:t>
            </a:r>
            <a:r>
              <a:rPr lang="zh-CN" altLang="en-US" dirty="0"/>
              <a:t>，尤其是在受到外部应力或力</a:t>
            </a:r>
            <a:r>
              <a:rPr lang="en-US" altLang="zh-CN" dirty="0"/>
              <a:t>23 </a:t>
            </a:r>
            <a:r>
              <a:rPr lang="zh-CN" altLang="en-US" dirty="0"/>
              <a:t>时。在 </a:t>
            </a:r>
            <a:r>
              <a:rPr lang="en-US" altLang="zh-CN" dirty="0"/>
              <a:t>FPC </a:t>
            </a:r>
            <a:r>
              <a:rPr lang="zh-CN" altLang="en-US" dirty="0"/>
              <a:t>可能接触其他组件的环境中，尤其是在容易移动或振动的环境中，这种脆弱性会加剧。战略性的物理分离可以显著降低此类损坏的风险。此外，当 </a:t>
            </a:r>
            <a:r>
              <a:rPr lang="en-US" altLang="zh-CN" dirty="0"/>
              <a:t>FPC </a:t>
            </a:r>
            <a:r>
              <a:rPr lang="zh-CN" altLang="en-US" dirty="0"/>
              <a:t>放置得太靠近其他电子元件（尤其是那些产生强电磁场的电子元件）时，</a:t>
            </a:r>
            <a:r>
              <a:rPr lang="en-US" altLang="zh-CN" dirty="0"/>
              <a:t>FPC </a:t>
            </a:r>
            <a:r>
              <a:rPr lang="zh-CN" altLang="en-US" dirty="0"/>
              <a:t>面临着电气干扰的挑战</a:t>
            </a:r>
            <a:r>
              <a:rPr lang="en-US" altLang="zh-CN" dirty="0"/>
              <a:t>24</a:t>
            </a:r>
            <a:r>
              <a:rPr lang="zh-CN" altLang="en-US" dirty="0"/>
              <a:t>。这种干扰会破坏 </a:t>
            </a:r>
            <a:r>
              <a:rPr lang="en-US" altLang="zh-CN" dirty="0"/>
              <a:t>FPC </a:t>
            </a:r>
            <a:r>
              <a:rPr lang="zh-CN" altLang="en-US" dirty="0"/>
              <a:t>上电路的正常运行，导致故障或效率低下。此外，保持信号完整性至关重要</a:t>
            </a:r>
            <a:r>
              <a:rPr lang="en-US" altLang="zh-CN" dirty="0"/>
              <a:t>25</a:t>
            </a:r>
            <a:r>
              <a:rPr lang="zh-CN" altLang="en-US" dirty="0"/>
              <a:t>，因为与其他组件的距离太近可能会导致信号丢失或干扰，这在高频或精密应用中至关重要，因为信号清晰度和完整性至关重要。有效的热管理是另一个关键考虑因素</a:t>
            </a:r>
            <a:r>
              <a:rPr lang="en-US" altLang="zh-CN" dirty="0"/>
              <a:t>26,27</a:t>
            </a:r>
            <a:r>
              <a:rPr lang="zh-CN" altLang="en-US" dirty="0"/>
              <a:t>。如果 </a:t>
            </a:r>
            <a:r>
              <a:rPr lang="en-US" altLang="zh-CN" dirty="0"/>
              <a:t>FPC </a:t>
            </a:r>
            <a:r>
              <a:rPr lang="zh-CN" altLang="en-US" dirty="0"/>
              <a:t>的位置太靠近发热组件，由此产生的高温会对其性能和寿命产生不利影响。足够的间距对于促进适当的散热和防止热过载至关重要，热过载会降低 </a:t>
            </a:r>
            <a:r>
              <a:rPr lang="en-US" altLang="zh-CN" dirty="0"/>
              <a:t>FPC </a:t>
            </a:r>
            <a:r>
              <a:rPr lang="zh-CN" altLang="en-US" dirty="0"/>
              <a:t>的材料和电路性能。最后，</a:t>
            </a:r>
            <a:r>
              <a:rPr lang="en-US" altLang="zh-CN" dirty="0"/>
              <a:t>FPC </a:t>
            </a:r>
            <a:r>
              <a:rPr lang="zh-CN" altLang="en-US" dirty="0"/>
              <a:t>独特的灵活性使它们可以弯曲或弯曲以适应特定的设计，但这种弯曲应该小心控制</a:t>
            </a:r>
            <a:r>
              <a:rPr lang="en-US" altLang="zh-CN" dirty="0"/>
              <a:t>28</a:t>
            </a:r>
            <a:r>
              <a:rPr lang="zh-CN" altLang="en-US" dirty="0"/>
              <a:t>。过度的曲率会对材料施加不当的压力，增加随着时间的推移疲劳和损坏的风险</a:t>
            </a:r>
            <a:r>
              <a:rPr lang="en-US" altLang="zh-CN" dirty="0"/>
              <a:t>29</a:t>
            </a:r>
            <a:r>
              <a:rPr lang="zh-CN" altLang="en-US" dirty="0"/>
              <a:t>。正确管理曲率对于保持 </a:t>
            </a:r>
            <a:r>
              <a:rPr lang="en-US" altLang="zh-CN" dirty="0"/>
              <a:t>FPC </a:t>
            </a:r>
            <a:r>
              <a:rPr lang="zh-CN" altLang="en-US" dirty="0"/>
              <a:t>的结构完整性至关重要。总之，</a:t>
            </a:r>
            <a:r>
              <a:rPr lang="en-US" altLang="zh-CN" dirty="0"/>
              <a:t>FPC </a:t>
            </a:r>
            <a:r>
              <a:rPr lang="zh-CN" altLang="en-US" dirty="0"/>
              <a:t>的战略性放置和处理在电路设计中至关重要。这不仅涉及避免与其他组件的物理接触，还需要考虑电磁兼容性、信号完整性</a:t>
            </a:r>
            <a:r>
              <a:rPr lang="en-US" altLang="zh-CN" dirty="0"/>
              <a:t>30</a:t>
            </a:r>
            <a:r>
              <a:rPr lang="zh-CN" altLang="en-US" dirty="0"/>
              <a:t>、热管理</a:t>
            </a:r>
            <a:r>
              <a:rPr lang="en-US" altLang="zh-CN" dirty="0"/>
              <a:t>31</a:t>
            </a:r>
            <a:r>
              <a:rPr lang="zh-CN" altLang="en-US" dirty="0"/>
              <a:t>和机械应力</a:t>
            </a:r>
            <a:r>
              <a:rPr lang="en-US" altLang="zh-CN" dirty="0"/>
              <a:t>32,33,34</a:t>
            </a:r>
            <a:r>
              <a:rPr lang="zh-CN" altLang="en-US" dirty="0"/>
              <a:t>等方面。这些考虑因素是设计过程不可或缺的，可确保 </a:t>
            </a:r>
            <a:r>
              <a:rPr lang="en-US" altLang="zh-CN" dirty="0"/>
              <a:t>FPC </a:t>
            </a:r>
            <a:r>
              <a:rPr lang="zh-CN" altLang="en-US" dirty="0"/>
              <a:t>在预期应用中有效可靠地发挥作用。对 </a:t>
            </a:r>
            <a:r>
              <a:rPr lang="en-US" altLang="zh-CN" dirty="0"/>
              <a:t>FPC </a:t>
            </a:r>
            <a:r>
              <a:rPr lang="zh-CN" altLang="en-US" dirty="0"/>
              <a:t>相关的细微差别的详细了解对于电子设计领域的专业人士至关重要，值得在学术和技术文献中进行深入讨论。在 </a:t>
            </a:r>
            <a:r>
              <a:rPr lang="en-US" altLang="zh-CN" dirty="0"/>
              <a:t>FPC </a:t>
            </a:r>
            <a:r>
              <a:rPr lang="zh-CN" altLang="en-US" dirty="0"/>
              <a:t>力学和变形领域，</a:t>
            </a:r>
            <a:r>
              <a:rPr lang="en-US" altLang="zh-CN" dirty="0"/>
              <a:t>John </a:t>
            </a:r>
            <a:r>
              <a:rPr lang="zh-CN" altLang="en-US" dirty="0"/>
              <a:t>等人</a:t>
            </a:r>
            <a:r>
              <a:rPr lang="en-US" altLang="zh-CN" dirty="0"/>
              <a:t>35 </a:t>
            </a:r>
            <a:r>
              <a:rPr lang="zh-CN" altLang="en-US" dirty="0"/>
              <a:t>深入研究了与弯曲、成型和弯曲印刷电路相关的机械和材料挑战，特别是针对非玻璃编织材料。他们的研究全面分析了弯曲过程中应变对铜层的影响及其对静态和动态应用的影响，强调了了解材料特性和铜在机械应力下的行为的重要性。同时，</a:t>
            </a:r>
            <a:r>
              <a:rPr lang="en-US" altLang="zh-CN" dirty="0" err="1"/>
              <a:t>Hirotaka</a:t>
            </a:r>
            <a:r>
              <a:rPr lang="en-US" altLang="zh-CN" dirty="0"/>
              <a:t> </a:t>
            </a:r>
            <a:r>
              <a:rPr lang="zh-CN" altLang="en-US" dirty="0"/>
              <a:t>等人 </a:t>
            </a:r>
            <a:r>
              <a:rPr lang="en-US" altLang="zh-CN" dirty="0"/>
              <a:t>36 </a:t>
            </a:r>
            <a:r>
              <a:rPr lang="zh-CN" altLang="en-US" dirty="0"/>
              <a:t>研究了基于 </a:t>
            </a:r>
            <a:r>
              <a:rPr lang="en-US" altLang="zh-CN" dirty="0"/>
              <a:t>FPC </a:t>
            </a:r>
            <a:r>
              <a:rPr lang="zh-CN" altLang="en-US" dirty="0"/>
              <a:t>的平面倒置 </a:t>
            </a:r>
            <a:r>
              <a:rPr lang="en-US" altLang="zh-CN" dirty="0"/>
              <a:t>F </a:t>
            </a:r>
            <a:r>
              <a:rPr lang="zh-CN" altLang="en-US" dirty="0"/>
              <a:t>天线 </a:t>
            </a:r>
            <a:r>
              <a:rPr lang="en-US" altLang="zh-CN" dirty="0"/>
              <a:t>(PIFA) </a:t>
            </a:r>
            <a:r>
              <a:rPr lang="zh-CN" altLang="en-US" dirty="0"/>
              <a:t>的性能特征，重点研究了它在受到机械变形时保持稳定辐射模式和效率的稳健性。他们的研究结果证实了天线适用于紧凑型移动设备，且性能下降最小。此外，</a:t>
            </a:r>
            <a:r>
              <a:rPr lang="en-US" altLang="zh-CN" dirty="0"/>
              <a:t>Ping </a:t>
            </a:r>
            <a:r>
              <a:rPr lang="zh-CN" altLang="en-US" dirty="0"/>
              <a:t>等人 </a:t>
            </a:r>
            <a:r>
              <a:rPr lang="en-US" altLang="zh-CN" dirty="0"/>
              <a:t>22 </a:t>
            </a:r>
            <a:r>
              <a:rPr lang="zh-CN" altLang="en-US" dirty="0"/>
              <a:t>确定了 </a:t>
            </a:r>
            <a:r>
              <a:rPr lang="en-US" altLang="zh-CN" dirty="0"/>
              <a:t>FPC </a:t>
            </a:r>
            <a:r>
              <a:rPr lang="zh-CN" altLang="en-US" dirty="0"/>
              <a:t>应用中常见的故障模式，例如通孔互连问题、走线裂缝和黑垫现象。他们提出了通过改进制造工艺、机械设计和动态应力分布来提高 </a:t>
            </a:r>
            <a:r>
              <a:rPr lang="en-US" altLang="zh-CN" dirty="0"/>
              <a:t>FPC </a:t>
            </a:r>
            <a:r>
              <a:rPr lang="zh-CN" altLang="en-US" dirty="0"/>
              <a:t>可靠性和质量的方法。总的来说，这些研究阐明了 </a:t>
            </a:r>
            <a:r>
              <a:rPr lang="en-US" altLang="zh-CN" dirty="0"/>
              <a:t>FPC </a:t>
            </a:r>
            <a:r>
              <a:rPr lang="zh-CN" altLang="en-US" dirty="0"/>
              <a:t>在先进电子领域设计和应用方面取得的重大进展和持续存在的挑战。基于这些对 </a:t>
            </a:r>
            <a:r>
              <a:rPr lang="en-US" altLang="zh-CN" dirty="0"/>
              <a:t>FPC </a:t>
            </a:r>
            <a:r>
              <a:rPr lang="zh-CN" altLang="en-US" dirty="0"/>
              <a:t>力学和变形的基础见解，进一步的研究专门针对柔性印刷电路板 </a:t>
            </a:r>
            <a:r>
              <a:rPr lang="en-US" altLang="zh-CN" dirty="0"/>
              <a:t>(FPCB) </a:t>
            </a:r>
            <a:r>
              <a:rPr lang="zh-CN" altLang="en-US" dirty="0"/>
              <a:t>的复杂性。最近的研究为这一领域做出了重大贡献。 </a:t>
            </a:r>
            <a:r>
              <a:rPr lang="en-US" altLang="zh-CN" dirty="0"/>
              <a:t>Chong </a:t>
            </a:r>
            <a:r>
              <a:rPr lang="zh-CN" altLang="en-US" dirty="0"/>
              <a:t>等人 </a:t>
            </a:r>
            <a:r>
              <a:rPr lang="en-US" altLang="zh-CN" dirty="0"/>
              <a:t>37 </a:t>
            </a:r>
            <a:r>
              <a:rPr lang="zh-CN" altLang="en-US" dirty="0"/>
              <a:t>深入研究了热条件下的传热和变形方面，使用流体结构相互作用进行模拟。</a:t>
            </a:r>
            <a:r>
              <a:rPr lang="en-US" altLang="zh-CN" dirty="0"/>
              <a:t>Leong </a:t>
            </a:r>
            <a:r>
              <a:rPr lang="zh-CN" altLang="en-US" dirty="0"/>
              <a:t>等人 </a:t>
            </a:r>
            <a:r>
              <a:rPr lang="en-US" altLang="zh-CN" dirty="0"/>
              <a:t>38 </a:t>
            </a:r>
            <a:r>
              <a:rPr lang="zh-CN" altLang="en-US" dirty="0"/>
              <a:t>旨在采用先进的方法优化 </a:t>
            </a:r>
            <a:r>
              <a:rPr lang="en-US" altLang="zh-CN" dirty="0"/>
              <a:t>FPCB </a:t>
            </a:r>
            <a:r>
              <a:rPr lang="zh-CN" altLang="en-US" dirty="0"/>
              <a:t>以减轻应力和挠度。</a:t>
            </a:r>
            <a:r>
              <a:rPr lang="en-US" altLang="zh-CN" dirty="0"/>
              <a:t>Alexander 39 </a:t>
            </a:r>
            <a:r>
              <a:rPr lang="zh-CN" altLang="en-US" dirty="0"/>
              <a:t>专注于 </a:t>
            </a:r>
            <a:r>
              <a:rPr lang="en-US" altLang="zh-CN" dirty="0"/>
              <a:t>FPC </a:t>
            </a:r>
            <a:r>
              <a:rPr lang="zh-CN" altLang="en-US" dirty="0"/>
              <a:t>的机械可靠性，特别是在动态环境中，将疲劳测试与计算分析相结合。</a:t>
            </a:r>
            <a:r>
              <a:rPr lang="en-US" altLang="zh-CN" dirty="0"/>
              <a:t>Liu </a:t>
            </a:r>
            <a:r>
              <a:rPr lang="zh-CN" altLang="en-US" dirty="0"/>
              <a:t>等人 </a:t>
            </a:r>
            <a:r>
              <a:rPr lang="en-US" altLang="zh-CN" dirty="0"/>
              <a:t>40 </a:t>
            </a:r>
            <a:r>
              <a:rPr lang="zh-CN" altLang="en-US" dirty="0"/>
              <a:t>研究了影响 </a:t>
            </a:r>
            <a:r>
              <a:rPr lang="en-US" altLang="zh-CN" dirty="0"/>
              <a:t>FPC </a:t>
            </a:r>
            <a:r>
              <a:rPr lang="zh-CN" altLang="en-US" dirty="0"/>
              <a:t>弯曲的因素，揭示了为材料和设计选择提供了重要见解。</a:t>
            </a:r>
            <a:r>
              <a:rPr lang="en-US" altLang="zh-CN" dirty="0"/>
              <a:t>Zhang </a:t>
            </a:r>
            <a:r>
              <a:rPr lang="zh-CN" altLang="en-US" dirty="0"/>
              <a:t>等人 </a:t>
            </a:r>
            <a:r>
              <a:rPr lang="en-US" altLang="zh-CN" dirty="0"/>
              <a:t>41 </a:t>
            </a:r>
            <a:r>
              <a:rPr lang="zh-CN" altLang="en-US" dirty="0"/>
              <a:t>探索了高加速度下刚挠结合 </a:t>
            </a:r>
            <a:r>
              <a:rPr lang="en-US" altLang="zh-CN" dirty="0"/>
              <a:t>PCB </a:t>
            </a:r>
            <a:r>
              <a:rPr lang="zh-CN" altLang="en-US" dirty="0"/>
              <a:t>的可靠性，揭示了应力动力学。</a:t>
            </a:r>
            <a:r>
              <a:rPr lang="en-US" altLang="zh-CN" dirty="0"/>
              <a:t>Lall </a:t>
            </a:r>
            <a:r>
              <a:rPr lang="zh-CN" altLang="en-US" dirty="0"/>
              <a:t>等人 </a:t>
            </a:r>
            <a:r>
              <a:rPr lang="en-US" altLang="zh-CN" dirty="0"/>
              <a:t>42 </a:t>
            </a:r>
            <a:r>
              <a:rPr lang="zh-CN" altLang="en-US" dirty="0"/>
              <a:t>研究了焊接过程中的变形挑战，而 </a:t>
            </a:r>
            <a:r>
              <a:rPr lang="en-US" altLang="zh-CN" dirty="0"/>
              <a:t>Muhammad </a:t>
            </a:r>
            <a:r>
              <a:rPr lang="zh-CN" altLang="en-US" dirty="0"/>
              <a:t>等人 </a:t>
            </a:r>
            <a:r>
              <a:rPr lang="en-US" altLang="zh-CN" dirty="0"/>
              <a:t>43 </a:t>
            </a:r>
            <a:r>
              <a:rPr lang="zh-CN" altLang="en-US" dirty="0"/>
              <a:t>评估了 </a:t>
            </a:r>
            <a:r>
              <a:rPr lang="en-US" altLang="zh-CN" dirty="0"/>
              <a:t>FPCB </a:t>
            </a:r>
            <a:r>
              <a:rPr lang="zh-CN" altLang="en-US" dirty="0"/>
              <a:t>的焊接后可靠性，强调了制造复杂性。这些研究共同促进了对微电子领域 </a:t>
            </a:r>
            <a:r>
              <a:rPr lang="en-US" altLang="zh-CN" dirty="0"/>
              <a:t>FPCB </a:t>
            </a:r>
            <a:r>
              <a:rPr lang="zh-CN" altLang="en-US" dirty="0"/>
              <a:t>的理解和设计。这项研究解决了理解和应用 </a:t>
            </a:r>
            <a:r>
              <a:rPr lang="en-US" altLang="zh-CN" dirty="0"/>
              <a:t>FPC </a:t>
            </a:r>
            <a:r>
              <a:rPr lang="zh-CN" altLang="en-US" dirty="0"/>
              <a:t>变形的关键差距。我们对不同条件下的 </a:t>
            </a:r>
            <a:r>
              <a:rPr lang="en-US" altLang="zh-CN" dirty="0"/>
              <a:t>FPC </a:t>
            </a:r>
            <a:r>
              <a:rPr lang="zh-CN" altLang="en-US" dirty="0"/>
              <a:t>曲率进行了广泛分析，这是以前研究不足的领域。我们的方法结合了使用 </a:t>
            </a:r>
            <a:r>
              <a:rPr lang="en-US" altLang="zh-CN" dirty="0"/>
              <a:t>Abaqus 2020 </a:t>
            </a:r>
            <a:r>
              <a:rPr lang="zh-CN" altLang="en-US" dirty="0"/>
              <a:t>进行变形行为分析的有限元法 </a:t>
            </a:r>
            <a:r>
              <a:rPr lang="en-US" altLang="zh-CN" dirty="0"/>
              <a:t>(FEM) </a:t>
            </a:r>
            <a:r>
              <a:rPr lang="zh-CN" altLang="en-US" dirty="0"/>
              <a:t>模拟和高级数学建模来检查 </a:t>
            </a:r>
            <a:r>
              <a:rPr lang="en-US" altLang="zh-CN" dirty="0"/>
              <a:t>FPC </a:t>
            </a:r>
            <a:r>
              <a:rPr lang="zh-CN" altLang="en-US" dirty="0"/>
              <a:t>上的曲率和空间分离。在我们的研究中，我们采用了雅可比矩阵迭代法，大大提高了预测 </a:t>
            </a:r>
            <a:r>
              <a:rPr lang="en-US" altLang="zh-CN" dirty="0"/>
              <a:t>FPC </a:t>
            </a:r>
            <a:r>
              <a:rPr lang="zh-CN" altLang="en-US" dirty="0"/>
              <a:t>曲率的精度。我们的发现对 </a:t>
            </a:r>
            <a:r>
              <a:rPr lang="en-US" altLang="zh-CN" dirty="0"/>
              <a:t>FPC </a:t>
            </a:r>
            <a:r>
              <a:rPr lang="zh-CN" altLang="en-US" dirty="0"/>
              <a:t>的设计和制造具有重要意义。它们强调了在 </a:t>
            </a:r>
            <a:r>
              <a:rPr lang="en-US" altLang="zh-CN" dirty="0"/>
              <a:t>FPC </a:t>
            </a:r>
            <a:r>
              <a:rPr lang="zh-CN" altLang="en-US" dirty="0"/>
              <a:t>和相邻组件之间保持自由接触空间以及优化曲率的必要性。这种方法对于防止机械应力、散热效率低下和物理损坏等问题至关重要，这些问题都会对电路功能和整体设备可靠性产生不利影响。此外，我们的研究确定了 </a:t>
            </a:r>
            <a:r>
              <a:rPr lang="en-US" altLang="zh-CN" dirty="0"/>
              <a:t>FPC </a:t>
            </a:r>
            <a:r>
              <a:rPr lang="zh-CN" altLang="en-US" dirty="0"/>
              <a:t>的理想长度，以最大限度地减少最大曲率，从而实现灵活性、结构完整性和可靠性之间的平衡。总之，我们的研究标志着 </a:t>
            </a:r>
            <a:r>
              <a:rPr lang="en-US" altLang="zh-CN" dirty="0"/>
              <a:t>FPC </a:t>
            </a:r>
            <a:r>
              <a:rPr lang="zh-CN" altLang="en-US" dirty="0"/>
              <a:t>研究的重大进步，提供了新的见解和方法。它旨在提高对各种条件下 </a:t>
            </a:r>
            <a:r>
              <a:rPr lang="en-US" altLang="zh-CN" dirty="0"/>
              <a:t>FPC </a:t>
            </a:r>
            <a:r>
              <a:rPr lang="zh-CN" altLang="en-US" dirty="0"/>
              <a:t>行为的理解，为未来的 </a:t>
            </a:r>
            <a:r>
              <a:rPr lang="en-US" altLang="zh-CN" dirty="0"/>
              <a:t>FPC </a:t>
            </a:r>
            <a:r>
              <a:rPr lang="zh-CN" altLang="en-US" dirty="0"/>
              <a:t>设计和应用增强奠定基础，为电子设计和制造领域的设备寿命和性能做出重大贡献。</a:t>
            </a:r>
            <a:endParaRPr lang="en-US" altLang="zh-CN" dirty="0"/>
          </a:p>
          <a:p>
            <a:endParaRPr lang="en-US" altLang="zh-CN" dirty="0"/>
          </a:p>
          <a:p>
            <a:endParaRPr lang="en-US" altLang="zh-CN" dirty="0"/>
          </a:p>
          <a:p>
            <a:endParaRPr lang="en-US" altLang="zh-CN" dirty="0"/>
          </a:p>
          <a:p>
            <a:endParaRPr lang="en-US" altLang="zh-CN" dirty="0"/>
          </a:p>
          <a:p>
            <a:r>
              <a:rPr lang="zh-CN" altLang="en-US" dirty="0"/>
              <a:t>图 </a:t>
            </a:r>
            <a:r>
              <a:rPr lang="en-US" altLang="zh-CN" dirty="0"/>
              <a:t>1. </a:t>
            </a:r>
            <a:r>
              <a:rPr lang="zh-CN" altLang="en-US" dirty="0"/>
              <a:t>基于液态金属的个性化柔性印刷电子产品。“可植入设备”：液态金属神经连接 </a:t>
            </a:r>
            <a:r>
              <a:rPr lang="en-US" altLang="zh-CN" dirty="0"/>
              <a:t>[35] (https://arxiv.org/abs/1404.5931)</a:t>
            </a:r>
            <a:r>
              <a:rPr lang="zh-CN" altLang="en-US" dirty="0"/>
              <a:t>；可注射 </a:t>
            </a:r>
            <a:r>
              <a:rPr lang="en-US" altLang="zh-CN" dirty="0"/>
              <a:t>3D </a:t>
            </a:r>
            <a:r>
              <a:rPr lang="zh-CN" altLang="en-US" dirty="0"/>
              <a:t>生物电极 </a:t>
            </a:r>
            <a:r>
              <a:rPr lang="en-US" altLang="zh-CN" dirty="0"/>
              <a:t>[54]</a:t>
            </a:r>
            <a:r>
              <a:rPr lang="zh-CN" altLang="en-US" dirty="0"/>
              <a:t>（经 </a:t>
            </a:r>
            <a:r>
              <a:rPr lang="en-US" altLang="zh-CN" dirty="0"/>
              <a:t>Jin, C.; Liu, J. et al. </a:t>
            </a:r>
            <a:r>
              <a:rPr lang="zh-CN" altLang="en-US" dirty="0"/>
              <a:t>许可转载，在目标生物组织中可注射 </a:t>
            </a:r>
            <a:r>
              <a:rPr lang="en-US" altLang="zh-CN" dirty="0"/>
              <a:t>3D </a:t>
            </a:r>
            <a:r>
              <a:rPr lang="zh-CN" altLang="en-US" dirty="0"/>
              <a:t>制造医疗电子产品；由 </a:t>
            </a:r>
            <a:r>
              <a:rPr lang="en-US" altLang="zh-CN" dirty="0"/>
              <a:t>Scientific Reports </a:t>
            </a:r>
            <a:r>
              <a:rPr lang="zh-CN" altLang="en-US" dirty="0"/>
              <a:t>于 </a:t>
            </a:r>
            <a:r>
              <a:rPr lang="en-US" altLang="zh-CN" dirty="0"/>
              <a:t>2013 </a:t>
            </a:r>
            <a:r>
              <a:rPr lang="zh-CN" altLang="en-US" dirty="0"/>
              <a:t>年发表。）；液态金属重连神经的电生理测量 </a:t>
            </a:r>
            <a:r>
              <a:rPr lang="en-US" altLang="zh-CN" dirty="0"/>
              <a:t>[36]</a:t>
            </a:r>
            <a:r>
              <a:rPr lang="zh-CN" altLang="en-US" dirty="0"/>
              <a:t>；“电皮肤”：人体上的液态金属电路 </a:t>
            </a:r>
            <a:r>
              <a:rPr lang="en-US" altLang="zh-CN" dirty="0"/>
              <a:t>[55]</a:t>
            </a:r>
            <a:r>
              <a:rPr lang="zh-CN" altLang="en-US" dirty="0"/>
              <a:t>（经 </a:t>
            </a:r>
            <a:r>
              <a:rPr lang="en-US" altLang="zh-CN" dirty="0"/>
              <a:t>Guo, C.; Liu, J. et al. </a:t>
            </a:r>
            <a:r>
              <a:rPr lang="zh-CN" altLang="en-US" dirty="0"/>
              <a:t>许可转载，通过液态金属喷涂和预先设计的掩模在皮肤基底上快速图案化导电元件作为生理测试设备；由 </a:t>
            </a:r>
            <a:r>
              <a:rPr lang="en-US" altLang="zh-CN" dirty="0"/>
              <a:t>Journal of </a:t>
            </a:r>
            <a:r>
              <a:rPr lang="en-US" altLang="zh-CN" dirty="0" err="1"/>
              <a:t>Mterials</a:t>
            </a:r>
            <a:r>
              <a:rPr lang="en-US" altLang="zh-CN" dirty="0"/>
              <a:t> Chemistry B </a:t>
            </a:r>
            <a:r>
              <a:rPr lang="zh-CN" altLang="en-US" dirty="0"/>
              <a:t>于 </a:t>
            </a:r>
            <a:r>
              <a:rPr lang="en-US" altLang="zh-CN" dirty="0"/>
              <a:t>2014 </a:t>
            </a:r>
            <a:r>
              <a:rPr lang="zh-CN" altLang="en-US" dirty="0"/>
              <a:t>年发表。）；人体皮肤上的液态金属标签 </a:t>
            </a:r>
            <a:r>
              <a:rPr lang="en-US" altLang="zh-CN" dirty="0"/>
              <a:t>[56]</a:t>
            </a:r>
            <a:r>
              <a:rPr lang="zh-CN" altLang="en-US" dirty="0"/>
              <a:t>（经 </a:t>
            </a:r>
            <a:r>
              <a:rPr lang="en-US" altLang="zh-CN" dirty="0"/>
              <a:t>Jeong, S.H.; Wu, Z. et al., Liquid Alloy Printing of Microfluidic Stable Electronics </a:t>
            </a:r>
            <a:r>
              <a:rPr lang="zh-CN" altLang="en-US" dirty="0"/>
              <a:t>许可转载；</a:t>
            </a:r>
            <a:r>
              <a:rPr lang="en-US" altLang="zh-CN" dirty="0"/>
              <a:t>Lab on a Chip</a:t>
            </a:r>
            <a:r>
              <a:rPr lang="zh-CN" altLang="en-US" dirty="0"/>
              <a:t>，</a:t>
            </a:r>
            <a:r>
              <a:rPr lang="en-US" altLang="zh-CN" dirty="0"/>
              <a:t>2012 </a:t>
            </a:r>
            <a:r>
              <a:rPr lang="zh-CN" altLang="en-US" dirty="0"/>
              <a:t>年出版）；通过液态金属电极进行心电图测试 </a:t>
            </a:r>
            <a:r>
              <a:rPr lang="en-US" altLang="zh-CN" dirty="0"/>
              <a:t>[57]</a:t>
            </a:r>
            <a:r>
              <a:rPr lang="zh-CN" altLang="en-US" dirty="0"/>
              <a:t>（经 </a:t>
            </a:r>
            <a:r>
              <a:rPr lang="en-US" altLang="zh-CN" dirty="0"/>
              <a:t>Yu, Y.; Zhang, J.; Liu, J., Biomedical Implementation of Liquid Metal Ink as Drawable ECG Electrode and Skin Circuit </a:t>
            </a:r>
            <a:r>
              <a:rPr lang="zh-CN" altLang="en-US" dirty="0"/>
              <a:t>许可转载；</a:t>
            </a:r>
            <a:r>
              <a:rPr lang="en-US" altLang="zh-CN" dirty="0" err="1"/>
              <a:t>PLoS</a:t>
            </a:r>
            <a:r>
              <a:rPr lang="en-US" altLang="zh-CN" dirty="0"/>
              <a:t> ONE</a:t>
            </a:r>
            <a:r>
              <a:rPr lang="zh-CN" altLang="en-US" dirty="0"/>
              <a:t>，</a:t>
            </a:r>
            <a:r>
              <a:rPr lang="en-US" altLang="zh-CN" dirty="0"/>
              <a:t>2013 </a:t>
            </a:r>
            <a:r>
              <a:rPr lang="zh-CN" altLang="en-US" dirty="0"/>
              <a:t>年出版）；“可穿戴生物电子学”：液态金属腕带 </a:t>
            </a:r>
            <a:r>
              <a:rPr lang="en-US" altLang="zh-CN" dirty="0"/>
              <a:t>[58]</a:t>
            </a:r>
            <a:r>
              <a:rPr lang="zh-CN" altLang="en-US" dirty="0"/>
              <a:t>（经 </a:t>
            </a:r>
            <a:r>
              <a:rPr lang="en-US" altLang="zh-CN" dirty="0"/>
              <a:t>Wang, Q.; Yu, Y.; Yang, J.; Liu, J., Fast Fabrication of Flexible Functional Circuits based on Liquid Metal Dual-Trans Printing </a:t>
            </a:r>
            <a:r>
              <a:rPr lang="zh-CN" altLang="en-US" dirty="0"/>
              <a:t>许可转载；</a:t>
            </a:r>
            <a:r>
              <a:rPr lang="en-US" altLang="zh-CN" dirty="0"/>
              <a:t>Advanced Material</a:t>
            </a:r>
            <a:r>
              <a:rPr lang="zh-CN" altLang="en-US" dirty="0"/>
              <a:t>，</a:t>
            </a:r>
            <a:r>
              <a:rPr lang="en-US" altLang="zh-CN" dirty="0"/>
              <a:t>2015 </a:t>
            </a:r>
            <a:r>
              <a:rPr lang="zh-CN" altLang="en-US" dirty="0"/>
              <a:t>年出版）；可穿戴数据手套 </a:t>
            </a:r>
            <a:r>
              <a:rPr lang="en-US" altLang="zh-CN" dirty="0"/>
              <a:t>[59]</a:t>
            </a:r>
            <a:r>
              <a:rPr lang="zh-CN" altLang="en-US" dirty="0"/>
              <a:t>（经 </a:t>
            </a:r>
            <a:r>
              <a:rPr lang="en-US" altLang="zh-CN" dirty="0"/>
              <a:t>Matsuzaki, R.; </a:t>
            </a:r>
            <a:r>
              <a:rPr lang="en-US" altLang="zh-CN" dirty="0" err="1"/>
              <a:t>Tabayashi</a:t>
            </a:r>
            <a:r>
              <a:rPr lang="en-US" altLang="zh-CN" dirty="0"/>
              <a:t>, K. </a:t>
            </a:r>
            <a:r>
              <a:rPr lang="zh-CN" altLang="en-US" dirty="0"/>
              <a:t>许可转载，用于可穿戴电子产品的高拉伸、全局和分布式局部应变传感线，使用增益电极；</a:t>
            </a:r>
            <a:r>
              <a:rPr lang="en-US" altLang="zh-CN" dirty="0"/>
              <a:t>Advanced Functional Material</a:t>
            </a:r>
            <a:r>
              <a:rPr lang="zh-CN" altLang="en-US" dirty="0"/>
              <a:t>，</a:t>
            </a:r>
            <a:r>
              <a:rPr lang="en-US" altLang="zh-CN" dirty="0"/>
              <a:t>2015 </a:t>
            </a:r>
            <a:r>
              <a:rPr lang="zh-CN" altLang="en-US" dirty="0"/>
              <a:t>年出版）；鞋类嵌入式微流体能量收集 </a:t>
            </a:r>
            <a:r>
              <a:rPr lang="en-US" altLang="zh-CN" dirty="0"/>
              <a:t>[60]</a:t>
            </a:r>
            <a:r>
              <a:rPr lang="zh-CN" altLang="en-US" dirty="0"/>
              <a:t>（经 </a:t>
            </a:r>
            <a:r>
              <a:rPr lang="en-US" altLang="zh-CN" dirty="0" err="1"/>
              <a:t>Krupenkin</a:t>
            </a:r>
            <a:r>
              <a:rPr lang="en-US" altLang="zh-CN" dirty="0"/>
              <a:t>, T.; Taylor, J.A. </a:t>
            </a:r>
            <a:r>
              <a:rPr lang="zh-CN" altLang="en-US" dirty="0"/>
              <a:t>许可转载，反向电润湿作为高功率能量收集的新方法；</a:t>
            </a:r>
            <a:r>
              <a:rPr lang="en-US" altLang="zh-CN" dirty="0"/>
              <a:t>Nature Communication</a:t>
            </a:r>
            <a:r>
              <a:rPr lang="zh-CN" altLang="en-US" dirty="0"/>
              <a:t>，</a:t>
            </a:r>
            <a:r>
              <a:rPr lang="en-US" altLang="zh-CN" dirty="0"/>
              <a:t>2011 </a:t>
            </a:r>
            <a:r>
              <a:rPr lang="zh-CN" altLang="en-US" dirty="0"/>
              <a:t>年出版）目前主要以镓及其合金为代表，具有电阻率高、弯曲性强、粘附性低、表面张力大等特性，在当代电子学中，柔性印刷电路 </a:t>
            </a:r>
            <a:r>
              <a:rPr lang="en-US" altLang="zh-CN" dirty="0"/>
              <a:t>(FPC) </a:t>
            </a:r>
            <a:r>
              <a:rPr lang="zh-CN" altLang="en-US" dirty="0"/>
              <a:t>已成为关键，改变了电子设备的设计和功能 </a:t>
            </a:r>
            <a:r>
              <a:rPr lang="en-US" altLang="zh-CN" dirty="0"/>
              <a:t>1,2,3</a:t>
            </a:r>
            <a:r>
              <a:rPr lang="zh-CN" altLang="en-US" dirty="0"/>
              <a:t>。这些电路超越了传统的刚性柔性印刷电路板 </a:t>
            </a:r>
            <a:r>
              <a:rPr lang="en-US" altLang="zh-CN" dirty="0"/>
              <a:t>(PCB)</a:t>
            </a:r>
            <a:r>
              <a:rPr lang="zh-CN" altLang="en-US" dirty="0"/>
              <a:t>，由于采用聚酰亚胺等柔韧的高质量材料构造，因此具有无与伦比的灵活性和适应性。它们能够折叠或扭曲成小空间或不规则空间，从而提高了在物理压力下的耐用性。</a:t>
            </a:r>
            <a:r>
              <a:rPr lang="en-US" altLang="zh-CN" dirty="0"/>
              <a:t>FPC </a:t>
            </a:r>
            <a:r>
              <a:rPr lang="zh-CN" altLang="en-US" dirty="0"/>
              <a:t>的空间和重量效率特别有利，可将多个刚性板和线路整合成更轻、更紧凑的组件 </a:t>
            </a:r>
            <a:r>
              <a:rPr lang="en-US" altLang="zh-CN" dirty="0"/>
              <a:t>4</a:t>
            </a:r>
            <a:r>
              <a:rPr lang="zh-CN" altLang="en-US" dirty="0"/>
              <a:t>、</a:t>
            </a:r>
            <a:r>
              <a:rPr lang="en-US" altLang="zh-CN" dirty="0"/>
              <a:t>5</a:t>
            </a:r>
            <a:r>
              <a:rPr lang="zh-CN" altLang="en-US" dirty="0"/>
              <a:t>、</a:t>
            </a:r>
            <a:r>
              <a:rPr lang="en-US" altLang="zh-CN" dirty="0"/>
              <a:t>6</a:t>
            </a:r>
            <a:r>
              <a:rPr lang="zh-CN" altLang="en-US" dirty="0"/>
              <a:t>。这在航空航天、可穿戴技术和移动设备等必须减少空间和重量的领域至关重要。此外，它们固有的灵活性使它们可用于动态应用，而不会牺牲电路性能或完整性。它们的应用涵盖各个行业，如图 </a:t>
            </a:r>
            <a:r>
              <a:rPr lang="en-US" altLang="zh-CN" dirty="0"/>
              <a:t>17 </a:t>
            </a:r>
            <a:r>
              <a:rPr lang="zh-CN" altLang="en-US" dirty="0"/>
              <a:t>所示。在医疗领域，</a:t>
            </a:r>
            <a:r>
              <a:rPr lang="en-US" altLang="zh-CN" dirty="0"/>
              <a:t>FPC </a:t>
            </a:r>
            <a:r>
              <a:rPr lang="zh-CN" altLang="en-US" dirty="0"/>
              <a:t>有助于实现传感器和植入物等紧凑、灵活的设备，从而提高患者的舒适度和效率 </a:t>
            </a:r>
            <a:r>
              <a:rPr lang="en-US" altLang="zh-CN" dirty="0"/>
              <a:t>8</a:t>
            </a:r>
            <a:r>
              <a:rPr lang="zh-CN" altLang="en-US" dirty="0"/>
              <a:t>、</a:t>
            </a:r>
            <a:r>
              <a:rPr lang="en-US" altLang="zh-CN" dirty="0"/>
              <a:t>9</a:t>
            </a:r>
            <a:r>
              <a:rPr lang="zh-CN" altLang="en-US" dirty="0"/>
              <a:t>、</a:t>
            </a:r>
            <a:r>
              <a:rPr lang="en-US" altLang="zh-CN" dirty="0"/>
              <a:t>10</a:t>
            </a:r>
            <a:r>
              <a:rPr lang="zh-CN" altLang="en-US" dirty="0"/>
              <a:t>、</a:t>
            </a:r>
            <a:r>
              <a:rPr lang="en-US" altLang="zh-CN" dirty="0"/>
              <a:t>11</a:t>
            </a:r>
            <a:r>
              <a:rPr lang="zh-CN" altLang="en-US" dirty="0"/>
              <a:t>。汽车行业将它们用于仪表板显示器和传感器网络等系统中，看重它们对振动和温度变化的抵抗力。在消费电子产品中，</a:t>
            </a:r>
            <a:r>
              <a:rPr lang="en-US" altLang="zh-CN" dirty="0"/>
              <a:t>FPC </a:t>
            </a:r>
            <a:r>
              <a:rPr lang="zh-CN" altLang="en-US" dirty="0"/>
              <a:t>是智能手机、平板电脑和笔记本电脑实现轻薄化的关键</a:t>
            </a:r>
            <a:r>
              <a:rPr lang="en-US" altLang="zh-CN" dirty="0"/>
              <a:t>12</a:t>
            </a:r>
            <a:r>
              <a:rPr lang="zh-CN" altLang="en-US" dirty="0"/>
              <a:t>、</a:t>
            </a:r>
            <a:r>
              <a:rPr lang="en-US" altLang="zh-CN" dirty="0"/>
              <a:t>13</a:t>
            </a:r>
            <a:r>
              <a:rPr lang="zh-CN" altLang="en-US" dirty="0"/>
              <a:t>、</a:t>
            </a:r>
            <a:r>
              <a:rPr lang="en-US" altLang="zh-CN" dirty="0"/>
              <a:t>14</a:t>
            </a:r>
            <a:r>
              <a:rPr lang="zh-CN" altLang="en-US" dirty="0"/>
              <a:t>、</a:t>
            </a:r>
            <a:r>
              <a:rPr lang="en-US" altLang="zh-CN" dirty="0"/>
              <a:t>15</a:t>
            </a:r>
            <a:r>
              <a:rPr lang="zh-CN" altLang="en-US" dirty="0"/>
              <a:t>。此外，它们也是新兴柔性和可穿戴电子产品领域的核心，可实现符合人体工程学设计和人体运动的创新设备</a:t>
            </a:r>
            <a:r>
              <a:rPr lang="en-US" altLang="zh-CN" dirty="0"/>
              <a:t>16</a:t>
            </a:r>
            <a:r>
              <a:rPr lang="zh-CN" altLang="en-US" dirty="0"/>
              <a:t>、</a:t>
            </a:r>
            <a:r>
              <a:rPr lang="en-US" altLang="zh-CN" dirty="0"/>
              <a:t>17</a:t>
            </a:r>
            <a:r>
              <a:rPr lang="zh-CN" altLang="en-US" dirty="0"/>
              <a:t>、</a:t>
            </a:r>
            <a:r>
              <a:rPr lang="en-US" altLang="zh-CN" dirty="0"/>
              <a:t>18</a:t>
            </a:r>
            <a:r>
              <a:rPr lang="zh-CN" altLang="en-US" dirty="0"/>
              <a:t>、</a:t>
            </a:r>
            <a:r>
              <a:rPr lang="en-US" altLang="zh-CN" dirty="0"/>
              <a:t>19</a:t>
            </a:r>
            <a:r>
              <a:rPr lang="zh-CN" altLang="en-US" dirty="0"/>
              <a:t>、</a:t>
            </a:r>
            <a:r>
              <a:rPr lang="en-US" altLang="zh-CN" dirty="0"/>
              <a:t>20</a:t>
            </a:r>
            <a:r>
              <a:rPr lang="zh-CN" altLang="en-US" dirty="0"/>
              <a:t>。</a:t>
            </a:r>
          </a:p>
        </p:txBody>
      </p:sp>
      <p:sp>
        <p:nvSpPr>
          <p:cNvPr id="4" name="灯片编号占位符 3">
            <a:extLst>
              <a:ext uri="{FF2B5EF4-FFF2-40B4-BE49-F238E27FC236}">
                <a16:creationId xmlns:a16="http://schemas.microsoft.com/office/drawing/2014/main" id="{9FFF03A1-ECE4-5CC2-E8D1-2FE8D44A9E19}"/>
              </a:ext>
            </a:extLst>
          </p:cNvPr>
          <p:cNvSpPr>
            <a:spLocks noGrp="1"/>
          </p:cNvSpPr>
          <p:nvPr>
            <p:ph type="sldNum" sz="quarter" idx="5"/>
          </p:nvPr>
        </p:nvSpPr>
        <p:spPr/>
        <p:txBody>
          <a:bodyPr/>
          <a:lstStyle/>
          <a:p>
            <a:fld id="{84918B77-9CB1-4C48-BED5-B02F24F09A98}" type="slidenum">
              <a:rPr lang="zh-CN" altLang="en-US" smtClean="0"/>
              <a:t>32</a:t>
            </a:fld>
            <a:endParaRPr lang="zh-CN" altLang="en-US"/>
          </a:p>
        </p:txBody>
      </p:sp>
    </p:spTree>
    <p:extLst>
      <p:ext uri="{BB962C8B-B14F-4D97-AF65-F5344CB8AC3E}">
        <p14:creationId xmlns:p14="http://schemas.microsoft.com/office/powerpoint/2010/main" val="235844690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45557-DD00-079D-A4EB-53E27D4533B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1942B28-E076-6925-8E24-D95850B7B6D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F82E375-6193-4E1C-ECA6-CD3D6CBC5F0A}"/>
              </a:ext>
            </a:extLst>
          </p:cNvPr>
          <p:cNvSpPr>
            <a:spLocks noGrp="1"/>
          </p:cNvSpPr>
          <p:nvPr>
            <p:ph type="body" idx="1"/>
          </p:nvPr>
        </p:nvSpPr>
        <p:spPr/>
        <p:txBody>
          <a:bodyPr/>
          <a:lstStyle/>
          <a:p>
            <a:endParaRPr lang="en-US" altLang="zh-CN" dirty="0"/>
          </a:p>
          <a:p>
            <a:r>
              <a:rPr lang="zh-CN" altLang="en-US" dirty="0"/>
              <a:t>印刷电子是基于印刷原理制造电子设备的技术</a:t>
            </a:r>
            <a:r>
              <a:rPr lang="en-US" altLang="zh-CN" dirty="0"/>
              <a:t>[1]</a:t>
            </a:r>
            <a:r>
              <a:rPr lang="zh-CN" altLang="en-US" dirty="0"/>
              <a:t>。与传统印刷技术不同，印刷机中使用的油墨是具有导电、介电、半导体或磁性的电子材料。印刷电子与有机电子、塑料电子、柔性电子和纸电子等多个领域密切相关</a:t>
            </a:r>
            <a:r>
              <a:rPr lang="en-US" altLang="zh-CN" dirty="0"/>
              <a:t>[2]</a:t>
            </a:r>
            <a:r>
              <a:rPr lang="zh-CN" altLang="en-US" dirty="0"/>
              <a:t>，这意味着不仅可以在硅和玻璃上印刷电路，还可以在塑料、纸张和更柔性的基板上印刷电路。生产柔性电子产品的方法之一是将导电材料直接印刷到柔性基板上。经典的柔性电子是指将有机</a:t>
            </a:r>
            <a:r>
              <a:rPr lang="en-US" altLang="zh-CN" dirty="0"/>
              <a:t>/</a:t>
            </a:r>
            <a:r>
              <a:rPr lang="zh-CN" altLang="en-US" dirty="0"/>
              <a:t>无机电子器件沉积在柔性基板上形成电路的技术</a:t>
            </a:r>
            <a:r>
              <a:rPr lang="en-US" altLang="zh-CN" dirty="0"/>
              <a:t>[3]</a:t>
            </a:r>
            <a:r>
              <a:rPr lang="zh-CN" altLang="en-US" dirty="0"/>
              <a:t>。虽然刚性电路板可以保护电子元件免受损坏，但它限制了电子产品的延展性和柔韧性。柔性电子具有柔软、延展性好、制造成本低等优点，可在信息、能源、医学和国防技术领域提供智能传感器、执行器、柔性显示器、有机发光二极管 </a:t>
            </a:r>
            <a:r>
              <a:rPr lang="en-US" altLang="zh-CN" dirty="0"/>
              <a:t>(OLED) </a:t>
            </a:r>
            <a:r>
              <a:rPr lang="zh-CN" altLang="en-US" dirty="0"/>
              <a:t>等。与传统的刚性微电子相比，柔性电子最显著的特点是其柔韧性，这使得它们可拉伸、保形、便携、可穿戴，并易于快速打印 </a:t>
            </a:r>
            <a:r>
              <a:rPr lang="en-US" altLang="zh-CN" dirty="0"/>
              <a:t>[4,5,6,7,8]</a:t>
            </a:r>
            <a:r>
              <a:rPr lang="zh-CN" altLang="en-US" dirty="0"/>
              <a:t>。由于柔性电子在电气、可打印、生物医学和传感特性方面的独特优势，它可以在电子元件 </a:t>
            </a:r>
            <a:r>
              <a:rPr lang="en-US" altLang="zh-CN" dirty="0"/>
              <a:t>[9]</a:t>
            </a:r>
            <a:r>
              <a:rPr lang="zh-CN" altLang="en-US" dirty="0"/>
              <a:t>、打印技术、植入式设备 </a:t>
            </a:r>
            <a:r>
              <a:rPr lang="en-US" altLang="zh-CN" dirty="0"/>
              <a:t>[10] </a:t>
            </a:r>
            <a:r>
              <a:rPr lang="zh-CN" altLang="en-US" dirty="0"/>
              <a:t>和健康监测器 </a:t>
            </a:r>
            <a:r>
              <a:rPr lang="en-US" altLang="zh-CN" dirty="0"/>
              <a:t>[11] </a:t>
            </a:r>
            <a:r>
              <a:rPr lang="zh-CN" altLang="en-US" dirty="0"/>
              <a:t>等领域得到广泛应用，具体用途包括天线 </a:t>
            </a:r>
            <a:r>
              <a:rPr lang="en-US" altLang="zh-CN" dirty="0"/>
              <a:t>[12]</a:t>
            </a:r>
            <a:r>
              <a:rPr lang="zh-CN" altLang="en-US" dirty="0"/>
              <a:t>、眼球摄像头 </a:t>
            </a:r>
            <a:r>
              <a:rPr lang="en-US" altLang="zh-CN" dirty="0"/>
              <a:t>[13] </a:t>
            </a:r>
            <a:r>
              <a:rPr lang="zh-CN" altLang="en-US" dirty="0"/>
              <a:t>和压力传感器 </a:t>
            </a:r>
            <a:r>
              <a:rPr lang="en-US" altLang="zh-CN" dirty="0"/>
              <a:t>[14] </a:t>
            </a:r>
            <a:r>
              <a:rPr lang="zh-CN" altLang="en-US" dirty="0"/>
              <a:t>等。如今，人们已采用两种常见策略来提高电子产品的柔软度 </a:t>
            </a:r>
            <a:r>
              <a:rPr lang="en-US" altLang="zh-CN" dirty="0"/>
              <a:t>[15]</a:t>
            </a:r>
            <a:r>
              <a:rPr lang="zh-CN" altLang="en-US" dirty="0"/>
              <a:t>。一种是将坚硬的导电材料嵌入到可拉伸的基底上，例如聚二甲基硅氧烷 </a:t>
            </a:r>
            <a:r>
              <a:rPr lang="en-US" altLang="zh-CN" dirty="0"/>
              <a:t>(PDMS)</a:t>
            </a:r>
            <a:r>
              <a:rPr lang="zh-CN" altLang="en-US" dirty="0"/>
              <a:t>。</a:t>
            </a:r>
            <a:r>
              <a:rPr lang="en-US" altLang="zh-CN" dirty="0"/>
              <a:t>Rogers </a:t>
            </a:r>
            <a:r>
              <a:rPr lang="zh-CN" altLang="en-US" dirty="0"/>
              <a:t>等人引入了一种复杂的波浪结构来保持电路的可拉伸性，当应力作用于柔软的基底上时，它可以吸收较大的张力 </a:t>
            </a:r>
            <a:r>
              <a:rPr lang="en-US" altLang="zh-CN" dirty="0"/>
              <a:t>[16,17]</a:t>
            </a:r>
            <a:r>
              <a:rPr lang="zh-CN" altLang="en-US" dirty="0"/>
              <a:t>。另一种是使用固有可拉伸的导体来形成电路 </a:t>
            </a:r>
            <a:r>
              <a:rPr lang="en-US" altLang="zh-CN" dirty="0"/>
              <a:t>[18]</a:t>
            </a:r>
            <a:r>
              <a:rPr lang="zh-CN" altLang="en-US" dirty="0"/>
              <a:t>。</a:t>
            </a:r>
            <a:r>
              <a:rPr lang="en-US" altLang="zh-CN" dirty="0"/>
              <a:t>Russo </a:t>
            </a:r>
            <a:r>
              <a:rPr lang="zh-CN" altLang="en-US" dirty="0"/>
              <a:t>等人展示了一种使用导电银墨水连接电路的方法，这种方法可以直接在纸上书写导电文字以连接发光二极管 </a:t>
            </a:r>
            <a:r>
              <a:rPr lang="en-US" altLang="zh-CN" dirty="0"/>
              <a:t>(LED) </a:t>
            </a:r>
            <a:r>
              <a:rPr lang="zh-CN" altLang="en-US" dirty="0"/>
              <a:t>阵列和三维 </a:t>
            </a:r>
            <a:r>
              <a:rPr lang="en-US" altLang="zh-CN" dirty="0"/>
              <a:t>(3D) </a:t>
            </a:r>
            <a:r>
              <a:rPr lang="zh-CN" altLang="en-US" dirty="0"/>
              <a:t>天线 </a:t>
            </a:r>
            <a:r>
              <a:rPr lang="en-US" altLang="zh-CN" dirty="0"/>
              <a:t>[12]</a:t>
            </a:r>
            <a:r>
              <a:rPr lang="zh-CN" altLang="en-US" dirty="0"/>
              <a:t>。显然，柔性印刷电子 </a:t>
            </a:r>
            <a:r>
              <a:rPr lang="en-US" altLang="zh-CN" dirty="0"/>
              <a:t>(FPE) </a:t>
            </a:r>
            <a:r>
              <a:rPr lang="zh-CN" altLang="en-US" dirty="0"/>
              <a:t>结合了柔性电子和印刷电子的特点。通过这种方式，人们可以快速制造出功能齐全的柔性电子设备。随着印刷技术的成熟，柔性印刷已成为研究的热门话题。目前已经出现了几种典型的印刷技术，例如敲击模式印刷</a:t>
            </a:r>
            <a:r>
              <a:rPr lang="en-US" altLang="zh-CN" dirty="0"/>
              <a:t>[18]</a:t>
            </a:r>
            <a:r>
              <a:rPr lang="zh-CN" altLang="en-US" dirty="0"/>
              <a:t>、气溶胶喷射印刷、卷对卷技术</a:t>
            </a:r>
            <a:r>
              <a:rPr lang="en-US" altLang="zh-CN" dirty="0"/>
              <a:t>[19]</a:t>
            </a:r>
            <a:r>
              <a:rPr lang="zh-CN" altLang="en-US" dirty="0"/>
              <a:t>、喷墨印刷</a:t>
            </a:r>
            <a:r>
              <a:rPr lang="en-US" altLang="zh-CN" dirty="0"/>
              <a:t>[20]</a:t>
            </a:r>
            <a:r>
              <a:rPr lang="zh-CN" altLang="en-US" dirty="0"/>
              <a:t>以及微笔和刷子印刷</a:t>
            </a:r>
            <a:r>
              <a:rPr lang="en-US" altLang="zh-CN" dirty="0"/>
              <a:t>[21,22]</a:t>
            </a:r>
            <a:r>
              <a:rPr lang="zh-CN" altLang="en-US" dirty="0"/>
              <a:t>。其中，微笔也许是最简单的方法：将电墨水泵入墨盒中直接写出导电文字。这使得在 </a:t>
            </a:r>
            <a:r>
              <a:rPr lang="en-US" altLang="zh-CN" dirty="0"/>
              <a:t>A4 </a:t>
            </a:r>
            <a:r>
              <a:rPr lang="zh-CN" altLang="en-US" dirty="0"/>
              <a:t>纸上绘制电路图成为可能。微笔明显降低了电路生产的复杂性并提高了电子电路制造的效率。</a:t>
            </a:r>
            <a:r>
              <a:rPr lang="en-US" altLang="zh-CN" dirty="0"/>
              <a:t>FPE </a:t>
            </a:r>
            <a:r>
              <a:rPr lang="zh-CN" altLang="en-US" dirty="0"/>
              <a:t>在不同领域取得了重大成就，例如柔性显示设备</a:t>
            </a:r>
            <a:r>
              <a:rPr lang="en-US" altLang="zh-CN" dirty="0"/>
              <a:t>[23]</a:t>
            </a:r>
            <a:r>
              <a:rPr lang="zh-CN" altLang="en-US" dirty="0"/>
              <a:t>、薄膜太阳能电池</a:t>
            </a:r>
            <a:r>
              <a:rPr lang="en-US" altLang="zh-CN" dirty="0"/>
              <a:t>[24,25]</a:t>
            </a:r>
            <a:r>
              <a:rPr lang="zh-CN" altLang="en-US" dirty="0"/>
              <a:t>、大面积传感器和驱动器</a:t>
            </a:r>
            <a:r>
              <a:rPr lang="en-US" altLang="zh-CN" dirty="0"/>
              <a:t>[26,27]</a:t>
            </a:r>
            <a:r>
              <a:rPr lang="zh-CN" altLang="en-US" dirty="0"/>
              <a:t>、电子皮肤</a:t>
            </a:r>
            <a:r>
              <a:rPr lang="en-US" altLang="zh-CN" dirty="0"/>
              <a:t>[28]</a:t>
            </a:r>
            <a:r>
              <a:rPr lang="zh-CN" altLang="en-US" dirty="0"/>
              <a:t>、可穿戴电子和生物假肢设备</a:t>
            </a:r>
            <a:r>
              <a:rPr lang="en-US" altLang="zh-CN" dirty="0"/>
              <a:t>[29]</a:t>
            </a:r>
            <a:r>
              <a:rPr lang="zh-CN" altLang="en-US" dirty="0"/>
              <a:t>、自充电系统</a:t>
            </a:r>
            <a:r>
              <a:rPr lang="en-US" altLang="zh-CN" dirty="0"/>
              <a:t>[30]</a:t>
            </a:r>
            <a:r>
              <a:rPr lang="zh-CN" altLang="en-US" dirty="0"/>
              <a:t>、自供电无线监控</a:t>
            </a:r>
            <a:r>
              <a:rPr lang="en-US" altLang="zh-CN" dirty="0"/>
              <a:t>[31]</a:t>
            </a:r>
            <a:r>
              <a:rPr lang="zh-CN" altLang="en-US" dirty="0"/>
              <a:t>等。如果电路具有柔软性、顺应性、可拉伸性和便携性等特性，则可以称其为可弯曲电子设备。与此同时，许多实验室已经开发出具有柔性的电子设备，如弯曲显示器</a:t>
            </a:r>
            <a:r>
              <a:rPr lang="en-US" altLang="zh-CN" dirty="0"/>
              <a:t>[32]</a:t>
            </a:r>
            <a:r>
              <a:rPr lang="zh-CN" altLang="en-US" dirty="0"/>
              <a:t>、折叠电池</a:t>
            </a:r>
            <a:r>
              <a:rPr lang="en-US" altLang="zh-CN" dirty="0"/>
              <a:t>[9]</a:t>
            </a:r>
            <a:r>
              <a:rPr lang="zh-CN" altLang="en-US" dirty="0"/>
              <a:t>、软场效应晶体管</a:t>
            </a:r>
            <a:r>
              <a:rPr lang="en-US" altLang="zh-CN" dirty="0"/>
              <a:t>[33]</a:t>
            </a:r>
            <a:r>
              <a:rPr lang="zh-CN" altLang="en-US" dirty="0"/>
              <a:t>、可拉伸导线</a:t>
            </a:r>
            <a:r>
              <a:rPr lang="en-US" altLang="zh-CN" dirty="0"/>
              <a:t>[34]</a:t>
            </a:r>
            <a:r>
              <a:rPr lang="zh-CN" altLang="en-US" dirty="0"/>
              <a:t>等。</a:t>
            </a:r>
            <a:r>
              <a:rPr lang="en-US" altLang="zh-CN" dirty="0"/>
              <a:t>FPE</a:t>
            </a:r>
            <a:r>
              <a:rPr lang="zh-CN" altLang="en-US" dirty="0"/>
              <a:t>还可以用于健康监测、医学检查、生命体征检测和其他日常生活需求。柔性生物医学设备已广泛应用于植入式设备</a:t>
            </a:r>
            <a:r>
              <a:rPr lang="en-US" altLang="zh-CN" dirty="0"/>
              <a:t>[10]</a:t>
            </a:r>
            <a:r>
              <a:rPr lang="zh-CN" altLang="en-US" dirty="0"/>
              <a:t>、神经连接</a:t>
            </a:r>
            <a:r>
              <a:rPr lang="en-US" altLang="zh-CN" dirty="0"/>
              <a:t>[35,36]</a:t>
            </a:r>
            <a:r>
              <a:rPr lang="zh-CN" altLang="en-US" dirty="0"/>
              <a:t>、健康监测</a:t>
            </a:r>
            <a:r>
              <a:rPr lang="en-US" altLang="zh-CN" dirty="0"/>
              <a:t>[11]</a:t>
            </a:r>
            <a:r>
              <a:rPr lang="zh-CN" altLang="en-US" dirty="0"/>
              <a:t>和可穿戴医疗设备领域。</a:t>
            </a:r>
            <a:r>
              <a:rPr lang="en-US" altLang="zh-CN" dirty="0"/>
              <a:t>FPE</a:t>
            </a:r>
            <a:r>
              <a:rPr lang="zh-CN" altLang="en-US" dirty="0"/>
              <a:t>还用于生物传感，其中最重要的应用是电子皮肤（</a:t>
            </a:r>
            <a:r>
              <a:rPr lang="en-US" altLang="zh-CN" dirty="0"/>
              <a:t>E-skin</a:t>
            </a:r>
            <a:r>
              <a:rPr lang="zh-CN" altLang="en-US" dirty="0"/>
              <a:t>），如压力映射</a:t>
            </a:r>
            <a:r>
              <a:rPr lang="en-US" altLang="zh-CN" dirty="0"/>
              <a:t>[37]</a:t>
            </a:r>
            <a:r>
              <a:rPr lang="zh-CN" altLang="en-US" dirty="0"/>
              <a:t>、自愈传感器</a:t>
            </a:r>
            <a:r>
              <a:rPr lang="en-US" altLang="zh-CN" dirty="0"/>
              <a:t>[38]</a:t>
            </a:r>
            <a:r>
              <a:rPr lang="zh-CN" altLang="en-US" dirty="0"/>
              <a:t>、假肢</a:t>
            </a:r>
            <a:r>
              <a:rPr lang="en-US" altLang="zh-CN" dirty="0"/>
              <a:t>[39]</a:t>
            </a:r>
            <a:r>
              <a:rPr lang="zh-CN" altLang="en-US" dirty="0"/>
              <a:t>、压力传感器</a:t>
            </a:r>
            <a:r>
              <a:rPr lang="en-US" altLang="zh-CN" dirty="0"/>
              <a:t>[14]</a:t>
            </a:r>
            <a:r>
              <a:rPr lang="zh-CN" altLang="en-US" dirty="0"/>
              <a:t>等。许多研究机构正在研究应用于柔性电子皮肤的不同材料。在鲍哲南的实验室，他们发明了一种受皮肤启发的人工机械感受器系统，该受体可以将压力刺激信号转化为人类神经元可以感知的电生理信号</a:t>
            </a:r>
            <a:r>
              <a:rPr lang="en-US" altLang="zh-CN" dirty="0"/>
              <a:t>[40]</a:t>
            </a:r>
          </a:p>
          <a:p>
            <a:endParaRPr lang="en-US" altLang="zh-CN" dirty="0"/>
          </a:p>
          <a:p>
            <a:endParaRPr lang="en-US" altLang="zh-CN" dirty="0"/>
          </a:p>
          <a:p>
            <a:r>
              <a:rPr lang="zh-CN" altLang="en-US" dirty="0"/>
              <a:t>在电子电路设计领域，必须特别注意柔性印刷电路的使用和放置。这些组件以其在各种应用中的灵活性和适应性而闻名，需要小心处理和战略定位以确保最佳性能和使用寿命</a:t>
            </a:r>
            <a:r>
              <a:rPr lang="en-US" altLang="zh-CN" dirty="0"/>
              <a:t>21</a:t>
            </a:r>
            <a:r>
              <a:rPr lang="zh-CN" altLang="en-US" dirty="0"/>
              <a:t>。这种谨慎方法的原因是多方面的：在柔性印刷电路 </a:t>
            </a:r>
            <a:r>
              <a:rPr lang="en-US" altLang="zh-CN" dirty="0"/>
              <a:t>(FPC) </a:t>
            </a:r>
            <a:r>
              <a:rPr lang="zh-CN" altLang="en-US" dirty="0"/>
              <a:t>的设计中，必须解决几个问题以确保其耐用性和功能性。首先，</a:t>
            </a:r>
            <a:r>
              <a:rPr lang="en-US" altLang="zh-CN" dirty="0"/>
              <a:t>FPC </a:t>
            </a:r>
            <a:r>
              <a:rPr lang="zh-CN" altLang="en-US" dirty="0"/>
              <a:t>本质上比刚性对应物更脆弱，容易受到机械损坏，例如裂缝或断裂</a:t>
            </a:r>
            <a:r>
              <a:rPr lang="en-US" altLang="zh-CN" dirty="0"/>
              <a:t>22</a:t>
            </a:r>
            <a:r>
              <a:rPr lang="zh-CN" altLang="en-US" dirty="0"/>
              <a:t>，尤其是在受到外部应力或力</a:t>
            </a:r>
            <a:r>
              <a:rPr lang="en-US" altLang="zh-CN" dirty="0"/>
              <a:t>23 </a:t>
            </a:r>
            <a:r>
              <a:rPr lang="zh-CN" altLang="en-US" dirty="0"/>
              <a:t>时。在 </a:t>
            </a:r>
            <a:r>
              <a:rPr lang="en-US" altLang="zh-CN" dirty="0"/>
              <a:t>FPC </a:t>
            </a:r>
            <a:r>
              <a:rPr lang="zh-CN" altLang="en-US" dirty="0"/>
              <a:t>可能接触其他组件的环境中，尤其是在容易移动或振动的环境中，这种脆弱性会加剧。战略性的物理分离可以显著降低此类损坏的风险。此外，当 </a:t>
            </a:r>
            <a:r>
              <a:rPr lang="en-US" altLang="zh-CN" dirty="0"/>
              <a:t>FPC </a:t>
            </a:r>
            <a:r>
              <a:rPr lang="zh-CN" altLang="en-US" dirty="0"/>
              <a:t>放置得太靠近其他电子元件（尤其是那些产生强电磁场的电子元件）时，</a:t>
            </a:r>
            <a:r>
              <a:rPr lang="en-US" altLang="zh-CN" dirty="0"/>
              <a:t>FPC </a:t>
            </a:r>
            <a:r>
              <a:rPr lang="zh-CN" altLang="en-US" dirty="0"/>
              <a:t>面临着电气干扰的挑战</a:t>
            </a:r>
            <a:r>
              <a:rPr lang="en-US" altLang="zh-CN" dirty="0"/>
              <a:t>24</a:t>
            </a:r>
            <a:r>
              <a:rPr lang="zh-CN" altLang="en-US" dirty="0"/>
              <a:t>。这种干扰会破坏 </a:t>
            </a:r>
            <a:r>
              <a:rPr lang="en-US" altLang="zh-CN" dirty="0"/>
              <a:t>FPC </a:t>
            </a:r>
            <a:r>
              <a:rPr lang="zh-CN" altLang="en-US" dirty="0"/>
              <a:t>上电路的正常运行，导致故障或效率低下。此外，保持信号完整性至关重要</a:t>
            </a:r>
            <a:r>
              <a:rPr lang="en-US" altLang="zh-CN" dirty="0"/>
              <a:t>25</a:t>
            </a:r>
            <a:r>
              <a:rPr lang="zh-CN" altLang="en-US" dirty="0"/>
              <a:t>，因为与其他组件的距离太近可能会导致信号丢失或干扰，这在高频或精密应用中至关重要，因为信号清晰度和完整性至关重要。有效的热管理是另一个关键考虑因素</a:t>
            </a:r>
            <a:r>
              <a:rPr lang="en-US" altLang="zh-CN" dirty="0"/>
              <a:t>26,27</a:t>
            </a:r>
            <a:r>
              <a:rPr lang="zh-CN" altLang="en-US" dirty="0"/>
              <a:t>。如果 </a:t>
            </a:r>
            <a:r>
              <a:rPr lang="en-US" altLang="zh-CN" dirty="0"/>
              <a:t>FPC </a:t>
            </a:r>
            <a:r>
              <a:rPr lang="zh-CN" altLang="en-US" dirty="0"/>
              <a:t>的位置太靠近发热组件，由此产生的高温会对其性能和寿命产生不利影响。足够的间距对于促进适当的散热和防止热过载至关重要，热过载会降低 </a:t>
            </a:r>
            <a:r>
              <a:rPr lang="en-US" altLang="zh-CN" dirty="0"/>
              <a:t>FPC </a:t>
            </a:r>
            <a:r>
              <a:rPr lang="zh-CN" altLang="en-US" dirty="0"/>
              <a:t>的材料和电路性能。最后，</a:t>
            </a:r>
            <a:r>
              <a:rPr lang="en-US" altLang="zh-CN" dirty="0"/>
              <a:t>FPC </a:t>
            </a:r>
            <a:r>
              <a:rPr lang="zh-CN" altLang="en-US" dirty="0"/>
              <a:t>独特的灵活性使它们可以弯曲或弯曲以适应特定的设计，但这种弯曲应该小心控制</a:t>
            </a:r>
            <a:r>
              <a:rPr lang="en-US" altLang="zh-CN" dirty="0"/>
              <a:t>28</a:t>
            </a:r>
            <a:r>
              <a:rPr lang="zh-CN" altLang="en-US" dirty="0"/>
              <a:t>。过度的曲率会对材料施加不当的压力，增加随着时间的推移疲劳和损坏的风险</a:t>
            </a:r>
            <a:r>
              <a:rPr lang="en-US" altLang="zh-CN" dirty="0"/>
              <a:t>29</a:t>
            </a:r>
            <a:r>
              <a:rPr lang="zh-CN" altLang="en-US" dirty="0"/>
              <a:t>。正确管理曲率对于保持 </a:t>
            </a:r>
            <a:r>
              <a:rPr lang="en-US" altLang="zh-CN" dirty="0"/>
              <a:t>FPC </a:t>
            </a:r>
            <a:r>
              <a:rPr lang="zh-CN" altLang="en-US" dirty="0"/>
              <a:t>的结构完整性至关重要。总之，</a:t>
            </a:r>
            <a:r>
              <a:rPr lang="en-US" altLang="zh-CN" dirty="0"/>
              <a:t>FPC </a:t>
            </a:r>
            <a:r>
              <a:rPr lang="zh-CN" altLang="en-US" dirty="0"/>
              <a:t>的战略性放置和处理在电路设计中至关重要。这不仅涉及避免与其他组件的物理接触，还需要考虑电磁兼容性、信号完整性</a:t>
            </a:r>
            <a:r>
              <a:rPr lang="en-US" altLang="zh-CN" dirty="0"/>
              <a:t>30</a:t>
            </a:r>
            <a:r>
              <a:rPr lang="zh-CN" altLang="en-US" dirty="0"/>
              <a:t>、热管理</a:t>
            </a:r>
            <a:r>
              <a:rPr lang="en-US" altLang="zh-CN" dirty="0"/>
              <a:t>31</a:t>
            </a:r>
            <a:r>
              <a:rPr lang="zh-CN" altLang="en-US" dirty="0"/>
              <a:t>和机械应力</a:t>
            </a:r>
            <a:r>
              <a:rPr lang="en-US" altLang="zh-CN" dirty="0"/>
              <a:t>32,33,34</a:t>
            </a:r>
            <a:r>
              <a:rPr lang="zh-CN" altLang="en-US" dirty="0"/>
              <a:t>等方面。这些考虑因素是设计过程不可或缺的，可确保 </a:t>
            </a:r>
            <a:r>
              <a:rPr lang="en-US" altLang="zh-CN" dirty="0"/>
              <a:t>FPC </a:t>
            </a:r>
            <a:r>
              <a:rPr lang="zh-CN" altLang="en-US" dirty="0"/>
              <a:t>在预期应用中有效可靠地发挥作用。对 </a:t>
            </a:r>
            <a:r>
              <a:rPr lang="en-US" altLang="zh-CN" dirty="0"/>
              <a:t>FPC </a:t>
            </a:r>
            <a:r>
              <a:rPr lang="zh-CN" altLang="en-US" dirty="0"/>
              <a:t>相关的细微差别的详细了解对于电子设计领域的专业人士至关重要，值得在学术和技术文献中进行深入讨论。在 </a:t>
            </a:r>
            <a:r>
              <a:rPr lang="en-US" altLang="zh-CN" dirty="0"/>
              <a:t>FPC </a:t>
            </a:r>
            <a:r>
              <a:rPr lang="zh-CN" altLang="en-US" dirty="0"/>
              <a:t>力学和变形领域，</a:t>
            </a:r>
            <a:r>
              <a:rPr lang="en-US" altLang="zh-CN" dirty="0"/>
              <a:t>John </a:t>
            </a:r>
            <a:r>
              <a:rPr lang="zh-CN" altLang="en-US" dirty="0"/>
              <a:t>等人</a:t>
            </a:r>
            <a:r>
              <a:rPr lang="en-US" altLang="zh-CN" dirty="0"/>
              <a:t>35 </a:t>
            </a:r>
            <a:r>
              <a:rPr lang="zh-CN" altLang="en-US" dirty="0"/>
              <a:t>深入研究了与弯曲、成型和弯曲印刷电路相关的机械和材料挑战，特别是针对非玻璃编织材料。他们的研究全面分析了弯曲过程中应变对铜层的影响及其对静态和动态应用的影响，强调了了解材料特性和铜在机械应力下的行为的重要性。同时，</a:t>
            </a:r>
            <a:r>
              <a:rPr lang="en-US" altLang="zh-CN" dirty="0" err="1"/>
              <a:t>Hirotaka</a:t>
            </a:r>
            <a:r>
              <a:rPr lang="en-US" altLang="zh-CN" dirty="0"/>
              <a:t> </a:t>
            </a:r>
            <a:r>
              <a:rPr lang="zh-CN" altLang="en-US" dirty="0"/>
              <a:t>等人 </a:t>
            </a:r>
            <a:r>
              <a:rPr lang="en-US" altLang="zh-CN" dirty="0"/>
              <a:t>36 </a:t>
            </a:r>
            <a:r>
              <a:rPr lang="zh-CN" altLang="en-US" dirty="0"/>
              <a:t>研究了基于 </a:t>
            </a:r>
            <a:r>
              <a:rPr lang="en-US" altLang="zh-CN" dirty="0"/>
              <a:t>FPC </a:t>
            </a:r>
            <a:r>
              <a:rPr lang="zh-CN" altLang="en-US" dirty="0"/>
              <a:t>的平面倒置 </a:t>
            </a:r>
            <a:r>
              <a:rPr lang="en-US" altLang="zh-CN" dirty="0"/>
              <a:t>F </a:t>
            </a:r>
            <a:r>
              <a:rPr lang="zh-CN" altLang="en-US" dirty="0"/>
              <a:t>天线 </a:t>
            </a:r>
            <a:r>
              <a:rPr lang="en-US" altLang="zh-CN" dirty="0"/>
              <a:t>(PIFA) </a:t>
            </a:r>
            <a:r>
              <a:rPr lang="zh-CN" altLang="en-US" dirty="0"/>
              <a:t>的性能特征，重点研究了它在受到机械变形时保持稳定辐射模式和效率的稳健性。他们的研究结果证实了天线适用于紧凑型移动设备，且性能下降最小。此外，</a:t>
            </a:r>
            <a:r>
              <a:rPr lang="en-US" altLang="zh-CN" dirty="0"/>
              <a:t>Ping </a:t>
            </a:r>
            <a:r>
              <a:rPr lang="zh-CN" altLang="en-US" dirty="0"/>
              <a:t>等人 </a:t>
            </a:r>
            <a:r>
              <a:rPr lang="en-US" altLang="zh-CN" dirty="0"/>
              <a:t>22 </a:t>
            </a:r>
            <a:r>
              <a:rPr lang="zh-CN" altLang="en-US" dirty="0"/>
              <a:t>确定了 </a:t>
            </a:r>
            <a:r>
              <a:rPr lang="en-US" altLang="zh-CN" dirty="0"/>
              <a:t>FPC </a:t>
            </a:r>
            <a:r>
              <a:rPr lang="zh-CN" altLang="en-US" dirty="0"/>
              <a:t>应用中常见的故障模式，例如通孔互连问题、走线裂缝和黑垫现象。他们提出了通过改进制造工艺、机械设计和动态应力分布来提高 </a:t>
            </a:r>
            <a:r>
              <a:rPr lang="en-US" altLang="zh-CN" dirty="0"/>
              <a:t>FPC </a:t>
            </a:r>
            <a:r>
              <a:rPr lang="zh-CN" altLang="en-US" dirty="0"/>
              <a:t>可靠性和质量的方法。总的来说，这些研究阐明了 </a:t>
            </a:r>
            <a:r>
              <a:rPr lang="en-US" altLang="zh-CN" dirty="0"/>
              <a:t>FPC </a:t>
            </a:r>
            <a:r>
              <a:rPr lang="zh-CN" altLang="en-US" dirty="0"/>
              <a:t>在先进电子领域设计和应用方面取得的重大进展和持续存在的挑战。基于这些对 </a:t>
            </a:r>
            <a:r>
              <a:rPr lang="en-US" altLang="zh-CN" dirty="0"/>
              <a:t>FPC </a:t>
            </a:r>
            <a:r>
              <a:rPr lang="zh-CN" altLang="en-US" dirty="0"/>
              <a:t>力学和变形的基础见解，进一步的研究专门针对柔性印刷电路板 </a:t>
            </a:r>
            <a:r>
              <a:rPr lang="en-US" altLang="zh-CN" dirty="0"/>
              <a:t>(FPCB) </a:t>
            </a:r>
            <a:r>
              <a:rPr lang="zh-CN" altLang="en-US" dirty="0"/>
              <a:t>的复杂性。最近的研究为这一领域做出了重大贡献。 </a:t>
            </a:r>
            <a:r>
              <a:rPr lang="en-US" altLang="zh-CN" dirty="0"/>
              <a:t>Chong </a:t>
            </a:r>
            <a:r>
              <a:rPr lang="zh-CN" altLang="en-US" dirty="0"/>
              <a:t>等人 </a:t>
            </a:r>
            <a:r>
              <a:rPr lang="en-US" altLang="zh-CN" dirty="0"/>
              <a:t>37 </a:t>
            </a:r>
            <a:r>
              <a:rPr lang="zh-CN" altLang="en-US" dirty="0"/>
              <a:t>深入研究了热条件下的传热和变形方面，使用流体结构相互作用进行模拟。</a:t>
            </a:r>
            <a:r>
              <a:rPr lang="en-US" altLang="zh-CN" dirty="0"/>
              <a:t>Leong </a:t>
            </a:r>
            <a:r>
              <a:rPr lang="zh-CN" altLang="en-US" dirty="0"/>
              <a:t>等人 </a:t>
            </a:r>
            <a:r>
              <a:rPr lang="en-US" altLang="zh-CN" dirty="0"/>
              <a:t>38 </a:t>
            </a:r>
            <a:r>
              <a:rPr lang="zh-CN" altLang="en-US" dirty="0"/>
              <a:t>旨在采用先进的方法优化 </a:t>
            </a:r>
            <a:r>
              <a:rPr lang="en-US" altLang="zh-CN" dirty="0"/>
              <a:t>FPCB </a:t>
            </a:r>
            <a:r>
              <a:rPr lang="zh-CN" altLang="en-US" dirty="0"/>
              <a:t>以减轻应力和挠度。</a:t>
            </a:r>
            <a:r>
              <a:rPr lang="en-US" altLang="zh-CN" dirty="0"/>
              <a:t>Alexander 39 </a:t>
            </a:r>
            <a:r>
              <a:rPr lang="zh-CN" altLang="en-US" dirty="0"/>
              <a:t>专注于 </a:t>
            </a:r>
            <a:r>
              <a:rPr lang="en-US" altLang="zh-CN" dirty="0"/>
              <a:t>FPC </a:t>
            </a:r>
            <a:r>
              <a:rPr lang="zh-CN" altLang="en-US" dirty="0"/>
              <a:t>的机械可靠性，特别是在动态环境中，将疲劳测试与计算分析相结合。</a:t>
            </a:r>
            <a:r>
              <a:rPr lang="en-US" altLang="zh-CN" dirty="0"/>
              <a:t>Liu </a:t>
            </a:r>
            <a:r>
              <a:rPr lang="zh-CN" altLang="en-US" dirty="0"/>
              <a:t>等人 </a:t>
            </a:r>
            <a:r>
              <a:rPr lang="en-US" altLang="zh-CN" dirty="0"/>
              <a:t>40 </a:t>
            </a:r>
            <a:r>
              <a:rPr lang="zh-CN" altLang="en-US" dirty="0"/>
              <a:t>研究了影响 </a:t>
            </a:r>
            <a:r>
              <a:rPr lang="en-US" altLang="zh-CN" dirty="0"/>
              <a:t>FPC </a:t>
            </a:r>
            <a:r>
              <a:rPr lang="zh-CN" altLang="en-US" dirty="0"/>
              <a:t>弯曲的因素，揭示了为材料和设计选择提供了重要见解。</a:t>
            </a:r>
            <a:r>
              <a:rPr lang="en-US" altLang="zh-CN" dirty="0"/>
              <a:t>Zhang </a:t>
            </a:r>
            <a:r>
              <a:rPr lang="zh-CN" altLang="en-US" dirty="0"/>
              <a:t>等人 </a:t>
            </a:r>
            <a:r>
              <a:rPr lang="en-US" altLang="zh-CN" dirty="0"/>
              <a:t>41 </a:t>
            </a:r>
            <a:r>
              <a:rPr lang="zh-CN" altLang="en-US" dirty="0"/>
              <a:t>探索了高加速度下刚挠结合 </a:t>
            </a:r>
            <a:r>
              <a:rPr lang="en-US" altLang="zh-CN" dirty="0"/>
              <a:t>PCB </a:t>
            </a:r>
            <a:r>
              <a:rPr lang="zh-CN" altLang="en-US" dirty="0"/>
              <a:t>的可靠性，揭示了应力动力学。</a:t>
            </a:r>
            <a:r>
              <a:rPr lang="en-US" altLang="zh-CN" dirty="0"/>
              <a:t>Lall </a:t>
            </a:r>
            <a:r>
              <a:rPr lang="zh-CN" altLang="en-US" dirty="0"/>
              <a:t>等人 </a:t>
            </a:r>
            <a:r>
              <a:rPr lang="en-US" altLang="zh-CN" dirty="0"/>
              <a:t>42 </a:t>
            </a:r>
            <a:r>
              <a:rPr lang="zh-CN" altLang="en-US" dirty="0"/>
              <a:t>研究了焊接过程中的变形挑战，而 </a:t>
            </a:r>
            <a:r>
              <a:rPr lang="en-US" altLang="zh-CN" dirty="0"/>
              <a:t>Muhammad </a:t>
            </a:r>
            <a:r>
              <a:rPr lang="zh-CN" altLang="en-US" dirty="0"/>
              <a:t>等人 </a:t>
            </a:r>
            <a:r>
              <a:rPr lang="en-US" altLang="zh-CN" dirty="0"/>
              <a:t>43 </a:t>
            </a:r>
            <a:r>
              <a:rPr lang="zh-CN" altLang="en-US" dirty="0"/>
              <a:t>评估了 </a:t>
            </a:r>
            <a:r>
              <a:rPr lang="en-US" altLang="zh-CN" dirty="0"/>
              <a:t>FPCB </a:t>
            </a:r>
            <a:r>
              <a:rPr lang="zh-CN" altLang="en-US" dirty="0"/>
              <a:t>的焊接后可靠性，强调了制造复杂性。这些研究共同促进了对微电子领域 </a:t>
            </a:r>
            <a:r>
              <a:rPr lang="en-US" altLang="zh-CN" dirty="0"/>
              <a:t>FPCB </a:t>
            </a:r>
            <a:r>
              <a:rPr lang="zh-CN" altLang="en-US" dirty="0"/>
              <a:t>的理解和设计。这项研究解决了理解和应用 </a:t>
            </a:r>
            <a:r>
              <a:rPr lang="en-US" altLang="zh-CN" dirty="0"/>
              <a:t>FPC </a:t>
            </a:r>
            <a:r>
              <a:rPr lang="zh-CN" altLang="en-US" dirty="0"/>
              <a:t>变形的关键差距。我们对不同条件下的 </a:t>
            </a:r>
            <a:r>
              <a:rPr lang="en-US" altLang="zh-CN" dirty="0"/>
              <a:t>FPC </a:t>
            </a:r>
            <a:r>
              <a:rPr lang="zh-CN" altLang="en-US" dirty="0"/>
              <a:t>曲率进行了广泛分析，这是以前研究不足的领域。我们的方法结合了使用 </a:t>
            </a:r>
            <a:r>
              <a:rPr lang="en-US" altLang="zh-CN" dirty="0"/>
              <a:t>Abaqus 2020 </a:t>
            </a:r>
            <a:r>
              <a:rPr lang="zh-CN" altLang="en-US" dirty="0"/>
              <a:t>进行变形行为分析的有限元法 </a:t>
            </a:r>
            <a:r>
              <a:rPr lang="en-US" altLang="zh-CN" dirty="0"/>
              <a:t>(FEM) </a:t>
            </a:r>
            <a:r>
              <a:rPr lang="zh-CN" altLang="en-US" dirty="0"/>
              <a:t>模拟和高级数学建模来检查 </a:t>
            </a:r>
            <a:r>
              <a:rPr lang="en-US" altLang="zh-CN" dirty="0"/>
              <a:t>FPC </a:t>
            </a:r>
            <a:r>
              <a:rPr lang="zh-CN" altLang="en-US" dirty="0"/>
              <a:t>上的曲率和空间分离。在我们的研究中，我们采用了雅可比矩阵迭代法，大大提高了预测 </a:t>
            </a:r>
            <a:r>
              <a:rPr lang="en-US" altLang="zh-CN" dirty="0"/>
              <a:t>FPC </a:t>
            </a:r>
            <a:r>
              <a:rPr lang="zh-CN" altLang="en-US" dirty="0"/>
              <a:t>曲率的精度。我们的发现对 </a:t>
            </a:r>
            <a:r>
              <a:rPr lang="en-US" altLang="zh-CN" dirty="0"/>
              <a:t>FPC </a:t>
            </a:r>
            <a:r>
              <a:rPr lang="zh-CN" altLang="en-US" dirty="0"/>
              <a:t>的设计和制造具有重要意义。它们强调了在 </a:t>
            </a:r>
            <a:r>
              <a:rPr lang="en-US" altLang="zh-CN" dirty="0"/>
              <a:t>FPC </a:t>
            </a:r>
            <a:r>
              <a:rPr lang="zh-CN" altLang="en-US" dirty="0"/>
              <a:t>和相邻组件之间保持自由接触空间以及优化曲率的必要性。这种方法对于防止机械应力、散热效率低下和物理损坏等问题至关重要，这些问题都会对电路功能和整体设备可靠性产生不利影响。此外，我们的研究确定了 </a:t>
            </a:r>
            <a:r>
              <a:rPr lang="en-US" altLang="zh-CN" dirty="0"/>
              <a:t>FPC </a:t>
            </a:r>
            <a:r>
              <a:rPr lang="zh-CN" altLang="en-US" dirty="0"/>
              <a:t>的理想长度，以最大限度地减少最大曲率，从而实现灵活性、结构完整性和可靠性之间的平衡。总之，我们的研究标志着 </a:t>
            </a:r>
            <a:r>
              <a:rPr lang="en-US" altLang="zh-CN" dirty="0"/>
              <a:t>FPC </a:t>
            </a:r>
            <a:r>
              <a:rPr lang="zh-CN" altLang="en-US" dirty="0"/>
              <a:t>研究的重大进步，提供了新的见解和方法。它旨在提高对各种条件下 </a:t>
            </a:r>
            <a:r>
              <a:rPr lang="en-US" altLang="zh-CN" dirty="0"/>
              <a:t>FPC </a:t>
            </a:r>
            <a:r>
              <a:rPr lang="zh-CN" altLang="en-US" dirty="0"/>
              <a:t>行为的理解，为未来的 </a:t>
            </a:r>
            <a:r>
              <a:rPr lang="en-US" altLang="zh-CN" dirty="0"/>
              <a:t>FPC </a:t>
            </a:r>
            <a:r>
              <a:rPr lang="zh-CN" altLang="en-US" dirty="0"/>
              <a:t>设计和应用增强奠定基础，为电子设计和制造领域的设备寿命和性能做出重大贡献。</a:t>
            </a:r>
            <a:endParaRPr lang="en-US" altLang="zh-CN" dirty="0"/>
          </a:p>
          <a:p>
            <a:endParaRPr lang="en-US" altLang="zh-CN" dirty="0"/>
          </a:p>
          <a:p>
            <a:endParaRPr lang="en-US" altLang="zh-CN" dirty="0"/>
          </a:p>
          <a:p>
            <a:endParaRPr lang="en-US" altLang="zh-CN" dirty="0"/>
          </a:p>
          <a:p>
            <a:endParaRPr lang="en-US" altLang="zh-CN" dirty="0"/>
          </a:p>
          <a:p>
            <a:r>
              <a:rPr lang="zh-CN" altLang="en-US" dirty="0"/>
              <a:t>图 </a:t>
            </a:r>
            <a:r>
              <a:rPr lang="en-US" altLang="zh-CN" dirty="0"/>
              <a:t>1. </a:t>
            </a:r>
            <a:r>
              <a:rPr lang="zh-CN" altLang="en-US" dirty="0"/>
              <a:t>基于液态金属的个性化柔性印刷电子产品。“可植入设备”：液态金属神经连接 </a:t>
            </a:r>
            <a:r>
              <a:rPr lang="en-US" altLang="zh-CN" dirty="0"/>
              <a:t>[35] (https://arxiv.org/abs/1404.5931)</a:t>
            </a:r>
            <a:r>
              <a:rPr lang="zh-CN" altLang="en-US" dirty="0"/>
              <a:t>；可注射 </a:t>
            </a:r>
            <a:r>
              <a:rPr lang="en-US" altLang="zh-CN" dirty="0"/>
              <a:t>3D </a:t>
            </a:r>
            <a:r>
              <a:rPr lang="zh-CN" altLang="en-US" dirty="0"/>
              <a:t>生物电极 </a:t>
            </a:r>
            <a:r>
              <a:rPr lang="en-US" altLang="zh-CN" dirty="0"/>
              <a:t>[54]</a:t>
            </a:r>
            <a:r>
              <a:rPr lang="zh-CN" altLang="en-US" dirty="0"/>
              <a:t>（经 </a:t>
            </a:r>
            <a:r>
              <a:rPr lang="en-US" altLang="zh-CN" dirty="0"/>
              <a:t>Jin, C.; Liu, J. et al. </a:t>
            </a:r>
            <a:r>
              <a:rPr lang="zh-CN" altLang="en-US" dirty="0"/>
              <a:t>许可转载，在目标生物组织中可注射 </a:t>
            </a:r>
            <a:r>
              <a:rPr lang="en-US" altLang="zh-CN" dirty="0"/>
              <a:t>3D </a:t>
            </a:r>
            <a:r>
              <a:rPr lang="zh-CN" altLang="en-US" dirty="0"/>
              <a:t>制造医疗电子产品；由 </a:t>
            </a:r>
            <a:r>
              <a:rPr lang="en-US" altLang="zh-CN" dirty="0"/>
              <a:t>Scientific Reports </a:t>
            </a:r>
            <a:r>
              <a:rPr lang="zh-CN" altLang="en-US" dirty="0"/>
              <a:t>于 </a:t>
            </a:r>
            <a:r>
              <a:rPr lang="en-US" altLang="zh-CN" dirty="0"/>
              <a:t>2013 </a:t>
            </a:r>
            <a:r>
              <a:rPr lang="zh-CN" altLang="en-US" dirty="0"/>
              <a:t>年发表。）；液态金属重连神经的电生理测量 </a:t>
            </a:r>
            <a:r>
              <a:rPr lang="en-US" altLang="zh-CN" dirty="0"/>
              <a:t>[36]</a:t>
            </a:r>
            <a:r>
              <a:rPr lang="zh-CN" altLang="en-US" dirty="0"/>
              <a:t>；“电皮肤”：人体上的液态金属电路 </a:t>
            </a:r>
            <a:r>
              <a:rPr lang="en-US" altLang="zh-CN" dirty="0"/>
              <a:t>[55]</a:t>
            </a:r>
            <a:r>
              <a:rPr lang="zh-CN" altLang="en-US" dirty="0"/>
              <a:t>（经 </a:t>
            </a:r>
            <a:r>
              <a:rPr lang="en-US" altLang="zh-CN" dirty="0"/>
              <a:t>Guo, C.; Liu, J. et al. </a:t>
            </a:r>
            <a:r>
              <a:rPr lang="zh-CN" altLang="en-US" dirty="0"/>
              <a:t>许可转载，通过液态金属喷涂和预先设计的掩模在皮肤基底上快速图案化导电元件作为生理测试设备；由 </a:t>
            </a:r>
            <a:r>
              <a:rPr lang="en-US" altLang="zh-CN" dirty="0"/>
              <a:t>Journal of </a:t>
            </a:r>
            <a:r>
              <a:rPr lang="en-US" altLang="zh-CN" dirty="0" err="1"/>
              <a:t>Mterials</a:t>
            </a:r>
            <a:r>
              <a:rPr lang="en-US" altLang="zh-CN" dirty="0"/>
              <a:t> Chemistry B </a:t>
            </a:r>
            <a:r>
              <a:rPr lang="zh-CN" altLang="en-US" dirty="0"/>
              <a:t>于 </a:t>
            </a:r>
            <a:r>
              <a:rPr lang="en-US" altLang="zh-CN" dirty="0"/>
              <a:t>2014 </a:t>
            </a:r>
            <a:r>
              <a:rPr lang="zh-CN" altLang="en-US" dirty="0"/>
              <a:t>年发表。）；人体皮肤上的液态金属标签 </a:t>
            </a:r>
            <a:r>
              <a:rPr lang="en-US" altLang="zh-CN" dirty="0"/>
              <a:t>[56]</a:t>
            </a:r>
            <a:r>
              <a:rPr lang="zh-CN" altLang="en-US" dirty="0"/>
              <a:t>（经 </a:t>
            </a:r>
            <a:r>
              <a:rPr lang="en-US" altLang="zh-CN" dirty="0"/>
              <a:t>Jeong, S.H.; Wu, Z. et al., Liquid Alloy Printing of Microfluidic Stable Electronics </a:t>
            </a:r>
            <a:r>
              <a:rPr lang="zh-CN" altLang="en-US" dirty="0"/>
              <a:t>许可转载；</a:t>
            </a:r>
            <a:r>
              <a:rPr lang="en-US" altLang="zh-CN" dirty="0"/>
              <a:t>Lab on a Chip</a:t>
            </a:r>
            <a:r>
              <a:rPr lang="zh-CN" altLang="en-US" dirty="0"/>
              <a:t>，</a:t>
            </a:r>
            <a:r>
              <a:rPr lang="en-US" altLang="zh-CN" dirty="0"/>
              <a:t>2012 </a:t>
            </a:r>
            <a:r>
              <a:rPr lang="zh-CN" altLang="en-US" dirty="0"/>
              <a:t>年出版）；通过液态金属电极进行心电图测试 </a:t>
            </a:r>
            <a:r>
              <a:rPr lang="en-US" altLang="zh-CN" dirty="0"/>
              <a:t>[57]</a:t>
            </a:r>
            <a:r>
              <a:rPr lang="zh-CN" altLang="en-US" dirty="0"/>
              <a:t>（经 </a:t>
            </a:r>
            <a:r>
              <a:rPr lang="en-US" altLang="zh-CN" dirty="0"/>
              <a:t>Yu, Y.; Zhang, J.; Liu, J., Biomedical Implementation of Liquid Metal Ink as Drawable ECG Electrode and Skin Circuit </a:t>
            </a:r>
            <a:r>
              <a:rPr lang="zh-CN" altLang="en-US" dirty="0"/>
              <a:t>许可转载；</a:t>
            </a:r>
            <a:r>
              <a:rPr lang="en-US" altLang="zh-CN" dirty="0" err="1"/>
              <a:t>PLoS</a:t>
            </a:r>
            <a:r>
              <a:rPr lang="en-US" altLang="zh-CN" dirty="0"/>
              <a:t> ONE</a:t>
            </a:r>
            <a:r>
              <a:rPr lang="zh-CN" altLang="en-US" dirty="0"/>
              <a:t>，</a:t>
            </a:r>
            <a:r>
              <a:rPr lang="en-US" altLang="zh-CN" dirty="0"/>
              <a:t>2013 </a:t>
            </a:r>
            <a:r>
              <a:rPr lang="zh-CN" altLang="en-US" dirty="0"/>
              <a:t>年出版）；“可穿戴生物电子学”：液态金属腕带 </a:t>
            </a:r>
            <a:r>
              <a:rPr lang="en-US" altLang="zh-CN" dirty="0"/>
              <a:t>[58]</a:t>
            </a:r>
            <a:r>
              <a:rPr lang="zh-CN" altLang="en-US" dirty="0"/>
              <a:t>（经 </a:t>
            </a:r>
            <a:r>
              <a:rPr lang="en-US" altLang="zh-CN" dirty="0"/>
              <a:t>Wang, Q.; Yu, Y.; Yang, J.; Liu, J., Fast Fabrication of Flexible Functional Circuits based on Liquid Metal Dual-Trans Printing </a:t>
            </a:r>
            <a:r>
              <a:rPr lang="zh-CN" altLang="en-US" dirty="0"/>
              <a:t>许可转载；</a:t>
            </a:r>
            <a:r>
              <a:rPr lang="en-US" altLang="zh-CN" dirty="0"/>
              <a:t>Advanced Material</a:t>
            </a:r>
            <a:r>
              <a:rPr lang="zh-CN" altLang="en-US" dirty="0"/>
              <a:t>，</a:t>
            </a:r>
            <a:r>
              <a:rPr lang="en-US" altLang="zh-CN" dirty="0"/>
              <a:t>2015 </a:t>
            </a:r>
            <a:r>
              <a:rPr lang="zh-CN" altLang="en-US" dirty="0"/>
              <a:t>年出版）；可穿戴数据手套 </a:t>
            </a:r>
            <a:r>
              <a:rPr lang="en-US" altLang="zh-CN" dirty="0"/>
              <a:t>[59]</a:t>
            </a:r>
            <a:r>
              <a:rPr lang="zh-CN" altLang="en-US" dirty="0"/>
              <a:t>（经 </a:t>
            </a:r>
            <a:r>
              <a:rPr lang="en-US" altLang="zh-CN" dirty="0"/>
              <a:t>Matsuzaki, R.; </a:t>
            </a:r>
            <a:r>
              <a:rPr lang="en-US" altLang="zh-CN" dirty="0" err="1"/>
              <a:t>Tabayashi</a:t>
            </a:r>
            <a:r>
              <a:rPr lang="en-US" altLang="zh-CN" dirty="0"/>
              <a:t>, K. </a:t>
            </a:r>
            <a:r>
              <a:rPr lang="zh-CN" altLang="en-US" dirty="0"/>
              <a:t>许可转载，用于可穿戴电子产品的高拉伸、全局和分布式局部应变传感线，使用增益电极；</a:t>
            </a:r>
            <a:r>
              <a:rPr lang="en-US" altLang="zh-CN" dirty="0"/>
              <a:t>Advanced Functional Material</a:t>
            </a:r>
            <a:r>
              <a:rPr lang="zh-CN" altLang="en-US" dirty="0"/>
              <a:t>，</a:t>
            </a:r>
            <a:r>
              <a:rPr lang="en-US" altLang="zh-CN" dirty="0"/>
              <a:t>2015 </a:t>
            </a:r>
            <a:r>
              <a:rPr lang="zh-CN" altLang="en-US" dirty="0"/>
              <a:t>年出版）；鞋类嵌入式微流体能量收集 </a:t>
            </a:r>
            <a:r>
              <a:rPr lang="en-US" altLang="zh-CN" dirty="0"/>
              <a:t>[60]</a:t>
            </a:r>
            <a:r>
              <a:rPr lang="zh-CN" altLang="en-US" dirty="0"/>
              <a:t>（经 </a:t>
            </a:r>
            <a:r>
              <a:rPr lang="en-US" altLang="zh-CN" dirty="0" err="1"/>
              <a:t>Krupenkin</a:t>
            </a:r>
            <a:r>
              <a:rPr lang="en-US" altLang="zh-CN" dirty="0"/>
              <a:t>, T.; Taylor, J.A. </a:t>
            </a:r>
            <a:r>
              <a:rPr lang="zh-CN" altLang="en-US" dirty="0"/>
              <a:t>许可转载，反向电润湿作为高功率能量收集的新方法；</a:t>
            </a:r>
            <a:r>
              <a:rPr lang="en-US" altLang="zh-CN" dirty="0"/>
              <a:t>Nature Communication</a:t>
            </a:r>
            <a:r>
              <a:rPr lang="zh-CN" altLang="en-US" dirty="0"/>
              <a:t>，</a:t>
            </a:r>
            <a:r>
              <a:rPr lang="en-US" altLang="zh-CN" dirty="0"/>
              <a:t>2011 </a:t>
            </a:r>
            <a:r>
              <a:rPr lang="zh-CN" altLang="en-US" dirty="0"/>
              <a:t>年出版）目前主要以镓及其合金为代表，具有电阻率高、弯曲性强、粘附性低、表面张力大等特性，在当代电子学中，柔性印刷电路 </a:t>
            </a:r>
            <a:r>
              <a:rPr lang="en-US" altLang="zh-CN" dirty="0"/>
              <a:t>(FPC) </a:t>
            </a:r>
            <a:r>
              <a:rPr lang="zh-CN" altLang="en-US" dirty="0"/>
              <a:t>已成为关键，改变了电子设备的设计和功能 </a:t>
            </a:r>
            <a:r>
              <a:rPr lang="en-US" altLang="zh-CN" dirty="0"/>
              <a:t>1,2,3</a:t>
            </a:r>
            <a:r>
              <a:rPr lang="zh-CN" altLang="en-US" dirty="0"/>
              <a:t>。这些电路超越了传统的刚性柔性印刷电路板 </a:t>
            </a:r>
            <a:r>
              <a:rPr lang="en-US" altLang="zh-CN" dirty="0"/>
              <a:t>(PCB)</a:t>
            </a:r>
            <a:r>
              <a:rPr lang="zh-CN" altLang="en-US" dirty="0"/>
              <a:t>，由于采用聚酰亚胺等柔韧的高质量材料构造，因此具有无与伦比的灵活性和适应性。它们能够折叠或扭曲成小空间或不规则空间，从而提高了在物理压力下的耐用性。</a:t>
            </a:r>
            <a:r>
              <a:rPr lang="en-US" altLang="zh-CN" dirty="0"/>
              <a:t>FPC </a:t>
            </a:r>
            <a:r>
              <a:rPr lang="zh-CN" altLang="en-US" dirty="0"/>
              <a:t>的空间和重量效率特别有利，可将多个刚性板和线路整合成更轻、更紧凑的组件 </a:t>
            </a:r>
            <a:r>
              <a:rPr lang="en-US" altLang="zh-CN" dirty="0"/>
              <a:t>4</a:t>
            </a:r>
            <a:r>
              <a:rPr lang="zh-CN" altLang="en-US" dirty="0"/>
              <a:t>、</a:t>
            </a:r>
            <a:r>
              <a:rPr lang="en-US" altLang="zh-CN" dirty="0"/>
              <a:t>5</a:t>
            </a:r>
            <a:r>
              <a:rPr lang="zh-CN" altLang="en-US" dirty="0"/>
              <a:t>、</a:t>
            </a:r>
            <a:r>
              <a:rPr lang="en-US" altLang="zh-CN" dirty="0"/>
              <a:t>6</a:t>
            </a:r>
            <a:r>
              <a:rPr lang="zh-CN" altLang="en-US" dirty="0"/>
              <a:t>。这在航空航天、可穿戴技术和移动设备等必须减少空间和重量的领域至关重要。此外，它们固有的灵活性使它们可用于动态应用，而不会牺牲电路性能或完整性。它们的应用涵盖各个行业，如图 </a:t>
            </a:r>
            <a:r>
              <a:rPr lang="en-US" altLang="zh-CN" dirty="0"/>
              <a:t>17 </a:t>
            </a:r>
            <a:r>
              <a:rPr lang="zh-CN" altLang="en-US" dirty="0"/>
              <a:t>所示。在医疗领域，</a:t>
            </a:r>
            <a:r>
              <a:rPr lang="en-US" altLang="zh-CN" dirty="0"/>
              <a:t>FPC </a:t>
            </a:r>
            <a:r>
              <a:rPr lang="zh-CN" altLang="en-US" dirty="0"/>
              <a:t>有助于实现传感器和植入物等紧凑、灵活的设备，从而提高患者的舒适度和效率 </a:t>
            </a:r>
            <a:r>
              <a:rPr lang="en-US" altLang="zh-CN" dirty="0"/>
              <a:t>8</a:t>
            </a:r>
            <a:r>
              <a:rPr lang="zh-CN" altLang="en-US" dirty="0"/>
              <a:t>、</a:t>
            </a:r>
            <a:r>
              <a:rPr lang="en-US" altLang="zh-CN" dirty="0"/>
              <a:t>9</a:t>
            </a:r>
            <a:r>
              <a:rPr lang="zh-CN" altLang="en-US" dirty="0"/>
              <a:t>、</a:t>
            </a:r>
            <a:r>
              <a:rPr lang="en-US" altLang="zh-CN" dirty="0"/>
              <a:t>10</a:t>
            </a:r>
            <a:r>
              <a:rPr lang="zh-CN" altLang="en-US" dirty="0"/>
              <a:t>、</a:t>
            </a:r>
            <a:r>
              <a:rPr lang="en-US" altLang="zh-CN" dirty="0"/>
              <a:t>11</a:t>
            </a:r>
            <a:r>
              <a:rPr lang="zh-CN" altLang="en-US" dirty="0"/>
              <a:t>。汽车行业将它们用于仪表板显示器和传感器网络等系统中，看重它们对振动和温度变化的抵抗力。在消费电子产品中，</a:t>
            </a:r>
            <a:r>
              <a:rPr lang="en-US" altLang="zh-CN" dirty="0"/>
              <a:t>FPC </a:t>
            </a:r>
            <a:r>
              <a:rPr lang="zh-CN" altLang="en-US" dirty="0"/>
              <a:t>是智能手机、平板电脑和笔记本电脑实现轻薄化的关键</a:t>
            </a:r>
            <a:r>
              <a:rPr lang="en-US" altLang="zh-CN" dirty="0"/>
              <a:t>12</a:t>
            </a:r>
            <a:r>
              <a:rPr lang="zh-CN" altLang="en-US" dirty="0"/>
              <a:t>、</a:t>
            </a:r>
            <a:r>
              <a:rPr lang="en-US" altLang="zh-CN" dirty="0"/>
              <a:t>13</a:t>
            </a:r>
            <a:r>
              <a:rPr lang="zh-CN" altLang="en-US" dirty="0"/>
              <a:t>、</a:t>
            </a:r>
            <a:r>
              <a:rPr lang="en-US" altLang="zh-CN" dirty="0"/>
              <a:t>14</a:t>
            </a:r>
            <a:r>
              <a:rPr lang="zh-CN" altLang="en-US" dirty="0"/>
              <a:t>、</a:t>
            </a:r>
            <a:r>
              <a:rPr lang="en-US" altLang="zh-CN" dirty="0"/>
              <a:t>15</a:t>
            </a:r>
            <a:r>
              <a:rPr lang="zh-CN" altLang="en-US" dirty="0"/>
              <a:t>。此外，它们也是新兴柔性和可穿戴电子产品领域的核心，可实现符合人体工程学设计和人体运动的创新设备</a:t>
            </a:r>
            <a:r>
              <a:rPr lang="en-US" altLang="zh-CN" dirty="0"/>
              <a:t>16</a:t>
            </a:r>
            <a:r>
              <a:rPr lang="zh-CN" altLang="en-US" dirty="0"/>
              <a:t>、</a:t>
            </a:r>
            <a:r>
              <a:rPr lang="en-US" altLang="zh-CN" dirty="0"/>
              <a:t>17</a:t>
            </a:r>
            <a:r>
              <a:rPr lang="zh-CN" altLang="en-US" dirty="0"/>
              <a:t>、</a:t>
            </a:r>
            <a:r>
              <a:rPr lang="en-US" altLang="zh-CN" dirty="0"/>
              <a:t>18</a:t>
            </a:r>
            <a:r>
              <a:rPr lang="zh-CN" altLang="en-US" dirty="0"/>
              <a:t>、</a:t>
            </a:r>
            <a:r>
              <a:rPr lang="en-US" altLang="zh-CN" dirty="0"/>
              <a:t>19</a:t>
            </a:r>
            <a:r>
              <a:rPr lang="zh-CN" altLang="en-US" dirty="0"/>
              <a:t>、</a:t>
            </a:r>
            <a:r>
              <a:rPr lang="en-US" altLang="zh-CN" dirty="0"/>
              <a:t>20</a:t>
            </a:r>
            <a:r>
              <a:rPr lang="zh-CN" altLang="en-US" dirty="0"/>
              <a:t>。</a:t>
            </a:r>
          </a:p>
        </p:txBody>
      </p:sp>
      <p:sp>
        <p:nvSpPr>
          <p:cNvPr id="4" name="灯片编号占位符 3">
            <a:extLst>
              <a:ext uri="{FF2B5EF4-FFF2-40B4-BE49-F238E27FC236}">
                <a16:creationId xmlns:a16="http://schemas.microsoft.com/office/drawing/2014/main" id="{8B618F5C-377F-FC98-1BDC-FE17A7248678}"/>
              </a:ext>
            </a:extLst>
          </p:cNvPr>
          <p:cNvSpPr>
            <a:spLocks noGrp="1"/>
          </p:cNvSpPr>
          <p:nvPr>
            <p:ph type="sldNum" sz="quarter" idx="5"/>
          </p:nvPr>
        </p:nvSpPr>
        <p:spPr/>
        <p:txBody>
          <a:bodyPr/>
          <a:lstStyle/>
          <a:p>
            <a:fld id="{84918B77-9CB1-4C48-BED5-B02F24F09A98}" type="slidenum">
              <a:rPr lang="zh-CN" altLang="en-US" smtClean="0"/>
              <a:t>33</a:t>
            </a:fld>
            <a:endParaRPr lang="zh-CN" altLang="en-US"/>
          </a:p>
        </p:txBody>
      </p:sp>
    </p:spTree>
    <p:extLst>
      <p:ext uri="{BB962C8B-B14F-4D97-AF65-F5344CB8AC3E}">
        <p14:creationId xmlns:p14="http://schemas.microsoft.com/office/powerpoint/2010/main" val="212097223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A6A56-0E4E-A94D-D15C-509FF18103E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1AD4E88-EE66-66D9-3274-DA52B15DD10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5B948D1-3AEC-6945-9F8D-9574D7C7469C}"/>
              </a:ext>
            </a:extLst>
          </p:cNvPr>
          <p:cNvSpPr>
            <a:spLocks noGrp="1"/>
          </p:cNvSpPr>
          <p:nvPr>
            <p:ph type="body" idx="1"/>
          </p:nvPr>
        </p:nvSpPr>
        <p:spPr/>
        <p:txBody>
          <a:bodyPr/>
          <a:lstStyle/>
          <a:p>
            <a:endParaRPr lang="en-US" altLang="zh-CN" dirty="0"/>
          </a:p>
          <a:p>
            <a:r>
              <a:rPr lang="zh-CN" altLang="en-US" dirty="0"/>
              <a:t>印刷电子是基于印刷原理制造电子设备的技术</a:t>
            </a:r>
            <a:r>
              <a:rPr lang="en-US" altLang="zh-CN" dirty="0"/>
              <a:t>[1]</a:t>
            </a:r>
            <a:r>
              <a:rPr lang="zh-CN" altLang="en-US" dirty="0"/>
              <a:t>。与传统印刷技术不同，印刷机中使用的油墨是具有导电、介电、半导体或磁性的电子材料。印刷电子与有机电子、塑料电子、柔性电子和纸电子等多个领域密切相关</a:t>
            </a:r>
            <a:r>
              <a:rPr lang="en-US" altLang="zh-CN" dirty="0"/>
              <a:t>[2]</a:t>
            </a:r>
            <a:r>
              <a:rPr lang="zh-CN" altLang="en-US" dirty="0"/>
              <a:t>，这意味着不仅可以在硅和玻璃上印刷电路，还可以在塑料、纸张和更柔性的基板上印刷电路。生产柔性电子产品的方法之一是将导电材料直接印刷到柔性基板上。经典的柔性电子是指将有机</a:t>
            </a:r>
            <a:r>
              <a:rPr lang="en-US" altLang="zh-CN" dirty="0"/>
              <a:t>/</a:t>
            </a:r>
            <a:r>
              <a:rPr lang="zh-CN" altLang="en-US" dirty="0"/>
              <a:t>无机电子器件沉积在柔性基板上形成电路的技术</a:t>
            </a:r>
            <a:r>
              <a:rPr lang="en-US" altLang="zh-CN" dirty="0"/>
              <a:t>[3]</a:t>
            </a:r>
            <a:r>
              <a:rPr lang="zh-CN" altLang="en-US" dirty="0"/>
              <a:t>。虽然刚性电路板可以保护电子元件免受损坏，但它限制了电子产品的延展性和柔韧性。柔性电子具有柔软、延展性好、制造成本低等优点，可在信息、能源、医学和国防技术领域提供智能传感器、执行器、柔性显示器、有机发光二极管 </a:t>
            </a:r>
            <a:r>
              <a:rPr lang="en-US" altLang="zh-CN" dirty="0"/>
              <a:t>(OLED) </a:t>
            </a:r>
            <a:r>
              <a:rPr lang="zh-CN" altLang="en-US" dirty="0"/>
              <a:t>等。与传统的刚性微电子相比，柔性电子最显著的特点是其柔韧性，这使得它们可拉伸、保形、便携、可穿戴，并易于快速打印 </a:t>
            </a:r>
            <a:r>
              <a:rPr lang="en-US" altLang="zh-CN" dirty="0"/>
              <a:t>[4,5,6,7,8]</a:t>
            </a:r>
            <a:r>
              <a:rPr lang="zh-CN" altLang="en-US" dirty="0"/>
              <a:t>。由于柔性电子在电气、可打印、生物医学和传感特性方面的独特优势，它可以在电子元件 </a:t>
            </a:r>
            <a:r>
              <a:rPr lang="en-US" altLang="zh-CN" dirty="0"/>
              <a:t>[9]</a:t>
            </a:r>
            <a:r>
              <a:rPr lang="zh-CN" altLang="en-US" dirty="0"/>
              <a:t>、打印技术、植入式设备 </a:t>
            </a:r>
            <a:r>
              <a:rPr lang="en-US" altLang="zh-CN" dirty="0"/>
              <a:t>[10] </a:t>
            </a:r>
            <a:r>
              <a:rPr lang="zh-CN" altLang="en-US" dirty="0"/>
              <a:t>和健康监测器 </a:t>
            </a:r>
            <a:r>
              <a:rPr lang="en-US" altLang="zh-CN" dirty="0"/>
              <a:t>[11] </a:t>
            </a:r>
            <a:r>
              <a:rPr lang="zh-CN" altLang="en-US" dirty="0"/>
              <a:t>等领域得到广泛应用，具体用途包括天线 </a:t>
            </a:r>
            <a:r>
              <a:rPr lang="en-US" altLang="zh-CN" dirty="0"/>
              <a:t>[12]</a:t>
            </a:r>
            <a:r>
              <a:rPr lang="zh-CN" altLang="en-US" dirty="0"/>
              <a:t>、眼球摄像头 </a:t>
            </a:r>
            <a:r>
              <a:rPr lang="en-US" altLang="zh-CN" dirty="0"/>
              <a:t>[13] </a:t>
            </a:r>
            <a:r>
              <a:rPr lang="zh-CN" altLang="en-US" dirty="0"/>
              <a:t>和压力传感器 </a:t>
            </a:r>
            <a:r>
              <a:rPr lang="en-US" altLang="zh-CN" dirty="0"/>
              <a:t>[14] </a:t>
            </a:r>
            <a:r>
              <a:rPr lang="zh-CN" altLang="en-US" dirty="0"/>
              <a:t>等。如今，人们已采用两种常见策略来提高电子产品的柔软度 </a:t>
            </a:r>
            <a:r>
              <a:rPr lang="en-US" altLang="zh-CN" dirty="0"/>
              <a:t>[15]</a:t>
            </a:r>
            <a:r>
              <a:rPr lang="zh-CN" altLang="en-US" dirty="0"/>
              <a:t>。一种是将坚硬的导电材料嵌入到可拉伸的基底上，例如聚二甲基硅氧烷 </a:t>
            </a:r>
            <a:r>
              <a:rPr lang="en-US" altLang="zh-CN" dirty="0"/>
              <a:t>(PDMS)</a:t>
            </a:r>
            <a:r>
              <a:rPr lang="zh-CN" altLang="en-US" dirty="0"/>
              <a:t>。</a:t>
            </a:r>
            <a:r>
              <a:rPr lang="en-US" altLang="zh-CN" dirty="0"/>
              <a:t>Rogers </a:t>
            </a:r>
            <a:r>
              <a:rPr lang="zh-CN" altLang="en-US" dirty="0"/>
              <a:t>等人引入了一种复杂的波浪结构来保持电路的可拉伸性，当应力作用于柔软的基底上时，它可以吸收较大的张力 </a:t>
            </a:r>
            <a:r>
              <a:rPr lang="en-US" altLang="zh-CN" dirty="0"/>
              <a:t>[16,17]</a:t>
            </a:r>
            <a:r>
              <a:rPr lang="zh-CN" altLang="en-US" dirty="0"/>
              <a:t>。另一种是使用固有可拉伸的导体来形成电路 </a:t>
            </a:r>
            <a:r>
              <a:rPr lang="en-US" altLang="zh-CN" dirty="0"/>
              <a:t>[18]</a:t>
            </a:r>
            <a:r>
              <a:rPr lang="zh-CN" altLang="en-US" dirty="0"/>
              <a:t>。</a:t>
            </a:r>
            <a:r>
              <a:rPr lang="en-US" altLang="zh-CN" dirty="0"/>
              <a:t>Russo </a:t>
            </a:r>
            <a:r>
              <a:rPr lang="zh-CN" altLang="en-US" dirty="0"/>
              <a:t>等人展示了一种使用导电银墨水连接电路的方法，这种方法可以直接在纸上书写导电文字以连接发光二极管 </a:t>
            </a:r>
            <a:r>
              <a:rPr lang="en-US" altLang="zh-CN" dirty="0"/>
              <a:t>(LED) </a:t>
            </a:r>
            <a:r>
              <a:rPr lang="zh-CN" altLang="en-US" dirty="0"/>
              <a:t>阵列和三维 </a:t>
            </a:r>
            <a:r>
              <a:rPr lang="en-US" altLang="zh-CN" dirty="0"/>
              <a:t>(3D) </a:t>
            </a:r>
            <a:r>
              <a:rPr lang="zh-CN" altLang="en-US" dirty="0"/>
              <a:t>天线 </a:t>
            </a:r>
            <a:r>
              <a:rPr lang="en-US" altLang="zh-CN" dirty="0"/>
              <a:t>[12]</a:t>
            </a:r>
            <a:r>
              <a:rPr lang="zh-CN" altLang="en-US" dirty="0"/>
              <a:t>。显然，柔性印刷电子 </a:t>
            </a:r>
            <a:r>
              <a:rPr lang="en-US" altLang="zh-CN" dirty="0"/>
              <a:t>(FPE) </a:t>
            </a:r>
            <a:r>
              <a:rPr lang="zh-CN" altLang="en-US" dirty="0"/>
              <a:t>结合了柔性电子和印刷电子的特点。通过这种方式，人们可以快速制造出功能齐全的柔性电子设备。随着印刷技术的成熟，柔性印刷已成为研究的热门话题。目前已经出现了几种典型的印刷技术，例如敲击模式印刷</a:t>
            </a:r>
            <a:r>
              <a:rPr lang="en-US" altLang="zh-CN" dirty="0"/>
              <a:t>[18]</a:t>
            </a:r>
            <a:r>
              <a:rPr lang="zh-CN" altLang="en-US" dirty="0"/>
              <a:t>、气溶胶喷射印刷、卷对卷技术</a:t>
            </a:r>
            <a:r>
              <a:rPr lang="en-US" altLang="zh-CN" dirty="0"/>
              <a:t>[19]</a:t>
            </a:r>
            <a:r>
              <a:rPr lang="zh-CN" altLang="en-US" dirty="0"/>
              <a:t>、喷墨印刷</a:t>
            </a:r>
            <a:r>
              <a:rPr lang="en-US" altLang="zh-CN" dirty="0"/>
              <a:t>[20]</a:t>
            </a:r>
            <a:r>
              <a:rPr lang="zh-CN" altLang="en-US" dirty="0"/>
              <a:t>以及微笔和刷子印刷</a:t>
            </a:r>
            <a:r>
              <a:rPr lang="en-US" altLang="zh-CN" dirty="0"/>
              <a:t>[21,22]</a:t>
            </a:r>
            <a:r>
              <a:rPr lang="zh-CN" altLang="en-US" dirty="0"/>
              <a:t>。其中，微笔也许是最简单的方法：将电墨水泵入墨盒中直接写出导电文字。这使得在 </a:t>
            </a:r>
            <a:r>
              <a:rPr lang="en-US" altLang="zh-CN" dirty="0"/>
              <a:t>A4 </a:t>
            </a:r>
            <a:r>
              <a:rPr lang="zh-CN" altLang="en-US" dirty="0"/>
              <a:t>纸上绘制电路图成为可能。微笔明显降低了电路生产的复杂性并提高了电子电路制造的效率。</a:t>
            </a:r>
            <a:r>
              <a:rPr lang="en-US" altLang="zh-CN" dirty="0"/>
              <a:t>FPE </a:t>
            </a:r>
            <a:r>
              <a:rPr lang="zh-CN" altLang="en-US" dirty="0"/>
              <a:t>在不同领域取得了重大成就，例如柔性显示设备</a:t>
            </a:r>
            <a:r>
              <a:rPr lang="en-US" altLang="zh-CN" dirty="0"/>
              <a:t>[23]</a:t>
            </a:r>
            <a:r>
              <a:rPr lang="zh-CN" altLang="en-US" dirty="0"/>
              <a:t>、薄膜太阳能电池</a:t>
            </a:r>
            <a:r>
              <a:rPr lang="en-US" altLang="zh-CN" dirty="0"/>
              <a:t>[24,25]</a:t>
            </a:r>
            <a:r>
              <a:rPr lang="zh-CN" altLang="en-US" dirty="0"/>
              <a:t>、大面积传感器和驱动器</a:t>
            </a:r>
            <a:r>
              <a:rPr lang="en-US" altLang="zh-CN" dirty="0"/>
              <a:t>[26,27]</a:t>
            </a:r>
            <a:r>
              <a:rPr lang="zh-CN" altLang="en-US" dirty="0"/>
              <a:t>、电子皮肤</a:t>
            </a:r>
            <a:r>
              <a:rPr lang="en-US" altLang="zh-CN" dirty="0"/>
              <a:t>[28]</a:t>
            </a:r>
            <a:r>
              <a:rPr lang="zh-CN" altLang="en-US" dirty="0"/>
              <a:t>、可穿戴电子和生物假肢设备</a:t>
            </a:r>
            <a:r>
              <a:rPr lang="en-US" altLang="zh-CN" dirty="0"/>
              <a:t>[29]</a:t>
            </a:r>
            <a:r>
              <a:rPr lang="zh-CN" altLang="en-US" dirty="0"/>
              <a:t>、自充电系统</a:t>
            </a:r>
            <a:r>
              <a:rPr lang="en-US" altLang="zh-CN" dirty="0"/>
              <a:t>[30]</a:t>
            </a:r>
            <a:r>
              <a:rPr lang="zh-CN" altLang="en-US" dirty="0"/>
              <a:t>、自供电无线监控</a:t>
            </a:r>
            <a:r>
              <a:rPr lang="en-US" altLang="zh-CN" dirty="0"/>
              <a:t>[31]</a:t>
            </a:r>
            <a:r>
              <a:rPr lang="zh-CN" altLang="en-US" dirty="0"/>
              <a:t>等。如果电路具有柔软性、顺应性、可拉伸性和便携性等特性，则可以称其为可弯曲电子设备。与此同时，许多实验室已经开发出具有柔性的电子设备，如弯曲显示器</a:t>
            </a:r>
            <a:r>
              <a:rPr lang="en-US" altLang="zh-CN" dirty="0"/>
              <a:t>[32]</a:t>
            </a:r>
            <a:r>
              <a:rPr lang="zh-CN" altLang="en-US" dirty="0"/>
              <a:t>、折叠电池</a:t>
            </a:r>
            <a:r>
              <a:rPr lang="en-US" altLang="zh-CN" dirty="0"/>
              <a:t>[9]</a:t>
            </a:r>
            <a:r>
              <a:rPr lang="zh-CN" altLang="en-US" dirty="0"/>
              <a:t>、软场效应晶体管</a:t>
            </a:r>
            <a:r>
              <a:rPr lang="en-US" altLang="zh-CN" dirty="0"/>
              <a:t>[33]</a:t>
            </a:r>
            <a:r>
              <a:rPr lang="zh-CN" altLang="en-US" dirty="0"/>
              <a:t>、可拉伸导线</a:t>
            </a:r>
            <a:r>
              <a:rPr lang="en-US" altLang="zh-CN" dirty="0"/>
              <a:t>[34]</a:t>
            </a:r>
            <a:r>
              <a:rPr lang="zh-CN" altLang="en-US" dirty="0"/>
              <a:t>等。</a:t>
            </a:r>
            <a:r>
              <a:rPr lang="en-US" altLang="zh-CN" dirty="0"/>
              <a:t>FPE</a:t>
            </a:r>
            <a:r>
              <a:rPr lang="zh-CN" altLang="en-US" dirty="0"/>
              <a:t>还可以用于健康监测、医学检查、生命体征检测和其他日常生活需求。柔性生物医学设备已广泛应用于植入式设备</a:t>
            </a:r>
            <a:r>
              <a:rPr lang="en-US" altLang="zh-CN" dirty="0"/>
              <a:t>[10]</a:t>
            </a:r>
            <a:r>
              <a:rPr lang="zh-CN" altLang="en-US" dirty="0"/>
              <a:t>、神经连接</a:t>
            </a:r>
            <a:r>
              <a:rPr lang="en-US" altLang="zh-CN" dirty="0"/>
              <a:t>[35,36]</a:t>
            </a:r>
            <a:r>
              <a:rPr lang="zh-CN" altLang="en-US" dirty="0"/>
              <a:t>、健康监测</a:t>
            </a:r>
            <a:r>
              <a:rPr lang="en-US" altLang="zh-CN" dirty="0"/>
              <a:t>[11]</a:t>
            </a:r>
            <a:r>
              <a:rPr lang="zh-CN" altLang="en-US" dirty="0"/>
              <a:t>和可穿戴医疗设备领域。</a:t>
            </a:r>
            <a:r>
              <a:rPr lang="en-US" altLang="zh-CN" dirty="0"/>
              <a:t>FPE</a:t>
            </a:r>
            <a:r>
              <a:rPr lang="zh-CN" altLang="en-US" dirty="0"/>
              <a:t>还用于生物传感，其中最重要的应用是电子皮肤（</a:t>
            </a:r>
            <a:r>
              <a:rPr lang="en-US" altLang="zh-CN" dirty="0"/>
              <a:t>E-skin</a:t>
            </a:r>
            <a:r>
              <a:rPr lang="zh-CN" altLang="en-US" dirty="0"/>
              <a:t>），如压力映射</a:t>
            </a:r>
            <a:r>
              <a:rPr lang="en-US" altLang="zh-CN" dirty="0"/>
              <a:t>[37]</a:t>
            </a:r>
            <a:r>
              <a:rPr lang="zh-CN" altLang="en-US" dirty="0"/>
              <a:t>、自愈传感器</a:t>
            </a:r>
            <a:r>
              <a:rPr lang="en-US" altLang="zh-CN" dirty="0"/>
              <a:t>[38]</a:t>
            </a:r>
            <a:r>
              <a:rPr lang="zh-CN" altLang="en-US" dirty="0"/>
              <a:t>、假肢</a:t>
            </a:r>
            <a:r>
              <a:rPr lang="en-US" altLang="zh-CN" dirty="0"/>
              <a:t>[39]</a:t>
            </a:r>
            <a:r>
              <a:rPr lang="zh-CN" altLang="en-US" dirty="0"/>
              <a:t>、压力传感器</a:t>
            </a:r>
            <a:r>
              <a:rPr lang="en-US" altLang="zh-CN" dirty="0"/>
              <a:t>[14]</a:t>
            </a:r>
            <a:r>
              <a:rPr lang="zh-CN" altLang="en-US" dirty="0"/>
              <a:t>等。许多研究机构正在研究应用于柔性电子皮肤的不同材料。在鲍哲南的实验室，他们发明了一种受皮肤启发的人工机械感受器系统，该受体可以将压力刺激信号转化为人类神经元可以感知的电生理信号</a:t>
            </a:r>
            <a:r>
              <a:rPr lang="en-US" altLang="zh-CN" dirty="0"/>
              <a:t>[40]</a:t>
            </a:r>
          </a:p>
          <a:p>
            <a:endParaRPr lang="en-US" altLang="zh-CN" dirty="0"/>
          </a:p>
          <a:p>
            <a:endParaRPr lang="en-US" altLang="zh-CN" dirty="0"/>
          </a:p>
          <a:p>
            <a:r>
              <a:rPr lang="zh-CN" altLang="en-US" dirty="0"/>
              <a:t>在电子电路设计领域，必须特别注意柔性印刷电路的使用和放置。这些组件以其在各种应用中的灵活性和适应性而闻名，需要小心处理和战略定位以确保最佳性能和使用寿命</a:t>
            </a:r>
            <a:r>
              <a:rPr lang="en-US" altLang="zh-CN" dirty="0"/>
              <a:t>21</a:t>
            </a:r>
            <a:r>
              <a:rPr lang="zh-CN" altLang="en-US" dirty="0"/>
              <a:t>。这种谨慎方法的原因是多方面的：在柔性印刷电路 </a:t>
            </a:r>
            <a:r>
              <a:rPr lang="en-US" altLang="zh-CN" dirty="0"/>
              <a:t>(FPC) </a:t>
            </a:r>
            <a:r>
              <a:rPr lang="zh-CN" altLang="en-US" dirty="0"/>
              <a:t>的设计中，必须解决几个问题以确保其耐用性和功能性。首先，</a:t>
            </a:r>
            <a:r>
              <a:rPr lang="en-US" altLang="zh-CN" dirty="0"/>
              <a:t>FPC </a:t>
            </a:r>
            <a:r>
              <a:rPr lang="zh-CN" altLang="en-US" dirty="0"/>
              <a:t>本质上比刚性对应物更脆弱，容易受到机械损坏，例如裂缝或断裂</a:t>
            </a:r>
            <a:r>
              <a:rPr lang="en-US" altLang="zh-CN" dirty="0"/>
              <a:t>22</a:t>
            </a:r>
            <a:r>
              <a:rPr lang="zh-CN" altLang="en-US" dirty="0"/>
              <a:t>，尤其是在受到外部应力或力</a:t>
            </a:r>
            <a:r>
              <a:rPr lang="en-US" altLang="zh-CN" dirty="0"/>
              <a:t>23 </a:t>
            </a:r>
            <a:r>
              <a:rPr lang="zh-CN" altLang="en-US" dirty="0"/>
              <a:t>时。在 </a:t>
            </a:r>
            <a:r>
              <a:rPr lang="en-US" altLang="zh-CN" dirty="0"/>
              <a:t>FPC </a:t>
            </a:r>
            <a:r>
              <a:rPr lang="zh-CN" altLang="en-US" dirty="0"/>
              <a:t>可能接触其他组件的环境中，尤其是在容易移动或振动的环境中，这种脆弱性会加剧。战略性的物理分离可以显著降低此类损坏的风险。此外，当 </a:t>
            </a:r>
            <a:r>
              <a:rPr lang="en-US" altLang="zh-CN" dirty="0"/>
              <a:t>FPC </a:t>
            </a:r>
            <a:r>
              <a:rPr lang="zh-CN" altLang="en-US" dirty="0"/>
              <a:t>放置得太靠近其他电子元件（尤其是那些产生强电磁场的电子元件）时，</a:t>
            </a:r>
            <a:r>
              <a:rPr lang="en-US" altLang="zh-CN" dirty="0"/>
              <a:t>FPC </a:t>
            </a:r>
            <a:r>
              <a:rPr lang="zh-CN" altLang="en-US" dirty="0"/>
              <a:t>面临着电气干扰的挑战</a:t>
            </a:r>
            <a:r>
              <a:rPr lang="en-US" altLang="zh-CN" dirty="0"/>
              <a:t>24</a:t>
            </a:r>
            <a:r>
              <a:rPr lang="zh-CN" altLang="en-US" dirty="0"/>
              <a:t>。这种干扰会破坏 </a:t>
            </a:r>
            <a:r>
              <a:rPr lang="en-US" altLang="zh-CN" dirty="0"/>
              <a:t>FPC </a:t>
            </a:r>
            <a:r>
              <a:rPr lang="zh-CN" altLang="en-US" dirty="0"/>
              <a:t>上电路的正常运行，导致故障或效率低下。此外，保持信号完整性至关重要</a:t>
            </a:r>
            <a:r>
              <a:rPr lang="en-US" altLang="zh-CN" dirty="0"/>
              <a:t>25</a:t>
            </a:r>
            <a:r>
              <a:rPr lang="zh-CN" altLang="en-US" dirty="0"/>
              <a:t>，因为与其他组件的距离太近可能会导致信号丢失或干扰，这在高频或精密应用中至关重要，因为信号清晰度和完整性至关重要。有效的热管理是另一个关键考虑因素</a:t>
            </a:r>
            <a:r>
              <a:rPr lang="en-US" altLang="zh-CN" dirty="0"/>
              <a:t>26,27</a:t>
            </a:r>
            <a:r>
              <a:rPr lang="zh-CN" altLang="en-US" dirty="0"/>
              <a:t>。如果 </a:t>
            </a:r>
            <a:r>
              <a:rPr lang="en-US" altLang="zh-CN" dirty="0"/>
              <a:t>FPC </a:t>
            </a:r>
            <a:r>
              <a:rPr lang="zh-CN" altLang="en-US" dirty="0"/>
              <a:t>的位置太靠近发热组件，由此产生的高温会对其性能和寿命产生不利影响。足够的间距对于促进适当的散热和防止热过载至关重要，热过载会降低 </a:t>
            </a:r>
            <a:r>
              <a:rPr lang="en-US" altLang="zh-CN" dirty="0"/>
              <a:t>FPC </a:t>
            </a:r>
            <a:r>
              <a:rPr lang="zh-CN" altLang="en-US" dirty="0"/>
              <a:t>的材料和电路性能。最后，</a:t>
            </a:r>
            <a:r>
              <a:rPr lang="en-US" altLang="zh-CN" dirty="0"/>
              <a:t>FPC </a:t>
            </a:r>
            <a:r>
              <a:rPr lang="zh-CN" altLang="en-US" dirty="0"/>
              <a:t>独特的灵活性使它们可以弯曲或弯曲以适应特定的设计，但这种弯曲应该小心控制</a:t>
            </a:r>
            <a:r>
              <a:rPr lang="en-US" altLang="zh-CN" dirty="0"/>
              <a:t>28</a:t>
            </a:r>
            <a:r>
              <a:rPr lang="zh-CN" altLang="en-US" dirty="0"/>
              <a:t>。过度的曲率会对材料施加不当的压力，增加随着时间的推移疲劳和损坏的风险</a:t>
            </a:r>
            <a:r>
              <a:rPr lang="en-US" altLang="zh-CN" dirty="0"/>
              <a:t>29</a:t>
            </a:r>
            <a:r>
              <a:rPr lang="zh-CN" altLang="en-US" dirty="0"/>
              <a:t>。正确管理曲率对于保持 </a:t>
            </a:r>
            <a:r>
              <a:rPr lang="en-US" altLang="zh-CN" dirty="0"/>
              <a:t>FPC </a:t>
            </a:r>
            <a:r>
              <a:rPr lang="zh-CN" altLang="en-US" dirty="0"/>
              <a:t>的结构完整性至关重要。总之，</a:t>
            </a:r>
            <a:r>
              <a:rPr lang="en-US" altLang="zh-CN" dirty="0"/>
              <a:t>FPC </a:t>
            </a:r>
            <a:r>
              <a:rPr lang="zh-CN" altLang="en-US" dirty="0"/>
              <a:t>的战略性放置和处理在电路设计中至关重要。这不仅涉及避免与其他组件的物理接触，还需要考虑电磁兼容性、信号完整性</a:t>
            </a:r>
            <a:r>
              <a:rPr lang="en-US" altLang="zh-CN" dirty="0"/>
              <a:t>30</a:t>
            </a:r>
            <a:r>
              <a:rPr lang="zh-CN" altLang="en-US" dirty="0"/>
              <a:t>、热管理</a:t>
            </a:r>
            <a:r>
              <a:rPr lang="en-US" altLang="zh-CN" dirty="0"/>
              <a:t>31</a:t>
            </a:r>
            <a:r>
              <a:rPr lang="zh-CN" altLang="en-US" dirty="0"/>
              <a:t>和机械应力</a:t>
            </a:r>
            <a:r>
              <a:rPr lang="en-US" altLang="zh-CN" dirty="0"/>
              <a:t>32,33,34</a:t>
            </a:r>
            <a:r>
              <a:rPr lang="zh-CN" altLang="en-US" dirty="0"/>
              <a:t>等方面。这些考虑因素是设计过程不可或缺的，可确保 </a:t>
            </a:r>
            <a:r>
              <a:rPr lang="en-US" altLang="zh-CN" dirty="0"/>
              <a:t>FPC </a:t>
            </a:r>
            <a:r>
              <a:rPr lang="zh-CN" altLang="en-US" dirty="0"/>
              <a:t>在预期应用中有效可靠地发挥作用。对 </a:t>
            </a:r>
            <a:r>
              <a:rPr lang="en-US" altLang="zh-CN" dirty="0"/>
              <a:t>FPC </a:t>
            </a:r>
            <a:r>
              <a:rPr lang="zh-CN" altLang="en-US" dirty="0"/>
              <a:t>相关的细微差别的详细了解对于电子设计领域的专业人士至关重要，值得在学术和技术文献中进行深入讨论。在 </a:t>
            </a:r>
            <a:r>
              <a:rPr lang="en-US" altLang="zh-CN" dirty="0"/>
              <a:t>FPC </a:t>
            </a:r>
            <a:r>
              <a:rPr lang="zh-CN" altLang="en-US" dirty="0"/>
              <a:t>力学和变形领域，</a:t>
            </a:r>
            <a:r>
              <a:rPr lang="en-US" altLang="zh-CN" dirty="0"/>
              <a:t>John </a:t>
            </a:r>
            <a:r>
              <a:rPr lang="zh-CN" altLang="en-US" dirty="0"/>
              <a:t>等人</a:t>
            </a:r>
            <a:r>
              <a:rPr lang="en-US" altLang="zh-CN" dirty="0"/>
              <a:t>35 </a:t>
            </a:r>
            <a:r>
              <a:rPr lang="zh-CN" altLang="en-US" dirty="0"/>
              <a:t>深入研究了与弯曲、成型和弯曲印刷电路相关的机械和材料挑战，特别是针对非玻璃编织材料。他们的研究全面分析了弯曲过程中应变对铜层的影响及其对静态和动态应用的影响，强调了了解材料特性和铜在机械应力下的行为的重要性。同时，</a:t>
            </a:r>
            <a:r>
              <a:rPr lang="en-US" altLang="zh-CN" dirty="0" err="1"/>
              <a:t>Hirotaka</a:t>
            </a:r>
            <a:r>
              <a:rPr lang="en-US" altLang="zh-CN" dirty="0"/>
              <a:t> </a:t>
            </a:r>
            <a:r>
              <a:rPr lang="zh-CN" altLang="en-US" dirty="0"/>
              <a:t>等人 </a:t>
            </a:r>
            <a:r>
              <a:rPr lang="en-US" altLang="zh-CN" dirty="0"/>
              <a:t>36 </a:t>
            </a:r>
            <a:r>
              <a:rPr lang="zh-CN" altLang="en-US" dirty="0"/>
              <a:t>研究了基于 </a:t>
            </a:r>
            <a:r>
              <a:rPr lang="en-US" altLang="zh-CN" dirty="0"/>
              <a:t>FPC </a:t>
            </a:r>
            <a:r>
              <a:rPr lang="zh-CN" altLang="en-US" dirty="0"/>
              <a:t>的平面倒置 </a:t>
            </a:r>
            <a:r>
              <a:rPr lang="en-US" altLang="zh-CN" dirty="0"/>
              <a:t>F </a:t>
            </a:r>
            <a:r>
              <a:rPr lang="zh-CN" altLang="en-US" dirty="0"/>
              <a:t>天线 </a:t>
            </a:r>
            <a:r>
              <a:rPr lang="en-US" altLang="zh-CN" dirty="0"/>
              <a:t>(PIFA) </a:t>
            </a:r>
            <a:r>
              <a:rPr lang="zh-CN" altLang="en-US" dirty="0"/>
              <a:t>的性能特征，重点研究了它在受到机械变形时保持稳定辐射模式和效率的稳健性。他们的研究结果证实了天线适用于紧凑型移动设备，且性能下降最小。此外，</a:t>
            </a:r>
            <a:r>
              <a:rPr lang="en-US" altLang="zh-CN" dirty="0"/>
              <a:t>Ping </a:t>
            </a:r>
            <a:r>
              <a:rPr lang="zh-CN" altLang="en-US" dirty="0"/>
              <a:t>等人 </a:t>
            </a:r>
            <a:r>
              <a:rPr lang="en-US" altLang="zh-CN" dirty="0"/>
              <a:t>22 </a:t>
            </a:r>
            <a:r>
              <a:rPr lang="zh-CN" altLang="en-US" dirty="0"/>
              <a:t>确定了 </a:t>
            </a:r>
            <a:r>
              <a:rPr lang="en-US" altLang="zh-CN" dirty="0"/>
              <a:t>FPC </a:t>
            </a:r>
            <a:r>
              <a:rPr lang="zh-CN" altLang="en-US" dirty="0"/>
              <a:t>应用中常见的故障模式，例如通孔互连问题、走线裂缝和黑垫现象。他们提出了通过改进制造工艺、机械设计和动态应力分布来提高 </a:t>
            </a:r>
            <a:r>
              <a:rPr lang="en-US" altLang="zh-CN" dirty="0"/>
              <a:t>FPC </a:t>
            </a:r>
            <a:r>
              <a:rPr lang="zh-CN" altLang="en-US" dirty="0"/>
              <a:t>可靠性和质量的方法。总的来说，这些研究阐明了 </a:t>
            </a:r>
            <a:r>
              <a:rPr lang="en-US" altLang="zh-CN" dirty="0"/>
              <a:t>FPC </a:t>
            </a:r>
            <a:r>
              <a:rPr lang="zh-CN" altLang="en-US" dirty="0"/>
              <a:t>在先进电子领域设计和应用方面取得的重大进展和持续存在的挑战。基于这些对 </a:t>
            </a:r>
            <a:r>
              <a:rPr lang="en-US" altLang="zh-CN" dirty="0"/>
              <a:t>FPC </a:t>
            </a:r>
            <a:r>
              <a:rPr lang="zh-CN" altLang="en-US" dirty="0"/>
              <a:t>力学和变形的基础见解，进一步的研究专门针对柔性印刷电路板 </a:t>
            </a:r>
            <a:r>
              <a:rPr lang="en-US" altLang="zh-CN" dirty="0"/>
              <a:t>(FPCB) </a:t>
            </a:r>
            <a:r>
              <a:rPr lang="zh-CN" altLang="en-US" dirty="0"/>
              <a:t>的复杂性。最近的研究为这一领域做出了重大贡献。 </a:t>
            </a:r>
            <a:r>
              <a:rPr lang="en-US" altLang="zh-CN" dirty="0"/>
              <a:t>Chong </a:t>
            </a:r>
            <a:r>
              <a:rPr lang="zh-CN" altLang="en-US" dirty="0"/>
              <a:t>等人 </a:t>
            </a:r>
            <a:r>
              <a:rPr lang="en-US" altLang="zh-CN" dirty="0"/>
              <a:t>37 </a:t>
            </a:r>
            <a:r>
              <a:rPr lang="zh-CN" altLang="en-US" dirty="0"/>
              <a:t>深入研究了热条件下的传热和变形方面，使用流体结构相互作用进行模拟。</a:t>
            </a:r>
            <a:r>
              <a:rPr lang="en-US" altLang="zh-CN" dirty="0"/>
              <a:t>Leong </a:t>
            </a:r>
            <a:r>
              <a:rPr lang="zh-CN" altLang="en-US" dirty="0"/>
              <a:t>等人 </a:t>
            </a:r>
            <a:r>
              <a:rPr lang="en-US" altLang="zh-CN" dirty="0"/>
              <a:t>38 </a:t>
            </a:r>
            <a:r>
              <a:rPr lang="zh-CN" altLang="en-US" dirty="0"/>
              <a:t>旨在采用先进的方法优化 </a:t>
            </a:r>
            <a:r>
              <a:rPr lang="en-US" altLang="zh-CN" dirty="0"/>
              <a:t>FPCB </a:t>
            </a:r>
            <a:r>
              <a:rPr lang="zh-CN" altLang="en-US" dirty="0"/>
              <a:t>以减轻应力和挠度。</a:t>
            </a:r>
            <a:r>
              <a:rPr lang="en-US" altLang="zh-CN" dirty="0"/>
              <a:t>Alexander 39 </a:t>
            </a:r>
            <a:r>
              <a:rPr lang="zh-CN" altLang="en-US" dirty="0"/>
              <a:t>专注于 </a:t>
            </a:r>
            <a:r>
              <a:rPr lang="en-US" altLang="zh-CN" dirty="0"/>
              <a:t>FPC </a:t>
            </a:r>
            <a:r>
              <a:rPr lang="zh-CN" altLang="en-US" dirty="0"/>
              <a:t>的机械可靠性，特别是在动态环境中，将疲劳测试与计算分析相结合。</a:t>
            </a:r>
            <a:r>
              <a:rPr lang="en-US" altLang="zh-CN" dirty="0"/>
              <a:t>Liu </a:t>
            </a:r>
            <a:r>
              <a:rPr lang="zh-CN" altLang="en-US" dirty="0"/>
              <a:t>等人 </a:t>
            </a:r>
            <a:r>
              <a:rPr lang="en-US" altLang="zh-CN" dirty="0"/>
              <a:t>40 </a:t>
            </a:r>
            <a:r>
              <a:rPr lang="zh-CN" altLang="en-US" dirty="0"/>
              <a:t>研究了影响 </a:t>
            </a:r>
            <a:r>
              <a:rPr lang="en-US" altLang="zh-CN" dirty="0"/>
              <a:t>FPC </a:t>
            </a:r>
            <a:r>
              <a:rPr lang="zh-CN" altLang="en-US" dirty="0"/>
              <a:t>弯曲的因素，揭示了为材料和设计选择提供了重要见解。</a:t>
            </a:r>
            <a:r>
              <a:rPr lang="en-US" altLang="zh-CN" dirty="0"/>
              <a:t>Zhang </a:t>
            </a:r>
            <a:r>
              <a:rPr lang="zh-CN" altLang="en-US" dirty="0"/>
              <a:t>等人 </a:t>
            </a:r>
            <a:r>
              <a:rPr lang="en-US" altLang="zh-CN" dirty="0"/>
              <a:t>41 </a:t>
            </a:r>
            <a:r>
              <a:rPr lang="zh-CN" altLang="en-US" dirty="0"/>
              <a:t>探索了高加速度下刚挠结合 </a:t>
            </a:r>
            <a:r>
              <a:rPr lang="en-US" altLang="zh-CN" dirty="0"/>
              <a:t>PCB </a:t>
            </a:r>
            <a:r>
              <a:rPr lang="zh-CN" altLang="en-US" dirty="0"/>
              <a:t>的可靠性，揭示了应力动力学。</a:t>
            </a:r>
            <a:r>
              <a:rPr lang="en-US" altLang="zh-CN" dirty="0"/>
              <a:t>Lall </a:t>
            </a:r>
            <a:r>
              <a:rPr lang="zh-CN" altLang="en-US" dirty="0"/>
              <a:t>等人 </a:t>
            </a:r>
            <a:r>
              <a:rPr lang="en-US" altLang="zh-CN" dirty="0"/>
              <a:t>42 </a:t>
            </a:r>
            <a:r>
              <a:rPr lang="zh-CN" altLang="en-US" dirty="0"/>
              <a:t>研究了焊接过程中的变形挑战，而 </a:t>
            </a:r>
            <a:r>
              <a:rPr lang="en-US" altLang="zh-CN" dirty="0"/>
              <a:t>Muhammad </a:t>
            </a:r>
            <a:r>
              <a:rPr lang="zh-CN" altLang="en-US" dirty="0"/>
              <a:t>等人 </a:t>
            </a:r>
            <a:r>
              <a:rPr lang="en-US" altLang="zh-CN" dirty="0"/>
              <a:t>43 </a:t>
            </a:r>
            <a:r>
              <a:rPr lang="zh-CN" altLang="en-US" dirty="0"/>
              <a:t>评估了 </a:t>
            </a:r>
            <a:r>
              <a:rPr lang="en-US" altLang="zh-CN" dirty="0"/>
              <a:t>FPCB </a:t>
            </a:r>
            <a:r>
              <a:rPr lang="zh-CN" altLang="en-US" dirty="0"/>
              <a:t>的焊接后可靠性，强调了制造复杂性。这些研究共同促进了对微电子领域 </a:t>
            </a:r>
            <a:r>
              <a:rPr lang="en-US" altLang="zh-CN" dirty="0"/>
              <a:t>FPCB </a:t>
            </a:r>
            <a:r>
              <a:rPr lang="zh-CN" altLang="en-US" dirty="0"/>
              <a:t>的理解和设计。这项研究解决了理解和应用 </a:t>
            </a:r>
            <a:r>
              <a:rPr lang="en-US" altLang="zh-CN" dirty="0"/>
              <a:t>FPC </a:t>
            </a:r>
            <a:r>
              <a:rPr lang="zh-CN" altLang="en-US" dirty="0"/>
              <a:t>变形的关键差距。我们对不同条件下的 </a:t>
            </a:r>
            <a:r>
              <a:rPr lang="en-US" altLang="zh-CN" dirty="0"/>
              <a:t>FPC </a:t>
            </a:r>
            <a:r>
              <a:rPr lang="zh-CN" altLang="en-US" dirty="0"/>
              <a:t>曲率进行了广泛分析，这是以前研究不足的领域。我们的方法结合了使用 </a:t>
            </a:r>
            <a:r>
              <a:rPr lang="en-US" altLang="zh-CN" dirty="0"/>
              <a:t>Abaqus 2020 </a:t>
            </a:r>
            <a:r>
              <a:rPr lang="zh-CN" altLang="en-US" dirty="0"/>
              <a:t>进行变形行为分析的有限元法 </a:t>
            </a:r>
            <a:r>
              <a:rPr lang="en-US" altLang="zh-CN" dirty="0"/>
              <a:t>(FEM) </a:t>
            </a:r>
            <a:r>
              <a:rPr lang="zh-CN" altLang="en-US" dirty="0"/>
              <a:t>模拟和高级数学建模来检查 </a:t>
            </a:r>
            <a:r>
              <a:rPr lang="en-US" altLang="zh-CN" dirty="0"/>
              <a:t>FPC </a:t>
            </a:r>
            <a:r>
              <a:rPr lang="zh-CN" altLang="en-US" dirty="0"/>
              <a:t>上的曲率和空间分离。在我们的研究中，我们采用了雅可比矩阵迭代法，大大提高了预测 </a:t>
            </a:r>
            <a:r>
              <a:rPr lang="en-US" altLang="zh-CN" dirty="0"/>
              <a:t>FPC </a:t>
            </a:r>
            <a:r>
              <a:rPr lang="zh-CN" altLang="en-US" dirty="0"/>
              <a:t>曲率的精度。我们的发现对 </a:t>
            </a:r>
            <a:r>
              <a:rPr lang="en-US" altLang="zh-CN" dirty="0"/>
              <a:t>FPC </a:t>
            </a:r>
            <a:r>
              <a:rPr lang="zh-CN" altLang="en-US" dirty="0"/>
              <a:t>的设计和制造具有重要意义。它们强调了在 </a:t>
            </a:r>
            <a:r>
              <a:rPr lang="en-US" altLang="zh-CN" dirty="0"/>
              <a:t>FPC </a:t>
            </a:r>
            <a:r>
              <a:rPr lang="zh-CN" altLang="en-US" dirty="0"/>
              <a:t>和相邻组件之间保持自由接触空间以及优化曲率的必要性。这种方法对于防止机械应力、散热效率低下和物理损坏等问题至关重要，这些问题都会对电路功能和整体设备可靠性产生不利影响。此外，我们的研究确定了 </a:t>
            </a:r>
            <a:r>
              <a:rPr lang="en-US" altLang="zh-CN" dirty="0"/>
              <a:t>FPC </a:t>
            </a:r>
            <a:r>
              <a:rPr lang="zh-CN" altLang="en-US" dirty="0"/>
              <a:t>的理想长度，以最大限度地减少最大曲率，从而实现灵活性、结构完整性和可靠性之间的平衡。总之，我们的研究标志着 </a:t>
            </a:r>
            <a:r>
              <a:rPr lang="en-US" altLang="zh-CN" dirty="0"/>
              <a:t>FPC </a:t>
            </a:r>
            <a:r>
              <a:rPr lang="zh-CN" altLang="en-US" dirty="0"/>
              <a:t>研究的重大进步，提供了新的见解和方法。它旨在提高对各种条件下 </a:t>
            </a:r>
            <a:r>
              <a:rPr lang="en-US" altLang="zh-CN" dirty="0"/>
              <a:t>FPC </a:t>
            </a:r>
            <a:r>
              <a:rPr lang="zh-CN" altLang="en-US" dirty="0"/>
              <a:t>行为的理解，为未来的 </a:t>
            </a:r>
            <a:r>
              <a:rPr lang="en-US" altLang="zh-CN" dirty="0"/>
              <a:t>FPC </a:t>
            </a:r>
            <a:r>
              <a:rPr lang="zh-CN" altLang="en-US" dirty="0"/>
              <a:t>设计和应用增强奠定基础，为电子设计和制造领域的设备寿命和性能做出重大贡献。</a:t>
            </a:r>
            <a:endParaRPr lang="en-US" altLang="zh-CN" dirty="0"/>
          </a:p>
          <a:p>
            <a:endParaRPr lang="en-US" altLang="zh-CN" dirty="0"/>
          </a:p>
          <a:p>
            <a:endParaRPr lang="en-US" altLang="zh-CN" dirty="0"/>
          </a:p>
          <a:p>
            <a:endParaRPr lang="en-US" altLang="zh-CN" dirty="0"/>
          </a:p>
          <a:p>
            <a:endParaRPr lang="en-US" altLang="zh-CN" dirty="0"/>
          </a:p>
          <a:p>
            <a:r>
              <a:rPr lang="zh-CN" altLang="en-US" dirty="0"/>
              <a:t>图 </a:t>
            </a:r>
            <a:r>
              <a:rPr lang="en-US" altLang="zh-CN" dirty="0"/>
              <a:t>1. </a:t>
            </a:r>
            <a:r>
              <a:rPr lang="zh-CN" altLang="en-US" dirty="0"/>
              <a:t>基于液态金属的个性化柔性印刷电子产品。“可植入设备”：液态金属神经连接 </a:t>
            </a:r>
            <a:r>
              <a:rPr lang="en-US" altLang="zh-CN" dirty="0"/>
              <a:t>[35] (https://arxiv.org/abs/1404.5931)</a:t>
            </a:r>
            <a:r>
              <a:rPr lang="zh-CN" altLang="en-US" dirty="0"/>
              <a:t>；可注射 </a:t>
            </a:r>
            <a:r>
              <a:rPr lang="en-US" altLang="zh-CN" dirty="0"/>
              <a:t>3D </a:t>
            </a:r>
            <a:r>
              <a:rPr lang="zh-CN" altLang="en-US" dirty="0"/>
              <a:t>生物电极 </a:t>
            </a:r>
            <a:r>
              <a:rPr lang="en-US" altLang="zh-CN" dirty="0"/>
              <a:t>[54]</a:t>
            </a:r>
            <a:r>
              <a:rPr lang="zh-CN" altLang="en-US" dirty="0"/>
              <a:t>（经 </a:t>
            </a:r>
            <a:r>
              <a:rPr lang="en-US" altLang="zh-CN" dirty="0"/>
              <a:t>Jin, C.; Liu, J. et al. </a:t>
            </a:r>
            <a:r>
              <a:rPr lang="zh-CN" altLang="en-US" dirty="0"/>
              <a:t>许可转载，在目标生物组织中可注射 </a:t>
            </a:r>
            <a:r>
              <a:rPr lang="en-US" altLang="zh-CN" dirty="0"/>
              <a:t>3D </a:t>
            </a:r>
            <a:r>
              <a:rPr lang="zh-CN" altLang="en-US" dirty="0"/>
              <a:t>制造医疗电子产品；由 </a:t>
            </a:r>
            <a:r>
              <a:rPr lang="en-US" altLang="zh-CN" dirty="0"/>
              <a:t>Scientific Reports </a:t>
            </a:r>
            <a:r>
              <a:rPr lang="zh-CN" altLang="en-US" dirty="0"/>
              <a:t>于 </a:t>
            </a:r>
            <a:r>
              <a:rPr lang="en-US" altLang="zh-CN" dirty="0"/>
              <a:t>2013 </a:t>
            </a:r>
            <a:r>
              <a:rPr lang="zh-CN" altLang="en-US" dirty="0"/>
              <a:t>年发表。）；液态金属重连神经的电生理测量 </a:t>
            </a:r>
            <a:r>
              <a:rPr lang="en-US" altLang="zh-CN" dirty="0"/>
              <a:t>[36]</a:t>
            </a:r>
            <a:r>
              <a:rPr lang="zh-CN" altLang="en-US" dirty="0"/>
              <a:t>；“电皮肤”：人体上的液态金属电路 </a:t>
            </a:r>
            <a:r>
              <a:rPr lang="en-US" altLang="zh-CN" dirty="0"/>
              <a:t>[55]</a:t>
            </a:r>
            <a:r>
              <a:rPr lang="zh-CN" altLang="en-US" dirty="0"/>
              <a:t>（经 </a:t>
            </a:r>
            <a:r>
              <a:rPr lang="en-US" altLang="zh-CN" dirty="0"/>
              <a:t>Guo, C.; Liu, J. et al. </a:t>
            </a:r>
            <a:r>
              <a:rPr lang="zh-CN" altLang="en-US" dirty="0"/>
              <a:t>许可转载，通过液态金属喷涂和预先设计的掩模在皮肤基底上快速图案化导电元件作为生理测试设备；由 </a:t>
            </a:r>
            <a:r>
              <a:rPr lang="en-US" altLang="zh-CN" dirty="0"/>
              <a:t>Journal of </a:t>
            </a:r>
            <a:r>
              <a:rPr lang="en-US" altLang="zh-CN" dirty="0" err="1"/>
              <a:t>Mterials</a:t>
            </a:r>
            <a:r>
              <a:rPr lang="en-US" altLang="zh-CN" dirty="0"/>
              <a:t> Chemistry B </a:t>
            </a:r>
            <a:r>
              <a:rPr lang="zh-CN" altLang="en-US" dirty="0"/>
              <a:t>于 </a:t>
            </a:r>
            <a:r>
              <a:rPr lang="en-US" altLang="zh-CN" dirty="0"/>
              <a:t>2014 </a:t>
            </a:r>
            <a:r>
              <a:rPr lang="zh-CN" altLang="en-US" dirty="0"/>
              <a:t>年发表。）；人体皮肤上的液态金属标签 </a:t>
            </a:r>
            <a:r>
              <a:rPr lang="en-US" altLang="zh-CN" dirty="0"/>
              <a:t>[56]</a:t>
            </a:r>
            <a:r>
              <a:rPr lang="zh-CN" altLang="en-US" dirty="0"/>
              <a:t>（经 </a:t>
            </a:r>
            <a:r>
              <a:rPr lang="en-US" altLang="zh-CN" dirty="0"/>
              <a:t>Jeong, S.H.; Wu, Z. et al., Liquid Alloy Printing of Microfluidic Stable Electronics </a:t>
            </a:r>
            <a:r>
              <a:rPr lang="zh-CN" altLang="en-US" dirty="0"/>
              <a:t>许可转载；</a:t>
            </a:r>
            <a:r>
              <a:rPr lang="en-US" altLang="zh-CN" dirty="0"/>
              <a:t>Lab on a Chip</a:t>
            </a:r>
            <a:r>
              <a:rPr lang="zh-CN" altLang="en-US" dirty="0"/>
              <a:t>，</a:t>
            </a:r>
            <a:r>
              <a:rPr lang="en-US" altLang="zh-CN" dirty="0"/>
              <a:t>2012 </a:t>
            </a:r>
            <a:r>
              <a:rPr lang="zh-CN" altLang="en-US" dirty="0"/>
              <a:t>年出版）；通过液态金属电极进行心电图测试 </a:t>
            </a:r>
            <a:r>
              <a:rPr lang="en-US" altLang="zh-CN" dirty="0"/>
              <a:t>[57]</a:t>
            </a:r>
            <a:r>
              <a:rPr lang="zh-CN" altLang="en-US" dirty="0"/>
              <a:t>（经 </a:t>
            </a:r>
            <a:r>
              <a:rPr lang="en-US" altLang="zh-CN" dirty="0"/>
              <a:t>Yu, Y.; Zhang, J.; Liu, J., Biomedical Implementation of Liquid Metal Ink as Drawable ECG Electrode and Skin Circuit </a:t>
            </a:r>
            <a:r>
              <a:rPr lang="zh-CN" altLang="en-US" dirty="0"/>
              <a:t>许可转载；</a:t>
            </a:r>
            <a:r>
              <a:rPr lang="en-US" altLang="zh-CN" dirty="0" err="1"/>
              <a:t>PLoS</a:t>
            </a:r>
            <a:r>
              <a:rPr lang="en-US" altLang="zh-CN" dirty="0"/>
              <a:t> ONE</a:t>
            </a:r>
            <a:r>
              <a:rPr lang="zh-CN" altLang="en-US" dirty="0"/>
              <a:t>，</a:t>
            </a:r>
            <a:r>
              <a:rPr lang="en-US" altLang="zh-CN" dirty="0"/>
              <a:t>2013 </a:t>
            </a:r>
            <a:r>
              <a:rPr lang="zh-CN" altLang="en-US" dirty="0"/>
              <a:t>年出版）；“可穿戴生物电子学”：液态金属腕带 </a:t>
            </a:r>
            <a:r>
              <a:rPr lang="en-US" altLang="zh-CN" dirty="0"/>
              <a:t>[58]</a:t>
            </a:r>
            <a:r>
              <a:rPr lang="zh-CN" altLang="en-US" dirty="0"/>
              <a:t>（经 </a:t>
            </a:r>
            <a:r>
              <a:rPr lang="en-US" altLang="zh-CN" dirty="0"/>
              <a:t>Wang, Q.; Yu, Y.; Yang, J.; Liu, J., Fast Fabrication of Flexible Functional Circuits based on Liquid Metal Dual-Trans Printing </a:t>
            </a:r>
            <a:r>
              <a:rPr lang="zh-CN" altLang="en-US" dirty="0"/>
              <a:t>许可转载；</a:t>
            </a:r>
            <a:r>
              <a:rPr lang="en-US" altLang="zh-CN" dirty="0"/>
              <a:t>Advanced Material</a:t>
            </a:r>
            <a:r>
              <a:rPr lang="zh-CN" altLang="en-US" dirty="0"/>
              <a:t>，</a:t>
            </a:r>
            <a:r>
              <a:rPr lang="en-US" altLang="zh-CN" dirty="0"/>
              <a:t>2015 </a:t>
            </a:r>
            <a:r>
              <a:rPr lang="zh-CN" altLang="en-US" dirty="0"/>
              <a:t>年出版）；可穿戴数据手套 </a:t>
            </a:r>
            <a:r>
              <a:rPr lang="en-US" altLang="zh-CN" dirty="0"/>
              <a:t>[59]</a:t>
            </a:r>
            <a:r>
              <a:rPr lang="zh-CN" altLang="en-US" dirty="0"/>
              <a:t>（经 </a:t>
            </a:r>
            <a:r>
              <a:rPr lang="en-US" altLang="zh-CN" dirty="0"/>
              <a:t>Matsuzaki, R.; </a:t>
            </a:r>
            <a:r>
              <a:rPr lang="en-US" altLang="zh-CN" dirty="0" err="1"/>
              <a:t>Tabayashi</a:t>
            </a:r>
            <a:r>
              <a:rPr lang="en-US" altLang="zh-CN" dirty="0"/>
              <a:t>, K. </a:t>
            </a:r>
            <a:r>
              <a:rPr lang="zh-CN" altLang="en-US" dirty="0"/>
              <a:t>许可转载，用于可穿戴电子产品的高拉伸、全局和分布式局部应变传感线，使用增益电极；</a:t>
            </a:r>
            <a:r>
              <a:rPr lang="en-US" altLang="zh-CN" dirty="0"/>
              <a:t>Advanced Functional Material</a:t>
            </a:r>
            <a:r>
              <a:rPr lang="zh-CN" altLang="en-US" dirty="0"/>
              <a:t>，</a:t>
            </a:r>
            <a:r>
              <a:rPr lang="en-US" altLang="zh-CN" dirty="0"/>
              <a:t>2015 </a:t>
            </a:r>
            <a:r>
              <a:rPr lang="zh-CN" altLang="en-US" dirty="0"/>
              <a:t>年出版）；鞋类嵌入式微流体能量收集 </a:t>
            </a:r>
            <a:r>
              <a:rPr lang="en-US" altLang="zh-CN" dirty="0"/>
              <a:t>[60]</a:t>
            </a:r>
            <a:r>
              <a:rPr lang="zh-CN" altLang="en-US" dirty="0"/>
              <a:t>（经 </a:t>
            </a:r>
            <a:r>
              <a:rPr lang="en-US" altLang="zh-CN" dirty="0" err="1"/>
              <a:t>Krupenkin</a:t>
            </a:r>
            <a:r>
              <a:rPr lang="en-US" altLang="zh-CN" dirty="0"/>
              <a:t>, T.; Taylor, J.A. </a:t>
            </a:r>
            <a:r>
              <a:rPr lang="zh-CN" altLang="en-US" dirty="0"/>
              <a:t>许可转载，反向电润湿作为高功率能量收集的新方法；</a:t>
            </a:r>
            <a:r>
              <a:rPr lang="en-US" altLang="zh-CN" dirty="0"/>
              <a:t>Nature Communication</a:t>
            </a:r>
            <a:r>
              <a:rPr lang="zh-CN" altLang="en-US" dirty="0"/>
              <a:t>，</a:t>
            </a:r>
            <a:r>
              <a:rPr lang="en-US" altLang="zh-CN" dirty="0"/>
              <a:t>2011 </a:t>
            </a:r>
            <a:r>
              <a:rPr lang="zh-CN" altLang="en-US" dirty="0"/>
              <a:t>年出版）目前主要以镓及其合金为代表，具有电阻率高、弯曲性强、粘附性低、表面张力大等特性，在当代电子学中，柔性印刷电路 </a:t>
            </a:r>
            <a:r>
              <a:rPr lang="en-US" altLang="zh-CN" dirty="0"/>
              <a:t>(FPC) </a:t>
            </a:r>
            <a:r>
              <a:rPr lang="zh-CN" altLang="en-US" dirty="0"/>
              <a:t>已成为关键，改变了电子设备的设计和功能 </a:t>
            </a:r>
            <a:r>
              <a:rPr lang="en-US" altLang="zh-CN" dirty="0"/>
              <a:t>1,2,3</a:t>
            </a:r>
            <a:r>
              <a:rPr lang="zh-CN" altLang="en-US" dirty="0"/>
              <a:t>。这些电路超越了传统的刚性柔性印刷电路板 </a:t>
            </a:r>
            <a:r>
              <a:rPr lang="en-US" altLang="zh-CN" dirty="0"/>
              <a:t>(PCB)</a:t>
            </a:r>
            <a:r>
              <a:rPr lang="zh-CN" altLang="en-US" dirty="0"/>
              <a:t>，由于采用聚酰亚胺等柔韧的高质量材料构造，因此具有无与伦比的灵活性和适应性。它们能够折叠或扭曲成小空间或不规则空间，从而提高了在物理压力下的耐用性。</a:t>
            </a:r>
            <a:r>
              <a:rPr lang="en-US" altLang="zh-CN" dirty="0"/>
              <a:t>FPC </a:t>
            </a:r>
            <a:r>
              <a:rPr lang="zh-CN" altLang="en-US" dirty="0"/>
              <a:t>的空间和重量效率特别有利，可将多个刚性板和线路整合成更轻、更紧凑的组件 </a:t>
            </a:r>
            <a:r>
              <a:rPr lang="en-US" altLang="zh-CN" dirty="0"/>
              <a:t>4</a:t>
            </a:r>
            <a:r>
              <a:rPr lang="zh-CN" altLang="en-US" dirty="0"/>
              <a:t>、</a:t>
            </a:r>
            <a:r>
              <a:rPr lang="en-US" altLang="zh-CN" dirty="0"/>
              <a:t>5</a:t>
            </a:r>
            <a:r>
              <a:rPr lang="zh-CN" altLang="en-US" dirty="0"/>
              <a:t>、</a:t>
            </a:r>
            <a:r>
              <a:rPr lang="en-US" altLang="zh-CN" dirty="0"/>
              <a:t>6</a:t>
            </a:r>
            <a:r>
              <a:rPr lang="zh-CN" altLang="en-US" dirty="0"/>
              <a:t>。这在航空航天、可穿戴技术和移动设备等必须减少空间和重量的领域至关重要。此外，它们固有的灵活性使它们可用于动态应用，而不会牺牲电路性能或完整性。它们的应用涵盖各个行业，如图 </a:t>
            </a:r>
            <a:r>
              <a:rPr lang="en-US" altLang="zh-CN" dirty="0"/>
              <a:t>17 </a:t>
            </a:r>
            <a:r>
              <a:rPr lang="zh-CN" altLang="en-US" dirty="0"/>
              <a:t>所示。在医疗领域，</a:t>
            </a:r>
            <a:r>
              <a:rPr lang="en-US" altLang="zh-CN" dirty="0"/>
              <a:t>FPC </a:t>
            </a:r>
            <a:r>
              <a:rPr lang="zh-CN" altLang="en-US" dirty="0"/>
              <a:t>有助于实现传感器和植入物等紧凑、灵活的设备，从而提高患者的舒适度和效率 </a:t>
            </a:r>
            <a:r>
              <a:rPr lang="en-US" altLang="zh-CN" dirty="0"/>
              <a:t>8</a:t>
            </a:r>
            <a:r>
              <a:rPr lang="zh-CN" altLang="en-US" dirty="0"/>
              <a:t>、</a:t>
            </a:r>
            <a:r>
              <a:rPr lang="en-US" altLang="zh-CN" dirty="0"/>
              <a:t>9</a:t>
            </a:r>
            <a:r>
              <a:rPr lang="zh-CN" altLang="en-US" dirty="0"/>
              <a:t>、</a:t>
            </a:r>
            <a:r>
              <a:rPr lang="en-US" altLang="zh-CN" dirty="0"/>
              <a:t>10</a:t>
            </a:r>
            <a:r>
              <a:rPr lang="zh-CN" altLang="en-US" dirty="0"/>
              <a:t>、</a:t>
            </a:r>
            <a:r>
              <a:rPr lang="en-US" altLang="zh-CN" dirty="0"/>
              <a:t>11</a:t>
            </a:r>
            <a:r>
              <a:rPr lang="zh-CN" altLang="en-US" dirty="0"/>
              <a:t>。汽车行业将它们用于仪表板显示器和传感器网络等系统中，看重它们对振动和温度变化的抵抗力。在消费电子产品中，</a:t>
            </a:r>
            <a:r>
              <a:rPr lang="en-US" altLang="zh-CN" dirty="0"/>
              <a:t>FPC </a:t>
            </a:r>
            <a:r>
              <a:rPr lang="zh-CN" altLang="en-US" dirty="0"/>
              <a:t>是智能手机、平板电脑和笔记本电脑实现轻薄化的关键</a:t>
            </a:r>
            <a:r>
              <a:rPr lang="en-US" altLang="zh-CN" dirty="0"/>
              <a:t>12</a:t>
            </a:r>
            <a:r>
              <a:rPr lang="zh-CN" altLang="en-US" dirty="0"/>
              <a:t>、</a:t>
            </a:r>
            <a:r>
              <a:rPr lang="en-US" altLang="zh-CN" dirty="0"/>
              <a:t>13</a:t>
            </a:r>
            <a:r>
              <a:rPr lang="zh-CN" altLang="en-US" dirty="0"/>
              <a:t>、</a:t>
            </a:r>
            <a:r>
              <a:rPr lang="en-US" altLang="zh-CN" dirty="0"/>
              <a:t>14</a:t>
            </a:r>
            <a:r>
              <a:rPr lang="zh-CN" altLang="en-US" dirty="0"/>
              <a:t>、</a:t>
            </a:r>
            <a:r>
              <a:rPr lang="en-US" altLang="zh-CN" dirty="0"/>
              <a:t>15</a:t>
            </a:r>
            <a:r>
              <a:rPr lang="zh-CN" altLang="en-US" dirty="0"/>
              <a:t>。此外，它们也是新兴柔性和可穿戴电子产品领域的核心，可实现符合人体工程学设计和人体运动的创新设备</a:t>
            </a:r>
            <a:r>
              <a:rPr lang="en-US" altLang="zh-CN" dirty="0"/>
              <a:t>16</a:t>
            </a:r>
            <a:r>
              <a:rPr lang="zh-CN" altLang="en-US" dirty="0"/>
              <a:t>、</a:t>
            </a:r>
            <a:r>
              <a:rPr lang="en-US" altLang="zh-CN" dirty="0"/>
              <a:t>17</a:t>
            </a:r>
            <a:r>
              <a:rPr lang="zh-CN" altLang="en-US" dirty="0"/>
              <a:t>、</a:t>
            </a:r>
            <a:r>
              <a:rPr lang="en-US" altLang="zh-CN" dirty="0"/>
              <a:t>18</a:t>
            </a:r>
            <a:r>
              <a:rPr lang="zh-CN" altLang="en-US" dirty="0"/>
              <a:t>、</a:t>
            </a:r>
            <a:r>
              <a:rPr lang="en-US" altLang="zh-CN" dirty="0"/>
              <a:t>19</a:t>
            </a:r>
            <a:r>
              <a:rPr lang="zh-CN" altLang="en-US" dirty="0"/>
              <a:t>、</a:t>
            </a:r>
            <a:r>
              <a:rPr lang="en-US" altLang="zh-CN" dirty="0"/>
              <a:t>20</a:t>
            </a:r>
            <a:r>
              <a:rPr lang="zh-CN" altLang="en-US" dirty="0"/>
              <a:t>。</a:t>
            </a:r>
          </a:p>
        </p:txBody>
      </p:sp>
      <p:sp>
        <p:nvSpPr>
          <p:cNvPr id="4" name="灯片编号占位符 3">
            <a:extLst>
              <a:ext uri="{FF2B5EF4-FFF2-40B4-BE49-F238E27FC236}">
                <a16:creationId xmlns:a16="http://schemas.microsoft.com/office/drawing/2014/main" id="{5D1EDFE6-64CB-37A0-B7F8-211E5E3EF672}"/>
              </a:ext>
            </a:extLst>
          </p:cNvPr>
          <p:cNvSpPr>
            <a:spLocks noGrp="1"/>
          </p:cNvSpPr>
          <p:nvPr>
            <p:ph type="sldNum" sz="quarter" idx="5"/>
          </p:nvPr>
        </p:nvSpPr>
        <p:spPr/>
        <p:txBody>
          <a:bodyPr/>
          <a:lstStyle/>
          <a:p>
            <a:fld id="{84918B77-9CB1-4C48-BED5-B02F24F09A98}" type="slidenum">
              <a:rPr lang="zh-CN" altLang="en-US" smtClean="0"/>
              <a:t>34</a:t>
            </a:fld>
            <a:endParaRPr lang="zh-CN" altLang="en-US"/>
          </a:p>
        </p:txBody>
      </p:sp>
    </p:spTree>
    <p:extLst>
      <p:ext uri="{BB962C8B-B14F-4D97-AF65-F5344CB8AC3E}">
        <p14:creationId xmlns:p14="http://schemas.microsoft.com/office/powerpoint/2010/main" val="27552637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145F6-AEEB-2074-6E04-CF83AA376BC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1110C27-9D3F-B9C0-F892-BF177E29C9E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5134CE9-670C-877C-6805-E27D9BA14732}"/>
              </a:ext>
            </a:extLst>
          </p:cNvPr>
          <p:cNvSpPr>
            <a:spLocks noGrp="1"/>
          </p:cNvSpPr>
          <p:nvPr>
            <p:ph type="body" idx="1"/>
          </p:nvPr>
        </p:nvSpPr>
        <p:spPr/>
        <p:txBody>
          <a:bodyPr/>
          <a:lstStyle/>
          <a:p>
            <a:endParaRPr lang="en-US" altLang="zh-CN" dirty="0"/>
          </a:p>
          <a:p>
            <a:r>
              <a:rPr lang="zh-CN" altLang="en-US" dirty="0"/>
              <a:t>印刷电子是基于印刷原理制造电子设备的技术</a:t>
            </a:r>
            <a:r>
              <a:rPr lang="en-US" altLang="zh-CN" dirty="0"/>
              <a:t>[1]</a:t>
            </a:r>
            <a:r>
              <a:rPr lang="zh-CN" altLang="en-US" dirty="0"/>
              <a:t>。与传统印刷技术不同，印刷机中使用的油墨是具有导电、介电、半导体或磁性的电子材料。印刷电子与有机电子、塑料电子、柔性电子和纸电子等多个领域密切相关</a:t>
            </a:r>
            <a:r>
              <a:rPr lang="en-US" altLang="zh-CN" dirty="0"/>
              <a:t>[2]</a:t>
            </a:r>
            <a:r>
              <a:rPr lang="zh-CN" altLang="en-US" dirty="0"/>
              <a:t>，这意味着不仅可以在硅和玻璃上印刷电路，还可以在塑料、纸张和更柔性的基板上印刷电路。生产柔性电子产品的方法之一是将导电材料直接印刷到柔性基板上。经典的柔性电子是指将有机</a:t>
            </a:r>
            <a:r>
              <a:rPr lang="en-US" altLang="zh-CN" dirty="0"/>
              <a:t>/</a:t>
            </a:r>
            <a:r>
              <a:rPr lang="zh-CN" altLang="en-US" dirty="0"/>
              <a:t>无机电子器件沉积在柔性基板上形成电路的技术</a:t>
            </a:r>
            <a:r>
              <a:rPr lang="en-US" altLang="zh-CN" dirty="0"/>
              <a:t>[3]</a:t>
            </a:r>
            <a:r>
              <a:rPr lang="zh-CN" altLang="en-US" dirty="0"/>
              <a:t>。虽然刚性电路板可以保护电子元件免受损坏，但它限制了电子产品的延展性和柔韧性。柔性电子具有柔软、延展性好、制造成本低等优点，可在信息、能源、医学和国防技术领域提供智能传感器、执行器、柔性显示器、有机发光二极管 </a:t>
            </a:r>
            <a:r>
              <a:rPr lang="en-US" altLang="zh-CN" dirty="0"/>
              <a:t>(OLED) </a:t>
            </a:r>
            <a:r>
              <a:rPr lang="zh-CN" altLang="en-US" dirty="0"/>
              <a:t>等。与传统的刚性微电子相比，柔性电子最显著的特点是其柔韧性，这使得它们可拉伸、保形、便携、可穿戴，并易于快速打印 </a:t>
            </a:r>
            <a:r>
              <a:rPr lang="en-US" altLang="zh-CN" dirty="0"/>
              <a:t>[4,5,6,7,8]</a:t>
            </a:r>
            <a:r>
              <a:rPr lang="zh-CN" altLang="en-US" dirty="0"/>
              <a:t>。由于柔性电子在电气、可打印、生物医学和传感特性方面的独特优势，它可以在电子元件 </a:t>
            </a:r>
            <a:r>
              <a:rPr lang="en-US" altLang="zh-CN" dirty="0"/>
              <a:t>[9]</a:t>
            </a:r>
            <a:r>
              <a:rPr lang="zh-CN" altLang="en-US" dirty="0"/>
              <a:t>、打印技术、植入式设备 </a:t>
            </a:r>
            <a:r>
              <a:rPr lang="en-US" altLang="zh-CN" dirty="0"/>
              <a:t>[10] </a:t>
            </a:r>
            <a:r>
              <a:rPr lang="zh-CN" altLang="en-US" dirty="0"/>
              <a:t>和健康监测器 </a:t>
            </a:r>
            <a:r>
              <a:rPr lang="en-US" altLang="zh-CN" dirty="0"/>
              <a:t>[11] </a:t>
            </a:r>
            <a:r>
              <a:rPr lang="zh-CN" altLang="en-US" dirty="0"/>
              <a:t>等领域得到广泛应用，具体用途包括天线 </a:t>
            </a:r>
            <a:r>
              <a:rPr lang="en-US" altLang="zh-CN" dirty="0"/>
              <a:t>[12]</a:t>
            </a:r>
            <a:r>
              <a:rPr lang="zh-CN" altLang="en-US" dirty="0"/>
              <a:t>、眼球摄像头 </a:t>
            </a:r>
            <a:r>
              <a:rPr lang="en-US" altLang="zh-CN" dirty="0"/>
              <a:t>[13] </a:t>
            </a:r>
            <a:r>
              <a:rPr lang="zh-CN" altLang="en-US" dirty="0"/>
              <a:t>和压力传感器 </a:t>
            </a:r>
            <a:r>
              <a:rPr lang="en-US" altLang="zh-CN" dirty="0"/>
              <a:t>[14] </a:t>
            </a:r>
            <a:r>
              <a:rPr lang="zh-CN" altLang="en-US" dirty="0"/>
              <a:t>等。如今，人们已采用两种常见策略来提高电子产品的柔软度 </a:t>
            </a:r>
            <a:r>
              <a:rPr lang="en-US" altLang="zh-CN" dirty="0"/>
              <a:t>[15]</a:t>
            </a:r>
            <a:r>
              <a:rPr lang="zh-CN" altLang="en-US" dirty="0"/>
              <a:t>。一种是将坚硬的导电材料嵌入到可拉伸的基底上，例如聚二甲基硅氧烷 </a:t>
            </a:r>
            <a:r>
              <a:rPr lang="en-US" altLang="zh-CN" dirty="0"/>
              <a:t>(PDMS)</a:t>
            </a:r>
            <a:r>
              <a:rPr lang="zh-CN" altLang="en-US" dirty="0"/>
              <a:t>。</a:t>
            </a:r>
            <a:r>
              <a:rPr lang="en-US" altLang="zh-CN" dirty="0"/>
              <a:t>Rogers </a:t>
            </a:r>
            <a:r>
              <a:rPr lang="zh-CN" altLang="en-US" dirty="0"/>
              <a:t>等人引入了一种复杂的波浪结构来保持电路的可拉伸性，当应力作用于柔软的基底上时，它可以吸收较大的张力 </a:t>
            </a:r>
            <a:r>
              <a:rPr lang="en-US" altLang="zh-CN" dirty="0"/>
              <a:t>[16,17]</a:t>
            </a:r>
            <a:r>
              <a:rPr lang="zh-CN" altLang="en-US" dirty="0"/>
              <a:t>。另一种是使用固有可拉伸的导体来形成电路 </a:t>
            </a:r>
            <a:r>
              <a:rPr lang="en-US" altLang="zh-CN" dirty="0"/>
              <a:t>[18]</a:t>
            </a:r>
            <a:r>
              <a:rPr lang="zh-CN" altLang="en-US" dirty="0"/>
              <a:t>。</a:t>
            </a:r>
            <a:r>
              <a:rPr lang="en-US" altLang="zh-CN" dirty="0"/>
              <a:t>Russo </a:t>
            </a:r>
            <a:r>
              <a:rPr lang="zh-CN" altLang="en-US" dirty="0"/>
              <a:t>等人展示了一种使用导电银墨水连接电路的方法，这种方法可以直接在纸上书写导电文字以连接发光二极管 </a:t>
            </a:r>
            <a:r>
              <a:rPr lang="en-US" altLang="zh-CN" dirty="0"/>
              <a:t>(LED) </a:t>
            </a:r>
            <a:r>
              <a:rPr lang="zh-CN" altLang="en-US" dirty="0"/>
              <a:t>阵列和三维 </a:t>
            </a:r>
            <a:r>
              <a:rPr lang="en-US" altLang="zh-CN" dirty="0"/>
              <a:t>(3D) </a:t>
            </a:r>
            <a:r>
              <a:rPr lang="zh-CN" altLang="en-US" dirty="0"/>
              <a:t>天线 </a:t>
            </a:r>
            <a:r>
              <a:rPr lang="en-US" altLang="zh-CN" dirty="0"/>
              <a:t>[12]</a:t>
            </a:r>
            <a:r>
              <a:rPr lang="zh-CN" altLang="en-US" dirty="0"/>
              <a:t>。显然，柔性印刷电子 </a:t>
            </a:r>
            <a:r>
              <a:rPr lang="en-US" altLang="zh-CN" dirty="0"/>
              <a:t>(FPE) </a:t>
            </a:r>
            <a:r>
              <a:rPr lang="zh-CN" altLang="en-US" dirty="0"/>
              <a:t>结合了柔性电子和印刷电子的特点。通过这种方式，人们可以快速制造出功能齐全的柔性电子设备。随着印刷技术的成熟，柔性印刷已成为研究的热门话题。目前已经出现了几种典型的印刷技术，例如敲击模式印刷</a:t>
            </a:r>
            <a:r>
              <a:rPr lang="en-US" altLang="zh-CN" dirty="0"/>
              <a:t>[18]</a:t>
            </a:r>
            <a:r>
              <a:rPr lang="zh-CN" altLang="en-US" dirty="0"/>
              <a:t>、气溶胶喷射印刷、卷对卷技术</a:t>
            </a:r>
            <a:r>
              <a:rPr lang="en-US" altLang="zh-CN" dirty="0"/>
              <a:t>[19]</a:t>
            </a:r>
            <a:r>
              <a:rPr lang="zh-CN" altLang="en-US" dirty="0"/>
              <a:t>、喷墨印刷</a:t>
            </a:r>
            <a:r>
              <a:rPr lang="en-US" altLang="zh-CN" dirty="0"/>
              <a:t>[20]</a:t>
            </a:r>
            <a:r>
              <a:rPr lang="zh-CN" altLang="en-US" dirty="0"/>
              <a:t>以及微笔和刷子印刷</a:t>
            </a:r>
            <a:r>
              <a:rPr lang="en-US" altLang="zh-CN" dirty="0"/>
              <a:t>[21,22]</a:t>
            </a:r>
            <a:r>
              <a:rPr lang="zh-CN" altLang="en-US" dirty="0"/>
              <a:t>。其中，微笔也许是最简单的方法：将电墨水泵入墨盒中直接写出导电文字。这使得在 </a:t>
            </a:r>
            <a:r>
              <a:rPr lang="en-US" altLang="zh-CN" dirty="0"/>
              <a:t>A4 </a:t>
            </a:r>
            <a:r>
              <a:rPr lang="zh-CN" altLang="en-US" dirty="0"/>
              <a:t>纸上绘制电路图成为可能。微笔明显降低了电路生产的复杂性并提高了电子电路制造的效率。</a:t>
            </a:r>
            <a:r>
              <a:rPr lang="en-US" altLang="zh-CN" dirty="0"/>
              <a:t>FPE </a:t>
            </a:r>
            <a:r>
              <a:rPr lang="zh-CN" altLang="en-US" dirty="0"/>
              <a:t>在不同领域取得了重大成就，例如柔性显示设备</a:t>
            </a:r>
            <a:r>
              <a:rPr lang="en-US" altLang="zh-CN" dirty="0"/>
              <a:t>[23]</a:t>
            </a:r>
            <a:r>
              <a:rPr lang="zh-CN" altLang="en-US" dirty="0"/>
              <a:t>、薄膜太阳能电池</a:t>
            </a:r>
            <a:r>
              <a:rPr lang="en-US" altLang="zh-CN" dirty="0"/>
              <a:t>[24,25]</a:t>
            </a:r>
            <a:r>
              <a:rPr lang="zh-CN" altLang="en-US" dirty="0"/>
              <a:t>、大面积传感器和驱动器</a:t>
            </a:r>
            <a:r>
              <a:rPr lang="en-US" altLang="zh-CN" dirty="0"/>
              <a:t>[26,27]</a:t>
            </a:r>
            <a:r>
              <a:rPr lang="zh-CN" altLang="en-US" dirty="0"/>
              <a:t>、电子皮肤</a:t>
            </a:r>
            <a:r>
              <a:rPr lang="en-US" altLang="zh-CN" dirty="0"/>
              <a:t>[28]</a:t>
            </a:r>
            <a:r>
              <a:rPr lang="zh-CN" altLang="en-US" dirty="0"/>
              <a:t>、可穿戴电子和生物假肢设备</a:t>
            </a:r>
            <a:r>
              <a:rPr lang="en-US" altLang="zh-CN" dirty="0"/>
              <a:t>[29]</a:t>
            </a:r>
            <a:r>
              <a:rPr lang="zh-CN" altLang="en-US" dirty="0"/>
              <a:t>、自充电系统</a:t>
            </a:r>
            <a:r>
              <a:rPr lang="en-US" altLang="zh-CN" dirty="0"/>
              <a:t>[30]</a:t>
            </a:r>
            <a:r>
              <a:rPr lang="zh-CN" altLang="en-US" dirty="0"/>
              <a:t>、自供电无线监控</a:t>
            </a:r>
            <a:r>
              <a:rPr lang="en-US" altLang="zh-CN" dirty="0"/>
              <a:t>[31]</a:t>
            </a:r>
            <a:r>
              <a:rPr lang="zh-CN" altLang="en-US" dirty="0"/>
              <a:t>等。如果电路具有柔软性、顺应性、可拉伸性和便携性等特性，则可以称其为可弯曲电子设备。与此同时，许多实验室已经开发出具有柔性的电子设备，如弯曲显示器</a:t>
            </a:r>
            <a:r>
              <a:rPr lang="en-US" altLang="zh-CN" dirty="0"/>
              <a:t>[32]</a:t>
            </a:r>
            <a:r>
              <a:rPr lang="zh-CN" altLang="en-US" dirty="0"/>
              <a:t>、折叠电池</a:t>
            </a:r>
            <a:r>
              <a:rPr lang="en-US" altLang="zh-CN" dirty="0"/>
              <a:t>[9]</a:t>
            </a:r>
            <a:r>
              <a:rPr lang="zh-CN" altLang="en-US" dirty="0"/>
              <a:t>、软场效应晶体管</a:t>
            </a:r>
            <a:r>
              <a:rPr lang="en-US" altLang="zh-CN" dirty="0"/>
              <a:t>[33]</a:t>
            </a:r>
            <a:r>
              <a:rPr lang="zh-CN" altLang="en-US" dirty="0"/>
              <a:t>、可拉伸导线</a:t>
            </a:r>
            <a:r>
              <a:rPr lang="en-US" altLang="zh-CN" dirty="0"/>
              <a:t>[34]</a:t>
            </a:r>
            <a:r>
              <a:rPr lang="zh-CN" altLang="en-US" dirty="0"/>
              <a:t>等。</a:t>
            </a:r>
            <a:r>
              <a:rPr lang="en-US" altLang="zh-CN" dirty="0"/>
              <a:t>FPE</a:t>
            </a:r>
            <a:r>
              <a:rPr lang="zh-CN" altLang="en-US" dirty="0"/>
              <a:t>还可以用于健康监测、医学检查、生命体征检测和其他日常生活需求。柔性生物医学设备已广泛应用于植入式设备</a:t>
            </a:r>
            <a:r>
              <a:rPr lang="en-US" altLang="zh-CN" dirty="0"/>
              <a:t>[10]</a:t>
            </a:r>
            <a:r>
              <a:rPr lang="zh-CN" altLang="en-US" dirty="0"/>
              <a:t>、神经连接</a:t>
            </a:r>
            <a:r>
              <a:rPr lang="en-US" altLang="zh-CN" dirty="0"/>
              <a:t>[35,36]</a:t>
            </a:r>
            <a:r>
              <a:rPr lang="zh-CN" altLang="en-US" dirty="0"/>
              <a:t>、健康监测</a:t>
            </a:r>
            <a:r>
              <a:rPr lang="en-US" altLang="zh-CN" dirty="0"/>
              <a:t>[11]</a:t>
            </a:r>
            <a:r>
              <a:rPr lang="zh-CN" altLang="en-US" dirty="0"/>
              <a:t>和可穿戴医疗设备领域。</a:t>
            </a:r>
            <a:r>
              <a:rPr lang="en-US" altLang="zh-CN" dirty="0"/>
              <a:t>FPE</a:t>
            </a:r>
            <a:r>
              <a:rPr lang="zh-CN" altLang="en-US" dirty="0"/>
              <a:t>还用于生物传感，其中最重要的应用是电子皮肤（</a:t>
            </a:r>
            <a:r>
              <a:rPr lang="en-US" altLang="zh-CN" dirty="0"/>
              <a:t>E-skin</a:t>
            </a:r>
            <a:r>
              <a:rPr lang="zh-CN" altLang="en-US" dirty="0"/>
              <a:t>），如压力映射</a:t>
            </a:r>
            <a:r>
              <a:rPr lang="en-US" altLang="zh-CN" dirty="0"/>
              <a:t>[37]</a:t>
            </a:r>
            <a:r>
              <a:rPr lang="zh-CN" altLang="en-US" dirty="0"/>
              <a:t>、自愈传感器</a:t>
            </a:r>
            <a:r>
              <a:rPr lang="en-US" altLang="zh-CN" dirty="0"/>
              <a:t>[38]</a:t>
            </a:r>
            <a:r>
              <a:rPr lang="zh-CN" altLang="en-US" dirty="0"/>
              <a:t>、假肢</a:t>
            </a:r>
            <a:r>
              <a:rPr lang="en-US" altLang="zh-CN" dirty="0"/>
              <a:t>[39]</a:t>
            </a:r>
            <a:r>
              <a:rPr lang="zh-CN" altLang="en-US" dirty="0"/>
              <a:t>、压力传感器</a:t>
            </a:r>
            <a:r>
              <a:rPr lang="en-US" altLang="zh-CN" dirty="0"/>
              <a:t>[14]</a:t>
            </a:r>
            <a:r>
              <a:rPr lang="zh-CN" altLang="en-US" dirty="0"/>
              <a:t>等。许多研究机构正在研究应用于柔性电子皮肤的不同材料。在鲍哲南的实验室，他们发明了一种受皮肤启发的人工机械感受器系统，该受体可以将压力刺激信号转化为人类神经元可以感知的电生理信号</a:t>
            </a:r>
            <a:r>
              <a:rPr lang="en-US" altLang="zh-CN" dirty="0"/>
              <a:t>[40]</a:t>
            </a:r>
          </a:p>
          <a:p>
            <a:endParaRPr lang="en-US" altLang="zh-CN" dirty="0"/>
          </a:p>
          <a:p>
            <a:endParaRPr lang="en-US" altLang="zh-CN" dirty="0"/>
          </a:p>
          <a:p>
            <a:r>
              <a:rPr lang="zh-CN" altLang="en-US" dirty="0"/>
              <a:t>在电子电路设计领域，必须特别注意柔性印刷电路的使用和放置。这些组件以其在各种应用中的灵活性和适应性而闻名，需要小心处理和战略定位以确保最佳性能和使用寿命</a:t>
            </a:r>
            <a:r>
              <a:rPr lang="en-US" altLang="zh-CN" dirty="0"/>
              <a:t>21</a:t>
            </a:r>
            <a:r>
              <a:rPr lang="zh-CN" altLang="en-US" dirty="0"/>
              <a:t>。这种谨慎方法的原因是多方面的：在柔性印刷电路 </a:t>
            </a:r>
            <a:r>
              <a:rPr lang="en-US" altLang="zh-CN" dirty="0"/>
              <a:t>(FPC) </a:t>
            </a:r>
            <a:r>
              <a:rPr lang="zh-CN" altLang="en-US" dirty="0"/>
              <a:t>的设计中，必须解决几个问题以确保其耐用性和功能性。首先，</a:t>
            </a:r>
            <a:r>
              <a:rPr lang="en-US" altLang="zh-CN" dirty="0"/>
              <a:t>FPC </a:t>
            </a:r>
            <a:r>
              <a:rPr lang="zh-CN" altLang="en-US" dirty="0"/>
              <a:t>本质上比刚性对应物更脆弱，容易受到机械损坏，例如裂缝或断裂</a:t>
            </a:r>
            <a:r>
              <a:rPr lang="en-US" altLang="zh-CN" dirty="0"/>
              <a:t>22</a:t>
            </a:r>
            <a:r>
              <a:rPr lang="zh-CN" altLang="en-US" dirty="0"/>
              <a:t>，尤其是在受到外部应力或力</a:t>
            </a:r>
            <a:r>
              <a:rPr lang="en-US" altLang="zh-CN" dirty="0"/>
              <a:t>23 </a:t>
            </a:r>
            <a:r>
              <a:rPr lang="zh-CN" altLang="en-US" dirty="0"/>
              <a:t>时。在 </a:t>
            </a:r>
            <a:r>
              <a:rPr lang="en-US" altLang="zh-CN" dirty="0"/>
              <a:t>FPC </a:t>
            </a:r>
            <a:r>
              <a:rPr lang="zh-CN" altLang="en-US" dirty="0"/>
              <a:t>可能接触其他组件的环境中，尤其是在容易移动或振动的环境中，这种脆弱性会加剧。战略性的物理分离可以显著降低此类损坏的风险。此外，当 </a:t>
            </a:r>
            <a:r>
              <a:rPr lang="en-US" altLang="zh-CN" dirty="0"/>
              <a:t>FPC </a:t>
            </a:r>
            <a:r>
              <a:rPr lang="zh-CN" altLang="en-US" dirty="0"/>
              <a:t>放置得太靠近其他电子元件（尤其是那些产生强电磁场的电子元件）时，</a:t>
            </a:r>
            <a:r>
              <a:rPr lang="en-US" altLang="zh-CN" dirty="0"/>
              <a:t>FPC </a:t>
            </a:r>
            <a:r>
              <a:rPr lang="zh-CN" altLang="en-US" dirty="0"/>
              <a:t>面临着电气干扰的挑战</a:t>
            </a:r>
            <a:r>
              <a:rPr lang="en-US" altLang="zh-CN" dirty="0"/>
              <a:t>24</a:t>
            </a:r>
            <a:r>
              <a:rPr lang="zh-CN" altLang="en-US" dirty="0"/>
              <a:t>。这种干扰会破坏 </a:t>
            </a:r>
            <a:r>
              <a:rPr lang="en-US" altLang="zh-CN" dirty="0"/>
              <a:t>FPC </a:t>
            </a:r>
            <a:r>
              <a:rPr lang="zh-CN" altLang="en-US" dirty="0"/>
              <a:t>上电路的正常运行，导致故障或效率低下。此外，保持信号完整性至关重要</a:t>
            </a:r>
            <a:r>
              <a:rPr lang="en-US" altLang="zh-CN" dirty="0"/>
              <a:t>25</a:t>
            </a:r>
            <a:r>
              <a:rPr lang="zh-CN" altLang="en-US" dirty="0"/>
              <a:t>，因为与其他组件的距离太近可能会导致信号丢失或干扰，这在高频或精密应用中至关重要，因为信号清晰度和完整性至关重要。有效的热管理是另一个关键考虑因素</a:t>
            </a:r>
            <a:r>
              <a:rPr lang="en-US" altLang="zh-CN" dirty="0"/>
              <a:t>26,27</a:t>
            </a:r>
            <a:r>
              <a:rPr lang="zh-CN" altLang="en-US" dirty="0"/>
              <a:t>。如果 </a:t>
            </a:r>
            <a:r>
              <a:rPr lang="en-US" altLang="zh-CN" dirty="0"/>
              <a:t>FPC </a:t>
            </a:r>
            <a:r>
              <a:rPr lang="zh-CN" altLang="en-US" dirty="0"/>
              <a:t>的位置太靠近发热组件，由此产生的高温会对其性能和寿命产生不利影响。足够的间距对于促进适当的散热和防止热过载至关重要，热过载会降低 </a:t>
            </a:r>
            <a:r>
              <a:rPr lang="en-US" altLang="zh-CN" dirty="0"/>
              <a:t>FPC </a:t>
            </a:r>
            <a:r>
              <a:rPr lang="zh-CN" altLang="en-US" dirty="0"/>
              <a:t>的材料和电路性能。最后，</a:t>
            </a:r>
            <a:r>
              <a:rPr lang="en-US" altLang="zh-CN" dirty="0"/>
              <a:t>FPC </a:t>
            </a:r>
            <a:r>
              <a:rPr lang="zh-CN" altLang="en-US" dirty="0"/>
              <a:t>独特的灵活性使它们可以弯曲或弯曲以适应特定的设计，但这种弯曲应该小心控制</a:t>
            </a:r>
            <a:r>
              <a:rPr lang="en-US" altLang="zh-CN" dirty="0"/>
              <a:t>28</a:t>
            </a:r>
            <a:r>
              <a:rPr lang="zh-CN" altLang="en-US" dirty="0"/>
              <a:t>。过度的曲率会对材料施加不当的压力，增加随着时间的推移疲劳和损坏的风险</a:t>
            </a:r>
            <a:r>
              <a:rPr lang="en-US" altLang="zh-CN" dirty="0"/>
              <a:t>29</a:t>
            </a:r>
            <a:r>
              <a:rPr lang="zh-CN" altLang="en-US" dirty="0"/>
              <a:t>。正确管理曲率对于保持 </a:t>
            </a:r>
            <a:r>
              <a:rPr lang="en-US" altLang="zh-CN" dirty="0"/>
              <a:t>FPC </a:t>
            </a:r>
            <a:r>
              <a:rPr lang="zh-CN" altLang="en-US" dirty="0"/>
              <a:t>的结构完整性至关重要。总之，</a:t>
            </a:r>
            <a:r>
              <a:rPr lang="en-US" altLang="zh-CN" dirty="0"/>
              <a:t>FPC </a:t>
            </a:r>
            <a:r>
              <a:rPr lang="zh-CN" altLang="en-US" dirty="0"/>
              <a:t>的战略性放置和处理在电路设计中至关重要。这不仅涉及避免与其他组件的物理接触，还需要考虑电磁兼容性、信号完整性</a:t>
            </a:r>
            <a:r>
              <a:rPr lang="en-US" altLang="zh-CN" dirty="0"/>
              <a:t>30</a:t>
            </a:r>
            <a:r>
              <a:rPr lang="zh-CN" altLang="en-US" dirty="0"/>
              <a:t>、热管理</a:t>
            </a:r>
            <a:r>
              <a:rPr lang="en-US" altLang="zh-CN" dirty="0"/>
              <a:t>31</a:t>
            </a:r>
            <a:r>
              <a:rPr lang="zh-CN" altLang="en-US" dirty="0"/>
              <a:t>和机械应力</a:t>
            </a:r>
            <a:r>
              <a:rPr lang="en-US" altLang="zh-CN" dirty="0"/>
              <a:t>32,33,34</a:t>
            </a:r>
            <a:r>
              <a:rPr lang="zh-CN" altLang="en-US" dirty="0"/>
              <a:t>等方面。这些考虑因素是设计过程不可或缺的，可确保 </a:t>
            </a:r>
            <a:r>
              <a:rPr lang="en-US" altLang="zh-CN" dirty="0"/>
              <a:t>FPC </a:t>
            </a:r>
            <a:r>
              <a:rPr lang="zh-CN" altLang="en-US" dirty="0"/>
              <a:t>在预期应用中有效可靠地发挥作用。对 </a:t>
            </a:r>
            <a:r>
              <a:rPr lang="en-US" altLang="zh-CN" dirty="0"/>
              <a:t>FPC </a:t>
            </a:r>
            <a:r>
              <a:rPr lang="zh-CN" altLang="en-US" dirty="0"/>
              <a:t>相关的细微差别的详细了解对于电子设计领域的专业人士至关重要，值得在学术和技术文献中进行深入讨论。在 </a:t>
            </a:r>
            <a:r>
              <a:rPr lang="en-US" altLang="zh-CN" dirty="0"/>
              <a:t>FPC </a:t>
            </a:r>
            <a:r>
              <a:rPr lang="zh-CN" altLang="en-US" dirty="0"/>
              <a:t>力学和变形领域，</a:t>
            </a:r>
            <a:r>
              <a:rPr lang="en-US" altLang="zh-CN" dirty="0"/>
              <a:t>John </a:t>
            </a:r>
            <a:r>
              <a:rPr lang="zh-CN" altLang="en-US" dirty="0"/>
              <a:t>等人</a:t>
            </a:r>
            <a:r>
              <a:rPr lang="en-US" altLang="zh-CN" dirty="0"/>
              <a:t>35 </a:t>
            </a:r>
            <a:r>
              <a:rPr lang="zh-CN" altLang="en-US" dirty="0"/>
              <a:t>深入研究了与弯曲、成型和弯曲印刷电路相关的机械和材料挑战，特别是针对非玻璃编织材料。他们的研究全面分析了弯曲过程中应变对铜层的影响及其对静态和动态应用的影响，强调了了解材料特性和铜在机械应力下的行为的重要性。同时，</a:t>
            </a:r>
            <a:r>
              <a:rPr lang="en-US" altLang="zh-CN" dirty="0" err="1"/>
              <a:t>Hirotaka</a:t>
            </a:r>
            <a:r>
              <a:rPr lang="en-US" altLang="zh-CN" dirty="0"/>
              <a:t> </a:t>
            </a:r>
            <a:r>
              <a:rPr lang="zh-CN" altLang="en-US" dirty="0"/>
              <a:t>等人 </a:t>
            </a:r>
            <a:r>
              <a:rPr lang="en-US" altLang="zh-CN" dirty="0"/>
              <a:t>36 </a:t>
            </a:r>
            <a:r>
              <a:rPr lang="zh-CN" altLang="en-US" dirty="0"/>
              <a:t>研究了基于 </a:t>
            </a:r>
            <a:r>
              <a:rPr lang="en-US" altLang="zh-CN" dirty="0"/>
              <a:t>FPC </a:t>
            </a:r>
            <a:r>
              <a:rPr lang="zh-CN" altLang="en-US" dirty="0"/>
              <a:t>的平面倒置 </a:t>
            </a:r>
            <a:r>
              <a:rPr lang="en-US" altLang="zh-CN" dirty="0"/>
              <a:t>F </a:t>
            </a:r>
            <a:r>
              <a:rPr lang="zh-CN" altLang="en-US" dirty="0"/>
              <a:t>天线 </a:t>
            </a:r>
            <a:r>
              <a:rPr lang="en-US" altLang="zh-CN" dirty="0"/>
              <a:t>(PIFA) </a:t>
            </a:r>
            <a:r>
              <a:rPr lang="zh-CN" altLang="en-US" dirty="0"/>
              <a:t>的性能特征，重点研究了它在受到机械变形时保持稳定辐射模式和效率的稳健性。他们的研究结果证实了天线适用于紧凑型移动设备，且性能下降最小。此外，</a:t>
            </a:r>
            <a:r>
              <a:rPr lang="en-US" altLang="zh-CN" dirty="0"/>
              <a:t>Ping </a:t>
            </a:r>
            <a:r>
              <a:rPr lang="zh-CN" altLang="en-US" dirty="0"/>
              <a:t>等人 </a:t>
            </a:r>
            <a:r>
              <a:rPr lang="en-US" altLang="zh-CN" dirty="0"/>
              <a:t>22 </a:t>
            </a:r>
            <a:r>
              <a:rPr lang="zh-CN" altLang="en-US" dirty="0"/>
              <a:t>确定了 </a:t>
            </a:r>
            <a:r>
              <a:rPr lang="en-US" altLang="zh-CN" dirty="0"/>
              <a:t>FPC </a:t>
            </a:r>
            <a:r>
              <a:rPr lang="zh-CN" altLang="en-US" dirty="0"/>
              <a:t>应用中常见的故障模式，例如通孔互连问题、走线裂缝和黑垫现象。他们提出了通过改进制造工艺、机械设计和动态应力分布来提高 </a:t>
            </a:r>
            <a:r>
              <a:rPr lang="en-US" altLang="zh-CN" dirty="0"/>
              <a:t>FPC </a:t>
            </a:r>
            <a:r>
              <a:rPr lang="zh-CN" altLang="en-US" dirty="0"/>
              <a:t>可靠性和质量的方法。总的来说，这些研究阐明了 </a:t>
            </a:r>
            <a:r>
              <a:rPr lang="en-US" altLang="zh-CN" dirty="0"/>
              <a:t>FPC </a:t>
            </a:r>
            <a:r>
              <a:rPr lang="zh-CN" altLang="en-US" dirty="0"/>
              <a:t>在先进电子领域设计和应用方面取得的重大进展和持续存在的挑战。基于这些对 </a:t>
            </a:r>
            <a:r>
              <a:rPr lang="en-US" altLang="zh-CN" dirty="0"/>
              <a:t>FPC </a:t>
            </a:r>
            <a:r>
              <a:rPr lang="zh-CN" altLang="en-US" dirty="0"/>
              <a:t>力学和变形的基础见解，进一步的研究专门针对柔性印刷电路板 </a:t>
            </a:r>
            <a:r>
              <a:rPr lang="en-US" altLang="zh-CN" dirty="0"/>
              <a:t>(FPCB) </a:t>
            </a:r>
            <a:r>
              <a:rPr lang="zh-CN" altLang="en-US" dirty="0"/>
              <a:t>的复杂性。最近的研究为这一领域做出了重大贡献。 </a:t>
            </a:r>
            <a:r>
              <a:rPr lang="en-US" altLang="zh-CN" dirty="0"/>
              <a:t>Chong </a:t>
            </a:r>
            <a:r>
              <a:rPr lang="zh-CN" altLang="en-US" dirty="0"/>
              <a:t>等人 </a:t>
            </a:r>
            <a:r>
              <a:rPr lang="en-US" altLang="zh-CN" dirty="0"/>
              <a:t>37 </a:t>
            </a:r>
            <a:r>
              <a:rPr lang="zh-CN" altLang="en-US" dirty="0"/>
              <a:t>深入研究了热条件下的传热和变形方面，使用流体结构相互作用进行模拟。</a:t>
            </a:r>
            <a:r>
              <a:rPr lang="en-US" altLang="zh-CN" dirty="0"/>
              <a:t>Leong </a:t>
            </a:r>
            <a:r>
              <a:rPr lang="zh-CN" altLang="en-US" dirty="0"/>
              <a:t>等人 </a:t>
            </a:r>
            <a:r>
              <a:rPr lang="en-US" altLang="zh-CN" dirty="0"/>
              <a:t>38 </a:t>
            </a:r>
            <a:r>
              <a:rPr lang="zh-CN" altLang="en-US" dirty="0"/>
              <a:t>旨在采用先进的方法优化 </a:t>
            </a:r>
            <a:r>
              <a:rPr lang="en-US" altLang="zh-CN" dirty="0"/>
              <a:t>FPCB </a:t>
            </a:r>
            <a:r>
              <a:rPr lang="zh-CN" altLang="en-US" dirty="0"/>
              <a:t>以减轻应力和挠度。</a:t>
            </a:r>
            <a:r>
              <a:rPr lang="en-US" altLang="zh-CN" dirty="0"/>
              <a:t>Alexander 39 </a:t>
            </a:r>
            <a:r>
              <a:rPr lang="zh-CN" altLang="en-US" dirty="0"/>
              <a:t>专注于 </a:t>
            </a:r>
            <a:r>
              <a:rPr lang="en-US" altLang="zh-CN" dirty="0"/>
              <a:t>FPC </a:t>
            </a:r>
            <a:r>
              <a:rPr lang="zh-CN" altLang="en-US" dirty="0"/>
              <a:t>的机械可靠性，特别是在动态环境中，将疲劳测试与计算分析相结合。</a:t>
            </a:r>
            <a:r>
              <a:rPr lang="en-US" altLang="zh-CN" dirty="0"/>
              <a:t>Liu </a:t>
            </a:r>
            <a:r>
              <a:rPr lang="zh-CN" altLang="en-US" dirty="0"/>
              <a:t>等人 </a:t>
            </a:r>
            <a:r>
              <a:rPr lang="en-US" altLang="zh-CN" dirty="0"/>
              <a:t>40 </a:t>
            </a:r>
            <a:r>
              <a:rPr lang="zh-CN" altLang="en-US" dirty="0"/>
              <a:t>研究了影响 </a:t>
            </a:r>
            <a:r>
              <a:rPr lang="en-US" altLang="zh-CN" dirty="0"/>
              <a:t>FPC </a:t>
            </a:r>
            <a:r>
              <a:rPr lang="zh-CN" altLang="en-US" dirty="0"/>
              <a:t>弯曲的因素，揭示了为材料和设计选择提供了重要见解。</a:t>
            </a:r>
            <a:r>
              <a:rPr lang="en-US" altLang="zh-CN" dirty="0"/>
              <a:t>Zhang </a:t>
            </a:r>
            <a:r>
              <a:rPr lang="zh-CN" altLang="en-US" dirty="0"/>
              <a:t>等人 </a:t>
            </a:r>
            <a:r>
              <a:rPr lang="en-US" altLang="zh-CN" dirty="0"/>
              <a:t>41 </a:t>
            </a:r>
            <a:r>
              <a:rPr lang="zh-CN" altLang="en-US" dirty="0"/>
              <a:t>探索了高加速度下刚挠结合 </a:t>
            </a:r>
            <a:r>
              <a:rPr lang="en-US" altLang="zh-CN" dirty="0"/>
              <a:t>PCB </a:t>
            </a:r>
            <a:r>
              <a:rPr lang="zh-CN" altLang="en-US" dirty="0"/>
              <a:t>的可靠性，揭示了应力动力学。</a:t>
            </a:r>
            <a:r>
              <a:rPr lang="en-US" altLang="zh-CN" dirty="0"/>
              <a:t>Lall </a:t>
            </a:r>
            <a:r>
              <a:rPr lang="zh-CN" altLang="en-US" dirty="0"/>
              <a:t>等人 </a:t>
            </a:r>
            <a:r>
              <a:rPr lang="en-US" altLang="zh-CN" dirty="0"/>
              <a:t>42 </a:t>
            </a:r>
            <a:r>
              <a:rPr lang="zh-CN" altLang="en-US" dirty="0"/>
              <a:t>研究了焊接过程中的变形挑战，而 </a:t>
            </a:r>
            <a:r>
              <a:rPr lang="en-US" altLang="zh-CN" dirty="0"/>
              <a:t>Muhammad </a:t>
            </a:r>
            <a:r>
              <a:rPr lang="zh-CN" altLang="en-US" dirty="0"/>
              <a:t>等人 </a:t>
            </a:r>
            <a:r>
              <a:rPr lang="en-US" altLang="zh-CN" dirty="0"/>
              <a:t>43 </a:t>
            </a:r>
            <a:r>
              <a:rPr lang="zh-CN" altLang="en-US" dirty="0"/>
              <a:t>评估了 </a:t>
            </a:r>
            <a:r>
              <a:rPr lang="en-US" altLang="zh-CN" dirty="0"/>
              <a:t>FPCB </a:t>
            </a:r>
            <a:r>
              <a:rPr lang="zh-CN" altLang="en-US" dirty="0"/>
              <a:t>的焊接后可靠性，强调了制造复杂性。这些研究共同促进了对微电子领域 </a:t>
            </a:r>
            <a:r>
              <a:rPr lang="en-US" altLang="zh-CN" dirty="0"/>
              <a:t>FPCB </a:t>
            </a:r>
            <a:r>
              <a:rPr lang="zh-CN" altLang="en-US" dirty="0"/>
              <a:t>的理解和设计。这项研究解决了理解和应用 </a:t>
            </a:r>
            <a:r>
              <a:rPr lang="en-US" altLang="zh-CN" dirty="0"/>
              <a:t>FPC </a:t>
            </a:r>
            <a:r>
              <a:rPr lang="zh-CN" altLang="en-US" dirty="0"/>
              <a:t>变形的关键差距。我们对不同条件下的 </a:t>
            </a:r>
            <a:r>
              <a:rPr lang="en-US" altLang="zh-CN" dirty="0"/>
              <a:t>FPC </a:t>
            </a:r>
            <a:r>
              <a:rPr lang="zh-CN" altLang="en-US" dirty="0"/>
              <a:t>曲率进行了广泛分析，这是以前研究不足的领域。我们的方法结合了使用 </a:t>
            </a:r>
            <a:r>
              <a:rPr lang="en-US" altLang="zh-CN" dirty="0"/>
              <a:t>Abaqus 2020 </a:t>
            </a:r>
            <a:r>
              <a:rPr lang="zh-CN" altLang="en-US" dirty="0"/>
              <a:t>进行变形行为分析的有限元法 </a:t>
            </a:r>
            <a:r>
              <a:rPr lang="en-US" altLang="zh-CN" dirty="0"/>
              <a:t>(FEM) </a:t>
            </a:r>
            <a:r>
              <a:rPr lang="zh-CN" altLang="en-US" dirty="0"/>
              <a:t>模拟和高级数学建模来检查 </a:t>
            </a:r>
            <a:r>
              <a:rPr lang="en-US" altLang="zh-CN" dirty="0"/>
              <a:t>FPC </a:t>
            </a:r>
            <a:r>
              <a:rPr lang="zh-CN" altLang="en-US" dirty="0"/>
              <a:t>上的曲率和空间分离。在我们的研究中，我们采用了雅可比矩阵迭代法，大大提高了预测 </a:t>
            </a:r>
            <a:r>
              <a:rPr lang="en-US" altLang="zh-CN" dirty="0"/>
              <a:t>FPC </a:t>
            </a:r>
            <a:r>
              <a:rPr lang="zh-CN" altLang="en-US" dirty="0"/>
              <a:t>曲率的精度。我们的发现对 </a:t>
            </a:r>
            <a:r>
              <a:rPr lang="en-US" altLang="zh-CN" dirty="0"/>
              <a:t>FPC </a:t>
            </a:r>
            <a:r>
              <a:rPr lang="zh-CN" altLang="en-US" dirty="0"/>
              <a:t>的设计和制造具有重要意义。它们强调了在 </a:t>
            </a:r>
            <a:r>
              <a:rPr lang="en-US" altLang="zh-CN" dirty="0"/>
              <a:t>FPC </a:t>
            </a:r>
            <a:r>
              <a:rPr lang="zh-CN" altLang="en-US" dirty="0"/>
              <a:t>和相邻组件之间保持自由接触空间以及优化曲率的必要性。这种方法对于防止机械应力、散热效率低下和物理损坏等问题至关重要，这些问题都会对电路功能和整体设备可靠性产生不利影响。此外，我们的研究确定了 </a:t>
            </a:r>
            <a:r>
              <a:rPr lang="en-US" altLang="zh-CN" dirty="0"/>
              <a:t>FPC </a:t>
            </a:r>
            <a:r>
              <a:rPr lang="zh-CN" altLang="en-US" dirty="0"/>
              <a:t>的理想长度，以最大限度地减少最大曲率，从而实现灵活性、结构完整性和可靠性之间的平衡。总之，我们的研究标志着 </a:t>
            </a:r>
            <a:r>
              <a:rPr lang="en-US" altLang="zh-CN" dirty="0"/>
              <a:t>FPC </a:t>
            </a:r>
            <a:r>
              <a:rPr lang="zh-CN" altLang="en-US" dirty="0"/>
              <a:t>研究的重大进步，提供了新的见解和方法。它旨在提高对各种条件下 </a:t>
            </a:r>
            <a:r>
              <a:rPr lang="en-US" altLang="zh-CN" dirty="0"/>
              <a:t>FPC </a:t>
            </a:r>
            <a:r>
              <a:rPr lang="zh-CN" altLang="en-US" dirty="0"/>
              <a:t>行为的理解，为未来的 </a:t>
            </a:r>
            <a:r>
              <a:rPr lang="en-US" altLang="zh-CN" dirty="0"/>
              <a:t>FPC </a:t>
            </a:r>
            <a:r>
              <a:rPr lang="zh-CN" altLang="en-US" dirty="0"/>
              <a:t>设计和应用增强奠定基础，为电子设计和制造领域的设备寿命和性能做出重大贡献。</a:t>
            </a:r>
            <a:endParaRPr lang="en-US" altLang="zh-CN" dirty="0"/>
          </a:p>
          <a:p>
            <a:endParaRPr lang="en-US" altLang="zh-CN" dirty="0"/>
          </a:p>
          <a:p>
            <a:endParaRPr lang="en-US" altLang="zh-CN" dirty="0"/>
          </a:p>
          <a:p>
            <a:endParaRPr lang="en-US" altLang="zh-CN" dirty="0"/>
          </a:p>
          <a:p>
            <a:endParaRPr lang="en-US" altLang="zh-CN" dirty="0"/>
          </a:p>
          <a:p>
            <a:r>
              <a:rPr lang="zh-CN" altLang="en-US" dirty="0"/>
              <a:t>图 </a:t>
            </a:r>
            <a:r>
              <a:rPr lang="en-US" altLang="zh-CN" dirty="0"/>
              <a:t>1. </a:t>
            </a:r>
            <a:r>
              <a:rPr lang="zh-CN" altLang="en-US" dirty="0"/>
              <a:t>基于液态金属的个性化柔性印刷电子产品。“可植入设备”：液态金属神经连接 </a:t>
            </a:r>
            <a:r>
              <a:rPr lang="en-US" altLang="zh-CN" dirty="0"/>
              <a:t>[35] (https://arxiv.org/abs/1404.5931)</a:t>
            </a:r>
            <a:r>
              <a:rPr lang="zh-CN" altLang="en-US" dirty="0"/>
              <a:t>；可注射 </a:t>
            </a:r>
            <a:r>
              <a:rPr lang="en-US" altLang="zh-CN" dirty="0"/>
              <a:t>3D </a:t>
            </a:r>
            <a:r>
              <a:rPr lang="zh-CN" altLang="en-US" dirty="0"/>
              <a:t>生物电极 </a:t>
            </a:r>
            <a:r>
              <a:rPr lang="en-US" altLang="zh-CN" dirty="0"/>
              <a:t>[54]</a:t>
            </a:r>
            <a:r>
              <a:rPr lang="zh-CN" altLang="en-US" dirty="0"/>
              <a:t>（经 </a:t>
            </a:r>
            <a:r>
              <a:rPr lang="en-US" altLang="zh-CN" dirty="0"/>
              <a:t>Jin, C.; Liu, J. et al. </a:t>
            </a:r>
            <a:r>
              <a:rPr lang="zh-CN" altLang="en-US" dirty="0"/>
              <a:t>许可转载，在目标生物组织中可注射 </a:t>
            </a:r>
            <a:r>
              <a:rPr lang="en-US" altLang="zh-CN" dirty="0"/>
              <a:t>3D </a:t>
            </a:r>
            <a:r>
              <a:rPr lang="zh-CN" altLang="en-US" dirty="0"/>
              <a:t>制造医疗电子产品；由 </a:t>
            </a:r>
            <a:r>
              <a:rPr lang="en-US" altLang="zh-CN" dirty="0"/>
              <a:t>Scientific Reports </a:t>
            </a:r>
            <a:r>
              <a:rPr lang="zh-CN" altLang="en-US" dirty="0"/>
              <a:t>于 </a:t>
            </a:r>
            <a:r>
              <a:rPr lang="en-US" altLang="zh-CN" dirty="0"/>
              <a:t>2013 </a:t>
            </a:r>
            <a:r>
              <a:rPr lang="zh-CN" altLang="en-US" dirty="0"/>
              <a:t>年发表。）；液态金属重连神经的电生理测量 </a:t>
            </a:r>
            <a:r>
              <a:rPr lang="en-US" altLang="zh-CN" dirty="0"/>
              <a:t>[36]</a:t>
            </a:r>
            <a:r>
              <a:rPr lang="zh-CN" altLang="en-US" dirty="0"/>
              <a:t>；“电皮肤”：人体上的液态金属电路 </a:t>
            </a:r>
            <a:r>
              <a:rPr lang="en-US" altLang="zh-CN" dirty="0"/>
              <a:t>[55]</a:t>
            </a:r>
            <a:r>
              <a:rPr lang="zh-CN" altLang="en-US" dirty="0"/>
              <a:t>（经 </a:t>
            </a:r>
            <a:r>
              <a:rPr lang="en-US" altLang="zh-CN" dirty="0"/>
              <a:t>Guo, C.; Liu, J. et al. </a:t>
            </a:r>
            <a:r>
              <a:rPr lang="zh-CN" altLang="en-US" dirty="0"/>
              <a:t>许可转载，通过液态金属喷涂和预先设计的掩模在皮肤基底上快速图案化导电元件作为生理测试设备；由 </a:t>
            </a:r>
            <a:r>
              <a:rPr lang="en-US" altLang="zh-CN" dirty="0"/>
              <a:t>Journal of </a:t>
            </a:r>
            <a:r>
              <a:rPr lang="en-US" altLang="zh-CN" dirty="0" err="1"/>
              <a:t>Mterials</a:t>
            </a:r>
            <a:r>
              <a:rPr lang="en-US" altLang="zh-CN" dirty="0"/>
              <a:t> Chemistry B </a:t>
            </a:r>
            <a:r>
              <a:rPr lang="zh-CN" altLang="en-US" dirty="0"/>
              <a:t>于 </a:t>
            </a:r>
            <a:r>
              <a:rPr lang="en-US" altLang="zh-CN" dirty="0"/>
              <a:t>2014 </a:t>
            </a:r>
            <a:r>
              <a:rPr lang="zh-CN" altLang="en-US" dirty="0"/>
              <a:t>年发表。）；人体皮肤上的液态金属标签 </a:t>
            </a:r>
            <a:r>
              <a:rPr lang="en-US" altLang="zh-CN" dirty="0"/>
              <a:t>[56]</a:t>
            </a:r>
            <a:r>
              <a:rPr lang="zh-CN" altLang="en-US" dirty="0"/>
              <a:t>（经 </a:t>
            </a:r>
            <a:r>
              <a:rPr lang="en-US" altLang="zh-CN" dirty="0"/>
              <a:t>Jeong, S.H.; Wu, Z. et al., Liquid Alloy Printing of Microfluidic Stable Electronics </a:t>
            </a:r>
            <a:r>
              <a:rPr lang="zh-CN" altLang="en-US" dirty="0"/>
              <a:t>许可转载；</a:t>
            </a:r>
            <a:r>
              <a:rPr lang="en-US" altLang="zh-CN" dirty="0"/>
              <a:t>Lab on a Chip</a:t>
            </a:r>
            <a:r>
              <a:rPr lang="zh-CN" altLang="en-US" dirty="0"/>
              <a:t>，</a:t>
            </a:r>
            <a:r>
              <a:rPr lang="en-US" altLang="zh-CN" dirty="0"/>
              <a:t>2012 </a:t>
            </a:r>
            <a:r>
              <a:rPr lang="zh-CN" altLang="en-US" dirty="0"/>
              <a:t>年出版）；通过液态金属电极进行心电图测试 </a:t>
            </a:r>
            <a:r>
              <a:rPr lang="en-US" altLang="zh-CN" dirty="0"/>
              <a:t>[57]</a:t>
            </a:r>
            <a:r>
              <a:rPr lang="zh-CN" altLang="en-US" dirty="0"/>
              <a:t>（经 </a:t>
            </a:r>
            <a:r>
              <a:rPr lang="en-US" altLang="zh-CN" dirty="0"/>
              <a:t>Yu, Y.; Zhang, J.; Liu, J., Biomedical Implementation of Liquid Metal Ink as Drawable ECG Electrode and Skin Circuit </a:t>
            </a:r>
            <a:r>
              <a:rPr lang="zh-CN" altLang="en-US" dirty="0"/>
              <a:t>许可转载；</a:t>
            </a:r>
            <a:r>
              <a:rPr lang="en-US" altLang="zh-CN" dirty="0" err="1"/>
              <a:t>PLoS</a:t>
            </a:r>
            <a:r>
              <a:rPr lang="en-US" altLang="zh-CN" dirty="0"/>
              <a:t> ONE</a:t>
            </a:r>
            <a:r>
              <a:rPr lang="zh-CN" altLang="en-US" dirty="0"/>
              <a:t>，</a:t>
            </a:r>
            <a:r>
              <a:rPr lang="en-US" altLang="zh-CN" dirty="0"/>
              <a:t>2013 </a:t>
            </a:r>
            <a:r>
              <a:rPr lang="zh-CN" altLang="en-US" dirty="0"/>
              <a:t>年出版）；“可穿戴生物电子学”：液态金属腕带 </a:t>
            </a:r>
            <a:r>
              <a:rPr lang="en-US" altLang="zh-CN" dirty="0"/>
              <a:t>[58]</a:t>
            </a:r>
            <a:r>
              <a:rPr lang="zh-CN" altLang="en-US" dirty="0"/>
              <a:t>（经 </a:t>
            </a:r>
            <a:r>
              <a:rPr lang="en-US" altLang="zh-CN" dirty="0"/>
              <a:t>Wang, Q.; Yu, Y.; Yang, J.; Liu, J., Fast Fabrication of Flexible Functional Circuits based on Liquid Metal Dual-Trans Printing </a:t>
            </a:r>
            <a:r>
              <a:rPr lang="zh-CN" altLang="en-US" dirty="0"/>
              <a:t>许可转载；</a:t>
            </a:r>
            <a:r>
              <a:rPr lang="en-US" altLang="zh-CN" dirty="0"/>
              <a:t>Advanced Material</a:t>
            </a:r>
            <a:r>
              <a:rPr lang="zh-CN" altLang="en-US" dirty="0"/>
              <a:t>，</a:t>
            </a:r>
            <a:r>
              <a:rPr lang="en-US" altLang="zh-CN" dirty="0"/>
              <a:t>2015 </a:t>
            </a:r>
            <a:r>
              <a:rPr lang="zh-CN" altLang="en-US" dirty="0"/>
              <a:t>年出版）；可穿戴数据手套 </a:t>
            </a:r>
            <a:r>
              <a:rPr lang="en-US" altLang="zh-CN" dirty="0"/>
              <a:t>[59]</a:t>
            </a:r>
            <a:r>
              <a:rPr lang="zh-CN" altLang="en-US" dirty="0"/>
              <a:t>（经 </a:t>
            </a:r>
            <a:r>
              <a:rPr lang="en-US" altLang="zh-CN" dirty="0"/>
              <a:t>Matsuzaki, R.; </a:t>
            </a:r>
            <a:r>
              <a:rPr lang="en-US" altLang="zh-CN" dirty="0" err="1"/>
              <a:t>Tabayashi</a:t>
            </a:r>
            <a:r>
              <a:rPr lang="en-US" altLang="zh-CN" dirty="0"/>
              <a:t>, K. </a:t>
            </a:r>
            <a:r>
              <a:rPr lang="zh-CN" altLang="en-US" dirty="0"/>
              <a:t>许可转载，用于可穿戴电子产品的高拉伸、全局和分布式局部应变传感线，使用增益电极；</a:t>
            </a:r>
            <a:r>
              <a:rPr lang="en-US" altLang="zh-CN" dirty="0"/>
              <a:t>Advanced Functional Material</a:t>
            </a:r>
            <a:r>
              <a:rPr lang="zh-CN" altLang="en-US" dirty="0"/>
              <a:t>，</a:t>
            </a:r>
            <a:r>
              <a:rPr lang="en-US" altLang="zh-CN" dirty="0"/>
              <a:t>2015 </a:t>
            </a:r>
            <a:r>
              <a:rPr lang="zh-CN" altLang="en-US" dirty="0"/>
              <a:t>年出版）；鞋类嵌入式微流体能量收集 </a:t>
            </a:r>
            <a:r>
              <a:rPr lang="en-US" altLang="zh-CN" dirty="0"/>
              <a:t>[60]</a:t>
            </a:r>
            <a:r>
              <a:rPr lang="zh-CN" altLang="en-US" dirty="0"/>
              <a:t>（经 </a:t>
            </a:r>
            <a:r>
              <a:rPr lang="en-US" altLang="zh-CN" dirty="0" err="1"/>
              <a:t>Krupenkin</a:t>
            </a:r>
            <a:r>
              <a:rPr lang="en-US" altLang="zh-CN" dirty="0"/>
              <a:t>, T.; Taylor, J.A. </a:t>
            </a:r>
            <a:r>
              <a:rPr lang="zh-CN" altLang="en-US" dirty="0"/>
              <a:t>许可转载，反向电润湿作为高功率能量收集的新方法；</a:t>
            </a:r>
            <a:r>
              <a:rPr lang="en-US" altLang="zh-CN" dirty="0"/>
              <a:t>Nature Communication</a:t>
            </a:r>
            <a:r>
              <a:rPr lang="zh-CN" altLang="en-US" dirty="0"/>
              <a:t>，</a:t>
            </a:r>
            <a:r>
              <a:rPr lang="en-US" altLang="zh-CN" dirty="0"/>
              <a:t>2011 </a:t>
            </a:r>
            <a:r>
              <a:rPr lang="zh-CN" altLang="en-US" dirty="0"/>
              <a:t>年出版）目前主要以镓及其合金为代表，具有电阻率高、弯曲性强、粘附性低、表面张力大等特性，在当代电子学中，柔性印刷电路 </a:t>
            </a:r>
            <a:r>
              <a:rPr lang="en-US" altLang="zh-CN" dirty="0"/>
              <a:t>(FPC) </a:t>
            </a:r>
            <a:r>
              <a:rPr lang="zh-CN" altLang="en-US" dirty="0"/>
              <a:t>已成为关键，改变了电子设备的设计和功能 </a:t>
            </a:r>
            <a:r>
              <a:rPr lang="en-US" altLang="zh-CN" dirty="0"/>
              <a:t>1,2,3</a:t>
            </a:r>
            <a:r>
              <a:rPr lang="zh-CN" altLang="en-US" dirty="0"/>
              <a:t>。这些电路超越了传统的刚性柔性印刷电路板 </a:t>
            </a:r>
            <a:r>
              <a:rPr lang="en-US" altLang="zh-CN" dirty="0"/>
              <a:t>(PCB)</a:t>
            </a:r>
            <a:r>
              <a:rPr lang="zh-CN" altLang="en-US" dirty="0"/>
              <a:t>，由于采用聚酰亚胺等柔韧的高质量材料构造，因此具有无与伦比的灵活性和适应性。它们能够折叠或扭曲成小空间或不规则空间，从而提高了在物理压力下的耐用性。</a:t>
            </a:r>
            <a:r>
              <a:rPr lang="en-US" altLang="zh-CN" dirty="0"/>
              <a:t>FPC </a:t>
            </a:r>
            <a:r>
              <a:rPr lang="zh-CN" altLang="en-US" dirty="0"/>
              <a:t>的空间和重量效率特别有利，可将多个刚性板和线路整合成更轻、更紧凑的组件 </a:t>
            </a:r>
            <a:r>
              <a:rPr lang="en-US" altLang="zh-CN" dirty="0"/>
              <a:t>4</a:t>
            </a:r>
            <a:r>
              <a:rPr lang="zh-CN" altLang="en-US" dirty="0"/>
              <a:t>、</a:t>
            </a:r>
            <a:r>
              <a:rPr lang="en-US" altLang="zh-CN" dirty="0"/>
              <a:t>5</a:t>
            </a:r>
            <a:r>
              <a:rPr lang="zh-CN" altLang="en-US" dirty="0"/>
              <a:t>、</a:t>
            </a:r>
            <a:r>
              <a:rPr lang="en-US" altLang="zh-CN" dirty="0"/>
              <a:t>6</a:t>
            </a:r>
            <a:r>
              <a:rPr lang="zh-CN" altLang="en-US" dirty="0"/>
              <a:t>。这在航空航天、可穿戴技术和移动设备等必须减少空间和重量的领域至关重要。此外，它们固有的灵活性使它们可用于动态应用，而不会牺牲电路性能或完整性。它们的应用涵盖各个行业，如图 </a:t>
            </a:r>
            <a:r>
              <a:rPr lang="en-US" altLang="zh-CN" dirty="0"/>
              <a:t>17 </a:t>
            </a:r>
            <a:r>
              <a:rPr lang="zh-CN" altLang="en-US" dirty="0"/>
              <a:t>所示。在医疗领域，</a:t>
            </a:r>
            <a:r>
              <a:rPr lang="en-US" altLang="zh-CN" dirty="0"/>
              <a:t>FPC </a:t>
            </a:r>
            <a:r>
              <a:rPr lang="zh-CN" altLang="en-US" dirty="0"/>
              <a:t>有助于实现传感器和植入物等紧凑、灵活的设备，从而提高患者的舒适度和效率 </a:t>
            </a:r>
            <a:r>
              <a:rPr lang="en-US" altLang="zh-CN" dirty="0"/>
              <a:t>8</a:t>
            </a:r>
            <a:r>
              <a:rPr lang="zh-CN" altLang="en-US" dirty="0"/>
              <a:t>、</a:t>
            </a:r>
            <a:r>
              <a:rPr lang="en-US" altLang="zh-CN" dirty="0"/>
              <a:t>9</a:t>
            </a:r>
            <a:r>
              <a:rPr lang="zh-CN" altLang="en-US" dirty="0"/>
              <a:t>、</a:t>
            </a:r>
            <a:r>
              <a:rPr lang="en-US" altLang="zh-CN" dirty="0"/>
              <a:t>10</a:t>
            </a:r>
            <a:r>
              <a:rPr lang="zh-CN" altLang="en-US" dirty="0"/>
              <a:t>、</a:t>
            </a:r>
            <a:r>
              <a:rPr lang="en-US" altLang="zh-CN" dirty="0"/>
              <a:t>11</a:t>
            </a:r>
            <a:r>
              <a:rPr lang="zh-CN" altLang="en-US" dirty="0"/>
              <a:t>。汽车行业将它们用于仪表板显示器和传感器网络等系统中，看重它们对振动和温度变化的抵抗力。在消费电子产品中，</a:t>
            </a:r>
            <a:r>
              <a:rPr lang="en-US" altLang="zh-CN" dirty="0"/>
              <a:t>FPC </a:t>
            </a:r>
            <a:r>
              <a:rPr lang="zh-CN" altLang="en-US" dirty="0"/>
              <a:t>是智能手机、平板电脑和笔记本电脑实现轻薄化的关键</a:t>
            </a:r>
            <a:r>
              <a:rPr lang="en-US" altLang="zh-CN" dirty="0"/>
              <a:t>12</a:t>
            </a:r>
            <a:r>
              <a:rPr lang="zh-CN" altLang="en-US" dirty="0"/>
              <a:t>、</a:t>
            </a:r>
            <a:r>
              <a:rPr lang="en-US" altLang="zh-CN" dirty="0"/>
              <a:t>13</a:t>
            </a:r>
            <a:r>
              <a:rPr lang="zh-CN" altLang="en-US" dirty="0"/>
              <a:t>、</a:t>
            </a:r>
            <a:r>
              <a:rPr lang="en-US" altLang="zh-CN" dirty="0"/>
              <a:t>14</a:t>
            </a:r>
            <a:r>
              <a:rPr lang="zh-CN" altLang="en-US" dirty="0"/>
              <a:t>、</a:t>
            </a:r>
            <a:r>
              <a:rPr lang="en-US" altLang="zh-CN" dirty="0"/>
              <a:t>15</a:t>
            </a:r>
            <a:r>
              <a:rPr lang="zh-CN" altLang="en-US" dirty="0"/>
              <a:t>。此外，它们也是新兴柔性和可穿戴电子产品领域的核心，可实现符合人体工程学设计和人体运动的创新设备</a:t>
            </a:r>
            <a:r>
              <a:rPr lang="en-US" altLang="zh-CN" dirty="0"/>
              <a:t>16</a:t>
            </a:r>
            <a:r>
              <a:rPr lang="zh-CN" altLang="en-US" dirty="0"/>
              <a:t>、</a:t>
            </a:r>
            <a:r>
              <a:rPr lang="en-US" altLang="zh-CN" dirty="0"/>
              <a:t>17</a:t>
            </a:r>
            <a:r>
              <a:rPr lang="zh-CN" altLang="en-US" dirty="0"/>
              <a:t>、</a:t>
            </a:r>
            <a:r>
              <a:rPr lang="en-US" altLang="zh-CN" dirty="0"/>
              <a:t>18</a:t>
            </a:r>
            <a:r>
              <a:rPr lang="zh-CN" altLang="en-US" dirty="0"/>
              <a:t>、</a:t>
            </a:r>
            <a:r>
              <a:rPr lang="en-US" altLang="zh-CN" dirty="0"/>
              <a:t>19</a:t>
            </a:r>
            <a:r>
              <a:rPr lang="zh-CN" altLang="en-US" dirty="0"/>
              <a:t>、</a:t>
            </a:r>
            <a:r>
              <a:rPr lang="en-US" altLang="zh-CN" dirty="0"/>
              <a:t>20</a:t>
            </a:r>
            <a:r>
              <a:rPr lang="zh-CN" altLang="en-US" dirty="0"/>
              <a:t>。</a:t>
            </a:r>
          </a:p>
        </p:txBody>
      </p:sp>
      <p:sp>
        <p:nvSpPr>
          <p:cNvPr id="4" name="灯片编号占位符 3">
            <a:extLst>
              <a:ext uri="{FF2B5EF4-FFF2-40B4-BE49-F238E27FC236}">
                <a16:creationId xmlns:a16="http://schemas.microsoft.com/office/drawing/2014/main" id="{DE0E8396-8CCB-856F-04C4-CAA98DCD07A5}"/>
              </a:ext>
            </a:extLst>
          </p:cNvPr>
          <p:cNvSpPr>
            <a:spLocks noGrp="1"/>
          </p:cNvSpPr>
          <p:nvPr>
            <p:ph type="sldNum" sz="quarter" idx="5"/>
          </p:nvPr>
        </p:nvSpPr>
        <p:spPr/>
        <p:txBody>
          <a:bodyPr/>
          <a:lstStyle/>
          <a:p>
            <a:fld id="{84918B77-9CB1-4C48-BED5-B02F24F09A98}" type="slidenum">
              <a:rPr lang="zh-CN" altLang="en-US" smtClean="0"/>
              <a:t>35</a:t>
            </a:fld>
            <a:endParaRPr lang="zh-CN" altLang="en-US"/>
          </a:p>
        </p:txBody>
      </p:sp>
    </p:spTree>
    <p:extLst>
      <p:ext uri="{BB962C8B-B14F-4D97-AF65-F5344CB8AC3E}">
        <p14:creationId xmlns:p14="http://schemas.microsoft.com/office/powerpoint/2010/main" val="218606812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1FEB8-C900-B302-5EA6-9AB59B42812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351CA7F-30B0-8620-80EA-C200D53BE57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4E7796C-F2B7-DB2C-87CB-78D3786766EF}"/>
              </a:ext>
            </a:extLst>
          </p:cNvPr>
          <p:cNvSpPr>
            <a:spLocks noGrp="1"/>
          </p:cNvSpPr>
          <p:nvPr>
            <p:ph type="body" idx="1"/>
          </p:nvPr>
        </p:nvSpPr>
        <p:spPr/>
        <p:txBody>
          <a:bodyPr/>
          <a:lstStyle/>
          <a:p>
            <a:endParaRPr lang="en-US" altLang="zh-CN" dirty="0"/>
          </a:p>
          <a:p>
            <a:r>
              <a:rPr lang="zh-CN" altLang="en-US" dirty="0"/>
              <a:t>印刷电子是基于印刷原理制造电子设备的技术</a:t>
            </a:r>
            <a:r>
              <a:rPr lang="en-US" altLang="zh-CN" dirty="0"/>
              <a:t>[1]</a:t>
            </a:r>
            <a:r>
              <a:rPr lang="zh-CN" altLang="en-US" dirty="0"/>
              <a:t>。与传统印刷技术不同，印刷机中使用的油墨是具有导电、介电、半导体或磁性的电子材料。印刷电子与有机电子、塑料电子、柔性电子和纸电子等多个领域密切相关</a:t>
            </a:r>
            <a:r>
              <a:rPr lang="en-US" altLang="zh-CN" dirty="0"/>
              <a:t>[2]</a:t>
            </a:r>
            <a:r>
              <a:rPr lang="zh-CN" altLang="en-US" dirty="0"/>
              <a:t>，这意味着不仅可以在硅和玻璃上印刷电路，还可以在塑料、纸张和更柔性的基板上印刷电路。生产柔性电子产品的方法之一是将导电材料直接印刷到柔性基板上。经典的柔性电子是指将有机</a:t>
            </a:r>
            <a:r>
              <a:rPr lang="en-US" altLang="zh-CN" dirty="0"/>
              <a:t>/</a:t>
            </a:r>
            <a:r>
              <a:rPr lang="zh-CN" altLang="en-US" dirty="0"/>
              <a:t>无机电子器件沉积在柔性基板上形成电路的技术</a:t>
            </a:r>
            <a:r>
              <a:rPr lang="en-US" altLang="zh-CN" dirty="0"/>
              <a:t>[3]</a:t>
            </a:r>
            <a:r>
              <a:rPr lang="zh-CN" altLang="en-US" dirty="0"/>
              <a:t>。虽然刚性电路板可以保护电子元件免受损坏，但它限制了电子产品的延展性和柔韧性。柔性电子具有柔软、延展性好、制造成本低等优点，可在信息、能源、医学和国防技术领域提供智能传感器、执行器、柔性显示器、有机发光二极管 </a:t>
            </a:r>
            <a:r>
              <a:rPr lang="en-US" altLang="zh-CN" dirty="0"/>
              <a:t>(OLED) </a:t>
            </a:r>
            <a:r>
              <a:rPr lang="zh-CN" altLang="en-US" dirty="0"/>
              <a:t>等。与传统的刚性微电子相比，柔性电子最显著的特点是其柔韧性，这使得它们可拉伸、保形、便携、可穿戴，并易于快速打印 </a:t>
            </a:r>
            <a:r>
              <a:rPr lang="en-US" altLang="zh-CN" dirty="0"/>
              <a:t>[4,5,6,7,8]</a:t>
            </a:r>
            <a:r>
              <a:rPr lang="zh-CN" altLang="en-US" dirty="0"/>
              <a:t>。由于柔性电子在电气、可打印、生物医学和传感特性方面的独特优势，它可以在电子元件 </a:t>
            </a:r>
            <a:r>
              <a:rPr lang="en-US" altLang="zh-CN" dirty="0"/>
              <a:t>[9]</a:t>
            </a:r>
            <a:r>
              <a:rPr lang="zh-CN" altLang="en-US" dirty="0"/>
              <a:t>、打印技术、植入式设备 </a:t>
            </a:r>
            <a:r>
              <a:rPr lang="en-US" altLang="zh-CN" dirty="0"/>
              <a:t>[10] </a:t>
            </a:r>
            <a:r>
              <a:rPr lang="zh-CN" altLang="en-US" dirty="0"/>
              <a:t>和健康监测器 </a:t>
            </a:r>
            <a:r>
              <a:rPr lang="en-US" altLang="zh-CN" dirty="0"/>
              <a:t>[11] </a:t>
            </a:r>
            <a:r>
              <a:rPr lang="zh-CN" altLang="en-US" dirty="0"/>
              <a:t>等领域得到广泛应用，具体用途包括天线 </a:t>
            </a:r>
            <a:r>
              <a:rPr lang="en-US" altLang="zh-CN" dirty="0"/>
              <a:t>[12]</a:t>
            </a:r>
            <a:r>
              <a:rPr lang="zh-CN" altLang="en-US" dirty="0"/>
              <a:t>、眼球摄像头 </a:t>
            </a:r>
            <a:r>
              <a:rPr lang="en-US" altLang="zh-CN" dirty="0"/>
              <a:t>[13] </a:t>
            </a:r>
            <a:r>
              <a:rPr lang="zh-CN" altLang="en-US" dirty="0"/>
              <a:t>和压力传感器 </a:t>
            </a:r>
            <a:r>
              <a:rPr lang="en-US" altLang="zh-CN" dirty="0"/>
              <a:t>[14] </a:t>
            </a:r>
            <a:r>
              <a:rPr lang="zh-CN" altLang="en-US" dirty="0"/>
              <a:t>等。如今，人们已采用两种常见策略来提高电子产品的柔软度 </a:t>
            </a:r>
            <a:r>
              <a:rPr lang="en-US" altLang="zh-CN" dirty="0"/>
              <a:t>[15]</a:t>
            </a:r>
            <a:r>
              <a:rPr lang="zh-CN" altLang="en-US" dirty="0"/>
              <a:t>。一种是将坚硬的导电材料嵌入到可拉伸的基底上，例如聚二甲基硅氧烷 </a:t>
            </a:r>
            <a:r>
              <a:rPr lang="en-US" altLang="zh-CN" dirty="0"/>
              <a:t>(PDMS)</a:t>
            </a:r>
            <a:r>
              <a:rPr lang="zh-CN" altLang="en-US" dirty="0"/>
              <a:t>。</a:t>
            </a:r>
            <a:r>
              <a:rPr lang="en-US" altLang="zh-CN" dirty="0"/>
              <a:t>Rogers </a:t>
            </a:r>
            <a:r>
              <a:rPr lang="zh-CN" altLang="en-US" dirty="0"/>
              <a:t>等人引入了一种复杂的波浪结构来保持电路的可拉伸性，当应力作用于柔软的基底上时，它可以吸收较大的张力 </a:t>
            </a:r>
            <a:r>
              <a:rPr lang="en-US" altLang="zh-CN" dirty="0"/>
              <a:t>[16,17]</a:t>
            </a:r>
            <a:r>
              <a:rPr lang="zh-CN" altLang="en-US" dirty="0"/>
              <a:t>。另一种是使用固有可拉伸的导体来形成电路 </a:t>
            </a:r>
            <a:r>
              <a:rPr lang="en-US" altLang="zh-CN" dirty="0"/>
              <a:t>[18]</a:t>
            </a:r>
            <a:r>
              <a:rPr lang="zh-CN" altLang="en-US" dirty="0"/>
              <a:t>。</a:t>
            </a:r>
            <a:r>
              <a:rPr lang="en-US" altLang="zh-CN" dirty="0"/>
              <a:t>Russo </a:t>
            </a:r>
            <a:r>
              <a:rPr lang="zh-CN" altLang="en-US" dirty="0"/>
              <a:t>等人展示了一种使用导电银墨水连接电路的方法，这种方法可以直接在纸上书写导电文字以连接发光二极管 </a:t>
            </a:r>
            <a:r>
              <a:rPr lang="en-US" altLang="zh-CN" dirty="0"/>
              <a:t>(LED) </a:t>
            </a:r>
            <a:r>
              <a:rPr lang="zh-CN" altLang="en-US" dirty="0"/>
              <a:t>阵列和三维 </a:t>
            </a:r>
            <a:r>
              <a:rPr lang="en-US" altLang="zh-CN" dirty="0"/>
              <a:t>(3D) </a:t>
            </a:r>
            <a:r>
              <a:rPr lang="zh-CN" altLang="en-US" dirty="0"/>
              <a:t>天线 </a:t>
            </a:r>
            <a:r>
              <a:rPr lang="en-US" altLang="zh-CN" dirty="0"/>
              <a:t>[12]</a:t>
            </a:r>
            <a:r>
              <a:rPr lang="zh-CN" altLang="en-US" dirty="0"/>
              <a:t>。显然，柔性印刷电子 </a:t>
            </a:r>
            <a:r>
              <a:rPr lang="en-US" altLang="zh-CN" dirty="0"/>
              <a:t>(FPE) </a:t>
            </a:r>
            <a:r>
              <a:rPr lang="zh-CN" altLang="en-US" dirty="0"/>
              <a:t>结合了柔性电子和印刷电子的特点。通过这种方式，人们可以快速制造出功能齐全的柔性电子设备。随着印刷技术的成熟，柔性印刷已成为研究的热门话题。目前已经出现了几种典型的印刷技术，例如敲击模式印刷</a:t>
            </a:r>
            <a:r>
              <a:rPr lang="en-US" altLang="zh-CN" dirty="0"/>
              <a:t>[18]</a:t>
            </a:r>
            <a:r>
              <a:rPr lang="zh-CN" altLang="en-US" dirty="0"/>
              <a:t>、气溶胶喷射印刷、卷对卷技术</a:t>
            </a:r>
            <a:r>
              <a:rPr lang="en-US" altLang="zh-CN" dirty="0"/>
              <a:t>[19]</a:t>
            </a:r>
            <a:r>
              <a:rPr lang="zh-CN" altLang="en-US" dirty="0"/>
              <a:t>、喷墨印刷</a:t>
            </a:r>
            <a:r>
              <a:rPr lang="en-US" altLang="zh-CN" dirty="0"/>
              <a:t>[20]</a:t>
            </a:r>
            <a:r>
              <a:rPr lang="zh-CN" altLang="en-US" dirty="0"/>
              <a:t>以及微笔和刷子印刷</a:t>
            </a:r>
            <a:r>
              <a:rPr lang="en-US" altLang="zh-CN" dirty="0"/>
              <a:t>[21,22]</a:t>
            </a:r>
            <a:r>
              <a:rPr lang="zh-CN" altLang="en-US" dirty="0"/>
              <a:t>。其中，微笔也许是最简单的方法：将电墨水泵入墨盒中直接写出导电文字。这使得在 </a:t>
            </a:r>
            <a:r>
              <a:rPr lang="en-US" altLang="zh-CN" dirty="0"/>
              <a:t>A4 </a:t>
            </a:r>
            <a:r>
              <a:rPr lang="zh-CN" altLang="en-US" dirty="0"/>
              <a:t>纸上绘制电路图成为可能。微笔明显降低了电路生产的复杂性并提高了电子电路制造的效率。</a:t>
            </a:r>
            <a:r>
              <a:rPr lang="en-US" altLang="zh-CN" dirty="0"/>
              <a:t>FPE </a:t>
            </a:r>
            <a:r>
              <a:rPr lang="zh-CN" altLang="en-US" dirty="0"/>
              <a:t>在不同领域取得了重大成就，例如柔性显示设备</a:t>
            </a:r>
            <a:r>
              <a:rPr lang="en-US" altLang="zh-CN" dirty="0"/>
              <a:t>[23]</a:t>
            </a:r>
            <a:r>
              <a:rPr lang="zh-CN" altLang="en-US" dirty="0"/>
              <a:t>、薄膜太阳能电池</a:t>
            </a:r>
            <a:r>
              <a:rPr lang="en-US" altLang="zh-CN" dirty="0"/>
              <a:t>[24,25]</a:t>
            </a:r>
            <a:r>
              <a:rPr lang="zh-CN" altLang="en-US" dirty="0"/>
              <a:t>、大面积传感器和驱动器</a:t>
            </a:r>
            <a:r>
              <a:rPr lang="en-US" altLang="zh-CN" dirty="0"/>
              <a:t>[26,27]</a:t>
            </a:r>
            <a:r>
              <a:rPr lang="zh-CN" altLang="en-US" dirty="0"/>
              <a:t>、电子皮肤</a:t>
            </a:r>
            <a:r>
              <a:rPr lang="en-US" altLang="zh-CN" dirty="0"/>
              <a:t>[28]</a:t>
            </a:r>
            <a:r>
              <a:rPr lang="zh-CN" altLang="en-US" dirty="0"/>
              <a:t>、可穿戴电子和生物假肢设备</a:t>
            </a:r>
            <a:r>
              <a:rPr lang="en-US" altLang="zh-CN" dirty="0"/>
              <a:t>[29]</a:t>
            </a:r>
            <a:r>
              <a:rPr lang="zh-CN" altLang="en-US" dirty="0"/>
              <a:t>、自充电系统</a:t>
            </a:r>
            <a:r>
              <a:rPr lang="en-US" altLang="zh-CN" dirty="0"/>
              <a:t>[30]</a:t>
            </a:r>
            <a:r>
              <a:rPr lang="zh-CN" altLang="en-US" dirty="0"/>
              <a:t>、自供电无线监控</a:t>
            </a:r>
            <a:r>
              <a:rPr lang="en-US" altLang="zh-CN" dirty="0"/>
              <a:t>[31]</a:t>
            </a:r>
            <a:r>
              <a:rPr lang="zh-CN" altLang="en-US" dirty="0"/>
              <a:t>等。如果电路具有柔软性、顺应性、可拉伸性和便携性等特性，则可以称其为可弯曲电子设备。与此同时，许多实验室已经开发出具有柔性的电子设备，如弯曲显示器</a:t>
            </a:r>
            <a:r>
              <a:rPr lang="en-US" altLang="zh-CN" dirty="0"/>
              <a:t>[32]</a:t>
            </a:r>
            <a:r>
              <a:rPr lang="zh-CN" altLang="en-US" dirty="0"/>
              <a:t>、折叠电池</a:t>
            </a:r>
            <a:r>
              <a:rPr lang="en-US" altLang="zh-CN" dirty="0"/>
              <a:t>[9]</a:t>
            </a:r>
            <a:r>
              <a:rPr lang="zh-CN" altLang="en-US" dirty="0"/>
              <a:t>、软场效应晶体管</a:t>
            </a:r>
            <a:r>
              <a:rPr lang="en-US" altLang="zh-CN" dirty="0"/>
              <a:t>[33]</a:t>
            </a:r>
            <a:r>
              <a:rPr lang="zh-CN" altLang="en-US" dirty="0"/>
              <a:t>、可拉伸导线</a:t>
            </a:r>
            <a:r>
              <a:rPr lang="en-US" altLang="zh-CN" dirty="0"/>
              <a:t>[34]</a:t>
            </a:r>
            <a:r>
              <a:rPr lang="zh-CN" altLang="en-US" dirty="0"/>
              <a:t>等。</a:t>
            </a:r>
            <a:r>
              <a:rPr lang="en-US" altLang="zh-CN" dirty="0"/>
              <a:t>FPE</a:t>
            </a:r>
            <a:r>
              <a:rPr lang="zh-CN" altLang="en-US" dirty="0"/>
              <a:t>还可以用于健康监测、医学检查、生命体征检测和其他日常生活需求。柔性生物医学设备已广泛应用于植入式设备</a:t>
            </a:r>
            <a:r>
              <a:rPr lang="en-US" altLang="zh-CN" dirty="0"/>
              <a:t>[10]</a:t>
            </a:r>
            <a:r>
              <a:rPr lang="zh-CN" altLang="en-US" dirty="0"/>
              <a:t>、神经连接</a:t>
            </a:r>
            <a:r>
              <a:rPr lang="en-US" altLang="zh-CN" dirty="0"/>
              <a:t>[35,36]</a:t>
            </a:r>
            <a:r>
              <a:rPr lang="zh-CN" altLang="en-US" dirty="0"/>
              <a:t>、健康监测</a:t>
            </a:r>
            <a:r>
              <a:rPr lang="en-US" altLang="zh-CN" dirty="0"/>
              <a:t>[11]</a:t>
            </a:r>
            <a:r>
              <a:rPr lang="zh-CN" altLang="en-US" dirty="0"/>
              <a:t>和可穿戴医疗设备领域。</a:t>
            </a:r>
            <a:r>
              <a:rPr lang="en-US" altLang="zh-CN" dirty="0"/>
              <a:t>FPE</a:t>
            </a:r>
            <a:r>
              <a:rPr lang="zh-CN" altLang="en-US" dirty="0"/>
              <a:t>还用于生物传感，其中最重要的应用是电子皮肤（</a:t>
            </a:r>
            <a:r>
              <a:rPr lang="en-US" altLang="zh-CN" dirty="0"/>
              <a:t>E-skin</a:t>
            </a:r>
            <a:r>
              <a:rPr lang="zh-CN" altLang="en-US" dirty="0"/>
              <a:t>），如压力映射</a:t>
            </a:r>
            <a:r>
              <a:rPr lang="en-US" altLang="zh-CN" dirty="0"/>
              <a:t>[37]</a:t>
            </a:r>
            <a:r>
              <a:rPr lang="zh-CN" altLang="en-US" dirty="0"/>
              <a:t>、自愈传感器</a:t>
            </a:r>
            <a:r>
              <a:rPr lang="en-US" altLang="zh-CN" dirty="0"/>
              <a:t>[38]</a:t>
            </a:r>
            <a:r>
              <a:rPr lang="zh-CN" altLang="en-US" dirty="0"/>
              <a:t>、假肢</a:t>
            </a:r>
            <a:r>
              <a:rPr lang="en-US" altLang="zh-CN" dirty="0"/>
              <a:t>[39]</a:t>
            </a:r>
            <a:r>
              <a:rPr lang="zh-CN" altLang="en-US" dirty="0"/>
              <a:t>、压力传感器</a:t>
            </a:r>
            <a:r>
              <a:rPr lang="en-US" altLang="zh-CN" dirty="0"/>
              <a:t>[14]</a:t>
            </a:r>
            <a:r>
              <a:rPr lang="zh-CN" altLang="en-US" dirty="0"/>
              <a:t>等。许多研究机构正在研究应用于柔性电子皮肤的不同材料。在鲍哲南的实验室，他们发明了一种受皮肤启发的人工机械感受器系统，该受体可以将压力刺激信号转化为人类神经元可以感知的电生理信号</a:t>
            </a:r>
            <a:r>
              <a:rPr lang="en-US" altLang="zh-CN" dirty="0"/>
              <a:t>[40]</a:t>
            </a:r>
          </a:p>
          <a:p>
            <a:endParaRPr lang="en-US" altLang="zh-CN" dirty="0"/>
          </a:p>
          <a:p>
            <a:endParaRPr lang="en-US" altLang="zh-CN" dirty="0"/>
          </a:p>
          <a:p>
            <a:r>
              <a:rPr lang="zh-CN" altLang="en-US" dirty="0"/>
              <a:t>在电子电路设计领域，必须特别注意柔性印刷电路的使用和放置。这些组件以其在各种应用中的灵活性和适应性而闻名，需要小心处理和战略定位以确保最佳性能和使用寿命</a:t>
            </a:r>
            <a:r>
              <a:rPr lang="en-US" altLang="zh-CN" dirty="0"/>
              <a:t>21</a:t>
            </a:r>
            <a:r>
              <a:rPr lang="zh-CN" altLang="en-US" dirty="0"/>
              <a:t>。这种谨慎方法的原因是多方面的：在柔性印刷电路 </a:t>
            </a:r>
            <a:r>
              <a:rPr lang="en-US" altLang="zh-CN" dirty="0"/>
              <a:t>(FPC) </a:t>
            </a:r>
            <a:r>
              <a:rPr lang="zh-CN" altLang="en-US" dirty="0"/>
              <a:t>的设计中，必须解决几个问题以确保其耐用性和功能性。首先，</a:t>
            </a:r>
            <a:r>
              <a:rPr lang="en-US" altLang="zh-CN" dirty="0"/>
              <a:t>FPC </a:t>
            </a:r>
            <a:r>
              <a:rPr lang="zh-CN" altLang="en-US" dirty="0"/>
              <a:t>本质上比刚性对应物更脆弱，容易受到机械损坏，例如裂缝或断裂</a:t>
            </a:r>
            <a:r>
              <a:rPr lang="en-US" altLang="zh-CN" dirty="0"/>
              <a:t>22</a:t>
            </a:r>
            <a:r>
              <a:rPr lang="zh-CN" altLang="en-US" dirty="0"/>
              <a:t>，尤其是在受到外部应力或力</a:t>
            </a:r>
            <a:r>
              <a:rPr lang="en-US" altLang="zh-CN" dirty="0"/>
              <a:t>23 </a:t>
            </a:r>
            <a:r>
              <a:rPr lang="zh-CN" altLang="en-US" dirty="0"/>
              <a:t>时。在 </a:t>
            </a:r>
            <a:r>
              <a:rPr lang="en-US" altLang="zh-CN" dirty="0"/>
              <a:t>FPC </a:t>
            </a:r>
            <a:r>
              <a:rPr lang="zh-CN" altLang="en-US" dirty="0"/>
              <a:t>可能接触其他组件的环境中，尤其是在容易移动或振动的环境中，这种脆弱性会加剧。战略性的物理分离可以显著降低此类损坏的风险。此外，当 </a:t>
            </a:r>
            <a:r>
              <a:rPr lang="en-US" altLang="zh-CN" dirty="0"/>
              <a:t>FPC </a:t>
            </a:r>
            <a:r>
              <a:rPr lang="zh-CN" altLang="en-US" dirty="0"/>
              <a:t>放置得太靠近其他电子元件（尤其是那些产生强电磁场的电子元件）时，</a:t>
            </a:r>
            <a:r>
              <a:rPr lang="en-US" altLang="zh-CN" dirty="0"/>
              <a:t>FPC </a:t>
            </a:r>
            <a:r>
              <a:rPr lang="zh-CN" altLang="en-US" dirty="0"/>
              <a:t>面临着电气干扰的挑战</a:t>
            </a:r>
            <a:r>
              <a:rPr lang="en-US" altLang="zh-CN" dirty="0"/>
              <a:t>24</a:t>
            </a:r>
            <a:r>
              <a:rPr lang="zh-CN" altLang="en-US" dirty="0"/>
              <a:t>。这种干扰会破坏 </a:t>
            </a:r>
            <a:r>
              <a:rPr lang="en-US" altLang="zh-CN" dirty="0"/>
              <a:t>FPC </a:t>
            </a:r>
            <a:r>
              <a:rPr lang="zh-CN" altLang="en-US" dirty="0"/>
              <a:t>上电路的正常运行，导致故障或效率低下。此外，保持信号完整性至关重要</a:t>
            </a:r>
            <a:r>
              <a:rPr lang="en-US" altLang="zh-CN" dirty="0"/>
              <a:t>25</a:t>
            </a:r>
            <a:r>
              <a:rPr lang="zh-CN" altLang="en-US" dirty="0"/>
              <a:t>，因为与其他组件的距离太近可能会导致信号丢失或干扰，这在高频或精密应用中至关重要，因为信号清晰度和完整性至关重要。有效的热管理是另一个关键考虑因素</a:t>
            </a:r>
            <a:r>
              <a:rPr lang="en-US" altLang="zh-CN" dirty="0"/>
              <a:t>26,27</a:t>
            </a:r>
            <a:r>
              <a:rPr lang="zh-CN" altLang="en-US" dirty="0"/>
              <a:t>。如果 </a:t>
            </a:r>
            <a:r>
              <a:rPr lang="en-US" altLang="zh-CN" dirty="0"/>
              <a:t>FPC </a:t>
            </a:r>
            <a:r>
              <a:rPr lang="zh-CN" altLang="en-US" dirty="0"/>
              <a:t>的位置太靠近发热组件，由此产生的高温会对其性能和寿命产生不利影响。足够的间距对于促进适当的散热和防止热过载至关重要，热过载会降低 </a:t>
            </a:r>
            <a:r>
              <a:rPr lang="en-US" altLang="zh-CN" dirty="0"/>
              <a:t>FPC </a:t>
            </a:r>
            <a:r>
              <a:rPr lang="zh-CN" altLang="en-US" dirty="0"/>
              <a:t>的材料和电路性能。最后，</a:t>
            </a:r>
            <a:r>
              <a:rPr lang="en-US" altLang="zh-CN" dirty="0"/>
              <a:t>FPC </a:t>
            </a:r>
            <a:r>
              <a:rPr lang="zh-CN" altLang="en-US" dirty="0"/>
              <a:t>独特的灵活性使它们可以弯曲或弯曲以适应特定的设计，但这种弯曲应该小心控制</a:t>
            </a:r>
            <a:r>
              <a:rPr lang="en-US" altLang="zh-CN" dirty="0"/>
              <a:t>28</a:t>
            </a:r>
            <a:r>
              <a:rPr lang="zh-CN" altLang="en-US" dirty="0"/>
              <a:t>。过度的曲率会对材料施加不当的压力，增加随着时间的推移疲劳和损坏的风险</a:t>
            </a:r>
            <a:r>
              <a:rPr lang="en-US" altLang="zh-CN" dirty="0"/>
              <a:t>29</a:t>
            </a:r>
            <a:r>
              <a:rPr lang="zh-CN" altLang="en-US" dirty="0"/>
              <a:t>。正确管理曲率对于保持 </a:t>
            </a:r>
            <a:r>
              <a:rPr lang="en-US" altLang="zh-CN" dirty="0"/>
              <a:t>FPC </a:t>
            </a:r>
            <a:r>
              <a:rPr lang="zh-CN" altLang="en-US" dirty="0"/>
              <a:t>的结构完整性至关重要。总之，</a:t>
            </a:r>
            <a:r>
              <a:rPr lang="en-US" altLang="zh-CN" dirty="0"/>
              <a:t>FPC </a:t>
            </a:r>
            <a:r>
              <a:rPr lang="zh-CN" altLang="en-US" dirty="0"/>
              <a:t>的战略性放置和处理在电路设计中至关重要。这不仅涉及避免与其他组件的物理接触，还需要考虑电磁兼容性、信号完整性</a:t>
            </a:r>
            <a:r>
              <a:rPr lang="en-US" altLang="zh-CN" dirty="0"/>
              <a:t>30</a:t>
            </a:r>
            <a:r>
              <a:rPr lang="zh-CN" altLang="en-US" dirty="0"/>
              <a:t>、热管理</a:t>
            </a:r>
            <a:r>
              <a:rPr lang="en-US" altLang="zh-CN" dirty="0"/>
              <a:t>31</a:t>
            </a:r>
            <a:r>
              <a:rPr lang="zh-CN" altLang="en-US" dirty="0"/>
              <a:t>和机械应力</a:t>
            </a:r>
            <a:r>
              <a:rPr lang="en-US" altLang="zh-CN" dirty="0"/>
              <a:t>32,33,34</a:t>
            </a:r>
            <a:r>
              <a:rPr lang="zh-CN" altLang="en-US" dirty="0"/>
              <a:t>等方面。这些考虑因素是设计过程不可或缺的，可确保 </a:t>
            </a:r>
            <a:r>
              <a:rPr lang="en-US" altLang="zh-CN" dirty="0"/>
              <a:t>FPC </a:t>
            </a:r>
            <a:r>
              <a:rPr lang="zh-CN" altLang="en-US" dirty="0"/>
              <a:t>在预期应用中有效可靠地发挥作用。对 </a:t>
            </a:r>
            <a:r>
              <a:rPr lang="en-US" altLang="zh-CN" dirty="0"/>
              <a:t>FPC </a:t>
            </a:r>
            <a:r>
              <a:rPr lang="zh-CN" altLang="en-US" dirty="0"/>
              <a:t>相关的细微差别的详细了解对于电子设计领域的专业人士至关重要，值得在学术和技术文献中进行深入讨论。在 </a:t>
            </a:r>
            <a:r>
              <a:rPr lang="en-US" altLang="zh-CN" dirty="0"/>
              <a:t>FPC </a:t>
            </a:r>
            <a:r>
              <a:rPr lang="zh-CN" altLang="en-US" dirty="0"/>
              <a:t>力学和变形领域，</a:t>
            </a:r>
            <a:r>
              <a:rPr lang="en-US" altLang="zh-CN" dirty="0"/>
              <a:t>John </a:t>
            </a:r>
            <a:r>
              <a:rPr lang="zh-CN" altLang="en-US" dirty="0"/>
              <a:t>等人</a:t>
            </a:r>
            <a:r>
              <a:rPr lang="en-US" altLang="zh-CN" dirty="0"/>
              <a:t>35 </a:t>
            </a:r>
            <a:r>
              <a:rPr lang="zh-CN" altLang="en-US" dirty="0"/>
              <a:t>深入研究了与弯曲、成型和弯曲印刷电路相关的机械和材料挑战，特别是针对非玻璃编织材料。他们的研究全面分析了弯曲过程中应变对铜层的影响及其对静态和动态应用的影响，强调了了解材料特性和铜在机械应力下的行为的重要性。同时，</a:t>
            </a:r>
            <a:r>
              <a:rPr lang="en-US" altLang="zh-CN" dirty="0" err="1"/>
              <a:t>Hirotaka</a:t>
            </a:r>
            <a:r>
              <a:rPr lang="en-US" altLang="zh-CN" dirty="0"/>
              <a:t> </a:t>
            </a:r>
            <a:r>
              <a:rPr lang="zh-CN" altLang="en-US" dirty="0"/>
              <a:t>等人 </a:t>
            </a:r>
            <a:r>
              <a:rPr lang="en-US" altLang="zh-CN" dirty="0"/>
              <a:t>36 </a:t>
            </a:r>
            <a:r>
              <a:rPr lang="zh-CN" altLang="en-US" dirty="0"/>
              <a:t>研究了基于 </a:t>
            </a:r>
            <a:r>
              <a:rPr lang="en-US" altLang="zh-CN" dirty="0"/>
              <a:t>FPC </a:t>
            </a:r>
            <a:r>
              <a:rPr lang="zh-CN" altLang="en-US" dirty="0"/>
              <a:t>的平面倒置 </a:t>
            </a:r>
            <a:r>
              <a:rPr lang="en-US" altLang="zh-CN" dirty="0"/>
              <a:t>F </a:t>
            </a:r>
            <a:r>
              <a:rPr lang="zh-CN" altLang="en-US" dirty="0"/>
              <a:t>天线 </a:t>
            </a:r>
            <a:r>
              <a:rPr lang="en-US" altLang="zh-CN" dirty="0"/>
              <a:t>(PIFA) </a:t>
            </a:r>
            <a:r>
              <a:rPr lang="zh-CN" altLang="en-US" dirty="0"/>
              <a:t>的性能特征，重点研究了它在受到机械变形时保持稳定辐射模式和效率的稳健性。他们的研究结果证实了天线适用于紧凑型移动设备，且性能下降最小。此外，</a:t>
            </a:r>
            <a:r>
              <a:rPr lang="en-US" altLang="zh-CN" dirty="0"/>
              <a:t>Ping </a:t>
            </a:r>
            <a:r>
              <a:rPr lang="zh-CN" altLang="en-US" dirty="0"/>
              <a:t>等人 </a:t>
            </a:r>
            <a:r>
              <a:rPr lang="en-US" altLang="zh-CN" dirty="0"/>
              <a:t>22 </a:t>
            </a:r>
            <a:r>
              <a:rPr lang="zh-CN" altLang="en-US" dirty="0"/>
              <a:t>确定了 </a:t>
            </a:r>
            <a:r>
              <a:rPr lang="en-US" altLang="zh-CN" dirty="0"/>
              <a:t>FPC </a:t>
            </a:r>
            <a:r>
              <a:rPr lang="zh-CN" altLang="en-US" dirty="0"/>
              <a:t>应用中常见的故障模式，例如通孔互连问题、走线裂缝和黑垫现象。他们提出了通过改进制造工艺、机械设计和动态应力分布来提高 </a:t>
            </a:r>
            <a:r>
              <a:rPr lang="en-US" altLang="zh-CN" dirty="0"/>
              <a:t>FPC </a:t>
            </a:r>
            <a:r>
              <a:rPr lang="zh-CN" altLang="en-US" dirty="0"/>
              <a:t>可靠性和质量的方法。总的来说，这些研究阐明了 </a:t>
            </a:r>
            <a:r>
              <a:rPr lang="en-US" altLang="zh-CN" dirty="0"/>
              <a:t>FPC </a:t>
            </a:r>
            <a:r>
              <a:rPr lang="zh-CN" altLang="en-US" dirty="0"/>
              <a:t>在先进电子领域设计和应用方面取得的重大进展和持续存在的挑战。基于这些对 </a:t>
            </a:r>
            <a:r>
              <a:rPr lang="en-US" altLang="zh-CN" dirty="0"/>
              <a:t>FPC </a:t>
            </a:r>
            <a:r>
              <a:rPr lang="zh-CN" altLang="en-US" dirty="0"/>
              <a:t>力学和变形的基础见解，进一步的研究专门针对柔性印刷电路板 </a:t>
            </a:r>
            <a:r>
              <a:rPr lang="en-US" altLang="zh-CN" dirty="0"/>
              <a:t>(FPCB) </a:t>
            </a:r>
            <a:r>
              <a:rPr lang="zh-CN" altLang="en-US" dirty="0"/>
              <a:t>的复杂性。最近的研究为这一领域做出了重大贡献。 </a:t>
            </a:r>
            <a:r>
              <a:rPr lang="en-US" altLang="zh-CN" dirty="0"/>
              <a:t>Chong </a:t>
            </a:r>
            <a:r>
              <a:rPr lang="zh-CN" altLang="en-US" dirty="0"/>
              <a:t>等人 </a:t>
            </a:r>
            <a:r>
              <a:rPr lang="en-US" altLang="zh-CN" dirty="0"/>
              <a:t>37 </a:t>
            </a:r>
            <a:r>
              <a:rPr lang="zh-CN" altLang="en-US" dirty="0"/>
              <a:t>深入研究了热条件下的传热和变形方面，使用流体结构相互作用进行模拟。</a:t>
            </a:r>
            <a:r>
              <a:rPr lang="en-US" altLang="zh-CN" dirty="0"/>
              <a:t>Leong </a:t>
            </a:r>
            <a:r>
              <a:rPr lang="zh-CN" altLang="en-US" dirty="0"/>
              <a:t>等人 </a:t>
            </a:r>
            <a:r>
              <a:rPr lang="en-US" altLang="zh-CN" dirty="0"/>
              <a:t>38 </a:t>
            </a:r>
            <a:r>
              <a:rPr lang="zh-CN" altLang="en-US" dirty="0"/>
              <a:t>旨在采用先进的方法优化 </a:t>
            </a:r>
            <a:r>
              <a:rPr lang="en-US" altLang="zh-CN" dirty="0"/>
              <a:t>FPCB </a:t>
            </a:r>
            <a:r>
              <a:rPr lang="zh-CN" altLang="en-US" dirty="0"/>
              <a:t>以减轻应力和挠度。</a:t>
            </a:r>
            <a:r>
              <a:rPr lang="en-US" altLang="zh-CN" dirty="0"/>
              <a:t>Alexander 39 </a:t>
            </a:r>
            <a:r>
              <a:rPr lang="zh-CN" altLang="en-US" dirty="0"/>
              <a:t>专注于 </a:t>
            </a:r>
            <a:r>
              <a:rPr lang="en-US" altLang="zh-CN" dirty="0"/>
              <a:t>FPC </a:t>
            </a:r>
            <a:r>
              <a:rPr lang="zh-CN" altLang="en-US" dirty="0"/>
              <a:t>的机械可靠性，特别是在动态环境中，将疲劳测试与计算分析相结合。</a:t>
            </a:r>
            <a:r>
              <a:rPr lang="en-US" altLang="zh-CN" dirty="0"/>
              <a:t>Liu </a:t>
            </a:r>
            <a:r>
              <a:rPr lang="zh-CN" altLang="en-US" dirty="0"/>
              <a:t>等人 </a:t>
            </a:r>
            <a:r>
              <a:rPr lang="en-US" altLang="zh-CN" dirty="0"/>
              <a:t>40 </a:t>
            </a:r>
            <a:r>
              <a:rPr lang="zh-CN" altLang="en-US" dirty="0"/>
              <a:t>研究了影响 </a:t>
            </a:r>
            <a:r>
              <a:rPr lang="en-US" altLang="zh-CN" dirty="0"/>
              <a:t>FPC </a:t>
            </a:r>
            <a:r>
              <a:rPr lang="zh-CN" altLang="en-US" dirty="0"/>
              <a:t>弯曲的因素，揭示了为材料和设计选择提供了重要见解。</a:t>
            </a:r>
            <a:r>
              <a:rPr lang="en-US" altLang="zh-CN" dirty="0"/>
              <a:t>Zhang </a:t>
            </a:r>
            <a:r>
              <a:rPr lang="zh-CN" altLang="en-US" dirty="0"/>
              <a:t>等人 </a:t>
            </a:r>
            <a:r>
              <a:rPr lang="en-US" altLang="zh-CN" dirty="0"/>
              <a:t>41 </a:t>
            </a:r>
            <a:r>
              <a:rPr lang="zh-CN" altLang="en-US" dirty="0"/>
              <a:t>探索了高加速度下刚挠结合 </a:t>
            </a:r>
            <a:r>
              <a:rPr lang="en-US" altLang="zh-CN" dirty="0"/>
              <a:t>PCB </a:t>
            </a:r>
            <a:r>
              <a:rPr lang="zh-CN" altLang="en-US" dirty="0"/>
              <a:t>的可靠性，揭示了应力动力学。</a:t>
            </a:r>
            <a:r>
              <a:rPr lang="en-US" altLang="zh-CN" dirty="0"/>
              <a:t>Lall </a:t>
            </a:r>
            <a:r>
              <a:rPr lang="zh-CN" altLang="en-US" dirty="0"/>
              <a:t>等人 </a:t>
            </a:r>
            <a:r>
              <a:rPr lang="en-US" altLang="zh-CN" dirty="0"/>
              <a:t>42 </a:t>
            </a:r>
            <a:r>
              <a:rPr lang="zh-CN" altLang="en-US" dirty="0"/>
              <a:t>研究了焊接过程中的变形挑战，而 </a:t>
            </a:r>
            <a:r>
              <a:rPr lang="en-US" altLang="zh-CN" dirty="0"/>
              <a:t>Muhammad </a:t>
            </a:r>
            <a:r>
              <a:rPr lang="zh-CN" altLang="en-US" dirty="0"/>
              <a:t>等人 </a:t>
            </a:r>
            <a:r>
              <a:rPr lang="en-US" altLang="zh-CN" dirty="0"/>
              <a:t>43 </a:t>
            </a:r>
            <a:r>
              <a:rPr lang="zh-CN" altLang="en-US" dirty="0"/>
              <a:t>评估了 </a:t>
            </a:r>
            <a:r>
              <a:rPr lang="en-US" altLang="zh-CN" dirty="0"/>
              <a:t>FPCB </a:t>
            </a:r>
            <a:r>
              <a:rPr lang="zh-CN" altLang="en-US" dirty="0"/>
              <a:t>的焊接后可靠性，强调了制造复杂性。这些研究共同促进了对微电子领域 </a:t>
            </a:r>
            <a:r>
              <a:rPr lang="en-US" altLang="zh-CN" dirty="0"/>
              <a:t>FPCB </a:t>
            </a:r>
            <a:r>
              <a:rPr lang="zh-CN" altLang="en-US" dirty="0"/>
              <a:t>的理解和设计。这项研究解决了理解和应用 </a:t>
            </a:r>
            <a:r>
              <a:rPr lang="en-US" altLang="zh-CN" dirty="0"/>
              <a:t>FPC </a:t>
            </a:r>
            <a:r>
              <a:rPr lang="zh-CN" altLang="en-US" dirty="0"/>
              <a:t>变形的关键差距。我们对不同条件下的 </a:t>
            </a:r>
            <a:r>
              <a:rPr lang="en-US" altLang="zh-CN" dirty="0"/>
              <a:t>FPC </a:t>
            </a:r>
            <a:r>
              <a:rPr lang="zh-CN" altLang="en-US" dirty="0"/>
              <a:t>曲率进行了广泛分析，这是以前研究不足的领域。我们的方法结合了使用 </a:t>
            </a:r>
            <a:r>
              <a:rPr lang="en-US" altLang="zh-CN" dirty="0"/>
              <a:t>Abaqus 2020 </a:t>
            </a:r>
            <a:r>
              <a:rPr lang="zh-CN" altLang="en-US" dirty="0"/>
              <a:t>进行变形行为分析的有限元法 </a:t>
            </a:r>
            <a:r>
              <a:rPr lang="en-US" altLang="zh-CN" dirty="0"/>
              <a:t>(FEM) </a:t>
            </a:r>
            <a:r>
              <a:rPr lang="zh-CN" altLang="en-US" dirty="0"/>
              <a:t>模拟和高级数学建模来检查 </a:t>
            </a:r>
            <a:r>
              <a:rPr lang="en-US" altLang="zh-CN" dirty="0"/>
              <a:t>FPC </a:t>
            </a:r>
            <a:r>
              <a:rPr lang="zh-CN" altLang="en-US" dirty="0"/>
              <a:t>上的曲率和空间分离。在我们的研究中，我们采用了雅可比矩阵迭代法，大大提高了预测 </a:t>
            </a:r>
            <a:r>
              <a:rPr lang="en-US" altLang="zh-CN" dirty="0"/>
              <a:t>FPC </a:t>
            </a:r>
            <a:r>
              <a:rPr lang="zh-CN" altLang="en-US" dirty="0"/>
              <a:t>曲率的精度。我们的发现对 </a:t>
            </a:r>
            <a:r>
              <a:rPr lang="en-US" altLang="zh-CN" dirty="0"/>
              <a:t>FPC </a:t>
            </a:r>
            <a:r>
              <a:rPr lang="zh-CN" altLang="en-US" dirty="0"/>
              <a:t>的设计和制造具有重要意义。它们强调了在 </a:t>
            </a:r>
            <a:r>
              <a:rPr lang="en-US" altLang="zh-CN" dirty="0"/>
              <a:t>FPC </a:t>
            </a:r>
            <a:r>
              <a:rPr lang="zh-CN" altLang="en-US" dirty="0"/>
              <a:t>和相邻组件之间保持自由接触空间以及优化曲率的必要性。这种方法对于防止机械应力、散热效率低下和物理损坏等问题至关重要，这些问题都会对电路功能和整体设备可靠性产生不利影响。此外，我们的研究确定了 </a:t>
            </a:r>
            <a:r>
              <a:rPr lang="en-US" altLang="zh-CN" dirty="0"/>
              <a:t>FPC </a:t>
            </a:r>
            <a:r>
              <a:rPr lang="zh-CN" altLang="en-US" dirty="0"/>
              <a:t>的理想长度，以最大限度地减少最大曲率，从而实现灵活性、结构完整性和可靠性之间的平衡。总之，我们的研究标志着 </a:t>
            </a:r>
            <a:r>
              <a:rPr lang="en-US" altLang="zh-CN" dirty="0"/>
              <a:t>FPC </a:t>
            </a:r>
            <a:r>
              <a:rPr lang="zh-CN" altLang="en-US" dirty="0"/>
              <a:t>研究的重大进步，提供了新的见解和方法。它旨在提高对各种条件下 </a:t>
            </a:r>
            <a:r>
              <a:rPr lang="en-US" altLang="zh-CN" dirty="0"/>
              <a:t>FPC </a:t>
            </a:r>
            <a:r>
              <a:rPr lang="zh-CN" altLang="en-US" dirty="0"/>
              <a:t>行为的理解，为未来的 </a:t>
            </a:r>
            <a:r>
              <a:rPr lang="en-US" altLang="zh-CN" dirty="0"/>
              <a:t>FPC </a:t>
            </a:r>
            <a:r>
              <a:rPr lang="zh-CN" altLang="en-US" dirty="0"/>
              <a:t>设计和应用增强奠定基础，为电子设计和制造领域的设备寿命和性能做出重大贡献。</a:t>
            </a:r>
            <a:endParaRPr lang="en-US" altLang="zh-CN" dirty="0"/>
          </a:p>
          <a:p>
            <a:endParaRPr lang="en-US" altLang="zh-CN" dirty="0"/>
          </a:p>
          <a:p>
            <a:endParaRPr lang="en-US" altLang="zh-CN" dirty="0"/>
          </a:p>
          <a:p>
            <a:endParaRPr lang="en-US" altLang="zh-CN" dirty="0"/>
          </a:p>
          <a:p>
            <a:endParaRPr lang="en-US" altLang="zh-CN" dirty="0"/>
          </a:p>
          <a:p>
            <a:r>
              <a:rPr lang="zh-CN" altLang="en-US" dirty="0"/>
              <a:t>图 </a:t>
            </a:r>
            <a:r>
              <a:rPr lang="en-US" altLang="zh-CN" dirty="0"/>
              <a:t>1. </a:t>
            </a:r>
            <a:r>
              <a:rPr lang="zh-CN" altLang="en-US" dirty="0"/>
              <a:t>基于液态金属的个性化柔性印刷电子产品。“可植入设备”：液态金属神经连接 </a:t>
            </a:r>
            <a:r>
              <a:rPr lang="en-US" altLang="zh-CN" dirty="0"/>
              <a:t>[35] (https://arxiv.org/abs/1404.5931)</a:t>
            </a:r>
            <a:r>
              <a:rPr lang="zh-CN" altLang="en-US" dirty="0"/>
              <a:t>；可注射 </a:t>
            </a:r>
            <a:r>
              <a:rPr lang="en-US" altLang="zh-CN" dirty="0"/>
              <a:t>3D </a:t>
            </a:r>
            <a:r>
              <a:rPr lang="zh-CN" altLang="en-US" dirty="0"/>
              <a:t>生物电极 </a:t>
            </a:r>
            <a:r>
              <a:rPr lang="en-US" altLang="zh-CN" dirty="0"/>
              <a:t>[54]</a:t>
            </a:r>
            <a:r>
              <a:rPr lang="zh-CN" altLang="en-US" dirty="0"/>
              <a:t>（经 </a:t>
            </a:r>
            <a:r>
              <a:rPr lang="en-US" altLang="zh-CN" dirty="0"/>
              <a:t>Jin, C.; Liu, J. et al. </a:t>
            </a:r>
            <a:r>
              <a:rPr lang="zh-CN" altLang="en-US" dirty="0"/>
              <a:t>许可转载，在目标生物组织中可注射 </a:t>
            </a:r>
            <a:r>
              <a:rPr lang="en-US" altLang="zh-CN" dirty="0"/>
              <a:t>3D </a:t>
            </a:r>
            <a:r>
              <a:rPr lang="zh-CN" altLang="en-US" dirty="0"/>
              <a:t>制造医疗电子产品；由 </a:t>
            </a:r>
            <a:r>
              <a:rPr lang="en-US" altLang="zh-CN" dirty="0"/>
              <a:t>Scientific Reports </a:t>
            </a:r>
            <a:r>
              <a:rPr lang="zh-CN" altLang="en-US" dirty="0"/>
              <a:t>于 </a:t>
            </a:r>
            <a:r>
              <a:rPr lang="en-US" altLang="zh-CN" dirty="0"/>
              <a:t>2013 </a:t>
            </a:r>
            <a:r>
              <a:rPr lang="zh-CN" altLang="en-US" dirty="0"/>
              <a:t>年发表。）；液态金属重连神经的电生理测量 </a:t>
            </a:r>
            <a:r>
              <a:rPr lang="en-US" altLang="zh-CN" dirty="0"/>
              <a:t>[36]</a:t>
            </a:r>
            <a:r>
              <a:rPr lang="zh-CN" altLang="en-US" dirty="0"/>
              <a:t>；“电皮肤”：人体上的液态金属电路 </a:t>
            </a:r>
            <a:r>
              <a:rPr lang="en-US" altLang="zh-CN" dirty="0"/>
              <a:t>[55]</a:t>
            </a:r>
            <a:r>
              <a:rPr lang="zh-CN" altLang="en-US" dirty="0"/>
              <a:t>（经 </a:t>
            </a:r>
            <a:r>
              <a:rPr lang="en-US" altLang="zh-CN" dirty="0"/>
              <a:t>Guo, C.; Liu, J. et al. </a:t>
            </a:r>
            <a:r>
              <a:rPr lang="zh-CN" altLang="en-US" dirty="0"/>
              <a:t>许可转载，通过液态金属喷涂和预先设计的掩模在皮肤基底上快速图案化导电元件作为生理测试设备；由 </a:t>
            </a:r>
            <a:r>
              <a:rPr lang="en-US" altLang="zh-CN" dirty="0"/>
              <a:t>Journal of </a:t>
            </a:r>
            <a:r>
              <a:rPr lang="en-US" altLang="zh-CN" dirty="0" err="1"/>
              <a:t>Mterials</a:t>
            </a:r>
            <a:r>
              <a:rPr lang="en-US" altLang="zh-CN" dirty="0"/>
              <a:t> Chemistry B </a:t>
            </a:r>
            <a:r>
              <a:rPr lang="zh-CN" altLang="en-US" dirty="0"/>
              <a:t>于 </a:t>
            </a:r>
            <a:r>
              <a:rPr lang="en-US" altLang="zh-CN" dirty="0"/>
              <a:t>2014 </a:t>
            </a:r>
            <a:r>
              <a:rPr lang="zh-CN" altLang="en-US" dirty="0"/>
              <a:t>年发表。）；人体皮肤上的液态金属标签 </a:t>
            </a:r>
            <a:r>
              <a:rPr lang="en-US" altLang="zh-CN" dirty="0"/>
              <a:t>[56]</a:t>
            </a:r>
            <a:r>
              <a:rPr lang="zh-CN" altLang="en-US" dirty="0"/>
              <a:t>（经 </a:t>
            </a:r>
            <a:r>
              <a:rPr lang="en-US" altLang="zh-CN" dirty="0"/>
              <a:t>Jeong, S.H.; Wu, Z. et al., Liquid Alloy Printing of Microfluidic Stable Electronics </a:t>
            </a:r>
            <a:r>
              <a:rPr lang="zh-CN" altLang="en-US" dirty="0"/>
              <a:t>许可转载；</a:t>
            </a:r>
            <a:r>
              <a:rPr lang="en-US" altLang="zh-CN" dirty="0"/>
              <a:t>Lab on a Chip</a:t>
            </a:r>
            <a:r>
              <a:rPr lang="zh-CN" altLang="en-US" dirty="0"/>
              <a:t>，</a:t>
            </a:r>
            <a:r>
              <a:rPr lang="en-US" altLang="zh-CN" dirty="0"/>
              <a:t>2012 </a:t>
            </a:r>
            <a:r>
              <a:rPr lang="zh-CN" altLang="en-US" dirty="0"/>
              <a:t>年出版）；通过液态金属电极进行心电图测试 </a:t>
            </a:r>
            <a:r>
              <a:rPr lang="en-US" altLang="zh-CN" dirty="0"/>
              <a:t>[57]</a:t>
            </a:r>
            <a:r>
              <a:rPr lang="zh-CN" altLang="en-US" dirty="0"/>
              <a:t>（经 </a:t>
            </a:r>
            <a:r>
              <a:rPr lang="en-US" altLang="zh-CN" dirty="0"/>
              <a:t>Yu, Y.; Zhang, J.; Liu, J., Biomedical Implementation of Liquid Metal Ink as Drawable ECG Electrode and Skin Circuit </a:t>
            </a:r>
            <a:r>
              <a:rPr lang="zh-CN" altLang="en-US" dirty="0"/>
              <a:t>许可转载；</a:t>
            </a:r>
            <a:r>
              <a:rPr lang="en-US" altLang="zh-CN" dirty="0" err="1"/>
              <a:t>PLoS</a:t>
            </a:r>
            <a:r>
              <a:rPr lang="en-US" altLang="zh-CN" dirty="0"/>
              <a:t> ONE</a:t>
            </a:r>
            <a:r>
              <a:rPr lang="zh-CN" altLang="en-US" dirty="0"/>
              <a:t>，</a:t>
            </a:r>
            <a:r>
              <a:rPr lang="en-US" altLang="zh-CN" dirty="0"/>
              <a:t>2013 </a:t>
            </a:r>
            <a:r>
              <a:rPr lang="zh-CN" altLang="en-US" dirty="0"/>
              <a:t>年出版）；“可穿戴生物电子学”：液态金属腕带 </a:t>
            </a:r>
            <a:r>
              <a:rPr lang="en-US" altLang="zh-CN" dirty="0"/>
              <a:t>[58]</a:t>
            </a:r>
            <a:r>
              <a:rPr lang="zh-CN" altLang="en-US" dirty="0"/>
              <a:t>（经 </a:t>
            </a:r>
            <a:r>
              <a:rPr lang="en-US" altLang="zh-CN" dirty="0"/>
              <a:t>Wang, Q.; Yu, Y.; Yang, J.; Liu, J., Fast Fabrication of Flexible Functional Circuits based on Liquid Metal Dual-Trans Printing </a:t>
            </a:r>
            <a:r>
              <a:rPr lang="zh-CN" altLang="en-US" dirty="0"/>
              <a:t>许可转载；</a:t>
            </a:r>
            <a:r>
              <a:rPr lang="en-US" altLang="zh-CN" dirty="0"/>
              <a:t>Advanced Material</a:t>
            </a:r>
            <a:r>
              <a:rPr lang="zh-CN" altLang="en-US" dirty="0"/>
              <a:t>，</a:t>
            </a:r>
            <a:r>
              <a:rPr lang="en-US" altLang="zh-CN" dirty="0"/>
              <a:t>2015 </a:t>
            </a:r>
            <a:r>
              <a:rPr lang="zh-CN" altLang="en-US" dirty="0"/>
              <a:t>年出版）；可穿戴数据手套 </a:t>
            </a:r>
            <a:r>
              <a:rPr lang="en-US" altLang="zh-CN" dirty="0"/>
              <a:t>[59]</a:t>
            </a:r>
            <a:r>
              <a:rPr lang="zh-CN" altLang="en-US" dirty="0"/>
              <a:t>（经 </a:t>
            </a:r>
            <a:r>
              <a:rPr lang="en-US" altLang="zh-CN" dirty="0"/>
              <a:t>Matsuzaki, R.; </a:t>
            </a:r>
            <a:r>
              <a:rPr lang="en-US" altLang="zh-CN" dirty="0" err="1"/>
              <a:t>Tabayashi</a:t>
            </a:r>
            <a:r>
              <a:rPr lang="en-US" altLang="zh-CN" dirty="0"/>
              <a:t>, K. </a:t>
            </a:r>
            <a:r>
              <a:rPr lang="zh-CN" altLang="en-US" dirty="0"/>
              <a:t>许可转载，用于可穿戴电子产品的高拉伸、全局和分布式局部应变传感线，使用增益电极；</a:t>
            </a:r>
            <a:r>
              <a:rPr lang="en-US" altLang="zh-CN" dirty="0"/>
              <a:t>Advanced Functional Material</a:t>
            </a:r>
            <a:r>
              <a:rPr lang="zh-CN" altLang="en-US" dirty="0"/>
              <a:t>，</a:t>
            </a:r>
            <a:r>
              <a:rPr lang="en-US" altLang="zh-CN" dirty="0"/>
              <a:t>2015 </a:t>
            </a:r>
            <a:r>
              <a:rPr lang="zh-CN" altLang="en-US" dirty="0"/>
              <a:t>年出版）；鞋类嵌入式微流体能量收集 </a:t>
            </a:r>
            <a:r>
              <a:rPr lang="en-US" altLang="zh-CN" dirty="0"/>
              <a:t>[60]</a:t>
            </a:r>
            <a:r>
              <a:rPr lang="zh-CN" altLang="en-US" dirty="0"/>
              <a:t>（经 </a:t>
            </a:r>
            <a:r>
              <a:rPr lang="en-US" altLang="zh-CN" dirty="0" err="1"/>
              <a:t>Krupenkin</a:t>
            </a:r>
            <a:r>
              <a:rPr lang="en-US" altLang="zh-CN" dirty="0"/>
              <a:t>, T.; Taylor, J.A. </a:t>
            </a:r>
            <a:r>
              <a:rPr lang="zh-CN" altLang="en-US" dirty="0"/>
              <a:t>许可转载，反向电润湿作为高功率能量收集的新方法；</a:t>
            </a:r>
            <a:r>
              <a:rPr lang="en-US" altLang="zh-CN" dirty="0"/>
              <a:t>Nature Communication</a:t>
            </a:r>
            <a:r>
              <a:rPr lang="zh-CN" altLang="en-US" dirty="0"/>
              <a:t>，</a:t>
            </a:r>
            <a:r>
              <a:rPr lang="en-US" altLang="zh-CN" dirty="0"/>
              <a:t>2011 </a:t>
            </a:r>
            <a:r>
              <a:rPr lang="zh-CN" altLang="en-US" dirty="0"/>
              <a:t>年出版）目前主要以镓及其合金为代表，具有电阻率高、弯曲性强、粘附性低、表面张力大等特性，在当代电子学中，柔性印刷电路 </a:t>
            </a:r>
            <a:r>
              <a:rPr lang="en-US" altLang="zh-CN" dirty="0"/>
              <a:t>(FPC) </a:t>
            </a:r>
            <a:r>
              <a:rPr lang="zh-CN" altLang="en-US" dirty="0"/>
              <a:t>已成为关键，改变了电子设备的设计和功能 </a:t>
            </a:r>
            <a:r>
              <a:rPr lang="en-US" altLang="zh-CN" dirty="0"/>
              <a:t>1,2,3</a:t>
            </a:r>
            <a:r>
              <a:rPr lang="zh-CN" altLang="en-US" dirty="0"/>
              <a:t>。这些电路超越了传统的刚性柔性印刷电路板 </a:t>
            </a:r>
            <a:r>
              <a:rPr lang="en-US" altLang="zh-CN" dirty="0"/>
              <a:t>(PCB)</a:t>
            </a:r>
            <a:r>
              <a:rPr lang="zh-CN" altLang="en-US" dirty="0"/>
              <a:t>，由于采用聚酰亚胺等柔韧的高质量材料构造，因此具有无与伦比的灵活性和适应性。它们能够折叠或扭曲成小空间或不规则空间，从而提高了在物理压力下的耐用性。</a:t>
            </a:r>
            <a:r>
              <a:rPr lang="en-US" altLang="zh-CN" dirty="0"/>
              <a:t>FPC </a:t>
            </a:r>
            <a:r>
              <a:rPr lang="zh-CN" altLang="en-US" dirty="0"/>
              <a:t>的空间和重量效率特别有利，可将多个刚性板和线路整合成更轻、更紧凑的组件 </a:t>
            </a:r>
            <a:r>
              <a:rPr lang="en-US" altLang="zh-CN" dirty="0"/>
              <a:t>4</a:t>
            </a:r>
            <a:r>
              <a:rPr lang="zh-CN" altLang="en-US" dirty="0"/>
              <a:t>、</a:t>
            </a:r>
            <a:r>
              <a:rPr lang="en-US" altLang="zh-CN" dirty="0"/>
              <a:t>5</a:t>
            </a:r>
            <a:r>
              <a:rPr lang="zh-CN" altLang="en-US" dirty="0"/>
              <a:t>、</a:t>
            </a:r>
            <a:r>
              <a:rPr lang="en-US" altLang="zh-CN" dirty="0"/>
              <a:t>6</a:t>
            </a:r>
            <a:r>
              <a:rPr lang="zh-CN" altLang="en-US" dirty="0"/>
              <a:t>。这在航空航天、可穿戴技术和移动设备等必须减少空间和重量的领域至关重要。此外，它们固有的灵活性使它们可用于动态应用，而不会牺牲电路性能或完整性。它们的应用涵盖各个行业，如图 </a:t>
            </a:r>
            <a:r>
              <a:rPr lang="en-US" altLang="zh-CN" dirty="0"/>
              <a:t>17 </a:t>
            </a:r>
            <a:r>
              <a:rPr lang="zh-CN" altLang="en-US" dirty="0"/>
              <a:t>所示。在医疗领域，</a:t>
            </a:r>
            <a:r>
              <a:rPr lang="en-US" altLang="zh-CN" dirty="0"/>
              <a:t>FPC </a:t>
            </a:r>
            <a:r>
              <a:rPr lang="zh-CN" altLang="en-US" dirty="0"/>
              <a:t>有助于实现传感器和植入物等紧凑、灵活的设备，从而提高患者的舒适度和效率 </a:t>
            </a:r>
            <a:r>
              <a:rPr lang="en-US" altLang="zh-CN" dirty="0"/>
              <a:t>8</a:t>
            </a:r>
            <a:r>
              <a:rPr lang="zh-CN" altLang="en-US" dirty="0"/>
              <a:t>、</a:t>
            </a:r>
            <a:r>
              <a:rPr lang="en-US" altLang="zh-CN" dirty="0"/>
              <a:t>9</a:t>
            </a:r>
            <a:r>
              <a:rPr lang="zh-CN" altLang="en-US" dirty="0"/>
              <a:t>、</a:t>
            </a:r>
            <a:r>
              <a:rPr lang="en-US" altLang="zh-CN" dirty="0"/>
              <a:t>10</a:t>
            </a:r>
            <a:r>
              <a:rPr lang="zh-CN" altLang="en-US" dirty="0"/>
              <a:t>、</a:t>
            </a:r>
            <a:r>
              <a:rPr lang="en-US" altLang="zh-CN" dirty="0"/>
              <a:t>11</a:t>
            </a:r>
            <a:r>
              <a:rPr lang="zh-CN" altLang="en-US" dirty="0"/>
              <a:t>。汽车行业将它们用于仪表板显示器和传感器网络等系统中，看重它们对振动和温度变化的抵抗力。在消费电子产品中，</a:t>
            </a:r>
            <a:r>
              <a:rPr lang="en-US" altLang="zh-CN" dirty="0"/>
              <a:t>FPC </a:t>
            </a:r>
            <a:r>
              <a:rPr lang="zh-CN" altLang="en-US" dirty="0"/>
              <a:t>是智能手机、平板电脑和笔记本电脑实现轻薄化的关键</a:t>
            </a:r>
            <a:r>
              <a:rPr lang="en-US" altLang="zh-CN" dirty="0"/>
              <a:t>12</a:t>
            </a:r>
            <a:r>
              <a:rPr lang="zh-CN" altLang="en-US" dirty="0"/>
              <a:t>、</a:t>
            </a:r>
            <a:r>
              <a:rPr lang="en-US" altLang="zh-CN" dirty="0"/>
              <a:t>13</a:t>
            </a:r>
            <a:r>
              <a:rPr lang="zh-CN" altLang="en-US" dirty="0"/>
              <a:t>、</a:t>
            </a:r>
            <a:r>
              <a:rPr lang="en-US" altLang="zh-CN" dirty="0"/>
              <a:t>14</a:t>
            </a:r>
            <a:r>
              <a:rPr lang="zh-CN" altLang="en-US" dirty="0"/>
              <a:t>、</a:t>
            </a:r>
            <a:r>
              <a:rPr lang="en-US" altLang="zh-CN" dirty="0"/>
              <a:t>15</a:t>
            </a:r>
            <a:r>
              <a:rPr lang="zh-CN" altLang="en-US" dirty="0"/>
              <a:t>。此外，它们也是新兴柔性和可穿戴电子产品领域的核心，可实现符合人体工程学设计和人体运动的创新设备</a:t>
            </a:r>
            <a:r>
              <a:rPr lang="en-US" altLang="zh-CN" dirty="0"/>
              <a:t>16</a:t>
            </a:r>
            <a:r>
              <a:rPr lang="zh-CN" altLang="en-US" dirty="0"/>
              <a:t>、</a:t>
            </a:r>
            <a:r>
              <a:rPr lang="en-US" altLang="zh-CN" dirty="0"/>
              <a:t>17</a:t>
            </a:r>
            <a:r>
              <a:rPr lang="zh-CN" altLang="en-US" dirty="0"/>
              <a:t>、</a:t>
            </a:r>
            <a:r>
              <a:rPr lang="en-US" altLang="zh-CN" dirty="0"/>
              <a:t>18</a:t>
            </a:r>
            <a:r>
              <a:rPr lang="zh-CN" altLang="en-US" dirty="0"/>
              <a:t>、</a:t>
            </a:r>
            <a:r>
              <a:rPr lang="en-US" altLang="zh-CN" dirty="0"/>
              <a:t>19</a:t>
            </a:r>
            <a:r>
              <a:rPr lang="zh-CN" altLang="en-US" dirty="0"/>
              <a:t>、</a:t>
            </a:r>
            <a:r>
              <a:rPr lang="en-US" altLang="zh-CN" dirty="0"/>
              <a:t>20</a:t>
            </a:r>
            <a:r>
              <a:rPr lang="zh-CN" altLang="en-US" dirty="0"/>
              <a:t>。</a:t>
            </a:r>
          </a:p>
        </p:txBody>
      </p:sp>
      <p:sp>
        <p:nvSpPr>
          <p:cNvPr id="4" name="灯片编号占位符 3">
            <a:extLst>
              <a:ext uri="{FF2B5EF4-FFF2-40B4-BE49-F238E27FC236}">
                <a16:creationId xmlns:a16="http://schemas.microsoft.com/office/drawing/2014/main" id="{C881B4F2-EA83-F089-9BF1-E42ABBB1E7A7}"/>
              </a:ext>
            </a:extLst>
          </p:cNvPr>
          <p:cNvSpPr>
            <a:spLocks noGrp="1"/>
          </p:cNvSpPr>
          <p:nvPr>
            <p:ph type="sldNum" sz="quarter" idx="5"/>
          </p:nvPr>
        </p:nvSpPr>
        <p:spPr/>
        <p:txBody>
          <a:bodyPr/>
          <a:lstStyle/>
          <a:p>
            <a:fld id="{84918B77-9CB1-4C48-BED5-B02F24F09A98}" type="slidenum">
              <a:rPr lang="zh-CN" altLang="en-US" smtClean="0"/>
              <a:t>36</a:t>
            </a:fld>
            <a:endParaRPr lang="zh-CN" altLang="en-US"/>
          </a:p>
        </p:txBody>
      </p:sp>
    </p:spTree>
    <p:extLst>
      <p:ext uri="{BB962C8B-B14F-4D97-AF65-F5344CB8AC3E}">
        <p14:creationId xmlns:p14="http://schemas.microsoft.com/office/powerpoint/2010/main" val="303612407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33016-B536-8491-FD72-055712615A6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6D120B3-9BDD-5DBA-5142-923D78354A3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DFECBCF-47F3-8E4E-FFC5-BA13054FDCCB}"/>
              </a:ext>
            </a:extLst>
          </p:cNvPr>
          <p:cNvSpPr>
            <a:spLocks noGrp="1"/>
          </p:cNvSpPr>
          <p:nvPr>
            <p:ph type="body" idx="1"/>
          </p:nvPr>
        </p:nvSpPr>
        <p:spPr/>
        <p:txBody>
          <a:bodyPr/>
          <a:lstStyle/>
          <a:p>
            <a:endParaRPr lang="en-US" altLang="zh-CN" dirty="0"/>
          </a:p>
          <a:p>
            <a:r>
              <a:rPr lang="zh-CN" altLang="en-US" dirty="0"/>
              <a:t>印刷电子是基于印刷原理制造电子设备的技术</a:t>
            </a:r>
            <a:r>
              <a:rPr lang="en-US" altLang="zh-CN" dirty="0"/>
              <a:t>[1]</a:t>
            </a:r>
            <a:r>
              <a:rPr lang="zh-CN" altLang="en-US" dirty="0"/>
              <a:t>。与传统印刷技术不同，印刷机中使用的油墨是具有导电、介电、半导体或磁性的电子材料。印刷电子与有机电子、塑料电子、柔性电子和纸电子等多个领域密切相关</a:t>
            </a:r>
            <a:r>
              <a:rPr lang="en-US" altLang="zh-CN" dirty="0"/>
              <a:t>[2]</a:t>
            </a:r>
            <a:r>
              <a:rPr lang="zh-CN" altLang="en-US" dirty="0"/>
              <a:t>，这意味着不仅可以在硅和玻璃上印刷电路，还可以在塑料、纸张和更柔性的基板上印刷电路。生产柔性电子产品的方法之一是将导电材料直接印刷到柔性基板上。经典的柔性电子是指将有机</a:t>
            </a:r>
            <a:r>
              <a:rPr lang="en-US" altLang="zh-CN" dirty="0"/>
              <a:t>/</a:t>
            </a:r>
            <a:r>
              <a:rPr lang="zh-CN" altLang="en-US" dirty="0"/>
              <a:t>无机电子器件沉积在柔性基板上形成电路的技术</a:t>
            </a:r>
            <a:r>
              <a:rPr lang="en-US" altLang="zh-CN" dirty="0"/>
              <a:t>[3]</a:t>
            </a:r>
            <a:r>
              <a:rPr lang="zh-CN" altLang="en-US" dirty="0"/>
              <a:t>。虽然刚性电路板可以保护电子元件免受损坏，但它限制了电子产品的延展性和柔韧性。柔性电子具有柔软、延展性好、制造成本低等优点，可在信息、能源、医学和国防技术领域提供智能传感器、执行器、柔性显示器、有机发光二极管 </a:t>
            </a:r>
            <a:r>
              <a:rPr lang="en-US" altLang="zh-CN" dirty="0"/>
              <a:t>(OLED) </a:t>
            </a:r>
            <a:r>
              <a:rPr lang="zh-CN" altLang="en-US" dirty="0"/>
              <a:t>等。与传统的刚性微电子相比，柔性电子最显著的特点是其柔韧性，这使得它们可拉伸、保形、便携、可穿戴，并易于快速打印 </a:t>
            </a:r>
            <a:r>
              <a:rPr lang="en-US" altLang="zh-CN" dirty="0"/>
              <a:t>[4,5,6,7,8]</a:t>
            </a:r>
            <a:r>
              <a:rPr lang="zh-CN" altLang="en-US" dirty="0"/>
              <a:t>。由于柔性电子在电气、可打印、生物医学和传感特性方面的独特优势，它可以在电子元件 </a:t>
            </a:r>
            <a:r>
              <a:rPr lang="en-US" altLang="zh-CN" dirty="0"/>
              <a:t>[9]</a:t>
            </a:r>
            <a:r>
              <a:rPr lang="zh-CN" altLang="en-US" dirty="0"/>
              <a:t>、打印技术、植入式设备 </a:t>
            </a:r>
            <a:r>
              <a:rPr lang="en-US" altLang="zh-CN" dirty="0"/>
              <a:t>[10] </a:t>
            </a:r>
            <a:r>
              <a:rPr lang="zh-CN" altLang="en-US" dirty="0"/>
              <a:t>和健康监测器 </a:t>
            </a:r>
            <a:r>
              <a:rPr lang="en-US" altLang="zh-CN" dirty="0"/>
              <a:t>[11] </a:t>
            </a:r>
            <a:r>
              <a:rPr lang="zh-CN" altLang="en-US" dirty="0"/>
              <a:t>等领域得到广泛应用，具体用途包括天线 </a:t>
            </a:r>
            <a:r>
              <a:rPr lang="en-US" altLang="zh-CN" dirty="0"/>
              <a:t>[12]</a:t>
            </a:r>
            <a:r>
              <a:rPr lang="zh-CN" altLang="en-US" dirty="0"/>
              <a:t>、眼球摄像头 </a:t>
            </a:r>
            <a:r>
              <a:rPr lang="en-US" altLang="zh-CN" dirty="0"/>
              <a:t>[13] </a:t>
            </a:r>
            <a:r>
              <a:rPr lang="zh-CN" altLang="en-US" dirty="0"/>
              <a:t>和压力传感器 </a:t>
            </a:r>
            <a:r>
              <a:rPr lang="en-US" altLang="zh-CN" dirty="0"/>
              <a:t>[14] </a:t>
            </a:r>
            <a:r>
              <a:rPr lang="zh-CN" altLang="en-US" dirty="0"/>
              <a:t>等。如今，人们已采用两种常见策略来提高电子产品的柔软度 </a:t>
            </a:r>
            <a:r>
              <a:rPr lang="en-US" altLang="zh-CN" dirty="0"/>
              <a:t>[15]</a:t>
            </a:r>
            <a:r>
              <a:rPr lang="zh-CN" altLang="en-US" dirty="0"/>
              <a:t>。一种是将坚硬的导电材料嵌入到可拉伸的基底上，例如聚二甲基硅氧烷 </a:t>
            </a:r>
            <a:r>
              <a:rPr lang="en-US" altLang="zh-CN" dirty="0"/>
              <a:t>(PDMS)</a:t>
            </a:r>
            <a:r>
              <a:rPr lang="zh-CN" altLang="en-US" dirty="0"/>
              <a:t>。</a:t>
            </a:r>
            <a:r>
              <a:rPr lang="en-US" altLang="zh-CN" dirty="0"/>
              <a:t>Rogers </a:t>
            </a:r>
            <a:r>
              <a:rPr lang="zh-CN" altLang="en-US" dirty="0"/>
              <a:t>等人引入了一种复杂的波浪结构来保持电路的可拉伸性，当应力作用于柔软的基底上时，它可以吸收较大的张力 </a:t>
            </a:r>
            <a:r>
              <a:rPr lang="en-US" altLang="zh-CN" dirty="0"/>
              <a:t>[16,17]</a:t>
            </a:r>
            <a:r>
              <a:rPr lang="zh-CN" altLang="en-US" dirty="0"/>
              <a:t>。另一种是使用固有可拉伸的导体来形成电路 </a:t>
            </a:r>
            <a:r>
              <a:rPr lang="en-US" altLang="zh-CN" dirty="0"/>
              <a:t>[18]</a:t>
            </a:r>
            <a:r>
              <a:rPr lang="zh-CN" altLang="en-US" dirty="0"/>
              <a:t>。</a:t>
            </a:r>
            <a:r>
              <a:rPr lang="en-US" altLang="zh-CN" dirty="0"/>
              <a:t>Russo </a:t>
            </a:r>
            <a:r>
              <a:rPr lang="zh-CN" altLang="en-US" dirty="0"/>
              <a:t>等人展示了一种使用导电银墨水连接电路的方法，这种方法可以直接在纸上书写导电文字以连接发光二极管 </a:t>
            </a:r>
            <a:r>
              <a:rPr lang="en-US" altLang="zh-CN" dirty="0"/>
              <a:t>(LED) </a:t>
            </a:r>
            <a:r>
              <a:rPr lang="zh-CN" altLang="en-US" dirty="0"/>
              <a:t>阵列和三维 </a:t>
            </a:r>
            <a:r>
              <a:rPr lang="en-US" altLang="zh-CN" dirty="0"/>
              <a:t>(3D) </a:t>
            </a:r>
            <a:r>
              <a:rPr lang="zh-CN" altLang="en-US" dirty="0"/>
              <a:t>天线 </a:t>
            </a:r>
            <a:r>
              <a:rPr lang="en-US" altLang="zh-CN" dirty="0"/>
              <a:t>[12]</a:t>
            </a:r>
            <a:r>
              <a:rPr lang="zh-CN" altLang="en-US" dirty="0"/>
              <a:t>。显然，柔性印刷电子 </a:t>
            </a:r>
            <a:r>
              <a:rPr lang="en-US" altLang="zh-CN" dirty="0"/>
              <a:t>(FPE) </a:t>
            </a:r>
            <a:r>
              <a:rPr lang="zh-CN" altLang="en-US" dirty="0"/>
              <a:t>结合了柔性电子和印刷电子的特点。通过这种方式，人们可以快速制造出功能齐全的柔性电子设备。随着印刷技术的成熟，柔性印刷已成为研究的热门话题。目前已经出现了几种典型的印刷技术，例如敲击模式印刷</a:t>
            </a:r>
            <a:r>
              <a:rPr lang="en-US" altLang="zh-CN" dirty="0"/>
              <a:t>[18]</a:t>
            </a:r>
            <a:r>
              <a:rPr lang="zh-CN" altLang="en-US" dirty="0"/>
              <a:t>、气溶胶喷射印刷、卷对卷技术</a:t>
            </a:r>
            <a:r>
              <a:rPr lang="en-US" altLang="zh-CN" dirty="0"/>
              <a:t>[19]</a:t>
            </a:r>
            <a:r>
              <a:rPr lang="zh-CN" altLang="en-US" dirty="0"/>
              <a:t>、喷墨印刷</a:t>
            </a:r>
            <a:r>
              <a:rPr lang="en-US" altLang="zh-CN" dirty="0"/>
              <a:t>[20]</a:t>
            </a:r>
            <a:r>
              <a:rPr lang="zh-CN" altLang="en-US" dirty="0"/>
              <a:t>以及微笔和刷子印刷</a:t>
            </a:r>
            <a:r>
              <a:rPr lang="en-US" altLang="zh-CN" dirty="0"/>
              <a:t>[21,22]</a:t>
            </a:r>
            <a:r>
              <a:rPr lang="zh-CN" altLang="en-US" dirty="0"/>
              <a:t>。其中，微笔也许是最简单的方法：将电墨水泵入墨盒中直接写出导电文字。这使得在 </a:t>
            </a:r>
            <a:r>
              <a:rPr lang="en-US" altLang="zh-CN" dirty="0"/>
              <a:t>A4 </a:t>
            </a:r>
            <a:r>
              <a:rPr lang="zh-CN" altLang="en-US" dirty="0"/>
              <a:t>纸上绘制电路图成为可能。微笔明显降低了电路生产的复杂性并提高了电子电路制造的效率。</a:t>
            </a:r>
            <a:r>
              <a:rPr lang="en-US" altLang="zh-CN" dirty="0"/>
              <a:t>FPE </a:t>
            </a:r>
            <a:r>
              <a:rPr lang="zh-CN" altLang="en-US" dirty="0"/>
              <a:t>在不同领域取得了重大成就，例如柔性显示设备</a:t>
            </a:r>
            <a:r>
              <a:rPr lang="en-US" altLang="zh-CN" dirty="0"/>
              <a:t>[23]</a:t>
            </a:r>
            <a:r>
              <a:rPr lang="zh-CN" altLang="en-US" dirty="0"/>
              <a:t>、薄膜太阳能电池</a:t>
            </a:r>
            <a:r>
              <a:rPr lang="en-US" altLang="zh-CN" dirty="0"/>
              <a:t>[24,25]</a:t>
            </a:r>
            <a:r>
              <a:rPr lang="zh-CN" altLang="en-US" dirty="0"/>
              <a:t>、大面积传感器和驱动器</a:t>
            </a:r>
            <a:r>
              <a:rPr lang="en-US" altLang="zh-CN" dirty="0"/>
              <a:t>[26,27]</a:t>
            </a:r>
            <a:r>
              <a:rPr lang="zh-CN" altLang="en-US" dirty="0"/>
              <a:t>、电子皮肤</a:t>
            </a:r>
            <a:r>
              <a:rPr lang="en-US" altLang="zh-CN" dirty="0"/>
              <a:t>[28]</a:t>
            </a:r>
            <a:r>
              <a:rPr lang="zh-CN" altLang="en-US" dirty="0"/>
              <a:t>、可穿戴电子和生物假肢设备</a:t>
            </a:r>
            <a:r>
              <a:rPr lang="en-US" altLang="zh-CN" dirty="0"/>
              <a:t>[29]</a:t>
            </a:r>
            <a:r>
              <a:rPr lang="zh-CN" altLang="en-US" dirty="0"/>
              <a:t>、自充电系统</a:t>
            </a:r>
            <a:r>
              <a:rPr lang="en-US" altLang="zh-CN" dirty="0"/>
              <a:t>[30]</a:t>
            </a:r>
            <a:r>
              <a:rPr lang="zh-CN" altLang="en-US" dirty="0"/>
              <a:t>、自供电无线监控</a:t>
            </a:r>
            <a:r>
              <a:rPr lang="en-US" altLang="zh-CN" dirty="0"/>
              <a:t>[31]</a:t>
            </a:r>
            <a:r>
              <a:rPr lang="zh-CN" altLang="en-US" dirty="0"/>
              <a:t>等。如果电路具有柔软性、顺应性、可拉伸性和便携性等特性，则可以称其为可弯曲电子设备。与此同时，许多实验室已经开发出具有柔性的电子设备，如弯曲显示器</a:t>
            </a:r>
            <a:r>
              <a:rPr lang="en-US" altLang="zh-CN" dirty="0"/>
              <a:t>[32]</a:t>
            </a:r>
            <a:r>
              <a:rPr lang="zh-CN" altLang="en-US" dirty="0"/>
              <a:t>、折叠电池</a:t>
            </a:r>
            <a:r>
              <a:rPr lang="en-US" altLang="zh-CN" dirty="0"/>
              <a:t>[9]</a:t>
            </a:r>
            <a:r>
              <a:rPr lang="zh-CN" altLang="en-US" dirty="0"/>
              <a:t>、软场效应晶体管</a:t>
            </a:r>
            <a:r>
              <a:rPr lang="en-US" altLang="zh-CN" dirty="0"/>
              <a:t>[33]</a:t>
            </a:r>
            <a:r>
              <a:rPr lang="zh-CN" altLang="en-US" dirty="0"/>
              <a:t>、可拉伸导线</a:t>
            </a:r>
            <a:r>
              <a:rPr lang="en-US" altLang="zh-CN" dirty="0"/>
              <a:t>[34]</a:t>
            </a:r>
            <a:r>
              <a:rPr lang="zh-CN" altLang="en-US" dirty="0"/>
              <a:t>等。</a:t>
            </a:r>
            <a:r>
              <a:rPr lang="en-US" altLang="zh-CN" dirty="0"/>
              <a:t>FPE</a:t>
            </a:r>
            <a:r>
              <a:rPr lang="zh-CN" altLang="en-US" dirty="0"/>
              <a:t>还可以用于健康监测、医学检查、生命体征检测和其他日常生活需求。柔性生物医学设备已广泛应用于植入式设备</a:t>
            </a:r>
            <a:r>
              <a:rPr lang="en-US" altLang="zh-CN" dirty="0"/>
              <a:t>[10]</a:t>
            </a:r>
            <a:r>
              <a:rPr lang="zh-CN" altLang="en-US" dirty="0"/>
              <a:t>、神经连接</a:t>
            </a:r>
            <a:r>
              <a:rPr lang="en-US" altLang="zh-CN" dirty="0"/>
              <a:t>[35,36]</a:t>
            </a:r>
            <a:r>
              <a:rPr lang="zh-CN" altLang="en-US" dirty="0"/>
              <a:t>、健康监测</a:t>
            </a:r>
            <a:r>
              <a:rPr lang="en-US" altLang="zh-CN" dirty="0"/>
              <a:t>[11]</a:t>
            </a:r>
            <a:r>
              <a:rPr lang="zh-CN" altLang="en-US" dirty="0"/>
              <a:t>和可穿戴医疗设备领域。</a:t>
            </a:r>
            <a:r>
              <a:rPr lang="en-US" altLang="zh-CN" dirty="0"/>
              <a:t>FPE</a:t>
            </a:r>
            <a:r>
              <a:rPr lang="zh-CN" altLang="en-US" dirty="0"/>
              <a:t>还用于生物传感，其中最重要的应用是电子皮肤（</a:t>
            </a:r>
            <a:r>
              <a:rPr lang="en-US" altLang="zh-CN" dirty="0"/>
              <a:t>E-skin</a:t>
            </a:r>
            <a:r>
              <a:rPr lang="zh-CN" altLang="en-US" dirty="0"/>
              <a:t>），如压力映射</a:t>
            </a:r>
            <a:r>
              <a:rPr lang="en-US" altLang="zh-CN" dirty="0"/>
              <a:t>[37]</a:t>
            </a:r>
            <a:r>
              <a:rPr lang="zh-CN" altLang="en-US" dirty="0"/>
              <a:t>、自愈传感器</a:t>
            </a:r>
            <a:r>
              <a:rPr lang="en-US" altLang="zh-CN" dirty="0"/>
              <a:t>[38]</a:t>
            </a:r>
            <a:r>
              <a:rPr lang="zh-CN" altLang="en-US" dirty="0"/>
              <a:t>、假肢</a:t>
            </a:r>
            <a:r>
              <a:rPr lang="en-US" altLang="zh-CN" dirty="0"/>
              <a:t>[39]</a:t>
            </a:r>
            <a:r>
              <a:rPr lang="zh-CN" altLang="en-US" dirty="0"/>
              <a:t>、压力传感器</a:t>
            </a:r>
            <a:r>
              <a:rPr lang="en-US" altLang="zh-CN" dirty="0"/>
              <a:t>[14]</a:t>
            </a:r>
            <a:r>
              <a:rPr lang="zh-CN" altLang="en-US" dirty="0"/>
              <a:t>等。许多研究机构正在研究应用于柔性电子皮肤的不同材料。在鲍哲南的实验室，他们发明了一种受皮肤启发的人工机械感受器系统，该受体可以将压力刺激信号转化为人类神经元可以感知的电生理信号</a:t>
            </a:r>
            <a:r>
              <a:rPr lang="en-US" altLang="zh-CN" dirty="0"/>
              <a:t>[40]</a:t>
            </a:r>
          </a:p>
          <a:p>
            <a:endParaRPr lang="en-US" altLang="zh-CN" dirty="0"/>
          </a:p>
          <a:p>
            <a:endParaRPr lang="en-US" altLang="zh-CN" dirty="0"/>
          </a:p>
          <a:p>
            <a:r>
              <a:rPr lang="zh-CN" altLang="en-US" dirty="0"/>
              <a:t>在电子电路设计领域，必须特别注意柔性印刷电路的使用和放置。这些组件以其在各种应用中的灵活性和适应性而闻名，需要小心处理和战略定位以确保最佳性能和使用寿命</a:t>
            </a:r>
            <a:r>
              <a:rPr lang="en-US" altLang="zh-CN" dirty="0"/>
              <a:t>21</a:t>
            </a:r>
            <a:r>
              <a:rPr lang="zh-CN" altLang="en-US" dirty="0"/>
              <a:t>。这种谨慎方法的原因是多方面的：在柔性印刷电路 </a:t>
            </a:r>
            <a:r>
              <a:rPr lang="en-US" altLang="zh-CN" dirty="0"/>
              <a:t>(FPC) </a:t>
            </a:r>
            <a:r>
              <a:rPr lang="zh-CN" altLang="en-US" dirty="0"/>
              <a:t>的设计中，必须解决几个问题以确保其耐用性和功能性。首先，</a:t>
            </a:r>
            <a:r>
              <a:rPr lang="en-US" altLang="zh-CN" dirty="0"/>
              <a:t>FPC </a:t>
            </a:r>
            <a:r>
              <a:rPr lang="zh-CN" altLang="en-US" dirty="0"/>
              <a:t>本质上比刚性对应物更脆弱，容易受到机械损坏，例如裂缝或断裂</a:t>
            </a:r>
            <a:r>
              <a:rPr lang="en-US" altLang="zh-CN" dirty="0"/>
              <a:t>22</a:t>
            </a:r>
            <a:r>
              <a:rPr lang="zh-CN" altLang="en-US" dirty="0"/>
              <a:t>，尤其是在受到外部应力或力</a:t>
            </a:r>
            <a:r>
              <a:rPr lang="en-US" altLang="zh-CN" dirty="0"/>
              <a:t>23 </a:t>
            </a:r>
            <a:r>
              <a:rPr lang="zh-CN" altLang="en-US" dirty="0"/>
              <a:t>时。在 </a:t>
            </a:r>
            <a:r>
              <a:rPr lang="en-US" altLang="zh-CN" dirty="0"/>
              <a:t>FPC </a:t>
            </a:r>
            <a:r>
              <a:rPr lang="zh-CN" altLang="en-US" dirty="0"/>
              <a:t>可能接触其他组件的环境中，尤其是在容易移动或振动的环境中，这种脆弱性会加剧。战略性的物理分离可以显著降低此类损坏的风险。此外，当 </a:t>
            </a:r>
            <a:r>
              <a:rPr lang="en-US" altLang="zh-CN" dirty="0"/>
              <a:t>FPC </a:t>
            </a:r>
            <a:r>
              <a:rPr lang="zh-CN" altLang="en-US" dirty="0"/>
              <a:t>放置得太靠近其他电子元件（尤其是那些产生强电磁场的电子元件）时，</a:t>
            </a:r>
            <a:r>
              <a:rPr lang="en-US" altLang="zh-CN" dirty="0"/>
              <a:t>FPC </a:t>
            </a:r>
            <a:r>
              <a:rPr lang="zh-CN" altLang="en-US" dirty="0"/>
              <a:t>面临着电气干扰的挑战</a:t>
            </a:r>
            <a:r>
              <a:rPr lang="en-US" altLang="zh-CN" dirty="0"/>
              <a:t>24</a:t>
            </a:r>
            <a:r>
              <a:rPr lang="zh-CN" altLang="en-US" dirty="0"/>
              <a:t>。这种干扰会破坏 </a:t>
            </a:r>
            <a:r>
              <a:rPr lang="en-US" altLang="zh-CN" dirty="0"/>
              <a:t>FPC </a:t>
            </a:r>
            <a:r>
              <a:rPr lang="zh-CN" altLang="en-US" dirty="0"/>
              <a:t>上电路的正常运行，导致故障或效率低下。此外，保持信号完整性至关重要</a:t>
            </a:r>
            <a:r>
              <a:rPr lang="en-US" altLang="zh-CN" dirty="0"/>
              <a:t>25</a:t>
            </a:r>
            <a:r>
              <a:rPr lang="zh-CN" altLang="en-US" dirty="0"/>
              <a:t>，因为与其他组件的距离太近可能会导致信号丢失或干扰，这在高频或精密应用中至关重要，因为信号清晰度和完整性至关重要。有效的热管理是另一个关键考虑因素</a:t>
            </a:r>
            <a:r>
              <a:rPr lang="en-US" altLang="zh-CN" dirty="0"/>
              <a:t>26,27</a:t>
            </a:r>
            <a:r>
              <a:rPr lang="zh-CN" altLang="en-US" dirty="0"/>
              <a:t>。如果 </a:t>
            </a:r>
            <a:r>
              <a:rPr lang="en-US" altLang="zh-CN" dirty="0"/>
              <a:t>FPC </a:t>
            </a:r>
            <a:r>
              <a:rPr lang="zh-CN" altLang="en-US" dirty="0"/>
              <a:t>的位置太靠近发热组件，由此产生的高温会对其性能和寿命产生不利影响。足够的间距对于促进适当的散热和防止热过载至关重要，热过载会降低 </a:t>
            </a:r>
            <a:r>
              <a:rPr lang="en-US" altLang="zh-CN" dirty="0"/>
              <a:t>FPC </a:t>
            </a:r>
            <a:r>
              <a:rPr lang="zh-CN" altLang="en-US" dirty="0"/>
              <a:t>的材料和电路性能。最后，</a:t>
            </a:r>
            <a:r>
              <a:rPr lang="en-US" altLang="zh-CN" dirty="0"/>
              <a:t>FPC </a:t>
            </a:r>
            <a:r>
              <a:rPr lang="zh-CN" altLang="en-US" dirty="0"/>
              <a:t>独特的灵活性使它们可以弯曲或弯曲以适应特定的设计，但这种弯曲应该小心控制</a:t>
            </a:r>
            <a:r>
              <a:rPr lang="en-US" altLang="zh-CN" dirty="0"/>
              <a:t>28</a:t>
            </a:r>
            <a:r>
              <a:rPr lang="zh-CN" altLang="en-US" dirty="0"/>
              <a:t>。过度的曲率会对材料施加不当的压力，增加随着时间的推移疲劳和损坏的风险</a:t>
            </a:r>
            <a:r>
              <a:rPr lang="en-US" altLang="zh-CN" dirty="0"/>
              <a:t>29</a:t>
            </a:r>
            <a:r>
              <a:rPr lang="zh-CN" altLang="en-US" dirty="0"/>
              <a:t>。正确管理曲率对于保持 </a:t>
            </a:r>
            <a:r>
              <a:rPr lang="en-US" altLang="zh-CN" dirty="0"/>
              <a:t>FPC </a:t>
            </a:r>
            <a:r>
              <a:rPr lang="zh-CN" altLang="en-US" dirty="0"/>
              <a:t>的结构完整性至关重要。总之，</a:t>
            </a:r>
            <a:r>
              <a:rPr lang="en-US" altLang="zh-CN" dirty="0"/>
              <a:t>FPC </a:t>
            </a:r>
            <a:r>
              <a:rPr lang="zh-CN" altLang="en-US" dirty="0"/>
              <a:t>的战略性放置和处理在电路设计中至关重要。这不仅涉及避免与其他组件的物理接触，还需要考虑电磁兼容性、信号完整性</a:t>
            </a:r>
            <a:r>
              <a:rPr lang="en-US" altLang="zh-CN" dirty="0"/>
              <a:t>30</a:t>
            </a:r>
            <a:r>
              <a:rPr lang="zh-CN" altLang="en-US" dirty="0"/>
              <a:t>、热管理</a:t>
            </a:r>
            <a:r>
              <a:rPr lang="en-US" altLang="zh-CN" dirty="0"/>
              <a:t>31</a:t>
            </a:r>
            <a:r>
              <a:rPr lang="zh-CN" altLang="en-US" dirty="0"/>
              <a:t>和机械应力</a:t>
            </a:r>
            <a:r>
              <a:rPr lang="en-US" altLang="zh-CN" dirty="0"/>
              <a:t>32,33,34</a:t>
            </a:r>
            <a:r>
              <a:rPr lang="zh-CN" altLang="en-US" dirty="0"/>
              <a:t>等方面。这些考虑因素是设计过程不可或缺的，可确保 </a:t>
            </a:r>
            <a:r>
              <a:rPr lang="en-US" altLang="zh-CN" dirty="0"/>
              <a:t>FPC </a:t>
            </a:r>
            <a:r>
              <a:rPr lang="zh-CN" altLang="en-US" dirty="0"/>
              <a:t>在预期应用中有效可靠地发挥作用。对 </a:t>
            </a:r>
            <a:r>
              <a:rPr lang="en-US" altLang="zh-CN" dirty="0"/>
              <a:t>FPC </a:t>
            </a:r>
            <a:r>
              <a:rPr lang="zh-CN" altLang="en-US" dirty="0"/>
              <a:t>相关的细微差别的详细了解对于电子设计领域的专业人士至关重要，值得在学术和技术文献中进行深入讨论。在 </a:t>
            </a:r>
            <a:r>
              <a:rPr lang="en-US" altLang="zh-CN" dirty="0"/>
              <a:t>FPC </a:t>
            </a:r>
            <a:r>
              <a:rPr lang="zh-CN" altLang="en-US" dirty="0"/>
              <a:t>力学和变形领域，</a:t>
            </a:r>
            <a:r>
              <a:rPr lang="en-US" altLang="zh-CN" dirty="0"/>
              <a:t>John </a:t>
            </a:r>
            <a:r>
              <a:rPr lang="zh-CN" altLang="en-US" dirty="0"/>
              <a:t>等人</a:t>
            </a:r>
            <a:r>
              <a:rPr lang="en-US" altLang="zh-CN" dirty="0"/>
              <a:t>35 </a:t>
            </a:r>
            <a:r>
              <a:rPr lang="zh-CN" altLang="en-US" dirty="0"/>
              <a:t>深入研究了与弯曲、成型和弯曲印刷电路相关的机械和材料挑战，特别是针对非玻璃编织材料。他们的研究全面分析了弯曲过程中应变对铜层的影响及其对静态和动态应用的影响，强调了了解材料特性和铜在机械应力下的行为的重要性。同时，</a:t>
            </a:r>
            <a:r>
              <a:rPr lang="en-US" altLang="zh-CN" dirty="0" err="1"/>
              <a:t>Hirotaka</a:t>
            </a:r>
            <a:r>
              <a:rPr lang="en-US" altLang="zh-CN" dirty="0"/>
              <a:t> </a:t>
            </a:r>
            <a:r>
              <a:rPr lang="zh-CN" altLang="en-US" dirty="0"/>
              <a:t>等人 </a:t>
            </a:r>
            <a:r>
              <a:rPr lang="en-US" altLang="zh-CN" dirty="0"/>
              <a:t>36 </a:t>
            </a:r>
            <a:r>
              <a:rPr lang="zh-CN" altLang="en-US" dirty="0"/>
              <a:t>研究了基于 </a:t>
            </a:r>
            <a:r>
              <a:rPr lang="en-US" altLang="zh-CN" dirty="0"/>
              <a:t>FPC </a:t>
            </a:r>
            <a:r>
              <a:rPr lang="zh-CN" altLang="en-US" dirty="0"/>
              <a:t>的平面倒置 </a:t>
            </a:r>
            <a:r>
              <a:rPr lang="en-US" altLang="zh-CN" dirty="0"/>
              <a:t>F </a:t>
            </a:r>
            <a:r>
              <a:rPr lang="zh-CN" altLang="en-US" dirty="0"/>
              <a:t>天线 </a:t>
            </a:r>
            <a:r>
              <a:rPr lang="en-US" altLang="zh-CN" dirty="0"/>
              <a:t>(PIFA) </a:t>
            </a:r>
            <a:r>
              <a:rPr lang="zh-CN" altLang="en-US" dirty="0"/>
              <a:t>的性能特征，重点研究了它在受到机械变形时保持稳定辐射模式和效率的稳健性。他们的研究结果证实了天线适用于紧凑型移动设备，且性能下降最小。此外，</a:t>
            </a:r>
            <a:r>
              <a:rPr lang="en-US" altLang="zh-CN" dirty="0"/>
              <a:t>Ping </a:t>
            </a:r>
            <a:r>
              <a:rPr lang="zh-CN" altLang="en-US" dirty="0"/>
              <a:t>等人 </a:t>
            </a:r>
            <a:r>
              <a:rPr lang="en-US" altLang="zh-CN" dirty="0"/>
              <a:t>22 </a:t>
            </a:r>
            <a:r>
              <a:rPr lang="zh-CN" altLang="en-US" dirty="0"/>
              <a:t>确定了 </a:t>
            </a:r>
            <a:r>
              <a:rPr lang="en-US" altLang="zh-CN" dirty="0"/>
              <a:t>FPC </a:t>
            </a:r>
            <a:r>
              <a:rPr lang="zh-CN" altLang="en-US" dirty="0"/>
              <a:t>应用中常见的故障模式，例如通孔互连问题、走线裂缝和黑垫现象。他们提出了通过改进制造工艺、机械设计和动态应力分布来提高 </a:t>
            </a:r>
            <a:r>
              <a:rPr lang="en-US" altLang="zh-CN" dirty="0"/>
              <a:t>FPC </a:t>
            </a:r>
            <a:r>
              <a:rPr lang="zh-CN" altLang="en-US" dirty="0"/>
              <a:t>可靠性和质量的方法。总的来说，这些研究阐明了 </a:t>
            </a:r>
            <a:r>
              <a:rPr lang="en-US" altLang="zh-CN" dirty="0"/>
              <a:t>FPC </a:t>
            </a:r>
            <a:r>
              <a:rPr lang="zh-CN" altLang="en-US" dirty="0"/>
              <a:t>在先进电子领域设计和应用方面取得的重大进展和持续存在的挑战。基于这些对 </a:t>
            </a:r>
            <a:r>
              <a:rPr lang="en-US" altLang="zh-CN" dirty="0"/>
              <a:t>FPC </a:t>
            </a:r>
            <a:r>
              <a:rPr lang="zh-CN" altLang="en-US" dirty="0"/>
              <a:t>力学和变形的基础见解，进一步的研究专门针对柔性印刷电路板 </a:t>
            </a:r>
            <a:r>
              <a:rPr lang="en-US" altLang="zh-CN" dirty="0"/>
              <a:t>(FPCB) </a:t>
            </a:r>
            <a:r>
              <a:rPr lang="zh-CN" altLang="en-US" dirty="0"/>
              <a:t>的复杂性。最近的研究为这一领域做出了重大贡献。 </a:t>
            </a:r>
            <a:r>
              <a:rPr lang="en-US" altLang="zh-CN" dirty="0"/>
              <a:t>Chong </a:t>
            </a:r>
            <a:r>
              <a:rPr lang="zh-CN" altLang="en-US" dirty="0"/>
              <a:t>等人 </a:t>
            </a:r>
            <a:r>
              <a:rPr lang="en-US" altLang="zh-CN" dirty="0"/>
              <a:t>37 </a:t>
            </a:r>
            <a:r>
              <a:rPr lang="zh-CN" altLang="en-US" dirty="0"/>
              <a:t>深入研究了热条件下的传热和变形方面，使用流体结构相互作用进行模拟。</a:t>
            </a:r>
            <a:r>
              <a:rPr lang="en-US" altLang="zh-CN" dirty="0"/>
              <a:t>Leong </a:t>
            </a:r>
            <a:r>
              <a:rPr lang="zh-CN" altLang="en-US" dirty="0"/>
              <a:t>等人 </a:t>
            </a:r>
            <a:r>
              <a:rPr lang="en-US" altLang="zh-CN" dirty="0"/>
              <a:t>38 </a:t>
            </a:r>
            <a:r>
              <a:rPr lang="zh-CN" altLang="en-US" dirty="0"/>
              <a:t>旨在采用先进的方法优化 </a:t>
            </a:r>
            <a:r>
              <a:rPr lang="en-US" altLang="zh-CN" dirty="0"/>
              <a:t>FPCB </a:t>
            </a:r>
            <a:r>
              <a:rPr lang="zh-CN" altLang="en-US" dirty="0"/>
              <a:t>以减轻应力和挠度。</a:t>
            </a:r>
            <a:r>
              <a:rPr lang="en-US" altLang="zh-CN" dirty="0"/>
              <a:t>Alexander 39 </a:t>
            </a:r>
            <a:r>
              <a:rPr lang="zh-CN" altLang="en-US" dirty="0"/>
              <a:t>专注于 </a:t>
            </a:r>
            <a:r>
              <a:rPr lang="en-US" altLang="zh-CN" dirty="0"/>
              <a:t>FPC </a:t>
            </a:r>
            <a:r>
              <a:rPr lang="zh-CN" altLang="en-US" dirty="0"/>
              <a:t>的机械可靠性，特别是在动态环境中，将疲劳测试与计算分析相结合。</a:t>
            </a:r>
            <a:r>
              <a:rPr lang="en-US" altLang="zh-CN" dirty="0"/>
              <a:t>Liu </a:t>
            </a:r>
            <a:r>
              <a:rPr lang="zh-CN" altLang="en-US" dirty="0"/>
              <a:t>等人 </a:t>
            </a:r>
            <a:r>
              <a:rPr lang="en-US" altLang="zh-CN" dirty="0"/>
              <a:t>40 </a:t>
            </a:r>
            <a:r>
              <a:rPr lang="zh-CN" altLang="en-US" dirty="0"/>
              <a:t>研究了影响 </a:t>
            </a:r>
            <a:r>
              <a:rPr lang="en-US" altLang="zh-CN" dirty="0"/>
              <a:t>FPC </a:t>
            </a:r>
            <a:r>
              <a:rPr lang="zh-CN" altLang="en-US" dirty="0"/>
              <a:t>弯曲的因素，揭示了为材料和设计选择提供了重要见解。</a:t>
            </a:r>
            <a:r>
              <a:rPr lang="en-US" altLang="zh-CN" dirty="0"/>
              <a:t>Zhang </a:t>
            </a:r>
            <a:r>
              <a:rPr lang="zh-CN" altLang="en-US" dirty="0"/>
              <a:t>等人 </a:t>
            </a:r>
            <a:r>
              <a:rPr lang="en-US" altLang="zh-CN" dirty="0"/>
              <a:t>41 </a:t>
            </a:r>
            <a:r>
              <a:rPr lang="zh-CN" altLang="en-US" dirty="0"/>
              <a:t>探索了高加速度下刚挠结合 </a:t>
            </a:r>
            <a:r>
              <a:rPr lang="en-US" altLang="zh-CN" dirty="0"/>
              <a:t>PCB </a:t>
            </a:r>
            <a:r>
              <a:rPr lang="zh-CN" altLang="en-US" dirty="0"/>
              <a:t>的可靠性，揭示了应力动力学。</a:t>
            </a:r>
            <a:r>
              <a:rPr lang="en-US" altLang="zh-CN" dirty="0"/>
              <a:t>Lall </a:t>
            </a:r>
            <a:r>
              <a:rPr lang="zh-CN" altLang="en-US" dirty="0"/>
              <a:t>等人 </a:t>
            </a:r>
            <a:r>
              <a:rPr lang="en-US" altLang="zh-CN" dirty="0"/>
              <a:t>42 </a:t>
            </a:r>
            <a:r>
              <a:rPr lang="zh-CN" altLang="en-US" dirty="0"/>
              <a:t>研究了焊接过程中的变形挑战，而 </a:t>
            </a:r>
            <a:r>
              <a:rPr lang="en-US" altLang="zh-CN" dirty="0"/>
              <a:t>Muhammad </a:t>
            </a:r>
            <a:r>
              <a:rPr lang="zh-CN" altLang="en-US" dirty="0"/>
              <a:t>等人 </a:t>
            </a:r>
            <a:r>
              <a:rPr lang="en-US" altLang="zh-CN" dirty="0"/>
              <a:t>43 </a:t>
            </a:r>
            <a:r>
              <a:rPr lang="zh-CN" altLang="en-US" dirty="0"/>
              <a:t>评估了 </a:t>
            </a:r>
            <a:r>
              <a:rPr lang="en-US" altLang="zh-CN" dirty="0"/>
              <a:t>FPCB </a:t>
            </a:r>
            <a:r>
              <a:rPr lang="zh-CN" altLang="en-US" dirty="0"/>
              <a:t>的焊接后可靠性，强调了制造复杂性。这些研究共同促进了对微电子领域 </a:t>
            </a:r>
            <a:r>
              <a:rPr lang="en-US" altLang="zh-CN" dirty="0"/>
              <a:t>FPCB </a:t>
            </a:r>
            <a:r>
              <a:rPr lang="zh-CN" altLang="en-US" dirty="0"/>
              <a:t>的理解和设计。这项研究解决了理解和应用 </a:t>
            </a:r>
            <a:r>
              <a:rPr lang="en-US" altLang="zh-CN" dirty="0"/>
              <a:t>FPC </a:t>
            </a:r>
            <a:r>
              <a:rPr lang="zh-CN" altLang="en-US" dirty="0"/>
              <a:t>变形的关键差距。我们对不同条件下的 </a:t>
            </a:r>
            <a:r>
              <a:rPr lang="en-US" altLang="zh-CN" dirty="0"/>
              <a:t>FPC </a:t>
            </a:r>
            <a:r>
              <a:rPr lang="zh-CN" altLang="en-US" dirty="0"/>
              <a:t>曲率进行了广泛分析，这是以前研究不足的领域。我们的方法结合了使用 </a:t>
            </a:r>
            <a:r>
              <a:rPr lang="en-US" altLang="zh-CN" dirty="0"/>
              <a:t>Abaqus 2020 </a:t>
            </a:r>
            <a:r>
              <a:rPr lang="zh-CN" altLang="en-US" dirty="0"/>
              <a:t>进行变形行为分析的有限元法 </a:t>
            </a:r>
            <a:r>
              <a:rPr lang="en-US" altLang="zh-CN" dirty="0"/>
              <a:t>(FEM) </a:t>
            </a:r>
            <a:r>
              <a:rPr lang="zh-CN" altLang="en-US" dirty="0"/>
              <a:t>模拟和高级数学建模来检查 </a:t>
            </a:r>
            <a:r>
              <a:rPr lang="en-US" altLang="zh-CN" dirty="0"/>
              <a:t>FPC </a:t>
            </a:r>
            <a:r>
              <a:rPr lang="zh-CN" altLang="en-US" dirty="0"/>
              <a:t>上的曲率和空间分离。在我们的研究中，我们采用了雅可比矩阵迭代法，大大提高了预测 </a:t>
            </a:r>
            <a:r>
              <a:rPr lang="en-US" altLang="zh-CN" dirty="0"/>
              <a:t>FPC </a:t>
            </a:r>
            <a:r>
              <a:rPr lang="zh-CN" altLang="en-US" dirty="0"/>
              <a:t>曲率的精度。我们的发现对 </a:t>
            </a:r>
            <a:r>
              <a:rPr lang="en-US" altLang="zh-CN" dirty="0"/>
              <a:t>FPC </a:t>
            </a:r>
            <a:r>
              <a:rPr lang="zh-CN" altLang="en-US" dirty="0"/>
              <a:t>的设计和制造具有重要意义。它们强调了在 </a:t>
            </a:r>
            <a:r>
              <a:rPr lang="en-US" altLang="zh-CN" dirty="0"/>
              <a:t>FPC </a:t>
            </a:r>
            <a:r>
              <a:rPr lang="zh-CN" altLang="en-US" dirty="0"/>
              <a:t>和相邻组件之间保持自由接触空间以及优化曲率的必要性。这种方法对于防止机械应力、散热效率低下和物理损坏等问题至关重要，这些问题都会对电路功能和整体设备可靠性产生不利影响。此外，我们的研究确定了 </a:t>
            </a:r>
            <a:r>
              <a:rPr lang="en-US" altLang="zh-CN" dirty="0"/>
              <a:t>FPC </a:t>
            </a:r>
            <a:r>
              <a:rPr lang="zh-CN" altLang="en-US" dirty="0"/>
              <a:t>的理想长度，以最大限度地减少最大曲率，从而实现灵活性、结构完整性和可靠性之间的平衡。总之，我们的研究标志着 </a:t>
            </a:r>
            <a:r>
              <a:rPr lang="en-US" altLang="zh-CN" dirty="0"/>
              <a:t>FPC </a:t>
            </a:r>
            <a:r>
              <a:rPr lang="zh-CN" altLang="en-US" dirty="0"/>
              <a:t>研究的重大进步，提供了新的见解和方法。它旨在提高对各种条件下 </a:t>
            </a:r>
            <a:r>
              <a:rPr lang="en-US" altLang="zh-CN" dirty="0"/>
              <a:t>FPC </a:t>
            </a:r>
            <a:r>
              <a:rPr lang="zh-CN" altLang="en-US" dirty="0"/>
              <a:t>行为的理解，为未来的 </a:t>
            </a:r>
            <a:r>
              <a:rPr lang="en-US" altLang="zh-CN" dirty="0"/>
              <a:t>FPC </a:t>
            </a:r>
            <a:r>
              <a:rPr lang="zh-CN" altLang="en-US" dirty="0"/>
              <a:t>设计和应用增强奠定基础，为电子设计和制造领域的设备寿命和性能做出重大贡献。</a:t>
            </a:r>
            <a:endParaRPr lang="en-US" altLang="zh-CN" dirty="0"/>
          </a:p>
          <a:p>
            <a:endParaRPr lang="en-US" altLang="zh-CN" dirty="0"/>
          </a:p>
          <a:p>
            <a:endParaRPr lang="en-US" altLang="zh-CN" dirty="0"/>
          </a:p>
          <a:p>
            <a:endParaRPr lang="en-US" altLang="zh-CN" dirty="0"/>
          </a:p>
          <a:p>
            <a:endParaRPr lang="en-US" altLang="zh-CN" dirty="0"/>
          </a:p>
          <a:p>
            <a:r>
              <a:rPr lang="zh-CN" altLang="en-US" dirty="0"/>
              <a:t>图 </a:t>
            </a:r>
            <a:r>
              <a:rPr lang="en-US" altLang="zh-CN" dirty="0"/>
              <a:t>1. </a:t>
            </a:r>
            <a:r>
              <a:rPr lang="zh-CN" altLang="en-US" dirty="0"/>
              <a:t>基于液态金属的个性化柔性印刷电子产品。“可植入设备”：液态金属神经连接 </a:t>
            </a:r>
            <a:r>
              <a:rPr lang="en-US" altLang="zh-CN" dirty="0"/>
              <a:t>[35] (https://arxiv.org/abs/1404.5931)</a:t>
            </a:r>
            <a:r>
              <a:rPr lang="zh-CN" altLang="en-US" dirty="0"/>
              <a:t>；可注射 </a:t>
            </a:r>
            <a:r>
              <a:rPr lang="en-US" altLang="zh-CN" dirty="0"/>
              <a:t>3D </a:t>
            </a:r>
            <a:r>
              <a:rPr lang="zh-CN" altLang="en-US" dirty="0"/>
              <a:t>生物电极 </a:t>
            </a:r>
            <a:r>
              <a:rPr lang="en-US" altLang="zh-CN" dirty="0"/>
              <a:t>[54]</a:t>
            </a:r>
            <a:r>
              <a:rPr lang="zh-CN" altLang="en-US" dirty="0"/>
              <a:t>（经 </a:t>
            </a:r>
            <a:r>
              <a:rPr lang="en-US" altLang="zh-CN" dirty="0"/>
              <a:t>Jin, C.; Liu, J. et al. </a:t>
            </a:r>
            <a:r>
              <a:rPr lang="zh-CN" altLang="en-US" dirty="0"/>
              <a:t>许可转载，在目标生物组织中可注射 </a:t>
            </a:r>
            <a:r>
              <a:rPr lang="en-US" altLang="zh-CN" dirty="0"/>
              <a:t>3D </a:t>
            </a:r>
            <a:r>
              <a:rPr lang="zh-CN" altLang="en-US" dirty="0"/>
              <a:t>制造医疗电子产品；由 </a:t>
            </a:r>
            <a:r>
              <a:rPr lang="en-US" altLang="zh-CN" dirty="0"/>
              <a:t>Scientific Reports </a:t>
            </a:r>
            <a:r>
              <a:rPr lang="zh-CN" altLang="en-US" dirty="0"/>
              <a:t>于 </a:t>
            </a:r>
            <a:r>
              <a:rPr lang="en-US" altLang="zh-CN" dirty="0"/>
              <a:t>2013 </a:t>
            </a:r>
            <a:r>
              <a:rPr lang="zh-CN" altLang="en-US" dirty="0"/>
              <a:t>年发表。）；液态金属重连神经的电生理测量 </a:t>
            </a:r>
            <a:r>
              <a:rPr lang="en-US" altLang="zh-CN" dirty="0"/>
              <a:t>[36]</a:t>
            </a:r>
            <a:r>
              <a:rPr lang="zh-CN" altLang="en-US" dirty="0"/>
              <a:t>；“电皮肤”：人体上的液态金属电路 </a:t>
            </a:r>
            <a:r>
              <a:rPr lang="en-US" altLang="zh-CN" dirty="0"/>
              <a:t>[55]</a:t>
            </a:r>
            <a:r>
              <a:rPr lang="zh-CN" altLang="en-US" dirty="0"/>
              <a:t>（经 </a:t>
            </a:r>
            <a:r>
              <a:rPr lang="en-US" altLang="zh-CN" dirty="0"/>
              <a:t>Guo, C.; Liu, J. et al. </a:t>
            </a:r>
            <a:r>
              <a:rPr lang="zh-CN" altLang="en-US" dirty="0"/>
              <a:t>许可转载，通过液态金属喷涂和预先设计的掩模在皮肤基底上快速图案化导电元件作为生理测试设备；由 </a:t>
            </a:r>
            <a:r>
              <a:rPr lang="en-US" altLang="zh-CN" dirty="0"/>
              <a:t>Journal of </a:t>
            </a:r>
            <a:r>
              <a:rPr lang="en-US" altLang="zh-CN" dirty="0" err="1"/>
              <a:t>Mterials</a:t>
            </a:r>
            <a:r>
              <a:rPr lang="en-US" altLang="zh-CN" dirty="0"/>
              <a:t> Chemistry B </a:t>
            </a:r>
            <a:r>
              <a:rPr lang="zh-CN" altLang="en-US" dirty="0"/>
              <a:t>于 </a:t>
            </a:r>
            <a:r>
              <a:rPr lang="en-US" altLang="zh-CN" dirty="0"/>
              <a:t>2014 </a:t>
            </a:r>
            <a:r>
              <a:rPr lang="zh-CN" altLang="en-US" dirty="0"/>
              <a:t>年发表。）；人体皮肤上的液态金属标签 </a:t>
            </a:r>
            <a:r>
              <a:rPr lang="en-US" altLang="zh-CN" dirty="0"/>
              <a:t>[56]</a:t>
            </a:r>
            <a:r>
              <a:rPr lang="zh-CN" altLang="en-US" dirty="0"/>
              <a:t>（经 </a:t>
            </a:r>
            <a:r>
              <a:rPr lang="en-US" altLang="zh-CN" dirty="0"/>
              <a:t>Jeong, S.H.; Wu, Z. et al., Liquid Alloy Printing of Microfluidic Stable Electronics </a:t>
            </a:r>
            <a:r>
              <a:rPr lang="zh-CN" altLang="en-US" dirty="0"/>
              <a:t>许可转载；</a:t>
            </a:r>
            <a:r>
              <a:rPr lang="en-US" altLang="zh-CN" dirty="0"/>
              <a:t>Lab on a Chip</a:t>
            </a:r>
            <a:r>
              <a:rPr lang="zh-CN" altLang="en-US" dirty="0"/>
              <a:t>，</a:t>
            </a:r>
            <a:r>
              <a:rPr lang="en-US" altLang="zh-CN" dirty="0"/>
              <a:t>2012 </a:t>
            </a:r>
            <a:r>
              <a:rPr lang="zh-CN" altLang="en-US" dirty="0"/>
              <a:t>年出版）；通过液态金属电极进行心电图测试 </a:t>
            </a:r>
            <a:r>
              <a:rPr lang="en-US" altLang="zh-CN" dirty="0"/>
              <a:t>[57]</a:t>
            </a:r>
            <a:r>
              <a:rPr lang="zh-CN" altLang="en-US" dirty="0"/>
              <a:t>（经 </a:t>
            </a:r>
            <a:r>
              <a:rPr lang="en-US" altLang="zh-CN" dirty="0"/>
              <a:t>Yu, Y.; Zhang, J.; Liu, J., Biomedical Implementation of Liquid Metal Ink as Drawable ECG Electrode and Skin Circuit </a:t>
            </a:r>
            <a:r>
              <a:rPr lang="zh-CN" altLang="en-US" dirty="0"/>
              <a:t>许可转载；</a:t>
            </a:r>
            <a:r>
              <a:rPr lang="en-US" altLang="zh-CN" dirty="0" err="1"/>
              <a:t>PLoS</a:t>
            </a:r>
            <a:r>
              <a:rPr lang="en-US" altLang="zh-CN" dirty="0"/>
              <a:t> ONE</a:t>
            </a:r>
            <a:r>
              <a:rPr lang="zh-CN" altLang="en-US" dirty="0"/>
              <a:t>，</a:t>
            </a:r>
            <a:r>
              <a:rPr lang="en-US" altLang="zh-CN" dirty="0"/>
              <a:t>2013 </a:t>
            </a:r>
            <a:r>
              <a:rPr lang="zh-CN" altLang="en-US" dirty="0"/>
              <a:t>年出版）；“可穿戴生物电子学”：液态金属腕带 </a:t>
            </a:r>
            <a:r>
              <a:rPr lang="en-US" altLang="zh-CN" dirty="0"/>
              <a:t>[58]</a:t>
            </a:r>
            <a:r>
              <a:rPr lang="zh-CN" altLang="en-US" dirty="0"/>
              <a:t>（经 </a:t>
            </a:r>
            <a:r>
              <a:rPr lang="en-US" altLang="zh-CN" dirty="0"/>
              <a:t>Wang, Q.; Yu, Y.; Yang, J.; Liu, J., Fast Fabrication of Flexible Functional Circuits based on Liquid Metal Dual-Trans Printing </a:t>
            </a:r>
            <a:r>
              <a:rPr lang="zh-CN" altLang="en-US" dirty="0"/>
              <a:t>许可转载；</a:t>
            </a:r>
            <a:r>
              <a:rPr lang="en-US" altLang="zh-CN" dirty="0"/>
              <a:t>Advanced Material</a:t>
            </a:r>
            <a:r>
              <a:rPr lang="zh-CN" altLang="en-US" dirty="0"/>
              <a:t>，</a:t>
            </a:r>
            <a:r>
              <a:rPr lang="en-US" altLang="zh-CN" dirty="0"/>
              <a:t>2015 </a:t>
            </a:r>
            <a:r>
              <a:rPr lang="zh-CN" altLang="en-US" dirty="0"/>
              <a:t>年出版）；可穿戴数据手套 </a:t>
            </a:r>
            <a:r>
              <a:rPr lang="en-US" altLang="zh-CN" dirty="0"/>
              <a:t>[59]</a:t>
            </a:r>
            <a:r>
              <a:rPr lang="zh-CN" altLang="en-US" dirty="0"/>
              <a:t>（经 </a:t>
            </a:r>
            <a:r>
              <a:rPr lang="en-US" altLang="zh-CN" dirty="0"/>
              <a:t>Matsuzaki, R.; </a:t>
            </a:r>
            <a:r>
              <a:rPr lang="en-US" altLang="zh-CN" dirty="0" err="1"/>
              <a:t>Tabayashi</a:t>
            </a:r>
            <a:r>
              <a:rPr lang="en-US" altLang="zh-CN" dirty="0"/>
              <a:t>, K. </a:t>
            </a:r>
            <a:r>
              <a:rPr lang="zh-CN" altLang="en-US" dirty="0"/>
              <a:t>许可转载，用于可穿戴电子产品的高拉伸、全局和分布式局部应变传感线，使用增益电极；</a:t>
            </a:r>
            <a:r>
              <a:rPr lang="en-US" altLang="zh-CN" dirty="0"/>
              <a:t>Advanced Functional Material</a:t>
            </a:r>
            <a:r>
              <a:rPr lang="zh-CN" altLang="en-US" dirty="0"/>
              <a:t>，</a:t>
            </a:r>
            <a:r>
              <a:rPr lang="en-US" altLang="zh-CN" dirty="0"/>
              <a:t>2015 </a:t>
            </a:r>
            <a:r>
              <a:rPr lang="zh-CN" altLang="en-US" dirty="0"/>
              <a:t>年出版）；鞋类嵌入式微流体能量收集 </a:t>
            </a:r>
            <a:r>
              <a:rPr lang="en-US" altLang="zh-CN" dirty="0"/>
              <a:t>[60]</a:t>
            </a:r>
            <a:r>
              <a:rPr lang="zh-CN" altLang="en-US" dirty="0"/>
              <a:t>（经 </a:t>
            </a:r>
            <a:r>
              <a:rPr lang="en-US" altLang="zh-CN" dirty="0" err="1"/>
              <a:t>Krupenkin</a:t>
            </a:r>
            <a:r>
              <a:rPr lang="en-US" altLang="zh-CN" dirty="0"/>
              <a:t>, T.; Taylor, J.A. </a:t>
            </a:r>
            <a:r>
              <a:rPr lang="zh-CN" altLang="en-US" dirty="0"/>
              <a:t>许可转载，反向电润湿作为高功率能量收集的新方法；</a:t>
            </a:r>
            <a:r>
              <a:rPr lang="en-US" altLang="zh-CN" dirty="0"/>
              <a:t>Nature Communication</a:t>
            </a:r>
            <a:r>
              <a:rPr lang="zh-CN" altLang="en-US" dirty="0"/>
              <a:t>，</a:t>
            </a:r>
            <a:r>
              <a:rPr lang="en-US" altLang="zh-CN" dirty="0"/>
              <a:t>2011 </a:t>
            </a:r>
            <a:r>
              <a:rPr lang="zh-CN" altLang="en-US" dirty="0"/>
              <a:t>年出版）目前主要以镓及其合金为代表，具有电阻率高、弯曲性强、粘附性低、表面张力大等特性，在当代电子学中，柔性印刷电路 </a:t>
            </a:r>
            <a:r>
              <a:rPr lang="en-US" altLang="zh-CN" dirty="0"/>
              <a:t>(FPC) </a:t>
            </a:r>
            <a:r>
              <a:rPr lang="zh-CN" altLang="en-US" dirty="0"/>
              <a:t>已成为关键，改变了电子设备的设计和功能 </a:t>
            </a:r>
            <a:r>
              <a:rPr lang="en-US" altLang="zh-CN" dirty="0"/>
              <a:t>1,2,3</a:t>
            </a:r>
            <a:r>
              <a:rPr lang="zh-CN" altLang="en-US" dirty="0"/>
              <a:t>。这些电路超越了传统的刚性柔性印刷电路板 </a:t>
            </a:r>
            <a:r>
              <a:rPr lang="en-US" altLang="zh-CN" dirty="0"/>
              <a:t>(PCB)</a:t>
            </a:r>
            <a:r>
              <a:rPr lang="zh-CN" altLang="en-US" dirty="0"/>
              <a:t>，由于采用聚酰亚胺等柔韧的高质量材料构造，因此具有无与伦比的灵活性和适应性。它们能够折叠或扭曲成小空间或不规则空间，从而提高了在物理压力下的耐用性。</a:t>
            </a:r>
            <a:r>
              <a:rPr lang="en-US" altLang="zh-CN" dirty="0"/>
              <a:t>FPC </a:t>
            </a:r>
            <a:r>
              <a:rPr lang="zh-CN" altLang="en-US" dirty="0"/>
              <a:t>的空间和重量效率特别有利，可将多个刚性板和线路整合成更轻、更紧凑的组件 </a:t>
            </a:r>
            <a:r>
              <a:rPr lang="en-US" altLang="zh-CN" dirty="0"/>
              <a:t>4</a:t>
            </a:r>
            <a:r>
              <a:rPr lang="zh-CN" altLang="en-US" dirty="0"/>
              <a:t>、</a:t>
            </a:r>
            <a:r>
              <a:rPr lang="en-US" altLang="zh-CN" dirty="0"/>
              <a:t>5</a:t>
            </a:r>
            <a:r>
              <a:rPr lang="zh-CN" altLang="en-US" dirty="0"/>
              <a:t>、</a:t>
            </a:r>
            <a:r>
              <a:rPr lang="en-US" altLang="zh-CN" dirty="0"/>
              <a:t>6</a:t>
            </a:r>
            <a:r>
              <a:rPr lang="zh-CN" altLang="en-US" dirty="0"/>
              <a:t>。这在航空航天、可穿戴技术和移动设备等必须减少空间和重量的领域至关重要。此外，它们固有的灵活性使它们可用于动态应用，而不会牺牲电路性能或完整性。它们的应用涵盖各个行业，如图 </a:t>
            </a:r>
            <a:r>
              <a:rPr lang="en-US" altLang="zh-CN" dirty="0"/>
              <a:t>17 </a:t>
            </a:r>
            <a:r>
              <a:rPr lang="zh-CN" altLang="en-US" dirty="0"/>
              <a:t>所示。在医疗领域，</a:t>
            </a:r>
            <a:r>
              <a:rPr lang="en-US" altLang="zh-CN" dirty="0"/>
              <a:t>FPC </a:t>
            </a:r>
            <a:r>
              <a:rPr lang="zh-CN" altLang="en-US" dirty="0"/>
              <a:t>有助于实现传感器和植入物等紧凑、灵活的设备，从而提高患者的舒适度和效率 </a:t>
            </a:r>
            <a:r>
              <a:rPr lang="en-US" altLang="zh-CN" dirty="0"/>
              <a:t>8</a:t>
            </a:r>
            <a:r>
              <a:rPr lang="zh-CN" altLang="en-US" dirty="0"/>
              <a:t>、</a:t>
            </a:r>
            <a:r>
              <a:rPr lang="en-US" altLang="zh-CN" dirty="0"/>
              <a:t>9</a:t>
            </a:r>
            <a:r>
              <a:rPr lang="zh-CN" altLang="en-US" dirty="0"/>
              <a:t>、</a:t>
            </a:r>
            <a:r>
              <a:rPr lang="en-US" altLang="zh-CN" dirty="0"/>
              <a:t>10</a:t>
            </a:r>
            <a:r>
              <a:rPr lang="zh-CN" altLang="en-US" dirty="0"/>
              <a:t>、</a:t>
            </a:r>
            <a:r>
              <a:rPr lang="en-US" altLang="zh-CN" dirty="0"/>
              <a:t>11</a:t>
            </a:r>
            <a:r>
              <a:rPr lang="zh-CN" altLang="en-US" dirty="0"/>
              <a:t>。汽车行业将它们用于仪表板显示器和传感器网络等系统中，看重它们对振动和温度变化的抵抗力。在消费电子产品中，</a:t>
            </a:r>
            <a:r>
              <a:rPr lang="en-US" altLang="zh-CN" dirty="0"/>
              <a:t>FPC </a:t>
            </a:r>
            <a:r>
              <a:rPr lang="zh-CN" altLang="en-US" dirty="0"/>
              <a:t>是智能手机、平板电脑和笔记本电脑实现轻薄化的关键</a:t>
            </a:r>
            <a:r>
              <a:rPr lang="en-US" altLang="zh-CN" dirty="0"/>
              <a:t>12</a:t>
            </a:r>
            <a:r>
              <a:rPr lang="zh-CN" altLang="en-US" dirty="0"/>
              <a:t>、</a:t>
            </a:r>
            <a:r>
              <a:rPr lang="en-US" altLang="zh-CN" dirty="0"/>
              <a:t>13</a:t>
            </a:r>
            <a:r>
              <a:rPr lang="zh-CN" altLang="en-US" dirty="0"/>
              <a:t>、</a:t>
            </a:r>
            <a:r>
              <a:rPr lang="en-US" altLang="zh-CN" dirty="0"/>
              <a:t>14</a:t>
            </a:r>
            <a:r>
              <a:rPr lang="zh-CN" altLang="en-US" dirty="0"/>
              <a:t>、</a:t>
            </a:r>
            <a:r>
              <a:rPr lang="en-US" altLang="zh-CN" dirty="0"/>
              <a:t>15</a:t>
            </a:r>
            <a:r>
              <a:rPr lang="zh-CN" altLang="en-US" dirty="0"/>
              <a:t>。此外，它们也是新兴柔性和可穿戴电子产品领域的核心，可实现符合人体工程学设计和人体运动的创新设备</a:t>
            </a:r>
            <a:r>
              <a:rPr lang="en-US" altLang="zh-CN" dirty="0"/>
              <a:t>16</a:t>
            </a:r>
            <a:r>
              <a:rPr lang="zh-CN" altLang="en-US" dirty="0"/>
              <a:t>、</a:t>
            </a:r>
            <a:r>
              <a:rPr lang="en-US" altLang="zh-CN" dirty="0"/>
              <a:t>17</a:t>
            </a:r>
            <a:r>
              <a:rPr lang="zh-CN" altLang="en-US" dirty="0"/>
              <a:t>、</a:t>
            </a:r>
            <a:r>
              <a:rPr lang="en-US" altLang="zh-CN" dirty="0"/>
              <a:t>18</a:t>
            </a:r>
            <a:r>
              <a:rPr lang="zh-CN" altLang="en-US" dirty="0"/>
              <a:t>、</a:t>
            </a:r>
            <a:r>
              <a:rPr lang="en-US" altLang="zh-CN" dirty="0"/>
              <a:t>19</a:t>
            </a:r>
            <a:r>
              <a:rPr lang="zh-CN" altLang="en-US" dirty="0"/>
              <a:t>、</a:t>
            </a:r>
            <a:r>
              <a:rPr lang="en-US" altLang="zh-CN" dirty="0"/>
              <a:t>20</a:t>
            </a:r>
            <a:r>
              <a:rPr lang="zh-CN" altLang="en-US" dirty="0"/>
              <a:t>。</a:t>
            </a:r>
          </a:p>
        </p:txBody>
      </p:sp>
      <p:sp>
        <p:nvSpPr>
          <p:cNvPr id="4" name="灯片编号占位符 3">
            <a:extLst>
              <a:ext uri="{FF2B5EF4-FFF2-40B4-BE49-F238E27FC236}">
                <a16:creationId xmlns:a16="http://schemas.microsoft.com/office/drawing/2014/main" id="{CA6C8D36-E9AD-AD88-963A-BA4DFFF0FBB2}"/>
              </a:ext>
            </a:extLst>
          </p:cNvPr>
          <p:cNvSpPr>
            <a:spLocks noGrp="1"/>
          </p:cNvSpPr>
          <p:nvPr>
            <p:ph type="sldNum" sz="quarter" idx="5"/>
          </p:nvPr>
        </p:nvSpPr>
        <p:spPr/>
        <p:txBody>
          <a:bodyPr/>
          <a:lstStyle/>
          <a:p>
            <a:fld id="{84918B77-9CB1-4C48-BED5-B02F24F09A98}" type="slidenum">
              <a:rPr lang="zh-CN" altLang="en-US" smtClean="0"/>
              <a:t>37</a:t>
            </a:fld>
            <a:endParaRPr lang="zh-CN" altLang="en-US"/>
          </a:p>
        </p:txBody>
      </p:sp>
    </p:spTree>
    <p:extLst>
      <p:ext uri="{BB962C8B-B14F-4D97-AF65-F5344CB8AC3E}">
        <p14:creationId xmlns:p14="http://schemas.microsoft.com/office/powerpoint/2010/main" val="195851195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2D4515-A520-1078-9B28-31B0CD14246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3AB6500-6012-7095-1AA5-83252A00067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9AB3225-2C1C-15D3-1208-9D9CE4686210}"/>
              </a:ext>
            </a:extLst>
          </p:cNvPr>
          <p:cNvSpPr>
            <a:spLocks noGrp="1"/>
          </p:cNvSpPr>
          <p:nvPr>
            <p:ph type="body" idx="1"/>
          </p:nvPr>
        </p:nvSpPr>
        <p:spPr/>
        <p:txBody>
          <a:bodyPr/>
          <a:lstStyle/>
          <a:p>
            <a:r>
              <a:rPr lang="zh-CN" altLang="en-US" dirty="0"/>
              <a:t>除了有源传感材料外，柔性印刷电路板对于将柔性电子设备集成到功能齐全的系统中也起着重要作用；它们集成了各种电子元件，如微控制器（处理）、转换器（电源管理）、闪存（数据存储）、天线（电信）和电池（电源）</a:t>
            </a:r>
            <a:r>
              <a:rPr lang="en-US" altLang="zh-CN" dirty="0"/>
              <a:t>[15,18,288,289]</a:t>
            </a:r>
            <a:r>
              <a:rPr lang="zh-CN" altLang="en-US" dirty="0"/>
              <a:t>，以及基板和封装材料，如聚酰亚胺 </a:t>
            </a:r>
            <a:r>
              <a:rPr lang="en-US" altLang="zh-CN" dirty="0"/>
              <a:t>(PI) </a:t>
            </a:r>
            <a:r>
              <a:rPr lang="zh-CN" altLang="en-US" dirty="0"/>
              <a:t>和 </a:t>
            </a:r>
            <a:r>
              <a:rPr lang="en-US" altLang="zh-CN" dirty="0"/>
              <a:t>PET [288]</a:t>
            </a:r>
            <a:r>
              <a:rPr lang="zh-CN" altLang="en-US" dirty="0"/>
              <a:t>。柔性印刷电路板通常重量轻且高度可靠，并且可以小型化到厘米级，用于众多可穿戴监测应用 </a:t>
            </a:r>
            <a:r>
              <a:rPr lang="en-US" altLang="zh-CN" dirty="0"/>
              <a:t>[15,289]</a:t>
            </a:r>
            <a:r>
              <a:rPr lang="zh-CN" altLang="en-US" dirty="0"/>
              <a:t>。设计的电路可以通过激光烧蚀 </a:t>
            </a:r>
            <a:r>
              <a:rPr lang="en-US" altLang="zh-CN" dirty="0"/>
              <a:t>[290]</a:t>
            </a:r>
            <a:r>
              <a:rPr lang="zh-CN" altLang="en-US" dirty="0"/>
              <a:t>、丝网印刷 </a:t>
            </a:r>
            <a:r>
              <a:rPr lang="en-US" altLang="zh-CN" dirty="0"/>
              <a:t>[291]</a:t>
            </a:r>
            <a:r>
              <a:rPr lang="zh-CN" altLang="en-US" dirty="0"/>
              <a:t>、光刻后湿法蚀刻 </a:t>
            </a:r>
            <a:r>
              <a:rPr lang="en-US" altLang="zh-CN" dirty="0"/>
              <a:t>[292] </a:t>
            </a:r>
            <a:r>
              <a:rPr lang="zh-CN" altLang="en-US" dirty="0"/>
              <a:t>或液态金属模板印刷 </a:t>
            </a:r>
            <a:r>
              <a:rPr lang="en-US" altLang="zh-CN" dirty="0"/>
              <a:t>[234] </a:t>
            </a:r>
            <a:r>
              <a:rPr lang="zh-CN" altLang="en-US" dirty="0"/>
              <a:t>图案化到柔性</a:t>
            </a:r>
            <a:r>
              <a:rPr lang="en-US" altLang="zh-CN" dirty="0"/>
              <a:t>/</a:t>
            </a:r>
            <a:r>
              <a:rPr lang="zh-CN" altLang="en-US" dirty="0"/>
              <a:t>可拉伸基板上。例如，用于测量脑脊液分流器血流量的非侵入式皮肤安装传感器平台的柔性印刷电路板（图 </a:t>
            </a:r>
            <a:r>
              <a:rPr lang="en-US" altLang="zh-CN" dirty="0"/>
              <a:t>8a</a:t>
            </a:r>
            <a:r>
              <a:rPr lang="zh-CN" altLang="en-US" dirty="0"/>
              <a:t>）是通过激光图案化 </a:t>
            </a:r>
            <a:r>
              <a:rPr lang="en-US" altLang="zh-CN" dirty="0"/>
              <a:t>Cu/PI/Cu </a:t>
            </a:r>
            <a:r>
              <a:rPr lang="zh-CN" altLang="en-US" dirty="0"/>
              <a:t>三层制成的。集成电子元件、温度和流量传感器的整个装置尺寸为 </a:t>
            </a:r>
            <a:r>
              <a:rPr lang="en-US" altLang="zh-CN" dirty="0"/>
              <a:t>1.8 cm x 4.1 cm</a:t>
            </a:r>
            <a:r>
              <a:rPr lang="zh-CN" altLang="en-US" dirty="0"/>
              <a:t>，厚度约为 </a:t>
            </a:r>
            <a:r>
              <a:rPr lang="en-US" altLang="zh-CN" dirty="0"/>
              <a:t>100 µm</a:t>
            </a:r>
            <a:r>
              <a:rPr lang="zh-CN" altLang="en-US" dirty="0"/>
              <a:t>（不包括 </a:t>
            </a:r>
            <a:r>
              <a:rPr lang="en-US" altLang="zh-CN" dirty="0"/>
              <a:t>4 mm </a:t>
            </a:r>
            <a:r>
              <a:rPr lang="zh-CN" altLang="en-US" dirty="0"/>
              <a:t>厚的电池），重量为 </a:t>
            </a:r>
            <a:r>
              <a:rPr lang="en-US" altLang="zh-CN" dirty="0"/>
              <a:t>680 mg</a:t>
            </a:r>
            <a:r>
              <a:rPr lang="zh-CN" altLang="en-US" dirty="0"/>
              <a:t>（包括 </a:t>
            </a:r>
            <a:r>
              <a:rPr lang="en-US" altLang="zh-CN" dirty="0"/>
              <a:t>330 mg </a:t>
            </a:r>
            <a:r>
              <a:rPr lang="zh-CN" altLang="en-US" dirty="0"/>
              <a:t>电池）</a:t>
            </a:r>
            <a:r>
              <a:rPr lang="en-US" altLang="zh-CN" dirty="0"/>
              <a:t>[15]</a:t>
            </a:r>
            <a:r>
              <a:rPr lang="zh-CN" altLang="en-US" dirty="0"/>
              <a:t>。该装置在柔性印刷电路板上集成了软传感元件、锂聚合物电池、蓝牙芯片和电源调节器，为连续血流监测提供保形接触和无线传输</a:t>
            </a:r>
            <a:r>
              <a:rPr lang="en-US" altLang="zh-CN" dirty="0"/>
              <a:t>[15]</a:t>
            </a:r>
            <a:r>
              <a:rPr lang="zh-CN" altLang="en-US" dirty="0"/>
              <a:t>。</a:t>
            </a:r>
          </a:p>
        </p:txBody>
      </p:sp>
      <p:sp>
        <p:nvSpPr>
          <p:cNvPr id="4" name="灯片编号占位符 3">
            <a:extLst>
              <a:ext uri="{FF2B5EF4-FFF2-40B4-BE49-F238E27FC236}">
                <a16:creationId xmlns:a16="http://schemas.microsoft.com/office/drawing/2014/main" id="{B50B5460-74ED-FC32-EDC8-30A7139B66D2}"/>
              </a:ext>
            </a:extLst>
          </p:cNvPr>
          <p:cNvSpPr>
            <a:spLocks noGrp="1"/>
          </p:cNvSpPr>
          <p:nvPr>
            <p:ph type="sldNum" sz="quarter" idx="5"/>
          </p:nvPr>
        </p:nvSpPr>
        <p:spPr/>
        <p:txBody>
          <a:bodyPr/>
          <a:lstStyle/>
          <a:p>
            <a:fld id="{84918B77-9CB1-4C48-BED5-B02F24F09A98}" type="slidenum">
              <a:rPr lang="zh-CN" altLang="en-US" smtClean="0"/>
              <a:t>38</a:t>
            </a:fld>
            <a:endParaRPr lang="zh-CN" altLang="en-US"/>
          </a:p>
        </p:txBody>
      </p:sp>
    </p:spTree>
    <p:extLst>
      <p:ext uri="{BB962C8B-B14F-4D97-AF65-F5344CB8AC3E}">
        <p14:creationId xmlns:p14="http://schemas.microsoft.com/office/powerpoint/2010/main" val="353430993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178BE-24FF-E199-9290-AD97B17F237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33DB1AC-9EDF-0EB4-FC90-0BD97EE3215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77C93CF-9884-7ADB-4A09-702B0EB8FC60}"/>
              </a:ext>
            </a:extLst>
          </p:cNvPr>
          <p:cNvSpPr>
            <a:spLocks noGrp="1"/>
          </p:cNvSpPr>
          <p:nvPr>
            <p:ph type="body" idx="1"/>
          </p:nvPr>
        </p:nvSpPr>
        <p:spPr/>
        <p:txBody>
          <a:bodyPr/>
          <a:lstStyle/>
          <a:p>
            <a:r>
              <a:rPr lang="zh-CN" altLang="en-US" dirty="0"/>
              <a:t>除了有源传感材料外，柔性印刷电路板对于将柔性电子设备集成到功能齐全的系统中也起着重要作用；它们集成了各种电子元件，如微控制器（处理）、转换器（电源管理）、闪存（数据存储）、天线（电信）和电池（电源）</a:t>
            </a:r>
            <a:r>
              <a:rPr lang="en-US" altLang="zh-CN" dirty="0"/>
              <a:t>[15,18,288,289]</a:t>
            </a:r>
            <a:r>
              <a:rPr lang="zh-CN" altLang="en-US" dirty="0"/>
              <a:t>，以及基板和封装材料，如聚酰亚胺 </a:t>
            </a:r>
            <a:r>
              <a:rPr lang="en-US" altLang="zh-CN" dirty="0"/>
              <a:t>(PI) </a:t>
            </a:r>
            <a:r>
              <a:rPr lang="zh-CN" altLang="en-US" dirty="0"/>
              <a:t>和 </a:t>
            </a:r>
            <a:r>
              <a:rPr lang="en-US" altLang="zh-CN" dirty="0"/>
              <a:t>PET [288]</a:t>
            </a:r>
            <a:r>
              <a:rPr lang="zh-CN" altLang="en-US" dirty="0"/>
              <a:t>。柔性印刷电路板通常重量轻且高度可靠，并且可以小型化到厘米级，用于众多可穿戴监测应用 </a:t>
            </a:r>
            <a:r>
              <a:rPr lang="en-US" altLang="zh-CN" dirty="0"/>
              <a:t>[15,289]</a:t>
            </a:r>
            <a:r>
              <a:rPr lang="zh-CN" altLang="en-US" dirty="0"/>
              <a:t>。设计的电路可以通过激光烧蚀 </a:t>
            </a:r>
            <a:r>
              <a:rPr lang="en-US" altLang="zh-CN" dirty="0"/>
              <a:t>[290]</a:t>
            </a:r>
            <a:r>
              <a:rPr lang="zh-CN" altLang="en-US" dirty="0"/>
              <a:t>、丝网印刷 </a:t>
            </a:r>
            <a:r>
              <a:rPr lang="en-US" altLang="zh-CN" dirty="0"/>
              <a:t>[291]</a:t>
            </a:r>
            <a:r>
              <a:rPr lang="zh-CN" altLang="en-US" dirty="0"/>
              <a:t>、光刻后湿法蚀刻 </a:t>
            </a:r>
            <a:r>
              <a:rPr lang="en-US" altLang="zh-CN" dirty="0"/>
              <a:t>[292] </a:t>
            </a:r>
            <a:r>
              <a:rPr lang="zh-CN" altLang="en-US" dirty="0"/>
              <a:t>或液态金属模板印刷 </a:t>
            </a:r>
            <a:r>
              <a:rPr lang="en-US" altLang="zh-CN" dirty="0"/>
              <a:t>[234] </a:t>
            </a:r>
            <a:r>
              <a:rPr lang="zh-CN" altLang="en-US" dirty="0"/>
              <a:t>图案化到柔性</a:t>
            </a:r>
            <a:r>
              <a:rPr lang="en-US" altLang="zh-CN" dirty="0"/>
              <a:t>/</a:t>
            </a:r>
            <a:r>
              <a:rPr lang="zh-CN" altLang="en-US" dirty="0"/>
              <a:t>可拉伸基板上。例如，用于测量脑脊液分流器血流量的非侵入式皮肤安装传感器平台的柔性印刷电路板（图 </a:t>
            </a:r>
            <a:r>
              <a:rPr lang="en-US" altLang="zh-CN" dirty="0"/>
              <a:t>8a</a:t>
            </a:r>
            <a:r>
              <a:rPr lang="zh-CN" altLang="en-US" dirty="0"/>
              <a:t>）是通过激光图案化 </a:t>
            </a:r>
            <a:r>
              <a:rPr lang="en-US" altLang="zh-CN" dirty="0"/>
              <a:t>Cu/PI/Cu </a:t>
            </a:r>
            <a:r>
              <a:rPr lang="zh-CN" altLang="en-US" dirty="0"/>
              <a:t>三层制成的。集成电子元件、温度和流量传感器的整个装置尺寸为 </a:t>
            </a:r>
            <a:r>
              <a:rPr lang="en-US" altLang="zh-CN" dirty="0"/>
              <a:t>1.8 cm x 4.1 cm</a:t>
            </a:r>
            <a:r>
              <a:rPr lang="zh-CN" altLang="en-US" dirty="0"/>
              <a:t>，厚度约为 </a:t>
            </a:r>
            <a:r>
              <a:rPr lang="en-US" altLang="zh-CN" dirty="0"/>
              <a:t>100 µm</a:t>
            </a:r>
            <a:r>
              <a:rPr lang="zh-CN" altLang="en-US" dirty="0"/>
              <a:t>（不包括 </a:t>
            </a:r>
            <a:r>
              <a:rPr lang="en-US" altLang="zh-CN" dirty="0"/>
              <a:t>4 mm </a:t>
            </a:r>
            <a:r>
              <a:rPr lang="zh-CN" altLang="en-US" dirty="0"/>
              <a:t>厚的电池），重量为 </a:t>
            </a:r>
            <a:r>
              <a:rPr lang="en-US" altLang="zh-CN" dirty="0"/>
              <a:t>680 mg</a:t>
            </a:r>
            <a:r>
              <a:rPr lang="zh-CN" altLang="en-US" dirty="0"/>
              <a:t>（包括 </a:t>
            </a:r>
            <a:r>
              <a:rPr lang="en-US" altLang="zh-CN" dirty="0"/>
              <a:t>330 mg </a:t>
            </a:r>
            <a:r>
              <a:rPr lang="zh-CN" altLang="en-US" dirty="0"/>
              <a:t>电池）</a:t>
            </a:r>
            <a:r>
              <a:rPr lang="en-US" altLang="zh-CN" dirty="0"/>
              <a:t>[15]</a:t>
            </a:r>
            <a:r>
              <a:rPr lang="zh-CN" altLang="en-US" dirty="0"/>
              <a:t>。该装置在柔性印刷电路板上集成了软传感元件、锂聚合物电池、蓝牙芯片和电源调节器，为连续血流监测提供保形接触和无线传输</a:t>
            </a:r>
            <a:r>
              <a:rPr lang="en-US" altLang="zh-CN" dirty="0"/>
              <a:t>[15]</a:t>
            </a:r>
            <a:r>
              <a:rPr lang="zh-CN" altLang="en-US" dirty="0"/>
              <a:t>。</a:t>
            </a:r>
          </a:p>
        </p:txBody>
      </p:sp>
      <p:sp>
        <p:nvSpPr>
          <p:cNvPr id="4" name="灯片编号占位符 3">
            <a:extLst>
              <a:ext uri="{FF2B5EF4-FFF2-40B4-BE49-F238E27FC236}">
                <a16:creationId xmlns:a16="http://schemas.microsoft.com/office/drawing/2014/main" id="{70395D4B-066C-D224-9A85-5BDCD087CB32}"/>
              </a:ext>
            </a:extLst>
          </p:cNvPr>
          <p:cNvSpPr>
            <a:spLocks noGrp="1"/>
          </p:cNvSpPr>
          <p:nvPr>
            <p:ph type="sldNum" sz="quarter" idx="5"/>
          </p:nvPr>
        </p:nvSpPr>
        <p:spPr/>
        <p:txBody>
          <a:bodyPr/>
          <a:lstStyle/>
          <a:p>
            <a:fld id="{84918B77-9CB1-4C48-BED5-B02F24F09A98}" type="slidenum">
              <a:rPr lang="zh-CN" altLang="en-US" smtClean="0"/>
              <a:t>39</a:t>
            </a:fld>
            <a:endParaRPr lang="zh-CN" altLang="en-US"/>
          </a:p>
        </p:txBody>
      </p:sp>
    </p:spTree>
    <p:extLst>
      <p:ext uri="{BB962C8B-B14F-4D97-AF65-F5344CB8AC3E}">
        <p14:creationId xmlns:p14="http://schemas.microsoft.com/office/powerpoint/2010/main" val="216252703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8F6CE-2BE3-93CB-6F29-71706760BFE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34BADD4-8FC0-62FA-ADBE-CC95D1F7017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6B71FA7-060D-7082-8B7C-02A62B6A765D}"/>
              </a:ext>
            </a:extLst>
          </p:cNvPr>
          <p:cNvSpPr>
            <a:spLocks noGrp="1"/>
          </p:cNvSpPr>
          <p:nvPr>
            <p:ph type="body" idx="1"/>
          </p:nvPr>
        </p:nvSpPr>
        <p:spPr/>
        <p:txBody>
          <a:bodyPr/>
          <a:lstStyle/>
          <a:p>
            <a:r>
              <a:rPr lang="zh-CN" altLang="en-US" dirty="0"/>
              <a:t>除了有源传感材料外，柔性印刷电路板对于将柔性电子设备集成到功能齐全的系统中也起着重要作用；它们集成了各种电子元件，如微控制器（处理）、转换器（电源管理）、闪存（数据存储）、天线（电信）和电池（电源）</a:t>
            </a:r>
            <a:r>
              <a:rPr lang="en-US" altLang="zh-CN" dirty="0"/>
              <a:t>[15,18,288,289]</a:t>
            </a:r>
            <a:r>
              <a:rPr lang="zh-CN" altLang="en-US" dirty="0"/>
              <a:t>，以及基板和封装材料，如聚酰亚胺 </a:t>
            </a:r>
            <a:r>
              <a:rPr lang="en-US" altLang="zh-CN" dirty="0"/>
              <a:t>(PI) </a:t>
            </a:r>
            <a:r>
              <a:rPr lang="zh-CN" altLang="en-US" dirty="0"/>
              <a:t>和 </a:t>
            </a:r>
            <a:r>
              <a:rPr lang="en-US" altLang="zh-CN" dirty="0"/>
              <a:t>PET [288]</a:t>
            </a:r>
            <a:r>
              <a:rPr lang="zh-CN" altLang="en-US" dirty="0"/>
              <a:t>。柔性印刷电路板通常重量轻且高度可靠，并且可以小型化到厘米级，用于众多可穿戴监测应用 </a:t>
            </a:r>
            <a:r>
              <a:rPr lang="en-US" altLang="zh-CN" dirty="0"/>
              <a:t>[15,289]</a:t>
            </a:r>
            <a:r>
              <a:rPr lang="zh-CN" altLang="en-US" dirty="0"/>
              <a:t>。设计的电路可以通过激光烧蚀 </a:t>
            </a:r>
            <a:r>
              <a:rPr lang="en-US" altLang="zh-CN" dirty="0"/>
              <a:t>[290]</a:t>
            </a:r>
            <a:r>
              <a:rPr lang="zh-CN" altLang="en-US" dirty="0"/>
              <a:t>、丝网印刷 </a:t>
            </a:r>
            <a:r>
              <a:rPr lang="en-US" altLang="zh-CN" dirty="0"/>
              <a:t>[291]</a:t>
            </a:r>
            <a:r>
              <a:rPr lang="zh-CN" altLang="en-US" dirty="0"/>
              <a:t>、光刻后湿法蚀刻 </a:t>
            </a:r>
            <a:r>
              <a:rPr lang="en-US" altLang="zh-CN" dirty="0"/>
              <a:t>[292] </a:t>
            </a:r>
            <a:r>
              <a:rPr lang="zh-CN" altLang="en-US" dirty="0"/>
              <a:t>或液态金属模板印刷 </a:t>
            </a:r>
            <a:r>
              <a:rPr lang="en-US" altLang="zh-CN" dirty="0"/>
              <a:t>[234] </a:t>
            </a:r>
            <a:r>
              <a:rPr lang="zh-CN" altLang="en-US" dirty="0"/>
              <a:t>图案化到柔性</a:t>
            </a:r>
            <a:r>
              <a:rPr lang="en-US" altLang="zh-CN" dirty="0"/>
              <a:t>/</a:t>
            </a:r>
            <a:r>
              <a:rPr lang="zh-CN" altLang="en-US" dirty="0"/>
              <a:t>可拉伸基板上。例如，用于测量脑脊液分流器血流量的非侵入式皮肤安装传感器平台的柔性印刷电路板（图 </a:t>
            </a:r>
            <a:r>
              <a:rPr lang="en-US" altLang="zh-CN" dirty="0"/>
              <a:t>8a</a:t>
            </a:r>
            <a:r>
              <a:rPr lang="zh-CN" altLang="en-US" dirty="0"/>
              <a:t>）是通过激光图案化 </a:t>
            </a:r>
            <a:r>
              <a:rPr lang="en-US" altLang="zh-CN" dirty="0"/>
              <a:t>Cu/PI/Cu </a:t>
            </a:r>
            <a:r>
              <a:rPr lang="zh-CN" altLang="en-US" dirty="0"/>
              <a:t>三层制成的。集成电子元件、温度和流量传感器的整个装置尺寸为 </a:t>
            </a:r>
            <a:r>
              <a:rPr lang="en-US" altLang="zh-CN" dirty="0"/>
              <a:t>1.8 cm x 4.1 cm</a:t>
            </a:r>
            <a:r>
              <a:rPr lang="zh-CN" altLang="en-US" dirty="0"/>
              <a:t>，厚度约为 </a:t>
            </a:r>
            <a:r>
              <a:rPr lang="en-US" altLang="zh-CN" dirty="0"/>
              <a:t>100 µm</a:t>
            </a:r>
            <a:r>
              <a:rPr lang="zh-CN" altLang="en-US" dirty="0"/>
              <a:t>（不包括 </a:t>
            </a:r>
            <a:r>
              <a:rPr lang="en-US" altLang="zh-CN" dirty="0"/>
              <a:t>4 mm </a:t>
            </a:r>
            <a:r>
              <a:rPr lang="zh-CN" altLang="en-US" dirty="0"/>
              <a:t>厚的电池），重量为 </a:t>
            </a:r>
            <a:r>
              <a:rPr lang="en-US" altLang="zh-CN" dirty="0"/>
              <a:t>680 mg</a:t>
            </a:r>
            <a:r>
              <a:rPr lang="zh-CN" altLang="en-US" dirty="0"/>
              <a:t>（包括 </a:t>
            </a:r>
            <a:r>
              <a:rPr lang="en-US" altLang="zh-CN" dirty="0"/>
              <a:t>330 mg </a:t>
            </a:r>
            <a:r>
              <a:rPr lang="zh-CN" altLang="en-US" dirty="0"/>
              <a:t>电池）</a:t>
            </a:r>
            <a:r>
              <a:rPr lang="en-US" altLang="zh-CN" dirty="0"/>
              <a:t>[15]</a:t>
            </a:r>
            <a:r>
              <a:rPr lang="zh-CN" altLang="en-US" dirty="0"/>
              <a:t>。该装置在柔性印刷电路板上集成了软传感元件、锂聚合物电池、蓝牙芯片和电源调节器，为连续血流监测提供保形接触和无线传输</a:t>
            </a:r>
            <a:r>
              <a:rPr lang="en-US" altLang="zh-CN" dirty="0"/>
              <a:t>[15]</a:t>
            </a:r>
            <a:r>
              <a:rPr lang="zh-CN" altLang="en-US" dirty="0"/>
              <a:t>。</a:t>
            </a:r>
          </a:p>
        </p:txBody>
      </p:sp>
      <p:sp>
        <p:nvSpPr>
          <p:cNvPr id="4" name="灯片编号占位符 3">
            <a:extLst>
              <a:ext uri="{FF2B5EF4-FFF2-40B4-BE49-F238E27FC236}">
                <a16:creationId xmlns:a16="http://schemas.microsoft.com/office/drawing/2014/main" id="{9494DDC5-BB72-32A0-DEA6-5152E184A743}"/>
              </a:ext>
            </a:extLst>
          </p:cNvPr>
          <p:cNvSpPr>
            <a:spLocks noGrp="1"/>
          </p:cNvSpPr>
          <p:nvPr>
            <p:ph type="sldNum" sz="quarter" idx="5"/>
          </p:nvPr>
        </p:nvSpPr>
        <p:spPr/>
        <p:txBody>
          <a:bodyPr/>
          <a:lstStyle/>
          <a:p>
            <a:fld id="{84918B77-9CB1-4C48-BED5-B02F24F09A98}" type="slidenum">
              <a:rPr lang="zh-CN" altLang="en-US" smtClean="0"/>
              <a:t>40</a:t>
            </a:fld>
            <a:endParaRPr lang="zh-CN" altLang="en-US"/>
          </a:p>
        </p:txBody>
      </p:sp>
    </p:spTree>
    <p:extLst>
      <p:ext uri="{BB962C8B-B14F-4D97-AF65-F5344CB8AC3E}">
        <p14:creationId xmlns:p14="http://schemas.microsoft.com/office/powerpoint/2010/main" val="349582061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0AEAF-5861-2DC0-529F-67E09CD6C87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192249B-1DCC-00D1-CB89-53D81C85AFB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B766711-F9B4-038B-F780-0EDBFB80ADCD}"/>
              </a:ext>
            </a:extLst>
          </p:cNvPr>
          <p:cNvSpPr>
            <a:spLocks noGrp="1"/>
          </p:cNvSpPr>
          <p:nvPr>
            <p:ph type="body" idx="1"/>
          </p:nvPr>
        </p:nvSpPr>
        <p:spPr/>
        <p:txBody>
          <a:bodyPr/>
          <a:lstStyle/>
          <a:p>
            <a:r>
              <a:rPr lang="zh-CN" altLang="en-US" dirty="0"/>
              <a:t>除了有源传感材料外，柔性印刷电路板对于将柔性电子设备集成到功能齐全的系统中也起着重要作用；它们集成了各种电子元件，如微控制器（处理）、转换器（电源管理）、闪存（数据存储）、天线（电信）和电池（电源）</a:t>
            </a:r>
            <a:r>
              <a:rPr lang="en-US" altLang="zh-CN" dirty="0"/>
              <a:t>[15,18,288,289]</a:t>
            </a:r>
            <a:r>
              <a:rPr lang="zh-CN" altLang="en-US" dirty="0"/>
              <a:t>，以及基板和封装材料，如聚酰亚胺 </a:t>
            </a:r>
            <a:r>
              <a:rPr lang="en-US" altLang="zh-CN" dirty="0"/>
              <a:t>(PI) </a:t>
            </a:r>
            <a:r>
              <a:rPr lang="zh-CN" altLang="en-US" dirty="0"/>
              <a:t>和 </a:t>
            </a:r>
            <a:r>
              <a:rPr lang="en-US" altLang="zh-CN" dirty="0"/>
              <a:t>PET [288]</a:t>
            </a:r>
            <a:r>
              <a:rPr lang="zh-CN" altLang="en-US" dirty="0"/>
              <a:t>。柔性印刷电路板通常重量轻且高度可靠，并且可以小型化到厘米级，用于众多可穿戴监测应用 </a:t>
            </a:r>
            <a:r>
              <a:rPr lang="en-US" altLang="zh-CN" dirty="0"/>
              <a:t>[15,289]</a:t>
            </a:r>
            <a:r>
              <a:rPr lang="zh-CN" altLang="en-US" dirty="0"/>
              <a:t>。设计的电路可以通过激光烧蚀 </a:t>
            </a:r>
            <a:r>
              <a:rPr lang="en-US" altLang="zh-CN" dirty="0"/>
              <a:t>[290]</a:t>
            </a:r>
            <a:r>
              <a:rPr lang="zh-CN" altLang="en-US" dirty="0"/>
              <a:t>、丝网印刷 </a:t>
            </a:r>
            <a:r>
              <a:rPr lang="en-US" altLang="zh-CN" dirty="0"/>
              <a:t>[291]</a:t>
            </a:r>
            <a:r>
              <a:rPr lang="zh-CN" altLang="en-US" dirty="0"/>
              <a:t>、光刻后湿法蚀刻 </a:t>
            </a:r>
            <a:r>
              <a:rPr lang="en-US" altLang="zh-CN" dirty="0"/>
              <a:t>[292] </a:t>
            </a:r>
            <a:r>
              <a:rPr lang="zh-CN" altLang="en-US" dirty="0"/>
              <a:t>或液态金属模板印刷 </a:t>
            </a:r>
            <a:r>
              <a:rPr lang="en-US" altLang="zh-CN" dirty="0"/>
              <a:t>[234] </a:t>
            </a:r>
            <a:r>
              <a:rPr lang="zh-CN" altLang="en-US" dirty="0"/>
              <a:t>图案化到柔性</a:t>
            </a:r>
            <a:r>
              <a:rPr lang="en-US" altLang="zh-CN" dirty="0"/>
              <a:t>/</a:t>
            </a:r>
            <a:r>
              <a:rPr lang="zh-CN" altLang="en-US" dirty="0"/>
              <a:t>可拉伸基板上。例如，用于测量脑脊液分流器血流量的非侵入式皮肤安装传感器平台的柔性印刷电路板（图 </a:t>
            </a:r>
            <a:r>
              <a:rPr lang="en-US" altLang="zh-CN" dirty="0"/>
              <a:t>8a</a:t>
            </a:r>
            <a:r>
              <a:rPr lang="zh-CN" altLang="en-US" dirty="0"/>
              <a:t>）是通过激光图案化 </a:t>
            </a:r>
            <a:r>
              <a:rPr lang="en-US" altLang="zh-CN" dirty="0"/>
              <a:t>Cu/PI/Cu </a:t>
            </a:r>
            <a:r>
              <a:rPr lang="zh-CN" altLang="en-US" dirty="0"/>
              <a:t>三层制成的。集成电子元件、温度和流量传感器的整个装置尺寸为 </a:t>
            </a:r>
            <a:r>
              <a:rPr lang="en-US" altLang="zh-CN" dirty="0"/>
              <a:t>1.8 cm x 4.1 cm</a:t>
            </a:r>
            <a:r>
              <a:rPr lang="zh-CN" altLang="en-US" dirty="0"/>
              <a:t>，厚度约为 </a:t>
            </a:r>
            <a:r>
              <a:rPr lang="en-US" altLang="zh-CN" dirty="0"/>
              <a:t>100 µm</a:t>
            </a:r>
            <a:r>
              <a:rPr lang="zh-CN" altLang="en-US" dirty="0"/>
              <a:t>（不包括 </a:t>
            </a:r>
            <a:r>
              <a:rPr lang="en-US" altLang="zh-CN" dirty="0"/>
              <a:t>4 mm </a:t>
            </a:r>
            <a:r>
              <a:rPr lang="zh-CN" altLang="en-US" dirty="0"/>
              <a:t>厚的电池），重量为 </a:t>
            </a:r>
            <a:r>
              <a:rPr lang="en-US" altLang="zh-CN" dirty="0"/>
              <a:t>680 mg</a:t>
            </a:r>
            <a:r>
              <a:rPr lang="zh-CN" altLang="en-US" dirty="0"/>
              <a:t>（包括 </a:t>
            </a:r>
            <a:r>
              <a:rPr lang="en-US" altLang="zh-CN" dirty="0"/>
              <a:t>330 mg </a:t>
            </a:r>
            <a:r>
              <a:rPr lang="zh-CN" altLang="en-US" dirty="0"/>
              <a:t>电池）</a:t>
            </a:r>
            <a:r>
              <a:rPr lang="en-US" altLang="zh-CN" dirty="0"/>
              <a:t>[15]</a:t>
            </a:r>
            <a:r>
              <a:rPr lang="zh-CN" altLang="en-US" dirty="0"/>
              <a:t>。该装置在柔性印刷电路板上集成了软传感元件、锂聚合物电池、蓝牙芯片和电源调节器，为连续血流监测提供保形接触和无线传输</a:t>
            </a:r>
            <a:r>
              <a:rPr lang="en-US" altLang="zh-CN" dirty="0"/>
              <a:t>[15]</a:t>
            </a:r>
            <a:r>
              <a:rPr lang="zh-CN" altLang="en-US" dirty="0"/>
              <a:t>。</a:t>
            </a:r>
          </a:p>
        </p:txBody>
      </p:sp>
      <p:sp>
        <p:nvSpPr>
          <p:cNvPr id="4" name="灯片编号占位符 3">
            <a:extLst>
              <a:ext uri="{FF2B5EF4-FFF2-40B4-BE49-F238E27FC236}">
                <a16:creationId xmlns:a16="http://schemas.microsoft.com/office/drawing/2014/main" id="{AE851895-93BA-4106-C0D4-845B603C2DFE}"/>
              </a:ext>
            </a:extLst>
          </p:cNvPr>
          <p:cNvSpPr>
            <a:spLocks noGrp="1"/>
          </p:cNvSpPr>
          <p:nvPr>
            <p:ph type="sldNum" sz="quarter" idx="5"/>
          </p:nvPr>
        </p:nvSpPr>
        <p:spPr/>
        <p:txBody>
          <a:bodyPr/>
          <a:lstStyle/>
          <a:p>
            <a:fld id="{84918B77-9CB1-4C48-BED5-B02F24F09A98}" type="slidenum">
              <a:rPr lang="zh-CN" altLang="en-US" smtClean="0"/>
              <a:t>41</a:t>
            </a:fld>
            <a:endParaRPr lang="zh-CN" altLang="en-US"/>
          </a:p>
        </p:txBody>
      </p:sp>
    </p:spTree>
    <p:extLst>
      <p:ext uri="{BB962C8B-B14F-4D97-AF65-F5344CB8AC3E}">
        <p14:creationId xmlns:p14="http://schemas.microsoft.com/office/powerpoint/2010/main" val="129213861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FDCD7-9381-8E0F-C404-EC113301CE4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E4DA274-0AA6-07B8-B6B2-64CA6578E02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FBBE9B2-FF80-B3B6-D845-E8B0E8753B8C}"/>
              </a:ext>
            </a:extLst>
          </p:cNvPr>
          <p:cNvSpPr>
            <a:spLocks noGrp="1"/>
          </p:cNvSpPr>
          <p:nvPr>
            <p:ph type="body" idx="1"/>
          </p:nvPr>
        </p:nvSpPr>
        <p:spPr/>
        <p:txBody>
          <a:bodyPr/>
          <a:lstStyle/>
          <a:p>
            <a:r>
              <a:rPr lang="zh-CN" altLang="en-US" dirty="0"/>
              <a:t>用于柔性电子产品的导电无机材料金属具有高导电性，通常用作薄膜形式的柔性电子产品的活性传感材料 </a:t>
            </a:r>
            <a:r>
              <a:rPr lang="en-US" altLang="zh-CN" dirty="0"/>
              <a:t>[252]</a:t>
            </a:r>
            <a:r>
              <a:rPr lang="zh-CN" altLang="en-US" dirty="0"/>
              <a:t>。常用的金属薄膜包括金 </a:t>
            </a:r>
            <a:r>
              <a:rPr lang="en-US" altLang="zh-CN" dirty="0"/>
              <a:t>[27,224,253,254]</a:t>
            </a:r>
            <a:r>
              <a:rPr lang="zh-CN" altLang="en-US" dirty="0"/>
              <a:t>、铜 </a:t>
            </a:r>
            <a:r>
              <a:rPr lang="en-US" altLang="zh-CN" dirty="0"/>
              <a:t>[254] </a:t>
            </a:r>
            <a:r>
              <a:rPr lang="zh-CN" altLang="en-US" dirty="0"/>
              <a:t>和铂 </a:t>
            </a:r>
            <a:r>
              <a:rPr lang="en-US" altLang="zh-CN" dirty="0"/>
              <a:t>[223,255]</a:t>
            </a:r>
            <a:r>
              <a:rPr lang="zh-CN" altLang="en-US" dirty="0"/>
              <a:t>，它们通过物理气相沉积（电子束蒸发或溅射沉积）制成，厚度约为几十到几百纳米。通常在基板和传感金属膜之间沉积一层超薄粘附层（如 </a:t>
            </a:r>
            <a:r>
              <a:rPr lang="en-US" altLang="zh-CN" dirty="0"/>
              <a:t>Cr </a:t>
            </a:r>
            <a:r>
              <a:rPr lang="zh-CN" altLang="en-US" dirty="0"/>
              <a:t>或 </a:t>
            </a:r>
            <a:r>
              <a:rPr lang="en-US" altLang="zh-CN" dirty="0"/>
              <a:t>Ti</a:t>
            </a:r>
            <a:r>
              <a:rPr lang="zh-CN" altLang="en-US" dirty="0"/>
              <a:t>，厚度为 </a:t>
            </a:r>
            <a:r>
              <a:rPr lang="en-US" altLang="zh-CN" dirty="0"/>
              <a:t>5-20 </a:t>
            </a:r>
            <a:r>
              <a:rPr lang="zh-CN" altLang="en-US" dirty="0"/>
              <a:t>纳米），以改善物理和电接触 </a:t>
            </a:r>
            <a:r>
              <a:rPr lang="en-US" altLang="zh-CN" dirty="0"/>
              <a:t>[256]</a:t>
            </a:r>
            <a:r>
              <a:rPr lang="zh-CN" altLang="en-US" dirty="0"/>
              <a:t>。基于薄金属膜的柔性电子产品可以通过使用光刻、电化学沉积和激光图案化等技术制成所需的图案（例如螺旋、蛇形或叉指几何形状），以提高其可拉伸性 </a:t>
            </a:r>
            <a:r>
              <a:rPr lang="en-US" altLang="zh-CN" dirty="0"/>
              <a:t>[224,227,254]</a:t>
            </a:r>
            <a:r>
              <a:rPr lang="zh-CN" altLang="en-US" dirty="0"/>
              <a:t>。例如，</a:t>
            </a:r>
            <a:r>
              <a:rPr lang="en-US" altLang="zh-CN" dirty="0"/>
              <a:t>100 </a:t>
            </a:r>
            <a:r>
              <a:rPr lang="zh-CN" altLang="en-US" dirty="0"/>
              <a:t>纳米厚的金薄膜被光刻成 </a:t>
            </a:r>
            <a:r>
              <a:rPr lang="en-US" altLang="zh-CN" dirty="0"/>
              <a:t>10 </a:t>
            </a:r>
            <a:r>
              <a:rPr lang="zh-CN" altLang="en-US" dirty="0"/>
              <a:t>毫米宽的导电迹线，并形成一个总半径为 </a:t>
            </a:r>
            <a:r>
              <a:rPr lang="en-US" altLang="zh-CN" dirty="0"/>
              <a:t>0.5 </a:t>
            </a:r>
            <a:r>
              <a:rPr lang="zh-CN" altLang="en-US" dirty="0"/>
              <a:t>毫米的微型螺旋热传感器 </a:t>
            </a:r>
            <a:r>
              <a:rPr lang="en-US" altLang="zh-CN" dirty="0"/>
              <a:t>[253]</a:t>
            </a:r>
            <a:r>
              <a:rPr lang="zh-CN" altLang="en-US" dirty="0"/>
              <a:t>。由金电极和具有丝状蛇形设计的互连线组成的多功能表皮电子系统被共形安装在皮肤上，并在机械变形（压缩和拉伸）下保持其功能（图 </a:t>
            </a:r>
            <a:r>
              <a:rPr lang="en-US" altLang="zh-CN" dirty="0"/>
              <a:t>5a</a:t>
            </a:r>
            <a:r>
              <a:rPr lang="zh-CN" altLang="en-US" dirty="0"/>
              <a:t>）</a:t>
            </a:r>
            <a:r>
              <a:rPr lang="en-US" altLang="zh-CN" dirty="0"/>
              <a:t>[225]</a:t>
            </a:r>
            <a:r>
              <a:rPr lang="zh-CN" altLang="en-US" dirty="0"/>
              <a:t>。该表皮电子系统包含多功能传感器（温度、应变、心电图 </a:t>
            </a:r>
            <a:r>
              <a:rPr lang="en-US" altLang="zh-CN" dirty="0"/>
              <a:t>[ECG] </a:t>
            </a:r>
            <a:r>
              <a:rPr lang="zh-CN" altLang="en-US" dirty="0"/>
              <a:t>和肌电图 </a:t>
            </a:r>
            <a:r>
              <a:rPr lang="en-US" altLang="zh-CN" dirty="0"/>
              <a:t>[EMG]</a:t>
            </a:r>
            <a:r>
              <a:rPr lang="zh-CN" altLang="en-US" dirty="0"/>
              <a:t>）、无线电力线圈和用于无线通信的射频组件。其他示例包括由蛇形金迹线（厚度：</a:t>
            </a:r>
            <a:r>
              <a:rPr lang="en-US" altLang="zh-CN" dirty="0"/>
              <a:t>100 </a:t>
            </a:r>
            <a:r>
              <a:rPr lang="zh-CN" altLang="en-US" dirty="0"/>
              <a:t>纳米；宽度：</a:t>
            </a:r>
            <a:r>
              <a:rPr lang="en-US" altLang="zh-CN" dirty="0"/>
              <a:t>40 </a:t>
            </a:r>
            <a:r>
              <a:rPr lang="zh-CN" altLang="en-US" dirty="0"/>
              <a:t>毫米）组成的柔软、耐压温度传感器（图 </a:t>
            </a:r>
            <a:r>
              <a:rPr lang="en-US" altLang="zh-CN" dirty="0"/>
              <a:t>5b</a:t>
            </a:r>
            <a:r>
              <a:rPr lang="zh-CN" altLang="en-US" dirty="0"/>
              <a:t>），可在大静水压力和盐度环境下运行，用于海洋勘探 </a:t>
            </a:r>
            <a:r>
              <a:rPr lang="en-US" altLang="zh-CN" dirty="0"/>
              <a:t>[27]</a:t>
            </a:r>
            <a:r>
              <a:rPr lang="zh-CN" altLang="en-US" dirty="0"/>
              <a:t>。最近，人们开始探索将可生物降解的金属薄膜（如 </a:t>
            </a:r>
            <a:r>
              <a:rPr lang="en-US" altLang="zh-CN" dirty="0"/>
              <a:t>Mg</a:t>
            </a:r>
            <a:r>
              <a:rPr lang="zh-CN" altLang="en-US" dirty="0"/>
              <a:t>、</a:t>
            </a:r>
            <a:r>
              <a:rPr lang="en-US" altLang="zh-CN" dirty="0"/>
              <a:t>Zn</a:t>
            </a:r>
            <a:r>
              <a:rPr lang="zh-CN" altLang="en-US" dirty="0"/>
              <a:t>、</a:t>
            </a:r>
            <a:r>
              <a:rPr lang="en-US" altLang="zh-CN" dirty="0"/>
              <a:t>Fe</a:t>
            </a:r>
            <a:r>
              <a:rPr lang="zh-CN" altLang="en-US" dirty="0"/>
              <a:t>、</a:t>
            </a:r>
            <a:r>
              <a:rPr lang="en-US" altLang="zh-CN" dirty="0"/>
              <a:t>W </a:t>
            </a:r>
            <a:r>
              <a:rPr lang="zh-CN" altLang="en-US" dirty="0"/>
              <a:t>和 </a:t>
            </a:r>
            <a:r>
              <a:rPr lang="en-US" altLang="zh-CN" dirty="0"/>
              <a:t>Mo</a:t>
            </a:r>
            <a:r>
              <a:rPr lang="zh-CN" altLang="en-US" dirty="0"/>
              <a:t>）用于瞬态电子器件 </a:t>
            </a:r>
            <a:r>
              <a:rPr lang="en-US" altLang="zh-CN" dirty="0"/>
              <a:t>[257]</a:t>
            </a:r>
            <a:r>
              <a:rPr lang="zh-CN" altLang="en-US" dirty="0"/>
              <a:t>，这些薄膜可以溶解在生物流体中，溶解速率可控 </a:t>
            </a:r>
            <a:r>
              <a:rPr lang="en-US" altLang="zh-CN" dirty="0"/>
              <a:t>[258]</a:t>
            </a:r>
            <a:r>
              <a:rPr lang="zh-CN" altLang="en-US" dirty="0"/>
              <a:t>。瞬态电子器件在植入式医疗设备等应用中显示出巨大的潜力，因为它们具有微创性、能够实时监测，并且无需进行拔除手术 </a:t>
            </a:r>
            <a:r>
              <a:rPr lang="en-US" altLang="zh-CN" dirty="0"/>
              <a:t>[17]</a:t>
            </a:r>
            <a:r>
              <a:rPr lang="zh-CN" altLang="en-US" dirty="0"/>
              <a:t>。除了薄金属膜外，硅（应用最广泛的半导体）在柔性电子器件中也很受欢迎，因为它具有优异的半导体特性和可调的电导率。硅基传感器的几何形状和厚度通常以某种方式设计（例如蛇形几何形状和纳米级厚度），以提高其灵活性。一个例子是硅纳米膜（</a:t>
            </a:r>
            <a:r>
              <a:rPr lang="en-US" altLang="zh-CN" dirty="0"/>
              <a:t>320 </a:t>
            </a:r>
            <a:r>
              <a:rPr lang="zh-CN" altLang="en-US" dirty="0"/>
              <a:t>纳米厚）的图案化掺杂，它形成了 </a:t>
            </a:r>
            <a:r>
              <a:rPr lang="en-US" altLang="zh-CN" dirty="0"/>
              <a:t>PIN </a:t>
            </a:r>
            <a:r>
              <a:rPr lang="zh-CN" altLang="en-US" dirty="0"/>
              <a:t>二极管（组合的 </a:t>
            </a:r>
            <a:r>
              <a:rPr lang="en-US" altLang="zh-CN" dirty="0"/>
              <a:t>p </a:t>
            </a:r>
            <a:r>
              <a:rPr lang="zh-CN" altLang="en-US" dirty="0"/>
              <a:t>型</a:t>
            </a:r>
            <a:r>
              <a:rPr lang="en-US" altLang="zh-CN" dirty="0"/>
              <a:t>/</a:t>
            </a:r>
            <a:r>
              <a:rPr lang="zh-CN" altLang="en-US" dirty="0"/>
              <a:t>本征</a:t>
            </a:r>
            <a:r>
              <a:rPr lang="en-US" altLang="zh-CN" dirty="0"/>
              <a:t>/n </a:t>
            </a:r>
            <a:r>
              <a:rPr lang="zh-CN" altLang="en-US" dirty="0"/>
              <a:t>型半导体，</a:t>
            </a:r>
            <a:r>
              <a:rPr lang="en-US" altLang="zh-CN" dirty="0"/>
              <a:t>100 </a:t>
            </a:r>
            <a:r>
              <a:rPr lang="zh-CN" altLang="en-US" dirty="0"/>
              <a:t>毫米 </a:t>
            </a:r>
            <a:r>
              <a:rPr lang="en-US" altLang="zh-CN" dirty="0"/>
              <a:t>200 </a:t>
            </a:r>
            <a:r>
              <a:rPr lang="zh-CN" altLang="en-US" dirty="0"/>
              <a:t>毫米），用于温度传感和多路复用数据采集 </a:t>
            </a:r>
            <a:r>
              <a:rPr lang="en-US" altLang="zh-CN" dirty="0"/>
              <a:t>[224]</a:t>
            </a:r>
            <a:r>
              <a:rPr lang="zh-CN" altLang="en-US" dirty="0"/>
              <a:t>（图 </a:t>
            </a:r>
            <a:r>
              <a:rPr lang="en-US" altLang="zh-CN" dirty="0"/>
              <a:t>5c</a:t>
            </a:r>
            <a:r>
              <a:rPr lang="zh-CN" altLang="en-US" dirty="0"/>
              <a:t>）。硅纳米膜也可用作压阻传感元件 </a:t>
            </a:r>
            <a:r>
              <a:rPr lang="en-US" altLang="zh-CN" dirty="0"/>
              <a:t>[16,233,259] </a:t>
            </a:r>
            <a:r>
              <a:rPr lang="zh-CN" altLang="en-US" dirty="0"/>
              <a:t>或并入金属氧化物半导体场效应晶体管 </a:t>
            </a:r>
            <a:r>
              <a:rPr lang="en-US" altLang="zh-CN" dirty="0"/>
              <a:t>(MOSFET) [260–262]</a:t>
            </a:r>
            <a:r>
              <a:rPr lang="zh-CN" altLang="en-US" dirty="0"/>
              <a:t>。</a:t>
            </a:r>
            <a:r>
              <a:rPr lang="en-US" altLang="zh-CN" dirty="0"/>
              <a:t>MOSFET </a:t>
            </a:r>
            <a:r>
              <a:rPr lang="zh-CN" altLang="en-US" dirty="0"/>
              <a:t>充当电容耦合有源传感节点中的放大器和多路复用器，为电生理传感</a:t>
            </a:r>
            <a:r>
              <a:rPr lang="en-US" altLang="zh-CN" dirty="0"/>
              <a:t>/</a:t>
            </a:r>
            <a:r>
              <a:rPr lang="zh-CN" altLang="en-US" dirty="0"/>
              <a:t>映射系统提供局部信号放大和多路复用寻址 </a:t>
            </a:r>
            <a:r>
              <a:rPr lang="en-US" altLang="zh-CN" dirty="0"/>
              <a:t>[260–262]</a:t>
            </a:r>
            <a:r>
              <a:rPr lang="zh-CN" altLang="en-US" dirty="0"/>
              <a:t>。此外，掺硼单晶硅膜是一种生物可吸收材料，可在生物流体中水解和溶解 </a:t>
            </a:r>
            <a:r>
              <a:rPr lang="en-US" altLang="zh-CN" dirty="0"/>
              <a:t>[16,233,259]</a:t>
            </a:r>
            <a:r>
              <a:rPr lang="zh-CN" altLang="en-US" dirty="0"/>
              <a:t>，因此可用于暂时性植入式装置，以最大限度地减少炎症反应并消除植入物移除手术的需要 </a:t>
            </a:r>
            <a:r>
              <a:rPr lang="en-US" altLang="zh-CN" dirty="0"/>
              <a:t>[16]</a:t>
            </a:r>
            <a:r>
              <a:rPr lang="zh-CN" altLang="en-US" dirty="0"/>
              <a:t>。例如，生物可吸收压力监测装置（图 </a:t>
            </a:r>
            <a:r>
              <a:rPr lang="en-US" altLang="zh-CN" dirty="0"/>
              <a:t>5d</a:t>
            </a:r>
            <a:r>
              <a:rPr lang="zh-CN" altLang="en-US" dirty="0"/>
              <a:t>）由硅微膜（</a:t>
            </a:r>
            <a:r>
              <a:rPr lang="en-US" altLang="zh-CN" dirty="0"/>
              <a:t>Si MM</a:t>
            </a:r>
            <a:r>
              <a:rPr lang="zh-CN" altLang="en-US" dirty="0"/>
              <a:t>，</a:t>
            </a:r>
            <a:r>
              <a:rPr lang="en-US" altLang="zh-CN" dirty="0"/>
              <a:t>4 </a:t>
            </a:r>
            <a:r>
              <a:rPr lang="zh-CN" altLang="en-US" dirty="0"/>
              <a:t>毫米 </a:t>
            </a:r>
            <a:r>
              <a:rPr lang="en-US" altLang="zh-CN" dirty="0"/>
              <a:t>4 </a:t>
            </a:r>
            <a:r>
              <a:rPr lang="zh-CN" altLang="en-US" dirty="0"/>
              <a:t>毫米 </a:t>
            </a:r>
            <a:r>
              <a:rPr lang="en-US" altLang="zh-CN" dirty="0"/>
              <a:t>1.5 </a:t>
            </a:r>
            <a:r>
              <a:rPr lang="zh-CN" altLang="en-US" dirty="0"/>
              <a:t>毫米）作为不透水生物流体屏障、聚（乳酸</a:t>
            </a:r>
            <a:r>
              <a:rPr lang="en-US" altLang="zh-CN" dirty="0"/>
              <a:t>-</a:t>
            </a:r>
            <a:r>
              <a:rPr lang="zh-CN" altLang="en-US" dirty="0"/>
              <a:t>乙醇酸）层（</a:t>
            </a:r>
            <a:r>
              <a:rPr lang="en-US" altLang="zh-CN" dirty="0"/>
              <a:t>PLGA</a:t>
            </a:r>
            <a:r>
              <a:rPr lang="zh-CN" altLang="en-US" dirty="0"/>
              <a:t>，</a:t>
            </a:r>
            <a:r>
              <a:rPr lang="en-US" altLang="zh-CN" dirty="0"/>
              <a:t>6 </a:t>
            </a:r>
            <a:r>
              <a:rPr lang="zh-CN" altLang="en-US" dirty="0"/>
              <a:t>毫米 </a:t>
            </a:r>
            <a:r>
              <a:rPr lang="en-US" altLang="zh-CN" dirty="0"/>
              <a:t>8 </a:t>
            </a:r>
            <a:r>
              <a:rPr lang="zh-CN" altLang="en-US" dirty="0"/>
              <a:t>毫米）作为粘合夹层，以及蛇形几何形状的硅纳米膜（厚度：</a:t>
            </a:r>
            <a:r>
              <a:rPr lang="en-US" altLang="zh-CN" dirty="0"/>
              <a:t>200 </a:t>
            </a:r>
            <a:r>
              <a:rPr lang="zh-CN" altLang="en-US" dirty="0"/>
              <a:t>纳米；蛇形宽度：</a:t>
            </a:r>
            <a:r>
              <a:rPr lang="en-US" altLang="zh-CN" dirty="0"/>
              <a:t>5 </a:t>
            </a:r>
            <a:r>
              <a:rPr lang="zh-CN" altLang="en-US" dirty="0"/>
              <a:t>毫米）作为</a:t>
            </a:r>
          </a:p>
        </p:txBody>
      </p:sp>
      <p:sp>
        <p:nvSpPr>
          <p:cNvPr id="4" name="灯片编号占位符 3">
            <a:extLst>
              <a:ext uri="{FF2B5EF4-FFF2-40B4-BE49-F238E27FC236}">
                <a16:creationId xmlns:a16="http://schemas.microsoft.com/office/drawing/2014/main" id="{A234BAD9-C2BD-387F-199E-6D8B4790CE65}"/>
              </a:ext>
            </a:extLst>
          </p:cNvPr>
          <p:cNvSpPr>
            <a:spLocks noGrp="1"/>
          </p:cNvSpPr>
          <p:nvPr>
            <p:ph type="sldNum" sz="quarter" idx="5"/>
          </p:nvPr>
        </p:nvSpPr>
        <p:spPr/>
        <p:txBody>
          <a:bodyPr/>
          <a:lstStyle/>
          <a:p>
            <a:fld id="{84918B77-9CB1-4C48-BED5-B02F24F09A98}" type="slidenum">
              <a:rPr lang="zh-CN" altLang="en-US" smtClean="0"/>
              <a:t>42</a:t>
            </a:fld>
            <a:endParaRPr lang="zh-CN" altLang="en-US"/>
          </a:p>
        </p:txBody>
      </p:sp>
    </p:spTree>
    <p:extLst>
      <p:ext uri="{BB962C8B-B14F-4D97-AF65-F5344CB8AC3E}">
        <p14:creationId xmlns:p14="http://schemas.microsoft.com/office/powerpoint/2010/main" val="317244478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550B3-7110-0D55-8DD1-92A98DB8857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251FCCE-1106-6B95-8979-FE5AC5A2D48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5496A3B-2B39-FC7D-1AB1-0A691548CB5A}"/>
              </a:ext>
            </a:extLst>
          </p:cNvPr>
          <p:cNvSpPr>
            <a:spLocks noGrp="1"/>
          </p:cNvSpPr>
          <p:nvPr>
            <p:ph type="body" idx="1"/>
          </p:nvPr>
        </p:nvSpPr>
        <p:spPr/>
        <p:txBody>
          <a:bodyPr/>
          <a:lstStyle/>
          <a:p>
            <a:r>
              <a:rPr lang="zh-CN" altLang="en-US" dirty="0"/>
              <a:t>用于柔性电子产品的导电无机材料金属具有高导电性，通常用作薄膜形式的柔性电子产品的活性传感材料 </a:t>
            </a:r>
            <a:r>
              <a:rPr lang="en-US" altLang="zh-CN" dirty="0"/>
              <a:t>[252]</a:t>
            </a:r>
            <a:r>
              <a:rPr lang="zh-CN" altLang="en-US" dirty="0"/>
              <a:t>。常用的金属薄膜包括金 </a:t>
            </a:r>
            <a:r>
              <a:rPr lang="en-US" altLang="zh-CN" dirty="0"/>
              <a:t>[27,224,253,254]</a:t>
            </a:r>
            <a:r>
              <a:rPr lang="zh-CN" altLang="en-US" dirty="0"/>
              <a:t>、铜 </a:t>
            </a:r>
            <a:r>
              <a:rPr lang="en-US" altLang="zh-CN" dirty="0"/>
              <a:t>[254] </a:t>
            </a:r>
            <a:r>
              <a:rPr lang="zh-CN" altLang="en-US" dirty="0"/>
              <a:t>和铂 </a:t>
            </a:r>
            <a:r>
              <a:rPr lang="en-US" altLang="zh-CN" dirty="0"/>
              <a:t>[223,255]</a:t>
            </a:r>
            <a:r>
              <a:rPr lang="zh-CN" altLang="en-US" dirty="0"/>
              <a:t>，它们通过物理气相沉积（电子束蒸发或溅射沉积）制成，厚度约为几十到几百纳米。通常在基板和传感金属膜之间沉积一层超薄粘附层（如 </a:t>
            </a:r>
            <a:r>
              <a:rPr lang="en-US" altLang="zh-CN" dirty="0"/>
              <a:t>Cr </a:t>
            </a:r>
            <a:r>
              <a:rPr lang="zh-CN" altLang="en-US" dirty="0"/>
              <a:t>或 </a:t>
            </a:r>
            <a:r>
              <a:rPr lang="en-US" altLang="zh-CN" dirty="0"/>
              <a:t>Ti</a:t>
            </a:r>
            <a:r>
              <a:rPr lang="zh-CN" altLang="en-US" dirty="0"/>
              <a:t>，厚度为 </a:t>
            </a:r>
            <a:r>
              <a:rPr lang="en-US" altLang="zh-CN" dirty="0"/>
              <a:t>5-20 </a:t>
            </a:r>
            <a:r>
              <a:rPr lang="zh-CN" altLang="en-US" dirty="0"/>
              <a:t>纳米），以改善物理和电接触 </a:t>
            </a:r>
            <a:r>
              <a:rPr lang="en-US" altLang="zh-CN" dirty="0"/>
              <a:t>[256]</a:t>
            </a:r>
            <a:r>
              <a:rPr lang="zh-CN" altLang="en-US" dirty="0"/>
              <a:t>。基于薄金属膜的柔性电子产品可以通过使用光刻、电化学沉积和激光图案化等技术制成所需的图案（例如螺旋、蛇形或叉指几何形状），以提高其可拉伸性 </a:t>
            </a:r>
            <a:r>
              <a:rPr lang="en-US" altLang="zh-CN" dirty="0"/>
              <a:t>[224,227,254]</a:t>
            </a:r>
            <a:r>
              <a:rPr lang="zh-CN" altLang="en-US" dirty="0"/>
              <a:t>。例如，</a:t>
            </a:r>
            <a:r>
              <a:rPr lang="en-US" altLang="zh-CN" dirty="0"/>
              <a:t>100 </a:t>
            </a:r>
            <a:r>
              <a:rPr lang="zh-CN" altLang="en-US" dirty="0"/>
              <a:t>纳米厚的金薄膜被光刻成 </a:t>
            </a:r>
            <a:r>
              <a:rPr lang="en-US" altLang="zh-CN" dirty="0"/>
              <a:t>10 </a:t>
            </a:r>
            <a:r>
              <a:rPr lang="zh-CN" altLang="en-US" dirty="0"/>
              <a:t>毫米宽的导电迹线，并形成一个总半径为 </a:t>
            </a:r>
            <a:r>
              <a:rPr lang="en-US" altLang="zh-CN" dirty="0"/>
              <a:t>0.5 </a:t>
            </a:r>
            <a:r>
              <a:rPr lang="zh-CN" altLang="en-US" dirty="0"/>
              <a:t>毫米的微型螺旋热传感器 </a:t>
            </a:r>
            <a:r>
              <a:rPr lang="en-US" altLang="zh-CN" dirty="0"/>
              <a:t>[253]</a:t>
            </a:r>
            <a:r>
              <a:rPr lang="zh-CN" altLang="en-US" dirty="0"/>
              <a:t>。由金电极和具有丝状蛇形设计的互连线组成的多功能表皮电子系统被共形安装在皮肤上，并在机械变形（压缩和拉伸）下保持其功能（图 </a:t>
            </a:r>
            <a:r>
              <a:rPr lang="en-US" altLang="zh-CN" dirty="0"/>
              <a:t>5a</a:t>
            </a:r>
            <a:r>
              <a:rPr lang="zh-CN" altLang="en-US" dirty="0"/>
              <a:t>）</a:t>
            </a:r>
            <a:r>
              <a:rPr lang="en-US" altLang="zh-CN" dirty="0"/>
              <a:t>[225]</a:t>
            </a:r>
            <a:r>
              <a:rPr lang="zh-CN" altLang="en-US" dirty="0"/>
              <a:t>。该表皮电子系统包含多功能传感器（温度、应变、心电图 </a:t>
            </a:r>
            <a:r>
              <a:rPr lang="en-US" altLang="zh-CN" dirty="0"/>
              <a:t>[ECG] </a:t>
            </a:r>
            <a:r>
              <a:rPr lang="zh-CN" altLang="en-US" dirty="0"/>
              <a:t>和肌电图 </a:t>
            </a:r>
            <a:r>
              <a:rPr lang="en-US" altLang="zh-CN" dirty="0"/>
              <a:t>[EMG]</a:t>
            </a:r>
            <a:r>
              <a:rPr lang="zh-CN" altLang="en-US" dirty="0"/>
              <a:t>）、无线电力线圈和用于无线通信的射频组件。其他示例包括由蛇形金迹线（厚度：</a:t>
            </a:r>
            <a:r>
              <a:rPr lang="en-US" altLang="zh-CN" dirty="0"/>
              <a:t>100 </a:t>
            </a:r>
            <a:r>
              <a:rPr lang="zh-CN" altLang="en-US" dirty="0"/>
              <a:t>纳米；宽度：</a:t>
            </a:r>
            <a:r>
              <a:rPr lang="en-US" altLang="zh-CN" dirty="0"/>
              <a:t>40 </a:t>
            </a:r>
            <a:r>
              <a:rPr lang="zh-CN" altLang="en-US" dirty="0"/>
              <a:t>毫米）组成的柔软、耐压温度传感器（图 </a:t>
            </a:r>
            <a:r>
              <a:rPr lang="en-US" altLang="zh-CN" dirty="0"/>
              <a:t>5b</a:t>
            </a:r>
            <a:r>
              <a:rPr lang="zh-CN" altLang="en-US" dirty="0"/>
              <a:t>），可在大静水压力和盐度环境下运行，用于海洋勘探 </a:t>
            </a:r>
            <a:r>
              <a:rPr lang="en-US" altLang="zh-CN" dirty="0"/>
              <a:t>[27]</a:t>
            </a:r>
            <a:r>
              <a:rPr lang="zh-CN" altLang="en-US" dirty="0"/>
              <a:t>。最近，人们开始探索将可生物降解的金属薄膜（如 </a:t>
            </a:r>
            <a:r>
              <a:rPr lang="en-US" altLang="zh-CN" dirty="0"/>
              <a:t>Mg</a:t>
            </a:r>
            <a:r>
              <a:rPr lang="zh-CN" altLang="en-US" dirty="0"/>
              <a:t>、</a:t>
            </a:r>
            <a:r>
              <a:rPr lang="en-US" altLang="zh-CN" dirty="0"/>
              <a:t>Zn</a:t>
            </a:r>
            <a:r>
              <a:rPr lang="zh-CN" altLang="en-US" dirty="0"/>
              <a:t>、</a:t>
            </a:r>
            <a:r>
              <a:rPr lang="en-US" altLang="zh-CN" dirty="0"/>
              <a:t>Fe</a:t>
            </a:r>
            <a:r>
              <a:rPr lang="zh-CN" altLang="en-US" dirty="0"/>
              <a:t>、</a:t>
            </a:r>
            <a:r>
              <a:rPr lang="en-US" altLang="zh-CN" dirty="0"/>
              <a:t>W </a:t>
            </a:r>
            <a:r>
              <a:rPr lang="zh-CN" altLang="en-US" dirty="0"/>
              <a:t>和 </a:t>
            </a:r>
            <a:r>
              <a:rPr lang="en-US" altLang="zh-CN" dirty="0"/>
              <a:t>Mo</a:t>
            </a:r>
            <a:r>
              <a:rPr lang="zh-CN" altLang="en-US" dirty="0"/>
              <a:t>）用于瞬态电子器件 </a:t>
            </a:r>
            <a:r>
              <a:rPr lang="en-US" altLang="zh-CN" dirty="0"/>
              <a:t>[257]</a:t>
            </a:r>
            <a:r>
              <a:rPr lang="zh-CN" altLang="en-US" dirty="0"/>
              <a:t>，这些薄膜可以溶解在生物流体中，溶解速率可控 </a:t>
            </a:r>
            <a:r>
              <a:rPr lang="en-US" altLang="zh-CN" dirty="0"/>
              <a:t>[258]</a:t>
            </a:r>
            <a:r>
              <a:rPr lang="zh-CN" altLang="en-US" dirty="0"/>
              <a:t>。瞬态电子器件在植入式医疗设备等应用中显示出巨大的潜力，因为它们具有微创性、能够实时监测，并且无需进行拔除手术 </a:t>
            </a:r>
            <a:r>
              <a:rPr lang="en-US" altLang="zh-CN" dirty="0"/>
              <a:t>[17]</a:t>
            </a:r>
            <a:r>
              <a:rPr lang="zh-CN" altLang="en-US" dirty="0"/>
              <a:t>。除了薄金属膜外，硅（应用最广泛的半导体）在柔性电子器件中也很受欢迎，因为它具有优异的半导体特性和可调的电导率。硅基传感器的几何形状和厚度通常以某种方式设计（例如蛇形几何形状和纳米级厚度），以提高其灵活性。一个例子是硅纳米膜（</a:t>
            </a:r>
            <a:r>
              <a:rPr lang="en-US" altLang="zh-CN" dirty="0"/>
              <a:t>320 </a:t>
            </a:r>
            <a:r>
              <a:rPr lang="zh-CN" altLang="en-US" dirty="0"/>
              <a:t>纳米厚）的图案化掺杂，它形成了 </a:t>
            </a:r>
            <a:r>
              <a:rPr lang="en-US" altLang="zh-CN" dirty="0"/>
              <a:t>PIN </a:t>
            </a:r>
            <a:r>
              <a:rPr lang="zh-CN" altLang="en-US" dirty="0"/>
              <a:t>二极管（组合的 </a:t>
            </a:r>
            <a:r>
              <a:rPr lang="en-US" altLang="zh-CN" dirty="0"/>
              <a:t>p </a:t>
            </a:r>
            <a:r>
              <a:rPr lang="zh-CN" altLang="en-US" dirty="0"/>
              <a:t>型</a:t>
            </a:r>
            <a:r>
              <a:rPr lang="en-US" altLang="zh-CN" dirty="0"/>
              <a:t>/</a:t>
            </a:r>
            <a:r>
              <a:rPr lang="zh-CN" altLang="en-US" dirty="0"/>
              <a:t>本征</a:t>
            </a:r>
            <a:r>
              <a:rPr lang="en-US" altLang="zh-CN" dirty="0"/>
              <a:t>/n </a:t>
            </a:r>
            <a:r>
              <a:rPr lang="zh-CN" altLang="en-US" dirty="0"/>
              <a:t>型半导体，</a:t>
            </a:r>
            <a:r>
              <a:rPr lang="en-US" altLang="zh-CN" dirty="0"/>
              <a:t>100 </a:t>
            </a:r>
            <a:r>
              <a:rPr lang="zh-CN" altLang="en-US" dirty="0"/>
              <a:t>毫米 </a:t>
            </a:r>
            <a:r>
              <a:rPr lang="en-US" altLang="zh-CN" dirty="0"/>
              <a:t>200 </a:t>
            </a:r>
            <a:r>
              <a:rPr lang="zh-CN" altLang="en-US" dirty="0"/>
              <a:t>毫米），用于温度传感和多路复用数据采集 </a:t>
            </a:r>
            <a:r>
              <a:rPr lang="en-US" altLang="zh-CN" dirty="0"/>
              <a:t>[224]</a:t>
            </a:r>
            <a:r>
              <a:rPr lang="zh-CN" altLang="en-US" dirty="0"/>
              <a:t>（图 </a:t>
            </a:r>
            <a:r>
              <a:rPr lang="en-US" altLang="zh-CN" dirty="0"/>
              <a:t>5c</a:t>
            </a:r>
            <a:r>
              <a:rPr lang="zh-CN" altLang="en-US" dirty="0"/>
              <a:t>）。硅纳米膜也可用作压阻传感元件 </a:t>
            </a:r>
            <a:r>
              <a:rPr lang="en-US" altLang="zh-CN" dirty="0"/>
              <a:t>[16,233,259] </a:t>
            </a:r>
            <a:r>
              <a:rPr lang="zh-CN" altLang="en-US" dirty="0"/>
              <a:t>或并入金属氧化物半导体场效应晶体管 </a:t>
            </a:r>
            <a:r>
              <a:rPr lang="en-US" altLang="zh-CN" dirty="0"/>
              <a:t>(MOSFET) [260–262]</a:t>
            </a:r>
            <a:r>
              <a:rPr lang="zh-CN" altLang="en-US" dirty="0"/>
              <a:t>。</a:t>
            </a:r>
            <a:r>
              <a:rPr lang="en-US" altLang="zh-CN" dirty="0"/>
              <a:t>MOSFET </a:t>
            </a:r>
            <a:r>
              <a:rPr lang="zh-CN" altLang="en-US" dirty="0"/>
              <a:t>充当电容耦合有源传感节点中的放大器和多路复用器，为电生理传感</a:t>
            </a:r>
            <a:r>
              <a:rPr lang="en-US" altLang="zh-CN" dirty="0"/>
              <a:t>/</a:t>
            </a:r>
            <a:r>
              <a:rPr lang="zh-CN" altLang="en-US" dirty="0"/>
              <a:t>映射系统提供局部信号放大和多路复用寻址 </a:t>
            </a:r>
            <a:r>
              <a:rPr lang="en-US" altLang="zh-CN" dirty="0"/>
              <a:t>[260–262]</a:t>
            </a:r>
            <a:r>
              <a:rPr lang="zh-CN" altLang="en-US" dirty="0"/>
              <a:t>。此外，掺硼单晶硅膜是一种生物可吸收材料，可在生物流体中水解和溶解 </a:t>
            </a:r>
            <a:r>
              <a:rPr lang="en-US" altLang="zh-CN" dirty="0"/>
              <a:t>[16,233,259]</a:t>
            </a:r>
            <a:r>
              <a:rPr lang="zh-CN" altLang="en-US" dirty="0"/>
              <a:t>，因此可用于暂时性植入式装置，以最大限度地减少炎症反应并消除植入物移除手术的需要 </a:t>
            </a:r>
            <a:r>
              <a:rPr lang="en-US" altLang="zh-CN" dirty="0"/>
              <a:t>[16]</a:t>
            </a:r>
            <a:r>
              <a:rPr lang="zh-CN" altLang="en-US" dirty="0"/>
              <a:t>。例如，生物可吸收压力监测装置（图 </a:t>
            </a:r>
            <a:r>
              <a:rPr lang="en-US" altLang="zh-CN" dirty="0"/>
              <a:t>5d</a:t>
            </a:r>
            <a:r>
              <a:rPr lang="zh-CN" altLang="en-US" dirty="0"/>
              <a:t>）由硅微膜（</a:t>
            </a:r>
            <a:r>
              <a:rPr lang="en-US" altLang="zh-CN" dirty="0"/>
              <a:t>Si MM</a:t>
            </a:r>
            <a:r>
              <a:rPr lang="zh-CN" altLang="en-US" dirty="0"/>
              <a:t>，</a:t>
            </a:r>
            <a:r>
              <a:rPr lang="en-US" altLang="zh-CN" dirty="0"/>
              <a:t>4 </a:t>
            </a:r>
            <a:r>
              <a:rPr lang="zh-CN" altLang="en-US" dirty="0"/>
              <a:t>毫米 </a:t>
            </a:r>
            <a:r>
              <a:rPr lang="en-US" altLang="zh-CN" dirty="0"/>
              <a:t>4 </a:t>
            </a:r>
            <a:r>
              <a:rPr lang="zh-CN" altLang="en-US" dirty="0"/>
              <a:t>毫米 </a:t>
            </a:r>
            <a:r>
              <a:rPr lang="en-US" altLang="zh-CN" dirty="0"/>
              <a:t>1.5 </a:t>
            </a:r>
            <a:r>
              <a:rPr lang="zh-CN" altLang="en-US" dirty="0"/>
              <a:t>毫米）作为不透水生物流体屏障、聚（乳酸</a:t>
            </a:r>
            <a:r>
              <a:rPr lang="en-US" altLang="zh-CN" dirty="0"/>
              <a:t>-</a:t>
            </a:r>
            <a:r>
              <a:rPr lang="zh-CN" altLang="en-US" dirty="0"/>
              <a:t>乙醇酸）层（</a:t>
            </a:r>
            <a:r>
              <a:rPr lang="en-US" altLang="zh-CN" dirty="0"/>
              <a:t>PLGA</a:t>
            </a:r>
            <a:r>
              <a:rPr lang="zh-CN" altLang="en-US" dirty="0"/>
              <a:t>，</a:t>
            </a:r>
            <a:r>
              <a:rPr lang="en-US" altLang="zh-CN" dirty="0"/>
              <a:t>6 </a:t>
            </a:r>
            <a:r>
              <a:rPr lang="zh-CN" altLang="en-US" dirty="0"/>
              <a:t>毫米 </a:t>
            </a:r>
            <a:r>
              <a:rPr lang="en-US" altLang="zh-CN" dirty="0"/>
              <a:t>8 </a:t>
            </a:r>
            <a:r>
              <a:rPr lang="zh-CN" altLang="en-US" dirty="0"/>
              <a:t>毫米）作为粘合夹层，以及蛇形几何形状的硅纳米膜（厚度：</a:t>
            </a:r>
            <a:r>
              <a:rPr lang="en-US" altLang="zh-CN" dirty="0"/>
              <a:t>200 </a:t>
            </a:r>
            <a:r>
              <a:rPr lang="zh-CN" altLang="en-US" dirty="0"/>
              <a:t>纳米；蛇形宽度：</a:t>
            </a:r>
            <a:r>
              <a:rPr lang="en-US" altLang="zh-CN" dirty="0"/>
              <a:t>5 </a:t>
            </a:r>
            <a:r>
              <a:rPr lang="zh-CN" altLang="en-US" dirty="0"/>
              <a:t>毫米）作为</a:t>
            </a:r>
          </a:p>
        </p:txBody>
      </p:sp>
      <p:sp>
        <p:nvSpPr>
          <p:cNvPr id="4" name="灯片编号占位符 3">
            <a:extLst>
              <a:ext uri="{FF2B5EF4-FFF2-40B4-BE49-F238E27FC236}">
                <a16:creationId xmlns:a16="http://schemas.microsoft.com/office/drawing/2014/main" id="{E92D5B46-BADC-DB1B-31BA-8BBCF64F25C9}"/>
              </a:ext>
            </a:extLst>
          </p:cNvPr>
          <p:cNvSpPr>
            <a:spLocks noGrp="1"/>
          </p:cNvSpPr>
          <p:nvPr>
            <p:ph type="sldNum" sz="quarter" idx="5"/>
          </p:nvPr>
        </p:nvSpPr>
        <p:spPr/>
        <p:txBody>
          <a:bodyPr/>
          <a:lstStyle/>
          <a:p>
            <a:fld id="{84918B77-9CB1-4C48-BED5-B02F24F09A98}" type="slidenum">
              <a:rPr lang="zh-CN" altLang="en-US" smtClean="0"/>
              <a:t>43</a:t>
            </a:fld>
            <a:endParaRPr lang="zh-CN" altLang="en-US"/>
          </a:p>
        </p:txBody>
      </p:sp>
    </p:spTree>
    <p:extLst>
      <p:ext uri="{BB962C8B-B14F-4D97-AF65-F5344CB8AC3E}">
        <p14:creationId xmlns:p14="http://schemas.microsoft.com/office/powerpoint/2010/main" val="328180067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48318-A12F-8C2C-9F50-A6965DC57FF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EAE6295-9954-B6F9-070D-024CD71F10C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69AD658-DADB-FE41-7DFE-F9457D3273B6}"/>
              </a:ext>
            </a:extLst>
          </p:cNvPr>
          <p:cNvSpPr>
            <a:spLocks noGrp="1"/>
          </p:cNvSpPr>
          <p:nvPr>
            <p:ph type="body" idx="1"/>
          </p:nvPr>
        </p:nvSpPr>
        <p:spPr/>
        <p:txBody>
          <a:bodyPr/>
          <a:lstStyle/>
          <a:p>
            <a:r>
              <a:rPr lang="zh-CN" altLang="en-US" dirty="0"/>
              <a:t>用于柔性电子产品的导电无机材料金属具有高导电性，通常用作薄膜形式的柔性电子产品的活性传感材料 </a:t>
            </a:r>
            <a:r>
              <a:rPr lang="en-US" altLang="zh-CN" dirty="0"/>
              <a:t>[252]</a:t>
            </a:r>
            <a:r>
              <a:rPr lang="zh-CN" altLang="en-US" dirty="0"/>
              <a:t>。常用的金属薄膜包括金 </a:t>
            </a:r>
            <a:r>
              <a:rPr lang="en-US" altLang="zh-CN" dirty="0"/>
              <a:t>[27,224,253,254]</a:t>
            </a:r>
            <a:r>
              <a:rPr lang="zh-CN" altLang="en-US" dirty="0"/>
              <a:t>、铜 </a:t>
            </a:r>
            <a:r>
              <a:rPr lang="en-US" altLang="zh-CN" dirty="0"/>
              <a:t>[254] </a:t>
            </a:r>
            <a:r>
              <a:rPr lang="zh-CN" altLang="en-US" dirty="0"/>
              <a:t>和铂 </a:t>
            </a:r>
            <a:r>
              <a:rPr lang="en-US" altLang="zh-CN" dirty="0"/>
              <a:t>[223,255]</a:t>
            </a:r>
            <a:r>
              <a:rPr lang="zh-CN" altLang="en-US" dirty="0"/>
              <a:t>，它们通过物理气相沉积（电子束蒸发或溅射沉积）制成，厚度约为几十到几百纳米。通常在基板和传感金属膜之间沉积一层超薄粘附层（如 </a:t>
            </a:r>
            <a:r>
              <a:rPr lang="en-US" altLang="zh-CN" dirty="0"/>
              <a:t>Cr </a:t>
            </a:r>
            <a:r>
              <a:rPr lang="zh-CN" altLang="en-US" dirty="0"/>
              <a:t>或 </a:t>
            </a:r>
            <a:r>
              <a:rPr lang="en-US" altLang="zh-CN" dirty="0"/>
              <a:t>Ti</a:t>
            </a:r>
            <a:r>
              <a:rPr lang="zh-CN" altLang="en-US" dirty="0"/>
              <a:t>，厚度为 </a:t>
            </a:r>
            <a:r>
              <a:rPr lang="en-US" altLang="zh-CN" dirty="0"/>
              <a:t>5-20 </a:t>
            </a:r>
            <a:r>
              <a:rPr lang="zh-CN" altLang="en-US" dirty="0"/>
              <a:t>纳米），以改善物理和电接触 </a:t>
            </a:r>
            <a:r>
              <a:rPr lang="en-US" altLang="zh-CN" dirty="0"/>
              <a:t>[256]</a:t>
            </a:r>
            <a:r>
              <a:rPr lang="zh-CN" altLang="en-US" dirty="0"/>
              <a:t>。基于薄金属膜的柔性电子产品可以通过使用光刻、电化学沉积和激光图案化等技术制成所需的图案（例如螺旋、蛇形或叉指几何形状），以提高其可拉伸性 </a:t>
            </a:r>
            <a:r>
              <a:rPr lang="en-US" altLang="zh-CN" dirty="0"/>
              <a:t>[224,227,254]</a:t>
            </a:r>
            <a:r>
              <a:rPr lang="zh-CN" altLang="en-US" dirty="0"/>
              <a:t>。例如，</a:t>
            </a:r>
            <a:r>
              <a:rPr lang="en-US" altLang="zh-CN" dirty="0"/>
              <a:t>100 </a:t>
            </a:r>
            <a:r>
              <a:rPr lang="zh-CN" altLang="en-US" dirty="0"/>
              <a:t>纳米厚的金薄膜被光刻成 </a:t>
            </a:r>
            <a:r>
              <a:rPr lang="en-US" altLang="zh-CN" dirty="0"/>
              <a:t>10 </a:t>
            </a:r>
            <a:r>
              <a:rPr lang="zh-CN" altLang="en-US" dirty="0"/>
              <a:t>毫米宽的导电迹线，并形成一个总半径为 </a:t>
            </a:r>
            <a:r>
              <a:rPr lang="en-US" altLang="zh-CN" dirty="0"/>
              <a:t>0.5 </a:t>
            </a:r>
            <a:r>
              <a:rPr lang="zh-CN" altLang="en-US" dirty="0"/>
              <a:t>毫米的微型螺旋热传感器 </a:t>
            </a:r>
            <a:r>
              <a:rPr lang="en-US" altLang="zh-CN" dirty="0"/>
              <a:t>[253]</a:t>
            </a:r>
            <a:r>
              <a:rPr lang="zh-CN" altLang="en-US" dirty="0"/>
              <a:t>。由金电极和具有丝状蛇形设计的互连线组成的多功能表皮电子系统被共形安装在皮肤上，并在机械变形（压缩和拉伸）下保持其功能（图 </a:t>
            </a:r>
            <a:r>
              <a:rPr lang="en-US" altLang="zh-CN" dirty="0"/>
              <a:t>5a</a:t>
            </a:r>
            <a:r>
              <a:rPr lang="zh-CN" altLang="en-US" dirty="0"/>
              <a:t>）</a:t>
            </a:r>
            <a:r>
              <a:rPr lang="en-US" altLang="zh-CN" dirty="0"/>
              <a:t>[225]</a:t>
            </a:r>
            <a:r>
              <a:rPr lang="zh-CN" altLang="en-US" dirty="0"/>
              <a:t>。该表皮电子系统包含多功能传感器（温度、应变、心电图 </a:t>
            </a:r>
            <a:r>
              <a:rPr lang="en-US" altLang="zh-CN" dirty="0"/>
              <a:t>[ECG] </a:t>
            </a:r>
            <a:r>
              <a:rPr lang="zh-CN" altLang="en-US" dirty="0"/>
              <a:t>和肌电图 </a:t>
            </a:r>
            <a:r>
              <a:rPr lang="en-US" altLang="zh-CN" dirty="0"/>
              <a:t>[EMG]</a:t>
            </a:r>
            <a:r>
              <a:rPr lang="zh-CN" altLang="en-US" dirty="0"/>
              <a:t>）、无线电力线圈和用于无线通信的射频组件。其他示例包括由蛇形金迹线（厚度：</a:t>
            </a:r>
            <a:r>
              <a:rPr lang="en-US" altLang="zh-CN" dirty="0"/>
              <a:t>100 </a:t>
            </a:r>
            <a:r>
              <a:rPr lang="zh-CN" altLang="en-US" dirty="0"/>
              <a:t>纳米；宽度：</a:t>
            </a:r>
            <a:r>
              <a:rPr lang="en-US" altLang="zh-CN" dirty="0"/>
              <a:t>40 </a:t>
            </a:r>
            <a:r>
              <a:rPr lang="zh-CN" altLang="en-US" dirty="0"/>
              <a:t>毫米）组成的柔软、耐压温度传感器（图 </a:t>
            </a:r>
            <a:r>
              <a:rPr lang="en-US" altLang="zh-CN" dirty="0"/>
              <a:t>5b</a:t>
            </a:r>
            <a:r>
              <a:rPr lang="zh-CN" altLang="en-US" dirty="0"/>
              <a:t>），可在大静水压力和盐度环境下运行，用于海洋勘探 </a:t>
            </a:r>
            <a:r>
              <a:rPr lang="en-US" altLang="zh-CN" dirty="0"/>
              <a:t>[27]</a:t>
            </a:r>
            <a:r>
              <a:rPr lang="zh-CN" altLang="en-US" dirty="0"/>
              <a:t>。最近，人们开始探索将可生物降解的金属薄膜（如 </a:t>
            </a:r>
            <a:r>
              <a:rPr lang="en-US" altLang="zh-CN" dirty="0"/>
              <a:t>Mg</a:t>
            </a:r>
            <a:r>
              <a:rPr lang="zh-CN" altLang="en-US" dirty="0"/>
              <a:t>、</a:t>
            </a:r>
            <a:r>
              <a:rPr lang="en-US" altLang="zh-CN" dirty="0"/>
              <a:t>Zn</a:t>
            </a:r>
            <a:r>
              <a:rPr lang="zh-CN" altLang="en-US" dirty="0"/>
              <a:t>、</a:t>
            </a:r>
            <a:r>
              <a:rPr lang="en-US" altLang="zh-CN" dirty="0"/>
              <a:t>Fe</a:t>
            </a:r>
            <a:r>
              <a:rPr lang="zh-CN" altLang="en-US" dirty="0"/>
              <a:t>、</a:t>
            </a:r>
            <a:r>
              <a:rPr lang="en-US" altLang="zh-CN" dirty="0"/>
              <a:t>W </a:t>
            </a:r>
            <a:r>
              <a:rPr lang="zh-CN" altLang="en-US" dirty="0"/>
              <a:t>和 </a:t>
            </a:r>
            <a:r>
              <a:rPr lang="en-US" altLang="zh-CN" dirty="0"/>
              <a:t>Mo</a:t>
            </a:r>
            <a:r>
              <a:rPr lang="zh-CN" altLang="en-US" dirty="0"/>
              <a:t>）用于瞬态电子器件 </a:t>
            </a:r>
            <a:r>
              <a:rPr lang="en-US" altLang="zh-CN" dirty="0"/>
              <a:t>[257]</a:t>
            </a:r>
            <a:r>
              <a:rPr lang="zh-CN" altLang="en-US" dirty="0"/>
              <a:t>，这些薄膜可以溶解在生物流体中，溶解速率可控 </a:t>
            </a:r>
            <a:r>
              <a:rPr lang="en-US" altLang="zh-CN" dirty="0"/>
              <a:t>[258]</a:t>
            </a:r>
            <a:r>
              <a:rPr lang="zh-CN" altLang="en-US" dirty="0"/>
              <a:t>。瞬态电子器件在植入式医疗设备等应用中显示出巨大的潜力，因为它们具有微创性、能够实时监测，并且无需进行拔除手术 </a:t>
            </a:r>
            <a:r>
              <a:rPr lang="en-US" altLang="zh-CN" dirty="0"/>
              <a:t>[17]</a:t>
            </a:r>
            <a:r>
              <a:rPr lang="zh-CN" altLang="en-US" dirty="0"/>
              <a:t>。除了薄金属膜外，硅（应用最广泛的半导体）在柔性电子器件中也很受欢迎，因为它具有优异的半导体特性和可调的电导率。硅基传感器的几何形状和厚度通常以某种方式设计（例如蛇形几何形状和纳米级厚度），以提高其灵活性。一个例子是硅纳米膜（</a:t>
            </a:r>
            <a:r>
              <a:rPr lang="en-US" altLang="zh-CN" dirty="0"/>
              <a:t>320 </a:t>
            </a:r>
            <a:r>
              <a:rPr lang="zh-CN" altLang="en-US" dirty="0"/>
              <a:t>纳米厚）的图案化掺杂，它形成了 </a:t>
            </a:r>
            <a:r>
              <a:rPr lang="en-US" altLang="zh-CN" dirty="0"/>
              <a:t>PIN </a:t>
            </a:r>
            <a:r>
              <a:rPr lang="zh-CN" altLang="en-US" dirty="0"/>
              <a:t>二极管（组合的 </a:t>
            </a:r>
            <a:r>
              <a:rPr lang="en-US" altLang="zh-CN" dirty="0"/>
              <a:t>p </a:t>
            </a:r>
            <a:r>
              <a:rPr lang="zh-CN" altLang="en-US" dirty="0"/>
              <a:t>型</a:t>
            </a:r>
            <a:r>
              <a:rPr lang="en-US" altLang="zh-CN" dirty="0"/>
              <a:t>/</a:t>
            </a:r>
            <a:r>
              <a:rPr lang="zh-CN" altLang="en-US" dirty="0"/>
              <a:t>本征</a:t>
            </a:r>
            <a:r>
              <a:rPr lang="en-US" altLang="zh-CN" dirty="0"/>
              <a:t>/n </a:t>
            </a:r>
            <a:r>
              <a:rPr lang="zh-CN" altLang="en-US" dirty="0"/>
              <a:t>型半导体，</a:t>
            </a:r>
            <a:r>
              <a:rPr lang="en-US" altLang="zh-CN" dirty="0"/>
              <a:t>100 </a:t>
            </a:r>
            <a:r>
              <a:rPr lang="zh-CN" altLang="en-US" dirty="0"/>
              <a:t>毫米 </a:t>
            </a:r>
            <a:r>
              <a:rPr lang="en-US" altLang="zh-CN" dirty="0"/>
              <a:t>200 </a:t>
            </a:r>
            <a:r>
              <a:rPr lang="zh-CN" altLang="en-US" dirty="0"/>
              <a:t>毫米），用于温度传感和多路复用数据采集 </a:t>
            </a:r>
            <a:r>
              <a:rPr lang="en-US" altLang="zh-CN" dirty="0"/>
              <a:t>[224]</a:t>
            </a:r>
            <a:r>
              <a:rPr lang="zh-CN" altLang="en-US" dirty="0"/>
              <a:t>（图 </a:t>
            </a:r>
            <a:r>
              <a:rPr lang="en-US" altLang="zh-CN" dirty="0"/>
              <a:t>5c</a:t>
            </a:r>
            <a:r>
              <a:rPr lang="zh-CN" altLang="en-US" dirty="0"/>
              <a:t>）。硅纳米膜也可用作压阻传感元件 </a:t>
            </a:r>
            <a:r>
              <a:rPr lang="en-US" altLang="zh-CN" dirty="0"/>
              <a:t>[16,233,259] </a:t>
            </a:r>
            <a:r>
              <a:rPr lang="zh-CN" altLang="en-US" dirty="0"/>
              <a:t>或并入金属氧化物半导体场效应晶体管 </a:t>
            </a:r>
            <a:r>
              <a:rPr lang="en-US" altLang="zh-CN" dirty="0"/>
              <a:t>(MOSFET) [260–262]</a:t>
            </a:r>
            <a:r>
              <a:rPr lang="zh-CN" altLang="en-US" dirty="0"/>
              <a:t>。</a:t>
            </a:r>
            <a:r>
              <a:rPr lang="en-US" altLang="zh-CN" dirty="0"/>
              <a:t>MOSFET </a:t>
            </a:r>
            <a:r>
              <a:rPr lang="zh-CN" altLang="en-US" dirty="0"/>
              <a:t>充当电容耦合有源传感节点中的放大器和多路复用器，为电生理传感</a:t>
            </a:r>
            <a:r>
              <a:rPr lang="en-US" altLang="zh-CN" dirty="0"/>
              <a:t>/</a:t>
            </a:r>
            <a:r>
              <a:rPr lang="zh-CN" altLang="en-US" dirty="0"/>
              <a:t>映射系统提供局部信号放大和多路复用寻址 </a:t>
            </a:r>
            <a:r>
              <a:rPr lang="en-US" altLang="zh-CN" dirty="0"/>
              <a:t>[260–262]</a:t>
            </a:r>
            <a:r>
              <a:rPr lang="zh-CN" altLang="en-US" dirty="0"/>
              <a:t>。此外，掺硼单晶硅膜是一种生物可吸收材料，可在生物流体中水解和溶解 </a:t>
            </a:r>
            <a:r>
              <a:rPr lang="en-US" altLang="zh-CN" dirty="0"/>
              <a:t>[16,233,259]</a:t>
            </a:r>
            <a:r>
              <a:rPr lang="zh-CN" altLang="en-US" dirty="0"/>
              <a:t>，因此可用于暂时性植入式装置，以最大限度地减少炎症反应并消除植入物移除手术的需要 </a:t>
            </a:r>
            <a:r>
              <a:rPr lang="en-US" altLang="zh-CN" dirty="0"/>
              <a:t>[16]</a:t>
            </a:r>
            <a:r>
              <a:rPr lang="zh-CN" altLang="en-US" dirty="0"/>
              <a:t>。例如，生物可吸收压力监测装置（图 </a:t>
            </a:r>
            <a:r>
              <a:rPr lang="en-US" altLang="zh-CN" dirty="0"/>
              <a:t>5d</a:t>
            </a:r>
            <a:r>
              <a:rPr lang="zh-CN" altLang="en-US" dirty="0"/>
              <a:t>）由硅微膜（</a:t>
            </a:r>
            <a:r>
              <a:rPr lang="en-US" altLang="zh-CN" dirty="0"/>
              <a:t>Si MM</a:t>
            </a:r>
            <a:r>
              <a:rPr lang="zh-CN" altLang="en-US" dirty="0"/>
              <a:t>，</a:t>
            </a:r>
            <a:r>
              <a:rPr lang="en-US" altLang="zh-CN" dirty="0"/>
              <a:t>4 </a:t>
            </a:r>
            <a:r>
              <a:rPr lang="zh-CN" altLang="en-US" dirty="0"/>
              <a:t>毫米 </a:t>
            </a:r>
            <a:r>
              <a:rPr lang="en-US" altLang="zh-CN" dirty="0"/>
              <a:t>4 </a:t>
            </a:r>
            <a:r>
              <a:rPr lang="zh-CN" altLang="en-US" dirty="0"/>
              <a:t>毫米 </a:t>
            </a:r>
            <a:r>
              <a:rPr lang="en-US" altLang="zh-CN" dirty="0"/>
              <a:t>1.5 </a:t>
            </a:r>
            <a:r>
              <a:rPr lang="zh-CN" altLang="en-US" dirty="0"/>
              <a:t>毫米）作为不透水生物流体屏障、聚（乳酸</a:t>
            </a:r>
            <a:r>
              <a:rPr lang="en-US" altLang="zh-CN" dirty="0"/>
              <a:t>-</a:t>
            </a:r>
            <a:r>
              <a:rPr lang="zh-CN" altLang="en-US" dirty="0"/>
              <a:t>乙醇酸）层（</a:t>
            </a:r>
            <a:r>
              <a:rPr lang="en-US" altLang="zh-CN" dirty="0"/>
              <a:t>PLGA</a:t>
            </a:r>
            <a:r>
              <a:rPr lang="zh-CN" altLang="en-US" dirty="0"/>
              <a:t>，</a:t>
            </a:r>
            <a:r>
              <a:rPr lang="en-US" altLang="zh-CN" dirty="0"/>
              <a:t>6 </a:t>
            </a:r>
            <a:r>
              <a:rPr lang="zh-CN" altLang="en-US" dirty="0"/>
              <a:t>毫米 </a:t>
            </a:r>
            <a:r>
              <a:rPr lang="en-US" altLang="zh-CN" dirty="0"/>
              <a:t>8 </a:t>
            </a:r>
            <a:r>
              <a:rPr lang="zh-CN" altLang="en-US" dirty="0"/>
              <a:t>毫米）作为粘合夹层，以及蛇形几何形状的硅纳米膜（厚度：</a:t>
            </a:r>
            <a:r>
              <a:rPr lang="en-US" altLang="zh-CN" dirty="0"/>
              <a:t>200 </a:t>
            </a:r>
            <a:r>
              <a:rPr lang="zh-CN" altLang="en-US" dirty="0"/>
              <a:t>纳米；蛇形宽度：</a:t>
            </a:r>
            <a:r>
              <a:rPr lang="en-US" altLang="zh-CN" dirty="0"/>
              <a:t>5 </a:t>
            </a:r>
            <a:r>
              <a:rPr lang="zh-CN" altLang="en-US" dirty="0"/>
              <a:t>毫米）作为</a:t>
            </a:r>
          </a:p>
        </p:txBody>
      </p:sp>
      <p:sp>
        <p:nvSpPr>
          <p:cNvPr id="4" name="灯片编号占位符 3">
            <a:extLst>
              <a:ext uri="{FF2B5EF4-FFF2-40B4-BE49-F238E27FC236}">
                <a16:creationId xmlns:a16="http://schemas.microsoft.com/office/drawing/2014/main" id="{93920048-AB78-FD18-831B-F9ADD4BF90F3}"/>
              </a:ext>
            </a:extLst>
          </p:cNvPr>
          <p:cNvSpPr>
            <a:spLocks noGrp="1"/>
          </p:cNvSpPr>
          <p:nvPr>
            <p:ph type="sldNum" sz="quarter" idx="5"/>
          </p:nvPr>
        </p:nvSpPr>
        <p:spPr/>
        <p:txBody>
          <a:bodyPr/>
          <a:lstStyle/>
          <a:p>
            <a:fld id="{84918B77-9CB1-4C48-BED5-B02F24F09A98}" type="slidenum">
              <a:rPr lang="zh-CN" altLang="en-US" smtClean="0"/>
              <a:t>44</a:t>
            </a:fld>
            <a:endParaRPr lang="zh-CN" altLang="en-US"/>
          </a:p>
        </p:txBody>
      </p:sp>
    </p:spTree>
    <p:extLst>
      <p:ext uri="{BB962C8B-B14F-4D97-AF65-F5344CB8AC3E}">
        <p14:creationId xmlns:p14="http://schemas.microsoft.com/office/powerpoint/2010/main" val="384408081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72CFA4-F3F3-19EE-1DB1-530128CA501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3F5B82E-4696-C3C1-5F1F-D961D56217D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C50ED75-D007-30B4-488B-88E407F08DF7}"/>
              </a:ext>
            </a:extLst>
          </p:cNvPr>
          <p:cNvSpPr>
            <a:spLocks noGrp="1"/>
          </p:cNvSpPr>
          <p:nvPr>
            <p:ph type="body" idx="1"/>
          </p:nvPr>
        </p:nvSpPr>
        <p:spPr/>
        <p:txBody>
          <a:bodyPr/>
          <a:lstStyle/>
          <a:p>
            <a:r>
              <a:rPr lang="en-US" altLang="zh-CN" dirty="0"/>
              <a:t>PCB</a:t>
            </a:r>
            <a:r>
              <a:rPr lang="zh-CN" altLang="en-US" dirty="0"/>
              <a:t>刚性电路板坚硬的板材可以保护电子元件免受损坏，但它限制了电子产品的延展性和柔韧性。于是有了柔性印刷电路。</a:t>
            </a:r>
          </a:p>
        </p:txBody>
      </p:sp>
      <p:sp>
        <p:nvSpPr>
          <p:cNvPr id="4" name="灯片编号占位符 3">
            <a:extLst>
              <a:ext uri="{FF2B5EF4-FFF2-40B4-BE49-F238E27FC236}">
                <a16:creationId xmlns:a16="http://schemas.microsoft.com/office/drawing/2014/main" id="{EAFC3739-4242-DC99-240D-0FC0324EDCCD}"/>
              </a:ext>
            </a:extLst>
          </p:cNvPr>
          <p:cNvSpPr>
            <a:spLocks noGrp="1"/>
          </p:cNvSpPr>
          <p:nvPr>
            <p:ph type="sldNum" sz="quarter" idx="5"/>
          </p:nvPr>
        </p:nvSpPr>
        <p:spPr/>
        <p:txBody>
          <a:bodyPr/>
          <a:lstStyle/>
          <a:p>
            <a:fld id="{84918B77-9CB1-4C48-BED5-B02F24F09A98}" type="slidenum">
              <a:rPr lang="zh-CN" altLang="en-US" smtClean="0"/>
              <a:t>45</a:t>
            </a:fld>
            <a:endParaRPr lang="zh-CN" altLang="en-US"/>
          </a:p>
        </p:txBody>
      </p:sp>
    </p:spTree>
    <p:extLst>
      <p:ext uri="{BB962C8B-B14F-4D97-AF65-F5344CB8AC3E}">
        <p14:creationId xmlns:p14="http://schemas.microsoft.com/office/powerpoint/2010/main" val="423511357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24BED-7335-BE5E-101B-9D35066C1C1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121340D-68D8-4122-E7A9-3CFE9C810D2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3F0C306-0014-6383-A20E-7A427E3481AD}"/>
              </a:ext>
            </a:extLst>
          </p:cNvPr>
          <p:cNvSpPr>
            <a:spLocks noGrp="1"/>
          </p:cNvSpPr>
          <p:nvPr>
            <p:ph type="body" idx="1"/>
          </p:nvPr>
        </p:nvSpPr>
        <p:spPr/>
        <p:txBody>
          <a:bodyPr/>
          <a:lstStyle/>
          <a:p>
            <a:endParaRPr lang="en-US" altLang="zh-CN" dirty="0"/>
          </a:p>
          <a:p>
            <a:r>
              <a:rPr lang="zh-CN" altLang="en-US" dirty="0"/>
              <a:t>印刷电子是基于印刷原理制造电子设备的技术</a:t>
            </a:r>
            <a:r>
              <a:rPr lang="en-US" altLang="zh-CN" dirty="0"/>
              <a:t>[1]</a:t>
            </a:r>
            <a:r>
              <a:rPr lang="zh-CN" altLang="en-US" dirty="0"/>
              <a:t>。与传统印刷技术不同，印刷机中使用的油墨是具有导电、介电、半导体或磁性的电子材料。印刷电子与有机电子、塑料电子、柔性电子和纸电子等多个领域密切相关</a:t>
            </a:r>
            <a:r>
              <a:rPr lang="en-US" altLang="zh-CN" dirty="0"/>
              <a:t>[2]</a:t>
            </a:r>
            <a:r>
              <a:rPr lang="zh-CN" altLang="en-US" dirty="0"/>
              <a:t>，这意味着不仅可以在硅和玻璃上印刷电路，还可以在塑料、纸张和更柔性的基板上印刷电路。生产柔性电子产品的方法之一是将导电材料直接印刷到柔性基板上。经典的柔性电子是指将有机</a:t>
            </a:r>
            <a:r>
              <a:rPr lang="en-US" altLang="zh-CN" dirty="0"/>
              <a:t>/</a:t>
            </a:r>
            <a:r>
              <a:rPr lang="zh-CN" altLang="en-US" dirty="0"/>
              <a:t>无机电子器件沉积在柔性基板上形成电路的技术</a:t>
            </a:r>
            <a:r>
              <a:rPr lang="en-US" altLang="zh-CN" dirty="0"/>
              <a:t>[3]</a:t>
            </a:r>
            <a:r>
              <a:rPr lang="zh-CN" altLang="en-US" dirty="0"/>
              <a:t>。虽然刚性电路板可以保护电子元件免受损坏，但它限制了电子产品的延展性和柔韧性。柔性电子具有柔软、延展性好、制造成本低等优点，可在信息、能源、医学和国防技术领域提供智能传感器、执行器、柔性显示器、有机发光二极管 </a:t>
            </a:r>
            <a:r>
              <a:rPr lang="en-US" altLang="zh-CN" dirty="0"/>
              <a:t>(OLED) </a:t>
            </a:r>
            <a:r>
              <a:rPr lang="zh-CN" altLang="en-US" dirty="0"/>
              <a:t>等。与传统的刚性微电子相比，柔性电子最显著的特点是其柔韧性，这使得它们可拉伸、保形、便携、可穿戴，并易于快速打印 </a:t>
            </a:r>
            <a:r>
              <a:rPr lang="en-US" altLang="zh-CN" dirty="0"/>
              <a:t>[4,5,6,7,8]</a:t>
            </a:r>
            <a:r>
              <a:rPr lang="zh-CN" altLang="en-US" dirty="0"/>
              <a:t>。由于柔性电子在电气、可打印、生物医学和传感特性方面的独特优势，它可以在电子元件 </a:t>
            </a:r>
            <a:r>
              <a:rPr lang="en-US" altLang="zh-CN" dirty="0"/>
              <a:t>[9]</a:t>
            </a:r>
            <a:r>
              <a:rPr lang="zh-CN" altLang="en-US" dirty="0"/>
              <a:t>、打印技术、植入式设备 </a:t>
            </a:r>
            <a:r>
              <a:rPr lang="en-US" altLang="zh-CN" dirty="0"/>
              <a:t>[10] </a:t>
            </a:r>
            <a:r>
              <a:rPr lang="zh-CN" altLang="en-US" dirty="0"/>
              <a:t>和健康监测器 </a:t>
            </a:r>
            <a:r>
              <a:rPr lang="en-US" altLang="zh-CN" dirty="0"/>
              <a:t>[11] </a:t>
            </a:r>
            <a:r>
              <a:rPr lang="zh-CN" altLang="en-US" dirty="0"/>
              <a:t>等领域得到广泛应用，具体用途包括天线 </a:t>
            </a:r>
            <a:r>
              <a:rPr lang="en-US" altLang="zh-CN" dirty="0"/>
              <a:t>[12]</a:t>
            </a:r>
            <a:r>
              <a:rPr lang="zh-CN" altLang="en-US" dirty="0"/>
              <a:t>、眼球摄像头 </a:t>
            </a:r>
            <a:r>
              <a:rPr lang="en-US" altLang="zh-CN" dirty="0"/>
              <a:t>[13] </a:t>
            </a:r>
            <a:r>
              <a:rPr lang="zh-CN" altLang="en-US" dirty="0"/>
              <a:t>和压力传感器 </a:t>
            </a:r>
            <a:r>
              <a:rPr lang="en-US" altLang="zh-CN" dirty="0"/>
              <a:t>[14] </a:t>
            </a:r>
            <a:r>
              <a:rPr lang="zh-CN" altLang="en-US" dirty="0"/>
              <a:t>等。如今，人们已采用两种常见策略来提高电子产品的柔软度 </a:t>
            </a:r>
            <a:r>
              <a:rPr lang="en-US" altLang="zh-CN" dirty="0"/>
              <a:t>[15]</a:t>
            </a:r>
            <a:r>
              <a:rPr lang="zh-CN" altLang="en-US" dirty="0"/>
              <a:t>。一种是将坚硬的导电材料嵌入到可拉伸的基底上，例如聚二甲基硅氧烷 </a:t>
            </a:r>
            <a:r>
              <a:rPr lang="en-US" altLang="zh-CN" dirty="0"/>
              <a:t>(PDMS)</a:t>
            </a:r>
            <a:r>
              <a:rPr lang="zh-CN" altLang="en-US" dirty="0"/>
              <a:t>。</a:t>
            </a:r>
            <a:r>
              <a:rPr lang="en-US" altLang="zh-CN" dirty="0"/>
              <a:t>Rogers </a:t>
            </a:r>
            <a:r>
              <a:rPr lang="zh-CN" altLang="en-US" dirty="0"/>
              <a:t>等人引入了一种复杂的波浪结构来保持电路的可拉伸性，当应力作用于柔软的基底上时，它可以吸收较大的张力 </a:t>
            </a:r>
            <a:r>
              <a:rPr lang="en-US" altLang="zh-CN" dirty="0"/>
              <a:t>[16,17]</a:t>
            </a:r>
            <a:r>
              <a:rPr lang="zh-CN" altLang="en-US" dirty="0"/>
              <a:t>。另一种是使用固有可拉伸的导体来形成电路 </a:t>
            </a:r>
            <a:r>
              <a:rPr lang="en-US" altLang="zh-CN" dirty="0"/>
              <a:t>[18]</a:t>
            </a:r>
            <a:r>
              <a:rPr lang="zh-CN" altLang="en-US" dirty="0"/>
              <a:t>。</a:t>
            </a:r>
            <a:r>
              <a:rPr lang="en-US" altLang="zh-CN" dirty="0"/>
              <a:t>Russo </a:t>
            </a:r>
            <a:r>
              <a:rPr lang="zh-CN" altLang="en-US" dirty="0"/>
              <a:t>等人展示了一种使用导电银墨水连接电路的方法，这种方法可以直接在纸上书写导电文字以连接发光二极管 </a:t>
            </a:r>
            <a:r>
              <a:rPr lang="en-US" altLang="zh-CN" dirty="0"/>
              <a:t>(LED) </a:t>
            </a:r>
            <a:r>
              <a:rPr lang="zh-CN" altLang="en-US" dirty="0"/>
              <a:t>阵列和三维 </a:t>
            </a:r>
            <a:r>
              <a:rPr lang="en-US" altLang="zh-CN" dirty="0"/>
              <a:t>(3D) </a:t>
            </a:r>
            <a:r>
              <a:rPr lang="zh-CN" altLang="en-US" dirty="0"/>
              <a:t>天线 </a:t>
            </a:r>
            <a:r>
              <a:rPr lang="en-US" altLang="zh-CN" dirty="0"/>
              <a:t>[12]</a:t>
            </a:r>
            <a:r>
              <a:rPr lang="zh-CN" altLang="en-US" dirty="0"/>
              <a:t>。显然，柔性印刷电子 </a:t>
            </a:r>
            <a:r>
              <a:rPr lang="en-US" altLang="zh-CN" dirty="0"/>
              <a:t>(FPE) </a:t>
            </a:r>
            <a:r>
              <a:rPr lang="zh-CN" altLang="en-US" dirty="0"/>
              <a:t>结合了柔性电子和印刷电子的特点。通过这种方式，人们可以快速制造出功能齐全的柔性电子设备。随着印刷技术的成熟，柔性印刷已成为研究的热门话题。目前已经出现了几种典型的印刷技术，例如敲击模式印刷</a:t>
            </a:r>
            <a:r>
              <a:rPr lang="en-US" altLang="zh-CN" dirty="0"/>
              <a:t>[18]</a:t>
            </a:r>
            <a:r>
              <a:rPr lang="zh-CN" altLang="en-US" dirty="0"/>
              <a:t>、气溶胶喷射印刷、卷对卷技术</a:t>
            </a:r>
            <a:r>
              <a:rPr lang="en-US" altLang="zh-CN" dirty="0"/>
              <a:t>[19]</a:t>
            </a:r>
            <a:r>
              <a:rPr lang="zh-CN" altLang="en-US" dirty="0"/>
              <a:t>、喷墨印刷</a:t>
            </a:r>
            <a:r>
              <a:rPr lang="en-US" altLang="zh-CN" dirty="0"/>
              <a:t>[20]</a:t>
            </a:r>
            <a:r>
              <a:rPr lang="zh-CN" altLang="en-US" dirty="0"/>
              <a:t>以及微笔和刷子印刷</a:t>
            </a:r>
            <a:r>
              <a:rPr lang="en-US" altLang="zh-CN" dirty="0"/>
              <a:t>[21,22]</a:t>
            </a:r>
            <a:r>
              <a:rPr lang="zh-CN" altLang="en-US" dirty="0"/>
              <a:t>。其中，微笔也许是最简单的方法：将电墨水泵入墨盒中直接写出导电文字。这使得在 </a:t>
            </a:r>
            <a:r>
              <a:rPr lang="en-US" altLang="zh-CN" dirty="0"/>
              <a:t>A4 </a:t>
            </a:r>
            <a:r>
              <a:rPr lang="zh-CN" altLang="en-US" dirty="0"/>
              <a:t>纸上绘制电路图成为可能。微笔明显降低了电路生产的复杂性并提高了电子电路制造的效率。</a:t>
            </a:r>
            <a:r>
              <a:rPr lang="en-US" altLang="zh-CN" dirty="0"/>
              <a:t>FPE </a:t>
            </a:r>
            <a:r>
              <a:rPr lang="zh-CN" altLang="en-US" dirty="0"/>
              <a:t>在不同领域取得了重大成就，例如柔性显示设备</a:t>
            </a:r>
            <a:r>
              <a:rPr lang="en-US" altLang="zh-CN" dirty="0"/>
              <a:t>[23]</a:t>
            </a:r>
            <a:r>
              <a:rPr lang="zh-CN" altLang="en-US" dirty="0"/>
              <a:t>、薄膜太阳能电池</a:t>
            </a:r>
            <a:r>
              <a:rPr lang="en-US" altLang="zh-CN" dirty="0"/>
              <a:t>[24,25]</a:t>
            </a:r>
            <a:r>
              <a:rPr lang="zh-CN" altLang="en-US" dirty="0"/>
              <a:t>、大面积传感器和驱动器</a:t>
            </a:r>
            <a:r>
              <a:rPr lang="en-US" altLang="zh-CN" dirty="0"/>
              <a:t>[26,27]</a:t>
            </a:r>
            <a:r>
              <a:rPr lang="zh-CN" altLang="en-US" dirty="0"/>
              <a:t>、电子皮肤</a:t>
            </a:r>
            <a:r>
              <a:rPr lang="en-US" altLang="zh-CN" dirty="0"/>
              <a:t>[28]</a:t>
            </a:r>
            <a:r>
              <a:rPr lang="zh-CN" altLang="en-US" dirty="0"/>
              <a:t>、可穿戴电子和生物假肢设备</a:t>
            </a:r>
            <a:r>
              <a:rPr lang="en-US" altLang="zh-CN" dirty="0"/>
              <a:t>[29]</a:t>
            </a:r>
            <a:r>
              <a:rPr lang="zh-CN" altLang="en-US" dirty="0"/>
              <a:t>、自充电系统</a:t>
            </a:r>
            <a:r>
              <a:rPr lang="en-US" altLang="zh-CN" dirty="0"/>
              <a:t>[30]</a:t>
            </a:r>
            <a:r>
              <a:rPr lang="zh-CN" altLang="en-US" dirty="0"/>
              <a:t>、自供电无线监控</a:t>
            </a:r>
            <a:r>
              <a:rPr lang="en-US" altLang="zh-CN" dirty="0"/>
              <a:t>[31]</a:t>
            </a:r>
            <a:r>
              <a:rPr lang="zh-CN" altLang="en-US" dirty="0"/>
              <a:t>等。如果电路具有柔软性、顺应性、可拉伸性和便携性等特性，则可以称其为可弯曲电子设备。与此同时，许多实验室已经开发出具有柔性的电子设备，如弯曲显示器</a:t>
            </a:r>
            <a:r>
              <a:rPr lang="en-US" altLang="zh-CN" dirty="0"/>
              <a:t>[32]</a:t>
            </a:r>
            <a:r>
              <a:rPr lang="zh-CN" altLang="en-US" dirty="0"/>
              <a:t>、折叠电池</a:t>
            </a:r>
            <a:r>
              <a:rPr lang="en-US" altLang="zh-CN" dirty="0"/>
              <a:t>[9]</a:t>
            </a:r>
            <a:r>
              <a:rPr lang="zh-CN" altLang="en-US" dirty="0"/>
              <a:t>、软场效应晶体管</a:t>
            </a:r>
            <a:r>
              <a:rPr lang="en-US" altLang="zh-CN" dirty="0"/>
              <a:t>[33]</a:t>
            </a:r>
            <a:r>
              <a:rPr lang="zh-CN" altLang="en-US" dirty="0"/>
              <a:t>、可拉伸导线</a:t>
            </a:r>
            <a:r>
              <a:rPr lang="en-US" altLang="zh-CN" dirty="0"/>
              <a:t>[34]</a:t>
            </a:r>
            <a:r>
              <a:rPr lang="zh-CN" altLang="en-US" dirty="0"/>
              <a:t>等。</a:t>
            </a:r>
            <a:r>
              <a:rPr lang="en-US" altLang="zh-CN" dirty="0"/>
              <a:t>FPE</a:t>
            </a:r>
            <a:r>
              <a:rPr lang="zh-CN" altLang="en-US" dirty="0"/>
              <a:t>还可以用于健康监测、医学检查、生命体征检测和其他日常生活需求。柔性生物医学设备已广泛应用于植入式设备</a:t>
            </a:r>
            <a:r>
              <a:rPr lang="en-US" altLang="zh-CN" dirty="0"/>
              <a:t>[10]</a:t>
            </a:r>
            <a:r>
              <a:rPr lang="zh-CN" altLang="en-US" dirty="0"/>
              <a:t>、神经连接</a:t>
            </a:r>
            <a:r>
              <a:rPr lang="en-US" altLang="zh-CN" dirty="0"/>
              <a:t>[35,36]</a:t>
            </a:r>
            <a:r>
              <a:rPr lang="zh-CN" altLang="en-US" dirty="0"/>
              <a:t>、健康监测</a:t>
            </a:r>
            <a:r>
              <a:rPr lang="en-US" altLang="zh-CN" dirty="0"/>
              <a:t>[11]</a:t>
            </a:r>
            <a:r>
              <a:rPr lang="zh-CN" altLang="en-US" dirty="0"/>
              <a:t>和可穿戴医疗设备领域。</a:t>
            </a:r>
            <a:r>
              <a:rPr lang="en-US" altLang="zh-CN" dirty="0"/>
              <a:t>FPE</a:t>
            </a:r>
            <a:r>
              <a:rPr lang="zh-CN" altLang="en-US" dirty="0"/>
              <a:t>还用于生物传感，其中最重要的应用是电子皮肤（</a:t>
            </a:r>
            <a:r>
              <a:rPr lang="en-US" altLang="zh-CN" dirty="0"/>
              <a:t>E-skin</a:t>
            </a:r>
            <a:r>
              <a:rPr lang="zh-CN" altLang="en-US" dirty="0"/>
              <a:t>），如压力映射</a:t>
            </a:r>
            <a:r>
              <a:rPr lang="en-US" altLang="zh-CN" dirty="0"/>
              <a:t>[37]</a:t>
            </a:r>
            <a:r>
              <a:rPr lang="zh-CN" altLang="en-US" dirty="0"/>
              <a:t>、自愈传感器</a:t>
            </a:r>
            <a:r>
              <a:rPr lang="en-US" altLang="zh-CN" dirty="0"/>
              <a:t>[38]</a:t>
            </a:r>
            <a:r>
              <a:rPr lang="zh-CN" altLang="en-US" dirty="0"/>
              <a:t>、假肢</a:t>
            </a:r>
            <a:r>
              <a:rPr lang="en-US" altLang="zh-CN" dirty="0"/>
              <a:t>[39]</a:t>
            </a:r>
            <a:r>
              <a:rPr lang="zh-CN" altLang="en-US" dirty="0"/>
              <a:t>、压力传感器</a:t>
            </a:r>
            <a:r>
              <a:rPr lang="en-US" altLang="zh-CN" dirty="0"/>
              <a:t>[14]</a:t>
            </a:r>
            <a:r>
              <a:rPr lang="zh-CN" altLang="en-US" dirty="0"/>
              <a:t>等。许多研究机构正在研究应用于柔性电子皮肤的不同材料。在鲍哲南的实验室，他们发明了一种受皮肤启发的人工机械感受器系统，该受体可以将压力刺激信号转化为人类神经元可以感知的电生理信号</a:t>
            </a:r>
            <a:r>
              <a:rPr lang="en-US" altLang="zh-CN" dirty="0"/>
              <a:t>[40]</a:t>
            </a:r>
          </a:p>
          <a:p>
            <a:endParaRPr lang="en-US" altLang="zh-CN" dirty="0"/>
          </a:p>
          <a:p>
            <a:endParaRPr lang="en-US" altLang="zh-CN" dirty="0"/>
          </a:p>
          <a:p>
            <a:r>
              <a:rPr lang="zh-CN" altLang="en-US" dirty="0"/>
              <a:t>在电子电路设计领域，必须特别注意柔性印刷电路的使用和放置。这些组件以其在各种应用中的灵活性和适应性而闻名，需要小心处理和战略定位以确保最佳性能和使用寿命</a:t>
            </a:r>
            <a:r>
              <a:rPr lang="en-US" altLang="zh-CN" dirty="0"/>
              <a:t>21</a:t>
            </a:r>
            <a:r>
              <a:rPr lang="zh-CN" altLang="en-US" dirty="0"/>
              <a:t>。这种谨慎方法的原因是多方面的：在柔性印刷电路 </a:t>
            </a:r>
            <a:r>
              <a:rPr lang="en-US" altLang="zh-CN" dirty="0"/>
              <a:t>(FPC) </a:t>
            </a:r>
            <a:r>
              <a:rPr lang="zh-CN" altLang="en-US" dirty="0"/>
              <a:t>的设计中，必须解决几个问题以确保其耐用性和功能性。首先，</a:t>
            </a:r>
            <a:r>
              <a:rPr lang="en-US" altLang="zh-CN" dirty="0"/>
              <a:t>FPC </a:t>
            </a:r>
            <a:r>
              <a:rPr lang="zh-CN" altLang="en-US" dirty="0"/>
              <a:t>本质上比刚性对应物更脆弱，容易受到机械损坏，例如裂缝或断裂</a:t>
            </a:r>
            <a:r>
              <a:rPr lang="en-US" altLang="zh-CN" dirty="0"/>
              <a:t>22</a:t>
            </a:r>
            <a:r>
              <a:rPr lang="zh-CN" altLang="en-US" dirty="0"/>
              <a:t>，尤其是在受到外部应力或力</a:t>
            </a:r>
            <a:r>
              <a:rPr lang="en-US" altLang="zh-CN" dirty="0"/>
              <a:t>23 </a:t>
            </a:r>
            <a:r>
              <a:rPr lang="zh-CN" altLang="en-US" dirty="0"/>
              <a:t>时。在 </a:t>
            </a:r>
            <a:r>
              <a:rPr lang="en-US" altLang="zh-CN" dirty="0"/>
              <a:t>FPC </a:t>
            </a:r>
            <a:r>
              <a:rPr lang="zh-CN" altLang="en-US" dirty="0"/>
              <a:t>可能接触其他组件的环境中，尤其是在容易移动或振动的环境中，这种脆弱性会加剧。战略性的物理分离可以显著降低此类损坏的风险。此外，当 </a:t>
            </a:r>
            <a:r>
              <a:rPr lang="en-US" altLang="zh-CN" dirty="0"/>
              <a:t>FPC </a:t>
            </a:r>
            <a:r>
              <a:rPr lang="zh-CN" altLang="en-US" dirty="0"/>
              <a:t>放置得太靠近其他电子元件（尤其是那些产生强电磁场的电子元件）时，</a:t>
            </a:r>
            <a:r>
              <a:rPr lang="en-US" altLang="zh-CN" dirty="0"/>
              <a:t>FPC </a:t>
            </a:r>
            <a:r>
              <a:rPr lang="zh-CN" altLang="en-US" dirty="0"/>
              <a:t>面临着电气干扰的挑战</a:t>
            </a:r>
            <a:r>
              <a:rPr lang="en-US" altLang="zh-CN" dirty="0"/>
              <a:t>24</a:t>
            </a:r>
            <a:r>
              <a:rPr lang="zh-CN" altLang="en-US" dirty="0"/>
              <a:t>。这种干扰会破坏 </a:t>
            </a:r>
            <a:r>
              <a:rPr lang="en-US" altLang="zh-CN" dirty="0"/>
              <a:t>FPC </a:t>
            </a:r>
            <a:r>
              <a:rPr lang="zh-CN" altLang="en-US" dirty="0"/>
              <a:t>上电路的正常运行，导致故障或效率低下。此外，保持信号完整性至关重要</a:t>
            </a:r>
            <a:r>
              <a:rPr lang="en-US" altLang="zh-CN" dirty="0"/>
              <a:t>25</a:t>
            </a:r>
            <a:r>
              <a:rPr lang="zh-CN" altLang="en-US" dirty="0"/>
              <a:t>，因为与其他组件的距离太近可能会导致信号丢失或干扰，这在高频或精密应用中至关重要，因为信号清晰度和完整性至关重要。有效的热管理是另一个关键考虑因素</a:t>
            </a:r>
            <a:r>
              <a:rPr lang="en-US" altLang="zh-CN" dirty="0"/>
              <a:t>26,27</a:t>
            </a:r>
            <a:r>
              <a:rPr lang="zh-CN" altLang="en-US" dirty="0"/>
              <a:t>。如果 </a:t>
            </a:r>
            <a:r>
              <a:rPr lang="en-US" altLang="zh-CN" dirty="0"/>
              <a:t>FPC </a:t>
            </a:r>
            <a:r>
              <a:rPr lang="zh-CN" altLang="en-US" dirty="0"/>
              <a:t>的位置太靠近发热组件，由此产生的高温会对其性能和寿命产生不利影响。足够的间距对于促进适当的散热和防止热过载至关重要，热过载会降低 </a:t>
            </a:r>
            <a:r>
              <a:rPr lang="en-US" altLang="zh-CN" dirty="0"/>
              <a:t>FPC </a:t>
            </a:r>
            <a:r>
              <a:rPr lang="zh-CN" altLang="en-US" dirty="0"/>
              <a:t>的材料和电路性能。最后，</a:t>
            </a:r>
            <a:r>
              <a:rPr lang="en-US" altLang="zh-CN" dirty="0"/>
              <a:t>FPC </a:t>
            </a:r>
            <a:r>
              <a:rPr lang="zh-CN" altLang="en-US" dirty="0"/>
              <a:t>独特的灵活性使它们可以弯曲或弯曲以适应特定的设计，但这种弯曲应该小心控制</a:t>
            </a:r>
            <a:r>
              <a:rPr lang="en-US" altLang="zh-CN" dirty="0"/>
              <a:t>28</a:t>
            </a:r>
            <a:r>
              <a:rPr lang="zh-CN" altLang="en-US" dirty="0"/>
              <a:t>。过度的曲率会对材料施加不当的压力，增加随着时间的推移疲劳和损坏的风险</a:t>
            </a:r>
            <a:r>
              <a:rPr lang="en-US" altLang="zh-CN" dirty="0"/>
              <a:t>29</a:t>
            </a:r>
            <a:r>
              <a:rPr lang="zh-CN" altLang="en-US" dirty="0"/>
              <a:t>。正确管理曲率对于保持 </a:t>
            </a:r>
            <a:r>
              <a:rPr lang="en-US" altLang="zh-CN" dirty="0"/>
              <a:t>FPC </a:t>
            </a:r>
            <a:r>
              <a:rPr lang="zh-CN" altLang="en-US" dirty="0"/>
              <a:t>的结构完整性至关重要。总之，</a:t>
            </a:r>
            <a:r>
              <a:rPr lang="en-US" altLang="zh-CN" dirty="0"/>
              <a:t>FPC </a:t>
            </a:r>
            <a:r>
              <a:rPr lang="zh-CN" altLang="en-US" dirty="0"/>
              <a:t>的战略性放置和处理在电路设计中至关重要。这不仅涉及避免与其他组件的物理接触，还需要考虑电磁兼容性、信号完整性</a:t>
            </a:r>
            <a:r>
              <a:rPr lang="en-US" altLang="zh-CN" dirty="0"/>
              <a:t>30</a:t>
            </a:r>
            <a:r>
              <a:rPr lang="zh-CN" altLang="en-US" dirty="0"/>
              <a:t>、热管理</a:t>
            </a:r>
            <a:r>
              <a:rPr lang="en-US" altLang="zh-CN" dirty="0"/>
              <a:t>31</a:t>
            </a:r>
            <a:r>
              <a:rPr lang="zh-CN" altLang="en-US" dirty="0"/>
              <a:t>和机械应力</a:t>
            </a:r>
            <a:r>
              <a:rPr lang="en-US" altLang="zh-CN" dirty="0"/>
              <a:t>32,33,34</a:t>
            </a:r>
            <a:r>
              <a:rPr lang="zh-CN" altLang="en-US" dirty="0"/>
              <a:t>等方面。这些考虑因素是设计过程不可或缺的，可确保 </a:t>
            </a:r>
            <a:r>
              <a:rPr lang="en-US" altLang="zh-CN" dirty="0"/>
              <a:t>FPC </a:t>
            </a:r>
            <a:r>
              <a:rPr lang="zh-CN" altLang="en-US" dirty="0"/>
              <a:t>在预期应用中有效可靠地发挥作用。对 </a:t>
            </a:r>
            <a:r>
              <a:rPr lang="en-US" altLang="zh-CN" dirty="0"/>
              <a:t>FPC </a:t>
            </a:r>
            <a:r>
              <a:rPr lang="zh-CN" altLang="en-US" dirty="0"/>
              <a:t>相关的细微差别的详细了解对于电子设计领域的专业人士至关重要，值得在学术和技术文献中进行深入讨论。在 </a:t>
            </a:r>
            <a:r>
              <a:rPr lang="en-US" altLang="zh-CN" dirty="0"/>
              <a:t>FPC </a:t>
            </a:r>
            <a:r>
              <a:rPr lang="zh-CN" altLang="en-US" dirty="0"/>
              <a:t>力学和变形领域，</a:t>
            </a:r>
            <a:r>
              <a:rPr lang="en-US" altLang="zh-CN" dirty="0"/>
              <a:t>John </a:t>
            </a:r>
            <a:r>
              <a:rPr lang="zh-CN" altLang="en-US" dirty="0"/>
              <a:t>等人</a:t>
            </a:r>
            <a:r>
              <a:rPr lang="en-US" altLang="zh-CN" dirty="0"/>
              <a:t>35 </a:t>
            </a:r>
            <a:r>
              <a:rPr lang="zh-CN" altLang="en-US" dirty="0"/>
              <a:t>深入研究了与弯曲、成型和弯曲印刷电路相关的机械和材料挑战，特别是针对非玻璃编织材料。他们的研究全面分析了弯曲过程中应变对铜层的影响及其对静态和动态应用的影响，强调了了解材料特性和铜在机械应力下的行为的重要性。同时，</a:t>
            </a:r>
            <a:r>
              <a:rPr lang="en-US" altLang="zh-CN" dirty="0" err="1"/>
              <a:t>Hirotaka</a:t>
            </a:r>
            <a:r>
              <a:rPr lang="en-US" altLang="zh-CN" dirty="0"/>
              <a:t> </a:t>
            </a:r>
            <a:r>
              <a:rPr lang="zh-CN" altLang="en-US" dirty="0"/>
              <a:t>等人 </a:t>
            </a:r>
            <a:r>
              <a:rPr lang="en-US" altLang="zh-CN" dirty="0"/>
              <a:t>36 </a:t>
            </a:r>
            <a:r>
              <a:rPr lang="zh-CN" altLang="en-US" dirty="0"/>
              <a:t>研究了基于 </a:t>
            </a:r>
            <a:r>
              <a:rPr lang="en-US" altLang="zh-CN" dirty="0"/>
              <a:t>FPC </a:t>
            </a:r>
            <a:r>
              <a:rPr lang="zh-CN" altLang="en-US" dirty="0"/>
              <a:t>的平面倒置 </a:t>
            </a:r>
            <a:r>
              <a:rPr lang="en-US" altLang="zh-CN" dirty="0"/>
              <a:t>F </a:t>
            </a:r>
            <a:r>
              <a:rPr lang="zh-CN" altLang="en-US" dirty="0"/>
              <a:t>天线 </a:t>
            </a:r>
            <a:r>
              <a:rPr lang="en-US" altLang="zh-CN" dirty="0"/>
              <a:t>(PIFA) </a:t>
            </a:r>
            <a:r>
              <a:rPr lang="zh-CN" altLang="en-US" dirty="0"/>
              <a:t>的性能特征，重点研究了它在受到机械变形时保持稳定辐射模式和效率的稳健性。他们的研究结果证实了天线适用于紧凑型移动设备，且性能下降最小。此外，</a:t>
            </a:r>
            <a:r>
              <a:rPr lang="en-US" altLang="zh-CN" dirty="0"/>
              <a:t>Ping </a:t>
            </a:r>
            <a:r>
              <a:rPr lang="zh-CN" altLang="en-US" dirty="0"/>
              <a:t>等人 </a:t>
            </a:r>
            <a:r>
              <a:rPr lang="en-US" altLang="zh-CN" dirty="0"/>
              <a:t>22 </a:t>
            </a:r>
            <a:r>
              <a:rPr lang="zh-CN" altLang="en-US" dirty="0"/>
              <a:t>确定了 </a:t>
            </a:r>
            <a:r>
              <a:rPr lang="en-US" altLang="zh-CN" dirty="0"/>
              <a:t>FPC </a:t>
            </a:r>
            <a:r>
              <a:rPr lang="zh-CN" altLang="en-US" dirty="0"/>
              <a:t>应用中常见的故障模式，例如通孔互连问题、走线裂缝和黑垫现象。他们提出了通过改进制造工艺、机械设计和动态应力分布来提高 </a:t>
            </a:r>
            <a:r>
              <a:rPr lang="en-US" altLang="zh-CN" dirty="0"/>
              <a:t>FPC </a:t>
            </a:r>
            <a:r>
              <a:rPr lang="zh-CN" altLang="en-US" dirty="0"/>
              <a:t>可靠性和质量的方法。总的来说，这些研究阐明了 </a:t>
            </a:r>
            <a:r>
              <a:rPr lang="en-US" altLang="zh-CN" dirty="0"/>
              <a:t>FPC </a:t>
            </a:r>
            <a:r>
              <a:rPr lang="zh-CN" altLang="en-US" dirty="0"/>
              <a:t>在先进电子领域设计和应用方面取得的重大进展和持续存在的挑战。基于这些对 </a:t>
            </a:r>
            <a:r>
              <a:rPr lang="en-US" altLang="zh-CN" dirty="0"/>
              <a:t>FPC </a:t>
            </a:r>
            <a:r>
              <a:rPr lang="zh-CN" altLang="en-US" dirty="0"/>
              <a:t>力学和变形的基础见解，进一步的研究专门针对柔性印刷电路板 </a:t>
            </a:r>
            <a:r>
              <a:rPr lang="en-US" altLang="zh-CN" dirty="0"/>
              <a:t>(FPCB) </a:t>
            </a:r>
            <a:r>
              <a:rPr lang="zh-CN" altLang="en-US" dirty="0"/>
              <a:t>的复杂性。最近的研究为这一领域做出了重大贡献。 </a:t>
            </a:r>
            <a:r>
              <a:rPr lang="en-US" altLang="zh-CN" dirty="0"/>
              <a:t>Chong </a:t>
            </a:r>
            <a:r>
              <a:rPr lang="zh-CN" altLang="en-US" dirty="0"/>
              <a:t>等人 </a:t>
            </a:r>
            <a:r>
              <a:rPr lang="en-US" altLang="zh-CN" dirty="0"/>
              <a:t>37 </a:t>
            </a:r>
            <a:r>
              <a:rPr lang="zh-CN" altLang="en-US" dirty="0"/>
              <a:t>深入研究了热条件下的传热和变形方面，使用流体结构相互作用进行模拟。</a:t>
            </a:r>
            <a:r>
              <a:rPr lang="en-US" altLang="zh-CN" dirty="0"/>
              <a:t>Leong </a:t>
            </a:r>
            <a:r>
              <a:rPr lang="zh-CN" altLang="en-US" dirty="0"/>
              <a:t>等人 </a:t>
            </a:r>
            <a:r>
              <a:rPr lang="en-US" altLang="zh-CN" dirty="0"/>
              <a:t>38 </a:t>
            </a:r>
            <a:r>
              <a:rPr lang="zh-CN" altLang="en-US" dirty="0"/>
              <a:t>旨在采用先进的方法优化 </a:t>
            </a:r>
            <a:r>
              <a:rPr lang="en-US" altLang="zh-CN" dirty="0"/>
              <a:t>FPCB </a:t>
            </a:r>
            <a:r>
              <a:rPr lang="zh-CN" altLang="en-US" dirty="0"/>
              <a:t>以减轻应力和挠度。</a:t>
            </a:r>
            <a:r>
              <a:rPr lang="en-US" altLang="zh-CN" dirty="0"/>
              <a:t>Alexander 39 </a:t>
            </a:r>
            <a:r>
              <a:rPr lang="zh-CN" altLang="en-US" dirty="0"/>
              <a:t>专注于 </a:t>
            </a:r>
            <a:r>
              <a:rPr lang="en-US" altLang="zh-CN" dirty="0"/>
              <a:t>FPC </a:t>
            </a:r>
            <a:r>
              <a:rPr lang="zh-CN" altLang="en-US" dirty="0"/>
              <a:t>的机械可靠性，特别是在动态环境中，将疲劳测试与计算分析相结合。</a:t>
            </a:r>
            <a:r>
              <a:rPr lang="en-US" altLang="zh-CN" dirty="0"/>
              <a:t>Liu </a:t>
            </a:r>
            <a:r>
              <a:rPr lang="zh-CN" altLang="en-US" dirty="0"/>
              <a:t>等人 </a:t>
            </a:r>
            <a:r>
              <a:rPr lang="en-US" altLang="zh-CN" dirty="0"/>
              <a:t>40 </a:t>
            </a:r>
            <a:r>
              <a:rPr lang="zh-CN" altLang="en-US" dirty="0"/>
              <a:t>研究了影响 </a:t>
            </a:r>
            <a:r>
              <a:rPr lang="en-US" altLang="zh-CN" dirty="0"/>
              <a:t>FPC </a:t>
            </a:r>
            <a:r>
              <a:rPr lang="zh-CN" altLang="en-US" dirty="0"/>
              <a:t>弯曲的因素，揭示了为材料和设计选择提供了重要见解。</a:t>
            </a:r>
            <a:r>
              <a:rPr lang="en-US" altLang="zh-CN" dirty="0"/>
              <a:t>Zhang </a:t>
            </a:r>
            <a:r>
              <a:rPr lang="zh-CN" altLang="en-US" dirty="0"/>
              <a:t>等人 </a:t>
            </a:r>
            <a:r>
              <a:rPr lang="en-US" altLang="zh-CN" dirty="0"/>
              <a:t>41 </a:t>
            </a:r>
            <a:r>
              <a:rPr lang="zh-CN" altLang="en-US" dirty="0"/>
              <a:t>探索了高加速度下刚挠结合 </a:t>
            </a:r>
            <a:r>
              <a:rPr lang="en-US" altLang="zh-CN" dirty="0"/>
              <a:t>PCB </a:t>
            </a:r>
            <a:r>
              <a:rPr lang="zh-CN" altLang="en-US" dirty="0"/>
              <a:t>的可靠性，揭示了应力动力学。</a:t>
            </a:r>
            <a:r>
              <a:rPr lang="en-US" altLang="zh-CN" dirty="0"/>
              <a:t>Lall </a:t>
            </a:r>
            <a:r>
              <a:rPr lang="zh-CN" altLang="en-US" dirty="0"/>
              <a:t>等人 </a:t>
            </a:r>
            <a:r>
              <a:rPr lang="en-US" altLang="zh-CN" dirty="0"/>
              <a:t>42 </a:t>
            </a:r>
            <a:r>
              <a:rPr lang="zh-CN" altLang="en-US" dirty="0"/>
              <a:t>研究了焊接过程中的变形挑战，而 </a:t>
            </a:r>
            <a:r>
              <a:rPr lang="en-US" altLang="zh-CN" dirty="0"/>
              <a:t>Muhammad </a:t>
            </a:r>
            <a:r>
              <a:rPr lang="zh-CN" altLang="en-US" dirty="0"/>
              <a:t>等人 </a:t>
            </a:r>
            <a:r>
              <a:rPr lang="en-US" altLang="zh-CN" dirty="0"/>
              <a:t>43 </a:t>
            </a:r>
            <a:r>
              <a:rPr lang="zh-CN" altLang="en-US" dirty="0"/>
              <a:t>评估了 </a:t>
            </a:r>
            <a:r>
              <a:rPr lang="en-US" altLang="zh-CN" dirty="0"/>
              <a:t>FPCB </a:t>
            </a:r>
            <a:r>
              <a:rPr lang="zh-CN" altLang="en-US" dirty="0"/>
              <a:t>的焊接后可靠性，强调了制造复杂性。这些研究共同促进了对微电子领域 </a:t>
            </a:r>
            <a:r>
              <a:rPr lang="en-US" altLang="zh-CN" dirty="0"/>
              <a:t>FPCB </a:t>
            </a:r>
            <a:r>
              <a:rPr lang="zh-CN" altLang="en-US" dirty="0"/>
              <a:t>的理解和设计。这项研究解决了理解和应用 </a:t>
            </a:r>
            <a:r>
              <a:rPr lang="en-US" altLang="zh-CN" dirty="0"/>
              <a:t>FPC </a:t>
            </a:r>
            <a:r>
              <a:rPr lang="zh-CN" altLang="en-US" dirty="0"/>
              <a:t>变形的关键差距。我们对不同条件下的 </a:t>
            </a:r>
            <a:r>
              <a:rPr lang="en-US" altLang="zh-CN" dirty="0"/>
              <a:t>FPC </a:t>
            </a:r>
            <a:r>
              <a:rPr lang="zh-CN" altLang="en-US" dirty="0"/>
              <a:t>曲率进行了广泛分析，这是以前研究不足的领域。我们的方法结合了使用 </a:t>
            </a:r>
            <a:r>
              <a:rPr lang="en-US" altLang="zh-CN" dirty="0"/>
              <a:t>Abaqus 2020 </a:t>
            </a:r>
            <a:r>
              <a:rPr lang="zh-CN" altLang="en-US" dirty="0"/>
              <a:t>进行变形行为分析的有限元法 </a:t>
            </a:r>
            <a:r>
              <a:rPr lang="en-US" altLang="zh-CN" dirty="0"/>
              <a:t>(FEM) </a:t>
            </a:r>
            <a:r>
              <a:rPr lang="zh-CN" altLang="en-US" dirty="0"/>
              <a:t>模拟和高级数学建模来检查 </a:t>
            </a:r>
            <a:r>
              <a:rPr lang="en-US" altLang="zh-CN" dirty="0"/>
              <a:t>FPC </a:t>
            </a:r>
            <a:r>
              <a:rPr lang="zh-CN" altLang="en-US" dirty="0"/>
              <a:t>上的曲率和空间分离。在我们的研究中，我们采用了雅可比矩阵迭代法，大大提高了预测 </a:t>
            </a:r>
            <a:r>
              <a:rPr lang="en-US" altLang="zh-CN" dirty="0"/>
              <a:t>FPC </a:t>
            </a:r>
            <a:r>
              <a:rPr lang="zh-CN" altLang="en-US" dirty="0"/>
              <a:t>曲率的精度。我们的发现对 </a:t>
            </a:r>
            <a:r>
              <a:rPr lang="en-US" altLang="zh-CN" dirty="0"/>
              <a:t>FPC </a:t>
            </a:r>
            <a:r>
              <a:rPr lang="zh-CN" altLang="en-US" dirty="0"/>
              <a:t>的设计和制造具有重要意义。它们强调了在 </a:t>
            </a:r>
            <a:r>
              <a:rPr lang="en-US" altLang="zh-CN" dirty="0"/>
              <a:t>FPC </a:t>
            </a:r>
            <a:r>
              <a:rPr lang="zh-CN" altLang="en-US" dirty="0"/>
              <a:t>和相邻组件之间保持自由接触空间以及优化曲率的必要性。这种方法对于防止机械应力、散热效率低下和物理损坏等问题至关重要，这些问题都会对电路功能和整体设备可靠性产生不利影响。此外，我们的研究确定了 </a:t>
            </a:r>
            <a:r>
              <a:rPr lang="en-US" altLang="zh-CN" dirty="0"/>
              <a:t>FPC </a:t>
            </a:r>
            <a:r>
              <a:rPr lang="zh-CN" altLang="en-US" dirty="0"/>
              <a:t>的理想长度，以最大限度地减少最大曲率，从而实现灵活性、结构完整性和可靠性之间的平衡。总之，我们的研究标志着 </a:t>
            </a:r>
            <a:r>
              <a:rPr lang="en-US" altLang="zh-CN" dirty="0"/>
              <a:t>FPC </a:t>
            </a:r>
            <a:r>
              <a:rPr lang="zh-CN" altLang="en-US" dirty="0"/>
              <a:t>研究的重大进步，提供了新的见解和方法。它旨在提高对各种条件下 </a:t>
            </a:r>
            <a:r>
              <a:rPr lang="en-US" altLang="zh-CN" dirty="0"/>
              <a:t>FPC </a:t>
            </a:r>
            <a:r>
              <a:rPr lang="zh-CN" altLang="en-US" dirty="0"/>
              <a:t>行为的理解，为未来的 </a:t>
            </a:r>
            <a:r>
              <a:rPr lang="en-US" altLang="zh-CN" dirty="0"/>
              <a:t>FPC </a:t>
            </a:r>
            <a:r>
              <a:rPr lang="zh-CN" altLang="en-US" dirty="0"/>
              <a:t>设计和应用增强奠定基础，为电子设计和制造领域的设备寿命和性能做出重大贡献。</a:t>
            </a:r>
            <a:endParaRPr lang="en-US" altLang="zh-CN" dirty="0"/>
          </a:p>
          <a:p>
            <a:endParaRPr lang="en-US" altLang="zh-CN" dirty="0"/>
          </a:p>
          <a:p>
            <a:endParaRPr lang="en-US" altLang="zh-CN" dirty="0"/>
          </a:p>
          <a:p>
            <a:endParaRPr lang="en-US" altLang="zh-CN" dirty="0"/>
          </a:p>
          <a:p>
            <a:endParaRPr lang="en-US" altLang="zh-CN" dirty="0"/>
          </a:p>
          <a:p>
            <a:r>
              <a:rPr lang="zh-CN" altLang="en-US" dirty="0"/>
              <a:t>图 </a:t>
            </a:r>
            <a:r>
              <a:rPr lang="en-US" altLang="zh-CN" dirty="0"/>
              <a:t>1. </a:t>
            </a:r>
            <a:r>
              <a:rPr lang="zh-CN" altLang="en-US" dirty="0"/>
              <a:t>基于液态金属的个性化柔性印刷电子产品。“可植入设备”：液态金属神经连接 </a:t>
            </a:r>
            <a:r>
              <a:rPr lang="en-US" altLang="zh-CN" dirty="0"/>
              <a:t>[35] (https://arxiv.org/abs/1404.5931)</a:t>
            </a:r>
            <a:r>
              <a:rPr lang="zh-CN" altLang="en-US" dirty="0"/>
              <a:t>；可注射 </a:t>
            </a:r>
            <a:r>
              <a:rPr lang="en-US" altLang="zh-CN" dirty="0"/>
              <a:t>3D </a:t>
            </a:r>
            <a:r>
              <a:rPr lang="zh-CN" altLang="en-US" dirty="0"/>
              <a:t>生物电极 </a:t>
            </a:r>
            <a:r>
              <a:rPr lang="en-US" altLang="zh-CN" dirty="0"/>
              <a:t>[54]</a:t>
            </a:r>
            <a:r>
              <a:rPr lang="zh-CN" altLang="en-US" dirty="0"/>
              <a:t>（经 </a:t>
            </a:r>
            <a:r>
              <a:rPr lang="en-US" altLang="zh-CN" dirty="0"/>
              <a:t>Jin, C.; Liu, J. et al. </a:t>
            </a:r>
            <a:r>
              <a:rPr lang="zh-CN" altLang="en-US" dirty="0"/>
              <a:t>许可转载，在目标生物组织中可注射 </a:t>
            </a:r>
            <a:r>
              <a:rPr lang="en-US" altLang="zh-CN" dirty="0"/>
              <a:t>3D </a:t>
            </a:r>
            <a:r>
              <a:rPr lang="zh-CN" altLang="en-US" dirty="0"/>
              <a:t>制造医疗电子产品；由 </a:t>
            </a:r>
            <a:r>
              <a:rPr lang="en-US" altLang="zh-CN" dirty="0"/>
              <a:t>Scientific Reports </a:t>
            </a:r>
            <a:r>
              <a:rPr lang="zh-CN" altLang="en-US" dirty="0"/>
              <a:t>于 </a:t>
            </a:r>
            <a:r>
              <a:rPr lang="en-US" altLang="zh-CN" dirty="0"/>
              <a:t>2013 </a:t>
            </a:r>
            <a:r>
              <a:rPr lang="zh-CN" altLang="en-US" dirty="0"/>
              <a:t>年发表。）；液态金属重连神经的电生理测量 </a:t>
            </a:r>
            <a:r>
              <a:rPr lang="en-US" altLang="zh-CN" dirty="0"/>
              <a:t>[36]</a:t>
            </a:r>
            <a:r>
              <a:rPr lang="zh-CN" altLang="en-US" dirty="0"/>
              <a:t>；“电皮肤”：人体上的液态金属电路 </a:t>
            </a:r>
            <a:r>
              <a:rPr lang="en-US" altLang="zh-CN" dirty="0"/>
              <a:t>[55]</a:t>
            </a:r>
            <a:r>
              <a:rPr lang="zh-CN" altLang="en-US" dirty="0"/>
              <a:t>（经 </a:t>
            </a:r>
            <a:r>
              <a:rPr lang="en-US" altLang="zh-CN" dirty="0"/>
              <a:t>Guo, C.; Liu, J. et al. </a:t>
            </a:r>
            <a:r>
              <a:rPr lang="zh-CN" altLang="en-US" dirty="0"/>
              <a:t>许可转载，通过液态金属喷涂和预先设计的掩模在皮肤基底上快速图案化导电元件作为生理测试设备；由 </a:t>
            </a:r>
            <a:r>
              <a:rPr lang="en-US" altLang="zh-CN" dirty="0"/>
              <a:t>Journal of </a:t>
            </a:r>
            <a:r>
              <a:rPr lang="en-US" altLang="zh-CN" dirty="0" err="1"/>
              <a:t>Mterials</a:t>
            </a:r>
            <a:r>
              <a:rPr lang="en-US" altLang="zh-CN" dirty="0"/>
              <a:t> Chemistry B </a:t>
            </a:r>
            <a:r>
              <a:rPr lang="zh-CN" altLang="en-US" dirty="0"/>
              <a:t>于 </a:t>
            </a:r>
            <a:r>
              <a:rPr lang="en-US" altLang="zh-CN" dirty="0"/>
              <a:t>2014 </a:t>
            </a:r>
            <a:r>
              <a:rPr lang="zh-CN" altLang="en-US" dirty="0"/>
              <a:t>年发表。）；人体皮肤上的液态金属标签 </a:t>
            </a:r>
            <a:r>
              <a:rPr lang="en-US" altLang="zh-CN" dirty="0"/>
              <a:t>[56]</a:t>
            </a:r>
            <a:r>
              <a:rPr lang="zh-CN" altLang="en-US" dirty="0"/>
              <a:t>（经 </a:t>
            </a:r>
            <a:r>
              <a:rPr lang="en-US" altLang="zh-CN" dirty="0"/>
              <a:t>Jeong, S.H.; Wu, Z. et al., Liquid Alloy Printing of Microfluidic Stable Electronics </a:t>
            </a:r>
            <a:r>
              <a:rPr lang="zh-CN" altLang="en-US" dirty="0"/>
              <a:t>许可转载；</a:t>
            </a:r>
            <a:r>
              <a:rPr lang="en-US" altLang="zh-CN" dirty="0"/>
              <a:t>Lab on a Chip</a:t>
            </a:r>
            <a:r>
              <a:rPr lang="zh-CN" altLang="en-US" dirty="0"/>
              <a:t>，</a:t>
            </a:r>
            <a:r>
              <a:rPr lang="en-US" altLang="zh-CN" dirty="0"/>
              <a:t>2012 </a:t>
            </a:r>
            <a:r>
              <a:rPr lang="zh-CN" altLang="en-US" dirty="0"/>
              <a:t>年出版）；通过液态金属电极进行心电图测试 </a:t>
            </a:r>
            <a:r>
              <a:rPr lang="en-US" altLang="zh-CN" dirty="0"/>
              <a:t>[57]</a:t>
            </a:r>
            <a:r>
              <a:rPr lang="zh-CN" altLang="en-US" dirty="0"/>
              <a:t>（经 </a:t>
            </a:r>
            <a:r>
              <a:rPr lang="en-US" altLang="zh-CN" dirty="0"/>
              <a:t>Yu, Y.; Zhang, J.; Liu, J., Biomedical Implementation of Liquid Metal Ink as Drawable ECG Electrode and Skin Circuit </a:t>
            </a:r>
            <a:r>
              <a:rPr lang="zh-CN" altLang="en-US" dirty="0"/>
              <a:t>许可转载；</a:t>
            </a:r>
            <a:r>
              <a:rPr lang="en-US" altLang="zh-CN" dirty="0" err="1"/>
              <a:t>PLoS</a:t>
            </a:r>
            <a:r>
              <a:rPr lang="en-US" altLang="zh-CN" dirty="0"/>
              <a:t> ONE</a:t>
            </a:r>
            <a:r>
              <a:rPr lang="zh-CN" altLang="en-US" dirty="0"/>
              <a:t>，</a:t>
            </a:r>
            <a:r>
              <a:rPr lang="en-US" altLang="zh-CN" dirty="0"/>
              <a:t>2013 </a:t>
            </a:r>
            <a:r>
              <a:rPr lang="zh-CN" altLang="en-US" dirty="0"/>
              <a:t>年出版）；“可穿戴生物电子学”：液态金属腕带 </a:t>
            </a:r>
            <a:r>
              <a:rPr lang="en-US" altLang="zh-CN" dirty="0"/>
              <a:t>[58]</a:t>
            </a:r>
            <a:r>
              <a:rPr lang="zh-CN" altLang="en-US" dirty="0"/>
              <a:t>（经 </a:t>
            </a:r>
            <a:r>
              <a:rPr lang="en-US" altLang="zh-CN" dirty="0"/>
              <a:t>Wang, Q.; Yu, Y.; Yang, J.; Liu, J., Fast Fabrication of Flexible Functional Circuits based on Liquid Metal Dual-Trans Printing </a:t>
            </a:r>
            <a:r>
              <a:rPr lang="zh-CN" altLang="en-US" dirty="0"/>
              <a:t>许可转载；</a:t>
            </a:r>
            <a:r>
              <a:rPr lang="en-US" altLang="zh-CN" dirty="0"/>
              <a:t>Advanced Material</a:t>
            </a:r>
            <a:r>
              <a:rPr lang="zh-CN" altLang="en-US" dirty="0"/>
              <a:t>，</a:t>
            </a:r>
            <a:r>
              <a:rPr lang="en-US" altLang="zh-CN" dirty="0"/>
              <a:t>2015 </a:t>
            </a:r>
            <a:r>
              <a:rPr lang="zh-CN" altLang="en-US" dirty="0"/>
              <a:t>年出版）；可穿戴数据手套 </a:t>
            </a:r>
            <a:r>
              <a:rPr lang="en-US" altLang="zh-CN" dirty="0"/>
              <a:t>[59]</a:t>
            </a:r>
            <a:r>
              <a:rPr lang="zh-CN" altLang="en-US" dirty="0"/>
              <a:t>（经 </a:t>
            </a:r>
            <a:r>
              <a:rPr lang="en-US" altLang="zh-CN" dirty="0"/>
              <a:t>Matsuzaki, R.; </a:t>
            </a:r>
            <a:r>
              <a:rPr lang="en-US" altLang="zh-CN" dirty="0" err="1"/>
              <a:t>Tabayashi</a:t>
            </a:r>
            <a:r>
              <a:rPr lang="en-US" altLang="zh-CN" dirty="0"/>
              <a:t>, K. </a:t>
            </a:r>
            <a:r>
              <a:rPr lang="zh-CN" altLang="en-US" dirty="0"/>
              <a:t>许可转载，用于可穿戴电子产品的高拉伸、全局和分布式局部应变传感线，使用增益电极；</a:t>
            </a:r>
            <a:r>
              <a:rPr lang="en-US" altLang="zh-CN" dirty="0"/>
              <a:t>Advanced Functional Material</a:t>
            </a:r>
            <a:r>
              <a:rPr lang="zh-CN" altLang="en-US" dirty="0"/>
              <a:t>，</a:t>
            </a:r>
            <a:r>
              <a:rPr lang="en-US" altLang="zh-CN" dirty="0"/>
              <a:t>2015 </a:t>
            </a:r>
            <a:r>
              <a:rPr lang="zh-CN" altLang="en-US" dirty="0"/>
              <a:t>年出版）；鞋类嵌入式微流体能量收集 </a:t>
            </a:r>
            <a:r>
              <a:rPr lang="en-US" altLang="zh-CN" dirty="0"/>
              <a:t>[60]</a:t>
            </a:r>
            <a:r>
              <a:rPr lang="zh-CN" altLang="en-US" dirty="0"/>
              <a:t>（经 </a:t>
            </a:r>
            <a:r>
              <a:rPr lang="en-US" altLang="zh-CN" dirty="0" err="1"/>
              <a:t>Krupenkin</a:t>
            </a:r>
            <a:r>
              <a:rPr lang="en-US" altLang="zh-CN" dirty="0"/>
              <a:t>, T.; Taylor, J.A. </a:t>
            </a:r>
            <a:r>
              <a:rPr lang="zh-CN" altLang="en-US" dirty="0"/>
              <a:t>许可转载，反向电润湿作为高功率能量收集的新方法；</a:t>
            </a:r>
            <a:r>
              <a:rPr lang="en-US" altLang="zh-CN" dirty="0"/>
              <a:t>Nature Communication</a:t>
            </a:r>
            <a:r>
              <a:rPr lang="zh-CN" altLang="en-US" dirty="0"/>
              <a:t>，</a:t>
            </a:r>
            <a:r>
              <a:rPr lang="en-US" altLang="zh-CN" dirty="0"/>
              <a:t>2011 </a:t>
            </a:r>
            <a:r>
              <a:rPr lang="zh-CN" altLang="en-US" dirty="0"/>
              <a:t>年出版）目前主要以镓及其合金为代表，具有电阻率高、弯曲性强、粘附性低、表面张力大等特性，在当代电子学中，柔性印刷电路 </a:t>
            </a:r>
            <a:r>
              <a:rPr lang="en-US" altLang="zh-CN" dirty="0"/>
              <a:t>(FPC) </a:t>
            </a:r>
            <a:r>
              <a:rPr lang="zh-CN" altLang="en-US" dirty="0"/>
              <a:t>已成为关键，改变了电子设备的设计和功能 </a:t>
            </a:r>
            <a:r>
              <a:rPr lang="en-US" altLang="zh-CN" dirty="0"/>
              <a:t>1,2,3</a:t>
            </a:r>
            <a:r>
              <a:rPr lang="zh-CN" altLang="en-US" dirty="0"/>
              <a:t>。这些电路超越了传统的刚性柔性印刷电路板 </a:t>
            </a:r>
            <a:r>
              <a:rPr lang="en-US" altLang="zh-CN" dirty="0"/>
              <a:t>(PCB)</a:t>
            </a:r>
            <a:r>
              <a:rPr lang="zh-CN" altLang="en-US" dirty="0"/>
              <a:t>，由于采用聚酰亚胺等柔韧的高质量材料构造，因此具有无与伦比的灵活性和适应性。它们能够折叠或扭曲成小空间或不规则空间，从而提高了在物理压力下的耐用性。</a:t>
            </a:r>
            <a:r>
              <a:rPr lang="en-US" altLang="zh-CN" dirty="0"/>
              <a:t>FPC </a:t>
            </a:r>
            <a:r>
              <a:rPr lang="zh-CN" altLang="en-US" dirty="0"/>
              <a:t>的空间和重量效率特别有利，可将多个刚性板和线路整合成更轻、更紧凑的组件 </a:t>
            </a:r>
            <a:r>
              <a:rPr lang="en-US" altLang="zh-CN" dirty="0"/>
              <a:t>4</a:t>
            </a:r>
            <a:r>
              <a:rPr lang="zh-CN" altLang="en-US" dirty="0"/>
              <a:t>、</a:t>
            </a:r>
            <a:r>
              <a:rPr lang="en-US" altLang="zh-CN" dirty="0"/>
              <a:t>5</a:t>
            </a:r>
            <a:r>
              <a:rPr lang="zh-CN" altLang="en-US" dirty="0"/>
              <a:t>、</a:t>
            </a:r>
            <a:r>
              <a:rPr lang="en-US" altLang="zh-CN" dirty="0"/>
              <a:t>6</a:t>
            </a:r>
            <a:r>
              <a:rPr lang="zh-CN" altLang="en-US" dirty="0"/>
              <a:t>。这在航空航天、可穿戴技术和移动设备等必须减少空间和重量的领域至关重要。此外，它们固有的灵活性使它们可用于动态应用，而不会牺牲电路性能或完整性。它们的应用涵盖各个行业，如图 </a:t>
            </a:r>
            <a:r>
              <a:rPr lang="en-US" altLang="zh-CN" dirty="0"/>
              <a:t>17 </a:t>
            </a:r>
            <a:r>
              <a:rPr lang="zh-CN" altLang="en-US" dirty="0"/>
              <a:t>所示。在医疗领域，</a:t>
            </a:r>
            <a:r>
              <a:rPr lang="en-US" altLang="zh-CN" dirty="0"/>
              <a:t>FPC </a:t>
            </a:r>
            <a:r>
              <a:rPr lang="zh-CN" altLang="en-US" dirty="0"/>
              <a:t>有助于实现传感器和植入物等紧凑、灵活的设备，从而提高患者的舒适度和效率 </a:t>
            </a:r>
            <a:r>
              <a:rPr lang="en-US" altLang="zh-CN" dirty="0"/>
              <a:t>8</a:t>
            </a:r>
            <a:r>
              <a:rPr lang="zh-CN" altLang="en-US" dirty="0"/>
              <a:t>、</a:t>
            </a:r>
            <a:r>
              <a:rPr lang="en-US" altLang="zh-CN" dirty="0"/>
              <a:t>9</a:t>
            </a:r>
            <a:r>
              <a:rPr lang="zh-CN" altLang="en-US" dirty="0"/>
              <a:t>、</a:t>
            </a:r>
            <a:r>
              <a:rPr lang="en-US" altLang="zh-CN" dirty="0"/>
              <a:t>10</a:t>
            </a:r>
            <a:r>
              <a:rPr lang="zh-CN" altLang="en-US" dirty="0"/>
              <a:t>、</a:t>
            </a:r>
            <a:r>
              <a:rPr lang="en-US" altLang="zh-CN" dirty="0"/>
              <a:t>11</a:t>
            </a:r>
            <a:r>
              <a:rPr lang="zh-CN" altLang="en-US" dirty="0"/>
              <a:t>。汽车行业将它们用于仪表板显示器和传感器网络等系统中，看重它们对振动和温度变化的抵抗力。在消费电子产品中，</a:t>
            </a:r>
            <a:r>
              <a:rPr lang="en-US" altLang="zh-CN" dirty="0"/>
              <a:t>FPC </a:t>
            </a:r>
            <a:r>
              <a:rPr lang="zh-CN" altLang="en-US" dirty="0"/>
              <a:t>是智能手机、平板电脑和笔记本电脑实现轻薄化的关键</a:t>
            </a:r>
            <a:r>
              <a:rPr lang="en-US" altLang="zh-CN" dirty="0"/>
              <a:t>12</a:t>
            </a:r>
            <a:r>
              <a:rPr lang="zh-CN" altLang="en-US" dirty="0"/>
              <a:t>、</a:t>
            </a:r>
            <a:r>
              <a:rPr lang="en-US" altLang="zh-CN" dirty="0"/>
              <a:t>13</a:t>
            </a:r>
            <a:r>
              <a:rPr lang="zh-CN" altLang="en-US" dirty="0"/>
              <a:t>、</a:t>
            </a:r>
            <a:r>
              <a:rPr lang="en-US" altLang="zh-CN" dirty="0"/>
              <a:t>14</a:t>
            </a:r>
            <a:r>
              <a:rPr lang="zh-CN" altLang="en-US" dirty="0"/>
              <a:t>、</a:t>
            </a:r>
            <a:r>
              <a:rPr lang="en-US" altLang="zh-CN" dirty="0"/>
              <a:t>15</a:t>
            </a:r>
            <a:r>
              <a:rPr lang="zh-CN" altLang="en-US" dirty="0"/>
              <a:t>。此外，它们也是新兴柔性和可穿戴电子产品领域的核心，可实现符合人体工程学设计和人体运动的创新设备</a:t>
            </a:r>
            <a:r>
              <a:rPr lang="en-US" altLang="zh-CN" dirty="0"/>
              <a:t>16</a:t>
            </a:r>
            <a:r>
              <a:rPr lang="zh-CN" altLang="en-US" dirty="0"/>
              <a:t>、</a:t>
            </a:r>
            <a:r>
              <a:rPr lang="en-US" altLang="zh-CN" dirty="0"/>
              <a:t>17</a:t>
            </a:r>
            <a:r>
              <a:rPr lang="zh-CN" altLang="en-US" dirty="0"/>
              <a:t>、</a:t>
            </a:r>
            <a:r>
              <a:rPr lang="en-US" altLang="zh-CN" dirty="0"/>
              <a:t>18</a:t>
            </a:r>
            <a:r>
              <a:rPr lang="zh-CN" altLang="en-US" dirty="0"/>
              <a:t>、</a:t>
            </a:r>
            <a:r>
              <a:rPr lang="en-US" altLang="zh-CN" dirty="0"/>
              <a:t>19</a:t>
            </a:r>
            <a:r>
              <a:rPr lang="zh-CN" altLang="en-US" dirty="0"/>
              <a:t>、</a:t>
            </a:r>
            <a:r>
              <a:rPr lang="en-US" altLang="zh-CN" dirty="0"/>
              <a:t>20</a:t>
            </a:r>
            <a:r>
              <a:rPr lang="zh-CN" altLang="en-US" dirty="0"/>
              <a:t>。</a:t>
            </a:r>
          </a:p>
        </p:txBody>
      </p:sp>
      <p:sp>
        <p:nvSpPr>
          <p:cNvPr id="4" name="灯片编号占位符 3">
            <a:extLst>
              <a:ext uri="{FF2B5EF4-FFF2-40B4-BE49-F238E27FC236}">
                <a16:creationId xmlns:a16="http://schemas.microsoft.com/office/drawing/2014/main" id="{D0FBAFF4-D008-B518-A6B8-CD9944C10655}"/>
              </a:ext>
            </a:extLst>
          </p:cNvPr>
          <p:cNvSpPr>
            <a:spLocks noGrp="1"/>
          </p:cNvSpPr>
          <p:nvPr>
            <p:ph type="sldNum" sz="quarter" idx="5"/>
          </p:nvPr>
        </p:nvSpPr>
        <p:spPr/>
        <p:txBody>
          <a:bodyPr/>
          <a:lstStyle/>
          <a:p>
            <a:fld id="{84918B77-9CB1-4C48-BED5-B02F24F09A98}" type="slidenum">
              <a:rPr lang="zh-CN" altLang="en-US" smtClean="0"/>
              <a:t>46</a:t>
            </a:fld>
            <a:endParaRPr lang="zh-CN" altLang="en-US"/>
          </a:p>
        </p:txBody>
      </p:sp>
    </p:spTree>
    <p:extLst>
      <p:ext uri="{BB962C8B-B14F-4D97-AF65-F5344CB8AC3E}">
        <p14:creationId xmlns:p14="http://schemas.microsoft.com/office/powerpoint/2010/main" val="404708354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7BB50-E259-DC1D-40A4-B4FB898BC18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0538FCA-189C-BB8A-BBCF-C64C4123AA8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8EE646E-41EC-E49F-31B1-93D43286D5C5}"/>
              </a:ext>
            </a:extLst>
          </p:cNvPr>
          <p:cNvSpPr>
            <a:spLocks noGrp="1"/>
          </p:cNvSpPr>
          <p:nvPr>
            <p:ph type="body" idx="1"/>
          </p:nvPr>
        </p:nvSpPr>
        <p:spPr/>
        <p:txBody>
          <a:bodyPr/>
          <a:lstStyle/>
          <a:p>
            <a:r>
              <a:rPr lang="en-US" altLang="zh-CN" dirty="0"/>
              <a:t>PCB</a:t>
            </a:r>
            <a:r>
              <a:rPr lang="zh-CN" altLang="en-US" dirty="0"/>
              <a:t>刚性电路板坚硬的板材可以保护电子元件免受损坏，但它限制了电子产品的延展性和柔韧性。于是有了柔性印刷电路。</a:t>
            </a:r>
          </a:p>
        </p:txBody>
      </p:sp>
      <p:sp>
        <p:nvSpPr>
          <p:cNvPr id="4" name="灯片编号占位符 3">
            <a:extLst>
              <a:ext uri="{FF2B5EF4-FFF2-40B4-BE49-F238E27FC236}">
                <a16:creationId xmlns:a16="http://schemas.microsoft.com/office/drawing/2014/main" id="{8BC0D5C5-A719-8F03-FC04-370E134EF2DF}"/>
              </a:ext>
            </a:extLst>
          </p:cNvPr>
          <p:cNvSpPr>
            <a:spLocks noGrp="1"/>
          </p:cNvSpPr>
          <p:nvPr>
            <p:ph type="sldNum" sz="quarter" idx="5"/>
          </p:nvPr>
        </p:nvSpPr>
        <p:spPr/>
        <p:txBody>
          <a:bodyPr/>
          <a:lstStyle/>
          <a:p>
            <a:fld id="{84918B77-9CB1-4C48-BED5-B02F24F09A98}" type="slidenum">
              <a:rPr lang="zh-CN" altLang="en-US" smtClean="0"/>
              <a:t>47</a:t>
            </a:fld>
            <a:endParaRPr lang="zh-CN" altLang="en-US"/>
          </a:p>
        </p:txBody>
      </p:sp>
    </p:spTree>
    <p:extLst>
      <p:ext uri="{BB962C8B-B14F-4D97-AF65-F5344CB8AC3E}">
        <p14:creationId xmlns:p14="http://schemas.microsoft.com/office/powerpoint/2010/main" val="220273538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918B77-9CB1-4C48-BED5-B02F24F09A98}" type="slidenum">
              <a:rPr lang="zh-CN" altLang="en-US" smtClean="0"/>
              <a:t>48</a:t>
            </a:fld>
            <a:endParaRPr lang="zh-CN" altLang="en-US"/>
          </a:p>
        </p:txBody>
      </p:sp>
    </p:spTree>
    <p:extLst>
      <p:ext uri="{BB962C8B-B14F-4D97-AF65-F5344CB8AC3E}">
        <p14:creationId xmlns:p14="http://schemas.microsoft.com/office/powerpoint/2010/main" val="368333061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84918B77-9CB1-4C48-BED5-B02F24F09A98}" type="slidenum">
              <a:rPr lang="zh-CN" altLang="en-US" smtClean="0"/>
              <a:t>56</a:t>
            </a:fld>
            <a:endParaRPr lang="zh-CN" altLang="en-US"/>
          </a:p>
        </p:txBody>
      </p:sp>
    </p:spTree>
    <p:extLst>
      <p:ext uri="{BB962C8B-B14F-4D97-AF65-F5344CB8AC3E}">
        <p14:creationId xmlns:p14="http://schemas.microsoft.com/office/powerpoint/2010/main" val="178013324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84918B77-9CB1-4C48-BED5-B02F24F09A98}" type="slidenum">
              <a:rPr lang="zh-CN" altLang="en-US" smtClean="0"/>
              <a:t>57</a:t>
            </a:fld>
            <a:endParaRPr lang="zh-CN" altLang="en-US"/>
          </a:p>
        </p:txBody>
      </p:sp>
    </p:spTree>
    <p:extLst>
      <p:ext uri="{BB962C8B-B14F-4D97-AF65-F5344CB8AC3E}">
        <p14:creationId xmlns:p14="http://schemas.microsoft.com/office/powerpoint/2010/main" val="62847849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84918B77-9CB1-4C48-BED5-B02F24F09A98}" type="slidenum">
              <a:rPr lang="zh-CN" altLang="en-US" smtClean="0"/>
              <a:t>58</a:t>
            </a:fld>
            <a:endParaRPr lang="zh-CN" altLang="en-US"/>
          </a:p>
        </p:txBody>
      </p:sp>
    </p:spTree>
    <p:extLst>
      <p:ext uri="{BB962C8B-B14F-4D97-AF65-F5344CB8AC3E}">
        <p14:creationId xmlns:p14="http://schemas.microsoft.com/office/powerpoint/2010/main" val="69362688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lang="zh-CN" altLang="en-US" dirty="0"/>
              <a:t>创建一个工程项目</a:t>
            </a:r>
            <a:r>
              <a:rPr lang="en-US" altLang="zh-CN" dirty="0"/>
              <a:t>*.</a:t>
            </a:r>
            <a:r>
              <a:rPr lang="en-US" altLang="zh-CN" dirty="0" err="1"/>
              <a:t>PrjPcb</a:t>
            </a:r>
            <a:endParaRPr lang="en-US" altLang="zh-CN" dirty="0"/>
          </a:p>
          <a:p>
            <a:pPr marL="0" indent="0">
              <a:buNone/>
            </a:pPr>
            <a:r>
              <a:rPr lang="zh-CN" altLang="en-US" dirty="0"/>
              <a:t>在该工程中创建原理图文件</a:t>
            </a:r>
            <a:r>
              <a:rPr lang="en-US" altLang="zh-CN" dirty="0"/>
              <a:t>*.</a:t>
            </a:r>
            <a:r>
              <a:rPr lang="en-US" altLang="zh-CN" dirty="0" err="1"/>
              <a:t>SchDoc</a:t>
            </a:r>
            <a:endParaRPr lang="en-US" altLang="zh-CN" dirty="0"/>
          </a:p>
          <a:p>
            <a:pPr marL="0" indent="0">
              <a:buNone/>
            </a:pPr>
            <a:r>
              <a:rPr lang="zh-CN" altLang="en-US" dirty="0"/>
              <a:t>设计电路原理图</a:t>
            </a:r>
            <a:r>
              <a:rPr lang="en-US" altLang="zh-CN" dirty="0"/>
              <a:t>*.</a:t>
            </a:r>
            <a:r>
              <a:rPr lang="en-US" altLang="zh-CN" dirty="0" err="1"/>
              <a:t>SchDoc</a:t>
            </a:r>
            <a:endParaRPr lang="en-US" altLang="zh-CN" dirty="0"/>
          </a:p>
          <a:p>
            <a:pPr marL="0" indent="0">
              <a:buNone/>
            </a:pPr>
            <a:r>
              <a:rPr lang="zh-CN" altLang="en-US" dirty="0"/>
              <a:t>生成网络表文件</a:t>
            </a:r>
            <a:r>
              <a:rPr lang="en-US" altLang="zh-CN" dirty="0"/>
              <a:t>*</a:t>
            </a:r>
            <a:r>
              <a:rPr lang="en-US" altLang="zh-CN" dirty="0" err="1"/>
              <a:t>.Net</a:t>
            </a:r>
            <a:endParaRPr lang="en-US" altLang="zh-CN" dirty="0"/>
          </a:p>
          <a:p>
            <a:pPr marL="0" indent="0">
              <a:buNone/>
            </a:pPr>
            <a:r>
              <a:rPr lang="zh-CN" altLang="en-US" dirty="0"/>
              <a:t>在该工程中创建</a:t>
            </a:r>
            <a:r>
              <a:rPr lang="en-US" altLang="zh-CN" dirty="0"/>
              <a:t>PCB</a:t>
            </a:r>
            <a:r>
              <a:rPr lang="zh-CN" altLang="en-US" dirty="0"/>
              <a:t>文件</a:t>
            </a:r>
            <a:r>
              <a:rPr lang="en-US" altLang="zh-CN" dirty="0"/>
              <a:t>*.</a:t>
            </a:r>
            <a:r>
              <a:rPr lang="en-US" altLang="zh-CN" dirty="0" err="1"/>
              <a:t>PcbDoc</a:t>
            </a:r>
            <a:endParaRPr lang="en-US" altLang="zh-CN" dirty="0"/>
          </a:p>
          <a:p>
            <a:pPr marL="0" indent="0">
              <a:buNone/>
            </a:pPr>
            <a:r>
              <a:rPr lang="zh-CN" altLang="en-US" dirty="0"/>
              <a:t>规划</a:t>
            </a:r>
            <a:r>
              <a:rPr lang="en-US" altLang="zh-CN" dirty="0"/>
              <a:t>PCB</a:t>
            </a:r>
            <a:r>
              <a:rPr lang="zh-CN" altLang="en-US" dirty="0"/>
              <a:t>板形状、尺寸</a:t>
            </a:r>
            <a:r>
              <a:rPr lang="en-US" altLang="zh-CN" dirty="0"/>
              <a:t>*</a:t>
            </a:r>
            <a:r>
              <a:rPr lang="zh-CN" altLang="en-US" dirty="0"/>
              <a:t>。</a:t>
            </a:r>
            <a:r>
              <a:rPr lang="en-US" altLang="zh-CN" dirty="0" err="1"/>
              <a:t>PcbDoc</a:t>
            </a:r>
            <a:endParaRPr lang="en-US" altLang="zh-CN" dirty="0"/>
          </a:p>
          <a:p>
            <a:pPr marL="0" indent="0">
              <a:buNone/>
            </a:pPr>
            <a:r>
              <a:rPr lang="zh-CN" altLang="en-US" dirty="0"/>
              <a:t>设置环境参数</a:t>
            </a:r>
            <a:r>
              <a:rPr lang="en-US" altLang="zh-CN" dirty="0"/>
              <a:t>*.</a:t>
            </a:r>
            <a:r>
              <a:rPr lang="en-US" altLang="zh-CN" dirty="0" err="1"/>
              <a:t>PcbDoc</a:t>
            </a:r>
            <a:endParaRPr lang="en-US" altLang="zh-CN" dirty="0"/>
          </a:p>
          <a:p>
            <a:pPr marL="0" indent="0">
              <a:buNone/>
            </a:pPr>
            <a:r>
              <a:rPr lang="zh-CN" altLang="en-US" dirty="0"/>
              <a:t>导入原理图数据</a:t>
            </a:r>
            <a:r>
              <a:rPr lang="en-US" altLang="zh-CN" dirty="0"/>
              <a:t>*.</a:t>
            </a:r>
            <a:r>
              <a:rPr lang="en-US" altLang="zh-CN" dirty="0" err="1"/>
              <a:t>PcbDoc</a:t>
            </a:r>
            <a:endParaRPr lang="en-US" altLang="zh-CN" dirty="0"/>
          </a:p>
          <a:p>
            <a:pPr marL="0" indent="0">
              <a:buNone/>
            </a:pPr>
            <a:r>
              <a:rPr lang="zh-CN" altLang="en-US" dirty="0"/>
              <a:t>设定工作参数、布线规则等</a:t>
            </a:r>
            <a:r>
              <a:rPr lang="en-US" altLang="zh-CN" dirty="0"/>
              <a:t>*.</a:t>
            </a:r>
            <a:r>
              <a:rPr lang="en-US" altLang="zh-CN" dirty="0" err="1"/>
              <a:t>PcbDoc</a:t>
            </a:r>
            <a:endParaRPr lang="en-US" altLang="zh-CN" dirty="0"/>
          </a:p>
          <a:p>
            <a:pPr marL="0" indent="0">
              <a:buNone/>
            </a:pPr>
            <a:r>
              <a:rPr lang="zh-CN" altLang="en-US" dirty="0"/>
              <a:t>元器件布局</a:t>
            </a:r>
            <a:r>
              <a:rPr lang="en-US" altLang="zh-CN" dirty="0"/>
              <a:t>*.</a:t>
            </a:r>
            <a:r>
              <a:rPr lang="en-US" altLang="zh-CN" dirty="0" err="1"/>
              <a:t>PcbDoc</a:t>
            </a:r>
            <a:endParaRPr lang="en-US" altLang="zh-CN" dirty="0"/>
          </a:p>
          <a:p>
            <a:pPr marL="0" indent="0">
              <a:buNone/>
            </a:pPr>
            <a:r>
              <a:rPr lang="zh-CN" altLang="en-US" dirty="0"/>
              <a:t>布线</a:t>
            </a:r>
            <a:r>
              <a:rPr lang="en-US" altLang="zh-CN" dirty="0"/>
              <a:t>*.</a:t>
            </a:r>
            <a:r>
              <a:rPr lang="en-US" altLang="zh-CN" dirty="0" err="1"/>
              <a:t>PcbDoc</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4918B77-9CB1-4C48-BED5-B02F24F09A98}" type="slidenum">
              <a:rPr lang="zh-CN" altLang="en-US" smtClean="0"/>
              <a:t>60</a:t>
            </a:fld>
            <a:endParaRPr lang="zh-CN" altLang="en-US"/>
          </a:p>
        </p:txBody>
      </p:sp>
    </p:spTree>
    <p:extLst>
      <p:ext uri="{BB962C8B-B14F-4D97-AF65-F5344CB8AC3E}">
        <p14:creationId xmlns:p14="http://schemas.microsoft.com/office/powerpoint/2010/main" val="44132708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lang="en-US" altLang="zh-CN" dirty="0"/>
              <a:t>outline n. </a:t>
            </a:r>
            <a:r>
              <a:rPr lang="zh-CN" altLang="en-US" dirty="0"/>
              <a:t>轮廓线</a:t>
            </a:r>
            <a:endParaRPr lang="en-US" altLang="zh-CN" dirty="0"/>
          </a:p>
          <a:p>
            <a:pPr marL="0" indent="0">
              <a:buNone/>
            </a:pPr>
            <a:r>
              <a:rPr lang="en-US" altLang="zh-CN" sz="1200" b="0" i="0" dirty="0">
                <a:solidFill>
                  <a:srgbClr val="333333"/>
                </a:solidFill>
                <a:effectLst/>
                <a:latin typeface="-apple-system"/>
              </a:rPr>
              <a:t>in-line adj.</a:t>
            </a:r>
            <a:r>
              <a:rPr lang="zh-CN" altLang="en-US" sz="1200" b="0" i="0" dirty="0">
                <a:solidFill>
                  <a:srgbClr val="333333"/>
                </a:solidFill>
                <a:effectLst/>
                <a:latin typeface="-apple-system"/>
              </a:rPr>
              <a:t>一列的</a:t>
            </a:r>
            <a:endParaRPr lang="en-US" altLang="zh-CN" dirty="0"/>
          </a:p>
          <a:p>
            <a:pPr marL="0" indent="0">
              <a:buNone/>
            </a:pPr>
            <a:r>
              <a:rPr lang="zh-CN" altLang="en-US" dirty="0"/>
              <a:t>原理图</a:t>
            </a:r>
            <a:endParaRPr lang="en-US" altLang="zh-CN" dirty="0"/>
          </a:p>
          <a:p>
            <a:pPr marL="0" indent="0">
              <a:buNone/>
            </a:pPr>
            <a:r>
              <a:rPr lang="zh-CN" altLang="en-US" dirty="0"/>
              <a:t>器件实物</a:t>
            </a:r>
            <a:endParaRPr lang="en-US" altLang="zh-CN" dirty="0"/>
          </a:p>
          <a:p>
            <a:pPr marL="0" indent="0">
              <a:buNone/>
            </a:pPr>
            <a:r>
              <a:rPr lang="zh-CN" altLang="en-US" dirty="0"/>
              <a:t>两种封装</a:t>
            </a:r>
            <a:r>
              <a:rPr lang="en-US" altLang="zh-CN" dirty="0"/>
              <a:t>:SOP8</a:t>
            </a:r>
            <a:r>
              <a:rPr lang="zh-CN" altLang="en-US" dirty="0"/>
              <a:t>、</a:t>
            </a:r>
            <a:r>
              <a:rPr lang="en-US" altLang="zh-CN" dirty="0"/>
              <a:t>DIP8</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4918B77-9CB1-4C48-BED5-B02F24F09A98}" type="slidenum">
              <a:rPr lang="zh-CN" altLang="en-US" smtClean="0"/>
              <a:t>62</a:t>
            </a:fld>
            <a:endParaRPr lang="zh-CN" altLang="en-US"/>
          </a:p>
        </p:txBody>
      </p:sp>
    </p:spTree>
    <p:extLst>
      <p:ext uri="{BB962C8B-B14F-4D97-AF65-F5344CB8AC3E}">
        <p14:creationId xmlns:p14="http://schemas.microsoft.com/office/powerpoint/2010/main" val="254644951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918B77-9CB1-4C48-BED5-B02F24F09A98}" type="slidenum">
              <a:rPr lang="zh-CN" altLang="en-US" smtClean="0"/>
              <a:t>64</a:t>
            </a:fld>
            <a:endParaRPr lang="zh-CN" altLang="en-US"/>
          </a:p>
        </p:txBody>
      </p:sp>
    </p:spTree>
    <p:extLst>
      <p:ext uri="{BB962C8B-B14F-4D97-AF65-F5344CB8AC3E}">
        <p14:creationId xmlns:p14="http://schemas.microsoft.com/office/powerpoint/2010/main" val="414018973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918B77-9CB1-4C48-BED5-B02F24F09A98}" type="slidenum">
              <a:rPr lang="zh-CN" altLang="en-US" smtClean="0"/>
              <a:t>65</a:t>
            </a:fld>
            <a:endParaRPr lang="zh-CN" altLang="en-US"/>
          </a:p>
        </p:txBody>
      </p:sp>
    </p:spTree>
    <p:extLst>
      <p:ext uri="{BB962C8B-B14F-4D97-AF65-F5344CB8AC3E}">
        <p14:creationId xmlns:p14="http://schemas.microsoft.com/office/powerpoint/2010/main" val="185062890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918B77-9CB1-4C48-BED5-B02F24F09A98}" type="slidenum">
              <a:rPr lang="zh-CN" altLang="en-US" smtClean="0"/>
              <a:t>66</a:t>
            </a:fld>
            <a:endParaRPr lang="zh-CN" altLang="en-US"/>
          </a:p>
        </p:txBody>
      </p:sp>
    </p:spTree>
    <p:extLst>
      <p:ext uri="{BB962C8B-B14F-4D97-AF65-F5344CB8AC3E}">
        <p14:creationId xmlns:p14="http://schemas.microsoft.com/office/powerpoint/2010/main" val="368663000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918B77-9CB1-4C48-BED5-B02F24F09A98}" type="slidenum">
              <a:rPr lang="zh-CN" altLang="en-US" smtClean="0"/>
              <a:t>68</a:t>
            </a:fld>
            <a:endParaRPr lang="zh-CN" altLang="en-US"/>
          </a:p>
        </p:txBody>
      </p:sp>
    </p:spTree>
    <p:extLst>
      <p:ext uri="{BB962C8B-B14F-4D97-AF65-F5344CB8AC3E}">
        <p14:creationId xmlns:p14="http://schemas.microsoft.com/office/powerpoint/2010/main" val="132021687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设置鼠标移动速度和光标类型为小光标</a:t>
            </a:r>
            <a:endParaRPr lang="en-US" altLang="zh-CN" dirty="0"/>
          </a:p>
          <a:p>
            <a:r>
              <a:rPr lang="en-US" altLang="zh-CN" dirty="0"/>
              <a:t>Schematic n. </a:t>
            </a:r>
            <a:r>
              <a:rPr lang="zh-CN" altLang="en-US" dirty="0"/>
              <a:t>简图</a:t>
            </a:r>
            <a:endParaRPr lang="en-US" altLang="zh-CN" dirty="0"/>
          </a:p>
          <a:p>
            <a:r>
              <a:rPr lang="en-US" altLang="zh-CN" dirty="0"/>
              <a:t>Preference n. </a:t>
            </a:r>
            <a:r>
              <a:rPr lang="zh-CN" altLang="en-US" dirty="0"/>
              <a:t>偏爱 喜爱 爱好 优先选择</a:t>
            </a:r>
          </a:p>
        </p:txBody>
      </p:sp>
      <p:sp>
        <p:nvSpPr>
          <p:cNvPr id="4" name="灯片编号占位符 3"/>
          <p:cNvSpPr>
            <a:spLocks noGrp="1"/>
          </p:cNvSpPr>
          <p:nvPr>
            <p:ph type="sldNum" sz="quarter" idx="5"/>
          </p:nvPr>
        </p:nvSpPr>
        <p:spPr/>
        <p:txBody>
          <a:bodyPr/>
          <a:lstStyle/>
          <a:p>
            <a:fld id="{84918B77-9CB1-4C48-BED5-B02F24F09A98}" type="slidenum">
              <a:rPr lang="zh-CN" altLang="en-US" smtClean="0"/>
              <a:t>69</a:t>
            </a:fld>
            <a:endParaRPr lang="zh-CN" altLang="en-US"/>
          </a:p>
        </p:txBody>
      </p:sp>
    </p:spTree>
    <p:extLst>
      <p:ext uri="{BB962C8B-B14F-4D97-AF65-F5344CB8AC3E}">
        <p14:creationId xmlns:p14="http://schemas.microsoft.com/office/powerpoint/2010/main" val="42215598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918B77-9CB1-4C48-BED5-B02F24F09A98}" type="slidenum">
              <a:rPr lang="zh-CN" altLang="en-US" smtClean="0"/>
              <a:t>71</a:t>
            </a:fld>
            <a:endParaRPr lang="zh-CN" altLang="en-US"/>
          </a:p>
        </p:txBody>
      </p:sp>
    </p:spTree>
    <p:extLst>
      <p:ext uri="{BB962C8B-B14F-4D97-AF65-F5344CB8AC3E}">
        <p14:creationId xmlns:p14="http://schemas.microsoft.com/office/powerpoint/2010/main" val="124724224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918B77-9CB1-4C48-BED5-B02F24F09A98}" type="slidenum">
              <a:rPr lang="zh-CN" altLang="en-US" smtClean="0"/>
              <a:t>72</a:t>
            </a:fld>
            <a:endParaRPr lang="zh-CN" altLang="en-US"/>
          </a:p>
        </p:txBody>
      </p:sp>
    </p:spTree>
    <p:extLst>
      <p:ext uri="{BB962C8B-B14F-4D97-AF65-F5344CB8AC3E}">
        <p14:creationId xmlns:p14="http://schemas.microsoft.com/office/powerpoint/2010/main" val="210800312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918B77-9CB1-4C48-BED5-B02F24F09A98}" type="slidenum">
              <a:rPr lang="zh-CN" altLang="en-US" smtClean="0"/>
              <a:t>73</a:t>
            </a:fld>
            <a:endParaRPr lang="zh-CN" altLang="en-US"/>
          </a:p>
        </p:txBody>
      </p:sp>
    </p:spTree>
    <p:extLst>
      <p:ext uri="{BB962C8B-B14F-4D97-AF65-F5344CB8AC3E}">
        <p14:creationId xmlns:p14="http://schemas.microsoft.com/office/powerpoint/2010/main" val="176263676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918B77-9CB1-4C48-BED5-B02F24F09A98}" type="slidenum">
              <a:rPr lang="zh-CN" altLang="en-US" smtClean="0"/>
              <a:t>85</a:t>
            </a:fld>
            <a:endParaRPr lang="zh-CN" altLang="en-US"/>
          </a:p>
        </p:txBody>
      </p:sp>
    </p:spTree>
    <p:extLst>
      <p:ext uri="{BB962C8B-B14F-4D97-AF65-F5344CB8AC3E}">
        <p14:creationId xmlns:p14="http://schemas.microsoft.com/office/powerpoint/2010/main" val="290771264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918B77-9CB1-4C48-BED5-B02F24F09A98}" type="slidenum">
              <a:rPr lang="zh-CN" altLang="en-US" smtClean="0"/>
              <a:t>102</a:t>
            </a:fld>
            <a:endParaRPr lang="zh-CN" altLang="en-US"/>
          </a:p>
        </p:txBody>
      </p:sp>
    </p:spTree>
    <p:extLst>
      <p:ext uri="{BB962C8B-B14F-4D97-AF65-F5344CB8AC3E}">
        <p14:creationId xmlns:p14="http://schemas.microsoft.com/office/powerpoint/2010/main" val="45672758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918B77-9CB1-4C48-BED5-B02F24F09A98}" type="slidenum">
              <a:rPr lang="zh-CN" altLang="en-US" smtClean="0"/>
              <a:t>103</a:t>
            </a:fld>
            <a:endParaRPr lang="zh-CN" altLang="en-US"/>
          </a:p>
        </p:txBody>
      </p:sp>
    </p:spTree>
    <p:extLst>
      <p:ext uri="{BB962C8B-B14F-4D97-AF65-F5344CB8AC3E}">
        <p14:creationId xmlns:p14="http://schemas.microsoft.com/office/powerpoint/2010/main" val="55536722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918B77-9CB1-4C48-BED5-B02F24F09A98}" type="slidenum">
              <a:rPr lang="zh-CN" altLang="en-US" smtClean="0"/>
              <a:t>104</a:t>
            </a:fld>
            <a:endParaRPr lang="zh-CN" altLang="en-US"/>
          </a:p>
        </p:txBody>
      </p:sp>
    </p:spTree>
    <p:extLst>
      <p:ext uri="{BB962C8B-B14F-4D97-AF65-F5344CB8AC3E}">
        <p14:creationId xmlns:p14="http://schemas.microsoft.com/office/powerpoint/2010/main" val="147540298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918B77-9CB1-4C48-BED5-B02F24F09A98}" type="slidenum">
              <a:rPr lang="zh-CN" altLang="en-US" smtClean="0"/>
              <a:t>105</a:t>
            </a:fld>
            <a:endParaRPr lang="zh-CN" altLang="en-US"/>
          </a:p>
        </p:txBody>
      </p:sp>
    </p:spTree>
    <p:extLst>
      <p:ext uri="{BB962C8B-B14F-4D97-AF65-F5344CB8AC3E}">
        <p14:creationId xmlns:p14="http://schemas.microsoft.com/office/powerpoint/2010/main" val="347199776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918B77-9CB1-4C48-BED5-B02F24F09A98}" type="slidenum">
              <a:rPr lang="zh-CN" altLang="en-US" smtClean="0"/>
              <a:t>106</a:t>
            </a:fld>
            <a:endParaRPr lang="zh-CN" altLang="en-US"/>
          </a:p>
        </p:txBody>
      </p:sp>
    </p:spTree>
    <p:extLst>
      <p:ext uri="{BB962C8B-B14F-4D97-AF65-F5344CB8AC3E}">
        <p14:creationId xmlns:p14="http://schemas.microsoft.com/office/powerpoint/2010/main" val="421113180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918B77-9CB1-4C48-BED5-B02F24F09A98}" type="slidenum">
              <a:rPr lang="zh-CN" altLang="en-US" smtClean="0"/>
              <a:t>107</a:t>
            </a:fld>
            <a:endParaRPr lang="zh-CN" altLang="en-US"/>
          </a:p>
        </p:txBody>
      </p:sp>
    </p:spTree>
    <p:extLst>
      <p:ext uri="{BB962C8B-B14F-4D97-AF65-F5344CB8AC3E}">
        <p14:creationId xmlns:p14="http://schemas.microsoft.com/office/powerpoint/2010/main" val="202356786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918B77-9CB1-4C48-BED5-B02F24F09A98}" type="slidenum">
              <a:rPr lang="zh-CN" altLang="en-US" smtClean="0"/>
              <a:t>108</a:t>
            </a:fld>
            <a:endParaRPr lang="zh-CN" altLang="en-US"/>
          </a:p>
        </p:txBody>
      </p:sp>
    </p:spTree>
    <p:extLst>
      <p:ext uri="{BB962C8B-B14F-4D97-AF65-F5344CB8AC3E}">
        <p14:creationId xmlns:p14="http://schemas.microsoft.com/office/powerpoint/2010/main" val="385760020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918B77-9CB1-4C48-BED5-B02F24F09A98}" type="slidenum">
              <a:rPr lang="zh-CN" altLang="en-US" smtClean="0"/>
              <a:t>109</a:t>
            </a:fld>
            <a:endParaRPr lang="zh-CN" altLang="en-US"/>
          </a:p>
        </p:txBody>
      </p:sp>
    </p:spTree>
    <p:extLst>
      <p:ext uri="{BB962C8B-B14F-4D97-AF65-F5344CB8AC3E}">
        <p14:creationId xmlns:p14="http://schemas.microsoft.com/office/powerpoint/2010/main" val="219445707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918B77-9CB1-4C48-BED5-B02F24F09A98}" type="slidenum">
              <a:rPr lang="zh-CN" altLang="en-US" smtClean="0"/>
              <a:t>110</a:t>
            </a:fld>
            <a:endParaRPr lang="zh-CN" altLang="en-US"/>
          </a:p>
        </p:txBody>
      </p:sp>
    </p:spTree>
    <p:extLst>
      <p:ext uri="{BB962C8B-B14F-4D97-AF65-F5344CB8AC3E}">
        <p14:creationId xmlns:p14="http://schemas.microsoft.com/office/powerpoint/2010/main" val="326899622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918B77-9CB1-4C48-BED5-B02F24F09A98}" type="slidenum">
              <a:rPr lang="zh-CN" altLang="en-US" smtClean="0"/>
              <a:t>111</a:t>
            </a:fld>
            <a:endParaRPr lang="zh-CN" altLang="en-US"/>
          </a:p>
        </p:txBody>
      </p:sp>
    </p:spTree>
    <p:extLst>
      <p:ext uri="{BB962C8B-B14F-4D97-AF65-F5344CB8AC3E}">
        <p14:creationId xmlns:p14="http://schemas.microsoft.com/office/powerpoint/2010/main" val="99209057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918B77-9CB1-4C48-BED5-B02F24F09A98}" type="slidenum">
              <a:rPr lang="zh-CN" altLang="en-US" smtClean="0"/>
              <a:t>112</a:t>
            </a:fld>
            <a:endParaRPr lang="zh-CN" altLang="en-US"/>
          </a:p>
        </p:txBody>
      </p:sp>
    </p:spTree>
    <p:extLst>
      <p:ext uri="{BB962C8B-B14F-4D97-AF65-F5344CB8AC3E}">
        <p14:creationId xmlns:p14="http://schemas.microsoft.com/office/powerpoint/2010/main" val="316715613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918B77-9CB1-4C48-BED5-B02F24F09A98}" type="slidenum">
              <a:rPr lang="zh-CN" altLang="en-US" smtClean="0"/>
              <a:t>113</a:t>
            </a:fld>
            <a:endParaRPr lang="zh-CN" altLang="en-US"/>
          </a:p>
        </p:txBody>
      </p:sp>
    </p:spTree>
    <p:extLst>
      <p:ext uri="{BB962C8B-B14F-4D97-AF65-F5344CB8AC3E}">
        <p14:creationId xmlns:p14="http://schemas.microsoft.com/office/powerpoint/2010/main" val="383021112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20C51-4C1D-F372-F7DC-F7B0CDC9CF9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4B73745-2485-D75D-2EDE-26B55FC5E69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FC39A3A-21D6-D346-343F-3B837829313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8AAF2F6-1EFA-6D14-0CC8-B5F7EB4E9258}"/>
              </a:ext>
            </a:extLst>
          </p:cNvPr>
          <p:cNvSpPr>
            <a:spLocks noGrp="1"/>
          </p:cNvSpPr>
          <p:nvPr>
            <p:ph type="sldNum" sz="quarter" idx="5"/>
          </p:nvPr>
        </p:nvSpPr>
        <p:spPr/>
        <p:txBody>
          <a:bodyPr/>
          <a:lstStyle/>
          <a:p>
            <a:fld id="{84918B77-9CB1-4C48-BED5-B02F24F09A98}" type="slidenum">
              <a:rPr lang="zh-CN" altLang="en-US" smtClean="0"/>
              <a:t>114</a:t>
            </a:fld>
            <a:endParaRPr lang="zh-CN" altLang="en-US"/>
          </a:p>
        </p:txBody>
      </p:sp>
    </p:spTree>
    <p:extLst>
      <p:ext uri="{BB962C8B-B14F-4D97-AF65-F5344CB8AC3E}">
        <p14:creationId xmlns:p14="http://schemas.microsoft.com/office/powerpoint/2010/main" val="133603827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918B77-9CB1-4C48-BED5-B02F24F09A98}" type="slidenum">
              <a:rPr lang="zh-CN" altLang="en-US" smtClean="0"/>
              <a:t>115</a:t>
            </a:fld>
            <a:endParaRPr lang="zh-CN" altLang="en-US"/>
          </a:p>
        </p:txBody>
      </p:sp>
    </p:spTree>
    <p:extLst>
      <p:ext uri="{BB962C8B-B14F-4D97-AF65-F5344CB8AC3E}">
        <p14:creationId xmlns:p14="http://schemas.microsoft.com/office/powerpoint/2010/main" val="373951620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918B77-9CB1-4C48-BED5-B02F24F09A98}" type="slidenum">
              <a:rPr lang="zh-CN" altLang="en-US" smtClean="0"/>
              <a:t>116</a:t>
            </a:fld>
            <a:endParaRPr lang="zh-CN" altLang="en-US"/>
          </a:p>
        </p:txBody>
      </p:sp>
    </p:spTree>
    <p:extLst>
      <p:ext uri="{BB962C8B-B14F-4D97-AF65-F5344CB8AC3E}">
        <p14:creationId xmlns:p14="http://schemas.microsoft.com/office/powerpoint/2010/main" val="1228474148"/>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918B77-9CB1-4C48-BED5-B02F24F09A98}" type="slidenum">
              <a:rPr lang="zh-CN" altLang="en-US" smtClean="0"/>
              <a:t>117</a:t>
            </a:fld>
            <a:endParaRPr lang="zh-CN" altLang="en-US"/>
          </a:p>
        </p:txBody>
      </p:sp>
    </p:spTree>
    <p:extLst>
      <p:ext uri="{BB962C8B-B14F-4D97-AF65-F5344CB8AC3E}">
        <p14:creationId xmlns:p14="http://schemas.microsoft.com/office/powerpoint/2010/main" val="201241771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B2A89-12D3-2FCB-12A5-85F879EF242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28EBEED-96FA-CDC1-EF80-83798564CC6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1B2E4E9-F25F-DE37-D2B1-0408F9D2B20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E8EB6AA-0992-9401-737A-20538E235A27}"/>
              </a:ext>
            </a:extLst>
          </p:cNvPr>
          <p:cNvSpPr>
            <a:spLocks noGrp="1"/>
          </p:cNvSpPr>
          <p:nvPr>
            <p:ph type="sldNum" sz="quarter" idx="5"/>
          </p:nvPr>
        </p:nvSpPr>
        <p:spPr/>
        <p:txBody>
          <a:bodyPr/>
          <a:lstStyle/>
          <a:p>
            <a:fld id="{84918B77-9CB1-4C48-BED5-B02F24F09A98}" type="slidenum">
              <a:rPr lang="zh-CN" altLang="en-US" smtClean="0"/>
              <a:t>118</a:t>
            </a:fld>
            <a:endParaRPr lang="zh-CN" altLang="en-US"/>
          </a:p>
        </p:txBody>
      </p:sp>
    </p:spTree>
    <p:extLst>
      <p:ext uri="{BB962C8B-B14F-4D97-AF65-F5344CB8AC3E}">
        <p14:creationId xmlns:p14="http://schemas.microsoft.com/office/powerpoint/2010/main" val="113156458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E9C91-B360-4A48-8EDB-C57AB6B8DFE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D1672AE-B9F2-7E3F-30A2-E03502A5B4D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1EBB444-AEAC-1EE1-5FB1-39C3C95F8527}"/>
              </a:ext>
            </a:extLst>
          </p:cNvPr>
          <p:cNvSpPr>
            <a:spLocks noGrp="1"/>
          </p:cNvSpPr>
          <p:nvPr>
            <p:ph type="body" idx="1"/>
          </p:nvPr>
        </p:nvSpPr>
        <p:spPr/>
        <p:txBody>
          <a:bodyPr/>
          <a:lstStyle/>
          <a:p>
            <a:pPr algn="l">
              <a:lnSpc>
                <a:spcPts val="2250"/>
              </a:lnSpc>
            </a:pPr>
            <a:endParaRPr lang="zh-CN" altLang="en-US" b="1" i="0" dirty="0">
              <a:solidFill>
                <a:srgbClr val="333333"/>
              </a:solidFill>
              <a:effectLst/>
              <a:latin typeface="PingFang SC"/>
            </a:endParaRPr>
          </a:p>
          <a:p>
            <a:pPr algn="l">
              <a:lnSpc>
                <a:spcPts val="1950"/>
              </a:lnSpc>
              <a:buFont typeface="Arial" panose="020B0604020202020204" pitchFamily="34" charset="0"/>
              <a:buChar char="•"/>
            </a:pPr>
            <a:r>
              <a:rPr lang="zh-CN" altLang="en-US" b="0" i="0" dirty="0">
                <a:solidFill>
                  <a:srgbClr val="333333"/>
                </a:solidFill>
                <a:effectLst/>
                <a:latin typeface="PingFang SC"/>
              </a:rPr>
              <a:t>‌</a:t>
            </a:r>
            <a:r>
              <a:rPr lang="en-US" altLang="zh-CN" b="1" i="0" u="none" strike="noStrike" dirty="0">
                <a:solidFill>
                  <a:srgbClr val="333333"/>
                </a:solidFill>
                <a:effectLst/>
                <a:latin typeface="PingFang SC"/>
                <a:hlinkClick r:id="rId3"/>
              </a:rPr>
              <a:t>Top Layer</a:t>
            </a:r>
            <a:r>
              <a:rPr lang="zh-CN" altLang="en-US" b="0" i="0" dirty="0">
                <a:solidFill>
                  <a:srgbClr val="333333"/>
                </a:solidFill>
                <a:effectLst/>
                <a:latin typeface="PingFang SC"/>
              </a:rPr>
              <a:t>‌：顶层信号层，用于放置元器件和走线。</a:t>
            </a:r>
          </a:p>
          <a:p>
            <a:pPr algn="l">
              <a:lnSpc>
                <a:spcPts val="1950"/>
              </a:lnSpc>
              <a:buFont typeface="Arial" panose="020B0604020202020204" pitchFamily="34" charset="0"/>
              <a:buChar char="•"/>
            </a:pPr>
            <a:r>
              <a:rPr lang="zh-CN" altLang="en-US" b="0" i="0" dirty="0">
                <a:solidFill>
                  <a:srgbClr val="333333"/>
                </a:solidFill>
                <a:effectLst/>
                <a:latin typeface="PingFang SC"/>
              </a:rPr>
              <a:t>‌</a:t>
            </a:r>
            <a:r>
              <a:rPr lang="en-US" altLang="zh-CN" b="1" i="0" u="none" strike="noStrike" dirty="0">
                <a:solidFill>
                  <a:srgbClr val="333333"/>
                </a:solidFill>
                <a:effectLst/>
                <a:latin typeface="PingFang SC"/>
                <a:hlinkClick r:id="rId4"/>
              </a:rPr>
              <a:t>Top Solder</a:t>
            </a:r>
            <a:r>
              <a:rPr lang="zh-CN" altLang="en-US" b="0" i="0" dirty="0">
                <a:solidFill>
                  <a:srgbClr val="333333"/>
                </a:solidFill>
                <a:effectLst/>
                <a:latin typeface="PingFang SC"/>
              </a:rPr>
              <a:t>‌：顶层阻焊层，用于描述绿油的覆盖区域，防止焊锡流动引起短路。</a:t>
            </a:r>
          </a:p>
          <a:p>
            <a:pPr algn="l">
              <a:lnSpc>
                <a:spcPts val="1950"/>
              </a:lnSpc>
              <a:buFont typeface="Arial" panose="020B0604020202020204" pitchFamily="34" charset="0"/>
              <a:buChar char="•"/>
            </a:pPr>
            <a:r>
              <a:rPr lang="zh-CN" altLang="en-US" b="0" i="0" dirty="0">
                <a:solidFill>
                  <a:srgbClr val="333333"/>
                </a:solidFill>
                <a:effectLst/>
                <a:latin typeface="PingFang SC"/>
              </a:rPr>
              <a:t>‌</a:t>
            </a:r>
            <a:r>
              <a:rPr lang="en-US" altLang="zh-CN" b="1" i="0" u="none" strike="noStrike" dirty="0">
                <a:solidFill>
                  <a:srgbClr val="333333"/>
                </a:solidFill>
                <a:effectLst/>
                <a:latin typeface="PingFang SC"/>
                <a:hlinkClick r:id="rId5"/>
              </a:rPr>
              <a:t>Top Paste</a:t>
            </a:r>
            <a:r>
              <a:rPr lang="zh-CN" altLang="en-US" b="0" i="0" dirty="0">
                <a:solidFill>
                  <a:srgbClr val="333333"/>
                </a:solidFill>
                <a:effectLst/>
                <a:latin typeface="PingFang SC"/>
              </a:rPr>
              <a:t>‌：顶层助焊层，用于表面贴装器件的焊接。</a:t>
            </a:r>
          </a:p>
          <a:p>
            <a:endParaRPr lang="zh-CN" altLang="en-US" dirty="0"/>
          </a:p>
        </p:txBody>
      </p:sp>
      <p:sp>
        <p:nvSpPr>
          <p:cNvPr id="4" name="灯片编号占位符 3">
            <a:extLst>
              <a:ext uri="{FF2B5EF4-FFF2-40B4-BE49-F238E27FC236}">
                <a16:creationId xmlns:a16="http://schemas.microsoft.com/office/drawing/2014/main" id="{83E85BBC-3AF9-3371-5C54-2E70DFEC64B0}"/>
              </a:ext>
            </a:extLst>
          </p:cNvPr>
          <p:cNvSpPr>
            <a:spLocks noGrp="1"/>
          </p:cNvSpPr>
          <p:nvPr>
            <p:ph type="sldNum" sz="quarter" idx="5"/>
          </p:nvPr>
        </p:nvSpPr>
        <p:spPr/>
        <p:txBody>
          <a:bodyPr/>
          <a:lstStyle/>
          <a:p>
            <a:fld id="{84918B77-9CB1-4C48-BED5-B02F24F09A98}" type="slidenum">
              <a:rPr lang="zh-CN" altLang="en-US" smtClean="0"/>
              <a:t>119</a:t>
            </a:fld>
            <a:endParaRPr lang="zh-CN" altLang="en-US"/>
          </a:p>
        </p:txBody>
      </p:sp>
    </p:spTree>
    <p:extLst>
      <p:ext uri="{BB962C8B-B14F-4D97-AF65-F5344CB8AC3E}">
        <p14:creationId xmlns:p14="http://schemas.microsoft.com/office/powerpoint/2010/main" val="413882277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E8449-EFB6-76C9-E515-38BACA08680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ACA6FD1-16C9-28B4-F956-BB27FDB9317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B287A75-F767-D1A2-1041-2B4F70E8CB9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58AE691-1A33-7327-7691-4BB387344A5C}"/>
              </a:ext>
            </a:extLst>
          </p:cNvPr>
          <p:cNvSpPr>
            <a:spLocks noGrp="1"/>
          </p:cNvSpPr>
          <p:nvPr>
            <p:ph type="sldNum" sz="quarter" idx="5"/>
          </p:nvPr>
        </p:nvSpPr>
        <p:spPr/>
        <p:txBody>
          <a:bodyPr/>
          <a:lstStyle/>
          <a:p>
            <a:fld id="{84918B77-9CB1-4C48-BED5-B02F24F09A98}" type="slidenum">
              <a:rPr lang="zh-CN" altLang="en-US" smtClean="0"/>
              <a:t>120</a:t>
            </a:fld>
            <a:endParaRPr lang="zh-CN" altLang="en-US"/>
          </a:p>
        </p:txBody>
      </p:sp>
    </p:spTree>
    <p:extLst>
      <p:ext uri="{BB962C8B-B14F-4D97-AF65-F5344CB8AC3E}">
        <p14:creationId xmlns:p14="http://schemas.microsoft.com/office/powerpoint/2010/main" val="403957844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03C24-7DA8-EF85-BA97-9E5A5104C9B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12FB3EB-C27E-6DBC-D3E1-4117C8550C2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320449B-82C4-4A21-3324-F4037DF4607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A1CD034-FB12-B941-8020-F243769C48E7}"/>
              </a:ext>
            </a:extLst>
          </p:cNvPr>
          <p:cNvSpPr>
            <a:spLocks noGrp="1"/>
          </p:cNvSpPr>
          <p:nvPr>
            <p:ph type="sldNum" sz="quarter" idx="5"/>
          </p:nvPr>
        </p:nvSpPr>
        <p:spPr/>
        <p:txBody>
          <a:bodyPr/>
          <a:lstStyle/>
          <a:p>
            <a:fld id="{84918B77-9CB1-4C48-BED5-B02F24F09A98}" type="slidenum">
              <a:rPr lang="zh-CN" altLang="en-US" smtClean="0"/>
              <a:t>121</a:t>
            </a:fld>
            <a:endParaRPr lang="zh-CN" altLang="en-US"/>
          </a:p>
        </p:txBody>
      </p:sp>
    </p:spTree>
    <p:extLst>
      <p:ext uri="{BB962C8B-B14F-4D97-AF65-F5344CB8AC3E}">
        <p14:creationId xmlns:p14="http://schemas.microsoft.com/office/powerpoint/2010/main" val="3901455855"/>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9963CF-F47A-447B-F021-ACDCFAA67CD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15041B9-B27E-E810-1774-1F37F023859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A21119A-810D-F29C-FFAC-794FC10A962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6D5291D-8B1B-0151-C987-C9EBF1B89E37}"/>
              </a:ext>
            </a:extLst>
          </p:cNvPr>
          <p:cNvSpPr>
            <a:spLocks noGrp="1"/>
          </p:cNvSpPr>
          <p:nvPr>
            <p:ph type="sldNum" sz="quarter" idx="5"/>
          </p:nvPr>
        </p:nvSpPr>
        <p:spPr/>
        <p:txBody>
          <a:bodyPr/>
          <a:lstStyle/>
          <a:p>
            <a:fld id="{84918B77-9CB1-4C48-BED5-B02F24F09A98}" type="slidenum">
              <a:rPr lang="zh-CN" altLang="en-US" smtClean="0"/>
              <a:t>122</a:t>
            </a:fld>
            <a:endParaRPr lang="zh-CN" altLang="en-US"/>
          </a:p>
        </p:txBody>
      </p:sp>
    </p:spTree>
    <p:extLst>
      <p:ext uri="{BB962C8B-B14F-4D97-AF65-F5344CB8AC3E}">
        <p14:creationId xmlns:p14="http://schemas.microsoft.com/office/powerpoint/2010/main" val="16268621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74BF1F-71B7-BCBF-207F-7B6932A8300C}"/>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116AD68B-C5AE-FB8B-B82D-8F8854AFF7A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D6C86F7C-D5B9-6E6A-477A-9FAB4595300E}"/>
              </a:ext>
            </a:extLst>
          </p:cNvPr>
          <p:cNvSpPr>
            <a:spLocks noGrp="1"/>
          </p:cNvSpPr>
          <p:nvPr>
            <p:ph type="dt" sz="half" idx="10"/>
          </p:nvPr>
        </p:nvSpPr>
        <p:spPr/>
        <p:txBody>
          <a:bodyPr/>
          <a:lstStyle/>
          <a:p>
            <a:fld id="{4F220009-5FF4-40A3-81D9-576A80332F06}" type="datetimeFigureOut">
              <a:rPr lang="zh-CN" altLang="en-US" smtClean="0"/>
              <a:t>2025/3/5</a:t>
            </a:fld>
            <a:endParaRPr lang="zh-CN" altLang="en-US"/>
          </a:p>
        </p:txBody>
      </p:sp>
      <p:sp>
        <p:nvSpPr>
          <p:cNvPr id="5" name="页脚占位符 4">
            <a:extLst>
              <a:ext uri="{FF2B5EF4-FFF2-40B4-BE49-F238E27FC236}">
                <a16:creationId xmlns:a16="http://schemas.microsoft.com/office/drawing/2014/main" id="{4633C5CA-2E68-4B73-B793-076A66F60EC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E893FB3-46E9-7C7E-6368-B27AFAAD1309}"/>
              </a:ext>
            </a:extLst>
          </p:cNvPr>
          <p:cNvSpPr>
            <a:spLocks noGrp="1"/>
          </p:cNvSpPr>
          <p:nvPr>
            <p:ph type="sldNum" sz="quarter" idx="12"/>
          </p:nvPr>
        </p:nvSpPr>
        <p:spPr/>
        <p:txBody>
          <a:bodyPr/>
          <a:lstStyle/>
          <a:p>
            <a:fld id="{08458A09-E1B4-4F4E-9539-3AC1DC125C23}" type="slidenum">
              <a:rPr lang="zh-CN" altLang="en-US" smtClean="0"/>
              <a:t>‹#›</a:t>
            </a:fld>
            <a:endParaRPr lang="zh-CN" altLang="en-US"/>
          </a:p>
        </p:txBody>
      </p:sp>
    </p:spTree>
    <p:extLst>
      <p:ext uri="{BB962C8B-B14F-4D97-AF65-F5344CB8AC3E}">
        <p14:creationId xmlns:p14="http://schemas.microsoft.com/office/powerpoint/2010/main" val="2703848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8D173F-CAE2-FE99-E575-214AA65AA63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4F47CE9-E062-91CA-A96E-02F85CAFD8C8}"/>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56A2ABA-8041-9B13-8643-F511AF0C655C}"/>
              </a:ext>
            </a:extLst>
          </p:cNvPr>
          <p:cNvSpPr>
            <a:spLocks noGrp="1"/>
          </p:cNvSpPr>
          <p:nvPr>
            <p:ph type="dt" sz="half" idx="10"/>
          </p:nvPr>
        </p:nvSpPr>
        <p:spPr/>
        <p:txBody>
          <a:bodyPr/>
          <a:lstStyle/>
          <a:p>
            <a:fld id="{4F220009-5FF4-40A3-81D9-576A80332F06}" type="datetimeFigureOut">
              <a:rPr lang="zh-CN" altLang="en-US" smtClean="0"/>
              <a:t>2025/3/5</a:t>
            </a:fld>
            <a:endParaRPr lang="zh-CN" altLang="en-US"/>
          </a:p>
        </p:txBody>
      </p:sp>
      <p:sp>
        <p:nvSpPr>
          <p:cNvPr id="5" name="页脚占位符 4">
            <a:extLst>
              <a:ext uri="{FF2B5EF4-FFF2-40B4-BE49-F238E27FC236}">
                <a16:creationId xmlns:a16="http://schemas.microsoft.com/office/drawing/2014/main" id="{D3A6B2B9-EBF4-A5C6-998D-6719E3B68C6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6744F9C-3CEB-7CDB-EBBA-AB22141B2FD9}"/>
              </a:ext>
            </a:extLst>
          </p:cNvPr>
          <p:cNvSpPr>
            <a:spLocks noGrp="1"/>
          </p:cNvSpPr>
          <p:nvPr>
            <p:ph type="sldNum" sz="quarter" idx="12"/>
          </p:nvPr>
        </p:nvSpPr>
        <p:spPr/>
        <p:txBody>
          <a:bodyPr/>
          <a:lstStyle/>
          <a:p>
            <a:fld id="{08458A09-E1B4-4F4E-9539-3AC1DC125C23}" type="slidenum">
              <a:rPr lang="zh-CN" altLang="en-US" smtClean="0"/>
              <a:t>‹#›</a:t>
            </a:fld>
            <a:endParaRPr lang="zh-CN" altLang="en-US"/>
          </a:p>
        </p:txBody>
      </p:sp>
    </p:spTree>
    <p:extLst>
      <p:ext uri="{BB962C8B-B14F-4D97-AF65-F5344CB8AC3E}">
        <p14:creationId xmlns:p14="http://schemas.microsoft.com/office/powerpoint/2010/main" val="9523505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D26A0E-144B-8DCB-B983-967EED6292E2}"/>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403F7F2E-6A00-2A91-4C36-B0877447633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6590C300-7EC1-408B-F2A2-DDA1419F3A58}"/>
              </a:ext>
            </a:extLst>
          </p:cNvPr>
          <p:cNvSpPr>
            <a:spLocks noGrp="1"/>
          </p:cNvSpPr>
          <p:nvPr>
            <p:ph type="dt" sz="half" idx="10"/>
          </p:nvPr>
        </p:nvSpPr>
        <p:spPr/>
        <p:txBody>
          <a:bodyPr/>
          <a:lstStyle/>
          <a:p>
            <a:fld id="{4F220009-5FF4-40A3-81D9-576A80332F06}" type="datetimeFigureOut">
              <a:rPr lang="zh-CN" altLang="en-US" smtClean="0"/>
              <a:t>2025/3/5</a:t>
            </a:fld>
            <a:endParaRPr lang="zh-CN" altLang="en-US"/>
          </a:p>
        </p:txBody>
      </p:sp>
      <p:sp>
        <p:nvSpPr>
          <p:cNvPr id="5" name="页脚占位符 4">
            <a:extLst>
              <a:ext uri="{FF2B5EF4-FFF2-40B4-BE49-F238E27FC236}">
                <a16:creationId xmlns:a16="http://schemas.microsoft.com/office/drawing/2014/main" id="{0FCD6582-D394-1065-E83C-20417103D90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F5F9551-C281-9E4E-B4A8-8B2D144EB564}"/>
              </a:ext>
            </a:extLst>
          </p:cNvPr>
          <p:cNvSpPr>
            <a:spLocks noGrp="1"/>
          </p:cNvSpPr>
          <p:nvPr>
            <p:ph type="sldNum" sz="quarter" idx="12"/>
          </p:nvPr>
        </p:nvSpPr>
        <p:spPr/>
        <p:txBody>
          <a:bodyPr/>
          <a:lstStyle/>
          <a:p>
            <a:fld id="{08458A09-E1B4-4F4E-9539-3AC1DC125C23}" type="slidenum">
              <a:rPr lang="zh-CN" altLang="en-US" smtClean="0"/>
              <a:t>‹#›</a:t>
            </a:fld>
            <a:endParaRPr lang="zh-CN" altLang="en-US"/>
          </a:p>
        </p:txBody>
      </p:sp>
    </p:spTree>
    <p:extLst>
      <p:ext uri="{BB962C8B-B14F-4D97-AF65-F5344CB8AC3E}">
        <p14:creationId xmlns:p14="http://schemas.microsoft.com/office/powerpoint/2010/main" val="22167119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E7A4D0-2B71-87F6-2516-34C5B875850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5C05354-D295-9BE7-50D3-ED675D5E3B74}"/>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70A98DE5-8458-ABEE-6071-04D7C754E63F}"/>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FFC9B0D9-8691-F87E-8C18-7D35948A80B3}"/>
              </a:ext>
            </a:extLst>
          </p:cNvPr>
          <p:cNvSpPr>
            <a:spLocks noGrp="1"/>
          </p:cNvSpPr>
          <p:nvPr>
            <p:ph type="dt" sz="half" idx="10"/>
          </p:nvPr>
        </p:nvSpPr>
        <p:spPr/>
        <p:txBody>
          <a:bodyPr/>
          <a:lstStyle/>
          <a:p>
            <a:fld id="{4F220009-5FF4-40A3-81D9-576A80332F06}" type="datetimeFigureOut">
              <a:rPr lang="zh-CN" altLang="en-US" smtClean="0"/>
              <a:t>2025/3/5</a:t>
            </a:fld>
            <a:endParaRPr lang="zh-CN" altLang="en-US"/>
          </a:p>
        </p:txBody>
      </p:sp>
      <p:sp>
        <p:nvSpPr>
          <p:cNvPr id="6" name="页脚占位符 5">
            <a:extLst>
              <a:ext uri="{FF2B5EF4-FFF2-40B4-BE49-F238E27FC236}">
                <a16:creationId xmlns:a16="http://schemas.microsoft.com/office/drawing/2014/main" id="{213AA6BB-07F0-7FBF-8057-87E2C5FF544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9FC5237-951C-6AC7-C883-91B010E9E783}"/>
              </a:ext>
            </a:extLst>
          </p:cNvPr>
          <p:cNvSpPr>
            <a:spLocks noGrp="1"/>
          </p:cNvSpPr>
          <p:nvPr>
            <p:ph type="sldNum" sz="quarter" idx="12"/>
          </p:nvPr>
        </p:nvSpPr>
        <p:spPr/>
        <p:txBody>
          <a:bodyPr/>
          <a:lstStyle/>
          <a:p>
            <a:fld id="{08458A09-E1B4-4F4E-9539-3AC1DC125C23}" type="slidenum">
              <a:rPr lang="zh-CN" altLang="en-US" smtClean="0"/>
              <a:t>‹#›</a:t>
            </a:fld>
            <a:endParaRPr lang="zh-CN" altLang="en-US"/>
          </a:p>
        </p:txBody>
      </p:sp>
    </p:spTree>
    <p:extLst>
      <p:ext uri="{BB962C8B-B14F-4D97-AF65-F5344CB8AC3E}">
        <p14:creationId xmlns:p14="http://schemas.microsoft.com/office/powerpoint/2010/main" val="35414430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2A752E-4491-CC4E-82BB-3951E06A4208}"/>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98D64908-500C-68F7-B7FE-BFAE12F040C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EEDA151B-7B93-608D-B7F9-43E522B11B7C}"/>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0B78DAFC-901D-DB19-2DBE-A821B6134CC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68A734BB-6EE7-A835-62DB-09856FE61161}"/>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9906E0EF-A992-C0E8-4C52-2F59A0AFC228}"/>
              </a:ext>
            </a:extLst>
          </p:cNvPr>
          <p:cNvSpPr>
            <a:spLocks noGrp="1"/>
          </p:cNvSpPr>
          <p:nvPr>
            <p:ph type="dt" sz="half" idx="10"/>
          </p:nvPr>
        </p:nvSpPr>
        <p:spPr/>
        <p:txBody>
          <a:bodyPr/>
          <a:lstStyle/>
          <a:p>
            <a:fld id="{4F220009-5FF4-40A3-81D9-576A80332F06}" type="datetimeFigureOut">
              <a:rPr lang="zh-CN" altLang="en-US" smtClean="0"/>
              <a:t>2025/3/5</a:t>
            </a:fld>
            <a:endParaRPr lang="zh-CN" altLang="en-US"/>
          </a:p>
        </p:txBody>
      </p:sp>
      <p:sp>
        <p:nvSpPr>
          <p:cNvPr id="8" name="页脚占位符 7">
            <a:extLst>
              <a:ext uri="{FF2B5EF4-FFF2-40B4-BE49-F238E27FC236}">
                <a16:creationId xmlns:a16="http://schemas.microsoft.com/office/drawing/2014/main" id="{D3C5E1BB-B86E-F4BD-41A3-8027B964D132}"/>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CFE1DF9-EBD6-C720-4491-F56E963F32F2}"/>
              </a:ext>
            </a:extLst>
          </p:cNvPr>
          <p:cNvSpPr>
            <a:spLocks noGrp="1"/>
          </p:cNvSpPr>
          <p:nvPr>
            <p:ph type="sldNum" sz="quarter" idx="12"/>
          </p:nvPr>
        </p:nvSpPr>
        <p:spPr/>
        <p:txBody>
          <a:bodyPr/>
          <a:lstStyle/>
          <a:p>
            <a:fld id="{08458A09-E1B4-4F4E-9539-3AC1DC125C23}" type="slidenum">
              <a:rPr lang="zh-CN" altLang="en-US" smtClean="0"/>
              <a:t>‹#›</a:t>
            </a:fld>
            <a:endParaRPr lang="zh-CN" altLang="en-US"/>
          </a:p>
        </p:txBody>
      </p:sp>
    </p:spTree>
    <p:extLst>
      <p:ext uri="{BB962C8B-B14F-4D97-AF65-F5344CB8AC3E}">
        <p14:creationId xmlns:p14="http://schemas.microsoft.com/office/powerpoint/2010/main" val="1223592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1E1AD3-4400-7F5C-78F2-F6C0A48E87C3}"/>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EAA5F4E-47D6-C3F4-3827-0FBE898403FB}"/>
              </a:ext>
            </a:extLst>
          </p:cNvPr>
          <p:cNvSpPr>
            <a:spLocks noGrp="1"/>
          </p:cNvSpPr>
          <p:nvPr>
            <p:ph type="dt" sz="half" idx="10"/>
          </p:nvPr>
        </p:nvSpPr>
        <p:spPr/>
        <p:txBody>
          <a:bodyPr/>
          <a:lstStyle/>
          <a:p>
            <a:fld id="{4F220009-5FF4-40A3-81D9-576A80332F06}" type="datetimeFigureOut">
              <a:rPr lang="zh-CN" altLang="en-US" smtClean="0"/>
              <a:t>2025/3/5</a:t>
            </a:fld>
            <a:endParaRPr lang="zh-CN" altLang="en-US"/>
          </a:p>
        </p:txBody>
      </p:sp>
      <p:sp>
        <p:nvSpPr>
          <p:cNvPr id="4" name="页脚占位符 3">
            <a:extLst>
              <a:ext uri="{FF2B5EF4-FFF2-40B4-BE49-F238E27FC236}">
                <a16:creationId xmlns:a16="http://schemas.microsoft.com/office/drawing/2014/main" id="{49774E0A-8DD7-CE36-6B29-AF791CFF99E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D7FB398F-3DF6-5237-6994-7D47A426296C}"/>
              </a:ext>
            </a:extLst>
          </p:cNvPr>
          <p:cNvSpPr>
            <a:spLocks noGrp="1"/>
          </p:cNvSpPr>
          <p:nvPr>
            <p:ph type="sldNum" sz="quarter" idx="12"/>
          </p:nvPr>
        </p:nvSpPr>
        <p:spPr/>
        <p:txBody>
          <a:bodyPr/>
          <a:lstStyle/>
          <a:p>
            <a:fld id="{08458A09-E1B4-4F4E-9539-3AC1DC125C23}" type="slidenum">
              <a:rPr lang="zh-CN" altLang="en-US" smtClean="0"/>
              <a:t>‹#›</a:t>
            </a:fld>
            <a:endParaRPr lang="zh-CN" altLang="en-US"/>
          </a:p>
        </p:txBody>
      </p:sp>
    </p:spTree>
    <p:extLst>
      <p:ext uri="{BB962C8B-B14F-4D97-AF65-F5344CB8AC3E}">
        <p14:creationId xmlns:p14="http://schemas.microsoft.com/office/powerpoint/2010/main" val="32818974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0763CEE-F378-7245-7A1B-AF6075BEA1DE}"/>
              </a:ext>
            </a:extLst>
          </p:cNvPr>
          <p:cNvSpPr>
            <a:spLocks noGrp="1"/>
          </p:cNvSpPr>
          <p:nvPr>
            <p:ph type="dt" sz="half" idx="10"/>
          </p:nvPr>
        </p:nvSpPr>
        <p:spPr/>
        <p:txBody>
          <a:bodyPr/>
          <a:lstStyle/>
          <a:p>
            <a:fld id="{4F220009-5FF4-40A3-81D9-576A80332F06}" type="datetimeFigureOut">
              <a:rPr lang="zh-CN" altLang="en-US" smtClean="0"/>
              <a:t>2025/3/5</a:t>
            </a:fld>
            <a:endParaRPr lang="zh-CN" altLang="en-US"/>
          </a:p>
        </p:txBody>
      </p:sp>
      <p:sp>
        <p:nvSpPr>
          <p:cNvPr id="3" name="页脚占位符 2">
            <a:extLst>
              <a:ext uri="{FF2B5EF4-FFF2-40B4-BE49-F238E27FC236}">
                <a16:creationId xmlns:a16="http://schemas.microsoft.com/office/drawing/2014/main" id="{2FE4C8D5-6765-EBC5-50B6-B3D073169CA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009444CC-4B80-FADF-84EE-80F3030BA896}"/>
              </a:ext>
            </a:extLst>
          </p:cNvPr>
          <p:cNvSpPr>
            <a:spLocks noGrp="1"/>
          </p:cNvSpPr>
          <p:nvPr>
            <p:ph type="sldNum" sz="quarter" idx="12"/>
          </p:nvPr>
        </p:nvSpPr>
        <p:spPr/>
        <p:txBody>
          <a:bodyPr/>
          <a:lstStyle/>
          <a:p>
            <a:fld id="{08458A09-E1B4-4F4E-9539-3AC1DC125C23}" type="slidenum">
              <a:rPr lang="zh-CN" altLang="en-US" smtClean="0"/>
              <a:t>‹#›</a:t>
            </a:fld>
            <a:endParaRPr lang="zh-CN" altLang="en-US"/>
          </a:p>
        </p:txBody>
      </p:sp>
    </p:spTree>
    <p:extLst>
      <p:ext uri="{BB962C8B-B14F-4D97-AF65-F5344CB8AC3E}">
        <p14:creationId xmlns:p14="http://schemas.microsoft.com/office/powerpoint/2010/main" val="3811663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1EB144-A8EB-C4AE-EC81-A78B661D4E2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D86A61EF-58AA-B258-44E0-723E453F3A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AA9661B4-2BD1-4B14-9E8E-5246CAC8DC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017F162-D3F5-D371-C732-C0E685A7F9EA}"/>
              </a:ext>
            </a:extLst>
          </p:cNvPr>
          <p:cNvSpPr>
            <a:spLocks noGrp="1"/>
          </p:cNvSpPr>
          <p:nvPr>
            <p:ph type="dt" sz="half" idx="10"/>
          </p:nvPr>
        </p:nvSpPr>
        <p:spPr/>
        <p:txBody>
          <a:bodyPr/>
          <a:lstStyle/>
          <a:p>
            <a:fld id="{4F220009-5FF4-40A3-81D9-576A80332F06}" type="datetimeFigureOut">
              <a:rPr lang="zh-CN" altLang="en-US" smtClean="0"/>
              <a:t>2025/3/5</a:t>
            </a:fld>
            <a:endParaRPr lang="zh-CN" altLang="en-US"/>
          </a:p>
        </p:txBody>
      </p:sp>
      <p:sp>
        <p:nvSpPr>
          <p:cNvPr id="6" name="页脚占位符 5">
            <a:extLst>
              <a:ext uri="{FF2B5EF4-FFF2-40B4-BE49-F238E27FC236}">
                <a16:creationId xmlns:a16="http://schemas.microsoft.com/office/drawing/2014/main" id="{669B0D7F-AF45-95D4-51A9-C0487D26B50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11E8F1E-D7F1-5C74-3333-DB1F24212C60}"/>
              </a:ext>
            </a:extLst>
          </p:cNvPr>
          <p:cNvSpPr>
            <a:spLocks noGrp="1"/>
          </p:cNvSpPr>
          <p:nvPr>
            <p:ph type="sldNum" sz="quarter" idx="12"/>
          </p:nvPr>
        </p:nvSpPr>
        <p:spPr/>
        <p:txBody>
          <a:bodyPr/>
          <a:lstStyle/>
          <a:p>
            <a:fld id="{08458A09-E1B4-4F4E-9539-3AC1DC125C23}" type="slidenum">
              <a:rPr lang="zh-CN" altLang="en-US" smtClean="0"/>
              <a:t>‹#›</a:t>
            </a:fld>
            <a:endParaRPr lang="zh-CN" altLang="en-US"/>
          </a:p>
        </p:txBody>
      </p:sp>
    </p:spTree>
    <p:extLst>
      <p:ext uri="{BB962C8B-B14F-4D97-AF65-F5344CB8AC3E}">
        <p14:creationId xmlns:p14="http://schemas.microsoft.com/office/powerpoint/2010/main" val="28820978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7EE17B-F0A3-F2F1-ACA3-0F43F5BE026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D964505-F629-1ED0-A3FA-473084D91AD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C69C8EF5-C071-2F89-FE57-5E63E7030F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A4F120D-3FF2-074A-B5F3-815DE01FAE24}"/>
              </a:ext>
            </a:extLst>
          </p:cNvPr>
          <p:cNvSpPr>
            <a:spLocks noGrp="1"/>
          </p:cNvSpPr>
          <p:nvPr>
            <p:ph type="dt" sz="half" idx="10"/>
          </p:nvPr>
        </p:nvSpPr>
        <p:spPr/>
        <p:txBody>
          <a:bodyPr/>
          <a:lstStyle/>
          <a:p>
            <a:fld id="{4F220009-5FF4-40A3-81D9-576A80332F06}" type="datetimeFigureOut">
              <a:rPr lang="zh-CN" altLang="en-US" smtClean="0"/>
              <a:t>2025/3/5</a:t>
            </a:fld>
            <a:endParaRPr lang="zh-CN" altLang="en-US"/>
          </a:p>
        </p:txBody>
      </p:sp>
      <p:sp>
        <p:nvSpPr>
          <p:cNvPr id="6" name="页脚占位符 5">
            <a:extLst>
              <a:ext uri="{FF2B5EF4-FFF2-40B4-BE49-F238E27FC236}">
                <a16:creationId xmlns:a16="http://schemas.microsoft.com/office/drawing/2014/main" id="{2CBC4A04-7CBC-BF60-CD3E-D62DA716680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0B5BF2E-8570-F0AD-8CE9-3435C868CDBA}"/>
              </a:ext>
            </a:extLst>
          </p:cNvPr>
          <p:cNvSpPr>
            <a:spLocks noGrp="1"/>
          </p:cNvSpPr>
          <p:nvPr>
            <p:ph type="sldNum" sz="quarter" idx="12"/>
          </p:nvPr>
        </p:nvSpPr>
        <p:spPr/>
        <p:txBody>
          <a:bodyPr/>
          <a:lstStyle/>
          <a:p>
            <a:fld id="{08458A09-E1B4-4F4E-9539-3AC1DC125C23}" type="slidenum">
              <a:rPr lang="zh-CN" altLang="en-US" smtClean="0"/>
              <a:t>‹#›</a:t>
            </a:fld>
            <a:endParaRPr lang="zh-CN" altLang="en-US"/>
          </a:p>
        </p:txBody>
      </p:sp>
    </p:spTree>
    <p:extLst>
      <p:ext uri="{BB962C8B-B14F-4D97-AF65-F5344CB8AC3E}">
        <p14:creationId xmlns:p14="http://schemas.microsoft.com/office/powerpoint/2010/main" val="23519544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00B3A75-41C9-83A4-1FC1-60B731261F48}"/>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02E1CDD7-EBA5-2CA5-0124-D61F7CC25F01}"/>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990AEBA-2C53-38D0-5837-E1A5F38145D8}"/>
              </a:ext>
            </a:extLst>
          </p:cNvPr>
          <p:cNvSpPr>
            <a:spLocks noGrp="1"/>
          </p:cNvSpPr>
          <p:nvPr>
            <p:ph type="dt" sz="half" idx="10"/>
          </p:nvPr>
        </p:nvSpPr>
        <p:spPr/>
        <p:txBody>
          <a:bodyPr/>
          <a:lstStyle/>
          <a:p>
            <a:fld id="{4F220009-5FF4-40A3-81D9-576A80332F06}" type="datetimeFigureOut">
              <a:rPr lang="zh-CN" altLang="en-US" smtClean="0"/>
              <a:t>2025/3/5</a:t>
            </a:fld>
            <a:endParaRPr lang="zh-CN" altLang="en-US"/>
          </a:p>
        </p:txBody>
      </p:sp>
      <p:sp>
        <p:nvSpPr>
          <p:cNvPr id="5" name="页脚占位符 4">
            <a:extLst>
              <a:ext uri="{FF2B5EF4-FFF2-40B4-BE49-F238E27FC236}">
                <a16:creationId xmlns:a16="http://schemas.microsoft.com/office/drawing/2014/main" id="{671C6D77-F5EF-F8CB-0C68-277A05DAD73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F86C772-E830-C4B2-7A6E-DA3EF92B8909}"/>
              </a:ext>
            </a:extLst>
          </p:cNvPr>
          <p:cNvSpPr>
            <a:spLocks noGrp="1"/>
          </p:cNvSpPr>
          <p:nvPr>
            <p:ph type="sldNum" sz="quarter" idx="12"/>
          </p:nvPr>
        </p:nvSpPr>
        <p:spPr/>
        <p:txBody>
          <a:bodyPr/>
          <a:lstStyle/>
          <a:p>
            <a:fld id="{08458A09-E1B4-4F4E-9539-3AC1DC125C23}" type="slidenum">
              <a:rPr lang="zh-CN" altLang="en-US" smtClean="0"/>
              <a:t>‹#›</a:t>
            </a:fld>
            <a:endParaRPr lang="zh-CN" altLang="en-US"/>
          </a:p>
        </p:txBody>
      </p:sp>
    </p:spTree>
    <p:extLst>
      <p:ext uri="{BB962C8B-B14F-4D97-AF65-F5344CB8AC3E}">
        <p14:creationId xmlns:p14="http://schemas.microsoft.com/office/powerpoint/2010/main" val="6171655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3B1A4B57-9489-3FDC-E51D-520C8818D54E}"/>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4F3EA379-4C64-94FE-0E49-AA3E7272BD3C}"/>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583A417-B7BA-4EBA-F44C-6ACCEA3476FC}"/>
              </a:ext>
            </a:extLst>
          </p:cNvPr>
          <p:cNvSpPr>
            <a:spLocks noGrp="1"/>
          </p:cNvSpPr>
          <p:nvPr>
            <p:ph type="dt" sz="half" idx="10"/>
          </p:nvPr>
        </p:nvSpPr>
        <p:spPr/>
        <p:txBody>
          <a:bodyPr/>
          <a:lstStyle/>
          <a:p>
            <a:fld id="{4F220009-5FF4-40A3-81D9-576A80332F06}" type="datetimeFigureOut">
              <a:rPr lang="zh-CN" altLang="en-US" smtClean="0"/>
              <a:t>2025/3/5</a:t>
            </a:fld>
            <a:endParaRPr lang="zh-CN" altLang="en-US"/>
          </a:p>
        </p:txBody>
      </p:sp>
      <p:sp>
        <p:nvSpPr>
          <p:cNvPr id="5" name="页脚占位符 4">
            <a:extLst>
              <a:ext uri="{FF2B5EF4-FFF2-40B4-BE49-F238E27FC236}">
                <a16:creationId xmlns:a16="http://schemas.microsoft.com/office/drawing/2014/main" id="{2320DB51-F123-76B5-09EF-8AABD29EC60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0E434D3-88FD-53C0-DC36-4B3476649825}"/>
              </a:ext>
            </a:extLst>
          </p:cNvPr>
          <p:cNvSpPr>
            <a:spLocks noGrp="1"/>
          </p:cNvSpPr>
          <p:nvPr>
            <p:ph type="sldNum" sz="quarter" idx="12"/>
          </p:nvPr>
        </p:nvSpPr>
        <p:spPr/>
        <p:txBody>
          <a:bodyPr/>
          <a:lstStyle/>
          <a:p>
            <a:fld id="{08458A09-E1B4-4F4E-9539-3AC1DC125C23}" type="slidenum">
              <a:rPr lang="zh-CN" altLang="en-US" smtClean="0"/>
              <a:t>‹#›</a:t>
            </a:fld>
            <a:endParaRPr lang="zh-CN" altLang="en-US"/>
          </a:p>
        </p:txBody>
      </p:sp>
    </p:spTree>
    <p:extLst>
      <p:ext uri="{BB962C8B-B14F-4D97-AF65-F5344CB8AC3E}">
        <p14:creationId xmlns:p14="http://schemas.microsoft.com/office/powerpoint/2010/main" val="40788355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8260C70B-7EA2-5FE8-92CC-58F526CA64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D1C11497-2FC6-E4F5-2B2A-2F7EECBD1B9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0B31406-59AB-697A-CAEF-137C0E45CF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220009-5FF4-40A3-81D9-576A80332F06}" type="datetimeFigureOut">
              <a:rPr lang="zh-CN" altLang="en-US" smtClean="0"/>
              <a:t>2025/3/5</a:t>
            </a:fld>
            <a:endParaRPr lang="zh-CN" altLang="en-US"/>
          </a:p>
        </p:txBody>
      </p:sp>
      <p:sp>
        <p:nvSpPr>
          <p:cNvPr id="5" name="页脚占位符 4">
            <a:extLst>
              <a:ext uri="{FF2B5EF4-FFF2-40B4-BE49-F238E27FC236}">
                <a16:creationId xmlns:a16="http://schemas.microsoft.com/office/drawing/2014/main" id="{2391AF6A-95B0-75C7-8C03-0C0EB99B83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79D667A4-5A72-AF70-E296-2C45F84845A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8458A09-E1B4-4F4E-9539-3AC1DC125C23}" type="slidenum">
              <a:rPr lang="zh-CN" altLang="en-US" smtClean="0"/>
              <a:t>‹#›</a:t>
            </a:fld>
            <a:endParaRPr lang="zh-CN" altLang="en-US"/>
          </a:p>
        </p:txBody>
      </p:sp>
    </p:spTree>
    <p:extLst>
      <p:ext uri="{BB962C8B-B14F-4D97-AF65-F5344CB8AC3E}">
        <p14:creationId xmlns:p14="http://schemas.microsoft.com/office/powerpoint/2010/main" val="14694504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47.xml"/><Relationship Id="rId1" Type="http://schemas.openxmlformats.org/officeDocument/2006/relationships/slideLayout" Target="../slideLayouts/slideLayout2.xml"/><Relationship Id="rId5" Type="http://schemas.openxmlformats.org/officeDocument/2006/relationships/image" Target="../media/image31.jpeg"/><Relationship Id="rId4" Type="http://schemas.openxmlformats.org/officeDocument/2006/relationships/image" Target="../media/image30.jpeg"/></Relationships>
</file>

<file path=ppt/slides/_rels/slide58.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48.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jpe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6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2.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6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86.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xml"/><Relationship Id="rId4" Type="http://schemas.openxmlformats.org/officeDocument/2006/relationships/image" Target="../media/image74.png"/></Relationships>
</file>

<file path=ppt/slides/_rels/slide9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84.png"/></Relationships>
</file>

<file path=ppt/slides/_rels/slide104.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72.xml"/><Relationship Id="rId1" Type="http://schemas.openxmlformats.org/officeDocument/2006/relationships/slideLayout" Target="../slideLayouts/slideLayout2.xml"/><Relationship Id="rId5" Type="http://schemas.openxmlformats.org/officeDocument/2006/relationships/image" Target="../media/image97.png"/><Relationship Id="rId4" Type="http://schemas.openxmlformats.org/officeDocument/2006/relationships/image" Target="../media/image96.png"/></Relationships>
</file>

<file path=ppt/slides/_rels/slide115.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77.xml"/><Relationship Id="rId1" Type="http://schemas.openxmlformats.org/officeDocument/2006/relationships/slideLayout" Target="../slideLayouts/slideLayout2.xml"/><Relationship Id="rId4" Type="http://schemas.openxmlformats.org/officeDocument/2006/relationships/image" Target="../media/image103.png"/></Relationships>
</file>

<file path=ppt/slides/_rels/slide120.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7828918A-AD08-22EE-D978-E9C3E83539EE}"/>
              </a:ext>
            </a:extLst>
          </p:cNvPr>
          <p:cNvSpPr/>
          <p:nvPr/>
        </p:nvSpPr>
        <p:spPr>
          <a:xfrm>
            <a:off x="-7319" y="2054212"/>
            <a:ext cx="12199315" cy="2739821"/>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8" name="Picture 2">
            <a:extLst>
              <a:ext uri="{FF2B5EF4-FFF2-40B4-BE49-F238E27FC236}">
                <a16:creationId xmlns:a16="http://schemas.microsoft.com/office/drawing/2014/main" id="{0486191D-BE3E-F61B-75AB-58149E355D0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9482" t="14195" r="22187" b="9968"/>
          <a:stretch/>
        </p:blipFill>
        <p:spPr bwMode="auto">
          <a:xfrm>
            <a:off x="285291" y="14630"/>
            <a:ext cx="775052" cy="801697"/>
          </a:xfrm>
          <a:prstGeom prst="parallelogram">
            <a:avLst>
              <a:gd name="adj" fmla="val 0"/>
            </a:avLst>
          </a:prstGeom>
          <a:noFill/>
          <a:ln>
            <a:solidFill>
              <a:schemeClr val="bg1"/>
            </a:solidFill>
          </a:ln>
          <a:extLst>
            <a:ext uri="{909E8E84-426E-40DD-AFC4-6F175D3DCCD1}">
              <a14:hiddenFill xmlns:a14="http://schemas.microsoft.com/office/drawing/2010/main">
                <a:solidFill>
                  <a:srgbClr val="FFFFFF"/>
                </a:solidFill>
              </a14:hiddenFill>
            </a:ext>
          </a:extLst>
        </p:spPr>
      </p:pic>
      <p:sp>
        <p:nvSpPr>
          <p:cNvPr id="2" name="标题 1">
            <a:extLst>
              <a:ext uri="{FF2B5EF4-FFF2-40B4-BE49-F238E27FC236}">
                <a16:creationId xmlns:a16="http://schemas.microsoft.com/office/drawing/2014/main" id="{1BDC1AEF-C0D1-4880-97C5-338116DE9D38}"/>
              </a:ext>
            </a:extLst>
          </p:cNvPr>
          <p:cNvSpPr>
            <a:spLocks noGrp="1"/>
          </p:cNvSpPr>
          <p:nvPr>
            <p:ph type="ctrTitle"/>
          </p:nvPr>
        </p:nvSpPr>
        <p:spPr>
          <a:xfrm>
            <a:off x="-7319" y="1906212"/>
            <a:ext cx="12199319" cy="2387600"/>
          </a:xfrm>
        </p:spPr>
        <p:txBody>
          <a:bodyPr>
            <a:normAutofit/>
          </a:bodyPr>
          <a:lstStyle/>
          <a:p>
            <a:pPr>
              <a:lnSpc>
                <a:spcPts val="7900"/>
              </a:lnSpc>
              <a:spcAft>
                <a:spcPts val="600"/>
              </a:spcAft>
            </a:pPr>
            <a:r>
              <a:rPr lang="zh-CN" altLang="en-US" sz="5000" b="1" dirty="0">
                <a:solidFill>
                  <a:schemeClr val="bg1">
                    <a:lumMod val="95000"/>
                  </a:schemeClr>
                </a:solidFill>
                <a:latin typeface="黑体" panose="02010609060101010101" pitchFamily="49" charset="-122"/>
                <a:ea typeface="黑体" panose="02010609060101010101" pitchFamily="49" charset="-122"/>
                <a:cs typeface="Times New Roman" panose="02020603050405020304" pitchFamily="18" charset="0"/>
              </a:rPr>
              <a:t>电子电路的</a:t>
            </a:r>
            <a:r>
              <a:rPr lang="zh-CN" altLang="en-US" sz="5000" b="1" u="sng" dirty="0">
                <a:solidFill>
                  <a:schemeClr val="bg1">
                    <a:lumMod val="95000"/>
                  </a:schemeClr>
                </a:solidFill>
                <a:latin typeface="黑体" panose="02010609060101010101" pitchFamily="49" charset="-122"/>
                <a:ea typeface="黑体" panose="02010609060101010101" pitchFamily="49" charset="-122"/>
                <a:cs typeface="Times New Roman" panose="02020603050405020304" pitchFamily="18" charset="0"/>
              </a:rPr>
              <a:t>电子设计自动化</a:t>
            </a:r>
            <a:r>
              <a:rPr lang="en-US" altLang="zh-CN" sz="5000" b="1" dirty="0">
                <a:solidFill>
                  <a:schemeClr val="bg1">
                    <a:lumMod val="95000"/>
                  </a:schemeClr>
                </a:solidFill>
                <a:latin typeface="黑体" panose="02010609060101010101" pitchFamily="49" charset="-122"/>
                <a:ea typeface="黑体" panose="02010609060101010101" pitchFamily="49" charset="-122"/>
                <a:cs typeface="Times New Roman" panose="02020603050405020304" pitchFamily="18" charset="0"/>
              </a:rPr>
              <a:t>*</a:t>
            </a:r>
            <a:br>
              <a:rPr lang="en-US" altLang="zh-CN" sz="5000" b="1" dirty="0">
                <a:solidFill>
                  <a:schemeClr val="bg1">
                    <a:lumMod val="95000"/>
                  </a:schemeClr>
                </a:solidFill>
                <a:latin typeface="黑体" panose="02010609060101010101" pitchFamily="49" charset="-122"/>
                <a:ea typeface="黑体" panose="02010609060101010101" pitchFamily="49" charset="-122"/>
                <a:cs typeface="Times New Roman" panose="02020603050405020304" pitchFamily="18" charset="0"/>
              </a:rPr>
            </a:br>
            <a:r>
              <a:rPr lang="zh-CN" altLang="en-US" sz="4000" b="1" dirty="0">
                <a:solidFill>
                  <a:schemeClr val="bg1">
                    <a:lumMod val="95000"/>
                  </a:schemeClr>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4000" b="1" dirty="0">
                <a:solidFill>
                  <a:schemeClr val="bg1">
                    <a:lumMod val="95000"/>
                  </a:schemeClr>
                </a:solidFill>
                <a:latin typeface="Times New Roman" panose="02020603050405020304" pitchFamily="18" charset="0"/>
                <a:ea typeface="黑体" panose="02010609060101010101" pitchFamily="49" charset="-122"/>
                <a:cs typeface="Times New Roman" panose="02020603050405020304" pitchFamily="18" charset="0"/>
              </a:rPr>
              <a:t>Electronic Design Automation, EDA</a:t>
            </a:r>
            <a:r>
              <a:rPr lang="zh-CN" altLang="en-US" sz="4000" b="1" dirty="0">
                <a:solidFill>
                  <a:schemeClr val="bg1">
                    <a:lumMod val="95000"/>
                  </a:schemeClr>
                </a:solidFill>
                <a:latin typeface="Times New Roman" panose="02020603050405020304" pitchFamily="18" charset="0"/>
                <a:ea typeface="黑体" panose="02010609060101010101" pitchFamily="49" charset="-122"/>
                <a:cs typeface="Times New Roman" panose="02020603050405020304" pitchFamily="18" charset="0"/>
              </a:rPr>
              <a:t>）</a:t>
            </a:r>
            <a:endParaRPr lang="zh-CN" altLang="en-US" sz="5000" b="1" dirty="0">
              <a:solidFill>
                <a:schemeClr val="bg1">
                  <a:lumMod val="95000"/>
                </a:schemeClr>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 name="副标题 11">
            <a:extLst>
              <a:ext uri="{FF2B5EF4-FFF2-40B4-BE49-F238E27FC236}">
                <a16:creationId xmlns:a16="http://schemas.microsoft.com/office/drawing/2014/main" id="{7D7C6B53-898B-53D3-680C-5801274DE064}"/>
              </a:ext>
            </a:extLst>
          </p:cNvPr>
          <p:cNvSpPr>
            <a:spLocks noGrp="1"/>
          </p:cNvSpPr>
          <p:nvPr>
            <p:ph type="subTitle" idx="1"/>
          </p:nvPr>
        </p:nvSpPr>
        <p:spPr>
          <a:xfrm>
            <a:off x="1466034" y="1405991"/>
            <a:ext cx="9144000" cy="563562"/>
          </a:xfrm>
        </p:spPr>
        <p:txBody>
          <a:bodyPr>
            <a:normAutofit fontScale="92500" lnSpcReduction="10000"/>
          </a:bodyPr>
          <a:lstStyle/>
          <a:p>
            <a:r>
              <a:rPr lang="zh-CN" altLang="en-US" sz="4000" b="1" dirty="0"/>
              <a:t>电子电路设计实验</a:t>
            </a:r>
            <a:r>
              <a:rPr lang="en-US" altLang="zh-CN" sz="4000" b="1" dirty="0"/>
              <a:t>II</a:t>
            </a:r>
            <a:endParaRPr lang="zh-CN" altLang="en-US" sz="4000" b="1" dirty="0"/>
          </a:p>
        </p:txBody>
      </p:sp>
      <p:sp>
        <p:nvSpPr>
          <p:cNvPr id="13" name="文本框 12">
            <a:extLst>
              <a:ext uri="{FF2B5EF4-FFF2-40B4-BE49-F238E27FC236}">
                <a16:creationId xmlns:a16="http://schemas.microsoft.com/office/drawing/2014/main" id="{C1A8C0C6-BC0D-C49B-46BE-4D16C98B5EEF}"/>
              </a:ext>
            </a:extLst>
          </p:cNvPr>
          <p:cNvSpPr txBox="1"/>
          <p:nvPr/>
        </p:nvSpPr>
        <p:spPr>
          <a:xfrm>
            <a:off x="1" y="6359021"/>
            <a:ext cx="12192000" cy="523220"/>
          </a:xfrm>
          <a:prstGeom prst="rect">
            <a:avLst/>
          </a:prstGeom>
          <a:noFill/>
        </p:spPr>
        <p:txBody>
          <a:bodyPr wrap="square" rtlCol="0">
            <a:spAutoFit/>
          </a:bodyPr>
          <a:lstStyle/>
          <a:p>
            <a:r>
              <a:rPr lang="en-US" altLang="zh-CN" sz="1400" baseline="30000" dirty="0">
                <a:latin typeface="黑体" panose="02010609060101010101" pitchFamily="49" charset="-122"/>
                <a:ea typeface="黑体" panose="02010609060101010101" pitchFamily="49" charset="-122"/>
              </a:rPr>
              <a:t>*</a:t>
            </a:r>
            <a:r>
              <a:rPr lang="zh-CN" altLang="en-US" sz="1400" dirty="0">
                <a:latin typeface="黑体" panose="02010609060101010101" pitchFamily="49" charset="-122"/>
                <a:ea typeface="黑体" panose="02010609060101010101" pitchFamily="49" charset="-122"/>
              </a:rPr>
              <a:t>电子设计自动化（</a:t>
            </a:r>
            <a:r>
              <a:rPr lang="en-US" altLang="zh-CN" sz="1400" dirty="0">
                <a:latin typeface="黑体" panose="02010609060101010101" pitchFamily="49" charset="-122"/>
                <a:ea typeface="黑体" panose="02010609060101010101" pitchFamily="49" charset="-122"/>
              </a:rPr>
              <a:t>Electronic Design Automation, EDA</a:t>
            </a:r>
            <a:r>
              <a:rPr lang="zh-CN" altLang="en-US" sz="1400" dirty="0">
                <a:latin typeface="黑体" panose="02010609060101010101" pitchFamily="49" charset="-122"/>
                <a:ea typeface="黑体" panose="02010609060101010101" pitchFamily="49" charset="-122"/>
              </a:rPr>
              <a:t>）是指利用计算机辅助设计（</a:t>
            </a:r>
            <a:r>
              <a:rPr lang="de-DE" altLang="zh-CN" sz="1400" b="0" i="0" dirty="0">
                <a:solidFill>
                  <a:srgbClr val="1F1F1F"/>
                </a:solidFill>
                <a:effectLst/>
                <a:latin typeface="黑体" panose="02010609060101010101" pitchFamily="49" charset="-122"/>
                <a:ea typeface="黑体" panose="02010609060101010101" pitchFamily="49" charset="-122"/>
              </a:rPr>
              <a:t>Computer-aided Design, </a:t>
            </a:r>
            <a:r>
              <a:rPr lang="en-US" altLang="zh-CN" sz="1400" dirty="0">
                <a:latin typeface="黑体" panose="02010609060101010101" pitchFamily="49" charset="-122"/>
                <a:ea typeface="黑体" panose="02010609060101010101" pitchFamily="49" charset="-122"/>
              </a:rPr>
              <a:t>CAD</a:t>
            </a:r>
            <a:r>
              <a:rPr lang="zh-CN" altLang="en-US" sz="1400" dirty="0">
                <a:latin typeface="黑体" panose="02010609060101010101" pitchFamily="49" charset="-122"/>
                <a:ea typeface="黑体" panose="02010609060101010101" pitchFamily="49" charset="-122"/>
              </a:rPr>
              <a:t>）软件，来完成超大规模集成电路芯片的功能设计、综合、验证、物理设计（包括布局、布线、布板、设计规则检查等）等流程的设计方式。</a:t>
            </a:r>
          </a:p>
        </p:txBody>
      </p:sp>
      <p:grpSp>
        <p:nvGrpSpPr>
          <p:cNvPr id="3" name="组合 2">
            <a:extLst>
              <a:ext uri="{FF2B5EF4-FFF2-40B4-BE49-F238E27FC236}">
                <a16:creationId xmlns:a16="http://schemas.microsoft.com/office/drawing/2014/main" id="{8325DED5-264E-F7A4-8E01-0754DAE8249D}"/>
              </a:ext>
            </a:extLst>
          </p:cNvPr>
          <p:cNvGrpSpPr/>
          <p:nvPr/>
        </p:nvGrpSpPr>
        <p:grpSpPr>
          <a:xfrm>
            <a:off x="358239" y="57977"/>
            <a:ext cx="5747995" cy="701611"/>
            <a:chOff x="762532" y="218907"/>
            <a:chExt cx="5747995" cy="701611"/>
          </a:xfrm>
        </p:grpSpPr>
        <p:sp>
          <p:nvSpPr>
            <p:cNvPr id="5" name="文本框 4">
              <a:extLst>
                <a:ext uri="{FF2B5EF4-FFF2-40B4-BE49-F238E27FC236}">
                  <a16:creationId xmlns:a16="http://schemas.microsoft.com/office/drawing/2014/main" id="{E8C49096-EABB-C74E-0D77-BD0210F99545}"/>
                </a:ext>
              </a:extLst>
            </p:cNvPr>
            <p:cNvSpPr txBox="1"/>
            <p:nvPr/>
          </p:nvSpPr>
          <p:spPr>
            <a:xfrm>
              <a:off x="762532" y="218907"/>
              <a:ext cx="5679795" cy="461665"/>
            </a:xfrm>
            <a:prstGeom prst="rect">
              <a:avLst/>
            </a:prstGeom>
            <a:noFill/>
          </p:spPr>
          <p:txBody>
            <a:bodyPr wrap="square" rtlCol="0">
              <a:spAutoFit/>
            </a:bodyPr>
            <a:lstStyle/>
            <a:p>
              <a:pPr algn="ctr"/>
              <a:r>
                <a:rPr lang="zh-CN" altLang="en-US" sz="2400" b="1" dirty="0">
                  <a:solidFill>
                    <a:srgbClr val="003F88"/>
                  </a:solidFill>
                  <a:latin typeface="黑体" panose="02010609060101010101" pitchFamily="49" charset="-122"/>
                  <a:ea typeface="黑体" panose="02010609060101010101" pitchFamily="49" charset="-122"/>
                </a:rPr>
                <a:t>浙江大学信息与电子工程学院</a:t>
              </a:r>
            </a:p>
          </p:txBody>
        </p:sp>
        <p:sp>
          <p:nvSpPr>
            <p:cNvPr id="6" name="文本框 5">
              <a:extLst>
                <a:ext uri="{FF2B5EF4-FFF2-40B4-BE49-F238E27FC236}">
                  <a16:creationId xmlns:a16="http://schemas.microsoft.com/office/drawing/2014/main" id="{D60FDC44-5F89-8D5B-9C65-E4FB52F2979A}"/>
                </a:ext>
              </a:extLst>
            </p:cNvPr>
            <p:cNvSpPr txBox="1"/>
            <p:nvPr/>
          </p:nvSpPr>
          <p:spPr>
            <a:xfrm>
              <a:off x="1474316" y="612741"/>
              <a:ext cx="5036211" cy="307777"/>
            </a:xfrm>
            <a:prstGeom prst="rect">
              <a:avLst/>
            </a:prstGeom>
            <a:noFill/>
          </p:spPr>
          <p:txBody>
            <a:bodyPr wrap="square" rtlCol="0">
              <a:spAutoFit/>
            </a:bodyPr>
            <a:lstStyle/>
            <a:p>
              <a:pPr algn="ctr"/>
              <a:r>
                <a:rPr lang="en-US" altLang="zh-CN" sz="1400" b="1" dirty="0">
                  <a:solidFill>
                    <a:srgbClr val="003F88"/>
                  </a:solidFill>
                  <a:latin typeface="Malgun Gothic" panose="020B0503020000020004" pitchFamily="34" charset="-127"/>
                  <a:ea typeface="Malgun Gothic" panose="020B0503020000020004" pitchFamily="34" charset="-127"/>
                </a:rPr>
                <a:t>College of Information Science &amp; Electronic Engineering</a:t>
              </a:r>
              <a:endParaRPr lang="zh-CN" altLang="en-US" sz="1400" b="1" dirty="0">
                <a:solidFill>
                  <a:srgbClr val="003F88"/>
                </a:solidFill>
                <a:latin typeface="Malgun Gothic" panose="020B0503020000020004" pitchFamily="34" charset="-127"/>
                <a:ea typeface="Malgun Gothic" panose="020B0503020000020004" pitchFamily="34" charset="-127"/>
              </a:endParaRPr>
            </a:p>
          </p:txBody>
        </p:sp>
      </p:grpSp>
      <p:sp>
        <p:nvSpPr>
          <p:cNvPr id="7" name="矩形 6">
            <a:extLst>
              <a:ext uri="{FF2B5EF4-FFF2-40B4-BE49-F238E27FC236}">
                <a16:creationId xmlns:a16="http://schemas.microsoft.com/office/drawing/2014/main" id="{CB8E336F-D17A-5AFE-0C29-17A55DBCB9B6}"/>
              </a:ext>
            </a:extLst>
          </p:cNvPr>
          <p:cNvSpPr/>
          <p:nvPr/>
        </p:nvSpPr>
        <p:spPr>
          <a:xfrm flipV="1">
            <a:off x="-1" y="801697"/>
            <a:ext cx="6106235" cy="46589"/>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D951FD42-E895-14A6-72D6-CCD5BAD719EB}"/>
              </a:ext>
            </a:extLst>
          </p:cNvPr>
          <p:cNvSpPr txBox="1"/>
          <p:nvPr/>
        </p:nvSpPr>
        <p:spPr>
          <a:xfrm>
            <a:off x="2786962" y="4946850"/>
            <a:ext cx="6638544" cy="584775"/>
          </a:xfrm>
          <a:prstGeom prst="rect">
            <a:avLst/>
          </a:prstGeom>
          <a:noFill/>
        </p:spPr>
        <p:txBody>
          <a:bodyPr wrap="square" rtlCol="0">
            <a:spAutoFit/>
          </a:bodyPr>
          <a:lstStyle/>
          <a:p>
            <a:pPr algn="ctr"/>
            <a:r>
              <a:rPr lang="zh-CN" altLang="en-US" sz="3200" b="1" dirty="0">
                <a:latin typeface="黑体" panose="02010609060101010101" pitchFamily="49" charset="-122"/>
                <a:ea typeface="黑体" panose="02010609060101010101" pitchFamily="49" charset="-122"/>
              </a:rPr>
              <a:t>主讲人：叶险峰，施红军，邓靖靖</a:t>
            </a:r>
          </a:p>
        </p:txBody>
      </p:sp>
      <p:sp>
        <p:nvSpPr>
          <p:cNvPr id="11" name="文本框 10">
            <a:extLst>
              <a:ext uri="{FF2B5EF4-FFF2-40B4-BE49-F238E27FC236}">
                <a16:creationId xmlns:a16="http://schemas.microsoft.com/office/drawing/2014/main" id="{DFE1FE41-9C1B-01EB-6C2B-A89CCB97E128}"/>
              </a:ext>
            </a:extLst>
          </p:cNvPr>
          <p:cNvSpPr txBox="1"/>
          <p:nvPr/>
        </p:nvSpPr>
        <p:spPr>
          <a:xfrm>
            <a:off x="2773065" y="6037656"/>
            <a:ext cx="6638544" cy="338554"/>
          </a:xfrm>
          <a:prstGeom prst="rect">
            <a:avLst/>
          </a:prstGeom>
          <a:noFill/>
        </p:spPr>
        <p:txBody>
          <a:bodyPr wrap="square" rtlCol="0">
            <a:spAutoFit/>
          </a:bodyPr>
          <a:lstStyle/>
          <a:p>
            <a:pPr algn="ctr"/>
            <a:r>
              <a:rPr lang="en-US" altLang="zh-CN" sz="1600" b="1" dirty="0">
                <a:latin typeface="黑体" panose="02010609060101010101" pitchFamily="49" charset="-122"/>
                <a:ea typeface="黑体" panose="02010609060101010101" pitchFamily="49" charset="-122"/>
                <a:cs typeface="Times New Roman" panose="02020603050405020304" pitchFamily="18" charset="0"/>
              </a:rPr>
              <a:t>2025</a:t>
            </a:r>
            <a:r>
              <a:rPr lang="zh-CN" altLang="en-US" sz="1600" b="1" dirty="0">
                <a:latin typeface="黑体" panose="02010609060101010101" pitchFamily="49" charset="-122"/>
                <a:ea typeface="黑体" panose="02010609060101010101" pitchFamily="49" charset="-122"/>
                <a:cs typeface="Times New Roman" panose="02020603050405020304" pitchFamily="18" charset="0"/>
              </a:rPr>
              <a:t>年</a:t>
            </a:r>
            <a:r>
              <a:rPr lang="en-US" altLang="zh-CN" sz="1600" b="1" dirty="0">
                <a:latin typeface="黑体" panose="02010609060101010101" pitchFamily="49" charset="-122"/>
                <a:ea typeface="黑体" panose="02010609060101010101" pitchFamily="49" charset="-122"/>
                <a:cs typeface="Times New Roman" panose="02020603050405020304" pitchFamily="18" charset="0"/>
              </a:rPr>
              <a:t>03</a:t>
            </a:r>
            <a:r>
              <a:rPr lang="zh-CN" altLang="en-US" sz="1600" b="1" dirty="0">
                <a:latin typeface="黑体" panose="02010609060101010101" pitchFamily="49" charset="-122"/>
                <a:ea typeface="黑体" panose="02010609060101010101" pitchFamily="49" charset="-122"/>
                <a:cs typeface="Times New Roman" panose="02020603050405020304" pitchFamily="18" charset="0"/>
              </a:rPr>
              <a:t>月</a:t>
            </a:r>
            <a:r>
              <a:rPr lang="en-US" altLang="zh-CN" sz="1600" b="1" dirty="0">
                <a:latin typeface="黑体" panose="02010609060101010101" pitchFamily="49" charset="-122"/>
                <a:ea typeface="黑体" panose="02010609060101010101" pitchFamily="49" charset="-122"/>
                <a:cs typeface="Times New Roman" panose="02020603050405020304" pitchFamily="18" charset="0"/>
              </a:rPr>
              <a:t>03</a:t>
            </a:r>
            <a:r>
              <a:rPr lang="zh-CN" altLang="en-US" sz="1600" b="1" dirty="0">
                <a:latin typeface="黑体" panose="02010609060101010101" pitchFamily="49" charset="-122"/>
                <a:ea typeface="黑体" panose="02010609060101010101" pitchFamily="49" charset="-122"/>
                <a:cs typeface="Times New Roman" panose="02020603050405020304" pitchFamily="18" charset="0"/>
              </a:rPr>
              <a:t>日</a:t>
            </a:r>
          </a:p>
        </p:txBody>
      </p:sp>
      <p:pic>
        <p:nvPicPr>
          <p:cNvPr id="14" name="图形 13">
            <a:extLst>
              <a:ext uri="{FF2B5EF4-FFF2-40B4-BE49-F238E27FC236}">
                <a16:creationId xmlns:a16="http://schemas.microsoft.com/office/drawing/2014/main" id="{16BCB601-3C46-615C-D2D4-59FEA534EC6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780338" y="5599331"/>
            <a:ext cx="623999" cy="518142"/>
          </a:xfrm>
          <a:prstGeom prst="rect">
            <a:avLst/>
          </a:prstGeom>
          <a:effectLst>
            <a:glow rad="12700">
              <a:schemeClr val="bg1">
                <a:alpha val="41000"/>
              </a:schemeClr>
            </a:glow>
          </a:effectLst>
        </p:spPr>
      </p:pic>
    </p:spTree>
    <p:extLst>
      <p:ext uri="{BB962C8B-B14F-4D97-AF65-F5344CB8AC3E}">
        <p14:creationId xmlns:p14="http://schemas.microsoft.com/office/powerpoint/2010/main" val="1473854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19BE24CD-5033-C5AD-61CF-40A3675D43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96" y="-7272"/>
            <a:ext cx="3792511" cy="6877524"/>
          </a:xfrm>
          <a:prstGeom prst="rect">
            <a:avLst/>
          </a:prstGeom>
          <a:noFill/>
          <a:extLst>
            <a:ext uri="{909E8E84-426E-40DD-AFC4-6F175D3DCCD1}">
              <a14:hiddenFill xmlns:a14="http://schemas.microsoft.com/office/drawing/2010/main">
                <a:solidFill>
                  <a:srgbClr val="FFFFFF"/>
                </a:solidFill>
              </a14:hiddenFill>
            </a:ext>
          </a:extLst>
        </p:spPr>
      </p:pic>
      <p:grpSp>
        <p:nvGrpSpPr>
          <p:cNvPr id="7" name="组合 6">
            <a:extLst>
              <a:ext uri="{FF2B5EF4-FFF2-40B4-BE49-F238E27FC236}">
                <a16:creationId xmlns:a16="http://schemas.microsoft.com/office/drawing/2014/main" id="{75499608-8549-486A-7CAD-F2F09855E6B6}"/>
              </a:ext>
            </a:extLst>
          </p:cNvPr>
          <p:cNvGrpSpPr/>
          <p:nvPr/>
        </p:nvGrpSpPr>
        <p:grpSpPr>
          <a:xfrm>
            <a:off x="0" y="1289410"/>
            <a:ext cx="4614333" cy="757589"/>
            <a:chOff x="-8313" y="1494236"/>
            <a:chExt cx="4319047" cy="757589"/>
          </a:xfrm>
        </p:grpSpPr>
        <p:sp>
          <p:nvSpPr>
            <p:cNvPr id="4" name="矩形 3">
              <a:extLst>
                <a:ext uri="{FF2B5EF4-FFF2-40B4-BE49-F238E27FC236}">
                  <a16:creationId xmlns:a16="http://schemas.microsoft.com/office/drawing/2014/main" id="{6218E73E-643F-A957-F60A-AF6FB16B46FB}"/>
                </a:ext>
              </a:extLst>
            </p:cNvPr>
            <p:cNvSpPr/>
            <p:nvPr/>
          </p:nvSpPr>
          <p:spPr>
            <a:xfrm>
              <a:off x="-8313" y="1540255"/>
              <a:ext cx="4160031" cy="711570"/>
            </a:xfrm>
            <a:prstGeom prst="rect">
              <a:avLst/>
            </a:prstGeom>
            <a:gradFill flip="none" rotWithShape="1">
              <a:gsLst>
                <a:gs pos="22000">
                  <a:srgbClr val="165195"/>
                </a:gs>
                <a:gs pos="0">
                  <a:srgbClr val="003F88"/>
                </a:gs>
                <a:gs pos="100000">
                  <a:srgbClr val="BFDEF5"/>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文本框 5">
              <a:extLst>
                <a:ext uri="{FF2B5EF4-FFF2-40B4-BE49-F238E27FC236}">
                  <a16:creationId xmlns:a16="http://schemas.microsoft.com/office/drawing/2014/main" id="{B04CA291-BE8A-2FA0-EF00-DD6ADD5E1BDA}"/>
                </a:ext>
              </a:extLst>
            </p:cNvPr>
            <p:cNvSpPr txBox="1"/>
            <p:nvPr/>
          </p:nvSpPr>
          <p:spPr>
            <a:xfrm>
              <a:off x="2798804" y="1494236"/>
              <a:ext cx="1511930" cy="707886"/>
            </a:xfrm>
            <a:prstGeom prst="rect">
              <a:avLst/>
            </a:prstGeom>
            <a:noFill/>
          </p:spPr>
          <p:txBody>
            <a:bodyPr wrap="square" rtlCol="0">
              <a:spAutoFit/>
            </a:bodyPr>
            <a:lstStyle/>
            <a:p>
              <a:pPr algn="ctr"/>
              <a:r>
                <a:rPr lang="zh-CN" altLang="en-US" sz="4000" b="1" dirty="0">
                  <a:ln w="10160">
                    <a:solidFill>
                      <a:schemeClr val="accent5"/>
                    </a:solidFill>
                    <a:prstDash val="solid"/>
                  </a:ln>
                  <a:solidFill>
                    <a:schemeClr val="bg1"/>
                  </a:solidFill>
                  <a:effectLst>
                    <a:outerShdw blurRad="38100" dist="22860" dir="5400000" algn="tl" rotWithShape="0">
                      <a:srgbClr val="000000">
                        <a:alpha val="30000"/>
                      </a:srgbClr>
                    </a:outerShdw>
                  </a:effectLst>
                  <a:latin typeface="黑体" panose="02010609060101010101" pitchFamily="49" charset="-122"/>
                  <a:ea typeface="黑体" panose="02010609060101010101" pitchFamily="49" charset="-122"/>
                </a:rPr>
                <a:t>目录</a:t>
              </a:r>
              <a:endParaRPr lang="zh-CN" altLang="en-US" sz="2000" b="1" dirty="0">
                <a:ln w="10160">
                  <a:solidFill>
                    <a:schemeClr val="accent5"/>
                  </a:solidFill>
                  <a:prstDash val="solid"/>
                </a:ln>
                <a:solidFill>
                  <a:schemeClr val="bg1"/>
                </a:solidFill>
                <a:effectLst>
                  <a:outerShdw blurRad="38100" dist="22860" dir="5400000" algn="tl" rotWithShape="0">
                    <a:srgbClr val="000000">
                      <a:alpha val="30000"/>
                    </a:srgbClr>
                  </a:outerShdw>
                </a:effectLst>
                <a:latin typeface="黑体" panose="02010609060101010101" pitchFamily="49" charset="-122"/>
                <a:ea typeface="黑体" panose="02010609060101010101" pitchFamily="49" charset="-122"/>
              </a:endParaRPr>
            </a:p>
          </p:txBody>
        </p:sp>
      </p:grpSp>
      <p:grpSp>
        <p:nvGrpSpPr>
          <p:cNvPr id="18" name="组合 17">
            <a:extLst>
              <a:ext uri="{FF2B5EF4-FFF2-40B4-BE49-F238E27FC236}">
                <a16:creationId xmlns:a16="http://schemas.microsoft.com/office/drawing/2014/main" id="{0697A2EF-4D6B-6368-F208-856A0C25DFB3}"/>
              </a:ext>
            </a:extLst>
          </p:cNvPr>
          <p:cNvGrpSpPr/>
          <p:nvPr/>
        </p:nvGrpSpPr>
        <p:grpSpPr>
          <a:xfrm>
            <a:off x="5029534" y="3063144"/>
            <a:ext cx="6588642" cy="2641733"/>
            <a:chOff x="4393412" y="2240607"/>
            <a:chExt cx="6588642" cy="2641733"/>
          </a:xfrm>
        </p:grpSpPr>
        <p:sp>
          <p:nvSpPr>
            <p:cNvPr id="8" name="文本框 7">
              <a:extLst>
                <a:ext uri="{FF2B5EF4-FFF2-40B4-BE49-F238E27FC236}">
                  <a16:creationId xmlns:a16="http://schemas.microsoft.com/office/drawing/2014/main" id="{D03B8042-0F6F-B65E-D7F1-F33567A7D7D4}"/>
                </a:ext>
              </a:extLst>
            </p:cNvPr>
            <p:cNvSpPr txBox="1"/>
            <p:nvPr/>
          </p:nvSpPr>
          <p:spPr>
            <a:xfrm>
              <a:off x="4393412" y="2240607"/>
              <a:ext cx="6213089" cy="646331"/>
            </a:xfrm>
            <a:prstGeom prst="rect">
              <a:avLst/>
            </a:prstGeom>
            <a:noFill/>
          </p:spPr>
          <p:txBody>
            <a:bodyPr wrap="square" rtlCol="0">
              <a:spAutoFit/>
            </a:bodyPr>
            <a:lstStyle/>
            <a:p>
              <a:r>
                <a:rPr lang="zh-CN" altLang="en-US" sz="3600" dirty="0">
                  <a:solidFill>
                    <a:schemeClr val="accent1">
                      <a:lumMod val="75000"/>
                    </a:schemeClr>
                  </a:solidFill>
                  <a:latin typeface="黑体" panose="02010609060101010101" pitchFamily="49" charset="-122"/>
                  <a:ea typeface="黑体" panose="02010609060101010101" pitchFamily="49" charset="-122"/>
                </a:rPr>
                <a:t>一、电路板设计概述</a:t>
              </a:r>
            </a:p>
          </p:txBody>
        </p:sp>
        <p:sp>
          <p:nvSpPr>
            <p:cNvPr id="9" name="文本框 8">
              <a:extLst>
                <a:ext uri="{FF2B5EF4-FFF2-40B4-BE49-F238E27FC236}">
                  <a16:creationId xmlns:a16="http://schemas.microsoft.com/office/drawing/2014/main" id="{BEBC9277-BD14-D509-9D3A-C136D7084E53}"/>
                </a:ext>
              </a:extLst>
            </p:cNvPr>
            <p:cNvSpPr txBox="1"/>
            <p:nvPr/>
          </p:nvSpPr>
          <p:spPr>
            <a:xfrm>
              <a:off x="4401879" y="3155072"/>
              <a:ext cx="4585684" cy="646331"/>
            </a:xfrm>
            <a:prstGeom prst="rect">
              <a:avLst/>
            </a:prstGeom>
            <a:noFill/>
          </p:spPr>
          <p:txBody>
            <a:bodyPr wrap="square" rtlCol="0">
              <a:spAutoFit/>
            </a:bodyPr>
            <a:lstStyle/>
            <a:p>
              <a:r>
                <a:rPr lang="zh-CN" altLang="en-US" sz="3600" dirty="0">
                  <a:solidFill>
                    <a:schemeClr val="accent1">
                      <a:lumMod val="75000"/>
                    </a:schemeClr>
                  </a:solidFill>
                  <a:latin typeface="黑体" panose="02010609060101010101" pitchFamily="49" charset="-122"/>
                  <a:ea typeface="黑体" panose="02010609060101010101" pitchFamily="49" charset="-122"/>
                </a:rPr>
                <a:t>二、电路原理图设计</a:t>
              </a:r>
            </a:p>
          </p:txBody>
        </p:sp>
        <p:sp>
          <p:nvSpPr>
            <p:cNvPr id="10" name="文本框 9">
              <a:extLst>
                <a:ext uri="{FF2B5EF4-FFF2-40B4-BE49-F238E27FC236}">
                  <a16:creationId xmlns:a16="http://schemas.microsoft.com/office/drawing/2014/main" id="{CE67D595-06BB-6F82-E89C-BBBCE42CD56C}"/>
                </a:ext>
              </a:extLst>
            </p:cNvPr>
            <p:cNvSpPr txBox="1"/>
            <p:nvPr/>
          </p:nvSpPr>
          <p:spPr>
            <a:xfrm>
              <a:off x="4393412" y="4069537"/>
              <a:ext cx="6588642" cy="646331"/>
            </a:xfrm>
            <a:prstGeom prst="rect">
              <a:avLst/>
            </a:prstGeom>
            <a:noFill/>
          </p:spPr>
          <p:txBody>
            <a:bodyPr wrap="square" rtlCol="0">
              <a:spAutoFit/>
            </a:bodyPr>
            <a:lstStyle/>
            <a:p>
              <a:r>
                <a:rPr lang="zh-CN" altLang="en-US" sz="3600" dirty="0">
                  <a:solidFill>
                    <a:schemeClr val="accent1">
                      <a:lumMod val="75000"/>
                    </a:schemeClr>
                  </a:solidFill>
                  <a:latin typeface="黑体" panose="02010609060101010101" pitchFamily="49" charset="-122"/>
                  <a:ea typeface="黑体" panose="02010609060101010101" pitchFamily="49" charset="-122"/>
                </a:rPr>
                <a:t>三、印刷电路板设计</a:t>
              </a:r>
            </a:p>
          </p:txBody>
        </p:sp>
        <p:cxnSp>
          <p:nvCxnSpPr>
            <p:cNvPr id="13" name="直接连接符 12">
              <a:extLst>
                <a:ext uri="{FF2B5EF4-FFF2-40B4-BE49-F238E27FC236}">
                  <a16:creationId xmlns:a16="http://schemas.microsoft.com/office/drawing/2014/main" id="{0461A4B4-03A7-D4D5-58D7-CC8D5CB7D725}"/>
                </a:ext>
              </a:extLst>
            </p:cNvPr>
            <p:cNvCxnSpPr>
              <a:cxnSpLocks/>
            </p:cNvCxnSpPr>
            <p:nvPr/>
          </p:nvCxnSpPr>
          <p:spPr>
            <a:xfrm>
              <a:off x="4495801" y="3048003"/>
              <a:ext cx="6316133" cy="0"/>
            </a:xfrm>
            <a:prstGeom prst="line">
              <a:avLst/>
            </a:prstGeom>
            <a:ln w="28575">
              <a:solidFill>
                <a:schemeClr val="accent1">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4B754A98-031E-ED9F-7B63-3A811E7B3A4C}"/>
                </a:ext>
              </a:extLst>
            </p:cNvPr>
            <p:cNvCxnSpPr>
              <a:cxnSpLocks/>
            </p:cNvCxnSpPr>
            <p:nvPr/>
          </p:nvCxnSpPr>
          <p:spPr>
            <a:xfrm>
              <a:off x="4495801" y="3984873"/>
              <a:ext cx="6316133" cy="0"/>
            </a:xfrm>
            <a:prstGeom prst="line">
              <a:avLst/>
            </a:prstGeom>
            <a:ln w="28575">
              <a:solidFill>
                <a:schemeClr val="accent1">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2333E1F0-2EC8-8DB9-6923-BE7959B6F668}"/>
                </a:ext>
              </a:extLst>
            </p:cNvPr>
            <p:cNvCxnSpPr>
              <a:cxnSpLocks/>
            </p:cNvCxnSpPr>
            <p:nvPr/>
          </p:nvCxnSpPr>
          <p:spPr>
            <a:xfrm>
              <a:off x="4495801" y="4882340"/>
              <a:ext cx="6316133" cy="0"/>
            </a:xfrm>
            <a:prstGeom prst="line">
              <a:avLst/>
            </a:prstGeom>
            <a:ln w="28575">
              <a:solidFill>
                <a:schemeClr val="accent1">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1467557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B226C-2D15-0500-D85A-C4471B7AF31E}"/>
            </a:ext>
          </a:extLst>
        </p:cNvPr>
        <p:cNvGrpSpPr/>
        <p:nvPr/>
      </p:nvGrpSpPr>
      <p:grpSpPr>
        <a:xfrm>
          <a:off x="0" y="0"/>
          <a:ext cx="0" cy="0"/>
          <a:chOff x="0" y="0"/>
          <a:chExt cx="0" cy="0"/>
        </a:xfrm>
      </p:grpSpPr>
      <p:pic>
        <p:nvPicPr>
          <p:cNvPr id="2050" name="Picture 2">
            <a:extLst>
              <a:ext uri="{FF2B5EF4-FFF2-40B4-BE49-F238E27FC236}">
                <a16:creationId xmlns:a16="http://schemas.microsoft.com/office/drawing/2014/main" id="{F49F6C73-ED7A-ADA8-297B-DF790D04FD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96" y="-7272"/>
            <a:ext cx="3792511" cy="6877524"/>
          </a:xfrm>
          <a:prstGeom prst="rect">
            <a:avLst/>
          </a:prstGeom>
          <a:noFill/>
          <a:extLst>
            <a:ext uri="{909E8E84-426E-40DD-AFC4-6F175D3DCCD1}">
              <a14:hiddenFill xmlns:a14="http://schemas.microsoft.com/office/drawing/2010/main">
                <a:solidFill>
                  <a:srgbClr val="FFFFFF"/>
                </a:solidFill>
              </a14:hiddenFill>
            </a:ext>
          </a:extLst>
        </p:spPr>
      </p:pic>
      <p:grpSp>
        <p:nvGrpSpPr>
          <p:cNvPr id="7" name="组合 6">
            <a:extLst>
              <a:ext uri="{FF2B5EF4-FFF2-40B4-BE49-F238E27FC236}">
                <a16:creationId xmlns:a16="http://schemas.microsoft.com/office/drawing/2014/main" id="{C66AF908-CC33-9766-3E3B-0E5D277503D1}"/>
              </a:ext>
            </a:extLst>
          </p:cNvPr>
          <p:cNvGrpSpPr/>
          <p:nvPr/>
        </p:nvGrpSpPr>
        <p:grpSpPr>
          <a:xfrm>
            <a:off x="-7495" y="1289410"/>
            <a:ext cx="4614333" cy="757589"/>
            <a:chOff x="-8313" y="1494236"/>
            <a:chExt cx="4319047" cy="757589"/>
          </a:xfrm>
        </p:grpSpPr>
        <p:sp>
          <p:nvSpPr>
            <p:cNvPr id="4" name="矩形 3">
              <a:extLst>
                <a:ext uri="{FF2B5EF4-FFF2-40B4-BE49-F238E27FC236}">
                  <a16:creationId xmlns:a16="http://schemas.microsoft.com/office/drawing/2014/main" id="{26B50BB8-B40C-C7FE-D831-1E7FCFA8FAA4}"/>
                </a:ext>
              </a:extLst>
            </p:cNvPr>
            <p:cNvSpPr/>
            <p:nvPr/>
          </p:nvSpPr>
          <p:spPr>
            <a:xfrm>
              <a:off x="-8313" y="1540255"/>
              <a:ext cx="4160031" cy="711570"/>
            </a:xfrm>
            <a:prstGeom prst="rect">
              <a:avLst/>
            </a:prstGeom>
            <a:gradFill flip="none" rotWithShape="1">
              <a:gsLst>
                <a:gs pos="22000">
                  <a:srgbClr val="165195"/>
                </a:gs>
                <a:gs pos="0">
                  <a:srgbClr val="003F88"/>
                </a:gs>
                <a:gs pos="100000">
                  <a:srgbClr val="BFDEF5"/>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文本框 5">
              <a:extLst>
                <a:ext uri="{FF2B5EF4-FFF2-40B4-BE49-F238E27FC236}">
                  <a16:creationId xmlns:a16="http://schemas.microsoft.com/office/drawing/2014/main" id="{59D45CB7-7236-502E-0969-A526DC8E3EA9}"/>
                </a:ext>
              </a:extLst>
            </p:cNvPr>
            <p:cNvSpPr txBox="1"/>
            <p:nvPr/>
          </p:nvSpPr>
          <p:spPr>
            <a:xfrm>
              <a:off x="2798804" y="1494236"/>
              <a:ext cx="1511930" cy="707886"/>
            </a:xfrm>
            <a:prstGeom prst="rect">
              <a:avLst/>
            </a:prstGeom>
            <a:noFill/>
          </p:spPr>
          <p:txBody>
            <a:bodyPr wrap="square" rtlCol="0">
              <a:spAutoFit/>
            </a:bodyPr>
            <a:lstStyle/>
            <a:p>
              <a:pPr algn="ctr"/>
              <a:r>
                <a:rPr lang="zh-CN" altLang="en-US" sz="4000" b="1" dirty="0">
                  <a:ln w="10160">
                    <a:solidFill>
                      <a:schemeClr val="accent5"/>
                    </a:solidFill>
                    <a:prstDash val="solid"/>
                  </a:ln>
                  <a:solidFill>
                    <a:schemeClr val="bg1"/>
                  </a:solidFill>
                  <a:effectLst>
                    <a:outerShdw blurRad="38100" dist="22860" dir="5400000" algn="tl" rotWithShape="0">
                      <a:srgbClr val="000000">
                        <a:alpha val="30000"/>
                      </a:srgbClr>
                    </a:outerShdw>
                  </a:effectLst>
                  <a:latin typeface="黑体" panose="02010609060101010101" pitchFamily="49" charset="-122"/>
                  <a:ea typeface="黑体" panose="02010609060101010101" pitchFamily="49" charset="-122"/>
                </a:rPr>
                <a:t>目录</a:t>
              </a:r>
              <a:endParaRPr lang="zh-CN" altLang="en-US" sz="2000" b="1" dirty="0">
                <a:ln w="10160">
                  <a:solidFill>
                    <a:schemeClr val="accent5"/>
                  </a:solidFill>
                  <a:prstDash val="solid"/>
                </a:ln>
                <a:solidFill>
                  <a:schemeClr val="bg1"/>
                </a:solidFill>
                <a:effectLst>
                  <a:outerShdw blurRad="38100" dist="22860" dir="5400000" algn="tl" rotWithShape="0">
                    <a:srgbClr val="000000">
                      <a:alpha val="30000"/>
                    </a:srgbClr>
                  </a:outerShdw>
                </a:effectLst>
                <a:latin typeface="黑体" panose="02010609060101010101" pitchFamily="49" charset="-122"/>
                <a:ea typeface="黑体" panose="02010609060101010101" pitchFamily="49" charset="-122"/>
              </a:endParaRPr>
            </a:p>
          </p:txBody>
        </p:sp>
      </p:grpSp>
      <p:grpSp>
        <p:nvGrpSpPr>
          <p:cNvPr id="18" name="组合 17">
            <a:extLst>
              <a:ext uri="{FF2B5EF4-FFF2-40B4-BE49-F238E27FC236}">
                <a16:creationId xmlns:a16="http://schemas.microsoft.com/office/drawing/2014/main" id="{BC7F6590-344D-82FE-128A-5F875CF07527}"/>
              </a:ext>
            </a:extLst>
          </p:cNvPr>
          <p:cNvGrpSpPr/>
          <p:nvPr/>
        </p:nvGrpSpPr>
        <p:grpSpPr>
          <a:xfrm>
            <a:off x="5029534" y="3063144"/>
            <a:ext cx="6588642" cy="2641733"/>
            <a:chOff x="4393412" y="2240607"/>
            <a:chExt cx="6588642" cy="2641733"/>
          </a:xfrm>
        </p:grpSpPr>
        <p:sp>
          <p:nvSpPr>
            <p:cNvPr id="8" name="文本框 7">
              <a:extLst>
                <a:ext uri="{FF2B5EF4-FFF2-40B4-BE49-F238E27FC236}">
                  <a16:creationId xmlns:a16="http://schemas.microsoft.com/office/drawing/2014/main" id="{A1C19F56-2011-0C6B-0D97-B24A5E380FD0}"/>
                </a:ext>
              </a:extLst>
            </p:cNvPr>
            <p:cNvSpPr txBox="1"/>
            <p:nvPr/>
          </p:nvSpPr>
          <p:spPr>
            <a:xfrm>
              <a:off x="4393412" y="2240607"/>
              <a:ext cx="6213089" cy="646331"/>
            </a:xfrm>
            <a:prstGeom prst="rect">
              <a:avLst/>
            </a:prstGeom>
            <a:noFill/>
          </p:spPr>
          <p:txBody>
            <a:bodyPr wrap="square" rtlCol="0">
              <a:spAutoFit/>
            </a:bodyPr>
            <a:lstStyle/>
            <a:p>
              <a:r>
                <a:rPr lang="zh-CN" altLang="en-US" sz="3600" dirty="0">
                  <a:solidFill>
                    <a:schemeClr val="accent1">
                      <a:lumMod val="75000"/>
                    </a:schemeClr>
                  </a:solidFill>
                  <a:latin typeface="黑体" panose="02010609060101010101" pitchFamily="49" charset="-122"/>
                  <a:ea typeface="黑体" panose="02010609060101010101" pitchFamily="49" charset="-122"/>
                </a:rPr>
                <a:t>一、电路板设计概述</a:t>
              </a:r>
            </a:p>
          </p:txBody>
        </p:sp>
        <p:sp>
          <p:nvSpPr>
            <p:cNvPr id="9" name="文本框 8">
              <a:extLst>
                <a:ext uri="{FF2B5EF4-FFF2-40B4-BE49-F238E27FC236}">
                  <a16:creationId xmlns:a16="http://schemas.microsoft.com/office/drawing/2014/main" id="{0C09FBA0-939D-38CB-1C8B-4596F8B195A0}"/>
                </a:ext>
              </a:extLst>
            </p:cNvPr>
            <p:cNvSpPr txBox="1"/>
            <p:nvPr/>
          </p:nvSpPr>
          <p:spPr>
            <a:xfrm>
              <a:off x="4401879" y="3155072"/>
              <a:ext cx="4585684" cy="646331"/>
            </a:xfrm>
            <a:prstGeom prst="rect">
              <a:avLst/>
            </a:prstGeom>
            <a:noFill/>
          </p:spPr>
          <p:txBody>
            <a:bodyPr wrap="square" rtlCol="0">
              <a:spAutoFit/>
            </a:bodyPr>
            <a:lstStyle/>
            <a:p>
              <a:r>
                <a:rPr lang="zh-CN" altLang="en-US" sz="3600" dirty="0">
                  <a:solidFill>
                    <a:schemeClr val="accent1">
                      <a:lumMod val="20000"/>
                      <a:lumOff val="80000"/>
                    </a:schemeClr>
                  </a:solidFill>
                  <a:latin typeface="黑体" panose="02010609060101010101" pitchFamily="49" charset="-122"/>
                  <a:ea typeface="黑体" panose="02010609060101010101" pitchFamily="49" charset="-122"/>
                </a:rPr>
                <a:t>二、电路原理图设计</a:t>
              </a:r>
            </a:p>
          </p:txBody>
        </p:sp>
        <p:sp>
          <p:nvSpPr>
            <p:cNvPr id="10" name="文本框 9">
              <a:extLst>
                <a:ext uri="{FF2B5EF4-FFF2-40B4-BE49-F238E27FC236}">
                  <a16:creationId xmlns:a16="http://schemas.microsoft.com/office/drawing/2014/main" id="{D879DEA2-846C-B36C-4983-576351822C12}"/>
                </a:ext>
              </a:extLst>
            </p:cNvPr>
            <p:cNvSpPr txBox="1"/>
            <p:nvPr/>
          </p:nvSpPr>
          <p:spPr>
            <a:xfrm>
              <a:off x="4393412" y="4069537"/>
              <a:ext cx="6588642" cy="646331"/>
            </a:xfrm>
            <a:prstGeom prst="rect">
              <a:avLst/>
            </a:prstGeom>
            <a:noFill/>
          </p:spPr>
          <p:txBody>
            <a:bodyPr wrap="square" rtlCol="0">
              <a:spAutoFit/>
            </a:bodyPr>
            <a:lstStyle/>
            <a:p>
              <a:r>
                <a:rPr lang="zh-CN" altLang="en-US" sz="3600" dirty="0">
                  <a:solidFill>
                    <a:schemeClr val="accent1">
                      <a:lumMod val="20000"/>
                      <a:lumOff val="80000"/>
                    </a:schemeClr>
                  </a:solidFill>
                  <a:latin typeface="黑体" panose="02010609060101010101" pitchFamily="49" charset="-122"/>
                  <a:ea typeface="黑体" panose="02010609060101010101" pitchFamily="49" charset="-122"/>
                </a:rPr>
                <a:t>三、印刷电路板设计</a:t>
              </a:r>
            </a:p>
          </p:txBody>
        </p:sp>
        <p:cxnSp>
          <p:nvCxnSpPr>
            <p:cNvPr id="13" name="直接连接符 12">
              <a:extLst>
                <a:ext uri="{FF2B5EF4-FFF2-40B4-BE49-F238E27FC236}">
                  <a16:creationId xmlns:a16="http://schemas.microsoft.com/office/drawing/2014/main" id="{C500B204-8197-E2F3-5492-06B20EA8C1DF}"/>
                </a:ext>
              </a:extLst>
            </p:cNvPr>
            <p:cNvCxnSpPr>
              <a:cxnSpLocks/>
            </p:cNvCxnSpPr>
            <p:nvPr/>
          </p:nvCxnSpPr>
          <p:spPr>
            <a:xfrm>
              <a:off x="4495801" y="3048003"/>
              <a:ext cx="6316133" cy="0"/>
            </a:xfrm>
            <a:prstGeom prst="line">
              <a:avLst/>
            </a:prstGeom>
            <a:ln w="28575">
              <a:solidFill>
                <a:schemeClr val="accent1">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EBF7A9A5-78D4-DC7D-008A-8D41C92EED19}"/>
                </a:ext>
              </a:extLst>
            </p:cNvPr>
            <p:cNvCxnSpPr>
              <a:cxnSpLocks/>
            </p:cNvCxnSpPr>
            <p:nvPr/>
          </p:nvCxnSpPr>
          <p:spPr>
            <a:xfrm>
              <a:off x="4495801" y="3984873"/>
              <a:ext cx="6316133" cy="0"/>
            </a:xfrm>
            <a:prstGeom prst="line">
              <a:avLst/>
            </a:prstGeom>
            <a:ln w="28575">
              <a:solidFill>
                <a:schemeClr val="accent1">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0F784D29-B5B0-40B6-A8F7-4981C5227562}"/>
                </a:ext>
              </a:extLst>
            </p:cNvPr>
            <p:cNvCxnSpPr>
              <a:cxnSpLocks/>
            </p:cNvCxnSpPr>
            <p:nvPr/>
          </p:nvCxnSpPr>
          <p:spPr>
            <a:xfrm>
              <a:off x="4495801" y="4882340"/>
              <a:ext cx="6316133" cy="0"/>
            </a:xfrm>
            <a:prstGeom prst="line">
              <a:avLst/>
            </a:prstGeom>
            <a:ln w="28575">
              <a:solidFill>
                <a:schemeClr val="accent1">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4936491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6218E73E-643F-A957-F60A-AF6FB16B46FB}"/>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5347718B-9E21-D081-172E-2851BAF23170}"/>
              </a:ext>
            </a:extLst>
          </p:cNvPr>
          <p:cNvSpPr txBox="1"/>
          <p:nvPr/>
        </p:nvSpPr>
        <p:spPr>
          <a:xfrm>
            <a:off x="541079" y="608842"/>
            <a:ext cx="9581976"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电路的载体形式</a:t>
            </a:r>
          </a:p>
        </p:txBody>
      </p:sp>
      <p:sp>
        <p:nvSpPr>
          <p:cNvPr id="3" name="文本框 2">
            <a:extLst>
              <a:ext uri="{FF2B5EF4-FFF2-40B4-BE49-F238E27FC236}">
                <a16:creationId xmlns:a16="http://schemas.microsoft.com/office/drawing/2014/main" id="{7EAA5F9F-21B3-C697-7533-4A13A6CF54CE}"/>
              </a:ext>
            </a:extLst>
          </p:cNvPr>
          <p:cNvSpPr txBox="1"/>
          <p:nvPr/>
        </p:nvSpPr>
        <p:spPr>
          <a:xfrm>
            <a:off x="50801" y="1997839"/>
            <a:ext cx="11956472" cy="4139723"/>
          </a:xfrm>
          <a:prstGeom prst="rect">
            <a:avLst/>
          </a:prstGeom>
          <a:noFill/>
        </p:spPr>
        <p:txBody>
          <a:bodyPr wrap="square">
            <a:spAutoFit/>
          </a:bodyPr>
          <a:lstStyle/>
          <a:p>
            <a:pPr marL="742950" indent="-742950">
              <a:lnSpc>
                <a:spcPct val="150000"/>
              </a:lnSpc>
              <a:buFont typeface="+mj-ea"/>
              <a:buAutoNum type="circleNumDbPlain"/>
            </a:pPr>
            <a:r>
              <a:rPr lang="zh-CN" altLang="en-US" sz="3600" dirty="0">
                <a:latin typeface="Arial" panose="020B0604020202020204" pitchFamily="34" charset="0"/>
                <a:ea typeface="黑体" panose="02010609060101010101" pitchFamily="49" charset="-122"/>
                <a:cs typeface="Arial" panose="020B0604020202020204" pitchFamily="34" charset="0"/>
              </a:rPr>
              <a:t>基于晶圆制作的集成电路（晶圆：半导体晶体制作的圆形片，常见材料有</a:t>
            </a:r>
            <a:r>
              <a:rPr lang="en-US" altLang="zh-CN" sz="3600" dirty="0">
                <a:latin typeface="Arial" panose="020B0604020202020204" pitchFamily="34" charset="0"/>
                <a:ea typeface="黑体" panose="02010609060101010101" pitchFamily="49" charset="-122"/>
                <a:cs typeface="Arial" panose="020B0604020202020204" pitchFamily="34" charset="0"/>
              </a:rPr>
              <a:t>Si</a:t>
            </a:r>
            <a:r>
              <a:rPr lang="zh-CN" altLang="en-US" sz="3600" dirty="0">
                <a:latin typeface="Arial" panose="020B0604020202020204" pitchFamily="34" charset="0"/>
                <a:ea typeface="黑体" panose="02010609060101010101" pitchFamily="49" charset="-122"/>
                <a:cs typeface="Arial" panose="020B0604020202020204" pitchFamily="34" charset="0"/>
              </a:rPr>
              <a:t>、</a:t>
            </a:r>
            <a:r>
              <a:rPr lang="en-US" altLang="zh-CN" sz="3600" dirty="0" err="1">
                <a:latin typeface="Arial" panose="020B0604020202020204" pitchFamily="34" charset="0"/>
                <a:ea typeface="黑体" panose="02010609060101010101" pitchFamily="49" charset="-122"/>
                <a:cs typeface="Arial" panose="020B0604020202020204" pitchFamily="34" charset="0"/>
              </a:rPr>
              <a:t>GaN</a:t>
            </a:r>
            <a:r>
              <a:rPr lang="zh-CN" altLang="en-US" sz="3600" dirty="0">
                <a:latin typeface="Arial" panose="020B0604020202020204" pitchFamily="34" charset="0"/>
                <a:ea typeface="黑体" panose="02010609060101010101" pitchFamily="49" charset="-122"/>
                <a:cs typeface="Arial" panose="020B0604020202020204" pitchFamily="34" charset="0"/>
              </a:rPr>
              <a:t>、</a:t>
            </a:r>
            <a:r>
              <a:rPr lang="en-US" altLang="zh-CN" sz="3600" dirty="0" err="1">
                <a:latin typeface="Arial" panose="020B0604020202020204" pitchFamily="34" charset="0"/>
                <a:ea typeface="黑体" panose="02010609060101010101" pitchFamily="49" charset="-122"/>
                <a:cs typeface="Arial" panose="020B0604020202020204" pitchFamily="34" charset="0"/>
              </a:rPr>
              <a:t>SiC</a:t>
            </a:r>
            <a:r>
              <a:rPr lang="zh-CN" altLang="en-US" sz="3600" dirty="0">
                <a:latin typeface="Arial" panose="020B0604020202020204" pitchFamily="34" charset="0"/>
                <a:ea typeface="黑体" panose="02010609060101010101" pitchFamily="49" charset="-122"/>
                <a:cs typeface="Arial" panose="020B0604020202020204" pitchFamily="34" charset="0"/>
              </a:rPr>
              <a:t>。）</a:t>
            </a:r>
            <a:endParaRPr lang="en-US" altLang="zh-CN" sz="3600" dirty="0">
              <a:latin typeface="Arial" panose="020B0604020202020204" pitchFamily="34" charset="0"/>
              <a:ea typeface="黑体" panose="02010609060101010101" pitchFamily="49" charset="-122"/>
              <a:cs typeface="Arial" panose="020B0604020202020204" pitchFamily="34" charset="0"/>
            </a:endParaRPr>
          </a:p>
          <a:p>
            <a:pPr marL="742950" indent="-742950">
              <a:lnSpc>
                <a:spcPct val="150000"/>
              </a:lnSpc>
              <a:buFont typeface="+mj-ea"/>
              <a:buAutoNum type="circleNumDbPlain"/>
            </a:pPr>
            <a:r>
              <a:rPr lang="zh-CN" altLang="en-US" sz="3600" b="0" i="0" dirty="0">
                <a:effectLst/>
                <a:latin typeface="Arial" panose="020B0604020202020204" pitchFamily="34" charset="0"/>
                <a:ea typeface="黑体" panose="02010609060101010101" pitchFamily="49" charset="-122"/>
                <a:cs typeface="Arial" panose="020B0604020202020204" pitchFamily="34" charset="0"/>
              </a:rPr>
              <a:t>印刷电路板 </a:t>
            </a:r>
            <a:r>
              <a:rPr lang="en-US" altLang="zh-CN" sz="3600" b="0" i="0" dirty="0">
                <a:effectLst/>
                <a:latin typeface="Arial" panose="020B0604020202020204" pitchFamily="34" charset="0"/>
                <a:ea typeface="黑体" panose="02010609060101010101" pitchFamily="49" charset="-122"/>
                <a:cs typeface="Arial" panose="020B0604020202020204" pitchFamily="34" charset="0"/>
              </a:rPr>
              <a:t>Printed Circuit Board, PCB</a:t>
            </a:r>
          </a:p>
          <a:p>
            <a:pPr marL="742950" indent="-742950">
              <a:lnSpc>
                <a:spcPct val="150000"/>
              </a:lnSpc>
              <a:buFont typeface="+mj-ea"/>
              <a:buAutoNum type="circleNumDbPlain"/>
            </a:pPr>
            <a:r>
              <a:rPr lang="zh-CN" altLang="en-US" sz="3600" b="0" i="0" dirty="0">
                <a:effectLst/>
                <a:latin typeface="Arial" panose="020B0604020202020204" pitchFamily="34" charset="0"/>
                <a:ea typeface="黑体" panose="02010609060101010101" pitchFamily="49" charset="-122"/>
                <a:cs typeface="Arial" panose="020B0604020202020204" pitchFamily="34" charset="0"/>
              </a:rPr>
              <a:t>柔性印刷电路</a:t>
            </a:r>
            <a:r>
              <a:rPr lang="de-DE" altLang="zh-CN" sz="3600" b="0" i="0" dirty="0">
                <a:effectLst/>
                <a:latin typeface="Arial" panose="020B0604020202020204" pitchFamily="34" charset="0"/>
                <a:ea typeface="黑体" panose="02010609060101010101" pitchFamily="49" charset="-122"/>
                <a:cs typeface="Arial" panose="020B0604020202020204" pitchFamily="34" charset="0"/>
              </a:rPr>
              <a:t>Flexible Printed Circuit, FPC</a:t>
            </a:r>
          </a:p>
          <a:p>
            <a:pPr marL="742950" indent="-742950">
              <a:lnSpc>
                <a:spcPct val="150000"/>
              </a:lnSpc>
              <a:buFont typeface="+mj-ea"/>
              <a:buAutoNum type="circleNumDbPlain"/>
            </a:pPr>
            <a:r>
              <a:rPr lang="zh-CN" altLang="en-US" sz="3600" dirty="0">
                <a:latin typeface="Arial" panose="020B0604020202020204" pitchFamily="34" charset="0"/>
                <a:ea typeface="黑体" panose="02010609060101010101" pitchFamily="49" charset="-122"/>
                <a:cs typeface="Arial" panose="020B0604020202020204" pitchFamily="34" charset="0"/>
              </a:rPr>
              <a:t>刚性柔性印刷电路</a:t>
            </a:r>
            <a:r>
              <a:rPr lang="en-US" altLang="zh-CN" sz="3600" dirty="0">
                <a:latin typeface="Arial" panose="020B0604020202020204" pitchFamily="34" charset="0"/>
                <a:ea typeface="黑体" panose="02010609060101010101" pitchFamily="49" charset="-122"/>
                <a:cs typeface="Arial" panose="020B0604020202020204" pitchFamily="34" charset="0"/>
              </a:rPr>
              <a:t>Rigid Flexible Printed Circuit, RFPC</a:t>
            </a:r>
            <a:endParaRPr lang="de-DE" altLang="zh-CN" sz="3600" b="0" i="0" dirty="0">
              <a:effectLst/>
              <a:latin typeface="Arial" panose="020B0604020202020204" pitchFamily="34" charset="0"/>
              <a:ea typeface="黑体" panose="02010609060101010101" pitchFamily="49" charset="-122"/>
              <a:cs typeface="Arial" panose="020B0604020202020204" pitchFamily="34" charset="0"/>
            </a:endParaRPr>
          </a:p>
        </p:txBody>
      </p:sp>
      <p:sp>
        <p:nvSpPr>
          <p:cNvPr id="13" name="文本框 12">
            <a:extLst>
              <a:ext uri="{FF2B5EF4-FFF2-40B4-BE49-F238E27FC236}">
                <a16:creationId xmlns:a16="http://schemas.microsoft.com/office/drawing/2014/main" id="{5CB092B0-0B72-1CB6-33D3-0D62FCA8035F}"/>
              </a:ext>
            </a:extLst>
          </p:cNvPr>
          <p:cNvSpPr txBox="1"/>
          <p:nvPr/>
        </p:nvSpPr>
        <p:spPr>
          <a:xfrm>
            <a:off x="9948281" y="231655"/>
            <a:ext cx="1891413" cy="1815882"/>
          </a:xfrm>
          <a:custGeom>
            <a:avLst/>
            <a:gdLst>
              <a:gd name="connsiteX0" fmla="*/ 0 w 1891413"/>
              <a:gd name="connsiteY0" fmla="*/ 0 h 1815882"/>
              <a:gd name="connsiteX1" fmla="*/ 435025 w 1891413"/>
              <a:gd name="connsiteY1" fmla="*/ 0 h 1815882"/>
              <a:gd name="connsiteX2" fmla="*/ 907878 w 1891413"/>
              <a:gd name="connsiteY2" fmla="*/ 0 h 1815882"/>
              <a:gd name="connsiteX3" fmla="*/ 1399646 w 1891413"/>
              <a:gd name="connsiteY3" fmla="*/ 0 h 1815882"/>
              <a:gd name="connsiteX4" fmla="*/ 1891413 w 1891413"/>
              <a:gd name="connsiteY4" fmla="*/ 0 h 1815882"/>
              <a:gd name="connsiteX5" fmla="*/ 1891413 w 1891413"/>
              <a:gd name="connsiteY5" fmla="*/ 490288 h 1815882"/>
              <a:gd name="connsiteX6" fmla="*/ 1891413 w 1891413"/>
              <a:gd name="connsiteY6" fmla="*/ 962417 h 1815882"/>
              <a:gd name="connsiteX7" fmla="*/ 1891413 w 1891413"/>
              <a:gd name="connsiteY7" fmla="*/ 1416388 h 1815882"/>
              <a:gd name="connsiteX8" fmla="*/ 1891413 w 1891413"/>
              <a:gd name="connsiteY8" fmla="*/ 1815882 h 1815882"/>
              <a:gd name="connsiteX9" fmla="*/ 1399646 w 1891413"/>
              <a:gd name="connsiteY9" fmla="*/ 1815882 h 1815882"/>
              <a:gd name="connsiteX10" fmla="*/ 926792 w 1891413"/>
              <a:gd name="connsiteY10" fmla="*/ 1815882 h 1815882"/>
              <a:gd name="connsiteX11" fmla="*/ 472853 w 1891413"/>
              <a:gd name="connsiteY11" fmla="*/ 1815882 h 1815882"/>
              <a:gd name="connsiteX12" fmla="*/ 0 w 1891413"/>
              <a:gd name="connsiteY12" fmla="*/ 1815882 h 1815882"/>
              <a:gd name="connsiteX13" fmla="*/ 0 w 1891413"/>
              <a:gd name="connsiteY13" fmla="*/ 1416388 h 1815882"/>
              <a:gd name="connsiteX14" fmla="*/ 0 w 1891413"/>
              <a:gd name="connsiteY14" fmla="*/ 926100 h 1815882"/>
              <a:gd name="connsiteX15" fmla="*/ 0 w 1891413"/>
              <a:gd name="connsiteY15" fmla="*/ 435812 h 1815882"/>
              <a:gd name="connsiteX16" fmla="*/ 0 w 1891413"/>
              <a:gd name="connsiteY16" fmla="*/ 0 h 1815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891413" h="1815882" extrusionOk="0">
                <a:moveTo>
                  <a:pt x="0" y="0"/>
                </a:moveTo>
                <a:cubicBezTo>
                  <a:pt x="89942" y="-29133"/>
                  <a:pt x="250498" y="21707"/>
                  <a:pt x="435025" y="0"/>
                </a:cubicBezTo>
                <a:cubicBezTo>
                  <a:pt x="619552" y="-21707"/>
                  <a:pt x="720756" y="3718"/>
                  <a:pt x="907878" y="0"/>
                </a:cubicBezTo>
                <a:cubicBezTo>
                  <a:pt x="1095000" y="-3718"/>
                  <a:pt x="1254965" y="40299"/>
                  <a:pt x="1399646" y="0"/>
                </a:cubicBezTo>
                <a:cubicBezTo>
                  <a:pt x="1544327" y="-40299"/>
                  <a:pt x="1780159" y="42678"/>
                  <a:pt x="1891413" y="0"/>
                </a:cubicBezTo>
                <a:cubicBezTo>
                  <a:pt x="1912480" y="103047"/>
                  <a:pt x="1862776" y="317634"/>
                  <a:pt x="1891413" y="490288"/>
                </a:cubicBezTo>
                <a:cubicBezTo>
                  <a:pt x="1920050" y="662942"/>
                  <a:pt x="1852062" y="848219"/>
                  <a:pt x="1891413" y="962417"/>
                </a:cubicBezTo>
                <a:cubicBezTo>
                  <a:pt x="1930764" y="1076615"/>
                  <a:pt x="1857763" y="1193665"/>
                  <a:pt x="1891413" y="1416388"/>
                </a:cubicBezTo>
                <a:cubicBezTo>
                  <a:pt x="1925063" y="1639111"/>
                  <a:pt x="1863821" y="1641476"/>
                  <a:pt x="1891413" y="1815882"/>
                </a:cubicBezTo>
                <a:cubicBezTo>
                  <a:pt x="1658069" y="1845343"/>
                  <a:pt x="1559095" y="1794906"/>
                  <a:pt x="1399646" y="1815882"/>
                </a:cubicBezTo>
                <a:cubicBezTo>
                  <a:pt x="1240197" y="1836858"/>
                  <a:pt x="1074514" y="1802116"/>
                  <a:pt x="926792" y="1815882"/>
                </a:cubicBezTo>
                <a:cubicBezTo>
                  <a:pt x="779070" y="1829648"/>
                  <a:pt x="595567" y="1788610"/>
                  <a:pt x="472853" y="1815882"/>
                </a:cubicBezTo>
                <a:cubicBezTo>
                  <a:pt x="350139" y="1843154"/>
                  <a:pt x="156273" y="1780671"/>
                  <a:pt x="0" y="1815882"/>
                </a:cubicBezTo>
                <a:cubicBezTo>
                  <a:pt x="-40539" y="1636435"/>
                  <a:pt x="21561" y="1543741"/>
                  <a:pt x="0" y="1416388"/>
                </a:cubicBezTo>
                <a:cubicBezTo>
                  <a:pt x="-21561" y="1289035"/>
                  <a:pt x="26921" y="1043548"/>
                  <a:pt x="0" y="926100"/>
                </a:cubicBezTo>
                <a:cubicBezTo>
                  <a:pt x="-26921" y="808652"/>
                  <a:pt x="36049" y="567329"/>
                  <a:pt x="0" y="435812"/>
                </a:cubicBezTo>
                <a:cubicBezTo>
                  <a:pt x="-36049" y="304295"/>
                  <a:pt x="37709" y="96722"/>
                  <a:pt x="0" y="0"/>
                </a:cubicBezTo>
                <a:close/>
              </a:path>
            </a:pathLst>
          </a:custGeom>
          <a:noFill/>
          <a:ln>
            <a:solidFill>
              <a:srgbClr val="FF0000"/>
            </a:solidFill>
            <a:extLst>
              <a:ext uri="{C807C97D-BFC1-408E-A445-0C87EB9F89A2}">
                <ask:lineSketchStyleProps xmlns:ask="http://schemas.microsoft.com/office/drawing/2018/sketchyshapes" sd="2806490049">
                  <a:prstGeom prst="rect">
                    <a:avLst/>
                  </a:prstGeom>
                  <ask:type>
                    <ask:lineSketchScribble/>
                  </ask:type>
                </ask:lineSketchStyleProps>
              </a:ext>
            </a:extLst>
          </a:ln>
          <a:effectLst>
            <a:outerShdw blurRad="50800" dist="38100" dir="5400000" algn="t" rotWithShape="0">
              <a:prstClr val="black">
                <a:alpha val="40000"/>
              </a:prstClr>
            </a:outerShdw>
          </a:effectLst>
        </p:spPr>
        <p:txBody>
          <a:bodyPr wrap="square">
            <a:spAutoFit/>
          </a:bodyPr>
          <a:lstStyle/>
          <a:p>
            <a:r>
              <a:rPr lang="zh-CN" altLang="en-US" sz="2800" dirty="0">
                <a:solidFill>
                  <a:srgbClr val="C00000"/>
                </a:solidFill>
                <a:latin typeface="华文琥珀" panose="02010800040101010101" pitchFamily="2" charset="-122"/>
                <a:ea typeface="华文琥珀" panose="02010800040101010101" pitchFamily="2" charset="-122"/>
              </a:rPr>
              <a:t>集成度</a:t>
            </a:r>
            <a:endParaRPr lang="en-US" altLang="zh-CN" sz="2800" dirty="0">
              <a:solidFill>
                <a:srgbClr val="C00000"/>
              </a:solidFill>
              <a:latin typeface="华文琥珀" panose="02010800040101010101" pitchFamily="2" charset="-122"/>
              <a:ea typeface="华文琥珀" panose="02010800040101010101" pitchFamily="2" charset="-122"/>
            </a:endParaRPr>
          </a:p>
          <a:p>
            <a:r>
              <a:rPr lang="zh-CN" altLang="en-US" sz="2800" dirty="0">
                <a:solidFill>
                  <a:srgbClr val="C00000"/>
                </a:solidFill>
                <a:latin typeface="华文琥珀" panose="02010800040101010101" pitchFamily="2" charset="-122"/>
                <a:ea typeface="华文琥珀" panose="02010800040101010101" pitchFamily="2" charset="-122"/>
              </a:rPr>
              <a:t>制造工艺</a:t>
            </a:r>
            <a:endParaRPr lang="en-US" altLang="zh-CN" sz="2800" dirty="0">
              <a:solidFill>
                <a:srgbClr val="C00000"/>
              </a:solidFill>
              <a:latin typeface="华文琥珀" panose="02010800040101010101" pitchFamily="2" charset="-122"/>
              <a:ea typeface="华文琥珀" panose="02010800040101010101" pitchFamily="2" charset="-122"/>
            </a:endParaRPr>
          </a:p>
          <a:p>
            <a:r>
              <a:rPr lang="zh-CN" altLang="en-US" sz="2800" dirty="0">
                <a:solidFill>
                  <a:srgbClr val="C00000"/>
                </a:solidFill>
                <a:latin typeface="华文琥珀" panose="02010800040101010101" pitchFamily="2" charset="-122"/>
                <a:ea typeface="华文琥珀" panose="02010800040101010101" pitchFamily="2" charset="-122"/>
              </a:rPr>
              <a:t>特性</a:t>
            </a:r>
            <a:endParaRPr lang="en-US" altLang="zh-CN" sz="2800" dirty="0">
              <a:solidFill>
                <a:srgbClr val="C00000"/>
              </a:solidFill>
              <a:latin typeface="华文琥珀" panose="02010800040101010101" pitchFamily="2" charset="-122"/>
              <a:ea typeface="华文琥珀" panose="02010800040101010101" pitchFamily="2" charset="-122"/>
            </a:endParaRPr>
          </a:p>
          <a:p>
            <a:r>
              <a:rPr lang="zh-CN" altLang="en-US" sz="2800" dirty="0">
                <a:solidFill>
                  <a:srgbClr val="C00000"/>
                </a:solidFill>
                <a:latin typeface="华文琥珀" panose="02010800040101010101" pitchFamily="2" charset="-122"/>
                <a:ea typeface="华文琥珀" panose="02010800040101010101" pitchFamily="2" charset="-122"/>
              </a:rPr>
              <a:t>应用场景</a:t>
            </a:r>
          </a:p>
        </p:txBody>
      </p:sp>
    </p:spTree>
    <p:extLst>
      <p:ext uri="{BB962C8B-B14F-4D97-AF65-F5344CB8AC3E}">
        <p14:creationId xmlns:p14="http://schemas.microsoft.com/office/powerpoint/2010/main" val="39963620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498BF-F53E-7099-3819-74C479743648}"/>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619E5B3B-D0DB-C3E9-49E0-824136B2BF4A}"/>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BD7A9406-ABDB-1011-1228-350BC5FE2CB2}"/>
              </a:ext>
            </a:extLst>
          </p:cNvPr>
          <p:cNvSpPr txBox="1"/>
          <p:nvPr/>
        </p:nvSpPr>
        <p:spPr>
          <a:xfrm>
            <a:off x="541079" y="608842"/>
            <a:ext cx="9581976"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电路的载体形式</a:t>
            </a:r>
          </a:p>
        </p:txBody>
      </p:sp>
      <p:sp>
        <p:nvSpPr>
          <p:cNvPr id="3" name="文本框 2">
            <a:extLst>
              <a:ext uri="{FF2B5EF4-FFF2-40B4-BE49-F238E27FC236}">
                <a16:creationId xmlns:a16="http://schemas.microsoft.com/office/drawing/2014/main" id="{6BA9B4E7-3506-C959-D5C0-3FD57C3CD63D}"/>
              </a:ext>
            </a:extLst>
          </p:cNvPr>
          <p:cNvSpPr txBox="1"/>
          <p:nvPr/>
        </p:nvSpPr>
        <p:spPr>
          <a:xfrm>
            <a:off x="50801" y="1997839"/>
            <a:ext cx="11956472" cy="4139723"/>
          </a:xfrm>
          <a:prstGeom prst="rect">
            <a:avLst/>
          </a:prstGeom>
          <a:noFill/>
        </p:spPr>
        <p:txBody>
          <a:bodyPr wrap="square">
            <a:spAutoFit/>
          </a:bodyPr>
          <a:lstStyle/>
          <a:p>
            <a:pPr marL="742950" indent="-742950">
              <a:lnSpc>
                <a:spcPct val="150000"/>
              </a:lnSpc>
              <a:buFont typeface="+mj-ea"/>
              <a:buAutoNum type="circleNumDbPlain"/>
            </a:pPr>
            <a:r>
              <a:rPr lang="zh-CN" altLang="en-US" sz="3600" dirty="0">
                <a:latin typeface="Arial" panose="020B0604020202020204" pitchFamily="34" charset="0"/>
                <a:ea typeface="黑体" panose="02010609060101010101" pitchFamily="49" charset="-122"/>
                <a:cs typeface="Arial" panose="020B0604020202020204" pitchFamily="34" charset="0"/>
              </a:rPr>
              <a:t>基于晶圆制作的集成电路（晶圆：半导体晶体制作的圆形片，常见材料有</a:t>
            </a:r>
            <a:r>
              <a:rPr lang="en-US" altLang="zh-CN" sz="3600" dirty="0">
                <a:latin typeface="Arial" panose="020B0604020202020204" pitchFamily="34" charset="0"/>
                <a:ea typeface="黑体" panose="02010609060101010101" pitchFamily="49" charset="-122"/>
                <a:cs typeface="Arial" panose="020B0604020202020204" pitchFamily="34" charset="0"/>
              </a:rPr>
              <a:t>Si</a:t>
            </a:r>
            <a:r>
              <a:rPr lang="zh-CN" altLang="en-US" sz="3600" dirty="0">
                <a:latin typeface="Arial" panose="020B0604020202020204" pitchFamily="34" charset="0"/>
                <a:ea typeface="黑体" panose="02010609060101010101" pitchFamily="49" charset="-122"/>
                <a:cs typeface="Arial" panose="020B0604020202020204" pitchFamily="34" charset="0"/>
              </a:rPr>
              <a:t>、</a:t>
            </a:r>
            <a:r>
              <a:rPr lang="en-US" altLang="zh-CN" sz="3600" dirty="0" err="1">
                <a:latin typeface="Arial" panose="020B0604020202020204" pitchFamily="34" charset="0"/>
                <a:ea typeface="黑体" panose="02010609060101010101" pitchFamily="49" charset="-122"/>
                <a:cs typeface="Arial" panose="020B0604020202020204" pitchFamily="34" charset="0"/>
              </a:rPr>
              <a:t>GaN</a:t>
            </a:r>
            <a:r>
              <a:rPr lang="zh-CN" altLang="en-US" sz="3600" dirty="0">
                <a:latin typeface="Arial" panose="020B0604020202020204" pitchFamily="34" charset="0"/>
                <a:ea typeface="黑体" panose="02010609060101010101" pitchFamily="49" charset="-122"/>
                <a:cs typeface="Arial" panose="020B0604020202020204" pitchFamily="34" charset="0"/>
              </a:rPr>
              <a:t>、</a:t>
            </a:r>
            <a:r>
              <a:rPr lang="en-US" altLang="zh-CN" sz="3600" dirty="0" err="1">
                <a:latin typeface="Arial" panose="020B0604020202020204" pitchFamily="34" charset="0"/>
                <a:ea typeface="黑体" panose="02010609060101010101" pitchFamily="49" charset="-122"/>
                <a:cs typeface="Arial" panose="020B0604020202020204" pitchFamily="34" charset="0"/>
              </a:rPr>
              <a:t>SiC</a:t>
            </a:r>
            <a:r>
              <a:rPr lang="zh-CN" altLang="en-US" sz="3600" dirty="0">
                <a:latin typeface="Arial" panose="020B0604020202020204" pitchFamily="34" charset="0"/>
                <a:ea typeface="黑体" panose="02010609060101010101" pitchFamily="49" charset="-122"/>
                <a:cs typeface="Arial" panose="020B0604020202020204" pitchFamily="34" charset="0"/>
              </a:rPr>
              <a:t>。）</a:t>
            </a:r>
            <a:endParaRPr lang="en-US" altLang="zh-CN" sz="3600" dirty="0">
              <a:latin typeface="Arial" panose="020B0604020202020204" pitchFamily="34" charset="0"/>
              <a:ea typeface="黑体" panose="02010609060101010101" pitchFamily="49" charset="-122"/>
              <a:cs typeface="Arial" panose="020B0604020202020204" pitchFamily="34" charset="0"/>
            </a:endParaRPr>
          </a:p>
          <a:p>
            <a:pPr marL="742950" indent="-742950">
              <a:lnSpc>
                <a:spcPct val="150000"/>
              </a:lnSpc>
              <a:buFont typeface="+mj-ea"/>
              <a:buAutoNum type="circleNumDbPlain"/>
            </a:pPr>
            <a:r>
              <a:rPr lang="zh-CN" altLang="en-US" sz="3600" b="0" i="0" dirty="0">
                <a:solidFill>
                  <a:schemeClr val="bg1">
                    <a:lumMod val="85000"/>
                  </a:schemeClr>
                </a:solidFill>
                <a:effectLst/>
                <a:latin typeface="Arial" panose="020B0604020202020204" pitchFamily="34" charset="0"/>
                <a:ea typeface="黑体" panose="02010609060101010101" pitchFamily="49" charset="-122"/>
                <a:cs typeface="Arial" panose="020B0604020202020204" pitchFamily="34" charset="0"/>
              </a:rPr>
              <a:t>印刷电路板 </a:t>
            </a:r>
            <a:r>
              <a:rPr lang="en-US" altLang="zh-CN" sz="3600" b="0" i="0" dirty="0">
                <a:solidFill>
                  <a:schemeClr val="bg1">
                    <a:lumMod val="85000"/>
                  </a:schemeClr>
                </a:solidFill>
                <a:effectLst/>
                <a:latin typeface="Arial" panose="020B0604020202020204" pitchFamily="34" charset="0"/>
                <a:ea typeface="黑体" panose="02010609060101010101" pitchFamily="49" charset="-122"/>
                <a:cs typeface="Arial" panose="020B0604020202020204" pitchFamily="34" charset="0"/>
              </a:rPr>
              <a:t>Printed Circuit Board, PCB</a:t>
            </a:r>
          </a:p>
          <a:p>
            <a:pPr marL="742950" indent="-742950">
              <a:lnSpc>
                <a:spcPct val="150000"/>
              </a:lnSpc>
              <a:buFont typeface="+mj-ea"/>
              <a:buAutoNum type="circleNumDbPlain"/>
            </a:pPr>
            <a:r>
              <a:rPr lang="zh-CN" altLang="en-US" sz="3600" b="0" i="0" dirty="0">
                <a:solidFill>
                  <a:schemeClr val="bg1">
                    <a:lumMod val="85000"/>
                  </a:schemeClr>
                </a:solidFill>
                <a:effectLst/>
                <a:latin typeface="Arial" panose="020B0604020202020204" pitchFamily="34" charset="0"/>
                <a:ea typeface="黑体" panose="02010609060101010101" pitchFamily="49" charset="-122"/>
                <a:cs typeface="Arial" panose="020B0604020202020204" pitchFamily="34" charset="0"/>
              </a:rPr>
              <a:t>柔性印刷电路</a:t>
            </a:r>
            <a:r>
              <a:rPr lang="de-DE" altLang="zh-CN" sz="3600" b="0" i="0" dirty="0">
                <a:solidFill>
                  <a:schemeClr val="bg1">
                    <a:lumMod val="85000"/>
                  </a:schemeClr>
                </a:solidFill>
                <a:effectLst/>
                <a:latin typeface="Arial" panose="020B0604020202020204" pitchFamily="34" charset="0"/>
                <a:ea typeface="黑体" panose="02010609060101010101" pitchFamily="49" charset="-122"/>
                <a:cs typeface="Arial" panose="020B0604020202020204" pitchFamily="34" charset="0"/>
              </a:rPr>
              <a:t>Flexible Printed Circuit, FPC</a:t>
            </a:r>
          </a:p>
          <a:p>
            <a:pPr marL="742950" indent="-742950">
              <a:lnSpc>
                <a:spcPct val="150000"/>
              </a:lnSpc>
              <a:buFont typeface="+mj-ea"/>
              <a:buAutoNum type="circleNumDbPlain"/>
            </a:pPr>
            <a:r>
              <a:rPr lang="zh-CN" altLang="en-US" sz="3600" dirty="0">
                <a:solidFill>
                  <a:schemeClr val="bg1">
                    <a:lumMod val="85000"/>
                  </a:schemeClr>
                </a:solidFill>
                <a:latin typeface="Arial" panose="020B0604020202020204" pitchFamily="34" charset="0"/>
                <a:ea typeface="黑体" panose="02010609060101010101" pitchFamily="49" charset="-122"/>
                <a:cs typeface="Arial" panose="020B0604020202020204" pitchFamily="34" charset="0"/>
              </a:rPr>
              <a:t>刚性柔性印刷电路</a:t>
            </a:r>
            <a:r>
              <a:rPr lang="en-US" altLang="zh-CN" sz="3600" dirty="0">
                <a:solidFill>
                  <a:schemeClr val="bg1">
                    <a:lumMod val="85000"/>
                  </a:schemeClr>
                </a:solidFill>
                <a:latin typeface="Arial" panose="020B0604020202020204" pitchFamily="34" charset="0"/>
                <a:ea typeface="黑体" panose="02010609060101010101" pitchFamily="49" charset="-122"/>
                <a:cs typeface="Arial" panose="020B0604020202020204" pitchFamily="34" charset="0"/>
              </a:rPr>
              <a:t>Rigid Flexible Printed Circuit, RFPC</a:t>
            </a:r>
            <a:endParaRPr lang="de-DE" altLang="zh-CN" sz="3600" b="0" i="0" dirty="0">
              <a:solidFill>
                <a:schemeClr val="bg1">
                  <a:lumMod val="85000"/>
                </a:schemeClr>
              </a:solidFill>
              <a:effectLst/>
              <a:latin typeface="Arial" panose="020B0604020202020204" pitchFamily="34" charset="0"/>
              <a:ea typeface="黑体" panose="02010609060101010101" pitchFamily="49" charset="-122"/>
              <a:cs typeface="Arial" panose="020B0604020202020204" pitchFamily="34" charset="0"/>
            </a:endParaRPr>
          </a:p>
        </p:txBody>
      </p:sp>
    </p:spTree>
    <p:extLst>
      <p:ext uri="{BB962C8B-B14F-4D97-AF65-F5344CB8AC3E}">
        <p14:creationId xmlns:p14="http://schemas.microsoft.com/office/powerpoint/2010/main" val="8799026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EC382-13A6-B804-7308-E1E8C1B9C57F}"/>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C89182C8-E723-8041-FC80-C71D71AD4DDB}"/>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45C143E1-E31B-A9AD-B661-9AE31BF83E20}"/>
              </a:ext>
            </a:extLst>
          </p:cNvPr>
          <p:cNvSpPr txBox="1"/>
          <p:nvPr/>
        </p:nvSpPr>
        <p:spPr>
          <a:xfrm>
            <a:off x="621521" y="622002"/>
            <a:ext cx="10948957"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电路的载体形式①</a:t>
            </a:r>
          </a:p>
        </p:txBody>
      </p:sp>
      <p:sp>
        <p:nvSpPr>
          <p:cNvPr id="3" name="文本框 2">
            <a:extLst>
              <a:ext uri="{FF2B5EF4-FFF2-40B4-BE49-F238E27FC236}">
                <a16:creationId xmlns:a16="http://schemas.microsoft.com/office/drawing/2014/main" id="{A9742827-60F1-C8B8-25FC-B6CC8A14372A}"/>
              </a:ext>
            </a:extLst>
          </p:cNvPr>
          <p:cNvSpPr txBox="1"/>
          <p:nvPr/>
        </p:nvSpPr>
        <p:spPr>
          <a:xfrm>
            <a:off x="304800" y="1707045"/>
            <a:ext cx="7638380" cy="646331"/>
          </a:xfrm>
          <a:prstGeom prst="rect">
            <a:avLst/>
          </a:prstGeom>
          <a:noFill/>
        </p:spPr>
        <p:txBody>
          <a:bodyPr wrap="square">
            <a:spAutoFit/>
          </a:bodyPr>
          <a:lstStyle/>
          <a:p>
            <a:r>
              <a:rPr lang="zh-CN" altLang="en-US" sz="3600" dirty="0">
                <a:latin typeface="黑体" panose="02010609060101010101" pitchFamily="49" charset="-122"/>
                <a:ea typeface="黑体" panose="02010609060101010101" pitchFamily="49" charset="-122"/>
              </a:rPr>
              <a:t>大规模集成电路一般是在晶圆上制造</a:t>
            </a:r>
          </a:p>
        </p:txBody>
      </p:sp>
      <p:grpSp>
        <p:nvGrpSpPr>
          <p:cNvPr id="6" name="组合 5">
            <a:extLst>
              <a:ext uri="{FF2B5EF4-FFF2-40B4-BE49-F238E27FC236}">
                <a16:creationId xmlns:a16="http://schemas.microsoft.com/office/drawing/2014/main" id="{CE1009A0-2476-E493-D481-18EB9A9020FF}"/>
              </a:ext>
            </a:extLst>
          </p:cNvPr>
          <p:cNvGrpSpPr/>
          <p:nvPr/>
        </p:nvGrpSpPr>
        <p:grpSpPr>
          <a:xfrm>
            <a:off x="7832344" y="1611015"/>
            <a:ext cx="4359656" cy="5260841"/>
            <a:chOff x="7442833" y="596829"/>
            <a:chExt cx="3648456" cy="4464894"/>
          </a:xfrm>
        </p:grpSpPr>
        <p:pic>
          <p:nvPicPr>
            <p:cNvPr id="1026" name="Picture 2">
              <a:extLst>
                <a:ext uri="{FF2B5EF4-FFF2-40B4-BE49-F238E27FC236}">
                  <a16:creationId xmlns:a16="http://schemas.microsoft.com/office/drawing/2014/main" id="{AFC84F6A-5F34-D265-BE2B-F9F6D116C5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42833" y="596829"/>
              <a:ext cx="3648456" cy="4464894"/>
            </a:xfrm>
            <a:prstGeom prst="rect">
              <a:avLst/>
            </a:prstGeom>
            <a:noFill/>
            <a:extLst>
              <a:ext uri="{909E8E84-426E-40DD-AFC4-6F175D3DCCD1}">
                <a14:hiddenFill xmlns:a14="http://schemas.microsoft.com/office/drawing/2010/main">
                  <a:solidFill>
                    <a:srgbClr val="FFFFFF"/>
                  </a:solidFill>
                </a14:hiddenFill>
              </a:ext>
            </a:extLst>
          </p:spPr>
        </p:pic>
        <p:sp>
          <p:nvSpPr>
            <p:cNvPr id="18" name="文本框 17">
              <a:extLst>
                <a:ext uri="{FF2B5EF4-FFF2-40B4-BE49-F238E27FC236}">
                  <a16:creationId xmlns:a16="http://schemas.microsoft.com/office/drawing/2014/main" id="{A01E6299-E43A-D361-1619-039C02091AD5}"/>
                </a:ext>
              </a:extLst>
            </p:cNvPr>
            <p:cNvSpPr txBox="1"/>
            <p:nvPr/>
          </p:nvSpPr>
          <p:spPr>
            <a:xfrm>
              <a:off x="7442833" y="4449882"/>
              <a:ext cx="3648456" cy="444059"/>
            </a:xfrm>
            <a:prstGeom prst="rect">
              <a:avLst/>
            </a:prstGeom>
            <a:solidFill>
              <a:schemeClr val="accent5">
                <a:lumMod val="20000"/>
                <a:lumOff val="80000"/>
              </a:schemeClr>
            </a:solidFill>
          </p:spPr>
          <p:txBody>
            <a:bodyPr wrap="square" rtlCol="0">
              <a:spAutoFit/>
            </a:bodyPr>
            <a:lstStyle/>
            <a:p>
              <a:pPr algn="ctr"/>
              <a:r>
                <a:rPr lang="zh-CN" altLang="en-US" sz="2800" dirty="0">
                  <a:latin typeface="黑体" panose="02010609060101010101" pitchFamily="49" charset="-122"/>
                  <a:ea typeface="黑体" panose="02010609060101010101" pitchFamily="49" charset="-122"/>
                </a:rPr>
                <a:t>经</a:t>
              </a:r>
              <a:r>
                <a:rPr lang="zh-CN" altLang="en-US" sz="2800" dirty="0">
                  <a:solidFill>
                    <a:srgbClr val="7030A0"/>
                  </a:solidFill>
                  <a:latin typeface="黑体" panose="02010609060101010101" pitchFamily="49" charset="-122"/>
                  <a:ea typeface="黑体" panose="02010609060101010101" pitchFamily="49" charset="-122"/>
                </a:rPr>
                <a:t>蚀刻</a:t>
              </a:r>
              <a:r>
                <a:rPr lang="zh-CN" altLang="en-US" sz="2800" dirty="0">
                  <a:latin typeface="黑体" panose="02010609060101010101" pitchFamily="49" charset="-122"/>
                  <a:ea typeface="黑体" panose="02010609060101010101" pitchFamily="49" charset="-122"/>
                </a:rPr>
                <a:t>制程处理后的晶圆</a:t>
              </a:r>
            </a:p>
          </p:txBody>
        </p:sp>
      </p:grpSp>
      <p:grpSp>
        <p:nvGrpSpPr>
          <p:cNvPr id="14" name="组合 13">
            <a:extLst>
              <a:ext uri="{FF2B5EF4-FFF2-40B4-BE49-F238E27FC236}">
                <a16:creationId xmlns:a16="http://schemas.microsoft.com/office/drawing/2014/main" id="{61303A21-BB46-EFF0-8071-6058A4ED920D}"/>
              </a:ext>
            </a:extLst>
          </p:cNvPr>
          <p:cNvGrpSpPr/>
          <p:nvPr/>
        </p:nvGrpSpPr>
        <p:grpSpPr>
          <a:xfrm>
            <a:off x="79258" y="2527043"/>
            <a:ext cx="7416799" cy="4178461"/>
            <a:chOff x="541076" y="2746155"/>
            <a:chExt cx="7416799" cy="4178461"/>
          </a:xfrm>
        </p:grpSpPr>
        <p:sp>
          <p:nvSpPr>
            <p:cNvPr id="7" name="文本框 6">
              <a:extLst>
                <a:ext uri="{FF2B5EF4-FFF2-40B4-BE49-F238E27FC236}">
                  <a16:creationId xmlns:a16="http://schemas.microsoft.com/office/drawing/2014/main" id="{9F61AF4A-5D54-978B-76A3-F1CF343D915B}"/>
                </a:ext>
              </a:extLst>
            </p:cNvPr>
            <p:cNvSpPr txBox="1"/>
            <p:nvPr/>
          </p:nvSpPr>
          <p:spPr>
            <a:xfrm>
              <a:off x="3637590" y="2746155"/>
              <a:ext cx="1223773" cy="646331"/>
            </a:xfrm>
            <a:prstGeom prst="rect">
              <a:avLst/>
            </a:prstGeom>
            <a:solidFill>
              <a:schemeClr val="accent1">
                <a:lumMod val="20000"/>
                <a:lumOff val="80000"/>
              </a:schemeClr>
            </a:solidFill>
          </p:spPr>
          <p:txBody>
            <a:bodyPr wrap="square">
              <a:spAutoFit/>
            </a:bodyPr>
            <a:lstStyle/>
            <a:p>
              <a:pPr algn="ctr"/>
              <a:r>
                <a:rPr lang="zh-CN" altLang="en-US" sz="3600" dirty="0">
                  <a:solidFill>
                    <a:srgbClr val="003F88"/>
                  </a:solidFill>
                  <a:latin typeface="华文细黑" panose="02010600040101010101" pitchFamily="2" charset="-122"/>
                  <a:ea typeface="华文细黑" panose="02010600040101010101" pitchFamily="2" charset="-122"/>
                </a:rPr>
                <a:t>晶圆</a:t>
              </a:r>
            </a:p>
          </p:txBody>
        </p:sp>
        <p:sp>
          <p:nvSpPr>
            <p:cNvPr id="10" name="文本框 9">
              <a:extLst>
                <a:ext uri="{FF2B5EF4-FFF2-40B4-BE49-F238E27FC236}">
                  <a16:creationId xmlns:a16="http://schemas.microsoft.com/office/drawing/2014/main" id="{73D2B989-8B4D-0574-2FC7-B8D17A96B96C}"/>
                </a:ext>
              </a:extLst>
            </p:cNvPr>
            <p:cNvSpPr txBox="1"/>
            <p:nvPr/>
          </p:nvSpPr>
          <p:spPr>
            <a:xfrm>
              <a:off x="541076" y="3943506"/>
              <a:ext cx="7416799" cy="1200329"/>
            </a:xfrm>
            <a:prstGeom prst="rect">
              <a:avLst/>
            </a:prstGeom>
            <a:solidFill>
              <a:schemeClr val="accent1">
                <a:lumMod val="20000"/>
                <a:lumOff val="80000"/>
              </a:schemeClr>
            </a:solidFill>
          </p:spPr>
          <p:txBody>
            <a:bodyPr wrap="square">
              <a:spAutoFit/>
            </a:bodyPr>
            <a:lstStyle/>
            <a:p>
              <a:pPr algn="ctr"/>
              <a:r>
                <a:rPr lang="zh-CN" altLang="en-US" sz="3600" dirty="0">
                  <a:solidFill>
                    <a:srgbClr val="003F88"/>
                  </a:solidFill>
                  <a:latin typeface="华文细黑" panose="02010600040101010101" pitchFamily="2" charset="-122"/>
                  <a:ea typeface="华文细黑" panose="02010600040101010101" pitchFamily="2" charset="-122"/>
                </a:rPr>
                <a:t>光刻、刻蚀、沉积、掺杂、平坦化等物理化学过程</a:t>
              </a:r>
            </a:p>
          </p:txBody>
        </p:sp>
        <p:sp>
          <p:nvSpPr>
            <p:cNvPr id="13" name="文本框 12">
              <a:extLst>
                <a:ext uri="{FF2B5EF4-FFF2-40B4-BE49-F238E27FC236}">
                  <a16:creationId xmlns:a16="http://schemas.microsoft.com/office/drawing/2014/main" id="{8DD14D8A-236E-01D8-B621-FC1CCF2AA0B9}"/>
                </a:ext>
              </a:extLst>
            </p:cNvPr>
            <p:cNvSpPr txBox="1"/>
            <p:nvPr/>
          </p:nvSpPr>
          <p:spPr>
            <a:xfrm>
              <a:off x="2808651" y="5724287"/>
              <a:ext cx="2881653" cy="1200329"/>
            </a:xfrm>
            <a:prstGeom prst="rect">
              <a:avLst/>
            </a:prstGeom>
            <a:solidFill>
              <a:schemeClr val="accent1">
                <a:lumMod val="20000"/>
                <a:lumOff val="80000"/>
              </a:schemeClr>
            </a:solidFill>
          </p:spPr>
          <p:txBody>
            <a:bodyPr wrap="square">
              <a:spAutoFit/>
            </a:bodyPr>
            <a:lstStyle/>
            <a:p>
              <a:pPr algn="ctr"/>
              <a:r>
                <a:rPr lang="zh-CN" altLang="en-US" sz="3600" dirty="0">
                  <a:solidFill>
                    <a:srgbClr val="003F88"/>
                  </a:solidFill>
                  <a:latin typeface="华文细黑" panose="02010600040101010101" pitchFamily="2" charset="-122"/>
                  <a:ea typeface="华文细黑" panose="02010600040101010101" pitchFamily="2" charset="-122"/>
                </a:rPr>
                <a:t>电子电路在晶圆上创建</a:t>
              </a:r>
            </a:p>
          </p:txBody>
        </p:sp>
      </p:grpSp>
      <p:sp>
        <p:nvSpPr>
          <p:cNvPr id="15" name="箭头: 下 14">
            <a:extLst>
              <a:ext uri="{FF2B5EF4-FFF2-40B4-BE49-F238E27FC236}">
                <a16:creationId xmlns:a16="http://schemas.microsoft.com/office/drawing/2014/main" id="{5C3C4B0D-4372-0F19-CEC8-BD0816F3147B}"/>
              </a:ext>
            </a:extLst>
          </p:cNvPr>
          <p:cNvSpPr/>
          <p:nvPr/>
        </p:nvSpPr>
        <p:spPr>
          <a:xfrm>
            <a:off x="3528291" y="3173374"/>
            <a:ext cx="461818" cy="55102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箭头: 下 15">
            <a:extLst>
              <a:ext uri="{FF2B5EF4-FFF2-40B4-BE49-F238E27FC236}">
                <a16:creationId xmlns:a16="http://schemas.microsoft.com/office/drawing/2014/main" id="{43FDED9D-0A77-39CE-FB90-DFCAC985C6FA}"/>
              </a:ext>
            </a:extLst>
          </p:cNvPr>
          <p:cNvSpPr/>
          <p:nvPr/>
        </p:nvSpPr>
        <p:spPr>
          <a:xfrm>
            <a:off x="3528291" y="4954155"/>
            <a:ext cx="461818" cy="55102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1788844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93094-8CA9-FB42-1AAF-4D87D003A0DE}"/>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B608D49F-E13B-5842-9CBF-9871C1D7A26B}"/>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310BEE28-2D96-A51C-FBD1-2F50F18D08C3}"/>
              </a:ext>
            </a:extLst>
          </p:cNvPr>
          <p:cNvSpPr txBox="1"/>
          <p:nvPr/>
        </p:nvSpPr>
        <p:spPr>
          <a:xfrm>
            <a:off x="621521" y="622002"/>
            <a:ext cx="10948957"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电路的载体形式①</a:t>
            </a:r>
          </a:p>
        </p:txBody>
      </p:sp>
      <p:sp>
        <p:nvSpPr>
          <p:cNvPr id="11" name="文本框 10">
            <a:extLst>
              <a:ext uri="{FF2B5EF4-FFF2-40B4-BE49-F238E27FC236}">
                <a16:creationId xmlns:a16="http://schemas.microsoft.com/office/drawing/2014/main" id="{5E8B6230-6D15-FF8B-9B8C-32293F0E1C60}"/>
              </a:ext>
            </a:extLst>
          </p:cNvPr>
          <p:cNvSpPr txBox="1"/>
          <p:nvPr/>
        </p:nvSpPr>
        <p:spPr>
          <a:xfrm>
            <a:off x="2733962" y="2758316"/>
            <a:ext cx="6830290" cy="646331"/>
          </a:xfrm>
          <a:prstGeom prst="rect">
            <a:avLst/>
          </a:prstGeom>
          <a:solidFill>
            <a:schemeClr val="tx2">
              <a:lumMod val="20000"/>
              <a:lumOff val="80000"/>
            </a:schemeClr>
          </a:solidFill>
        </p:spPr>
        <p:txBody>
          <a:bodyPr wrap="square">
            <a:spAutoFit/>
          </a:bodyPr>
          <a:lstStyle/>
          <a:p>
            <a:r>
              <a:rPr lang="zh-CN" altLang="en-US" sz="3600" dirty="0">
                <a:solidFill>
                  <a:srgbClr val="003F88"/>
                </a:solidFill>
                <a:latin typeface="华文细黑" panose="02010600040101010101" pitchFamily="2" charset="-122"/>
                <a:ea typeface="华文细黑" panose="02010600040101010101" pitchFamily="2" charset="-122"/>
              </a:rPr>
              <a:t>小型集成电路</a:t>
            </a:r>
            <a:r>
              <a:rPr lang="en-US" altLang="zh-CN" sz="3600" dirty="0">
                <a:solidFill>
                  <a:srgbClr val="003F88"/>
                </a:solidFill>
                <a:latin typeface="华文细黑" panose="02010600040101010101" pitchFamily="2" charset="-122"/>
                <a:ea typeface="华文细黑" panose="02010600040101010101" pitchFamily="2" charset="-122"/>
              </a:rPr>
              <a:t>【</a:t>
            </a:r>
            <a:r>
              <a:rPr lang="zh-CN" altLang="en-US" sz="3600" dirty="0">
                <a:solidFill>
                  <a:srgbClr val="003F88"/>
                </a:solidFill>
                <a:latin typeface="华文细黑" panose="02010600040101010101" pitchFamily="2" charset="-122"/>
                <a:ea typeface="华文细黑" panose="02010600040101010101" pitchFamily="2" charset="-122"/>
              </a:rPr>
              <a:t>晶体管数量</a:t>
            </a:r>
            <a:r>
              <a:rPr lang="en-US" altLang="zh-CN" sz="3600" dirty="0">
                <a:solidFill>
                  <a:srgbClr val="003F88"/>
                </a:solidFill>
                <a:latin typeface="华文细黑" panose="02010600040101010101" pitchFamily="2" charset="-122"/>
                <a:ea typeface="华文细黑" panose="02010600040101010101" pitchFamily="2" charset="-122"/>
              </a:rPr>
              <a:t>&lt;100】</a:t>
            </a:r>
            <a:endParaRPr lang="zh-CN" altLang="en-US" sz="3600" dirty="0">
              <a:solidFill>
                <a:srgbClr val="003F88"/>
              </a:solidFill>
              <a:latin typeface="华文细黑" panose="02010600040101010101" pitchFamily="2" charset="-122"/>
              <a:ea typeface="华文细黑" panose="02010600040101010101" pitchFamily="2" charset="-122"/>
            </a:endParaRPr>
          </a:p>
        </p:txBody>
      </p:sp>
      <p:sp>
        <p:nvSpPr>
          <p:cNvPr id="12" name="文本框 11">
            <a:extLst>
              <a:ext uri="{FF2B5EF4-FFF2-40B4-BE49-F238E27FC236}">
                <a16:creationId xmlns:a16="http://schemas.microsoft.com/office/drawing/2014/main" id="{7F48D803-2B6D-644C-3CD8-8507C21E79F3}"/>
              </a:ext>
            </a:extLst>
          </p:cNvPr>
          <p:cNvSpPr txBox="1"/>
          <p:nvPr/>
        </p:nvSpPr>
        <p:spPr>
          <a:xfrm>
            <a:off x="2008909" y="5086783"/>
            <a:ext cx="8174182" cy="646331"/>
          </a:xfrm>
          <a:prstGeom prst="rect">
            <a:avLst/>
          </a:prstGeom>
          <a:solidFill>
            <a:schemeClr val="tx2">
              <a:lumMod val="20000"/>
              <a:lumOff val="80000"/>
            </a:schemeClr>
          </a:solidFill>
        </p:spPr>
        <p:txBody>
          <a:bodyPr wrap="square">
            <a:spAutoFit/>
          </a:bodyPr>
          <a:lstStyle/>
          <a:p>
            <a:r>
              <a:rPr lang="zh-CN" altLang="en-US" sz="3600" dirty="0">
                <a:solidFill>
                  <a:srgbClr val="003F88"/>
                </a:solidFill>
                <a:latin typeface="华文细黑" panose="02010600040101010101" pitchFamily="2" charset="-122"/>
                <a:ea typeface="华文细黑" panose="02010600040101010101" pitchFamily="2" charset="-122"/>
              </a:rPr>
              <a:t>极大规模集成电路</a:t>
            </a:r>
            <a:r>
              <a:rPr lang="en-US" altLang="zh-CN" sz="3600" dirty="0">
                <a:solidFill>
                  <a:srgbClr val="003F88"/>
                </a:solidFill>
                <a:latin typeface="华文细黑" panose="02010600040101010101" pitchFamily="2" charset="-122"/>
                <a:ea typeface="华文细黑" panose="02010600040101010101" pitchFamily="2" charset="-122"/>
              </a:rPr>
              <a:t>【</a:t>
            </a:r>
            <a:r>
              <a:rPr lang="zh-CN" altLang="en-US" sz="3600" dirty="0">
                <a:solidFill>
                  <a:srgbClr val="003F88"/>
                </a:solidFill>
                <a:latin typeface="华文细黑" panose="02010600040101010101" pitchFamily="2" charset="-122"/>
                <a:ea typeface="华文细黑" panose="02010600040101010101" pitchFamily="2" charset="-122"/>
              </a:rPr>
              <a:t>晶体管数量</a:t>
            </a:r>
            <a:r>
              <a:rPr lang="en-US" altLang="zh-CN" sz="3600" dirty="0">
                <a:solidFill>
                  <a:srgbClr val="003F88"/>
                </a:solidFill>
                <a:latin typeface="华文细黑" panose="02010600040101010101" pitchFamily="2" charset="-122"/>
                <a:ea typeface="华文细黑" panose="02010600040101010101" pitchFamily="2" charset="-122"/>
              </a:rPr>
              <a:t>&gt;1</a:t>
            </a:r>
            <a:r>
              <a:rPr lang="zh-CN" altLang="en-US" sz="3600" dirty="0">
                <a:solidFill>
                  <a:srgbClr val="003F88"/>
                </a:solidFill>
                <a:latin typeface="华文细黑" panose="02010600040101010101" pitchFamily="2" charset="-122"/>
                <a:ea typeface="华文细黑" panose="02010600040101010101" pitchFamily="2" charset="-122"/>
              </a:rPr>
              <a:t>千万</a:t>
            </a:r>
            <a:r>
              <a:rPr lang="en-US" altLang="zh-CN" sz="3600" dirty="0">
                <a:solidFill>
                  <a:srgbClr val="003F88"/>
                </a:solidFill>
                <a:latin typeface="华文细黑" panose="02010600040101010101" pitchFamily="2" charset="-122"/>
                <a:ea typeface="华文细黑" panose="02010600040101010101" pitchFamily="2" charset="-122"/>
              </a:rPr>
              <a:t>】</a:t>
            </a:r>
            <a:endParaRPr lang="zh-CN" altLang="en-US" sz="3600" dirty="0">
              <a:solidFill>
                <a:srgbClr val="003F88"/>
              </a:solidFill>
              <a:latin typeface="华文细黑" panose="02010600040101010101" pitchFamily="2" charset="-122"/>
              <a:ea typeface="华文细黑" panose="02010600040101010101" pitchFamily="2" charset="-122"/>
            </a:endParaRPr>
          </a:p>
        </p:txBody>
      </p:sp>
      <p:sp>
        <p:nvSpPr>
          <p:cNvPr id="17" name="箭头: 下 16">
            <a:extLst>
              <a:ext uri="{FF2B5EF4-FFF2-40B4-BE49-F238E27FC236}">
                <a16:creationId xmlns:a16="http://schemas.microsoft.com/office/drawing/2014/main" id="{7C74889F-22D1-B109-25C7-D9CEA5CEA865}"/>
              </a:ext>
            </a:extLst>
          </p:cNvPr>
          <p:cNvSpPr/>
          <p:nvPr/>
        </p:nvSpPr>
        <p:spPr>
          <a:xfrm>
            <a:off x="5878945" y="4016381"/>
            <a:ext cx="434109" cy="646331"/>
          </a:xfrm>
          <a:prstGeom prst="downArrow">
            <a:avLst/>
          </a:prstGeom>
          <a:solidFill>
            <a:schemeClr val="tx2">
              <a:lumMod val="20000"/>
              <a:lumOff val="8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文本框 18">
            <a:extLst>
              <a:ext uri="{FF2B5EF4-FFF2-40B4-BE49-F238E27FC236}">
                <a16:creationId xmlns:a16="http://schemas.microsoft.com/office/drawing/2014/main" id="{8FD23993-D49D-B059-8A20-4A003C39CB03}"/>
              </a:ext>
            </a:extLst>
          </p:cNvPr>
          <p:cNvSpPr txBox="1"/>
          <p:nvPr/>
        </p:nvSpPr>
        <p:spPr>
          <a:xfrm>
            <a:off x="304800" y="1707045"/>
            <a:ext cx="7638380" cy="646331"/>
          </a:xfrm>
          <a:prstGeom prst="rect">
            <a:avLst/>
          </a:prstGeom>
          <a:noFill/>
        </p:spPr>
        <p:txBody>
          <a:bodyPr wrap="square">
            <a:spAutoFit/>
          </a:bodyPr>
          <a:lstStyle/>
          <a:p>
            <a:r>
              <a:rPr lang="zh-CN" altLang="en-US" sz="3600" dirty="0">
                <a:latin typeface="黑体" panose="02010609060101010101" pitchFamily="49" charset="-122"/>
                <a:ea typeface="黑体" panose="02010609060101010101" pitchFamily="49" charset="-122"/>
              </a:rPr>
              <a:t>大规模集成电路一般是在晶圆上制造</a:t>
            </a:r>
          </a:p>
        </p:txBody>
      </p:sp>
    </p:spTree>
    <p:extLst>
      <p:ext uri="{BB962C8B-B14F-4D97-AF65-F5344CB8AC3E}">
        <p14:creationId xmlns:p14="http://schemas.microsoft.com/office/powerpoint/2010/main" val="4081319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1B4A3-F74F-67AC-2C45-E5AB9A9E45BD}"/>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4FBFAC47-B0DF-951B-53D2-203A4FCBDADA}"/>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D2928D79-1765-EDB1-08CD-F107996334BE}"/>
              </a:ext>
            </a:extLst>
          </p:cNvPr>
          <p:cNvSpPr txBox="1"/>
          <p:nvPr/>
        </p:nvSpPr>
        <p:spPr>
          <a:xfrm>
            <a:off x="621521" y="622002"/>
            <a:ext cx="10948957"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电路的载体形式①</a:t>
            </a:r>
          </a:p>
        </p:txBody>
      </p:sp>
      <p:grpSp>
        <p:nvGrpSpPr>
          <p:cNvPr id="2" name="组合 1">
            <a:extLst>
              <a:ext uri="{FF2B5EF4-FFF2-40B4-BE49-F238E27FC236}">
                <a16:creationId xmlns:a16="http://schemas.microsoft.com/office/drawing/2014/main" id="{9ADA7377-C246-D7C2-F7FC-A780D395848D}"/>
              </a:ext>
            </a:extLst>
          </p:cNvPr>
          <p:cNvGrpSpPr/>
          <p:nvPr/>
        </p:nvGrpSpPr>
        <p:grpSpPr>
          <a:xfrm>
            <a:off x="1960677" y="1329888"/>
            <a:ext cx="9880341" cy="5625094"/>
            <a:chOff x="72849" y="3459323"/>
            <a:chExt cx="9880341" cy="5625094"/>
          </a:xfrm>
        </p:grpSpPr>
        <p:pic>
          <p:nvPicPr>
            <p:cNvPr id="1028" name="Picture 4">
              <a:extLst>
                <a:ext uri="{FF2B5EF4-FFF2-40B4-BE49-F238E27FC236}">
                  <a16:creationId xmlns:a16="http://schemas.microsoft.com/office/drawing/2014/main" id="{95B7E92A-5A02-1868-7902-E927EE714F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849" y="3459323"/>
              <a:ext cx="5625094" cy="5625094"/>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a:extLst>
                <a:ext uri="{FF2B5EF4-FFF2-40B4-BE49-F238E27FC236}">
                  <a16:creationId xmlns:a16="http://schemas.microsoft.com/office/drawing/2014/main" id="{F08B4206-2DC3-D9E3-4E70-52208FA80DA9}"/>
                </a:ext>
              </a:extLst>
            </p:cNvPr>
            <p:cNvSpPr txBox="1"/>
            <p:nvPr/>
          </p:nvSpPr>
          <p:spPr>
            <a:xfrm>
              <a:off x="5833771" y="5081381"/>
              <a:ext cx="4119419" cy="954107"/>
            </a:xfrm>
            <a:prstGeom prst="rect">
              <a:avLst/>
            </a:prstGeom>
            <a:solidFill>
              <a:schemeClr val="accent5">
                <a:lumMod val="20000"/>
                <a:lumOff val="80000"/>
              </a:schemeClr>
            </a:solidFill>
          </p:spPr>
          <p:txBody>
            <a:bodyPr wrap="square" rtlCol="0">
              <a:spAutoFit/>
            </a:bodyPr>
            <a:lstStyle/>
            <a:p>
              <a:pPr algn="ctr"/>
              <a:r>
                <a:rPr lang="zh-CN" altLang="en-US" sz="2800" dirty="0">
                  <a:latin typeface="黑体" panose="02010609060101010101" pitchFamily="49" charset="-122"/>
                  <a:ea typeface="黑体" panose="02010609060101010101" pitchFamily="49" charset="-122"/>
                </a:rPr>
                <a:t>英特尔</a:t>
              </a:r>
              <a:r>
                <a:rPr lang="en-US" altLang="zh-CN" sz="2800" dirty="0">
                  <a:latin typeface="黑体" panose="02010609060101010101" pitchFamily="49" charset="-122"/>
                  <a:ea typeface="黑体" panose="02010609060101010101" pitchFamily="49" charset="-122"/>
                </a:rPr>
                <a:t>486DX2</a:t>
              </a:r>
              <a:r>
                <a:rPr lang="zh-CN" altLang="en-US" sz="2800" dirty="0">
                  <a:latin typeface="黑体" panose="02010609060101010101" pitchFamily="49" charset="-122"/>
                  <a:ea typeface="黑体" panose="02010609060101010101" pitchFamily="49" charset="-122"/>
                </a:rPr>
                <a:t>处理器的</a:t>
              </a:r>
              <a:endParaRPr lang="en-US" altLang="zh-CN" sz="2800" dirty="0">
                <a:latin typeface="黑体" panose="02010609060101010101" pitchFamily="49" charset="-122"/>
                <a:ea typeface="黑体" panose="02010609060101010101" pitchFamily="49" charset="-122"/>
              </a:endParaRPr>
            </a:p>
            <a:p>
              <a:pPr algn="ctr"/>
              <a:r>
                <a:rPr lang="zh-CN" altLang="en-US" sz="2800" dirty="0">
                  <a:latin typeface="黑体" panose="02010609060101010101" pitchFamily="49" charset="-122"/>
                  <a:ea typeface="黑体" panose="02010609060101010101" pitchFamily="49" charset="-122"/>
                </a:rPr>
                <a:t>集成电路于电子显微镜下</a:t>
              </a:r>
            </a:p>
          </p:txBody>
        </p:sp>
      </p:grpSp>
    </p:spTree>
    <p:extLst>
      <p:ext uri="{BB962C8B-B14F-4D97-AF65-F5344CB8AC3E}">
        <p14:creationId xmlns:p14="http://schemas.microsoft.com/office/powerpoint/2010/main" val="42581369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7BFB3-116F-ED69-2B89-6792819FDB1B}"/>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165A46D4-631D-B486-9EA1-886E23986200}"/>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3D6699D2-1070-60F1-8C48-82E01AE9FFE2}"/>
              </a:ext>
            </a:extLst>
          </p:cNvPr>
          <p:cNvSpPr txBox="1"/>
          <p:nvPr/>
        </p:nvSpPr>
        <p:spPr>
          <a:xfrm>
            <a:off x="541078" y="608842"/>
            <a:ext cx="10948957"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电路的载体形式①</a:t>
            </a:r>
          </a:p>
        </p:txBody>
      </p:sp>
      <p:pic>
        <p:nvPicPr>
          <p:cNvPr id="9" name="图片 8">
            <a:extLst>
              <a:ext uri="{FF2B5EF4-FFF2-40B4-BE49-F238E27FC236}">
                <a16:creationId xmlns:a16="http://schemas.microsoft.com/office/drawing/2014/main" id="{A6872406-52AA-9566-DC37-9615D51D1576}"/>
              </a:ext>
            </a:extLst>
          </p:cNvPr>
          <p:cNvPicPr>
            <a:picLocks noChangeAspect="1"/>
          </p:cNvPicPr>
          <p:nvPr/>
        </p:nvPicPr>
        <p:blipFill>
          <a:blip r:embed="rId3"/>
          <a:stretch>
            <a:fillRect/>
          </a:stretch>
        </p:blipFill>
        <p:spPr>
          <a:xfrm>
            <a:off x="5931262" y="1784655"/>
            <a:ext cx="6260738" cy="4700753"/>
          </a:xfrm>
          <a:prstGeom prst="rect">
            <a:avLst/>
          </a:prstGeom>
        </p:spPr>
      </p:pic>
      <p:pic>
        <p:nvPicPr>
          <p:cNvPr id="11" name="图片 10">
            <a:extLst>
              <a:ext uri="{FF2B5EF4-FFF2-40B4-BE49-F238E27FC236}">
                <a16:creationId xmlns:a16="http://schemas.microsoft.com/office/drawing/2014/main" id="{6415DA63-54A2-0F1E-9A46-10B6B38C196E}"/>
              </a:ext>
            </a:extLst>
          </p:cNvPr>
          <p:cNvPicPr>
            <a:picLocks noChangeAspect="1"/>
          </p:cNvPicPr>
          <p:nvPr/>
        </p:nvPicPr>
        <p:blipFill>
          <a:blip r:embed="rId4"/>
          <a:stretch>
            <a:fillRect/>
          </a:stretch>
        </p:blipFill>
        <p:spPr>
          <a:xfrm>
            <a:off x="0" y="1784655"/>
            <a:ext cx="5827804" cy="4773163"/>
          </a:xfrm>
          <a:prstGeom prst="rect">
            <a:avLst/>
          </a:prstGeom>
        </p:spPr>
      </p:pic>
    </p:spTree>
    <p:extLst>
      <p:ext uri="{BB962C8B-B14F-4D97-AF65-F5344CB8AC3E}">
        <p14:creationId xmlns:p14="http://schemas.microsoft.com/office/powerpoint/2010/main" val="7182927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6FA10-03C1-3BE6-4D8D-42C0DCF34568}"/>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A6286D3B-A0FE-7F05-3C61-18FC57E16B7D}"/>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08CFEB3E-13AC-7249-58C5-39B919A67934}"/>
              </a:ext>
            </a:extLst>
          </p:cNvPr>
          <p:cNvSpPr txBox="1"/>
          <p:nvPr/>
        </p:nvSpPr>
        <p:spPr>
          <a:xfrm>
            <a:off x="541079" y="608842"/>
            <a:ext cx="9581976"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电路的载体形式②</a:t>
            </a:r>
          </a:p>
        </p:txBody>
      </p:sp>
      <p:sp>
        <p:nvSpPr>
          <p:cNvPr id="3" name="文本框 2">
            <a:extLst>
              <a:ext uri="{FF2B5EF4-FFF2-40B4-BE49-F238E27FC236}">
                <a16:creationId xmlns:a16="http://schemas.microsoft.com/office/drawing/2014/main" id="{A0DF6D72-E27B-0B7D-61E7-5F9077714F3C}"/>
              </a:ext>
            </a:extLst>
          </p:cNvPr>
          <p:cNvSpPr txBox="1"/>
          <p:nvPr/>
        </p:nvSpPr>
        <p:spPr>
          <a:xfrm>
            <a:off x="50801" y="1997839"/>
            <a:ext cx="11956472" cy="3308726"/>
          </a:xfrm>
          <a:prstGeom prst="rect">
            <a:avLst/>
          </a:prstGeom>
          <a:noFill/>
        </p:spPr>
        <p:txBody>
          <a:bodyPr wrap="square">
            <a:spAutoFit/>
          </a:bodyPr>
          <a:lstStyle/>
          <a:p>
            <a:pPr marL="742950" indent="-742950">
              <a:lnSpc>
                <a:spcPct val="150000"/>
              </a:lnSpc>
              <a:buFont typeface="+mj-ea"/>
              <a:buAutoNum type="circleNumDbPlain"/>
            </a:pPr>
            <a:r>
              <a:rPr lang="zh-CN" altLang="en-US" sz="3600" dirty="0">
                <a:solidFill>
                  <a:schemeClr val="bg1">
                    <a:lumMod val="85000"/>
                  </a:schemeClr>
                </a:solidFill>
                <a:latin typeface="Arial" panose="020B0604020202020204" pitchFamily="34" charset="0"/>
                <a:ea typeface="黑体" panose="02010609060101010101" pitchFamily="49" charset="-122"/>
                <a:cs typeface="Arial" panose="020B0604020202020204" pitchFamily="34" charset="0"/>
              </a:rPr>
              <a:t>基于晶圆制作的集成电路</a:t>
            </a:r>
            <a:endParaRPr lang="en-US" altLang="zh-CN" sz="3600" dirty="0">
              <a:solidFill>
                <a:schemeClr val="bg1">
                  <a:lumMod val="85000"/>
                </a:schemeClr>
              </a:solidFill>
              <a:latin typeface="Arial" panose="020B0604020202020204" pitchFamily="34" charset="0"/>
              <a:ea typeface="黑体" panose="02010609060101010101" pitchFamily="49" charset="-122"/>
              <a:cs typeface="Arial" panose="020B0604020202020204" pitchFamily="34" charset="0"/>
            </a:endParaRPr>
          </a:p>
          <a:p>
            <a:pPr marL="742950" indent="-742950">
              <a:lnSpc>
                <a:spcPct val="150000"/>
              </a:lnSpc>
              <a:buFont typeface="+mj-ea"/>
              <a:buAutoNum type="circleNumDbPlain"/>
            </a:pPr>
            <a:r>
              <a:rPr lang="zh-CN" altLang="en-US" sz="3600" b="0" i="0" dirty="0">
                <a:effectLst/>
                <a:latin typeface="Arial" panose="020B0604020202020204" pitchFamily="34" charset="0"/>
                <a:ea typeface="黑体" panose="02010609060101010101" pitchFamily="49" charset="-122"/>
                <a:cs typeface="Arial" panose="020B0604020202020204" pitchFamily="34" charset="0"/>
              </a:rPr>
              <a:t>印刷电路板 </a:t>
            </a:r>
            <a:r>
              <a:rPr lang="en-US" altLang="zh-CN" sz="3600" b="0" i="0" dirty="0">
                <a:effectLst/>
                <a:latin typeface="Arial" panose="020B0604020202020204" pitchFamily="34" charset="0"/>
                <a:ea typeface="黑体" panose="02010609060101010101" pitchFamily="49" charset="-122"/>
                <a:cs typeface="Arial" panose="020B0604020202020204" pitchFamily="34" charset="0"/>
              </a:rPr>
              <a:t>Printed Circuit Board, PCB</a:t>
            </a:r>
          </a:p>
          <a:p>
            <a:pPr marL="742950" indent="-742950">
              <a:lnSpc>
                <a:spcPct val="150000"/>
              </a:lnSpc>
              <a:buFont typeface="+mj-ea"/>
              <a:buAutoNum type="circleNumDbPlain"/>
            </a:pPr>
            <a:r>
              <a:rPr lang="zh-CN" altLang="en-US" sz="3600" b="0" i="0" dirty="0">
                <a:solidFill>
                  <a:schemeClr val="bg1">
                    <a:lumMod val="85000"/>
                  </a:schemeClr>
                </a:solidFill>
                <a:effectLst/>
                <a:latin typeface="Arial" panose="020B0604020202020204" pitchFamily="34" charset="0"/>
                <a:ea typeface="黑体" panose="02010609060101010101" pitchFamily="49" charset="-122"/>
                <a:cs typeface="Arial" panose="020B0604020202020204" pitchFamily="34" charset="0"/>
              </a:rPr>
              <a:t>柔性印刷电路</a:t>
            </a:r>
            <a:r>
              <a:rPr lang="de-DE" altLang="zh-CN" sz="3600" b="0" i="0" dirty="0">
                <a:solidFill>
                  <a:schemeClr val="bg1">
                    <a:lumMod val="85000"/>
                  </a:schemeClr>
                </a:solidFill>
                <a:effectLst/>
                <a:latin typeface="Arial" panose="020B0604020202020204" pitchFamily="34" charset="0"/>
                <a:ea typeface="黑体" panose="02010609060101010101" pitchFamily="49" charset="-122"/>
                <a:cs typeface="Arial" panose="020B0604020202020204" pitchFamily="34" charset="0"/>
              </a:rPr>
              <a:t>Flexible Printed Circuit, FPC</a:t>
            </a:r>
          </a:p>
          <a:p>
            <a:pPr marL="742950" indent="-742950">
              <a:lnSpc>
                <a:spcPct val="150000"/>
              </a:lnSpc>
              <a:buFont typeface="+mj-ea"/>
              <a:buAutoNum type="circleNumDbPlain"/>
            </a:pPr>
            <a:r>
              <a:rPr lang="zh-CN" altLang="en-US" sz="3600" dirty="0">
                <a:solidFill>
                  <a:schemeClr val="bg1">
                    <a:lumMod val="85000"/>
                  </a:schemeClr>
                </a:solidFill>
                <a:latin typeface="Arial" panose="020B0604020202020204" pitchFamily="34" charset="0"/>
                <a:ea typeface="黑体" panose="02010609060101010101" pitchFamily="49" charset="-122"/>
                <a:cs typeface="Arial" panose="020B0604020202020204" pitchFamily="34" charset="0"/>
              </a:rPr>
              <a:t>刚性柔性印刷电路</a:t>
            </a:r>
            <a:r>
              <a:rPr lang="en-US" altLang="zh-CN" sz="3600" dirty="0">
                <a:solidFill>
                  <a:schemeClr val="bg1">
                    <a:lumMod val="85000"/>
                  </a:schemeClr>
                </a:solidFill>
                <a:latin typeface="Arial" panose="020B0604020202020204" pitchFamily="34" charset="0"/>
                <a:ea typeface="黑体" panose="02010609060101010101" pitchFamily="49" charset="-122"/>
                <a:cs typeface="Arial" panose="020B0604020202020204" pitchFamily="34" charset="0"/>
              </a:rPr>
              <a:t>Rigid Flexible Printed Circuit, RFPC</a:t>
            </a:r>
            <a:endParaRPr lang="de-DE" altLang="zh-CN" sz="3600" b="0" i="0" dirty="0">
              <a:solidFill>
                <a:schemeClr val="bg1">
                  <a:lumMod val="85000"/>
                </a:schemeClr>
              </a:solidFill>
              <a:effectLst/>
              <a:latin typeface="Arial" panose="020B0604020202020204" pitchFamily="34" charset="0"/>
              <a:ea typeface="黑体" panose="02010609060101010101" pitchFamily="49" charset="-122"/>
              <a:cs typeface="Arial" panose="020B0604020202020204" pitchFamily="34" charset="0"/>
            </a:endParaRPr>
          </a:p>
        </p:txBody>
      </p:sp>
    </p:spTree>
    <p:extLst>
      <p:ext uri="{BB962C8B-B14F-4D97-AF65-F5344CB8AC3E}">
        <p14:creationId xmlns:p14="http://schemas.microsoft.com/office/powerpoint/2010/main" val="9506802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7E5BD-71AD-D064-A1EC-C2C5F0BA9D93}"/>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7AC71886-6CA7-12FF-A18B-6BCFAF08D790}"/>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3A71AB0A-529B-3C91-C7CB-17B58C130BB9}"/>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电路的载体形式</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b="0" i="0" dirty="0">
                <a:solidFill>
                  <a:srgbClr val="003F88"/>
                </a:solidFill>
                <a:effectLst/>
                <a:latin typeface="Arial" panose="020B0604020202020204" pitchFamily="34" charset="0"/>
                <a:ea typeface="黑体" panose="02010609060101010101" pitchFamily="49" charset="-122"/>
                <a:cs typeface="Arial" panose="020B0604020202020204" pitchFamily="34" charset="0"/>
              </a:rPr>
              <a:t>印刷电路板</a:t>
            </a:r>
            <a:endParaRPr lang="zh-CN" altLang="en-US" sz="4000" dirty="0">
              <a:solidFill>
                <a:srgbClr val="003F88"/>
              </a:solidFill>
              <a:latin typeface="黑体" panose="02010609060101010101" pitchFamily="49" charset="-122"/>
              <a:ea typeface="黑体" panose="02010609060101010101" pitchFamily="49" charset="-122"/>
            </a:endParaRPr>
          </a:p>
        </p:txBody>
      </p:sp>
      <p:pic>
        <p:nvPicPr>
          <p:cNvPr id="2052" name="Picture 4" descr="undefined">
            <a:extLst>
              <a:ext uri="{FF2B5EF4-FFF2-40B4-BE49-F238E27FC236}">
                <a16:creationId xmlns:a16="http://schemas.microsoft.com/office/drawing/2014/main" id="{1236A2FD-F615-F866-1874-5B49CA8E84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8610" y="1387727"/>
            <a:ext cx="6774779" cy="4869725"/>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a:extLst>
              <a:ext uri="{FF2B5EF4-FFF2-40B4-BE49-F238E27FC236}">
                <a16:creationId xmlns:a16="http://schemas.microsoft.com/office/drawing/2014/main" id="{B976DACC-9775-AC38-1EA8-16D52BC8529C}"/>
              </a:ext>
            </a:extLst>
          </p:cNvPr>
          <p:cNvSpPr txBox="1"/>
          <p:nvPr/>
        </p:nvSpPr>
        <p:spPr>
          <a:xfrm>
            <a:off x="711720" y="6334780"/>
            <a:ext cx="10768561" cy="523220"/>
          </a:xfrm>
          <a:prstGeom prst="rect">
            <a:avLst/>
          </a:prstGeom>
          <a:noFill/>
        </p:spPr>
        <p:txBody>
          <a:bodyPr wrap="square">
            <a:spAutoFit/>
          </a:bodyPr>
          <a:lstStyle/>
          <a:p>
            <a:pPr algn="ctr"/>
            <a:r>
              <a:rPr lang="zh-CN" altLang="en-US" sz="2800" dirty="0">
                <a:latin typeface="Arial Black" panose="020B0A04020102020204" pitchFamily="34" charset="0"/>
                <a:ea typeface="黑体" panose="02010609060101010101" pitchFamily="49" charset="-122"/>
              </a:rPr>
              <a:t>20 世纪 80 年代中期 Commodore 64 家用计算机的电路板局部</a:t>
            </a:r>
          </a:p>
        </p:txBody>
      </p:sp>
      <p:sp>
        <p:nvSpPr>
          <p:cNvPr id="9" name="文本框 8">
            <a:extLst>
              <a:ext uri="{FF2B5EF4-FFF2-40B4-BE49-F238E27FC236}">
                <a16:creationId xmlns:a16="http://schemas.microsoft.com/office/drawing/2014/main" id="{83579637-F491-BF21-9812-424DE86BA397}"/>
              </a:ext>
            </a:extLst>
          </p:cNvPr>
          <p:cNvSpPr txBox="1"/>
          <p:nvPr/>
        </p:nvSpPr>
        <p:spPr>
          <a:xfrm>
            <a:off x="9652959" y="3302534"/>
            <a:ext cx="2044459" cy="523220"/>
          </a:xfrm>
          <a:prstGeom prst="rect">
            <a:avLst/>
          </a:prstGeom>
          <a:noFill/>
        </p:spPr>
        <p:txBody>
          <a:bodyPr wrap="square" rtlCol="0">
            <a:spAutoFit/>
          </a:bodyPr>
          <a:lstStyle/>
          <a:p>
            <a:pPr algn="ctr"/>
            <a:r>
              <a:rPr lang="zh-CN" altLang="en-US" sz="2800" dirty="0">
                <a:solidFill>
                  <a:srgbClr val="FF0000"/>
                </a:solidFill>
                <a:latin typeface="黑体" panose="02010609060101010101" pitchFamily="49" charset="-122"/>
                <a:ea typeface="黑体" panose="02010609060101010101" pitchFamily="49" charset="-122"/>
              </a:rPr>
              <a:t>直插式元件</a:t>
            </a:r>
          </a:p>
        </p:txBody>
      </p:sp>
      <p:sp>
        <p:nvSpPr>
          <p:cNvPr id="10" name="箭头: 左 9">
            <a:extLst>
              <a:ext uri="{FF2B5EF4-FFF2-40B4-BE49-F238E27FC236}">
                <a16:creationId xmlns:a16="http://schemas.microsoft.com/office/drawing/2014/main" id="{A6A0FC20-4575-D5BB-3AA5-5555780515B6}"/>
              </a:ext>
            </a:extLst>
          </p:cNvPr>
          <p:cNvSpPr/>
          <p:nvPr/>
        </p:nvSpPr>
        <p:spPr>
          <a:xfrm>
            <a:off x="7998165" y="3437566"/>
            <a:ext cx="1654793" cy="388188"/>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7747172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DE2B5-0820-4E8A-474B-D20CE8B9230F}"/>
            </a:ext>
          </a:extLst>
        </p:cNvPr>
        <p:cNvGrpSpPr/>
        <p:nvPr/>
      </p:nvGrpSpPr>
      <p:grpSpPr>
        <a:xfrm>
          <a:off x="0" y="0"/>
          <a:ext cx="0" cy="0"/>
          <a:chOff x="0" y="0"/>
          <a:chExt cx="0" cy="0"/>
        </a:xfrm>
      </p:grpSpPr>
      <p:pic>
        <p:nvPicPr>
          <p:cNvPr id="7" name="图片 6">
            <a:extLst>
              <a:ext uri="{FF2B5EF4-FFF2-40B4-BE49-F238E27FC236}">
                <a16:creationId xmlns:a16="http://schemas.microsoft.com/office/drawing/2014/main" id="{056490BD-C650-85BE-C6D4-CCAD86049B77}"/>
              </a:ext>
            </a:extLst>
          </p:cNvPr>
          <p:cNvPicPr>
            <a:picLocks noChangeAspect="1"/>
          </p:cNvPicPr>
          <p:nvPr/>
        </p:nvPicPr>
        <p:blipFill>
          <a:blip r:embed="rId3"/>
          <a:stretch>
            <a:fillRect/>
          </a:stretch>
        </p:blipFill>
        <p:spPr>
          <a:xfrm>
            <a:off x="2483800" y="1205216"/>
            <a:ext cx="8143748" cy="5541272"/>
          </a:xfrm>
          <a:prstGeom prst="rect">
            <a:avLst/>
          </a:prstGeom>
        </p:spPr>
      </p:pic>
      <p:sp>
        <p:nvSpPr>
          <p:cNvPr id="4" name="矩形 3">
            <a:extLst>
              <a:ext uri="{FF2B5EF4-FFF2-40B4-BE49-F238E27FC236}">
                <a16:creationId xmlns:a16="http://schemas.microsoft.com/office/drawing/2014/main" id="{E4FC6AB5-744E-08F6-FF8A-B69B7561B43C}"/>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9B4534BA-FF8D-1528-7A17-C8F883AEDAD4}"/>
              </a:ext>
            </a:extLst>
          </p:cNvPr>
          <p:cNvSpPr txBox="1"/>
          <p:nvPr/>
        </p:nvSpPr>
        <p:spPr>
          <a:xfrm>
            <a:off x="541079" y="608842"/>
            <a:ext cx="1066263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电路的载体形式</a:t>
            </a:r>
          </a:p>
        </p:txBody>
      </p:sp>
      <p:sp>
        <p:nvSpPr>
          <p:cNvPr id="3" name="文本框 2">
            <a:extLst>
              <a:ext uri="{FF2B5EF4-FFF2-40B4-BE49-F238E27FC236}">
                <a16:creationId xmlns:a16="http://schemas.microsoft.com/office/drawing/2014/main" id="{BFD16676-8CAA-9125-213E-17E8BE7BD604}"/>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电路的载体形式</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b="0" i="0" dirty="0">
                <a:solidFill>
                  <a:srgbClr val="003F88"/>
                </a:solidFill>
                <a:effectLst/>
                <a:latin typeface="Arial" panose="020B0604020202020204" pitchFamily="34" charset="0"/>
                <a:ea typeface="黑体" panose="02010609060101010101" pitchFamily="49" charset="-122"/>
                <a:cs typeface="Arial" panose="020B0604020202020204" pitchFamily="34" charset="0"/>
              </a:rPr>
              <a:t>印刷电路板</a:t>
            </a:r>
            <a:endParaRPr lang="zh-CN" altLang="en-US" sz="4000" dirty="0">
              <a:solidFill>
                <a:srgbClr val="003F88"/>
              </a:solidFill>
              <a:latin typeface="黑体" panose="02010609060101010101" pitchFamily="49" charset="-122"/>
              <a:ea typeface="黑体" panose="02010609060101010101" pitchFamily="49" charset="-122"/>
            </a:endParaRPr>
          </a:p>
        </p:txBody>
      </p:sp>
      <p:sp>
        <p:nvSpPr>
          <p:cNvPr id="9" name="文本框 8">
            <a:extLst>
              <a:ext uri="{FF2B5EF4-FFF2-40B4-BE49-F238E27FC236}">
                <a16:creationId xmlns:a16="http://schemas.microsoft.com/office/drawing/2014/main" id="{C3D15F36-4848-566E-E7F4-E10369AE219B}"/>
              </a:ext>
            </a:extLst>
          </p:cNvPr>
          <p:cNvSpPr txBox="1"/>
          <p:nvPr/>
        </p:nvSpPr>
        <p:spPr>
          <a:xfrm>
            <a:off x="2483800" y="6334780"/>
            <a:ext cx="8143748" cy="523220"/>
          </a:xfrm>
          <a:prstGeom prst="rect">
            <a:avLst/>
          </a:prstGeom>
          <a:solidFill>
            <a:srgbClr val="FFFFFF"/>
          </a:solidFill>
        </p:spPr>
        <p:txBody>
          <a:bodyPr wrap="square">
            <a:spAutoFit/>
          </a:bodyPr>
          <a:lstStyle/>
          <a:p>
            <a:pPr algn="ctr"/>
            <a:r>
              <a:rPr lang="en-US" altLang="zh-CN" sz="2800" dirty="0">
                <a:latin typeface="Arial Black" panose="020B0A04020102020204" pitchFamily="34" charset="0"/>
                <a:ea typeface="黑体" panose="02010609060101010101" pitchFamily="49" charset="-122"/>
              </a:rPr>
              <a:t>Altium Designer</a:t>
            </a:r>
            <a:r>
              <a:rPr lang="zh-CN" altLang="en-US" sz="2800" dirty="0">
                <a:latin typeface="Arial Black" panose="020B0A04020102020204" pitchFamily="34" charset="0"/>
                <a:ea typeface="黑体" panose="02010609060101010101" pitchFamily="49" charset="-122"/>
              </a:rPr>
              <a:t>中完成的</a:t>
            </a:r>
            <a:r>
              <a:rPr lang="en-US" altLang="zh-CN" sz="2800" dirty="0">
                <a:latin typeface="Arial Black" panose="020B0A04020102020204" pitchFamily="34" charset="0"/>
                <a:ea typeface="黑体" panose="02010609060101010101" pitchFamily="49" charset="-122"/>
              </a:rPr>
              <a:t>PCB</a:t>
            </a:r>
            <a:r>
              <a:rPr lang="zh-CN" altLang="en-US" sz="2800" dirty="0">
                <a:latin typeface="Arial Black" panose="020B0A04020102020204" pitchFamily="34" charset="0"/>
                <a:ea typeface="黑体" panose="02010609060101010101" pitchFamily="49" charset="-122"/>
              </a:rPr>
              <a:t>布局的</a:t>
            </a:r>
            <a:r>
              <a:rPr lang="en-US" altLang="zh-CN" sz="2800" dirty="0">
                <a:latin typeface="Arial Black" panose="020B0A04020102020204" pitchFamily="34" charset="0"/>
                <a:ea typeface="黑体" panose="02010609060101010101" pitchFamily="49" charset="-122"/>
              </a:rPr>
              <a:t>3D</a:t>
            </a:r>
            <a:r>
              <a:rPr lang="zh-CN" altLang="en-US" sz="2800" dirty="0">
                <a:latin typeface="Arial Black" panose="020B0A04020102020204" pitchFamily="34" charset="0"/>
                <a:ea typeface="黑体" panose="02010609060101010101" pitchFamily="49" charset="-122"/>
              </a:rPr>
              <a:t>视图</a:t>
            </a:r>
          </a:p>
        </p:txBody>
      </p:sp>
      <p:sp>
        <p:nvSpPr>
          <p:cNvPr id="10" name="文本框 9">
            <a:extLst>
              <a:ext uri="{FF2B5EF4-FFF2-40B4-BE49-F238E27FC236}">
                <a16:creationId xmlns:a16="http://schemas.microsoft.com/office/drawing/2014/main" id="{543033D2-BF39-E6A9-3990-E64897E3E217}"/>
              </a:ext>
            </a:extLst>
          </p:cNvPr>
          <p:cNvSpPr txBox="1"/>
          <p:nvPr/>
        </p:nvSpPr>
        <p:spPr>
          <a:xfrm>
            <a:off x="10627548" y="4672699"/>
            <a:ext cx="1681486" cy="523220"/>
          </a:xfrm>
          <a:prstGeom prst="rect">
            <a:avLst/>
          </a:prstGeom>
          <a:noFill/>
        </p:spPr>
        <p:txBody>
          <a:bodyPr wrap="square" rtlCol="0">
            <a:spAutoFit/>
          </a:bodyPr>
          <a:lstStyle/>
          <a:p>
            <a:pPr algn="ctr"/>
            <a:r>
              <a:rPr lang="zh-CN" altLang="en-US" sz="2800" dirty="0">
                <a:solidFill>
                  <a:srgbClr val="FF0000"/>
                </a:solidFill>
                <a:latin typeface="黑体" panose="02010609060101010101" pitchFamily="49" charset="-122"/>
                <a:ea typeface="黑体" panose="02010609060101010101" pitchFamily="49" charset="-122"/>
              </a:rPr>
              <a:t>贴片电阻</a:t>
            </a:r>
          </a:p>
        </p:txBody>
      </p:sp>
      <p:cxnSp>
        <p:nvCxnSpPr>
          <p:cNvPr id="12" name="直接箭头连接符 11">
            <a:extLst>
              <a:ext uri="{FF2B5EF4-FFF2-40B4-BE49-F238E27FC236}">
                <a16:creationId xmlns:a16="http://schemas.microsoft.com/office/drawing/2014/main" id="{100D7BAB-F280-E3BF-1C8D-67427D92CCD7}"/>
              </a:ext>
            </a:extLst>
          </p:cNvPr>
          <p:cNvCxnSpPr>
            <a:cxnSpLocks/>
            <a:stCxn id="10" idx="1"/>
          </p:cNvCxnSpPr>
          <p:nvPr/>
        </p:nvCxnSpPr>
        <p:spPr>
          <a:xfrm flipH="1" flipV="1">
            <a:off x="6021238" y="4623758"/>
            <a:ext cx="4606310" cy="310551"/>
          </a:xfrm>
          <a:prstGeom prst="straightConnector1">
            <a:avLst/>
          </a:prstGeom>
          <a:ln w="762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3" name="直接箭头连接符 12">
            <a:extLst>
              <a:ext uri="{FF2B5EF4-FFF2-40B4-BE49-F238E27FC236}">
                <a16:creationId xmlns:a16="http://schemas.microsoft.com/office/drawing/2014/main" id="{712B8C2D-28FC-0B25-DEB1-2AC6D0FC76F9}"/>
              </a:ext>
            </a:extLst>
          </p:cNvPr>
          <p:cNvCxnSpPr>
            <a:cxnSpLocks/>
          </p:cNvCxnSpPr>
          <p:nvPr/>
        </p:nvCxnSpPr>
        <p:spPr>
          <a:xfrm flipH="1">
            <a:off x="8324393" y="5086709"/>
            <a:ext cx="2455555" cy="523365"/>
          </a:xfrm>
          <a:prstGeom prst="straightConnector1">
            <a:avLst/>
          </a:prstGeom>
          <a:ln w="762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642883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77DC4-F89A-FC03-47D0-2DACFEFA71FF}"/>
            </a:ext>
          </a:extLst>
        </p:cNvPr>
        <p:cNvGrpSpPr/>
        <p:nvPr/>
      </p:nvGrpSpPr>
      <p:grpSpPr>
        <a:xfrm>
          <a:off x="0" y="0"/>
          <a:ext cx="0" cy="0"/>
          <a:chOff x="0" y="0"/>
          <a:chExt cx="0" cy="0"/>
        </a:xfrm>
      </p:grpSpPr>
      <p:pic>
        <p:nvPicPr>
          <p:cNvPr id="2" name="Picture 2" descr="undefined">
            <a:extLst>
              <a:ext uri="{FF2B5EF4-FFF2-40B4-BE49-F238E27FC236}">
                <a16:creationId xmlns:a16="http://schemas.microsoft.com/office/drawing/2014/main" id="{62BEFDE8-7C7A-6F87-40E9-6D984885C9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8921" y="1028152"/>
            <a:ext cx="7906945" cy="5930209"/>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a:extLst>
              <a:ext uri="{FF2B5EF4-FFF2-40B4-BE49-F238E27FC236}">
                <a16:creationId xmlns:a16="http://schemas.microsoft.com/office/drawing/2014/main" id="{3BF70A2E-D3CC-C25F-87E8-A55F43BFB2D4}"/>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文本框 5">
            <a:extLst>
              <a:ext uri="{FF2B5EF4-FFF2-40B4-BE49-F238E27FC236}">
                <a16:creationId xmlns:a16="http://schemas.microsoft.com/office/drawing/2014/main" id="{847F0FEA-5D73-D080-E248-30430FD5889D}"/>
              </a:ext>
            </a:extLst>
          </p:cNvPr>
          <p:cNvSpPr txBox="1"/>
          <p:nvPr/>
        </p:nvSpPr>
        <p:spPr>
          <a:xfrm>
            <a:off x="9801922" y="3415506"/>
            <a:ext cx="2341757" cy="954107"/>
          </a:xfrm>
          <a:prstGeom prst="rect">
            <a:avLst/>
          </a:prstGeom>
          <a:noFill/>
        </p:spPr>
        <p:txBody>
          <a:bodyPr wrap="square">
            <a:spAutoFit/>
          </a:bodyPr>
          <a:lstStyle/>
          <a:p>
            <a:pPr algn="just"/>
            <a:r>
              <a:rPr lang="zh-CN" altLang="en-US" sz="2800" dirty="0">
                <a:latin typeface="Arial Black" panose="020B0A04020102020204" pitchFamily="34" charset="0"/>
                <a:ea typeface="黑体" panose="02010609060101010101" pitchFamily="49" charset="-122"/>
              </a:rPr>
              <a:t>DVD 播放机的印刷电路板</a:t>
            </a:r>
          </a:p>
        </p:txBody>
      </p:sp>
      <p:sp>
        <p:nvSpPr>
          <p:cNvPr id="3" name="文本框 2">
            <a:extLst>
              <a:ext uri="{FF2B5EF4-FFF2-40B4-BE49-F238E27FC236}">
                <a16:creationId xmlns:a16="http://schemas.microsoft.com/office/drawing/2014/main" id="{B70850E5-3BE8-6A86-C5A5-C1A73F9DD97A}"/>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电路的载体形式</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b="0" i="0" dirty="0">
                <a:solidFill>
                  <a:srgbClr val="003F88"/>
                </a:solidFill>
                <a:effectLst/>
                <a:latin typeface="Arial" panose="020B0604020202020204" pitchFamily="34" charset="0"/>
                <a:ea typeface="黑体" panose="02010609060101010101" pitchFamily="49" charset="-122"/>
                <a:cs typeface="Arial" panose="020B0604020202020204" pitchFamily="34" charset="0"/>
              </a:rPr>
              <a:t>印刷电路板</a:t>
            </a:r>
            <a:endParaRPr lang="zh-CN" altLang="en-US" sz="4000" dirty="0">
              <a:solidFill>
                <a:srgbClr val="003F88"/>
              </a:solidFill>
              <a:latin typeface="黑体" panose="02010609060101010101" pitchFamily="49" charset="-122"/>
              <a:ea typeface="黑体" panose="02010609060101010101" pitchFamily="49" charset="-122"/>
            </a:endParaRPr>
          </a:p>
        </p:txBody>
      </p:sp>
      <p:sp>
        <p:nvSpPr>
          <p:cNvPr id="9" name="文本框 8">
            <a:extLst>
              <a:ext uri="{FF2B5EF4-FFF2-40B4-BE49-F238E27FC236}">
                <a16:creationId xmlns:a16="http://schemas.microsoft.com/office/drawing/2014/main" id="{193D6C56-A6C6-4BDB-4D1D-A27F274AC10E}"/>
              </a:ext>
            </a:extLst>
          </p:cNvPr>
          <p:cNvSpPr txBox="1"/>
          <p:nvPr/>
        </p:nvSpPr>
        <p:spPr>
          <a:xfrm>
            <a:off x="9825866" y="2373962"/>
            <a:ext cx="2317813" cy="523220"/>
          </a:xfrm>
          <a:prstGeom prst="rect">
            <a:avLst/>
          </a:prstGeom>
          <a:noFill/>
        </p:spPr>
        <p:txBody>
          <a:bodyPr wrap="square" rtlCol="0">
            <a:spAutoFit/>
          </a:bodyPr>
          <a:lstStyle/>
          <a:p>
            <a:pPr algn="ctr"/>
            <a:r>
              <a:rPr lang="zh-CN" altLang="en-US" sz="2800" dirty="0">
                <a:solidFill>
                  <a:srgbClr val="FF0000"/>
                </a:solidFill>
                <a:latin typeface="黑体" panose="02010609060101010101" pitchFamily="49" charset="-122"/>
                <a:ea typeface="黑体" panose="02010609060101010101" pitchFamily="49" charset="-122"/>
              </a:rPr>
              <a:t>贴片封装芯片</a:t>
            </a:r>
          </a:p>
        </p:txBody>
      </p:sp>
      <p:cxnSp>
        <p:nvCxnSpPr>
          <p:cNvPr id="10" name="直接箭头连接符 9">
            <a:extLst>
              <a:ext uri="{FF2B5EF4-FFF2-40B4-BE49-F238E27FC236}">
                <a16:creationId xmlns:a16="http://schemas.microsoft.com/office/drawing/2014/main" id="{08DEAF44-8C0B-C02D-E4BF-DD020DE2AF40}"/>
              </a:ext>
            </a:extLst>
          </p:cNvPr>
          <p:cNvCxnSpPr>
            <a:cxnSpLocks/>
            <a:stCxn id="9" idx="1"/>
          </p:cNvCxnSpPr>
          <p:nvPr/>
        </p:nvCxnSpPr>
        <p:spPr>
          <a:xfrm flipH="1" flipV="1">
            <a:off x="7712015" y="2112352"/>
            <a:ext cx="2113851" cy="523220"/>
          </a:xfrm>
          <a:prstGeom prst="straightConnector1">
            <a:avLst/>
          </a:prstGeom>
          <a:ln w="762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40841040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3838E-E5B8-ACB0-F572-41052BB1E78F}"/>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FAFC6E18-2DB5-BDE6-85D6-F7505B7DE355}"/>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B71822E8-7B46-A428-DC3A-63D2750FB6A7}"/>
              </a:ext>
            </a:extLst>
          </p:cNvPr>
          <p:cNvSpPr txBox="1"/>
          <p:nvPr/>
        </p:nvSpPr>
        <p:spPr>
          <a:xfrm>
            <a:off x="541079" y="608842"/>
            <a:ext cx="1066263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电路的载体形式②</a:t>
            </a:r>
          </a:p>
        </p:txBody>
      </p:sp>
      <p:sp>
        <p:nvSpPr>
          <p:cNvPr id="3" name="文本框 2">
            <a:extLst>
              <a:ext uri="{FF2B5EF4-FFF2-40B4-BE49-F238E27FC236}">
                <a16:creationId xmlns:a16="http://schemas.microsoft.com/office/drawing/2014/main" id="{5B51A4FF-A08E-F9F2-0822-F59E09B5DEE9}"/>
              </a:ext>
            </a:extLst>
          </p:cNvPr>
          <p:cNvSpPr txBox="1"/>
          <p:nvPr/>
        </p:nvSpPr>
        <p:spPr>
          <a:xfrm>
            <a:off x="124330" y="1428328"/>
            <a:ext cx="12067669" cy="4909036"/>
          </a:xfrm>
          <a:prstGeom prst="rect">
            <a:avLst/>
          </a:prstGeom>
          <a:noFill/>
        </p:spPr>
        <p:txBody>
          <a:bodyPr wrap="square">
            <a:spAutoFit/>
          </a:bodyPr>
          <a:lstStyle/>
          <a:p>
            <a:r>
              <a:rPr lang="zh-CN" altLang="en-US" sz="3600" dirty="0">
                <a:latin typeface="黑体" panose="02010609060101010101" pitchFamily="49" charset="-122"/>
                <a:ea typeface="黑体" panose="02010609060101010101" pitchFamily="49" charset="-122"/>
              </a:rPr>
              <a:t>印刷电路板</a:t>
            </a:r>
            <a:r>
              <a:rPr lang="en-US" altLang="zh-CN" sz="3600" dirty="0">
                <a:latin typeface="黑体" panose="02010609060101010101" pitchFamily="49" charset="-122"/>
                <a:ea typeface="黑体" panose="02010609060101010101" pitchFamily="49" charset="-122"/>
              </a:rPr>
              <a:t>(Printed Circuit Board, PCB)</a:t>
            </a:r>
          </a:p>
          <a:p>
            <a:pPr>
              <a:spcAft>
                <a:spcPts val="1200"/>
              </a:spcAft>
            </a:pPr>
            <a:r>
              <a:rPr lang="zh-CN" altLang="en-US" sz="3600" dirty="0">
                <a:latin typeface="黑体" panose="02010609060101010101" pitchFamily="49" charset="-122"/>
                <a:ea typeface="黑体" panose="02010609060101010101" pitchFamily="49" charset="-122"/>
              </a:rPr>
              <a:t>压层材料制成的薄板，电路板上印刷有导电通路和焊盘，用于电路板上各种元件的电气连接。元件焊接在</a:t>
            </a:r>
            <a:r>
              <a:rPr lang="en-US" altLang="zh-CN" sz="3600" dirty="0">
                <a:latin typeface="黑体" panose="02010609060101010101" pitchFamily="49" charset="-122"/>
                <a:ea typeface="黑体" panose="02010609060101010101" pitchFamily="49" charset="-122"/>
              </a:rPr>
              <a:t>PCB</a:t>
            </a:r>
            <a:r>
              <a:rPr lang="zh-CN" altLang="en-US" sz="3600" dirty="0">
                <a:latin typeface="黑体" panose="02010609060101010101" pitchFamily="49" charset="-122"/>
                <a:ea typeface="黑体" panose="02010609060101010101" pitchFamily="49" charset="-122"/>
              </a:rPr>
              <a:t>上，</a:t>
            </a:r>
            <a:r>
              <a:rPr lang="en-US" altLang="zh-CN" sz="3600" dirty="0">
                <a:latin typeface="黑体" panose="02010609060101010101" pitchFamily="49" charset="-122"/>
                <a:ea typeface="黑体" panose="02010609060101010101" pitchFamily="49" charset="-122"/>
              </a:rPr>
              <a:t>PCB</a:t>
            </a:r>
            <a:r>
              <a:rPr lang="zh-CN" altLang="en-US" sz="3600" dirty="0">
                <a:latin typeface="黑体" panose="02010609060101010101" pitchFamily="49" charset="-122"/>
                <a:ea typeface="黑体" panose="02010609060101010101" pitchFamily="49" charset="-122"/>
              </a:rPr>
              <a:t>为电子元件提供</a:t>
            </a:r>
            <a:r>
              <a:rPr lang="zh-CN" altLang="en-US" sz="3600" dirty="0">
                <a:solidFill>
                  <a:srgbClr val="FF0000"/>
                </a:solidFill>
                <a:latin typeface="黑体" panose="02010609060101010101" pitchFamily="49" charset="-122"/>
                <a:ea typeface="黑体" panose="02010609060101010101" pitchFamily="49" charset="-122"/>
              </a:rPr>
              <a:t>机械支撑</a:t>
            </a:r>
            <a:r>
              <a:rPr lang="zh-CN" altLang="en-US" sz="3600" dirty="0">
                <a:latin typeface="黑体" panose="02010609060101010101" pitchFamily="49" charset="-122"/>
                <a:ea typeface="黑体" panose="02010609060101010101" pitchFamily="49" charset="-122"/>
              </a:rPr>
              <a:t>和</a:t>
            </a:r>
            <a:r>
              <a:rPr lang="zh-CN" altLang="en-US" sz="3600" dirty="0">
                <a:solidFill>
                  <a:srgbClr val="FF0000"/>
                </a:solidFill>
                <a:latin typeface="黑体" panose="02010609060101010101" pitchFamily="49" charset="-122"/>
                <a:ea typeface="黑体" panose="02010609060101010101" pitchFamily="49" charset="-122"/>
              </a:rPr>
              <a:t>电气连接</a:t>
            </a:r>
            <a:r>
              <a:rPr lang="zh-CN" altLang="en-US" sz="3600" dirty="0">
                <a:latin typeface="黑体" panose="02010609060101010101" pitchFamily="49" charset="-122"/>
                <a:ea typeface="黑体" panose="02010609060101010101" pitchFamily="49" charset="-122"/>
              </a:rPr>
              <a:t>。</a:t>
            </a:r>
            <a:endParaRPr lang="en-US" altLang="zh-CN" sz="3600" dirty="0">
              <a:latin typeface="黑体" panose="02010609060101010101" pitchFamily="49" charset="-122"/>
              <a:ea typeface="黑体" panose="02010609060101010101" pitchFamily="49" charset="-122"/>
            </a:endParaRPr>
          </a:p>
          <a:p>
            <a:pPr marL="571500" indent="-571500">
              <a:spcAft>
                <a:spcPts val="600"/>
              </a:spcAft>
              <a:buFont typeface="Wingdings" panose="05000000000000000000" pitchFamily="2" charset="2"/>
              <a:buChar char="Ø"/>
            </a:pPr>
            <a:r>
              <a:rPr lang="zh-CN" altLang="en-US" sz="3600" dirty="0">
                <a:latin typeface="黑体" panose="02010609060101010101" pitchFamily="49" charset="-122"/>
                <a:ea typeface="黑体" panose="02010609060101010101" pitchFamily="49" charset="-122"/>
              </a:rPr>
              <a:t>制作材料：压层材料，例如玻璃纤维、复合环氧树脂；</a:t>
            </a:r>
            <a:endParaRPr lang="en-US" altLang="zh-CN" sz="3600" dirty="0">
              <a:latin typeface="黑体" panose="02010609060101010101" pitchFamily="49" charset="-122"/>
              <a:ea typeface="黑体" panose="02010609060101010101" pitchFamily="49" charset="-122"/>
            </a:endParaRPr>
          </a:p>
          <a:p>
            <a:pPr marL="571500" indent="-571500">
              <a:spcAft>
                <a:spcPts val="600"/>
              </a:spcAft>
              <a:buFont typeface="Wingdings" panose="05000000000000000000" pitchFamily="2" charset="2"/>
              <a:buChar char="Ø"/>
            </a:pPr>
            <a:r>
              <a:rPr lang="zh-CN" altLang="en-US" sz="3600" dirty="0">
                <a:latin typeface="黑体" panose="02010609060101010101" pitchFamily="49" charset="-122"/>
                <a:ea typeface="黑体" panose="02010609060101010101" pitchFamily="49" charset="-122"/>
              </a:rPr>
              <a:t>优点：</a:t>
            </a:r>
            <a:endParaRPr lang="en-US" altLang="zh-CN" sz="3600" dirty="0">
              <a:latin typeface="黑体" panose="02010609060101010101" pitchFamily="49" charset="-122"/>
              <a:ea typeface="黑体" panose="02010609060101010101" pitchFamily="49" charset="-122"/>
            </a:endParaRPr>
          </a:p>
          <a:p>
            <a:pPr>
              <a:spcAft>
                <a:spcPts val="600"/>
              </a:spcAft>
            </a:pPr>
            <a:r>
              <a:rPr lang="en-US" altLang="zh-CN" sz="3600" dirty="0">
                <a:latin typeface="黑体" panose="02010609060101010101" pitchFamily="49" charset="-122"/>
                <a:ea typeface="黑体" panose="02010609060101010101" pitchFamily="49" charset="-122"/>
              </a:rPr>
              <a:t>	</a:t>
            </a:r>
            <a:r>
              <a:rPr lang="zh-CN" altLang="en-US" sz="3600" dirty="0">
                <a:latin typeface="黑体" panose="02010609060101010101" pitchFamily="49" charset="-122"/>
                <a:ea typeface="黑体" panose="02010609060101010101" pitchFamily="49" charset="-122"/>
              </a:rPr>
              <a:t>相对成本较低</a:t>
            </a:r>
            <a:endParaRPr lang="en-US" altLang="zh-CN" sz="3600" dirty="0">
              <a:latin typeface="黑体" panose="02010609060101010101" pitchFamily="49" charset="-122"/>
              <a:ea typeface="黑体" panose="02010609060101010101" pitchFamily="49" charset="-122"/>
            </a:endParaRPr>
          </a:p>
          <a:p>
            <a:pPr>
              <a:spcAft>
                <a:spcPts val="600"/>
              </a:spcAft>
            </a:pPr>
            <a:r>
              <a:rPr lang="en-US" altLang="zh-CN" sz="3600" dirty="0">
                <a:latin typeface="黑体" panose="02010609060101010101" pitchFamily="49" charset="-122"/>
                <a:ea typeface="黑体" panose="02010609060101010101" pitchFamily="49" charset="-122"/>
              </a:rPr>
              <a:t>	PCB</a:t>
            </a:r>
            <a:r>
              <a:rPr lang="zh-CN" altLang="en-US" sz="3600" dirty="0">
                <a:latin typeface="黑体" panose="02010609060101010101" pitchFamily="49" charset="-122"/>
                <a:ea typeface="黑体" panose="02010609060101010101" pitchFamily="49" charset="-122"/>
              </a:rPr>
              <a:t>具有较强的硬度和支撑力，保护电子元件免受损坏</a:t>
            </a:r>
            <a:endParaRPr lang="en-US" altLang="zh-CN" sz="36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512504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CE4AE-90DD-8E1D-ED99-EFD9D9FD429B}"/>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0A606267-31EB-EACF-FA8A-FA634D6969A4}"/>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E0BB8A87-6436-B51F-6278-794969F3CEF7}"/>
              </a:ext>
            </a:extLst>
          </p:cNvPr>
          <p:cNvSpPr txBox="1"/>
          <p:nvPr/>
        </p:nvSpPr>
        <p:spPr>
          <a:xfrm>
            <a:off x="541079" y="608842"/>
            <a:ext cx="1066263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电路的载体形式②</a:t>
            </a:r>
          </a:p>
        </p:txBody>
      </p:sp>
      <p:sp>
        <p:nvSpPr>
          <p:cNvPr id="3" name="文本框 2">
            <a:extLst>
              <a:ext uri="{FF2B5EF4-FFF2-40B4-BE49-F238E27FC236}">
                <a16:creationId xmlns:a16="http://schemas.microsoft.com/office/drawing/2014/main" id="{2E730751-67AE-2E9F-A165-9C0FA0D7B97B}"/>
              </a:ext>
            </a:extLst>
          </p:cNvPr>
          <p:cNvSpPr txBox="1"/>
          <p:nvPr/>
        </p:nvSpPr>
        <p:spPr>
          <a:xfrm>
            <a:off x="124331" y="1428328"/>
            <a:ext cx="11679742" cy="5139869"/>
          </a:xfrm>
          <a:prstGeom prst="rect">
            <a:avLst/>
          </a:prstGeom>
          <a:noFill/>
        </p:spPr>
        <p:txBody>
          <a:bodyPr wrap="square">
            <a:spAutoFit/>
          </a:bodyPr>
          <a:lstStyle/>
          <a:p>
            <a:pPr>
              <a:spcAft>
                <a:spcPts val="2400"/>
              </a:spcAft>
            </a:pPr>
            <a:r>
              <a:rPr lang="zh-CN" altLang="en-US" sz="3600" dirty="0">
                <a:latin typeface="黑体" panose="02010609060101010101" pitchFamily="49" charset="-122"/>
                <a:ea typeface="黑体" panose="02010609060101010101" pitchFamily="49" charset="-122"/>
              </a:rPr>
              <a:t>印刷电路板类型：</a:t>
            </a:r>
            <a:endParaRPr lang="en-US" altLang="zh-CN" sz="3600" dirty="0">
              <a:latin typeface="黑体" panose="02010609060101010101" pitchFamily="49" charset="-122"/>
              <a:ea typeface="黑体" panose="02010609060101010101" pitchFamily="49" charset="-122"/>
            </a:endParaRPr>
          </a:p>
          <a:p>
            <a:pPr marL="742950" indent="-742950">
              <a:spcAft>
                <a:spcPts val="1200"/>
              </a:spcAft>
              <a:buFont typeface="+mj-lt"/>
              <a:buAutoNum type="arabicPeriod"/>
            </a:pPr>
            <a:r>
              <a:rPr lang="zh-CN" altLang="en-US" sz="3600" dirty="0">
                <a:latin typeface="黑体" panose="02010609060101010101" pitchFamily="49" charset="-122"/>
                <a:ea typeface="黑体" panose="02010609060101010101" pitchFamily="49" charset="-122"/>
              </a:rPr>
              <a:t>单层板：一个铜层，另一面是绝缘材料，只能使用单面铜来制造设备；</a:t>
            </a:r>
            <a:endParaRPr lang="en-US" altLang="zh-CN" sz="3600" dirty="0">
              <a:latin typeface="黑体" panose="02010609060101010101" pitchFamily="49" charset="-122"/>
              <a:ea typeface="黑体" panose="02010609060101010101" pitchFamily="49" charset="-122"/>
            </a:endParaRPr>
          </a:p>
          <a:p>
            <a:pPr marL="742950" indent="-742950">
              <a:spcAft>
                <a:spcPts val="1200"/>
              </a:spcAft>
              <a:buFont typeface="+mj-lt"/>
              <a:buAutoNum type="arabicPeriod"/>
            </a:pPr>
            <a:r>
              <a:rPr lang="zh-CN" altLang="en-US" sz="3600" dirty="0">
                <a:latin typeface="黑体" panose="02010609060101010101" pitchFamily="49" charset="-122"/>
                <a:ea typeface="黑体" panose="02010609060101010101" pitchFamily="49" charset="-122"/>
              </a:rPr>
              <a:t>双层板：一个绝缘基板，其两侧有两面铜层，两面均可用于设计和放置电子元件；</a:t>
            </a:r>
            <a:endParaRPr lang="en-US" altLang="zh-CN" sz="3600" dirty="0">
              <a:latin typeface="黑体" panose="02010609060101010101" pitchFamily="49" charset="-122"/>
              <a:ea typeface="黑体" panose="02010609060101010101" pitchFamily="49" charset="-122"/>
            </a:endParaRPr>
          </a:p>
          <a:p>
            <a:pPr marL="742950" indent="-742950">
              <a:spcAft>
                <a:spcPts val="1200"/>
              </a:spcAft>
              <a:buFont typeface="+mj-lt"/>
              <a:buAutoNum type="arabicPeriod"/>
            </a:pPr>
            <a:r>
              <a:rPr lang="zh-CN" altLang="en-US" sz="3600" dirty="0">
                <a:latin typeface="黑体" panose="02010609060101010101" pitchFamily="49" charset="-122"/>
                <a:ea typeface="黑体" panose="02010609060101010101" pitchFamily="49" charset="-122"/>
              </a:rPr>
              <a:t>多层板：具有两个以上铜层，内铜层和外铜层与基板交替排布。多层板允许更高的元件密度，但多层</a:t>
            </a:r>
            <a:r>
              <a:rPr lang="en-US" altLang="zh-CN" sz="3600" dirty="0">
                <a:latin typeface="黑体" panose="02010609060101010101" pitchFamily="49" charset="-122"/>
                <a:ea typeface="黑体" panose="02010609060101010101" pitchFamily="49" charset="-122"/>
              </a:rPr>
              <a:t>PCB</a:t>
            </a:r>
            <a:r>
              <a:rPr lang="zh-CN" altLang="en-US" sz="3600" dirty="0">
                <a:latin typeface="黑体" panose="02010609060101010101" pitchFamily="49" charset="-122"/>
                <a:ea typeface="黑体" panose="02010609060101010101" pitchFamily="49" charset="-122"/>
              </a:rPr>
              <a:t>板使得分析、维修和电路现场修改变得更加困难。</a:t>
            </a:r>
          </a:p>
        </p:txBody>
      </p:sp>
    </p:spTree>
    <p:extLst>
      <p:ext uri="{BB962C8B-B14F-4D97-AF65-F5344CB8AC3E}">
        <p14:creationId xmlns:p14="http://schemas.microsoft.com/office/powerpoint/2010/main" val="28808683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69D6D-3010-604E-243B-7E373A7ED5CF}"/>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5F12C733-E80C-031D-B119-9CB44AC367F7}"/>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1D16D145-01CC-A15C-2BEC-88EDB935586B}"/>
              </a:ext>
            </a:extLst>
          </p:cNvPr>
          <p:cNvSpPr txBox="1"/>
          <p:nvPr/>
        </p:nvSpPr>
        <p:spPr>
          <a:xfrm>
            <a:off x="541079" y="608842"/>
            <a:ext cx="1066263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电路的载体形式②</a:t>
            </a:r>
          </a:p>
        </p:txBody>
      </p:sp>
      <p:sp>
        <p:nvSpPr>
          <p:cNvPr id="3" name="文本框 2">
            <a:extLst>
              <a:ext uri="{FF2B5EF4-FFF2-40B4-BE49-F238E27FC236}">
                <a16:creationId xmlns:a16="http://schemas.microsoft.com/office/drawing/2014/main" id="{4E9CA2EF-811C-E4D0-B233-B71ECD76BA8A}"/>
              </a:ext>
            </a:extLst>
          </p:cNvPr>
          <p:cNvSpPr txBox="1"/>
          <p:nvPr/>
        </p:nvSpPr>
        <p:spPr>
          <a:xfrm>
            <a:off x="124331" y="1428328"/>
            <a:ext cx="11679742" cy="4016484"/>
          </a:xfrm>
          <a:prstGeom prst="rect">
            <a:avLst/>
          </a:prstGeom>
          <a:noFill/>
        </p:spPr>
        <p:txBody>
          <a:bodyPr wrap="square">
            <a:spAutoFit/>
          </a:bodyPr>
          <a:lstStyle/>
          <a:p>
            <a:pPr>
              <a:spcAft>
                <a:spcPts val="3600"/>
              </a:spcAft>
            </a:pPr>
            <a:r>
              <a:rPr lang="en-US" altLang="zh-CN" sz="3600" dirty="0">
                <a:latin typeface="黑体" panose="02010609060101010101" pitchFamily="49" charset="-122"/>
                <a:ea typeface="黑体" panose="02010609060101010101" pitchFamily="49" charset="-122"/>
              </a:rPr>
              <a:t>PCB</a:t>
            </a:r>
            <a:r>
              <a:rPr lang="zh-CN" altLang="en-US" sz="3600" dirty="0">
                <a:latin typeface="黑体" panose="02010609060101010101" pitchFamily="49" charset="-122"/>
                <a:ea typeface="黑体" panose="02010609060101010101" pitchFamily="49" charset="-122"/>
              </a:rPr>
              <a:t>设计流程：</a:t>
            </a:r>
            <a:endParaRPr lang="en-US" altLang="zh-CN" sz="3600" dirty="0">
              <a:latin typeface="黑体" panose="02010609060101010101" pitchFamily="49" charset="-122"/>
              <a:ea typeface="黑体" panose="02010609060101010101" pitchFamily="49" charset="-122"/>
            </a:endParaRPr>
          </a:p>
          <a:p>
            <a:pPr marL="742950" indent="-742950">
              <a:spcAft>
                <a:spcPts val="1800"/>
              </a:spcAft>
              <a:buFont typeface="+mj-lt"/>
              <a:buAutoNum type="arabicPeriod"/>
            </a:pPr>
            <a:r>
              <a:rPr lang="zh-CN" altLang="en-US" sz="3600" dirty="0">
                <a:latin typeface="黑体" panose="02010609060101010101" pitchFamily="49" charset="-122"/>
                <a:ea typeface="黑体" panose="02010609060101010101" pitchFamily="49" charset="-122"/>
              </a:rPr>
              <a:t>选择元件</a:t>
            </a:r>
            <a:endParaRPr lang="en-US" altLang="zh-CN" sz="3600" dirty="0">
              <a:latin typeface="黑体" panose="02010609060101010101" pitchFamily="49" charset="-122"/>
              <a:ea typeface="黑体" panose="02010609060101010101" pitchFamily="49" charset="-122"/>
            </a:endParaRPr>
          </a:p>
          <a:p>
            <a:pPr marL="742950" indent="-742950">
              <a:spcAft>
                <a:spcPts val="1800"/>
              </a:spcAft>
              <a:buFont typeface="+mj-lt"/>
              <a:buAutoNum type="arabicPeriod"/>
            </a:pPr>
            <a:r>
              <a:rPr lang="zh-CN" altLang="en-US" sz="3600" dirty="0">
                <a:latin typeface="黑体" panose="02010609060101010101" pitchFamily="49" charset="-122"/>
                <a:ea typeface="黑体" panose="02010609060101010101" pitchFamily="49" charset="-122"/>
              </a:rPr>
              <a:t>绘制原理图</a:t>
            </a:r>
            <a:endParaRPr lang="en-US" altLang="zh-CN" sz="3600" dirty="0">
              <a:latin typeface="黑体" panose="02010609060101010101" pitchFamily="49" charset="-122"/>
              <a:ea typeface="黑体" panose="02010609060101010101" pitchFamily="49" charset="-122"/>
            </a:endParaRPr>
          </a:p>
          <a:p>
            <a:pPr marL="742950" indent="-742950">
              <a:spcAft>
                <a:spcPts val="1800"/>
              </a:spcAft>
              <a:buFont typeface="+mj-lt"/>
              <a:buAutoNum type="arabicPeriod"/>
            </a:pPr>
            <a:r>
              <a:rPr lang="zh-CN" altLang="en-US" sz="3600" dirty="0">
                <a:latin typeface="黑体" panose="02010609060101010101" pitchFamily="49" charset="-122"/>
                <a:ea typeface="黑体" panose="02010609060101010101" pitchFamily="49" charset="-122"/>
              </a:rPr>
              <a:t>电路板布局</a:t>
            </a:r>
            <a:endParaRPr lang="en-US" altLang="zh-CN" sz="3600" dirty="0">
              <a:latin typeface="黑体" panose="02010609060101010101" pitchFamily="49" charset="-122"/>
              <a:ea typeface="黑体" panose="02010609060101010101" pitchFamily="49" charset="-122"/>
            </a:endParaRPr>
          </a:p>
          <a:p>
            <a:pPr marL="742950" indent="-742950">
              <a:spcAft>
                <a:spcPts val="1800"/>
              </a:spcAft>
              <a:buFont typeface="+mj-lt"/>
              <a:buAutoNum type="arabicPeriod"/>
            </a:pPr>
            <a:r>
              <a:rPr lang="zh-CN" altLang="en-US" sz="3600" dirty="0">
                <a:latin typeface="黑体" panose="02010609060101010101" pitchFamily="49" charset="-122"/>
                <a:ea typeface="黑体" panose="02010609060101010101" pitchFamily="49" charset="-122"/>
              </a:rPr>
              <a:t>电路板验证和确认</a:t>
            </a:r>
            <a:endParaRPr lang="en-US" altLang="zh-CN" sz="36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9188148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292A4-D018-3986-6358-835D0359E829}"/>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E472BD8B-D9E6-04FD-70D7-93983C7BC73A}"/>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8E5FC4AE-69BC-CEB0-62E6-89F6A9068143}"/>
              </a:ext>
            </a:extLst>
          </p:cNvPr>
          <p:cNvSpPr txBox="1"/>
          <p:nvPr/>
        </p:nvSpPr>
        <p:spPr>
          <a:xfrm>
            <a:off x="541079" y="608842"/>
            <a:ext cx="1066263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电路的载体形式②</a:t>
            </a:r>
          </a:p>
        </p:txBody>
      </p:sp>
      <p:sp>
        <p:nvSpPr>
          <p:cNvPr id="3" name="文本框 2">
            <a:extLst>
              <a:ext uri="{FF2B5EF4-FFF2-40B4-BE49-F238E27FC236}">
                <a16:creationId xmlns:a16="http://schemas.microsoft.com/office/drawing/2014/main" id="{6193B7AE-F212-3E89-426E-F5C4839FEC38}"/>
              </a:ext>
            </a:extLst>
          </p:cNvPr>
          <p:cNvSpPr txBox="1"/>
          <p:nvPr/>
        </p:nvSpPr>
        <p:spPr>
          <a:xfrm>
            <a:off x="124331" y="1428328"/>
            <a:ext cx="11679742" cy="2446824"/>
          </a:xfrm>
          <a:prstGeom prst="rect">
            <a:avLst/>
          </a:prstGeom>
          <a:noFill/>
        </p:spPr>
        <p:txBody>
          <a:bodyPr wrap="square">
            <a:spAutoFit/>
          </a:bodyPr>
          <a:lstStyle/>
          <a:p>
            <a:pPr>
              <a:spcAft>
                <a:spcPts val="3600"/>
              </a:spcAft>
            </a:pPr>
            <a:r>
              <a:rPr lang="en-US" altLang="zh-CN" sz="3600" dirty="0">
                <a:latin typeface="黑体" panose="02010609060101010101" pitchFamily="49" charset="-122"/>
                <a:ea typeface="黑体" panose="02010609060101010101" pitchFamily="49" charset="-122"/>
              </a:rPr>
              <a:t>PCB</a:t>
            </a:r>
            <a:r>
              <a:rPr lang="zh-CN" altLang="en-US" sz="3600" dirty="0">
                <a:latin typeface="黑体" panose="02010609060101010101" pitchFamily="49" charset="-122"/>
                <a:ea typeface="黑体" panose="02010609060101010101" pitchFamily="49" charset="-122"/>
              </a:rPr>
              <a:t>设计流程：</a:t>
            </a:r>
            <a:endParaRPr lang="en-US" altLang="zh-CN" sz="3600" dirty="0">
              <a:latin typeface="黑体" panose="02010609060101010101" pitchFamily="49" charset="-122"/>
              <a:ea typeface="黑体" panose="02010609060101010101" pitchFamily="49" charset="-122"/>
            </a:endParaRPr>
          </a:p>
          <a:p>
            <a:pPr marL="742950" indent="-742950">
              <a:spcAft>
                <a:spcPts val="1800"/>
              </a:spcAft>
              <a:buFont typeface="+mj-lt"/>
              <a:buAutoNum type="arabicPeriod"/>
            </a:pPr>
            <a:r>
              <a:rPr lang="zh-CN" altLang="en-US" sz="3600" dirty="0">
                <a:latin typeface="黑体" panose="02010609060101010101" pitchFamily="49" charset="-122"/>
                <a:ea typeface="黑体" panose="02010609060101010101" pitchFamily="49" charset="-122"/>
              </a:rPr>
              <a:t>选择元件</a:t>
            </a:r>
            <a:endParaRPr lang="en-US" altLang="zh-CN" sz="3600" dirty="0">
              <a:latin typeface="黑体" panose="02010609060101010101" pitchFamily="49" charset="-122"/>
              <a:ea typeface="黑体" panose="02010609060101010101" pitchFamily="49" charset="-122"/>
            </a:endParaRPr>
          </a:p>
          <a:p>
            <a:pPr marL="742950" indent="-742950">
              <a:spcAft>
                <a:spcPts val="1800"/>
              </a:spcAft>
              <a:buFont typeface="+mj-lt"/>
              <a:buAutoNum type="arabicPeriod"/>
            </a:pPr>
            <a:r>
              <a:rPr lang="zh-CN" altLang="en-US" sz="3600" dirty="0">
                <a:latin typeface="黑体" panose="02010609060101010101" pitchFamily="49" charset="-122"/>
                <a:ea typeface="黑体" panose="02010609060101010101" pitchFamily="49" charset="-122"/>
              </a:rPr>
              <a:t>绘制原理图：放置和连接元件，构建设计拓扑</a:t>
            </a:r>
            <a:endParaRPr lang="en-US" altLang="zh-CN" sz="3600" dirty="0">
              <a:latin typeface="黑体" panose="02010609060101010101" pitchFamily="49" charset="-122"/>
              <a:ea typeface="黑体" panose="02010609060101010101" pitchFamily="49" charset="-122"/>
            </a:endParaRPr>
          </a:p>
        </p:txBody>
      </p:sp>
      <p:sp>
        <p:nvSpPr>
          <p:cNvPr id="2" name="矩形 1">
            <a:extLst>
              <a:ext uri="{FF2B5EF4-FFF2-40B4-BE49-F238E27FC236}">
                <a16:creationId xmlns:a16="http://schemas.microsoft.com/office/drawing/2014/main" id="{13EE465D-8779-9CEB-AF8C-476C63D3EA37}"/>
              </a:ext>
            </a:extLst>
          </p:cNvPr>
          <p:cNvSpPr/>
          <p:nvPr/>
        </p:nvSpPr>
        <p:spPr>
          <a:xfrm>
            <a:off x="124330" y="2498652"/>
            <a:ext cx="10067420" cy="1488558"/>
          </a:xfrm>
          <a:custGeom>
            <a:avLst/>
            <a:gdLst>
              <a:gd name="connsiteX0" fmla="*/ 0 w 10067420"/>
              <a:gd name="connsiteY0" fmla="*/ 0 h 1488558"/>
              <a:gd name="connsiteX1" fmla="*/ 390853 w 10067420"/>
              <a:gd name="connsiteY1" fmla="*/ 0 h 1488558"/>
              <a:gd name="connsiteX2" fmla="*/ 681031 w 10067420"/>
              <a:gd name="connsiteY2" fmla="*/ 0 h 1488558"/>
              <a:gd name="connsiteX3" fmla="*/ 1273233 w 10067420"/>
              <a:gd name="connsiteY3" fmla="*/ 0 h 1488558"/>
              <a:gd name="connsiteX4" fmla="*/ 2066782 w 10067420"/>
              <a:gd name="connsiteY4" fmla="*/ 0 h 1488558"/>
              <a:gd name="connsiteX5" fmla="*/ 2558309 w 10067420"/>
              <a:gd name="connsiteY5" fmla="*/ 0 h 1488558"/>
              <a:gd name="connsiteX6" fmla="*/ 3049836 w 10067420"/>
              <a:gd name="connsiteY6" fmla="*/ 0 h 1488558"/>
              <a:gd name="connsiteX7" fmla="*/ 3642037 w 10067420"/>
              <a:gd name="connsiteY7" fmla="*/ 0 h 1488558"/>
              <a:gd name="connsiteX8" fmla="*/ 4334913 w 10067420"/>
              <a:gd name="connsiteY8" fmla="*/ 0 h 1488558"/>
              <a:gd name="connsiteX9" fmla="*/ 5027788 w 10067420"/>
              <a:gd name="connsiteY9" fmla="*/ 0 h 1488558"/>
              <a:gd name="connsiteX10" fmla="*/ 5720663 w 10067420"/>
              <a:gd name="connsiteY10" fmla="*/ 0 h 1488558"/>
              <a:gd name="connsiteX11" fmla="*/ 6514213 w 10067420"/>
              <a:gd name="connsiteY11" fmla="*/ 0 h 1488558"/>
              <a:gd name="connsiteX12" fmla="*/ 7106414 w 10067420"/>
              <a:gd name="connsiteY12" fmla="*/ 0 h 1488558"/>
              <a:gd name="connsiteX13" fmla="*/ 7799289 w 10067420"/>
              <a:gd name="connsiteY13" fmla="*/ 0 h 1488558"/>
              <a:gd name="connsiteX14" fmla="*/ 8391491 w 10067420"/>
              <a:gd name="connsiteY14" fmla="*/ 0 h 1488558"/>
              <a:gd name="connsiteX15" fmla="*/ 8983692 w 10067420"/>
              <a:gd name="connsiteY15" fmla="*/ 0 h 1488558"/>
              <a:gd name="connsiteX16" fmla="*/ 10067420 w 10067420"/>
              <a:gd name="connsiteY16" fmla="*/ 0 h 1488558"/>
              <a:gd name="connsiteX17" fmla="*/ 10067420 w 10067420"/>
              <a:gd name="connsiteY17" fmla="*/ 451529 h 1488558"/>
              <a:gd name="connsiteX18" fmla="*/ 10067420 w 10067420"/>
              <a:gd name="connsiteY18" fmla="*/ 962601 h 1488558"/>
              <a:gd name="connsiteX19" fmla="*/ 10067420 w 10067420"/>
              <a:gd name="connsiteY19" fmla="*/ 1488558 h 1488558"/>
              <a:gd name="connsiteX20" fmla="*/ 9374545 w 10067420"/>
              <a:gd name="connsiteY20" fmla="*/ 1488558 h 1488558"/>
              <a:gd name="connsiteX21" fmla="*/ 8681669 w 10067420"/>
              <a:gd name="connsiteY21" fmla="*/ 1488558 h 1488558"/>
              <a:gd name="connsiteX22" fmla="*/ 8089468 w 10067420"/>
              <a:gd name="connsiteY22" fmla="*/ 1488558 h 1488558"/>
              <a:gd name="connsiteX23" fmla="*/ 7799289 w 10067420"/>
              <a:gd name="connsiteY23" fmla="*/ 1488558 h 1488558"/>
              <a:gd name="connsiteX24" fmla="*/ 7307763 w 10067420"/>
              <a:gd name="connsiteY24" fmla="*/ 1488558 h 1488558"/>
              <a:gd name="connsiteX25" fmla="*/ 6614887 w 10067420"/>
              <a:gd name="connsiteY25" fmla="*/ 1488558 h 1488558"/>
              <a:gd name="connsiteX26" fmla="*/ 6224034 w 10067420"/>
              <a:gd name="connsiteY26" fmla="*/ 1488558 h 1488558"/>
              <a:gd name="connsiteX27" fmla="*/ 5430485 w 10067420"/>
              <a:gd name="connsiteY27" fmla="*/ 1488558 h 1488558"/>
              <a:gd name="connsiteX28" fmla="*/ 4636935 w 10067420"/>
              <a:gd name="connsiteY28" fmla="*/ 1488558 h 1488558"/>
              <a:gd name="connsiteX29" fmla="*/ 4044734 w 10067420"/>
              <a:gd name="connsiteY29" fmla="*/ 1488558 h 1488558"/>
              <a:gd name="connsiteX30" fmla="*/ 3251184 w 10067420"/>
              <a:gd name="connsiteY30" fmla="*/ 1488558 h 1488558"/>
              <a:gd name="connsiteX31" fmla="*/ 2658983 w 10067420"/>
              <a:gd name="connsiteY31" fmla="*/ 1488558 h 1488558"/>
              <a:gd name="connsiteX32" fmla="*/ 1966108 w 10067420"/>
              <a:gd name="connsiteY32" fmla="*/ 1488558 h 1488558"/>
              <a:gd name="connsiteX33" fmla="*/ 1675929 w 10067420"/>
              <a:gd name="connsiteY33" fmla="*/ 1488558 h 1488558"/>
              <a:gd name="connsiteX34" fmla="*/ 882380 w 10067420"/>
              <a:gd name="connsiteY34" fmla="*/ 1488558 h 1488558"/>
              <a:gd name="connsiteX35" fmla="*/ 0 w 10067420"/>
              <a:gd name="connsiteY35" fmla="*/ 1488558 h 1488558"/>
              <a:gd name="connsiteX36" fmla="*/ 0 w 10067420"/>
              <a:gd name="connsiteY36" fmla="*/ 977486 h 1488558"/>
              <a:gd name="connsiteX37" fmla="*/ 0 w 10067420"/>
              <a:gd name="connsiteY37" fmla="*/ 511072 h 1488558"/>
              <a:gd name="connsiteX38" fmla="*/ 0 w 10067420"/>
              <a:gd name="connsiteY38" fmla="*/ 0 h 1488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0067420" h="1488558" fill="none" extrusionOk="0">
                <a:moveTo>
                  <a:pt x="0" y="0"/>
                </a:moveTo>
                <a:cubicBezTo>
                  <a:pt x="147127" y="-13188"/>
                  <a:pt x="280221" y="26614"/>
                  <a:pt x="390853" y="0"/>
                </a:cubicBezTo>
                <a:cubicBezTo>
                  <a:pt x="501485" y="-26614"/>
                  <a:pt x="541460" y="3474"/>
                  <a:pt x="681031" y="0"/>
                </a:cubicBezTo>
                <a:cubicBezTo>
                  <a:pt x="820602" y="-3474"/>
                  <a:pt x="1113627" y="5261"/>
                  <a:pt x="1273233" y="0"/>
                </a:cubicBezTo>
                <a:cubicBezTo>
                  <a:pt x="1432839" y="-5261"/>
                  <a:pt x="1728669" y="81963"/>
                  <a:pt x="2066782" y="0"/>
                </a:cubicBezTo>
                <a:cubicBezTo>
                  <a:pt x="2404895" y="-81963"/>
                  <a:pt x="2338035" y="3717"/>
                  <a:pt x="2558309" y="0"/>
                </a:cubicBezTo>
                <a:cubicBezTo>
                  <a:pt x="2778583" y="-3717"/>
                  <a:pt x="2839072" y="34405"/>
                  <a:pt x="3049836" y="0"/>
                </a:cubicBezTo>
                <a:cubicBezTo>
                  <a:pt x="3260600" y="-34405"/>
                  <a:pt x="3369109" y="34992"/>
                  <a:pt x="3642037" y="0"/>
                </a:cubicBezTo>
                <a:cubicBezTo>
                  <a:pt x="3914965" y="-34992"/>
                  <a:pt x="4120101" y="10476"/>
                  <a:pt x="4334913" y="0"/>
                </a:cubicBezTo>
                <a:cubicBezTo>
                  <a:pt x="4549725" y="-10476"/>
                  <a:pt x="4860348" y="64668"/>
                  <a:pt x="5027788" y="0"/>
                </a:cubicBezTo>
                <a:cubicBezTo>
                  <a:pt x="5195229" y="-64668"/>
                  <a:pt x="5502444" y="33377"/>
                  <a:pt x="5720663" y="0"/>
                </a:cubicBezTo>
                <a:cubicBezTo>
                  <a:pt x="5938882" y="-33377"/>
                  <a:pt x="6251040" y="32456"/>
                  <a:pt x="6514213" y="0"/>
                </a:cubicBezTo>
                <a:cubicBezTo>
                  <a:pt x="6777386" y="-32456"/>
                  <a:pt x="6979266" y="53671"/>
                  <a:pt x="7106414" y="0"/>
                </a:cubicBezTo>
                <a:cubicBezTo>
                  <a:pt x="7233562" y="-53671"/>
                  <a:pt x="7507881" y="56418"/>
                  <a:pt x="7799289" y="0"/>
                </a:cubicBezTo>
                <a:cubicBezTo>
                  <a:pt x="8090697" y="-56418"/>
                  <a:pt x="8147460" y="21126"/>
                  <a:pt x="8391491" y="0"/>
                </a:cubicBezTo>
                <a:cubicBezTo>
                  <a:pt x="8635522" y="-21126"/>
                  <a:pt x="8755463" y="19022"/>
                  <a:pt x="8983692" y="0"/>
                </a:cubicBezTo>
                <a:cubicBezTo>
                  <a:pt x="9211921" y="-19022"/>
                  <a:pt x="9711419" y="104930"/>
                  <a:pt x="10067420" y="0"/>
                </a:cubicBezTo>
                <a:cubicBezTo>
                  <a:pt x="10069105" y="185067"/>
                  <a:pt x="10043195" y="257069"/>
                  <a:pt x="10067420" y="451529"/>
                </a:cubicBezTo>
                <a:cubicBezTo>
                  <a:pt x="10091645" y="645989"/>
                  <a:pt x="10008448" y="765354"/>
                  <a:pt x="10067420" y="962601"/>
                </a:cubicBezTo>
                <a:cubicBezTo>
                  <a:pt x="10126392" y="1159848"/>
                  <a:pt x="10048749" y="1314701"/>
                  <a:pt x="10067420" y="1488558"/>
                </a:cubicBezTo>
                <a:cubicBezTo>
                  <a:pt x="9742087" y="1527457"/>
                  <a:pt x="9630421" y="1467565"/>
                  <a:pt x="9374545" y="1488558"/>
                </a:cubicBezTo>
                <a:cubicBezTo>
                  <a:pt x="9118670" y="1509551"/>
                  <a:pt x="8892870" y="1485115"/>
                  <a:pt x="8681669" y="1488558"/>
                </a:cubicBezTo>
                <a:cubicBezTo>
                  <a:pt x="8470468" y="1492001"/>
                  <a:pt x="8363245" y="1450073"/>
                  <a:pt x="8089468" y="1488558"/>
                </a:cubicBezTo>
                <a:cubicBezTo>
                  <a:pt x="7815691" y="1527043"/>
                  <a:pt x="7888356" y="1482399"/>
                  <a:pt x="7799289" y="1488558"/>
                </a:cubicBezTo>
                <a:cubicBezTo>
                  <a:pt x="7710222" y="1494717"/>
                  <a:pt x="7463082" y="1454298"/>
                  <a:pt x="7307763" y="1488558"/>
                </a:cubicBezTo>
                <a:cubicBezTo>
                  <a:pt x="7152444" y="1522818"/>
                  <a:pt x="6918179" y="1475056"/>
                  <a:pt x="6614887" y="1488558"/>
                </a:cubicBezTo>
                <a:cubicBezTo>
                  <a:pt x="6311595" y="1502060"/>
                  <a:pt x="6386411" y="1441668"/>
                  <a:pt x="6224034" y="1488558"/>
                </a:cubicBezTo>
                <a:cubicBezTo>
                  <a:pt x="6061657" y="1535448"/>
                  <a:pt x="5614502" y="1401148"/>
                  <a:pt x="5430485" y="1488558"/>
                </a:cubicBezTo>
                <a:cubicBezTo>
                  <a:pt x="5246468" y="1575968"/>
                  <a:pt x="4931239" y="1487652"/>
                  <a:pt x="4636935" y="1488558"/>
                </a:cubicBezTo>
                <a:cubicBezTo>
                  <a:pt x="4342631" y="1489464"/>
                  <a:pt x="4233279" y="1482081"/>
                  <a:pt x="4044734" y="1488558"/>
                </a:cubicBezTo>
                <a:cubicBezTo>
                  <a:pt x="3856189" y="1495035"/>
                  <a:pt x="3459932" y="1463142"/>
                  <a:pt x="3251184" y="1488558"/>
                </a:cubicBezTo>
                <a:cubicBezTo>
                  <a:pt x="3042436" y="1513974"/>
                  <a:pt x="2902854" y="1460795"/>
                  <a:pt x="2658983" y="1488558"/>
                </a:cubicBezTo>
                <a:cubicBezTo>
                  <a:pt x="2415112" y="1516321"/>
                  <a:pt x="2250591" y="1420889"/>
                  <a:pt x="1966108" y="1488558"/>
                </a:cubicBezTo>
                <a:cubicBezTo>
                  <a:pt x="1681625" y="1556227"/>
                  <a:pt x="1775372" y="1486846"/>
                  <a:pt x="1675929" y="1488558"/>
                </a:cubicBezTo>
                <a:cubicBezTo>
                  <a:pt x="1576486" y="1490270"/>
                  <a:pt x="1276541" y="1394642"/>
                  <a:pt x="882380" y="1488558"/>
                </a:cubicBezTo>
                <a:cubicBezTo>
                  <a:pt x="488219" y="1582474"/>
                  <a:pt x="192360" y="1426661"/>
                  <a:pt x="0" y="1488558"/>
                </a:cubicBezTo>
                <a:cubicBezTo>
                  <a:pt x="-45098" y="1346651"/>
                  <a:pt x="6466" y="1178104"/>
                  <a:pt x="0" y="977486"/>
                </a:cubicBezTo>
                <a:cubicBezTo>
                  <a:pt x="-6466" y="776868"/>
                  <a:pt x="14824" y="648827"/>
                  <a:pt x="0" y="511072"/>
                </a:cubicBezTo>
                <a:cubicBezTo>
                  <a:pt x="-14824" y="373317"/>
                  <a:pt x="59771" y="208778"/>
                  <a:pt x="0" y="0"/>
                </a:cubicBezTo>
                <a:close/>
              </a:path>
              <a:path w="10067420" h="1488558" stroke="0" extrusionOk="0">
                <a:moveTo>
                  <a:pt x="0" y="0"/>
                </a:moveTo>
                <a:cubicBezTo>
                  <a:pt x="195505" y="-17590"/>
                  <a:pt x="375612" y="5294"/>
                  <a:pt x="491527" y="0"/>
                </a:cubicBezTo>
                <a:cubicBezTo>
                  <a:pt x="607442" y="-5294"/>
                  <a:pt x="672950" y="3614"/>
                  <a:pt x="781706" y="0"/>
                </a:cubicBezTo>
                <a:cubicBezTo>
                  <a:pt x="890462" y="-3614"/>
                  <a:pt x="1369495" y="62573"/>
                  <a:pt x="1575255" y="0"/>
                </a:cubicBezTo>
                <a:cubicBezTo>
                  <a:pt x="1781015" y="-62573"/>
                  <a:pt x="1842222" y="13847"/>
                  <a:pt x="2066782" y="0"/>
                </a:cubicBezTo>
                <a:cubicBezTo>
                  <a:pt x="2291342" y="-13847"/>
                  <a:pt x="2388339" y="41037"/>
                  <a:pt x="2558309" y="0"/>
                </a:cubicBezTo>
                <a:cubicBezTo>
                  <a:pt x="2728279" y="-41037"/>
                  <a:pt x="3011310" y="22273"/>
                  <a:pt x="3351859" y="0"/>
                </a:cubicBezTo>
                <a:cubicBezTo>
                  <a:pt x="3692408" y="-22273"/>
                  <a:pt x="3610946" y="35118"/>
                  <a:pt x="3742711" y="0"/>
                </a:cubicBezTo>
                <a:cubicBezTo>
                  <a:pt x="3874476" y="-35118"/>
                  <a:pt x="4339325" y="44865"/>
                  <a:pt x="4536261" y="0"/>
                </a:cubicBezTo>
                <a:cubicBezTo>
                  <a:pt x="4733197" y="-44865"/>
                  <a:pt x="5163931" y="89443"/>
                  <a:pt x="5329811" y="0"/>
                </a:cubicBezTo>
                <a:cubicBezTo>
                  <a:pt x="5495691" y="-89443"/>
                  <a:pt x="5670930" y="14367"/>
                  <a:pt x="5922012" y="0"/>
                </a:cubicBezTo>
                <a:cubicBezTo>
                  <a:pt x="6173094" y="-14367"/>
                  <a:pt x="6433818" y="5020"/>
                  <a:pt x="6715561" y="0"/>
                </a:cubicBezTo>
                <a:cubicBezTo>
                  <a:pt x="6997304" y="-5020"/>
                  <a:pt x="7070839" y="37113"/>
                  <a:pt x="7207088" y="0"/>
                </a:cubicBezTo>
                <a:cubicBezTo>
                  <a:pt x="7343337" y="-37113"/>
                  <a:pt x="7565505" y="56164"/>
                  <a:pt x="7698615" y="0"/>
                </a:cubicBezTo>
                <a:cubicBezTo>
                  <a:pt x="7831725" y="-56164"/>
                  <a:pt x="8067573" y="11673"/>
                  <a:pt x="8391491" y="0"/>
                </a:cubicBezTo>
                <a:cubicBezTo>
                  <a:pt x="8715409" y="-11673"/>
                  <a:pt x="8676286" y="4247"/>
                  <a:pt x="8883018" y="0"/>
                </a:cubicBezTo>
                <a:cubicBezTo>
                  <a:pt x="9089750" y="-4247"/>
                  <a:pt x="9654916" y="53611"/>
                  <a:pt x="10067420" y="0"/>
                </a:cubicBezTo>
                <a:cubicBezTo>
                  <a:pt x="10097713" y="148476"/>
                  <a:pt x="10040660" y="318533"/>
                  <a:pt x="10067420" y="525957"/>
                </a:cubicBezTo>
                <a:cubicBezTo>
                  <a:pt x="10094180" y="733381"/>
                  <a:pt x="10014676" y="864886"/>
                  <a:pt x="10067420" y="1037029"/>
                </a:cubicBezTo>
                <a:cubicBezTo>
                  <a:pt x="10120164" y="1209172"/>
                  <a:pt x="10040720" y="1308641"/>
                  <a:pt x="10067420" y="1488558"/>
                </a:cubicBezTo>
                <a:cubicBezTo>
                  <a:pt x="9954376" y="1493337"/>
                  <a:pt x="9855483" y="1471601"/>
                  <a:pt x="9777241" y="1488558"/>
                </a:cubicBezTo>
                <a:cubicBezTo>
                  <a:pt x="9698999" y="1505515"/>
                  <a:pt x="9327374" y="1439945"/>
                  <a:pt x="8983692" y="1488558"/>
                </a:cubicBezTo>
                <a:cubicBezTo>
                  <a:pt x="8640010" y="1537171"/>
                  <a:pt x="8509942" y="1427303"/>
                  <a:pt x="8391491" y="1488558"/>
                </a:cubicBezTo>
                <a:cubicBezTo>
                  <a:pt x="8273040" y="1549813"/>
                  <a:pt x="8100651" y="1445028"/>
                  <a:pt x="8000638" y="1488558"/>
                </a:cubicBezTo>
                <a:cubicBezTo>
                  <a:pt x="7900625" y="1532088"/>
                  <a:pt x="7652357" y="1432972"/>
                  <a:pt x="7408437" y="1488558"/>
                </a:cubicBezTo>
                <a:cubicBezTo>
                  <a:pt x="7164517" y="1544144"/>
                  <a:pt x="7185934" y="1459775"/>
                  <a:pt x="7118258" y="1488558"/>
                </a:cubicBezTo>
                <a:cubicBezTo>
                  <a:pt x="7050582" y="1517341"/>
                  <a:pt x="6887029" y="1483067"/>
                  <a:pt x="6828080" y="1488558"/>
                </a:cubicBezTo>
                <a:cubicBezTo>
                  <a:pt x="6769131" y="1494049"/>
                  <a:pt x="6432532" y="1466356"/>
                  <a:pt x="6235878" y="1488558"/>
                </a:cubicBezTo>
                <a:cubicBezTo>
                  <a:pt x="6039224" y="1510760"/>
                  <a:pt x="6032901" y="1472730"/>
                  <a:pt x="5845026" y="1488558"/>
                </a:cubicBezTo>
                <a:cubicBezTo>
                  <a:pt x="5657151" y="1504386"/>
                  <a:pt x="5490446" y="1452492"/>
                  <a:pt x="5152150" y="1488558"/>
                </a:cubicBezTo>
                <a:cubicBezTo>
                  <a:pt x="4813854" y="1524624"/>
                  <a:pt x="4908818" y="1443185"/>
                  <a:pt x="4761297" y="1488558"/>
                </a:cubicBezTo>
                <a:cubicBezTo>
                  <a:pt x="4613776" y="1533931"/>
                  <a:pt x="4372658" y="1419702"/>
                  <a:pt x="4068422" y="1488558"/>
                </a:cubicBezTo>
                <a:cubicBezTo>
                  <a:pt x="3764187" y="1557414"/>
                  <a:pt x="3908310" y="1476899"/>
                  <a:pt x="3778244" y="1488558"/>
                </a:cubicBezTo>
                <a:cubicBezTo>
                  <a:pt x="3648178" y="1500217"/>
                  <a:pt x="3343632" y="1467495"/>
                  <a:pt x="3085368" y="1488558"/>
                </a:cubicBezTo>
                <a:cubicBezTo>
                  <a:pt x="2827104" y="1509621"/>
                  <a:pt x="2805796" y="1442218"/>
                  <a:pt x="2694515" y="1488558"/>
                </a:cubicBezTo>
                <a:cubicBezTo>
                  <a:pt x="2583234" y="1534898"/>
                  <a:pt x="2518184" y="1468895"/>
                  <a:pt x="2404337" y="1488558"/>
                </a:cubicBezTo>
                <a:cubicBezTo>
                  <a:pt x="2290490" y="1508221"/>
                  <a:pt x="2182747" y="1450626"/>
                  <a:pt x="2013484" y="1488558"/>
                </a:cubicBezTo>
                <a:cubicBezTo>
                  <a:pt x="1844221" y="1526490"/>
                  <a:pt x="1601013" y="1422517"/>
                  <a:pt x="1320609" y="1488558"/>
                </a:cubicBezTo>
                <a:cubicBezTo>
                  <a:pt x="1040205" y="1554599"/>
                  <a:pt x="1029166" y="1454924"/>
                  <a:pt x="929756" y="1488558"/>
                </a:cubicBezTo>
                <a:cubicBezTo>
                  <a:pt x="830346" y="1522192"/>
                  <a:pt x="764002" y="1483868"/>
                  <a:pt x="639577" y="1488558"/>
                </a:cubicBezTo>
                <a:cubicBezTo>
                  <a:pt x="515152" y="1493248"/>
                  <a:pt x="205197" y="1430660"/>
                  <a:pt x="0" y="1488558"/>
                </a:cubicBezTo>
                <a:cubicBezTo>
                  <a:pt x="-57206" y="1322768"/>
                  <a:pt x="24456" y="1189846"/>
                  <a:pt x="0" y="1007258"/>
                </a:cubicBezTo>
                <a:cubicBezTo>
                  <a:pt x="-24456" y="824670"/>
                  <a:pt x="53467" y="657420"/>
                  <a:pt x="0" y="555728"/>
                </a:cubicBezTo>
                <a:cubicBezTo>
                  <a:pt x="-53467" y="454036"/>
                  <a:pt x="47145" y="202172"/>
                  <a:pt x="0" y="0"/>
                </a:cubicBezTo>
                <a:close/>
              </a:path>
            </a:pathLst>
          </a:custGeom>
          <a:solidFill>
            <a:schemeClr val="accent1">
              <a:lumMod val="20000"/>
              <a:lumOff val="80000"/>
              <a:alpha val="22000"/>
            </a:schemeClr>
          </a:solidFill>
          <a:ln w="34925">
            <a:solidFill>
              <a:srgbClr val="00B0F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文本框 5">
            <a:extLst>
              <a:ext uri="{FF2B5EF4-FFF2-40B4-BE49-F238E27FC236}">
                <a16:creationId xmlns:a16="http://schemas.microsoft.com/office/drawing/2014/main" id="{3152939C-E51B-E0CE-AE8C-CAD66F379A27}"/>
              </a:ext>
            </a:extLst>
          </p:cNvPr>
          <p:cNvSpPr txBox="1"/>
          <p:nvPr/>
        </p:nvSpPr>
        <p:spPr>
          <a:xfrm>
            <a:off x="6839098" y="4252978"/>
            <a:ext cx="4235301" cy="1384995"/>
          </a:xfrm>
          <a:prstGeom prst="rect">
            <a:avLst/>
          </a:prstGeom>
          <a:solidFill>
            <a:schemeClr val="accent1">
              <a:lumMod val="20000"/>
              <a:lumOff val="80000"/>
            </a:schemeClr>
          </a:solidFill>
        </p:spPr>
        <p:txBody>
          <a:bodyPr wrap="square" rtlCol="0">
            <a:spAutoFit/>
          </a:bodyPr>
          <a:lstStyle/>
          <a:p>
            <a:r>
              <a:rPr lang="zh-CN" altLang="en-US" sz="2800" b="1" dirty="0">
                <a:solidFill>
                  <a:srgbClr val="00B0F0"/>
                </a:solidFill>
                <a:latin typeface="华文细黑" panose="02010600040101010101" pitchFamily="2" charset="-122"/>
                <a:ea typeface="华文细黑" panose="02010600040101010101" pitchFamily="2" charset="-122"/>
              </a:rPr>
              <a:t>告诉计算机：</a:t>
            </a:r>
            <a:endParaRPr lang="en-US" altLang="zh-CN" sz="2800" b="1" dirty="0">
              <a:solidFill>
                <a:srgbClr val="00B0F0"/>
              </a:solidFill>
              <a:latin typeface="华文细黑" panose="02010600040101010101" pitchFamily="2" charset="-122"/>
              <a:ea typeface="华文细黑" panose="02010600040101010101" pitchFamily="2" charset="-122"/>
            </a:endParaRPr>
          </a:p>
          <a:p>
            <a:pPr marL="514350" indent="-514350">
              <a:buFont typeface="+mj-ea"/>
              <a:buAutoNum type="circleNumDbPlain"/>
            </a:pPr>
            <a:r>
              <a:rPr lang="zh-CN" altLang="en-US" sz="2800" b="1" dirty="0">
                <a:solidFill>
                  <a:srgbClr val="00B0F0"/>
                </a:solidFill>
                <a:latin typeface="华文细黑" panose="02010600040101010101" pitchFamily="2" charset="-122"/>
                <a:ea typeface="华文细黑" panose="02010600040101010101" pitchFamily="2" charset="-122"/>
              </a:rPr>
              <a:t>元件</a:t>
            </a:r>
            <a:endParaRPr lang="en-US" altLang="zh-CN" sz="2800" b="1" dirty="0">
              <a:solidFill>
                <a:srgbClr val="00B0F0"/>
              </a:solidFill>
              <a:latin typeface="华文细黑" panose="02010600040101010101" pitchFamily="2" charset="-122"/>
              <a:ea typeface="华文细黑" panose="02010600040101010101" pitchFamily="2" charset="-122"/>
            </a:endParaRPr>
          </a:p>
          <a:p>
            <a:pPr marL="514350" indent="-514350">
              <a:buFont typeface="+mj-ea"/>
              <a:buAutoNum type="circleNumDbPlain"/>
            </a:pPr>
            <a:r>
              <a:rPr lang="zh-CN" altLang="en-US" sz="2800" b="1" dirty="0">
                <a:solidFill>
                  <a:srgbClr val="00B0F0"/>
                </a:solidFill>
                <a:latin typeface="华文细黑" panose="02010600040101010101" pitchFamily="2" charset="-122"/>
                <a:ea typeface="华文细黑" panose="02010600040101010101" pitchFamily="2" charset="-122"/>
              </a:rPr>
              <a:t>电气连接关系</a:t>
            </a:r>
          </a:p>
        </p:txBody>
      </p:sp>
    </p:spTree>
    <p:extLst>
      <p:ext uri="{BB962C8B-B14F-4D97-AF65-F5344CB8AC3E}">
        <p14:creationId xmlns:p14="http://schemas.microsoft.com/office/powerpoint/2010/main" val="13521554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B24FE-2417-604C-296D-93C0AD2C4084}"/>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69442C67-8545-7DD1-170B-F451FC248A96}"/>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7C053340-0D71-E59D-946B-1EBE52147314}"/>
              </a:ext>
            </a:extLst>
          </p:cNvPr>
          <p:cNvSpPr txBox="1"/>
          <p:nvPr/>
        </p:nvSpPr>
        <p:spPr>
          <a:xfrm>
            <a:off x="541079" y="608842"/>
            <a:ext cx="1066263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电路的载体形式②</a:t>
            </a:r>
          </a:p>
        </p:txBody>
      </p:sp>
      <p:sp>
        <p:nvSpPr>
          <p:cNvPr id="3" name="文本框 2">
            <a:extLst>
              <a:ext uri="{FF2B5EF4-FFF2-40B4-BE49-F238E27FC236}">
                <a16:creationId xmlns:a16="http://schemas.microsoft.com/office/drawing/2014/main" id="{D250BF10-FC56-369C-E643-F1BADBBBF001}"/>
              </a:ext>
            </a:extLst>
          </p:cNvPr>
          <p:cNvSpPr txBox="1"/>
          <p:nvPr/>
        </p:nvSpPr>
        <p:spPr>
          <a:xfrm>
            <a:off x="124331" y="1428328"/>
            <a:ext cx="11679742" cy="5678478"/>
          </a:xfrm>
          <a:prstGeom prst="rect">
            <a:avLst/>
          </a:prstGeom>
          <a:noFill/>
        </p:spPr>
        <p:txBody>
          <a:bodyPr wrap="square">
            <a:spAutoFit/>
          </a:bodyPr>
          <a:lstStyle/>
          <a:p>
            <a:pPr>
              <a:spcAft>
                <a:spcPts val="3600"/>
              </a:spcAft>
            </a:pPr>
            <a:r>
              <a:rPr lang="en-US" altLang="zh-CN" sz="3600" dirty="0">
                <a:latin typeface="黑体" panose="02010609060101010101" pitchFamily="49" charset="-122"/>
                <a:ea typeface="黑体" panose="02010609060101010101" pitchFamily="49" charset="-122"/>
              </a:rPr>
              <a:t>PCB</a:t>
            </a:r>
            <a:r>
              <a:rPr lang="zh-CN" altLang="en-US" sz="3600" dirty="0">
                <a:latin typeface="黑体" panose="02010609060101010101" pitchFamily="49" charset="-122"/>
                <a:ea typeface="黑体" panose="02010609060101010101" pitchFamily="49" charset="-122"/>
              </a:rPr>
              <a:t>设计流程：</a:t>
            </a:r>
            <a:endParaRPr lang="en-US" altLang="zh-CN" sz="3600" dirty="0">
              <a:latin typeface="黑体" panose="02010609060101010101" pitchFamily="49" charset="-122"/>
              <a:ea typeface="黑体" panose="02010609060101010101" pitchFamily="49" charset="-122"/>
            </a:endParaRPr>
          </a:p>
          <a:p>
            <a:pPr marL="72000">
              <a:spcAft>
                <a:spcPts val="1800"/>
              </a:spcAft>
            </a:pPr>
            <a:r>
              <a:rPr lang="en-US" altLang="zh-CN" sz="3600" dirty="0">
                <a:latin typeface="黑体" panose="02010609060101010101" pitchFamily="49" charset="-122"/>
                <a:ea typeface="黑体" panose="02010609060101010101" pitchFamily="49" charset="-122"/>
              </a:rPr>
              <a:t>3. </a:t>
            </a:r>
            <a:r>
              <a:rPr lang="zh-CN" altLang="en-US" sz="3600" dirty="0">
                <a:latin typeface="黑体" panose="02010609060101010101" pitchFamily="49" charset="-122"/>
                <a:ea typeface="黑体" panose="02010609060101010101" pitchFamily="49" charset="-122"/>
              </a:rPr>
              <a:t>电路板布局</a:t>
            </a:r>
            <a:endParaRPr lang="en-US" altLang="zh-CN" sz="3600" dirty="0">
              <a:latin typeface="黑体" panose="02010609060101010101" pitchFamily="49" charset="-122"/>
              <a:ea typeface="黑体" panose="02010609060101010101" pitchFamily="49" charset="-122"/>
            </a:endParaRPr>
          </a:p>
          <a:p>
            <a:pPr marL="643500" indent="-571500">
              <a:spcAft>
                <a:spcPts val="1200"/>
              </a:spcAft>
              <a:buFont typeface="Arial" panose="020B0604020202020204" pitchFamily="34" charset="0"/>
              <a:buChar char="•"/>
            </a:pPr>
            <a:r>
              <a:rPr lang="zh-CN" altLang="en-US" sz="3600" dirty="0">
                <a:latin typeface="黑体" panose="02010609060101010101" pitchFamily="49" charset="-122"/>
                <a:ea typeface="黑体" panose="02010609060101010101" pitchFamily="49" charset="-122"/>
              </a:rPr>
              <a:t>在原理图绘制阶段代表的元件符号将以实际元件物理尺寸的形式显示；</a:t>
            </a:r>
            <a:endParaRPr lang="en-US" altLang="zh-CN" sz="3600" dirty="0">
              <a:latin typeface="黑体" panose="02010609060101010101" pitchFamily="49" charset="-122"/>
              <a:ea typeface="黑体" panose="02010609060101010101" pitchFamily="49" charset="-122"/>
            </a:endParaRPr>
          </a:p>
          <a:p>
            <a:pPr marL="643500" indent="-571500">
              <a:spcAft>
                <a:spcPts val="1200"/>
              </a:spcAft>
              <a:buFont typeface="Arial" panose="020B0604020202020204" pitchFamily="34" charset="0"/>
              <a:buChar char="•"/>
            </a:pPr>
            <a:r>
              <a:rPr lang="zh-CN" altLang="en-US" sz="3600" dirty="0">
                <a:latin typeface="黑体" panose="02010609060101010101" pitchFamily="49" charset="-122"/>
                <a:ea typeface="黑体" panose="02010609060101010101" pitchFamily="49" charset="-122"/>
              </a:rPr>
              <a:t>设计元件的摆放位置和引脚间连线的走布；</a:t>
            </a:r>
            <a:endParaRPr lang="en-US" altLang="zh-CN" sz="3600" dirty="0">
              <a:latin typeface="黑体" panose="02010609060101010101" pitchFamily="49" charset="-122"/>
              <a:ea typeface="黑体" panose="02010609060101010101" pitchFamily="49" charset="-122"/>
            </a:endParaRPr>
          </a:p>
          <a:p>
            <a:pPr marL="643500" indent="-571500">
              <a:spcAft>
                <a:spcPts val="1200"/>
              </a:spcAft>
              <a:buFont typeface="Arial" panose="020B0604020202020204" pitchFamily="34" charset="0"/>
              <a:buChar char="•"/>
            </a:pPr>
            <a:r>
              <a:rPr lang="zh-CN" altLang="en-US" sz="3600" dirty="0">
                <a:latin typeface="黑体" panose="02010609060101010101" pitchFamily="49" charset="-122"/>
                <a:ea typeface="黑体" panose="02010609060101010101" pitchFamily="49" charset="-122"/>
              </a:rPr>
              <a:t>现在的</a:t>
            </a:r>
            <a:r>
              <a:rPr lang="en-US" altLang="zh-CN" sz="3600" dirty="0">
                <a:latin typeface="黑体" panose="02010609060101010101" pitchFamily="49" charset="-122"/>
                <a:ea typeface="黑体" panose="02010609060101010101" pitchFamily="49" charset="-122"/>
              </a:rPr>
              <a:t>EDA</a:t>
            </a:r>
            <a:r>
              <a:rPr lang="zh-CN" altLang="en-US" sz="3600" dirty="0">
                <a:latin typeface="黑体" panose="02010609060101010101" pitchFamily="49" charset="-122"/>
                <a:ea typeface="黑体" panose="02010609060101010101" pitchFamily="49" charset="-122"/>
              </a:rPr>
              <a:t>工具可以进行自动放置和电路板布线，但关键元件和组件必须由经验丰富的工程师手动处理，并进行额外审查，以确保设计的性能和稳定性。</a:t>
            </a:r>
            <a:endParaRPr lang="en-US" altLang="zh-CN" sz="3600" dirty="0">
              <a:latin typeface="黑体" panose="02010609060101010101" pitchFamily="49" charset="-122"/>
              <a:ea typeface="黑体" panose="02010609060101010101" pitchFamily="49" charset="-122"/>
            </a:endParaRPr>
          </a:p>
        </p:txBody>
      </p:sp>
      <p:sp>
        <p:nvSpPr>
          <p:cNvPr id="7" name="文本框 6">
            <a:extLst>
              <a:ext uri="{FF2B5EF4-FFF2-40B4-BE49-F238E27FC236}">
                <a16:creationId xmlns:a16="http://schemas.microsoft.com/office/drawing/2014/main" id="{D326C171-374D-6F03-6BD0-C20DAB1BCA1D}"/>
              </a:ext>
            </a:extLst>
          </p:cNvPr>
          <p:cNvSpPr txBox="1"/>
          <p:nvPr/>
        </p:nvSpPr>
        <p:spPr>
          <a:xfrm>
            <a:off x="7568773" y="1625892"/>
            <a:ext cx="3912028" cy="1384995"/>
          </a:xfrm>
          <a:prstGeom prst="rect">
            <a:avLst/>
          </a:prstGeom>
          <a:solidFill>
            <a:schemeClr val="accent1">
              <a:lumMod val="20000"/>
              <a:lumOff val="80000"/>
            </a:schemeClr>
          </a:solidFill>
        </p:spPr>
        <p:txBody>
          <a:bodyPr wrap="square" rtlCol="0">
            <a:spAutoFit/>
          </a:bodyPr>
          <a:lstStyle/>
          <a:p>
            <a:r>
              <a:rPr lang="zh-CN" altLang="en-US" sz="2800" b="1" dirty="0">
                <a:solidFill>
                  <a:srgbClr val="00B0F0"/>
                </a:solidFill>
                <a:latin typeface="华文细黑" panose="02010600040101010101" pitchFamily="2" charset="-122"/>
                <a:ea typeface="华文细黑" panose="02010600040101010101" pitchFamily="2" charset="-122"/>
              </a:rPr>
              <a:t>告诉计算机：在</a:t>
            </a:r>
            <a:r>
              <a:rPr lang="en-US" altLang="zh-CN" sz="2800" b="1" dirty="0">
                <a:solidFill>
                  <a:srgbClr val="00B0F0"/>
                </a:solidFill>
                <a:latin typeface="华文细黑" panose="02010600040101010101" pitchFamily="2" charset="-122"/>
                <a:ea typeface="华文细黑" panose="02010600040101010101" pitchFamily="2" charset="-122"/>
              </a:rPr>
              <a:t>PCB</a:t>
            </a:r>
            <a:r>
              <a:rPr lang="zh-CN" altLang="en-US" sz="2800" b="1" dirty="0">
                <a:solidFill>
                  <a:srgbClr val="00B0F0"/>
                </a:solidFill>
                <a:latin typeface="华文细黑" panose="02010600040101010101" pitchFamily="2" charset="-122"/>
                <a:ea typeface="华文细黑" panose="02010600040101010101" pitchFamily="2" charset="-122"/>
              </a:rPr>
              <a:t>上</a:t>
            </a:r>
            <a:endParaRPr lang="en-US" altLang="zh-CN" sz="2800" b="1" dirty="0">
              <a:solidFill>
                <a:srgbClr val="00B0F0"/>
              </a:solidFill>
              <a:latin typeface="华文细黑" panose="02010600040101010101" pitchFamily="2" charset="-122"/>
              <a:ea typeface="华文细黑" panose="02010600040101010101" pitchFamily="2" charset="-122"/>
            </a:endParaRPr>
          </a:p>
          <a:p>
            <a:pPr marL="514350" indent="-514350">
              <a:buFont typeface="+mj-ea"/>
              <a:buAutoNum type="circleNumDbPlain"/>
            </a:pPr>
            <a:r>
              <a:rPr lang="zh-CN" altLang="en-US" sz="2800" b="1" dirty="0">
                <a:solidFill>
                  <a:srgbClr val="00B0F0"/>
                </a:solidFill>
                <a:latin typeface="华文细黑" panose="02010600040101010101" pitchFamily="2" charset="-122"/>
                <a:ea typeface="华文细黑" panose="02010600040101010101" pitchFamily="2" charset="-122"/>
              </a:rPr>
              <a:t>元件的摆放位置</a:t>
            </a:r>
            <a:endParaRPr lang="en-US" altLang="zh-CN" sz="2800" b="1" dirty="0">
              <a:solidFill>
                <a:srgbClr val="00B0F0"/>
              </a:solidFill>
              <a:latin typeface="华文细黑" panose="02010600040101010101" pitchFamily="2" charset="-122"/>
              <a:ea typeface="华文细黑" panose="02010600040101010101" pitchFamily="2" charset="-122"/>
            </a:endParaRPr>
          </a:p>
          <a:p>
            <a:pPr marL="514350" indent="-514350">
              <a:buFont typeface="+mj-ea"/>
              <a:buAutoNum type="circleNumDbPlain"/>
            </a:pPr>
            <a:r>
              <a:rPr lang="zh-CN" altLang="en-US" sz="2800" b="1" dirty="0">
                <a:solidFill>
                  <a:srgbClr val="00B0F0"/>
                </a:solidFill>
                <a:latin typeface="华文细黑" panose="02010600040101010101" pitchFamily="2" charset="-122"/>
                <a:ea typeface="华文细黑" panose="02010600040101010101" pitchFamily="2" charset="-122"/>
              </a:rPr>
              <a:t>导线如何走线</a:t>
            </a:r>
          </a:p>
        </p:txBody>
      </p:sp>
    </p:spTree>
    <p:extLst>
      <p:ext uri="{BB962C8B-B14F-4D97-AF65-F5344CB8AC3E}">
        <p14:creationId xmlns:p14="http://schemas.microsoft.com/office/powerpoint/2010/main" val="19768429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CA50E-8DE9-E9E0-760A-4334EC070425}"/>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3963E475-C09B-457B-DAD3-08EC9C8278F9}"/>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A032794B-F348-FAFB-A58B-D5C1ECE3B109}"/>
              </a:ext>
            </a:extLst>
          </p:cNvPr>
          <p:cNvSpPr txBox="1"/>
          <p:nvPr/>
        </p:nvSpPr>
        <p:spPr>
          <a:xfrm>
            <a:off x="541079" y="608842"/>
            <a:ext cx="1066263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电路的载体形式②</a:t>
            </a:r>
          </a:p>
        </p:txBody>
      </p:sp>
      <p:sp>
        <p:nvSpPr>
          <p:cNvPr id="3" name="文本框 2">
            <a:extLst>
              <a:ext uri="{FF2B5EF4-FFF2-40B4-BE49-F238E27FC236}">
                <a16:creationId xmlns:a16="http://schemas.microsoft.com/office/drawing/2014/main" id="{B382CF2C-F75C-C001-C49C-162E02C599E4}"/>
              </a:ext>
            </a:extLst>
          </p:cNvPr>
          <p:cNvSpPr txBox="1"/>
          <p:nvPr/>
        </p:nvSpPr>
        <p:spPr>
          <a:xfrm>
            <a:off x="124331" y="1428328"/>
            <a:ext cx="11679742" cy="4339650"/>
          </a:xfrm>
          <a:prstGeom prst="rect">
            <a:avLst/>
          </a:prstGeom>
          <a:noFill/>
        </p:spPr>
        <p:txBody>
          <a:bodyPr wrap="square">
            <a:spAutoFit/>
          </a:bodyPr>
          <a:lstStyle/>
          <a:p>
            <a:pPr>
              <a:spcAft>
                <a:spcPts val="3600"/>
              </a:spcAft>
            </a:pPr>
            <a:r>
              <a:rPr lang="en-US" altLang="zh-CN" sz="3600" dirty="0">
                <a:latin typeface="黑体" panose="02010609060101010101" pitchFamily="49" charset="-122"/>
                <a:ea typeface="黑体" panose="02010609060101010101" pitchFamily="49" charset="-122"/>
              </a:rPr>
              <a:t>PCB</a:t>
            </a:r>
            <a:r>
              <a:rPr lang="zh-CN" altLang="en-US" sz="3600" dirty="0">
                <a:latin typeface="黑体" panose="02010609060101010101" pitchFamily="49" charset="-122"/>
                <a:ea typeface="黑体" panose="02010609060101010101" pitchFamily="49" charset="-122"/>
              </a:rPr>
              <a:t>设计流程：</a:t>
            </a:r>
            <a:endParaRPr lang="en-US" altLang="zh-CN" sz="3600" dirty="0">
              <a:latin typeface="黑体" panose="02010609060101010101" pitchFamily="49" charset="-122"/>
              <a:ea typeface="黑体" panose="02010609060101010101" pitchFamily="49" charset="-122"/>
            </a:endParaRPr>
          </a:p>
          <a:p>
            <a:pPr>
              <a:spcAft>
                <a:spcPts val="1800"/>
              </a:spcAft>
            </a:pPr>
            <a:r>
              <a:rPr lang="en-US" altLang="zh-CN" sz="3600" dirty="0">
                <a:latin typeface="黑体" panose="02010609060101010101" pitchFamily="49" charset="-122"/>
                <a:ea typeface="黑体" panose="02010609060101010101" pitchFamily="49" charset="-122"/>
              </a:rPr>
              <a:t>4.</a:t>
            </a:r>
            <a:r>
              <a:rPr lang="zh-CN" altLang="en-US" sz="3600" dirty="0">
                <a:latin typeface="黑体" panose="02010609060101010101" pitchFamily="49" charset="-122"/>
                <a:ea typeface="黑体" panose="02010609060101010101" pitchFamily="49" charset="-122"/>
              </a:rPr>
              <a:t>电路板验证和确认：</a:t>
            </a:r>
            <a:r>
              <a:rPr lang="zh-CN" altLang="en-US" sz="3600" dirty="0">
                <a:solidFill>
                  <a:srgbClr val="003F88"/>
                </a:solidFill>
                <a:latin typeface="黑体" panose="02010609060101010101" pitchFamily="49" charset="-122"/>
                <a:ea typeface="黑体" panose="02010609060101010101" pitchFamily="49" charset="-122"/>
              </a:rPr>
              <a:t>原型测试</a:t>
            </a:r>
            <a:r>
              <a:rPr lang="zh-CN" altLang="en-US" sz="3600" dirty="0">
                <a:latin typeface="黑体" panose="02010609060101010101" pitchFamily="49" charset="-122"/>
                <a:ea typeface="黑体" panose="02010609060101010101" pitchFamily="49" charset="-122"/>
              </a:rPr>
              <a:t>和</a:t>
            </a:r>
            <a:r>
              <a:rPr lang="zh-CN" altLang="en-US" sz="3600" dirty="0">
                <a:solidFill>
                  <a:srgbClr val="003F88"/>
                </a:solidFill>
                <a:latin typeface="黑体" panose="02010609060101010101" pitchFamily="49" charset="-122"/>
                <a:ea typeface="黑体" panose="02010609060101010101" pitchFamily="49" charset="-122"/>
              </a:rPr>
              <a:t>制造测试</a:t>
            </a:r>
            <a:r>
              <a:rPr lang="zh-CN" altLang="en-US" sz="3600" dirty="0">
                <a:latin typeface="黑体" panose="02010609060101010101" pitchFamily="49" charset="-122"/>
                <a:ea typeface="黑体" panose="02010609060101010101" pitchFamily="49" charset="-122"/>
              </a:rPr>
              <a:t>是</a:t>
            </a:r>
            <a:r>
              <a:rPr lang="en-US" altLang="zh-CN" sz="3600" dirty="0">
                <a:latin typeface="黑体" panose="02010609060101010101" pitchFamily="49" charset="-122"/>
                <a:ea typeface="黑体" panose="02010609060101010101" pitchFamily="49" charset="-122"/>
              </a:rPr>
              <a:t>PCB</a:t>
            </a:r>
            <a:r>
              <a:rPr lang="zh-CN" altLang="en-US" sz="3600" dirty="0">
                <a:latin typeface="黑体" panose="02010609060101010101" pitchFamily="49" charset="-122"/>
                <a:ea typeface="黑体" panose="02010609060101010101" pitchFamily="49" charset="-122"/>
              </a:rPr>
              <a:t>验证的最后步骤</a:t>
            </a:r>
            <a:endParaRPr lang="en-US" altLang="zh-CN" sz="3600" dirty="0">
              <a:latin typeface="黑体" panose="02010609060101010101" pitchFamily="49" charset="-122"/>
              <a:ea typeface="黑体" panose="02010609060101010101" pitchFamily="49" charset="-122"/>
            </a:endParaRPr>
          </a:p>
          <a:p>
            <a:pPr>
              <a:spcAft>
                <a:spcPts val="1800"/>
              </a:spcAft>
            </a:pPr>
            <a:r>
              <a:rPr lang="zh-CN" altLang="en-US" sz="3600" dirty="0">
                <a:solidFill>
                  <a:srgbClr val="003F88"/>
                </a:solidFill>
                <a:latin typeface="黑体" panose="02010609060101010101" pitchFamily="49" charset="-122"/>
                <a:ea typeface="黑体" panose="02010609060101010101" pitchFamily="49" charset="-122"/>
              </a:rPr>
              <a:t>原型测试</a:t>
            </a:r>
            <a:r>
              <a:rPr lang="zh-CN" altLang="en-US" sz="3600" dirty="0">
                <a:latin typeface="黑体" panose="02010609060101010101" pitchFamily="49" charset="-122"/>
                <a:ea typeface="黑体" panose="02010609060101010101" pitchFamily="49" charset="-122"/>
              </a:rPr>
              <a:t>可</a:t>
            </a:r>
            <a:r>
              <a:rPr lang="zh-CN" altLang="en-US" sz="3600" u="sng" dirty="0">
                <a:latin typeface="黑体" panose="02010609060101010101" pitchFamily="49" charset="-122"/>
                <a:ea typeface="黑体" panose="02010609060101010101" pitchFamily="49" charset="-122"/>
              </a:rPr>
              <a:t>验证设计是否符合目标规格</a:t>
            </a:r>
            <a:r>
              <a:rPr lang="zh-CN" altLang="en-US" sz="3600" dirty="0">
                <a:latin typeface="黑体" panose="02010609060101010101" pitchFamily="49" charset="-122"/>
                <a:ea typeface="黑体" panose="02010609060101010101" pitchFamily="49" charset="-122"/>
              </a:rPr>
              <a:t>；</a:t>
            </a:r>
            <a:endParaRPr lang="en-US" altLang="zh-CN" sz="3600" dirty="0">
              <a:latin typeface="黑体" panose="02010609060101010101" pitchFamily="49" charset="-122"/>
              <a:ea typeface="黑体" panose="02010609060101010101" pitchFamily="49" charset="-122"/>
            </a:endParaRPr>
          </a:p>
          <a:p>
            <a:pPr>
              <a:spcAft>
                <a:spcPts val="1800"/>
              </a:spcAft>
            </a:pPr>
            <a:r>
              <a:rPr lang="zh-CN" altLang="en-US" sz="3600" dirty="0">
                <a:latin typeface="黑体" panose="02010609060101010101" pitchFamily="49" charset="-122"/>
                <a:ea typeface="黑体" panose="02010609060101010101" pitchFamily="49" charset="-122"/>
              </a:rPr>
              <a:t>而大批量生产中的</a:t>
            </a:r>
            <a:r>
              <a:rPr lang="zh-CN" altLang="en-US" sz="3600" dirty="0">
                <a:solidFill>
                  <a:srgbClr val="003F88"/>
                </a:solidFill>
                <a:latin typeface="黑体" panose="02010609060101010101" pitchFamily="49" charset="-122"/>
                <a:ea typeface="黑体" panose="02010609060101010101" pitchFamily="49" charset="-122"/>
              </a:rPr>
              <a:t>制造测试</a:t>
            </a:r>
            <a:r>
              <a:rPr lang="zh-CN" altLang="en-US" sz="3600" dirty="0">
                <a:latin typeface="黑体" panose="02010609060101010101" pitchFamily="49" charset="-122"/>
                <a:ea typeface="黑体" panose="02010609060101010101" pitchFamily="49" charset="-122"/>
              </a:rPr>
              <a:t>则可</a:t>
            </a:r>
            <a:r>
              <a:rPr lang="zh-CN" altLang="en-US" sz="3600" u="sng" dirty="0">
                <a:latin typeface="黑体" panose="02010609060101010101" pitchFamily="49" charset="-122"/>
                <a:ea typeface="黑体" panose="02010609060101010101" pitchFamily="49" charset="-122"/>
              </a:rPr>
              <a:t>确保每台设备都符合测试原则并有预期响应</a:t>
            </a:r>
            <a:r>
              <a:rPr lang="zh-CN" altLang="en-US" sz="3600" dirty="0">
                <a:latin typeface="黑体" panose="02010609060101010101" pitchFamily="49" charset="-122"/>
                <a:ea typeface="黑体" panose="02010609060101010101" pitchFamily="49" charset="-122"/>
              </a:rPr>
              <a:t>；</a:t>
            </a:r>
            <a:endParaRPr lang="en-US" altLang="zh-CN" sz="36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5517934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C3EA0-C404-12DA-D084-C2A33A809740}"/>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5BDDD554-3C91-46B5-A1F1-006E4F6F550F}"/>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6CB1B920-FCA5-BE22-0D78-E244FDFE24E6}"/>
              </a:ext>
            </a:extLst>
          </p:cNvPr>
          <p:cNvSpPr txBox="1"/>
          <p:nvPr/>
        </p:nvSpPr>
        <p:spPr>
          <a:xfrm>
            <a:off x="541079" y="608842"/>
            <a:ext cx="9581976"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电路的载体形式③</a:t>
            </a:r>
          </a:p>
        </p:txBody>
      </p:sp>
      <p:sp>
        <p:nvSpPr>
          <p:cNvPr id="3" name="文本框 2">
            <a:extLst>
              <a:ext uri="{FF2B5EF4-FFF2-40B4-BE49-F238E27FC236}">
                <a16:creationId xmlns:a16="http://schemas.microsoft.com/office/drawing/2014/main" id="{9DE941AD-4066-1ABE-0F54-6FB6E2C1E935}"/>
              </a:ext>
            </a:extLst>
          </p:cNvPr>
          <p:cNvSpPr txBox="1"/>
          <p:nvPr/>
        </p:nvSpPr>
        <p:spPr>
          <a:xfrm>
            <a:off x="50801" y="1997839"/>
            <a:ext cx="11956472" cy="3308726"/>
          </a:xfrm>
          <a:prstGeom prst="rect">
            <a:avLst/>
          </a:prstGeom>
          <a:noFill/>
        </p:spPr>
        <p:txBody>
          <a:bodyPr wrap="square">
            <a:spAutoFit/>
          </a:bodyPr>
          <a:lstStyle/>
          <a:p>
            <a:pPr marL="742950" indent="-742950">
              <a:lnSpc>
                <a:spcPct val="150000"/>
              </a:lnSpc>
              <a:buFont typeface="+mj-ea"/>
              <a:buAutoNum type="circleNumDbPlain"/>
            </a:pPr>
            <a:r>
              <a:rPr lang="zh-CN" altLang="en-US" sz="3600" dirty="0">
                <a:solidFill>
                  <a:schemeClr val="bg1">
                    <a:lumMod val="85000"/>
                  </a:schemeClr>
                </a:solidFill>
                <a:latin typeface="Arial" panose="020B0604020202020204" pitchFamily="34" charset="0"/>
                <a:ea typeface="黑体" panose="02010609060101010101" pitchFamily="49" charset="-122"/>
                <a:cs typeface="Arial" panose="020B0604020202020204" pitchFamily="34" charset="0"/>
              </a:rPr>
              <a:t>基于晶圆制作的集成电路</a:t>
            </a:r>
            <a:endParaRPr lang="en-US" altLang="zh-CN" sz="3600" dirty="0">
              <a:solidFill>
                <a:schemeClr val="bg1">
                  <a:lumMod val="85000"/>
                </a:schemeClr>
              </a:solidFill>
              <a:latin typeface="Arial" panose="020B0604020202020204" pitchFamily="34" charset="0"/>
              <a:ea typeface="黑体" panose="02010609060101010101" pitchFamily="49" charset="-122"/>
              <a:cs typeface="Arial" panose="020B0604020202020204" pitchFamily="34" charset="0"/>
            </a:endParaRPr>
          </a:p>
          <a:p>
            <a:pPr marL="742950" indent="-742950">
              <a:lnSpc>
                <a:spcPct val="150000"/>
              </a:lnSpc>
              <a:buFont typeface="+mj-ea"/>
              <a:buAutoNum type="circleNumDbPlain"/>
            </a:pPr>
            <a:r>
              <a:rPr lang="zh-CN" altLang="en-US" sz="3600" b="0" i="0" dirty="0">
                <a:solidFill>
                  <a:schemeClr val="bg2"/>
                </a:solidFill>
                <a:effectLst/>
                <a:latin typeface="Arial" panose="020B0604020202020204" pitchFamily="34" charset="0"/>
                <a:ea typeface="黑体" panose="02010609060101010101" pitchFamily="49" charset="-122"/>
                <a:cs typeface="Arial" panose="020B0604020202020204" pitchFamily="34" charset="0"/>
              </a:rPr>
              <a:t>印刷电路板 </a:t>
            </a:r>
            <a:r>
              <a:rPr lang="en-US" altLang="zh-CN" sz="3600" b="0" i="0" dirty="0">
                <a:solidFill>
                  <a:schemeClr val="bg2"/>
                </a:solidFill>
                <a:effectLst/>
                <a:latin typeface="Arial" panose="020B0604020202020204" pitchFamily="34" charset="0"/>
                <a:ea typeface="黑体" panose="02010609060101010101" pitchFamily="49" charset="-122"/>
                <a:cs typeface="Arial" panose="020B0604020202020204" pitchFamily="34" charset="0"/>
              </a:rPr>
              <a:t>Printed Circuit Board, PCB</a:t>
            </a:r>
          </a:p>
          <a:p>
            <a:pPr marL="742950" indent="-742950">
              <a:lnSpc>
                <a:spcPct val="150000"/>
              </a:lnSpc>
              <a:buFont typeface="+mj-ea"/>
              <a:buAutoNum type="circleNumDbPlain"/>
            </a:pPr>
            <a:r>
              <a:rPr lang="zh-CN" altLang="en-US" sz="3600" b="0" i="0" dirty="0">
                <a:effectLst/>
                <a:latin typeface="Arial" panose="020B0604020202020204" pitchFamily="34" charset="0"/>
                <a:ea typeface="黑体" panose="02010609060101010101" pitchFamily="49" charset="-122"/>
                <a:cs typeface="Arial" panose="020B0604020202020204" pitchFamily="34" charset="0"/>
              </a:rPr>
              <a:t>柔性印刷电路</a:t>
            </a:r>
            <a:r>
              <a:rPr lang="de-DE" altLang="zh-CN" sz="3600" b="0" i="0" dirty="0">
                <a:effectLst/>
                <a:latin typeface="Arial" panose="020B0604020202020204" pitchFamily="34" charset="0"/>
                <a:ea typeface="黑体" panose="02010609060101010101" pitchFamily="49" charset="-122"/>
                <a:cs typeface="Arial" panose="020B0604020202020204" pitchFamily="34" charset="0"/>
              </a:rPr>
              <a:t>Flexible Printed Circuit, FPC</a:t>
            </a:r>
          </a:p>
          <a:p>
            <a:pPr marL="742950" indent="-742950">
              <a:lnSpc>
                <a:spcPct val="150000"/>
              </a:lnSpc>
              <a:buFont typeface="+mj-ea"/>
              <a:buAutoNum type="circleNumDbPlain"/>
            </a:pPr>
            <a:r>
              <a:rPr lang="zh-CN" altLang="en-US" sz="3600" dirty="0">
                <a:solidFill>
                  <a:schemeClr val="bg1">
                    <a:lumMod val="85000"/>
                  </a:schemeClr>
                </a:solidFill>
                <a:latin typeface="Arial" panose="020B0604020202020204" pitchFamily="34" charset="0"/>
                <a:ea typeface="黑体" panose="02010609060101010101" pitchFamily="49" charset="-122"/>
                <a:cs typeface="Arial" panose="020B0604020202020204" pitchFamily="34" charset="0"/>
              </a:rPr>
              <a:t>刚性柔性印刷电路</a:t>
            </a:r>
            <a:r>
              <a:rPr lang="en-US" altLang="zh-CN" sz="3600" dirty="0">
                <a:solidFill>
                  <a:schemeClr val="bg1">
                    <a:lumMod val="85000"/>
                  </a:schemeClr>
                </a:solidFill>
                <a:latin typeface="Arial" panose="020B0604020202020204" pitchFamily="34" charset="0"/>
                <a:ea typeface="黑体" panose="02010609060101010101" pitchFamily="49" charset="-122"/>
                <a:cs typeface="Arial" panose="020B0604020202020204" pitchFamily="34" charset="0"/>
              </a:rPr>
              <a:t>Rigid Flexible Printed Circuit, RFPC</a:t>
            </a:r>
            <a:endParaRPr lang="de-DE" altLang="zh-CN" sz="3600" b="0" i="0" dirty="0">
              <a:solidFill>
                <a:schemeClr val="bg1">
                  <a:lumMod val="85000"/>
                </a:schemeClr>
              </a:solidFill>
              <a:effectLst/>
              <a:latin typeface="Arial" panose="020B0604020202020204" pitchFamily="34" charset="0"/>
              <a:ea typeface="黑体" panose="02010609060101010101" pitchFamily="49" charset="-122"/>
              <a:cs typeface="Arial" panose="020B0604020202020204" pitchFamily="34" charset="0"/>
            </a:endParaRPr>
          </a:p>
        </p:txBody>
      </p:sp>
    </p:spTree>
    <p:extLst>
      <p:ext uri="{BB962C8B-B14F-4D97-AF65-F5344CB8AC3E}">
        <p14:creationId xmlns:p14="http://schemas.microsoft.com/office/powerpoint/2010/main" val="16202429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B8A48-8311-0996-B7C0-55E96D741BBF}"/>
            </a:ext>
          </a:extLst>
        </p:cNvPr>
        <p:cNvGrpSpPr/>
        <p:nvPr/>
      </p:nvGrpSpPr>
      <p:grpSpPr>
        <a:xfrm>
          <a:off x="0" y="0"/>
          <a:ext cx="0" cy="0"/>
          <a:chOff x="0" y="0"/>
          <a:chExt cx="0" cy="0"/>
        </a:xfrm>
      </p:grpSpPr>
      <p:pic>
        <p:nvPicPr>
          <p:cNvPr id="1028" name="Picture 4" descr="File:FPC PANEL.pdf">
            <a:extLst>
              <a:ext uri="{FF2B5EF4-FFF2-40B4-BE49-F238E27FC236}">
                <a16:creationId xmlns:a16="http://schemas.microsoft.com/office/drawing/2014/main" id="{A1532D59-9968-F30B-5F6E-AD1E8F9F6A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1287" y="1482310"/>
            <a:ext cx="4836824" cy="6257576"/>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a:extLst>
              <a:ext uri="{FF2B5EF4-FFF2-40B4-BE49-F238E27FC236}">
                <a16:creationId xmlns:a16="http://schemas.microsoft.com/office/drawing/2014/main" id="{112A485D-95DF-9152-6EF6-3A4ED9881879}"/>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文本框 2">
            <a:extLst>
              <a:ext uri="{FF2B5EF4-FFF2-40B4-BE49-F238E27FC236}">
                <a16:creationId xmlns:a16="http://schemas.microsoft.com/office/drawing/2014/main" id="{51410303-F9C5-FD00-9912-B1D56EE0AC74}"/>
              </a:ext>
            </a:extLst>
          </p:cNvPr>
          <p:cNvSpPr txBox="1"/>
          <p:nvPr/>
        </p:nvSpPr>
        <p:spPr>
          <a:xfrm>
            <a:off x="541079" y="1408168"/>
            <a:ext cx="11650921" cy="646331"/>
          </a:xfrm>
          <a:prstGeom prst="rect">
            <a:avLst/>
          </a:prstGeom>
          <a:noFill/>
        </p:spPr>
        <p:txBody>
          <a:bodyPr wrap="square">
            <a:spAutoFit/>
          </a:bodyPr>
          <a:lstStyle/>
          <a:p>
            <a:r>
              <a:rPr lang="zh-CN" altLang="en-US" sz="3600" b="0" i="0" dirty="0">
                <a:effectLst/>
                <a:latin typeface="黑体" panose="02010609060101010101" pitchFamily="49" charset="-122"/>
                <a:ea typeface="黑体" panose="02010609060101010101" pitchFamily="49" charset="-122"/>
              </a:rPr>
              <a:t>柔性印刷电路板</a:t>
            </a:r>
            <a:r>
              <a:rPr lang="en-US" altLang="zh-CN" sz="3600" b="0" i="0" dirty="0">
                <a:effectLst/>
                <a:latin typeface="黑体" panose="02010609060101010101" pitchFamily="49" charset="-122"/>
                <a:ea typeface="黑体" panose="02010609060101010101" pitchFamily="49" charset="-122"/>
              </a:rPr>
              <a:t>(</a:t>
            </a:r>
            <a:r>
              <a:rPr lang="de-DE" altLang="zh-CN" sz="2800" b="0" i="0" dirty="0">
                <a:effectLst/>
                <a:latin typeface="Times New Roman" panose="02020603050405020304" pitchFamily="18" charset="0"/>
                <a:ea typeface="黑体" panose="02010609060101010101" pitchFamily="49" charset="-122"/>
                <a:cs typeface="Times New Roman" panose="02020603050405020304" pitchFamily="18" charset="0"/>
              </a:rPr>
              <a:t>Flexible Printed Circuit, FPC</a:t>
            </a:r>
            <a:r>
              <a:rPr lang="en-US" altLang="zh-CN" sz="3600" b="0" i="0" dirty="0">
                <a:effectLst/>
                <a:latin typeface="黑体" panose="02010609060101010101" pitchFamily="49" charset="-122"/>
                <a:ea typeface="黑体" panose="02010609060101010101" pitchFamily="49" charset="-122"/>
              </a:rPr>
              <a:t>)</a:t>
            </a:r>
            <a:r>
              <a:rPr lang="zh-CN" altLang="en-US" sz="3600" b="0" i="0" dirty="0">
                <a:effectLst/>
                <a:latin typeface="黑体" panose="02010609060101010101" pitchFamily="49" charset="-122"/>
                <a:ea typeface="黑体" panose="02010609060101010101" pitchFamily="49" charset="-122"/>
              </a:rPr>
              <a:t> </a:t>
            </a:r>
            <a:endParaRPr lang="de-DE" altLang="zh-CN" sz="3600" b="0" i="0" dirty="0">
              <a:effectLst/>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1026" name="Picture 2" descr="Produced Flexible PCB">
            <a:extLst>
              <a:ext uri="{FF2B5EF4-FFF2-40B4-BE49-F238E27FC236}">
                <a16:creationId xmlns:a16="http://schemas.microsoft.com/office/drawing/2014/main" id="{6794F7EB-4B1A-3709-D847-2249625B98E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968" y="2058056"/>
            <a:ext cx="7220698" cy="4813799"/>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514C9785-52CB-B07F-DDCE-0F5565595023}"/>
              </a:ext>
            </a:extLst>
          </p:cNvPr>
          <p:cNvSpPr txBox="1"/>
          <p:nvPr/>
        </p:nvSpPr>
        <p:spPr>
          <a:xfrm>
            <a:off x="541079" y="608842"/>
            <a:ext cx="9581976"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电路的载体形式③</a:t>
            </a:r>
          </a:p>
        </p:txBody>
      </p:sp>
    </p:spTree>
    <p:extLst>
      <p:ext uri="{BB962C8B-B14F-4D97-AF65-F5344CB8AC3E}">
        <p14:creationId xmlns:p14="http://schemas.microsoft.com/office/powerpoint/2010/main" val="26616612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9DDE7-5511-8B25-DFDC-01F0420251A4}"/>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0004C7E0-6ED0-C206-EF7C-57A15610A1F9}"/>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文本框 2">
            <a:extLst>
              <a:ext uri="{FF2B5EF4-FFF2-40B4-BE49-F238E27FC236}">
                <a16:creationId xmlns:a16="http://schemas.microsoft.com/office/drawing/2014/main" id="{5135AEBE-51F1-9C52-6129-FC34E94DA2BB}"/>
              </a:ext>
            </a:extLst>
          </p:cNvPr>
          <p:cNvSpPr txBox="1"/>
          <p:nvPr/>
        </p:nvSpPr>
        <p:spPr>
          <a:xfrm>
            <a:off x="541079" y="1408168"/>
            <a:ext cx="11650921" cy="646331"/>
          </a:xfrm>
          <a:prstGeom prst="rect">
            <a:avLst/>
          </a:prstGeom>
          <a:noFill/>
        </p:spPr>
        <p:txBody>
          <a:bodyPr wrap="square">
            <a:spAutoFit/>
          </a:bodyPr>
          <a:lstStyle/>
          <a:p>
            <a:r>
              <a:rPr lang="zh-CN" altLang="en-US" sz="3600" b="0" i="0" dirty="0">
                <a:effectLst/>
                <a:latin typeface="黑体" panose="02010609060101010101" pitchFamily="49" charset="-122"/>
                <a:ea typeface="黑体" panose="02010609060101010101" pitchFamily="49" charset="-122"/>
              </a:rPr>
              <a:t>柔性印刷电路板</a:t>
            </a:r>
            <a:r>
              <a:rPr lang="en-US" altLang="zh-CN" sz="3600" b="0" i="0" dirty="0">
                <a:effectLst/>
                <a:latin typeface="黑体" panose="02010609060101010101" pitchFamily="49" charset="-122"/>
                <a:ea typeface="黑体" panose="02010609060101010101" pitchFamily="49" charset="-122"/>
              </a:rPr>
              <a:t>(</a:t>
            </a:r>
            <a:r>
              <a:rPr lang="de-DE" altLang="zh-CN" sz="2800" b="0" i="0" dirty="0">
                <a:effectLst/>
                <a:latin typeface="Times New Roman" panose="02020603050405020304" pitchFamily="18" charset="0"/>
                <a:ea typeface="黑体" panose="02010609060101010101" pitchFamily="49" charset="-122"/>
                <a:cs typeface="Times New Roman" panose="02020603050405020304" pitchFamily="18" charset="0"/>
              </a:rPr>
              <a:t>Flexible Printed Circuit, FPC</a:t>
            </a:r>
            <a:r>
              <a:rPr lang="en-US" altLang="zh-CN" sz="3600" b="0" i="0" dirty="0">
                <a:effectLst/>
                <a:latin typeface="黑体" panose="02010609060101010101" pitchFamily="49" charset="-122"/>
                <a:ea typeface="黑体" panose="02010609060101010101" pitchFamily="49" charset="-122"/>
              </a:rPr>
              <a:t>)</a:t>
            </a:r>
            <a:r>
              <a:rPr lang="zh-CN" altLang="en-US" sz="3600" b="0" i="0" dirty="0">
                <a:effectLst/>
                <a:latin typeface="黑体" panose="02010609060101010101" pitchFamily="49" charset="-122"/>
                <a:ea typeface="黑体" panose="02010609060101010101" pitchFamily="49" charset="-122"/>
              </a:rPr>
              <a:t> </a:t>
            </a:r>
            <a:endParaRPr lang="de-DE" altLang="zh-CN" sz="3600" b="0" i="0" dirty="0">
              <a:effectLst/>
              <a:latin typeface="Times New Roman" panose="02020603050405020304" pitchFamily="18" charset="0"/>
              <a:ea typeface="黑体" panose="02010609060101010101" pitchFamily="49" charset="-122"/>
              <a:cs typeface="Times New Roman" panose="02020603050405020304" pitchFamily="18" charset="0"/>
            </a:endParaRPr>
          </a:p>
        </p:txBody>
      </p:sp>
      <p:sp>
        <p:nvSpPr>
          <p:cNvPr id="6" name="文本框 5">
            <a:extLst>
              <a:ext uri="{FF2B5EF4-FFF2-40B4-BE49-F238E27FC236}">
                <a16:creationId xmlns:a16="http://schemas.microsoft.com/office/drawing/2014/main" id="{8EFE8DA7-0926-94BC-941E-8B38B7B12909}"/>
              </a:ext>
            </a:extLst>
          </p:cNvPr>
          <p:cNvSpPr txBox="1"/>
          <p:nvPr/>
        </p:nvSpPr>
        <p:spPr>
          <a:xfrm>
            <a:off x="541079" y="608842"/>
            <a:ext cx="9581976"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电路的载体形式③</a:t>
            </a:r>
          </a:p>
        </p:txBody>
      </p:sp>
      <p:pic>
        <p:nvPicPr>
          <p:cNvPr id="7" name="Picture 6" descr="undefined">
            <a:extLst>
              <a:ext uri="{FF2B5EF4-FFF2-40B4-BE49-F238E27FC236}">
                <a16:creationId xmlns:a16="http://schemas.microsoft.com/office/drawing/2014/main" id="{86AA8F6A-5EEE-0AD6-F04B-BE1AD94B8C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963059"/>
            <a:ext cx="7121857" cy="4803501"/>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D0E836CA-ADDD-87C2-36AD-CDE606CFFD21}"/>
              </a:ext>
            </a:extLst>
          </p:cNvPr>
          <p:cNvSpPr txBox="1"/>
          <p:nvPr/>
        </p:nvSpPr>
        <p:spPr>
          <a:xfrm>
            <a:off x="6769290" y="1963059"/>
            <a:ext cx="5422710" cy="954107"/>
          </a:xfrm>
          <a:prstGeom prst="rect">
            <a:avLst/>
          </a:prstGeom>
          <a:solidFill>
            <a:schemeClr val="accent5">
              <a:lumMod val="20000"/>
              <a:lumOff val="80000"/>
            </a:schemeClr>
          </a:solidFill>
        </p:spPr>
        <p:txBody>
          <a:bodyPr wrap="square" rtlCol="0">
            <a:spAutoFit/>
          </a:bodyPr>
          <a:lstStyle/>
          <a:p>
            <a:pPr algn="ctr"/>
            <a:r>
              <a:rPr lang="zh-CN" altLang="en-US" sz="2800" dirty="0">
                <a:solidFill>
                  <a:srgbClr val="003F88"/>
                </a:solidFill>
                <a:latin typeface="华文细黑" panose="02010600040101010101" pitchFamily="2" charset="-122"/>
                <a:ea typeface="华文细黑" panose="02010600040101010101" pitchFamily="2" charset="-122"/>
              </a:rPr>
              <a:t>不带外壳的 </a:t>
            </a:r>
            <a:r>
              <a:rPr lang="de-DE" altLang="zh-CN" sz="2800" dirty="0">
                <a:solidFill>
                  <a:srgbClr val="003F88"/>
                </a:solidFill>
                <a:latin typeface="华文细黑" panose="02010600040101010101" pitchFamily="2" charset="-122"/>
                <a:ea typeface="华文细黑" panose="02010600040101010101" pitchFamily="2" charset="-122"/>
              </a:rPr>
              <a:t>Olympus Stylus </a:t>
            </a:r>
            <a:r>
              <a:rPr lang="zh-CN" altLang="en-US" sz="2800" dirty="0">
                <a:solidFill>
                  <a:srgbClr val="003F88"/>
                </a:solidFill>
                <a:latin typeface="华文细黑" panose="02010600040101010101" pitchFamily="2" charset="-122"/>
                <a:ea typeface="华文细黑" panose="02010600040101010101" pitchFamily="2" charset="-122"/>
              </a:rPr>
              <a:t>相机</a:t>
            </a:r>
            <a:endParaRPr lang="en-US" altLang="zh-CN" sz="2800" dirty="0">
              <a:solidFill>
                <a:srgbClr val="003F88"/>
              </a:solidFill>
              <a:latin typeface="华文细黑" panose="02010600040101010101" pitchFamily="2" charset="-122"/>
              <a:ea typeface="华文细黑" panose="02010600040101010101" pitchFamily="2" charset="-122"/>
            </a:endParaRPr>
          </a:p>
          <a:p>
            <a:pPr algn="ctr"/>
            <a:r>
              <a:rPr lang="zh-CN" altLang="en-US" sz="2800" dirty="0">
                <a:solidFill>
                  <a:srgbClr val="003F88"/>
                </a:solidFill>
                <a:latin typeface="华文细黑" panose="02010600040101010101" pitchFamily="2" charset="-122"/>
                <a:ea typeface="华文细黑" panose="02010600040101010101" pitchFamily="2" charset="-122"/>
              </a:rPr>
              <a:t>露出柔性电路组件</a:t>
            </a:r>
          </a:p>
        </p:txBody>
      </p:sp>
    </p:spTree>
    <p:extLst>
      <p:ext uri="{BB962C8B-B14F-4D97-AF65-F5344CB8AC3E}">
        <p14:creationId xmlns:p14="http://schemas.microsoft.com/office/powerpoint/2010/main" val="36979040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9D9248-51F9-8B09-A98C-7CA481E838B2}"/>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06C89759-00A3-362E-C8B1-FBBBD0D53BD5}"/>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文本框 2">
            <a:extLst>
              <a:ext uri="{FF2B5EF4-FFF2-40B4-BE49-F238E27FC236}">
                <a16:creationId xmlns:a16="http://schemas.microsoft.com/office/drawing/2014/main" id="{6727AEF2-D22A-D41B-E3A8-CA632A1F1921}"/>
              </a:ext>
            </a:extLst>
          </p:cNvPr>
          <p:cNvSpPr txBox="1"/>
          <p:nvPr/>
        </p:nvSpPr>
        <p:spPr>
          <a:xfrm>
            <a:off x="541079" y="1408168"/>
            <a:ext cx="11650921" cy="646331"/>
          </a:xfrm>
          <a:prstGeom prst="rect">
            <a:avLst/>
          </a:prstGeom>
          <a:noFill/>
        </p:spPr>
        <p:txBody>
          <a:bodyPr wrap="square">
            <a:spAutoFit/>
          </a:bodyPr>
          <a:lstStyle/>
          <a:p>
            <a:r>
              <a:rPr lang="zh-CN" altLang="en-US" sz="3600" b="0" i="0" dirty="0">
                <a:effectLst/>
                <a:latin typeface="黑体" panose="02010609060101010101" pitchFamily="49" charset="-122"/>
                <a:ea typeface="黑体" panose="02010609060101010101" pitchFamily="49" charset="-122"/>
              </a:rPr>
              <a:t>柔性印刷电路板</a:t>
            </a:r>
            <a:r>
              <a:rPr lang="en-US" altLang="zh-CN" sz="3600" b="0" i="0" dirty="0">
                <a:effectLst/>
                <a:latin typeface="黑体" panose="02010609060101010101" pitchFamily="49" charset="-122"/>
                <a:ea typeface="黑体" panose="02010609060101010101" pitchFamily="49" charset="-122"/>
              </a:rPr>
              <a:t>(</a:t>
            </a:r>
            <a:r>
              <a:rPr lang="de-DE" altLang="zh-CN" sz="2800" b="0" i="0" dirty="0">
                <a:effectLst/>
                <a:latin typeface="Times New Roman" panose="02020603050405020304" pitchFamily="18" charset="0"/>
                <a:ea typeface="黑体" panose="02010609060101010101" pitchFamily="49" charset="-122"/>
                <a:cs typeface="Times New Roman" panose="02020603050405020304" pitchFamily="18" charset="0"/>
              </a:rPr>
              <a:t>Flexible Printed Circuit, FPC</a:t>
            </a:r>
            <a:r>
              <a:rPr lang="en-US" altLang="zh-CN" sz="3600" b="0" i="0" dirty="0">
                <a:effectLst/>
                <a:latin typeface="黑体" panose="02010609060101010101" pitchFamily="49" charset="-122"/>
                <a:ea typeface="黑体" panose="02010609060101010101" pitchFamily="49" charset="-122"/>
              </a:rPr>
              <a:t>)</a:t>
            </a:r>
            <a:r>
              <a:rPr lang="zh-CN" altLang="en-US" sz="3600" b="0" i="0" dirty="0">
                <a:effectLst/>
                <a:latin typeface="黑体" panose="02010609060101010101" pitchFamily="49" charset="-122"/>
                <a:ea typeface="黑体" panose="02010609060101010101" pitchFamily="49" charset="-122"/>
              </a:rPr>
              <a:t> </a:t>
            </a:r>
            <a:endParaRPr lang="de-DE" altLang="zh-CN" sz="3600" b="0" i="0" dirty="0">
              <a:effectLst/>
              <a:latin typeface="Times New Roman" panose="02020603050405020304" pitchFamily="18" charset="0"/>
              <a:ea typeface="黑体" panose="02010609060101010101" pitchFamily="49" charset="-122"/>
              <a:cs typeface="Times New Roman" panose="02020603050405020304" pitchFamily="18" charset="0"/>
            </a:endParaRPr>
          </a:p>
        </p:txBody>
      </p:sp>
      <p:sp>
        <p:nvSpPr>
          <p:cNvPr id="6" name="文本框 5">
            <a:extLst>
              <a:ext uri="{FF2B5EF4-FFF2-40B4-BE49-F238E27FC236}">
                <a16:creationId xmlns:a16="http://schemas.microsoft.com/office/drawing/2014/main" id="{2EF4A299-B8F2-9F24-A551-749FAAF7A4B6}"/>
              </a:ext>
            </a:extLst>
          </p:cNvPr>
          <p:cNvSpPr txBox="1"/>
          <p:nvPr/>
        </p:nvSpPr>
        <p:spPr>
          <a:xfrm>
            <a:off x="541079" y="608842"/>
            <a:ext cx="9581976"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电路的载体形式③</a:t>
            </a:r>
          </a:p>
        </p:txBody>
      </p:sp>
      <p:pic>
        <p:nvPicPr>
          <p:cNvPr id="5" name="图片 4">
            <a:extLst>
              <a:ext uri="{FF2B5EF4-FFF2-40B4-BE49-F238E27FC236}">
                <a16:creationId xmlns:a16="http://schemas.microsoft.com/office/drawing/2014/main" id="{57D0DB24-8179-3D3C-7741-2467F6B636BC}"/>
              </a:ext>
            </a:extLst>
          </p:cNvPr>
          <p:cNvPicPr>
            <a:picLocks noChangeAspect="1"/>
          </p:cNvPicPr>
          <p:nvPr/>
        </p:nvPicPr>
        <p:blipFill>
          <a:blip r:embed="rId3"/>
          <a:srcRect r="680" b="45169"/>
          <a:stretch/>
        </p:blipFill>
        <p:spPr>
          <a:xfrm>
            <a:off x="1617118" y="2054499"/>
            <a:ext cx="9498841" cy="4599153"/>
          </a:xfrm>
          <a:prstGeom prst="rect">
            <a:avLst/>
          </a:prstGeom>
        </p:spPr>
      </p:pic>
    </p:spTree>
    <p:extLst>
      <p:ext uri="{BB962C8B-B14F-4D97-AF65-F5344CB8AC3E}">
        <p14:creationId xmlns:p14="http://schemas.microsoft.com/office/powerpoint/2010/main" val="21705077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0F261-9870-A03C-D3C2-DEEBF9646E34}"/>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96C04D7D-8686-D843-0D4C-A74B32932E4E}"/>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 name="图片 1">
            <a:extLst>
              <a:ext uri="{FF2B5EF4-FFF2-40B4-BE49-F238E27FC236}">
                <a16:creationId xmlns:a16="http://schemas.microsoft.com/office/drawing/2014/main" id="{F4B7122D-3AE2-EDF7-A4B9-AA8192404B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50989" y="267721"/>
            <a:ext cx="7290022" cy="6590279"/>
          </a:xfrm>
          <a:prstGeom prst="rect">
            <a:avLst/>
          </a:prstGeom>
        </p:spPr>
      </p:pic>
    </p:spTree>
    <p:extLst>
      <p:ext uri="{BB962C8B-B14F-4D97-AF65-F5344CB8AC3E}">
        <p14:creationId xmlns:p14="http://schemas.microsoft.com/office/powerpoint/2010/main" val="12614057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377A9-4409-CD7E-64D2-4CF81670B546}"/>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7B3D662E-563A-2033-F2C5-E3009BE8DFCE}"/>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文本框 1">
            <a:extLst>
              <a:ext uri="{FF2B5EF4-FFF2-40B4-BE49-F238E27FC236}">
                <a16:creationId xmlns:a16="http://schemas.microsoft.com/office/drawing/2014/main" id="{A91E782A-14EC-2C9B-3893-4803B9D85B39}"/>
              </a:ext>
            </a:extLst>
          </p:cNvPr>
          <p:cNvSpPr txBox="1"/>
          <p:nvPr/>
        </p:nvSpPr>
        <p:spPr>
          <a:xfrm>
            <a:off x="541079" y="608842"/>
            <a:ext cx="9581976"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电路的载体形式③</a:t>
            </a:r>
          </a:p>
        </p:txBody>
      </p:sp>
      <p:sp>
        <p:nvSpPr>
          <p:cNvPr id="6" name="文本框 5">
            <a:extLst>
              <a:ext uri="{FF2B5EF4-FFF2-40B4-BE49-F238E27FC236}">
                <a16:creationId xmlns:a16="http://schemas.microsoft.com/office/drawing/2014/main" id="{411F0806-BF45-AC60-D39F-219AC34F65A7}"/>
              </a:ext>
            </a:extLst>
          </p:cNvPr>
          <p:cNvSpPr txBox="1"/>
          <p:nvPr/>
        </p:nvSpPr>
        <p:spPr>
          <a:xfrm>
            <a:off x="541080" y="1408168"/>
            <a:ext cx="11354072" cy="4985980"/>
          </a:xfrm>
          <a:prstGeom prst="rect">
            <a:avLst/>
          </a:prstGeom>
          <a:noFill/>
        </p:spPr>
        <p:txBody>
          <a:bodyPr wrap="square">
            <a:spAutoFit/>
          </a:bodyPr>
          <a:lstStyle/>
          <a:p>
            <a:r>
              <a:rPr lang="zh-CN" altLang="en-US" sz="3600" b="0" i="0" dirty="0">
                <a:effectLst/>
                <a:latin typeface="黑体" panose="02010609060101010101" pitchFamily="49" charset="-122"/>
                <a:ea typeface="黑体" panose="02010609060101010101" pitchFamily="49" charset="-122"/>
              </a:rPr>
              <a:t>柔性印刷电路板</a:t>
            </a:r>
            <a:r>
              <a:rPr lang="en-US" altLang="zh-CN" sz="3600" b="0" i="0" dirty="0">
                <a:effectLst/>
                <a:latin typeface="黑体" panose="02010609060101010101" pitchFamily="49" charset="-122"/>
                <a:ea typeface="黑体" panose="02010609060101010101" pitchFamily="49" charset="-122"/>
              </a:rPr>
              <a:t>(</a:t>
            </a:r>
            <a:r>
              <a:rPr lang="de-DE" altLang="zh-CN" sz="3600" b="0" i="0" dirty="0">
                <a:effectLst/>
                <a:latin typeface="Times New Roman" panose="02020603050405020304" pitchFamily="18" charset="0"/>
                <a:ea typeface="黑体" panose="02010609060101010101" pitchFamily="49" charset="-122"/>
                <a:cs typeface="Times New Roman" panose="02020603050405020304" pitchFamily="18" charset="0"/>
              </a:rPr>
              <a:t>Flexible Printed Circuit, FPC</a:t>
            </a:r>
            <a:r>
              <a:rPr lang="en-US" altLang="zh-CN" sz="3600" b="0" i="0" dirty="0">
                <a:effectLst/>
                <a:latin typeface="黑体" panose="02010609060101010101" pitchFamily="49" charset="-122"/>
                <a:ea typeface="黑体" panose="02010609060101010101" pitchFamily="49" charset="-122"/>
              </a:rPr>
              <a:t>)</a:t>
            </a:r>
            <a:r>
              <a:rPr lang="zh-CN" altLang="en-US" sz="3600" b="0" i="0" dirty="0">
                <a:effectLst/>
                <a:latin typeface="黑体" panose="02010609060101010101" pitchFamily="49" charset="-122"/>
                <a:ea typeface="黑体" panose="02010609060101010101" pitchFamily="49" charset="-122"/>
              </a:rPr>
              <a:t>，</a:t>
            </a:r>
            <a:endParaRPr lang="en-US" altLang="zh-CN" sz="3600" b="0" i="0" dirty="0">
              <a:effectLst/>
              <a:latin typeface="黑体" panose="02010609060101010101" pitchFamily="49" charset="-122"/>
              <a:ea typeface="黑体" panose="02010609060101010101" pitchFamily="49" charset="-122"/>
            </a:endParaRPr>
          </a:p>
          <a:p>
            <a:pPr>
              <a:spcAft>
                <a:spcPts val="1800"/>
              </a:spcAft>
            </a:pPr>
            <a:r>
              <a:rPr lang="zh-CN" altLang="en-US" sz="3600" b="0" i="0" dirty="0">
                <a:effectLst/>
                <a:latin typeface="黑体" panose="02010609060101010101" pitchFamily="49" charset="-122"/>
                <a:ea typeface="黑体" panose="02010609060101010101" pitchFamily="49" charset="-122"/>
              </a:rPr>
              <a:t>又称为柔性线路板、软性电路板。是一种特殊的印刷电路板。</a:t>
            </a:r>
            <a:endParaRPr lang="en-US" altLang="zh-CN" sz="3600" b="0" i="0" dirty="0">
              <a:effectLst/>
              <a:latin typeface="黑体" panose="02010609060101010101" pitchFamily="49" charset="-122"/>
              <a:ea typeface="黑体" panose="02010609060101010101" pitchFamily="49" charset="-122"/>
            </a:endParaRPr>
          </a:p>
          <a:p>
            <a:pPr marL="571500" indent="-571500">
              <a:buFont typeface="Arial" panose="020B0604020202020204" pitchFamily="34" charset="0"/>
              <a:buChar char="•"/>
            </a:pPr>
            <a:r>
              <a:rPr lang="zh-CN" altLang="en-US" sz="3600" dirty="0">
                <a:latin typeface="黑体" panose="02010609060101010101" pitchFamily="49" charset="-122"/>
                <a:ea typeface="黑体" panose="02010609060101010101" pitchFamily="49" charset="-122"/>
                <a:cs typeface="Times New Roman" panose="02020603050405020304" pitchFamily="18" charset="0"/>
              </a:rPr>
              <a:t>组成材料</a:t>
            </a:r>
            <a:r>
              <a:rPr lang="zh-CN" altLang="en-US" sz="3600" dirty="0">
                <a:latin typeface="黑体" panose="02010609060101010101" pitchFamily="49" charset="-122"/>
                <a:ea typeface="黑体" panose="02010609060101010101" pitchFamily="49" charset="-122"/>
                <a:cs typeface="Times New Roman" panose="02020603050405020304" pitchFamily="18" charset="0"/>
                <a:sym typeface="Wingdings" panose="05000000000000000000" pitchFamily="2" charset="2"/>
              </a:rPr>
              <a:t>（不限于此）：</a:t>
            </a:r>
            <a:endParaRPr lang="en-US" altLang="zh-CN" sz="3600" dirty="0">
              <a:latin typeface="黑体" panose="02010609060101010101" pitchFamily="49" charset="-122"/>
              <a:ea typeface="黑体" panose="02010609060101010101" pitchFamily="49" charset="-122"/>
              <a:cs typeface="Times New Roman" panose="02020603050405020304" pitchFamily="18" charset="0"/>
            </a:endParaRPr>
          </a:p>
          <a:p>
            <a:r>
              <a:rPr lang="zh-CN" altLang="en-US" sz="3600" dirty="0">
                <a:latin typeface="黑体" panose="02010609060101010101" pitchFamily="49" charset="-122"/>
                <a:ea typeface="黑体" panose="02010609060101010101" pitchFamily="49" charset="-122"/>
                <a:cs typeface="Times New Roman" panose="02020603050405020304" pitchFamily="18" charset="0"/>
              </a:rPr>
              <a:t>铜箔基板（铜箔</a:t>
            </a:r>
            <a:r>
              <a:rPr lang="en-US" altLang="zh-CN" sz="3600" dirty="0">
                <a:latin typeface="黑体" panose="02010609060101010101" pitchFamily="49" charset="-122"/>
                <a:ea typeface="黑体" panose="02010609060101010101" pitchFamily="49" charset="-122"/>
                <a:cs typeface="Times New Roman" panose="02020603050405020304" pitchFamily="18" charset="0"/>
              </a:rPr>
              <a:t>+</a:t>
            </a:r>
            <a:r>
              <a:rPr lang="zh-CN" altLang="en-US" sz="3600" dirty="0">
                <a:latin typeface="黑体" panose="02010609060101010101" pitchFamily="49" charset="-122"/>
                <a:ea typeface="黑体" panose="02010609060101010101" pitchFamily="49" charset="-122"/>
                <a:cs typeface="Times New Roman" panose="02020603050405020304" pitchFamily="18" charset="0"/>
              </a:rPr>
              <a:t>核心层</a:t>
            </a:r>
            <a:r>
              <a:rPr lang="en-US" altLang="zh-CN" sz="3600" dirty="0">
                <a:latin typeface="黑体" panose="02010609060101010101" pitchFamily="49" charset="-122"/>
                <a:ea typeface="黑体" panose="02010609060101010101" pitchFamily="49" charset="-122"/>
                <a:cs typeface="Times New Roman" panose="02020603050405020304" pitchFamily="18" charset="0"/>
              </a:rPr>
              <a:t>【</a:t>
            </a:r>
            <a:r>
              <a:rPr lang="zh-CN" altLang="en-US" sz="3600" dirty="0">
                <a:latin typeface="黑体" panose="02010609060101010101" pitchFamily="49" charset="-122"/>
                <a:ea typeface="黑体" panose="02010609060101010101" pitchFamily="49" charset="-122"/>
                <a:cs typeface="Times New Roman" panose="02020603050405020304" pitchFamily="18" charset="0"/>
              </a:rPr>
              <a:t>聚酰亚胺</a:t>
            </a:r>
            <a:r>
              <a:rPr lang="en-US" altLang="zh-CN" sz="3600" dirty="0">
                <a:latin typeface="黑体" panose="02010609060101010101" pitchFamily="49" charset="-122"/>
                <a:ea typeface="黑体" panose="02010609060101010101" pitchFamily="49" charset="-122"/>
                <a:cs typeface="Times New Roman" panose="02020603050405020304" pitchFamily="18" charset="0"/>
              </a:rPr>
              <a:t>】</a:t>
            </a:r>
            <a:r>
              <a:rPr lang="zh-CN" altLang="en-US" sz="3600" dirty="0">
                <a:latin typeface="黑体" panose="02010609060101010101" pitchFamily="49" charset="-122"/>
                <a:ea typeface="黑体" panose="02010609060101010101" pitchFamily="49" charset="-122"/>
                <a:cs typeface="Times New Roman" panose="02020603050405020304" pitchFamily="18" charset="0"/>
              </a:rPr>
              <a:t>）</a:t>
            </a:r>
            <a:endParaRPr lang="en-US" altLang="zh-CN" sz="3600" dirty="0">
              <a:latin typeface="黑体" panose="02010609060101010101" pitchFamily="49" charset="-122"/>
              <a:ea typeface="黑体" panose="02010609060101010101" pitchFamily="49" charset="-122"/>
              <a:cs typeface="Times New Roman" panose="02020603050405020304" pitchFamily="18" charset="0"/>
            </a:endParaRPr>
          </a:p>
          <a:p>
            <a:r>
              <a:rPr lang="zh-CN" altLang="en-US" sz="3600" b="0" i="0" dirty="0">
                <a:effectLst/>
                <a:latin typeface="黑体" panose="02010609060101010101" pitchFamily="49" charset="-122"/>
                <a:ea typeface="黑体" panose="02010609060101010101" pitchFamily="49" charset="-122"/>
                <a:cs typeface="Times New Roman" panose="02020603050405020304" pitchFamily="18" charset="0"/>
              </a:rPr>
              <a:t>保护膜（表面绝缘，聚酰亚胺</a:t>
            </a:r>
            <a:r>
              <a:rPr lang="en-US" altLang="zh-CN" sz="3600" b="0" i="0" dirty="0">
                <a:effectLst/>
                <a:latin typeface="黑体" panose="02010609060101010101" pitchFamily="49" charset="-122"/>
                <a:ea typeface="黑体" panose="02010609060101010101" pitchFamily="49" charset="-122"/>
                <a:cs typeface="Times New Roman" panose="02020603050405020304" pitchFamily="18" charset="0"/>
              </a:rPr>
              <a:t>+</a:t>
            </a:r>
            <a:r>
              <a:rPr lang="zh-CN" altLang="en-US" sz="3600" b="0" i="0" dirty="0">
                <a:effectLst/>
                <a:latin typeface="黑体" panose="02010609060101010101" pitchFamily="49" charset="-122"/>
                <a:ea typeface="黑体" panose="02010609060101010101" pitchFamily="49" charset="-122"/>
                <a:cs typeface="Times New Roman" panose="02020603050405020304" pitchFamily="18" charset="0"/>
              </a:rPr>
              <a:t>接著剂环氧树脂热固胶）</a:t>
            </a:r>
            <a:endParaRPr lang="en-US" altLang="zh-CN" sz="3600" b="0" i="0" dirty="0">
              <a:effectLst/>
              <a:latin typeface="黑体" panose="02010609060101010101" pitchFamily="49" charset="-122"/>
              <a:ea typeface="黑体" panose="02010609060101010101" pitchFamily="49" charset="-122"/>
              <a:cs typeface="Times New Roman" panose="02020603050405020304" pitchFamily="18" charset="0"/>
            </a:endParaRPr>
          </a:p>
          <a:p>
            <a:pPr>
              <a:spcAft>
                <a:spcPts val="1800"/>
              </a:spcAft>
            </a:pPr>
            <a:r>
              <a:rPr lang="zh-CN" altLang="en-US" sz="3600" dirty="0">
                <a:latin typeface="黑体" panose="02010609060101010101" pitchFamily="49" charset="-122"/>
                <a:ea typeface="黑体" panose="02010609060101010101" pitchFamily="49" charset="-122"/>
                <a:cs typeface="Times New Roman" panose="02020603050405020304" pitchFamily="18" charset="0"/>
              </a:rPr>
              <a:t>补强（加强柔性印刷电路板的机械强度）</a:t>
            </a:r>
            <a:endParaRPr lang="en-US" altLang="zh-CN" sz="3600" dirty="0">
              <a:latin typeface="黑体" panose="02010609060101010101" pitchFamily="49" charset="-122"/>
              <a:ea typeface="黑体" panose="02010609060101010101" pitchFamily="49" charset="-122"/>
              <a:cs typeface="Times New Roman" panose="02020603050405020304" pitchFamily="18" charset="0"/>
            </a:endParaRPr>
          </a:p>
          <a:p>
            <a:pPr marL="571500" indent="-571500">
              <a:buFont typeface="Arial" panose="020B0604020202020204" pitchFamily="34" charset="0"/>
              <a:buChar char="•"/>
            </a:pPr>
            <a:r>
              <a:rPr lang="zh-CN" altLang="en-US" sz="3600" b="0" i="0" dirty="0">
                <a:effectLst/>
                <a:latin typeface="黑体" panose="02010609060101010101" pitchFamily="49" charset="-122"/>
                <a:ea typeface="黑体" panose="02010609060101010101" pitchFamily="49" charset="-122"/>
                <a:cs typeface="Times New Roman" panose="02020603050405020304" pitchFamily="18" charset="0"/>
              </a:rPr>
              <a:t>结构：单层板、双面板、双层板、多层板</a:t>
            </a:r>
            <a:endParaRPr lang="de-DE" altLang="zh-CN" sz="3600" b="0" i="0" dirty="0">
              <a:effectLst/>
              <a:latin typeface="Times New Roman" panose="02020603050405020304" pitchFamily="18" charset="0"/>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40562798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192E3-24A5-72E9-1F14-3FBF3418AA5F}"/>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BAE57582-9E78-AF63-073B-55ACFF6051A9}"/>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33C1C96C-4613-B5F8-6E8A-B1C5F0392FC4}"/>
              </a:ext>
            </a:extLst>
          </p:cNvPr>
          <p:cNvSpPr txBox="1"/>
          <p:nvPr/>
        </p:nvSpPr>
        <p:spPr>
          <a:xfrm>
            <a:off x="541079" y="608842"/>
            <a:ext cx="10253696"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电路的载体形式③</a:t>
            </a:r>
          </a:p>
        </p:txBody>
      </p:sp>
      <p:sp>
        <p:nvSpPr>
          <p:cNvPr id="3" name="文本框 2">
            <a:extLst>
              <a:ext uri="{FF2B5EF4-FFF2-40B4-BE49-F238E27FC236}">
                <a16:creationId xmlns:a16="http://schemas.microsoft.com/office/drawing/2014/main" id="{BB4D0AB6-18BB-0826-4695-122B2BEE06E8}"/>
              </a:ext>
            </a:extLst>
          </p:cNvPr>
          <p:cNvSpPr txBox="1"/>
          <p:nvPr/>
        </p:nvSpPr>
        <p:spPr>
          <a:xfrm>
            <a:off x="541079" y="2176911"/>
            <a:ext cx="11650921" cy="2862322"/>
          </a:xfrm>
          <a:prstGeom prst="rect">
            <a:avLst/>
          </a:prstGeom>
          <a:noFill/>
        </p:spPr>
        <p:txBody>
          <a:bodyPr wrap="square">
            <a:spAutoFit/>
          </a:bodyPr>
          <a:lstStyle/>
          <a:p>
            <a:r>
              <a:rPr lang="zh-CN" altLang="en-US" sz="3600" b="0" i="0" dirty="0">
                <a:effectLst/>
                <a:latin typeface="黑体" panose="02010609060101010101" pitchFamily="49" charset="-122"/>
                <a:ea typeface="黑体" panose="02010609060101010101" pitchFamily="49" charset="-122"/>
              </a:rPr>
              <a:t>柔性印刷电路板</a:t>
            </a:r>
            <a:r>
              <a:rPr lang="zh-CN" altLang="en-US" sz="3600" dirty="0"/>
              <a:t>对于将柔性电子设备集成到功能齐全的系统中起着重要作用。它们集成了各种电子元件，如微控制器（处理）、转换器（电源管理）、闪存（数据存储）、天线（电信）和电池（电源），以及基板和封装材料，如聚酰亚胺 </a:t>
            </a:r>
            <a:r>
              <a:rPr lang="en-US" altLang="zh-CN" sz="3600" dirty="0"/>
              <a:t>(PI) </a:t>
            </a:r>
            <a:r>
              <a:rPr lang="zh-CN" altLang="en-US" sz="3600" dirty="0"/>
              <a:t>和 </a:t>
            </a:r>
            <a:r>
              <a:rPr lang="en-US" altLang="zh-CN" sz="3600" dirty="0"/>
              <a:t>PET </a:t>
            </a:r>
            <a:r>
              <a:rPr lang="zh-CN" altLang="en-US" sz="3600" dirty="0"/>
              <a:t>。</a:t>
            </a:r>
            <a:endParaRPr lang="en-US" altLang="zh-CN" sz="3600" dirty="0"/>
          </a:p>
        </p:txBody>
      </p:sp>
    </p:spTree>
    <p:extLst>
      <p:ext uri="{BB962C8B-B14F-4D97-AF65-F5344CB8AC3E}">
        <p14:creationId xmlns:p14="http://schemas.microsoft.com/office/powerpoint/2010/main" val="23535126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F960BC-0920-C6E6-AE4D-783AF8183BF0}"/>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F8C5990B-9E85-6974-EC38-8FF6E9146028}"/>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70057913-078F-8ABE-94EB-B2E0C40E2E4F}"/>
              </a:ext>
            </a:extLst>
          </p:cNvPr>
          <p:cNvSpPr txBox="1"/>
          <p:nvPr/>
        </p:nvSpPr>
        <p:spPr>
          <a:xfrm>
            <a:off x="541079" y="608842"/>
            <a:ext cx="1122474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电路的载体形式③</a:t>
            </a:r>
          </a:p>
        </p:txBody>
      </p:sp>
      <p:sp>
        <p:nvSpPr>
          <p:cNvPr id="10" name="文本框 9">
            <a:extLst>
              <a:ext uri="{FF2B5EF4-FFF2-40B4-BE49-F238E27FC236}">
                <a16:creationId xmlns:a16="http://schemas.microsoft.com/office/drawing/2014/main" id="{FBF5A3A8-E766-33C4-2C76-E12235060E5E}"/>
              </a:ext>
            </a:extLst>
          </p:cNvPr>
          <p:cNvSpPr txBox="1"/>
          <p:nvPr/>
        </p:nvSpPr>
        <p:spPr>
          <a:xfrm>
            <a:off x="541080" y="1408168"/>
            <a:ext cx="11354072" cy="646331"/>
          </a:xfrm>
          <a:prstGeom prst="rect">
            <a:avLst/>
          </a:prstGeom>
          <a:noFill/>
        </p:spPr>
        <p:txBody>
          <a:bodyPr wrap="square">
            <a:spAutoFit/>
          </a:bodyPr>
          <a:lstStyle/>
          <a:p>
            <a:r>
              <a:rPr lang="zh-CN" altLang="en-US" sz="3600" b="0" i="0" dirty="0">
                <a:effectLst/>
                <a:latin typeface="黑体" panose="02010609060101010101" pitchFamily="49" charset="-122"/>
                <a:ea typeface="黑体" panose="02010609060101010101" pitchFamily="49" charset="-122"/>
              </a:rPr>
              <a:t>柔性印刷电路制作</a:t>
            </a:r>
            <a:r>
              <a:rPr lang="zh-CN" altLang="en-US" sz="3600" dirty="0">
                <a:latin typeface="黑体" panose="02010609060101010101" pitchFamily="49" charset="-122"/>
                <a:ea typeface="黑体" panose="02010609060101010101" pitchFamily="49" charset="-122"/>
              </a:rPr>
              <a:t>工艺</a:t>
            </a:r>
            <a:endParaRPr lang="de-DE" altLang="zh-CN" sz="3600" b="0" i="0" dirty="0">
              <a:effectLst/>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13" name="组合 12">
            <a:extLst>
              <a:ext uri="{FF2B5EF4-FFF2-40B4-BE49-F238E27FC236}">
                <a16:creationId xmlns:a16="http://schemas.microsoft.com/office/drawing/2014/main" id="{DF4F28D6-0708-6566-24B3-9E87F92776F2}"/>
              </a:ext>
            </a:extLst>
          </p:cNvPr>
          <p:cNvGrpSpPr/>
          <p:nvPr/>
        </p:nvGrpSpPr>
        <p:grpSpPr>
          <a:xfrm>
            <a:off x="2605766" y="2305793"/>
            <a:ext cx="6772903" cy="4127235"/>
            <a:chOff x="2452017" y="2305793"/>
            <a:chExt cx="6772903" cy="4127235"/>
          </a:xfrm>
        </p:grpSpPr>
        <p:sp>
          <p:nvSpPr>
            <p:cNvPr id="3" name="文本框 2">
              <a:extLst>
                <a:ext uri="{FF2B5EF4-FFF2-40B4-BE49-F238E27FC236}">
                  <a16:creationId xmlns:a16="http://schemas.microsoft.com/office/drawing/2014/main" id="{D369EDD5-6122-DDEB-A5DF-42184D64F38E}"/>
                </a:ext>
              </a:extLst>
            </p:cNvPr>
            <p:cNvSpPr txBox="1"/>
            <p:nvPr/>
          </p:nvSpPr>
          <p:spPr>
            <a:xfrm>
              <a:off x="2452017" y="5909808"/>
              <a:ext cx="6772903" cy="523220"/>
            </a:xfrm>
            <a:prstGeom prst="rect">
              <a:avLst/>
            </a:prstGeom>
            <a:solidFill>
              <a:schemeClr val="accent1">
                <a:lumMod val="20000"/>
                <a:lumOff val="80000"/>
              </a:schemeClr>
            </a:solidFill>
          </p:spPr>
          <p:txBody>
            <a:bodyPr wrap="square">
              <a:spAutoFit/>
            </a:bodyPr>
            <a:lstStyle/>
            <a:p>
              <a:pPr>
                <a:spcAft>
                  <a:spcPts val="1200"/>
                </a:spcAft>
              </a:pPr>
              <a:r>
                <a:rPr lang="zh-CN" altLang="en-US" sz="2800" dirty="0">
                  <a:latin typeface="华文细黑" panose="02010600040101010101" pitchFamily="2" charset="-122"/>
                  <a:ea typeface="华文细黑" panose="02010600040101010101" pitchFamily="2" charset="-122"/>
                  <a:cs typeface="Arial" panose="020B0604020202020204" pitchFamily="34" charset="0"/>
                </a:rPr>
                <a:t>将设计的电路</a:t>
              </a:r>
              <a:r>
                <a:rPr lang="zh-CN" altLang="en-US" sz="2800" u="sng" dirty="0">
                  <a:latin typeface="华文细黑" panose="02010600040101010101" pitchFamily="2" charset="-122"/>
                  <a:ea typeface="华文细黑" panose="02010600040101010101" pitchFamily="2" charset="-122"/>
                  <a:cs typeface="Arial" panose="020B0604020202020204" pitchFamily="34" charset="0"/>
                </a:rPr>
                <a:t>图案化</a:t>
              </a:r>
              <a:r>
                <a:rPr lang="zh-CN" altLang="en-US" sz="2800" dirty="0">
                  <a:latin typeface="华文细黑" panose="02010600040101010101" pitchFamily="2" charset="-122"/>
                  <a:ea typeface="华文细黑" panose="02010600040101010101" pitchFamily="2" charset="-122"/>
                  <a:cs typeface="Arial" panose="020B0604020202020204" pitchFamily="34" charset="0"/>
                </a:rPr>
                <a:t>到</a:t>
              </a:r>
              <a:r>
                <a:rPr lang="zh-CN" altLang="en-US" sz="2800" u="sng" dirty="0">
                  <a:latin typeface="华文细黑" panose="02010600040101010101" pitchFamily="2" charset="-122"/>
                  <a:ea typeface="华文细黑" panose="02010600040101010101" pitchFamily="2" charset="-122"/>
                  <a:cs typeface="Arial" panose="020B0604020202020204" pitchFamily="34" charset="0"/>
                </a:rPr>
                <a:t>柔性</a:t>
              </a:r>
              <a:r>
                <a:rPr lang="en-US" altLang="zh-CN" sz="2800" u="sng" dirty="0">
                  <a:latin typeface="华文细黑" panose="02010600040101010101" pitchFamily="2" charset="-122"/>
                  <a:ea typeface="华文细黑" panose="02010600040101010101" pitchFamily="2" charset="-122"/>
                  <a:cs typeface="Arial" panose="020B0604020202020204" pitchFamily="34" charset="0"/>
                </a:rPr>
                <a:t>/</a:t>
              </a:r>
              <a:r>
                <a:rPr lang="zh-CN" altLang="en-US" sz="2800" u="sng" dirty="0">
                  <a:latin typeface="华文细黑" panose="02010600040101010101" pitchFamily="2" charset="-122"/>
                  <a:ea typeface="华文细黑" panose="02010600040101010101" pitchFamily="2" charset="-122"/>
                  <a:cs typeface="Arial" panose="020B0604020202020204" pitchFamily="34" charset="0"/>
                </a:rPr>
                <a:t>可拉伸</a:t>
              </a:r>
              <a:r>
                <a:rPr lang="zh-CN" altLang="en-US" sz="2800" dirty="0">
                  <a:latin typeface="华文细黑" panose="02010600040101010101" pitchFamily="2" charset="-122"/>
                  <a:ea typeface="华文细黑" panose="02010600040101010101" pitchFamily="2" charset="-122"/>
                  <a:cs typeface="Arial" panose="020B0604020202020204" pitchFamily="34" charset="0"/>
                </a:rPr>
                <a:t>基板上</a:t>
              </a:r>
            </a:p>
          </p:txBody>
        </p:sp>
        <p:sp>
          <p:nvSpPr>
            <p:cNvPr id="7" name="文本框 6">
              <a:extLst>
                <a:ext uri="{FF2B5EF4-FFF2-40B4-BE49-F238E27FC236}">
                  <a16:creationId xmlns:a16="http://schemas.microsoft.com/office/drawing/2014/main" id="{BBCE8F04-9A74-F7C2-5E94-41AB12BBAFCD}"/>
                </a:ext>
              </a:extLst>
            </p:cNvPr>
            <p:cNvSpPr txBox="1"/>
            <p:nvPr/>
          </p:nvSpPr>
          <p:spPr>
            <a:xfrm>
              <a:off x="4852045" y="2305793"/>
              <a:ext cx="1972847" cy="523220"/>
            </a:xfrm>
            <a:prstGeom prst="rect">
              <a:avLst/>
            </a:prstGeom>
            <a:solidFill>
              <a:schemeClr val="accent1">
                <a:lumMod val="20000"/>
                <a:lumOff val="80000"/>
              </a:schemeClr>
            </a:solidFill>
          </p:spPr>
          <p:txBody>
            <a:bodyPr wrap="square">
              <a:spAutoFit/>
            </a:bodyPr>
            <a:lstStyle/>
            <a:p>
              <a:pPr algn="ctr">
                <a:spcAft>
                  <a:spcPts val="1200"/>
                </a:spcAft>
              </a:pPr>
              <a:r>
                <a:rPr lang="zh-CN" altLang="en-US" sz="2800" dirty="0">
                  <a:latin typeface="华文细黑" panose="02010600040101010101" pitchFamily="2" charset="-122"/>
                  <a:ea typeface="华文细黑" panose="02010600040101010101" pitchFamily="2" charset="-122"/>
                  <a:cs typeface="Arial" panose="020B0604020202020204" pitchFamily="34" charset="0"/>
                </a:rPr>
                <a:t>设计的电路</a:t>
              </a:r>
              <a:endParaRPr lang="en-US" altLang="zh-CN" sz="2800" dirty="0">
                <a:latin typeface="华文细黑" panose="02010600040101010101" pitchFamily="2" charset="-122"/>
                <a:ea typeface="华文细黑" panose="02010600040101010101" pitchFamily="2" charset="-122"/>
                <a:cs typeface="Arial" panose="020B0604020202020204" pitchFamily="34" charset="0"/>
              </a:endParaRPr>
            </a:p>
          </p:txBody>
        </p:sp>
        <p:sp>
          <p:nvSpPr>
            <p:cNvPr id="9" name="文本框 8">
              <a:extLst>
                <a:ext uri="{FF2B5EF4-FFF2-40B4-BE49-F238E27FC236}">
                  <a16:creationId xmlns:a16="http://schemas.microsoft.com/office/drawing/2014/main" id="{CA61C3D1-0A02-8774-5233-DD22775FDC56}"/>
                </a:ext>
              </a:extLst>
            </p:cNvPr>
            <p:cNvSpPr txBox="1"/>
            <p:nvPr/>
          </p:nvSpPr>
          <p:spPr>
            <a:xfrm>
              <a:off x="2691405" y="3843525"/>
              <a:ext cx="6294125" cy="1107996"/>
            </a:xfrm>
            <a:prstGeom prst="rect">
              <a:avLst/>
            </a:prstGeom>
            <a:solidFill>
              <a:schemeClr val="accent1">
                <a:lumMod val="20000"/>
                <a:lumOff val="80000"/>
              </a:schemeClr>
            </a:solidFill>
          </p:spPr>
          <p:txBody>
            <a:bodyPr wrap="square">
              <a:spAutoFit/>
            </a:bodyPr>
            <a:lstStyle/>
            <a:p>
              <a:pPr algn="ctr">
                <a:spcAft>
                  <a:spcPts val="1200"/>
                </a:spcAft>
              </a:pPr>
              <a:r>
                <a:rPr lang="zh-CN" altLang="en-US" sz="2800" dirty="0">
                  <a:latin typeface="华文细黑" panose="02010600040101010101" pitchFamily="2" charset="-122"/>
                  <a:ea typeface="华文细黑" panose="02010600040101010101" pitchFamily="2" charset="-122"/>
                  <a:cs typeface="Arial" panose="020B0604020202020204" pitchFamily="34" charset="0"/>
                </a:rPr>
                <a:t>激光烧蚀、丝网印刷、</a:t>
              </a:r>
              <a:endParaRPr lang="en-US" altLang="zh-CN" sz="2800" dirty="0">
                <a:latin typeface="华文细黑" panose="02010600040101010101" pitchFamily="2" charset="-122"/>
                <a:ea typeface="华文细黑" panose="02010600040101010101" pitchFamily="2" charset="-122"/>
                <a:cs typeface="Arial" panose="020B0604020202020204" pitchFamily="34" charset="0"/>
              </a:endParaRPr>
            </a:p>
            <a:p>
              <a:pPr algn="ctr">
                <a:spcAft>
                  <a:spcPts val="1200"/>
                </a:spcAft>
              </a:pPr>
              <a:r>
                <a:rPr lang="zh-CN" altLang="en-US" sz="2800" dirty="0">
                  <a:latin typeface="华文细黑" panose="02010600040101010101" pitchFamily="2" charset="-122"/>
                  <a:ea typeface="华文细黑" panose="02010600040101010101" pitchFamily="2" charset="-122"/>
                  <a:cs typeface="Arial" panose="020B0604020202020204" pitchFamily="34" charset="0"/>
                </a:rPr>
                <a:t>光刻后湿法蚀刻或液态金属模板印刷等</a:t>
              </a:r>
              <a:endParaRPr lang="en-US" altLang="zh-CN" sz="2800" dirty="0">
                <a:latin typeface="华文细黑" panose="02010600040101010101" pitchFamily="2" charset="-122"/>
                <a:ea typeface="华文细黑" panose="02010600040101010101" pitchFamily="2" charset="-122"/>
                <a:cs typeface="Arial" panose="020B0604020202020204" pitchFamily="34" charset="0"/>
              </a:endParaRPr>
            </a:p>
          </p:txBody>
        </p:sp>
        <p:sp>
          <p:nvSpPr>
            <p:cNvPr id="11" name="箭头: 下 10">
              <a:extLst>
                <a:ext uri="{FF2B5EF4-FFF2-40B4-BE49-F238E27FC236}">
                  <a16:creationId xmlns:a16="http://schemas.microsoft.com/office/drawing/2014/main" id="{09653F0A-22C2-8B18-052D-FF09242C2A33}"/>
                </a:ext>
              </a:extLst>
            </p:cNvPr>
            <p:cNvSpPr/>
            <p:nvPr/>
          </p:nvSpPr>
          <p:spPr>
            <a:xfrm>
              <a:off x="5598405" y="2957391"/>
              <a:ext cx="480127" cy="72964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箭头: 下 11">
              <a:extLst>
                <a:ext uri="{FF2B5EF4-FFF2-40B4-BE49-F238E27FC236}">
                  <a16:creationId xmlns:a16="http://schemas.microsoft.com/office/drawing/2014/main" id="{9A45C42C-73DA-E056-4E88-92D8ED2B0822}"/>
                </a:ext>
              </a:extLst>
            </p:cNvPr>
            <p:cNvSpPr/>
            <p:nvPr/>
          </p:nvSpPr>
          <p:spPr>
            <a:xfrm>
              <a:off x="5598405" y="5051786"/>
              <a:ext cx="480127" cy="72964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28540713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72307-6574-557D-E150-1B92D2108798}"/>
            </a:ext>
          </a:extLst>
        </p:cNvPr>
        <p:cNvGrpSpPr/>
        <p:nvPr/>
      </p:nvGrpSpPr>
      <p:grpSpPr>
        <a:xfrm>
          <a:off x="0" y="0"/>
          <a:ext cx="0" cy="0"/>
          <a:chOff x="0" y="0"/>
          <a:chExt cx="0" cy="0"/>
        </a:xfrm>
      </p:grpSpPr>
      <p:pic>
        <p:nvPicPr>
          <p:cNvPr id="6" name="图片 5">
            <a:extLst>
              <a:ext uri="{FF2B5EF4-FFF2-40B4-BE49-F238E27FC236}">
                <a16:creationId xmlns:a16="http://schemas.microsoft.com/office/drawing/2014/main" id="{A835B428-464F-F223-FC53-610CE750A7A1}"/>
              </a:ext>
            </a:extLst>
          </p:cNvPr>
          <p:cNvPicPr>
            <a:picLocks noChangeAspect="1"/>
          </p:cNvPicPr>
          <p:nvPr/>
        </p:nvPicPr>
        <p:blipFill>
          <a:blip r:embed="rId3"/>
          <a:stretch>
            <a:fillRect/>
          </a:stretch>
        </p:blipFill>
        <p:spPr>
          <a:xfrm>
            <a:off x="7257684" y="1218235"/>
            <a:ext cx="5115291" cy="4126938"/>
          </a:xfrm>
          <a:prstGeom prst="rect">
            <a:avLst/>
          </a:prstGeom>
        </p:spPr>
      </p:pic>
      <p:sp>
        <p:nvSpPr>
          <p:cNvPr id="4" name="矩形 3">
            <a:extLst>
              <a:ext uri="{FF2B5EF4-FFF2-40B4-BE49-F238E27FC236}">
                <a16:creationId xmlns:a16="http://schemas.microsoft.com/office/drawing/2014/main" id="{8F65A117-9B11-808B-F701-F3DDDFADD1CB}"/>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01653F65-4018-67A6-1E2E-1C368BD83069}"/>
              </a:ext>
            </a:extLst>
          </p:cNvPr>
          <p:cNvSpPr txBox="1"/>
          <p:nvPr/>
        </p:nvSpPr>
        <p:spPr>
          <a:xfrm>
            <a:off x="541079" y="608842"/>
            <a:ext cx="1122474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电路的载体形式③</a:t>
            </a:r>
          </a:p>
        </p:txBody>
      </p:sp>
      <p:sp>
        <p:nvSpPr>
          <p:cNvPr id="3" name="文本框 2">
            <a:extLst>
              <a:ext uri="{FF2B5EF4-FFF2-40B4-BE49-F238E27FC236}">
                <a16:creationId xmlns:a16="http://schemas.microsoft.com/office/drawing/2014/main" id="{6C898A65-D408-5700-3F9E-484F5EBDC338}"/>
              </a:ext>
            </a:extLst>
          </p:cNvPr>
          <p:cNvSpPr txBox="1"/>
          <p:nvPr/>
        </p:nvSpPr>
        <p:spPr>
          <a:xfrm>
            <a:off x="-1" y="1512827"/>
            <a:ext cx="10620376" cy="4724370"/>
          </a:xfrm>
          <a:prstGeom prst="rect">
            <a:avLst/>
          </a:prstGeom>
          <a:noFill/>
        </p:spPr>
        <p:txBody>
          <a:bodyPr wrap="square">
            <a:spAutoFit/>
          </a:bodyPr>
          <a:lstStyle/>
          <a:p>
            <a:pPr>
              <a:spcAft>
                <a:spcPts val="3000"/>
              </a:spcAft>
            </a:pPr>
            <a:r>
              <a:rPr lang="zh-CN" altLang="en-US" sz="2800" dirty="0">
                <a:latin typeface="Arial" panose="020B0604020202020204" pitchFamily="34" charset="0"/>
                <a:ea typeface="黑体" panose="02010609060101010101" pitchFamily="49" charset="-122"/>
                <a:cs typeface="Arial" panose="020B0604020202020204" pitchFamily="34" charset="0"/>
              </a:rPr>
              <a:t>例如</a:t>
            </a:r>
            <a:r>
              <a:rPr lang="en-US" altLang="zh-CN" sz="2800" baseline="30000" dirty="0">
                <a:latin typeface="Arial" panose="020B0604020202020204" pitchFamily="34" charset="0"/>
                <a:ea typeface="黑体" panose="02010609060101010101" pitchFamily="49" charset="-122"/>
                <a:cs typeface="Arial" panose="020B0604020202020204" pitchFamily="34" charset="0"/>
              </a:rPr>
              <a:t>[1]</a:t>
            </a:r>
            <a:r>
              <a:rPr lang="zh-CN" altLang="en-US" sz="2800" dirty="0">
                <a:latin typeface="Arial" panose="020B0604020202020204" pitchFamily="34" charset="0"/>
                <a:ea typeface="黑体" panose="02010609060101010101" pitchFamily="49" charset="-122"/>
                <a:cs typeface="Arial" panose="020B0604020202020204" pitchFamily="34" charset="0"/>
              </a:rPr>
              <a:t>，采用</a:t>
            </a:r>
            <a:r>
              <a:rPr lang="en-US" altLang="zh-CN" sz="2800" dirty="0">
                <a:latin typeface="Arial" panose="020B0604020202020204" pitchFamily="34" charset="0"/>
                <a:ea typeface="黑体" panose="02010609060101010101" pitchFamily="49" charset="-122"/>
                <a:cs typeface="Arial" panose="020B0604020202020204" pitchFamily="34" charset="0"/>
              </a:rPr>
              <a:t>FPC</a:t>
            </a:r>
            <a:r>
              <a:rPr lang="zh-CN" altLang="en-US" sz="2800" dirty="0">
                <a:latin typeface="Arial" panose="020B0604020202020204" pitchFamily="34" charset="0"/>
                <a:ea typeface="黑体" panose="02010609060101010101" pitchFamily="49" charset="-122"/>
                <a:cs typeface="Arial" panose="020B0604020202020204" pitchFamily="34" charset="0"/>
              </a:rPr>
              <a:t>制造的</a:t>
            </a:r>
            <a:r>
              <a:rPr lang="zh-CN" altLang="en-US" sz="2800" u="sng" dirty="0">
                <a:solidFill>
                  <a:srgbClr val="7030A0"/>
                </a:solidFill>
                <a:latin typeface="Arial" panose="020B0604020202020204" pitchFamily="34" charset="0"/>
                <a:ea typeface="黑体" panose="02010609060101010101" pitchFamily="49" charset="-122"/>
                <a:cs typeface="Arial" panose="020B0604020202020204" pitchFamily="34" charset="0"/>
              </a:rPr>
              <a:t>血流测量传感器平台</a:t>
            </a:r>
            <a:r>
              <a:rPr lang="zh-CN" altLang="en-US" sz="2800" dirty="0">
                <a:solidFill>
                  <a:srgbClr val="7030A0"/>
                </a:solidFill>
                <a:latin typeface="Arial" panose="020B0604020202020204" pitchFamily="34" charset="0"/>
                <a:ea typeface="黑体" panose="02010609060101010101" pitchFamily="49" charset="-122"/>
                <a:cs typeface="Arial" panose="020B0604020202020204" pitchFamily="34" charset="0"/>
              </a:rPr>
              <a:t>，</a:t>
            </a:r>
            <a:endParaRPr lang="en-US" altLang="zh-CN" sz="2800" dirty="0">
              <a:solidFill>
                <a:srgbClr val="7030A0"/>
              </a:solidFill>
              <a:latin typeface="Arial" panose="020B0604020202020204" pitchFamily="34" charset="0"/>
              <a:ea typeface="黑体" panose="02010609060101010101" pitchFamily="49" charset="-122"/>
              <a:cs typeface="Arial" panose="020B0604020202020204" pitchFamily="34" charset="0"/>
            </a:endParaRPr>
          </a:p>
          <a:p>
            <a:pPr marL="1371600" lvl="2">
              <a:spcAft>
                <a:spcPts val="3000"/>
              </a:spcAft>
              <a:buFont typeface="Arial" panose="020B0604020202020204" pitchFamily="34" charset="0"/>
              <a:buChar char="•"/>
            </a:pPr>
            <a:r>
              <a:rPr lang="zh-CN" altLang="en-US" sz="2800" dirty="0">
                <a:latin typeface="Arial" panose="020B0604020202020204" pitchFamily="34" charset="0"/>
                <a:ea typeface="黑体" panose="02010609060101010101" pitchFamily="49" charset="-122"/>
                <a:cs typeface="Arial" panose="020B0604020202020204" pitchFamily="34" charset="0"/>
              </a:rPr>
              <a:t>评估心室分流功能</a:t>
            </a:r>
            <a:endParaRPr lang="en-US" altLang="zh-CN" sz="2800" dirty="0">
              <a:latin typeface="Arial" panose="020B0604020202020204" pitchFamily="34" charset="0"/>
              <a:ea typeface="黑体" panose="02010609060101010101" pitchFamily="49" charset="-122"/>
              <a:cs typeface="Arial" panose="020B0604020202020204" pitchFamily="34" charset="0"/>
            </a:endParaRPr>
          </a:p>
          <a:p>
            <a:pPr marL="1371600" lvl="2">
              <a:spcAft>
                <a:spcPts val="3000"/>
              </a:spcAft>
              <a:buFont typeface="Arial" panose="020B0604020202020204" pitchFamily="34" charset="0"/>
              <a:buChar char="•"/>
            </a:pPr>
            <a:r>
              <a:rPr lang="zh-CN" altLang="en-US" sz="2800" dirty="0">
                <a:latin typeface="Arial" panose="020B0604020202020204" pitchFamily="34" charset="0"/>
                <a:ea typeface="黑体" panose="02010609060101010101" pitchFamily="49" charset="-122"/>
                <a:cs typeface="Arial" panose="020B0604020202020204" pitchFamily="34" charset="0"/>
              </a:rPr>
              <a:t>非侵入性、可穿戴表皮电子设备</a:t>
            </a:r>
            <a:endParaRPr lang="en-US" altLang="zh-CN" sz="2800" dirty="0">
              <a:latin typeface="Arial" panose="020B0604020202020204" pitchFamily="34" charset="0"/>
              <a:ea typeface="黑体" panose="02010609060101010101" pitchFamily="49" charset="-122"/>
              <a:cs typeface="Arial" panose="020B0604020202020204" pitchFamily="34" charset="0"/>
            </a:endParaRPr>
          </a:p>
          <a:p>
            <a:pPr>
              <a:spcAft>
                <a:spcPts val="1200"/>
              </a:spcAft>
            </a:pPr>
            <a:r>
              <a:rPr lang="en-US" altLang="zh-CN" sz="2800" dirty="0">
                <a:latin typeface="Arial" panose="020B0604020202020204" pitchFamily="34" charset="0"/>
                <a:ea typeface="黑体" panose="02010609060101010101" pitchFamily="49" charset="-122"/>
                <a:cs typeface="Arial" panose="020B0604020202020204" pitchFamily="34" charset="0"/>
              </a:rPr>
              <a:t>	</a:t>
            </a:r>
            <a:r>
              <a:rPr lang="zh-CN" altLang="en-US" sz="2800" dirty="0">
                <a:latin typeface="Arial" panose="020B0604020202020204" pitchFamily="34" charset="0"/>
                <a:ea typeface="黑体" panose="02010609060101010101" pitchFamily="49" charset="-122"/>
                <a:cs typeface="Arial" panose="020B0604020202020204" pitchFamily="34" charset="0"/>
              </a:rPr>
              <a:t>制造：</a:t>
            </a:r>
            <a:endParaRPr lang="en-US" altLang="zh-CN" sz="2800" dirty="0">
              <a:latin typeface="Arial" panose="020B0604020202020204" pitchFamily="34" charset="0"/>
              <a:ea typeface="黑体" panose="02010609060101010101" pitchFamily="49" charset="-122"/>
              <a:cs typeface="Arial" panose="020B0604020202020204" pitchFamily="34" charset="0"/>
            </a:endParaRPr>
          </a:p>
          <a:p>
            <a:pPr marL="1828800" lvl="3" indent="-457200">
              <a:spcAft>
                <a:spcPts val="1200"/>
              </a:spcAft>
              <a:buFont typeface="Arial" panose="020B0604020202020204" pitchFamily="34" charset="0"/>
              <a:buChar char="•"/>
            </a:pPr>
            <a:r>
              <a:rPr lang="zh-CN" altLang="en-US" sz="2800" dirty="0">
                <a:latin typeface="Arial" panose="020B0604020202020204" pitchFamily="34" charset="0"/>
                <a:ea typeface="黑体" panose="02010609060101010101" pitchFamily="49" charset="-122"/>
                <a:cs typeface="Arial" panose="020B0604020202020204" pitchFamily="34" charset="0"/>
              </a:rPr>
              <a:t>激光刻图（</a:t>
            </a:r>
            <a:r>
              <a:rPr lang="en-US" altLang="zh-CN" sz="2800" dirty="0">
                <a:latin typeface="Arial" panose="020B0604020202020204" pitchFamily="34" charset="0"/>
                <a:ea typeface="黑体" panose="02010609060101010101" pitchFamily="49" charset="-122"/>
                <a:cs typeface="Arial" panose="020B0604020202020204" pitchFamily="34" charset="0"/>
              </a:rPr>
              <a:t>laser patterning</a:t>
            </a:r>
            <a:r>
              <a:rPr lang="zh-CN" altLang="en-US" sz="2800" dirty="0">
                <a:latin typeface="Arial" panose="020B0604020202020204" pitchFamily="34" charset="0"/>
                <a:ea typeface="黑体" panose="02010609060101010101" pitchFamily="49" charset="-122"/>
                <a:cs typeface="Arial" panose="020B0604020202020204" pitchFamily="34" charset="0"/>
              </a:rPr>
              <a:t>）</a:t>
            </a:r>
            <a:endParaRPr lang="en-US" altLang="zh-CN" sz="2800" dirty="0">
              <a:latin typeface="Arial" panose="020B0604020202020204" pitchFamily="34" charset="0"/>
              <a:ea typeface="黑体" panose="02010609060101010101" pitchFamily="49" charset="-122"/>
              <a:cs typeface="Arial" panose="020B0604020202020204" pitchFamily="34" charset="0"/>
            </a:endParaRPr>
          </a:p>
          <a:p>
            <a:pPr marL="1828800" lvl="3" indent="-457200">
              <a:spcAft>
                <a:spcPts val="1200"/>
              </a:spcAft>
              <a:buFont typeface="Arial" panose="020B0604020202020204" pitchFamily="34" charset="0"/>
              <a:buChar char="•"/>
            </a:pPr>
            <a:r>
              <a:rPr lang="en-US" altLang="zh-CN" sz="2800" dirty="0">
                <a:latin typeface="Arial" panose="020B0604020202020204" pitchFamily="34" charset="0"/>
                <a:ea typeface="黑体" panose="02010609060101010101" pitchFamily="49" charset="-122"/>
                <a:cs typeface="Arial" panose="020B0604020202020204" pitchFamily="34" charset="0"/>
              </a:rPr>
              <a:t>Cu/Pi/Cu</a:t>
            </a:r>
            <a:r>
              <a:rPr lang="zh-CN" altLang="en-US" sz="2800" dirty="0">
                <a:latin typeface="Arial" panose="020B0604020202020204" pitchFamily="34" charset="0"/>
                <a:ea typeface="黑体" panose="02010609060101010101" pitchFamily="49" charset="-122"/>
                <a:cs typeface="Arial" panose="020B0604020202020204" pitchFamily="34" charset="0"/>
              </a:rPr>
              <a:t>三层结构</a:t>
            </a:r>
            <a:endParaRPr lang="en-US" altLang="zh-CN" sz="2800" dirty="0">
              <a:latin typeface="Arial" panose="020B0604020202020204" pitchFamily="34" charset="0"/>
              <a:ea typeface="黑体" panose="02010609060101010101" pitchFamily="49" charset="-122"/>
              <a:cs typeface="Arial" panose="020B0604020202020204" pitchFamily="34" charset="0"/>
            </a:endParaRPr>
          </a:p>
          <a:p>
            <a:pPr>
              <a:spcAft>
                <a:spcPts val="1200"/>
              </a:spcAft>
            </a:pPr>
            <a:r>
              <a:rPr lang="zh-CN" altLang="en-US" sz="2800" dirty="0">
                <a:latin typeface="Arial" panose="020B0604020202020204" pitchFamily="34" charset="0"/>
                <a:ea typeface="黑体" panose="02010609060101010101" pitchFamily="49" charset="-122"/>
                <a:cs typeface="Arial" panose="020B0604020202020204" pitchFamily="34" charset="0"/>
              </a:rPr>
              <a:t>系统集成了：电子元件、温度传感器和流量传感器。</a:t>
            </a:r>
            <a:endParaRPr lang="en-US" altLang="zh-CN" sz="2800" dirty="0">
              <a:latin typeface="Arial" panose="020B0604020202020204" pitchFamily="34" charset="0"/>
              <a:ea typeface="黑体" panose="02010609060101010101" pitchFamily="49" charset="-122"/>
              <a:cs typeface="Arial" panose="020B0604020202020204" pitchFamily="34" charset="0"/>
            </a:endParaRPr>
          </a:p>
        </p:txBody>
      </p:sp>
      <p:sp>
        <p:nvSpPr>
          <p:cNvPr id="7" name="文本框 6">
            <a:extLst>
              <a:ext uri="{FF2B5EF4-FFF2-40B4-BE49-F238E27FC236}">
                <a16:creationId xmlns:a16="http://schemas.microsoft.com/office/drawing/2014/main" id="{2848F2A5-CC2A-B7BA-5B94-A2B4B83D9470}"/>
              </a:ext>
            </a:extLst>
          </p:cNvPr>
          <p:cNvSpPr txBox="1"/>
          <p:nvPr/>
        </p:nvSpPr>
        <p:spPr>
          <a:xfrm>
            <a:off x="416967" y="81575"/>
            <a:ext cx="12192001" cy="230832"/>
          </a:xfrm>
          <a:prstGeom prst="rect">
            <a:avLst/>
          </a:prstGeom>
          <a:noFill/>
        </p:spPr>
        <p:txBody>
          <a:bodyPr wrap="square">
            <a:spAutoFit/>
          </a:bodyPr>
          <a:lstStyle/>
          <a:p>
            <a:r>
              <a:rPr lang="de-DE" altLang="zh-CN" sz="900" b="0" i="0" dirty="0">
                <a:solidFill>
                  <a:srgbClr val="222222"/>
                </a:solidFill>
                <a:effectLst/>
                <a:latin typeface="Arial" panose="020B0604020202020204" pitchFamily="34" charset="0"/>
              </a:rPr>
              <a:t>[1] Krishnan, Siddharth R., et al. "Epidermal electronics for noninvasive, wireless, quantitative assessment of ventricular shunt function in patients with hydrocephalus." </a:t>
            </a:r>
            <a:r>
              <a:rPr lang="de-DE" altLang="zh-CN" sz="900" b="0" i="1" dirty="0">
                <a:solidFill>
                  <a:srgbClr val="222222"/>
                </a:solidFill>
                <a:effectLst/>
                <a:latin typeface="Arial" panose="020B0604020202020204" pitchFamily="34" charset="0"/>
              </a:rPr>
              <a:t>Science translational medicine</a:t>
            </a:r>
            <a:r>
              <a:rPr lang="de-DE" altLang="zh-CN" sz="900" b="0" i="0" dirty="0">
                <a:solidFill>
                  <a:srgbClr val="222222"/>
                </a:solidFill>
                <a:effectLst/>
                <a:latin typeface="Arial" panose="020B0604020202020204" pitchFamily="34" charset="0"/>
              </a:rPr>
              <a:t> 10.465 (2018): eaat8437.</a:t>
            </a:r>
            <a:endParaRPr lang="zh-CN" altLang="en-US" sz="900" dirty="0"/>
          </a:p>
        </p:txBody>
      </p:sp>
    </p:spTree>
    <p:extLst>
      <p:ext uri="{BB962C8B-B14F-4D97-AF65-F5344CB8AC3E}">
        <p14:creationId xmlns:p14="http://schemas.microsoft.com/office/powerpoint/2010/main" val="620017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62BA6-A2DA-9900-0AFF-1E9D9CBC3CFF}"/>
            </a:ext>
          </a:extLst>
        </p:cNvPr>
        <p:cNvGrpSpPr/>
        <p:nvPr/>
      </p:nvGrpSpPr>
      <p:grpSpPr>
        <a:xfrm>
          <a:off x="0" y="0"/>
          <a:ext cx="0" cy="0"/>
          <a:chOff x="0" y="0"/>
          <a:chExt cx="0" cy="0"/>
        </a:xfrm>
      </p:grpSpPr>
      <p:pic>
        <p:nvPicPr>
          <p:cNvPr id="6" name="图片 5">
            <a:extLst>
              <a:ext uri="{FF2B5EF4-FFF2-40B4-BE49-F238E27FC236}">
                <a16:creationId xmlns:a16="http://schemas.microsoft.com/office/drawing/2014/main" id="{C38757BE-F141-7994-5B42-52FC96CE0055}"/>
              </a:ext>
            </a:extLst>
          </p:cNvPr>
          <p:cNvPicPr>
            <a:picLocks noChangeAspect="1"/>
          </p:cNvPicPr>
          <p:nvPr/>
        </p:nvPicPr>
        <p:blipFill>
          <a:blip r:embed="rId3"/>
          <a:stretch>
            <a:fillRect/>
          </a:stretch>
        </p:blipFill>
        <p:spPr>
          <a:xfrm>
            <a:off x="7076709" y="1218235"/>
            <a:ext cx="5115291" cy="4126938"/>
          </a:xfrm>
          <a:prstGeom prst="rect">
            <a:avLst/>
          </a:prstGeom>
        </p:spPr>
      </p:pic>
      <p:sp>
        <p:nvSpPr>
          <p:cNvPr id="4" name="矩形 3">
            <a:extLst>
              <a:ext uri="{FF2B5EF4-FFF2-40B4-BE49-F238E27FC236}">
                <a16:creationId xmlns:a16="http://schemas.microsoft.com/office/drawing/2014/main" id="{FD45BEB8-0BB4-DFC5-BD1A-9F5D614497BC}"/>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E183E322-0188-731E-BDDF-FD8195F3E9A4}"/>
              </a:ext>
            </a:extLst>
          </p:cNvPr>
          <p:cNvSpPr txBox="1"/>
          <p:nvPr/>
        </p:nvSpPr>
        <p:spPr>
          <a:xfrm>
            <a:off x="541079" y="608842"/>
            <a:ext cx="1122474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电路的载体形式③</a:t>
            </a:r>
          </a:p>
        </p:txBody>
      </p:sp>
      <p:sp>
        <p:nvSpPr>
          <p:cNvPr id="3" name="文本框 2">
            <a:extLst>
              <a:ext uri="{FF2B5EF4-FFF2-40B4-BE49-F238E27FC236}">
                <a16:creationId xmlns:a16="http://schemas.microsoft.com/office/drawing/2014/main" id="{897EF2D4-4B53-BD6E-7649-CE7D975B5C6C}"/>
              </a:ext>
            </a:extLst>
          </p:cNvPr>
          <p:cNvSpPr txBox="1"/>
          <p:nvPr/>
        </p:nvSpPr>
        <p:spPr>
          <a:xfrm>
            <a:off x="-85725" y="1621040"/>
            <a:ext cx="9982200" cy="2739211"/>
          </a:xfrm>
          <a:prstGeom prst="rect">
            <a:avLst/>
          </a:prstGeom>
          <a:noFill/>
        </p:spPr>
        <p:txBody>
          <a:bodyPr wrap="square">
            <a:spAutoFit/>
          </a:bodyPr>
          <a:lstStyle/>
          <a:p>
            <a:pPr>
              <a:spcAft>
                <a:spcPts val="2400"/>
              </a:spcAft>
            </a:pPr>
            <a:r>
              <a:rPr lang="zh-CN" altLang="en-US" sz="2800" dirty="0">
                <a:latin typeface="Arial" panose="020B0604020202020204" pitchFamily="34" charset="0"/>
                <a:ea typeface="黑体" panose="02010609060101010101" pitchFamily="49" charset="-122"/>
                <a:cs typeface="Arial" panose="020B0604020202020204" pitchFamily="34" charset="0"/>
              </a:rPr>
              <a:t>整个装置</a:t>
            </a:r>
            <a:endParaRPr lang="en-US" altLang="zh-CN" sz="2800" dirty="0">
              <a:latin typeface="Arial" panose="020B0604020202020204" pitchFamily="34" charset="0"/>
              <a:ea typeface="黑体" panose="02010609060101010101" pitchFamily="49" charset="-122"/>
              <a:cs typeface="Arial" panose="020B0604020202020204" pitchFamily="34" charset="0"/>
            </a:endParaRPr>
          </a:p>
          <a:p>
            <a:pPr indent="457200">
              <a:spcAft>
                <a:spcPts val="2400"/>
              </a:spcAft>
            </a:pPr>
            <a:r>
              <a:rPr lang="en-US" altLang="zh-CN" sz="2800" dirty="0">
                <a:latin typeface="Arial" panose="020B0604020202020204" pitchFamily="34" charset="0"/>
                <a:ea typeface="黑体" panose="02010609060101010101" pitchFamily="49" charset="-122"/>
                <a:cs typeface="Arial" panose="020B0604020202020204" pitchFamily="34" charset="0"/>
              </a:rPr>
              <a:t>	</a:t>
            </a:r>
            <a:r>
              <a:rPr lang="zh-CN" altLang="en-US" sz="2800" dirty="0">
                <a:latin typeface="Arial" panose="020B0604020202020204" pitchFamily="34" charset="0"/>
                <a:ea typeface="黑体" panose="02010609060101010101" pitchFamily="49" charset="-122"/>
                <a:cs typeface="Arial" panose="020B0604020202020204" pitchFamily="34" charset="0"/>
              </a:rPr>
              <a:t>尺寸：</a:t>
            </a:r>
            <a:r>
              <a:rPr lang="en-US" altLang="zh-CN" sz="2800" dirty="0">
                <a:latin typeface="Arial" panose="020B0604020202020204" pitchFamily="34" charset="0"/>
                <a:ea typeface="黑体" panose="02010609060101010101" pitchFamily="49" charset="-122"/>
                <a:cs typeface="Arial" panose="020B0604020202020204" pitchFamily="34" charset="0"/>
              </a:rPr>
              <a:t>1.8cm x 4.1cm</a:t>
            </a:r>
            <a:r>
              <a:rPr lang="zh-CN" altLang="en-US" sz="2800" dirty="0">
                <a:latin typeface="Arial" panose="020B0604020202020204" pitchFamily="34" charset="0"/>
                <a:ea typeface="黑体" panose="02010609060101010101" pitchFamily="49" charset="-122"/>
                <a:cs typeface="Arial" panose="020B0604020202020204" pitchFamily="34" charset="0"/>
              </a:rPr>
              <a:t>；</a:t>
            </a:r>
            <a:endParaRPr lang="en-US" altLang="zh-CN" sz="2800" dirty="0">
              <a:latin typeface="Arial" panose="020B0604020202020204" pitchFamily="34" charset="0"/>
              <a:ea typeface="黑体" panose="02010609060101010101" pitchFamily="49" charset="-122"/>
              <a:cs typeface="Arial" panose="020B0604020202020204" pitchFamily="34" charset="0"/>
            </a:endParaRPr>
          </a:p>
          <a:p>
            <a:pPr indent="457200">
              <a:spcAft>
                <a:spcPts val="2400"/>
              </a:spcAft>
            </a:pPr>
            <a:r>
              <a:rPr lang="en-US" altLang="zh-CN" sz="2800" dirty="0">
                <a:latin typeface="Arial" panose="020B0604020202020204" pitchFamily="34" charset="0"/>
                <a:ea typeface="黑体" panose="02010609060101010101" pitchFamily="49" charset="-122"/>
                <a:cs typeface="Arial" panose="020B0604020202020204" pitchFamily="34" charset="0"/>
              </a:rPr>
              <a:t>	</a:t>
            </a:r>
            <a:r>
              <a:rPr lang="zh-CN" altLang="en-US" sz="2800" dirty="0">
                <a:latin typeface="Arial" panose="020B0604020202020204" pitchFamily="34" charset="0"/>
                <a:ea typeface="黑体" panose="02010609060101010101" pitchFamily="49" charset="-122"/>
                <a:cs typeface="Arial" panose="020B0604020202020204" pitchFamily="34" charset="0"/>
              </a:rPr>
              <a:t>厚度：约</a:t>
            </a:r>
            <a:r>
              <a:rPr lang="en-US" altLang="zh-CN" sz="2800" dirty="0">
                <a:latin typeface="Arial" panose="020B0604020202020204" pitchFamily="34" charset="0"/>
                <a:ea typeface="黑体" panose="02010609060101010101" pitchFamily="49" charset="-122"/>
                <a:cs typeface="Arial" panose="020B0604020202020204" pitchFamily="34" charset="0"/>
              </a:rPr>
              <a:t>100µm</a:t>
            </a:r>
            <a:r>
              <a:rPr lang="zh-CN" altLang="en-US" sz="2800" dirty="0">
                <a:latin typeface="Arial" panose="020B0604020202020204" pitchFamily="34" charset="0"/>
                <a:ea typeface="黑体" panose="02010609060101010101" pitchFamily="49" charset="-122"/>
                <a:cs typeface="Arial" panose="020B0604020202020204" pitchFamily="34" charset="0"/>
              </a:rPr>
              <a:t>，不包括电池厚度</a:t>
            </a:r>
            <a:r>
              <a:rPr lang="en-US" altLang="zh-CN" sz="2800" dirty="0">
                <a:latin typeface="Arial" panose="020B0604020202020204" pitchFamily="34" charset="0"/>
                <a:ea typeface="黑体" panose="02010609060101010101" pitchFamily="49" charset="-122"/>
                <a:cs typeface="Arial" panose="020B0604020202020204" pitchFamily="34" charset="0"/>
              </a:rPr>
              <a:t>4mm</a:t>
            </a:r>
          </a:p>
          <a:p>
            <a:pPr indent="457200">
              <a:spcAft>
                <a:spcPts val="2400"/>
              </a:spcAft>
            </a:pPr>
            <a:r>
              <a:rPr lang="en-US" altLang="zh-CN" sz="2800" dirty="0">
                <a:latin typeface="Arial" panose="020B0604020202020204" pitchFamily="34" charset="0"/>
                <a:ea typeface="黑体" panose="02010609060101010101" pitchFamily="49" charset="-122"/>
                <a:cs typeface="Arial" panose="020B0604020202020204" pitchFamily="34" charset="0"/>
              </a:rPr>
              <a:t>	</a:t>
            </a:r>
            <a:r>
              <a:rPr lang="zh-CN" altLang="en-US" sz="2800" dirty="0">
                <a:latin typeface="Arial" panose="020B0604020202020204" pitchFamily="34" charset="0"/>
                <a:ea typeface="黑体" panose="02010609060101010101" pitchFamily="49" charset="-122"/>
                <a:cs typeface="Arial" panose="020B0604020202020204" pitchFamily="34" charset="0"/>
              </a:rPr>
              <a:t>重量：</a:t>
            </a:r>
            <a:r>
              <a:rPr lang="en-US" altLang="zh-CN" sz="2800" dirty="0">
                <a:latin typeface="Arial" panose="020B0604020202020204" pitchFamily="34" charset="0"/>
                <a:ea typeface="黑体" panose="02010609060101010101" pitchFamily="49" charset="-122"/>
                <a:cs typeface="Arial" panose="020B0604020202020204" pitchFamily="34" charset="0"/>
              </a:rPr>
              <a:t>680mg</a:t>
            </a:r>
            <a:r>
              <a:rPr lang="zh-CN" altLang="en-US" sz="2800" dirty="0">
                <a:latin typeface="Arial" panose="020B0604020202020204" pitchFamily="34" charset="0"/>
                <a:ea typeface="黑体" panose="02010609060101010101" pitchFamily="49" charset="-122"/>
                <a:cs typeface="Arial" panose="020B0604020202020204" pitchFamily="34" charset="0"/>
              </a:rPr>
              <a:t>（包括 </a:t>
            </a:r>
            <a:r>
              <a:rPr lang="en-US" altLang="zh-CN" sz="2800" dirty="0">
                <a:latin typeface="Arial" panose="020B0604020202020204" pitchFamily="34" charset="0"/>
                <a:ea typeface="黑体" panose="02010609060101010101" pitchFamily="49" charset="-122"/>
                <a:cs typeface="Arial" panose="020B0604020202020204" pitchFamily="34" charset="0"/>
              </a:rPr>
              <a:t>330 mg </a:t>
            </a:r>
            <a:r>
              <a:rPr lang="zh-CN" altLang="en-US" sz="2800" dirty="0">
                <a:latin typeface="Arial" panose="020B0604020202020204" pitchFamily="34" charset="0"/>
                <a:ea typeface="黑体" panose="02010609060101010101" pitchFamily="49" charset="-122"/>
                <a:cs typeface="Arial" panose="020B0604020202020204" pitchFamily="34" charset="0"/>
              </a:rPr>
              <a:t>电池）</a:t>
            </a:r>
            <a:endParaRPr lang="en-US" altLang="zh-CN" sz="2800" dirty="0">
              <a:latin typeface="Arial" panose="020B0604020202020204" pitchFamily="34" charset="0"/>
              <a:ea typeface="黑体" panose="02010609060101010101" pitchFamily="49" charset="-122"/>
              <a:cs typeface="Arial" panose="020B0604020202020204" pitchFamily="34" charset="0"/>
            </a:endParaRPr>
          </a:p>
        </p:txBody>
      </p:sp>
      <p:sp>
        <p:nvSpPr>
          <p:cNvPr id="8" name="文本框 7">
            <a:extLst>
              <a:ext uri="{FF2B5EF4-FFF2-40B4-BE49-F238E27FC236}">
                <a16:creationId xmlns:a16="http://schemas.microsoft.com/office/drawing/2014/main" id="{6749F111-1041-0875-5FCA-C34F0F48EDB0}"/>
              </a:ext>
            </a:extLst>
          </p:cNvPr>
          <p:cNvSpPr txBox="1"/>
          <p:nvPr/>
        </p:nvSpPr>
        <p:spPr>
          <a:xfrm>
            <a:off x="85725" y="5345173"/>
            <a:ext cx="12020549" cy="1107996"/>
          </a:xfrm>
          <a:prstGeom prst="rect">
            <a:avLst/>
          </a:prstGeom>
          <a:noFill/>
        </p:spPr>
        <p:txBody>
          <a:bodyPr wrap="square">
            <a:spAutoFit/>
          </a:bodyPr>
          <a:lstStyle/>
          <a:p>
            <a:pPr>
              <a:spcAft>
                <a:spcPts val="1200"/>
              </a:spcAft>
            </a:pPr>
            <a:r>
              <a:rPr lang="zh-CN" altLang="en-US" sz="2800" dirty="0">
                <a:latin typeface="Arial" panose="020B0604020202020204" pitchFamily="34" charset="0"/>
                <a:ea typeface="黑体" panose="02010609060101010101" pitchFamily="49" charset="-122"/>
                <a:cs typeface="Arial" panose="020B0604020202020204" pitchFamily="34" charset="0"/>
              </a:rPr>
              <a:t>在</a:t>
            </a:r>
            <a:r>
              <a:rPr lang="en-US" altLang="zh-CN" sz="2800" dirty="0">
                <a:latin typeface="Arial" panose="020B0604020202020204" pitchFamily="34" charset="0"/>
                <a:ea typeface="黑体" panose="02010609060101010101" pitchFamily="49" charset="-122"/>
                <a:cs typeface="Arial" panose="020B0604020202020204" pitchFamily="34" charset="0"/>
              </a:rPr>
              <a:t>FPC</a:t>
            </a:r>
            <a:r>
              <a:rPr lang="zh-CN" altLang="en-US" sz="2800" dirty="0">
                <a:latin typeface="Arial" panose="020B0604020202020204" pitchFamily="34" charset="0"/>
                <a:ea typeface="黑体" panose="02010609060101010101" pitchFamily="49" charset="-122"/>
                <a:cs typeface="Arial" panose="020B0604020202020204" pitchFamily="34" charset="0"/>
              </a:rPr>
              <a:t>上集成了：柔性传感元件、锂聚合物电池、蓝牙芯片和电源。</a:t>
            </a:r>
            <a:endParaRPr lang="en-US" altLang="zh-CN" sz="2800" dirty="0">
              <a:latin typeface="Arial" panose="020B0604020202020204" pitchFamily="34" charset="0"/>
              <a:ea typeface="黑体" panose="02010609060101010101" pitchFamily="49" charset="-122"/>
              <a:cs typeface="Arial" panose="020B0604020202020204" pitchFamily="34" charset="0"/>
            </a:endParaRPr>
          </a:p>
          <a:p>
            <a:pPr>
              <a:spcAft>
                <a:spcPts val="1200"/>
              </a:spcAft>
            </a:pPr>
            <a:r>
              <a:rPr lang="zh-CN" altLang="en-US" sz="2800" dirty="0">
                <a:latin typeface="Arial" panose="020B0604020202020204" pitchFamily="34" charset="0"/>
                <a:ea typeface="黑体" panose="02010609060101010101" pitchFamily="49" charset="-122"/>
                <a:cs typeface="Arial" panose="020B0604020202020204" pitchFamily="34" charset="0"/>
              </a:rPr>
              <a:t>可以紧密贴合皮肤，通过无线传输方式</a:t>
            </a:r>
            <a:r>
              <a:rPr lang="zh-CN" altLang="en-US" sz="2800" dirty="0">
                <a:solidFill>
                  <a:srgbClr val="7030A0"/>
                </a:solidFill>
                <a:latin typeface="Arial" panose="020B0604020202020204" pitchFamily="34" charset="0"/>
                <a:ea typeface="黑体" panose="02010609060101010101" pitchFamily="49" charset="-122"/>
                <a:cs typeface="Arial" panose="020B0604020202020204" pitchFamily="34" charset="0"/>
              </a:rPr>
              <a:t>连续监测血流</a:t>
            </a:r>
            <a:r>
              <a:rPr lang="zh-CN" altLang="en-US" sz="2800" dirty="0">
                <a:latin typeface="Arial" panose="020B0604020202020204" pitchFamily="34" charset="0"/>
                <a:ea typeface="黑体" panose="02010609060101010101" pitchFamily="49" charset="-122"/>
                <a:cs typeface="Arial" panose="020B0604020202020204" pitchFamily="34" charset="0"/>
              </a:rPr>
              <a:t>。</a:t>
            </a:r>
          </a:p>
        </p:txBody>
      </p:sp>
      <p:sp>
        <p:nvSpPr>
          <p:cNvPr id="7" name="文本框 6">
            <a:extLst>
              <a:ext uri="{FF2B5EF4-FFF2-40B4-BE49-F238E27FC236}">
                <a16:creationId xmlns:a16="http://schemas.microsoft.com/office/drawing/2014/main" id="{CBC0BACD-DBE2-CB4C-08EF-E8308E1893B1}"/>
              </a:ext>
            </a:extLst>
          </p:cNvPr>
          <p:cNvSpPr txBox="1"/>
          <p:nvPr/>
        </p:nvSpPr>
        <p:spPr>
          <a:xfrm>
            <a:off x="416967" y="81575"/>
            <a:ext cx="12192001" cy="230832"/>
          </a:xfrm>
          <a:prstGeom prst="rect">
            <a:avLst/>
          </a:prstGeom>
          <a:noFill/>
        </p:spPr>
        <p:txBody>
          <a:bodyPr wrap="square">
            <a:spAutoFit/>
          </a:bodyPr>
          <a:lstStyle/>
          <a:p>
            <a:r>
              <a:rPr lang="de-DE" altLang="zh-CN" sz="900" b="0" i="0" dirty="0">
                <a:solidFill>
                  <a:srgbClr val="222222"/>
                </a:solidFill>
                <a:effectLst/>
                <a:latin typeface="Arial" panose="020B0604020202020204" pitchFamily="34" charset="0"/>
              </a:rPr>
              <a:t>[1] Krishnan, Siddharth R., et al. "Epidermal electronics for noninvasive, wireless, quantitative assessment of ventricular shunt function in patients with hydrocephalus." </a:t>
            </a:r>
            <a:r>
              <a:rPr lang="de-DE" altLang="zh-CN" sz="900" b="0" i="1" dirty="0">
                <a:solidFill>
                  <a:srgbClr val="222222"/>
                </a:solidFill>
                <a:effectLst/>
                <a:latin typeface="Arial" panose="020B0604020202020204" pitchFamily="34" charset="0"/>
              </a:rPr>
              <a:t>Science translational medicine</a:t>
            </a:r>
            <a:r>
              <a:rPr lang="de-DE" altLang="zh-CN" sz="900" b="0" i="0" dirty="0">
                <a:solidFill>
                  <a:srgbClr val="222222"/>
                </a:solidFill>
                <a:effectLst/>
                <a:latin typeface="Arial" panose="020B0604020202020204" pitchFamily="34" charset="0"/>
              </a:rPr>
              <a:t> 10.465 (2018): eaat8437.</a:t>
            </a:r>
            <a:endParaRPr lang="zh-CN" altLang="en-US" sz="900" dirty="0"/>
          </a:p>
        </p:txBody>
      </p:sp>
    </p:spTree>
    <p:extLst>
      <p:ext uri="{BB962C8B-B14F-4D97-AF65-F5344CB8AC3E}">
        <p14:creationId xmlns:p14="http://schemas.microsoft.com/office/powerpoint/2010/main" val="29751557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4848F-DF66-7135-6F86-CA62DC1FB0E4}"/>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A6131D44-30CE-71B1-794E-771ACD8D2E54}"/>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文本框 2">
            <a:extLst>
              <a:ext uri="{FF2B5EF4-FFF2-40B4-BE49-F238E27FC236}">
                <a16:creationId xmlns:a16="http://schemas.microsoft.com/office/drawing/2014/main" id="{1339B886-1DCA-40EC-8266-A03BDD06AD9A}"/>
              </a:ext>
            </a:extLst>
          </p:cNvPr>
          <p:cNvSpPr txBox="1"/>
          <p:nvPr/>
        </p:nvSpPr>
        <p:spPr>
          <a:xfrm>
            <a:off x="541079" y="1408168"/>
            <a:ext cx="11650921" cy="4108817"/>
          </a:xfrm>
          <a:prstGeom prst="rect">
            <a:avLst/>
          </a:prstGeom>
          <a:noFill/>
        </p:spPr>
        <p:txBody>
          <a:bodyPr wrap="square">
            <a:spAutoFit/>
          </a:bodyPr>
          <a:lstStyle/>
          <a:p>
            <a:pPr>
              <a:spcAft>
                <a:spcPts val="3000"/>
              </a:spcAft>
            </a:pPr>
            <a:r>
              <a:rPr lang="zh-CN" altLang="en-US" sz="3600" b="0" i="0" dirty="0">
                <a:effectLst/>
                <a:latin typeface="黑体" panose="02010609060101010101" pitchFamily="49" charset="-122"/>
                <a:ea typeface="黑体" panose="02010609060101010101" pitchFamily="49" charset="-122"/>
              </a:rPr>
              <a:t>柔性印刷电路板</a:t>
            </a:r>
            <a:r>
              <a:rPr lang="zh-CN" altLang="en-US" sz="3600" dirty="0">
                <a:latin typeface="黑体" panose="02010609060101010101" pitchFamily="49" charset="-122"/>
                <a:ea typeface="黑体" panose="02010609060101010101" pitchFamily="49" charset="-122"/>
              </a:rPr>
              <a:t>的</a:t>
            </a:r>
            <a:r>
              <a:rPr lang="zh-CN" altLang="en-US" sz="3600" b="0" i="0" dirty="0">
                <a:effectLst/>
                <a:latin typeface="黑体" panose="02010609060101010101" pitchFamily="49" charset="-122"/>
                <a:ea typeface="黑体" panose="02010609060101010101" pitchFamily="49" charset="-122"/>
                <a:cs typeface="Times New Roman" panose="02020603050405020304" pitchFamily="18" charset="0"/>
              </a:rPr>
              <a:t>优势：</a:t>
            </a:r>
            <a:endParaRPr lang="en-US" altLang="zh-CN" sz="3600" b="0" i="0" dirty="0">
              <a:effectLst/>
              <a:latin typeface="黑体" panose="02010609060101010101" pitchFamily="49" charset="-122"/>
              <a:ea typeface="黑体" panose="02010609060101010101" pitchFamily="49" charset="-122"/>
              <a:cs typeface="Times New Roman" panose="02020603050405020304" pitchFamily="18" charset="0"/>
            </a:endParaRPr>
          </a:p>
          <a:p>
            <a:pPr>
              <a:spcAft>
                <a:spcPts val="1200"/>
              </a:spcAft>
            </a:pPr>
            <a:r>
              <a:rPr lang="en-US" altLang="zh-CN" sz="3600" dirty="0">
                <a:solidFill>
                  <a:srgbClr val="7030A0"/>
                </a:solidFill>
                <a:latin typeface="黑体" panose="02010609060101010101" pitchFamily="49" charset="-122"/>
                <a:ea typeface="黑体" panose="02010609060101010101" pitchFamily="49" charset="-122"/>
                <a:cs typeface="Times New Roman" panose="02020603050405020304" pitchFamily="18" charset="0"/>
              </a:rPr>
              <a:t>1. </a:t>
            </a:r>
            <a:r>
              <a:rPr lang="zh-CN" altLang="en-US" sz="3600" b="0" i="0" dirty="0">
                <a:solidFill>
                  <a:srgbClr val="7030A0"/>
                </a:solidFill>
                <a:effectLst/>
                <a:latin typeface="黑体" panose="02010609060101010101" pitchFamily="49" charset="-122"/>
                <a:ea typeface="黑体" panose="02010609060101010101" pitchFamily="49" charset="-122"/>
                <a:cs typeface="Times New Roman" panose="02020603050405020304" pitchFamily="18" charset="0"/>
              </a:rPr>
              <a:t>重量轻</a:t>
            </a:r>
            <a:endParaRPr lang="en-US" altLang="zh-CN" sz="3600" b="0" i="0" dirty="0">
              <a:solidFill>
                <a:srgbClr val="7030A0"/>
              </a:solidFill>
              <a:effectLst/>
              <a:latin typeface="黑体" panose="02010609060101010101" pitchFamily="49" charset="-122"/>
              <a:ea typeface="黑体" panose="02010609060101010101" pitchFamily="49" charset="-122"/>
              <a:cs typeface="Times New Roman" panose="02020603050405020304" pitchFamily="18" charset="0"/>
            </a:endParaRPr>
          </a:p>
          <a:p>
            <a:pPr>
              <a:spcAft>
                <a:spcPts val="1200"/>
              </a:spcAft>
            </a:pPr>
            <a:r>
              <a:rPr lang="zh-CN" altLang="en-US" sz="3600" dirty="0">
                <a:latin typeface="黑体" panose="02010609060101010101" pitchFamily="49" charset="-122"/>
                <a:ea typeface="黑体" panose="02010609060101010101" pitchFamily="49" charset="-122"/>
                <a:cs typeface="Times New Roman" panose="02020603050405020304" pitchFamily="18" charset="0"/>
              </a:rPr>
              <a:t>在</a:t>
            </a:r>
            <a:r>
              <a:rPr lang="zh-CN" altLang="en-US" sz="3600" u="sng" dirty="0">
                <a:latin typeface="黑体" panose="02010609060101010101" pitchFamily="49" charset="-122"/>
                <a:ea typeface="黑体" panose="02010609060101010101" pitchFamily="49" charset="-122"/>
                <a:cs typeface="Times New Roman" panose="02020603050405020304" pitchFamily="18" charset="0"/>
              </a:rPr>
              <a:t>重量为</a:t>
            </a:r>
            <a:r>
              <a:rPr lang="zh-CN" altLang="en-US" sz="3600" b="0" i="0" u="sng" dirty="0">
                <a:effectLst/>
                <a:latin typeface="黑体" panose="02010609060101010101" pitchFamily="49" charset="-122"/>
                <a:ea typeface="黑体" panose="02010609060101010101" pitchFamily="49" charset="-122"/>
                <a:cs typeface="Times New Roman" panose="02020603050405020304" pitchFamily="18" charset="0"/>
              </a:rPr>
              <a:t>关键考量因素</a:t>
            </a:r>
            <a:r>
              <a:rPr lang="zh-CN" altLang="en-US" sz="3600" b="0" i="0" dirty="0">
                <a:effectLst/>
                <a:latin typeface="黑体" panose="02010609060101010101" pitchFamily="49" charset="-122"/>
                <a:ea typeface="黑体" panose="02010609060101010101" pitchFamily="49" charset="-122"/>
                <a:cs typeface="Times New Roman" panose="02020603050405020304" pitchFamily="18" charset="0"/>
              </a:rPr>
              <a:t>的应用中，</a:t>
            </a:r>
            <a:r>
              <a:rPr lang="en-US" altLang="zh-CN" sz="3600" b="0" i="0" dirty="0">
                <a:effectLst/>
                <a:latin typeface="黑体" panose="02010609060101010101" pitchFamily="49" charset="-122"/>
                <a:ea typeface="黑体" panose="02010609060101010101" pitchFamily="49" charset="-122"/>
                <a:cs typeface="Times New Roman" panose="02020603050405020304" pitchFamily="18" charset="0"/>
              </a:rPr>
              <a:t>FPC</a:t>
            </a:r>
            <a:r>
              <a:rPr lang="zh-CN" altLang="en-US" sz="3600" b="0" i="0" dirty="0">
                <a:effectLst/>
                <a:latin typeface="黑体" panose="02010609060101010101" pitchFamily="49" charset="-122"/>
                <a:ea typeface="黑体" panose="02010609060101010101" pitchFamily="49" charset="-122"/>
                <a:cs typeface="Times New Roman" panose="02020603050405020304" pitchFamily="18" charset="0"/>
              </a:rPr>
              <a:t>可提供比刚性电路板更轻的电子电路</a:t>
            </a:r>
            <a:endParaRPr lang="en-US" altLang="zh-CN" sz="3600" b="0" i="0" dirty="0">
              <a:effectLst/>
              <a:latin typeface="黑体" panose="02010609060101010101" pitchFamily="49" charset="-122"/>
              <a:ea typeface="黑体" panose="02010609060101010101" pitchFamily="49" charset="-122"/>
              <a:cs typeface="Times New Roman" panose="02020603050405020304" pitchFamily="18" charset="0"/>
            </a:endParaRPr>
          </a:p>
          <a:p>
            <a:endParaRPr lang="en-US" altLang="zh-CN" sz="3600" b="0" i="0" dirty="0">
              <a:effectLst/>
              <a:latin typeface="黑体" panose="02010609060101010101" pitchFamily="49" charset="-122"/>
              <a:ea typeface="黑体" panose="02010609060101010101" pitchFamily="49" charset="-122"/>
              <a:cs typeface="Times New Roman" panose="02020603050405020304" pitchFamily="18" charset="0"/>
            </a:endParaRPr>
          </a:p>
          <a:p>
            <a:endParaRPr lang="de-DE" altLang="zh-CN" sz="3600" b="0" i="0" dirty="0">
              <a:effectLst/>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 name="文本框 1">
            <a:extLst>
              <a:ext uri="{FF2B5EF4-FFF2-40B4-BE49-F238E27FC236}">
                <a16:creationId xmlns:a16="http://schemas.microsoft.com/office/drawing/2014/main" id="{7A3FF710-1C14-1B1D-CA13-87972C700B7A}"/>
              </a:ext>
            </a:extLst>
          </p:cNvPr>
          <p:cNvSpPr txBox="1"/>
          <p:nvPr/>
        </p:nvSpPr>
        <p:spPr>
          <a:xfrm>
            <a:off x="541079" y="608842"/>
            <a:ext cx="9581976"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电路的载体形式③</a:t>
            </a:r>
          </a:p>
        </p:txBody>
      </p:sp>
    </p:spTree>
    <p:extLst>
      <p:ext uri="{BB962C8B-B14F-4D97-AF65-F5344CB8AC3E}">
        <p14:creationId xmlns:p14="http://schemas.microsoft.com/office/powerpoint/2010/main" val="41262180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3C1FF-A63C-607D-6B06-913BC098CC62}"/>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1BEA516A-9D44-330D-1BA4-A74DA7352712}"/>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文本框 2">
            <a:extLst>
              <a:ext uri="{FF2B5EF4-FFF2-40B4-BE49-F238E27FC236}">
                <a16:creationId xmlns:a16="http://schemas.microsoft.com/office/drawing/2014/main" id="{94D4157F-686C-9F01-B6D9-33F13FD35A0B}"/>
              </a:ext>
            </a:extLst>
          </p:cNvPr>
          <p:cNvSpPr txBox="1"/>
          <p:nvPr/>
        </p:nvSpPr>
        <p:spPr>
          <a:xfrm>
            <a:off x="541079" y="1408168"/>
            <a:ext cx="11650921" cy="5847755"/>
          </a:xfrm>
          <a:prstGeom prst="rect">
            <a:avLst/>
          </a:prstGeom>
          <a:noFill/>
        </p:spPr>
        <p:txBody>
          <a:bodyPr wrap="square">
            <a:spAutoFit/>
          </a:bodyPr>
          <a:lstStyle/>
          <a:p>
            <a:pPr>
              <a:spcAft>
                <a:spcPts val="1800"/>
              </a:spcAft>
            </a:pPr>
            <a:r>
              <a:rPr lang="zh-CN" altLang="en-US" sz="3600" b="0" i="0" dirty="0">
                <a:effectLst/>
                <a:latin typeface="黑体" panose="02010609060101010101" pitchFamily="49" charset="-122"/>
                <a:ea typeface="黑体" panose="02010609060101010101" pitchFamily="49" charset="-122"/>
              </a:rPr>
              <a:t>柔性印刷电路板</a:t>
            </a:r>
            <a:r>
              <a:rPr lang="zh-CN" altLang="en-US" sz="3600" dirty="0">
                <a:latin typeface="黑体" panose="02010609060101010101" pitchFamily="49" charset="-122"/>
                <a:ea typeface="黑体" panose="02010609060101010101" pitchFamily="49" charset="-122"/>
              </a:rPr>
              <a:t>的</a:t>
            </a:r>
            <a:r>
              <a:rPr lang="zh-CN" altLang="en-US" sz="3600" b="0" i="0" dirty="0">
                <a:solidFill>
                  <a:srgbClr val="7030A0"/>
                </a:solidFill>
                <a:effectLst/>
                <a:latin typeface="黑体" panose="02010609060101010101" pitchFamily="49" charset="-122"/>
                <a:ea typeface="黑体" panose="02010609060101010101" pitchFamily="49" charset="-122"/>
                <a:cs typeface="Times New Roman" panose="02020603050405020304" pitchFamily="18" charset="0"/>
              </a:rPr>
              <a:t>优势</a:t>
            </a:r>
            <a:r>
              <a:rPr lang="zh-CN" altLang="en-US" sz="3600" b="0" i="0" dirty="0">
                <a:effectLst/>
                <a:latin typeface="黑体" panose="02010609060101010101" pitchFamily="49" charset="-122"/>
                <a:ea typeface="黑体" panose="02010609060101010101" pitchFamily="49" charset="-122"/>
                <a:cs typeface="Times New Roman" panose="02020603050405020304" pitchFamily="18" charset="0"/>
              </a:rPr>
              <a:t>：</a:t>
            </a:r>
            <a:endParaRPr lang="en-US" altLang="zh-CN" sz="3600" b="0" i="0" dirty="0">
              <a:effectLst/>
              <a:latin typeface="黑体" panose="02010609060101010101" pitchFamily="49" charset="-122"/>
              <a:ea typeface="黑体" panose="02010609060101010101" pitchFamily="49" charset="-122"/>
              <a:cs typeface="Times New Roman" panose="02020603050405020304" pitchFamily="18" charset="0"/>
            </a:endParaRPr>
          </a:p>
          <a:p>
            <a:pPr>
              <a:spcAft>
                <a:spcPts val="1200"/>
              </a:spcAft>
            </a:pPr>
            <a:r>
              <a:rPr lang="en-US" altLang="zh-CN" sz="3600" b="0" i="0" dirty="0">
                <a:solidFill>
                  <a:srgbClr val="7030A0"/>
                </a:solidFill>
                <a:effectLst/>
                <a:latin typeface="黑体" panose="02010609060101010101" pitchFamily="49" charset="-122"/>
                <a:ea typeface="黑体" panose="02010609060101010101" pitchFamily="49" charset="-122"/>
                <a:cs typeface="Times New Roman" panose="02020603050405020304" pitchFamily="18" charset="0"/>
              </a:rPr>
              <a:t>2. </a:t>
            </a:r>
            <a:r>
              <a:rPr lang="zh-CN" altLang="en-US" sz="3600" b="0" i="0" dirty="0">
                <a:solidFill>
                  <a:srgbClr val="7030A0"/>
                </a:solidFill>
                <a:effectLst/>
                <a:latin typeface="黑体" panose="02010609060101010101" pitchFamily="49" charset="-122"/>
                <a:ea typeface="黑体" panose="02010609060101010101" pitchFamily="49" charset="-122"/>
                <a:cs typeface="Times New Roman" panose="02020603050405020304" pitchFamily="18" charset="0"/>
              </a:rPr>
              <a:t>厚度薄、柔软、可弯曲</a:t>
            </a:r>
            <a:r>
              <a:rPr lang="zh-CN" altLang="en-US" sz="3600" dirty="0">
                <a:latin typeface="黑体" panose="02010609060101010101" pitchFamily="49" charset="-122"/>
                <a:ea typeface="黑体" panose="02010609060101010101" pitchFamily="49" charset="-122"/>
                <a:cs typeface="Times New Roman" panose="02020603050405020304" pitchFamily="18" charset="0"/>
              </a:rPr>
              <a:t>、</a:t>
            </a:r>
            <a:r>
              <a:rPr lang="zh-CN" altLang="en-US" sz="3600" dirty="0">
                <a:solidFill>
                  <a:srgbClr val="7030A0"/>
                </a:solidFill>
                <a:latin typeface="黑体" panose="02010609060101010101" pitchFamily="49" charset="-122"/>
                <a:ea typeface="黑体" panose="02010609060101010101" pitchFamily="49" charset="-122"/>
                <a:cs typeface="Times New Roman" panose="02020603050405020304" pitchFamily="18" charset="0"/>
              </a:rPr>
              <a:t>高效利用空间</a:t>
            </a:r>
            <a:endParaRPr lang="en-US" altLang="zh-CN" sz="3600" dirty="0">
              <a:solidFill>
                <a:srgbClr val="7030A0"/>
              </a:solidFill>
              <a:latin typeface="黑体" panose="02010609060101010101" pitchFamily="49" charset="-122"/>
              <a:ea typeface="黑体" panose="02010609060101010101" pitchFamily="49" charset="-122"/>
              <a:cs typeface="Times New Roman" panose="02020603050405020304" pitchFamily="18" charset="0"/>
            </a:endParaRPr>
          </a:p>
          <a:p>
            <a:pPr>
              <a:spcAft>
                <a:spcPts val="1800"/>
              </a:spcAft>
            </a:pPr>
            <a:r>
              <a:rPr lang="en-US" altLang="zh-CN" sz="3600" dirty="0">
                <a:latin typeface="黑体" panose="02010609060101010101" pitchFamily="49" charset="-122"/>
                <a:ea typeface="黑体" panose="02010609060101010101" pitchFamily="49" charset="-122"/>
                <a:cs typeface="Times New Roman" panose="02020603050405020304" pitchFamily="18" charset="0"/>
              </a:rPr>
              <a:t>FPC</a:t>
            </a:r>
            <a:r>
              <a:rPr lang="zh-CN" altLang="en-US" sz="3600" dirty="0">
                <a:latin typeface="黑体" panose="02010609060101010101" pitchFamily="49" charset="-122"/>
                <a:ea typeface="黑体" panose="02010609060101010101" pitchFamily="49" charset="-122"/>
                <a:cs typeface="Times New Roman" panose="02020603050405020304" pitchFamily="18" charset="0"/>
              </a:rPr>
              <a:t>更薄，可切割成任意复杂形状并可弯曲，适应所在设备内部的形状</a:t>
            </a:r>
            <a:endParaRPr lang="en-US" altLang="zh-CN" sz="3600" dirty="0">
              <a:latin typeface="黑体" panose="02010609060101010101" pitchFamily="49" charset="-122"/>
              <a:ea typeface="黑体" panose="02010609060101010101" pitchFamily="49" charset="-122"/>
              <a:cs typeface="Times New Roman" panose="02020603050405020304" pitchFamily="18" charset="0"/>
            </a:endParaRPr>
          </a:p>
          <a:p>
            <a:pPr>
              <a:spcAft>
                <a:spcPts val="1200"/>
              </a:spcAft>
            </a:pPr>
            <a:r>
              <a:rPr lang="en-US" altLang="zh-CN" sz="3600" b="0" i="0" dirty="0">
                <a:solidFill>
                  <a:srgbClr val="7030A0"/>
                </a:solidFill>
                <a:effectLst/>
                <a:latin typeface="黑体" panose="02010609060101010101" pitchFamily="49" charset="-122"/>
                <a:ea typeface="黑体" panose="02010609060101010101" pitchFamily="49" charset="-122"/>
                <a:cs typeface="Times New Roman" panose="02020603050405020304" pitchFamily="18" charset="0"/>
              </a:rPr>
              <a:t>3. </a:t>
            </a:r>
            <a:r>
              <a:rPr lang="zh-CN" altLang="en-US" sz="3600" b="0" i="0" dirty="0">
                <a:solidFill>
                  <a:srgbClr val="7030A0"/>
                </a:solidFill>
                <a:effectLst/>
                <a:latin typeface="黑体" panose="02010609060101010101" pitchFamily="49" charset="-122"/>
                <a:ea typeface="黑体" panose="02010609060101010101" pitchFamily="49" charset="-122"/>
                <a:cs typeface="Times New Roman" panose="02020603050405020304" pitchFamily="18" charset="0"/>
              </a:rPr>
              <a:t>提高耐久性</a:t>
            </a:r>
            <a:endParaRPr lang="en-US" altLang="zh-CN" sz="3600" b="0" i="0" dirty="0">
              <a:solidFill>
                <a:srgbClr val="7030A0"/>
              </a:solidFill>
              <a:effectLst/>
              <a:latin typeface="黑体" panose="02010609060101010101" pitchFamily="49" charset="-122"/>
              <a:ea typeface="黑体" panose="02010609060101010101" pitchFamily="49" charset="-122"/>
              <a:cs typeface="Times New Roman" panose="02020603050405020304" pitchFamily="18" charset="0"/>
            </a:endParaRPr>
          </a:p>
          <a:p>
            <a:r>
              <a:rPr lang="zh-CN" altLang="en-US" sz="3600" b="0" i="0" dirty="0">
                <a:effectLst/>
                <a:latin typeface="黑体" panose="02010609060101010101" pitchFamily="49" charset="-122"/>
                <a:ea typeface="黑体" panose="02010609060101010101" pitchFamily="49" charset="-122"/>
                <a:cs typeface="Times New Roman" panose="02020603050405020304" pitchFamily="18" charset="0"/>
              </a:rPr>
              <a:t>若设计得当，柔性电路可以承受大量弯折次数而不会导致电路失效</a:t>
            </a:r>
            <a:endParaRPr lang="en-US" altLang="zh-CN" sz="3600" b="0" i="0" dirty="0">
              <a:effectLst/>
              <a:latin typeface="黑体" panose="02010609060101010101" pitchFamily="49" charset="-122"/>
              <a:ea typeface="黑体" panose="02010609060101010101" pitchFamily="49" charset="-122"/>
              <a:cs typeface="Times New Roman" panose="02020603050405020304" pitchFamily="18" charset="0"/>
            </a:endParaRPr>
          </a:p>
          <a:p>
            <a:endParaRPr lang="en-US" altLang="zh-CN" sz="3600" b="0" i="0" dirty="0">
              <a:effectLst/>
              <a:latin typeface="黑体" panose="02010609060101010101" pitchFamily="49" charset="-122"/>
              <a:ea typeface="黑体" panose="02010609060101010101" pitchFamily="49" charset="-122"/>
              <a:cs typeface="Times New Roman" panose="02020603050405020304" pitchFamily="18" charset="0"/>
            </a:endParaRPr>
          </a:p>
          <a:p>
            <a:endParaRPr lang="de-DE" altLang="zh-CN" sz="3600" b="0" i="0" dirty="0">
              <a:effectLst/>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 name="文本框 1">
            <a:extLst>
              <a:ext uri="{FF2B5EF4-FFF2-40B4-BE49-F238E27FC236}">
                <a16:creationId xmlns:a16="http://schemas.microsoft.com/office/drawing/2014/main" id="{B39FC8F1-08C7-1B81-7AA2-B257599944BB}"/>
              </a:ext>
            </a:extLst>
          </p:cNvPr>
          <p:cNvSpPr txBox="1"/>
          <p:nvPr/>
        </p:nvSpPr>
        <p:spPr>
          <a:xfrm>
            <a:off x="541079" y="608842"/>
            <a:ext cx="9581976"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电路的载体形式③</a:t>
            </a:r>
          </a:p>
        </p:txBody>
      </p:sp>
    </p:spTree>
    <p:extLst>
      <p:ext uri="{BB962C8B-B14F-4D97-AF65-F5344CB8AC3E}">
        <p14:creationId xmlns:p14="http://schemas.microsoft.com/office/powerpoint/2010/main" val="42482300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26836-EF6F-8836-0847-5FB0A9236218}"/>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F6D62C93-7424-FA94-673E-03A553F9926A}"/>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D4CF5E17-1AFD-1C64-9CE3-4BEEAAD4172E}"/>
              </a:ext>
            </a:extLst>
          </p:cNvPr>
          <p:cNvSpPr txBox="1"/>
          <p:nvPr/>
        </p:nvSpPr>
        <p:spPr>
          <a:xfrm>
            <a:off x="541079" y="608842"/>
            <a:ext cx="984983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电路的物理载体③</a:t>
            </a:r>
          </a:p>
        </p:txBody>
      </p:sp>
      <p:sp>
        <p:nvSpPr>
          <p:cNvPr id="3" name="文本框 2">
            <a:extLst>
              <a:ext uri="{FF2B5EF4-FFF2-40B4-BE49-F238E27FC236}">
                <a16:creationId xmlns:a16="http://schemas.microsoft.com/office/drawing/2014/main" id="{A8D39602-E83C-77DF-92BC-10EA50D19202}"/>
              </a:ext>
            </a:extLst>
          </p:cNvPr>
          <p:cNvSpPr txBox="1"/>
          <p:nvPr/>
        </p:nvSpPr>
        <p:spPr>
          <a:xfrm>
            <a:off x="541079" y="1408168"/>
            <a:ext cx="10949881" cy="4662815"/>
          </a:xfrm>
          <a:prstGeom prst="rect">
            <a:avLst/>
          </a:prstGeom>
          <a:noFill/>
        </p:spPr>
        <p:txBody>
          <a:bodyPr wrap="square">
            <a:spAutoFit/>
          </a:bodyPr>
          <a:lstStyle/>
          <a:p>
            <a:pPr>
              <a:spcAft>
                <a:spcPts val="1800"/>
              </a:spcAft>
            </a:pPr>
            <a:r>
              <a:rPr lang="zh-CN" altLang="en-US" sz="3600" b="0" i="0" dirty="0">
                <a:effectLst/>
                <a:latin typeface="黑体" panose="02010609060101010101" pitchFamily="49" charset="-122"/>
                <a:ea typeface="黑体" panose="02010609060101010101" pitchFamily="49" charset="-122"/>
              </a:rPr>
              <a:t>柔性印刷电路板的</a:t>
            </a:r>
            <a:r>
              <a:rPr lang="zh-CN" altLang="en-US" sz="3600" b="0" i="0" dirty="0">
                <a:solidFill>
                  <a:srgbClr val="003F88"/>
                </a:solidFill>
                <a:effectLst/>
                <a:latin typeface="黑体" panose="02010609060101010101" pitchFamily="49" charset="-122"/>
                <a:ea typeface="黑体" panose="02010609060101010101" pitchFamily="49" charset="-122"/>
              </a:rPr>
              <a:t>劣势</a:t>
            </a:r>
            <a:r>
              <a:rPr lang="zh-CN" altLang="en-US" sz="3600" b="0" i="0" dirty="0">
                <a:effectLst/>
                <a:latin typeface="黑体" panose="02010609060101010101" pitchFamily="49" charset="-122"/>
                <a:ea typeface="黑体" panose="02010609060101010101" pitchFamily="49" charset="-122"/>
              </a:rPr>
              <a:t>：</a:t>
            </a:r>
            <a:endParaRPr lang="en-US" altLang="zh-CN" sz="3600" b="0" i="0" dirty="0">
              <a:effectLst/>
              <a:latin typeface="黑体" panose="02010609060101010101" pitchFamily="49" charset="-122"/>
              <a:ea typeface="黑体" panose="02010609060101010101" pitchFamily="49" charset="-122"/>
            </a:endParaRPr>
          </a:p>
          <a:p>
            <a:pPr marL="571500" indent="-571500">
              <a:spcAft>
                <a:spcPts val="1200"/>
              </a:spcAft>
              <a:buFont typeface="Arial" panose="020B0604020202020204" pitchFamily="34" charset="0"/>
              <a:buChar char="•"/>
            </a:pPr>
            <a:r>
              <a:rPr lang="zh-CN" altLang="en-US" sz="3600" dirty="0">
                <a:solidFill>
                  <a:srgbClr val="003F88"/>
                </a:solidFill>
                <a:latin typeface="黑体" panose="02010609060101010101" pitchFamily="49" charset="-122"/>
                <a:ea typeface="黑体" panose="02010609060101010101" pitchFamily="49" charset="-122"/>
                <a:cs typeface="Times New Roman" panose="02020603050405020304" pitchFamily="18" charset="0"/>
              </a:rPr>
              <a:t>成本</a:t>
            </a:r>
            <a:r>
              <a:rPr lang="zh-CN" altLang="en-US" sz="3600" dirty="0">
                <a:latin typeface="黑体" panose="02010609060101010101" pitchFamily="49" charset="-122"/>
                <a:ea typeface="黑体" panose="02010609060101010101" pitchFamily="49" charset="-122"/>
                <a:cs typeface="Times New Roman" panose="02020603050405020304" pitchFamily="18" charset="0"/>
              </a:rPr>
              <a:t>比</a:t>
            </a:r>
            <a:r>
              <a:rPr lang="en-US" altLang="zh-CN" sz="3600" dirty="0">
                <a:latin typeface="黑体" panose="02010609060101010101" pitchFamily="49" charset="-122"/>
                <a:ea typeface="黑体" panose="02010609060101010101" pitchFamily="49" charset="-122"/>
                <a:cs typeface="Times New Roman" panose="02020603050405020304" pitchFamily="18" charset="0"/>
              </a:rPr>
              <a:t>PCB</a:t>
            </a:r>
            <a:r>
              <a:rPr lang="zh-CN" altLang="en-US" sz="3600" dirty="0">
                <a:latin typeface="黑体" panose="02010609060101010101" pitchFamily="49" charset="-122"/>
                <a:ea typeface="黑体" panose="02010609060101010101" pitchFamily="49" charset="-122"/>
                <a:cs typeface="Times New Roman" panose="02020603050405020304" pitchFamily="18" charset="0"/>
              </a:rPr>
              <a:t>更高（材料、制造成本）</a:t>
            </a:r>
            <a:endParaRPr lang="en-US" altLang="zh-CN" sz="3600" dirty="0">
              <a:latin typeface="黑体" panose="02010609060101010101" pitchFamily="49" charset="-122"/>
              <a:ea typeface="黑体" panose="02010609060101010101" pitchFamily="49" charset="-122"/>
              <a:cs typeface="Times New Roman" panose="02020603050405020304" pitchFamily="18" charset="0"/>
            </a:endParaRPr>
          </a:p>
          <a:p>
            <a:pPr marL="571500" indent="-571500">
              <a:spcAft>
                <a:spcPts val="1200"/>
              </a:spcAft>
              <a:buFont typeface="Arial" panose="020B0604020202020204" pitchFamily="34" charset="0"/>
              <a:buChar char="•"/>
            </a:pPr>
            <a:r>
              <a:rPr lang="zh-CN" altLang="en-US" sz="3600" dirty="0">
                <a:latin typeface="黑体" panose="02010609060101010101" pitchFamily="49" charset="-122"/>
                <a:ea typeface="黑体" panose="02010609060101010101" pitchFamily="49" charset="-122"/>
                <a:cs typeface="Times New Roman" panose="02020603050405020304" pitchFamily="18" charset="0"/>
              </a:rPr>
              <a:t>材料薄导致电路之间的</a:t>
            </a:r>
            <a:r>
              <a:rPr lang="zh-CN" altLang="en-US" sz="3600" dirty="0">
                <a:solidFill>
                  <a:srgbClr val="003F88"/>
                </a:solidFill>
                <a:latin typeface="黑体" panose="02010609060101010101" pitchFamily="49" charset="-122"/>
                <a:ea typeface="黑体" panose="02010609060101010101" pitchFamily="49" charset="-122"/>
                <a:cs typeface="Times New Roman" panose="02020603050405020304" pitchFamily="18" charset="0"/>
              </a:rPr>
              <a:t>电磁干扰</a:t>
            </a:r>
            <a:r>
              <a:rPr lang="zh-CN" altLang="en-US" sz="3600" dirty="0">
                <a:latin typeface="黑体" panose="02010609060101010101" pitchFamily="49" charset="-122"/>
                <a:ea typeface="黑体" panose="02010609060101010101" pitchFamily="49" charset="-122"/>
                <a:cs typeface="Times New Roman" panose="02020603050405020304" pitchFamily="18" charset="0"/>
              </a:rPr>
              <a:t>（</a:t>
            </a:r>
            <a:r>
              <a:rPr lang="en-US" altLang="zh-CN" sz="3600" dirty="0">
                <a:latin typeface="黑体" panose="02010609060101010101" pitchFamily="49" charset="-122"/>
                <a:ea typeface="黑体" panose="02010609060101010101" pitchFamily="49" charset="-122"/>
                <a:cs typeface="Times New Roman" panose="02020603050405020304" pitchFamily="18" charset="0"/>
              </a:rPr>
              <a:t>EMI</a:t>
            </a:r>
            <a:r>
              <a:rPr lang="zh-CN" altLang="en-US" sz="3600" dirty="0">
                <a:latin typeface="黑体" panose="02010609060101010101" pitchFamily="49" charset="-122"/>
                <a:ea typeface="黑体" panose="02010609060101010101" pitchFamily="49" charset="-122"/>
                <a:cs typeface="Times New Roman" panose="02020603050405020304" pitchFamily="18" charset="0"/>
              </a:rPr>
              <a:t>）</a:t>
            </a:r>
            <a:endParaRPr lang="en-US" altLang="zh-CN" sz="3600" dirty="0">
              <a:latin typeface="黑体" panose="02010609060101010101" pitchFamily="49" charset="-122"/>
              <a:ea typeface="黑体" panose="02010609060101010101" pitchFamily="49" charset="-122"/>
              <a:cs typeface="Times New Roman" panose="02020603050405020304" pitchFamily="18" charset="0"/>
            </a:endParaRPr>
          </a:p>
          <a:p>
            <a:pPr marL="571500" indent="-571500">
              <a:spcAft>
                <a:spcPts val="1200"/>
              </a:spcAft>
              <a:buFont typeface="Arial" panose="020B0604020202020204" pitchFamily="34" charset="0"/>
              <a:buChar char="•"/>
            </a:pPr>
            <a:r>
              <a:rPr lang="zh-CN" altLang="en-US" sz="3600" dirty="0">
                <a:latin typeface="黑体" panose="02010609060101010101" pitchFamily="49" charset="-122"/>
                <a:ea typeface="黑体" panose="02010609060101010101" pitchFamily="49" charset="-122"/>
                <a:cs typeface="Times New Roman" panose="02020603050405020304" pitchFamily="18" charset="0"/>
              </a:rPr>
              <a:t>基板的弯曲可能导致</a:t>
            </a:r>
            <a:r>
              <a:rPr lang="zh-CN" altLang="en-US" sz="3600" dirty="0">
                <a:solidFill>
                  <a:srgbClr val="003F88"/>
                </a:solidFill>
                <a:latin typeface="黑体" panose="02010609060101010101" pitchFamily="49" charset="-122"/>
                <a:ea typeface="黑体" panose="02010609060101010101" pitchFamily="49" charset="-122"/>
                <a:cs typeface="Times New Roman" panose="02020603050405020304" pitchFamily="18" charset="0"/>
              </a:rPr>
              <a:t>信号反射的变化</a:t>
            </a:r>
            <a:r>
              <a:rPr lang="zh-CN" altLang="en-US" sz="3600" dirty="0">
                <a:latin typeface="黑体" panose="02010609060101010101" pitchFamily="49" charset="-122"/>
                <a:ea typeface="黑体" panose="02010609060101010101" pitchFamily="49" charset="-122"/>
                <a:cs typeface="Times New Roman" panose="02020603050405020304" pitchFamily="18" charset="0"/>
              </a:rPr>
              <a:t>和</a:t>
            </a:r>
            <a:r>
              <a:rPr lang="zh-CN" altLang="en-US" sz="3600" dirty="0">
                <a:solidFill>
                  <a:srgbClr val="003F88"/>
                </a:solidFill>
                <a:latin typeface="黑体" panose="02010609060101010101" pitchFamily="49" charset="-122"/>
                <a:ea typeface="黑体" panose="02010609060101010101" pitchFamily="49" charset="-122"/>
                <a:cs typeface="Times New Roman" panose="02020603050405020304" pitchFamily="18" charset="0"/>
              </a:rPr>
              <a:t>阻抗不匹配</a:t>
            </a:r>
            <a:r>
              <a:rPr lang="zh-CN" altLang="en-US" sz="3600" dirty="0">
                <a:latin typeface="黑体" panose="02010609060101010101" pitchFamily="49" charset="-122"/>
                <a:ea typeface="黑体" panose="02010609060101010101" pitchFamily="49" charset="-122"/>
                <a:cs typeface="Times New Roman" panose="02020603050405020304" pitchFamily="18" charset="0"/>
              </a:rPr>
              <a:t>（需要信号完整性仿真驱动的正确布线和良好的设计实践解决这些挑战）</a:t>
            </a:r>
            <a:endParaRPr lang="en-US" altLang="zh-CN" sz="3600" dirty="0">
              <a:latin typeface="黑体" panose="02010609060101010101" pitchFamily="49" charset="-122"/>
              <a:ea typeface="黑体" panose="02010609060101010101" pitchFamily="49" charset="-122"/>
              <a:cs typeface="Times New Roman" panose="02020603050405020304" pitchFamily="18" charset="0"/>
            </a:endParaRPr>
          </a:p>
          <a:p>
            <a:pPr marL="571500" indent="-571500">
              <a:spcAft>
                <a:spcPts val="1200"/>
              </a:spcAft>
              <a:buFont typeface="Arial" panose="020B0604020202020204" pitchFamily="34" charset="0"/>
              <a:buChar char="•"/>
            </a:pPr>
            <a:r>
              <a:rPr lang="zh-CN" altLang="en-US" sz="3600" dirty="0">
                <a:latin typeface="黑体" panose="02010609060101010101" pitchFamily="49" charset="-122"/>
                <a:ea typeface="黑体" panose="02010609060101010101" pitchFamily="49" charset="-122"/>
                <a:cs typeface="Times New Roman" panose="02020603050405020304" pitchFamily="18" charset="0"/>
              </a:rPr>
              <a:t>实现器件的</a:t>
            </a:r>
            <a:r>
              <a:rPr lang="zh-CN" altLang="en-US" sz="3600" dirty="0">
                <a:solidFill>
                  <a:srgbClr val="003F88"/>
                </a:solidFill>
                <a:latin typeface="黑体" panose="02010609060101010101" pitchFamily="49" charset="-122"/>
                <a:ea typeface="黑体" panose="02010609060101010101" pitchFamily="49" charset="-122"/>
                <a:cs typeface="Times New Roman" panose="02020603050405020304" pitchFamily="18" charset="0"/>
              </a:rPr>
              <a:t>布局和焊接自动化更加困难</a:t>
            </a:r>
            <a:endParaRPr lang="en-US" altLang="zh-CN" sz="3600" dirty="0">
              <a:latin typeface="黑体" panose="02010609060101010101" pitchFamily="49" charset="-122"/>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4577742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DFB88-9217-481B-1170-B29F0EA49131}"/>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138437B9-548F-57D6-9AA2-00A0C0811C0E}"/>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EC0903C1-AA3B-BA9A-D3CC-3DF50852A3E2}"/>
              </a:ext>
            </a:extLst>
          </p:cNvPr>
          <p:cNvSpPr txBox="1"/>
          <p:nvPr/>
        </p:nvSpPr>
        <p:spPr>
          <a:xfrm>
            <a:off x="541079" y="608842"/>
            <a:ext cx="984983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电路的物理载体③</a:t>
            </a:r>
          </a:p>
        </p:txBody>
      </p:sp>
      <p:sp>
        <p:nvSpPr>
          <p:cNvPr id="3" name="文本框 2">
            <a:extLst>
              <a:ext uri="{FF2B5EF4-FFF2-40B4-BE49-F238E27FC236}">
                <a16:creationId xmlns:a16="http://schemas.microsoft.com/office/drawing/2014/main" id="{E6D2D634-DA68-EE54-1E36-A6DB6E760A60}"/>
              </a:ext>
            </a:extLst>
          </p:cNvPr>
          <p:cNvSpPr txBox="1"/>
          <p:nvPr/>
        </p:nvSpPr>
        <p:spPr>
          <a:xfrm>
            <a:off x="541079" y="1408168"/>
            <a:ext cx="11650921" cy="3801041"/>
          </a:xfrm>
          <a:prstGeom prst="rect">
            <a:avLst/>
          </a:prstGeom>
          <a:noFill/>
        </p:spPr>
        <p:txBody>
          <a:bodyPr wrap="square">
            <a:spAutoFit/>
          </a:bodyPr>
          <a:lstStyle/>
          <a:p>
            <a:pPr>
              <a:spcAft>
                <a:spcPts val="1200"/>
              </a:spcAft>
            </a:pPr>
            <a:r>
              <a:rPr lang="zh-CN" altLang="en-US" sz="3600" b="0" i="0" dirty="0">
                <a:effectLst/>
                <a:latin typeface="黑体" panose="02010609060101010101" pitchFamily="49" charset="-122"/>
                <a:ea typeface="黑体" panose="02010609060101010101" pitchFamily="49" charset="-122"/>
              </a:rPr>
              <a:t>柔性印刷电路板的</a:t>
            </a:r>
            <a:r>
              <a:rPr lang="zh-CN" altLang="en-US" sz="3600" b="0" i="0" dirty="0">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常见应用</a:t>
            </a:r>
            <a:r>
              <a:rPr lang="zh-CN" altLang="en-US" sz="3600" b="0" i="0" dirty="0">
                <a:effectLst/>
                <a:latin typeface="黑体" panose="02010609060101010101" pitchFamily="49" charset="-122"/>
                <a:ea typeface="黑体" panose="02010609060101010101" pitchFamily="49" charset="-122"/>
                <a:cs typeface="Times New Roman" panose="02020603050405020304" pitchFamily="18" charset="0"/>
              </a:rPr>
              <a:t>：</a:t>
            </a:r>
            <a:endParaRPr lang="en-US" altLang="zh-CN" sz="3600" b="0" i="0" dirty="0">
              <a:effectLst/>
              <a:latin typeface="黑体" panose="02010609060101010101" pitchFamily="49" charset="-122"/>
              <a:ea typeface="黑体" panose="02010609060101010101" pitchFamily="49" charset="-122"/>
              <a:cs typeface="Times New Roman" panose="02020603050405020304" pitchFamily="18" charset="0"/>
            </a:endParaRPr>
          </a:p>
          <a:p>
            <a:pPr>
              <a:spcAft>
                <a:spcPts val="1800"/>
              </a:spcAft>
            </a:pPr>
            <a:r>
              <a:rPr lang="zh-CN" altLang="en-US" sz="3600" b="0" i="0" dirty="0">
                <a:effectLst/>
                <a:latin typeface="黑体" panose="02010609060101010101" pitchFamily="49" charset="-122"/>
                <a:ea typeface="黑体" panose="02010609060101010101" pitchFamily="49" charset="-122"/>
                <a:cs typeface="Times New Roman" panose="02020603050405020304" pitchFamily="18" charset="0"/>
              </a:rPr>
              <a:t>柔性</a:t>
            </a:r>
            <a:r>
              <a:rPr lang="en-US" altLang="zh-CN" sz="3600" b="0" i="0" dirty="0">
                <a:effectLst/>
                <a:latin typeface="黑体" panose="02010609060101010101" pitchFamily="49" charset="-122"/>
                <a:ea typeface="黑体" panose="02010609060101010101" pitchFamily="49" charset="-122"/>
                <a:cs typeface="Times New Roman" panose="02020603050405020304" pitchFamily="18" charset="0"/>
              </a:rPr>
              <a:t>PCB</a:t>
            </a:r>
            <a:r>
              <a:rPr lang="zh-CN" altLang="en-US" sz="3600" b="0" i="0" dirty="0">
                <a:effectLst/>
                <a:latin typeface="黑体" panose="02010609060101010101" pitchFamily="49" charset="-122"/>
                <a:ea typeface="黑体" panose="02010609060101010101" pitchFamily="49" charset="-122"/>
                <a:cs typeface="Times New Roman" panose="02020603050405020304" pitchFamily="18" charset="0"/>
              </a:rPr>
              <a:t>正广泛应用于各个领域</a:t>
            </a:r>
            <a:r>
              <a:rPr lang="zh-CN" altLang="en-US" sz="3600" dirty="0">
                <a:latin typeface="黑体" panose="02010609060101010101" pitchFamily="49" charset="-122"/>
                <a:ea typeface="黑体" panose="02010609060101010101" pitchFamily="49" charset="-122"/>
                <a:cs typeface="Times New Roman" panose="02020603050405020304" pitchFamily="18" charset="0"/>
              </a:rPr>
              <a:t>。</a:t>
            </a:r>
            <a:r>
              <a:rPr lang="zh-CN" altLang="en-US" sz="3600" b="0" i="0" dirty="0">
                <a:effectLst/>
                <a:latin typeface="黑体" panose="02010609060101010101" pitchFamily="49" charset="-122"/>
                <a:ea typeface="黑体" panose="02010609060101010101" pitchFamily="49" charset="-122"/>
                <a:cs typeface="Times New Roman" panose="02020603050405020304" pitchFamily="18" charset="0"/>
              </a:rPr>
              <a:t>在这些应用中，柔性</a:t>
            </a:r>
            <a:r>
              <a:rPr lang="en-US" altLang="zh-CN" sz="3600" b="0" i="0" dirty="0">
                <a:effectLst/>
                <a:latin typeface="黑体" panose="02010609060101010101" pitchFamily="49" charset="-122"/>
                <a:ea typeface="黑体" panose="02010609060101010101" pitchFamily="49" charset="-122"/>
                <a:cs typeface="Times New Roman" panose="02020603050405020304" pitchFamily="18" charset="0"/>
              </a:rPr>
              <a:t>PCB</a:t>
            </a:r>
            <a:r>
              <a:rPr lang="zh-CN" altLang="en-US" sz="3600" b="0" i="0" dirty="0">
                <a:effectLst/>
                <a:latin typeface="黑体" panose="02010609060101010101" pitchFamily="49" charset="-122"/>
                <a:ea typeface="黑体" panose="02010609060101010101" pitchFamily="49" charset="-122"/>
                <a:cs typeface="Times New Roman" panose="02020603050405020304" pitchFamily="18" charset="0"/>
              </a:rPr>
              <a:t>的技术优势大于其高成本的劣势，而其优化的设计可以克服相关挑战。</a:t>
            </a:r>
            <a:endParaRPr lang="en-US" altLang="zh-CN" sz="3600" b="0" i="0" dirty="0">
              <a:effectLst/>
              <a:latin typeface="黑体" panose="02010609060101010101" pitchFamily="49" charset="-122"/>
              <a:ea typeface="黑体" panose="02010609060101010101" pitchFamily="49" charset="-122"/>
              <a:cs typeface="Times New Roman" panose="02020603050405020304" pitchFamily="18" charset="0"/>
            </a:endParaRPr>
          </a:p>
          <a:p>
            <a:endParaRPr lang="en-US" altLang="zh-CN" sz="3600" b="0" i="0" dirty="0">
              <a:effectLst/>
              <a:latin typeface="黑体" panose="02010609060101010101" pitchFamily="49" charset="-122"/>
              <a:ea typeface="黑体" panose="02010609060101010101" pitchFamily="49" charset="-122"/>
              <a:cs typeface="Times New Roman" panose="02020603050405020304" pitchFamily="18" charset="0"/>
            </a:endParaRPr>
          </a:p>
          <a:p>
            <a:endParaRPr lang="de-DE" altLang="zh-CN" sz="3600" b="0" i="0" dirty="0">
              <a:effectLst/>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7" name="图片 6">
            <a:extLst>
              <a:ext uri="{FF2B5EF4-FFF2-40B4-BE49-F238E27FC236}">
                <a16:creationId xmlns:a16="http://schemas.microsoft.com/office/drawing/2014/main" id="{82CEB220-7FCF-E53C-F239-CF5152C621F7}"/>
              </a:ext>
            </a:extLst>
          </p:cNvPr>
          <p:cNvPicPr>
            <a:picLocks noChangeAspect="1"/>
          </p:cNvPicPr>
          <p:nvPr/>
        </p:nvPicPr>
        <p:blipFill>
          <a:blip r:embed="rId3"/>
          <a:stretch>
            <a:fillRect/>
          </a:stretch>
        </p:blipFill>
        <p:spPr>
          <a:xfrm>
            <a:off x="3580081" y="3261360"/>
            <a:ext cx="5031838" cy="3596640"/>
          </a:xfrm>
          <a:prstGeom prst="rect">
            <a:avLst/>
          </a:prstGeom>
        </p:spPr>
      </p:pic>
    </p:spTree>
    <p:extLst>
      <p:ext uri="{BB962C8B-B14F-4D97-AF65-F5344CB8AC3E}">
        <p14:creationId xmlns:p14="http://schemas.microsoft.com/office/powerpoint/2010/main" val="30857984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663F8-5CEA-B2ED-A4B8-80DEC0F6B222}"/>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23D5D01E-5F7C-D9AC-FBD5-9C07F2B915C4}"/>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DCB33907-DE65-FE73-1B4D-FAAF378D8502}"/>
              </a:ext>
            </a:extLst>
          </p:cNvPr>
          <p:cNvSpPr txBox="1"/>
          <p:nvPr/>
        </p:nvSpPr>
        <p:spPr>
          <a:xfrm>
            <a:off x="541079" y="608842"/>
            <a:ext cx="984983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电路的物理载体③</a:t>
            </a:r>
          </a:p>
        </p:txBody>
      </p:sp>
      <p:sp>
        <p:nvSpPr>
          <p:cNvPr id="3" name="文本框 2">
            <a:extLst>
              <a:ext uri="{FF2B5EF4-FFF2-40B4-BE49-F238E27FC236}">
                <a16:creationId xmlns:a16="http://schemas.microsoft.com/office/drawing/2014/main" id="{87742A1A-86CC-A98F-6821-B44427BE9BA2}"/>
              </a:ext>
            </a:extLst>
          </p:cNvPr>
          <p:cNvSpPr txBox="1"/>
          <p:nvPr/>
        </p:nvSpPr>
        <p:spPr>
          <a:xfrm>
            <a:off x="541079" y="1394670"/>
            <a:ext cx="11650921" cy="4278094"/>
          </a:xfrm>
          <a:prstGeom prst="rect">
            <a:avLst/>
          </a:prstGeom>
          <a:noFill/>
        </p:spPr>
        <p:txBody>
          <a:bodyPr wrap="square">
            <a:spAutoFit/>
          </a:bodyPr>
          <a:lstStyle/>
          <a:p>
            <a:pPr>
              <a:spcAft>
                <a:spcPts val="1200"/>
              </a:spcAft>
            </a:pPr>
            <a:r>
              <a:rPr lang="zh-CN" altLang="en-US" sz="3600" b="0" i="0" dirty="0">
                <a:effectLst/>
                <a:latin typeface="黑体" panose="02010609060101010101" pitchFamily="49" charset="-122"/>
                <a:ea typeface="黑体" panose="02010609060101010101" pitchFamily="49" charset="-122"/>
              </a:rPr>
              <a:t>柔性印刷电路板的</a:t>
            </a:r>
            <a:r>
              <a:rPr lang="zh-CN" altLang="en-US" sz="3600" b="0" i="0" dirty="0">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常见应用</a:t>
            </a:r>
            <a:r>
              <a:rPr lang="zh-CN" altLang="en-US" sz="3600" b="0" i="0" dirty="0">
                <a:effectLst/>
                <a:latin typeface="黑体" panose="02010609060101010101" pitchFamily="49" charset="-122"/>
                <a:ea typeface="黑体" panose="02010609060101010101" pitchFamily="49" charset="-122"/>
                <a:cs typeface="Times New Roman" panose="02020603050405020304" pitchFamily="18" charset="0"/>
              </a:rPr>
              <a:t>：</a:t>
            </a:r>
            <a:endParaRPr lang="en-US" altLang="zh-CN" sz="3600" b="0" i="0" dirty="0">
              <a:effectLst/>
              <a:latin typeface="黑体" panose="02010609060101010101" pitchFamily="49" charset="-122"/>
              <a:ea typeface="黑体" panose="02010609060101010101" pitchFamily="49" charset="-122"/>
              <a:cs typeface="Times New Roman" panose="02020603050405020304" pitchFamily="18" charset="0"/>
            </a:endParaRPr>
          </a:p>
          <a:p>
            <a:pPr>
              <a:spcAft>
                <a:spcPts val="1200"/>
              </a:spcAft>
            </a:pPr>
            <a:r>
              <a:rPr lang="zh-CN" altLang="en-US" sz="36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消费类电子设备</a:t>
            </a:r>
            <a:endParaRPr lang="en-US" altLang="zh-CN" sz="3600" dirty="0">
              <a:solidFill>
                <a:srgbClr val="FF0000"/>
              </a:solidFill>
              <a:latin typeface="黑体" panose="02010609060101010101" pitchFamily="49" charset="-122"/>
              <a:ea typeface="黑体" panose="02010609060101010101" pitchFamily="49" charset="-122"/>
              <a:cs typeface="Times New Roman" panose="02020603050405020304" pitchFamily="18" charset="0"/>
            </a:endParaRPr>
          </a:p>
          <a:p>
            <a:r>
              <a:rPr lang="zh-CN" altLang="en-US" sz="3600" dirty="0">
                <a:latin typeface="黑体" panose="02010609060101010101" pitchFamily="49" charset="-122"/>
                <a:ea typeface="黑体" panose="02010609060101010101" pitchFamily="49" charset="-122"/>
                <a:cs typeface="Times New Roman" panose="02020603050405020304" pitchFamily="18" charset="0"/>
              </a:rPr>
              <a:t>电路形状和尺寸需符合设备的形状，同时要保持尽可能小的尺寸。从计算器到手机，设计人员通过使用柔性电子设备，在性能和美观之间取得平衡。</a:t>
            </a:r>
            <a:endParaRPr lang="en-US" altLang="zh-CN" sz="3600" b="0" i="0" dirty="0">
              <a:effectLst/>
              <a:latin typeface="黑体" panose="02010609060101010101" pitchFamily="49" charset="-122"/>
              <a:ea typeface="黑体" panose="02010609060101010101" pitchFamily="49" charset="-122"/>
              <a:cs typeface="Times New Roman" panose="02020603050405020304" pitchFamily="18" charset="0"/>
            </a:endParaRPr>
          </a:p>
          <a:p>
            <a:endParaRPr lang="en-US" altLang="zh-CN" sz="3600" b="0" i="0" dirty="0">
              <a:effectLst/>
              <a:latin typeface="黑体" panose="02010609060101010101" pitchFamily="49" charset="-122"/>
              <a:ea typeface="黑体" panose="02010609060101010101" pitchFamily="49" charset="-122"/>
              <a:cs typeface="Times New Roman" panose="02020603050405020304" pitchFamily="18" charset="0"/>
            </a:endParaRPr>
          </a:p>
          <a:p>
            <a:endParaRPr lang="de-DE" altLang="zh-CN" sz="3600" b="0" i="0" dirty="0">
              <a:effectLst/>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1030" name="Picture 6" descr="undefined">
            <a:extLst>
              <a:ext uri="{FF2B5EF4-FFF2-40B4-BE49-F238E27FC236}">
                <a16:creationId xmlns:a16="http://schemas.microsoft.com/office/drawing/2014/main" id="{B3FC059E-2EA0-8225-2B4F-644B6A0B0C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24938" y="3979982"/>
            <a:ext cx="4267062" cy="28780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39381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ACF33-56E2-226D-CBFE-247C3ED93E4D}"/>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7DC3695D-F318-990F-6978-8F04BDC24AB8}"/>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5021CAB0-EFFC-483D-77B0-14E078CC5946}"/>
              </a:ext>
            </a:extLst>
          </p:cNvPr>
          <p:cNvSpPr txBox="1"/>
          <p:nvPr/>
        </p:nvSpPr>
        <p:spPr>
          <a:xfrm>
            <a:off x="541079" y="608842"/>
            <a:ext cx="984983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电路的物理载体③</a:t>
            </a:r>
          </a:p>
        </p:txBody>
      </p:sp>
      <p:sp>
        <p:nvSpPr>
          <p:cNvPr id="3" name="文本框 2">
            <a:extLst>
              <a:ext uri="{FF2B5EF4-FFF2-40B4-BE49-F238E27FC236}">
                <a16:creationId xmlns:a16="http://schemas.microsoft.com/office/drawing/2014/main" id="{3CE29AD3-E144-4C3A-76E1-D5D224F94715}"/>
              </a:ext>
            </a:extLst>
          </p:cNvPr>
          <p:cNvSpPr txBox="1"/>
          <p:nvPr/>
        </p:nvSpPr>
        <p:spPr>
          <a:xfrm>
            <a:off x="1" y="1408168"/>
            <a:ext cx="12192000" cy="5293757"/>
          </a:xfrm>
          <a:prstGeom prst="rect">
            <a:avLst/>
          </a:prstGeom>
          <a:noFill/>
        </p:spPr>
        <p:txBody>
          <a:bodyPr wrap="square">
            <a:spAutoFit/>
          </a:bodyPr>
          <a:lstStyle/>
          <a:p>
            <a:pPr>
              <a:spcAft>
                <a:spcPts val="1800"/>
              </a:spcAft>
            </a:pPr>
            <a:r>
              <a:rPr lang="zh-CN" altLang="en-US" sz="3600" b="0" i="0" dirty="0">
                <a:effectLst/>
                <a:latin typeface="Arial" panose="020B0604020202020204" pitchFamily="34" charset="0"/>
                <a:ea typeface="黑体" panose="02010609060101010101" pitchFamily="49" charset="-122"/>
                <a:cs typeface="Arial" panose="020B0604020202020204" pitchFamily="34" charset="0"/>
              </a:rPr>
              <a:t>柔性印刷电路板的</a:t>
            </a:r>
            <a:r>
              <a:rPr lang="zh-CN" altLang="en-US" sz="3600" b="0" i="0" dirty="0">
                <a:solidFill>
                  <a:srgbClr val="FF0000"/>
                </a:solidFill>
                <a:effectLst/>
                <a:latin typeface="Arial" panose="020B0604020202020204" pitchFamily="34" charset="0"/>
                <a:ea typeface="黑体" panose="02010609060101010101" pitchFamily="49" charset="-122"/>
                <a:cs typeface="Arial" panose="020B0604020202020204" pitchFamily="34" charset="0"/>
              </a:rPr>
              <a:t>常见应用</a:t>
            </a:r>
            <a:r>
              <a:rPr lang="zh-CN" altLang="en-US" sz="3600" b="0" i="0" dirty="0">
                <a:effectLst/>
                <a:latin typeface="Arial" panose="020B0604020202020204" pitchFamily="34" charset="0"/>
                <a:ea typeface="黑体" panose="02010609060101010101" pitchFamily="49" charset="-122"/>
                <a:cs typeface="Arial" panose="020B0604020202020204" pitchFamily="34" charset="0"/>
              </a:rPr>
              <a:t>：</a:t>
            </a:r>
            <a:endParaRPr lang="en-US" altLang="zh-CN" sz="3600" b="0" i="0" dirty="0">
              <a:effectLst/>
              <a:latin typeface="Arial" panose="020B0604020202020204" pitchFamily="34" charset="0"/>
              <a:ea typeface="黑体" panose="02010609060101010101" pitchFamily="49" charset="-122"/>
              <a:cs typeface="Arial" panose="020B0604020202020204" pitchFamily="34" charset="0"/>
            </a:endParaRPr>
          </a:p>
          <a:p>
            <a:pPr>
              <a:spcAft>
                <a:spcPts val="1200"/>
              </a:spcAft>
            </a:pPr>
            <a:r>
              <a:rPr lang="zh-CN" altLang="en-US" sz="3600" b="0" i="0" dirty="0">
                <a:solidFill>
                  <a:srgbClr val="FF0000"/>
                </a:solidFill>
                <a:effectLst/>
                <a:latin typeface="Arial" panose="020B0604020202020204" pitchFamily="34" charset="0"/>
                <a:ea typeface="黑体" panose="02010609060101010101" pitchFamily="49" charset="-122"/>
                <a:cs typeface="Arial" panose="020B0604020202020204" pitchFamily="34" charset="0"/>
              </a:rPr>
              <a:t>汽车应用</a:t>
            </a:r>
            <a:endParaRPr lang="en-US" altLang="zh-CN" sz="3600" b="0" i="0" dirty="0">
              <a:solidFill>
                <a:srgbClr val="FF0000"/>
              </a:solidFill>
              <a:effectLst/>
              <a:latin typeface="Arial" panose="020B0604020202020204" pitchFamily="34" charset="0"/>
              <a:ea typeface="黑体" panose="02010609060101010101" pitchFamily="49" charset="-122"/>
              <a:cs typeface="Arial" panose="020B0604020202020204" pitchFamily="34" charset="0"/>
            </a:endParaRPr>
          </a:p>
          <a:p>
            <a:r>
              <a:rPr lang="zh-CN" altLang="en-US" sz="3600" b="0" i="0" dirty="0">
                <a:effectLst/>
                <a:latin typeface="Arial" panose="020B0604020202020204" pitchFamily="34" charset="0"/>
                <a:ea typeface="黑体" panose="02010609060101010101" pitchFamily="49" charset="-122"/>
                <a:cs typeface="Arial" panose="020B0604020202020204" pitchFamily="34" charset="0"/>
              </a:rPr>
              <a:t>能够适应紧凑封装的</a:t>
            </a:r>
            <a:r>
              <a:rPr lang="zh-CN" altLang="en-US" sz="3600" b="0" i="0" u="sng" dirty="0">
                <a:effectLst/>
                <a:latin typeface="Arial" panose="020B0604020202020204" pitchFamily="34" charset="0"/>
                <a:ea typeface="黑体" panose="02010609060101010101" pitchFamily="49" charset="-122"/>
                <a:cs typeface="Arial" panose="020B0604020202020204" pitchFamily="34" charset="0"/>
              </a:rPr>
              <a:t>抗震动和耐热型</a:t>
            </a:r>
            <a:r>
              <a:rPr lang="en-US" altLang="zh-CN" sz="3600" b="0" i="0" u="sng" dirty="0">
                <a:effectLst/>
                <a:latin typeface="Arial" panose="020B0604020202020204" pitchFamily="34" charset="0"/>
                <a:ea typeface="黑体" panose="02010609060101010101" pitchFamily="49" charset="-122"/>
                <a:cs typeface="Arial" panose="020B0604020202020204" pitchFamily="34" charset="0"/>
              </a:rPr>
              <a:t>FPC</a:t>
            </a:r>
            <a:r>
              <a:rPr lang="zh-CN" altLang="en-US" sz="3600" b="0" i="0" dirty="0">
                <a:effectLst/>
                <a:latin typeface="Arial" panose="020B0604020202020204" pitchFamily="34" charset="0"/>
                <a:ea typeface="黑体" panose="02010609060101010101" pitchFamily="49" charset="-122"/>
                <a:cs typeface="Arial" panose="020B0604020202020204" pitchFamily="34" charset="0"/>
              </a:rPr>
              <a:t>；</a:t>
            </a:r>
            <a:endParaRPr lang="en-US" altLang="zh-CN" sz="3600" b="0" i="0" dirty="0">
              <a:effectLst/>
              <a:latin typeface="Arial" panose="020B0604020202020204" pitchFamily="34" charset="0"/>
              <a:ea typeface="黑体" panose="02010609060101010101" pitchFamily="49" charset="-122"/>
              <a:cs typeface="Arial" panose="020B0604020202020204" pitchFamily="34" charset="0"/>
            </a:endParaRPr>
          </a:p>
          <a:p>
            <a:pPr>
              <a:spcAft>
                <a:spcPts val="1800"/>
              </a:spcAft>
            </a:pPr>
            <a:r>
              <a:rPr lang="zh-CN" altLang="en-US" sz="3600" dirty="0">
                <a:latin typeface="Arial" panose="020B0604020202020204" pitchFamily="34" charset="0"/>
                <a:ea typeface="黑体" panose="02010609060101010101" pitchFamily="49" charset="-122"/>
                <a:cs typeface="Arial" panose="020B0604020202020204" pitchFamily="34" charset="0"/>
              </a:rPr>
              <a:t>能够利用相互不同角度的</a:t>
            </a:r>
            <a:r>
              <a:rPr lang="zh-CN" altLang="en-US" sz="3600" u="sng" dirty="0">
                <a:latin typeface="Arial" panose="020B0604020202020204" pitchFamily="34" charset="0"/>
                <a:ea typeface="黑体" panose="02010609060101010101" pitchFamily="49" charset="-122"/>
                <a:cs typeface="Arial" panose="020B0604020202020204" pitchFamily="34" charset="0"/>
              </a:rPr>
              <a:t>连接器</a:t>
            </a:r>
            <a:r>
              <a:rPr lang="zh-CN" altLang="en-US" sz="3600" dirty="0">
                <a:latin typeface="Arial" panose="020B0604020202020204" pitchFamily="34" charset="0"/>
                <a:ea typeface="黑体" panose="02010609060101010101" pitchFamily="49" charset="-122"/>
                <a:cs typeface="Arial" panose="020B0604020202020204" pitchFamily="34" charset="0"/>
              </a:rPr>
              <a:t>来连接不在同一平面上的组件；</a:t>
            </a:r>
            <a:endParaRPr lang="en-US" altLang="zh-CN" sz="3600" dirty="0">
              <a:latin typeface="Arial" panose="020B0604020202020204" pitchFamily="34" charset="0"/>
              <a:ea typeface="黑体" panose="02010609060101010101" pitchFamily="49" charset="-122"/>
              <a:cs typeface="Arial" panose="020B0604020202020204" pitchFamily="34" charset="0"/>
            </a:endParaRPr>
          </a:p>
          <a:p>
            <a:pPr>
              <a:spcAft>
                <a:spcPts val="1200"/>
              </a:spcAft>
            </a:pPr>
            <a:r>
              <a:rPr lang="zh-CN" altLang="en-US" sz="3600" b="0" i="0" dirty="0">
                <a:solidFill>
                  <a:srgbClr val="FF0000"/>
                </a:solidFill>
                <a:effectLst/>
                <a:latin typeface="Arial" panose="020B0604020202020204" pitchFamily="34" charset="0"/>
                <a:ea typeface="黑体" panose="02010609060101010101" pitchFamily="49" charset="-122"/>
                <a:cs typeface="Arial" panose="020B0604020202020204" pitchFamily="34" charset="0"/>
              </a:rPr>
              <a:t>工业传感器</a:t>
            </a:r>
            <a:r>
              <a:rPr lang="zh-CN" altLang="en-US" sz="3600" dirty="0">
                <a:solidFill>
                  <a:srgbClr val="FF0000"/>
                </a:solidFill>
                <a:latin typeface="Arial" panose="020B0604020202020204" pitchFamily="34" charset="0"/>
                <a:ea typeface="黑体" panose="02010609060101010101" pitchFamily="49" charset="-122"/>
                <a:cs typeface="Arial" panose="020B0604020202020204" pitchFamily="34" charset="0"/>
              </a:rPr>
              <a:t>设计</a:t>
            </a:r>
            <a:endParaRPr lang="en-US" altLang="zh-CN" sz="3600" dirty="0">
              <a:solidFill>
                <a:srgbClr val="FF0000"/>
              </a:solidFill>
              <a:latin typeface="Arial" panose="020B0604020202020204" pitchFamily="34" charset="0"/>
              <a:ea typeface="黑体" panose="02010609060101010101" pitchFamily="49" charset="-122"/>
              <a:cs typeface="Arial" panose="020B0604020202020204" pitchFamily="34" charset="0"/>
            </a:endParaRPr>
          </a:p>
          <a:p>
            <a:pPr>
              <a:spcAft>
                <a:spcPts val="1800"/>
              </a:spcAft>
            </a:pPr>
            <a:r>
              <a:rPr lang="en-US" altLang="zh-CN" sz="3600" b="0" i="0" dirty="0">
                <a:effectLst/>
                <a:latin typeface="Arial" panose="020B0604020202020204" pitchFamily="34" charset="0"/>
                <a:ea typeface="黑体" panose="02010609060101010101" pitchFamily="49" charset="-122"/>
                <a:cs typeface="Arial" panose="020B0604020202020204" pitchFamily="34" charset="0"/>
              </a:rPr>
              <a:t>FPC</a:t>
            </a:r>
            <a:r>
              <a:rPr lang="zh-CN" altLang="en-US" sz="3600" b="0" i="0" dirty="0">
                <a:effectLst/>
                <a:latin typeface="Arial" panose="020B0604020202020204" pitchFamily="34" charset="0"/>
                <a:ea typeface="黑体" panose="02010609060101010101" pitchFamily="49" charset="-122"/>
                <a:cs typeface="Arial" panose="020B0604020202020204" pitchFamily="34" charset="0"/>
              </a:rPr>
              <a:t>高效连接器件，能够承受由传感器监控的工业机械的</a:t>
            </a:r>
            <a:r>
              <a:rPr lang="zh-CN" altLang="en-US" sz="3600" b="0" i="0" u="sng" dirty="0">
                <a:effectLst/>
                <a:latin typeface="Arial" panose="020B0604020202020204" pitchFamily="34" charset="0"/>
                <a:ea typeface="黑体" panose="02010609060101010101" pitchFamily="49" charset="-122"/>
                <a:cs typeface="Arial" panose="020B0604020202020204" pitchFamily="34" charset="0"/>
              </a:rPr>
              <a:t>热影响</a:t>
            </a:r>
            <a:r>
              <a:rPr lang="zh-CN" altLang="en-US" sz="3600" b="0" i="0" dirty="0">
                <a:effectLst/>
                <a:latin typeface="Arial" panose="020B0604020202020204" pitchFamily="34" charset="0"/>
                <a:ea typeface="黑体" panose="02010609060101010101" pitchFamily="49" charset="-122"/>
                <a:cs typeface="Arial" panose="020B0604020202020204" pitchFamily="34" charset="0"/>
              </a:rPr>
              <a:t>和</a:t>
            </a:r>
            <a:r>
              <a:rPr lang="zh-CN" altLang="en-US" sz="3600" b="0" i="0" u="sng" dirty="0">
                <a:effectLst/>
                <a:latin typeface="Arial" panose="020B0604020202020204" pitchFamily="34" charset="0"/>
                <a:ea typeface="黑体" panose="02010609060101010101" pitchFamily="49" charset="-122"/>
                <a:cs typeface="Arial" panose="020B0604020202020204" pitchFamily="34" charset="0"/>
              </a:rPr>
              <a:t>振动影响</a:t>
            </a:r>
            <a:endParaRPr lang="de-DE" altLang="zh-CN" sz="3600" b="0" i="0" u="sng" dirty="0">
              <a:effectLst/>
              <a:latin typeface="Arial" panose="020B0604020202020204" pitchFamily="34" charset="0"/>
              <a:ea typeface="黑体" panose="02010609060101010101" pitchFamily="49" charset="-122"/>
              <a:cs typeface="Arial" panose="020B0604020202020204" pitchFamily="34" charset="0"/>
            </a:endParaRPr>
          </a:p>
        </p:txBody>
      </p:sp>
    </p:spTree>
    <p:extLst>
      <p:ext uri="{BB962C8B-B14F-4D97-AF65-F5344CB8AC3E}">
        <p14:creationId xmlns:p14="http://schemas.microsoft.com/office/powerpoint/2010/main" val="12814974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13432-E044-11B2-336C-980B3F303935}"/>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6670F875-3DE7-C1FD-C7A3-06D4D0062625}"/>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C7C0BC72-3E83-EB12-08A9-BE837E119414}"/>
              </a:ext>
            </a:extLst>
          </p:cNvPr>
          <p:cNvSpPr txBox="1"/>
          <p:nvPr/>
        </p:nvSpPr>
        <p:spPr>
          <a:xfrm>
            <a:off x="541079" y="608842"/>
            <a:ext cx="984983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电路的物理载体③</a:t>
            </a:r>
          </a:p>
        </p:txBody>
      </p:sp>
      <p:sp>
        <p:nvSpPr>
          <p:cNvPr id="3" name="文本框 2">
            <a:extLst>
              <a:ext uri="{FF2B5EF4-FFF2-40B4-BE49-F238E27FC236}">
                <a16:creationId xmlns:a16="http://schemas.microsoft.com/office/drawing/2014/main" id="{EBC6295E-B55F-E1F0-06CA-A1566DE2759B}"/>
              </a:ext>
            </a:extLst>
          </p:cNvPr>
          <p:cNvSpPr txBox="1"/>
          <p:nvPr/>
        </p:nvSpPr>
        <p:spPr>
          <a:xfrm>
            <a:off x="1" y="1408168"/>
            <a:ext cx="12192000" cy="4585871"/>
          </a:xfrm>
          <a:prstGeom prst="rect">
            <a:avLst/>
          </a:prstGeom>
          <a:noFill/>
        </p:spPr>
        <p:txBody>
          <a:bodyPr wrap="square">
            <a:spAutoFit/>
          </a:bodyPr>
          <a:lstStyle/>
          <a:p>
            <a:pPr>
              <a:spcAft>
                <a:spcPts val="1800"/>
              </a:spcAft>
            </a:pPr>
            <a:r>
              <a:rPr lang="zh-CN" altLang="en-US" sz="3600" b="0" i="0" dirty="0">
                <a:effectLst/>
                <a:latin typeface="Arial" panose="020B0604020202020204" pitchFamily="34" charset="0"/>
                <a:ea typeface="黑体" panose="02010609060101010101" pitchFamily="49" charset="-122"/>
                <a:cs typeface="Arial" panose="020B0604020202020204" pitchFamily="34" charset="0"/>
              </a:rPr>
              <a:t>柔性印刷电路板的</a:t>
            </a:r>
            <a:r>
              <a:rPr lang="zh-CN" altLang="en-US" sz="3600" b="0" i="0" dirty="0">
                <a:solidFill>
                  <a:srgbClr val="FF0000"/>
                </a:solidFill>
                <a:effectLst/>
                <a:latin typeface="Arial" panose="020B0604020202020204" pitchFamily="34" charset="0"/>
                <a:ea typeface="黑体" panose="02010609060101010101" pitchFamily="49" charset="-122"/>
                <a:cs typeface="Arial" panose="020B0604020202020204" pitchFamily="34" charset="0"/>
              </a:rPr>
              <a:t>常见应用</a:t>
            </a:r>
            <a:r>
              <a:rPr lang="zh-CN" altLang="en-US" sz="3600" b="0" i="0" dirty="0">
                <a:effectLst/>
                <a:latin typeface="Arial" panose="020B0604020202020204" pitchFamily="34" charset="0"/>
                <a:ea typeface="黑体" panose="02010609060101010101" pitchFamily="49" charset="-122"/>
                <a:cs typeface="Arial" panose="020B0604020202020204" pitchFamily="34" charset="0"/>
              </a:rPr>
              <a:t>：</a:t>
            </a:r>
            <a:endParaRPr lang="en-US" altLang="zh-CN" sz="3600" b="0" i="0" dirty="0">
              <a:effectLst/>
              <a:latin typeface="Arial" panose="020B0604020202020204" pitchFamily="34" charset="0"/>
              <a:ea typeface="黑体" panose="02010609060101010101" pitchFamily="49" charset="-122"/>
              <a:cs typeface="Arial" panose="020B0604020202020204" pitchFamily="34" charset="0"/>
            </a:endParaRPr>
          </a:p>
          <a:p>
            <a:pPr>
              <a:spcAft>
                <a:spcPts val="1200"/>
              </a:spcAft>
            </a:pPr>
            <a:r>
              <a:rPr lang="zh-CN" altLang="en-US" sz="3600" b="0" i="0" dirty="0">
                <a:solidFill>
                  <a:srgbClr val="FF0000"/>
                </a:solidFill>
                <a:effectLst/>
                <a:latin typeface="Arial" panose="020B0604020202020204" pitchFamily="34" charset="0"/>
                <a:ea typeface="黑体" panose="02010609060101010101" pitchFamily="49" charset="-122"/>
                <a:cs typeface="Arial" panose="020B0604020202020204" pitchFamily="34" charset="0"/>
              </a:rPr>
              <a:t>医疗设备，尤其是可穿戴设备</a:t>
            </a:r>
            <a:endParaRPr lang="en-US" altLang="zh-CN" sz="3600" b="0" i="0" dirty="0">
              <a:solidFill>
                <a:srgbClr val="FF0000"/>
              </a:solidFill>
              <a:effectLst/>
              <a:latin typeface="Arial" panose="020B0604020202020204" pitchFamily="34" charset="0"/>
              <a:ea typeface="黑体" panose="02010609060101010101" pitchFamily="49" charset="-122"/>
              <a:cs typeface="Arial" panose="020B0604020202020204" pitchFamily="34" charset="0"/>
            </a:endParaRPr>
          </a:p>
          <a:p>
            <a:r>
              <a:rPr lang="zh-CN" altLang="en-US" sz="3600" b="0" i="0" dirty="0">
                <a:effectLst/>
                <a:latin typeface="Arial" panose="020B0604020202020204" pitchFamily="34" charset="0"/>
                <a:ea typeface="黑体" panose="02010609060101010101" pitchFamily="49" charset="-122"/>
                <a:cs typeface="Arial" panose="020B0604020202020204" pitchFamily="34" charset="0"/>
              </a:rPr>
              <a:t>适应可穿戴设备的重量和尺寸约束；</a:t>
            </a:r>
            <a:endParaRPr lang="en-US" altLang="zh-CN" sz="3600" b="0" i="0" dirty="0">
              <a:effectLst/>
              <a:latin typeface="Arial" panose="020B0604020202020204" pitchFamily="34" charset="0"/>
              <a:ea typeface="黑体" panose="02010609060101010101" pitchFamily="49" charset="-122"/>
              <a:cs typeface="Arial" panose="020B0604020202020204" pitchFamily="34" charset="0"/>
            </a:endParaRPr>
          </a:p>
          <a:p>
            <a:pPr>
              <a:spcAft>
                <a:spcPts val="600"/>
              </a:spcAft>
            </a:pPr>
            <a:r>
              <a:rPr lang="zh-CN" altLang="en-US" sz="3600" b="0" i="0" dirty="0">
                <a:effectLst/>
                <a:latin typeface="Arial" panose="020B0604020202020204" pitchFamily="34" charset="0"/>
                <a:ea typeface="黑体" panose="02010609060101010101" pitchFamily="49" charset="-122"/>
                <a:cs typeface="Arial" panose="020B0604020202020204" pitchFamily="34" charset="0"/>
              </a:rPr>
              <a:t>适应人体有机形状需求；</a:t>
            </a:r>
            <a:endParaRPr lang="en-US" altLang="zh-CN" sz="3600" b="0" i="0" dirty="0">
              <a:effectLst/>
              <a:latin typeface="Arial" panose="020B0604020202020204" pitchFamily="34" charset="0"/>
              <a:ea typeface="黑体" panose="02010609060101010101" pitchFamily="49" charset="-122"/>
              <a:cs typeface="Arial" panose="020B0604020202020204" pitchFamily="34" charset="0"/>
            </a:endParaRPr>
          </a:p>
          <a:p>
            <a:pPr indent="457200">
              <a:spcBef>
                <a:spcPts val="1200"/>
              </a:spcBef>
            </a:pPr>
            <a:r>
              <a:rPr lang="zh-CN" altLang="en-US" sz="3600" b="0" i="0" dirty="0">
                <a:effectLst/>
                <a:latin typeface="Arial" panose="020B0604020202020204" pitchFamily="34" charset="0"/>
                <a:ea typeface="黑体" panose="02010609060101010101" pitchFamily="49" charset="-122"/>
                <a:cs typeface="Arial" panose="020B0604020202020204" pitchFamily="34" charset="0"/>
              </a:rPr>
              <a:t>随着医疗设备变得越来越小型化、功能越来越强大，企业将选择柔性或</a:t>
            </a:r>
            <a:r>
              <a:rPr lang="zh-CN" altLang="en-US" sz="3600" b="0" i="0" u="sng" dirty="0">
                <a:effectLst/>
                <a:latin typeface="Arial" panose="020B0604020202020204" pitchFamily="34" charset="0"/>
                <a:ea typeface="黑体" panose="02010609060101010101" pitchFamily="49" charset="-122"/>
                <a:cs typeface="Arial" panose="020B0604020202020204" pitchFamily="34" charset="0"/>
              </a:rPr>
              <a:t>刚柔结合</a:t>
            </a:r>
            <a:r>
              <a:rPr lang="zh-CN" altLang="en-US" sz="3600" u="sng" dirty="0">
                <a:latin typeface="Arial" panose="020B0604020202020204" pitchFamily="34" charset="0"/>
                <a:ea typeface="黑体" panose="02010609060101010101" pitchFamily="49" charset="-122"/>
                <a:cs typeface="Arial" panose="020B0604020202020204" pitchFamily="34" charset="0"/>
              </a:rPr>
              <a:t>印刷电路</a:t>
            </a:r>
            <a:r>
              <a:rPr lang="en-US" altLang="zh-CN" sz="3600" u="sng" dirty="0">
                <a:latin typeface="Arial" panose="020B0604020202020204" pitchFamily="34" charset="0"/>
                <a:ea typeface="黑体" panose="02010609060101010101" pitchFamily="49" charset="-122"/>
                <a:cs typeface="Arial" panose="020B0604020202020204" pitchFamily="34" charset="0"/>
              </a:rPr>
              <a:t>(rigid flexible printed circuit, RFPC)</a:t>
            </a:r>
            <a:endParaRPr lang="de-DE" altLang="zh-CN" sz="3600" b="0" i="0" u="sng" dirty="0">
              <a:effectLst/>
              <a:latin typeface="Arial" panose="020B0604020202020204" pitchFamily="34" charset="0"/>
              <a:ea typeface="黑体" panose="02010609060101010101" pitchFamily="49" charset="-122"/>
              <a:cs typeface="Arial" panose="020B0604020202020204" pitchFamily="34" charset="0"/>
            </a:endParaRPr>
          </a:p>
        </p:txBody>
      </p:sp>
    </p:spTree>
    <p:extLst>
      <p:ext uri="{BB962C8B-B14F-4D97-AF65-F5344CB8AC3E}">
        <p14:creationId xmlns:p14="http://schemas.microsoft.com/office/powerpoint/2010/main" val="21797103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A5B80-97E6-8077-9AFA-DC979A799B3A}"/>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9EF3A7A5-7A6E-D40B-EB00-9E09171F0B2A}"/>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C0D5F447-737E-B661-E23F-2616ED5078EB}"/>
              </a:ext>
            </a:extLst>
          </p:cNvPr>
          <p:cNvSpPr txBox="1"/>
          <p:nvPr/>
        </p:nvSpPr>
        <p:spPr>
          <a:xfrm>
            <a:off x="541079" y="608842"/>
            <a:ext cx="984983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电路的物理载体③</a:t>
            </a:r>
          </a:p>
        </p:txBody>
      </p:sp>
      <p:sp>
        <p:nvSpPr>
          <p:cNvPr id="3" name="文本框 2">
            <a:extLst>
              <a:ext uri="{FF2B5EF4-FFF2-40B4-BE49-F238E27FC236}">
                <a16:creationId xmlns:a16="http://schemas.microsoft.com/office/drawing/2014/main" id="{7E364780-12D1-5CE4-C4B8-686591F2B2C1}"/>
              </a:ext>
            </a:extLst>
          </p:cNvPr>
          <p:cNvSpPr txBox="1"/>
          <p:nvPr/>
        </p:nvSpPr>
        <p:spPr>
          <a:xfrm>
            <a:off x="1" y="1408168"/>
            <a:ext cx="12192000" cy="2693045"/>
          </a:xfrm>
          <a:prstGeom prst="rect">
            <a:avLst/>
          </a:prstGeom>
          <a:noFill/>
        </p:spPr>
        <p:txBody>
          <a:bodyPr wrap="square">
            <a:spAutoFit/>
          </a:bodyPr>
          <a:lstStyle/>
          <a:p>
            <a:pPr>
              <a:spcAft>
                <a:spcPts val="1800"/>
              </a:spcAft>
            </a:pPr>
            <a:r>
              <a:rPr lang="zh-CN" altLang="en-US" sz="3600" b="0" i="0" dirty="0">
                <a:effectLst/>
                <a:latin typeface="Arial" panose="020B0604020202020204" pitchFamily="34" charset="0"/>
                <a:ea typeface="黑体" panose="02010609060101010101" pitchFamily="49" charset="-122"/>
                <a:cs typeface="Arial" panose="020B0604020202020204" pitchFamily="34" charset="0"/>
              </a:rPr>
              <a:t>柔性印刷电路板的</a:t>
            </a:r>
            <a:r>
              <a:rPr lang="zh-CN" altLang="en-US" sz="3600" b="0" i="0" dirty="0">
                <a:solidFill>
                  <a:srgbClr val="FF0000"/>
                </a:solidFill>
                <a:effectLst/>
                <a:latin typeface="Arial" panose="020B0604020202020204" pitchFamily="34" charset="0"/>
                <a:ea typeface="黑体" panose="02010609060101010101" pitchFamily="49" charset="-122"/>
                <a:cs typeface="Arial" panose="020B0604020202020204" pitchFamily="34" charset="0"/>
              </a:rPr>
              <a:t>常见应用</a:t>
            </a:r>
            <a:r>
              <a:rPr lang="zh-CN" altLang="en-US" sz="3600" b="0" i="0" dirty="0">
                <a:effectLst/>
                <a:latin typeface="Arial" panose="020B0604020202020204" pitchFamily="34" charset="0"/>
                <a:ea typeface="黑体" panose="02010609060101010101" pitchFamily="49" charset="-122"/>
                <a:cs typeface="Arial" panose="020B0604020202020204" pitchFamily="34" charset="0"/>
              </a:rPr>
              <a:t>：</a:t>
            </a:r>
            <a:endParaRPr lang="en-US" altLang="zh-CN" sz="3600" b="0" i="0" dirty="0">
              <a:effectLst/>
              <a:latin typeface="Arial" panose="020B0604020202020204" pitchFamily="34" charset="0"/>
              <a:ea typeface="黑体" panose="02010609060101010101" pitchFamily="49" charset="-122"/>
              <a:cs typeface="Arial" panose="020B0604020202020204" pitchFamily="34" charset="0"/>
            </a:endParaRPr>
          </a:p>
          <a:p>
            <a:pPr>
              <a:spcAft>
                <a:spcPts val="1200"/>
              </a:spcAft>
            </a:pPr>
            <a:r>
              <a:rPr lang="zh-CN" altLang="en-US" sz="3600" b="0" i="0" dirty="0">
                <a:solidFill>
                  <a:srgbClr val="FF0000"/>
                </a:solidFill>
                <a:effectLst/>
                <a:latin typeface="Arial" panose="020B0604020202020204" pitchFamily="34" charset="0"/>
                <a:ea typeface="黑体" panose="02010609060101010101" pitchFamily="49" charset="-122"/>
                <a:cs typeface="Arial" panose="020B0604020202020204" pitchFamily="34" charset="0"/>
              </a:rPr>
              <a:t>微型传感器系统</a:t>
            </a:r>
            <a:endParaRPr lang="en-US" altLang="zh-CN" sz="3600" b="0" i="0" dirty="0">
              <a:solidFill>
                <a:srgbClr val="FF0000"/>
              </a:solidFill>
              <a:effectLst/>
              <a:latin typeface="Arial" panose="020B0604020202020204" pitchFamily="34" charset="0"/>
              <a:ea typeface="黑体" panose="02010609060101010101" pitchFamily="49" charset="-122"/>
              <a:cs typeface="Arial" panose="020B0604020202020204" pitchFamily="34" charset="0"/>
            </a:endParaRPr>
          </a:p>
          <a:p>
            <a:r>
              <a:rPr lang="zh-CN" altLang="en-US" sz="3600" b="0" i="0" dirty="0">
                <a:effectLst/>
                <a:latin typeface="Arial" panose="020B0604020202020204" pitchFamily="34" charset="0"/>
                <a:ea typeface="黑体" panose="02010609060101010101" pitchFamily="49" charset="-122"/>
                <a:cs typeface="Arial" panose="020B0604020202020204" pitchFamily="34" charset="0"/>
              </a:rPr>
              <a:t>柔性印刷电路在</a:t>
            </a:r>
            <a:r>
              <a:rPr lang="zh-CN" altLang="en-US" sz="3600" dirty="0">
                <a:latin typeface="Arial" panose="020B0604020202020204" pitchFamily="34" charset="0"/>
                <a:ea typeface="黑体" panose="02010609060101010101" pitchFamily="49" charset="-122"/>
                <a:cs typeface="Arial" panose="020B0604020202020204" pitchFamily="34" charset="0"/>
              </a:rPr>
              <a:t>微型传感器系统</a:t>
            </a:r>
            <a:r>
              <a:rPr lang="zh-CN" altLang="en-US" sz="3600" b="0" i="0" dirty="0">
                <a:effectLst/>
                <a:latin typeface="Arial" panose="020B0604020202020204" pitchFamily="34" charset="0"/>
                <a:ea typeface="黑体" panose="02010609060101010101" pitchFamily="49" charset="-122"/>
                <a:cs typeface="Arial" panose="020B0604020202020204" pitchFamily="34" charset="0"/>
              </a:rPr>
              <a:t>中起着至关重要的作用，因为它们容纳了电源、数据处理和传输所需的所有电子元件。</a:t>
            </a:r>
          </a:p>
        </p:txBody>
      </p:sp>
    </p:spTree>
    <p:extLst>
      <p:ext uri="{BB962C8B-B14F-4D97-AF65-F5344CB8AC3E}">
        <p14:creationId xmlns:p14="http://schemas.microsoft.com/office/powerpoint/2010/main" val="20765782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21D27-ED26-3DD1-1AC9-F92C2E5A6854}"/>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9492845F-9555-6430-99B8-7E25C840C02A}"/>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A8017337-9E8F-CF6D-1C0B-ACA23D1EF9C1}"/>
              </a:ext>
            </a:extLst>
          </p:cNvPr>
          <p:cNvSpPr txBox="1"/>
          <p:nvPr/>
        </p:nvSpPr>
        <p:spPr>
          <a:xfrm>
            <a:off x="541079" y="608842"/>
            <a:ext cx="6867254"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p>
        </p:txBody>
      </p:sp>
      <p:sp>
        <p:nvSpPr>
          <p:cNvPr id="3" name="文本框 2">
            <a:extLst>
              <a:ext uri="{FF2B5EF4-FFF2-40B4-BE49-F238E27FC236}">
                <a16:creationId xmlns:a16="http://schemas.microsoft.com/office/drawing/2014/main" id="{78E0F484-7AA2-5E58-1652-68C28AFD093D}"/>
              </a:ext>
            </a:extLst>
          </p:cNvPr>
          <p:cNvSpPr txBox="1"/>
          <p:nvPr/>
        </p:nvSpPr>
        <p:spPr>
          <a:xfrm>
            <a:off x="541079" y="1408168"/>
            <a:ext cx="4524103" cy="1200329"/>
          </a:xfrm>
          <a:prstGeom prst="rect">
            <a:avLst/>
          </a:prstGeom>
          <a:noFill/>
        </p:spPr>
        <p:txBody>
          <a:bodyPr wrap="square">
            <a:spAutoFit/>
          </a:bodyPr>
          <a:lstStyle/>
          <a:p>
            <a:r>
              <a:rPr lang="zh-CN" altLang="en-US" sz="3600" b="0" i="0" dirty="0">
                <a:effectLst/>
                <a:latin typeface="黑体" panose="02010609060101010101" pitchFamily="49" charset="-122"/>
                <a:ea typeface="黑体" panose="02010609060101010101" pitchFamily="49" charset="-122"/>
              </a:rPr>
              <a:t>用于柔性电子系统的柔性印刷电路板</a:t>
            </a:r>
            <a:endParaRPr lang="de-DE" altLang="zh-CN" sz="3600" b="0" i="0" dirty="0">
              <a:effectLst/>
              <a:latin typeface="Times New Roman" panose="02020603050405020304" pitchFamily="18" charset="0"/>
              <a:ea typeface="黑体" panose="02010609060101010101" pitchFamily="49" charset="-122"/>
              <a:cs typeface="Times New Roman" panose="02020603050405020304" pitchFamily="18" charset="0"/>
            </a:endParaRPr>
          </a:p>
        </p:txBody>
      </p:sp>
      <p:sp>
        <p:nvSpPr>
          <p:cNvPr id="8" name="文本框 7">
            <a:extLst>
              <a:ext uri="{FF2B5EF4-FFF2-40B4-BE49-F238E27FC236}">
                <a16:creationId xmlns:a16="http://schemas.microsoft.com/office/drawing/2014/main" id="{8FDB022B-2F70-9E42-030F-DCD0DCBDBCBA}"/>
              </a:ext>
            </a:extLst>
          </p:cNvPr>
          <p:cNvSpPr txBox="1"/>
          <p:nvPr/>
        </p:nvSpPr>
        <p:spPr>
          <a:xfrm>
            <a:off x="0" y="2749421"/>
            <a:ext cx="5065182" cy="1815882"/>
          </a:xfrm>
          <a:prstGeom prst="rect">
            <a:avLst/>
          </a:prstGeom>
          <a:noFill/>
        </p:spPr>
        <p:txBody>
          <a:bodyPr wrap="square">
            <a:spAutoFit/>
          </a:bodyPr>
          <a:lstStyle/>
          <a:p>
            <a:pPr>
              <a:spcAft>
                <a:spcPts val="1200"/>
              </a:spcAft>
            </a:pPr>
            <a:r>
              <a:rPr lang="zh-CN" altLang="en-US" sz="2800" dirty="0">
                <a:latin typeface="Arial" panose="020B0604020202020204" pitchFamily="34" charset="0"/>
                <a:ea typeface="华文细黑" panose="02010600040101010101" pitchFamily="2" charset="-122"/>
                <a:cs typeface="Arial" panose="020B0604020202020204" pitchFamily="34" charset="0"/>
              </a:rPr>
              <a:t>（a）用于</a:t>
            </a:r>
            <a:r>
              <a:rPr lang="zh-CN" altLang="en-US" sz="2800" b="1" dirty="0">
                <a:solidFill>
                  <a:srgbClr val="7030A0"/>
                </a:solidFill>
                <a:latin typeface="Arial" panose="020B0604020202020204" pitchFamily="34" charset="0"/>
                <a:ea typeface="华文细黑" panose="02010600040101010101" pitchFamily="2" charset="-122"/>
                <a:cs typeface="Arial" panose="020B0604020202020204" pitchFamily="34" charset="0"/>
              </a:rPr>
              <a:t>评估心室分流功能</a:t>
            </a:r>
            <a:r>
              <a:rPr lang="zh-CN" altLang="en-US" sz="2800" dirty="0">
                <a:latin typeface="Arial" panose="020B0604020202020204" pitchFamily="34" charset="0"/>
                <a:ea typeface="华文细黑" panose="02010600040101010101" pitchFamily="2" charset="-122"/>
                <a:cs typeface="Arial" panose="020B0604020202020204" pitchFamily="34" charset="0"/>
              </a:rPr>
              <a:t>的</a:t>
            </a:r>
            <a:r>
              <a:rPr lang="zh-CN" altLang="en-US" sz="2800" u="sng" dirty="0">
                <a:latin typeface="Arial" panose="020B0604020202020204" pitchFamily="34" charset="0"/>
                <a:ea typeface="华文细黑" panose="02010600040101010101" pitchFamily="2" charset="-122"/>
                <a:cs typeface="Arial" panose="020B0604020202020204" pitchFamily="34" charset="0"/>
              </a:rPr>
              <a:t>非侵入式</a:t>
            </a:r>
            <a:r>
              <a:rPr lang="zh-CN" altLang="en-US" sz="2800" dirty="0">
                <a:latin typeface="Arial" panose="020B0604020202020204" pitchFamily="34" charset="0"/>
                <a:ea typeface="华文细黑" panose="02010600040101010101" pitchFamily="2" charset="-122"/>
                <a:cs typeface="Arial" panose="020B0604020202020204" pitchFamily="34" charset="0"/>
              </a:rPr>
              <a:t>可穿戴</a:t>
            </a:r>
            <a:r>
              <a:rPr lang="zh-CN" altLang="en-US" sz="2800" b="1" dirty="0">
                <a:solidFill>
                  <a:srgbClr val="7030A0"/>
                </a:solidFill>
                <a:latin typeface="Arial" panose="020B0604020202020204" pitchFamily="34" charset="0"/>
                <a:ea typeface="华文细黑" panose="02010600040101010101" pitchFamily="2" charset="-122"/>
                <a:cs typeface="Arial" panose="020B0604020202020204" pitchFamily="34" charset="0"/>
              </a:rPr>
              <a:t>表皮</a:t>
            </a:r>
            <a:r>
              <a:rPr lang="zh-CN" altLang="en-US" sz="2800" dirty="0">
                <a:latin typeface="Arial" panose="020B0604020202020204" pitchFamily="34" charset="0"/>
                <a:ea typeface="华文细黑" panose="02010600040101010101" pitchFamily="2" charset="-122"/>
                <a:cs typeface="Arial" panose="020B0604020202020204" pitchFamily="34" charset="0"/>
              </a:rPr>
              <a:t>电子设备；版权所有 (2018) 美国科学促进会。</a:t>
            </a:r>
            <a:endParaRPr lang="en-US" altLang="zh-CN" sz="2800" dirty="0">
              <a:latin typeface="Arial" panose="020B0604020202020204" pitchFamily="34" charset="0"/>
              <a:ea typeface="华文细黑" panose="02010600040101010101" pitchFamily="2" charset="-122"/>
              <a:cs typeface="Arial" panose="020B0604020202020204" pitchFamily="34" charset="0"/>
            </a:endParaRPr>
          </a:p>
        </p:txBody>
      </p:sp>
      <p:pic>
        <p:nvPicPr>
          <p:cNvPr id="10" name="图片 9">
            <a:extLst>
              <a:ext uri="{FF2B5EF4-FFF2-40B4-BE49-F238E27FC236}">
                <a16:creationId xmlns:a16="http://schemas.microsoft.com/office/drawing/2014/main" id="{25B0233C-40F0-6B4C-A0AD-02598EC4E2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65182" y="261256"/>
            <a:ext cx="7126818" cy="6442740"/>
          </a:xfrm>
          <a:prstGeom prst="rect">
            <a:avLst/>
          </a:prstGeom>
        </p:spPr>
      </p:pic>
      <p:sp>
        <p:nvSpPr>
          <p:cNvPr id="2" name="矩形 1">
            <a:extLst>
              <a:ext uri="{FF2B5EF4-FFF2-40B4-BE49-F238E27FC236}">
                <a16:creationId xmlns:a16="http://schemas.microsoft.com/office/drawing/2014/main" id="{14A5A6FA-EF20-FD21-E47F-83FF02EE3A86}"/>
              </a:ext>
            </a:extLst>
          </p:cNvPr>
          <p:cNvSpPr/>
          <p:nvPr/>
        </p:nvSpPr>
        <p:spPr>
          <a:xfrm>
            <a:off x="5065182" y="3150453"/>
            <a:ext cx="7126818" cy="3553543"/>
          </a:xfrm>
          <a:prstGeom prst="rect">
            <a:avLst/>
          </a:prstGeom>
          <a:solidFill>
            <a:schemeClr val="bg1">
              <a:lumMod val="85000"/>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1AAF6246-DB9D-ED24-1BF4-7F8B4A147F0C}"/>
              </a:ext>
            </a:extLst>
          </p:cNvPr>
          <p:cNvSpPr/>
          <p:nvPr/>
        </p:nvSpPr>
        <p:spPr>
          <a:xfrm>
            <a:off x="8601075" y="103820"/>
            <a:ext cx="3590924" cy="3046634"/>
          </a:xfrm>
          <a:prstGeom prst="rect">
            <a:avLst/>
          </a:prstGeom>
          <a:solidFill>
            <a:schemeClr val="bg1">
              <a:lumMod val="85000"/>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2755511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470C1-F905-843F-B12B-EF25820B874A}"/>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28E9F7E9-E4C2-20FD-AA8E-52BAF2CD26F8}"/>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DA81849A-BA0B-9ACF-016C-2B84E9CA051F}"/>
              </a:ext>
            </a:extLst>
          </p:cNvPr>
          <p:cNvSpPr txBox="1"/>
          <p:nvPr/>
        </p:nvSpPr>
        <p:spPr>
          <a:xfrm>
            <a:off x="541079" y="608842"/>
            <a:ext cx="6867254"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p>
        </p:txBody>
      </p:sp>
      <p:sp>
        <p:nvSpPr>
          <p:cNvPr id="3" name="文本框 2">
            <a:extLst>
              <a:ext uri="{FF2B5EF4-FFF2-40B4-BE49-F238E27FC236}">
                <a16:creationId xmlns:a16="http://schemas.microsoft.com/office/drawing/2014/main" id="{F6751671-9249-39F0-30C8-690889A41FE5}"/>
              </a:ext>
            </a:extLst>
          </p:cNvPr>
          <p:cNvSpPr txBox="1"/>
          <p:nvPr/>
        </p:nvSpPr>
        <p:spPr>
          <a:xfrm>
            <a:off x="541079" y="1408168"/>
            <a:ext cx="4524103" cy="1200329"/>
          </a:xfrm>
          <a:prstGeom prst="rect">
            <a:avLst/>
          </a:prstGeom>
          <a:noFill/>
        </p:spPr>
        <p:txBody>
          <a:bodyPr wrap="square">
            <a:spAutoFit/>
          </a:bodyPr>
          <a:lstStyle/>
          <a:p>
            <a:r>
              <a:rPr lang="zh-CN" altLang="en-US" sz="3600" b="0" i="0" dirty="0">
                <a:effectLst/>
                <a:latin typeface="黑体" panose="02010609060101010101" pitchFamily="49" charset="-122"/>
                <a:ea typeface="黑体" panose="02010609060101010101" pitchFamily="49" charset="-122"/>
              </a:rPr>
              <a:t>用于柔性电子系统的柔性印刷电路板</a:t>
            </a:r>
            <a:endParaRPr lang="de-DE" altLang="zh-CN" sz="3600" b="0" i="0" dirty="0">
              <a:effectLst/>
              <a:latin typeface="Times New Roman" panose="02020603050405020304" pitchFamily="18" charset="0"/>
              <a:ea typeface="黑体" panose="02010609060101010101" pitchFamily="49" charset="-122"/>
              <a:cs typeface="Times New Roman" panose="02020603050405020304" pitchFamily="18" charset="0"/>
            </a:endParaRPr>
          </a:p>
        </p:txBody>
      </p:sp>
      <p:sp>
        <p:nvSpPr>
          <p:cNvPr id="8" name="文本框 7">
            <a:extLst>
              <a:ext uri="{FF2B5EF4-FFF2-40B4-BE49-F238E27FC236}">
                <a16:creationId xmlns:a16="http://schemas.microsoft.com/office/drawing/2014/main" id="{F2FB9FD6-EA15-8C43-DE33-8564B370F99C}"/>
              </a:ext>
            </a:extLst>
          </p:cNvPr>
          <p:cNvSpPr txBox="1"/>
          <p:nvPr/>
        </p:nvSpPr>
        <p:spPr>
          <a:xfrm>
            <a:off x="0" y="2749421"/>
            <a:ext cx="5065182" cy="2246769"/>
          </a:xfrm>
          <a:prstGeom prst="rect">
            <a:avLst/>
          </a:prstGeom>
          <a:noFill/>
        </p:spPr>
        <p:txBody>
          <a:bodyPr wrap="square">
            <a:spAutoFit/>
          </a:bodyPr>
          <a:lstStyle/>
          <a:p>
            <a:r>
              <a:rPr lang="zh-CN" altLang="en-US" sz="2800" dirty="0">
                <a:latin typeface="Arial" panose="020B0604020202020204" pitchFamily="34" charset="0"/>
                <a:ea typeface="华文细黑" panose="02010600040101010101" pitchFamily="2" charset="-122"/>
                <a:cs typeface="Arial" panose="020B0604020202020204" pitchFamily="34" charset="0"/>
              </a:rPr>
              <a:t>（b）</a:t>
            </a:r>
            <a:r>
              <a:rPr lang="zh-CN" altLang="en-US" sz="2800" u="sng" dirty="0">
                <a:latin typeface="Arial" panose="020B0604020202020204" pitchFamily="34" charset="0"/>
                <a:ea typeface="华文细黑" panose="02010600040101010101" pitchFamily="2" charset="-122"/>
                <a:cs typeface="Arial" panose="020B0604020202020204" pitchFamily="34" charset="0"/>
              </a:rPr>
              <a:t>微型、完全可植入</a:t>
            </a:r>
            <a:r>
              <a:rPr lang="zh-CN" altLang="en-US" sz="2800" dirty="0">
                <a:latin typeface="Arial" panose="020B0604020202020204" pitchFamily="34" charset="0"/>
                <a:ea typeface="华文细黑" panose="02010600040101010101" pitchFamily="2" charset="-122"/>
                <a:cs typeface="Arial" panose="020B0604020202020204" pitchFamily="34" charset="0"/>
              </a:rPr>
              <a:t>的</a:t>
            </a:r>
            <a:r>
              <a:rPr lang="zh-CN" altLang="en-US" sz="2800" b="1" dirty="0">
                <a:solidFill>
                  <a:srgbClr val="7030A0"/>
                </a:solidFill>
                <a:latin typeface="Arial" panose="020B0604020202020204" pitchFamily="34" charset="0"/>
                <a:ea typeface="华文细黑" panose="02010600040101010101" pitchFamily="2" charset="-122"/>
                <a:cs typeface="Arial" panose="020B0604020202020204" pitchFamily="34" charset="0"/>
              </a:rPr>
              <a:t>软光电系统</a:t>
            </a:r>
            <a:r>
              <a:rPr lang="zh-CN" altLang="en-US" sz="2800" dirty="0">
                <a:latin typeface="Arial" panose="020B0604020202020204" pitchFamily="34" charset="0"/>
                <a:ea typeface="华文细黑" panose="02010600040101010101" pitchFamily="2" charset="-122"/>
                <a:cs typeface="Arial" panose="020B0604020202020204" pitchFamily="34" charset="0"/>
              </a:rPr>
              <a:t>的示意图和照片，其中蛇形金属走线作为</a:t>
            </a:r>
            <a:r>
              <a:rPr lang="zh-CN" altLang="en-US" sz="2800" b="1" dirty="0">
                <a:solidFill>
                  <a:srgbClr val="7030A0"/>
                </a:solidFill>
                <a:latin typeface="Arial" panose="020B0604020202020204" pitchFamily="34" charset="0"/>
                <a:ea typeface="华文细黑" panose="02010600040101010101" pitchFamily="2" charset="-122"/>
                <a:cs typeface="Arial" panose="020B0604020202020204" pitchFamily="34" charset="0"/>
              </a:rPr>
              <a:t>天线和互连</a:t>
            </a:r>
            <a:r>
              <a:rPr lang="zh-CN" altLang="en-US" sz="2800" dirty="0">
                <a:latin typeface="Arial" panose="020B0604020202020204" pitchFamily="34" charset="0"/>
                <a:ea typeface="华文细黑" panose="02010600040101010101" pitchFamily="2" charset="-122"/>
                <a:cs typeface="Arial" panose="020B0604020202020204" pitchFamily="34" charset="0"/>
              </a:rPr>
              <a:t>；版权所有 (2015) Springer Nature。</a:t>
            </a:r>
            <a:endParaRPr lang="en-US" altLang="zh-CN" sz="2800" dirty="0">
              <a:latin typeface="Arial" panose="020B0604020202020204" pitchFamily="34" charset="0"/>
              <a:ea typeface="华文细黑" panose="02010600040101010101" pitchFamily="2" charset="-122"/>
              <a:cs typeface="Arial" panose="020B0604020202020204" pitchFamily="34" charset="0"/>
            </a:endParaRPr>
          </a:p>
        </p:txBody>
      </p:sp>
      <p:pic>
        <p:nvPicPr>
          <p:cNvPr id="10" name="图片 9">
            <a:extLst>
              <a:ext uri="{FF2B5EF4-FFF2-40B4-BE49-F238E27FC236}">
                <a16:creationId xmlns:a16="http://schemas.microsoft.com/office/drawing/2014/main" id="{9B211571-80F2-07D3-E967-331A325A0E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65182" y="261256"/>
            <a:ext cx="7126818" cy="6442740"/>
          </a:xfrm>
          <a:prstGeom prst="rect">
            <a:avLst/>
          </a:prstGeom>
        </p:spPr>
      </p:pic>
      <p:sp>
        <p:nvSpPr>
          <p:cNvPr id="2" name="矩形 1">
            <a:extLst>
              <a:ext uri="{FF2B5EF4-FFF2-40B4-BE49-F238E27FC236}">
                <a16:creationId xmlns:a16="http://schemas.microsoft.com/office/drawing/2014/main" id="{ED92C67E-7050-BC20-88C4-33D5C8472A40}"/>
              </a:ext>
            </a:extLst>
          </p:cNvPr>
          <p:cNvSpPr/>
          <p:nvPr/>
        </p:nvSpPr>
        <p:spPr>
          <a:xfrm>
            <a:off x="5065182" y="3150453"/>
            <a:ext cx="7126818" cy="3553543"/>
          </a:xfrm>
          <a:prstGeom prst="rect">
            <a:avLst/>
          </a:prstGeom>
          <a:solidFill>
            <a:schemeClr val="bg1">
              <a:lumMod val="85000"/>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A561C6A1-E0EA-650C-CBD0-0BF785A30FE6}"/>
              </a:ext>
            </a:extLst>
          </p:cNvPr>
          <p:cNvSpPr/>
          <p:nvPr/>
        </p:nvSpPr>
        <p:spPr>
          <a:xfrm>
            <a:off x="5083173" y="103819"/>
            <a:ext cx="3507318" cy="3046634"/>
          </a:xfrm>
          <a:prstGeom prst="rect">
            <a:avLst/>
          </a:prstGeom>
          <a:solidFill>
            <a:schemeClr val="bg1">
              <a:lumMod val="85000"/>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24046205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5C3F8-EE8F-E02B-9228-865A8D8E9CDB}"/>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0BE2B511-A81A-0BC1-0B8F-1D3CFCD2BAF7}"/>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0CB7684B-FBE4-0079-8464-5C75AD3CCE26}"/>
              </a:ext>
            </a:extLst>
          </p:cNvPr>
          <p:cNvSpPr txBox="1"/>
          <p:nvPr/>
        </p:nvSpPr>
        <p:spPr>
          <a:xfrm>
            <a:off x="541079" y="608842"/>
            <a:ext cx="6867254"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p>
        </p:txBody>
      </p:sp>
      <p:sp>
        <p:nvSpPr>
          <p:cNvPr id="3" name="文本框 2">
            <a:extLst>
              <a:ext uri="{FF2B5EF4-FFF2-40B4-BE49-F238E27FC236}">
                <a16:creationId xmlns:a16="http://schemas.microsoft.com/office/drawing/2014/main" id="{127EC184-6DBF-4EAA-AB19-996207E5C7DF}"/>
              </a:ext>
            </a:extLst>
          </p:cNvPr>
          <p:cNvSpPr txBox="1"/>
          <p:nvPr/>
        </p:nvSpPr>
        <p:spPr>
          <a:xfrm>
            <a:off x="541079" y="1408168"/>
            <a:ext cx="4524103" cy="1200329"/>
          </a:xfrm>
          <a:prstGeom prst="rect">
            <a:avLst/>
          </a:prstGeom>
          <a:noFill/>
        </p:spPr>
        <p:txBody>
          <a:bodyPr wrap="square">
            <a:spAutoFit/>
          </a:bodyPr>
          <a:lstStyle/>
          <a:p>
            <a:r>
              <a:rPr lang="zh-CN" altLang="en-US" sz="3600" b="0" i="0" dirty="0">
                <a:effectLst/>
                <a:latin typeface="黑体" panose="02010609060101010101" pitchFamily="49" charset="-122"/>
                <a:ea typeface="黑体" panose="02010609060101010101" pitchFamily="49" charset="-122"/>
              </a:rPr>
              <a:t>用于柔性电子系统的柔性印刷电路板</a:t>
            </a:r>
            <a:endParaRPr lang="de-DE" altLang="zh-CN" sz="3600" b="0" i="0" dirty="0">
              <a:effectLst/>
              <a:latin typeface="Times New Roman" panose="02020603050405020304" pitchFamily="18" charset="0"/>
              <a:ea typeface="黑体" panose="02010609060101010101" pitchFamily="49" charset="-122"/>
              <a:cs typeface="Times New Roman" panose="02020603050405020304" pitchFamily="18" charset="0"/>
            </a:endParaRPr>
          </a:p>
        </p:txBody>
      </p:sp>
      <p:sp>
        <p:nvSpPr>
          <p:cNvPr id="8" name="文本框 7">
            <a:extLst>
              <a:ext uri="{FF2B5EF4-FFF2-40B4-BE49-F238E27FC236}">
                <a16:creationId xmlns:a16="http://schemas.microsoft.com/office/drawing/2014/main" id="{509C5C95-F9EB-CBB3-8D8B-F98ECED2A1A8}"/>
              </a:ext>
            </a:extLst>
          </p:cNvPr>
          <p:cNvSpPr txBox="1"/>
          <p:nvPr/>
        </p:nvSpPr>
        <p:spPr>
          <a:xfrm>
            <a:off x="-61472" y="3146379"/>
            <a:ext cx="5065182" cy="1815882"/>
          </a:xfrm>
          <a:prstGeom prst="rect">
            <a:avLst/>
          </a:prstGeom>
          <a:noFill/>
        </p:spPr>
        <p:txBody>
          <a:bodyPr wrap="square">
            <a:spAutoFit/>
          </a:bodyPr>
          <a:lstStyle/>
          <a:p>
            <a:pPr>
              <a:spcAft>
                <a:spcPts val="1200"/>
              </a:spcAft>
            </a:pPr>
            <a:r>
              <a:rPr lang="zh-CN" altLang="en-US" sz="2800" dirty="0">
                <a:latin typeface="Arial" panose="020B0604020202020204" pitchFamily="34" charset="0"/>
                <a:ea typeface="华文细黑" panose="02010600040101010101" pitchFamily="2" charset="-122"/>
                <a:cs typeface="Arial" panose="020B0604020202020204" pitchFamily="34" charset="0"/>
              </a:rPr>
              <a:t>（c）高度集成的微型电子系统的示意图和照片，具有</a:t>
            </a:r>
            <a:r>
              <a:rPr lang="zh-CN" altLang="en-US" sz="2800" b="1" dirty="0">
                <a:solidFill>
                  <a:srgbClr val="7030A0"/>
                </a:solidFill>
                <a:latin typeface="Arial" panose="020B0604020202020204" pitchFamily="34" charset="0"/>
                <a:ea typeface="华文细黑" panose="02010600040101010101" pitchFamily="2" charset="-122"/>
                <a:cs typeface="Arial" panose="020B0604020202020204" pitchFamily="34" charset="0"/>
              </a:rPr>
              <a:t>可拉伸</a:t>
            </a:r>
            <a:r>
              <a:rPr lang="zh-CN" altLang="en-US" sz="2800" dirty="0">
                <a:latin typeface="Arial" panose="020B0604020202020204" pitchFamily="34" charset="0"/>
                <a:ea typeface="华文细黑" panose="02010600040101010101" pitchFamily="2" charset="-122"/>
                <a:cs typeface="Arial" panose="020B0604020202020204" pitchFamily="34" charset="0"/>
              </a:rPr>
              <a:t>的多层网络，用于集成和封装无机元件。</a:t>
            </a:r>
            <a:endParaRPr lang="en-US" altLang="zh-CN" sz="2800" dirty="0">
              <a:latin typeface="Arial" panose="020B0604020202020204" pitchFamily="34" charset="0"/>
              <a:ea typeface="华文细黑" panose="02010600040101010101" pitchFamily="2" charset="-122"/>
              <a:cs typeface="Arial" panose="020B0604020202020204" pitchFamily="34" charset="0"/>
            </a:endParaRPr>
          </a:p>
        </p:txBody>
      </p:sp>
      <p:pic>
        <p:nvPicPr>
          <p:cNvPr id="2" name="图片 1">
            <a:extLst>
              <a:ext uri="{FF2B5EF4-FFF2-40B4-BE49-F238E27FC236}">
                <a16:creationId xmlns:a16="http://schemas.microsoft.com/office/drawing/2014/main" id="{B881C9FA-228C-97BE-5A1C-09E6838CC5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65183" y="296292"/>
            <a:ext cx="7126818" cy="6442740"/>
          </a:xfrm>
          <a:prstGeom prst="rect">
            <a:avLst/>
          </a:prstGeom>
        </p:spPr>
      </p:pic>
      <p:sp>
        <p:nvSpPr>
          <p:cNvPr id="6" name="矩形 5">
            <a:extLst>
              <a:ext uri="{FF2B5EF4-FFF2-40B4-BE49-F238E27FC236}">
                <a16:creationId xmlns:a16="http://schemas.microsoft.com/office/drawing/2014/main" id="{85FA8DA8-195A-EC09-83A8-FEC65752C64C}"/>
              </a:ext>
            </a:extLst>
          </p:cNvPr>
          <p:cNvSpPr/>
          <p:nvPr/>
        </p:nvSpPr>
        <p:spPr>
          <a:xfrm>
            <a:off x="5065183" y="296292"/>
            <a:ext cx="7126818" cy="2850087"/>
          </a:xfrm>
          <a:prstGeom prst="rect">
            <a:avLst/>
          </a:prstGeom>
          <a:solidFill>
            <a:schemeClr val="bg1">
              <a:lumMod val="85000"/>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6869091D-B720-40ED-9CA6-504B8C597300}"/>
              </a:ext>
            </a:extLst>
          </p:cNvPr>
          <p:cNvSpPr/>
          <p:nvPr/>
        </p:nvSpPr>
        <p:spPr>
          <a:xfrm>
            <a:off x="7999079" y="3146379"/>
            <a:ext cx="4192921" cy="3711621"/>
          </a:xfrm>
          <a:prstGeom prst="rect">
            <a:avLst/>
          </a:prstGeom>
          <a:solidFill>
            <a:schemeClr val="bg1">
              <a:lumMod val="85000"/>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6129070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AD991-DA37-F8BA-A004-6952AEB5C62A}"/>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7B5101A0-89FA-46F7-A9ED-4258936DDCD6}"/>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5F737157-7C69-2D85-7862-4F5D5F70EEA9}"/>
              </a:ext>
            </a:extLst>
          </p:cNvPr>
          <p:cNvSpPr txBox="1"/>
          <p:nvPr/>
        </p:nvSpPr>
        <p:spPr>
          <a:xfrm>
            <a:off x="541079" y="608842"/>
            <a:ext cx="6867254"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p>
        </p:txBody>
      </p:sp>
      <p:sp>
        <p:nvSpPr>
          <p:cNvPr id="3" name="文本框 2">
            <a:extLst>
              <a:ext uri="{FF2B5EF4-FFF2-40B4-BE49-F238E27FC236}">
                <a16:creationId xmlns:a16="http://schemas.microsoft.com/office/drawing/2014/main" id="{97CB76D6-7B86-A210-3235-66B77AC94E8A}"/>
              </a:ext>
            </a:extLst>
          </p:cNvPr>
          <p:cNvSpPr txBox="1"/>
          <p:nvPr/>
        </p:nvSpPr>
        <p:spPr>
          <a:xfrm>
            <a:off x="541079" y="1408168"/>
            <a:ext cx="4524103" cy="1200329"/>
          </a:xfrm>
          <a:prstGeom prst="rect">
            <a:avLst/>
          </a:prstGeom>
          <a:noFill/>
        </p:spPr>
        <p:txBody>
          <a:bodyPr wrap="square">
            <a:spAutoFit/>
          </a:bodyPr>
          <a:lstStyle/>
          <a:p>
            <a:r>
              <a:rPr lang="zh-CN" altLang="en-US" sz="3600" b="0" i="0" dirty="0">
                <a:effectLst/>
                <a:latin typeface="黑体" panose="02010609060101010101" pitchFamily="49" charset="-122"/>
                <a:ea typeface="黑体" panose="02010609060101010101" pitchFamily="49" charset="-122"/>
              </a:rPr>
              <a:t>用于柔性电子系统的柔性印刷电路板</a:t>
            </a:r>
            <a:endParaRPr lang="de-DE" altLang="zh-CN" sz="3600" b="0" i="0" dirty="0">
              <a:effectLst/>
              <a:latin typeface="Times New Roman" panose="02020603050405020304" pitchFamily="18" charset="0"/>
              <a:ea typeface="黑体" panose="02010609060101010101" pitchFamily="49" charset="-122"/>
              <a:cs typeface="Times New Roman" panose="02020603050405020304" pitchFamily="18" charset="0"/>
            </a:endParaRPr>
          </a:p>
        </p:txBody>
      </p:sp>
      <p:sp>
        <p:nvSpPr>
          <p:cNvPr id="8" name="文本框 7">
            <a:extLst>
              <a:ext uri="{FF2B5EF4-FFF2-40B4-BE49-F238E27FC236}">
                <a16:creationId xmlns:a16="http://schemas.microsoft.com/office/drawing/2014/main" id="{62146708-3A96-64B8-29CC-60FDA0E1BE72}"/>
              </a:ext>
            </a:extLst>
          </p:cNvPr>
          <p:cNvSpPr txBox="1"/>
          <p:nvPr/>
        </p:nvSpPr>
        <p:spPr>
          <a:xfrm>
            <a:off x="0" y="2991043"/>
            <a:ext cx="5065182" cy="3108543"/>
          </a:xfrm>
          <a:prstGeom prst="rect">
            <a:avLst/>
          </a:prstGeom>
          <a:noFill/>
        </p:spPr>
        <p:txBody>
          <a:bodyPr wrap="square">
            <a:spAutoFit/>
          </a:bodyPr>
          <a:lstStyle/>
          <a:p>
            <a:r>
              <a:rPr lang="zh-CN" altLang="en-US" sz="2800" dirty="0">
                <a:latin typeface="Arial" panose="020B0604020202020204" pitchFamily="34" charset="0"/>
                <a:ea typeface="华文细黑" panose="02010600040101010101" pitchFamily="2" charset="-122"/>
                <a:cs typeface="Arial" panose="020B0604020202020204" pitchFamily="34" charset="0"/>
              </a:rPr>
              <a:t>（d）</a:t>
            </a:r>
            <a:r>
              <a:rPr lang="zh-CN" altLang="en-US" sz="2800" b="1" dirty="0">
                <a:latin typeface="Arial" panose="020B0604020202020204" pitchFamily="34" charset="0"/>
                <a:ea typeface="华文细黑" panose="02010600040101010101" pitchFamily="2" charset="-122"/>
                <a:cs typeface="Arial" panose="020B0604020202020204" pitchFamily="34" charset="0"/>
              </a:rPr>
              <a:t>应变不敏感、可拉伸</a:t>
            </a:r>
            <a:r>
              <a:rPr lang="zh-CN" altLang="en-US" sz="2800" dirty="0">
                <a:latin typeface="Arial" panose="020B0604020202020204" pitchFamily="34" charset="0"/>
                <a:ea typeface="华文细黑" panose="02010600040101010101" pitchFamily="2" charset="-122"/>
                <a:cs typeface="Arial" panose="020B0604020202020204" pitchFamily="34" charset="0"/>
              </a:rPr>
              <a:t>的晶体管和集成电路。该电路包含（当拉伸至 100% 应变时）</a:t>
            </a:r>
            <a:r>
              <a:rPr lang="zh-CN" altLang="en-US" sz="2800" u="sng" dirty="0">
                <a:latin typeface="Arial" panose="020B0604020202020204" pitchFamily="34" charset="0"/>
                <a:ea typeface="华文细黑" panose="02010600040101010101" pitchFamily="2" charset="-122"/>
                <a:cs typeface="Arial" panose="020B0604020202020204" pitchFamily="34" charset="0"/>
              </a:rPr>
              <a:t>稳定输出信号和振荡频率的</a:t>
            </a:r>
            <a:r>
              <a:rPr lang="zh-CN" altLang="en-US" sz="2800" b="1" dirty="0">
                <a:solidFill>
                  <a:srgbClr val="7030A0"/>
                </a:solidFill>
                <a:latin typeface="Arial" panose="020B0604020202020204" pitchFamily="34" charset="0"/>
                <a:ea typeface="华文细黑" panose="02010600040101010101" pitchFamily="2" charset="-122"/>
                <a:cs typeface="Arial" panose="020B0604020202020204" pitchFamily="34" charset="0"/>
              </a:rPr>
              <a:t>环形振荡器</a:t>
            </a:r>
            <a:r>
              <a:rPr lang="zh-CN" altLang="en-US" sz="2800" dirty="0">
                <a:latin typeface="Arial" panose="020B0604020202020204" pitchFamily="34" charset="0"/>
                <a:ea typeface="华文细黑" panose="02010600040101010101" pitchFamily="2" charset="-122"/>
                <a:cs typeface="Arial" panose="020B0604020202020204" pitchFamily="34" charset="0"/>
              </a:rPr>
              <a:t>和</a:t>
            </a:r>
            <a:r>
              <a:rPr lang="zh-CN" altLang="en-US" sz="2800" u="sng" dirty="0">
                <a:latin typeface="Arial" panose="020B0604020202020204" pitchFamily="34" charset="0"/>
                <a:ea typeface="华文细黑" panose="02010600040101010101" pitchFamily="2" charset="-122"/>
                <a:cs typeface="Arial" panose="020B0604020202020204" pitchFamily="34" charset="0"/>
              </a:rPr>
              <a:t>可贴合在人体二头肌上</a:t>
            </a:r>
            <a:r>
              <a:rPr lang="zh-CN" altLang="en-US" sz="2800" dirty="0">
                <a:latin typeface="Arial" panose="020B0604020202020204" pitchFamily="34" charset="0"/>
                <a:ea typeface="华文细黑" panose="02010600040101010101" pitchFamily="2" charset="-122"/>
                <a:cs typeface="Arial" panose="020B0604020202020204" pitchFamily="34" charset="0"/>
              </a:rPr>
              <a:t>的</a:t>
            </a:r>
            <a:r>
              <a:rPr lang="zh-CN" altLang="en-US" sz="2800" b="1" dirty="0">
                <a:solidFill>
                  <a:srgbClr val="7030A0"/>
                </a:solidFill>
                <a:latin typeface="Arial" panose="020B0604020202020204" pitchFamily="34" charset="0"/>
                <a:ea typeface="华文细黑" panose="02010600040101010101" pitchFamily="2" charset="-122"/>
                <a:cs typeface="Arial" panose="020B0604020202020204" pitchFamily="34" charset="0"/>
              </a:rPr>
              <a:t>高增益放大器</a:t>
            </a:r>
            <a:r>
              <a:rPr lang="zh-CN" altLang="en-US" sz="2800" dirty="0">
                <a:latin typeface="Arial" panose="020B0604020202020204" pitchFamily="34" charset="0"/>
                <a:ea typeface="华文细黑" panose="02010600040101010101" pitchFamily="2" charset="-122"/>
                <a:cs typeface="Arial" panose="020B0604020202020204" pitchFamily="34" charset="0"/>
              </a:rPr>
              <a:t>；版权所有 (2021) Springer Nature。</a:t>
            </a:r>
          </a:p>
        </p:txBody>
      </p:sp>
      <p:pic>
        <p:nvPicPr>
          <p:cNvPr id="9" name="图片 8">
            <a:extLst>
              <a:ext uri="{FF2B5EF4-FFF2-40B4-BE49-F238E27FC236}">
                <a16:creationId xmlns:a16="http://schemas.microsoft.com/office/drawing/2014/main" id="{6533E0B1-829F-DA20-7078-BE79130990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65183" y="296292"/>
            <a:ext cx="7126818" cy="6442740"/>
          </a:xfrm>
          <a:prstGeom prst="rect">
            <a:avLst/>
          </a:prstGeom>
        </p:spPr>
      </p:pic>
      <p:sp>
        <p:nvSpPr>
          <p:cNvPr id="11" name="矩形 10">
            <a:extLst>
              <a:ext uri="{FF2B5EF4-FFF2-40B4-BE49-F238E27FC236}">
                <a16:creationId xmlns:a16="http://schemas.microsoft.com/office/drawing/2014/main" id="{E62D0F4D-6DE9-F72A-9F04-3EDE19D26788}"/>
              </a:ext>
            </a:extLst>
          </p:cNvPr>
          <p:cNvSpPr/>
          <p:nvPr/>
        </p:nvSpPr>
        <p:spPr>
          <a:xfrm>
            <a:off x="5065183" y="296292"/>
            <a:ext cx="7126818" cy="2850087"/>
          </a:xfrm>
          <a:prstGeom prst="rect">
            <a:avLst/>
          </a:prstGeom>
          <a:solidFill>
            <a:schemeClr val="bg1">
              <a:lumMod val="85000"/>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E891354D-0161-4A5E-176E-3BE1E9C95E41}"/>
              </a:ext>
            </a:extLst>
          </p:cNvPr>
          <p:cNvSpPr/>
          <p:nvPr/>
        </p:nvSpPr>
        <p:spPr>
          <a:xfrm>
            <a:off x="5065182" y="3146379"/>
            <a:ext cx="2880109" cy="3711621"/>
          </a:xfrm>
          <a:prstGeom prst="rect">
            <a:avLst/>
          </a:prstGeom>
          <a:solidFill>
            <a:schemeClr val="bg1">
              <a:lumMod val="85000"/>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6572964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C2530-A978-F411-D4D2-43B1C627DE8D}"/>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00E81BAA-9867-F9BB-EEAE-CA5CDAA13A0B}"/>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A6568F75-36E4-C414-8F69-14C281A190A5}"/>
              </a:ext>
            </a:extLst>
          </p:cNvPr>
          <p:cNvSpPr txBox="1"/>
          <p:nvPr/>
        </p:nvSpPr>
        <p:spPr>
          <a:xfrm>
            <a:off x="541079" y="608842"/>
            <a:ext cx="6867254"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p>
        </p:txBody>
      </p:sp>
      <p:sp>
        <p:nvSpPr>
          <p:cNvPr id="6" name="文本框 5">
            <a:extLst>
              <a:ext uri="{FF2B5EF4-FFF2-40B4-BE49-F238E27FC236}">
                <a16:creationId xmlns:a16="http://schemas.microsoft.com/office/drawing/2014/main" id="{37FA4A35-2530-F0AB-920D-6BC0962FC45D}"/>
              </a:ext>
            </a:extLst>
          </p:cNvPr>
          <p:cNvSpPr txBox="1"/>
          <p:nvPr/>
        </p:nvSpPr>
        <p:spPr>
          <a:xfrm>
            <a:off x="0" y="2382441"/>
            <a:ext cx="4976602" cy="3693319"/>
          </a:xfrm>
          <a:prstGeom prst="rect">
            <a:avLst/>
          </a:prstGeom>
          <a:noFill/>
        </p:spPr>
        <p:txBody>
          <a:bodyPr wrap="square">
            <a:spAutoFit/>
          </a:bodyPr>
          <a:lstStyle/>
          <a:p>
            <a:pPr>
              <a:spcAft>
                <a:spcPts val="1200"/>
              </a:spcAft>
            </a:pPr>
            <a:r>
              <a:rPr lang="en-US" altLang="zh-CN" sz="2800" dirty="0">
                <a:latin typeface="华文细黑" panose="02010600040101010101" pitchFamily="2" charset="-122"/>
                <a:ea typeface="华文细黑" panose="02010600040101010101" pitchFamily="2" charset="-122"/>
                <a:cs typeface="Arial" panose="020B0604020202020204" pitchFamily="34" charset="0"/>
              </a:rPr>
              <a:t>(a) </a:t>
            </a:r>
            <a:r>
              <a:rPr lang="zh-CN" altLang="en-US" sz="2800" dirty="0">
                <a:latin typeface="华文细黑" panose="02010600040101010101" pitchFamily="2" charset="-122"/>
                <a:ea typeface="华文细黑" panose="02010600040101010101" pitchFamily="2" charset="-122"/>
                <a:cs typeface="Arial" panose="020B0604020202020204" pitchFamily="34" charset="0"/>
              </a:rPr>
              <a:t>集成在皮肤上的</a:t>
            </a:r>
            <a:r>
              <a:rPr lang="zh-CN" altLang="en-US" sz="2800" b="1" dirty="0">
                <a:solidFill>
                  <a:srgbClr val="7030A0"/>
                </a:solidFill>
                <a:latin typeface="华文细黑" panose="02010600040101010101" pitchFamily="2" charset="-122"/>
                <a:ea typeface="华文细黑" panose="02010600040101010101" pitchFamily="2" charset="-122"/>
                <a:cs typeface="Arial" panose="020B0604020202020204" pitchFamily="34" charset="0"/>
              </a:rPr>
              <a:t>多功能表皮电子系统</a:t>
            </a:r>
            <a:r>
              <a:rPr lang="zh-CN" altLang="en-US" sz="2800" dirty="0">
                <a:latin typeface="华文细黑" panose="02010600040101010101" pitchFamily="2" charset="-122"/>
                <a:ea typeface="华文细黑" panose="02010600040101010101" pitchFamily="2" charset="-122"/>
                <a:cs typeface="Arial" panose="020B0604020202020204" pitchFamily="34" charset="0"/>
              </a:rPr>
              <a:t>；版权所有 (2011) 美国科学促进会。</a:t>
            </a:r>
            <a:endParaRPr lang="en-US" altLang="zh-CN" sz="2800" dirty="0">
              <a:latin typeface="华文细黑" panose="02010600040101010101" pitchFamily="2" charset="-122"/>
              <a:ea typeface="华文细黑" panose="02010600040101010101" pitchFamily="2" charset="-122"/>
              <a:cs typeface="Arial" panose="020B0604020202020204" pitchFamily="34" charset="0"/>
            </a:endParaRPr>
          </a:p>
          <a:p>
            <a:r>
              <a:rPr lang="zh-CN" altLang="en-US" sz="2800" dirty="0">
                <a:latin typeface="华文细黑" panose="02010600040101010101" pitchFamily="2" charset="-122"/>
                <a:ea typeface="华文细黑" panose="02010600040101010101" pitchFamily="2" charset="-122"/>
                <a:cs typeface="Arial" panose="020B0604020202020204" pitchFamily="34" charset="0"/>
              </a:rPr>
              <a:t>(b) 由金蛇纹石制成的</a:t>
            </a:r>
            <a:r>
              <a:rPr lang="zh-CN" altLang="en-US" sz="2800" dirty="0">
                <a:solidFill>
                  <a:srgbClr val="7030A0"/>
                </a:solidFill>
                <a:latin typeface="华文细黑" panose="02010600040101010101" pitchFamily="2" charset="-122"/>
                <a:ea typeface="华文细黑" panose="02010600040101010101" pitchFamily="2" charset="-122"/>
                <a:cs typeface="Arial" panose="020B0604020202020204" pitchFamily="34" charset="0"/>
              </a:rPr>
              <a:t>海洋温度传感器</a:t>
            </a:r>
            <a:r>
              <a:rPr lang="zh-CN" altLang="en-US" sz="2800" dirty="0">
                <a:latin typeface="华文细黑" panose="02010600040101010101" pitchFamily="2" charset="-122"/>
                <a:ea typeface="华文细黑" panose="02010600040101010101" pitchFamily="2" charset="-122"/>
                <a:cs typeface="Arial" panose="020B0604020202020204" pitchFamily="34" charset="0"/>
              </a:rPr>
              <a:t>，其在 0.1 至 15 MPa 的不同静水压力下，其</a:t>
            </a:r>
            <a:r>
              <a:rPr lang="zh-CN" altLang="en-US" sz="2800" u="sng" dirty="0">
                <a:latin typeface="华文细黑" panose="02010600040101010101" pitchFamily="2" charset="-122"/>
                <a:ea typeface="华文细黑" panose="02010600040101010101" pitchFamily="2" charset="-122"/>
                <a:cs typeface="Arial" panose="020B0604020202020204" pitchFamily="34" charset="0"/>
              </a:rPr>
              <a:t>分数电阻随温度的变化</a:t>
            </a:r>
            <a:r>
              <a:rPr lang="zh-CN" altLang="en-US" sz="2800" dirty="0">
                <a:latin typeface="华文细黑" panose="02010600040101010101" pitchFamily="2" charset="-122"/>
                <a:ea typeface="华文细黑" panose="02010600040101010101" pitchFamily="2" charset="-122"/>
                <a:cs typeface="Arial" panose="020B0604020202020204" pitchFamily="34" charset="0"/>
              </a:rPr>
              <a:t>；版权所有 (2022) 美国化学学会。</a:t>
            </a:r>
            <a:endParaRPr lang="en-US" altLang="zh-CN" sz="2800" dirty="0">
              <a:latin typeface="华文细黑" panose="02010600040101010101" pitchFamily="2" charset="-122"/>
              <a:ea typeface="华文细黑" panose="02010600040101010101" pitchFamily="2" charset="-122"/>
              <a:cs typeface="Arial" panose="020B0604020202020204" pitchFamily="34" charset="0"/>
            </a:endParaRPr>
          </a:p>
        </p:txBody>
      </p:sp>
      <p:pic>
        <p:nvPicPr>
          <p:cNvPr id="8" name="图片 7">
            <a:extLst>
              <a:ext uri="{FF2B5EF4-FFF2-40B4-BE49-F238E27FC236}">
                <a16:creationId xmlns:a16="http://schemas.microsoft.com/office/drawing/2014/main" id="{8092E750-29ED-759B-6263-A2ABE00DA5C8}"/>
              </a:ext>
            </a:extLst>
          </p:cNvPr>
          <p:cNvPicPr>
            <a:picLocks noChangeAspect="1"/>
          </p:cNvPicPr>
          <p:nvPr/>
        </p:nvPicPr>
        <p:blipFill>
          <a:blip r:embed="rId3"/>
          <a:stretch>
            <a:fillRect/>
          </a:stretch>
        </p:blipFill>
        <p:spPr>
          <a:xfrm>
            <a:off x="5109649" y="399679"/>
            <a:ext cx="7082351" cy="6211514"/>
          </a:xfrm>
          <a:prstGeom prst="rect">
            <a:avLst/>
          </a:prstGeom>
        </p:spPr>
      </p:pic>
      <p:sp>
        <p:nvSpPr>
          <p:cNvPr id="2" name="矩形 1">
            <a:extLst>
              <a:ext uri="{FF2B5EF4-FFF2-40B4-BE49-F238E27FC236}">
                <a16:creationId xmlns:a16="http://schemas.microsoft.com/office/drawing/2014/main" id="{E4E2E5B5-C58B-D44A-9DD1-5D3CA13302E8}"/>
              </a:ext>
            </a:extLst>
          </p:cNvPr>
          <p:cNvSpPr/>
          <p:nvPr/>
        </p:nvSpPr>
        <p:spPr>
          <a:xfrm>
            <a:off x="5109648" y="3761106"/>
            <a:ext cx="7082351" cy="2850087"/>
          </a:xfrm>
          <a:prstGeom prst="rect">
            <a:avLst/>
          </a:prstGeom>
          <a:solidFill>
            <a:schemeClr val="bg1">
              <a:lumMod val="85000"/>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6BF5547F-6960-479F-6D5B-902A279C8574}"/>
              </a:ext>
            </a:extLst>
          </p:cNvPr>
          <p:cNvSpPr/>
          <p:nvPr/>
        </p:nvSpPr>
        <p:spPr>
          <a:xfrm>
            <a:off x="8326703" y="2014917"/>
            <a:ext cx="3865295" cy="1746189"/>
          </a:xfrm>
          <a:prstGeom prst="rect">
            <a:avLst/>
          </a:prstGeom>
          <a:solidFill>
            <a:schemeClr val="bg1">
              <a:lumMod val="85000"/>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8977280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2B869-4059-851F-FCAA-E32371980FF9}"/>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90491A6F-AB41-6701-62A6-AD066147E27B}"/>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40518AE6-1EDE-DB8D-A403-84304D8BD74F}"/>
              </a:ext>
            </a:extLst>
          </p:cNvPr>
          <p:cNvSpPr txBox="1"/>
          <p:nvPr/>
        </p:nvSpPr>
        <p:spPr>
          <a:xfrm>
            <a:off x="541079" y="608842"/>
            <a:ext cx="6867254"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p>
        </p:txBody>
      </p:sp>
      <p:sp>
        <p:nvSpPr>
          <p:cNvPr id="6" name="文本框 5">
            <a:extLst>
              <a:ext uri="{FF2B5EF4-FFF2-40B4-BE49-F238E27FC236}">
                <a16:creationId xmlns:a16="http://schemas.microsoft.com/office/drawing/2014/main" id="{EF77A432-F029-C8F9-F4D8-07B51D4CF841}"/>
              </a:ext>
            </a:extLst>
          </p:cNvPr>
          <p:cNvSpPr txBox="1"/>
          <p:nvPr/>
        </p:nvSpPr>
        <p:spPr>
          <a:xfrm>
            <a:off x="0" y="2358165"/>
            <a:ext cx="4976602" cy="3970318"/>
          </a:xfrm>
          <a:prstGeom prst="rect">
            <a:avLst/>
          </a:prstGeom>
          <a:noFill/>
        </p:spPr>
        <p:txBody>
          <a:bodyPr wrap="square">
            <a:spAutoFit/>
          </a:bodyPr>
          <a:lstStyle/>
          <a:p>
            <a:r>
              <a:rPr lang="zh-CN" altLang="en-US" sz="2800" dirty="0">
                <a:latin typeface="华文细黑" panose="02010600040101010101" pitchFamily="2" charset="-122"/>
                <a:ea typeface="华文细黑" panose="02010600040101010101" pitchFamily="2" charset="-122"/>
                <a:cs typeface="Arial" panose="020B0604020202020204" pitchFamily="34" charset="0"/>
              </a:rPr>
              <a:t>(c) 由硅 PIN 二极管组成的超薄保形热传感器阵列的照片；版权所有 (2013) Springer Nature。</a:t>
            </a:r>
            <a:endParaRPr lang="en-US" altLang="zh-CN" sz="2800" dirty="0">
              <a:latin typeface="华文细黑" panose="02010600040101010101" pitchFamily="2" charset="-122"/>
              <a:ea typeface="华文细黑" panose="02010600040101010101" pitchFamily="2" charset="-122"/>
              <a:cs typeface="Arial" panose="020B0604020202020204" pitchFamily="34" charset="0"/>
            </a:endParaRPr>
          </a:p>
          <a:p>
            <a:r>
              <a:rPr lang="zh-CN" altLang="en-US" sz="2800" dirty="0">
                <a:latin typeface="华文细黑" panose="02010600040101010101" pitchFamily="2" charset="-122"/>
                <a:ea typeface="华文细黑" panose="02010600040101010101" pitchFamily="2" charset="-122"/>
                <a:cs typeface="Arial" panose="020B0604020202020204" pitchFamily="34" charset="0"/>
              </a:rPr>
              <a:t>(d) 以硅微膜作为生物流体屏障、以图案化硅纳米膜作为应变计的生物可吸收压力监测系统的示意图和照片；版权所有 (2020) Wiley。</a:t>
            </a:r>
            <a:endParaRPr lang="en-US" altLang="zh-CN" sz="2800" dirty="0">
              <a:latin typeface="华文细黑" panose="02010600040101010101" pitchFamily="2" charset="-122"/>
              <a:ea typeface="华文细黑" panose="02010600040101010101" pitchFamily="2" charset="-122"/>
              <a:cs typeface="Arial" panose="020B0604020202020204" pitchFamily="34" charset="0"/>
            </a:endParaRPr>
          </a:p>
        </p:txBody>
      </p:sp>
      <p:pic>
        <p:nvPicPr>
          <p:cNvPr id="8" name="图片 7">
            <a:extLst>
              <a:ext uri="{FF2B5EF4-FFF2-40B4-BE49-F238E27FC236}">
                <a16:creationId xmlns:a16="http://schemas.microsoft.com/office/drawing/2014/main" id="{8D9CAEFD-855D-C700-720F-6CDB9443E871}"/>
              </a:ext>
            </a:extLst>
          </p:cNvPr>
          <p:cNvPicPr>
            <a:picLocks noChangeAspect="1"/>
          </p:cNvPicPr>
          <p:nvPr/>
        </p:nvPicPr>
        <p:blipFill>
          <a:blip r:embed="rId3"/>
          <a:stretch>
            <a:fillRect/>
          </a:stretch>
        </p:blipFill>
        <p:spPr>
          <a:xfrm>
            <a:off x="5109649" y="399679"/>
            <a:ext cx="7082351" cy="6211514"/>
          </a:xfrm>
          <a:prstGeom prst="rect">
            <a:avLst/>
          </a:prstGeom>
        </p:spPr>
      </p:pic>
      <p:sp>
        <p:nvSpPr>
          <p:cNvPr id="2" name="矩形 1">
            <a:extLst>
              <a:ext uri="{FF2B5EF4-FFF2-40B4-BE49-F238E27FC236}">
                <a16:creationId xmlns:a16="http://schemas.microsoft.com/office/drawing/2014/main" id="{6EB9D4E3-D5A6-1DFB-EA2D-2F320E94FE81}"/>
              </a:ext>
            </a:extLst>
          </p:cNvPr>
          <p:cNvSpPr/>
          <p:nvPr/>
        </p:nvSpPr>
        <p:spPr>
          <a:xfrm>
            <a:off x="8868871" y="3761106"/>
            <a:ext cx="3323128" cy="2850087"/>
          </a:xfrm>
          <a:prstGeom prst="rect">
            <a:avLst/>
          </a:prstGeom>
          <a:solidFill>
            <a:schemeClr val="bg1">
              <a:lumMod val="85000"/>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397A7045-72E6-D2FE-E5FE-88F3DC4630FC}"/>
              </a:ext>
            </a:extLst>
          </p:cNvPr>
          <p:cNvSpPr/>
          <p:nvPr/>
        </p:nvSpPr>
        <p:spPr>
          <a:xfrm>
            <a:off x="5100715" y="399679"/>
            <a:ext cx="3225990" cy="3361427"/>
          </a:xfrm>
          <a:prstGeom prst="rect">
            <a:avLst/>
          </a:prstGeom>
          <a:solidFill>
            <a:schemeClr val="bg1">
              <a:lumMod val="85000"/>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6E6DD82B-C29D-011B-903F-4D1BECA126B0}"/>
              </a:ext>
            </a:extLst>
          </p:cNvPr>
          <p:cNvSpPr/>
          <p:nvPr/>
        </p:nvSpPr>
        <p:spPr>
          <a:xfrm>
            <a:off x="8326704" y="399680"/>
            <a:ext cx="3865295" cy="1599054"/>
          </a:xfrm>
          <a:prstGeom prst="rect">
            <a:avLst/>
          </a:prstGeom>
          <a:solidFill>
            <a:schemeClr val="bg1">
              <a:lumMod val="85000"/>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8462396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8FF84-499C-3140-60E0-27F4CEF84F5D}"/>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876F90CA-442D-D831-8DAA-67AFF505C320}"/>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1A21A989-F75C-21AA-EE24-60CAD1B6565C}"/>
              </a:ext>
            </a:extLst>
          </p:cNvPr>
          <p:cNvSpPr txBox="1"/>
          <p:nvPr/>
        </p:nvSpPr>
        <p:spPr>
          <a:xfrm>
            <a:off x="541079" y="608842"/>
            <a:ext cx="6867254"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p>
        </p:txBody>
      </p:sp>
      <p:sp>
        <p:nvSpPr>
          <p:cNvPr id="6" name="文本框 5">
            <a:extLst>
              <a:ext uri="{FF2B5EF4-FFF2-40B4-BE49-F238E27FC236}">
                <a16:creationId xmlns:a16="http://schemas.microsoft.com/office/drawing/2014/main" id="{E5CE43CE-89A0-C198-B2F7-88626E27AF33}"/>
              </a:ext>
            </a:extLst>
          </p:cNvPr>
          <p:cNvSpPr txBox="1"/>
          <p:nvPr/>
        </p:nvSpPr>
        <p:spPr>
          <a:xfrm>
            <a:off x="0" y="2358165"/>
            <a:ext cx="4976602" cy="2246769"/>
          </a:xfrm>
          <a:prstGeom prst="rect">
            <a:avLst/>
          </a:prstGeom>
          <a:noFill/>
        </p:spPr>
        <p:txBody>
          <a:bodyPr wrap="square">
            <a:spAutoFit/>
          </a:bodyPr>
          <a:lstStyle/>
          <a:p>
            <a:r>
              <a:rPr lang="en-US" altLang="zh-CN" sz="2800" dirty="0">
                <a:latin typeface="华文细黑" panose="02010600040101010101" pitchFamily="2" charset="-122"/>
                <a:ea typeface="华文细黑" panose="02010600040101010101" pitchFamily="2" charset="-122"/>
                <a:cs typeface="Arial" panose="020B0604020202020204" pitchFamily="34" charset="0"/>
              </a:rPr>
              <a:t>(</a:t>
            </a:r>
            <a:r>
              <a:rPr lang="zh-CN" altLang="en-US" sz="2800" dirty="0">
                <a:latin typeface="华文细黑" panose="02010600040101010101" pitchFamily="2" charset="-122"/>
                <a:ea typeface="华文细黑" panose="02010600040101010101" pitchFamily="2" charset="-122"/>
                <a:cs typeface="Arial" panose="020B0604020202020204" pitchFamily="34" charset="0"/>
              </a:rPr>
              <a:t>e</a:t>
            </a:r>
            <a:r>
              <a:rPr lang="en-US" altLang="zh-CN" sz="2800" dirty="0">
                <a:latin typeface="华文细黑" panose="02010600040101010101" pitchFamily="2" charset="-122"/>
                <a:ea typeface="华文细黑" panose="02010600040101010101" pitchFamily="2" charset="-122"/>
                <a:cs typeface="Arial" panose="020B0604020202020204" pitchFamily="34" charset="0"/>
              </a:rPr>
              <a:t>) </a:t>
            </a:r>
            <a:r>
              <a:rPr lang="zh-CN" altLang="en-US" sz="2800" dirty="0">
                <a:latin typeface="华文细黑" panose="02010600040101010101" pitchFamily="2" charset="-122"/>
                <a:ea typeface="华文细黑" panose="02010600040101010101" pitchFamily="2" charset="-122"/>
                <a:cs typeface="Arial" panose="020B0604020202020204" pitchFamily="34" charset="0"/>
              </a:rPr>
              <a:t>基于液态 GaInSn 导电痕迹的可拉伸集成系统的示意图和光学图像，用于无线人体运动监测；版权所有 (2017) Springer Nature。</a:t>
            </a:r>
          </a:p>
        </p:txBody>
      </p:sp>
      <p:pic>
        <p:nvPicPr>
          <p:cNvPr id="8" name="图片 7">
            <a:extLst>
              <a:ext uri="{FF2B5EF4-FFF2-40B4-BE49-F238E27FC236}">
                <a16:creationId xmlns:a16="http://schemas.microsoft.com/office/drawing/2014/main" id="{B8E8AD2C-9486-2E70-6D58-9C214C8C1F1E}"/>
              </a:ext>
            </a:extLst>
          </p:cNvPr>
          <p:cNvPicPr>
            <a:picLocks noChangeAspect="1"/>
          </p:cNvPicPr>
          <p:nvPr/>
        </p:nvPicPr>
        <p:blipFill>
          <a:blip r:embed="rId3"/>
          <a:stretch>
            <a:fillRect/>
          </a:stretch>
        </p:blipFill>
        <p:spPr>
          <a:xfrm>
            <a:off x="5109649" y="399679"/>
            <a:ext cx="7082351" cy="6211514"/>
          </a:xfrm>
          <a:prstGeom prst="rect">
            <a:avLst/>
          </a:prstGeom>
        </p:spPr>
      </p:pic>
      <p:sp>
        <p:nvSpPr>
          <p:cNvPr id="2" name="矩形 1">
            <a:extLst>
              <a:ext uri="{FF2B5EF4-FFF2-40B4-BE49-F238E27FC236}">
                <a16:creationId xmlns:a16="http://schemas.microsoft.com/office/drawing/2014/main" id="{8A87C541-4140-EA50-D3FD-B0961F9F610A}"/>
              </a:ext>
            </a:extLst>
          </p:cNvPr>
          <p:cNvSpPr/>
          <p:nvPr/>
        </p:nvSpPr>
        <p:spPr>
          <a:xfrm>
            <a:off x="5018664" y="399679"/>
            <a:ext cx="7173336" cy="3363117"/>
          </a:xfrm>
          <a:prstGeom prst="rect">
            <a:avLst/>
          </a:prstGeom>
          <a:solidFill>
            <a:schemeClr val="bg1">
              <a:lumMod val="85000"/>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878B54C8-DAAA-61EB-8D14-FD68342572D5}"/>
              </a:ext>
            </a:extLst>
          </p:cNvPr>
          <p:cNvSpPr/>
          <p:nvPr/>
        </p:nvSpPr>
        <p:spPr>
          <a:xfrm>
            <a:off x="5018664" y="3761951"/>
            <a:ext cx="3777378" cy="2954438"/>
          </a:xfrm>
          <a:prstGeom prst="rect">
            <a:avLst/>
          </a:prstGeom>
          <a:solidFill>
            <a:schemeClr val="bg1">
              <a:lumMod val="85000"/>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576611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E544E-47D9-0CD3-2691-1A2CFCB8643F}"/>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66FCB373-BD0F-F75E-6BA0-0485B181E1E2}"/>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5060D80E-9446-93A5-1B86-15C1D0FC4E24}"/>
              </a:ext>
            </a:extLst>
          </p:cNvPr>
          <p:cNvSpPr txBox="1"/>
          <p:nvPr/>
        </p:nvSpPr>
        <p:spPr>
          <a:xfrm>
            <a:off x="541079" y="608842"/>
            <a:ext cx="9581976"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电路的载体形式③</a:t>
            </a:r>
          </a:p>
        </p:txBody>
      </p:sp>
      <p:sp>
        <p:nvSpPr>
          <p:cNvPr id="3" name="文本框 2">
            <a:extLst>
              <a:ext uri="{FF2B5EF4-FFF2-40B4-BE49-F238E27FC236}">
                <a16:creationId xmlns:a16="http://schemas.microsoft.com/office/drawing/2014/main" id="{C0C9B3E3-3545-244D-5410-56A9D15533C9}"/>
              </a:ext>
            </a:extLst>
          </p:cNvPr>
          <p:cNvSpPr txBox="1"/>
          <p:nvPr/>
        </p:nvSpPr>
        <p:spPr>
          <a:xfrm>
            <a:off x="117764" y="1997839"/>
            <a:ext cx="11956472" cy="4139723"/>
          </a:xfrm>
          <a:prstGeom prst="rect">
            <a:avLst/>
          </a:prstGeom>
          <a:noFill/>
        </p:spPr>
        <p:txBody>
          <a:bodyPr wrap="square">
            <a:spAutoFit/>
          </a:bodyPr>
          <a:lstStyle/>
          <a:p>
            <a:pPr marL="742950" indent="-742950">
              <a:lnSpc>
                <a:spcPct val="150000"/>
              </a:lnSpc>
              <a:buFont typeface="+mj-ea"/>
              <a:buAutoNum type="circleNumDbPlain"/>
            </a:pPr>
            <a:r>
              <a:rPr lang="zh-CN" altLang="en-US" sz="3600" dirty="0">
                <a:solidFill>
                  <a:schemeClr val="bg1">
                    <a:lumMod val="85000"/>
                  </a:schemeClr>
                </a:solidFill>
                <a:latin typeface="Arial" panose="020B0604020202020204" pitchFamily="34" charset="0"/>
                <a:ea typeface="黑体" panose="02010609060101010101" pitchFamily="49" charset="-122"/>
                <a:cs typeface="Arial" panose="020B0604020202020204" pitchFamily="34" charset="0"/>
              </a:rPr>
              <a:t>基于晶圆制作的集成电路（晶圆：半导体晶体制作的圆形片，常见材料有</a:t>
            </a:r>
            <a:r>
              <a:rPr lang="en-US" altLang="zh-CN" sz="3600" dirty="0">
                <a:solidFill>
                  <a:schemeClr val="bg1">
                    <a:lumMod val="85000"/>
                  </a:schemeClr>
                </a:solidFill>
                <a:latin typeface="Arial" panose="020B0604020202020204" pitchFamily="34" charset="0"/>
                <a:ea typeface="黑体" panose="02010609060101010101" pitchFamily="49" charset="-122"/>
                <a:cs typeface="Arial" panose="020B0604020202020204" pitchFamily="34" charset="0"/>
              </a:rPr>
              <a:t>Si</a:t>
            </a:r>
            <a:r>
              <a:rPr lang="zh-CN" altLang="en-US" sz="3600" dirty="0">
                <a:solidFill>
                  <a:schemeClr val="bg1">
                    <a:lumMod val="85000"/>
                  </a:schemeClr>
                </a:solidFill>
                <a:latin typeface="Arial" panose="020B0604020202020204" pitchFamily="34" charset="0"/>
                <a:ea typeface="黑体" panose="02010609060101010101" pitchFamily="49" charset="-122"/>
                <a:cs typeface="Arial" panose="020B0604020202020204" pitchFamily="34" charset="0"/>
              </a:rPr>
              <a:t>、</a:t>
            </a:r>
            <a:r>
              <a:rPr lang="en-US" altLang="zh-CN" sz="3600" dirty="0" err="1">
                <a:solidFill>
                  <a:schemeClr val="bg1">
                    <a:lumMod val="85000"/>
                  </a:schemeClr>
                </a:solidFill>
                <a:latin typeface="Arial" panose="020B0604020202020204" pitchFamily="34" charset="0"/>
                <a:ea typeface="黑体" panose="02010609060101010101" pitchFamily="49" charset="-122"/>
                <a:cs typeface="Arial" panose="020B0604020202020204" pitchFamily="34" charset="0"/>
              </a:rPr>
              <a:t>GaN</a:t>
            </a:r>
            <a:r>
              <a:rPr lang="zh-CN" altLang="en-US" sz="3600" dirty="0">
                <a:solidFill>
                  <a:schemeClr val="bg1">
                    <a:lumMod val="85000"/>
                  </a:schemeClr>
                </a:solidFill>
                <a:latin typeface="Arial" panose="020B0604020202020204" pitchFamily="34" charset="0"/>
                <a:ea typeface="黑体" panose="02010609060101010101" pitchFamily="49" charset="-122"/>
                <a:cs typeface="Arial" panose="020B0604020202020204" pitchFamily="34" charset="0"/>
              </a:rPr>
              <a:t>、</a:t>
            </a:r>
            <a:r>
              <a:rPr lang="en-US" altLang="zh-CN" sz="3600" dirty="0" err="1">
                <a:solidFill>
                  <a:schemeClr val="bg1">
                    <a:lumMod val="85000"/>
                  </a:schemeClr>
                </a:solidFill>
                <a:latin typeface="Arial" panose="020B0604020202020204" pitchFamily="34" charset="0"/>
                <a:ea typeface="黑体" panose="02010609060101010101" pitchFamily="49" charset="-122"/>
                <a:cs typeface="Arial" panose="020B0604020202020204" pitchFamily="34" charset="0"/>
              </a:rPr>
              <a:t>SiC</a:t>
            </a:r>
            <a:r>
              <a:rPr lang="zh-CN" altLang="en-US" sz="3600" dirty="0">
                <a:solidFill>
                  <a:schemeClr val="bg1">
                    <a:lumMod val="85000"/>
                  </a:schemeClr>
                </a:solidFill>
                <a:latin typeface="Arial" panose="020B0604020202020204" pitchFamily="34" charset="0"/>
                <a:ea typeface="黑体" panose="02010609060101010101" pitchFamily="49" charset="-122"/>
                <a:cs typeface="Arial" panose="020B0604020202020204" pitchFamily="34" charset="0"/>
              </a:rPr>
              <a:t>。）</a:t>
            </a:r>
            <a:endParaRPr lang="en-US" altLang="zh-CN" sz="3600" dirty="0">
              <a:solidFill>
                <a:schemeClr val="bg1">
                  <a:lumMod val="85000"/>
                </a:schemeClr>
              </a:solidFill>
              <a:latin typeface="Arial" panose="020B0604020202020204" pitchFamily="34" charset="0"/>
              <a:ea typeface="黑体" panose="02010609060101010101" pitchFamily="49" charset="-122"/>
              <a:cs typeface="Arial" panose="020B0604020202020204" pitchFamily="34" charset="0"/>
            </a:endParaRPr>
          </a:p>
          <a:p>
            <a:pPr marL="742950" indent="-742950">
              <a:lnSpc>
                <a:spcPct val="150000"/>
              </a:lnSpc>
              <a:buFont typeface="+mj-ea"/>
              <a:buAutoNum type="circleNumDbPlain"/>
            </a:pPr>
            <a:r>
              <a:rPr lang="zh-CN" altLang="en-US" sz="3600" b="0" i="0" dirty="0">
                <a:solidFill>
                  <a:schemeClr val="bg2"/>
                </a:solidFill>
                <a:effectLst/>
                <a:latin typeface="Arial" panose="020B0604020202020204" pitchFamily="34" charset="0"/>
                <a:ea typeface="黑体" panose="02010609060101010101" pitchFamily="49" charset="-122"/>
                <a:cs typeface="Arial" panose="020B0604020202020204" pitchFamily="34" charset="0"/>
              </a:rPr>
              <a:t>印刷电路板 </a:t>
            </a:r>
            <a:r>
              <a:rPr lang="en-US" altLang="zh-CN" sz="3600" b="0" i="0" dirty="0">
                <a:solidFill>
                  <a:schemeClr val="bg1">
                    <a:lumMod val="85000"/>
                  </a:schemeClr>
                </a:solidFill>
                <a:effectLst/>
                <a:latin typeface="Arial" panose="020B0604020202020204" pitchFamily="34" charset="0"/>
                <a:ea typeface="黑体" panose="02010609060101010101" pitchFamily="49" charset="-122"/>
                <a:cs typeface="Arial" panose="020B0604020202020204" pitchFamily="34" charset="0"/>
              </a:rPr>
              <a:t>Printed Circuit Board, PCB</a:t>
            </a:r>
          </a:p>
          <a:p>
            <a:pPr marL="742950" indent="-742950">
              <a:lnSpc>
                <a:spcPct val="150000"/>
              </a:lnSpc>
              <a:buFont typeface="+mj-ea"/>
              <a:buAutoNum type="circleNumDbPlain"/>
            </a:pPr>
            <a:r>
              <a:rPr lang="zh-CN" altLang="en-US" sz="3600" b="0" i="0" dirty="0">
                <a:solidFill>
                  <a:schemeClr val="bg1">
                    <a:lumMod val="85000"/>
                  </a:schemeClr>
                </a:solidFill>
                <a:effectLst/>
                <a:latin typeface="Arial" panose="020B0604020202020204" pitchFamily="34" charset="0"/>
                <a:ea typeface="黑体" panose="02010609060101010101" pitchFamily="49" charset="-122"/>
                <a:cs typeface="Arial" panose="020B0604020202020204" pitchFamily="34" charset="0"/>
              </a:rPr>
              <a:t>柔性印刷电路</a:t>
            </a:r>
            <a:r>
              <a:rPr lang="de-DE" altLang="zh-CN" sz="3600" b="0" i="0" dirty="0">
                <a:solidFill>
                  <a:schemeClr val="bg1">
                    <a:lumMod val="85000"/>
                  </a:schemeClr>
                </a:solidFill>
                <a:effectLst/>
                <a:latin typeface="Arial" panose="020B0604020202020204" pitchFamily="34" charset="0"/>
                <a:ea typeface="黑体" panose="02010609060101010101" pitchFamily="49" charset="-122"/>
                <a:cs typeface="Arial" panose="020B0604020202020204" pitchFamily="34" charset="0"/>
              </a:rPr>
              <a:t>Flexible Printed Circuit, FPC</a:t>
            </a:r>
          </a:p>
          <a:p>
            <a:pPr marL="742950" indent="-742950">
              <a:lnSpc>
                <a:spcPct val="150000"/>
              </a:lnSpc>
              <a:buFont typeface="+mj-ea"/>
              <a:buAutoNum type="circleNumDbPlain"/>
            </a:pPr>
            <a:r>
              <a:rPr lang="zh-CN" altLang="en-US" sz="3600" dirty="0">
                <a:latin typeface="Arial" panose="020B0604020202020204" pitchFamily="34" charset="0"/>
                <a:ea typeface="黑体" panose="02010609060101010101" pitchFamily="49" charset="-122"/>
                <a:cs typeface="Arial" panose="020B0604020202020204" pitchFamily="34" charset="0"/>
              </a:rPr>
              <a:t>刚性柔性印刷电路</a:t>
            </a:r>
            <a:r>
              <a:rPr lang="en-US" altLang="zh-CN" sz="3600" dirty="0">
                <a:latin typeface="Arial" panose="020B0604020202020204" pitchFamily="34" charset="0"/>
                <a:ea typeface="黑体" panose="02010609060101010101" pitchFamily="49" charset="-122"/>
                <a:cs typeface="Arial" panose="020B0604020202020204" pitchFamily="34" charset="0"/>
              </a:rPr>
              <a:t>Rigid Flexible Printed Circuit, RFPC</a:t>
            </a:r>
            <a:endParaRPr lang="de-DE" altLang="zh-CN" sz="3600" b="0" i="0" dirty="0">
              <a:effectLst/>
              <a:latin typeface="Arial" panose="020B0604020202020204" pitchFamily="34" charset="0"/>
              <a:ea typeface="黑体" panose="02010609060101010101" pitchFamily="49" charset="-122"/>
              <a:cs typeface="Arial" panose="020B0604020202020204" pitchFamily="34" charset="0"/>
            </a:endParaRPr>
          </a:p>
        </p:txBody>
      </p:sp>
    </p:spTree>
    <p:extLst>
      <p:ext uri="{BB962C8B-B14F-4D97-AF65-F5344CB8AC3E}">
        <p14:creationId xmlns:p14="http://schemas.microsoft.com/office/powerpoint/2010/main" val="33139286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2881E-063A-6685-D0EA-0D67EF1C9765}"/>
            </a:ext>
          </a:extLst>
        </p:cNvPr>
        <p:cNvGrpSpPr/>
        <p:nvPr/>
      </p:nvGrpSpPr>
      <p:grpSpPr>
        <a:xfrm>
          <a:off x="0" y="0"/>
          <a:ext cx="0" cy="0"/>
          <a:chOff x="0" y="0"/>
          <a:chExt cx="0" cy="0"/>
        </a:xfrm>
      </p:grpSpPr>
      <p:pic>
        <p:nvPicPr>
          <p:cNvPr id="8" name="图片 7">
            <a:extLst>
              <a:ext uri="{FF2B5EF4-FFF2-40B4-BE49-F238E27FC236}">
                <a16:creationId xmlns:a16="http://schemas.microsoft.com/office/drawing/2014/main" id="{10CDECCE-B6B6-F75F-D4DA-AB9B86FBAA0A}"/>
              </a:ext>
            </a:extLst>
          </p:cNvPr>
          <p:cNvPicPr>
            <a:picLocks noChangeAspect="1"/>
          </p:cNvPicPr>
          <p:nvPr/>
        </p:nvPicPr>
        <p:blipFill>
          <a:blip r:embed="rId3"/>
          <a:stretch>
            <a:fillRect/>
          </a:stretch>
        </p:blipFill>
        <p:spPr>
          <a:xfrm>
            <a:off x="8337552" y="418454"/>
            <a:ext cx="3919184" cy="3010546"/>
          </a:xfrm>
          <a:prstGeom prst="rect">
            <a:avLst/>
          </a:prstGeom>
        </p:spPr>
      </p:pic>
      <p:sp>
        <p:nvSpPr>
          <p:cNvPr id="4" name="矩形 3">
            <a:extLst>
              <a:ext uri="{FF2B5EF4-FFF2-40B4-BE49-F238E27FC236}">
                <a16:creationId xmlns:a16="http://schemas.microsoft.com/office/drawing/2014/main" id="{2799707C-B922-62D2-0FA8-87647495E49F}"/>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86B1BE58-A1B1-0865-7FF9-B03F4BB0B292}"/>
              </a:ext>
            </a:extLst>
          </p:cNvPr>
          <p:cNvSpPr txBox="1"/>
          <p:nvPr/>
        </p:nvSpPr>
        <p:spPr>
          <a:xfrm>
            <a:off x="541079" y="608842"/>
            <a:ext cx="984983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电路的物理载体④</a:t>
            </a:r>
          </a:p>
        </p:txBody>
      </p:sp>
      <p:sp>
        <p:nvSpPr>
          <p:cNvPr id="3" name="文本框 2">
            <a:extLst>
              <a:ext uri="{FF2B5EF4-FFF2-40B4-BE49-F238E27FC236}">
                <a16:creationId xmlns:a16="http://schemas.microsoft.com/office/drawing/2014/main" id="{7852F2AC-BCB7-DAD4-424B-965472BE03A6}"/>
              </a:ext>
            </a:extLst>
          </p:cNvPr>
          <p:cNvSpPr txBox="1"/>
          <p:nvPr/>
        </p:nvSpPr>
        <p:spPr>
          <a:xfrm>
            <a:off x="416967" y="3254030"/>
            <a:ext cx="11650921" cy="2462213"/>
          </a:xfrm>
          <a:prstGeom prst="rect">
            <a:avLst/>
          </a:prstGeom>
          <a:noFill/>
        </p:spPr>
        <p:txBody>
          <a:bodyPr wrap="square">
            <a:spAutoFit/>
          </a:bodyPr>
          <a:lstStyle/>
          <a:p>
            <a:pPr indent="457200">
              <a:spcAft>
                <a:spcPts val="1200"/>
              </a:spcAft>
            </a:pPr>
            <a:r>
              <a:rPr lang="zh-CN" altLang="en-US" sz="3600" b="0" i="0" dirty="0">
                <a:effectLst/>
                <a:latin typeface="Arial" panose="020B0604020202020204" pitchFamily="34" charset="0"/>
                <a:ea typeface="黑体" panose="02010609060101010101" pitchFamily="49" charset="-122"/>
                <a:cs typeface="Arial" panose="020B0604020202020204" pitchFamily="34" charset="0"/>
              </a:rPr>
              <a:t>刚性柔性印刷电路板</a:t>
            </a:r>
            <a:r>
              <a:rPr lang="en-US" altLang="zh-CN" sz="3600" b="0" i="0" dirty="0">
                <a:effectLst/>
                <a:latin typeface="Arial" panose="020B0604020202020204" pitchFamily="34" charset="0"/>
                <a:ea typeface="黑体" panose="02010609060101010101" pitchFamily="49" charset="-122"/>
                <a:cs typeface="Arial" panose="020B0604020202020204" pitchFamily="34" charset="0"/>
              </a:rPr>
              <a:t>(Rigid Flexible Printed Circuit, FPC)</a:t>
            </a:r>
            <a:r>
              <a:rPr lang="zh-CN" altLang="en-US" sz="3600" b="0" i="0" dirty="0">
                <a:effectLst/>
                <a:latin typeface="Arial" panose="020B0604020202020204" pitchFamily="34" charset="0"/>
                <a:ea typeface="黑体" panose="02010609060101010101" pitchFamily="49" charset="-122"/>
                <a:cs typeface="Arial" panose="020B0604020202020204" pitchFamily="34" charset="0"/>
              </a:rPr>
              <a:t>，俗称软硬结合板。</a:t>
            </a:r>
            <a:endParaRPr lang="en-US" altLang="zh-CN" sz="3600" b="0" i="0" dirty="0">
              <a:effectLst/>
              <a:latin typeface="Arial" panose="020B0604020202020204" pitchFamily="34" charset="0"/>
              <a:ea typeface="黑体" panose="02010609060101010101" pitchFamily="49" charset="-122"/>
              <a:cs typeface="Arial" panose="020B0604020202020204" pitchFamily="34" charset="0"/>
            </a:endParaRPr>
          </a:p>
          <a:p>
            <a:pPr indent="457200">
              <a:spcAft>
                <a:spcPts val="1200"/>
              </a:spcAft>
            </a:pPr>
            <a:r>
              <a:rPr lang="en-US" altLang="zh-CN" sz="3600" dirty="0">
                <a:latin typeface="Arial" panose="020B0604020202020204" pitchFamily="34" charset="0"/>
                <a:ea typeface="黑体" panose="02010609060101010101" pitchFamily="49" charset="-122"/>
                <a:cs typeface="Arial" panose="020B0604020202020204" pitchFamily="34" charset="0"/>
              </a:rPr>
              <a:t>FPC</a:t>
            </a:r>
            <a:r>
              <a:rPr lang="zh-CN" altLang="en-US" sz="3600" dirty="0">
                <a:latin typeface="Arial" panose="020B0604020202020204" pitchFamily="34" charset="0"/>
                <a:ea typeface="黑体" panose="02010609060101010101" pitchFamily="49" charset="-122"/>
                <a:cs typeface="Arial" panose="020B0604020202020204" pitchFamily="34" charset="0"/>
              </a:rPr>
              <a:t>与</a:t>
            </a:r>
            <a:r>
              <a:rPr lang="en-US" altLang="zh-CN" sz="3600" dirty="0">
                <a:latin typeface="Arial" panose="020B0604020202020204" pitchFamily="34" charset="0"/>
                <a:ea typeface="黑体" panose="02010609060101010101" pitchFamily="49" charset="-122"/>
                <a:cs typeface="Arial" panose="020B0604020202020204" pitchFamily="34" charset="0"/>
              </a:rPr>
              <a:t>PCB</a:t>
            </a:r>
            <a:r>
              <a:rPr lang="zh-CN" altLang="en-US" sz="3600" dirty="0">
                <a:latin typeface="Arial" panose="020B0604020202020204" pitchFamily="34" charset="0"/>
                <a:ea typeface="黑体" panose="02010609060101010101" pitchFamily="49" charset="-122"/>
                <a:cs typeface="Arial" panose="020B0604020202020204" pitchFamily="34" charset="0"/>
              </a:rPr>
              <a:t>经过</a:t>
            </a:r>
            <a:r>
              <a:rPr lang="zh-CN" altLang="en-US" sz="3600" dirty="0">
                <a:solidFill>
                  <a:srgbClr val="7030A0"/>
                </a:solidFill>
                <a:latin typeface="Arial" panose="020B0604020202020204" pitchFamily="34" charset="0"/>
                <a:ea typeface="黑体" panose="02010609060101010101" pitchFamily="49" charset="-122"/>
                <a:cs typeface="Arial" panose="020B0604020202020204" pitchFamily="34" charset="0"/>
              </a:rPr>
              <a:t>压合</a:t>
            </a:r>
            <a:r>
              <a:rPr lang="zh-CN" altLang="en-US" sz="3600" dirty="0">
                <a:latin typeface="Arial" panose="020B0604020202020204" pitchFamily="34" charset="0"/>
                <a:ea typeface="黑体" panose="02010609060101010101" pitchFamily="49" charset="-122"/>
                <a:cs typeface="Arial" panose="020B0604020202020204" pitchFamily="34" charset="0"/>
              </a:rPr>
              <a:t>等工序，组合在一起。兼具硬板和软板的优点，</a:t>
            </a:r>
            <a:r>
              <a:rPr lang="zh-CN" altLang="en-US" sz="3600" u="sng" dirty="0">
                <a:latin typeface="Arial" panose="020B0604020202020204" pitchFamily="34" charset="0"/>
                <a:ea typeface="黑体" panose="02010609060101010101" pitchFamily="49" charset="-122"/>
                <a:cs typeface="Arial" panose="020B0604020202020204" pitchFamily="34" charset="0"/>
              </a:rPr>
              <a:t>适用于</a:t>
            </a:r>
            <a:r>
              <a:rPr lang="zh-CN" altLang="en-US" sz="3600" u="sng" dirty="0">
                <a:solidFill>
                  <a:srgbClr val="7030A0"/>
                </a:solidFill>
                <a:latin typeface="Arial" panose="020B0604020202020204" pitchFamily="34" charset="0"/>
                <a:ea typeface="黑体" panose="02010609060101010101" pitchFamily="49" charset="-122"/>
                <a:cs typeface="Arial" panose="020B0604020202020204" pitchFamily="34" charset="0"/>
              </a:rPr>
              <a:t>高密集布线和高密度连接</a:t>
            </a:r>
            <a:r>
              <a:rPr lang="zh-CN" altLang="en-US" sz="3600" u="sng" dirty="0">
                <a:latin typeface="Arial" panose="020B0604020202020204" pitchFamily="34" charset="0"/>
                <a:ea typeface="黑体" panose="02010609060101010101" pitchFamily="49" charset="-122"/>
                <a:cs typeface="Arial" panose="020B0604020202020204" pitchFamily="34" charset="0"/>
              </a:rPr>
              <a:t>的应用。</a:t>
            </a:r>
            <a:endParaRPr lang="en-US" altLang="zh-CN" sz="3600" b="0" i="0" u="sng" dirty="0">
              <a:effectLst/>
              <a:latin typeface="Arial" panose="020B0604020202020204" pitchFamily="34" charset="0"/>
              <a:ea typeface="黑体" panose="02010609060101010101" pitchFamily="49" charset="-122"/>
              <a:cs typeface="Arial" panose="020B0604020202020204" pitchFamily="34" charset="0"/>
            </a:endParaRPr>
          </a:p>
        </p:txBody>
      </p:sp>
    </p:spTree>
    <p:extLst>
      <p:ext uri="{BB962C8B-B14F-4D97-AF65-F5344CB8AC3E}">
        <p14:creationId xmlns:p14="http://schemas.microsoft.com/office/powerpoint/2010/main" val="17867637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397F4-9880-F1A1-8BE3-79D0E55602E9}"/>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94E496D5-7EF5-3CA2-C8C5-74A4E752A0D3}"/>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6C7C9D8C-3B88-81E5-FFE1-A3076A9A2307}"/>
              </a:ext>
            </a:extLst>
          </p:cNvPr>
          <p:cNvSpPr txBox="1"/>
          <p:nvPr/>
        </p:nvSpPr>
        <p:spPr>
          <a:xfrm>
            <a:off x="541079" y="608842"/>
            <a:ext cx="9581976"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电路的载体形式</a:t>
            </a:r>
          </a:p>
        </p:txBody>
      </p:sp>
      <p:sp>
        <p:nvSpPr>
          <p:cNvPr id="3" name="文本框 2">
            <a:extLst>
              <a:ext uri="{FF2B5EF4-FFF2-40B4-BE49-F238E27FC236}">
                <a16:creationId xmlns:a16="http://schemas.microsoft.com/office/drawing/2014/main" id="{9EE9377C-C12A-03EA-77B8-D451AED747C2}"/>
              </a:ext>
            </a:extLst>
          </p:cNvPr>
          <p:cNvSpPr txBox="1"/>
          <p:nvPr/>
        </p:nvSpPr>
        <p:spPr>
          <a:xfrm>
            <a:off x="117764" y="1997839"/>
            <a:ext cx="11956472" cy="3308726"/>
          </a:xfrm>
          <a:prstGeom prst="rect">
            <a:avLst/>
          </a:prstGeom>
          <a:noFill/>
        </p:spPr>
        <p:txBody>
          <a:bodyPr wrap="square">
            <a:spAutoFit/>
          </a:bodyPr>
          <a:lstStyle/>
          <a:p>
            <a:pPr marL="742950" indent="-742950">
              <a:lnSpc>
                <a:spcPct val="150000"/>
              </a:lnSpc>
              <a:buFont typeface="+mj-ea"/>
              <a:buAutoNum type="circleNumDbPlain"/>
            </a:pPr>
            <a:r>
              <a:rPr lang="zh-CN" altLang="en-US" sz="3600" dirty="0">
                <a:latin typeface="Arial" panose="020B0604020202020204" pitchFamily="34" charset="0"/>
                <a:ea typeface="黑体" panose="02010609060101010101" pitchFamily="49" charset="-122"/>
                <a:cs typeface="Arial" panose="020B0604020202020204" pitchFamily="34" charset="0"/>
              </a:rPr>
              <a:t>基于晶圆制作的集成电路</a:t>
            </a:r>
            <a:endParaRPr lang="en-US" altLang="zh-CN" sz="3600" dirty="0">
              <a:latin typeface="Arial" panose="020B0604020202020204" pitchFamily="34" charset="0"/>
              <a:ea typeface="黑体" panose="02010609060101010101" pitchFamily="49" charset="-122"/>
              <a:cs typeface="Arial" panose="020B0604020202020204" pitchFamily="34" charset="0"/>
            </a:endParaRPr>
          </a:p>
          <a:p>
            <a:pPr marL="742950" indent="-742950">
              <a:lnSpc>
                <a:spcPct val="150000"/>
              </a:lnSpc>
              <a:buFont typeface="+mj-ea"/>
              <a:buAutoNum type="circleNumDbPlain"/>
            </a:pPr>
            <a:r>
              <a:rPr lang="zh-CN" altLang="en-US" sz="3600" b="0" i="0" dirty="0">
                <a:solidFill>
                  <a:srgbClr val="FF0000"/>
                </a:solidFill>
                <a:effectLst/>
                <a:latin typeface="Arial" panose="020B0604020202020204" pitchFamily="34" charset="0"/>
                <a:ea typeface="黑体" panose="02010609060101010101" pitchFamily="49" charset="-122"/>
                <a:cs typeface="Arial" panose="020B0604020202020204" pitchFamily="34" charset="0"/>
              </a:rPr>
              <a:t>印刷电路板 </a:t>
            </a:r>
            <a:r>
              <a:rPr lang="en-US" altLang="zh-CN" sz="3600" b="0" i="0" dirty="0">
                <a:solidFill>
                  <a:srgbClr val="FF0000"/>
                </a:solidFill>
                <a:effectLst/>
                <a:latin typeface="Arial" panose="020B0604020202020204" pitchFamily="34" charset="0"/>
                <a:ea typeface="黑体" panose="02010609060101010101" pitchFamily="49" charset="-122"/>
                <a:cs typeface="Arial" panose="020B0604020202020204" pitchFamily="34" charset="0"/>
              </a:rPr>
              <a:t>Printed Circuit Board, PCB</a:t>
            </a:r>
          </a:p>
          <a:p>
            <a:pPr marL="742950" indent="-742950">
              <a:lnSpc>
                <a:spcPct val="150000"/>
              </a:lnSpc>
              <a:buFont typeface="+mj-ea"/>
              <a:buAutoNum type="circleNumDbPlain"/>
            </a:pPr>
            <a:r>
              <a:rPr lang="zh-CN" altLang="en-US" sz="3600" b="0" i="0" dirty="0">
                <a:effectLst/>
                <a:latin typeface="Arial" panose="020B0604020202020204" pitchFamily="34" charset="0"/>
                <a:ea typeface="黑体" panose="02010609060101010101" pitchFamily="49" charset="-122"/>
                <a:cs typeface="Arial" panose="020B0604020202020204" pitchFamily="34" charset="0"/>
              </a:rPr>
              <a:t>柔性印刷电路</a:t>
            </a:r>
            <a:r>
              <a:rPr lang="de-DE" altLang="zh-CN" sz="3600" b="0" i="0" dirty="0">
                <a:effectLst/>
                <a:latin typeface="Arial" panose="020B0604020202020204" pitchFamily="34" charset="0"/>
                <a:ea typeface="黑体" panose="02010609060101010101" pitchFamily="49" charset="-122"/>
                <a:cs typeface="Arial" panose="020B0604020202020204" pitchFamily="34" charset="0"/>
              </a:rPr>
              <a:t>Flexible Printed Circuit, FPC</a:t>
            </a:r>
          </a:p>
          <a:p>
            <a:pPr marL="742950" indent="-742950">
              <a:lnSpc>
                <a:spcPct val="150000"/>
              </a:lnSpc>
              <a:buFont typeface="+mj-ea"/>
              <a:buAutoNum type="circleNumDbPlain"/>
            </a:pPr>
            <a:r>
              <a:rPr lang="zh-CN" altLang="en-US" sz="3600" dirty="0">
                <a:latin typeface="Arial" panose="020B0604020202020204" pitchFamily="34" charset="0"/>
                <a:ea typeface="黑体" panose="02010609060101010101" pitchFamily="49" charset="-122"/>
                <a:cs typeface="Arial" panose="020B0604020202020204" pitchFamily="34" charset="0"/>
              </a:rPr>
              <a:t>刚性柔性印刷电路</a:t>
            </a:r>
            <a:r>
              <a:rPr lang="en-US" altLang="zh-CN" sz="3600" dirty="0">
                <a:latin typeface="Arial" panose="020B0604020202020204" pitchFamily="34" charset="0"/>
                <a:ea typeface="黑体" panose="02010609060101010101" pitchFamily="49" charset="-122"/>
                <a:cs typeface="Arial" panose="020B0604020202020204" pitchFamily="34" charset="0"/>
              </a:rPr>
              <a:t>Rigid Flexible Printed Circuit, RFPC</a:t>
            </a:r>
            <a:endParaRPr lang="de-DE" altLang="zh-CN" sz="3600" b="0" i="0" dirty="0">
              <a:effectLst/>
              <a:latin typeface="Arial" panose="020B0604020202020204" pitchFamily="34" charset="0"/>
              <a:ea typeface="黑体" panose="02010609060101010101" pitchFamily="49" charset="-122"/>
              <a:cs typeface="Arial" panose="020B0604020202020204" pitchFamily="34" charset="0"/>
            </a:endParaRPr>
          </a:p>
        </p:txBody>
      </p:sp>
      <p:sp>
        <p:nvSpPr>
          <p:cNvPr id="2" name="文本框 1">
            <a:extLst>
              <a:ext uri="{FF2B5EF4-FFF2-40B4-BE49-F238E27FC236}">
                <a16:creationId xmlns:a16="http://schemas.microsoft.com/office/drawing/2014/main" id="{21FC72A5-85A1-B1B0-EAE4-1B8C29E0887D}"/>
              </a:ext>
            </a:extLst>
          </p:cNvPr>
          <p:cNvSpPr txBox="1"/>
          <p:nvPr/>
        </p:nvSpPr>
        <p:spPr>
          <a:xfrm>
            <a:off x="8112695" y="1302105"/>
            <a:ext cx="4079305" cy="1569660"/>
          </a:xfrm>
          <a:prstGeom prst="rect">
            <a:avLst/>
          </a:prstGeom>
          <a:noFill/>
        </p:spPr>
        <p:txBody>
          <a:bodyPr wrap="square" rtlCol="0">
            <a:spAutoFit/>
          </a:bodyPr>
          <a:lstStyle/>
          <a:p>
            <a:pPr algn="ctr"/>
            <a:r>
              <a:rPr lang="zh-CN" altLang="en-US" sz="3200" dirty="0">
                <a:solidFill>
                  <a:srgbClr val="FF0000"/>
                </a:solidFill>
                <a:latin typeface="华文琥珀" panose="02010800040101010101" pitchFamily="2" charset="-122"/>
                <a:ea typeface="华文琥珀" panose="02010800040101010101" pitchFamily="2" charset="-122"/>
              </a:rPr>
              <a:t>学习使用</a:t>
            </a:r>
            <a:r>
              <a:rPr lang="en-US" altLang="zh-CN" sz="3200" dirty="0">
                <a:solidFill>
                  <a:srgbClr val="FF0000"/>
                </a:solidFill>
                <a:latin typeface="Arial" panose="020B0604020202020204" pitchFamily="34" charset="0"/>
                <a:ea typeface="华文琥珀" panose="02010800040101010101" pitchFamily="2" charset="-122"/>
                <a:cs typeface="Arial" panose="020B0604020202020204" pitchFamily="34" charset="0"/>
              </a:rPr>
              <a:t>Altium Designer </a:t>
            </a:r>
            <a:r>
              <a:rPr lang="zh-CN" altLang="en-US" sz="3200" dirty="0">
                <a:solidFill>
                  <a:srgbClr val="FF0000"/>
                </a:solidFill>
                <a:latin typeface="华文琥珀" panose="02010800040101010101" pitchFamily="2" charset="-122"/>
                <a:ea typeface="华文琥珀" panose="02010800040101010101" pitchFamily="2" charset="-122"/>
                <a:cs typeface="Arial" panose="020B0604020202020204" pitchFamily="34" charset="0"/>
              </a:rPr>
              <a:t>设计、制造</a:t>
            </a:r>
            <a:r>
              <a:rPr lang="zh-CN" altLang="en-US" sz="3200" dirty="0">
                <a:solidFill>
                  <a:srgbClr val="FF0000"/>
                </a:solidFill>
                <a:latin typeface="华文琥珀" panose="02010800040101010101" pitchFamily="2" charset="-122"/>
                <a:ea typeface="华文琥珀" panose="02010800040101010101" pitchFamily="2" charset="-122"/>
              </a:rPr>
              <a:t>以</a:t>
            </a:r>
            <a:r>
              <a:rPr lang="en-US" altLang="zh-CN" sz="3200" dirty="0">
                <a:solidFill>
                  <a:srgbClr val="FF0000"/>
                </a:solidFill>
                <a:latin typeface="Arial" panose="020B0604020202020204" pitchFamily="34" charset="0"/>
                <a:ea typeface="华文琥珀" panose="02010800040101010101" pitchFamily="2" charset="-122"/>
                <a:cs typeface="Arial" panose="020B0604020202020204" pitchFamily="34" charset="0"/>
              </a:rPr>
              <a:t>PCB</a:t>
            </a:r>
            <a:r>
              <a:rPr lang="zh-CN" altLang="en-US" sz="3200" dirty="0">
                <a:solidFill>
                  <a:srgbClr val="FF0000"/>
                </a:solidFill>
                <a:latin typeface="Arial" panose="020B0604020202020204" pitchFamily="34" charset="0"/>
                <a:ea typeface="华文琥珀" panose="02010800040101010101" pitchFamily="2" charset="-122"/>
                <a:cs typeface="Arial" panose="020B0604020202020204" pitchFamily="34" charset="0"/>
              </a:rPr>
              <a:t>为载体</a:t>
            </a:r>
            <a:r>
              <a:rPr lang="zh-CN" altLang="en-US" sz="3200" dirty="0">
                <a:solidFill>
                  <a:srgbClr val="FF0000"/>
                </a:solidFill>
                <a:latin typeface="华文琥珀" panose="02010800040101010101" pitchFamily="2" charset="-122"/>
                <a:ea typeface="华文琥珀" panose="02010800040101010101" pitchFamily="2" charset="-122"/>
              </a:rPr>
              <a:t>的电路</a:t>
            </a:r>
          </a:p>
        </p:txBody>
      </p:sp>
    </p:spTree>
    <p:extLst>
      <p:ext uri="{BB962C8B-B14F-4D97-AF65-F5344CB8AC3E}">
        <p14:creationId xmlns:p14="http://schemas.microsoft.com/office/powerpoint/2010/main" val="173166873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E76F4BD-F03D-E713-4220-3E2297F174A1}"/>
              </a:ext>
            </a:extLst>
          </p:cNvPr>
          <p:cNvSpPr>
            <a:spLocks noGrp="1"/>
          </p:cNvSpPr>
          <p:nvPr>
            <p:ph idx="1"/>
          </p:nvPr>
        </p:nvSpPr>
        <p:spPr>
          <a:xfrm>
            <a:off x="541079" y="1657080"/>
            <a:ext cx="10786607" cy="4351338"/>
          </a:xfrm>
        </p:spPr>
        <p:txBody>
          <a:bodyPr>
            <a:noAutofit/>
          </a:bodyPr>
          <a:lstStyle/>
          <a:p>
            <a:pPr marL="0" indent="720000">
              <a:spcAft>
                <a:spcPts val="1200"/>
              </a:spcAft>
              <a:buNone/>
            </a:pPr>
            <a:r>
              <a:rPr lang="en-US" altLang="zh-CN" sz="3600" i="1" dirty="0">
                <a:ln>
                  <a:solidFill>
                    <a:schemeClr val="accent1"/>
                  </a:solidFill>
                </a:ln>
                <a:solidFill>
                  <a:schemeClr val="accent1">
                    <a:lumMod val="50000"/>
                  </a:schemeClr>
                </a:solidFill>
                <a:latin typeface="Arial Black" panose="020B0A04020102020204" pitchFamily="34" charset="0"/>
                <a:ea typeface="黑体" panose="02010609060101010101" pitchFamily="49" charset="-122"/>
              </a:rPr>
              <a:t>Altium Designer</a:t>
            </a:r>
            <a:r>
              <a:rPr lang="en-US" altLang="zh-CN" sz="3600" i="1" dirty="0">
                <a:latin typeface="Arial Black" panose="020B0A04020102020204" pitchFamily="34" charset="0"/>
                <a:ea typeface="黑体" panose="02010609060101010101" pitchFamily="49" charset="-122"/>
              </a:rPr>
              <a:t> </a:t>
            </a:r>
            <a:r>
              <a:rPr lang="zh-CN" altLang="en-US" sz="3600" dirty="0">
                <a:latin typeface="Arial Black" panose="020B0A04020102020204" pitchFamily="34" charset="0"/>
                <a:ea typeface="黑体" panose="02010609060101010101" pitchFamily="49" charset="-122"/>
              </a:rPr>
              <a:t>是业界第一款一体化电子产品设计及解决方案，它是将设计流程、集成化</a:t>
            </a:r>
            <a:r>
              <a:rPr lang="en-US" altLang="zh-CN" sz="3600" dirty="0">
                <a:latin typeface="Arial" panose="020B0604020202020204" pitchFamily="34" charset="0"/>
                <a:ea typeface="黑体" panose="02010609060101010101" pitchFamily="49" charset="-122"/>
                <a:cs typeface="Arial" panose="020B0604020202020204" pitchFamily="34" charset="0"/>
              </a:rPr>
              <a:t>PCB</a:t>
            </a:r>
            <a:r>
              <a:rPr lang="zh-CN" altLang="en-US" sz="3600" dirty="0">
                <a:latin typeface="Arial" panose="020B0604020202020204" pitchFamily="34" charset="0"/>
                <a:ea typeface="黑体" panose="02010609060101010101" pitchFamily="49" charset="-122"/>
                <a:cs typeface="Arial" panose="020B0604020202020204" pitchFamily="34" charset="0"/>
              </a:rPr>
              <a:t>设计、可编程器件（如</a:t>
            </a:r>
            <a:r>
              <a:rPr lang="en-US" altLang="zh-CN" sz="3600" dirty="0">
                <a:latin typeface="Arial" panose="020B0604020202020204" pitchFamily="34" charset="0"/>
                <a:ea typeface="黑体" panose="02010609060101010101" pitchFamily="49" charset="-122"/>
                <a:cs typeface="Arial" panose="020B0604020202020204" pitchFamily="34" charset="0"/>
              </a:rPr>
              <a:t>FPGA</a:t>
            </a:r>
            <a:r>
              <a:rPr lang="zh-CN" altLang="en-US" sz="3600" dirty="0">
                <a:latin typeface="Arial" panose="020B0604020202020204" pitchFamily="34" charset="0"/>
                <a:ea typeface="黑体" panose="02010609060101010101" pitchFamily="49" charset="-122"/>
                <a:cs typeface="Arial" panose="020B0604020202020204" pitchFamily="34" charset="0"/>
              </a:rPr>
              <a:t>）设计和基于处理器的嵌入式软件开发功能整合在一起的产品，是一种可同时进行原理图、</a:t>
            </a:r>
            <a:r>
              <a:rPr lang="en-US" altLang="zh-CN" sz="3600" dirty="0">
                <a:latin typeface="Arial" panose="020B0604020202020204" pitchFamily="34" charset="0"/>
                <a:ea typeface="黑体" panose="02010609060101010101" pitchFamily="49" charset="-122"/>
                <a:cs typeface="Arial" panose="020B0604020202020204" pitchFamily="34" charset="0"/>
              </a:rPr>
              <a:t>PCB</a:t>
            </a:r>
            <a:r>
              <a:rPr lang="zh-CN" altLang="en-US" sz="3600" dirty="0">
                <a:latin typeface="Arial" panose="020B0604020202020204" pitchFamily="34" charset="0"/>
                <a:ea typeface="黑体" panose="02010609060101010101" pitchFamily="49" charset="-122"/>
                <a:cs typeface="Arial" panose="020B0604020202020204" pitchFamily="34" charset="0"/>
              </a:rPr>
              <a:t>和</a:t>
            </a:r>
            <a:r>
              <a:rPr lang="en-US" altLang="zh-CN" sz="3600" dirty="0">
                <a:latin typeface="Arial" panose="020B0604020202020204" pitchFamily="34" charset="0"/>
                <a:ea typeface="黑体" panose="02010609060101010101" pitchFamily="49" charset="-122"/>
                <a:cs typeface="Arial" panose="020B0604020202020204" pitchFamily="34" charset="0"/>
              </a:rPr>
              <a:t>FPGA</a:t>
            </a:r>
            <a:r>
              <a:rPr lang="zh-CN" altLang="en-US" sz="3600" dirty="0">
                <a:latin typeface="Arial" panose="020B0604020202020204" pitchFamily="34" charset="0"/>
                <a:ea typeface="黑体" panose="02010609060101010101" pitchFamily="49" charset="-122"/>
                <a:cs typeface="Arial" panose="020B0604020202020204" pitchFamily="34" charset="0"/>
              </a:rPr>
              <a:t>设计及嵌入式设计的解决方案，具有将设计方案从概念转变为最终产品所需的全部功能。本次课介绍</a:t>
            </a:r>
            <a:r>
              <a:rPr lang="en-US" altLang="zh-CN" sz="3600" dirty="0">
                <a:latin typeface="Arial" panose="020B0604020202020204" pitchFamily="34" charset="0"/>
                <a:ea typeface="黑体" panose="02010609060101010101" pitchFamily="49" charset="-122"/>
                <a:cs typeface="Arial" panose="020B0604020202020204" pitchFamily="34" charset="0"/>
              </a:rPr>
              <a:t>Altium Designer</a:t>
            </a:r>
            <a:r>
              <a:rPr lang="zh-CN" altLang="en-US" sz="3600" dirty="0">
                <a:latin typeface="Arial" panose="020B0604020202020204" pitchFamily="34" charset="0"/>
                <a:ea typeface="黑体" panose="02010609060101010101" pitchFamily="49" charset="-122"/>
                <a:cs typeface="Arial" panose="020B0604020202020204" pitchFamily="34" charset="0"/>
              </a:rPr>
              <a:t>软件中：</a:t>
            </a:r>
            <a:endParaRPr lang="en-US" altLang="zh-CN" sz="3600" dirty="0">
              <a:latin typeface="Arial" panose="020B0604020202020204" pitchFamily="34" charset="0"/>
              <a:ea typeface="黑体" panose="02010609060101010101" pitchFamily="49" charset="-122"/>
              <a:cs typeface="Arial" panose="020B0604020202020204" pitchFamily="34" charset="0"/>
            </a:endParaRPr>
          </a:p>
          <a:p>
            <a:pPr lvl="4">
              <a:spcAft>
                <a:spcPts val="1200"/>
              </a:spcAft>
            </a:pPr>
            <a:r>
              <a:rPr lang="zh-CN" altLang="en-US" sz="3400" dirty="0">
                <a:solidFill>
                  <a:srgbClr val="FF0000"/>
                </a:solidFill>
                <a:latin typeface="Arial" panose="020B0604020202020204" pitchFamily="34" charset="0"/>
                <a:ea typeface="黑体" panose="02010609060101010101" pitchFamily="49" charset="-122"/>
                <a:cs typeface="Arial" panose="020B0604020202020204" pitchFamily="34" charset="0"/>
              </a:rPr>
              <a:t>原理图（</a:t>
            </a:r>
            <a:r>
              <a:rPr lang="en-US" altLang="zh-CN" sz="3400" dirty="0">
                <a:solidFill>
                  <a:srgbClr val="FF0000"/>
                </a:solidFill>
                <a:latin typeface="Arial" panose="020B0604020202020204" pitchFamily="34" charset="0"/>
                <a:ea typeface="黑体" panose="02010609060101010101" pitchFamily="49" charset="-122"/>
                <a:cs typeface="Arial" panose="020B0604020202020204" pitchFamily="34" charset="0"/>
              </a:rPr>
              <a:t>SCH</a:t>
            </a:r>
            <a:r>
              <a:rPr lang="zh-CN" altLang="en-US" sz="3400" dirty="0">
                <a:solidFill>
                  <a:srgbClr val="FF0000"/>
                </a:solidFill>
                <a:latin typeface="Arial" panose="020B0604020202020204" pitchFamily="34" charset="0"/>
                <a:ea typeface="黑体" panose="02010609060101010101" pitchFamily="49" charset="-122"/>
                <a:cs typeface="Arial" panose="020B0604020202020204" pitchFamily="34" charset="0"/>
              </a:rPr>
              <a:t>）设计</a:t>
            </a:r>
            <a:endParaRPr lang="en-US" altLang="zh-CN" sz="3400" dirty="0">
              <a:solidFill>
                <a:srgbClr val="FF0000"/>
              </a:solidFill>
              <a:latin typeface="Arial" panose="020B0604020202020204" pitchFamily="34" charset="0"/>
              <a:ea typeface="黑体" panose="02010609060101010101" pitchFamily="49" charset="-122"/>
              <a:cs typeface="Arial" panose="020B0604020202020204" pitchFamily="34" charset="0"/>
            </a:endParaRPr>
          </a:p>
          <a:p>
            <a:pPr lvl="4">
              <a:spcAft>
                <a:spcPts val="1200"/>
              </a:spcAft>
            </a:pPr>
            <a:r>
              <a:rPr lang="zh-CN" altLang="en-US" sz="3400" dirty="0">
                <a:solidFill>
                  <a:srgbClr val="FF0000"/>
                </a:solidFill>
                <a:latin typeface="Arial" panose="020B0604020202020204" pitchFamily="34" charset="0"/>
                <a:ea typeface="黑体" panose="02010609060101010101" pitchFamily="49" charset="-122"/>
                <a:cs typeface="Arial" panose="020B0604020202020204" pitchFamily="34" charset="0"/>
              </a:rPr>
              <a:t>印制电路板（</a:t>
            </a:r>
            <a:r>
              <a:rPr lang="en-US" altLang="zh-CN" sz="3400" dirty="0">
                <a:solidFill>
                  <a:srgbClr val="FF0000"/>
                </a:solidFill>
                <a:latin typeface="Arial" panose="020B0604020202020204" pitchFamily="34" charset="0"/>
                <a:ea typeface="黑体" panose="02010609060101010101" pitchFamily="49" charset="-122"/>
                <a:cs typeface="Arial" panose="020B0604020202020204" pitchFamily="34" charset="0"/>
              </a:rPr>
              <a:t>PCB</a:t>
            </a:r>
            <a:r>
              <a:rPr lang="zh-CN" altLang="en-US" sz="3400" dirty="0">
                <a:solidFill>
                  <a:srgbClr val="FF0000"/>
                </a:solidFill>
                <a:latin typeface="Arial" panose="020B0604020202020204" pitchFamily="34" charset="0"/>
                <a:ea typeface="黑体" panose="02010609060101010101" pitchFamily="49" charset="-122"/>
                <a:cs typeface="Arial" panose="020B0604020202020204" pitchFamily="34" charset="0"/>
              </a:rPr>
              <a:t>）设计</a:t>
            </a:r>
          </a:p>
        </p:txBody>
      </p:sp>
      <p:pic>
        <p:nvPicPr>
          <p:cNvPr id="6" name="图片 5">
            <a:extLst>
              <a:ext uri="{FF2B5EF4-FFF2-40B4-BE49-F238E27FC236}">
                <a16:creationId xmlns:a16="http://schemas.microsoft.com/office/drawing/2014/main" id="{127A6587-10CB-E3EF-19DD-39E8866EB8BB}"/>
              </a:ext>
            </a:extLst>
          </p:cNvPr>
          <p:cNvPicPr>
            <a:picLocks noChangeAspect="1"/>
          </p:cNvPicPr>
          <p:nvPr/>
        </p:nvPicPr>
        <p:blipFill rotWithShape="1">
          <a:blip r:embed="rId3"/>
          <a:srcRect l="752"/>
          <a:stretch/>
        </p:blipFill>
        <p:spPr>
          <a:xfrm>
            <a:off x="9136334" y="-106356"/>
            <a:ext cx="3179777" cy="2138281"/>
          </a:xfrm>
          <a:prstGeom prst="rect">
            <a:avLst/>
          </a:prstGeom>
          <a:effectLst>
            <a:softEdge rad="317500"/>
          </a:effectLst>
        </p:spPr>
      </p:pic>
      <p:sp>
        <p:nvSpPr>
          <p:cNvPr id="14" name="矩形 13">
            <a:extLst>
              <a:ext uri="{FF2B5EF4-FFF2-40B4-BE49-F238E27FC236}">
                <a16:creationId xmlns:a16="http://schemas.microsoft.com/office/drawing/2014/main" id="{28D33108-96C0-DDBE-A978-F4505DC2F66A}"/>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文本框 14">
            <a:extLst>
              <a:ext uri="{FF2B5EF4-FFF2-40B4-BE49-F238E27FC236}">
                <a16:creationId xmlns:a16="http://schemas.microsoft.com/office/drawing/2014/main" id="{7EDEB228-5A76-9D1F-D09D-5DD88840CD2C}"/>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endParaRPr lang="zh-CN" altLang="en-US" sz="4000" dirty="0">
              <a:solidFill>
                <a:srgbClr val="003F88"/>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426703278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5927F36-BB67-BBE0-3F90-AF24C9F0F960}"/>
              </a:ext>
            </a:extLst>
          </p:cNvPr>
          <p:cNvSpPr>
            <a:spLocks noGrp="1"/>
          </p:cNvSpPr>
          <p:nvPr>
            <p:ph idx="1"/>
          </p:nvPr>
        </p:nvSpPr>
        <p:spPr/>
        <p:txBody>
          <a:bodyPr/>
          <a:lstStyle/>
          <a:p>
            <a:pPr marL="0" indent="0">
              <a:buNone/>
            </a:pPr>
            <a:r>
              <a:rPr lang="zh-CN" altLang="en-US" dirty="0"/>
              <a:t>（一）</a:t>
            </a:r>
            <a:r>
              <a:rPr lang="en-US" altLang="zh-CN" dirty="0"/>
              <a:t>Altium Designer</a:t>
            </a:r>
            <a:r>
              <a:rPr lang="zh-CN" altLang="en-US" dirty="0"/>
              <a:t>主要功能</a:t>
            </a:r>
            <a:endParaRPr lang="en-US" altLang="zh-CN" dirty="0"/>
          </a:p>
          <a:p>
            <a:pPr marL="0" indent="0">
              <a:buNone/>
            </a:pPr>
            <a:r>
              <a:rPr lang="en-US" altLang="zh-CN" dirty="0"/>
              <a:t>	</a:t>
            </a:r>
            <a:r>
              <a:rPr lang="zh-CN" altLang="zh-CN" dirty="0"/>
              <a:t>★</a:t>
            </a:r>
            <a:r>
              <a:rPr lang="zh-CN" altLang="en-US" dirty="0"/>
              <a:t>电路原理图设计：</a:t>
            </a:r>
            <a:r>
              <a:rPr lang="en-US" altLang="zh-CN" dirty="0"/>
              <a:t>SCH</a:t>
            </a:r>
            <a:r>
              <a:rPr lang="zh-CN" altLang="en-US" dirty="0"/>
              <a:t>、</a:t>
            </a:r>
            <a:r>
              <a:rPr lang="en-US" altLang="zh-CN" dirty="0"/>
              <a:t>SCHLIB</a:t>
            </a:r>
            <a:r>
              <a:rPr lang="zh-CN" altLang="en-US" dirty="0"/>
              <a:t>、各种文本编辑器</a:t>
            </a:r>
            <a:endParaRPr lang="en-US" altLang="zh-CN" dirty="0"/>
          </a:p>
          <a:p>
            <a:pPr marL="0" indent="0">
              <a:buNone/>
            </a:pPr>
            <a:r>
              <a:rPr lang="en-US" altLang="zh-CN" dirty="0"/>
              <a:t>	</a:t>
            </a:r>
            <a:r>
              <a:rPr lang="zh-CN" altLang="zh-CN" dirty="0"/>
              <a:t>★</a:t>
            </a:r>
            <a:r>
              <a:rPr lang="zh-CN" altLang="en-US" dirty="0"/>
              <a:t>印刷电路板设计：</a:t>
            </a:r>
            <a:r>
              <a:rPr lang="en-US" altLang="zh-CN" dirty="0"/>
              <a:t>PCB</a:t>
            </a:r>
            <a:r>
              <a:rPr lang="zh-CN" altLang="en-US" dirty="0"/>
              <a:t>、</a:t>
            </a:r>
            <a:r>
              <a:rPr lang="en-US" altLang="zh-CN" dirty="0"/>
              <a:t>PCBLIB</a:t>
            </a:r>
            <a:r>
              <a:rPr lang="zh-CN" altLang="en-US" dirty="0"/>
              <a:t>、电路板组件管理器</a:t>
            </a:r>
            <a:endParaRPr lang="en-US" altLang="zh-CN" dirty="0"/>
          </a:p>
          <a:p>
            <a:pPr marL="0" indent="0">
              <a:buNone/>
            </a:pPr>
            <a:r>
              <a:rPr lang="en-US" altLang="zh-CN" dirty="0"/>
              <a:t>	</a:t>
            </a:r>
            <a:r>
              <a:rPr lang="zh-CN" altLang="zh-CN" dirty="0"/>
              <a:t>★</a:t>
            </a:r>
            <a:r>
              <a:rPr lang="zh-CN" altLang="en-US" dirty="0"/>
              <a:t>电路模拟仿真</a:t>
            </a:r>
            <a:endParaRPr lang="en-US" altLang="zh-CN" dirty="0"/>
          </a:p>
          <a:p>
            <a:pPr marL="0" indent="0">
              <a:buNone/>
            </a:pPr>
            <a:r>
              <a:rPr lang="en-US" altLang="zh-CN" dirty="0"/>
              <a:t>	</a:t>
            </a:r>
            <a:r>
              <a:rPr lang="zh-CN" altLang="zh-CN" dirty="0"/>
              <a:t>★</a:t>
            </a:r>
            <a:r>
              <a:rPr lang="en-US" altLang="zh-CN" dirty="0"/>
              <a:t>FPGA</a:t>
            </a:r>
            <a:r>
              <a:rPr lang="zh-CN" altLang="en-US" dirty="0"/>
              <a:t>及逻辑器设计</a:t>
            </a:r>
            <a:endParaRPr lang="en-US" altLang="zh-CN" dirty="0"/>
          </a:p>
          <a:p>
            <a:pPr marL="0" indent="0">
              <a:buNone/>
            </a:pPr>
            <a:r>
              <a:rPr lang="en-US" altLang="zh-CN" dirty="0"/>
              <a:t>	</a:t>
            </a:r>
            <a:r>
              <a:rPr lang="zh-CN" altLang="zh-CN" dirty="0"/>
              <a:t>★</a:t>
            </a:r>
            <a:r>
              <a:rPr lang="zh-CN" altLang="en-US" dirty="0"/>
              <a:t>高级信号完整性分析</a:t>
            </a:r>
            <a:endParaRPr lang="en-US" altLang="zh-CN" dirty="0"/>
          </a:p>
          <a:p>
            <a:pPr marL="0" indent="0">
              <a:buNone/>
            </a:pPr>
            <a:r>
              <a:rPr lang="zh-CN" altLang="zh-CN" dirty="0"/>
              <a:t>★ </a:t>
            </a:r>
            <a:r>
              <a:rPr lang="en-US" altLang="zh-CN" dirty="0"/>
              <a:t>Altium Designer</a:t>
            </a:r>
            <a:r>
              <a:rPr lang="zh-CN" altLang="en-US" dirty="0"/>
              <a:t>主要特点：功能强大，支持多国语言，完全兼容</a:t>
            </a:r>
            <a:r>
              <a:rPr lang="en-US" altLang="zh-CN" dirty="0"/>
              <a:t>Protel</a:t>
            </a:r>
            <a:r>
              <a:rPr lang="zh-CN" altLang="en-US" dirty="0"/>
              <a:t>各版本。</a:t>
            </a:r>
          </a:p>
        </p:txBody>
      </p:sp>
      <p:sp>
        <p:nvSpPr>
          <p:cNvPr id="7" name="矩形 6">
            <a:extLst>
              <a:ext uri="{FF2B5EF4-FFF2-40B4-BE49-F238E27FC236}">
                <a16:creationId xmlns:a16="http://schemas.microsoft.com/office/drawing/2014/main" id="{F30666F2-ED63-6F46-E27D-4BE4DDCD393B}"/>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文本框 11">
            <a:extLst>
              <a:ext uri="{FF2B5EF4-FFF2-40B4-BE49-F238E27FC236}">
                <a16:creationId xmlns:a16="http://schemas.microsoft.com/office/drawing/2014/main" id="{E46EBCAA-E61B-6214-E3E5-049ED133579B}"/>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endParaRPr lang="zh-CN" altLang="en-US" sz="4000" dirty="0">
              <a:solidFill>
                <a:srgbClr val="003F88"/>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21861484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1F6CDA3-63E9-FEEC-3395-DCC08F1794F1}"/>
              </a:ext>
            </a:extLst>
          </p:cNvPr>
          <p:cNvSpPr>
            <a:spLocks noGrp="1"/>
          </p:cNvSpPr>
          <p:nvPr>
            <p:ph idx="1"/>
          </p:nvPr>
        </p:nvSpPr>
        <p:spPr>
          <a:xfrm>
            <a:off x="838200" y="1825625"/>
            <a:ext cx="10515600" cy="1325562"/>
          </a:xfrm>
        </p:spPr>
        <p:txBody>
          <a:bodyPr>
            <a:normAutofit/>
          </a:bodyPr>
          <a:lstStyle/>
          <a:p>
            <a:pPr marL="0" indent="0">
              <a:buNone/>
            </a:pPr>
            <a:r>
              <a:rPr lang="zh-CN" altLang="en-US" dirty="0"/>
              <a:t>（二）两个概念：</a:t>
            </a:r>
            <a:r>
              <a:rPr lang="zh-CN" altLang="en-US" b="1" dirty="0"/>
              <a:t>电路原理图</a:t>
            </a:r>
            <a:r>
              <a:rPr lang="zh-CN" altLang="en-US" dirty="0"/>
              <a:t>与</a:t>
            </a:r>
            <a:r>
              <a:rPr lang="zh-CN" altLang="en-US" b="1" dirty="0"/>
              <a:t>印制电路板（</a:t>
            </a:r>
            <a:r>
              <a:rPr lang="en-US" altLang="zh-CN" b="1" dirty="0"/>
              <a:t>PCB</a:t>
            </a:r>
            <a:r>
              <a:rPr lang="zh-CN" altLang="en-US" b="1" dirty="0"/>
              <a:t>）图</a:t>
            </a:r>
            <a:endParaRPr lang="en-US" altLang="zh-CN" b="1" dirty="0"/>
          </a:p>
          <a:p>
            <a:pPr marL="0" indent="0">
              <a:buNone/>
            </a:pPr>
            <a:r>
              <a:rPr lang="en-US" altLang="zh-CN" dirty="0"/>
              <a:t>		</a:t>
            </a:r>
            <a:endParaRPr lang="zh-CN" altLang="en-US" dirty="0"/>
          </a:p>
        </p:txBody>
      </p:sp>
      <p:pic>
        <p:nvPicPr>
          <p:cNvPr id="5" name="图片 4">
            <a:extLst>
              <a:ext uri="{FF2B5EF4-FFF2-40B4-BE49-F238E27FC236}">
                <a16:creationId xmlns:a16="http://schemas.microsoft.com/office/drawing/2014/main" id="{05BE4D86-45D6-EA1B-8DBF-B4AD816B5774}"/>
              </a:ext>
            </a:extLst>
          </p:cNvPr>
          <p:cNvPicPr>
            <a:picLocks noChangeAspect="1"/>
          </p:cNvPicPr>
          <p:nvPr/>
        </p:nvPicPr>
        <p:blipFill>
          <a:blip r:embed="rId2"/>
          <a:stretch>
            <a:fillRect/>
          </a:stretch>
        </p:blipFill>
        <p:spPr>
          <a:xfrm>
            <a:off x="7688911" y="2874352"/>
            <a:ext cx="3590925" cy="2200275"/>
          </a:xfrm>
          <a:prstGeom prst="rect">
            <a:avLst/>
          </a:prstGeom>
        </p:spPr>
      </p:pic>
      <p:sp>
        <p:nvSpPr>
          <p:cNvPr id="7" name="文本框 6">
            <a:extLst>
              <a:ext uri="{FF2B5EF4-FFF2-40B4-BE49-F238E27FC236}">
                <a16:creationId xmlns:a16="http://schemas.microsoft.com/office/drawing/2014/main" id="{E98DD463-0EAB-E53D-3187-735E1E5DD61A}"/>
              </a:ext>
            </a:extLst>
          </p:cNvPr>
          <p:cNvSpPr txBox="1"/>
          <p:nvPr/>
        </p:nvSpPr>
        <p:spPr>
          <a:xfrm>
            <a:off x="1306023" y="2551022"/>
            <a:ext cx="6382888" cy="2246769"/>
          </a:xfrm>
          <a:prstGeom prst="rect">
            <a:avLst/>
          </a:prstGeom>
          <a:noFill/>
        </p:spPr>
        <p:txBody>
          <a:bodyPr wrap="square">
            <a:spAutoFit/>
          </a:bodyPr>
          <a:lstStyle/>
          <a:p>
            <a:pPr marL="0" indent="0">
              <a:buNone/>
            </a:pPr>
            <a:r>
              <a:rPr lang="en-US" altLang="zh-CN" sz="2800" dirty="0"/>
              <a:t>1. </a:t>
            </a:r>
            <a:r>
              <a:rPr lang="zh-CN" altLang="en-US" sz="2800" dirty="0"/>
              <a:t>电路原理图</a:t>
            </a:r>
            <a:endParaRPr lang="en-US" altLang="zh-CN" sz="2800" dirty="0"/>
          </a:p>
          <a:p>
            <a:pPr marL="0" indent="720000">
              <a:buNone/>
            </a:pPr>
            <a:r>
              <a:rPr lang="zh-CN" altLang="en-US" sz="2800" dirty="0"/>
              <a:t>是指说明电路中各个</a:t>
            </a:r>
            <a:r>
              <a:rPr lang="zh-CN" altLang="en-US" sz="2800" dirty="0">
                <a:solidFill>
                  <a:srgbClr val="FF0000"/>
                </a:solidFill>
              </a:rPr>
              <a:t>元器件</a:t>
            </a:r>
            <a:r>
              <a:rPr lang="zh-CN" altLang="en-US" sz="2800" dirty="0"/>
              <a:t>及其</a:t>
            </a:r>
            <a:r>
              <a:rPr lang="zh-CN" altLang="en-US" sz="2800" dirty="0">
                <a:solidFill>
                  <a:srgbClr val="FF0000"/>
                </a:solidFill>
              </a:rPr>
              <a:t>电气连接关系</a:t>
            </a:r>
            <a:r>
              <a:rPr lang="zh-CN" altLang="en-US" sz="2800" dirty="0"/>
              <a:t>的图。（它</a:t>
            </a:r>
            <a:r>
              <a:rPr lang="zh-CN" altLang="en-US" sz="2800" u="sng" dirty="0"/>
              <a:t>不涉及元器件的具体大小、形状</a:t>
            </a:r>
            <a:r>
              <a:rPr lang="zh-CN" altLang="en-US" sz="2800" dirty="0"/>
              <a:t>，而只是关心元器件的</a:t>
            </a:r>
            <a:r>
              <a:rPr lang="zh-CN" altLang="en-US" sz="2800" b="1" dirty="0"/>
              <a:t>类型与参数</a:t>
            </a:r>
            <a:r>
              <a:rPr lang="zh-CN" altLang="en-US" sz="2800" dirty="0"/>
              <a:t>、相互之间的</a:t>
            </a:r>
            <a:r>
              <a:rPr lang="zh-CN" altLang="en-US" sz="2800" b="1" dirty="0"/>
              <a:t>连接</a:t>
            </a:r>
            <a:r>
              <a:rPr lang="zh-CN" altLang="en-US" sz="2800" dirty="0"/>
              <a:t>情况。）</a:t>
            </a:r>
            <a:endParaRPr lang="en-US" altLang="zh-CN" sz="2800" dirty="0"/>
          </a:p>
        </p:txBody>
      </p:sp>
      <p:sp>
        <p:nvSpPr>
          <p:cNvPr id="6" name="矩形 5">
            <a:extLst>
              <a:ext uri="{FF2B5EF4-FFF2-40B4-BE49-F238E27FC236}">
                <a16:creationId xmlns:a16="http://schemas.microsoft.com/office/drawing/2014/main" id="{DC4371B7-144E-E6D7-0C03-6125AE3DA4C9}"/>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文本框 11">
            <a:extLst>
              <a:ext uri="{FF2B5EF4-FFF2-40B4-BE49-F238E27FC236}">
                <a16:creationId xmlns:a16="http://schemas.microsoft.com/office/drawing/2014/main" id="{4CE85A4F-1A72-78ED-D66C-B7D8B7A9D65C}"/>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endParaRPr lang="zh-CN" altLang="en-US" sz="4000" dirty="0">
              <a:solidFill>
                <a:srgbClr val="003F88"/>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02839497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1F6CDA3-63E9-FEEC-3395-DCC08F1794F1}"/>
              </a:ext>
            </a:extLst>
          </p:cNvPr>
          <p:cNvSpPr>
            <a:spLocks noGrp="1"/>
          </p:cNvSpPr>
          <p:nvPr>
            <p:ph idx="1"/>
          </p:nvPr>
        </p:nvSpPr>
        <p:spPr/>
        <p:txBody>
          <a:bodyPr/>
          <a:lstStyle/>
          <a:p>
            <a:pPr marL="0" indent="0">
              <a:buNone/>
            </a:pPr>
            <a:r>
              <a:rPr lang="zh-CN" altLang="en-US" dirty="0"/>
              <a:t>（二）两个概念：电路原理图与印制电路板（</a:t>
            </a:r>
            <a:r>
              <a:rPr lang="en-US" altLang="zh-CN" dirty="0"/>
              <a:t>PCB</a:t>
            </a:r>
            <a:r>
              <a:rPr lang="zh-CN" altLang="en-US" dirty="0"/>
              <a:t>）图</a:t>
            </a:r>
            <a:endParaRPr lang="en-US" altLang="zh-CN" dirty="0"/>
          </a:p>
          <a:p>
            <a:pPr marL="0" indent="0">
              <a:buNone/>
            </a:pPr>
            <a:endParaRPr lang="en-US" altLang="zh-CN" dirty="0"/>
          </a:p>
          <a:p>
            <a:pPr marL="0" indent="0">
              <a:buNone/>
            </a:pPr>
            <a:r>
              <a:rPr lang="en-US" altLang="zh-CN" dirty="0"/>
              <a:t>2.</a:t>
            </a:r>
            <a:r>
              <a:rPr lang="zh-CN" altLang="en-US" dirty="0"/>
              <a:t>印制电路板（</a:t>
            </a:r>
            <a:r>
              <a:rPr lang="en-US" altLang="zh-CN" dirty="0"/>
              <a:t>PCB</a:t>
            </a:r>
            <a:r>
              <a:rPr lang="zh-CN" altLang="en-US" dirty="0"/>
              <a:t>）图</a:t>
            </a:r>
            <a:endParaRPr lang="en-US" altLang="zh-CN" dirty="0"/>
          </a:p>
          <a:p>
            <a:pPr marL="0" indent="720000">
              <a:buNone/>
            </a:pPr>
            <a:r>
              <a:rPr lang="zh-CN" altLang="en-US" dirty="0"/>
              <a:t>是用来</a:t>
            </a:r>
            <a:r>
              <a:rPr lang="zh-CN" altLang="en-US" b="1" dirty="0">
                <a:solidFill>
                  <a:srgbClr val="FF0000"/>
                </a:solidFill>
              </a:rPr>
              <a:t>安装</a:t>
            </a:r>
            <a:r>
              <a:rPr lang="zh-CN" altLang="en-US" dirty="0"/>
              <a:t>、固定各个实际电路元器件并利用铜箔走线实现其正确电气连接关系的图。</a:t>
            </a:r>
            <a:r>
              <a:rPr lang="zh-CN" altLang="en-US" b="1" dirty="0"/>
              <a:t>与实体尺寸一致</a:t>
            </a:r>
            <a:r>
              <a:rPr lang="zh-CN" altLang="en-US" dirty="0"/>
              <a:t>。</a:t>
            </a:r>
          </a:p>
        </p:txBody>
      </p:sp>
      <p:pic>
        <p:nvPicPr>
          <p:cNvPr id="6" name="图片 5">
            <a:extLst>
              <a:ext uri="{FF2B5EF4-FFF2-40B4-BE49-F238E27FC236}">
                <a16:creationId xmlns:a16="http://schemas.microsoft.com/office/drawing/2014/main" id="{A42DEF23-DA68-B03F-9582-41F78EE38B24}"/>
              </a:ext>
            </a:extLst>
          </p:cNvPr>
          <p:cNvPicPr>
            <a:picLocks noChangeAspect="1"/>
          </p:cNvPicPr>
          <p:nvPr/>
        </p:nvPicPr>
        <p:blipFill>
          <a:blip r:embed="rId2"/>
          <a:stretch>
            <a:fillRect/>
          </a:stretch>
        </p:blipFill>
        <p:spPr>
          <a:xfrm>
            <a:off x="2978860" y="4405313"/>
            <a:ext cx="1952625" cy="1771650"/>
          </a:xfrm>
          <a:prstGeom prst="rect">
            <a:avLst/>
          </a:prstGeom>
        </p:spPr>
      </p:pic>
      <p:pic>
        <p:nvPicPr>
          <p:cNvPr id="12" name="图片 11">
            <a:extLst>
              <a:ext uri="{FF2B5EF4-FFF2-40B4-BE49-F238E27FC236}">
                <a16:creationId xmlns:a16="http://schemas.microsoft.com/office/drawing/2014/main" id="{F430FB39-B60C-B2F7-F129-A7AFD6FD8DCE}"/>
              </a:ext>
            </a:extLst>
          </p:cNvPr>
          <p:cNvPicPr>
            <a:picLocks noChangeAspect="1"/>
          </p:cNvPicPr>
          <p:nvPr/>
        </p:nvPicPr>
        <p:blipFill>
          <a:blip r:embed="rId3"/>
          <a:stretch>
            <a:fillRect/>
          </a:stretch>
        </p:blipFill>
        <p:spPr>
          <a:xfrm>
            <a:off x="5776144" y="4433888"/>
            <a:ext cx="1971675" cy="1743075"/>
          </a:xfrm>
          <a:prstGeom prst="rect">
            <a:avLst/>
          </a:prstGeom>
        </p:spPr>
      </p:pic>
      <p:sp>
        <p:nvSpPr>
          <p:cNvPr id="13" name="矩形 12">
            <a:extLst>
              <a:ext uri="{FF2B5EF4-FFF2-40B4-BE49-F238E27FC236}">
                <a16:creationId xmlns:a16="http://schemas.microsoft.com/office/drawing/2014/main" id="{22A4CA31-29B1-A333-DCD7-CFF5C4EFE5AC}"/>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文本框 13">
            <a:extLst>
              <a:ext uri="{FF2B5EF4-FFF2-40B4-BE49-F238E27FC236}">
                <a16:creationId xmlns:a16="http://schemas.microsoft.com/office/drawing/2014/main" id="{782CD9A3-C312-A942-02E3-B7571D0B4738}"/>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电路原理图设计</a:t>
            </a:r>
            <a:endParaRPr lang="zh-CN" altLang="en-US" sz="4000" dirty="0">
              <a:solidFill>
                <a:srgbClr val="003F88"/>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29057148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F8E4279-1BB0-C0D9-E9E8-2CB162D7359A}"/>
              </a:ext>
            </a:extLst>
          </p:cNvPr>
          <p:cNvSpPr>
            <a:spLocks noGrp="1"/>
          </p:cNvSpPr>
          <p:nvPr>
            <p:ph idx="1"/>
          </p:nvPr>
        </p:nvSpPr>
        <p:spPr/>
        <p:txBody>
          <a:bodyPr/>
          <a:lstStyle/>
          <a:p>
            <a:pPr marL="0" indent="0">
              <a:buNone/>
            </a:pPr>
            <a:r>
              <a:rPr lang="en-US" altLang="zh-CN" dirty="0"/>
              <a:t>3.</a:t>
            </a:r>
            <a:r>
              <a:rPr lang="zh-CN" altLang="en-US" dirty="0"/>
              <a:t>举例说明</a:t>
            </a:r>
          </a:p>
        </p:txBody>
      </p:sp>
      <p:pic>
        <p:nvPicPr>
          <p:cNvPr id="5" name="图片 4">
            <a:extLst>
              <a:ext uri="{FF2B5EF4-FFF2-40B4-BE49-F238E27FC236}">
                <a16:creationId xmlns:a16="http://schemas.microsoft.com/office/drawing/2014/main" id="{AB091008-EE9F-4705-F95E-1DE6A1AABC30}"/>
              </a:ext>
            </a:extLst>
          </p:cNvPr>
          <p:cNvPicPr>
            <a:picLocks noChangeAspect="1"/>
          </p:cNvPicPr>
          <p:nvPr/>
        </p:nvPicPr>
        <p:blipFill>
          <a:blip r:embed="rId2"/>
          <a:stretch>
            <a:fillRect/>
          </a:stretch>
        </p:blipFill>
        <p:spPr>
          <a:xfrm>
            <a:off x="2200275" y="2924341"/>
            <a:ext cx="7791450" cy="3028950"/>
          </a:xfrm>
          <a:prstGeom prst="rect">
            <a:avLst/>
          </a:prstGeom>
        </p:spPr>
      </p:pic>
      <p:sp>
        <p:nvSpPr>
          <p:cNvPr id="12" name="矩形 11">
            <a:extLst>
              <a:ext uri="{FF2B5EF4-FFF2-40B4-BE49-F238E27FC236}">
                <a16:creationId xmlns:a16="http://schemas.microsoft.com/office/drawing/2014/main" id="{73AC6AA4-EF40-D33D-7183-44252CA78F94}"/>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文本框 12">
            <a:extLst>
              <a:ext uri="{FF2B5EF4-FFF2-40B4-BE49-F238E27FC236}">
                <a16:creationId xmlns:a16="http://schemas.microsoft.com/office/drawing/2014/main" id="{E34DAA06-4084-FA48-9517-D8EE6B74C4B3}"/>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电路原理图设计</a:t>
            </a:r>
            <a:endParaRPr lang="zh-CN" altLang="en-US" sz="4000" dirty="0">
              <a:solidFill>
                <a:srgbClr val="003F88"/>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09796970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0D4D109-3E6A-B888-418E-94789B7DA99B}"/>
              </a:ext>
            </a:extLst>
          </p:cNvPr>
          <p:cNvSpPr>
            <a:spLocks noGrp="1"/>
          </p:cNvSpPr>
          <p:nvPr>
            <p:ph idx="1"/>
          </p:nvPr>
        </p:nvSpPr>
        <p:spPr/>
        <p:txBody>
          <a:bodyPr/>
          <a:lstStyle/>
          <a:p>
            <a:pPr marL="0" indent="0">
              <a:buNone/>
            </a:pPr>
            <a:r>
              <a:rPr lang="en-US" altLang="zh-CN" dirty="0"/>
              <a:t>4.</a:t>
            </a:r>
            <a:r>
              <a:rPr lang="zh-CN" altLang="en-US" dirty="0"/>
              <a:t>印制电路板（</a:t>
            </a:r>
            <a:r>
              <a:rPr lang="en-US" altLang="zh-CN" dirty="0"/>
              <a:t>Printed Circuit Board, PCB</a:t>
            </a:r>
            <a:r>
              <a:rPr lang="zh-CN" altLang="en-US" dirty="0"/>
              <a:t>）</a:t>
            </a:r>
            <a:endParaRPr lang="en-US" altLang="zh-CN" dirty="0"/>
          </a:p>
          <a:p>
            <a:pPr marL="0" indent="0">
              <a:buNone/>
            </a:pPr>
            <a:r>
              <a:rPr lang="en-US" altLang="zh-CN" b="1" dirty="0"/>
              <a:t>    </a:t>
            </a:r>
            <a:r>
              <a:rPr lang="zh-CN" altLang="en-US" b="1" dirty="0"/>
              <a:t>安装</a:t>
            </a:r>
            <a:r>
              <a:rPr lang="zh-CN" altLang="en-US" dirty="0"/>
              <a:t>、</a:t>
            </a:r>
            <a:r>
              <a:rPr lang="zh-CN" altLang="en-US" b="1" dirty="0"/>
              <a:t>固定支撑</a:t>
            </a:r>
            <a:r>
              <a:rPr lang="zh-CN" altLang="en-US" dirty="0"/>
              <a:t>各个</a:t>
            </a:r>
            <a:r>
              <a:rPr lang="zh-CN" altLang="en-US" dirty="0">
                <a:solidFill>
                  <a:srgbClr val="FF0000"/>
                </a:solidFill>
              </a:rPr>
              <a:t>电路元器件</a:t>
            </a:r>
            <a:r>
              <a:rPr lang="zh-CN" altLang="en-US" dirty="0"/>
              <a:t>并利用</a:t>
            </a:r>
            <a:r>
              <a:rPr lang="zh-CN" altLang="en-US" dirty="0">
                <a:solidFill>
                  <a:srgbClr val="FF0000"/>
                </a:solidFill>
              </a:rPr>
              <a:t>铜箔走线</a:t>
            </a:r>
            <a:r>
              <a:rPr lang="zh-CN" altLang="en-US" dirty="0"/>
              <a:t>将各种元器件按电路要求</a:t>
            </a:r>
            <a:r>
              <a:rPr lang="zh-CN" altLang="en-US" b="1" dirty="0"/>
              <a:t>连接</a:t>
            </a:r>
            <a:r>
              <a:rPr lang="zh-CN" altLang="en-US" dirty="0"/>
              <a:t>起来</a:t>
            </a:r>
            <a:r>
              <a:rPr lang="zh-CN" altLang="en-US" u="sng" dirty="0"/>
              <a:t>形成电流通路</a:t>
            </a:r>
            <a:r>
              <a:rPr lang="zh-CN" altLang="en-US" dirty="0"/>
              <a:t>。</a:t>
            </a:r>
            <a:endParaRPr lang="en-US" altLang="zh-CN" dirty="0"/>
          </a:p>
          <a:p>
            <a:pPr marL="0" indent="0">
              <a:buNone/>
            </a:pPr>
            <a:r>
              <a:rPr lang="en-US" altLang="zh-CN" dirty="0"/>
              <a:t>    </a:t>
            </a:r>
            <a:r>
              <a:rPr lang="zh-CN" altLang="en-US" dirty="0"/>
              <a:t>目前常用的电路板有单面板、双面板、四层板、六层板等。</a:t>
            </a:r>
          </a:p>
        </p:txBody>
      </p:sp>
      <p:pic>
        <p:nvPicPr>
          <p:cNvPr id="5" name="图片 4">
            <a:extLst>
              <a:ext uri="{FF2B5EF4-FFF2-40B4-BE49-F238E27FC236}">
                <a16:creationId xmlns:a16="http://schemas.microsoft.com/office/drawing/2014/main" id="{D278C3F2-2AFA-F2EE-BD97-33CFF952C4A7}"/>
              </a:ext>
            </a:extLst>
          </p:cNvPr>
          <p:cNvPicPr>
            <a:picLocks noChangeAspect="1"/>
          </p:cNvPicPr>
          <p:nvPr/>
        </p:nvPicPr>
        <p:blipFill>
          <a:blip r:embed="rId2"/>
          <a:stretch>
            <a:fillRect/>
          </a:stretch>
        </p:blipFill>
        <p:spPr>
          <a:xfrm>
            <a:off x="2328862" y="3934341"/>
            <a:ext cx="7534275" cy="2743200"/>
          </a:xfrm>
          <a:prstGeom prst="rect">
            <a:avLst/>
          </a:prstGeom>
        </p:spPr>
      </p:pic>
      <p:sp>
        <p:nvSpPr>
          <p:cNvPr id="12" name="矩形 11">
            <a:extLst>
              <a:ext uri="{FF2B5EF4-FFF2-40B4-BE49-F238E27FC236}">
                <a16:creationId xmlns:a16="http://schemas.microsoft.com/office/drawing/2014/main" id="{635EC281-0B86-20EB-E987-8970099241BF}"/>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文本框 12">
            <a:extLst>
              <a:ext uri="{FF2B5EF4-FFF2-40B4-BE49-F238E27FC236}">
                <a16:creationId xmlns:a16="http://schemas.microsoft.com/office/drawing/2014/main" id="{65DFE921-CD39-CB40-4D35-014895973EC3}"/>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电路原理图设计</a:t>
            </a:r>
            <a:endParaRPr lang="zh-CN" altLang="en-US" sz="4000" dirty="0">
              <a:solidFill>
                <a:srgbClr val="003F88"/>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408274567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91094-FA71-57C5-40B4-CF3A0B0AC060}"/>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71CA2224-CF9C-3643-718E-16E2806926F3}"/>
              </a:ext>
            </a:extLst>
          </p:cNvPr>
          <p:cNvSpPr>
            <a:spLocks noGrp="1"/>
          </p:cNvSpPr>
          <p:nvPr>
            <p:ph idx="1"/>
          </p:nvPr>
        </p:nvSpPr>
        <p:spPr/>
        <p:txBody>
          <a:bodyPr/>
          <a:lstStyle/>
          <a:p>
            <a:pPr marL="0" indent="0">
              <a:buNone/>
            </a:pPr>
            <a:r>
              <a:rPr lang="en-US" altLang="zh-CN" dirty="0"/>
              <a:t>4.</a:t>
            </a:r>
            <a:r>
              <a:rPr lang="zh-CN" altLang="en-US" dirty="0"/>
              <a:t>印制电路板（</a:t>
            </a:r>
            <a:r>
              <a:rPr lang="en-US" altLang="zh-CN" dirty="0"/>
              <a:t>Printed Circuit Board, PCB</a:t>
            </a:r>
            <a:r>
              <a:rPr lang="zh-CN" altLang="en-US" dirty="0"/>
              <a:t>）</a:t>
            </a:r>
            <a:endParaRPr lang="en-US" altLang="zh-CN" dirty="0"/>
          </a:p>
          <a:p>
            <a:pPr marL="0" indent="0">
              <a:buNone/>
            </a:pPr>
            <a:r>
              <a:rPr lang="zh-CN" altLang="en-US" dirty="0"/>
              <a:t>（</a:t>
            </a:r>
            <a:r>
              <a:rPr lang="en-US" altLang="zh-CN" dirty="0"/>
              <a:t>1</a:t>
            </a:r>
            <a:r>
              <a:rPr lang="zh-CN" altLang="en-US" dirty="0"/>
              <a:t>）单面板</a:t>
            </a:r>
            <a:endParaRPr lang="en-US" altLang="zh-CN" dirty="0"/>
          </a:p>
          <a:p>
            <a:pPr marL="0" indent="0">
              <a:buNone/>
            </a:pPr>
            <a:r>
              <a:rPr lang="en-US" altLang="zh-CN" dirty="0"/>
              <a:t>	</a:t>
            </a:r>
            <a:r>
              <a:rPr lang="zh-CN" altLang="en-US" dirty="0"/>
              <a:t>早期的电路板主要连接较大体积的分离元器件，由于集成度不高、电路相对不复杂、制造工艺水平不够高，主要以单面板为主。</a:t>
            </a:r>
            <a:endParaRPr lang="en-US" altLang="zh-CN" dirty="0"/>
          </a:p>
        </p:txBody>
      </p:sp>
      <p:pic>
        <p:nvPicPr>
          <p:cNvPr id="7" name="图片 6">
            <a:extLst>
              <a:ext uri="{FF2B5EF4-FFF2-40B4-BE49-F238E27FC236}">
                <a16:creationId xmlns:a16="http://schemas.microsoft.com/office/drawing/2014/main" id="{0E1B510F-7AAF-5A32-D63A-E151924A662F}"/>
              </a:ext>
            </a:extLst>
          </p:cNvPr>
          <p:cNvPicPr>
            <a:picLocks noChangeAspect="1"/>
          </p:cNvPicPr>
          <p:nvPr/>
        </p:nvPicPr>
        <p:blipFill>
          <a:blip r:embed="rId2"/>
          <a:stretch>
            <a:fillRect/>
          </a:stretch>
        </p:blipFill>
        <p:spPr>
          <a:xfrm>
            <a:off x="2124075" y="3778250"/>
            <a:ext cx="7943850" cy="2714625"/>
          </a:xfrm>
          <a:prstGeom prst="rect">
            <a:avLst/>
          </a:prstGeom>
        </p:spPr>
      </p:pic>
      <p:sp>
        <p:nvSpPr>
          <p:cNvPr id="8" name="矩形 7">
            <a:extLst>
              <a:ext uri="{FF2B5EF4-FFF2-40B4-BE49-F238E27FC236}">
                <a16:creationId xmlns:a16="http://schemas.microsoft.com/office/drawing/2014/main" id="{FAAF92EB-3B7D-E767-A5F6-1715ADC4A761}"/>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文本框 8">
            <a:extLst>
              <a:ext uri="{FF2B5EF4-FFF2-40B4-BE49-F238E27FC236}">
                <a16:creationId xmlns:a16="http://schemas.microsoft.com/office/drawing/2014/main" id="{8C8C5074-AACA-0288-710C-3C95B5AE0074}"/>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电路原理图设计</a:t>
            </a:r>
            <a:endParaRPr lang="zh-CN" altLang="en-US" sz="4000" dirty="0">
              <a:solidFill>
                <a:srgbClr val="003F88"/>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86680987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4DE60-1487-D799-CEBA-5DAD33729CD3}"/>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14E3660A-5B12-F12E-A9A9-1858F7A08123}"/>
              </a:ext>
            </a:extLst>
          </p:cNvPr>
          <p:cNvSpPr>
            <a:spLocks noGrp="1"/>
          </p:cNvSpPr>
          <p:nvPr>
            <p:ph idx="1"/>
          </p:nvPr>
        </p:nvSpPr>
        <p:spPr/>
        <p:txBody>
          <a:bodyPr/>
          <a:lstStyle/>
          <a:p>
            <a:pPr marL="0" indent="0">
              <a:buNone/>
            </a:pPr>
            <a:r>
              <a:rPr lang="en-US" altLang="zh-CN" dirty="0"/>
              <a:t>4.</a:t>
            </a:r>
            <a:r>
              <a:rPr lang="zh-CN" altLang="en-US" dirty="0"/>
              <a:t>印制电路板（</a:t>
            </a:r>
            <a:r>
              <a:rPr lang="en-US" altLang="zh-CN" dirty="0"/>
              <a:t>Printed Circuit Board, PCB</a:t>
            </a:r>
            <a:r>
              <a:rPr lang="zh-CN" altLang="en-US" dirty="0"/>
              <a:t>）</a:t>
            </a:r>
            <a:endParaRPr lang="en-US" altLang="zh-CN" dirty="0"/>
          </a:p>
          <a:p>
            <a:pPr marL="0" indent="0">
              <a:buNone/>
            </a:pPr>
            <a:r>
              <a:rPr lang="zh-CN" altLang="en-US" dirty="0"/>
              <a:t>（</a:t>
            </a:r>
            <a:r>
              <a:rPr lang="en-US" altLang="zh-CN" dirty="0"/>
              <a:t>2</a:t>
            </a:r>
            <a:r>
              <a:rPr lang="zh-CN" altLang="en-US" dirty="0"/>
              <a:t>）双面板</a:t>
            </a:r>
            <a:endParaRPr lang="en-US" altLang="zh-CN" dirty="0"/>
          </a:p>
          <a:p>
            <a:pPr marL="0" indent="0">
              <a:buNone/>
            </a:pPr>
            <a:r>
              <a:rPr lang="en-US" altLang="zh-CN" dirty="0"/>
              <a:t>	</a:t>
            </a:r>
            <a:r>
              <a:rPr lang="zh-CN" altLang="en-US" dirty="0"/>
              <a:t>集成电路的出现使电路板的电气连接变得非常复杂，因此出现了双面板，即：正反两面都可以走线的电路板。</a:t>
            </a:r>
            <a:endParaRPr lang="en-US" altLang="zh-CN" dirty="0"/>
          </a:p>
        </p:txBody>
      </p:sp>
      <p:pic>
        <p:nvPicPr>
          <p:cNvPr id="5" name="图片 4">
            <a:extLst>
              <a:ext uri="{FF2B5EF4-FFF2-40B4-BE49-F238E27FC236}">
                <a16:creationId xmlns:a16="http://schemas.microsoft.com/office/drawing/2014/main" id="{2CE8A23C-BE7F-416C-4175-BC79C97E4C8B}"/>
              </a:ext>
            </a:extLst>
          </p:cNvPr>
          <p:cNvPicPr>
            <a:picLocks noChangeAspect="1"/>
          </p:cNvPicPr>
          <p:nvPr/>
        </p:nvPicPr>
        <p:blipFill>
          <a:blip r:embed="rId2"/>
          <a:stretch>
            <a:fillRect/>
          </a:stretch>
        </p:blipFill>
        <p:spPr>
          <a:xfrm>
            <a:off x="3700462" y="3740136"/>
            <a:ext cx="4791075" cy="3019425"/>
          </a:xfrm>
          <a:prstGeom prst="rect">
            <a:avLst/>
          </a:prstGeom>
        </p:spPr>
      </p:pic>
      <p:sp>
        <p:nvSpPr>
          <p:cNvPr id="12" name="矩形 11">
            <a:extLst>
              <a:ext uri="{FF2B5EF4-FFF2-40B4-BE49-F238E27FC236}">
                <a16:creationId xmlns:a16="http://schemas.microsoft.com/office/drawing/2014/main" id="{F8F2ABB7-E70A-F3AE-0931-48719EDDB5E2}"/>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文本框 12">
            <a:extLst>
              <a:ext uri="{FF2B5EF4-FFF2-40B4-BE49-F238E27FC236}">
                <a16:creationId xmlns:a16="http://schemas.microsoft.com/office/drawing/2014/main" id="{2E815B65-7D6D-CBD2-84F5-FAA45BFA2D2A}"/>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电路原理图设计</a:t>
            </a:r>
            <a:endParaRPr lang="zh-CN" altLang="en-US" sz="4000" dirty="0">
              <a:solidFill>
                <a:srgbClr val="003F88"/>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56393161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0DCC2-2AEB-9051-F056-53BC1FF0D246}"/>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FB007754-4A25-C720-141F-241A2A64798B}"/>
              </a:ext>
            </a:extLst>
          </p:cNvPr>
          <p:cNvSpPr>
            <a:spLocks noGrp="1"/>
          </p:cNvSpPr>
          <p:nvPr>
            <p:ph idx="1"/>
          </p:nvPr>
        </p:nvSpPr>
        <p:spPr/>
        <p:txBody>
          <a:bodyPr/>
          <a:lstStyle/>
          <a:p>
            <a:pPr marL="0" indent="0">
              <a:buNone/>
            </a:pPr>
            <a:r>
              <a:rPr lang="en-US" altLang="zh-CN" dirty="0"/>
              <a:t>4.</a:t>
            </a:r>
            <a:r>
              <a:rPr lang="zh-CN" altLang="en-US" dirty="0"/>
              <a:t>印制电路板（</a:t>
            </a:r>
            <a:r>
              <a:rPr lang="en-US" altLang="zh-CN" dirty="0"/>
              <a:t>Printed Circuit Board, PCB</a:t>
            </a:r>
            <a:r>
              <a:rPr lang="zh-CN" altLang="en-US" dirty="0"/>
              <a:t>）</a:t>
            </a:r>
            <a:endParaRPr lang="en-US" altLang="zh-CN" dirty="0"/>
          </a:p>
          <a:p>
            <a:pPr marL="0" indent="0">
              <a:buNone/>
            </a:pPr>
            <a:r>
              <a:rPr lang="zh-CN" altLang="en-US" dirty="0"/>
              <a:t>（</a:t>
            </a:r>
            <a:r>
              <a:rPr lang="en-US" altLang="zh-CN" dirty="0"/>
              <a:t>3</a:t>
            </a:r>
            <a:r>
              <a:rPr lang="zh-CN" altLang="en-US" dirty="0"/>
              <a:t>）多层板</a:t>
            </a:r>
            <a:endParaRPr lang="en-US" altLang="zh-CN" dirty="0"/>
          </a:p>
          <a:p>
            <a:pPr marL="0" indent="0">
              <a:buNone/>
            </a:pPr>
            <a:r>
              <a:rPr lang="en-US" altLang="zh-CN" dirty="0"/>
              <a:t>	</a:t>
            </a:r>
            <a:r>
              <a:rPr lang="zh-CN" altLang="en-US" dirty="0"/>
              <a:t>多层板的特点是除了顶面、底面走线外，板子中间还有走线层。</a:t>
            </a:r>
            <a:endParaRPr lang="en-US" altLang="zh-CN" dirty="0"/>
          </a:p>
        </p:txBody>
      </p:sp>
      <p:pic>
        <p:nvPicPr>
          <p:cNvPr id="5" name="图片 4">
            <a:extLst>
              <a:ext uri="{FF2B5EF4-FFF2-40B4-BE49-F238E27FC236}">
                <a16:creationId xmlns:a16="http://schemas.microsoft.com/office/drawing/2014/main" id="{8FA6537A-A785-4F41-49BD-5D095FB0BD54}"/>
              </a:ext>
            </a:extLst>
          </p:cNvPr>
          <p:cNvPicPr>
            <a:picLocks noChangeAspect="1"/>
          </p:cNvPicPr>
          <p:nvPr/>
        </p:nvPicPr>
        <p:blipFill>
          <a:blip r:embed="rId3"/>
          <a:stretch>
            <a:fillRect/>
          </a:stretch>
        </p:blipFill>
        <p:spPr>
          <a:xfrm>
            <a:off x="3432313" y="3325426"/>
            <a:ext cx="5486400" cy="3419475"/>
          </a:xfrm>
          <a:prstGeom prst="rect">
            <a:avLst/>
          </a:prstGeom>
        </p:spPr>
      </p:pic>
      <p:sp>
        <p:nvSpPr>
          <p:cNvPr id="12" name="矩形 11">
            <a:extLst>
              <a:ext uri="{FF2B5EF4-FFF2-40B4-BE49-F238E27FC236}">
                <a16:creationId xmlns:a16="http://schemas.microsoft.com/office/drawing/2014/main" id="{70E9E86C-B33A-2242-91EA-3AD62632F935}"/>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文本框 12">
            <a:extLst>
              <a:ext uri="{FF2B5EF4-FFF2-40B4-BE49-F238E27FC236}">
                <a16:creationId xmlns:a16="http://schemas.microsoft.com/office/drawing/2014/main" id="{4355FFF5-FE83-0A76-6AF0-BE24A574E878}"/>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电路原理图设计</a:t>
            </a:r>
            <a:endParaRPr lang="zh-CN" altLang="en-US" sz="4000" dirty="0">
              <a:solidFill>
                <a:srgbClr val="003F88"/>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54155531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0DCC2-2AEB-9051-F056-53BC1FF0D246}"/>
            </a:ext>
          </a:extLst>
        </p:cNvPr>
        <p:cNvGrpSpPr/>
        <p:nvPr/>
      </p:nvGrpSpPr>
      <p:grpSpPr>
        <a:xfrm>
          <a:off x="0" y="0"/>
          <a:ext cx="0" cy="0"/>
          <a:chOff x="0" y="0"/>
          <a:chExt cx="0" cy="0"/>
        </a:xfrm>
      </p:grpSpPr>
      <p:pic>
        <p:nvPicPr>
          <p:cNvPr id="4" name="Picture 2" descr="iPhone12及iPhone 12 Pro拆解全家福">
            <a:extLst>
              <a:ext uri="{FF2B5EF4-FFF2-40B4-BE49-F238E27FC236}">
                <a16:creationId xmlns:a16="http://schemas.microsoft.com/office/drawing/2014/main" id="{299B0E2A-6469-CCE2-8D64-A36659D3743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739" t="8575" r="4218" b="12153"/>
          <a:stretch/>
        </p:blipFill>
        <p:spPr bwMode="auto">
          <a:xfrm>
            <a:off x="6514570" y="2386534"/>
            <a:ext cx="5550011" cy="3624357"/>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264EE3AB-58CC-CDC2-DEE3-F1233FD0CA7A}"/>
              </a:ext>
            </a:extLst>
          </p:cNvPr>
          <p:cNvSpPr txBox="1"/>
          <p:nvPr/>
        </p:nvSpPr>
        <p:spPr>
          <a:xfrm>
            <a:off x="4046109" y="6176963"/>
            <a:ext cx="4099781" cy="369332"/>
          </a:xfrm>
          <a:prstGeom prst="rect">
            <a:avLst/>
          </a:prstGeom>
          <a:noFill/>
        </p:spPr>
        <p:txBody>
          <a:bodyPr wrap="square" rtlCol="0">
            <a:spAutoFit/>
          </a:bodyPr>
          <a:lstStyle/>
          <a:p>
            <a:pPr algn="ctr"/>
            <a:r>
              <a:rPr lang="en-US" altLang="zh-CN" b="1" dirty="0" err="1"/>
              <a:t>iphone</a:t>
            </a:r>
            <a:r>
              <a:rPr lang="en-US" altLang="zh-CN" b="1" dirty="0"/>
              <a:t> 12</a:t>
            </a:r>
            <a:r>
              <a:rPr lang="zh-CN" altLang="en-US" b="1" dirty="0"/>
              <a:t>和</a:t>
            </a:r>
            <a:r>
              <a:rPr lang="en-US" altLang="zh-CN" b="1" dirty="0" err="1"/>
              <a:t>iphone</a:t>
            </a:r>
            <a:r>
              <a:rPr lang="en-US" altLang="zh-CN" b="1" dirty="0"/>
              <a:t> 12 Pro</a:t>
            </a:r>
            <a:r>
              <a:rPr lang="zh-CN" altLang="en-US" b="1" dirty="0"/>
              <a:t>的拆机图</a:t>
            </a:r>
          </a:p>
        </p:txBody>
      </p:sp>
      <p:pic>
        <p:nvPicPr>
          <p:cNvPr id="7" name="Picture 4">
            <a:extLst>
              <a:ext uri="{FF2B5EF4-FFF2-40B4-BE49-F238E27FC236}">
                <a16:creationId xmlns:a16="http://schemas.microsoft.com/office/drawing/2014/main" id="{443409B1-A9FF-3B0D-DB69-C0A1B48590D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264" y="3147153"/>
            <a:ext cx="2804160" cy="210312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6">
            <a:extLst>
              <a:ext uri="{FF2B5EF4-FFF2-40B4-BE49-F238E27FC236}">
                <a16:creationId xmlns:a16="http://schemas.microsoft.com/office/drawing/2014/main" id="{82F44A5C-A912-8003-DC72-3B74A2B0268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02424" y="2819493"/>
            <a:ext cx="3677920" cy="2758440"/>
          </a:xfrm>
          <a:prstGeom prst="rect">
            <a:avLst/>
          </a:prstGeom>
          <a:noFill/>
          <a:extLst>
            <a:ext uri="{909E8E84-426E-40DD-AFC4-6F175D3DCCD1}">
              <a14:hiddenFill xmlns:a14="http://schemas.microsoft.com/office/drawing/2010/main">
                <a:solidFill>
                  <a:srgbClr val="FFFFFF"/>
                </a:solidFill>
              </a14:hiddenFill>
            </a:ext>
          </a:extLst>
        </p:spPr>
      </p:pic>
      <p:sp>
        <p:nvSpPr>
          <p:cNvPr id="13" name="文本框 12">
            <a:extLst>
              <a:ext uri="{FF2B5EF4-FFF2-40B4-BE49-F238E27FC236}">
                <a16:creationId xmlns:a16="http://schemas.microsoft.com/office/drawing/2014/main" id="{1609FD45-7988-006E-2BD5-7785CF334BBA}"/>
              </a:ext>
            </a:extLst>
          </p:cNvPr>
          <p:cNvSpPr txBox="1"/>
          <p:nvPr/>
        </p:nvSpPr>
        <p:spPr>
          <a:xfrm>
            <a:off x="8012885" y="1553653"/>
            <a:ext cx="3918691" cy="369332"/>
          </a:xfrm>
          <a:prstGeom prst="rect">
            <a:avLst/>
          </a:prstGeom>
          <a:noFill/>
        </p:spPr>
        <p:txBody>
          <a:bodyPr wrap="square" rtlCol="0">
            <a:spAutoFit/>
          </a:bodyPr>
          <a:lstStyle/>
          <a:p>
            <a:pPr algn="ctr"/>
            <a:r>
              <a:rPr lang="en-US" altLang="zh-CN" b="1" dirty="0" err="1">
                <a:solidFill>
                  <a:srgbClr val="FF0000"/>
                </a:solidFill>
              </a:rPr>
              <a:t>iphone</a:t>
            </a:r>
            <a:r>
              <a:rPr lang="en-US" altLang="zh-CN" b="1" dirty="0">
                <a:solidFill>
                  <a:srgbClr val="FF0000"/>
                </a:solidFill>
              </a:rPr>
              <a:t> 12 </a:t>
            </a:r>
            <a:r>
              <a:rPr lang="zh-CN" altLang="en-US" b="1" dirty="0">
                <a:solidFill>
                  <a:srgbClr val="FF0000"/>
                </a:solidFill>
              </a:rPr>
              <a:t>和</a:t>
            </a:r>
            <a:r>
              <a:rPr lang="en-US" altLang="zh-CN" b="1" dirty="0" err="1">
                <a:solidFill>
                  <a:srgbClr val="FF0000"/>
                </a:solidFill>
              </a:rPr>
              <a:t>iphone</a:t>
            </a:r>
            <a:r>
              <a:rPr lang="en-US" altLang="zh-CN" b="1" dirty="0">
                <a:solidFill>
                  <a:srgbClr val="FF0000"/>
                </a:solidFill>
              </a:rPr>
              <a:t> 12 pro</a:t>
            </a:r>
            <a:r>
              <a:rPr lang="zh-CN" altLang="en-US" b="1" dirty="0">
                <a:solidFill>
                  <a:srgbClr val="FF0000"/>
                </a:solidFill>
              </a:rPr>
              <a:t>的主板</a:t>
            </a:r>
          </a:p>
        </p:txBody>
      </p:sp>
      <p:cxnSp>
        <p:nvCxnSpPr>
          <p:cNvPr id="15" name="直接箭头连接符 14">
            <a:extLst>
              <a:ext uri="{FF2B5EF4-FFF2-40B4-BE49-F238E27FC236}">
                <a16:creationId xmlns:a16="http://schemas.microsoft.com/office/drawing/2014/main" id="{5BE8FA2D-4C6D-EABC-59BA-968C86D5C444}"/>
              </a:ext>
            </a:extLst>
          </p:cNvPr>
          <p:cNvCxnSpPr>
            <a:cxnSpLocks/>
            <a:stCxn id="13" idx="2"/>
          </p:cNvCxnSpPr>
          <p:nvPr/>
        </p:nvCxnSpPr>
        <p:spPr>
          <a:xfrm flipH="1">
            <a:off x="8651223" y="1922985"/>
            <a:ext cx="1321008" cy="9562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D45FCFBB-03BA-E731-2528-EB5095963814}"/>
              </a:ext>
            </a:extLst>
          </p:cNvPr>
          <p:cNvCxnSpPr>
            <a:cxnSpLocks/>
          </p:cNvCxnSpPr>
          <p:nvPr/>
        </p:nvCxnSpPr>
        <p:spPr>
          <a:xfrm flipH="1">
            <a:off x="9796007" y="1922985"/>
            <a:ext cx="185319" cy="23414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5FFF91A4-C99E-0430-F7D7-8D73BBF111C3}"/>
              </a:ext>
            </a:extLst>
          </p:cNvPr>
          <p:cNvSpPr txBox="1"/>
          <p:nvPr/>
        </p:nvSpPr>
        <p:spPr>
          <a:xfrm>
            <a:off x="8092219" y="6594001"/>
            <a:ext cx="4099781" cy="261610"/>
          </a:xfrm>
          <a:prstGeom prst="rect">
            <a:avLst/>
          </a:prstGeom>
          <a:noFill/>
        </p:spPr>
        <p:txBody>
          <a:bodyPr wrap="square" rtlCol="0">
            <a:spAutoFit/>
          </a:bodyPr>
          <a:lstStyle/>
          <a:p>
            <a:pPr algn="r"/>
            <a:r>
              <a:rPr lang="en-US" altLang="zh-CN" sz="1100" dirty="0">
                <a:latin typeface="宋体" panose="02010600030101010101" pitchFamily="2" charset="-122"/>
                <a:ea typeface="宋体" panose="02010600030101010101" pitchFamily="2" charset="-122"/>
              </a:rPr>
              <a:t>*</a:t>
            </a:r>
            <a:r>
              <a:rPr lang="zh-CN" altLang="en-US" sz="1100" dirty="0">
                <a:latin typeface="宋体" panose="02010600030101010101" pitchFamily="2" charset="-122"/>
                <a:ea typeface="宋体" panose="02010600030101010101" pitchFamily="2" charset="-122"/>
              </a:rPr>
              <a:t>图片来源于网络</a:t>
            </a:r>
          </a:p>
        </p:txBody>
      </p:sp>
      <p:sp>
        <p:nvSpPr>
          <p:cNvPr id="17" name="矩形 16">
            <a:extLst>
              <a:ext uri="{FF2B5EF4-FFF2-40B4-BE49-F238E27FC236}">
                <a16:creationId xmlns:a16="http://schemas.microsoft.com/office/drawing/2014/main" id="{52E4A2CF-1068-A219-1AB1-F6F09A3DF47F}"/>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文本框 17">
            <a:extLst>
              <a:ext uri="{FF2B5EF4-FFF2-40B4-BE49-F238E27FC236}">
                <a16:creationId xmlns:a16="http://schemas.microsoft.com/office/drawing/2014/main" id="{A59E1469-BC00-C4A6-1A28-570CCEEB2072}"/>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电路原理图设计</a:t>
            </a:r>
            <a:endParaRPr lang="zh-CN" altLang="en-US" sz="4000" dirty="0">
              <a:solidFill>
                <a:srgbClr val="003F88"/>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7884551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0DCC2-2AEB-9051-F056-53BC1FF0D246}"/>
            </a:ext>
          </a:extLst>
        </p:cNvPr>
        <p:cNvGrpSpPr/>
        <p:nvPr/>
      </p:nvGrpSpPr>
      <p:grpSpPr>
        <a:xfrm>
          <a:off x="0" y="0"/>
          <a:ext cx="0" cy="0"/>
          <a:chOff x="0" y="0"/>
          <a:chExt cx="0" cy="0"/>
        </a:xfrm>
      </p:grpSpPr>
      <p:pic>
        <p:nvPicPr>
          <p:cNvPr id="17" name="Picture 2">
            <a:extLst>
              <a:ext uri="{FF2B5EF4-FFF2-40B4-BE49-F238E27FC236}">
                <a16:creationId xmlns:a16="http://schemas.microsoft.com/office/drawing/2014/main" id="{5A05DC5B-1D2B-8886-ECD1-757D16DC449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594" t="5937" r="8977" b="3980"/>
          <a:stretch/>
        </p:blipFill>
        <p:spPr bwMode="auto">
          <a:xfrm>
            <a:off x="6895367" y="1756408"/>
            <a:ext cx="5296633" cy="4289366"/>
          </a:xfrm>
          <a:prstGeom prst="rect">
            <a:avLst/>
          </a:prstGeom>
          <a:noFill/>
          <a:extLst>
            <a:ext uri="{909E8E84-426E-40DD-AFC4-6F175D3DCCD1}">
              <a14:hiddenFill xmlns:a14="http://schemas.microsoft.com/office/drawing/2010/main">
                <a:solidFill>
                  <a:srgbClr val="FFFFFF"/>
                </a:solidFill>
              </a14:hiddenFill>
            </a:ext>
          </a:extLst>
        </p:spPr>
      </p:pic>
      <p:pic>
        <p:nvPicPr>
          <p:cNvPr id="18" name="内容占位符 6">
            <a:extLst>
              <a:ext uri="{FF2B5EF4-FFF2-40B4-BE49-F238E27FC236}">
                <a16:creationId xmlns:a16="http://schemas.microsoft.com/office/drawing/2014/main" id="{074294B9-E919-0D7F-DD40-FA007F6C16DB}"/>
              </a:ext>
            </a:extLst>
          </p:cNvPr>
          <p:cNvPicPr>
            <a:picLocks noChangeAspect="1"/>
          </p:cNvPicPr>
          <p:nvPr/>
        </p:nvPicPr>
        <p:blipFill rotWithShape="1">
          <a:blip r:embed="rId4">
            <a:extLst>
              <a:ext uri="{28A0092B-C50C-407E-A947-70E740481C1C}">
                <a14:useLocalDpi xmlns:a14="http://schemas.microsoft.com/office/drawing/2010/main" val="0"/>
              </a:ext>
            </a:extLst>
          </a:blip>
          <a:srcRect l="1784" t="9870" r="1769"/>
          <a:stretch/>
        </p:blipFill>
        <p:spPr>
          <a:xfrm>
            <a:off x="0" y="2965837"/>
            <a:ext cx="4285884" cy="2325580"/>
          </a:xfrm>
          <a:prstGeom prst="rect">
            <a:avLst/>
          </a:prstGeom>
        </p:spPr>
      </p:pic>
      <p:sp>
        <p:nvSpPr>
          <p:cNvPr id="5" name="文本框 4">
            <a:extLst>
              <a:ext uri="{FF2B5EF4-FFF2-40B4-BE49-F238E27FC236}">
                <a16:creationId xmlns:a16="http://schemas.microsoft.com/office/drawing/2014/main" id="{B66D09F2-1AE7-C789-5E88-3B122A6994DA}"/>
              </a:ext>
            </a:extLst>
          </p:cNvPr>
          <p:cNvSpPr txBox="1"/>
          <p:nvPr/>
        </p:nvSpPr>
        <p:spPr>
          <a:xfrm>
            <a:off x="953824" y="5489964"/>
            <a:ext cx="2378235" cy="369332"/>
          </a:xfrm>
          <a:prstGeom prst="rect">
            <a:avLst/>
          </a:prstGeom>
          <a:noFill/>
        </p:spPr>
        <p:txBody>
          <a:bodyPr wrap="square" rtlCol="0">
            <a:spAutoFit/>
          </a:bodyPr>
          <a:lstStyle/>
          <a:p>
            <a:pPr algn="ctr"/>
            <a:r>
              <a:rPr lang="en-US" altLang="zh-CN" b="1" dirty="0" err="1"/>
              <a:t>iPhoneX</a:t>
            </a:r>
            <a:r>
              <a:rPr lang="zh-CN" altLang="en-US" b="1" dirty="0"/>
              <a:t>主板之一</a:t>
            </a:r>
          </a:p>
        </p:txBody>
      </p:sp>
      <p:pic>
        <p:nvPicPr>
          <p:cNvPr id="14" name="图片 13">
            <a:extLst>
              <a:ext uri="{FF2B5EF4-FFF2-40B4-BE49-F238E27FC236}">
                <a16:creationId xmlns:a16="http://schemas.microsoft.com/office/drawing/2014/main" id="{05B36C7F-AA4F-DF20-559A-B433312F5270}"/>
              </a:ext>
            </a:extLst>
          </p:cNvPr>
          <p:cNvPicPr>
            <a:picLocks noChangeAspect="1"/>
          </p:cNvPicPr>
          <p:nvPr/>
        </p:nvPicPr>
        <p:blipFill>
          <a:blip r:embed="rId5"/>
          <a:stretch>
            <a:fillRect/>
          </a:stretch>
        </p:blipFill>
        <p:spPr>
          <a:xfrm>
            <a:off x="4401508" y="2390989"/>
            <a:ext cx="2456939" cy="3475276"/>
          </a:xfrm>
          <a:prstGeom prst="rect">
            <a:avLst/>
          </a:prstGeom>
        </p:spPr>
      </p:pic>
      <p:sp>
        <p:nvSpPr>
          <p:cNvPr id="19" name="文本框 18">
            <a:extLst>
              <a:ext uri="{FF2B5EF4-FFF2-40B4-BE49-F238E27FC236}">
                <a16:creationId xmlns:a16="http://schemas.microsoft.com/office/drawing/2014/main" id="{54515E6B-4905-FB87-C01B-E41B475D69D1}"/>
              </a:ext>
            </a:extLst>
          </p:cNvPr>
          <p:cNvSpPr txBox="1"/>
          <p:nvPr/>
        </p:nvSpPr>
        <p:spPr>
          <a:xfrm>
            <a:off x="6218551" y="6322634"/>
            <a:ext cx="2378235" cy="369332"/>
          </a:xfrm>
          <a:prstGeom prst="rect">
            <a:avLst/>
          </a:prstGeom>
          <a:noFill/>
        </p:spPr>
        <p:txBody>
          <a:bodyPr wrap="square" rtlCol="0">
            <a:spAutoFit/>
          </a:bodyPr>
          <a:lstStyle/>
          <a:p>
            <a:pPr algn="ctr"/>
            <a:r>
              <a:rPr lang="en-US" altLang="zh-CN" b="1" dirty="0"/>
              <a:t>Apple</a:t>
            </a:r>
            <a:r>
              <a:rPr lang="zh-CN" altLang="en-US" b="1" dirty="0"/>
              <a:t>产品内部主板</a:t>
            </a:r>
          </a:p>
        </p:txBody>
      </p:sp>
      <p:sp>
        <p:nvSpPr>
          <p:cNvPr id="12" name="矩形 11">
            <a:extLst>
              <a:ext uri="{FF2B5EF4-FFF2-40B4-BE49-F238E27FC236}">
                <a16:creationId xmlns:a16="http://schemas.microsoft.com/office/drawing/2014/main" id="{354DA04C-8942-9596-E323-808CF5BAAC5F}"/>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文本框 12">
            <a:extLst>
              <a:ext uri="{FF2B5EF4-FFF2-40B4-BE49-F238E27FC236}">
                <a16:creationId xmlns:a16="http://schemas.microsoft.com/office/drawing/2014/main" id="{0489D0A6-AB97-242D-7A2C-3D9CFC38F2CE}"/>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电路原理图设计</a:t>
            </a:r>
            <a:endParaRPr lang="zh-CN" altLang="en-US" sz="4000" dirty="0">
              <a:solidFill>
                <a:srgbClr val="003F88"/>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79115500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AA9AB-021F-2E55-7487-75C93D828658}"/>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ED431ECC-D51E-7CEC-3978-C2B50173F862}"/>
              </a:ext>
            </a:extLst>
          </p:cNvPr>
          <p:cNvSpPr>
            <a:spLocks noGrp="1"/>
          </p:cNvSpPr>
          <p:nvPr>
            <p:ph idx="1"/>
          </p:nvPr>
        </p:nvSpPr>
        <p:spPr/>
        <p:txBody>
          <a:bodyPr/>
          <a:lstStyle/>
          <a:p>
            <a:pPr marL="0" indent="0">
              <a:buNone/>
            </a:pPr>
            <a:r>
              <a:rPr lang="zh-CN" altLang="en-US" dirty="0"/>
              <a:t>（三）电路板设计的一般步骤</a:t>
            </a:r>
            <a:endParaRPr lang="en-US" altLang="zh-CN" dirty="0"/>
          </a:p>
          <a:p>
            <a:pPr marL="0" indent="0">
              <a:buNone/>
            </a:pPr>
            <a:r>
              <a:rPr lang="en-US" altLang="zh-CN" dirty="0"/>
              <a:t>	</a:t>
            </a:r>
            <a:r>
              <a:rPr lang="zh-CN" altLang="en-US" dirty="0"/>
              <a:t>★建立</a:t>
            </a:r>
            <a:r>
              <a:rPr lang="en-US" altLang="zh-CN" dirty="0"/>
              <a:t>PCB</a:t>
            </a:r>
            <a:r>
              <a:rPr lang="zh-CN" altLang="en-US" dirty="0"/>
              <a:t>设计工程文件</a:t>
            </a:r>
            <a:r>
              <a:rPr lang="zh-CN" altLang="en-US" dirty="0">
                <a:sym typeface="Wingdings" panose="05000000000000000000" pitchFamily="2" charset="2"/>
              </a:rPr>
              <a:t>（</a:t>
            </a:r>
            <a:r>
              <a:rPr lang="en-US" altLang="zh-CN" dirty="0">
                <a:sym typeface="Wingdings" panose="05000000000000000000" pitchFamily="2" charset="2"/>
              </a:rPr>
              <a:t>.</a:t>
            </a:r>
            <a:r>
              <a:rPr lang="en-US" altLang="zh-CN" dirty="0" err="1">
                <a:sym typeface="Wingdings" panose="05000000000000000000" pitchFamily="2" charset="2"/>
              </a:rPr>
              <a:t>PrjPcb</a:t>
            </a:r>
            <a:r>
              <a:rPr lang="zh-CN" altLang="en-US" dirty="0">
                <a:sym typeface="Wingdings" panose="05000000000000000000" pitchFamily="2" charset="2"/>
              </a:rPr>
              <a:t>文件）；</a:t>
            </a:r>
            <a:endParaRPr lang="en-US" altLang="zh-CN" dirty="0">
              <a:sym typeface="Wingdings" panose="05000000000000000000" pitchFamily="2" charset="2"/>
            </a:endParaRPr>
          </a:p>
          <a:p>
            <a:pPr marL="0" indent="0">
              <a:buNone/>
            </a:pPr>
            <a:r>
              <a:rPr lang="en-US" altLang="zh-CN" dirty="0">
                <a:sym typeface="Wingdings" panose="05000000000000000000" pitchFamily="2" charset="2"/>
              </a:rPr>
              <a:t>	</a:t>
            </a:r>
            <a:r>
              <a:rPr lang="zh-CN" altLang="en-US" dirty="0"/>
              <a:t>★绘制电路原理图，对元件属性赋值（</a:t>
            </a:r>
            <a:r>
              <a:rPr lang="en-US" altLang="zh-CN" dirty="0"/>
              <a:t>.</a:t>
            </a:r>
            <a:r>
              <a:rPr lang="en-US" altLang="zh-CN" dirty="0" err="1"/>
              <a:t>SchDoc</a:t>
            </a:r>
            <a:r>
              <a:rPr lang="zh-CN" altLang="en-US" dirty="0"/>
              <a:t>文件）；</a:t>
            </a:r>
            <a:endParaRPr lang="en-US" altLang="zh-CN" dirty="0"/>
          </a:p>
          <a:p>
            <a:pPr marL="0" indent="0">
              <a:buNone/>
            </a:pPr>
            <a:r>
              <a:rPr lang="en-US" altLang="zh-CN" dirty="0">
                <a:sym typeface="Wingdings" panose="05000000000000000000" pitchFamily="2" charset="2"/>
              </a:rPr>
              <a:t>	</a:t>
            </a:r>
            <a:r>
              <a:rPr lang="zh-CN" altLang="en-US" dirty="0"/>
              <a:t>★生成网络表（</a:t>
            </a:r>
            <a:r>
              <a:rPr lang="en-US" altLang="zh-CN" dirty="0" err="1"/>
              <a:t>.Net</a:t>
            </a:r>
            <a:r>
              <a:rPr lang="zh-CN" altLang="en-US" dirty="0"/>
              <a:t>文件，系统自动生成）；</a:t>
            </a:r>
            <a:endParaRPr lang="en-US" altLang="zh-CN" dirty="0"/>
          </a:p>
          <a:p>
            <a:pPr marL="0" indent="0">
              <a:buNone/>
            </a:pPr>
            <a:r>
              <a:rPr lang="en-US" altLang="zh-CN" dirty="0">
                <a:sym typeface="Wingdings" panose="05000000000000000000" pitchFamily="2" charset="2"/>
              </a:rPr>
              <a:t>	</a:t>
            </a:r>
            <a:r>
              <a:rPr lang="zh-CN" altLang="en-US" dirty="0"/>
              <a:t>★建立</a:t>
            </a:r>
            <a:r>
              <a:rPr lang="en-US" altLang="zh-CN" dirty="0"/>
              <a:t>PCB</a:t>
            </a:r>
            <a:r>
              <a:rPr lang="zh-CN" altLang="en-US" dirty="0"/>
              <a:t>文件，绘制板框</a:t>
            </a:r>
            <a:r>
              <a:rPr lang="zh-CN" altLang="en-US" dirty="0">
                <a:sym typeface="Wingdings" panose="05000000000000000000" pitchFamily="2" charset="2"/>
              </a:rPr>
              <a:t>：（</a:t>
            </a:r>
            <a:r>
              <a:rPr lang="en-US" altLang="zh-CN" dirty="0">
                <a:sym typeface="Wingdings" panose="05000000000000000000" pitchFamily="2" charset="2"/>
              </a:rPr>
              <a:t>.</a:t>
            </a:r>
            <a:r>
              <a:rPr lang="en-US" altLang="zh-CN" dirty="0" err="1">
                <a:sym typeface="Wingdings" panose="05000000000000000000" pitchFamily="2" charset="2"/>
              </a:rPr>
              <a:t>PcbDoc</a:t>
            </a:r>
            <a:r>
              <a:rPr lang="zh-CN" altLang="en-US" dirty="0">
                <a:sym typeface="Wingdings" panose="05000000000000000000" pitchFamily="2" charset="2"/>
              </a:rPr>
              <a:t>文件）；</a:t>
            </a:r>
            <a:endParaRPr lang="en-US" altLang="zh-CN" dirty="0"/>
          </a:p>
          <a:p>
            <a:pPr marL="0" indent="0">
              <a:buNone/>
            </a:pPr>
            <a:r>
              <a:rPr lang="en-US" altLang="zh-CN" dirty="0">
                <a:sym typeface="Wingdings" panose="05000000000000000000" pitchFamily="2" charset="2"/>
              </a:rPr>
              <a:t>	</a:t>
            </a:r>
            <a:r>
              <a:rPr lang="zh-CN" altLang="en-US" dirty="0"/>
              <a:t>★调入网络表，完成元器件位置布置；</a:t>
            </a:r>
            <a:endParaRPr lang="en-US" altLang="zh-CN" dirty="0"/>
          </a:p>
          <a:p>
            <a:pPr marL="0" indent="0">
              <a:buNone/>
            </a:pPr>
            <a:r>
              <a:rPr lang="en-US" altLang="zh-CN" dirty="0">
                <a:sym typeface="Wingdings" panose="05000000000000000000" pitchFamily="2" charset="2"/>
              </a:rPr>
              <a:t>	</a:t>
            </a:r>
            <a:r>
              <a:rPr lang="zh-CN" altLang="en-US" dirty="0"/>
              <a:t>★设置布线规则，布线；</a:t>
            </a:r>
            <a:endParaRPr lang="en-US" altLang="zh-CN" dirty="0"/>
          </a:p>
          <a:p>
            <a:pPr marL="0" indent="0">
              <a:buNone/>
            </a:pPr>
            <a:r>
              <a:rPr lang="en-US" altLang="zh-CN" dirty="0">
                <a:sym typeface="Wingdings" panose="05000000000000000000" pitchFamily="2" charset="2"/>
              </a:rPr>
              <a:t>	</a:t>
            </a:r>
            <a:r>
              <a:rPr lang="zh-CN" altLang="en-US" dirty="0"/>
              <a:t>★电路板规则检查。</a:t>
            </a:r>
            <a:endParaRPr lang="en-US" altLang="zh-CN" dirty="0"/>
          </a:p>
        </p:txBody>
      </p:sp>
      <p:sp>
        <p:nvSpPr>
          <p:cNvPr id="7" name="矩形 6">
            <a:extLst>
              <a:ext uri="{FF2B5EF4-FFF2-40B4-BE49-F238E27FC236}">
                <a16:creationId xmlns:a16="http://schemas.microsoft.com/office/drawing/2014/main" id="{319B5F17-0440-DF68-0BC2-36D480B09DF8}"/>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文本框 11">
            <a:extLst>
              <a:ext uri="{FF2B5EF4-FFF2-40B4-BE49-F238E27FC236}">
                <a16:creationId xmlns:a16="http://schemas.microsoft.com/office/drawing/2014/main" id="{ED102598-95D2-48BD-C4BD-284C121EFED9}"/>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电路原理图设计</a:t>
            </a:r>
            <a:endParaRPr lang="zh-CN" altLang="en-US" sz="4000" dirty="0">
              <a:solidFill>
                <a:srgbClr val="003F88"/>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34343106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5265DCF9-85D2-AEFE-55AB-05DEDFC7E6FB}"/>
              </a:ext>
            </a:extLst>
          </p:cNvPr>
          <p:cNvPicPr>
            <a:picLocks noChangeAspect="1"/>
          </p:cNvPicPr>
          <p:nvPr/>
        </p:nvPicPr>
        <p:blipFill>
          <a:blip r:embed="rId3"/>
          <a:stretch>
            <a:fillRect/>
          </a:stretch>
        </p:blipFill>
        <p:spPr>
          <a:xfrm>
            <a:off x="2324100" y="1787656"/>
            <a:ext cx="7543800" cy="4143375"/>
          </a:xfrm>
          <a:prstGeom prst="rect">
            <a:avLst/>
          </a:prstGeom>
        </p:spPr>
      </p:pic>
      <p:sp>
        <p:nvSpPr>
          <p:cNvPr id="7" name="矩形 6">
            <a:extLst>
              <a:ext uri="{FF2B5EF4-FFF2-40B4-BE49-F238E27FC236}">
                <a16:creationId xmlns:a16="http://schemas.microsoft.com/office/drawing/2014/main" id="{4BD42DF9-606E-5AFA-919F-F6061384CFF4}"/>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文本框 11">
            <a:extLst>
              <a:ext uri="{FF2B5EF4-FFF2-40B4-BE49-F238E27FC236}">
                <a16:creationId xmlns:a16="http://schemas.microsoft.com/office/drawing/2014/main" id="{5C25E184-74B4-E6DD-2DE8-3F8B787D648F}"/>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电路原理图设计</a:t>
            </a:r>
            <a:endParaRPr lang="zh-CN" altLang="en-US" sz="4000" dirty="0">
              <a:solidFill>
                <a:srgbClr val="003F88"/>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36763361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597B672-EF31-7076-E048-8D297E281420}"/>
              </a:ext>
            </a:extLst>
          </p:cNvPr>
          <p:cNvSpPr>
            <a:spLocks noGrp="1"/>
          </p:cNvSpPr>
          <p:nvPr>
            <p:ph idx="1"/>
          </p:nvPr>
        </p:nvSpPr>
        <p:spPr>
          <a:xfrm>
            <a:off x="838200" y="1825625"/>
            <a:ext cx="11353800" cy="5032375"/>
          </a:xfrm>
        </p:spPr>
        <p:txBody>
          <a:bodyPr>
            <a:normAutofit/>
          </a:bodyPr>
          <a:lstStyle/>
          <a:p>
            <a:pPr marL="0" indent="0">
              <a:buNone/>
            </a:pPr>
            <a:r>
              <a:rPr lang="zh-CN" altLang="en-US" dirty="0"/>
              <a:t>（四）两种库文件：</a:t>
            </a:r>
            <a:r>
              <a:rPr lang="zh-CN" altLang="en-US" b="1" u="sng" dirty="0"/>
              <a:t>原理图</a:t>
            </a:r>
            <a:r>
              <a:rPr lang="zh-CN" altLang="en-US" u="sng" dirty="0"/>
              <a:t>库文件</a:t>
            </a:r>
            <a:r>
              <a:rPr lang="zh-CN" altLang="en-US" dirty="0"/>
              <a:t>和</a:t>
            </a:r>
            <a:r>
              <a:rPr lang="zh-CN" altLang="en-US" b="1" u="sng" dirty="0"/>
              <a:t>封装</a:t>
            </a:r>
            <a:r>
              <a:rPr lang="zh-CN" altLang="en-US" u="sng" dirty="0"/>
              <a:t>库文件</a:t>
            </a:r>
            <a:endParaRPr lang="en-US" altLang="zh-CN" u="sng" dirty="0"/>
          </a:p>
          <a:p>
            <a:pPr marL="0" indent="720000">
              <a:buNone/>
            </a:pPr>
            <a:r>
              <a:rPr lang="zh-CN" altLang="en-US" b="1" dirty="0"/>
              <a:t>原理图库文件</a:t>
            </a:r>
            <a:r>
              <a:rPr lang="zh-CN" altLang="en-US" dirty="0"/>
              <a:t>中存放的是原理图中用的元器件，这个元器件</a:t>
            </a:r>
            <a:r>
              <a:rPr lang="zh-CN" altLang="en-US" u="sng" dirty="0"/>
              <a:t>仅表示了原理，它和器件的外形和几何尺寸没有关系</a:t>
            </a:r>
            <a:r>
              <a:rPr lang="zh-CN" altLang="en-US" dirty="0"/>
              <a:t>，甚至有些不用或通用的管脚可以不画出来。</a:t>
            </a:r>
            <a:endParaRPr lang="en-US" altLang="zh-CN" dirty="0"/>
          </a:p>
          <a:p>
            <a:pPr marL="0" indent="720000">
              <a:lnSpc>
                <a:spcPct val="100000"/>
              </a:lnSpc>
              <a:buNone/>
            </a:pPr>
            <a:r>
              <a:rPr lang="zh-CN" altLang="en-US" b="1" dirty="0"/>
              <a:t>封装库文件</a:t>
            </a:r>
            <a:r>
              <a:rPr lang="zh-CN" altLang="en-US" dirty="0"/>
              <a:t>中存放的是元器件在电路板上的</a:t>
            </a:r>
            <a:r>
              <a:rPr lang="zh-CN" altLang="en-US" u="sng" dirty="0"/>
              <a:t>安装尺寸和焊接点</a:t>
            </a:r>
            <a:r>
              <a:rPr lang="zh-CN" altLang="en-US" dirty="0"/>
              <a:t>图形，这个图形不仅表示了某个器件，还</a:t>
            </a:r>
            <a:r>
              <a:rPr lang="zh-CN" altLang="en-US" u="sng" dirty="0"/>
              <a:t>和器件实物的外形和几何尺寸完成对应</a:t>
            </a:r>
            <a:r>
              <a:rPr lang="zh-CN" altLang="en-US" dirty="0"/>
              <a:t>，所有的管脚都必须画出来，不能缺少，否则器件将无法安装焊接。</a:t>
            </a:r>
            <a:endParaRPr lang="en-US" altLang="zh-CN" dirty="0"/>
          </a:p>
          <a:p>
            <a:pPr marL="0" indent="0">
              <a:buNone/>
            </a:pPr>
            <a:r>
              <a:rPr lang="en-US" altLang="zh-CN" dirty="0"/>
              <a:t>■ </a:t>
            </a:r>
            <a:r>
              <a:rPr lang="zh-CN" altLang="en-US" dirty="0"/>
              <a:t>一个型号的器件可以有几个不同的封装，使用时要确定一个；</a:t>
            </a:r>
            <a:endParaRPr lang="en-US" altLang="zh-CN" dirty="0"/>
          </a:p>
          <a:p>
            <a:pPr marL="0" indent="0">
              <a:buNone/>
            </a:pPr>
            <a:r>
              <a:rPr lang="en-US" altLang="zh-CN" dirty="0"/>
              <a:t>■ </a:t>
            </a:r>
            <a:r>
              <a:rPr lang="zh-CN" altLang="en-US" dirty="0"/>
              <a:t>不同型号的器件可以有相同的封装形式；</a:t>
            </a:r>
            <a:endParaRPr lang="en-US" altLang="zh-CN" dirty="0"/>
          </a:p>
          <a:p>
            <a:pPr marL="0" indent="0">
              <a:buNone/>
            </a:pPr>
            <a:r>
              <a:rPr lang="en-US" altLang="zh-CN" dirty="0"/>
              <a:t>■ </a:t>
            </a:r>
            <a:r>
              <a:rPr lang="zh-CN" altLang="en-US" dirty="0"/>
              <a:t>原理图中元器件的管脚序号必须与封装库中对应封装引脚的序号一致。</a:t>
            </a:r>
          </a:p>
        </p:txBody>
      </p:sp>
      <p:sp>
        <p:nvSpPr>
          <p:cNvPr id="13" name="矩形 12">
            <a:extLst>
              <a:ext uri="{FF2B5EF4-FFF2-40B4-BE49-F238E27FC236}">
                <a16:creationId xmlns:a16="http://schemas.microsoft.com/office/drawing/2014/main" id="{B761A131-53BA-205D-B740-975500D9D846}"/>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文本框 13">
            <a:extLst>
              <a:ext uri="{FF2B5EF4-FFF2-40B4-BE49-F238E27FC236}">
                <a16:creationId xmlns:a16="http://schemas.microsoft.com/office/drawing/2014/main" id="{B6EE092C-C350-E9BE-8DB3-18C7D64015C2}"/>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电路原理图设计</a:t>
            </a:r>
            <a:endParaRPr lang="zh-CN" altLang="en-US" sz="4000" dirty="0">
              <a:solidFill>
                <a:srgbClr val="003F88"/>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89361352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65E8C574-CDF3-CAAF-2514-6D984CC525F2}"/>
              </a:ext>
            </a:extLst>
          </p:cNvPr>
          <p:cNvSpPr>
            <a:spLocks noGrp="1"/>
          </p:cNvSpPr>
          <p:nvPr>
            <p:ph idx="1"/>
          </p:nvPr>
        </p:nvSpPr>
        <p:spPr/>
        <p:txBody>
          <a:bodyPr/>
          <a:lstStyle/>
          <a:p>
            <a:pPr marL="0" indent="0">
              <a:buNone/>
            </a:pPr>
            <a:r>
              <a:rPr lang="zh-CN" altLang="en-US" dirty="0"/>
              <a:t>例如：运算放大器</a:t>
            </a:r>
            <a:r>
              <a:rPr lang="en-US" altLang="zh-CN" dirty="0"/>
              <a:t>μA741</a:t>
            </a:r>
          </a:p>
        </p:txBody>
      </p:sp>
      <p:pic>
        <p:nvPicPr>
          <p:cNvPr id="5" name="图片 4">
            <a:extLst>
              <a:ext uri="{FF2B5EF4-FFF2-40B4-BE49-F238E27FC236}">
                <a16:creationId xmlns:a16="http://schemas.microsoft.com/office/drawing/2014/main" id="{A17D74F7-DD19-D1BA-99CF-2D0304DD3600}"/>
              </a:ext>
            </a:extLst>
          </p:cNvPr>
          <p:cNvPicPr>
            <a:picLocks noChangeAspect="1"/>
          </p:cNvPicPr>
          <p:nvPr/>
        </p:nvPicPr>
        <p:blipFill>
          <a:blip r:embed="rId3"/>
          <a:stretch>
            <a:fillRect/>
          </a:stretch>
        </p:blipFill>
        <p:spPr>
          <a:xfrm>
            <a:off x="3598462" y="2415954"/>
            <a:ext cx="4533900" cy="3600450"/>
          </a:xfrm>
          <a:prstGeom prst="rect">
            <a:avLst/>
          </a:prstGeom>
        </p:spPr>
      </p:pic>
      <p:sp>
        <p:nvSpPr>
          <p:cNvPr id="6" name="文本框 5">
            <a:extLst>
              <a:ext uri="{FF2B5EF4-FFF2-40B4-BE49-F238E27FC236}">
                <a16:creationId xmlns:a16="http://schemas.microsoft.com/office/drawing/2014/main" id="{5DFA0DD1-D2BB-B9FE-1EE6-8F63A0DE4D30}"/>
              </a:ext>
            </a:extLst>
          </p:cNvPr>
          <p:cNvSpPr txBox="1"/>
          <p:nvPr/>
        </p:nvSpPr>
        <p:spPr>
          <a:xfrm>
            <a:off x="8336411" y="1825625"/>
            <a:ext cx="3752353" cy="3477875"/>
          </a:xfrm>
          <a:prstGeom prst="rect">
            <a:avLst/>
          </a:prstGeom>
          <a:noFill/>
        </p:spPr>
        <p:txBody>
          <a:bodyPr wrap="square">
            <a:spAutoFit/>
          </a:bodyPr>
          <a:lstStyle/>
          <a:p>
            <a:r>
              <a:rPr lang="en-US" altLang="zh-CN" sz="2000" b="0" i="0" dirty="0">
                <a:solidFill>
                  <a:srgbClr val="333333"/>
                </a:solidFill>
                <a:effectLst/>
                <a:latin typeface="-apple-system"/>
              </a:rPr>
              <a:t>*SOP</a:t>
            </a:r>
            <a:r>
              <a:rPr lang="en-US" altLang="zh-CN" sz="2000" dirty="0">
                <a:solidFill>
                  <a:srgbClr val="333333"/>
                </a:solidFill>
                <a:latin typeface="-apple-system"/>
              </a:rPr>
              <a:t>(</a:t>
            </a:r>
            <a:r>
              <a:rPr lang="en-US" altLang="zh-CN" sz="2000" b="0" i="0" dirty="0">
                <a:solidFill>
                  <a:srgbClr val="333333"/>
                </a:solidFill>
                <a:effectLst/>
                <a:latin typeface="-apple-system"/>
              </a:rPr>
              <a:t>Small Outline Package</a:t>
            </a:r>
            <a:r>
              <a:rPr lang="zh-CN" altLang="en-US" sz="2000" b="0" i="0" dirty="0">
                <a:solidFill>
                  <a:srgbClr val="333333"/>
                </a:solidFill>
                <a:effectLst/>
                <a:latin typeface="-apple-system"/>
              </a:rPr>
              <a:t>，小尺寸封装</a:t>
            </a:r>
            <a:r>
              <a:rPr lang="en-US" altLang="zh-CN" sz="2000" dirty="0">
                <a:solidFill>
                  <a:srgbClr val="333333"/>
                </a:solidFill>
                <a:latin typeface="-apple-system"/>
              </a:rPr>
              <a:t>)</a:t>
            </a:r>
            <a:r>
              <a:rPr lang="zh-CN" altLang="en-US" sz="2000" b="0" i="0" dirty="0">
                <a:solidFill>
                  <a:srgbClr val="333333"/>
                </a:solidFill>
                <a:effectLst/>
                <a:latin typeface="-apple-system"/>
              </a:rPr>
              <a:t>，表面贴装型封装之一，是一种小型、轻巧的封装形式</a:t>
            </a:r>
            <a:r>
              <a:rPr lang="en-US" altLang="zh-CN" sz="2000" b="0" i="0" dirty="0">
                <a:solidFill>
                  <a:srgbClr val="333333"/>
                </a:solidFill>
                <a:effectLst/>
                <a:latin typeface="-apple-system"/>
              </a:rPr>
              <a:t>,</a:t>
            </a:r>
            <a:r>
              <a:rPr lang="zh-CN" altLang="en-US" sz="2000" b="0" i="0" dirty="0">
                <a:solidFill>
                  <a:srgbClr val="333333"/>
                </a:solidFill>
                <a:effectLst/>
                <a:latin typeface="-apple-system"/>
              </a:rPr>
              <a:t>常用于集成度较高的现代电子产品中</a:t>
            </a:r>
            <a:r>
              <a:rPr lang="en-US" altLang="zh-CN" sz="2000" b="0" i="0" dirty="0">
                <a:solidFill>
                  <a:srgbClr val="333333"/>
                </a:solidFill>
                <a:effectLst/>
                <a:latin typeface="-apple-system"/>
              </a:rPr>
              <a:t>,</a:t>
            </a:r>
            <a:r>
              <a:rPr lang="zh-CN" altLang="en-US" sz="2000" b="0" i="0" dirty="0">
                <a:solidFill>
                  <a:srgbClr val="333333"/>
                </a:solidFill>
                <a:effectLst/>
                <a:latin typeface="-apple-system"/>
              </a:rPr>
              <a:t>如智能手机、平板电脑、电视、计算机等。</a:t>
            </a:r>
            <a:endParaRPr lang="en-US" altLang="zh-CN" sz="2000" b="0" i="0" dirty="0">
              <a:solidFill>
                <a:srgbClr val="333333"/>
              </a:solidFill>
              <a:effectLst/>
              <a:latin typeface="-apple-system"/>
            </a:endParaRPr>
          </a:p>
          <a:p>
            <a:endParaRPr lang="en-US" altLang="zh-CN" sz="2000" b="0" i="0" dirty="0">
              <a:solidFill>
                <a:srgbClr val="333333"/>
              </a:solidFill>
              <a:effectLst/>
              <a:latin typeface="-apple-system"/>
            </a:endParaRPr>
          </a:p>
          <a:p>
            <a:r>
              <a:rPr lang="en-US" altLang="zh-CN" sz="2000" b="0" i="0" dirty="0">
                <a:solidFill>
                  <a:srgbClr val="333333"/>
                </a:solidFill>
                <a:effectLst/>
                <a:latin typeface="-apple-system"/>
              </a:rPr>
              <a:t>*DIP(Dual In-line Package</a:t>
            </a:r>
            <a:r>
              <a:rPr lang="zh-CN" altLang="en-US" sz="2000" b="0" i="0" dirty="0">
                <a:solidFill>
                  <a:srgbClr val="333333"/>
                </a:solidFill>
                <a:effectLst/>
                <a:latin typeface="-apple-system"/>
              </a:rPr>
              <a:t>，双列直插式封装</a:t>
            </a:r>
            <a:r>
              <a:rPr lang="en-US" altLang="zh-CN" sz="2000" b="0" i="0" dirty="0">
                <a:solidFill>
                  <a:srgbClr val="333333"/>
                </a:solidFill>
                <a:effectLst/>
                <a:latin typeface="-apple-system"/>
              </a:rPr>
              <a:t>)</a:t>
            </a:r>
            <a:r>
              <a:rPr lang="zh-CN" altLang="en-US" sz="2000" b="0" i="0" dirty="0">
                <a:solidFill>
                  <a:srgbClr val="333333"/>
                </a:solidFill>
                <a:effectLst/>
                <a:latin typeface="-apple-system"/>
              </a:rPr>
              <a:t>，</a:t>
            </a:r>
            <a:r>
              <a:rPr lang="zh-CN" altLang="en-US" sz="2000" dirty="0">
                <a:solidFill>
                  <a:srgbClr val="333333"/>
                </a:solidFill>
                <a:latin typeface="-apple-system"/>
              </a:rPr>
              <a:t>采用双列直插式结构，常见的有</a:t>
            </a:r>
            <a:r>
              <a:rPr lang="en-US" altLang="zh-CN" sz="2000" dirty="0">
                <a:solidFill>
                  <a:srgbClr val="333333"/>
                </a:solidFill>
                <a:latin typeface="-apple-system"/>
              </a:rPr>
              <a:t>8</a:t>
            </a:r>
            <a:r>
              <a:rPr lang="zh-CN" altLang="en-US" sz="2000" dirty="0">
                <a:solidFill>
                  <a:srgbClr val="333333"/>
                </a:solidFill>
                <a:latin typeface="-apple-system"/>
              </a:rPr>
              <a:t>针</a:t>
            </a:r>
            <a:r>
              <a:rPr lang="en-US" altLang="zh-CN" sz="2000" dirty="0">
                <a:solidFill>
                  <a:srgbClr val="333333"/>
                </a:solidFill>
                <a:latin typeface="-apple-system"/>
              </a:rPr>
              <a:t>,14</a:t>
            </a:r>
            <a:r>
              <a:rPr lang="zh-CN" altLang="en-US" sz="2000" dirty="0">
                <a:solidFill>
                  <a:srgbClr val="333333"/>
                </a:solidFill>
                <a:latin typeface="-apple-system"/>
              </a:rPr>
              <a:t>针</a:t>
            </a:r>
            <a:r>
              <a:rPr lang="en-US" altLang="zh-CN" sz="2000" dirty="0">
                <a:solidFill>
                  <a:srgbClr val="333333"/>
                </a:solidFill>
                <a:latin typeface="-apple-system"/>
              </a:rPr>
              <a:t>,20</a:t>
            </a:r>
            <a:r>
              <a:rPr lang="zh-CN" altLang="en-US" sz="2000" dirty="0">
                <a:solidFill>
                  <a:srgbClr val="333333"/>
                </a:solidFill>
                <a:latin typeface="-apple-system"/>
              </a:rPr>
              <a:t>针</a:t>
            </a:r>
            <a:r>
              <a:rPr lang="en-US" altLang="zh-CN" sz="2000" dirty="0">
                <a:solidFill>
                  <a:srgbClr val="333333"/>
                </a:solidFill>
                <a:latin typeface="-apple-system"/>
              </a:rPr>
              <a:t>,24</a:t>
            </a:r>
            <a:r>
              <a:rPr lang="zh-CN" altLang="en-US" sz="2000" dirty="0">
                <a:solidFill>
                  <a:srgbClr val="333333"/>
                </a:solidFill>
                <a:latin typeface="-apple-system"/>
              </a:rPr>
              <a:t>针等。</a:t>
            </a:r>
            <a:endParaRPr lang="zh-CN" altLang="en-US" sz="2000" dirty="0"/>
          </a:p>
        </p:txBody>
      </p:sp>
      <p:sp>
        <p:nvSpPr>
          <p:cNvPr id="12" name="文本框 11">
            <a:extLst>
              <a:ext uri="{FF2B5EF4-FFF2-40B4-BE49-F238E27FC236}">
                <a16:creationId xmlns:a16="http://schemas.microsoft.com/office/drawing/2014/main" id="{9615BBBE-507F-0E80-C3B8-A85ACDAFDF5F}"/>
              </a:ext>
            </a:extLst>
          </p:cNvPr>
          <p:cNvSpPr txBox="1"/>
          <p:nvPr/>
        </p:nvSpPr>
        <p:spPr>
          <a:xfrm>
            <a:off x="9796007" y="5946419"/>
            <a:ext cx="2292757" cy="830997"/>
          </a:xfrm>
          <a:prstGeom prst="rect">
            <a:avLst/>
          </a:prstGeom>
          <a:noFill/>
        </p:spPr>
        <p:txBody>
          <a:bodyPr wrap="square">
            <a:spAutoFit/>
          </a:bodyPr>
          <a:lstStyle/>
          <a:p>
            <a:pPr marL="0" indent="0">
              <a:buNone/>
            </a:pPr>
            <a:r>
              <a:rPr lang="en-US" altLang="zh-CN" sz="1600" dirty="0"/>
              <a:t>outline n. </a:t>
            </a:r>
            <a:r>
              <a:rPr lang="zh-CN" altLang="en-US" sz="1600" dirty="0"/>
              <a:t>轮廓线</a:t>
            </a:r>
            <a:endParaRPr lang="en-US" altLang="zh-CN" sz="1600" dirty="0"/>
          </a:p>
          <a:p>
            <a:pPr marL="0" indent="0">
              <a:buNone/>
            </a:pPr>
            <a:r>
              <a:rPr lang="en-US" altLang="zh-CN" sz="1600" b="0" i="0" dirty="0">
                <a:solidFill>
                  <a:srgbClr val="333333"/>
                </a:solidFill>
                <a:effectLst/>
                <a:latin typeface="-apple-system"/>
              </a:rPr>
              <a:t>in-line adj.</a:t>
            </a:r>
            <a:r>
              <a:rPr lang="zh-CN" altLang="en-US" sz="1600" b="0" i="0" dirty="0">
                <a:solidFill>
                  <a:srgbClr val="333333"/>
                </a:solidFill>
                <a:effectLst/>
                <a:latin typeface="-apple-system"/>
              </a:rPr>
              <a:t>一列的</a:t>
            </a:r>
            <a:endParaRPr lang="en-US" altLang="zh-CN" sz="1600" b="0" i="0" dirty="0">
              <a:solidFill>
                <a:srgbClr val="333333"/>
              </a:solidFill>
              <a:effectLst/>
              <a:latin typeface="-apple-system"/>
            </a:endParaRPr>
          </a:p>
          <a:p>
            <a:pPr marL="0" indent="0">
              <a:buNone/>
            </a:pPr>
            <a:r>
              <a:rPr lang="en-US" altLang="zh-CN" sz="1600" dirty="0">
                <a:solidFill>
                  <a:srgbClr val="333333"/>
                </a:solidFill>
                <a:latin typeface="-apple-system"/>
              </a:rPr>
              <a:t>dual adj. </a:t>
            </a:r>
            <a:r>
              <a:rPr lang="zh-CN" altLang="en-US" sz="1600" dirty="0">
                <a:solidFill>
                  <a:srgbClr val="333333"/>
                </a:solidFill>
                <a:latin typeface="-apple-system"/>
              </a:rPr>
              <a:t>双的，二重的</a:t>
            </a:r>
            <a:endParaRPr lang="en-US" altLang="zh-CN" sz="1600" dirty="0"/>
          </a:p>
        </p:txBody>
      </p:sp>
      <p:sp>
        <p:nvSpPr>
          <p:cNvPr id="14" name="矩形 13">
            <a:extLst>
              <a:ext uri="{FF2B5EF4-FFF2-40B4-BE49-F238E27FC236}">
                <a16:creationId xmlns:a16="http://schemas.microsoft.com/office/drawing/2014/main" id="{103A014E-647E-D8E0-DBA8-EE9B9508E824}"/>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文本框 14">
            <a:extLst>
              <a:ext uri="{FF2B5EF4-FFF2-40B4-BE49-F238E27FC236}">
                <a16:creationId xmlns:a16="http://schemas.microsoft.com/office/drawing/2014/main" id="{DA58A329-D7BA-1246-6B01-B51FA8C639DA}"/>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电路原理图设计</a:t>
            </a:r>
            <a:endParaRPr lang="zh-CN" altLang="en-US" sz="4000" dirty="0">
              <a:solidFill>
                <a:srgbClr val="003F88"/>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55315595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7C43C-A84F-952F-1732-AD4CD0087A25}"/>
            </a:ext>
          </a:extLst>
        </p:cNvPr>
        <p:cNvGrpSpPr/>
        <p:nvPr/>
      </p:nvGrpSpPr>
      <p:grpSpPr>
        <a:xfrm>
          <a:off x="0" y="0"/>
          <a:ext cx="0" cy="0"/>
          <a:chOff x="0" y="0"/>
          <a:chExt cx="0" cy="0"/>
        </a:xfrm>
      </p:grpSpPr>
      <p:pic>
        <p:nvPicPr>
          <p:cNvPr id="2050" name="Picture 2">
            <a:extLst>
              <a:ext uri="{FF2B5EF4-FFF2-40B4-BE49-F238E27FC236}">
                <a16:creationId xmlns:a16="http://schemas.microsoft.com/office/drawing/2014/main" id="{832EA6B9-0BBE-D40A-D738-91ED33D880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96" y="-7272"/>
            <a:ext cx="3792511" cy="6877524"/>
          </a:xfrm>
          <a:prstGeom prst="rect">
            <a:avLst/>
          </a:prstGeom>
          <a:noFill/>
          <a:extLst>
            <a:ext uri="{909E8E84-426E-40DD-AFC4-6F175D3DCCD1}">
              <a14:hiddenFill xmlns:a14="http://schemas.microsoft.com/office/drawing/2010/main">
                <a:solidFill>
                  <a:srgbClr val="FFFFFF"/>
                </a:solidFill>
              </a14:hiddenFill>
            </a:ext>
          </a:extLst>
        </p:spPr>
      </p:pic>
      <p:grpSp>
        <p:nvGrpSpPr>
          <p:cNvPr id="7" name="组合 6">
            <a:extLst>
              <a:ext uri="{FF2B5EF4-FFF2-40B4-BE49-F238E27FC236}">
                <a16:creationId xmlns:a16="http://schemas.microsoft.com/office/drawing/2014/main" id="{AEF20A1A-45D1-43D6-8558-C2A397296327}"/>
              </a:ext>
            </a:extLst>
          </p:cNvPr>
          <p:cNvGrpSpPr/>
          <p:nvPr/>
        </p:nvGrpSpPr>
        <p:grpSpPr>
          <a:xfrm>
            <a:off x="0" y="1289410"/>
            <a:ext cx="4614333" cy="757589"/>
            <a:chOff x="-8313" y="1494236"/>
            <a:chExt cx="4319047" cy="757589"/>
          </a:xfrm>
        </p:grpSpPr>
        <p:sp>
          <p:nvSpPr>
            <p:cNvPr id="4" name="矩形 3">
              <a:extLst>
                <a:ext uri="{FF2B5EF4-FFF2-40B4-BE49-F238E27FC236}">
                  <a16:creationId xmlns:a16="http://schemas.microsoft.com/office/drawing/2014/main" id="{D1D8ACB3-D6FE-5CEA-9D9C-A2B7321F5526}"/>
                </a:ext>
              </a:extLst>
            </p:cNvPr>
            <p:cNvSpPr/>
            <p:nvPr/>
          </p:nvSpPr>
          <p:spPr>
            <a:xfrm>
              <a:off x="-8313" y="1540255"/>
              <a:ext cx="4160031" cy="711570"/>
            </a:xfrm>
            <a:prstGeom prst="rect">
              <a:avLst/>
            </a:prstGeom>
            <a:gradFill flip="none" rotWithShape="1">
              <a:gsLst>
                <a:gs pos="22000">
                  <a:srgbClr val="165195"/>
                </a:gs>
                <a:gs pos="0">
                  <a:srgbClr val="003F88"/>
                </a:gs>
                <a:gs pos="100000">
                  <a:srgbClr val="BFDEF5"/>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文本框 5">
              <a:extLst>
                <a:ext uri="{FF2B5EF4-FFF2-40B4-BE49-F238E27FC236}">
                  <a16:creationId xmlns:a16="http://schemas.microsoft.com/office/drawing/2014/main" id="{2E9A8D2B-357B-AB50-54EB-6A1F53A85070}"/>
                </a:ext>
              </a:extLst>
            </p:cNvPr>
            <p:cNvSpPr txBox="1"/>
            <p:nvPr/>
          </p:nvSpPr>
          <p:spPr>
            <a:xfrm>
              <a:off x="2798804" y="1494236"/>
              <a:ext cx="1511930" cy="707886"/>
            </a:xfrm>
            <a:prstGeom prst="rect">
              <a:avLst/>
            </a:prstGeom>
            <a:noFill/>
          </p:spPr>
          <p:txBody>
            <a:bodyPr wrap="square" rtlCol="0">
              <a:spAutoFit/>
            </a:bodyPr>
            <a:lstStyle/>
            <a:p>
              <a:pPr algn="ctr"/>
              <a:r>
                <a:rPr lang="zh-CN" altLang="en-US" sz="4000" b="1" dirty="0">
                  <a:ln w="10160">
                    <a:solidFill>
                      <a:schemeClr val="accent5"/>
                    </a:solidFill>
                    <a:prstDash val="solid"/>
                  </a:ln>
                  <a:solidFill>
                    <a:schemeClr val="bg1"/>
                  </a:solidFill>
                  <a:effectLst>
                    <a:outerShdw blurRad="38100" dist="22860" dir="5400000" algn="tl" rotWithShape="0">
                      <a:srgbClr val="000000">
                        <a:alpha val="30000"/>
                      </a:srgbClr>
                    </a:outerShdw>
                  </a:effectLst>
                  <a:latin typeface="黑体" panose="02010609060101010101" pitchFamily="49" charset="-122"/>
                  <a:ea typeface="黑体" panose="02010609060101010101" pitchFamily="49" charset="-122"/>
                </a:rPr>
                <a:t>目录</a:t>
              </a:r>
              <a:endParaRPr lang="zh-CN" altLang="en-US" sz="2000" b="1" dirty="0">
                <a:ln w="10160">
                  <a:solidFill>
                    <a:schemeClr val="accent5"/>
                  </a:solidFill>
                  <a:prstDash val="solid"/>
                </a:ln>
                <a:solidFill>
                  <a:schemeClr val="bg1"/>
                </a:solidFill>
                <a:effectLst>
                  <a:outerShdw blurRad="38100" dist="22860" dir="5400000" algn="tl" rotWithShape="0">
                    <a:srgbClr val="000000">
                      <a:alpha val="30000"/>
                    </a:srgbClr>
                  </a:outerShdw>
                </a:effectLst>
                <a:latin typeface="黑体" panose="02010609060101010101" pitchFamily="49" charset="-122"/>
                <a:ea typeface="黑体" panose="02010609060101010101" pitchFamily="49" charset="-122"/>
              </a:endParaRPr>
            </a:p>
          </p:txBody>
        </p:sp>
      </p:grpSp>
      <p:grpSp>
        <p:nvGrpSpPr>
          <p:cNvPr id="18" name="组合 17">
            <a:extLst>
              <a:ext uri="{FF2B5EF4-FFF2-40B4-BE49-F238E27FC236}">
                <a16:creationId xmlns:a16="http://schemas.microsoft.com/office/drawing/2014/main" id="{E9B0BEDE-78F9-E702-7780-7C4900EC3E6F}"/>
              </a:ext>
            </a:extLst>
          </p:cNvPr>
          <p:cNvGrpSpPr/>
          <p:nvPr/>
        </p:nvGrpSpPr>
        <p:grpSpPr>
          <a:xfrm>
            <a:off x="5029534" y="3063144"/>
            <a:ext cx="6588642" cy="2641733"/>
            <a:chOff x="4393412" y="2240607"/>
            <a:chExt cx="6588642" cy="2641733"/>
          </a:xfrm>
        </p:grpSpPr>
        <p:sp>
          <p:nvSpPr>
            <p:cNvPr id="8" name="文本框 7">
              <a:extLst>
                <a:ext uri="{FF2B5EF4-FFF2-40B4-BE49-F238E27FC236}">
                  <a16:creationId xmlns:a16="http://schemas.microsoft.com/office/drawing/2014/main" id="{B6BC7D9A-C5C5-A2E6-806F-AF07D494B3CC}"/>
                </a:ext>
              </a:extLst>
            </p:cNvPr>
            <p:cNvSpPr txBox="1"/>
            <p:nvPr/>
          </p:nvSpPr>
          <p:spPr>
            <a:xfrm>
              <a:off x="4393412" y="2240607"/>
              <a:ext cx="6213089" cy="646331"/>
            </a:xfrm>
            <a:prstGeom prst="rect">
              <a:avLst/>
            </a:prstGeom>
            <a:noFill/>
          </p:spPr>
          <p:txBody>
            <a:bodyPr wrap="square" rtlCol="0">
              <a:spAutoFit/>
            </a:bodyPr>
            <a:lstStyle/>
            <a:p>
              <a:r>
                <a:rPr lang="zh-CN" altLang="en-US" sz="3600" dirty="0">
                  <a:solidFill>
                    <a:schemeClr val="accent1">
                      <a:lumMod val="20000"/>
                      <a:lumOff val="80000"/>
                    </a:schemeClr>
                  </a:solidFill>
                  <a:latin typeface="黑体" panose="02010609060101010101" pitchFamily="49" charset="-122"/>
                  <a:ea typeface="黑体" panose="02010609060101010101" pitchFamily="49" charset="-122"/>
                </a:rPr>
                <a:t>一、电路板设计概述</a:t>
              </a:r>
            </a:p>
          </p:txBody>
        </p:sp>
        <p:sp>
          <p:nvSpPr>
            <p:cNvPr id="9" name="文本框 8">
              <a:extLst>
                <a:ext uri="{FF2B5EF4-FFF2-40B4-BE49-F238E27FC236}">
                  <a16:creationId xmlns:a16="http://schemas.microsoft.com/office/drawing/2014/main" id="{1FC14CF6-C728-C610-9C0A-F2319C9C06AF}"/>
                </a:ext>
              </a:extLst>
            </p:cNvPr>
            <p:cNvSpPr txBox="1"/>
            <p:nvPr/>
          </p:nvSpPr>
          <p:spPr>
            <a:xfrm>
              <a:off x="4401879" y="3155072"/>
              <a:ext cx="4585684" cy="646331"/>
            </a:xfrm>
            <a:prstGeom prst="rect">
              <a:avLst/>
            </a:prstGeom>
            <a:noFill/>
          </p:spPr>
          <p:txBody>
            <a:bodyPr wrap="square" rtlCol="0">
              <a:spAutoFit/>
            </a:bodyPr>
            <a:lstStyle/>
            <a:p>
              <a:r>
                <a:rPr lang="zh-CN" altLang="en-US" sz="3600" dirty="0">
                  <a:solidFill>
                    <a:schemeClr val="accent1">
                      <a:lumMod val="75000"/>
                    </a:schemeClr>
                  </a:solidFill>
                  <a:latin typeface="黑体" panose="02010609060101010101" pitchFamily="49" charset="-122"/>
                  <a:ea typeface="黑体" panose="02010609060101010101" pitchFamily="49" charset="-122"/>
                </a:rPr>
                <a:t>二、电路原理图设计</a:t>
              </a:r>
            </a:p>
          </p:txBody>
        </p:sp>
        <p:sp>
          <p:nvSpPr>
            <p:cNvPr id="10" name="文本框 9">
              <a:extLst>
                <a:ext uri="{FF2B5EF4-FFF2-40B4-BE49-F238E27FC236}">
                  <a16:creationId xmlns:a16="http://schemas.microsoft.com/office/drawing/2014/main" id="{B16EB905-8490-7015-8588-A8701F7B94C4}"/>
                </a:ext>
              </a:extLst>
            </p:cNvPr>
            <p:cNvSpPr txBox="1"/>
            <p:nvPr/>
          </p:nvSpPr>
          <p:spPr>
            <a:xfrm>
              <a:off x="4393412" y="4069537"/>
              <a:ext cx="6588642" cy="646331"/>
            </a:xfrm>
            <a:prstGeom prst="rect">
              <a:avLst/>
            </a:prstGeom>
            <a:noFill/>
          </p:spPr>
          <p:txBody>
            <a:bodyPr wrap="square" rtlCol="0">
              <a:spAutoFit/>
            </a:bodyPr>
            <a:lstStyle/>
            <a:p>
              <a:r>
                <a:rPr lang="zh-CN" altLang="en-US" sz="3600" dirty="0">
                  <a:solidFill>
                    <a:schemeClr val="accent1">
                      <a:lumMod val="20000"/>
                      <a:lumOff val="80000"/>
                    </a:schemeClr>
                  </a:solidFill>
                  <a:latin typeface="黑体" panose="02010609060101010101" pitchFamily="49" charset="-122"/>
                  <a:ea typeface="黑体" panose="02010609060101010101" pitchFamily="49" charset="-122"/>
                </a:rPr>
                <a:t>三、印刷电路板设计</a:t>
              </a:r>
            </a:p>
          </p:txBody>
        </p:sp>
        <p:cxnSp>
          <p:nvCxnSpPr>
            <p:cNvPr id="13" name="直接连接符 12">
              <a:extLst>
                <a:ext uri="{FF2B5EF4-FFF2-40B4-BE49-F238E27FC236}">
                  <a16:creationId xmlns:a16="http://schemas.microsoft.com/office/drawing/2014/main" id="{C88FA3C9-F37D-B85A-125F-9B758CB1F6CE}"/>
                </a:ext>
              </a:extLst>
            </p:cNvPr>
            <p:cNvCxnSpPr>
              <a:cxnSpLocks/>
            </p:cNvCxnSpPr>
            <p:nvPr/>
          </p:nvCxnSpPr>
          <p:spPr>
            <a:xfrm>
              <a:off x="4495801" y="3048003"/>
              <a:ext cx="6316133" cy="0"/>
            </a:xfrm>
            <a:prstGeom prst="line">
              <a:avLst/>
            </a:prstGeom>
            <a:ln w="28575">
              <a:solidFill>
                <a:schemeClr val="accent1">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C1CB8BBF-D6BF-2ED3-F4C3-AC6D958E05E6}"/>
                </a:ext>
              </a:extLst>
            </p:cNvPr>
            <p:cNvCxnSpPr>
              <a:cxnSpLocks/>
            </p:cNvCxnSpPr>
            <p:nvPr/>
          </p:nvCxnSpPr>
          <p:spPr>
            <a:xfrm>
              <a:off x="4495801" y="3984873"/>
              <a:ext cx="6316133" cy="0"/>
            </a:xfrm>
            <a:prstGeom prst="line">
              <a:avLst/>
            </a:prstGeom>
            <a:ln w="28575">
              <a:solidFill>
                <a:schemeClr val="accent1">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F313A09A-1DBD-CFEE-1B7F-0DBE118D953A}"/>
                </a:ext>
              </a:extLst>
            </p:cNvPr>
            <p:cNvCxnSpPr>
              <a:cxnSpLocks/>
            </p:cNvCxnSpPr>
            <p:nvPr/>
          </p:nvCxnSpPr>
          <p:spPr>
            <a:xfrm>
              <a:off x="4495801" y="4882340"/>
              <a:ext cx="6316133" cy="0"/>
            </a:xfrm>
            <a:prstGeom prst="line">
              <a:avLst/>
            </a:prstGeom>
            <a:ln w="28575">
              <a:solidFill>
                <a:schemeClr val="accent1">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2670942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5EF1B5-FE6E-109D-933C-D4C143475D70}"/>
              </a:ext>
            </a:extLst>
          </p:cNvPr>
          <p:cNvSpPr>
            <a:spLocks noGrp="1"/>
          </p:cNvSpPr>
          <p:nvPr>
            <p:ph type="title"/>
          </p:nvPr>
        </p:nvSpPr>
        <p:spPr>
          <a:xfrm>
            <a:off x="905795" y="1177290"/>
            <a:ext cx="11410316" cy="1045266"/>
          </a:xfrm>
        </p:spPr>
        <p:txBody>
          <a:bodyPr>
            <a:normAutofit fontScale="90000"/>
          </a:bodyPr>
          <a:lstStyle/>
          <a:p>
            <a:r>
              <a:rPr lang="zh-CN" altLang="en-US" sz="3600" dirty="0">
                <a:solidFill>
                  <a:srgbClr val="FF0000"/>
                </a:solidFill>
                <a:latin typeface="黑体" panose="02010609060101010101" pitchFamily="49" charset="-122"/>
                <a:ea typeface="黑体" panose="02010609060101010101" pitchFamily="49" charset="-122"/>
              </a:rPr>
              <a:t>准备工作</a:t>
            </a:r>
            <a:r>
              <a:rPr lang="zh-CN" altLang="en-US" sz="3600" dirty="0">
                <a:latin typeface="黑体" panose="02010609060101010101" pitchFamily="49" charset="-122"/>
                <a:ea typeface="黑体" panose="02010609060101010101" pitchFamily="49" charset="-122"/>
              </a:rPr>
              <a:t>：配置系统参数、原理图编辑器参数、</a:t>
            </a:r>
            <a:r>
              <a:rPr lang="en-US" altLang="zh-CN" sz="3600" dirty="0">
                <a:latin typeface="黑体" panose="02010609060101010101" pitchFamily="49" charset="-122"/>
                <a:ea typeface="黑体" panose="02010609060101010101" pitchFamily="49" charset="-122"/>
              </a:rPr>
              <a:t>PCB</a:t>
            </a:r>
            <a:r>
              <a:rPr lang="zh-CN" altLang="en-US" sz="3600" dirty="0">
                <a:latin typeface="黑体" panose="02010609060101010101" pitchFamily="49" charset="-122"/>
                <a:ea typeface="黑体" panose="02010609060101010101" pitchFamily="49" charset="-122"/>
              </a:rPr>
              <a:t>编辑器参数</a:t>
            </a:r>
          </a:p>
        </p:txBody>
      </p:sp>
      <p:sp>
        <p:nvSpPr>
          <p:cNvPr id="3" name="内容占位符 2">
            <a:extLst>
              <a:ext uri="{FF2B5EF4-FFF2-40B4-BE49-F238E27FC236}">
                <a16:creationId xmlns:a16="http://schemas.microsoft.com/office/drawing/2014/main" id="{2E7BD0B6-E6E4-98DD-B9CA-2F0D5B0DA38D}"/>
              </a:ext>
            </a:extLst>
          </p:cNvPr>
          <p:cNvSpPr>
            <a:spLocks noGrp="1"/>
          </p:cNvSpPr>
          <p:nvPr>
            <p:ph idx="1"/>
          </p:nvPr>
        </p:nvSpPr>
        <p:spPr>
          <a:xfrm>
            <a:off x="838200" y="2013585"/>
            <a:ext cx="10515600" cy="4351338"/>
          </a:xfrm>
        </p:spPr>
        <p:txBody>
          <a:bodyPr>
            <a:normAutofit/>
          </a:bodyPr>
          <a:lstStyle/>
          <a:p>
            <a:pPr marL="0" indent="0">
              <a:buNone/>
            </a:pPr>
            <a:r>
              <a:rPr lang="en-US" altLang="zh-CN" dirty="0">
                <a:latin typeface="Arial Black" panose="020B0A04020102020204" pitchFamily="34" charset="0"/>
                <a:ea typeface="黑体" panose="02010609060101010101" pitchFamily="49" charset="-122"/>
              </a:rPr>
              <a:t>*</a:t>
            </a:r>
            <a:r>
              <a:rPr lang="zh-CN" altLang="en-US" dirty="0">
                <a:latin typeface="Arial Black" panose="020B0A04020102020204" pitchFamily="34" charset="0"/>
                <a:ea typeface="黑体" panose="02010609060101010101" pitchFamily="49" charset="-122"/>
              </a:rPr>
              <a:t>操作：</a:t>
            </a:r>
            <a:r>
              <a:rPr lang="en-US" altLang="zh-CN" dirty="0">
                <a:latin typeface="Arial Black" panose="020B0A04020102020204" pitchFamily="34" charset="0"/>
                <a:ea typeface="黑体" panose="02010609060101010101" pitchFamily="49" charset="-122"/>
              </a:rPr>
              <a:t>DXP</a:t>
            </a:r>
            <a:r>
              <a:rPr lang="zh-CN" altLang="en-US" dirty="0">
                <a:latin typeface="Arial Black" panose="020B0A04020102020204" pitchFamily="34" charset="0"/>
                <a:ea typeface="黑体" panose="02010609060101010101" pitchFamily="49" charset="-122"/>
              </a:rPr>
              <a:t>菜单</a:t>
            </a:r>
            <a:r>
              <a:rPr lang="en-US" altLang="zh-CN" dirty="0">
                <a:latin typeface="Arial Black" panose="020B0A04020102020204" pitchFamily="34" charset="0"/>
                <a:ea typeface="黑体" panose="02010609060101010101" pitchFamily="49" charset="-122"/>
              </a:rPr>
              <a:t>→ Preference</a:t>
            </a:r>
          </a:p>
          <a:p>
            <a:pPr marL="0" indent="0">
              <a:buNone/>
            </a:pPr>
            <a:endParaRPr lang="zh-CN" altLang="en-US" dirty="0">
              <a:latin typeface="Arial Black" panose="020B0A04020102020204" pitchFamily="34" charset="0"/>
              <a:ea typeface="黑体" panose="02010609060101010101" pitchFamily="49" charset="-122"/>
            </a:endParaRPr>
          </a:p>
        </p:txBody>
      </p:sp>
      <p:pic>
        <p:nvPicPr>
          <p:cNvPr id="5" name="图片 4">
            <a:extLst>
              <a:ext uri="{FF2B5EF4-FFF2-40B4-BE49-F238E27FC236}">
                <a16:creationId xmlns:a16="http://schemas.microsoft.com/office/drawing/2014/main" id="{B61A2A88-F976-C937-CBA0-043ED9A4B9A0}"/>
              </a:ext>
            </a:extLst>
          </p:cNvPr>
          <p:cNvPicPr>
            <a:picLocks noChangeAspect="1"/>
          </p:cNvPicPr>
          <p:nvPr/>
        </p:nvPicPr>
        <p:blipFill rotWithShape="1">
          <a:blip r:embed="rId3"/>
          <a:srcRect l="-842" t="11746" r="47634" b="49563"/>
          <a:stretch/>
        </p:blipFill>
        <p:spPr>
          <a:xfrm>
            <a:off x="973392" y="2907507"/>
            <a:ext cx="5451230" cy="3198336"/>
          </a:xfrm>
          <a:prstGeom prst="rect">
            <a:avLst/>
          </a:prstGeom>
        </p:spPr>
      </p:pic>
      <p:sp>
        <p:nvSpPr>
          <p:cNvPr id="8" name="矩形: 圆角 7">
            <a:extLst>
              <a:ext uri="{FF2B5EF4-FFF2-40B4-BE49-F238E27FC236}">
                <a16:creationId xmlns:a16="http://schemas.microsoft.com/office/drawing/2014/main" id="{7A5904FD-545B-2E47-1BE0-ED03EEC7D67D}"/>
              </a:ext>
            </a:extLst>
          </p:cNvPr>
          <p:cNvSpPr/>
          <p:nvPr/>
        </p:nvSpPr>
        <p:spPr>
          <a:xfrm>
            <a:off x="973391" y="3180080"/>
            <a:ext cx="794449" cy="375920"/>
          </a:xfrm>
          <a:prstGeom prst="roundRect">
            <a:avLst/>
          </a:prstGeom>
          <a:noFill/>
          <a:ln w="19050">
            <a:solidFill>
              <a:srgbClr val="FF0000"/>
            </a:solidFill>
            <a:extLst>
              <a:ext uri="{C807C97D-BFC1-408E-A445-0C87EB9F89A2}">
                <ask:lineSketchStyleProps xmlns:ask="http://schemas.microsoft.com/office/drawing/2018/sketchyshapes" sd="1697890177">
                  <a:custGeom>
                    <a:avLst/>
                    <a:gdLst>
                      <a:gd name="connsiteX0" fmla="*/ 0 w 794449"/>
                      <a:gd name="connsiteY0" fmla="*/ 62655 h 375920"/>
                      <a:gd name="connsiteX1" fmla="*/ 62655 w 794449"/>
                      <a:gd name="connsiteY1" fmla="*/ 0 h 375920"/>
                      <a:gd name="connsiteX2" fmla="*/ 410607 w 794449"/>
                      <a:gd name="connsiteY2" fmla="*/ 0 h 375920"/>
                      <a:gd name="connsiteX3" fmla="*/ 731794 w 794449"/>
                      <a:gd name="connsiteY3" fmla="*/ 0 h 375920"/>
                      <a:gd name="connsiteX4" fmla="*/ 794449 w 794449"/>
                      <a:gd name="connsiteY4" fmla="*/ 62655 h 375920"/>
                      <a:gd name="connsiteX5" fmla="*/ 794449 w 794449"/>
                      <a:gd name="connsiteY5" fmla="*/ 313265 h 375920"/>
                      <a:gd name="connsiteX6" fmla="*/ 731794 w 794449"/>
                      <a:gd name="connsiteY6" fmla="*/ 375920 h 375920"/>
                      <a:gd name="connsiteX7" fmla="*/ 397225 w 794449"/>
                      <a:gd name="connsiteY7" fmla="*/ 375920 h 375920"/>
                      <a:gd name="connsiteX8" fmla="*/ 62655 w 794449"/>
                      <a:gd name="connsiteY8" fmla="*/ 375920 h 375920"/>
                      <a:gd name="connsiteX9" fmla="*/ 0 w 794449"/>
                      <a:gd name="connsiteY9" fmla="*/ 313265 h 375920"/>
                      <a:gd name="connsiteX10" fmla="*/ 0 w 794449"/>
                      <a:gd name="connsiteY10" fmla="*/ 62655 h 375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94449" h="375920" extrusionOk="0">
                        <a:moveTo>
                          <a:pt x="0" y="62655"/>
                        </a:moveTo>
                        <a:cubicBezTo>
                          <a:pt x="2252" y="34778"/>
                          <a:pt x="31117" y="889"/>
                          <a:pt x="62655" y="0"/>
                        </a:cubicBezTo>
                        <a:cubicBezTo>
                          <a:pt x="144521" y="-3731"/>
                          <a:pt x="299565" y="22433"/>
                          <a:pt x="410607" y="0"/>
                        </a:cubicBezTo>
                        <a:cubicBezTo>
                          <a:pt x="521649" y="-22433"/>
                          <a:pt x="656692" y="7349"/>
                          <a:pt x="731794" y="0"/>
                        </a:cubicBezTo>
                        <a:cubicBezTo>
                          <a:pt x="767408" y="8929"/>
                          <a:pt x="795799" y="25050"/>
                          <a:pt x="794449" y="62655"/>
                        </a:cubicBezTo>
                        <a:cubicBezTo>
                          <a:pt x="805048" y="129523"/>
                          <a:pt x="789510" y="208273"/>
                          <a:pt x="794449" y="313265"/>
                        </a:cubicBezTo>
                        <a:cubicBezTo>
                          <a:pt x="785047" y="347581"/>
                          <a:pt x="767017" y="380870"/>
                          <a:pt x="731794" y="375920"/>
                        </a:cubicBezTo>
                        <a:cubicBezTo>
                          <a:pt x="603374" y="391933"/>
                          <a:pt x="513623" y="336179"/>
                          <a:pt x="397225" y="375920"/>
                        </a:cubicBezTo>
                        <a:cubicBezTo>
                          <a:pt x="280827" y="415661"/>
                          <a:pt x="129797" y="340083"/>
                          <a:pt x="62655" y="375920"/>
                        </a:cubicBezTo>
                        <a:cubicBezTo>
                          <a:pt x="20741" y="372262"/>
                          <a:pt x="1640" y="347891"/>
                          <a:pt x="0" y="313265"/>
                        </a:cubicBezTo>
                        <a:cubicBezTo>
                          <a:pt x="-8198" y="216607"/>
                          <a:pt x="26855" y="184541"/>
                          <a:pt x="0" y="62655"/>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圆角 8">
            <a:extLst>
              <a:ext uri="{FF2B5EF4-FFF2-40B4-BE49-F238E27FC236}">
                <a16:creationId xmlns:a16="http://schemas.microsoft.com/office/drawing/2014/main" id="{D9503E7D-F8A9-DBB0-EDDD-683D3A47E83A}"/>
              </a:ext>
            </a:extLst>
          </p:cNvPr>
          <p:cNvSpPr/>
          <p:nvPr/>
        </p:nvSpPr>
        <p:spPr>
          <a:xfrm>
            <a:off x="1370615" y="3813334"/>
            <a:ext cx="1301465" cy="375920"/>
          </a:xfrm>
          <a:prstGeom prst="roundRect">
            <a:avLst/>
          </a:prstGeom>
          <a:noFill/>
          <a:ln w="19050">
            <a:solidFill>
              <a:srgbClr val="FF0000"/>
            </a:solidFill>
            <a:extLst>
              <a:ext uri="{C807C97D-BFC1-408E-A445-0C87EB9F89A2}">
                <ask:lineSketchStyleProps xmlns:ask="http://schemas.microsoft.com/office/drawing/2018/sketchyshapes" sd="1697890177">
                  <a:custGeom>
                    <a:avLst/>
                    <a:gdLst>
                      <a:gd name="connsiteX0" fmla="*/ 0 w 1301465"/>
                      <a:gd name="connsiteY0" fmla="*/ 62655 h 375920"/>
                      <a:gd name="connsiteX1" fmla="*/ 62655 w 1301465"/>
                      <a:gd name="connsiteY1" fmla="*/ 0 h 375920"/>
                      <a:gd name="connsiteX2" fmla="*/ 674256 w 1301465"/>
                      <a:gd name="connsiteY2" fmla="*/ 0 h 375920"/>
                      <a:gd name="connsiteX3" fmla="*/ 1238810 w 1301465"/>
                      <a:gd name="connsiteY3" fmla="*/ 0 h 375920"/>
                      <a:gd name="connsiteX4" fmla="*/ 1301465 w 1301465"/>
                      <a:gd name="connsiteY4" fmla="*/ 62655 h 375920"/>
                      <a:gd name="connsiteX5" fmla="*/ 1301465 w 1301465"/>
                      <a:gd name="connsiteY5" fmla="*/ 313265 h 375920"/>
                      <a:gd name="connsiteX6" fmla="*/ 1238810 w 1301465"/>
                      <a:gd name="connsiteY6" fmla="*/ 375920 h 375920"/>
                      <a:gd name="connsiteX7" fmla="*/ 650733 w 1301465"/>
                      <a:gd name="connsiteY7" fmla="*/ 375920 h 375920"/>
                      <a:gd name="connsiteX8" fmla="*/ 62655 w 1301465"/>
                      <a:gd name="connsiteY8" fmla="*/ 375920 h 375920"/>
                      <a:gd name="connsiteX9" fmla="*/ 0 w 1301465"/>
                      <a:gd name="connsiteY9" fmla="*/ 313265 h 375920"/>
                      <a:gd name="connsiteX10" fmla="*/ 0 w 1301465"/>
                      <a:gd name="connsiteY10" fmla="*/ 62655 h 375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01465" h="375920" extrusionOk="0">
                        <a:moveTo>
                          <a:pt x="0" y="62655"/>
                        </a:moveTo>
                        <a:cubicBezTo>
                          <a:pt x="2252" y="34778"/>
                          <a:pt x="31117" y="889"/>
                          <a:pt x="62655" y="0"/>
                        </a:cubicBezTo>
                        <a:cubicBezTo>
                          <a:pt x="300145" y="-64319"/>
                          <a:pt x="463497" y="47795"/>
                          <a:pt x="674256" y="0"/>
                        </a:cubicBezTo>
                        <a:cubicBezTo>
                          <a:pt x="885015" y="-47795"/>
                          <a:pt x="1112356" y="18046"/>
                          <a:pt x="1238810" y="0"/>
                        </a:cubicBezTo>
                        <a:cubicBezTo>
                          <a:pt x="1274424" y="8929"/>
                          <a:pt x="1302815" y="25050"/>
                          <a:pt x="1301465" y="62655"/>
                        </a:cubicBezTo>
                        <a:cubicBezTo>
                          <a:pt x="1312064" y="129523"/>
                          <a:pt x="1296526" y="208273"/>
                          <a:pt x="1301465" y="313265"/>
                        </a:cubicBezTo>
                        <a:cubicBezTo>
                          <a:pt x="1292063" y="347581"/>
                          <a:pt x="1274033" y="380870"/>
                          <a:pt x="1238810" y="375920"/>
                        </a:cubicBezTo>
                        <a:cubicBezTo>
                          <a:pt x="1068313" y="416409"/>
                          <a:pt x="928844" y="358869"/>
                          <a:pt x="650733" y="375920"/>
                        </a:cubicBezTo>
                        <a:cubicBezTo>
                          <a:pt x="372622" y="392971"/>
                          <a:pt x="289448" y="343073"/>
                          <a:pt x="62655" y="375920"/>
                        </a:cubicBezTo>
                        <a:cubicBezTo>
                          <a:pt x="20741" y="372262"/>
                          <a:pt x="1640" y="347891"/>
                          <a:pt x="0" y="313265"/>
                        </a:cubicBezTo>
                        <a:cubicBezTo>
                          <a:pt x="-8198" y="216607"/>
                          <a:pt x="26855" y="184541"/>
                          <a:pt x="0" y="62655"/>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箭头: 右 17">
            <a:extLst>
              <a:ext uri="{FF2B5EF4-FFF2-40B4-BE49-F238E27FC236}">
                <a16:creationId xmlns:a16="http://schemas.microsoft.com/office/drawing/2014/main" id="{18167902-19ED-F58D-3B3D-BB6B9CDA8435}"/>
              </a:ext>
            </a:extLst>
          </p:cNvPr>
          <p:cNvSpPr/>
          <p:nvPr/>
        </p:nvSpPr>
        <p:spPr>
          <a:xfrm>
            <a:off x="375920" y="3180080"/>
            <a:ext cx="462279" cy="445294"/>
          </a:xfrm>
          <a:prstGeom prst="rightArrow">
            <a:avLst>
              <a:gd name="adj1" fmla="val 44521"/>
              <a:gd name="adj2" fmla="val 63699"/>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箭头: 右 18">
            <a:extLst>
              <a:ext uri="{FF2B5EF4-FFF2-40B4-BE49-F238E27FC236}">
                <a16:creationId xmlns:a16="http://schemas.microsoft.com/office/drawing/2014/main" id="{C7345306-1A79-ECE5-081F-E435B2D86E2D}"/>
              </a:ext>
            </a:extLst>
          </p:cNvPr>
          <p:cNvSpPr/>
          <p:nvPr/>
        </p:nvSpPr>
        <p:spPr>
          <a:xfrm>
            <a:off x="443516" y="3778647"/>
            <a:ext cx="462279" cy="445294"/>
          </a:xfrm>
          <a:prstGeom prst="rightArrow">
            <a:avLst>
              <a:gd name="adj1" fmla="val 44521"/>
              <a:gd name="adj2" fmla="val 63699"/>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a:extLst>
              <a:ext uri="{FF2B5EF4-FFF2-40B4-BE49-F238E27FC236}">
                <a16:creationId xmlns:a16="http://schemas.microsoft.com/office/drawing/2014/main" id="{6595D7BA-470C-204A-0408-DED3BFD433B7}"/>
              </a:ext>
            </a:extLst>
          </p:cNvPr>
          <p:cNvPicPr>
            <a:picLocks noChangeAspect="1"/>
          </p:cNvPicPr>
          <p:nvPr/>
        </p:nvPicPr>
        <p:blipFill>
          <a:blip r:embed="rId4"/>
          <a:stretch>
            <a:fillRect/>
          </a:stretch>
        </p:blipFill>
        <p:spPr>
          <a:xfrm>
            <a:off x="7509280" y="2366566"/>
            <a:ext cx="3152775" cy="3714750"/>
          </a:xfrm>
          <a:prstGeom prst="rect">
            <a:avLst/>
          </a:prstGeom>
        </p:spPr>
      </p:pic>
      <p:sp>
        <p:nvSpPr>
          <p:cNvPr id="10" name="文本框 9">
            <a:extLst>
              <a:ext uri="{FF2B5EF4-FFF2-40B4-BE49-F238E27FC236}">
                <a16:creationId xmlns:a16="http://schemas.microsoft.com/office/drawing/2014/main" id="{FCBF9EC6-2F33-E2CE-46DD-1010F4C9190F}"/>
              </a:ext>
            </a:extLst>
          </p:cNvPr>
          <p:cNvSpPr txBox="1"/>
          <p:nvPr/>
        </p:nvSpPr>
        <p:spPr>
          <a:xfrm>
            <a:off x="6151790" y="6533238"/>
            <a:ext cx="6096000" cy="338554"/>
          </a:xfrm>
          <a:prstGeom prst="rect">
            <a:avLst/>
          </a:prstGeom>
          <a:noFill/>
        </p:spPr>
        <p:txBody>
          <a:bodyPr wrap="square">
            <a:spAutoFit/>
          </a:bodyPr>
          <a:lstStyle/>
          <a:p>
            <a:pPr algn="r"/>
            <a:r>
              <a:rPr lang="en-US" altLang="zh-CN" sz="1600" b="0" i="0" dirty="0">
                <a:solidFill>
                  <a:srgbClr val="333333"/>
                </a:solidFill>
                <a:effectLst/>
                <a:latin typeface="Arial" panose="020B0604020202020204" pitchFamily="34" charset="0"/>
              </a:rPr>
              <a:t>*preference  n.</a:t>
            </a:r>
            <a:r>
              <a:rPr lang="zh-CN" altLang="en-US" sz="1600" b="0" i="0" dirty="0">
                <a:solidFill>
                  <a:srgbClr val="333333"/>
                </a:solidFill>
                <a:effectLst/>
                <a:latin typeface="Arial" panose="020B0604020202020204" pitchFamily="34" charset="0"/>
              </a:rPr>
              <a:t>偏爱</a:t>
            </a:r>
            <a:r>
              <a:rPr lang="en-US" altLang="zh-CN" sz="1600" b="0" i="0" dirty="0">
                <a:solidFill>
                  <a:srgbClr val="333333"/>
                </a:solidFill>
                <a:effectLst/>
                <a:latin typeface="Arial" panose="020B0604020202020204" pitchFamily="34" charset="0"/>
              </a:rPr>
              <a:t>;</a:t>
            </a:r>
            <a:r>
              <a:rPr lang="zh-CN" altLang="en-US" sz="1600" b="0" i="0" dirty="0">
                <a:solidFill>
                  <a:srgbClr val="333333"/>
                </a:solidFill>
                <a:effectLst/>
                <a:latin typeface="Arial" panose="020B0604020202020204" pitchFamily="34" charset="0"/>
              </a:rPr>
              <a:t>喜爱</a:t>
            </a:r>
            <a:r>
              <a:rPr lang="en-US" altLang="zh-CN" sz="1600" b="0" i="0" dirty="0">
                <a:solidFill>
                  <a:srgbClr val="333333"/>
                </a:solidFill>
                <a:effectLst/>
                <a:latin typeface="Arial" panose="020B0604020202020204" pitchFamily="34" charset="0"/>
              </a:rPr>
              <a:t>;</a:t>
            </a:r>
            <a:r>
              <a:rPr lang="zh-CN" altLang="en-US" sz="1600" b="0" i="0" dirty="0">
                <a:solidFill>
                  <a:srgbClr val="333333"/>
                </a:solidFill>
                <a:effectLst/>
                <a:latin typeface="Arial" panose="020B0604020202020204" pitchFamily="34" charset="0"/>
              </a:rPr>
              <a:t>爱好</a:t>
            </a:r>
            <a:r>
              <a:rPr lang="en-US" altLang="zh-CN" sz="1600" b="0" i="0" dirty="0">
                <a:solidFill>
                  <a:srgbClr val="333333"/>
                </a:solidFill>
                <a:effectLst/>
                <a:latin typeface="Arial" panose="020B0604020202020204" pitchFamily="34" charset="0"/>
              </a:rPr>
              <a:t>;</a:t>
            </a:r>
            <a:r>
              <a:rPr lang="zh-CN" altLang="en-US" sz="1600" b="0" i="0" dirty="0">
                <a:solidFill>
                  <a:srgbClr val="333333"/>
                </a:solidFill>
                <a:effectLst/>
                <a:latin typeface="Arial" panose="020B0604020202020204" pitchFamily="34" charset="0"/>
              </a:rPr>
              <a:t>偏爱的事物</a:t>
            </a:r>
            <a:r>
              <a:rPr lang="en-US" altLang="zh-CN" sz="1600" b="0" i="0" dirty="0">
                <a:solidFill>
                  <a:srgbClr val="333333"/>
                </a:solidFill>
                <a:effectLst/>
                <a:latin typeface="Arial" panose="020B0604020202020204" pitchFamily="34" charset="0"/>
              </a:rPr>
              <a:t>;</a:t>
            </a:r>
            <a:r>
              <a:rPr lang="zh-CN" altLang="en-US" sz="1600" b="0" i="0" dirty="0">
                <a:solidFill>
                  <a:srgbClr val="333333"/>
                </a:solidFill>
                <a:effectLst/>
                <a:latin typeface="Arial" panose="020B0604020202020204" pitchFamily="34" charset="0"/>
              </a:rPr>
              <a:t>最喜爱的东西</a:t>
            </a:r>
            <a:endParaRPr lang="zh-CN" altLang="en-US" sz="1600" dirty="0"/>
          </a:p>
        </p:txBody>
      </p:sp>
      <p:sp>
        <p:nvSpPr>
          <p:cNvPr id="7" name="矩形 6">
            <a:extLst>
              <a:ext uri="{FF2B5EF4-FFF2-40B4-BE49-F238E27FC236}">
                <a16:creationId xmlns:a16="http://schemas.microsoft.com/office/drawing/2014/main" id="{5863F3A3-AFD2-9685-EB1B-9FE93DFCCC8B}"/>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文本框 10">
            <a:extLst>
              <a:ext uri="{FF2B5EF4-FFF2-40B4-BE49-F238E27FC236}">
                <a16:creationId xmlns:a16="http://schemas.microsoft.com/office/drawing/2014/main" id="{745C0357-8273-5933-00C2-A5989ACE7B5A}"/>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使用</a:t>
            </a:r>
            <a:r>
              <a:rPr lang="en-US" altLang="zh-CN" sz="4000" dirty="0">
                <a:solidFill>
                  <a:schemeClr val="accent1">
                    <a:lumMod val="75000"/>
                  </a:schemeClr>
                </a:solidFill>
                <a:latin typeface="Arial Black" panose="020B0A04020102020204" pitchFamily="34" charset="0"/>
                <a:ea typeface="黑体" panose="02010609060101010101" pitchFamily="49" charset="-122"/>
              </a:rPr>
              <a:t>AD</a:t>
            </a:r>
            <a:r>
              <a:rPr lang="zh-CN" altLang="en-US" sz="4000" dirty="0">
                <a:solidFill>
                  <a:schemeClr val="accent1">
                    <a:lumMod val="75000"/>
                  </a:schemeClr>
                </a:solidFill>
                <a:latin typeface="黑体" panose="02010609060101010101" pitchFamily="49" charset="-122"/>
                <a:ea typeface="黑体" panose="02010609060101010101" pitchFamily="49" charset="-122"/>
              </a:rPr>
              <a:t>设计电路原理图</a:t>
            </a:r>
            <a:endParaRPr lang="zh-CN" altLang="en-US" sz="4000" dirty="0">
              <a:solidFill>
                <a:srgbClr val="003F88"/>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2593727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a:extLst>
              <a:ext uri="{FF2B5EF4-FFF2-40B4-BE49-F238E27FC236}">
                <a16:creationId xmlns:a16="http://schemas.microsoft.com/office/drawing/2014/main" id="{85F08AF6-A91E-68D2-112F-CD47ACC2FBBC}"/>
              </a:ext>
            </a:extLst>
          </p:cNvPr>
          <p:cNvPicPr>
            <a:picLocks noChangeAspect="1"/>
          </p:cNvPicPr>
          <p:nvPr/>
        </p:nvPicPr>
        <p:blipFill>
          <a:blip r:embed="rId3"/>
          <a:stretch>
            <a:fillRect/>
          </a:stretch>
        </p:blipFill>
        <p:spPr>
          <a:xfrm>
            <a:off x="0" y="3103214"/>
            <a:ext cx="3833629" cy="3073749"/>
          </a:xfrm>
          <a:prstGeom prst="rect">
            <a:avLst/>
          </a:prstGeom>
        </p:spPr>
      </p:pic>
      <p:pic>
        <p:nvPicPr>
          <p:cNvPr id="15" name="图片 14">
            <a:extLst>
              <a:ext uri="{FF2B5EF4-FFF2-40B4-BE49-F238E27FC236}">
                <a16:creationId xmlns:a16="http://schemas.microsoft.com/office/drawing/2014/main" id="{6BF53EA1-6E81-38AF-989E-716C5764C1FD}"/>
              </a:ext>
            </a:extLst>
          </p:cNvPr>
          <p:cNvPicPr>
            <a:picLocks noChangeAspect="1"/>
          </p:cNvPicPr>
          <p:nvPr/>
        </p:nvPicPr>
        <p:blipFill>
          <a:blip r:embed="rId4"/>
          <a:stretch>
            <a:fillRect/>
          </a:stretch>
        </p:blipFill>
        <p:spPr>
          <a:xfrm>
            <a:off x="3996924" y="3103214"/>
            <a:ext cx="4231563" cy="2846816"/>
          </a:xfrm>
          <a:prstGeom prst="rect">
            <a:avLst/>
          </a:prstGeom>
        </p:spPr>
      </p:pic>
      <p:pic>
        <p:nvPicPr>
          <p:cNvPr id="17" name="图片 16">
            <a:extLst>
              <a:ext uri="{FF2B5EF4-FFF2-40B4-BE49-F238E27FC236}">
                <a16:creationId xmlns:a16="http://schemas.microsoft.com/office/drawing/2014/main" id="{0AF4A71D-2B1C-BBAD-FEAA-44933A13046D}"/>
              </a:ext>
            </a:extLst>
          </p:cNvPr>
          <p:cNvPicPr>
            <a:picLocks noChangeAspect="1"/>
          </p:cNvPicPr>
          <p:nvPr/>
        </p:nvPicPr>
        <p:blipFill>
          <a:blip r:embed="rId5"/>
          <a:stretch>
            <a:fillRect/>
          </a:stretch>
        </p:blipFill>
        <p:spPr>
          <a:xfrm>
            <a:off x="8391783" y="3103214"/>
            <a:ext cx="3645104" cy="3061179"/>
          </a:xfrm>
          <a:prstGeom prst="rect">
            <a:avLst/>
          </a:prstGeom>
        </p:spPr>
      </p:pic>
      <p:sp>
        <p:nvSpPr>
          <p:cNvPr id="13" name="标题 1">
            <a:extLst>
              <a:ext uri="{FF2B5EF4-FFF2-40B4-BE49-F238E27FC236}">
                <a16:creationId xmlns:a16="http://schemas.microsoft.com/office/drawing/2014/main" id="{65A7835A-BD29-0F38-2BB1-15481E3B5D13}"/>
              </a:ext>
            </a:extLst>
          </p:cNvPr>
          <p:cNvSpPr>
            <a:spLocks noGrp="1"/>
          </p:cNvSpPr>
          <p:nvPr>
            <p:ph type="title"/>
          </p:nvPr>
        </p:nvSpPr>
        <p:spPr>
          <a:xfrm>
            <a:off x="905795" y="1177290"/>
            <a:ext cx="11410316" cy="1045266"/>
          </a:xfrm>
        </p:spPr>
        <p:txBody>
          <a:bodyPr>
            <a:normAutofit fontScale="90000"/>
          </a:bodyPr>
          <a:lstStyle/>
          <a:p>
            <a:r>
              <a:rPr lang="zh-CN" altLang="en-US" sz="3600" dirty="0">
                <a:solidFill>
                  <a:srgbClr val="FF0000"/>
                </a:solidFill>
                <a:latin typeface="黑体" panose="02010609060101010101" pitchFamily="49" charset="-122"/>
                <a:ea typeface="黑体" panose="02010609060101010101" pitchFamily="49" charset="-122"/>
              </a:rPr>
              <a:t>准备工作</a:t>
            </a:r>
            <a:r>
              <a:rPr lang="zh-CN" altLang="en-US" sz="3600" dirty="0">
                <a:latin typeface="黑体" panose="02010609060101010101" pitchFamily="49" charset="-122"/>
                <a:ea typeface="黑体" panose="02010609060101010101" pitchFamily="49" charset="-122"/>
              </a:rPr>
              <a:t>：配置系统参数、原理图编辑器参数、</a:t>
            </a:r>
            <a:r>
              <a:rPr lang="en-US" altLang="zh-CN" sz="3600" dirty="0">
                <a:latin typeface="黑体" panose="02010609060101010101" pitchFamily="49" charset="-122"/>
                <a:ea typeface="黑体" panose="02010609060101010101" pitchFamily="49" charset="-122"/>
              </a:rPr>
              <a:t>PCB</a:t>
            </a:r>
            <a:r>
              <a:rPr lang="zh-CN" altLang="en-US" sz="3600" dirty="0">
                <a:latin typeface="黑体" panose="02010609060101010101" pitchFamily="49" charset="-122"/>
                <a:ea typeface="黑体" panose="02010609060101010101" pitchFamily="49" charset="-122"/>
              </a:rPr>
              <a:t>编辑器参数</a:t>
            </a:r>
          </a:p>
        </p:txBody>
      </p:sp>
      <p:sp>
        <p:nvSpPr>
          <p:cNvPr id="14" name="文本框 13">
            <a:extLst>
              <a:ext uri="{FF2B5EF4-FFF2-40B4-BE49-F238E27FC236}">
                <a16:creationId xmlns:a16="http://schemas.microsoft.com/office/drawing/2014/main" id="{09842155-C64E-174B-380E-21AA391A49C1}"/>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使用</a:t>
            </a:r>
            <a:r>
              <a:rPr lang="en-US" altLang="zh-CN" sz="4000" dirty="0">
                <a:solidFill>
                  <a:schemeClr val="accent1">
                    <a:lumMod val="75000"/>
                  </a:schemeClr>
                </a:solidFill>
                <a:latin typeface="Arial Black" panose="020B0A04020102020204" pitchFamily="34" charset="0"/>
                <a:ea typeface="黑体" panose="02010609060101010101" pitchFamily="49" charset="-122"/>
              </a:rPr>
              <a:t>AD</a:t>
            </a:r>
            <a:r>
              <a:rPr lang="zh-CN" altLang="en-US" sz="4000" dirty="0">
                <a:solidFill>
                  <a:schemeClr val="accent1">
                    <a:lumMod val="75000"/>
                  </a:schemeClr>
                </a:solidFill>
                <a:latin typeface="黑体" panose="02010609060101010101" pitchFamily="49" charset="-122"/>
                <a:ea typeface="黑体" panose="02010609060101010101" pitchFamily="49" charset="-122"/>
              </a:rPr>
              <a:t>设计电路原理图</a:t>
            </a:r>
            <a:endParaRPr lang="zh-CN" altLang="en-US" sz="4000" dirty="0">
              <a:solidFill>
                <a:srgbClr val="003F88"/>
              </a:solidFill>
              <a:latin typeface="黑体" panose="02010609060101010101" pitchFamily="49" charset="-122"/>
              <a:ea typeface="黑体" panose="02010609060101010101" pitchFamily="49" charset="-122"/>
            </a:endParaRPr>
          </a:p>
        </p:txBody>
      </p:sp>
      <p:sp>
        <p:nvSpPr>
          <p:cNvPr id="26" name="内容占位符 2">
            <a:extLst>
              <a:ext uri="{FF2B5EF4-FFF2-40B4-BE49-F238E27FC236}">
                <a16:creationId xmlns:a16="http://schemas.microsoft.com/office/drawing/2014/main" id="{D8AB9701-1259-A205-63F2-8F6D7E2A6CDE}"/>
              </a:ext>
            </a:extLst>
          </p:cNvPr>
          <p:cNvSpPr txBox="1">
            <a:spLocks/>
          </p:cNvSpPr>
          <p:nvPr/>
        </p:nvSpPr>
        <p:spPr>
          <a:xfrm>
            <a:off x="838200" y="201358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dirty="0">
                <a:latin typeface="Arial Black" panose="020B0A04020102020204" pitchFamily="34" charset="0"/>
                <a:ea typeface="黑体" panose="02010609060101010101" pitchFamily="49" charset="-122"/>
              </a:rPr>
              <a:t>*</a:t>
            </a:r>
            <a:r>
              <a:rPr lang="zh-CN" altLang="en-US" dirty="0">
                <a:latin typeface="Arial Black" panose="020B0A04020102020204" pitchFamily="34" charset="0"/>
                <a:ea typeface="黑体" panose="02010609060101010101" pitchFamily="49" charset="-122"/>
              </a:rPr>
              <a:t>操作：</a:t>
            </a:r>
            <a:r>
              <a:rPr lang="en-US" altLang="zh-CN" dirty="0">
                <a:latin typeface="Arial Black" panose="020B0A04020102020204" pitchFamily="34" charset="0"/>
                <a:ea typeface="黑体" panose="02010609060101010101" pitchFamily="49" charset="-122"/>
              </a:rPr>
              <a:t>DXP</a:t>
            </a:r>
            <a:r>
              <a:rPr lang="zh-CN" altLang="en-US" dirty="0">
                <a:latin typeface="Arial Black" panose="020B0A04020102020204" pitchFamily="34" charset="0"/>
                <a:ea typeface="黑体" panose="02010609060101010101" pitchFamily="49" charset="-122"/>
              </a:rPr>
              <a:t>菜单</a:t>
            </a:r>
            <a:r>
              <a:rPr lang="en-US" altLang="zh-CN" dirty="0">
                <a:latin typeface="Arial Black" panose="020B0A04020102020204" pitchFamily="34" charset="0"/>
                <a:ea typeface="黑体" panose="02010609060101010101" pitchFamily="49" charset="-122"/>
              </a:rPr>
              <a:t>→ Preference</a:t>
            </a:r>
          </a:p>
          <a:p>
            <a:pPr marL="0" indent="0">
              <a:buFont typeface="Arial" panose="020B0604020202020204" pitchFamily="34" charset="0"/>
              <a:buNone/>
            </a:pPr>
            <a:endParaRPr lang="zh-CN" altLang="en-US" dirty="0">
              <a:latin typeface="Arial Black" panose="020B0A04020102020204" pitchFamily="34" charset="0"/>
              <a:ea typeface="黑体" panose="02010609060101010101" pitchFamily="49" charset="-122"/>
            </a:endParaRPr>
          </a:p>
        </p:txBody>
      </p:sp>
      <p:sp>
        <p:nvSpPr>
          <p:cNvPr id="27" name="矩形 26">
            <a:extLst>
              <a:ext uri="{FF2B5EF4-FFF2-40B4-BE49-F238E27FC236}">
                <a16:creationId xmlns:a16="http://schemas.microsoft.com/office/drawing/2014/main" id="{B3E6C421-4AB8-EE1B-44EA-604DC1640592}"/>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124384763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E7BD0B6-E6E4-98DD-B9CA-2F0D5B0DA38D}"/>
              </a:ext>
            </a:extLst>
          </p:cNvPr>
          <p:cNvSpPr>
            <a:spLocks noGrp="1"/>
          </p:cNvSpPr>
          <p:nvPr>
            <p:ph idx="1"/>
          </p:nvPr>
        </p:nvSpPr>
        <p:spPr>
          <a:xfrm>
            <a:off x="868615" y="2149475"/>
            <a:ext cx="10515600" cy="4351338"/>
          </a:xfrm>
        </p:spPr>
        <p:txBody>
          <a:bodyPr>
            <a:normAutofit/>
          </a:bodyPr>
          <a:lstStyle/>
          <a:p>
            <a:pPr marL="0" indent="0">
              <a:buNone/>
            </a:pPr>
            <a:r>
              <a:rPr lang="en-US" altLang="zh-CN" dirty="0">
                <a:latin typeface="Arial Black" panose="020B0A04020102020204" pitchFamily="34" charset="0"/>
                <a:ea typeface="黑体" panose="02010609060101010101" pitchFamily="49" charset="-122"/>
              </a:rPr>
              <a:t>*</a:t>
            </a:r>
            <a:r>
              <a:rPr lang="zh-CN" altLang="en-US" dirty="0">
                <a:latin typeface="Arial Black" panose="020B0A04020102020204" pitchFamily="34" charset="0"/>
                <a:ea typeface="黑体" panose="02010609060101010101" pitchFamily="49" charset="-122"/>
              </a:rPr>
              <a:t>操作：</a:t>
            </a:r>
            <a:r>
              <a:rPr lang="en-US" altLang="zh-CN" dirty="0">
                <a:latin typeface="Arial Black" panose="020B0A04020102020204" pitchFamily="34" charset="0"/>
                <a:ea typeface="黑体" panose="02010609060101010101" pitchFamily="49" charset="-122"/>
              </a:rPr>
              <a:t>DXP</a:t>
            </a:r>
            <a:r>
              <a:rPr lang="zh-CN" altLang="en-US" dirty="0">
                <a:latin typeface="Arial Black" panose="020B0A04020102020204" pitchFamily="34" charset="0"/>
                <a:ea typeface="黑体" panose="02010609060101010101" pitchFamily="49" charset="-122"/>
              </a:rPr>
              <a:t>菜单</a:t>
            </a:r>
            <a:r>
              <a:rPr lang="en-US" altLang="zh-CN" dirty="0">
                <a:latin typeface="Arial Black" panose="020B0A04020102020204" pitchFamily="34" charset="0"/>
                <a:ea typeface="黑体" panose="02010609060101010101" pitchFamily="49" charset="-122"/>
              </a:rPr>
              <a:t>→Preference → </a:t>
            </a:r>
            <a:r>
              <a:rPr lang="en-US" altLang="zh-CN" b="1" dirty="0">
                <a:latin typeface="Arial Black" panose="020B0A04020102020204" pitchFamily="34" charset="0"/>
                <a:ea typeface="黑体" panose="02010609060101010101" pitchFamily="49" charset="-122"/>
              </a:rPr>
              <a:t>System</a:t>
            </a:r>
            <a:r>
              <a:rPr lang="en-US" altLang="zh-CN" dirty="0">
                <a:latin typeface="Arial Black" panose="020B0A04020102020204" pitchFamily="34" charset="0"/>
                <a:ea typeface="黑体" panose="02010609060101010101" pitchFamily="49" charset="-122"/>
              </a:rPr>
              <a:t> → </a:t>
            </a:r>
            <a:r>
              <a:rPr lang="en-US" altLang="zh-CN" b="1" dirty="0">
                <a:solidFill>
                  <a:srgbClr val="FF0000"/>
                </a:solidFill>
                <a:latin typeface="Arial Black" panose="020B0A04020102020204" pitchFamily="34" charset="0"/>
                <a:ea typeface="黑体" panose="02010609060101010101" pitchFamily="49" charset="-122"/>
              </a:rPr>
              <a:t>General</a:t>
            </a:r>
          </a:p>
          <a:p>
            <a:pPr marL="0" indent="0">
              <a:buNone/>
            </a:pPr>
            <a:r>
              <a:rPr lang="zh-CN" altLang="en-US" dirty="0">
                <a:latin typeface="Arial" panose="020B0604020202020204" pitchFamily="34" charset="0"/>
                <a:ea typeface="黑体" panose="02010609060101010101" pitchFamily="49" charset="-122"/>
                <a:cs typeface="Arial" panose="020B0604020202020204" pitchFamily="34" charset="0"/>
              </a:rPr>
              <a:t>设置默认位置</a:t>
            </a:r>
            <a:r>
              <a:rPr lang="en-US" altLang="zh-CN" dirty="0">
                <a:latin typeface="Arial" panose="020B0604020202020204" pitchFamily="34" charset="0"/>
                <a:ea typeface="黑体" panose="02010609060101010101" pitchFamily="49" charset="-122"/>
                <a:cs typeface="Arial" panose="020B0604020202020204" pitchFamily="34" charset="0"/>
              </a:rPr>
              <a:t>Default Locations</a:t>
            </a:r>
            <a:r>
              <a:rPr lang="zh-CN" altLang="en-US" dirty="0">
                <a:latin typeface="Arial" panose="020B0604020202020204" pitchFamily="34" charset="0"/>
                <a:ea typeface="黑体" panose="02010609060101010101" pitchFamily="49" charset="-122"/>
                <a:cs typeface="Arial" panose="020B0604020202020204" pitchFamily="34" charset="0"/>
              </a:rPr>
              <a:t>，包含</a:t>
            </a:r>
            <a:r>
              <a:rPr lang="zh-CN" altLang="en-US" u="sng" dirty="0">
                <a:latin typeface="Arial" panose="020B0604020202020204" pitchFamily="34" charset="0"/>
                <a:ea typeface="黑体" panose="02010609060101010101" pitchFamily="49" charset="-122"/>
                <a:cs typeface="Arial" panose="020B0604020202020204" pitchFamily="34" charset="0"/>
              </a:rPr>
              <a:t>文件路径</a:t>
            </a:r>
            <a:r>
              <a:rPr lang="zh-CN" altLang="en-US" dirty="0">
                <a:latin typeface="Arial" panose="020B0604020202020204" pitchFamily="34" charset="0"/>
                <a:ea typeface="黑体" panose="02010609060101010101" pitchFamily="49" charset="-122"/>
                <a:cs typeface="Arial" panose="020B0604020202020204" pitchFamily="34" charset="0"/>
              </a:rPr>
              <a:t>和</a:t>
            </a:r>
            <a:r>
              <a:rPr lang="zh-CN" altLang="en-US" u="sng" dirty="0">
                <a:latin typeface="Arial" panose="020B0604020202020204" pitchFamily="34" charset="0"/>
                <a:ea typeface="黑体" panose="02010609060101010101" pitchFamily="49" charset="-122"/>
                <a:cs typeface="Arial" panose="020B0604020202020204" pitchFamily="34" charset="0"/>
              </a:rPr>
              <a:t>库路径</a:t>
            </a:r>
            <a:endParaRPr lang="en-US" altLang="zh-CN" u="sng" dirty="0">
              <a:latin typeface="Arial" panose="020B0604020202020204" pitchFamily="34" charset="0"/>
              <a:ea typeface="黑体" panose="02010609060101010101" pitchFamily="49" charset="-122"/>
              <a:cs typeface="Arial" panose="020B0604020202020204" pitchFamily="34" charset="0"/>
            </a:endParaRPr>
          </a:p>
        </p:txBody>
      </p:sp>
      <p:grpSp>
        <p:nvGrpSpPr>
          <p:cNvPr id="7" name="组合 6">
            <a:extLst>
              <a:ext uri="{FF2B5EF4-FFF2-40B4-BE49-F238E27FC236}">
                <a16:creationId xmlns:a16="http://schemas.microsoft.com/office/drawing/2014/main" id="{84AAA4B3-8658-61A9-C044-D78FC176A84D}"/>
              </a:ext>
            </a:extLst>
          </p:cNvPr>
          <p:cNvGrpSpPr/>
          <p:nvPr/>
        </p:nvGrpSpPr>
        <p:grpSpPr>
          <a:xfrm>
            <a:off x="1089169" y="3429000"/>
            <a:ext cx="10013662" cy="3248541"/>
            <a:chOff x="4779298" y="1231545"/>
            <a:chExt cx="6574502" cy="2446374"/>
          </a:xfrm>
        </p:grpSpPr>
        <p:pic>
          <p:nvPicPr>
            <p:cNvPr id="9" name="图片 8">
              <a:extLst>
                <a:ext uri="{FF2B5EF4-FFF2-40B4-BE49-F238E27FC236}">
                  <a16:creationId xmlns:a16="http://schemas.microsoft.com/office/drawing/2014/main" id="{B8162905-381B-277E-40F1-58FA703511C4}"/>
                </a:ext>
              </a:extLst>
            </p:cNvPr>
            <p:cNvPicPr>
              <a:picLocks noChangeAspect="1"/>
            </p:cNvPicPr>
            <p:nvPr/>
          </p:nvPicPr>
          <p:blipFill rotWithShape="1">
            <a:blip r:embed="rId3"/>
            <a:srcRect l="26265" t="10710" b="50604"/>
            <a:stretch/>
          </p:blipFill>
          <p:spPr>
            <a:xfrm>
              <a:off x="4779298" y="1231545"/>
              <a:ext cx="6574502" cy="2446374"/>
            </a:xfrm>
            <a:prstGeom prst="rect">
              <a:avLst/>
            </a:prstGeom>
          </p:spPr>
        </p:pic>
        <p:sp>
          <p:nvSpPr>
            <p:cNvPr id="4" name="矩形: 圆角 3">
              <a:extLst>
                <a:ext uri="{FF2B5EF4-FFF2-40B4-BE49-F238E27FC236}">
                  <a16:creationId xmlns:a16="http://schemas.microsoft.com/office/drawing/2014/main" id="{83A43090-AEA9-AD9D-241A-5E9CB4C2D32A}"/>
                </a:ext>
              </a:extLst>
            </p:cNvPr>
            <p:cNvSpPr/>
            <p:nvPr/>
          </p:nvSpPr>
          <p:spPr>
            <a:xfrm>
              <a:off x="6444343" y="2735943"/>
              <a:ext cx="4826000" cy="566057"/>
            </a:xfrm>
            <a:prstGeom prst="roundRect">
              <a:avLst/>
            </a:prstGeom>
            <a:noFill/>
            <a:ln>
              <a:solidFill>
                <a:srgbClr val="FF0000"/>
              </a:solidFill>
              <a:extLst>
                <a:ext uri="{C807C97D-BFC1-408E-A445-0C87EB9F89A2}">
                  <ask:lineSketchStyleProps xmlns:ask="http://schemas.microsoft.com/office/drawing/2018/sketchyshapes" sd="858276661">
                    <a:custGeom>
                      <a:avLst/>
                      <a:gdLst>
                        <a:gd name="connsiteX0" fmla="*/ 0 w 4826000"/>
                        <a:gd name="connsiteY0" fmla="*/ 94345 h 566057"/>
                        <a:gd name="connsiteX1" fmla="*/ 94345 w 4826000"/>
                        <a:gd name="connsiteY1" fmla="*/ 0 h 566057"/>
                        <a:gd name="connsiteX2" fmla="*/ 766755 w 4826000"/>
                        <a:gd name="connsiteY2" fmla="*/ 0 h 566057"/>
                        <a:gd name="connsiteX3" fmla="*/ 1253673 w 4826000"/>
                        <a:gd name="connsiteY3" fmla="*/ 0 h 566057"/>
                        <a:gd name="connsiteX4" fmla="*/ 1786963 w 4826000"/>
                        <a:gd name="connsiteY4" fmla="*/ 0 h 566057"/>
                        <a:gd name="connsiteX5" fmla="*/ 2413000 w 4826000"/>
                        <a:gd name="connsiteY5" fmla="*/ 0 h 566057"/>
                        <a:gd name="connsiteX6" fmla="*/ 3085410 w 4826000"/>
                        <a:gd name="connsiteY6" fmla="*/ 0 h 566057"/>
                        <a:gd name="connsiteX7" fmla="*/ 3665074 w 4826000"/>
                        <a:gd name="connsiteY7" fmla="*/ 0 h 566057"/>
                        <a:gd name="connsiteX8" fmla="*/ 4105618 w 4826000"/>
                        <a:gd name="connsiteY8" fmla="*/ 0 h 566057"/>
                        <a:gd name="connsiteX9" fmla="*/ 4731655 w 4826000"/>
                        <a:gd name="connsiteY9" fmla="*/ 0 h 566057"/>
                        <a:gd name="connsiteX10" fmla="*/ 4826000 w 4826000"/>
                        <a:gd name="connsiteY10" fmla="*/ 94345 h 566057"/>
                        <a:gd name="connsiteX11" fmla="*/ 4826000 w 4826000"/>
                        <a:gd name="connsiteY11" fmla="*/ 471712 h 566057"/>
                        <a:gd name="connsiteX12" fmla="*/ 4731655 w 4826000"/>
                        <a:gd name="connsiteY12" fmla="*/ 566057 h 566057"/>
                        <a:gd name="connsiteX13" fmla="*/ 4244737 w 4826000"/>
                        <a:gd name="connsiteY13" fmla="*/ 566057 h 566057"/>
                        <a:gd name="connsiteX14" fmla="*/ 3665074 w 4826000"/>
                        <a:gd name="connsiteY14" fmla="*/ 566057 h 566057"/>
                        <a:gd name="connsiteX15" fmla="*/ 2992664 w 4826000"/>
                        <a:gd name="connsiteY15" fmla="*/ 566057 h 566057"/>
                        <a:gd name="connsiteX16" fmla="*/ 2320254 w 4826000"/>
                        <a:gd name="connsiteY16" fmla="*/ 566057 h 566057"/>
                        <a:gd name="connsiteX17" fmla="*/ 1833336 w 4826000"/>
                        <a:gd name="connsiteY17" fmla="*/ 566057 h 566057"/>
                        <a:gd name="connsiteX18" fmla="*/ 1392792 w 4826000"/>
                        <a:gd name="connsiteY18" fmla="*/ 566057 h 566057"/>
                        <a:gd name="connsiteX19" fmla="*/ 905874 w 4826000"/>
                        <a:gd name="connsiteY19" fmla="*/ 566057 h 566057"/>
                        <a:gd name="connsiteX20" fmla="*/ 94345 w 4826000"/>
                        <a:gd name="connsiteY20" fmla="*/ 566057 h 566057"/>
                        <a:gd name="connsiteX21" fmla="*/ 0 w 4826000"/>
                        <a:gd name="connsiteY21" fmla="*/ 471712 h 566057"/>
                        <a:gd name="connsiteX22" fmla="*/ 0 w 4826000"/>
                        <a:gd name="connsiteY22" fmla="*/ 94345 h 566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826000" h="566057" extrusionOk="0">
                          <a:moveTo>
                            <a:pt x="0" y="94345"/>
                          </a:moveTo>
                          <a:cubicBezTo>
                            <a:pt x="2452" y="36041"/>
                            <a:pt x="50918" y="5474"/>
                            <a:pt x="94345" y="0"/>
                          </a:cubicBezTo>
                          <a:cubicBezTo>
                            <a:pt x="307789" y="-80201"/>
                            <a:pt x="569391" y="9170"/>
                            <a:pt x="766755" y="0"/>
                          </a:cubicBezTo>
                          <a:cubicBezTo>
                            <a:pt x="964119" y="-9170"/>
                            <a:pt x="1099117" y="46197"/>
                            <a:pt x="1253673" y="0"/>
                          </a:cubicBezTo>
                          <a:cubicBezTo>
                            <a:pt x="1408229" y="-46197"/>
                            <a:pt x="1522208" y="35458"/>
                            <a:pt x="1786963" y="0"/>
                          </a:cubicBezTo>
                          <a:cubicBezTo>
                            <a:pt x="2051718" y="-35458"/>
                            <a:pt x="2168560" y="39008"/>
                            <a:pt x="2413000" y="0"/>
                          </a:cubicBezTo>
                          <a:cubicBezTo>
                            <a:pt x="2657440" y="-39008"/>
                            <a:pt x="2927487" y="37959"/>
                            <a:pt x="3085410" y="0"/>
                          </a:cubicBezTo>
                          <a:cubicBezTo>
                            <a:pt x="3243333" y="-37959"/>
                            <a:pt x="3490987" y="42705"/>
                            <a:pt x="3665074" y="0"/>
                          </a:cubicBezTo>
                          <a:cubicBezTo>
                            <a:pt x="3839161" y="-42705"/>
                            <a:pt x="3986218" y="21700"/>
                            <a:pt x="4105618" y="0"/>
                          </a:cubicBezTo>
                          <a:cubicBezTo>
                            <a:pt x="4225018" y="-21700"/>
                            <a:pt x="4574497" y="61342"/>
                            <a:pt x="4731655" y="0"/>
                          </a:cubicBezTo>
                          <a:cubicBezTo>
                            <a:pt x="4777437" y="-1862"/>
                            <a:pt x="4828874" y="49513"/>
                            <a:pt x="4826000" y="94345"/>
                          </a:cubicBezTo>
                          <a:cubicBezTo>
                            <a:pt x="4831618" y="219508"/>
                            <a:pt x="4819292" y="370513"/>
                            <a:pt x="4826000" y="471712"/>
                          </a:cubicBezTo>
                          <a:cubicBezTo>
                            <a:pt x="4831973" y="512857"/>
                            <a:pt x="4787171" y="567208"/>
                            <a:pt x="4731655" y="566057"/>
                          </a:cubicBezTo>
                          <a:cubicBezTo>
                            <a:pt x="4572431" y="581075"/>
                            <a:pt x="4430755" y="513258"/>
                            <a:pt x="4244737" y="566057"/>
                          </a:cubicBezTo>
                          <a:cubicBezTo>
                            <a:pt x="4058719" y="618856"/>
                            <a:pt x="3861334" y="542023"/>
                            <a:pt x="3665074" y="566057"/>
                          </a:cubicBezTo>
                          <a:cubicBezTo>
                            <a:pt x="3468814" y="590091"/>
                            <a:pt x="3267707" y="522458"/>
                            <a:pt x="2992664" y="566057"/>
                          </a:cubicBezTo>
                          <a:cubicBezTo>
                            <a:pt x="2717621" y="609656"/>
                            <a:pt x="2508520" y="516756"/>
                            <a:pt x="2320254" y="566057"/>
                          </a:cubicBezTo>
                          <a:cubicBezTo>
                            <a:pt x="2131988" y="615358"/>
                            <a:pt x="2067706" y="553859"/>
                            <a:pt x="1833336" y="566057"/>
                          </a:cubicBezTo>
                          <a:cubicBezTo>
                            <a:pt x="1598966" y="578255"/>
                            <a:pt x="1547120" y="557636"/>
                            <a:pt x="1392792" y="566057"/>
                          </a:cubicBezTo>
                          <a:cubicBezTo>
                            <a:pt x="1238464" y="574478"/>
                            <a:pt x="1047320" y="528635"/>
                            <a:pt x="905874" y="566057"/>
                          </a:cubicBezTo>
                          <a:cubicBezTo>
                            <a:pt x="764428" y="603479"/>
                            <a:pt x="348778" y="540727"/>
                            <a:pt x="94345" y="566057"/>
                          </a:cubicBezTo>
                          <a:cubicBezTo>
                            <a:pt x="40714" y="569779"/>
                            <a:pt x="5869" y="531425"/>
                            <a:pt x="0" y="471712"/>
                          </a:cubicBezTo>
                          <a:cubicBezTo>
                            <a:pt x="-15136" y="330715"/>
                            <a:pt x="6877" y="183499"/>
                            <a:pt x="0" y="94345"/>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a:extLst>
                <a:ext uri="{FF2B5EF4-FFF2-40B4-BE49-F238E27FC236}">
                  <a16:creationId xmlns:a16="http://schemas.microsoft.com/office/drawing/2014/main" id="{53CDF1AE-766F-9636-250C-D17A03D1D469}"/>
                </a:ext>
              </a:extLst>
            </p:cNvPr>
            <p:cNvSpPr/>
            <p:nvPr/>
          </p:nvSpPr>
          <p:spPr>
            <a:xfrm>
              <a:off x="4926640" y="1523999"/>
              <a:ext cx="658453" cy="323465"/>
            </a:xfrm>
            <a:prstGeom prst="roundRect">
              <a:avLst/>
            </a:prstGeom>
            <a:noFill/>
            <a:ln w="19050">
              <a:solidFill>
                <a:srgbClr val="FF0000"/>
              </a:solidFill>
              <a:extLst>
                <a:ext uri="{C807C97D-BFC1-408E-A445-0C87EB9F89A2}">
                  <ask:lineSketchStyleProps xmlns:ask="http://schemas.microsoft.com/office/drawing/2018/sketchyshapes" sd="3129864272">
                    <a:custGeom>
                      <a:avLst/>
                      <a:gdLst>
                        <a:gd name="connsiteX0" fmla="*/ 0 w 658453"/>
                        <a:gd name="connsiteY0" fmla="*/ 53912 h 323465"/>
                        <a:gd name="connsiteX1" fmla="*/ 53912 w 658453"/>
                        <a:gd name="connsiteY1" fmla="*/ 0 h 323465"/>
                        <a:gd name="connsiteX2" fmla="*/ 604541 w 658453"/>
                        <a:gd name="connsiteY2" fmla="*/ 0 h 323465"/>
                        <a:gd name="connsiteX3" fmla="*/ 658453 w 658453"/>
                        <a:gd name="connsiteY3" fmla="*/ 53912 h 323465"/>
                        <a:gd name="connsiteX4" fmla="*/ 658453 w 658453"/>
                        <a:gd name="connsiteY4" fmla="*/ 269553 h 323465"/>
                        <a:gd name="connsiteX5" fmla="*/ 604541 w 658453"/>
                        <a:gd name="connsiteY5" fmla="*/ 323465 h 323465"/>
                        <a:gd name="connsiteX6" fmla="*/ 53912 w 658453"/>
                        <a:gd name="connsiteY6" fmla="*/ 323465 h 323465"/>
                        <a:gd name="connsiteX7" fmla="*/ 0 w 658453"/>
                        <a:gd name="connsiteY7" fmla="*/ 269553 h 323465"/>
                        <a:gd name="connsiteX8" fmla="*/ 0 w 658453"/>
                        <a:gd name="connsiteY8" fmla="*/ 53912 h 323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58453" h="323465" extrusionOk="0">
                          <a:moveTo>
                            <a:pt x="0" y="53912"/>
                          </a:moveTo>
                          <a:cubicBezTo>
                            <a:pt x="961" y="21106"/>
                            <a:pt x="24979" y="2115"/>
                            <a:pt x="53912" y="0"/>
                          </a:cubicBezTo>
                          <a:cubicBezTo>
                            <a:pt x="243374" y="9421"/>
                            <a:pt x="345864" y="-15430"/>
                            <a:pt x="604541" y="0"/>
                          </a:cubicBezTo>
                          <a:cubicBezTo>
                            <a:pt x="631721" y="-5333"/>
                            <a:pt x="664243" y="27514"/>
                            <a:pt x="658453" y="53912"/>
                          </a:cubicBezTo>
                          <a:cubicBezTo>
                            <a:pt x="656864" y="147058"/>
                            <a:pt x="654845" y="181231"/>
                            <a:pt x="658453" y="269553"/>
                          </a:cubicBezTo>
                          <a:cubicBezTo>
                            <a:pt x="660694" y="304836"/>
                            <a:pt x="636219" y="328544"/>
                            <a:pt x="604541" y="323465"/>
                          </a:cubicBezTo>
                          <a:cubicBezTo>
                            <a:pt x="395242" y="340465"/>
                            <a:pt x="223258" y="319487"/>
                            <a:pt x="53912" y="323465"/>
                          </a:cubicBezTo>
                          <a:cubicBezTo>
                            <a:pt x="23968" y="320057"/>
                            <a:pt x="401" y="303564"/>
                            <a:pt x="0" y="269553"/>
                          </a:cubicBezTo>
                          <a:cubicBezTo>
                            <a:pt x="10592" y="163192"/>
                            <a:pt x="9549" y="154543"/>
                            <a:pt x="0" y="53912"/>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8" name="矩形: 圆角 7">
            <a:extLst>
              <a:ext uri="{FF2B5EF4-FFF2-40B4-BE49-F238E27FC236}">
                <a16:creationId xmlns:a16="http://schemas.microsoft.com/office/drawing/2014/main" id="{2078ED62-D2E1-7024-1CD9-A2A765E715DD}"/>
              </a:ext>
            </a:extLst>
          </p:cNvPr>
          <p:cNvSpPr/>
          <p:nvPr/>
        </p:nvSpPr>
        <p:spPr>
          <a:xfrm>
            <a:off x="1126247" y="3508435"/>
            <a:ext cx="865113" cy="220285"/>
          </a:xfrm>
          <a:prstGeom prst="roundRect">
            <a:avLst/>
          </a:prstGeom>
          <a:noFill/>
          <a:ln>
            <a:solidFill>
              <a:srgbClr val="FF0000"/>
            </a:solidFill>
            <a:extLst>
              <a:ext uri="{C807C97D-BFC1-408E-A445-0C87EB9F89A2}">
                <ask:lineSketchStyleProps xmlns:ask="http://schemas.microsoft.com/office/drawing/2018/sketchyshapes" sd="3129864272">
                  <a:custGeom>
                    <a:avLst/>
                    <a:gdLst>
                      <a:gd name="connsiteX0" fmla="*/ 0 w 865113"/>
                      <a:gd name="connsiteY0" fmla="*/ 36715 h 220285"/>
                      <a:gd name="connsiteX1" fmla="*/ 36715 w 865113"/>
                      <a:gd name="connsiteY1" fmla="*/ 0 h 220285"/>
                      <a:gd name="connsiteX2" fmla="*/ 424640 w 865113"/>
                      <a:gd name="connsiteY2" fmla="*/ 0 h 220285"/>
                      <a:gd name="connsiteX3" fmla="*/ 828398 w 865113"/>
                      <a:gd name="connsiteY3" fmla="*/ 0 h 220285"/>
                      <a:gd name="connsiteX4" fmla="*/ 865113 w 865113"/>
                      <a:gd name="connsiteY4" fmla="*/ 36715 h 220285"/>
                      <a:gd name="connsiteX5" fmla="*/ 865113 w 865113"/>
                      <a:gd name="connsiteY5" fmla="*/ 183570 h 220285"/>
                      <a:gd name="connsiteX6" fmla="*/ 828398 w 865113"/>
                      <a:gd name="connsiteY6" fmla="*/ 220285 h 220285"/>
                      <a:gd name="connsiteX7" fmla="*/ 416723 w 865113"/>
                      <a:gd name="connsiteY7" fmla="*/ 220285 h 220285"/>
                      <a:gd name="connsiteX8" fmla="*/ 36715 w 865113"/>
                      <a:gd name="connsiteY8" fmla="*/ 220285 h 220285"/>
                      <a:gd name="connsiteX9" fmla="*/ 0 w 865113"/>
                      <a:gd name="connsiteY9" fmla="*/ 183570 h 220285"/>
                      <a:gd name="connsiteX10" fmla="*/ 0 w 865113"/>
                      <a:gd name="connsiteY10" fmla="*/ 36715 h 220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5113" h="220285" extrusionOk="0">
                        <a:moveTo>
                          <a:pt x="0" y="36715"/>
                        </a:moveTo>
                        <a:cubicBezTo>
                          <a:pt x="1261" y="12463"/>
                          <a:pt x="17879" y="3619"/>
                          <a:pt x="36715" y="0"/>
                        </a:cubicBezTo>
                        <a:cubicBezTo>
                          <a:pt x="205771" y="-1988"/>
                          <a:pt x="341645" y="-1696"/>
                          <a:pt x="424640" y="0"/>
                        </a:cubicBezTo>
                        <a:cubicBezTo>
                          <a:pt x="507635" y="1696"/>
                          <a:pt x="746930" y="4691"/>
                          <a:pt x="828398" y="0"/>
                        </a:cubicBezTo>
                        <a:cubicBezTo>
                          <a:pt x="850675" y="200"/>
                          <a:pt x="861975" y="12893"/>
                          <a:pt x="865113" y="36715"/>
                        </a:cubicBezTo>
                        <a:cubicBezTo>
                          <a:pt x="865490" y="68208"/>
                          <a:pt x="858625" y="115511"/>
                          <a:pt x="865113" y="183570"/>
                        </a:cubicBezTo>
                        <a:cubicBezTo>
                          <a:pt x="864550" y="203636"/>
                          <a:pt x="845157" y="223135"/>
                          <a:pt x="828398" y="220285"/>
                        </a:cubicBezTo>
                        <a:cubicBezTo>
                          <a:pt x="679461" y="223267"/>
                          <a:pt x="536842" y="235691"/>
                          <a:pt x="416723" y="220285"/>
                        </a:cubicBezTo>
                        <a:cubicBezTo>
                          <a:pt x="296605" y="204879"/>
                          <a:pt x="182788" y="232892"/>
                          <a:pt x="36715" y="220285"/>
                        </a:cubicBezTo>
                        <a:cubicBezTo>
                          <a:pt x="14599" y="220136"/>
                          <a:pt x="-4695" y="205063"/>
                          <a:pt x="0" y="183570"/>
                        </a:cubicBezTo>
                        <a:cubicBezTo>
                          <a:pt x="-5062" y="140468"/>
                          <a:pt x="3833" y="77266"/>
                          <a:pt x="0" y="36715"/>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文本框 17">
            <a:extLst>
              <a:ext uri="{FF2B5EF4-FFF2-40B4-BE49-F238E27FC236}">
                <a16:creationId xmlns:a16="http://schemas.microsoft.com/office/drawing/2014/main" id="{53F3AF4D-5D2B-E665-C692-277FEEFD4D83}"/>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使用</a:t>
            </a:r>
            <a:r>
              <a:rPr lang="en-US" altLang="zh-CN" sz="4000" dirty="0">
                <a:solidFill>
                  <a:schemeClr val="accent1">
                    <a:lumMod val="75000"/>
                  </a:schemeClr>
                </a:solidFill>
                <a:latin typeface="Arial Black" panose="020B0A04020102020204" pitchFamily="34" charset="0"/>
                <a:ea typeface="黑体" panose="02010609060101010101" pitchFamily="49" charset="-122"/>
              </a:rPr>
              <a:t>AD</a:t>
            </a:r>
            <a:r>
              <a:rPr lang="zh-CN" altLang="en-US" sz="4000" dirty="0">
                <a:solidFill>
                  <a:schemeClr val="accent1">
                    <a:lumMod val="75000"/>
                  </a:schemeClr>
                </a:solidFill>
                <a:latin typeface="黑体" panose="02010609060101010101" pitchFamily="49" charset="-122"/>
                <a:ea typeface="黑体" panose="02010609060101010101" pitchFamily="49" charset="-122"/>
              </a:rPr>
              <a:t>设计电路原理图</a:t>
            </a:r>
            <a:endParaRPr lang="zh-CN" altLang="en-US" sz="4000" dirty="0">
              <a:solidFill>
                <a:srgbClr val="003F88"/>
              </a:solidFill>
              <a:latin typeface="黑体" panose="02010609060101010101" pitchFamily="49" charset="-122"/>
              <a:ea typeface="黑体" panose="02010609060101010101" pitchFamily="49" charset="-122"/>
            </a:endParaRPr>
          </a:p>
        </p:txBody>
      </p:sp>
      <p:sp>
        <p:nvSpPr>
          <p:cNvPr id="19" name="矩形 18">
            <a:extLst>
              <a:ext uri="{FF2B5EF4-FFF2-40B4-BE49-F238E27FC236}">
                <a16:creationId xmlns:a16="http://schemas.microsoft.com/office/drawing/2014/main" id="{2748A71E-4DB1-74DD-D889-3C88A1820FA5}"/>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标题 1">
            <a:extLst>
              <a:ext uri="{FF2B5EF4-FFF2-40B4-BE49-F238E27FC236}">
                <a16:creationId xmlns:a16="http://schemas.microsoft.com/office/drawing/2014/main" id="{13B72D4A-09E2-06C1-A6BC-62096470985A}"/>
              </a:ext>
            </a:extLst>
          </p:cNvPr>
          <p:cNvSpPr>
            <a:spLocks noGrp="1"/>
          </p:cNvSpPr>
          <p:nvPr>
            <p:ph type="title"/>
          </p:nvPr>
        </p:nvSpPr>
        <p:spPr>
          <a:xfrm>
            <a:off x="905795" y="1177290"/>
            <a:ext cx="11410316" cy="1045266"/>
          </a:xfrm>
        </p:spPr>
        <p:txBody>
          <a:bodyPr>
            <a:normAutofit fontScale="90000"/>
          </a:bodyPr>
          <a:lstStyle/>
          <a:p>
            <a:r>
              <a:rPr lang="zh-CN" altLang="en-US" sz="3600" dirty="0">
                <a:latin typeface="黑体" panose="02010609060101010101" pitchFamily="49" charset="-122"/>
                <a:ea typeface="黑体" panose="02010609060101010101" pitchFamily="49" charset="-122"/>
              </a:rPr>
              <a:t>准备工作：</a:t>
            </a:r>
            <a:r>
              <a:rPr lang="zh-CN" altLang="en-US" sz="3600" dirty="0">
                <a:solidFill>
                  <a:srgbClr val="FF0000"/>
                </a:solidFill>
                <a:latin typeface="黑体" panose="02010609060101010101" pitchFamily="49" charset="-122"/>
                <a:ea typeface="黑体" panose="02010609060101010101" pitchFamily="49" charset="-122"/>
              </a:rPr>
              <a:t>配置系统参数</a:t>
            </a:r>
            <a:r>
              <a:rPr lang="zh-CN" altLang="en-US" sz="3600" dirty="0">
                <a:latin typeface="黑体" panose="02010609060101010101" pitchFamily="49" charset="-122"/>
                <a:ea typeface="黑体" panose="02010609060101010101" pitchFamily="49" charset="-122"/>
              </a:rPr>
              <a:t>、原理图编辑器参数、</a:t>
            </a:r>
            <a:r>
              <a:rPr lang="en-US" altLang="zh-CN" sz="3600" dirty="0">
                <a:latin typeface="黑体" panose="02010609060101010101" pitchFamily="49" charset="-122"/>
                <a:ea typeface="黑体" panose="02010609060101010101" pitchFamily="49" charset="-122"/>
              </a:rPr>
              <a:t>PCB</a:t>
            </a:r>
            <a:r>
              <a:rPr lang="zh-CN" altLang="en-US" sz="3600" dirty="0">
                <a:latin typeface="黑体" panose="02010609060101010101" pitchFamily="49" charset="-122"/>
                <a:ea typeface="黑体" panose="02010609060101010101" pitchFamily="49" charset="-122"/>
              </a:rPr>
              <a:t>编辑器参数</a:t>
            </a:r>
          </a:p>
        </p:txBody>
      </p:sp>
    </p:spTree>
    <p:extLst>
      <p:ext uri="{BB962C8B-B14F-4D97-AF65-F5344CB8AC3E}">
        <p14:creationId xmlns:p14="http://schemas.microsoft.com/office/powerpoint/2010/main" val="58723295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0F7F6-38CF-4063-F33A-491978E9FFE3}"/>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15BF5259-22B6-7060-83BC-14CCA311770B}"/>
              </a:ext>
            </a:extLst>
          </p:cNvPr>
          <p:cNvSpPr>
            <a:spLocks noGrp="1"/>
          </p:cNvSpPr>
          <p:nvPr>
            <p:ph idx="1"/>
          </p:nvPr>
        </p:nvSpPr>
        <p:spPr>
          <a:xfrm>
            <a:off x="893730" y="2130425"/>
            <a:ext cx="11250564" cy="4351338"/>
          </a:xfrm>
        </p:spPr>
        <p:txBody>
          <a:bodyPr>
            <a:normAutofit/>
          </a:bodyPr>
          <a:lstStyle/>
          <a:p>
            <a:pPr marL="0" indent="0">
              <a:buNone/>
            </a:pPr>
            <a:r>
              <a:rPr lang="en-US" altLang="zh-CN" dirty="0">
                <a:latin typeface="Arial Black" panose="020B0A04020102020204" pitchFamily="34" charset="0"/>
                <a:ea typeface="黑体" panose="02010609060101010101" pitchFamily="49" charset="-122"/>
              </a:rPr>
              <a:t>*</a:t>
            </a:r>
            <a:r>
              <a:rPr lang="zh-CN" altLang="en-US" dirty="0">
                <a:latin typeface="Arial Black" panose="020B0A04020102020204" pitchFamily="34" charset="0"/>
                <a:ea typeface="黑体" panose="02010609060101010101" pitchFamily="49" charset="-122"/>
              </a:rPr>
              <a:t>操作：</a:t>
            </a:r>
            <a:r>
              <a:rPr lang="en-US" altLang="zh-CN" dirty="0">
                <a:latin typeface="Arial Black" panose="020B0A04020102020204" pitchFamily="34" charset="0"/>
                <a:ea typeface="黑体" panose="02010609060101010101" pitchFamily="49" charset="-122"/>
              </a:rPr>
              <a:t>DXP</a:t>
            </a:r>
            <a:r>
              <a:rPr lang="zh-CN" altLang="en-US" dirty="0">
                <a:latin typeface="Arial Black" panose="020B0A04020102020204" pitchFamily="34" charset="0"/>
                <a:ea typeface="黑体" panose="02010609060101010101" pitchFamily="49" charset="-122"/>
              </a:rPr>
              <a:t>菜单</a:t>
            </a:r>
            <a:r>
              <a:rPr lang="en-US" altLang="zh-CN" dirty="0">
                <a:latin typeface="Arial Black" panose="020B0A04020102020204" pitchFamily="34" charset="0"/>
                <a:ea typeface="黑体" panose="02010609060101010101" pitchFamily="49" charset="-122"/>
              </a:rPr>
              <a:t>→Preference → </a:t>
            </a:r>
            <a:r>
              <a:rPr lang="en-US" altLang="zh-CN" b="1" dirty="0">
                <a:latin typeface="Arial Black" panose="020B0A04020102020204" pitchFamily="34" charset="0"/>
                <a:ea typeface="黑体" panose="02010609060101010101" pitchFamily="49" charset="-122"/>
              </a:rPr>
              <a:t>System</a:t>
            </a:r>
            <a:r>
              <a:rPr lang="en-US" altLang="zh-CN" dirty="0">
                <a:latin typeface="Arial Black" panose="020B0A04020102020204" pitchFamily="34" charset="0"/>
                <a:ea typeface="黑体" panose="02010609060101010101" pitchFamily="49" charset="-122"/>
              </a:rPr>
              <a:t> → </a:t>
            </a:r>
            <a:r>
              <a:rPr lang="en-US" altLang="zh-CN" b="1" dirty="0">
                <a:solidFill>
                  <a:srgbClr val="FF0000"/>
                </a:solidFill>
                <a:latin typeface="Arial Black" panose="020B0A04020102020204" pitchFamily="34" charset="0"/>
                <a:ea typeface="黑体" panose="02010609060101010101" pitchFamily="49" charset="-122"/>
              </a:rPr>
              <a:t>Backup</a:t>
            </a:r>
          </a:p>
          <a:p>
            <a:pPr marL="0" indent="0">
              <a:buNone/>
            </a:pPr>
            <a:r>
              <a:rPr lang="zh-CN" altLang="en-US" dirty="0">
                <a:latin typeface="Arial Black" panose="020B0A04020102020204" pitchFamily="34" charset="0"/>
                <a:ea typeface="黑体" panose="02010609060101010101" pitchFamily="49" charset="-122"/>
              </a:rPr>
              <a:t>设置备份，包括</a:t>
            </a:r>
            <a:r>
              <a:rPr lang="zh-CN" altLang="en-US" u="sng" dirty="0">
                <a:latin typeface="Arial Black" panose="020B0A04020102020204" pitchFamily="34" charset="0"/>
                <a:ea typeface="黑体" panose="02010609060101010101" pitchFamily="49" charset="-122"/>
              </a:rPr>
              <a:t>自动保存间隔时间</a:t>
            </a:r>
            <a:r>
              <a:rPr lang="zh-CN" altLang="en-US" dirty="0">
                <a:latin typeface="Arial Black" panose="020B0A04020102020204" pitchFamily="34" charset="0"/>
                <a:ea typeface="黑体" panose="02010609060101010101" pitchFamily="49" charset="-122"/>
              </a:rPr>
              <a:t>、</a:t>
            </a:r>
            <a:r>
              <a:rPr lang="zh-CN" altLang="en-US" u="sng" dirty="0">
                <a:latin typeface="Arial Black" panose="020B0A04020102020204" pitchFamily="34" charset="0"/>
                <a:ea typeface="黑体" panose="02010609060101010101" pitchFamily="49" charset="-122"/>
              </a:rPr>
              <a:t>保留版本数量</a:t>
            </a:r>
            <a:r>
              <a:rPr lang="zh-CN" altLang="en-US" dirty="0">
                <a:latin typeface="Arial Black" panose="020B0A04020102020204" pitchFamily="34" charset="0"/>
                <a:ea typeface="黑体" panose="02010609060101010101" pitchFamily="49" charset="-122"/>
              </a:rPr>
              <a:t>、</a:t>
            </a:r>
            <a:r>
              <a:rPr lang="zh-CN" altLang="en-US" u="sng" dirty="0">
                <a:latin typeface="Arial Black" panose="020B0A04020102020204" pitchFamily="34" charset="0"/>
                <a:ea typeface="黑体" panose="02010609060101010101" pitchFamily="49" charset="-122"/>
              </a:rPr>
              <a:t>备份存储路径</a:t>
            </a:r>
            <a:endParaRPr lang="en-US" altLang="zh-CN" u="sng" dirty="0">
              <a:latin typeface="Arial Black" panose="020B0A04020102020204" pitchFamily="34" charset="0"/>
              <a:ea typeface="黑体" panose="02010609060101010101" pitchFamily="49" charset="-122"/>
            </a:endParaRPr>
          </a:p>
        </p:txBody>
      </p:sp>
      <p:pic>
        <p:nvPicPr>
          <p:cNvPr id="11" name="图片 10">
            <a:extLst>
              <a:ext uri="{FF2B5EF4-FFF2-40B4-BE49-F238E27FC236}">
                <a16:creationId xmlns:a16="http://schemas.microsoft.com/office/drawing/2014/main" id="{2A70F12A-8253-7580-9FF0-878A67A9DA85}"/>
              </a:ext>
            </a:extLst>
          </p:cNvPr>
          <p:cNvPicPr>
            <a:picLocks noChangeAspect="1"/>
          </p:cNvPicPr>
          <p:nvPr/>
        </p:nvPicPr>
        <p:blipFill>
          <a:blip r:embed="rId2"/>
          <a:stretch>
            <a:fillRect/>
          </a:stretch>
        </p:blipFill>
        <p:spPr>
          <a:xfrm>
            <a:off x="949960" y="3294990"/>
            <a:ext cx="10154920" cy="3483691"/>
          </a:xfrm>
          <a:prstGeom prst="rect">
            <a:avLst/>
          </a:prstGeom>
        </p:spPr>
      </p:pic>
      <p:sp>
        <p:nvSpPr>
          <p:cNvPr id="12" name="文本框 11">
            <a:extLst>
              <a:ext uri="{FF2B5EF4-FFF2-40B4-BE49-F238E27FC236}">
                <a16:creationId xmlns:a16="http://schemas.microsoft.com/office/drawing/2014/main" id="{1CE1BF8C-FAE3-F2FF-B532-C0DC8D6B1C8D}"/>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使用</a:t>
            </a:r>
            <a:r>
              <a:rPr lang="en-US" altLang="zh-CN" sz="4000" dirty="0">
                <a:solidFill>
                  <a:schemeClr val="accent1">
                    <a:lumMod val="75000"/>
                  </a:schemeClr>
                </a:solidFill>
                <a:latin typeface="Arial Black" panose="020B0A04020102020204" pitchFamily="34" charset="0"/>
                <a:ea typeface="黑体" panose="02010609060101010101" pitchFamily="49" charset="-122"/>
              </a:rPr>
              <a:t>AD</a:t>
            </a:r>
            <a:r>
              <a:rPr lang="zh-CN" altLang="en-US" sz="4000" dirty="0">
                <a:solidFill>
                  <a:schemeClr val="accent1">
                    <a:lumMod val="75000"/>
                  </a:schemeClr>
                </a:solidFill>
                <a:latin typeface="黑体" panose="02010609060101010101" pitchFamily="49" charset="-122"/>
                <a:ea typeface="黑体" panose="02010609060101010101" pitchFamily="49" charset="-122"/>
              </a:rPr>
              <a:t>设计电路原理图</a:t>
            </a:r>
            <a:endParaRPr lang="zh-CN" altLang="en-US" sz="4000" dirty="0">
              <a:solidFill>
                <a:srgbClr val="003F88"/>
              </a:solidFill>
              <a:latin typeface="黑体" panose="02010609060101010101" pitchFamily="49" charset="-122"/>
              <a:ea typeface="黑体" panose="02010609060101010101" pitchFamily="49" charset="-122"/>
            </a:endParaRPr>
          </a:p>
        </p:txBody>
      </p:sp>
      <p:sp>
        <p:nvSpPr>
          <p:cNvPr id="13" name="矩形 12">
            <a:extLst>
              <a:ext uri="{FF2B5EF4-FFF2-40B4-BE49-F238E27FC236}">
                <a16:creationId xmlns:a16="http://schemas.microsoft.com/office/drawing/2014/main" id="{65DDB3CA-9E41-9646-5953-93F8A81E0C11}"/>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标题 1">
            <a:extLst>
              <a:ext uri="{FF2B5EF4-FFF2-40B4-BE49-F238E27FC236}">
                <a16:creationId xmlns:a16="http://schemas.microsoft.com/office/drawing/2014/main" id="{754D787F-C95A-42C7-4C34-60F1AAFCF331}"/>
              </a:ext>
            </a:extLst>
          </p:cNvPr>
          <p:cNvSpPr>
            <a:spLocks noGrp="1"/>
          </p:cNvSpPr>
          <p:nvPr>
            <p:ph type="title"/>
          </p:nvPr>
        </p:nvSpPr>
        <p:spPr>
          <a:xfrm>
            <a:off x="905795" y="1177290"/>
            <a:ext cx="11410316" cy="1045266"/>
          </a:xfrm>
        </p:spPr>
        <p:txBody>
          <a:bodyPr>
            <a:normAutofit fontScale="90000"/>
          </a:bodyPr>
          <a:lstStyle/>
          <a:p>
            <a:r>
              <a:rPr lang="zh-CN" altLang="en-US" sz="3600" dirty="0">
                <a:latin typeface="黑体" panose="02010609060101010101" pitchFamily="49" charset="-122"/>
                <a:ea typeface="黑体" panose="02010609060101010101" pitchFamily="49" charset="-122"/>
              </a:rPr>
              <a:t>准备工作：</a:t>
            </a:r>
            <a:r>
              <a:rPr lang="zh-CN" altLang="en-US" sz="3600" dirty="0">
                <a:solidFill>
                  <a:srgbClr val="FF0000"/>
                </a:solidFill>
                <a:latin typeface="黑体" panose="02010609060101010101" pitchFamily="49" charset="-122"/>
                <a:ea typeface="黑体" panose="02010609060101010101" pitchFamily="49" charset="-122"/>
              </a:rPr>
              <a:t>配置系统参数</a:t>
            </a:r>
            <a:r>
              <a:rPr lang="zh-CN" altLang="en-US" sz="3600" dirty="0">
                <a:latin typeface="黑体" panose="02010609060101010101" pitchFamily="49" charset="-122"/>
                <a:ea typeface="黑体" panose="02010609060101010101" pitchFamily="49" charset="-122"/>
              </a:rPr>
              <a:t>、原理图编辑器参数、</a:t>
            </a:r>
            <a:r>
              <a:rPr lang="en-US" altLang="zh-CN" sz="3600" dirty="0">
                <a:latin typeface="黑体" panose="02010609060101010101" pitchFamily="49" charset="-122"/>
                <a:ea typeface="黑体" panose="02010609060101010101" pitchFamily="49" charset="-122"/>
              </a:rPr>
              <a:t>PCB</a:t>
            </a:r>
            <a:r>
              <a:rPr lang="zh-CN" altLang="en-US" sz="3600" dirty="0">
                <a:latin typeface="黑体" panose="02010609060101010101" pitchFamily="49" charset="-122"/>
                <a:ea typeface="黑体" panose="02010609060101010101" pitchFamily="49" charset="-122"/>
              </a:rPr>
              <a:t>编辑器参数</a:t>
            </a:r>
          </a:p>
        </p:txBody>
      </p:sp>
    </p:spTree>
    <p:extLst>
      <p:ext uri="{BB962C8B-B14F-4D97-AF65-F5344CB8AC3E}">
        <p14:creationId xmlns:p14="http://schemas.microsoft.com/office/powerpoint/2010/main" val="382503891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F781E-A708-03C4-E395-D757B1DA9AB2}"/>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0C96F74F-1F70-F051-D7E4-0594119617B0}"/>
              </a:ext>
            </a:extLst>
          </p:cNvPr>
          <p:cNvSpPr>
            <a:spLocks noGrp="1"/>
          </p:cNvSpPr>
          <p:nvPr>
            <p:ph idx="1"/>
          </p:nvPr>
        </p:nvSpPr>
        <p:spPr>
          <a:xfrm>
            <a:off x="1010253" y="2078759"/>
            <a:ext cx="11201400" cy="4351338"/>
          </a:xfrm>
        </p:spPr>
        <p:txBody>
          <a:bodyPr>
            <a:normAutofit/>
          </a:bodyPr>
          <a:lstStyle/>
          <a:p>
            <a:pPr marL="0" indent="0">
              <a:buNone/>
            </a:pPr>
            <a:r>
              <a:rPr lang="en-US" altLang="zh-CN" dirty="0">
                <a:latin typeface="Arial Black" panose="020B0A04020102020204" pitchFamily="34" charset="0"/>
                <a:ea typeface="黑体" panose="02010609060101010101" pitchFamily="49" charset="-122"/>
              </a:rPr>
              <a:t>*</a:t>
            </a:r>
            <a:r>
              <a:rPr lang="zh-CN" altLang="en-US" dirty="0">
                <a:latin typeface="Arial Black" panose="020B0A04020102020204" pitchFamily="34" charset="0"/>
                <a:ea typeface="黑体" panose="02010609060101010101" pitchFamily="49" charset="-122"/>
              </a:rPr>
              <a:t>操作：</a:t>
            </a:r>
            <a:endParaRPr lang="en-US" altLang="zh-CN" dirty="0">
              <a:latin typeface="Arial Black" panose="020B0A04020102020204" pitchFamily="34" charset="0"/>
              <a:ea typeface="黑体" panose="02010609060101010101" pitchFamily="49" charset="-122"/>
            </a:endParaRPr>
          </a:p>
          <a:p>
            <a:pPr marL="0" indent="0">
              <a:buNone/>
            </a:pPr>
            <a:r>
              <a:rPr lang="en-US" altLang="zh-CN" dirty="0">
                <a:latin typeface="Arial Black" panose="020B0A04020102020204" pitchFamily="34" charset="0"/>
                <a:ea typeface="黑体" panose="02010609060101010101" pitchFamily="49" charset="-122"/>
              </a:rPr>
              <a:t>DXP</a:t>
            </a:r>
            <a:r>
              <a:rPr lang="zh-CN" altLang="en-US" dirty="0">
                <a:latin typeface="Arial Black" panose="020B0A04020102020204" pitchFamily="34" charset="0"/>
                <a:ea typeface="黑体" panose="02010609060101010101" pitchFamily="49" charset="-122"/>
              </a:rPr>
              <a:t>菜单</a:t>
            </a:r>
            <a:r>
              <a:rPr lang="en-US" altLang="zh-CN" dirty="0">
                <a:latin typeface="Arial Black" panose="020B0A04020102020204" pitchFamily="34" charset="0"/>
                <a:ea typeface="黑体" panose="02010609060101010101" pitchFamily="49" charset="-122"/>
              </a:rPr>
              <a:t>→Preference </a:t>
            </a:r>
          </a:p>
          <a:p>
            <a:pPr marL="0" indent="0">
              <a:buNone/>
            </a:pPr>
            <a:r>
              <a:rPr lang="en-US" altLang="zh-CN" dirty="0">
                <a:latin typeface="Arial Black" panose="020B0A04020102020204" pitchFamily="34" charset="0"/>
                <a:ea typeface="黑体" panose="02010609060101010101" pitchFamily="49" charset="-122"/>
              </a:rPr>
              <a:t>→ </a:t>
            </a:r>
            <a:r>
              <a:rPr lang="en-US" altLang="zh-CN" b="1" dirty="0">
                <a:latin typeface="Arial Black" panose="020B0A04020102020204" pitchFamily="34" charset="0"/>
                <a:ea typeface="黑体" panose="02010609060101010101" pitchFamily="49" charset="-122"/>
              </a:rPr>
              <a:t>System</a:t>
            </a:r>
            <a:r>
              <a:rPr lang="en-US" altLang="zh-CN" dirty="0">
                <a:latin typeface="Arial Black" panose="020B0A04020102020204" pitchFamily="34" charset="0"/>
                <a:ea typeface="黑体" panose="02010609060101010101" pitchFamily="49" charset="-122"/>
              </a:rPr>
              <a:t> </a:t>
            </a:r>
          </a:p>
          <a:p>
            <a:pPr marL="0" indent="0">
              <a:buNone/>
            </a:pPr>
            <a:r>
              <a:rPr lang="en-US" altLang="zh-CN" dirty="0">
                <a:latin typeface="Arial Black" panose="020B0A04020102020204" pitchFamily="34" charset="0"/>
                <a:ea typeface="黑体" panose="02010609060101010101" pitchFamily="49" charset="-122"/>
              </a:rPr>
              <a:t>→ </a:t>
            </a:r>
            <a:r>
              <a:rPr lang="en-US" altLang="zh-CN" b="1" dirty="0">
                <a:solidFill>
                  <a:srgbClr val="FF0000"/>
                </a:solidFill>
                <a:latin typeface="Arial Black" panose="020B0A04020102020204" pitchFamily="34" charset="0"/>
                <a:ea typeface="黑体" panose="02010609060101010101" pitchFamily="49" charset="-122"/>
              </a:rPr>
              <a:t>Installed Libraries</a:t>
            </a:r>
            <a:r>
              <a:rPr lang="en-US" altLang="zh-CN" dirty="0">
                <a:latin typeface="Arial Black" panose="020B0A04020102020204" pitchFamily="34" charset="0"/>
                <a:ea typeface="黑体" panose="02010609060101010101" pitchFamily="49" charset="-122"/>
              </a:rPr>
              <a:t> </a:t>
            </a:r>
          </a:p>
          <a:p>
            <a:pPr marL="0" indent="0">
              <a:buNone/>
            </a:pPr>
            <a:r>
              <a:rPr lang="zh-CN" altLang="en-US" dirty="0">
                <a:latin typeface="Arial Black" panose="020B0A04020102020204" pitchFamily="34" charset="0"/>
                <a:ea typeface="黑体" panose="02010609060101010101" pitchFamily="49" charset="-122"/>
              </a:rPr>
              <a:t>安装元件库</a:t>
            </a:r>
          </a:p>
        </p:txBody>
      </p:sp>
      <p:sp>
        <p:nvSpPr>
          <p:cNvPr id="15" name="文本框 14">
            <a:extLst>
              <a:ext uri="{FF2B5EF4-FFF2-40B4-BE49-F238E27FC236}">
                <a16:creationId xmlns:a16="http://schemas.microsoft.com/office/drawing/2014/main" id="{B9318507-3313-6998-77EC-9730ABBB2AF8}"/>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使用</a:t>
            </a:r>
            <a:r>
              <a:rPr lang="en-US" altLang="zh-CN" sz="4000" dirty="0">
                <a:solidFill>
                  <a:schemeClr val="accent1">
                    <a:lumMod val="75000"/>
                  </a:schemeClr>
                </a:solidFill>
                <a:latin typeface="Arial Black" panose="020B0A04020102020204" pitchFamily="34" charset="0"/>
                <a:ea typeface="黑体" panose="02010609060101010101" pitchFamily="49" charset="-122"/>
              </a:rPr>
              <a:t>AD</a:t>
            </a:r>
            <a:r>
              <a:rPr lang="zh-CN" altLang="en-US" sz="4000" dirty="0">
                <a:solidFill>
                  <a:schemeClr val="accent1">
                    <a:lumMod val="75000"/>
                  </a:schemeClr>
                </a:solidFill>
                <a:latin typeface="黑体" panose="02010609060101010101" pitchFamily="49" charset="-122"/>
                <a:ea typeface="黑体" panose="02010609060101010101" pitchFamily="49" charset="-122"/>
              </a:rPr>
              <a:t>设计电路原理图</a:t>
            </a:r>
            <a:endParaRPr lang="zh-CN" altLang="en-US" sz="4000" dirty="0">
              <a:solidFill>
                <a:srgbClr val="003F88"/>
              </a:solidFill>
              <a:latin typeface="黑体" panose="02010609060101010101" pitchFamily="49" charset="-122"/>
              <a:ea typeface="黑体" panose="02010609060101010101" pitchFamily="49" charset="-122"/>
            </a:endParaRPr>
          </a:p>
        </p:txBody>
      </p:sp>
      <p:sp>
        <p:nvSpPr>
          <p:cNvPr id="16" name="矩形 15">
            <a:extLst>
              <a:ext uri="{FF2B5EF4-FFF2-40B4-BE49-F238E27FC236}">
                <a16:creationId xmlns:a16="http://schemas.microsoft.com/office/drawing/2014/main" id="{B458FE5B-7674-6EA6-B256-7F84F8EE82CC}"/>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标题 1">
            <a:extLst>
              <a:ext uri="{FF2B5EF4-FFF2-40B4-BE49-F238E27FC236}">
                <a16:creationId xmlns:a16="http://schemas.microsoft.com/office/drawing/2014/main" id="{4929135D-89C3-E282-59D8-BAAD90227B25}"/>
              </a:ext>
            </a:extLst>
          </p:cNvPr>
          <p:cNvSpPr>
            <a:spLocks noGrp="1"/>
          </p:cNvSpPr>
          <p:nvPr>
            <p:ph type="title"/>
          </p:nvPr>
        </p:nvSpPr>
        <p:spPr>
          <a:xfrm>
            <a:off x="905795" y="1177290"/>
            <a:ext cx="11410316" cy="1045266"/>
          </a:xfrm>
        </p:spPr>
        <p:txBody>
          <a:bodyPr>
            <a:normAutofit fontScale="90000"/>
          </a:bodyPr>
          <a:lstStyle/>
          <a:p>
            <a:r>
              <a:rPr lang="zh-CN" altLang="en-US" sz="3600" dirty="0">
                <a:latin typeface="黑体" panose="02010609060101010101" pitchFamily="49" charset="-122"/>
                <a:ea typeface="黑体" panose="02010609060101010101" pitchFamily="49" charset="-122"/>
              </a:rPr>
              <a:t>准备工作：</a:t>
            </a:r>
            <a:r>
              <a:rPr lang="zh-CN" altLang="en-US" sz="3600" dirty="0">
                <a:solidFill>
                  <a:srgbClr val="FF0000"/>
                </a:solidFill>
                <a:latin typeface="黑体" panose="02010609060101010101" pitchFamily="49" charset="-122"/>
                <a:ea typeface="黑体" panose="02010609060101010101" pitchFamily="49" charset="-122"/>
              </a:rPr>
              <a:t>配置系统参数</a:t>
            </a:r>
            <a:r>
              <a:rPr lang="zh-CN" altLang="en-US" sz="3600" dirty="0">
                <a:latin typeface="黑体" panose="02010609060101010101" pitchFamily="49" charset="-122"/>
                <a:ea typeface="黑体" panose="02010609060101010101" pitchFamily="49" charset="-122"/>
              </a:rPr>
              <a:t>、原理图编辑器参数、</a:t>
            </a:r>
            <a:r>
              <a:rPr lang="en-US" altLang="zh-CN" sz="3600" dirty="0">
                <a:latin typeface="黑体" panose="02010609060101010101" pitchFamily="49" charset="-122"/>
                <a:ea typeface="黑体" panose="02010609060101010101" pitchFamily="49" charset="-122"/>
              </a:rPr>
              <a:t>PCB</a:t>
            </a:r>
            <a:r>
              <a:rPr lang="zh-CN" altLang="en-US" sz="3600" dirty="0">
                <a:latin typeface="黑体" panose="02010609060101010101" pitchFamily="49" charset="-122"/>
                <a:ea typeface="黑体" panose="02010609060101010101" pitchFamily="49" charset="-122"/>
              </a:rPr>
              <a:t>编辑器参数</a:t>
            </a:r>
          </a:p>
        </p:txBody>
      </p:sp>
      <p:grpSp>
        <p:nvGrpSpPr>
          <p:cNvPr id="8" name="组合 7">
            <a:extLst>
              <a:ext uri="{FF2B5EF4-FFF2-40B4-BE49-F238E27FC236}">
                <a16:creationId xmlns:a16="http://schemas.microsoft.com/office/drawing/2014/main" id="{8F38A908-96B3-8AB3-D458-36AE72B043C6}"/>
              </a:ext>
            </a:extLst>
          </p:cNvPr>
          <p:cNvGrpSpPr/>
          <p:nvPr/>
        </p:nvGrpSpPr>
        <p:grpSpPr>
          <a:xfrm>
            <a:off x="194873" y="247338"/>
            <a:ext cx="11650920" cy="7030060"/>
            <a:chOff x="5805048" y="1420527"/>
            <a:chExt cx="6386952" cy="5437473"/>
          </a:xfrm>
        </p:grpSpPr>
        <p:pic>
          <p:nvPicPr>
            <p:cNvPr id="9" name="图片 8">
              <a:extLst>
                <a:ext uri="{FF2B5EF4-FFF2-40B4-BE49-F238E27FC236}">
                  <a16:creationId xmlns:a16="http://schemas.microsoft.com/office/drawing/2014/main" id="{3CE95C63-6A6E-90F8-0EFE-1A4E79132BE8}"/>
                </a:ext>
              </a:extLst>
            </p:cNvPr>
            <p:cNvPicPr>
              <a:picLocks noChangeAspect="1"/>
            </p:cNvPicPr>
            <p:nvPr/>
          </p:nvPicPr>
          <p:blipFill>
            <a:blip r:embed="rId3"/>
            <a:stretch>
              <a:fillRect/>
            </a:stretch>
          </p:blipFill>
          <p:spPr>
            <a:xfrm>
              <a:off x="5805048" y="1420527"/>
              <a:ext cx="6386952" cy="5437473"/>
            </a:xfrm>
            <a:prstGeom prst="rect">
              <a:avLst/>
            </a:prstGeom>
          </p:spPr>
        </p:pic>
        <p:sp>
          <p:nvSpPr>
            <p:cNvPr id="10" name="矩形: 圆角 9">
              <a:extLst>
                <a:ext uri="{FF2B5EF4-FFF2-40B4-BE49-F238E27FC236}">
                  <a16:creationId xmlns:a16="http://schemas.microsoft.com/office/drawing/2014/main" id="{394675DE-3602-5B06-B41B-4B1BF842B198}"/>
                </a:ext>
              </a:extLst>
            </p:cNvPr>
            <p:cNvSpPr/>
            <p:nvPr/>
          </p:nvSpPr>
          <p:spPr>
            <a:xfrm>
              <a:off x="10960550" y="6244645"/>
              <a:ext cx="629360" cy="270648"/>
            </a:xfrm>
            <a:prstGeom prst="roundRect">
              <a:avLst/>
            </a:prstGeom>
            <a:noFill/>
            <a:ln>
              <a:solidFill>
                <a:srgbClr val="FF0000"/>
              </a:solidFill>
              <a:extLst>
                <a:ext uri="{C807C97D-BFC1-408E-A445-0C87EB9F89A2}">
                  <ask:lineSketchStyleProps xmlns:ask="http://schemas.microsoft.com/office/drawing/2018/sketchyshapes" sd="858276661">
                    <a:custGeom>
                      <a:avLst/>
                      <a:gdLst>
                        <a:gd name="connsiteX0" fmla="*/ 0 w 629360"/>
                        <a:gd name="connsiteY0" fmla="*/ 45109 h 270648"/>
                        <a:gd name="connsiteX1" fmla="*/ 45109 w 629360"/>
                        <a:gd name="connsiteY1" fmla="*/ 0 h 270648"/>
                        <a:gd name="connsiteX2" fmla="*/ 584251 w 629360"/>
                        <a:gd name="connsiteY2" fmla="*/ 0 h 270648"/>
                        <a:gd name="connsiteX3" fmla="*/ 629360 w 629360"/>
                        <a:gd name="connsiteY3" fmla="*/ 45109 h 270648"/>
                        <a:gd name="connsiteX4" fmla="*/ 629360 w 629360"/>
                        <a:gd name="connsiteY4" fmla="*/ 225539 h 270648"/>
                        <a:gd name="connsiteX5" fmla="*/ 584251 w 629360"/>
                        <a:gd name="connsiteY5" fmla="*/ 270648 h 270648"/>
                        <a:gd name="connsiteX6" fmla="*/ 45109 w 629360"/>
                        <a:gd name="connsiteY6" fmla="*/ 270648 h 270648"/>
                        <a:gd name="connsiteX7" fmla="*/ 0 w 629360"/>
                        <a:gd name="connsiteY7" fmla="*/ 225539 h 270648"/>
                        <a:gd name="connsiteX8" fmla="*/ 0 w 629360"/>
                        <a:gd name="connsiteY8" fmla="*/ 45109 h 270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9360" h="270648" extrusionOk="0">
                          <a:moveTo>
                            <a:pt x="0" y="45109"/>
                          </a:moveTo>
                          <a:cubicBezTo>
                            <a:pt x="520" y="18882"/>
                            <a:pt x="23957" y="2372"/>
                            <a:pt x="45109" y="0"/>
                          </a:cubicBezTo>
                          <a:cubicBezTo>
                            <a:pt x="179165" y="-33649"/>
                            <a:pt x="347271" y="48384"/>
                            <a:pt x="584251" y="0"/>
                          </a:cubicBezTo>
                          <a:cubicBezTo>
                            <a:pt x="612138" y="816"/>
                            <a:pt x="631528" y="20423"/>
                            <a:pt x="629360" y="45109"/>
                          </a:cubicBezTo>
                          <a:cubicBezTo>
                            <a:pt x="634738" y="121246"/>
                            <a:pt x="617261" y="153708"/>
                            <a:pt x="629360" y="225539"/>
                          </a:cubicBezTo>
                          <a:cubicBezTo>
                            <a:pt x="627854" y="248919"/>
                            <a:pt x="613793" y="268077"/>
                            <a:pt x="584251" y="270648"/>
                          </a:cubicBezTo>
                          <a:cubicBezTo>
                            <a:pt x="403208" y="290555"/>
                            <a:pt x="270934" y="239619"/>
                            <a:pt x="45109" y="270648"/>
                          </a:cubicBezTo>
                          <a:cubicBezTo>
                            <a:pt x="20427" y="268131"/>
                            <a:pt x="2360" y="254705"/>
                            <a:pt x="0" y="225539"/>
                          </a:cubicBezTo>
                          <a:cubicBezTo>
                            <a:pt x="-7737" y="186099"/>
                            <a:pt x="17889" y="105002"/>
                            <a:pt x="0" y="45109"/>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176339A4-B911-8798-692F-084FB1874AA5}"/>
                </a:ext>
              </a:extLst>
            </p:cNvPr>
            <p:cNvSpPr txBox="1"/>
            <p:nvPr/>
          </p:nvSpPr>
          <p:spPr>
            <a:xfrm>
              <a:off x="10544528" y="5841472"/>
              <a:ext cx="1461404" cy="369332"/>
            </a:xfrm>
            <a:prstGeom prst="rect">
              <a:avLst/>
            </a:prstGeom>
            <a:noFill/>
          </p:spPr>
          <p:txBody>
            <a:bodyPr wrap="square" rtlCol="0">
              <a:spAutoFit/>
            </a:bodyPr>
            <a:lstStyle/>
            <a:p>
              <a:r>
                <a:rPr lang="zh-CN" altLang="en-US" dirty="0">
                  <a:solidFill>
                    <a:srgbClr val="FF0000"/>
                  </a:solidFill>
                </a:rPr>
                <a:t>安装元件库</a:t>
              </a:r>
            </a:p>
          </p:txBody>
        </p:sp>
      </p:grpSp>
    </p:spTree>
    <p:extLst>
      <p:ext uri="{BB962C8B-B14F-4D97-AF65-F5344CB8AC3E}">
        <p14:creationId xmlns:p14="http://schemas.microsoft.com/office/powerpoint/2010/main" val="393488145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62EC7-6588-D2B9-7E10-6FEECD46D36F}"/>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B0B969DC-A496-DECE-9E2E-DDFA83C787F6}"/>
              </a:ext>
            </a:extLst>
          </p:cNvPr>
          <p:cNvSpPr>
            <a:spLocks noGrp="1"/>
          </p:cNvSpPr>
          <p:nvPr>
            <p:ph idx="1"/>
          </p:nvPr>
        </p:nvSpPr>
        <p:spPr>
          <a:xfrm>
            <a:off x="838200" y="2130423"/>
            <a:ext cx="10515600" cy="4351338"/>
          </a:xfrm>
        </p:spPr>
        <p:txBody>
          <a:bodyPr>
            <a:normAutofit/>
          </a:bodyPr>
          <a:lstStyle/>
          <a:p>
            <a:pPr marL="0" indent="0">
              <a:buNone/>
            </a:pPr>
            <a:r>
              <a:rPr lang="en-US" altLang="zh-CN" dirty="0">
                <a:latin typeface="Arial Black" panose="020B0A04020102020204" pitchFamily="34" charset="0"/>
                <a:ea typeface="黑体" panose="02010609060101010101" pitchFamily="49" charset="-122"/>
              </a:rPr>
              <a:t>*</a:t>
            </a:r>
            <a:r>
              <a:rPr lang="zh-CN" altLang="en-US" dirty="0">
                <a:latin typeface="Arial Black" panose="020B0A04020102020204" pitchFamily="34" charset="0"/>
                <a:ea typeface="黑体" panose="02010609060101010101" pitchFamily="49" charset="-122"/>
              </a:rPr>
              <a:t>操作：</a:t>
            </a:r>
            <a:endParaRPr lang="en-US" altLang="zh-CN" dirty="0">
              <a:latin typeface="Arial Black" panose="020B0A04020102020204" pitchFamily="34" charset="0"/>
              <a:ea typeface="黑体" panose="02010609060101010101" pitchFamily="49" charset="-122"/>
            </a:endParaRPr>
          </a:p>
          <a:p>
            <a:pPr marL="0" indent="0">
              <a:buNone/>
            </a:pPr>
            <a:r>
              <a:rPr lang="zh-CN" altLang="en-US" dirty="0">
                <a:latin typeface="Arial Black" panose="020B0A04020102020204" pitchFamily="34" charset="0"/>
                <a:ea typeface="黑体" panose="02010609060101010101" pitchFamily="49" charset="-122"/>
              </a:rPr>
              <a:t>★ </a:t>
            </a:r>
            <a:r>
              <a:rPr lang="en-US" altLang="zh-CN" dirty="0">
                <a:latin typeface="Arial Black" panose="020B0A04020102020204" pitchFamily="34" charset="0"/>
                <a:ea typeface="黑体" panose="02010609060101010101" pitchFamily="49" charset="-122"/>
              </a:rPr>
              <a:t>DXP</a:t>
            </a:r>
            <a:r>
              <a:rPr lang="zh-CN" altLang="en-US" dirty="0">
                <a:latin typeface="Arial Black" panose="020B0A04020102020204" pitchFamily="34" charset="0"/>
                <a:ea typeface="黑体" panose="02010609060101010101" pitchFamily="49" charset="-122"/>
              </a:rPr>
              <a:t>菜单</a:t>
            </a:r>
            <a:r>
              <a:rPr lang="en-US" altLang="zh-CN" dirty="0">
                <a:latin typeface="Arial Black" panose="020B0A04020102020204" pitchFamily="34" charset="0"/>
                <a:ea typeface="黑体" panose="02010609060101010101" pitchFamily="49" charset="-122"/>
              </a:rPr>
              <a:t>→ Preference </a:t>
            </a:r>
          </a:p>
          <a:p>
            <a:pPr marL="0" indent="0">
              <a:buNone/>
            </a:pPr>
            <a:r>
              <a:rPr lang="en-US" altLang="zh-CN" dirty="0">
                <a:latin typeface="Arial Black" panose="020B0A04020102020204" pitchFamily="34" charset="0"/>
                <a:ea typeface="黑体" panose="02010609060101010101" pitchFamily="49" charset="-122"/>
              </a:rPr>
              <a:t>→ </a:t>
            </a:r>
            <a:r>
              <a:rPr lang="en-US" altLang="zh-CN" b="1" dirty="0">
                <a:latin typeface="Arial Black" panose="020B0A04020102020204" pitchFamily="34" charset="0"/>
                <a:ea typeface="黑体" panose="02010609060101010101" pitchFamily="49" charset="-122"/>
              </a:rPr>
              <a:t>Schematic</a:t>
            </a:r>
          </a:p>
          <a:p>
            <a:pPr marL="0" indent="0">
              <a:buNone/>
            </a:pPr>
            <a:r>
              <a:rPr lang="en-US" altLang="zh-CN" dirty="0">
                <a:latin typeface="Arial Black" panose="020B0A04020102020204" pitchFamily="34" charset="0"/>
                <a:ea typeface="黑体" panose="02010609060101010101" pitchFamily="49" charset="-122"/>
              </a:rPr>
              <a:t>→ </a:t>
            </a:r>
            <a:r>
              <a:rPr lang="en-US" altLang="zh-CN" b="1" dirty="0">
                <a:solidFill>
                  <a:srgbClr val="FF0000"/>
                </a:solidFill>
                <a:latin typeface="Arial Black" panose="020B0A04020102020204" pitchFamily="34" charset="0"/>
                <a:ea typeface="黑体" panose="02010609060101010101" pitchFamily="49" charset="-122"/>
              </a:rPr>
              <a:t>Graphical Editing</a:t>
            </a:r>
          </a:p>
          <a:p>
            <a:pPr marL="0" indent="0">
              <a:buNone/>
            </a:pPr>
            <a:r>
              <a:rPr lang="zh-CN" altLang="en-US" dirty="0">
                <a:latin typeface="Arial Black" panose="020B0A04020102020204" pitchFamily="34" charset="0"/>
                <a:ea typeface="黑体" panose="02010609060101010101" pitchFamily="49" charset="-122"/>
              </a:rPr>
              <a:t>设置：鼠标移动速度</a:t>
            </a:r>
            <a:endParaRPr lang="en-US" altLang="zh-CN" dirty="0">
              <a:latin typeface="Arial Black" panose="020B0A04020102020204" pitchFamily="34" charset="0"/>
              <a:ea typeface="黑体" panose="02010609060101010101" pitchFamily="49" charset="-122"/>
            </a:endParaRPr>
          </a:p>
          <a:p>
            <a:pPr marL="0" indent="0">
              <a:buNone/>
            </a:pPr>
            <a:r>
              <a:rPr lang="en-US" altLang="zh-CN" dirty="0">
                <a:latin typeface="Arial Black" panose="020B0A04020102020204" pitchFamily="34" charset="0"/>
                <a:ea typeface="黑体" panose="02010609060101010101" pitchFamily="49" charset="-122"/>
              </a:rPr>
              <a:t>	</a:t>
            </a:r>
            <a:r>
              <a:rPr lang="zh-CN" altLang="en-US" dirty="0">
                <a:latin typeface="Arial Black" panose="020B0A04020102020204" pitchFamily="34" charset="0"/>
                <a:ea typeface="黑体" panose="02010609060101010101" pitchFamily="49" charset="-122"/>
              </a:rPr>
              <a:t>光标类型（小光标）</a:t>
            </a:r>
            <a:endParaRPr lang="en-US" altLang="zh-CN" dirty="0">
              <a:latin typeface="Arial Black" panose="020B0A04020102020204" pitchFamily="34" charset="0"/>
              <a:ea typeface="黑体" panose="02010609060101010101" pitchFamily="49" charset="-122"/>
            </a:endParaRPr>
          </a:p>
        </p:txBody>
      </p:sp>
      <p:grpSp>
        <p:nvGrpSpPr>
          <p:cNvPr id="13" name="组合 12">
            <a:extLst>
              <a:ext uri="{FF2B5EF4-FFF2-40B4-BE49-F238E27FC236}">
                <a16:creationId xmlns:a16="http://schemas.microsoft.com/office/drawing/2014/main" id="{AB8F84F4-CB59-470A-6A46-B9A0B67A3737}"/>
              </a:ext>
            </a:extLst>
          </p:cNvPr>
          <p:cNvGrpSpPr/>
          <p:nvPr/>
        </p:nvGrpSpPr>
        <p:grpSpPr>
          <a:xfrm>
            <a:off x="4973887" y="1825625"/>
            <a:ext cx="7114877" cy="4351338"/>
            <a:chOff x="520148" y="808319"/>
            <a:chExt cx="7114877" cy="4351338"/>
          </a:xfrm>
        </p:grpSpPr>
        <p:pic>
          <p:nvPicPr>
            <p:cNvPr id="10" name="图片 9">
              <a:extLst>
                <a:ext uri="{FF2B5EF4-FFF2-40B4-BE49-F238E27FC236}">
                  <a16:creationId xmlns:a16="http://schemas.microsoft.com/office/drawing/2014/main" id="{5E904838-EE2C-5858-329E-E9EE2D9DE936}"/>
                </a:ext>
              </a:extLst>
            </p:cNvPr>
            <p:cNvPicPr>
              <a:picLocks noChangeAspect="1"/>
            </p:cNvPicPr>
            <p:nvPr/>
          </p:nvPicPr>
          <p:blipFill>
            <a:blip r:embed="rId3"/>
            <a:stretch>
              <a:fillRect/>
            </a:stretch>
          </p:blipFill>
          <p:spPr>
            <a:xfrm>
              <a:off x="520148" y="808319"/>
              <a:ext cx="7114877" cy="4351338"/>
            </a:xfrm>
            <a:prstGeom prst="rect">
              <a:avLst/>
            </a:prstGeom>
          </p:spPr>
        </p:pic>
        <p:sp>
          <p:nvSpPr>
            <p:cNvPr id="11" name="矩形: 圆角 10">
              <a:extLst>
                <a:ext uri="{FF2B5EF4-FFF2-40B4-BE49-F238E27FC236}">
                  <a16:creationId xmlns:a16="http://schemas.microsoft.com/office/drawing/2014/main" id="{6FD41463-17B6-0439-A9B4-CB994B0B0766}"/>
                </a:ext>
              </a:extLst>
            </p:cNvPr>
            <p:cNvSpPr/>
            <p:nvPr/>
          </p:nvSpPr>
          <p:spPr>
            <a:xfrm>
              <a:off x="4526905" y="2058146"/>
              <a:ext cx="388326" cy="214765"/>
            </a:xfrm>
            <a:prstGeom prst="roundRect">
              <a:avLst/>
            </a:prstGeom>
            <a:noFill/>
            <a:ln w="19050">
              <a:solidFill>
                <a:srgbClr val="FF0000"/>
              </a:solidFill>
              <a:extLst>
                <a:ext uri="{C807C97D-BFC1-408E-A445-0C87EB9F89A2}">
                  <ask:lineSketchStyleProps xmlns:ask="http://schemas.microsoft.com/office/drawing/2018/sketchyshapes" sd="3129864272">
                    <a:custGeom>
                      <a:avLst/>
                      <a:gdLst>
                        <a:gd name="connsiteX0" fmla="*/ 0 w 658453"/>
                        <a:gd name="connsiteY0" fmla="*/ 53912 h 323465"/>
                        <a:gd name="connsiteX1" fmla="*/ 53912 w 658453"/>
                        <a:gd name="connsiteY1" fmla="*/ 0 h 323465"/>
                        <a:gd name="connsiteX2" fmla="*/ 604541 w 658453"/>
                        <a:gd name="connsiteY2" fmla="*/ 0 h 323465"/>
                        <a:gd name="connsiteX3" fmla="*/ 658453 w 658453"/>
                        <a:gd name="connsiteY3" fmla="*/ 53912 h 323465"/>
                        <a:gd name="connsiteX4" fmla="*/ 658453 w 658453"/>
                        <a:gd name="connsiteY4" fmla="*/ 269553 h 323465"/>
                        <a:gd name="connsiteX5" fmla="*/ 604541 w 658453"/>
                        <a:gd name="connsiteY5" fmla="*/ 323465 h 323465"/>
                        <a:gd name="connsiteX6" fmla="*/ 53912 w 658453"/>
                        <a:gd name="connsiteY6" fmla="*/ 323465 h 323465"/>
                        <a:gd name="connsiteX7" fmla="*/ 0 w 658453"/>
                        <a:gd name="connsiteY7" fmla="*/ 269553 h 323465"/>
                        <a:gd name="connsiteX8" fmla="*/ 0 w 658453"/>
                        <a:gd name="connsiteY8" fmla="*/ 53912 h 323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58453" h="323465" extrusionOk="0">
                          <a:moveTo>
                            <a:pt x="0" y="53912"/>
                          </a:moveTo>
                          <a:cubicBezTo>
                            <a:pt x="961" y="21106"/>
                            <a:pt x="24979" y="2115"/>
                            <a:pt x="53912" y="0"/>
                          </a:cubicBezTo>
                          <a:cubicBezTo>
                            <a:pt x="243374" y="9421"/>
                            <a:pt x="345864" y="-15430"/>
                            <a:pt x="604541" y="0"/>
                          </a:cubicBezTo>
                          <a:cubicBezTo>
                            <a:pt x="631721" y="-5333"/>
                            <a:pt x="664243" y="27514"/>
                            <a:pt x="658453" y="53912"/>
                          </a:cubicBezTo>
                          <a:cubicBezTo>
                            <a:pt x="656864" y="147058"/>
                            <a:pt x="654845" y="181231"/>
                            <a:pt x="658453" y="269553"/>
                          </a:cubicBezTo>
                          <a:cubicBezTo>
                            <a:pt x="660694" y="304836"/>
                            <a:pt x="636219" y="328544"/>
                            <a:pt x="604541" y="323465"/>
                          </a:cubicBezTo>
                          <a:cubicBezTo>
                            <a:pt x="395242" y="340465"/>
                            <a:pt x="223258" y="319487"/>
                            <a:pt x="53912" y="323465"/>
                          </a:cubicBezTo>
                          <a:cubicBezTo>
                            <a:pt x="23968" y="320057"/>
                            <a:pt x="401" y="303564"/>
                            <a:pt x="0" y="269553"/>
                          </a:cubicBezTo>
                          <a:cubicBezTo>
                            <a:pt x="10592" y="163192"/>
                            <a:pt x="9549" y="154543"/>
                            <a:pt x="0" y="53912"/>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矩形: 圆角 11">
              <a:extLst>
                <a:ext uri="{FF2B5EF4-FFF2-40B4-BE49-F238E27FC236}">
                  <a16:creationId xmlns:a16="http://schemas.microsoft.com/office/drawing/2014/main" id="{804DDA7D-9F8C-EB0D-DFFB-931228EAB15D}"/>
                </a:ext>
              </a:extLst>
            </p:cNvPr>
            <p:cNvSpPr/>
            <p:nvPr/>
          </p:nvSpPr>
          <p:spPr>
            <a:xfrm>
              <a:off x="4534856" y="4448522"/>
              <a:ext cx="1561143" cy="306359"/>
            </a:xfrm>
            <a:prstGeom prst="roundRect">
              <a:avLst/>
            </a:prstGeom>
            <a:noFill/>
            <a:ln w="19050">
              <a:solidFill>
                <a:srgbClr val="FF0000"/>
              </a:solidFill>
              <a:extLst>
                <a:ext uri="{C807C97D-BFC1-408E-A445-0C87EB9F89A2}">
                  <ask:lineSketchStyleProps xmlns:ask="http://schemas.microsoft.com/office/drawing/2018/sketchyshapes" sd="3129864272">
                    <a:custGeom>
                      <a:avLst/>
                      <a:gdLst>
                        <a:gd name="connsiteX0" fmla="*/ 0 w 658453"/>
                        <a:gd name="connsiteY0" fmla="*/ 53912 h 323465"/>
                        <a:gd name="connsiteX1" fmla="*/ 53912 w 658453"/>
                        <a:gd name="connsiteY1" fmla="*/ 0 h 323465"/>
                        <a:gd name="connsiteX2" fmla="*/ 604541 w 658453"/>
                        <a:gd name="connsiteY2" fmla="*/ 0 h 323465"/>
                        <a:gd name="connsiteX3" fmla="*/ 658453 w 658453"/>
                        <a:gd name="connsiteY3" fmla="*/ 53912 h 323465"/>
                        <a:gd name="connsiteX4" fmla="*/ 658453 w 658453"/>
                        <a:gd name="connsiteY4" fmla="*/ 269553 h 323465"/>
                        <a:gd name="connsiteX5" fmla="*/ 604541 w 658453"/>
                        <a:gd name="connsiteY5" fmla="*/ 323465 h 323465"/>
                        <a:gd name="connsiteX6" fmla="*/ 53912 w 658453"/>
                        <a:gd name="connsiteY6" fmla="*/ 323465 h 323465"/>
                        <a:gd name="connsiteX7" fmla="*/ 0 w 658453"/>
                        <a:gd name="connsiteY7" fmla="*/ 269553 h 323465"/>
                        <a:gd name="connsiteX8" fmla="*/ 0 w 658453"/>
                        <a:gd name="connsiteY8" fmla="*/ 53912 h 323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58453" h="323465" extrusionOk="0">
                          <a:moveTo>
                            <a:pt x="0" y="53912"/>
                          </a:moveTo>
                          <a:cubicBezTo>
                            <a:pt x="961" y="21106"/>
                            <a:pt x="24979" y="2115"/>
                            <a:pt x="53912" y="0"/>
                          </a:cubicBezTo>
                          <a:cubicBezTo>
                            <a:pt x="243374" y="9421"/>
                            <a:pt x="345864" y="-15430"/>
                            <a:pt x="604541" y="0"/>
                          </a:cubicBezTo>
                          <a:cubicBezTo>
                            <a:pt x="631721" y="-5333"/>
                            <a:pt x="664243" y="27514"/>
                            <a:pt x="658453" y="53912"/>
                          </a:cubicBezTo>
                          <a:cubicBezTo>
                            <a:pt x="656864" y="147058"/>
                            <a:pt x="654845" y="181231"/>
                            <a:pt x="658453" y="269553"/>
                          </a:cubicBezTo>
                          <a:cubicBezTo>
                            <a:pt x="660694" y="304836"/>
                            <a:pt x="636219" y="328544"/>
                            <a:pt x="604541" y="323465"/>
                          </a:cubicBezTo>
                          <a:cubicBezTo>
                            <a:pt x="395242" y="340465"/>
                            <a:pt x="223258" y="319487"/>
                            <a:pt x="53912" y="323465"/>
                          </a:cubicBezTo>
                          <a:cubicBezTo>
                            <a:pt x="23968" y="320057"/>
                            <a:pt x="401" y="303564"/>
                            <a:pt x="0" y="269553"/>
                          </a:cubicBezTo>
                          <a:cubicBezTo>
                            <a:pt x="10592" y="163192"/>
                            <a:pt x="9549" y="154543"/>
                            <a:pt x="0" y="53912"/>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5" name="文本框 14">
            <a:extLst>
              <a:ext uri="{FF2B5EF4-FFF2-40B4-BE49-F238E27FC236}">
                <a16:creationId xmlns:a16="http://schemas.microsoft.com/office/drawing/2014/main" id="{D7EC6D2A-BC30-84E1-C213-435C830E9C4D}"/>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使用</a:t>
            </a:r>
            <a:r>
              <a:rPr lang="en-US" altLang="zh-CN" sz="4000" dirty="0">
                <a:solidFill>
                  <a:schemeClr val="accent1">
                    <a:lumMod val="75000"/>
                  </a:schemeClr>
                </a:solidFill>
                <a:latin typeface="Arial Black" panose="020B0A04020102020204" pitchFamily="34" charset="0"/>
                <a:ea typeface="黑体" panose="02010609060101010101" pitchFamily="49" charset="-122"/>
              </a:rPr>
              <a:t>AD</a:t>
            </a:r>
            <a:r>
              <a:rPr lang="zh-CN" altLang="en-US" sz="4000" dirty="0">
                <a:solidFill>
                  <a:schemeClr val="accent1">
                    <a:lumMod val="75000"/>
                  </a:schemeClr>
                </a:solidFill>
                <a:latin typeface="黑体" panose="02010609060101010101" pitchFamily="49" charset="-122"/>
                <a:ea typeface="黑体" panose="02010609060101010101" pitchFamily="49" charset="-122"/>
              </a:rPr>
              <a:t>设计电路原理图</a:t>
            </a:r>
            <a:endParaRPr lang="zh-CN" altLang="en-US" sz="4000" dirty="0">
              <a:solidFill>
                <a:srgbClr val="003F88"/>
              </a:solidFill>
              <a:latin typeface="黑体" panose="02010609060101010101" pitchFamily="49" charset="-122"/>
              <a:ea typeface="黑体" panose="02010609060101010101" pitchFamily="49" charset="-122"/>
            </a:endParaRPr>
          </a:p>
        </p:txBody>
      </p:sp>
      <p:sp>
        <p:nvSpPr>
          <p:cNvPr id="16" name="矩形 15">
            <a:extLst>
              <a:ext uri="{FF2B5EF4-FFF2-40B4-BE49-F238E27FC236}">
                <a16:creationId xmlns:a16="http://schemas.microsoft.com/office/drawing/2014/main" id="{288BDB52-6FA7-F9C6-BE53-7571FD6A55A6}"/>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标题 1">
            <a:extLst>
              <a:ext uri="{FF2B5EF4-FFF2-40B4-BE49-F238E27FC236}">
                <a16:creationId xmlns:a16="http://schemas.microsoft.com/office/drawing/2014/main" id="{D1921352-73B0-A4A7-447F-0BDB83031067}"/>
              </a:ext>
            </a:extLst>
          </p:cNvPr>
          <p:cNvSpPr>
            <a:spLocks noGrp="1"/>
          </p:cNvSpPr>
          <p:nvPr>
            <p:ph type="title"/>
          </p:nvPr>
        </p:nvSpPr>
        <p:spPr>
          <a:xfrm>
            <a:off x="905795" y="1177290"/>
            <a:ext cx="11410316" cy="1045266"/>
          </a:xfrm>
        </p:spPr>
        <p:txBody>
          <a:bodyPr>
            <a:normAutofit fontScale="90000"/>
          </a:bodyPr>
          <a:lstStyle/>
          <a:p>
            <a:r>
              <a:rPr lang="zh-CN" altLang="en-US" sz="3600" dirty="0">
                <a:latin typeface="黑体" panose="02010609060101010101" pitchFamily="49" charset="-122"/>
                <a:ea typeface="黑体" panose="02010609060101010101" pitchFamily="49" charset="-122"/>
              </a:rPr>
              <a:t>准备工作：配置系统参数、</a:t>
            </a:r>
            <a:r>
              <a:rPr lang="zh-CN" altLang="en-US" sz="3600" dirty="0">
                <a:solidFill>
                  <a:srgbClr val="FF0000"/>
                </a:solidFill>
                <a:latin typeface="黑体" panose="02010609060101010101" pitchFamily="49" charset="-122"/>
                <a:ea typeface="黑体" panose="02010609060101010101" pitchFamily="49" charset="-122"/>
              </a:rPr>
              <a:t>原理图编辑器参数</a:t>
            </a:r>
            <a:r>
              <a:rPr lang="zh-CN" altLang="en-US" sz="3600" dirty="0">
                <a:latin typeface="黑体" panose="02010609060101010101" pitchFamily="49" charset="-122"/>
                <a:ea typeface="黑体" panose="02010609060101010101" pitchFamily="49" charset="-122"/>
              </a:rPr>
              <a:t>、</a:t>
            </a:r>
            <a:r>
              <a:rPr lang="en-US" altLang="zh-CN" sz="3600" dirty="0">
                <a:latin typeface="黑体" panose="02010609060101010101" pitchFamily="49" charset="-122"/>
                <a:ea typeface="黑体" panose="02010609060101010101" pitchFamily="49" charset="-122"/>
              </a:rPr>
              <a:t>PCB</a:t>
            </a:r>
            <a:r>
              <a:rPr lang="zh-CN" altLang="en-US" sz="3600" dirty="0">
                <a:latin typeface="黑体" panose="02010609060101010101" pitchFamily="49" charset="-122"/>
                <a:ea typeface="黑体" panose="02010609060101010101" pitchFamily="49" charset="-122"/>
              </a:rPr>
              <a:t>编辑器参数</a:t>
            </a:r>
          </a:p>
        </p:txBody>
      </p:sp>
    </p:spTree>
    <p:extLst>
      <p:ext uri="{BB962C8B-B14F-4D97-AF65-F5344CB8AC3E}">
        <p14:creationId xmlns:p14="http://schemas.microsoft.com/office/powerpoint/2010/main" val="349581791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231F1-AE71-1B9C-397C-E7519BA4B4C1}"/>
            </a:ext>
          </a:extLst>
        </p:cNvPr>
        <p:cNvGrpSpPr/>
        <p:nvPr/>
      </p:nvGrpSpPr>
      <p:grpSpPr>
        <a:xfrm>
          <a:off x="0" y="0"/>
          <a:ext cx="0" cy="0"/>
          <a:chOff x="0" y="0"/>
          <a:chExt cx="0" cy="0"/>
        </a:xfrm>
      </p:grpSpPr>
      <p:pic>
        <p:nvPicPr>
          <p:cNvPr id="11" name="图片 10">
            <a:extLst>
              <a:ext uri="{FF2B5EF4-FFF2-40B4-BE49-F238E27FC236}">
                <a16:creationId xmlns:a16="http://schemas.microsoft.com/office/drawing/2014/main" id="{13041D50-A68E-C56D-EB90-3D6047FD5BA9}"/>
              </a:ext>
            </a:extLst>
          </p:cNvPr>
          <p:cNvPicPr>
            <a:picLocks noChangeAspect="1"/>
          </p:cNvPicPr>
          <p:nvPr/>
        </p:nvPicPr>
        <p:blipFill>
          <a:blip r:embed="rId2"/>
          <a:stretch>
            <a:fillRect/>
          </a:stretch>
        </p:blipFill>
        <p:spPr>
          <a:xfrm>
            <a:off x="2081232" y="3358873"/>
            <a:ext cx="8707288" cy="3499127"/>
          </a:xfrm>
          <a:prstGeom prst="rect">
            <a:avLst/>
          </a:prstGeom>
        </p:spPr>
      </p:pic>
      <p:sp>
        <p:nvSpPr>
          <p:cNvPr id="10" name="文本框 9">
            <a:extLst>
              <a:ext uri="{FF2B5EF4-FFF2-40B4-BE49-F238E27FC236}">
                <a16:creationId xmlns:a16="http://schemas.microsoft.com/office/drawing/2014/main" id="{4ECD7A15-9E89-FFFC-C24A-8831926CB4BA}"/>
              </a:ext>
            </a:extLst>
          </p:cNvPr>
          <p:cNvSpPr txBox="1"/>
          <p:nvPr/>
        </p:nvSpPr>
        <p:spPr>
          <a:xfrm>
            <a:off x="4420106" y="5496632"/>
            <a:ext cx="2794000" cy="369332"/>
          </a:xfrm>
          <a:prstGeom prst="rect">
            <a:avLst/>
          </a:prstGeom>
          <a:noFill/>
        </p:spPr>
        <p:txBody>
          <a:bodyPr wrap="square" rtlCol="0">
            <a:spAutoFit/>
          </a:bodyPr>
          <a:lstStyle/>
          <a:p>
            <a:pPr algn="ctr"/>
            <a:r>
              <a:rPr lang="zh-CN" altLang="en-US" dirty="0">
                <a:solidFill>
                  <a:srgbClr val="FF0000"/>
                </a:solidFill>
              </a:rPr>
              <a:t>使用英制单位系统</a:t>
            </a:r>
          </a:p>
        </p:txBody>
      </p:sp>
      <p:sp>
        <p:nvSpPr>
          <p:cNvPr id="15" name="矩形: 圆角 14">
            <a:extLst>
              <a:ext uri="{FF2B5EF4-FFF2-40B4-BE49-F238E27FC236}">
                <a16:creationId xmlns:a16="http://schemas.microsoft.com/office/drawing/2014/main" id="{12BCC599-573F-DC9E-38A3-342D07F79356}"/>
              </a:ext>
            </a:extLst>
          </p:cNvPr>
          <p:cNvSpPr/>
          <p:nvPr/>
        </p:nvSpPr>
        <p:spPr>
          <a:xfrm>
            <a:off x="4420106" y="4547139"/>
            <a:ext cx="1558455" cy="369332"/>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C0D3457D-D19E-96D0-8E8F-7414119E55E5}"/>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使用</a:t>
            </a:r>
            <a:r>
              <a:rPr lang="en-US" altLang="zh-CN" sz="4000" dirty="0">
                <a:solidFill>
                  <a:schemeClr val="accent1">
                    <a:lumMod val="75000"/>
                  </a:schemeClr>
                </a:solidFill>
                <a:latin typeface="Arial Black" panose="020B0A04020102020204" pitchFamily="34" charset="0"/>
                <a:ea typeface="黑体" panose="02010609060101010101" pitchFamily="49" charset="-122"/>
              </a:rPr>
              <a:t>AD</a:t>
            </a:r>
            <a:r>
              <a:rPr lang="zh-CN" altLang="en-US" sz="4000" dirty="0">
                <a:solidFill>
                  <a:schemeClr val="accent1">
                    <a:lumMod val="75000"/>
                  </a:schemeClr>
                </a:solidFill>
                <a:latin typeface="黑体" panose="02010609060101010101" pitchFamily="49" charset="-122"/>
                <a:ea typeface="黑体" panose="02010609060101010101" pitchFamily="49" charset="-122"/>
              </a:rPr>
              <a:t>设计电路原理图</a:t>
            </a:r>
            <a:endParaRPr lang="zh-CN" altLang="en-US" sz="4000" dirty="0">
              <a:solidFill>
                <a:srgbClr val="003F88"/>
              </a:solidFill>
              <a:latin typeface="黑体" panose="02010609060101010101" pitchFamily="49" charset="-122"/>
              <a:ea typeface="黑体" panose="02010609060101010101" pitchFamily="49" charset="-122"/>
            </a:endParaRPr>
          </a:p>
        </p:txBody>
      </p:sp>
      <p:sp>
        <p:nvSpPr>
          <p:cNvPr id="14" name="矩形 13">
            <a:extLst>
              <a:ext uri="{FF2B5EF4-FFF2-40B4-BE49-F238E27FC236}">
                <a16:creationId xmlns:a16="http://schemas.microsoft.com/office/drawing/2014/main" id="{44A96CC8-9440-743D-B432-9DA5AA78F3CF}"/>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标题 1">
            <a:extLst>
              <a:ext uri="{FF2B5EF4-FFF2-40B4-BE49-F238E27FC236}">
                <a16:creationId xmlns:a16="http://schemas.microsoft.com/office/drawing/2014/main" id="{9CD8BA60-493B-9C4C-DF97-F2AEF94FABBC}"/>
              </a:ext>
            </a:extLst>
          </p:cNvPr>
          <p:cNvSpPr>
            <a:spLocks noGrp="1"/>
          </p:cNvSpPr>
          <p:nvPr>
            <p:ph type="title"/>
          </p:nvPr>
        </p:nvSpPr>
        <p:spPr>
          <a:xfrm>
            <a:off x="905795" y="1177290"/>
            <a:ext cx="11410316" cy="1045266"/>
          </a:xfrm>
        </p:spPr>
        <p:txBody>
          <a:bodyPr>
            <a:normAutofit fontScale="90000"/>
          </a:bodyPr>
          <a:lstStyle/>
          <a:p>
            <a:r>
              <a:rPr lang="zh-CN" altLang="en-US" sz="3600" dirty="0">
                <a:latin typeface="黑体" panose="02010609060101010101" pitchFamily="49" charset="-122"/>
                <a:ea typeface="黑体" panose="02010609060101010101" pitchFamily="49" charset="-122"/>
              </a:rPr>
              <a:t>准备工作：配置系统参数、</a:t>
            </a:r>
            <a:r>
              <a:rPr lang="zh-CN" altLang="en-US" sz="3600" dirty="0">
                <a:solidFill>
                  <a:srgbClr val="FF0000"/>
                </a:solidFill>
                <a:latin typeface="黑体" panose="02010609060101010101" pitchFamily="49" charset="-122"/>
                <a:ea typeface="黑体" panose="02010609060101010101" pitchFamily="49" charset="-122"/>
              </a:rPr>
              <a:t>原理图编辑器参数</a:t>
            </a:r>
            <a:r>
              <a:rPr lang="zh-CN" altLang="en-US" sz="3600" dirty="0">
                <a:latin typeface="黑体" panose="02010609060101010101" pitchFamily="49" charset="-122"/>
                <a:ea typeface="黑体" panose="02010609060101010101" pitchFamily="49" charset="-122"/>
              </a:rPr>
              <a:t>、</a:t>
            </a:r>
            <a:r>
              <a:rPr lang="en-US" altLang="zh-CN" sz="3600" dirty="0">
                <a:latin typeface="黑体" panose="02010609060101010101" pitchFamily="49" charset="-122"/>
                <a:ea typeface="黑体" panose="02010609060101010101" pitchFamily="49" charset="-122"/>
              </a:rPr>
              <a:t>PCB</a:t>
            </a:r>
            <a:r>
              <a:rPr lang="zh-CN" altLang="en-US" sz="3600" dirty="0">
                <a:latin typeface="黑体" panose="02010609060101010101" pitchFamily="49" charset="-122"/>
                <a:ea typeface="黑体" panose="02010609060101010101" pitchFamily="49" charset="-122"/>
              </a:rPr>
              <a:t>编辑器参数</a:t>
            </a:r>
          </a:p>
        </p:txBody>
      </p:sp>
      <p:sp>
        <p:nvSpPr>
          <p:cNvPr id="3" name="内容占位符 2">
            <a:extLst>
              <a:ext uri="{FF2B5EF4-FFF2-40B4-BE49-F238E27FC236}">
                <a16:creationId xmlns:a16="http://schemas.microsoft.com/office/drawing/2014/main" id="{5CC53A03-8A2E-2545-8B73-6B5654CE4A7C}"/>
              </a:ext>
            </a:extLst>
          </p:cNvPr>
          <p:cNvSpPr>
            <a:spLocks noGrp="1"/>
          </p:cNvSpPr>
          <p:nvPr>
            <p:ph idx="1"/>
          </p:nvPr>
        </p:nvSpPr>
        <p:spPr>
          <a:xfrm>
            <a:off x="838200" y="2091927"/>
            <a:ext cx="10515600" cy="4351338"/>
          </a:xfrm>
        </p:spPr>
        <p:txBody>
          <a:bodyPr>
            <a:normAutofit/>
          </a:bodyPr>
          <a:lstStyle/>
          <a:p>
            <a:pPr marL="0" indent="0">
              <a:buNone/>
            </a:pPr>
            <a:r>
              <a:rPr lang="en-US" altLang="zh-CN" dirty="0">
                <a:latin typeface="Arial Black" panose="020B0A04020102020204" pitchFamily="34" charset="0"/>
                <a:ea typeface="黑体" panose="02010609060101010101" pitchFamily="49" charset="-122"/>
              </a:rPr>
              <a:t>*</a:t>
            </a:r>
            <a:r>
              <a:rPr lang="zh-CN" altLang="en-US" dirty="0">
                <a:latin typeface="Arial Black" panose="020B0A04020102020204" pitchFamily="34" charset="0"/>
                <a:ea typeface="黑体" panose="02010609060101010101" pitchFamily="49" charset="-122"/>
              </a:rPr>
              <a:t>操作：</a:t>
            </a:r>
            <a:endParaRPr lang="en-US" altLang="zh-CN" dirty="0">
              <a:latin typeface="Arial Black" panose="020B0A04020102020204" pitchFamily="34" charset="0"/>
              <a:ea typeface="黑体" panose="02010609060101010101" pitchFamily="49" charset="-122"/>
            </a:endParaRPr>
          </a:p>
          <a:p>
            <a:pPr marL="0" indent="0">
              <a:buNone/>
            </a:pPr>
            <a:r>
              <a:rPr lang="en-US" altLang="zh-CN" dirty="0">
                <a:latin typeface="Arial Black" panose="020B0A04020102020204" pitchFamily="34" charset="0"/>
                <a:ea typeface="黑体" panose="02010609060101010101" pitchFamily="49" charset="-122"/>
              </a:rPr>
              <a:t>DXP</a:t>
            </a:r>
            <a:r>
              <a:rPr lang="zh-CN" altLang="en-US" dirty="0">
                <a:latin typeface="Arial Black" panose="020B0A04020102020204" pitchFamily="34" charset="0"/>
                <a:ea typeface="黑体" panose="02010609060101010101" pitchFamily="49" charset="-122"/>
              </a:rPr>
              <a:t>菜单</a:t>
            </a:r>
            <a:r>
              <a:rPr lang="en-US" altLang="zh-CN" dirty="0">
                <a:latin typeface="Arial Black" panose="020B0A04020102020204" pitchFamily="34" charset="0"/>
                <a:ea typeface="黑体" panose="02010609060101010101" pitchFamily="49" charset="-122"/>
              </a:rPr>
              <a:t>→ Preference → </a:t>
            </a:r>
            <a:r>
              <a:rPr lang="en-US" altLang="zh-CN" b="1" dirty="0">
                <a:latin typeface="Arial Black" panose="020B0A04020102020204" pitchFamily="34" charset="0"/>
                <a:ea typeface="黑体" panose="02010609060101010101" pitchFamily="49" charset="-122"/>
              </a:rPr>
              <a:t>Schematic</a:t>
            </a:r>
            <a:r>
              <a:rPr lang="en-US" altLang="zh-CN" dirty="0">
                <a:latin typeface="Arial Black" panose="020B0A04020102020204" pitchFamily="34" charset="0"/>
                <a:ea typeface="黑体" panose="02010609060101010101" pitchFamily="49" charset="-122"/>
              </a:rPr>
              <a:t> → </a:t>
            </a:r>
            <a:r>
              <a:rPr lang="en-US" altLang="zh-CN" b="1" dirty="0">
                <a:solidFill>
                  <a:srgbClr val="FF0000"/>
                </a:solidFill>
                <a:latin typeface="Arial Black" panose="020B0A04020102020204" pitchFamily="34" charset="0"/>
                <a:ea typeface="黑体" panose="02010609060101010101" pitchFamily="49" charset="-122"/>
              </a:rPr>
              <a:t>Default Units</a:t>
            </a:r>
          </a:p>
          <a:p>
            <a:pPr marL="0" indent="0">
              <a:buNone/>
            </a:pPr>
            <a:r>
              <a:rPr lang="zh-CN" altLang="en-US" dirty="0">
                <a:latin typeface="Arial Black" panose="020B0A04020102020204" pitchFamily="34" charset="0"/>
                <a:ea typeface="黑体" panose="02010609060101010101" pitchFamily="49" charset="-122"/>
              </a:rPr>
              <a:t>设置：</a:t>
            </a:r>
            <a:r>
              <a:rPr lang="en-US" altLang="zh-CN" dirty="0">
                <a:latin typeface="Arial Black" panose="020B0A04020102020204" pitchFamily="34" charset="0"/>
                <a:ea typeface="黑体" panose="02010609060101010101" pitchFamily="49" charset="-122"/>
              </a:rPr>
              <a:t>Imperial</a:t>
            </a:r>
            <a:r>
              <a:rPr lang="zh-CN" altLang="en-US" dirty="0">
                <a:latin typeface="Arial Black" panose="020B0A04020102020204" pitchFamily="34" charset="0"/>
                <a:ea typeface="黑体" panose="02010609060101010101" pitchFamily="49" charset="-122"/>
              </a:rPr>
              <a:t>英制单位</a:t>
            </a:r>
            <a:endParaRPr lang="en-US" altLang="zh-CN" dirty="0">
              <a:latin typeface="Arial Black" panose="020B0A04020102020204" pitchFamily="34" charset="0"/>
              <a:ea typeface="黑体" panose="02010609060101010101" pitchFamily="49" charset="-122"/>
            </a:endParaRPr>
          </a:p>
        </p:txBody>
      </p:sp>
    </p:spTree>
    <p:extLst>
      <p:ext uri="{BB962C8B-B14F-4D97-AF65-F5344CB8AC3E}">
        <p14:creationId xmlns:p14="http://schemas.microsoft.com/office/powerpoint/2010/main" val="24964458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508F5-CCF4-6D94-2E0F-0C1F05DF07A4}"/>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728A9ED6-6F8D-667F-4493-F057951E9EB3}"/>
              </a:ext>
            </a:extLst>
          </p:cNvPr>
          <p:cNvSpPr>
            <a:spLocks noGrp="1"/>
          </p:cNvSpPr>
          <p:nvPr>
            <p:ph idx="1"/>
          </p:nvPr>
        </p:nvSpPr>
        <p:spPr>
          <a:xfrm>
            <a:off x="838200" y="2232025"/>
            <a:ext cx="10515600" cy="4351338"/>
          </a:xfrm>
        </p:spPr>
        <p:txBody>
          <a:bodyPr>
            <a:normAutofit/>
          </a:bodyPr>
          <a:lstStyle/>
          <a:p>
            <a:pPr marL="0" indent="0">
              <a:buNone/>
            </a:pPr>
            <a:r>
              <a:rPr lang="en-US" altLang="zh-CN" dirty="0">
                <a:latin typeface="Arial Black" panose="020B0A04020102020204" pitchFamily="34" charset="0"/>
                <a:ea typeface="黑体" panose="02010609060101010101" pitchFamily="49" charset="-122"/>
              </a:rPr>
              <a:t>*</a:t>
            </a:r>
            <a:r>
              <a:rPr lang="zh-CN" altLang="en-US" dirty="0">
                <a:latin typeface="Arial Black" panose="020B0A04020102020204" pitchFamily="34" charset="0"/>
                <a:ea typeface="黑体" panose="02010609060101010101" pitchFamily="49" charset="-122"/>
              </a:rPr>
              <a:t>操作：</a:t>
            </a:r>
            <a:endParaRPr lang="en-US" altLang="zh-CN" dirty="0">
              <a:latin typeface="Arial Black" panose="020B0A04020102020204" pitchFamily="34" charset="0"/>
              <a:ea typeface="黑体" panose="02010609060101010101" pitchFamily="49" charset="-122"/>
            </a:endParaRPr>
          </a:p>
          <a:p>
            <a:pPr marL="0" indent="0">
              <a:buNone/>
            </a:pPr>
            <a:r>
              <a:rPr lang="en-US" altLang="zh-CN" dirty="0">
                <a:latin typeface="Arial Black" panose="020B0A04020102020204" pitchFamily="34" charset="0"/>
                <a:ea typeface="黑体" panose="02010609060101010101" pitchFamily="49" charset="-122"/>
              </a:rPr>
              <a:t>DXP</a:t>
            </a:r>
            <a:r>
              <a:rPr lang="zh-CN" altLang="en-US" dirty="0">
                <a:latin typeface="Arial Black" panose="020B0A04020102020204" pitchFamily="34" charset="0"/>
                <a:ea typeface="黑体" panose="02010609060101010101" pitchFamily="49" charset="-122"/>
              </a:rPr>
              <a:t>菜单</a:t>
            </a:r>
            <a:r>
              <a:rPr lang="en-US" altLang="zh-CN" dirty="0">
                <a:latin typeface="Arial Black" panose="020B0A04020102020204" pitchFamily="34" charset="0"/>
                <a:ea typeface="黑体" panose="02010609060101010101" pitchFamily="49" charset="-122"/>
              </a:rPr>
              <a:t>→ Preference </a:t>
            </a:r>
          </a:p>
          <a:p>
            <a:pPr marL="0" indent="0">
              <a:buNone/>
            </a:pPr>
            <a:r>
              <a:rPr lang="en-US" altLang="zh-CN" dirty="0">
                <a:latin typeface="Arial Black" panose="020B0A04020102020204" pitchFamily="34" charset="0"/>
                <a:ea typeface="黑体" panose="02010609060101010101" pitchFamily="49" charset="-122"/>
              </a:rPr>
              <a:t>→ </a:t>
            </a:r>
            <a:r>
              <a:rPr lang="en-US" altLang="zh-CN" b="1" dirty="0">
                <a:latin typeface="Arial Black" panose="020B0A04020102020204" pitchFamily="34" charset="0"/>
                <a:ea typeface="黑体" panose="02010609060101010101" pitchFamily="49" charset="-122"/>
              </a:rPr>
              <a:t>PCB Editor</a:t>
            </a:r>
            <a:r>
              <a:rPr lang="en-US" altLang="zh-CN" dirty="0">
                <a:latin typeface="Arial Black" panose="020B0A04020102020204" pitchFamily="34" charset="0"/>
                <a:ea typeface="黑体" panose="02010609060101010101" pitchFamily="49" charset="-122"/>
              </a:rPr>
              <a:t> → </a:t>
            </a:r>
            <a:r>
              <a:rPr lang="en-US" altLang="zh-CN" b="1" dirty="0">
                <a:solidFill>
                  <a:srgbClr val="FF0000"/>
                </a:solidFill>
                <a:latin typeface="Arial Black" panose="020B0A04020102020204" pitchFamily="34" charset="0"/>
                <a:ea typeface="黑体" panose="02010609060101010101" pitchFamily="49" charset="-122"/>
              </a:rPr>
              <a:t>General</a:t>
            </a:r>
          </a:p>
          <a:p>
            <a:pPr marL="0" indent="0">
              <a:buNone/>
            </a:pPr>
            <a:r>
              <a:rPr lang="zh-CN" altLang="en-US" dirty="0">
                <a:latin typeface="Arial Black" panose="020B0A04020102020204" pitchFamily="34" charset="0"/>
                <a:ea typeface="黑体" panose="02010609060101010101" pitchFamily="49" charset="-122"/>
              </a:rPr>
              <a:t>设置：</a:t>
            </a:r>
            <a:r>
              <a:rPr lang="zh-CN" altLang="en-US" dirty="0">
                <a:solidFill>
                  <a:srgbClr val="FF0000"/>
                </a:solidFill>
                <a:latin typeface="Arial Black" panose="020B0A04020102020204" pitchFamily="34" charset="0"/>
                <a:ea typeface="黑体" panose="02010609060101010101" pitchFamily="49" charset="-122"/>
              </a:rPr>
              <a:t>鼠标速度</a:t>
            </a:r>
            <a:r>
              <a:rPr lang="en-US" altLang="zh-CN" dirty="0">
                <a:latin typeface="Arial Black" panose="020B0A04020102020204" pitchFamily="34" charset="0"/>
                <a:ea typeface="黑体" panose="02010609060101010101" pitchFamily="49" charset="-122"/>
              </a:rPr>
              <a:t>=1200</a:t>
            </a:r>
          </a:p>
          <a:p>
            <a:pPr marL="0" indent="0">
              <a:buNone/>
            </a:pPr>
            <a:r>
              <a:rPr lang="zh-CN" altLang="en-US" dirty="0">
                <a:latin typeface="Arial Black" panose="020B0A04020102020204" pitchFamily="34" charset="0"/>
                <a:ea typeface="黑体" panose="02010609060101010101" pitchFamily="49" charset="-122"/>
              </a:rPr>
              <a:t>勾选：</a:t>
            </a:r>
            <a:endParaRPr lang="en-US" altLang="zh-CN" dirty="0">
              <a:latin typeface="Arial Black" panose="020B0A04020102020204" pitchFamily="34" charset="0"/>
              <a:ea typeface="黑体" panose="02010609060101010101" pitchFamily="49" charset="-122"/>
            </a:endParaRPr>
          </a:p>
          <a:p>
            <a:pPr marL="0" indent="0">
              <a:buNone/>
            </a:pPr>
            <a:r>
              <a:rPr lang="zh-CN" altLang="en-US" dirty="0">
                <a:latin typeface="Arial Black" panose="020B0A04020102020204" pitchFamily="34" charset="0"/>
                <a:ea typeface="黑体" panose="02010609060101010101" pitchFamily="49" charset="-122"/>
              </a:rPr>
              <a:t>√</a:t>
            </a:r>
            <a:r>
              <a:rPr lang="en-US" altLang="zh-CN" dirty="0">
                <a:latin typeface="Arial Black" panose="020B0A04020102020204" pitchFamily="34" charset="0"/>
                <a:ea typeface="黑体" panose="02010609060101010101" pitchFamily="49" charset="-122"/>
              </a:rPr>
              <a:t>online DRC</a:t>
            </a:r>
          </a:p>
          <a:p>
            <a:pPr marL="0" indent="0">
              <a:buNone/>
            </a:pPr>
            <a:r>
              <a:rPr lang="zh-CN" altLang="en-US" dirty="0">
                <a:latin typeface="Arial Black" panose="020B0A04020102020204" pitchFamily="34" charset="0"/>
                <a:ea typeface="黑体" panose="02010609060101010101" pitchFamily="49" charset="-122"/>
              </a:rPr>
              <a:t>√</a:t>
            </a:r>
            <a:r>
              <a:rPr lang="en-US" altLang="zh-CN" dirty="0">
                <a:latin typeface="Arial Black" panose="020B0A04020102020204" pitchFamily="34" charset="0"/>
                <a:ea typeface="黑体" panose="02010609060101010101" pitchFamily="49" charset="-122"/>
              </a:rPr>
              <a:t>Remove Duplicates</a:t>
            </a:r>
          </a:p>
          <a:p>
            <a:pPr marL="0" indent="0">
              <a:buNone/>
            </a:pPr>
            <a:r>
              <a:rPr lang="zh-CN" altLang="en-US" dirty="0">
                <a:latin typeface="Arial Black" panose="020B0A04020102020204" pitchFamily="34" charset="0"/>
                <a:ea typeface="黑体" panose="02010609060101010101" pitchFamily="49" charset="-122"/>
              </a:rPr>
              <a:t>√</a:t>
            </a:r>
            <a:r>
              <a:rPr lang="en-US" altLang="zh-CN" dirty="0">
                <a:latin typeface="Arial Black" panose="020B0A04020102020204" pitchFamily="34" charset="0"/>
                <a:ea typeface="黑体" panose="02010609060101010101" pitchFamily="49" charset="-122"/>
              </a:rPr>
              <a:t>Protect Locked Objects</a:t>
            </a:r>
          </a:p>
        </p:txBody>
      </p:sp>
      <p:grpSp>
        <p:nvGrpSpPr>
          <p:cNvPr id="19" name="组合 18">
            <a:extLst>
              <a:ext uri="{FF2B5EF4-FFF2-40B4-BE49-F238E27FC236}">
                <a16:creationId xmlns:a16="http://schemas.microsoft.com/office/drawing/2014/main" id="{326751A1-B2C4-8563-870A-9947E713EA6F}"/>
              </a:ext>
            </a:extLst>
          </p:cNvPr>
          <p:cNvGrpSpPr/>
          <p:nvPr/>
        </p:nvGrpSpPr>
        <p:grpSpPr>
          <a:xfrm>
            <a:off x="5679057" y="1984572"/>
            <a:ext cx="6512943" cy="5301745"/>
            <a:chOff x="5679057" y="1984572"/>
            <a:chExt cx="6512943" cy="5301745"/>
          </a:xfrm>
        </p:grpSpPr>
        <p:pic>
          <p:nvPicPr>
            <p:cNvPr id="10" name="图片 9">
              <a:extLst>
                <a:ext uri="{FF2B5EF4-FFF2-40B4-BE49-F238E27FC236}">
                  <a16:creationId xmlns:a16="http://schemas.microsoft.com/office/drawing/2014/main" id="{41931D22-638A-6760-C21A-15336D767EFA}"/>
                </a:ext>
              </a:extLst>
            </p:cNvPr>
            <p:cNvPicPr>
              <a:picLocks noChangeAspect="1"/>
            </p:cNvPicPr>
            <p:nvPr/>
          </p:nvPicPr>
          <p:blipFill>
            <a:blip r:embed="rId3"/>
            <a:stretch>
              <a:fillRect/>
            </a:stretch>
          </p:blipFill>
          <p:spPr>
            <a:xfrm>
              <a:off x="5679057" y="1984572"/>
              <a:ext cx="6512943" cy="5301745"/>
            </a:xfrm>
            <a:prstGeom prst="rect">
              <a:avLst/>
            </a:prstGeom>
          </p:spPr>
        </p:pic>
        <p:sp>
          <p:nvSpPr>
            <p:cNvPr id="12" name="矩形: 圆角 11">
              <a:extLst>
                <a:ext uri="{FF2B5EF4-FFF2-40B4-BE49-F238E27FC236}">
                  <a16:creationId xmlns:a16="http://schemas.microsoft.com/office/drawing/2014/main" id="{749C8D0C-5A5F-A744-4143-8D9161C9D6B0}"/>
                </a:ext>
              </a:extLst>
            </p:cNvPr>
            <p:cNvSpPr/>
            <p:nvPr/>
          </p:nvSpPr>
          <p:spPr>
            <a:xfrm>
              <a:off x="7589390" y="3956539"/>
              <a:ext cx="1260281" cy="24584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12">
              <a:extLst>
                <a:ext uri="{FF2B5EF4-FFF2-40B4-BE49-F238E27FC236}">
                  <a16:creationId xmlns:a16="http://schemas.microsoft.com/office/drawing/2014/main" id="{E8C53A54-1711-E976-5F92-17BA2F3314C7}"/>
                </a:ext>
              </a:extLst>
            </p:cNvPr>
            <p:cNvSpPr/>
            <p:nvPr/>
          </p:nvSpPr>
          <p:spPr>
            <a:xfrm>
              <a:off x="7589390" y="3574439"/>
              <a:ext cx="1260280" cy="245839"/>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0332882A-01E9-CCD0-F33C-2D3291F4795D}"/>
                </a:ext>
              </a:extLst>
            </p:cNvPr>
            <p:cNvSpPr/>
            <p:nvPr/>
          </p:nvSpPr>
          <p:spPr>
            <a:xfrm>
              <a:off x="7589390" y="2950359"/>
              <a:ext cx="1260280" cy="245839"/>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589DF8C6-3015-E060-F2A1-E7016EC1C7D1}"/>
                </a:ext>
              </a:extLst>
            </p:cNvPr>
            <p:cNvSpPr/>
            <p:nvPr/>
          </p:nvSpPr>
          <p:spPr>
            <a:xfrm>
              <a:off x="9960204" y="3196198"/>
              <a:ext cx="901147" cy="189104"/>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文本框 15">
            <a:extLst>
              <a:ext uri="{FF2B5EF4-FFF2-40B4-BE49-F238E27FC236}">
                <a16:creationId xmlns:a16="http://schemas.microsoft.com/office/drawing/2014/main" id="{21DD1435-FD6C-421F-9324-9D2D481E8F81}"/>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使用</a:t>
            </a:r>
            <a:r>
              <a:rPr lang="en-US" altLang="zh-CN" sz="4000" dirty="0">
                <a:solidFill>
                  <a:schemeClr val="accent1">
                    <a:lumMod val="75000"/>
                  </a:schemeClr>
                </a:solidFill>
                <a:latin typeface="Arial Black" panose="020B0A04020102020204" pitchFamily="34" charset="0"/>
                <a:ea typeface="黑体" panose="02010609060101010101" pitchFamily="49" charset="-122"/>
              </a:rPr>
              <a:t>AD</a:t>
            </a:r>
            <a:r>
              <a:rPr lang="zh-CN" altLang="en-US" sz="4000" dirty="0">
                <a:solidFill>
                  <a:schemeClr val="accent1">
                    <a:lumMod val="75000"/>
                  </a:schemeClr>
                </a:solidFill>
                <a:latin typeface="黑体" panose="02010609060101010101" pitchFamily="49" charset="-122"/>
                <a:ea typeface="黑体" panose="02010609060101010101" pitchFamily="49" charset="-122"/>
              </a:rPr>
              <a:t>设计电路原理图</a:t>
            </a:r>
            <a:endParaRPr lang="zh-CN" altLang="en-US" sz="4000" dirty="0">
              <a:solidFill>
                <a:srgbClr val="003F88"/>
              </a:solidFill>
              <a:latin typeface="黑体" panose="02010609060101010101" pitchFamily="49" charset="-122"/>
              <a:ea typeface="黑体" panose="02010609060101010101" pitchFamily="49" charset="-122"/>
            </a:endParaRPr>
          </a:p>
        </p:txBody>
      </p:sp>
      <p:sp>
        <p:nvSpPr>
          <p:cNvPr id="17" name="矩形 16">
            <a:extLst>
              <a:ext uri="{FF2B5EF4-FFF2-40B4-BE49-F238E27FC236}">
                <a16:creationId xmlns:a16="http://schemas.microsoft.com/office/drawing/2014/main" id="{6DE2646D-D098-D69A-04D7-BF0DD823720C}"/>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标题 1">
            <a:extLst>
              <a:ext uri="{FF2B5EF4-FFF2-40B4-BE49-F238E27FC236}">
                <a16:creationId xmlns:a16="http://schemas.microsoft.com/office/drawing/2014/main" id="{052BC7A9-BE8A-36D7-567D-2584ACDE95FF}"/>
              </a:ext>
            </a:extLst>
          </p:cNvPr>
          <p:cNvSpPr>
            <a:spLocks noGrp="1"/>
          </p:cNvSpPr>
          <p:nvPr>
            <p:ph type="title"/>
          </p:nvPr>
        </p:nvSpPr>
        <p:spPr>
          <a:xfrm>
            <a:off x="905795" y="1177290"/>
            <a:ext cx="11410316" cy="1045266"/>
          </a:xfrm>
        </p:spPr>
        <p:txBody>
          <a:bodyPr>
            <a:normAutofit fontScale="90000"/>
          </a:bodyPr>
          <a:lstStyle/>
          <a:p>
            <a:r>
              <a:rPr lang="zh-CN" altLang="en-US" sz="3600" dirty="0">
                <a:latin typeface="黑体" panose="02010609060101010101" pitchFamily="49" charset="-122"/>
                <a:ea typeface="黑体" panose="02010609060101010101" pitchFamily="49" charset="-122"/>
              </a:rPr>
              <a:t>准备工作：配置系统参数、原理图编辑器参数、</a:t>
            </a:r>
            <a:r>
              <a:rPr lang="en-US" altLang="zh-CN" sz="3600" dirty="0">
                <a:solidFill>
                  <a:srgbClr val="FF0000"/>
                </a:solidFill>
                <a:latin typeface="黑体" panose="02010609060101010101" pitchFamily="49" charset="-122"/>
                <a:ea typeface="黑体" panose="02010609060101010101" pitchFamily="49" charset="-122"/>
              </a:rPr>
              <a:t>PCB</a:t>
            </a:r>
            <a:r>
              <a:rPr lang="zh-CN" altLang="en-US" sz="3600" dirty="0">
                <a:solidFill>
                  <a:srgbClr val="FF0000"/>
                </a:solidFill>
                <a:latin typeface="黑体" panose="02010609060101010101" pitchFamily="49" charset="-122"/>
                <a:ea typeface="黑体" panose="02010609060101010101" pitchFamily="49" charset="-122"/>
              </a:rPr>
              <a:t>编辑器参数</a:t>
            </a:r>
          </a:p>
        </p:txBody>
      </p:sp>
    </p:spTree>
    <p:extLst>
      <p:ext uri="{BB962C8B-B14F-4D97-AF65-F5344CB8AC3E}">
        <p14:creationId xmlns:p14="http://schemas.microsoft.com/office/powerpoint/2010/main" val="278417505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0CD05-4B97-023C-37B2-E741ADF4782F}"/>
            </a:ext>
          </a:extLst>
        </p:cNvPr>
        <p:cNvGrpSpPr/>
        <p:nvPr/>
      </p:nvGrpSpPr>
      <p:grpSpPr>
        <a:xfrm>
          <a:off x="0" y="0"/>
          <a:ext cx="0" cy="0"/>
          <a:chOff x="0" y="0"/>
          <a:chExt cx="0" cy="0"/>
        </a:xfrm>
      </p:grpSpPr>
      <p:grpSp>
        <p:nvGrpSpPr>
          <p:cNvPr id="27" name="组合 26">
            <a:extLst>
              <a:ext uri="{FF2B5EF4-FFF2-40B4-BE49-F238E27FC236}">
                <a16:creationId xmlns:a16="http://schemas.microsoft.com/office/drawing/2014/main" id="{A8E6A662-C356-AF27-08A4-6F3340CF8CB5}"/>
              </a:ext>
            </a:extLst>
          </p:cNvPr>
          <p:cNvGrpSpPr/>
          <p:nvPr/>
        </p:nvGrpSpPr>
        <p:grpSpPr>
          <a:xfrm>
            <a:off x="6096000" y="2086572"/>
            <a:ext cx="5978927" cy="4266912"/>
            <a:chOff x="4773418" y="620719"/>
            <a:chExt cx="7441514" cy="4841333"/>
          </a:xfrm>
        </p:grpSpPr>
        <p:pic>
          <p:nvPicPr>
            <p:cNvPr id="18" name="图片 17">
              <a:extLst>
                <a:ext uri="{FF2B5EF4-FFF2-40B4-BE49-F238E27FC236}">
                  <a16:creationId xmlns:a16="http://schemas.microsoft.com/office/drawing/2014/main" id="{CFAEEB01-C641-172A-61DB-F2CF981D268A}"/>
                </a:ext>
              </a:extLst>
            </p:cNvPr>
            <p:cNvPicPr>
              <a:picLocks noChangeAspect="1"/>
            </p:cNvPicPr>
            <p:nvPr/>
          </p:nvPicPr>
          <p:blipFill rotWithShape="1">
            <a:blip r:embed="rId3"/>
            <a:srcRect b="29406"/>
            <a:stretch/>
          </p:blipFill>
          <p:spPr>
            <a:xfrm>
              <a:off x="4773418" y="620719"/>
              <a:ext cx="7441514" cy="4841333"/>
            </a:xfrm>
            <a:prstGeom prst="rect">
              <a:avLst/>
            </a:prstGeom>
          </p:spPr>
        </p:pic>
        <p:sp>
          <p:nvSpPr>
            <p:cNvPr id="22" name="矩形: 圆角 21">
              <a:extLst>
                <a:ext uri="{FF2B5EF4-FFF2-40B4-BE49-F238E27FC236}">
                  <a16:creationId xmlns:a16="http://schemas.microsoft.com/office/drawing/2014/main" id="{5FBFE9B3-5EC5-0C40-3978-7A62F206CBE3}"/>
                </a:ext>
              </a:extLst>
            </p:cNvPr>
            <p:cNvSpPr/>
            <p:nvPr/>
          </p:nvSpPr>
          <p:spPr>
            <a:xfrm>
              <a:off x="7225943" y="2360673"/>
              <a:ext cx="1727225" cy="272301"/>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圆角 22">
              <a:extLst>
                <a:ext uri="{FF2B5EF4-FFF2-40B4-BE49-F238E27FC236}">
                  <a16:creationId xmlns:a16="http://schemas.microsoft.com/office/drawing/2014/main" id="{8C9A9674-7C4F-BDC2-7BAE-A723724734C5}"/>
                </a:ext>
              </a:extLst>
            </p:cNvPr>
            <p:cNvSpPr/>
            <p:nvPr/>
          </p:nvSpPr>
          <p:spPr>
            <a:xfrm>
              <a:off x="7187511" y="3436942"/>
              <a:ext cx="1948537" cy="144449"/>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a:extLst>
                <a:ext uri="{FF2B5EF4-FFF2-40B4-BE49-F238E27FC236}">
                  <a16:creationId xmlns:a16="http://schemas.microsoft.com/office/drawing/2014/main" id="{09897300-5B15-1E71-E3A0-FE1B6C4B5889}"/>
                </a:ext>
              </a:extLst>
            </p:cNvPr>
            <p:cNvSpPr/>
            <p:nvPr/>
          </p:nvSpPr>
          <p:spPr>
            <a:xfrm>
              <a:off x="7196787" y="3668855"/>
              <a:ext cx="1948537" cy="144449"/>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24">
              <a:extLst>
                <a:ext uri="{FF2B5EF4-FFF2-40B4-BE49-F238E27FC236}">
                  <a16:creationId xmlns:a16="http://schemas.microsoft.com/office/drawing/2014/main" id="{0E055C30-9EBB-7BC0-1085-604C16EE162F}"/>
                </a:ext>
              </a:extLst>
            </p:cNvPr>
            <p:cNvSpPr/>
            <p:nvPr/>
          </p:nvSpPr>
          <p:spPr>
            <a:xfrm>
              <a:off x="7198112" y="3908720"/>
              <a:ext cx="1948537" cy="144449"/>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id="{F0C825CD-B070-AF78-6EB1-77364635082E}"/>
                </a:ext>
              </a:extLst>
            </p:cNvPr>
            <p:cNvSpPr/>
            <p:nvPr/>
          </p:nvSpPr>
          <p:spPr>
            <a:xfrm>
              <a:off x="7214017" y="3177198"/>
              <a:ext cx="1948537" cy="144449"/>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文本框 10">
            <a:extLst>
              <a:ext uri="{FF2B5EF4-FFF2-40B4-BE49-F238E27FC236}">
                <a16:creationId xmlns:a16="http://schemas.microsoft.com/office/drawing/2014/main" id="{3018D0C5-3DE2-2214-B03C-6527197A5FAA}"/>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使用</a:t>
            </a:r>
            <a:r>
              <a:rPr lang="en-US" altLang="zh-CN" sz="4000" dirty="0">
                <a:solidFill>
                  <a:schemeClr val="accent1">
                    <a:lumMod val="75000"/>
                  </a:schemeClr>
                </a:solidFill>
                <a:latin typeface="Arial Black" panose="020B0A04020102020204" pitchFamily="34" charset="0"/>
                <a:ea typeface="黑体" panose="02010609060101010101" pitchFamily="49" charset="-122"/>
              </a:rPr>
              <a:t>AD</a:t>
            </a:r>
            <a:r>
              <a:rPr lang="zh-CN" altLang="en-US" sz="4000" dirty="0">
                <a:solidFill>
                  <a:schemeClr val="accent1">
                    <a:lumMod val="75000"/>
                  </a:schemeClr>
                </a:solidFill>
                <a:latin typeface="黑体" panose="02010609060101010101" pitchFamily="49" charset="-122"/>
                <a:ea typeface="黑体" panose="02010609060101010101" pitchFamily="49" charset="-122"/>
              </a:rPr>
              <a:t>设计电路原理图</a:t>
            </a:r>
            <a:endParaRPr lang="zh-CN" altLang="en-US" sz="4000" dirty="0">
              <a:solidFill>
                <a:srgbClr val="003F88"/>
              </a:solidFill>
              <a:latin typeface="黑体" panose="02010609060101010101" pitchFamily="49" charset="-122"/>
              <a:ea typeface="黑体" panose="02010609060101010101" pitchFamily="49" charset="-122"/>
            </a:endParaRPr>
          </a:p>
        </p:txBody>
      </p:sp>
      <p:sp>
        <p:nvSpPr>
          <p:cNvPr id="12" name="矩形 11">
            <a:extLst>
              <a:ext uri="{FF2B5EF4-FFF2-40B4-BE49-F238E27FC236}">
                <a16:creationId xmlns:a16="http://schemas.microsoft.com/office/drawing/2014/main" id="{F2449D80-4481-CD08-D9D1-14D0675F67B1}"/>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内容占位符 2">
            <a:extLst>
              <a:ext uri="{FF2B5EF4-FFF2-40B4-BE49-F238E27FC236}">
                <a16:creationId xmlns:a16="http://schemas.microsoft.com/office/drawing/2014/main" id="{CF87AD3F-A665-9BDF-2346-3E25C248C152}"/>
              </a:ext>
            </a:extLst>
          </p:cNvPr>
          <p:cNvSpPr>
            <a:spLocks noGrp="1"/>
          </p:cNvSpPr>
          <p:nvPr>
            <p:ph idx="1"/>
          </p:nvPr>
        </p:nvSpPr>
        <p:spPr>
          <a:xfrm>
            <a:off x="0" y="2222556"/>
            <a:ext cx="7248276" cy="4641611"/>
          </a:xfrm>
          <a:noFill/>
        </p:spPr>
        <p:txBody>
          <a:bodyPr>
            <a:normAutofit lnSpcReduction="10000"/>
          </a:bodyPr>
          <a:lstStyle/>
          <a:p>
            <a:pPr marL="0" indent="0">
              <a:buNone/>
            </a:pPr>
            <a:r>
              <a:rPr lang="en-US" altLang="zh-CN" dirty="0">
                <a:latin typeface="Arial Black" panose="020B0A04020102020204" pitchFamily="34" charset="0"/>
                <a:ea typeface="黑体" panose="02010609060101010101" pitchFamily="49" charset="-122"/>
              </a:rPr>
              <a:t>*</a:t>
            </a:r>
            <a:r>
              <a:rPr lang="zh-CN" altLang="en-US" dirty="0">
                <a:latin typeface="Arial Black" panose="020B0A04020102020204" pitchFamily="34" charset="0"/>
                <a:ea typeface="黑体" panose="02010609060101010101" pitchFamily="49" charset="-122"/>
              </a:rPr>
              <a:t>操作：</a:t>
            </a:r>
            <a:endParaRPr lang="en-US" altLang="zh-CN" dirty="0">
              <a:latin typeface="Arial Black" panose="020B0A04020102020204" pitchFamily="34" charset="0"/>
              <a:ea typeface="黑体" panose="02010609060101010101" pitchFamily="49" charset="-122"/>
            </a:endParaRPr>
          </a:p>
          <a:p>
            <a:pPr marL="0" indent="0">
              <a:buNone/>
            </a:pPr>
            <a:r>
              <a:rPr lang="en-US" altLang="zh-CN" dirty="0">
                <a:latin typeface="Arial Black" panose="020B0A04020102020204" pitchFamily="34" charset="0"/>
                <a:ea typeface="黑体" panose="02010609060101010101" pitchFamily="49" charset="-122"/>
              </a:rPr>
              <a:t>DXP</a:t>
            </a:r>
            <a:r>
              <a:rPr lang="zh-CN" altLang="en-US" dirty="0">
                <a:latin typeface="Arial Black" panose="020B0A04020102020204" pitchFamily="34" charset="0"/>
                <a:ea typeface="黑体" panose="02010609060101010101" pitchFamily="49" charset="-122"/>
              </a:rPr>
              <a:t>菜单</a:t>
            </a:r>
            <a:r>
              <a:rPr lang="en-US" altLang="zh-CN" dirty="0">
                <a:latin typeface="Arial Black" panose="020B0A04020102020204" pitchFamily="34" charset="0"/>
                <a:ea typeface="黑体" panose="02010609060101010101" pitchFamily="49" charset="-122"/>
              </a:rPr>
              <a:t>→ Preference</a:t>
            </a:r>
          </a:p>
          <a:p>
            <a:pPr marL="0" indent="0">
              <a:spcAft>
                <a:spcPts val="1800"/>
              </a:spcAft>
              <a:buNone/>
            </a:pPr>
            <a:r>
              <a:rPr lang="en-US" altLang="zh-CN" dirty="0">
                <a:latin typeface="Arial Black" panose="020B0A04020102020204" pitchFamily="34" charset="0"/>
                <a:ea typeface="黑体" panose="02010609060101010101" pitchFamily="49" charset="-122"/>
              </a:rPr>
              <a:t>→ </a:t>
            </a:r>
            <a:r>
              <a:rPr lang="en-US" altLang="zh-CN" b="1" dirty="0">
                <a:latin typeface="Arial Black" panose="020B0A04020102020204" pitchFamily="34" charset="0"/>
                <a:ea typeface="黑体" panose="02010609060101010101" pitchFamily="49" charset="-122"/>
              </a:rPr>
              <a:t>PCB Editor </a:t>
            </a:r>
            <a:r>
              <a:rPr lang="en-US" altLang="zh-CN" dirty="0">
                <a:latin typeface="Arial Black" panose="020B0A04020102020204" pitchFamily="34" charset="0"/>
                <a:ea typeface="黑体" panose="02010609060101010101" pitchFamily="49" charset="-122"/>
              </a:rPr>
              <a:t>→ </a:t>
            </a:r>
            <a:r>
              <a:rPr lang="en-US" altLang="zh-CN" b="1" dirty="0">
                <a:solidFill>
                  <a:srgbClr val="FF0000"/>
                </a:solidFill>
                <a:latin typeface="Arial Black" panose="020B0A04020102020204" pitchFamily="34" charset="0"/>
                <a:ea typeface="黑体" panose="02010609060101010101" pitchFamily="49" charset="-122"/>
              </a:rPr>
              <a:t>Interactive Routing</a:t>
            </a:r>
            <a:endParaRPr lang="en-US" altLang="zh-CN" dirty="0">
              <a:latin typeface="Arial Black" panose="020B0A04020102020204" pitchFamily="34" charset="0"/>
              <a:ea typeface="黑体" panose="02010609060101010101" pitchFamily="49" charset="-122"/>
            </a:endParaRPr>
          </a:p>
          <a:p>
            <a:pPr marL="0" indent="0">
              <a:buNone/>
            </a:pPr>
            <a:r>
              <a:rPr lang="zh-CN" altLang="en-US" dirty="0">
                <a:latin typeface="Arial Black" panose="020B0A04020102020204" pitchFamily="34" charset="0"/>
                <a:ea typeface="黑体" panose="02010609060101010101" pitchFamily="49" charset="-122"/>
              </a:rPr>
              <a:t>选择：</a:t>
            </a:r>
            <a:r>
              <a:rPr lang="en-US" altLang="zh-CN" dirty="0">
                <a:latin typeface="Arial Black" panose="020B0A04020102020204" pitchFamily="34" charset="0"/>
                <a:ea typeface="黑体" panose="02010609060101010101" pitchFamily="49" charset="-122"/>
              </a:rPr>
              <a:t>Walk around Conflicting Object</a:t>
            </a:r>
          </a:p>
          <a:p>
            <a:pPr marL="0" indent="0">
              <a:buNone/>
            </a:pPr>
            <a:r>
              <a:rPr lang="zh-CN" altLang="en-US" dirty="0">
                <a:latin typeface="Arial Black" panose="020B0A04020102020204" pitchFamily="34" charset="0"/>
                <a:ea typeface="黑体" panose="02010609060101010101" pitchFamily="49" charset="-122"/>
              </a:rPr>
              <a:t>清除：□</a:t>
            </a:r>
            <a:r>
              <a:rPr lang="en-US" altLang="zh-CN" dirty="0">
                <a:latin typeface="Arial Black" panose="020B0A04020102020204" pitchFamily="34" charset="0"/>
                <a:ea typeface="黑体" panose="02010609060101010101" pitchFamily="49" charset="-122"/>
              </a:rPr>
              <a:t>Restrict to 90/45</a:t>
            </a:r>
          </a:p>
          <a:p>
            <a:pPr marL="0" indent="0">
              <a:buNone/>
            </a:pPr>
            <a:r>
              <a:rPr lang="zh-CN" altLang="en-US" dirty="0">
                <a:latin typeface="Arial Black" panose="020B0A04020102020204" pitchFamily="34" charset="0"/>
                <a:ea typeface="黑体" panose="02010609060101010101" pitchFamily="49" charset="-122"/>
              </a:rPr>
              <a:t>勾选：■</a:t>
            </a:r>
            <a:r>
              <a:rPr lang="en-US" altLang="zh-CN" dirty="0">
                <a:latin typeface="Arial Black" panose="020B0A04020102020204" pitchFamily="34" charset="0"/>
                <a:ea typeface="黑体" panose="02010609060101010101" pitchFamily="49" charset="-122"/>
              </a:rPr>
              <a:t>Follow Mouse Trail</a:t>
            </a:r>
            <a:r>
              <a:rPr lang="en-US" altLang="zh-CN" b="1" dirty="0">
                <a:latin typeface="Arial Black" panose="020B0A04020102020204" pitchFamily="34" charset="0"/>
                <a:ea typeface="黑体" panose="02010609060101010101" pitchFamily="49" charset="-122"/>
              </a:rPr>
              <a:t>√</a:t>
            </a:r>
          </a:p>
          <a:p>
            <a:pPr marL="0" indent="0">
              <a:buNone/>
            </a:pPr>
            <a:r>
              <a:rPr lang="zh-CN" altLang="en-US" dirty="0">
                <a:latin typeface="Arial Black" panose="020B0A04020102020204" pitchFamily="34" charset="0"/>
                <a:ea typeface="黑体" panose="02010609060101010101" pitchFamily="49" charset="-122"/>
              </a:rPr>
              <a:t>清除：□</a:t>
            </a:r>
            <a:r>
              <a:rPr lang="en-US" altLang="zh-CN" dirty="0">
                <a:latin typeface="Arial Black" panose="020B0A04020102020204" pitchFamily="34" charset="0"/>
                <a:ea typeface="黑体" panose="02010609060101010101" pitchFamily="49" charset="-122"/>
              </a:rPr>
              <a:t>Automatically Remove Loops</a:t>
            </a:r>
          </a:p>
          <a:p>
            <a:pPr marL="0" indent="0">
              <a:buNone/>
            </a:pPr>
            <a:r>
              <a:rPr lang="zh-CN" altLang="en-US" dirty="0">
                <a:latin typeface="Arial Black" panose="020B0A04020102020204" pitchFamily="34" charset="0"/>
                <a:ea typeface="黑体" panose="02010609060101010101" pitchFamily="49" charset="-122"/>
              </a:rPr>
              <a:t>勾选：■</a:t>
            </a:r>
            <a:r>
              <a:rPr lang="en-US" altLang="zh-CN" dirty="0">
                <a:latin typeface="Arial Black" panose="020B0A04020102020204" pitchFamily="34" charset="0"/>
                <a:ea typeface="黑体" panose="02010609060101010101" pitchFamily="49" charset="-122"/>
              </a:rPr>
              <a:t>Automatically Terminate Routing</a:t>
            </a:r>
            <a:r>
              <a:rPr lang="en-US" altLang="zh-CN" b="1" dirty="0">
                <a:latin typeface="Arial Black" panose="020B0A04020102020204" pitchFamily="34" charset="0"/>
                <a:ea typeface="黑体" panose="02010609060101010101" pitchFamily="49" charset="-122"/>
              </a:rPr>
              <a:t> √</a:t>
            </a:r>
            <a:endParaRPr lang="en-US" altLang="zh-CN" dirty="0">
              <a:latin typeface="Arial Black" panose="020B0A04020102020204" pitchFamily="34" charset="0"/>
              <a:ea typeface="黑体" panose="02010609060101010101" pitchFamily="49" charset="-122"/>
            </a:endParaRPr>
          </a:p>
        </p:txBody>
      </p:sp>
      <p:sp>
        <p:nvSpPr>
          <p:cNvPr id="13" name="标题 1">
            <a:extLst>
              <a:ext uri="{FF2B5EF4-FFF2-40B4-BE49-F238E27FC236}">
                <a16:creationId xmlns:a16="http://schemas.microsoft.com/office/drawing/2014/main" id="{904524D0-B466-AFD4-D64D-EF4C5169FC4D}"/>
              </a:ext>
            </a:extLst>
          </p:cNvPr>
          <p:cNvSpPr>
            <a:spLocks noGrp="1"/>
          </p:cNvSpPr>
          <p:nvPr>
            <p:ph type="title"/>
          </p:nvPr>
        </p:nvSpPr>
        <p:spPr>
          <a:xfrm>
            <a:off x="905795" y="1177290"/>
            <a:ext cx="11410316" cy="1045266"/>
          </a:xfrm>
        </p:spPr>
        <p:txBody>
          <a:bodyPr>
            <a:normAutofit fontScale="90000"/>
          </a:bodyPr>
          <a:lstStyle/>
          <a:p>
            <a:r>
              <a:rPr lang="zh-CN" altLang="en-US" sz="3600" dirty="0">
                <a:latin typeface="黑体" panose="02010609060101010101" pitchFamily="49" charset="-122"/>
                <a:ea typeface="黑体" panose="02010609060101010101" pitchFamily="49" charset="-122"/>
              </a:rPr>
              <a:t>准备工作：配置系统参数、原理图编辑器参数、</a:t>
            </a:r>
            <a:r>
              <a:rPr lang="en-US" altLang="zh-CN" sz="3600" dirty="0">
                <a:solidFill>
                  <a:srgbClr val="FF0000"/>
                </a:solidFill>
                <a:latin typeface="黑体" panose="02010609060101010101" pitchFamily="49" charset="-122"/>
                <a:ea typeface="黑体" panose="02010609060101010101" pitchFamily="49" charset="-122"/>
              </a:rPr>
              <a:t>PCB</a:t>
            </a:r>
            <a:r>
              <a:rPr lang="zh-CN" altLang="en-US" sz="3600" dirty="0">
                <a:solidFill>
                  <a:srgbClr val="FF0000"/>
                </a:solidFill>
                <a:latin typeface="黑体" panose="02010609060101010101" pitchFamily="49" charset="-122"/>
                <a:ea typeface="黑体" panose="02010609060101010101" pitchFamily="49" charset="-122"/>
              </a:rPr>
              <a:t>编辑器参数</a:t>
            </a:r>
          </a:p>
        </p:txBody>
      </p:sp>
    </p:spTree>
    <p:extLst>
      <p:ext uri="{BB962C8B-B14F-4D97-AF65-F5344CB8AC3E}">
        <p14:creationId xmlns:p14="http://schemas.microsoft.com/office/powerpoint/2010/main" val="282654710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a:extLst>
              <a:ext uri="{FF2B5EF4-FFF2-40B4-BE49-F238E27FC236}">
                <a16:creationId xmlns:a16="http://schemas.microsoft.com/office/drawing/2014/main" id="{790613F9-982D-EDE0-AB94-B1CF65B93BCA}"/>
              </a:ext>
            </a:extLst>
          </p:cNvPr>
          <p:cNvGrpSpPr/>
          <p:nvPr/>
        </p:nvGrpSpPr>
        <p:grpSpPr>
          <a:xfrm>
            <a:off x="4367968" y="1316728"/>
            <a:ext cx="7497683" cy="5375436"/>
            <a:chOff x="1101404" y="3309374"/>
            <a:chExt cx="5196029" cy="3403574"/>
          </a:xfrm>
        </p:grpSpPr>
        <p:pic>
          <p:nvPicPr>
            <p:cNvPr id="5" name="图片 4">
              <a:extLst>
                <a:ext uri="{FF2B5EF4-FFF2-40B4-BE49-F238E27FC236}">
                  <a16:creationId xmlns:a16="http://schemas.microsoft.com/office/drawing/2014/main" id="{50A7977D-D8C8-19A8-07C0-3BF795A3014F}"/>
                </a:ext>
              </a:extLst>
            </p:cNvPr>
            <p:cNvPicPr>
              <a:picLocks noChangeAspect="1"/>
            </p:cNvPicPr>
            <p:nvPr/>
          </p:nvPicPr>
          <p:blipFill>
            <a:blip r:embed="rId3"/>
            <a:stretch>
              <a:fillRect/>
            </a:stretch>
          </p:blipFill>
          <p:spPr>
            <a:xfrm>
              <a:off x="1101404" y="3309374"/>
              <a:ext cx="5196029" cy="3403574"/>
            </a:xfrm>
            <a:prstGeom prst="rect">
              <a:avLst/>
            </a:prstGeom>
          </p:spPr>
        </p:pic>
        <p:sp>
          <p:nvSpPr>
            <p:cNvPr id="10" name="矩形: 圆角 9">
              <a:extLst>
                <a:ext uri="{FF2B5EF4-FFF2-40B4-BE49-F238E27FC236}">
                  <a16:creationId xmlns:a16="http://schemas.microsoft.com/office/drawing/2014/main" id="{935B7B37-E28C-FCD8-E1F5-C3777877481C}"/>
                </a:ext>
              </a:extLst>
            </p:cNvPr>
            <p:cNvSpPr/>
            <p:nvPr/>
          </p:nvSpPr>
          <p:spPr>
            <a:xfrm>
              <a:off x="4255623" y="5325921"/>
              <a:ext cx="705991" cy="238825"/>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圆角 10">
              <a:extLst>
                <a:ext uri="{FF2B5EF4-FFF2-40B4-BE49-F238E27FC236}">
                  <a16:creationId xmlns:a16="http://schemas.microsoft.com/office/drawing/2014/main" id="{B3969181-A3C6-875E-2A61-2437251EC401}"/>
                </a:ext>
              </a:extLst>
            </p:cNvPr>
            <p:cNvSpPr/>
            <p:nvPr/>
          </p:nvSpPr>
          <p:spPr>
            <a:xfrm>
              <a:off x="1420842" y="3415959"/>
              <a:ext cx="161468" cy="146225"/>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圆角 11">
              <a:extLst>
                <a:ext uri="{FF2B5EF4-FFF2-40B4-BE49-F238E27FC236}">
                  <a16:creationId xmlns:a16="http://schemas.microsoft.com/office/drawing/2014/main" id="{1ED9B0E2-C7F1-6D03-B413-52C01D200451}"/>
                </a:ext>
              </a:extLst>
            </p:cNvPr>
            <p:cNvSpPr/>
            <p:nvPr/>
          </p:nvSpPr>
          <p:spPr>
            <a:xfrm>
              <a:off x="1478943" y="3577124"/>
              <a:ext cx="413468" cy="146225"/>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12">
              <a:extLst>
                <a:ext uri="{FF2B5EF4-FFF2-40B4-BE49-F238E27FC236}">
                  <a16:creationId xmlns:a16="http://schemas.microsoft.com/office/drawing/2014/main" id="{19FC3F22-40FC-0FEF-B109-2D47648BD33F}"/>
                </a:ext>
              </a:extLst>
            </p:cNvPr>
            <p:cNvSpPr/>
            <p:nvPr/>
          </p:nvSpPr>
          <p:spPr>
            <a:xfrm>
              <a:off x="2650787" y="5327090"/>
              <a:ext cx="521784" cy="238824"/>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 name="内容占位符 2">
            <a:extLst>
              <a:ext uri="{FF2B5EF4-FFF2-40B4-BE49-F238E27FC236}">
                <a16:creationId xmlns:a16="http://schemas.microsoft.com/office/drawing/2014/main" id="{8CE6643E-DE31-B754-E013-2219E0135CA6}"/>
              </a:ext>
            </a:extLst>
          </p:cNvPr>
          <p:cNvSpPr>
            <a:spLocks noGrp="1"/>
          </p:cNvSpPr>
          <p:nvPr>
            <p:ph idx="1"/>
          </p:nvPr>
        </p:nvSpPr>
        <p:spPr>
          <a:xfrm>
            <a:off x="838200" y="2222556"/>
            <a:ext cx="3236992" cy="4351338"/>
          </a:xfrm>
        </p:spPr>
        <p:txBody>
          <a:bodyPr/>
          <a:lstStyle/>
          <a:p>
            <a:pPr marL="0" indent="0">
              <a:buNone/>
            </a:pPr>
            <a:r>
              <a:rPr lang="en-US" altLang="zh-CN" dirty="0">
                <a:latin typeface="Arial Black" panose="020B0A04020102020204" pitchFamily="34" charset="0"/>
                <a:ea typeface="黑体" panose="02010609060101010101" pitchFamily="49" charset="-122"/>
              </a:rPr>
              <a:t>*</a:t>
            </a:r>
            <a:r>
              <a:rPr lang="zh-CN" altLang="en-US" dirty="0">
                <a:latin typeface="Arial Black" panose="020B0A04020102020204" pitchFamily="34" charset="0"/>
                <a:ea typeface="黑体" panose="02010609060101010101" pitchFamily="49" charset="-122"/>
              </a:rPr>
              <a:t>操作</a:t>
            </a:r>
            <a:endParaRPr lang="en-US" altLang="zh-CN" dirty="0">
              <a:latin typeface="Arial Black" panose="020B0A04020102020204" pitchFamily="34" charset="0"/>
              <a:ea typeface="黑体" panose="02010609060101010101" pitchFamily="49" charset="-122"/>
            </a:endParaRPr>
          </a:p>
          <a:p>
            <a:pPr marL="0" indent="0">
              <a:buNone/>
            </a:pPr>
            <a:r>
              <a:rPr lang="zh-CN" altLang="en-US" dirty="0">
                <a:latin typeface="Arial Black" panose="020B0A04020102020204" pitchFamily="34" charset="0"/>
                <a:ea typeface="黑体" panose="02010609060101010101" pitchFamily="49" charset="-122"/>
              </a:rPr>
              <a:t>执行菜单命令：</a:t>
            </a:r>
            <a:endParaRPr lang="en-US" altLang="zh-CN" dirty="0">
              <a:latin typeface="Arial Black" panose="020B0A04020102020204" pitchFamily="34" charset="0"/>
              <a:ea typeface="黑体" panose="02010609060101010101" pitchFamily="49" charset="-122"/>
            </a:endParaRPr>
          </a:p>
          <a:p>
            <a:pPr marL="0" indent="0">
              <a:buNone/>
            </a:pPr>
            <a:r>
              <a:rPr lang="en-US" altLang="zh-CN" dirty="0">
                <a:latin typeface="Arial Black" panose="020B0A04020102020204" pitchFamily="34" charset="0"/>
                <a:ea typeface="黑体" panose="02010609060101010101" pitchFamily="49" charset="-122"/>
              </a:rPr>
              <a:t>“File”</a:t>
            </a:r>
            <a:r>
              <a:rPr lang="zh-CN" altLang="zh-CN" dirty="0">
                <a:latin typeface="Arial Black" panose="020B0A04020102020204" pitchFamily="34" charset="0"/>
                <a:ea typeface="黑体" panose="02010609060101010101" pitchFamily="49" charset="-122"/>
              </a:rPr>
              <a:t>→</a:t>
            </a:r>
            <a:r>
              <a:rPr lang="en-US" altLang="zh-CN" dirty="0">
                <a:latin typeface="Arial Black" panose="020B0A04020102020204" pitchFamily="34" charset="0"/>
                <a:ea typeface="黑体" panose="02010609060101010101" pitchFamily="49" charset="-122"/>
              </a:rPr>
              <a:t>”New”</a:t>
            </a:r>
            <a:r>
              <a:rPr lang="zh-CN" altLang="zh-CN" dirty="0">
                <a:latin typeface="Arial Black" panose="020B0A04020102020204" pitchFamily="34" charset="0"/>
                <a:ea typeface="黑体" panose="02010609060101010101" pitchFamily="49" charset="-122"/>
              </a:rPr>
              <a:t> </a:t>
            </a:r>
            <a:endParaRPr lang="en-US" altLang="zh-CN" dirty="0">
              <a:latin typeface="Arial Black" panose="020B0A04020102020204" pitchFamily="34" charset="0"/>
              <a:ea typeface="黑体" panose="02010609060101010101" pitchFamily="49" charset="-122"/>
            </a:endParaRPr>
          </a:p>
          <a:p>
            <a:pPr marL="0" indent="0">
              <a:buNone/>
            </a:pPr>
            <a:r>
              <a:rPr lang="zh-CN" altLang="zh-CN" dirty="0">
                <a:latin typeface="Arial Black" panose="020B0A04020102020204" pitchFamily="34" charset="0"/>
                <a:ea typeface="黑体" panose="02010609060101010101" pitchFamily="49" charset="-122"/>
              </a:rPr>
              <a:t>→</a:t>
            </a:r>
            <a:r>
              <a:rPr lang="en-US" altLang="zh-CN" dirty="0">
                <a:latin typeface="Arial Black" panose="020B0A04020102020204" pitchFamily="34" charset="0"/>
                <a:ea typeface="黑体" panose="02010609060101010101" pitchFamily="49" charset="-122"/>
              </a:rPr>
              <a:t>”Project”</a:t>
            </a:r>
          </a:p>
          <a:p>
            <a:pPr marL="0" indent="0">
              <a:buNone/>
            </a:pPr>
            <a:r>
              <a:rPr lang="zh-CN" altLang="zh-CN" dirty="0">
                <a:latin typeface="Arial Black" panose="020B0A04020102020204" pitchFamily="34" charset="0"/>
                <a:ea typeface="黑体" panose="02010609060101010101" pitchFamily="49" charset="-122"/>
              </a:rPr>
              <a:t>→</a:t>
            </a:r>
            <a:r>
              <a:rPr lang="en-US" altLang="zh-CN" dirty="0">
                <a:latin typeface="Arial Black" panose="020B0A04020102020204" pitchFamily="34" charset="0"/>
                <a:ea typeface="黑体" panose="02010609060101010101" pitchFamily="49" charset="-122"/>
              </a:rPr>
              <a:t>”</a:t>
            </a:r>
            <a:r>
              <a:rPr lang="en-US" altLang="zh-CN" b="1" dirty="0">
                <a:solidFill>
                  <a:srgbClr val="FF0000"/>
                </a:solidFill>
                <a:latin typeface="Arial Black" panose="020B0A04020102020204" pitchFamily="34" charset="0"/>
                <a:ea typeface="黑体" panose="02010609060101010101" pitchFamily="49" charset="-122"/>
              </a:rPr>
              <a:t>PCB Project</a:t>
            </a:r>
            <a:r>
              <a:rPr lang="en-US" altLang="zh-CN" dirty="0">
                <a:latin typeface="Arial Black" panose="020B0A04020102020204" pitchFamily="34" charset="0"/>
                <a:ea typeface="黑体" panose="02010609060101010101" pitchFamily="49" charset="-122"/>
              </a:rPr>
              <a:t>”,</a:t>
            </a:r>
          </a:p>
        </p:txBody>
      </p:sp>
      <p:sp>
        <p:nvSpPr>
          <p:cNvPr id="20" name="文本框 19">
            <a:extLst>
              <a:ext uri="{FF2B5EF4-FFF2-40B4-BE49-F238E27FC236}">
                <a16:creationId xmlns:a16="http://schemas.microsoft.com/office/drawing/2014/main" id="{896C0222-E121-015C-B0B7-93BB219850D0}"/>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使用</a:t>
            </a:r>
            <a:r>
              <a:rPr lang="en-US" altLang="zh-CN" sz="4000" dirty="0">
                <a:solidFill>
                  <a:schemeClr val="accent1">
                    <a:lumMod val="75000"/>
                  </a:schemeClr>
                </a:solidFill>
                <a:latin typeface="Arial Black" panose="020B0A04020102020204" pitchFamily="34" charset="0"/>
                <a:ea typeface="黑体" panose="02010609060101010101" pitchFamily="49" charset="-122"/>
              </a:rPr>
              <a:t>AD</a:t>
            </a:r>
            <a:r>
              <a:rPr lang="zh-CN" altLang="en-US" sz="4000" dirty="0">
                <a:solidFill>
                  <a:schemeClr val="accent1">
                    <a:lumMod val="75000"/>
                  </a:schemeClr>
                </a:solidFill>
                <a:latin typeface="黑体" panose="02010609060101010101" pitchFamily="49" charset="-122"/>
                <a:ea typeface="黑体" panose="02010609060101010101" pitchFamily="49" charset="-122"/>
              </a:rPr>
              <a:t>设计电路原理图</a:t>
            </a:r>
            <a:endParaRPr lang="zh-CN" altLang="en-US" sz="4000" dirty="0">
              <a:solidFill>
                <a:srgbClr val="003F88"/>
              </a:solidFill>
              <a:latin typeface="黑体" panose="02010609060101010101" pitchFamily="49" charset="-122"/>
              <a:ea typeface="黑体" panose="02010609060101010101" pitchFamily="49" charset="-122"/>
            </a:endParaRPr>
          </a:p>
        </p:txBody>
      </p:sp>
      <p:sp>
        <p:nvSpPr>
          <p:cNvPr id="21" name="矩形 20">
            <a:extLst>
              <a:ext uri="{FF2B5EF4-FFF2-40B4-BE49-F238E27FC236}">
                <a16:creationId xmlns:a16="http://schemas.microsoft.com/office/drawing/2014/main" id="{C889902F-2F62-662C-C3B3-0C89F4EE881C}"/>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文本框 1">
            <a:extLst>
              <a:ext uri="{FF2B5EF4-FFF2-40B4-BE49-F238E27FC236}">
                <a16:creationId xmlns:a16="http://schemas.microsoft.com/office/drawing/2014/main" id="{A80B1320-83D2-4862-EE31-317A365E3A6A}"/>
              </a:ext>
            </a:extLst>
          </p:cNvPr>
          <p:cNvSpPr txBox="1"/>
          <p:nvPr/>
        </p:nvSpPr>
        <p:spPr>
          <a:xfrm>
            <a:off x="918029" y="1386510"/>
            <a:ext cx="6117770" cy="584775"/>
          </a:xfrm>
          <a:prstGeom prst="rect">
            <a:avLst/>
          </a:prstGeom>
          <a:noFill/>
        </p:spPr>
        <p:txBody>
          <a:bodyPr wrap="square">
            <a:spAutoFit/>
          </a:bodyPr>
          <a:lstStyle/>
          <a:p>
            <a:pPr marL="0" indent="0">
              <a:buNone/>
            </a:pPr>
            <a:r>
              <a:rPr lang="zh-CN" altLang="en-US" sz="3200" dirty="0">
                <a:latin typeface="Arial Black" panose="020B0A04020102020204" pitchFamily="34" charset="0"/>
                <a:ea typeface="黑体" panose="02010609060101010101" pitchFamily="49" charset="-122"/>
              </a:rPr>
              <a:t>创建</a:t>
            </a:r>
            <a:r>
              <a:rPr lang="en-US" altLang="zh-CN" sz="3200" dirty="0">
                <a:latin typeface="Arial Black" panose="020B0A04020102020204" pitchFamily="34" charset="0"/>
                <a:ea typeface="黑体" panose="02010609060101010101" pitchFamily="49" charset="-122"/>
              </a:rPr>
              <a:t>PCB</a:t>
            </a:r>
            <a:r>
              <a:rPr lang="zh-CN" altLang="en-US" sz="3200" dirty="0">
                <a:latin typeface="Arial Black" panose="020B0A04020102020204" pitchFamily="34" charset="0"/>
                <a:ea typeface="黑体" panose="02010609060101010101" pitchFamily="49" charset="-122"/>
              </a:rPr>
              <a:t>工程</a:t>
            </a:r>
            <a:endParaRPr lang="en-US" altLang="zh-CN" sz="3200" dirty="0">
              <a:latin typeface="Arial Black" panose="020B0A04020102020204" pitchFamily="34" charset="0"/>
              <a:ea typeface="黑体" panose="02010609060101010101" pitchFamily="49" charset="-122"/>
            </a:endParaRPr>
          </a:p>
        </p:txBody>
      </p:sp>
    </p:spTree>
    <p:extLst>
      <p:ext uri="{BB962C8B-B14F-4D97-AF65-F5344CB8AC3E}">
        <p14:creationId xmlns:p14="http://schemas.microsoft.com/office/powerpoint/2010/main" val="296811151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A0D8C-D0C2-3F9B-F699-2F22646A56C3}"/>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61A7DC61-F4DB-CD01-1EDA-C5DB21E2A47D}"/>
              </a:ext>
            </a:extLst>
          </p:cNvPr>
          <p:cNvSpPr>
            <a:spLocks noGrp="1"/>
          </p:cNvSpPr>
          <p:nvPr>
            <p:ph idx="1"/>
          </p:nvPr>
        </p:nvSpPr>
        <p:spPr>
          <a:xfrm>
            <a:off x="918029" y="2092554"/>
            <a:ext cx="10889343" cy="4351338"/>
          </a:xfrm>
        </p:spPr>
        <p:txBody>
          <a:bodyPr/>
          <a:lstStyle/>
          <a:p>
            <a:pPr marL="0" indent="0">
              <a:buNone/>
            </a:pPr>
            <a:r>
              <a:rPr lang="en-US" altLang="zh-CN" dirty="0">
                <a:latin typeface="Arial Black" panose="020B0A04020102020204" pitchFamily="34" charset="0"/>
                <a:ea typeface="黑体" panose="02010609060101010101" pitchFamily="49" charset="-122"/>
              </a:rPr>
              <a:t>*</a:t>
            </a:r>
            <a:r>
              <a:rPr lang="zh-CN" altLang="en-US" dirty="0">
                <a:latin typeface="Arial Black" panose="020B0A04020102020204" pitchFamily="34" charset="0"/>
                <a:ea typeface="黑体" panose="02010609060101010101" pitchFamily="49" charset="-122"/>
              </a:rPr>
              <a:t>操作：</a:t>
            </a:r>
            <a:endParaRPr lang="en-US" altLang="zh-CN" dirty="0">
              <a:latin typeface="Arial Black" panose="020B0A04020102020204" pitchFamily="34" charset="0"/>
              <a:ea typeface="黑体" panose="02010609060101010101" pitchFamily="49" charset="-122"/>
            </a:endParaRPr>
          </a:p>
          <a:p>
            <a:pPr marL="0" indent="0">
              <a:buNone/>
            </a:pPr>
            <a:r>
              <a:rPr lang="zh-CN" altLang="en-US" dirty="0">
                <a:latin typeface="Arial Black" panose="020B0A04020102020204" pitchFamily="34" charset="0"/>
                <a:ea typeface="黑体" panose="02010609060101010101" pitchFamily="49" charset="-122"/>
              </a:rPr>
              <a:t>执行菜单命令：</a:t>
            </a:r>
            <a:r>
              <a:rPr lang="en-US" altLang="zh-CN" dirty="0">
                <a:latin typeface="Arial Black" panose="020B0A04020102020204" pitchFamily="34" charset="0"/>
                <a:ea typeface="黑体" panose="02010609060101010101" pitchFamily="49" charset="-122"/>
              </a:rPr>
              <a:t>“File”</a:t>
            </a:r>
            <a:r>
              <a:rPr lang="zh-CN" altLang="zh-CN" dirty="0">
                <a:latin typeface="Arial Black" panose="020B0A04020102020204" pitchFamily="34" charset="0"/>
                <a:ea typeface="黑体" panose="02010609060101010101" pitchFamily="49" charset="-122"/>
              </a:rPr>
              <a:t>→</a:t>
            </a:r>
            <a:r>
              <a:rPr lang="en-US" altLang="zh-CN" dirty="0">
                <a:latin typeface="Arial Black" panose="020B0A04020102020204" pitchFamily="34" charset="0"/>
                <a:ea typeface="黑体" panose="02010609060101010101" pitchFamily="49" charset="-122"/>
              </a:rPr>
              <a:t>”New”</a:t>
            </a:r>
            <a:r>
              <a:rPr lang="zh-CN" altLang="zh-CN" dirty="0">
                <a:latin typeface="Arial Black" panose="020B0A04020102020204" pitchFamily="34" charset="0"/>
                <a:ea typeface="黑体" panose="02010609060101010101" pitchFamily="49" charset="-122"/>
              </a:rPr>
              <a:t> →</a:t>
            </a:r>
            <a:r>
              <a:rPr lang="en-US" altLang="zh-CN" dirty="0">
                <a:latin typeface="Arial Black" panose="020B0A04020102020204" pitchFamily="34" charset="0"/>
                <a:ea typeface="黑体" panose="02010609060101010101" pitchFamily="49" charset="-122"/>
              </a:rPr>
              <a:t>”Project”</a:t>
            </a:r>
            <a:r>
              <a:rPr lang="zh-CN" altLang="zh-CN" dirty="0">
                <a:latin typeface="Arial Black" panose="020B0A04020102020204" pitchFamily="34" charset="0"/>
                <a:ea typeface="黑体" panose="02010609060101010101" pitchFamily="49" charset="-122"/>
              </a:rPr>
              <a:t> →</a:t>
            </a:r>
            <a:r>
              <a:rPr lang="en-US" altLang="zh-CN" dirty="0">
                <a:latin typeface="Arial Black" panose="020B0A04020102020204" pitchFamily="34" charset="0"/>
                <a:ea typeface="黑体" panose="02010609060101010101" pitchFamily="49" charset="-122"/>
              </a:rPr>
              <a:t>”PCB Project”,</a:t>
            </a:r>
          </a:p>
          <a:p>
            <a:pPr marL="0" indent="0">
              <a:buNone/>
            </a:pPr>
            <a:r>
              <a:rPr lang="zh-CN" altLang="en-US" dirty="0">
                <a:latin typeface="Arial Black" panose="020B0A04020102020204" pitchFamily="34" charset="0"/>
                <a:ea typeface="黑体" panose="02010609060101010101" pitchFamily="49" charset="-122"/>
              </a:rPr>
              <a:t>此时系统创建了一个名为</a:t>
            </a:r>
            <a:r>
              <a:rPr lang="en-US" altLang="zh-CN" dirty="0">
                <a:latin typeface="Arial Black" panose="020B0A04020102020204" pitchFamily="34" charset="0"/>
                <a:ea typeface="黑体" panose="02010609060101010101" pitchFamily="49" charset="-122"/>
              </a:rPr>
              <a:t>“</a:t>
            </a:r>
            <a:r>
              <a:rPr lang="en-US" altLang="zh-CN" b="1" dirty="0">
                <a:latin typeface="Arial Black" panose="020B0A04020102020204" pitchFamily="34" charset="0"/>
                <a:ea typeface="黑体" panose="02010609060101010101" pitchFamily="49" charset="-122"/>
              </a:rPr>
              <a:t>PCB_Project1.PrjPCB</a:t>
            </a:r>
            <a:r>
              <a:rPr lang="en-US" altLang="zh-CN" dirty="0">
                <a:latin typeface="Arial Black" panose="020B0A04020102020204" pitchFamily="34" charset="0"/>
                <a:ea typeface="黑体" panose="02010609060101010101" pitchFamily="49" charset="-122"/>
              </a:rPr>
              <a:t>”</a:t>
            </a:r>
            <a:r>
              <a:rPr lang="zh-CN" altLang="en-US" dirty="0">
                <a:latin typeface="Arial Black" panose="020B0A04020102020204" pitchFamily="34" charset="0"/>
                <a:ea typeface="黑体" panose="02010609060101010101" pitchFamily="49" charset="-122"/>
              </a:rPr>
              <a:t>的工程，</a:t>
            </a:r>
            <a:endParaRPr lang="en-US" altLang="zh-CN" dirty="0">
              <a:latin typeface="Arial Black" panose="020B0A04020102020204" pitchFamily="34" charset="0"/>
              <a:ea typeface="黑体" panose="02010609060101010101" pitchFamily="49" charset="-122"/>
            </a:endParaRPr>
          </a:p>
          <a:p>
            <a:pPr marL="0" indent="0">
              <a:buNone/>
            </a:pPr>
            <a:r>
              <a:rPr lang="zh-CN" altLang="en-US" dirty="0">
                <a:latin typeface="Arial Black" panose="020B0A04020102020204" pitchFamily="34" charset="0"/>
                <a:ea typeface="黑体" panose="02010609060101010101" pitchFamily="49" charset="-122"/>
              </a:rPr>
              <a:t>在工程面板中可看到</a:t>
            </a:r>
          </a:p>
        </p:txBody>
      </p:sp>
      <p:sp>
        <p:nvSpPr>
          <p:cNvPr id="5" name="文本框 4">
            <a:extLst>
              <a:ext uri="{FF2B5EF4-FFF2-40B4-BE49-F238E27FC236}">
                <a16:creationId xmlns:a16="http://schemas.microsoft.com/office/drawing/2014/main" id="{271C68DD-FCE5-C931-2311-BB674B331C8A}"/>
              </a:ext>
            </a:extLst>
          </p:cNvPr>
          <p:cNvSpPr txBox="1"/>
          <p:nvPr/>
        </p:nvSpPr>
        <p:spPr>
          <a:xfrm>
            <a:off x="3048000" y="3244334"/>
            <a:ext cx="6096000" cy="369332"/>
          </a:xfrm>
          <a:prstGeom prst="rect">
            <a:avLst/>
          </a:prstGeom>
          <a:noFill/>
        </p:spPr>
        <p:txBody>
          <a:bodyPr wrap="square">
            <a:spAutoFit/>
          </a:bodyPr>
          <a:lstStyle/>
          <a:p>
            <a:r>
              <a:rPr lang="zh-CN" altLang="zh-CN" dirty="0"/>
              <a:t>→</a:t>
            </a:r>
            <a:endParaRPr lang="zh-CN" altLang="en-US" dirty="0"/>
          </a:p>
        </p:txBody>
      </p:sp>
      <p:grpSp>
        <p:nvGrpSpPr>
          <p:cNvPr id="9" name="组合 8">
            <a:extLst>
              <a:ext uri="{FF2B5EF4-FFF2-40B4-BE49-F238E27FC236}">
                <a16:creationId xmlns:a16="http://schemas.microsoft.com/office/drawing/2014/main" id="{C05EDA39-D4D2-82D1-7A22-7E17BBCB9176}"/>
              </a:ext>
            </a:extLst>
          </p:cNvPr>
          <p:cNvGrpSpPr/>
          <p:nvPr/>
        </p:nvGrpSpPr>
        <p:grpSpPr>
          <a:xfrm>
            <a:off x="4247092" y="3613666"/>
            <a:ext cx="7022344" cy="3244334"/>
            <a:chOff x="4892934" y="3307162"/>
            <a:chExt cx="7299066" cy="3550838"/>
          </a:xfrm>
        </p:grpSpPr>
        <p:pic>
          <p:nvPicPr>
            <p:cNvPr id="16" name="图片 15">
              <a:extLst>
                <a:ext uri="{FF2B5EF4-FFF2-40B4-BE49-F238E27FC236}">
                  <a16:creationId xmlns:a16="http://schemas.microsoft.com/office/drawing/2014/main" id="{8A89CD3E-311E-4251-2E69-BEB9868A5025}"/>
                </a:ext>
              </a:extLst>
            </p:cNvPr>
            <p:cNvPicPr>
              <a:picLocks noChangeAspect="1"/>
            </p:cNvPicPr>
            <p:nvPr/>
          </p:nvPicPr>
          <p:blipFill>
            <a:blip r:embed="rId2"/>
            <a:stretch>
              <a:fillRect/>
            </a:stretch>
          </p:blipFill>
          <p:spPr>
            <a:xfrm>
              <a:off x="5123902" y="3307162"/>
              <a:ext cx="7068098" cy="3550838"/>
            </a:xfrm>
            <a:prstGeom prst="rect">
              <a:avLst/>
            </a:prstGeom>
          </p:spPr>
        </p:pic>
        <p:sp>
          <p:nvSpPr>
            <p:cNvPr id="19" name="矩形: 圆角 18">
              <a:extLst>
                <a:ext uri="{FF2B5EF4-FFF2-40B4-BE49-F238E27FC236}">
                  <a16:creationId xmlns:a16="http://schemas.microsoft.com/office/drawing/2014/main" id="{B5B17BDF-B973-BE4E-FA72-FF3D28294DE8}"/>
                </a:ext>
              </a:extLst>
            </p:cNvPr>
            <p:cNvSpPr/>
            <p:nvPr/>
          </p:nvSpPr>
          <p:spPr>
            <a:xfrm>
              <a:off x="4892934" y="4140734"/>
              <a:ext cx="4006332" cy="2717266"/>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圆角 19">
              <a:extLst>
                <a:ext uri="{FF2B5EF4-FFF2-40B4-BE49-F238E27FC236}">
                  <a16:creationId xmlns:a16="http://schemas.microsoft.com/office/drawing/2014/main" id="{F611A1B5-4F6E-FDDA-508F-EC9898ACD2F2}"/>
                </a:ext>
              </a:extLst>
            </p:cNvPr>
            <p:cNvSpPr/>
            <p:nvPr/>
          </p:nvSpPr>
          <p:spPr>
            <a:xfrm>
              <a:off x="5254904" y="5589216"/>
              <a:ext cx="3390332" cy="340380"/>
            </a:xfrm>
            <a:prstGeom prst="round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3">
            <a:extLst>
              <a:ext uri="{FF2B5EF4-FFF2-40B4-BE49-F238E27FC236}">
                <a16:creationId xmlns:a16="http://schemas.microsoft.com/office/drawing/2014/main" id="{6FFE7195-3055-9460-ED0A-B847D1BAABDB}"/>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使用</a:t>
            </a:r>
            <a:r>
              <a:rPr lang="en-US" altLang="zh-CN" sz="4000" dirty="0">
                <a:solidFill>
                  <a:schemeClr val="accent1">
                    <a:lumMod val="75000"/>
                  </a:schemeClr>
                </a:solidFill>
                <a:latin typeface="Arial Black" panose="020B0A04020102020204" pitchFamily="34" charset="0"/>
                <a:ea typeface="黑体" panose="02010609060101010101" pitchFamily="49" charset="-122"/>
              </a:rPr>
              <a:t>AD</a:t>
            </a:r>
            <a:r>
              <a:rPr lang="zh-CN" altLang="en-US" sz="4000" dirty="0">
                <a:solidFill>
                  <a:schemeClr val="accent1">
                    <a:lumMod val="75000"/>
                  </a:schemeClr>
                </a:solidFill>
                <a:latin typeface="黑体" panose="02010609060101010101" pitchFamily="49" charset="-122"/>
                <a:ea typeface="黑体" panose="02010609060101010101" pitchFamily="49" charset="-122"/>
              </a:rPr>
              <a:t>设计电路原理图</a:t>
            </a:r>
            <a:endParaRPr lang="zh-CN" altLang="en-US" sz="4000" dirty="0">
              <a:solidFill>
                <a:srgbClr val="003F88"/>
              </a:solidFill>
              <a:latin typeface="黑体" panose="02010609060101010101" pitchFamily="49" charset="-122"/>
              <a:ea typeface="黑体" panose="02010609060101010101" pitchFamily="49" charset="-122"/>
            </a:endParaRPr>
          </a:p>
        </p:txBody>
      </p:sp>
      <p:sp>
        <p:nvSpPr>
          <p:cNvPr id="15" name="矩形 14">
            <a:extLst>
              <a:ext uri="{FF2B5EF4-FFF2-40B4-BE49-F238E27FC236}">
                <a16:creationId xmlns:a16="http://schemas.microsoft.com/office/drawing/2014/main" id="{6030105F-79C1-15A6-5814-9371889D05C5}"/>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文本框 1">
            <a:extLst>
              <a:ext uri="{FF2B5EF4-FFF2-40B4-BE49-F238E27FC236}">
                <a16:creationId xmlns:a16="http://schemas.microsoft.com/office/drawing/2014/main" id="{A4062B26-3A2A-A6A4-DA3D-410D57E9D976}"/>
              </a:ext>
            </a:extLst>
          </p:cNvPr>
          <p:cNvSpPr txBox="1"/>
          <p:nvPr/>
        </p:nvSpPr>
        <p:spPr>
          <a:xfrm>
            <a:off x="918029" y="1386510"/>
            <a:ext cx="6117770" cy="584775"/>
          </a:xfrm>
          <a:prstGeom prst="rect">
            <a:avLst/>
          </a:prstGeom>
          <a:noFill/>
        </p:spPr>
        <p:txBody>
          <a:bodyPr wrap="square">
            <a:spAutoFit/>
          </a:bodyPr>
          <a:lstStyle/>
          <a:p>
            <a:pPr marL="0" indent="0">
              <a:buNone/>
            </a:pPr>
            <a:r>
              <a:rPr lang="zh-CN" altLang="en-US" sz="3200" dirty="0">
                <a:latin typeface="Arial Black" panose="020B0A04020102020204" pitchFamily="34" charset="0"/>
                <a:ea typeface="黑体" panose="02010609060101010101" pitchFamily="49" charset="-122"/>
              </a:rPr>
              <a:t>创建</a:t>
            </a:r>
            <a:r>
              <a:rPr lang="en-US" altLang="zh-CN" sz="3200" dirty="0">
                <a:latin typeface="Arial Black" panose="020B0A04020102020204" pitchFamily="34" charset="0"/>
                <a:ea typeface="黑体" panose="02010609060101010101" pitchFamily="49" charset="-122"/>
              </a:rPr>
              <a:t>PCB</a:t>
            </a:r>
            <a:r>
              <a:rPr lang="zh-CN" altLang="en-US" sz="3200" dirty="0">
                <a:latin typeface="Arial Black" panose="020B0A04020102020204" pitchFamily="34" charset="0"/>
                <a:ea typeface="黑体" panose="02010609060101010101" pitchFamily="49" charset="-122"/>
              </a:rPr>
              <a:t>工程</a:t>
            </a:r>
            <a:endParaRPr lang="en-US" altLang="zh-CN" sz="3200" dirty="0">
              <a:latin typeface="Arial Black" panose="020B0A04020102020204" pitchFamily="34" charset="0"/>
              <a:ea typeface="黑体" panose="02010609060101010101" pitchFamily="49" charset="-122"/>
            </a:endParaRPr>
          </a:p>
        </p:txBody>
      </p:sp>
    </p:spTree>
    <p:extLst>
      <p:ext uri="{BB962C8B-B14F-4D97-AF65-F5344CB8AC3E}">
        <p14:creationId xmlns:p14="http://schemas.microsoft.com/office/powerpoint/2010/main" val="58560005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A0D8C-D0C2-3F9B-F699-2F22646A56C3}"/>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61A7DC61-F4DB-CD01-1EDA-C5DB21E2A47D}"/>
              </a:ext>
            </a:extLst>
          </p:cNvPr>
          <p:cNvSpPr>
            <a:spLocks noGrp="1"/>
          </p:cNvSpPr>
          <p:nvPr>
            <p:ph idx="1"/>
          </p:nvPr>
        </p:nvSpPr>
        <p:spPr>
          <a:xfrm>
            <a:off x="901808" y="2191324"/>
            <a:ext cx="7034299" cy="4351338"/>
          </a:xfrm>
        </p:spPr>
        <p:txBody>
          <a:bodyPr>
            <a:normAutofit/>
          </a:bodyPr>
          <a:lstStyle/>
          <a:p>
            <a:pPr marL="0" indent="0">
              <a:buNone/>
            </a:pPr>
            <a:r>
              <a:rPr lang="en-US" altLang="zh-CN" dirty="0">
                <a:latin typeface="Arial Black" panose="020B0A04020102020204" pitchFamily="34" charset="0"/>
                <a:ea typeface="黑体" panose="02010609060101010101" pitchFamily="49" charset="-122"/>
              </a:rPr>
              <a:t>*</a:t>
            </a:r>
            <a:r>
              <a:rPr lang="zh-CN" altLang="en-US" dirty="0">
                <a:latin typeface="Arial Black" panose="020B0A04020102020204" pitchFamily="34" charset="0"/>
                <a:ea typeface="黑体" panose="02010609060101010101" pitchFamily="49" charset="-122"/>
              </a:rPr>
              <a:t>操作：</a:t>
            </a:r>
            <a:endParaRPr lang="en-US" altLang="zh-CN" dirty="0">
              <a:latin typeface="Arial Black" panose="020B0A04020102020204" pitchFamily="34" charset="0"/>
              <a:ea typeface="黑体" panose="02010609060101010101" pitchFamily="49" charset="-122"/>
            </a:endParaRPr>
          </a:p>
          <a:p>
            <a:pPr marL="0" indent="0">
              <a:buNone/>
            </a:pPr>
            <a:r>
              <a:rPr lang="en-US" altLang="zh-CN" dirty="0">
                <a:latin typeface="Arial Black" panose="020B0A04020102020204" pitchFamily="34" charset="0"/>
                <a:ea typeface="黑体" panose="02010609060101010101" pitchFamily="49" charset="-122"/>
              </a:rPr>
              <a:t>’</a:t>
            </a:r>
            <a:r>
              <a:rPr lang="en-US" altLang="zh-CN" dirty="0">
                <a:latin typeface="Arial Black" panose="020B0A04020102020204" pitchFamily="34" charset="0"/>
                <a:ea typeface="黑体" panose="02010609060101010101" pitchFamily="49" charset="-122"/>
                <a:cs typeface="Times New Roman" panose="02020603050405020304" pitchFamily="18" charset="0"/>
              </a:rPr>
              <a:t>File’</a:t>
            </a:r>
            <a:r>
              <a:rPr lang="zh-CN" altLang="en-US" dirty="0">
                <a:latin typeface="Arial Black" panose="020B0A04020102020204" pitchFamily="34" charset="0"/>
                <a:ea typeface="黑体" panose="02010609060101010101" pitchFamily="49" charset="-122"/>
                <a:cs typeface="Times New Roman" panose="02020603050405020304" pitchFamily="18" charset="0"/>
              </a:rPr>
              <a:t>→</a:t>
            </a:r>
            <a:r>
              <a:rPr lang="en-US" altLang="zh-CN" dirty="0">
                <a:latin typeface="Arial Black" panose="020B0A04020102020204" pitchFamily="34" charset="0"/>
                <a:ea typeface="黑体" panose="02010609060101010101" pitchFamily="49" charset="-122"/>
                <a:cs typeface="Times New Roman" panose="02020603050405020304" pitchFamily="18" charset="0"/>
              </a:rPr>
              <a:t>’</a:t>
            </a:r>
            <a:r>
              <a:rPr lang="en-US" altLang="zh-CN" b="1" dirty="0">
                <a:latin typeface="Arial Black" panose="020B0A04020102020204" pitchFamily="34" charset="0"/>
                <a:ea typeface="黑体" panose="02010609060101010101" pitchFamily="49" charset="-122"/>
                <a:cs typeface="Times New Roman" panose="02020603050405020304" pitchFamily="18" charset="0"/>
              </a:rPr>
              <a:t>Save Project’</a:t>
            </a:r>
            <a:endParaRPr lang="en-US" altLang="zh-CN" dirty="0">
              <a:latin typeface="Arial Black" panose="020B0A04020102020204" pitchFamily="34" charset="0"/>
              <a:ea typeface="黑体" panose="02010609060101010101" pitchFamily="49" charset="-122"/>
              <a:cs typeface="Times New Roman" panose="02020603050405020304" pitchFamily="18" charset="0"/>
            </a:endParaRPr>
          </a:p>
          <a:p>
            <a:pPr marL="0" indent="0">
              <a:buNone/>
            </a:pPr>
            <a:r>
              <a:rPr lang="zh-CN" altLang="en-US" dirty="0">
                <a:latin typeface="Arial Black" panose="020B0A04020102020204" pitchFamily="34" charset="0"/>
                <a:ea typeface="黑体" panose="02010609060101010101" pitchFamily="49" charset="-122"/>
                <a:cs typeface="Times New Roman" panose="02020603050405020304" pitchFamily="18" charset="0"/>
              </a:rPr>
              <a:t>保存该工程文件为</a:t>
            </a:r>
            <a:r>
              <a:rPr lang="zh-CN" altLang="en-US" dirty="0">
                <a:solidFill>
                  <a:srgbClr val="FF0000"/>
                </a:solidFill>
                <a:latin typeface="Arial Black" panose="020B0A04020102020204" pitchFamily="34" charset="0"/>
                <a:ea typeface="黑体" panose="02010609060101010101" pitchFamily="49" charset="-122"/>
                <a:cs typeface="Times New Roman" panose="02020603050405020304" pitchFamily="18" charset="0"/>
              </a:rPr>
              <a:t>合适的路径和文件名</a:t>
            </a:r>
          </a:p>
          <a:p>
            <a:pPr marL="0" indent="0">
              <a:buNone/>
            </a:pPr>
            <a:r>
              <a:rPr lang="zh-CN" altLang="en-US" dirty="0">
                <a:latin typeface="Arial Black" panose="020B0A04020102020204" pitchFamily="34" charset="0"/>
                <a:ea typeface="黑体" panose="02010609060101010101" pitchFamily="49" charset="-122"/>
                <a:cs typeface="Times New Roman" panose="02020603050405020304" pitchFamily="18" charset="0"/>
              </a:rPr>
              <a:t>路径中不要出现中文，文件名不要出现中文</a:t>
            </a:r>
            <a:endParaRPr lang="zh-CN" altLang="en-US" dirty="0">
              <a:latin typeface="Arial Black" panose="020B0A04020102020204" pitchFamily="34" charset="0"/>
              <a:ea typeface="黑体" panose="02010609060101010101" pitchFamily="49" charset="-122"/>
            </a:endParaRPr>
          </a:p>
        </p:txBody>
      </p:sp>
      <p:pic>
        <p:nvPicPr>
          <p:cNvPr id="18" name="图片 17">
            <a:extLst>
              <a:ext uri="{FF2B5EF4-FFF2-40B4-BE49-F238E27FC236}">
                <a16:creationId xmlns:a16="http://schemas.microsoft.com/office/drawing/2014/main" id="{94DEA5E9-E170-96F9-E218-EFE97948A592}"/>
              </a:ext>
            </a:extLst>
          </p:cNvPr>
          <p:cNvPicPr>
            <a:picLocks noChangeAspect="1"/>
          </p:cNvPicPr>
          <p:nvPr/>
        </p:nvPicPr>
        <p:blipFill>
          <a:blip r:embed="rId2"/>
          <a:stretch>
            <a:fillRect/>
          </a:stretch>
        </p:blipFill>
        <p:spPr>
          <a:xfrm>
            <a:off x="7842508" y="1596020"/>
            <a:ext cx="4295775" cy="4048125"/>
          </a:xfrm>
          <a:prstGeom prst="rect">
            <a:avLst/>
          </a:prstGeom>
        </p:spPr>
      </p:pic>
      <p:pic>
        <p:nvPicPr>
          <p:cNvPr id="10" name="图片 9">
            <a:extLst>
              <a:ext uri="{FF2B5EF4-FFF2-40B4-BE49-F238E27FC236}">
                <a16:creationId xmlns:a16="http://schemas.microsoft.com/office/drawing/2014/main" id="{DCC3982E-7D4D-C009-0958-5A8C8FB2F037}"/>
              </a:ext>
            </a:extLst>
          </p:cNvPr>
          <p:cNvPicPr>
            <a:picLocks noChangeAspect="1"/>
          </p:cNvPicPr>
          <p:nvPr/>
        </p:nvPicPr>
        <p:blipFill>
          <a:blip r:embed="rId3"/>
          <a:stretch>
            <a:fillRect/>
          </a:stretch>
        </p:blipFill>
        <p:spPr>
          <a:xfrm>
            <a:off x="3514286" y="4164907"/>
            <a:ext cx="3863632" cy="2488025"/>
          </a:xfrm>
          <a:prstGeom prst="rect">
            <a:avLst/>
          </a:prstGeom>
        </p:spPr>
      </p:pic>
      <p:sp>
        <p:nvSpPr>
          <p:cNvPr id="12" name="文本框 11">
            <a:extLst>
              <a:ext uri="{FF2B5EF4-FFF2-40B4-BE49-F238E27FC236}">
                <a16:creationId xmlns:a16="http://schemas.microsoft.com/office/drawing/2014/main" id="{955ECF52-839D-5548-3768-DD3F9E9031CE}"/>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使用</a:t>
            </a:r>
            <a:r>
              <a:rPr lang="en-US" altLang="zh-CN" sz="4000" dirty="0">
                <a:solidFill>
                  <a:schemeClr val="accent1">
                    <a:lumMod val="75000"/>
                  </a:schemeClr>
                </a:solidFill>
                <a:latin typeface="Arial Black" panose="020B0A04020102020204" pitchFamily="34" charset="0"/>
                <a:ea typeface="黑体" panose="02010609060101010101" pitchFamily="49" charset="-122"/>
              </a:rPr>
              <a:t>AD</a:t>
            </a:r>
            <a:r>
              <a:rPr lang="zh-CN" altLang="en-US" sz="4000" dirty="0">
                <a:solidFill>
                  <a:schemeClr val="accent1">
                    <a:lumMod val="75000"/>
                  </a:schemeClr>
                </a:solidFill>
                <a:latin typeface="黑体" panose="02010609060101010101" pitchFamily="49" charset="-122"/>
                <a:ea typeface="黑体" panose="02010609060101010101" pitchFamily="49" charset="-122"/>
              </a:rPr>
              <a:t>设计电路原理图</a:t>
            </a:r>
            <a:endParaRPr lang="zh-CN" altLang="en-US" sz="4000" dirty="0">
              <a:solidFill>
                <a:srgbClr val="003F88"/>
              </a:solidFill>
              <a:latin typeface="黑体" panose="02010609060101010101" pitchFamily="49" charset="-122"/>
              <a:ea typeface="黑体" panose="02010609060101010101" pitchFamily="49" charset="-122"/>
            </a:endParaRPr>
          </a:p>
        </p:txBody>
      </p:sp>
      <p:sp>
        <p:nvSpPr>
          <p:cNvPr id="13" name="矩形 12">
            <a:extLst>
              <a:ext uri="{FF2B5EF4-FFF2-40B4-BE49-F238E27FC236}">
                <a16:creationId xmlns:a16="http://schemas.microsoft.com/office/drawing/2014/main" id="{76FB7C9F-38F4-D352-4785-4D0A7653CEF6}"/>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文本框 14">
            <a:extLst>
              <a:ext uri="{FF2B5EF4-FFF2-40B4-BE49-F238E27FC236}">
                <a16:creationId xmlns:a16="http://schemas.microsoft.com/office/drawing/2014/main" id="{F04AAF2A-F46D-C512-5F4D-B7D005125371}"/>
              </a:ext>
            </a:extLst>
          </p:cNvPr>
          <p:cNvSpPr txBox="1"/>
          <p:nvPr/>
        </p:nvSpPr>
        <p:spPr>
          <a:xfrm>
            <a:off x="918029" y="1386510"/>
            <a:ext cx="6117770" cy="584775"/>
          </a:xfrm>
          <a:prstGeom prst="rect">
            <a:avLst/>
          </a:prstGeom>
          <a:noFill/>
        </p:spPr>
        <p:txBody>
          <a:bodyPr wrap="square">
            <a:spAutoFit/>
          </a:bodyPr>
          <a:lstStyle/>
          <a:p>
            <a:pPr marL="0" indent="0">
              <a:buNone/>
            </a:pPr>
            <a:r>
              <a:rPr lang="zh-CN" altLang="en-US" sz="3200" dirty="0">
                <a:latin typeface="Arial Black" panose="020B0A04020102020204" pitchFamily="34" charset="0"/>
                <a:ea typeface="黑体" panose="02010609060101010101" pitchFamily="49" charset="-122"/>
              </a:rPr>
              <a:t>创建</a:t>
            </a:r>
            <a:r>
              <a:rPr lang="en-US" altLang="zh-CN" sz="3200" dirty="0">
                <a:latin typeface="Arial Black" panose="020B0A04020102020204" pitchFamily="34" charset="0"/>
                <a:ea typeface="黑体" panose="02010609060101010101" pitchFamily="49" charset="-122"/>
              </a:rPr>
              <a:t>PCB</a:t>
            </a:r>
            <a:r>
              <a:rPr lang="zh-CN" altLang="en-US" sz="3200" dirty="0">
                <a:latin typeface="Arial Black" panose="020B0A04020102020204" pitchFamily="34" charset="0"/>
                <a:ea typeface="黑体" panose="02010609060101010101" pitchFamily="49" charset="-122"/>
              </a:rPr>
              <a:t>工程</a:t>
            </a:r>
            <a:endParaRPr lang="en-US" altLang="zh-CN" sz="3200" dirty="0">
              <a:latin typeface="Arial Black" panose="020B0A04020102020204" pitchFamily="34" charset="0"/>
              <a:ea typeface="黑体" panose="02010609060101010101" pitchFamily="49" charset="-122"/>
            </a:endParaRPr>
          </a:p>
        </p:txBody>
      </p:sp>
    </p:spTree>
    <p:extLst>
      <p:ext uri="{BB962C8B-B14F-4D97-AF65-F5344CB8AC3E}">
        <p14:creationId xmlns:p14="http://schemas.microsoft.com/office/powerpoint/2010/main" val="396755602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7A2C5-5252-E748-16B4-BD38ACD2E5AB}"/>
            </a:ext>
          </a:extLst>
        </p:cNvPr>
        <p:cNvGrpSpPr/>
        <p:nvPr/>
      </p:nvGrpSpPr>
      <p:grpSpPr>
        <a:xfrm>
          <a:off x="0" y="0"/>
          <a:ext cx="0" cy="0"/>
          <a:chOff x="0" y="0"/>
          <a:chExt cx="0" cy="0"/>
        </a:xfrm>
      </p:grpSpPr>
      <p:grpSp>
        <p:nvGrpSpPr>
          <p:cNvPr id="20" name="组合 19">
            <a:extLst>
              <a:ext uri="{FF2B5EF4-FFF2-40B4-BE49-F238E27FC236}">
                <a16:creationId xmlns:a16="http://schemas.microsoft.com/office/drawing/2014/main" id="{CD8328B1-6A25-1F1C-C630-90532E6593BE}"/>
              </a:ext>
            </a:extLst>
          </p:cNvPr>
          <p:cNvGrpSpPr/>
          <p:nvPr/>
        </p:nvGrpSpPr>
        <p:grpSpPr>
          <a:xfrm>
            <a:off x="5682881" y="1302105"/>
            <a:ext cx="6633230" cy="5997798"/>
            <a:chOff x="5558770" y="2041067"/>
            <a:chExt cx="6633230" cy="5997798"/>
          </a:xfrm>
        </p:grpSpPr>
        <p:pic>
          <p:nvPicPr>
            <p:cNvPr id="10" name="图片 9">
              <a:extLst>
                <a:ext uri="{FF2B5EF4-FFF2-40B4-BE49-F238E27FC236}">
                  <a16:creationId xmlns:a16="http://schemas.microsoft.com/office/drawing/2014/main" id="{8679B3CC-21B0-6E5A-1472-C506850E3148}"/>
                </a:ext>
              </a:extLst>
            </p:cNvPr>
            <p:cNvPicPr>
              <a:picLocks noChangeAspect="1"/>
            </p:cNvPicPr>
            <p:nvPr/>
          </p:nvPicPr>
          <p:blipFill>
            <a:blip r:embed="rId2"/>
            <a:stretch>
              <a:fillRect/>
            </a:stretch>
          </p:blipFill>
          <p:spPr>
            <a:xfrm>
              <a:off x="5558770" y="2174877"/>
              <a:ext cx="6633230" cy="5863988"/>
            </a:xfrm>
            <a:prstGeom prst="rect">
              <a:avLst/>
            </a:prstGeom>
          </p:spPr>
        </p:pic>
        <p:sp>
          <p:nvSpPr>
            <p:cNvPr id="11" name="对话气泡: 圆角矩形 10">
              <a:extLst>
                <a:ext uri="{FF2B5EF4-FFF2-40B4-BE49-F238E27FC236}">
                  <a16:creationId xmlns:a16="http://schemas.microsoft.com/office/drawing/2014/main" id="{A9123091-68DC-FFF0-F49A-42BBF872EFB2}"/>
                </a:ext>
              </a:extLst>
            </p:cNvPr>
            <p:cNvSpPr/>
            <p:nvPr/>
          </p:nvSpPr>
          <p:spPr>
            <a:xfrm>
              <a:off x="7757330" y="2041067"/>
              <a:ext cx="1209988" cy="697110"/>
            </a:xfrm>
            <a:prstGeom prst="wedgeRoundRectCallout">
              <a:avLst>
                <a:gd name="adj1" fmla="val -40298"/>
                <a:gd name="adj2" fmla="val 134047"/>
                <a:gd name="adj3" fmla="val 16667"/>
              </a:avLst>
            </a:prstGeom>
            <a:solidFill>
              <a:schemeClr val="bg1">
                <a:lumMod val="95000"/>
              </a:scheme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800" dirty="0">
                  <a:ln>
                    <a:solidFill>
                      <a:srgbClr val="FF0000"/>
                    </a:solidFill>
                  </a:ln>
                  <a:solidFill>
                    <a:srgbClr val="FF0000"/>
                  </a:solidFill>
                </a:rPr>
                <a:t>点击</a:t>
              </a:r>
            </a:p>
          </p:txBody>
        </p:sp>
        <p:sp>
          <p:nvSpPr>
            <p:cNvPr id="12" name="对话气泡: 圆角矩形 11">
              <a:extLst>
                <a:ext uri="{FF2B5EF4-FFF2-40B4-BE49-F238E27FC236}">
                  <a16:creationId xmlns:a16="http://schemas.microsoft.com/office/drawing/2014/main" id="{22F11D94-D71D-43E0-545F-0F03E0206C0B}"/>
                </a:ext>
              </a:extLst>
            </p:cNvPr>
            <p:cNvSpPr/>
            <p:nvPr/>
          </p:nvSpPr>
          <p:spPr>
            <a:xfrm>
              <a:off x="9242088" y="2041067"/>
              <a:ext cx="1412058" cy="697110"/>
            </a:xfrm>
            <a:prstGeom prst="wedgeRoundRectCallout">
              <a:avLst>
                <a:gd name="adj1" fmla="val -207253"/>
                <a:gd name="adj2" fmla="val 231431"/>
                <a:gd name="adj3" fmla="val 16667"/>
              </a:avLst>
            </a:prstGeom>
            <a:solidFill>
              <a:schemeClr val="bg1">
                <a:lumMod val="95000"/>
              </a:scheme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800" dirty="0">
                  <a:ln>
                    <a:solidFill>
                      <a:srgbClr val="FF0000"/>
                    </a:solidFill>
                  </a:ln>
                  <a:solidFill>
                    <a:srgbClr val="FF0000"/>
                  </a:solidFill>
                </a:rPr>
                <a:t>或右击</a:t>
              </a:r>
            </a:p>
          </p:txBody>
        </p:sp>
        <p:sp>
          <p:nvSpPr>
            <p:cNvPr id="13" name="矩形: 圆角 12">
              <a:extLst>
                <a:ext uri="{FF2B5EF4-FFF2-40B4-BE49-F238E27FC236}">
                  <a16:creationId xmlns:a16="http://schemas.microsoft.com/office/drawing/2014/main" id="{ACD90CF6-55F3-D108-47E6-4084571C82DE}"/>
                </a:ext>
              </a:extLst>
            </p:cNvPr>
            <p:cNvSpPr/>
            <p:nvPr/>
          </p:nvSpPr>
          <p:spPr>
            <a:xfrm>
              <a:off x="7509559" y="3315774"/>
              <a:ext cx="678478" cy="400473"/>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683A6C39-701C-9531-8243-17ED8D4DC78F}"/>
                </a:ext>
              </a:extLst>
            </p:cNvPr>
            <p:cNvSpPr/>
            <p:nvPr/>
          </p:nvSpPr>
          <p:spPr>
            <a:xfrm>
              <a:off x="8196907" y="3730103"/>
              <a:ext cx="1265748" cy="374072"/>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11438C6E-F091-D57F-9995-CFCE97C7EFA9}"/>
                </a:ext>
              </a:extLst>
            </p:cNvPr>
            <p:cNvSpPr/>
            <p:nvPr/>
          </p:nvSpPr>
          <p:spPr>
            <a:xfrm>
              <a:off x="10515798" y="4048755"/>
              <a:ext cx="1214088" cy="263237"/>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文本框 16">
            <a:extLst>
              <a:ext uri="{FF2B5EF4-FFF2-40B4-BE49-F238E27FC236}">
                <a16:creationId xmlns:a16="http://schemas.microsoft.com/office/drawing/2014/main" id="{7FBD2EF5-43F1-E235-9FC1-D665A2A5D5F1}"/>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使用</a:t>
            </a:r>
            <a:r>
              <a:rPr lang="en-US" altLang="zh-CN" sz="4000" dirty="0">
                <a:solidFill>
                  <a:schemeClr val="accent1">
                    <a:lumMod val="75000"/>
                  </a:schemeClr>
                </a:solidFill>
                <a:latin typeface="Arial Black" panose="020B0A04020102020204" pitchFamily="34" charset="0"/>
                <a:ea typeface="黑体" panose="02010609060101010101" pitchFamily="49" charset="-122"/>
              </a:rPr>
              <a:t>AD</a:t>
            </a:r>
            <a:r>
              <a:rPr lang="zh-CN" altLang="en-US" sz="4000" dirty="0">
                <a:solidFill>
                  <a:schemeClr val="accent1">
                    <a:lumMod val="75000"/>
                  </a:schemeClr>
                </a:solidFill>
                <a:latin typeface="黑体" panose="02010609060101010101" pitchFamily="49" charset="-122"/>
                <a:ea typeface="黑体" panose="02010609060101010101" pitchFamily="49" charset="-122"/>
              </a:rPr>
              <a:t>设计电路原理图</a:t>
            </a:r>
            <a:endParaRPr lang="zh-CN" altLang="en-US" sz="4000" dirty="0">
              <a:solidFill>
                <a:srgbClr val="003F88"/>
              </a:solidFill>
              <a:latin typeface="黑体" panose="02010609060101010101" pitchFamily="49" charset="-122"/>
              <a:ea typeface="黑体" panose="02010609060101010101" pitchFamily="49" charset="-122"/>
            </a:endParaRPr>
          </a:p>
        </p:txBody>
      </p:sp>
      <p:sp>
        <p:nvSpPr>
          <p:cNvPr id="18" name="矩形 17">
            <a:extLst>
              <a:ext uri="{FF2B5EF4-FFF2-40B4-BE49-F238E27FC236}">
                <a16:creationId xmlns:a16="http://schemas.microsoft.com/office/drawing/2014/main" id="{0271DECE-9FDE-8FD2-B054-44D80E9E6CEE}"/>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文本框 18">
            <a:extLst>
              <a:ext uri="{FF2B5EF4-FFF2-40B4-BE49-F238E27FC236}">
                <a16:creationId xmlns:a16="http://schemas.microsoft.com/office/drawing/2014/main" id="{16A0FF83-4A44-F021-A3DA-C148E6B851BF}"/>
              </a:ext>
            </a:extLst>
          </p:cNvPr>
          <p:cNvSpPr txBox="1"/>
          <p:nvPr/>
        </p:nvSpPr>
        <p:spPr>
          <a:xfrm>
            <a:off x="918029" y="1386510"/>
            <a:ext cx="6117770" cy="584775"/>
          </a:xfrm>
          <a:prstGeom prst="rect">
            <a:avLst/>
          </a:prstGeom>
          <a:noFill/>
        </p:spPr>
        <p:txBody>
          <a:bodyPr wrap="square">
            <a:spAutoFit/>
          </a:bodyPr>
          <a:lstStyle/>
          <a:p>
            <a:pPr marL="0" indent="0">
              <a:buNone/>
            </a:pPr>
            <a:r>
              <a:rPr lang="zh-CN" altLang="en-US" sz="3200" dirty="0">
                <a:latin typeface="Arial Black" panose="020B0A04020102020204" pitchFamily="34" charset="0"/>
                <a:ea typeface="黑体" panose="02010609060101010101" pitchFamily="49" charset="-122"/>
              </a:rPr>
              <a:t>在</a:t>
            </a:r>
            <a:r>
              <a:rPr lang="en-US" altLang="zh-CN" sz="3200" dirty="0">
                <a:latin typeface="Arial Black" panose="020B0A04020102020204" pitchFamily="34" charset="0"/>
                <a:ea typeface="黑体" panose="02010609060101010101" pitchFamily="49" charset="-122"/>
              </a:rPr>
              <a:t>PCB</a:t>
            </a:r>
            <a:r>
              <a:rPr lang="zh-CN" altLang="en-US" sz="3200" dirty="0">
                <a:latin typeface="Arial Black" panose="020B0A04020102020204" pitchFamily="34" charset="0"/>
                <a:ea typeface="黑体" panose="02010609060101010101" pitchFamily="49" charset="-122"/>
              </a:rPr>
              <a:t>工程中创建原理图</a:t>
            </a:r>
            <a:endParaRPr lang="en-US" altLang="zh-CN" sz="3200" dirty="0">
              <a:latin typeface="Arial Black" panose="020B0A04020102020204" pitchFamily="34" charset="0"/>
              <a:ea typeface="黑体" panose="02010609060101010101" pitchFamily="49" charset="-122"/>
            </a:endParaRPr>
          </a:p>
        </p:txBody>
      </p:sp>
      <p:sp>
        <p:nvSpPr>
          <p:cNvPr id="3" name="内容占位符 2">
            <a:extLst>
              <a:ext uri="{FF2B5EF4-FFF2-40B4-BE49-F238E27FC236}">
                <a16:creationId xmlns:a16="http://schemas.microsoft.com/office/drawing/2014/main" id="{416DD3BD-A4DF-64EB-82CC-AD94B90ABE6C}"/>
              </a:ext>
            </a:extLst>
          </p:cNvPr>
          <p:cNvSpPr>
            <a:spLocks noGrp="1"/>
          </p:cNvSpPr>
          <p:nvPr>
            <p:ph idx="1"/>
          </p:nvPr>
        </p:nvSpPr>
        <p:spPr>
          <a:xfrm>
            <a:off x="738357" y="2262721"/>
            <a:ext cx="4944524" cy="4351338"/>
          </a:xfrm>
        </p:spPr>
        <p:txBody>
          <a:bodyPr>
            <a:normAutofit/>
          </a:bodyPr>
          <a:lstStyle/>
          <a:p>
            <a:pPr marL="0" indent="0">
              <a:buNone/>
            </a:pPr>
            <a:r>
              <a:rPr lang="en-US" altLang="zh-CN" dirty="0">
                <a:latin typeface="Arial Black" panose="020B0A04020102020204" pitchFamily="34" charset="0"/>
                <a:ea typeface="黑体" panose="02010609060101010101" pitchFamily="49" charset="-122"/>
              </a:rPr>
              <a:t>*</a:t>
            </a:r>
            <a:r>
              <a:rPr lang="zh-CN" altLang="en-US" dirty="0">
                <a:latin typeface="Arial Black" panose="020B0A04020102020204" pitchFamily="34" charset="0"/>
                <a:ea typeface="黑体" panose="02010609060101010101" pitchFamily="49" charset="-122"/>
              </a:rPr>
              <a:t>操作：</a:t>
            </a:r>
            <a:endParaRPr lang="en-US" altLang="zh-CN" dirty="0">
              <a:latin typeface="Arial Black" panose="020B0A04020102020204" pitchFamily="34" charset="0"/>
              <a:ea typeface="黑体" panose="02010609060101010101" pitchFamily="49" charset="-122"/>
            </a:endParaRPr>
          </a:p>
          <a:p>
            <a:pPr marL="0" indent="0">
              <a:buNone/>
            </a:pPr>
            <a:r>
              <a:rPr lang="zh-CN" altLang="en-US" dirty="0">
                <a:latin typeface="Arial Black" panose="020B0A04020102020204" pitchFamily="34" charset="0"/>
                <a:ea typeface="黑体" panose="02010609060101010101" pitchFamily="49" charset="-122"/>
              </a:rPr>
              <a:t>点击工程面板中的</a:t>
            </a:r>
            <a:r>
              <a:rPr lang="en-US" altLang="zh-CN" dirty="0">
                <a:latin typeface="Arial Black" panose="020B0A04020102020204" pitchFamily="34" charset="0"/>
                <a:ea typeface="黑体" panose="02010609060101010101" pitchFamily="49" charset="-122"/>
              </a:rPr>
              <a:t>”</a:t>
            </a:r>
            <a:r>
              <a:rPr lang="en-US" altLang="zh-CN" b="1" dirty="0">
                <a:latin typeface="Arial Black" panose="020B0A04020102020204" pitchFamily="34" charset="0"/>
                <a:ea typeface="黑体" panose="02010609060101010101" pitchFamily="49" charset="-122"/>
              </a:rPr>
              <a:t>Project</a:t>
            </a:r>
            <a:r>
              <a:rPr lang="en-US" altLang="zh-CN" dirty="0">
                <a:latin typeface="Arial Black" panose="020B0A04020102020204" pitchFamily="34" charset="0"/>
                <a:ea typeface="黑体" panose="02010609060101010101" pitchFamily="49" charset="-122"/>
              </a:rPr>
              <a:t>”</a:t>
            </a:r>
            <a:r>
              <a:rPr lang="zh-CN" altLang="en-US" dirty="0">
                <a:latin typeface="Arial Black" panose="020B0A04020102020204" pitchFamily="34" charset="0"/>
                <a:ea typeface="黑体" panose="02010609060101010101" pitchFamily="49" charset="-122"/>
              </a:rPr>
              <a:t> ，</a:t>
            </a:r>
            <a:endParaRPr lang="en-US" altLang="zh-CN" dirty="0">
              <a:latin typeface="Arial Black" panose="020B0A04020102020204" pitchFamily="34" charset="0"/>
              <a:ea typeface="黑体" panose="02010609060101010101" pitchFamily="49" charset="-122"/>
            </a:endParaRPr>
          </a:p>
          <a:p>
            <a:pPr marL="0" indent="0">
              <a:buNone/>
            </a:pPr>
            <a:r>
              <a:rPr lang="zh-CN" altLang="en-US" dirty="0">
                <a:latin typeface="Arial Black" panose="020B0A04020102020204" pitchFamily="34" charset="0"/>
                <a:ea typeface="黑体" panose="02010609060101010101" pitchFamily="49" charset="-122"/>
              </a:rPr>
              <a:t>或右击工程面板中的</a:t>
            </a:r>
            <a:r>
              <a:rPr lang="zh-CN" altLang="en-US" b="1" dirty="0">
                <a:latin typeface="Arial Black" panose="020B0A04020102020204" pitchFamily="34" charset="0"/>
                <a:ea typeface="黑体" panose="02010609060101010101" pitchFamily="49" charset="-122"/>
              </a:rPr>
              <a:t>工程名</a:t>
            </a:r>
            <a:r>
              <a:rPr lang="zh-CN" altLang="en-US" dirty="0">
                <a:latin typeface="Arial Black" panose="020B0A04020102020204" pitchFamily="34" charset="0"/>
                <a:ea typeface="黑体" panose="02010609060101010101" pitchFamily="49" charset="-122"/>
              </a:rPr>
              <a:t>，</a:t>
            </a:r>
            <a:endParaRPr lang="en-US" altLang="zh-CN" dirty="0">
              <a:latin typeface="Arial Black" panose="020B0A04020102020204" pitchFamily="34" charset="0"/>
              <a:ea typeface="黑体" panose="02010609060101010101" pitchFamily="49" charset="-122"/>
            </a:endParaRPr>
          </a:p>
          <a:p>
            <a:pPr marL="0" indent="0">
              <a:buNone/>
            </a:pPr>
            <a:r>
              <a:rPr lang="zh-CN" altLang="zh-CN" dirty="0">
                <a:latin typeface="Arial Black" panose="020B0A04020102020204" pitchFamily="34" charset="0"/>
                <a:ea typeface="黑体" panose="02010609060101010101" pitchFamily="49" charset="-122"/>
              </a:rPr>
              <a:t>→</a:t>
            </a:r>
            <a:r>
              <a:rPr lang="en-US" altLang="zh-CN" dirty="0">
                <a:latin typeface="Arial Black" panose="020B0A04020102020204" pitchFamily="34" charset="0"/>
                <a:ea typeface="黑体" panose="02010609060101010101" pitchFamily="49" charset="-122"/>
              </a:rPr>
              <a:t>“</a:t>
            </a:r>
            <a:r>
              <a:rPr lang="en-US" altLang="zh-CN" b="1" dirty="0">
                <a:latin typeface="Arial Black" panose="020B0A04020102020204" pitchFamily="34" charset="0"/>
                <a:ea typeface="黑体" panose="02010609060101010101" pitchFamily="49" charset="-122"/>
              </a:rPr>
              <a:t>Add New to Project</a:t>
            </a:r>
            <a:r>
              <a:rPr lang="en-US" altLang="zh-CN" dirty="0">
                <a:latin typeface="Arial Black" panose="020B0A04020102020204" pitchFamily="34" charset="0"/>
                <a:ea typeface="黑体" panose="02010609060101010101" pitchFamily="49" charset="-122"/>
              </a:rPr>
              <a:t>”</a:t>
            </a:r>
          </a:p>
          <a:p>
            <a:pPr marL="0" indent="0">
              <a:buNone/>
            </a:pPr>
            <a:r>
              <a:rPr lang="zh-CN" altLang="zh-CN" dirty="0">
                <a:latin typeface="Arial Black" panose="020B0A04020102020204" pitchFamily="34" charset="0"/>
                <a:ea typeface="黑体" panose="02010609060101010101" pitchFamily="49" charset="-122"/>
              </a:rPr>
              <a:t>→</a:t>
            </a:r>
            <a:r>
              <a:rPr lang="en-US" altLang="zh-CN" dirty="0">
                <a:latin typeface="Arial Black" panose="020B0A04020102020204" pitchFamily="34" charset="0"/>
                <a:ea typeface="黑体" panose="02010609060101010101" pitchFamily="49" charset="-122"/>
              </a:rPr>
              <a:t>“</a:t>
            </a:r>
            <a:r>
              <a:rPr lang="en-US" altLang="zh-CN" b="1" dirty="0">
                <a:solidFill>
                  <a:srgbClr val="FF0000"/>
                </a:solidFill>
                <a:latin typeface="Arial Black" panose="020B0A04020102020204" pitchFamily="34" charset="0"/>
                <a:ea typeface="黑体" panose="02010609060101010101" pitchFamily="49" charset="-122"/>
              </a:rPr>
              <a:t>Schematic</a:t>
            </a:r>
            <a:r>
              <a:rPr lang="en-US" altLang="zh-CN" dirty="0">
                <a:latin typeface="Arial Black" panose="020B0A04020102020204" pitchFamily="34" charset="0"/>
                <a:ea typeface="黑体" panose="02010609060101010101" pitchFamily="49" charset="-122"/>
              </a:rPr>
              <a:t>”</a:t>
            </a:r>
            <a:r>
              <a:rPr lang="zh-CN" altLang="en-US" dirty="0">
                <a:latin typeface="Arial Black" panose="020B0A04020102020204" pitchFamily="34" charset="0"/>
                <a:ea typeface="黑体" panose="02010609060101010101" pitchFamily="49" charset="-122"/>
              </a:rPr>
              <a:t>，系统就在该工程下新建了一个名为”</a:t>
            </a:r>
            <a:r>
              <a:rPr lang="en-US" altLang="zh-CN" dirty="0">
                <a:latin typeface="Arial Black" panose="020B0A04020102020204" pitchFamily="34" charset="0"/>
                <a:ea typeface="黑体" panose="02010609060101010101" pitchFamily="49" charset="-122"/>
              </a:rPr>
              <a:t>Sheet1.SchDoc”</a:t>
            </a:r>
            <a:r>
              <a:rPr lang="zh-CN" altLang="en-US" dirty="0">
                <a:latin typeface="Arial Black" panose="020B0A04020102020204" pitchFamily="34" charset="0"/>
                <a:ea typeface="黑体" panose="02010609060101010101" pitchFamily="49" charset="-122"/>
              </a:rPr>
              <a:t>的原理图文件。</a:t>
            </a:r>
            <a:endParaRPr lang="en-US" altLang="zh-CN" dirty="0">
              <a:latin typeface="Arial Black" panose="020B0A04020102020204" pitchFamily="34" charset="0"/>
              <a:ea typeface="黑体" panose="02010609060101010101" pitchFamily="49" charset="-122"/>
            </a:endParaRPr>
          </a:p>
        </p:txBody>
      </p:sp>
    </p:spTree>
    <p:extLst>
      <p:ext uri="{BB962C8B-B14F-4D97-AF65-F5344CB8AC3E}">
        <p14:creationId xmlns:p14="http://schemas.microsoft.com/office/powerpoint/2010/main" val="8964436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7A2C5-5252-E748-16B4-BD38ACD2E5AB}"/>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EAD4066C-3FD0-13B7-A5BE-E5C984D2A133}"/>
              </a:ext>
            </a:extLst>
          </p:cNvPr>
          <p:cNvPicPr>
            <a:picLocks noChangeAspect="1"/>
          </p:cNvPicPr>
          <p:nvPr/>
        </p:nvPicPr>
        <p:blipFill rotWithShape="1">
          <a:blip r:embed="rId2"/>
          <a:srcRect r="6568"/>
          <a:stretch/>
        </p:blipFill>
        <p:spPr>
          <a:xfrm>
            <a:off x="5880573" y="1386510"/>
            <a:ext cx="7012720" cy="4219575"/>
          </a:xfrm>
          <a:prstGeom prst="rect">
            <a:avLst/>
          </a:prstGeom>
        </p:spPr>
      </p:pic>
      <p:sp>
        <p:nvSpPr>
          <p:cNvPr id="12" name="文本框 11">
            <a:extLst>
              <a:ext uri="{FF2B5EF4-FFF2-40B4-BE49-F238E27FC236}">
                <a16:creationId xmlns:a16="http://schemas.microsoft.com/office/drawing/2014/main" id="{3336B41F-E9F7-04BB-EDB4-22EF2B4169A6}"/>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使用</a:t>
            </a:r>
            <a:r>
              <a:rPr lang="en-US" altLang="zh-CN" sz="4000" dirty="0">
                <a:solidFill>
                  <a:schemeClr val="accent1">
                    <a:lumMod val="75000"/>
                  </a:schemeClr>
                </a:solidFill>
                <a:latin typeface="Arial Black" panose="020B0A04020102020204" pitchFamily="34" charset="0"/>
                <a:ea typeface="黑体" panose="02010609060101010101" pitchFamily="49" charset="-122"/>
              </a:rPr>
              <a:t>AD</a:t>
            </a:r>
            <a:r>
              <a:rPr lang="zh-CN" altLang="en-US" sz="4000" dirty="0">
                <a:solidFill>
                  <a:schemeClr val="accent1">
                    <a:lumMod val="75000"/>
                  </a:schemeClr>
                </a:solidFill>
                <a:latin typeface="黑体" panose="02010609060101010101" pitchFamily="49" charset="-122"/>
                <a:ea typeface="黑体" panose="02010609060101010101" pitchFamily="49" charset="-122"/>
              </a:rPr>
              <a:t>设计电路原理图</a:t>
            </a:r>
            <a:endParaRPr lang="zh-CN" altLang="en-US" sz="4000" dirty="0">
              <a:solidFill>
                <a:srgbClr val="003F88"/>
              </a:solidFill>
              <a:latin typeface="黑体" panose="02010609060101010101" pitchFamily="49" charset="-122"/>
              <a:ea typeface="黑体" panose="02010609060101010101" pitchFamily="49" charset="-122"/>
            </a:endParaRPr>
          </a:p>
        </p:txBody>
      </p:sp>
      <p:sp>
        <p:nvSpPr>
          <p:cNvPr id="13" name="矩形 12">
            <a:extLst>
              <a:ext uri="{FF2B5EF4-FFF2-40B4-BE49-F238E27FC236}">
                <a16:creationId xmlns:a16="http://schemas.microsoft.com/office/drawing/2014/main" id="{BD612AE3-1EC0-D639-37A7-31DEA7482B01}"/>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C4053A22-201C-3CBE-05F5-ADF0B30FD961}"/>
              </a:ext>
            </a:extLst>
          </p:cNvPr>
          <p:cNvSpPr txBox="1"/>
          <p:nvPr/>
        </p:nvSpPr>
        <p:spPr>
          <a:xfrm>
            <a:off x="918029" y="1386510"/>
            <a:ext cx="6117770" cy="584775"/>
          </a:xfrm>
          <a:prstGeom prst="rect">
            <a:avLst/>
          </a:prstGeom>
          <a:noFill/>
        </p:spPr>
        <p:txBody>
          <a:bodyPr wrap="square">
            <a:spAutoFit/>
          </a:bodyPr>
          <a:lstStyle/>
          <a:p>
            <a:pPr marL="0" indent="0">
              <a:buNone/>
            </a:pPr>
            <a:r>
              <a:rPr lang="zh-CN" altLang="en-US" sz="3200" dirty="0">
                <a:latin typeface="Arial Black" panose="020B0A04020102020204" pitchFamily="34" charset="0"/>
                <a:ea typeface="黑体" panose="02010609060101010101" pitchFamily="49" charset="-122"/>
              </a:rPr>
              <a:t>在</a:t>
            </a:r>
            <a:r>
              <a:rPr lang="en-US" altLang="zh-CN" sz="3200" dirty="0">
                <a:latin typeface="Arial Black" panose="020B0A04020102020204" pitchFamily="34" charset="0"/>
                <a:ea typeface="黑体" panose="02010609060101010101" pitchFamily="49" charset="-122"/>
              </a:rPr>
              <a:t>PCB</a:t>
            </a:r>
            <a:r>
              <a:rPr lang="zh-CN" altLang="en-US" sz="3200" dirty="0">
                <a:latin typeface="Arial Black" panose="020B0A04020102020204" pitchFamily="34" charset="0"/>
                <a:ea typeface="黑体" panose="02010609060101010101" pitchFamily="49" charset="-122"/>
              </a:rPr>
              <a:t>工程中创建原理图</a:t>
            </a:r>
            <a:endParaRPr lang="en-US" altLang="zh-CN" sz="3200" dirty="0">
              <a:latin typeface="Arial Black" panose="020B0A04020102020204" pitchFamily="34" charset="0"/>
              <a:ea typeface="黑体" panose="02010609060101010101" pitchFamily="49" charset="-122"/>
            </a:endParaRPr>
          </a:p>
        </p:txBody>
      </p:sp>
      <p:sp>
        <p:nvSpPr>
          <p:cNvPr id="17" name="内容占位符 2">
            <a:extLst>
              <a:ext uri="{FF2B5EF4-FFF2-40B4-BE49-F238E27FC236}">
                <a16:creationId xmlns:a16="http://schemas.microsoft.com/office/drawing/2014/main" id="{D2D2C65E-0F27-1131-708A-52EB97C54FBC}"/>
              </a:ext>
            </a:extLst>
          </p:cNvPr>
          <p:cNvSpPr>
            <a:spLocks noGrp="1"/>
          </p:cNvSpPr>
          <p:nvPr>
            <p:ph idx="1"/>
          </p:nvPr>
        </p:nvSpPr>
        <p:spPr>
          <a:xfrm>
            <a:off x="738357" y="2262721"/>
            <a:ext cx="4944524" cy="4351338"/>
          </a:xfrm>
        </p:spPr>
        <p:txBody>
          <a:bodyPr>
            <a:normAutofit/>
          </a:bodyPr>
          <a:lstStyle/>
          <a:p>
            <a:pPr marL="0" indent="0">
              <a:buNone/>
            </a:pPr>
            <a:r>
              <a:rPr lang="en-US" altLang="zh-CN" dirty="0">
                <a:latin typeface="Arial Black" panose="020B0A04020102020204" pitchFamily="34" charset="0"/>
                <a:ea typeface="黑体" panose="02010609060101010101" pitchFamily="49" charset="-122"/>
              </a:rPr>
              <a:t>*</a:t>
            </a:r>
            <a:r>
              <a:rPr lang="zh-CN" altLang="en-US" dirty="0">
                <a:latin typeface="Arial Black" panose="020B0A04020102020204" pitchFamily="34" charset="0"/>
                <a:ea typeface="黑体" panose="02010609060101010101" pitchFamily="49" charset="-122"/>
              </a:rPr>
              <a:t>操作：</a:t>
            </a:r>
            <a:endParaRPr lang="en-US" altLang="zh-CN" dirty="0">
              <a:latin typeface="Arial Black" panose="020B0A04020102020204" pitchFamily="34" charset="0"/>
              <a:ea typeface="黑体" panose="02010609060101010101" pitchFamily="49" charset="-122"/>
            </a:endParaRPr>
          </a:p>
          <a:p>
            <a:pPr marL="0" indent="0">
              <a:buNone/>
            </a:pPr>
            <a:r>
              <a:rPr lang="zh-CN" altLang="en-US" dirty="0">
                <a:latin typeface="Arial Black" panose="020B0A04020102020204" pitchFamily="34" charset="0"/>
                <a:ea typeface="黑体" panose="02010609060101010101" pitchFamily="49" charset="-122"/>
              </a:rPr>
              <a:t>点击工程面板中的</a:t>
            </a:r>
            <a:r>
              <a:rPr lang="en-US" altLang="zh-CN" dirty="0">
                <a:latin typeface="Arial Black" panose="020B0A04020102020204" pitchFamily="34" charset="0"/>
                <a:ea typeface="黑体" panose="02010609060101010101" pitchFamily="49" charset="-122"/>
              </a:rPr>
              <a:t>”</a:t>
            </a:r>
            <a:r>
              <a:rPr lang="en-US" altLang="zh-CN" b="1" dirty="0">
                <a:latin typeface="Arial Black" panose="020B0A04020102020204" pitchFamily="34" charset="0"/>
                <a:ea typeface="黑体" panose="02010609060101010101" pitchFamily="49" charset="-122"/>
              </a:rPr>
              <a:t>Project</a:t>
            </a:r>
            <a:r>
              <a:rPr lang="en-US" altLang="zh-CN" dirty="0">
                <a:latin typeface="Arial Black" panose="020B0A04020102020204" pitchFamily="34" charset="0"/>
                <a:ea typeface="黑体" panose="02010609060101010101" pitchFamily="49" charset="-122"/>
              </a:rPr>
              <a:t>”</a:t>
            </a:r>
            <a:r>
              <a:rPr lang="zh-CN" altLang="en-US" dirty="0">
                <a:latin typeface="Arial Black" panose="020B0A04020102020204" pitchFamily="34" charset="0"/>
                <a:ea typeface="黑体" panose="02010609060101010101" pitchFamily="49" charset="-122"/>
              </a:rPr>
              <a:t> ，</a:t>
            </a:r>
            <a:endParaRPr lang="en-US" altLang="zh-CN" dirty="0">
              <a:latin typeface="Arial Black" panose="020B0A04020102020204" pitchFamily="34" charset="0"/>
              <a:ea typeface="黑体" panose="02010609060101010101" pitchFamily="49" charset="-122"/>
            </a:endParaRPr>
          </a:p>
          <a:p>
            <a:pPr marL="0" indent="0">
              <a:buNone/>
            </a:pPr>
            <a:r>
              <a:rPr lang="zh-CN" altLang="en-US" dirty="0">
                <a:latin typeface="Arial Black" panose="020B0A04020102020204" pitchFamily="34" charset="0"/>
                <a:ea typeface="黑体" panose="02010609060101010101" pitchFamily="49" charset="-122"/>
              </a:rPr>
              <a:t>或右击工程面板中的</a:t>
            </a:r>
            <a:r>
              <a:rPr lang="zh-CN" altLang="en-US" b="1" dirty="0">
                <a:latin typeface="Arial Black" panose="020B0A04020102020204" pitchFamily="34" charset="0"/>
                <a:ea typeface="黑体" panose="02010609060101010101" pitchFamily="49" charset="-122"/>
              </a:rPr>
              <a:t>工程名</a:t>
            </a:r>
            <a:r>
              <a:rPr lang="zh-CN" altLang="en-US" dirty="0">
                <a:latin typeface="Arial Black" panose="020B0A04020102020204" pitchFamily="34" charset="0"/>
                <a:ea typeface="黑体" panose="02010609060101010101" pitchFamily="49" charset="-122"/>
              </a:rPr>
              <a:t>，</a:t>
            </a:r>
            <a:endParaRPr lang="en-US" altLang="zh-CN" dirty="0">
              <a:latin typeface="Arial Black" panose="020B0A04020102020204" pitchFamily="34" charset="0"/>
              <a:ea typeface="黑体" panose="02010609060101010101" pitchFamily="49" charset="-122"/>
            </a:endParaRPr>
          </a:p>
          <a:p>
            <a:pPr marL="0" indent="0">
              <a:buNone/>
            </a:pPr>
            <a:r>
              <a:rPr lang="zh-CN" altLang="zh-CN" dirty="0">
                <a:latin typeface="Arial Black" panose="020B0A04020102020204" pitchFamily="34" charset="0"/>
                <a:ea typeface="黑体" panose="02010609060101010101" pitchFamily="49" charset="-122"/>
              </a:rPr>
              <a:t>→</a:t>
            </a:r>
            <a:r>
              <a:rPr lang="en-US" altLang="zh-CN" dirty="0">
                <a:latin typeface="Arial Black" panose="020B0A04020102020204" pitchFamily="34" charset="0"/>
                <a:ea typeface="黑体" panose="02010609060101010101" pitchFamily="49" charset="-122"/>
              </a:rPr>
              <a:t>“</a:t>
            </a:r>
            <a:r>
              <a:rPr lang="en-US" altLang="zh-CN" b="1" dirty="0">
                <a:latin typeface="Arial Black" panose="020B0A04020102020204" pitchFamily="34" charset="0"/>
                <a:ea typeface="黑体" panose="02010609060101010101" pitchFamily="49" charset="-122"/>
              </a:rPr>
              <a:t>Add New to Project</a:t>
            </a:r>
            <a:r>
              <a:rPr lang="en-US" altLang="zh-CN" dirty="0">
                <a:latin typeface="Arial Black" panose="020B0A04020102020204" pitchFamily="34" charset="0"/>
                <a:ea typeface="黑体" panose="02010609060101010101" pitchFamily="49" charset="-122"/>
              </a:rPr>
              <a:t>”</a:t>
            </a:r>
          </a:p>
          <a:p>
            <a:pPr marL="0" indent="0">
              <a:buNone/>
            </a:pPr>
            <a:r>
              <a:rPr lang="zh-CN" altLang="zh-CN" dirty="0">
                <a:latin typeface="Arial Black" panose="020B0A04020102020204" pitchFamily="34" charset="0"/>
                <a:ea typeface="黑体" panose="02010609060101010101" pitchFamily="49" charset="-122"/>
              </a:rPr>
              <a:t>→</a:t>
            </a:r>
            <a:r>
              <a:rPr lang="en-US" altLang="zh-CN" dirty="0">
                <a:latin typeface="Arial Black" panose="020B0A04020102020204" pitchFamily="34" charset="0"/>
                <a:ea typeface="黑体" panose="02010609060101010101" pitchFamily="49" charset="-122"/>
              </a:rPr>
              <a:t>“</a:t>
            </a:r>
            <a:r>
              <a:rPr lang="en-US" altLang="zh-CN" b="1" dirty="0">
                <a:solidFill>
                  <a:srgbClr val="FF0000"/>
                </a:solidFill>
                <a:latin typeface="Arial Black" panose="020B0A04020102020204" pitchFamily="34" charset="0"/>
                <a:ea typeface="黑体" panose="02010609060101010101" pitchFamily="49" charset="-122"/>
              </a:rPr>
              <a:t>Schematic</a:t>
            </a:r>
            <a:r>
              <a:rPr lang="en-US" altLang="zh-CN" dirty="0">
                <a:latin typeface="Arial Black" panose="020B0A04020102020204" pitchFamily="34" charset="0"/>
                <a:ea typeface="黑体" panose="02010609060101010101" pitchFamily="49" charset="-122"/>
              </a:rPr>
              <a:t>”</a:t>
            </a:r>
            <a:r>
              <a:rPr lang="zh-CN" altLang="en-US" dirty="0">
                <a:latin typeface="Arial Black" panose="020B0A04020102020204" pitchFamily="34" charset="0"/>
                <a:ea typeface="黑体" panose="02010609060101010101" pitchFamily="49" charset="-122"/>
              </a:rPr>
              <a:t>，系统就在该工程下新建了一个名为”</a:t>
            </a:r>
            <a:r>
              <a:rPr lang="en-US" altLang="zh-CN" dirty="0">
                <a:latin typeface="Arial Black" panose="020B0A04020102020204" pitchFamily="34" charset="0"/>
                <a:ea typeface="黑体" panose="02010609060101010101" pitchFamily="49" charset="-122"/>
              </a:rPr>
              <a:t>Sheet1.SchDoc”</a:t>
            </a:r>
            <a:r>
              <a:rPr lang="zh-CN" altLang="en-US" dirty="0">
                <a:latin typeface="Arial Black" panose="020B0A04020102020204" pitchFamily="34" charset="0"/>
                <a:ea typeface="黑体" panose="02010609060101010101" pitchFamily="49" charset="-122"/>
              </a:rPr>
              <a:t>的原理图文件。</a:t>
            </a:r>
            <a:endParaRPr lang="en-US" altLang="zh-CN" dirty="0">
              <a:latin typeface="Arial Black" panose="020B0A04020102020204" pitchFamily="34" charset="0"/>
              <a:ea typeface="黑体" panose="02010609060101010101" pitchFamily="49" charset="-122"/>
            </a:endParaRPr>
          </a:p>
        </p:txBody>
      </p:sp>
    </p:spTree>
    <p:extLst>
      <p:ext uri="{BB962C8B-B14F-4D97-AF65-F5344CB8AC3E}">
        <p14:creationId xmlns:p14="http://schemas.microsoft.com/office/powerpoint/2010/main" val="252203605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7A2C5-5252-E748-16B4-BD38ACD2E5AB}"/>
            </a:ext>
          </a:extLst>
        </p:cNvPr>
        <p:cNvGrpSpPr/>
        <p:nvPr/>
      </p:nvGrpSpPr>
      <p:grpSpPr>
        <a:xfrm>
          <a:off x="0" y="0"/>
          <a:ext cx="0" cy="0"/>
          <a:chOff x="0" y="0"/>
          <a:chExt cx="0" cy="0"/>
        </a:xfrm>
      </p:grpSpPr>
      <p:sp>
        <p:nvSpPr>
          <p:cNvPr id="10" name="文本框 9">
            <a:extLst>
              <a:ext uri="{FF2B5EF4-FFF2-40B4-BE49-F238E27FC236}">
                <a16:creationId xmlns:a16="http://schemas.microsoft.com/office/drawing/2014/main" id="{6248C773-74B6-6B41-2A10-9AF343AB459D}"/>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使用</a:t>
            </a:r>
            <a:r>
              <a:rPr lang="en-US" altLang="zh-CN" sz="4000" dirty="0">
                <a:solidFill>
                  <a:schemeClr val="accent1">
                    <a:lumMod val="75000"/>
                  </a:schemeClr>
                </a:solidFill>
                <a:latin typeface="Arial Black" panose="020B0A04020102020204" pitchFamily="34" charset="0"/>
                <a:ea typeface="黑体" panose="02010609060101010101" pitchFamily="49" charset="-122"/>
              </a:rPr>
              <a:t>AD</a:t>
            </a:r>
            <a:r>
              <a:rPr lang="zh-CN" altLang="en-US" sz="4000" dirty="0">
                <a:solidFill>
                  <a:schemeClr val="accent1">
                    <a:lumMod val="75000"/>
                  </a:schemeClr>
                </a:solidFill>
                <a:latin typeface="黑体" panose="02010609060101010101" pitchFamily="49" charset="-122"/>
                <a:ea typeface="黑体" panose="02010609060101010101" pitchFamily="49" charset="-122"/>
              </a:rPr>
              <a:t>设计电路原理图</a:t>
            </a:r>
            <a:endParaRPr lang="zh-CN" altLang="en-US" sz="4000" dirty="0">
              <a:solidFill>
                <a:srgbClr val="003F88"/>
              </a:solidFill>
              <a:latin typeface="黑体" panose="02010609060101010101" pitchFamily="49" charset="-122"/>
              <a:ea typeface="黑体" panose="02010609060101010101" pitchFamily="49" charset="-122"/>
            </a:endParaRPr>
          </a:p>
        </p:txBody>
      </p:sp>
      <p:sp>
        <p:nvSpPr>
          <p:cNvPr id="11" name="矩形 10">
            <a:extLst>
              <a:ext uri="{FF2B5EF4-FFF2-40B4-BE49-F238E27FC236}">
                <a16:creationId xmlns:a16="http://schemas.microsoft.com/office/drawing/2014/main" id="{9F9278EE-6DAB-4A70-3290-C61B1FBCC126}"/>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4" name="图片 23">
            <a:extLst>
              <a:ext uri="{FF2B5EF4-FFF2-40B4-BE49-F238E27FC236}">
                <a16:creationId xmlns:a16="http://schemas.microsoft.com/office/drawing/2014/main" id="{DE782BC6-F3CE-5A0A-EA36-A3C17B33E0BC}"/>
              </a:ext>
            </a:extLst>
          </p:cNvPr>
          <p:cNvPicPr>
            <a:picLocks noChangeAspect="1"/>
          </p:cNvPicPr>
          <p:nvPr/>
        </p:nvPicPr>
        <p:blipFill>
          <a:blip r:embed="rId2"/>
          <a:stretch>
            <a:fillRect/>
          </a:stretch>
        </p:blipFill>
        <p:spPr>
          <a:xfrm>
            <a:off x="5811900" y="552966"/>
            <a:ext cx="5981700" cy="6124575"/>
          </a:xfrm>
          <a:prstGeom prst="rect">
            <a:avLst/>
          </a:prstGeom>
        </p:spPr>
      </p:pic>
      <p:sp>
        <p:nvSpPr>
          <p:cNvPr id="12" name="文本框 11">
            <a:extLst>
              <a:ext uri="{FF2B5EF4-FFF2-40B4-BE49-F238E27FC236}">
                <a16:creationId xmlns:a16="http://schemas.microsoft.com/office/drawing/2014/main" id="{89343FC1-19B2-1EB4-EBB2-C5ADD235C796}"/>
              </a:ext>
            </a:extLst>
          </p:cNvPr>
          <p:cNvSpPr txBox="1"/>
          <p:nvPr/>
        </p:nvSpPr>
        <p:spPr>
          <a:xfrm>
            <a:off x="918029" y="1386510"/>
            <a:ext cx="6117770" cy="584775"/>
          </a:xfrm>
          <a:prstGeom prst="rect">
            <a:avLst/>
          </a:prstGeom>
          <a:noFill/>
        </p:spPr>
        <p:txBody>
          <a:bodyPr wrap="square">
            <a:spAutoFit/>
          </a:bodyPr>
          <a:lstStyle/>
          <a:p>
            <a:pPr marL="0" indent="0">
              <a:buNone/>
            </a:pPr>
            <a:r>
              <a:rPr lang="zh-CN" altLang="en-US" sz="3200" dirty="0">
                <a:latin typeface="Arial Black" panose="020B0A04020102020204" pitchFamily="34" charset="0"/>
                <a:ea typeface="黑体" panose="02010609060101010101" pitchFamily="49" charset="-122"/>
              </a:rPr>
              <a:t>在</a:t>
            </a:r>
            <a:r>
              <a:rPr lang="en-US" altLang="zh-CN" sz="3200" dirty="0">
                <a:latin typeface="Arial Black" panose="020B0A04020102020204" pitchFamily="34" charset="0"/>
                <a:ea typeface="黑体" panose="02010609060101010101" pitchFamily="49" charset="-122"/>
              </a:rPr>
              <a:t>PCB</a:t>
            </a:r>
            <a:r>
              <a:rPr lang="zh-CN" altLang="en-US" sz="3200" dirty="0">
                <a:latin typeface="Arial Black" panose="020B0A04020102020204" pitchFamily="34" charset="0"/>
                <a:ea typeface="黑体" panose="02010609060101010101" pitchFamily="49" charset="-122"/>
              </a:rPr>
              <a:t>工程中创建原理图</a:t>
            </a:r>
            <a:endParaRPr lang="en-US" altLang="zh-CN" sz="3200" dirty="0">
              <a:latin typeface="Arial Black" panose="020B0A04020102020204" pitchFamily="34" charset="0"/>
              <a:ea typeface="黑体" panose="02010609060101010101" pitchFamily="49" charset="-122"/>
            </a:endParaRPr>
          </a:p>
        </p:txBody>
      </p:sp>
      <p:sp>
        <p:nvSpPr>
          <p:cNvPr id="18" name="内容占位符 2">
            <a:extLst>
              <a:ext uri="{FF2B5EF4-FFF2-40B4-BE49-F238E27FC236}">
                <a16:creationId xmlns:a16="http://schemas.microsoft.com/office/drawing/2014/main" id="{70E771D3-C13C-1EB1-E0E3-82E427D0D443}"/>
              </a:ext>
            </a:extLst>
          </p:cNvPr>
          <p:cNvSpPr>
            <a:spLocks noGrp="1"/>
          </p:cNvSpPr>
          <p:nvPr>
            <p:ph idx="1"/>
          </p:nvPr>
        </p:nvSpPr>
        <p:spPr>
          <a:xfrm>
            <a:off x="918029" y="2250369"/>
            <a:ext cx="5261429" cy="4351338"/>
          </a:xfrm>
        </p:spPr>
        <p:txBody>
          <a:bodyPr/>
          <a:lstStyle/>
          <a:p>
            <a:pPr marL="0" indent="0">
              <a:buNone/>
            </a:pPr>
            <a:r>
              <a:rPr lang="en-US" altLang="zh-CN" dirty="0">
                <a:latin typeface="Arial Black" panose="020B0A04020102020204" pitchFamily="34" charset="0"/>
                <a:ea typeface="黑体" panose="02010609060101010101" pitchFamily="49" charset="-122"/>
              </a:rPr>
              <a:t>*</a:t>
            </a:r>
            <a:r>
              <a:rPr lang="zh-CN" altLang="en-US" dirty="0">
                <a:latin typeface="Arial Black" panose="020B0A04020102020204" pitchFamily="34" charset="0"/>
                <a:ea typeface="黑体" panose="02010609060101010101" pitchFamily="49" charset="-122"/>
              </a:rPr>
              <a:t>操作</a:t>
            </a:r>
            <a:endParaRPr lang="en-US" altLang="zh-CN" dirty="0">
              <a:latin typeface="Arial Black" panose="020B0A04020102020204" pitchFamily="34" charset="0"/>
              <a:ea typeface="黑体" panose="02010609060101010101" pitchFamily="49" charset="-122"/>
            </a:endParaRPr>
          </a:p>
          <a:p>
            <a:pPr marL="0" indent="0">
              <a:buNone/>
            </a:pPr>
            <a:r>
              <a:rPr lang="zh-CN" altLang="en-US" dirty="0">
                <a:latin typeface="Arial Black" panose="020B0A04020102020204" pitchFamily="34" charset="0"/>
                <a:ea typeface="黑体" panose="02010609060101010101" pitchFamily="49" charset="-122"/>
              </a:rPr>
              <a:t>“</a:t>
            </a:r>
            <a:r>
              <a:rPr lang="en-US" altLang="zh-CN" dirty="0">
                <a:latin typeface="Arial Black" panose="020B0A04020102020204" pitchFamily="34" charset="0"/>
                <a:ea typeface="黑体" panose="02010609060101010101" pitchFamily="49" charset="-122"/>
              </a:rPr>
              <a:t>File</a:t>
            </a:r>
            <a:r>
              <a:rPr lang="zh-CN" altLang="en-US" dirty="0">
                <a:latin typeface="Arial Black" panose="020B0A04020102020204" pitchFamily="34" charset="0"/>
                <a:ea typeface="黑体" panose="02010609060101010101" pitchFamily="49" charset="-122"/>
              </a:rPr>
              <a:t>”→“</a:t>
            </a:r>
            <a:r>
              <a:rPr lang="en-US" altLang="zh-CN" dirty="0">
                <a:latin typeface="Arial Black" panose="020B0A04020102020204" pitchFamily="34" charset="0"/>
                <a:ea typeface="黑体" panose="02010609060101010101" pitchFamily="49" charset="-122"/>
              </a:rPr>
              <a:t>Save As</a:t>
            </a:r>
            <a:r>
              <a:rPr lang="zh-CN" altLang="en-US" dirty="0">
                <a:latin typeface="Arial Black" panose="020B0A04020102020204" pitchFamily="34" charset="0"/>
                <a:ea typeface="黑体" panose="02010609060101010101" pitchFamily="49" charset="-122"/>
              </a:rPr>
              <a:t>”</a:t>
            </a:r>
            <a:endParaRPr lang="en-US" altLang="zh-CN" dirty="0">
              <a:latin typeface="Arial Black" panose="020B0A04020102020204" pitchFamily="34" charset="0"/>
              <a:ea typeface="黑体" panose="02010609060101010101" pitchFamily="49" charset="-122"/>
            </a:endParaRPr>
          </a:p>
          <a:p>
            <a:pPr marL="0" indent="0">
              <a:buNone/>
            </a:pPr>
            <a:r>
              <a:rPr lang="zh-CN" altLang="en-US" dirty="0">
                <a:latin typeface="Arial Black" panose="020B0A04020102020204" pitchFamily="34" charset="0"/>
                <a:ea typeface="黑体" panose="02010609060101010101" pitchFamily="49" charset="-122"/>
              </a:rPr>
              <a:t>或右击新建的</a:t>
            </a:r>
            <a:r>
              <a:rPr lang="en-US" altLang="zh-CN" dirty="0">
                <a:latin typeface="Arial Black" panose="020B0A04020102020204" pitchFamily="34" charset="0"/>
                <a:ea typeface="黑体" panose="02010609060101010101" pitchFamily="49" charset="-122"/>
              </a:rPr>
              <a:t>.</a:t>
            </a:r>
            <a:r>
              <a:rPr lang="en-US" altLang="zh-CN" dirty="0" err="1">
                <a:latin typeface="Arial Black" panose="020B0A04020102020204" pitchFamily="34" charset="0"/>
                <a:ea typeface="黑体" panose="02010609060101010101" pitchFamily="49" charset="-122"/>
              </a:rPr>
              <a:t>SchDoc</a:t>
            </a:r>
            <a:r>
              <a:rPr lang="zh-CN" altLang="en-US" dirty="0">
                <a:latin typeface="Arial Black" panose="020B0A04020102020204" pitchFamily="34" charset="0"/>
                <a:ea typeface="黑体" panose="02010609060101010101" pitchFamily="49" charset="-122"/>
              </a:rPr>
              <a:t>文件，选择“</a:t>
            </a:r>
            <a:r>
              <a:rPr lang="en-US" altLang="zh-CN" dirty="0">
                <a:latin typeface="Arial Black" panose="020B0A04020102020204" pitchFamily="34" charset="0"/>
                <a:ea typeface="黑体" panose="02010609060101010101" pitchFamily="49" charset="-122"/>
              </a:rPr>
              <a:t>Save As</a:t>
            </a:r>
            <a:r>
              <a:rPr lang="zh-CN" altLang="en-US" dirty="0">
                <a:latin typeface="Arial Black" panose="020B0A04020102020204" pitchFamily="34" charset="0"/>
                <a:ea typeface="黑体" panose="02010609060101010101" pitchFamily="49" charset="-122"/>
              </a:rPr>
              <a:t>”</a:t>
            </a:r>
            <a:endParaRPr lang="en-US" altLang="zh-CN" dirty="0">
              <a:latin typeface="Arial Black" panose="020B0A04020102020204" pitchFamily="34" charset="0"/>
              <a:ea typeface="黑体" panose="02010609060101010101" pitchFamily="49" charset="-122"/>
            </a:endParaRPr>
          </a:p>
          <a:p>
            <a:pPr marL="0" indent="0">
              <a:buNone/>
            </a:pPr>
            <a:r>
              <a:rPr lang="zh-CN" altLang="en-US" dirty="0">
                <a:latin typeface="Arial Black" panose="020B0A04020102020204" pitchFamily="34" charset="0"/>
                <a:ea typeface="黑体" panose="02010609060101010101" pitchFamily="49" charset="-122"/>
              </a:rPr>
              <a:t>为新建的原理图文件设置</a:t>
            </a:r>
            <a:r>
              <a:rPr lang="zh-CN" altLang="en-US" dirty="0">
                <a:solidFill>
                  <a:srgbClr val="FF0000"/>
                </a:solidFill>
                <a:latin typeface="Arial Black" panose="020B0A04020102020204" pitchFamily="34" charset="0"/>
                <a:ea typeface="黑体" panose="02010609060101010101" pitchFamily="49" charset="-122"/>
              </a:rPr>
              <a:t>合适的路径和文件名</a:t>
            </a:r>
            <a:endParaRPr lang="en-US" altLang="zh-CN" dirty="0">
              <a:solidFill>
                <a:srgbClr val="FF0000"/>
              </a:solidFill>
              <a:latin typeface="Arial Black" panose="020B0A04020102020204" pitchFamily="34" charset="0"/>
              <a:ea typeface="黑体" panose="02010609060101010101" pitchFamily="49" charset="-122"/>
            </a:endParaRPr>
          </a:p>
          <a:p>
            <a:pPr marL="0" indent="0">
              <a:buNone/>
            </a:pPr>
            <a:endParaRPr lang="zh-CN" altLang="en-US" dirty="0">
              <a:latin typeface="Arial Black" panose="020B0A04020102020204" pitchFamily="34" charset="0"/>
              <a:ea typeface="黑体" panose="02010609060101010101" pitchFamily="49" charset="-122"/>
            </a:endParaRPr>
          </a:p>
        </p:txBody>
      </p:sp>
    </p:spTree>
    <p:extLst>
      <p:ext uri="{BB962C8B-B14F-4D97-AF65-F5344CB8AC3E}">
        <p14:creationId xmlns:p14="http://schemas.microsoft.com/office/powerpoint/2010/main" val="117771117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B24F283D-D4D6-9AAD-B880-124561D10AAD}"/>
              </a:ext>
            </a:extLst>
          </p:cNvPr>
          <p:cNvPicPr>
            <a:picLocks noChangeAspect="1"/>
          </p:cNvPicPr>
          <p:nvPr/>
        </p:nvPicPr>
        <p:blipFill>
          <a:blip r:embed="rId2"/>
          <a:stretch>
            <a:fillRect/>
          </a:stretch>
        </p:blipFill>
        <p:spPr>
          <a:xfrm>
            <a:off x="5126366" y="1895475"/>
            <a:ext cx="7477125" cy="4962525"/>
          </a:xfrm>
          <a:prstGeom prst="rect">
            <a:avLst/>
          </a:prstGeom>
        </p:spPr>
      </p:pic>
      <p:sp>
        <p:nvSpPr>
          <p:cNvPr id="12" name="文本框 11">
            <a:extLst>
              <a:ext uri="{FF2B5EF4-FFF2-40B4-BE49-F238E27FC236}">
                <a16:creationId xmlns:a16="http://schemas.microsoft.com/office/drawing/2014/main" id="{17C8F917-1752-81D9-8A32-1C5DC229994E}"/>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使用</a:t>
            </a:r>
            <a:r>
              <a:rPr lang="en-US" altLang="zh-CN" sz="4000" dirty="0">
                <a:solidFill>
                  <a:schemeClr val="accent1">
                    <a:lumMod val="75000"/>
                  </a:schemeClr>
                </a:solidFill>
                <a:latin typeface="Arial Black" panose="020B0A04020102020204" pitchFamily="34" charset="0"/>
                <a:ea typeface="黑体" panose="02010609060101010101" pitchFamily="49" charset="-122"/>
              </a:rPr>
              <a:t>AD</a:t>
            </a:r>
            <a:r>
              <a:rPr lang="zh-CN" altLang="en-US" sz="4000" dirty="0">
                <a:solidFill>
                  <a:schemeClr val="accent1">
                    <a:lumMod val="75000"/>
                  </a:schemeClr>
                </a:solidFill>
                <a:latin typeface="黑体" panose="02010609060101010101" pitchFamily="49" charset="-122"/>
                <a:ea typeface="黑体" panose="02010609060101010101" pitchFamily="49" charset="-122"/>
              </a:rPr>
              <a:t>设计电路原理图</a:t>
            </a:r>
            <a:endParaRPr lang="zh-CN" altLang="en-US" sz="4000" dirty="0">
              <a:solidFill>
                <a:srgbClr val="003F88"/>
              </a:solidFill>
              <a:latin typeface="黑体" panose="02010609060101010101" pitchFamily="49" charset="-122"/>
              <a:ea typeface="黑体" panose="02010609060101010101" pitchFamily="49" charset="-122"/>
            </a:endParaRPr>
          </a:p>
        </p:txBody>
      </p:sp>
      <p:sp>
        <p:nvSpPr>
          <p:cNvPr id="13" name="矩形 12">
            <a:extLst>
              <a:ext uri="{FF2B5EF4-FFF2-40B4-BE49-F238E27FC236}">
                <a16:creationId xmlns:a16="http://schemas.microsoft.com/office/drawing/2014/main" id="{B41DC058-A58F-7AF1-182A-2D4363730724}"/>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内容占位符 2">
            <a:extLst>
              <a:ext uri="{FF2B5EF4-FFF2-40B4-BE49-F238E27FC236}">
                <a16:creationId xmlns:a16="http://schemas.microsoft.com/office/drawing/2014/main" id="{24EBA9BC-B215-7B4F-BA0A-9A7F7178F8A4}"/>
              </a:ext>
            </a:extLst>
          </p:cNvPr>
          <p:cNvSpPr>
            <a:spLocks noGrp="1"/>
          </p:cNvSpPr>
          <p:nvPr>
            <p:ph idx="1"/>
          </p:nvPr>
        </p:nvSpPr>
        <p:spPr>
          <a:xfrm>
            <a:off x="918029" y="2326203"/>
            <a:ext cx="10515600" cy="4351338"/>
          </a:xfrm>
        </p:spPr>
        <p:txBody>
          <a:bodyPr/>
          <a:lstStyle/>
          <a:p>
            <a:pPr marL="0" indent="0">
              <a:buNone/>
            </a:pPr>
            <a:r>
              <a:rPr lang="zh-CN" altLang="en-US" dirty="0">
                <a:latin typeface="Arial Black" panose="020B0A04020102020204" pitchFamily="34" charset="0"/>
                <a:ea typeface="黑体" panose="02010609060101010101" pitchFamily="49" charset="-122"/>
              </a:rPr>
              <a:t>这是保存后的情形</a:t>
            </a:r>
            <a:endParaRPr lang="en-US" altLang="zh-CN" dirty="0">
              <a:latin typeface="Arial Black" panose="020B0A04020102020204" pitchFamily="34" charset="0"/>
              <a:ea typeface="黑体" panose="02010609060101010101" pitchFamily="49" charset="-122"/>
            </a:endParaRPr>
          </a:p>
          <a:p>
            <a:pPr marL="0" indent="0">
              <a:buNone/>
            </a:pPr>
            <a:r>
              <a:rPr lang="zh-CN" altLang="en-US" dirty="0">
                <a:latin typeface="Arial Black" panose="020B0A04020102020204" pitchFamily="34" charset="0"/>
                <a:ea typeface="黑体" panose="02010609060101010101" pitchFamily="49" charset="-122"/>
              </a:rPr>
              <a:t>工程文件名为：</a:t>
            </a:r>
            <a:endParaRPr lang="en-US" altLang="zh-CN" dirty="0">
              <a:latin typeface="Arial Black" panose="020B0A04020102020204" pitchFamily="34" charset="0"/>
              <a:ea typeface="黑体" panose="02010609060101010101" pitchFamily="49" charset="-122"/>
            </a:endParaRPr>
          </a:p>
          <a:p>
            <a:pPr marL="0" indent="0">
              <a:buNone/>
            </a:pPr>
            <a:r>
              <a:rPr lang="en-US" altLang="zh-CN" dirty="0">
                <a:latin typeface="Arial Black" panose="020B0A04020102020204" pitchFamily="34" charset="0"/>
                <a:ea typeface="黑体" panose="02010609060101010101" pitchFamily="49" charset="-122"/>
              </a:rPr>
              <a:t>ECDII2024S.PrjPcb</a:t>
            </a:r>
          </a:p>
          <a:p>
            <a:pPr marL="0" indent="0">
              <a:buNone/>
            </a:pPr>
            <a:r>
              <a:rPr lang="zh-CN" altLang="en-US" dirty="0">
                <a:latin typeface="Arial Black" panose="020B0A04020102020204" pitchFamily="34" charset="0"/>
                <a:ea typeface="黑体" panose="02010609060101010101" pitchFamily="49" charset="-122"/>
              </a:rPr>
              <a:t>原理图文件名为：</a:t>
            </a:r>
            <a:endParaRPr lang="en-US" altLang="zh-CN" dirty="0">
              <a:latin typeface="Arial Black" panose="020B0A04020102020204" pitchFamily="34" charset="0"/>
              <a:ea typeface="黑体" panose="02010609060101010101" pitchFamily="49" charset="-122"/>
            </a:endParaRPr>
          </a:p>
          <a:p>
            <a:pPr marL="0" indent="0">
              <a:buNone/>
            </a:pPr>
            <a:r>
              <a:rPr lang="en-US" altLang="zh-CN" dirty="0">
                <a:latin typeface="Arial Black" panose="020B0A04020102020204" pitchFamily="34" charset="0"/>
                <a:ea typeface="黑体" panose="02010609060101010101" pitchFamily="49" charset="-122"/>
              </a:rPr>
              <a:t>TEST202403.SchDoc</a:t>
            </a:r>
            <a:endParaRPr lang="zh-CN" altLang="en-US" dirty="0">
              <a:latin typeface="Arial Black" panose="020B0A04020102020204" pitchFamily="34" charset="0"/>
              <a:ea typeface="黑体" panose="02010609060101010101" pitchFamily="49" charset="-122"/>
            </a:endParaRPr>
          </a:p>
        </p:txBody>
      </p:sp>
      <p:sp>
        <p:nvSpPr>
          <p:cNvPr id="14" name="文本框 13">
            <a:extLst>
              <a:ext uri="{FF2B5EF4-FFF2-40B4-BE49-F238E27FC236}">
                <a16:creationId xmlns:a16="http://schemas.microsoft.com/office/drawing/2014/main" id="{E724697C-4427-6073-C33B-513967EF95F3}"/>
              </a:ext>
            </a:extLst>
          </p:cNvPr>
          <p:cNvSpPr txBox="1"/>
          <p:nvPr/>
        </p:nvSpPr>
        <p:spPr>
          <a:xfrm>
            <a:off x="918029" y="1386510"/>
            <a:ext cx="6117770" cy="584775"/>
          </a:xfrm>
          <a:prstGeom prst="rect">
            <a:avLst/>
          </a:prstGeom>
          <a:noFill/>
        </p:spPr>
        <p:txBody>
          <a:bodyPr wrap="square">
            <a:spAutoFit/>
          </a:bodyPr>
          <a:lstStyle/>
          <a:p>
            <a:pPr marL="0" indent="0">
              <a:buNone/>
            </a:pPr>
            <a:r>
              <a:rPr lang="zh-CN" altLang="en-US" sz="3200" dirty="0">
                <a:latin typeface="Arial Black" panose="020B0A04020102020204" pitchFamily="34" charset="0"/>
                <a:ea typeface="黑体" panose="02010609060101010101" pitchFamily="49" charset="-122"/>
              </a:rPr>
              <a:t>在</a:t>
            </a:r>
            <a:r>
              <a:rPr lang="en-US" altLang="zh-CN" sz="3200" dirty="0">
                <a:latin typeface="Arial Black" panose="020B0A04020102020204" pitchFamily="34" charset="0"/>
                <a:ea typeface="黑体" panose="02010609060101010101" pitchFamily="49" charset="-122"/>
              </a:rPr>
              <a:t>PCB</a:t>
            </a:r>
            <a:r>
              <a:rPr lang="zh-CN" altLang="en-US" sz="3200" dirty="0">
                <a:latin typeface="Arial Black" panose="020B0A04020102020204" pitchFamily="34" charset="0"/>
                <a:ea typeface="黑体" panose="02010609060101010101" pitchFamily="49" charset="-122"/>
              </a:rPr>
              <a:t>工程中创建原理图</a:t>
            </a:r>
            <a:endParaRPr lang="en-US" altLang="zh-CN" sz="3200" dirty="0">
              <a:latin typeface="Arial Black" panose="020B0A04020102020204" pitchFamily="34" charset="0"/>
              <a:ea typeface="黑体" panose="02010609060101010101" pitchFamily="49" charset="-122"/>
            </a:endParaRPr>
          </a:p>
        </p:txBody>
      </p:sp>
    </p:spTree>
    <p:extLst>
      <p:ext uri="{BB962C8B-B14F-4D97-AF65-F5344CB8AC3E}">
        <p14:creationId xmlns:p14="http://schemas.microsoft.com/office/powerpoint/2010/main" val="217748900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B1280-39DD-3B12-BAB6-CC045CF00A60}"/>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4B50CAED-A683-342C-8144-862220802865}"/>
              </a:ext>
            </a:extLst>
          </p:cNvPr>
          <p:cNvSpPr>
            <a:spLocks noGrp="1"/>
          </p:cNvSpPr>
          <p:nvPr>
            <p:ph idx="1"/>
          </p:nvPr>
        </p:nvSpPr>
        <p:spPr>
          <a:xfrm>
            <a:off x="838200" y="2217510"/>
            <a:ext cx="10515600" cy="4351338"/>
          </a:xfrm>
        </p:spPr>
        <p:txBody>
          <a:bodyPr/>
          <a:lstStyle/>
          <a:p>
            <a:pPr marL="0" indent="0">
              <a:buNone/>
            </a:pPr>
            <a:r>
              <a:rPr lang="zh-CN" altLang="en-US" dirty="0">
                <a:latin typeface="黑体" panose="02010609060101010101" pitchFamily="49" charset="-122"/>
                <a:ea typeface="黑体" panose="02010609060101010101" pitchFamily="49" charset="-122"/>
              </a:rPr>
              <a:t>★电路原理图的设计是在原理图编辑器中进行的，原理图编辑器主要用来绘制电路原理图，生成网络表。</a:t>
            </a:r>
            <a:endParaRPr lang="en-US" altLang="zh-CN" dirty="0">
              <a:latin typeface="黑体" panose="02010609060101010101" pitchFamily="49" charset="-122"/>
              <a:ea typeface="黑体" panose="02010609060101010101" pitchFamily="49" charset="-122"/>
            </a:endParaRPr>
          </a:p>
          <a:p>
            <a:pPr marL="0" indent="0">
              <a:buNone/>
            </a:pPr>
            <a:r>
              <a:rPr lang="zh-CN" altLang="en-US" dirty="0">
                <a:latin typeface="黑体" panose="02010609060101010101" pitchFamily="49" charset="-122"/>
                <a:ea typeface="黑体" panose="02010609060101010101" pitchFamily="49" charset="-122"/>
              </a:rPr>
              <a:t>★电路原理图设计流程：开始→启动进入原理图编辑器→设置图纸规格→设置编辑器系统参数→放置电路元件、导线等→原理图调整→生成网络表。</a:t>
            </a:r>
            <a:endParaRPr lang="en-US" altLang="zh-CN" dirty="0">
              <a:latin typeface="黑体" panose="02010609060101010101" pitchFamily="49" charset="-122"/>
              <a:ea typeface="黑体" panose="02010609060101010101" pitchFamily="49" charset="-122"/>
            </a:endParaRPr>
          </a:p>
          <a:p>
            <a:pPr marL="0" indent="0">
              <a:buNone/>
            </a:pPr>
            <a:r>
              <a:rPr lang="zh-CN" altLang="en-US" dirty="0">
                <a:latin typeface="黑体" panose="02010609060101010101" pitchFamily="49" charset="-122"/>
                <a:ea typeface="黑体" panose="02010609060101010101" pitchFamily="49" charset="-122"/>
              </a:rPr>
              <a:t>★在设计原理图之前，首先要启动原理图编辑器。启动原理图编辑器的方法是：从菜单</a:t>
            </a:r>
            <a:r>
              <a:rPr lang="en-US" altLang="zh-CN" dirty="0">
                <a:latin typeface="黑体" panose="02010609060101010101" pitchFamily="49" charset="-122"/>
                <a:ea typeface="黑体" panose="02010609060101010101" pitchFamily="49" charset="-122"/>
              </a:rPr>
              <a:t>”File”</a:t>
            </a:r>
            <a:r>
              <a:rPr lang="zh-CN" altLang="en-US" dirty="0">
                <a:latin typeface="黑体" panose="02010609060101010101" pitchFamily="49" charset="-122"/>
                <a:ea typeface="黑体" panose="02010609060101010101" pitchFamily="49" charset="-122"/>
              </a:rPr>
              <a:t> →</a:t>
            </a:r>
            <a:r>
              <a:rPr lang="en-US" altLang="zh-CN" dirty="0">
                <a:latin typeface="黑体" panose="02010609060101010101" pitchFamily="49" charset="-122"/>
                <a:ea typeface="黑体" panose="02010609060101010101" pitchFamily="49" charset="-122"/>
              </a:rPr>
              <a:t>”Open Project…”</a:t>
            </a:r>
            <a:r>
              <a:rPr lang="zh-CN" altLang="en-US" dirty="0">
                <a:latin typeface="黑体" panose="02010609060101010101" pitchFamily="49" charset="-122"/>
                <a:ea typeface="黑体" panose="02010609060101010101" pitchFamily="49" charset="-122"/>
              </a:rPr>
              <a:t>，选择要编辑的工程项目，在打开的工程面板中双击要编辑的原理图文件，此时屏幕右侧主窗口即为原理图编辑窗口。</a:t>
            </a:r>
          </a:p>
        </p:txBody>
      </p:sp>
      <p:sp>
        <p:nvSpPr>
          <p:cNvPr id="11" name="文本框 10">
            <a:extLst>
              <a:ext uri="{FF2B5EF4-FFF2-40B4-BE49-F238E27FC236}">
                <a16:creationId xmlns:a16="http://schemas.microsoft.com/office/drawing/2014/main" id="{D14786D7-9E25-7B73-13AE-0A2CE6895ECC}"/>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使用</a:t>
            </a:r>
            <a:r>
              <a:rPr lang="en-US" altLang="zh-CN" sz="4000" dirty="0">
                <a:solidFill>
                  <a:schemeClr val="accent1">
                    <a:lumMod val="75000"/>
                  </a:schemeClr>
                </a:solidFill>
                <a:latin typeface="Arial Black" panose="020B0A04020102020204" pitchFamily="34" charset="0"/>
                <a:ea typeface="黑体" panose="02010609060101010101" pitchFamily="49" charset="-122"/>
              </a:rPr>
              <a:t>AD</a:t>
            </a:r>
            <a:r>
              <a:rPr lang="zh-CN" altLang="en-US" sz="4000" dirty="0">
                <a:solidFill>
                  <a:schemeClr val="accent1">
                    <a:lumMod val="75000"/>
                  </a:schemeClr>
                </a:solidFill>
                <a:latin typeface="黑体" panose="02010609060101010101" pitchFamily="49" charset="-122"/>
                <a:ea typeface="黑体" panose="02010609060101010101" pitchFamily="49" charset="-122"/>
              </a:rPr>
              <a:t>设计电路原理图</a:t>
            </a:r>
            <a:endParaRPr lang="zh-CN" altLang="en-US" sz="4000" dirty="0">
              <a:solidFill>
                <a:srgbClr val="003F88"/>
              </a:solidFill>
              <a:latin typeface="黑体" panose="02010609060101010101" pitchFamily="49" charset="-122"/>
              <a:ea typeface="黑体" panose="02010609060101010101" pitchFamily="49" charset="-122"/>
            </a:endParaRPr>
          </a:p>
        </p:txBody>
      </p:sp>
      <p:sp>
        <p:nvSpPr>
          <p:cNvPr id="12" name="矩形 11">
            <a:extLst>
              <a:ext uri="{FF2B5EF4-FFF2-40B4-BE49-F238E27FC236}">
                <a16:creationId xmlns:a16="http://schemas.microsoft.com/office/drawing/2014/main" id="{D47AFE86-6F97-D085-29A4-5CEF74749F94}"/>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文本框 12">
            <a:extLst>
              <a:ext uri="{FF2B5EF4-FFF2-40B4-BE49-F238E27FC236}">
                <a16:creationId xmlns:a16="http://schemas.microsoft.com/office/drawing/2014/main" id="{00AA94DF-CC3E-54F8-B9B7-1E6811CF348B}"/>
              </a:ext>
            </a:extLst>
          </p:cNvPr>
          <p:cNvSpPr txBox="1"/>
          <p:nvPr/>
        </p:nvSpPr>
        <p:spPr>
          <a:xfrm>
            <a:off x="925287" y="1474731"/>
            <a:ext cx="6117770" cy="584775"/>
          </a:xfrm>
          <a:prstGeom prst="rect">
            <a:avLst/>
          </a:prstGeom>
          <a:noFill/>
        </p:spPr>
        <p:txBody>
          <a:bodyPr wrap="square">
            <a:spAutoFit/>
          </a:bodyPr>
          <a:lstStyle/>
          <a:p>
            <a:pPr marL="0" indent="0">
              <a:buNone/>
            </a:pPr>
            <a:r>
              <a:rPr lang="zh-CN" altLang="en-US" sz="3200" dirty="0">
                <a:latin typeface="Arial Black" panose="020B0A04020102020204" pitchFamily="34" charset="0"/>
                <a:ea typeface="黑体" panose="02010609060101010101" pitchFamily="49" charset="-122"/>
              </a:rPr>
              <a:t>设计电路原理图</a:t>
            </a:r>
            <a:endParaRPr lang="en-US" altLang="zh-CN" sz="3200" dirty="0">
              <a:latin typeface="Arial Black" panose="020B0A04020102020204" pitchFamily="34" charset="0"/>
              <a:ea typeface="黑体" panose="02010609060101010101" pitchFamily="49" charset="-122"/>
            </a:endParaRPr>
          </a:p>
        </p:txBody>
      </p:sp>
    </p:spTree>
    <p:extLst>
      <p:ext uri="{BB962C8B-B14F-4D97-AF65-F5344CB8AC3E}">
        <p14:creationId xmlns:p14="http://schemas.microsoft.com/office/powerpoint/2010/main" val="80896595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3EAE5-6950-E3FB-C9E4-7E0E2934DE3C}"/>
            </a:ext>
          </a:extLst>
        </p:cNvPr>
        <p:cNvGrpSpPr/>
        <p:nvPr/>
      </p:nvGrpSpPr>
      <p:grpSpPr>
        <a:xfrm>
          <a:off x="0" y="0"/>
          <a:ext cx="0" cy="0"/>
          <a:chOff x="0" y="0"/>
          <a:chExt cx="0" cy="0"/>
        </a:xfrm>
      </p:grpSpPr>
      <p:pic>
        <p:nvPicPr>
          <p:cNvPr id="13" name="图片 12">
            <a:extLst>
              <a:ext uri="{FF2B5EF4-FFF2-40B4-BE49-F238E27FC236}">
                <a16:creationId xmlns:a16="http://schemas.microsoft.com/office/drawing/2014/main" id="{C14D462E-65FD-5182-0899-A3F914CF0F10}"/>
              </a:ext>
            </a:extLst>
          </p:cNvPr>
          <p:cNvPicPr>
            <a:picLocks noChangeAspect="1"/>
          </p:cNvPicPr>
          <p:nvPr/>
        </p:nvPicPr>
        <p:blipFill>
          <a:blip r:embed="rId2"/>
          <a:stretch>
            <a:fillRect/>
          </a:stretch>
        </p:blipFill>
        <p:spPr>
          <a:xfrm>
            <a:off x="2131728" y="2287927"/>
            <a:ext cx="7928544" cy="4570073"/>
          </a:xfrm>
          <a:prstGeom prst="rect">
            <a:avLst/>
          </a:prstGeom>
        </p:spPr>
      </p:pic>
      <p:sp>
        <p:nvSpPr>
          <p:cNvPr id="14" name="对话气泡: 圆角矩形 13">
            <a:extLst>
              <a:ext uri="{FF2B5EF4-FFF2-40B4-BE49-F238E27FC236}">
                <a16:creationId xmlns:a16="http://schemas.microsoft.com/office/drawing/2014/main" id="{03CA3C7E-CED7-69C1-63B7-8DB4986ECB20}"/>
              </a:ext>
            </a:extLst>
          </p:cNvPr>
          <p:cNvSpPr/>
          <p:nvPr/>
        </p:nvSpPr>
        <p:spPr>
          <a:xfrm>
            <a:off x="5375563" y="3259680"/>
            <a:ext cx="2493819" cy="863969"/>
          </a:xfrm>
          <a:prstGeom prst="wedgeRoundRectCallout">
            <a:avLst>
              <a:gd name="adj1" fmla="val -59166"/>
              <a:gd name="adj2" fmla="val -117102"/>
              <a:gd name="adj3" fmla="val 16667"/>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3200" b="1" dirty="0">
                <a:solidFill>
                  <a:srgbClr val="FF0000"/>
                </a:solidFill>
                <a:latin typeface="黑体" panose="02010609060101010101" pitchFamily="49" charset="-122"/>
                <a:ea typeface="黑体" panose="02010609060101010101" pitchFamily="49" charset="-122"/>
              </a:rPr>
              <a:t>常用工具栏</a:t>
            </a:r>
          </a:p>
        </p:txBody>
      </p:sp>
      <p:sp>
        <p:nvSpPr>
          <p:cNvPr id="11" name="文本框 10">
            <a:extLst>
              <a:ext uri="{FF2B5EF4-FFF2-40B4-BE49-F238E27FC236}">
                <a16:creationId xmlns:a16="http://schemas.microsoft.com/office/drawing/2014/main" id="{0F2A9A25-B031-6B5D-9819-FF0D4250C58F}"/>
              </a:ext>
            </a:extLst>
          </p:cNvPr>
          <p:cNvSpPr txBox="1"/>
          <p:nvPr/>
        </p:nvSpPr>
        <p:spPr>
          <a:xfrm>
            <a:off x="3574473" y="4786784"/>
            <a:ext cx="6096000" cy="707886"/>
          </a:xfrm>
          <a:prstGeom prst="rect">
            <a:avLst/>
          </a:prstGeom>
          <a:noFill/>
        </p:spPr>
        <p:txBody>
          <a:bodyPr wrap="square">
            <a:spAutoFit/>
          </a:bodyPr>
          <a:lstStyle/>
          <a:p>
            <a:pPr marL="0" indent="0" algn="ctr">
              <a:buNone/>
            </a:pPr>
            <a:r>
              <a:rPr lang="zh-CN" altLang="en-US" sz="4000" b="1" dirty="0">
                <a:solidFill>
                  <a:srgbClr val="FF0000"/>
                </a:solidFill>
                <a:latin typeface="黑体" panose="02010609060101010101" pitchFamily="49" charset="-122"/>
                <a:ea typeface="黑体" panose="02010609060101010101" pitchFamily="49" charset="-122"/>
              </a:rPr>
              <a:t>原理图编辑窗口</a:t>
            </a:r>
          </a:p>
        </p:txBody>
      </p:sp>
      <p:sp>
        <p:nvSpPr>
          <p:cNvPr id="12" name="文本框 11">
            <a:extLst>
              <a:ext uri="{FF2B5EF4-FFF2-40B4-BE49-F238E27FC236}">
                <a16:creationId xmlns:a16="http://schemas.microsoft.com/office/drawing/2014/main" id="{D5EE03E8-BEEC-CAB0-6388-472287307199}"/>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使用</a:t>
            </a:r>
            <a:r>
              <a:rPr lang="en-US" altLang="zh-CN" sz="4000" dirty="0">
                <a:solidFill>
                  <a:schemeClr val="accent1">
                    <a:lumMod val="75000"/>
                  </a:schemeClr>
                </a:solidFill>
                <a:latin typeface="Arial Black" panose="020B0A04020102020204" pitchFamily="34" charset="0"/>
                <a:ea typeface="黑体" panose="02010609060101010101" pitchFamily="49" charset="-122"/>
              </a:rPr>
              <a:t>AD</a:t>
            </a:r>
            <a:r>
              <a:rPr lang="zh-CN" altLang="en-US" sz="4000" dirty="0">
                <a:solidFill>
                  <a:schemeClr val="accent1">
                    <a:lumMod val="75000"/>
                  </a:schemeClr>
                </a:solidFill>
                <a:latin typeface="黑体" panose="02010609060101010101" pitchFamily="49" charset="-122"/>
                <a:ea typeface="黑体" panose="02010609060101010101" pitchFamily="49" charset="-122"/>
              </a:rPr>
              <a:t>设计电路原理图</a:t>
            </a:r>
            <a:endParaRPr lang="zh-CN" altLang="en-US" sz="4000" dirty="0">
              <a:solidFill>
                <a:srgbClr val="003F88"/>
              </a:solidFill>
              <a:latin typeface="黑体" panose="02010609060101010101" pitchFamily="49" charset="-122"/>
              <a:ea typeface="黑体" panose="02010609060101010101" pitchFamily="49" charset="-122"/>
            </a:endParaRPr>
          </a:p>
        </p:txBody>
      </p:sp>
      <p:sp>
        <p:nvSpPr>
          <p:cNvPr id="15" name="矩形 14">
            <a:extLst>
              <a:ext uri="{FF2B5EF4-FFF2-40B4-BE49-F238E27FC236}">
                <a16:creationId xmlns:a16="http://schemas.microsoft.com/office/drawing/2014/main" id="{0A9141BB-E398-61E1-4856-8C3461DEDB71}"/>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文本框 17">
            <a:extLst>
              <a:ext uri="{FF2B5EF4-FFF2-40B4-BE49-F238E27FC236}">
                <a16:creationId xmlns:a16="http://schemas.microsoft.com/office/drawing/2014/main" id="{2726500C-4EAD-A92A-E6BB-3A5949FB2225}"/>
              </a:ext>
            </a:extLst>
          </p:cNvPr>
          <p:cNvSpPr txBox="1"/>
          <p:nvPr/>
        </p:nvSpPr>
        <p:spPr>
          <a:xfrm>
            <a:off x="925287" y="1474731"/>
            <a:ext cx="6117770" cy="584775"/>
          </a:xfrm>
          <a:prstGeom prst="rect">
            <a:avLst/>
          </a:prstGeom>
          <a:noFill/>
        </p:spPr>
        <p:txBody>
          <a:bodyPr wrap="square">
            <a:spAutoFit/>
          </a:bodyPr>
          <a:lstStyle/>
          <a:p>
            <a:pPr marL="0" indent="0">
              <a:buNone/>
            </a:pPr>
            <a:r>
              <a:rPr lang="zh-CN" altLang="en-US" sz="3200" dirty="0">
                <a:latin typeface="Arial Black" panose="020B0A04020102020204" pitchFamily="34" charset="0"/>
                <a:ea typeface="黑体" panose="02010609060101010101" pitchFamily="49" charset="-122"/>
              </a:rPr>
              <a:t>设计电路原理图</a:t>
            </a:r>
            <a:endParaRPr lang="en-US" altLang="zh-CN" sz="3200" dirty="0">
              <a:latin typeface="Arial Black" panose="020B0A04020102020204" pitchFamily="34" charset="0"/>
              <a:ea typeface="黑体" panose="02010609060101010101" pitchFamily="49" charset="-122"/>
            </a:endParaRPr>
          </a:p>
        </p:txBody>
      </p:sp>
    </p:spTree>
    <p:extLst>
      <p:ext uri="{BB962C8B-B14F-4D97-AF65-F5344CB8AC3E}">
        <p14:creationId xmlns:p14="http://schemas.microsoft.com/office/powerpoint/2010/main" val="347483294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0D083-A13B-4E4E-C81B-397E39B26E40}"/>
            </a:ext>
          </a:extLst>
        </p:cNvPr>
        <p:cNvGrpSpPr/>
        <p:nvPr/>
      </p:nvGrpSpPr>
      <p:grpSpPr>
        <a:xfrm>
          <a:off x="0" y="0"/>
          <a:ext cx="0" cy="0"/>
          <a:chOff x="0" y="0"/>
          <a:chExt cx="0" cy="0"/>
        </a:xfrm>
      </p:grpSpPr>
      <p:sp>
        <p:nvSpPr>
          <p:cNvPr id="13" name="文本框 12">
            <a:extLst>
              <a:ext uri="{FF2B5EF4-FFF2-40B4-BE49-F238E27FC236}">
                <a16:creationId xmlns:a16="http://schemas.microsoft.com/office/drawing/2014/main" id="{DCFD328E-A669-91BC-8F0F-F6077E56DE07}"/>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使用</a:t>
            </a:r>
            <a:r>
              <a:rPr lang="en-US" altLang="zh-CN" sz="4000" dirty="0">
                <a:solidFill>
                  <a:schemeClr val="accent1">
                    <a:lumMod val="75000"/>
                  </a:schemeClr>
                </a:solidFill>
                <a:latin typeface="Arial Black" panose="020B0A04020102020204" pitchFamily="34" charset="0"/>
                <a:ea typeface="黑体" panose="02010609060101010101" pitchFamily="49" charset="-122"/>
              </a:rPr>
              <a:t>AD</a:t>
            </a:r>
            <a:r>
              <a:rPr lang="zh-CN" altLang="en-US" sz="4000" dirty="0">
                <a:solidFill>
                  <a:schemeClr val="accent1">
                    <a:lumMod val="75000"/>
                  </a:schemeClr>
                </a:solidFill>
                <a:latin typeface="黑体" panose="02010609060101010101" pitchFamily="49" charset="-122"/>
                <a:ea typeface="黑体" panose="02010609060101010101" pitchFamily="49" charset="-122"/>
              </a:rPr>
              <a:t>设计电路原理图</a:t>
            </a:r>
            <a:endParaRPr lang="zh-CN" altLang="en-US" sz="4000" dirty="0">
              <a:solidFill>
                <a:srgbClr val="003F88"/>
              </a:solidFill>
              <a:latin typeface="黑体" panose="02010609060101010101" pitchFamily="49" charset="-122"/>
              <a:ea typeface="黑体" panose="02010609060101010101" pitchFamily="49" charset="-122"/>
            </a:endParaRPr>
          </a:p>
        </p:txBody>
      </p:sp>
      <p:sp>
        <p:nvSpPr>
          <p:cNvPr id="3" name="内容占位符 2">
            <a:extLst>
              <a:ext uri="{FF2B5EF4-FFF2-40B4-BE49-F238E27FC236}">
                <a16:creationId xmlns:a16="http://schemas.microsoft.com/office/drawing/2014/main" id="{DD3AC5B9-703A-4B1A-63DD-7E8ABD6D47C8}"/>
              </a:ext>
            </a:extLst>
          </p:cNvPr>
          <p:cNvSpPr>
            <a:spLocks noGrp="1"/>
          </p:cNvSpPr>
          <p:nvPr>
            <p:ph idx="1"/>
          </p:nvPr>
        </p:nvSpPr>
        <p:spPr>
          <a:xfrm>
            <a:off x="803565" y="2460464"/>
            <a:ext cx="4749974" cy="4351338"/>
          </a:xfrm>
        </p:spPr>
        <p:txBody>
          <a:bodyPr/>
          <a:lstStyle/>
          <a:p>
            <a:pPr marL="0" indent="0">
              <a:buNone/>
            </a:pPr>
            <a:r>
              <a:rPr lang="zh-CN" altLang="en-US" dirty="0">
                <a:latin typeface="Arial Black" panose="020B0A04020102020204" pitchFamily="34" charset="0"/>
                <a:ea typeface="黑体" panose="02010609060101010101" pitchFamily="49" charset="-122"/>
              </a:rPr>
              <a:t>★选择主菜单的</a:t>
            </a:r>
            <a:r>
              <a:rPr lang="en-US" altLang="zh-CN" dirty="0">
                <a:latin typeface="Arial Black" panose="020B0A04020102020204" pitchFamily="34" charset="0"/>
                <a:ea typeface="黑体" panose="02010609060101010101" pitchFamily="49" charset="-122"/>
              </a:rPr>
              <a:t>”Place”</a:t>
            </a:r>
            <a:r>
              <a:rPr lang="zh-CN" altLang="en-US" dirty="0">
                <a:latin typeface="Arial Black" panose="020B0A04020102020204" pitchFamily="34" charset="0"/>
                <a:ea typeface="黑体" panose="02010609060101010101" pitchFamily="49" charset="-122"/>
              </a:rPr>
              <a:t>菜单，可放置各种电路元件、电线、连接点、网络标号等，进行原理图的设计与修改。</a:t>
            </a:r>
          </a:p>
        </p:txBody>
      </p:sp>
      <p:pic>
        <p:nvPicPr>
          <p:cNvPr id="9" name="图片 8">
            <a:extLst>
              <a:ext uri="{FF2B5EF4-FFF2-40B4-BE49-F238E27FC236}">
                <a16:creationId xmlns:a16="http://schemas.microsoft.com/office/drawing/2014/main" id="{A69EFF34-806E-30E4-8CA6-65529C138831}"/>
              </a:ext>
            </a:extLst>
          </p:cNvPr>
          <p:cNvPicPr>
            <a:picLocks noChangeAspect="1"/>
          </p:cNvPicPr>
          <p:nvPr/>
        </p:nvPicPr>
        <p:blipFill>
          <a:blip r:embed="rId2"/>
          <a:stretch>
            <a:fillRect/>
          </a:stretch>
        </p:blipFill>
        <p:spPr>
          <a:xfrm>
            <a:off x="5477397" y="549791"/>
            <a:ext cx="5467692" cy="6262011"/>
          </a:xfrm>
          <a:prstGeom prst="rect">
            <a:avLst/>
          </a:prstGeom>
        </p:spPr>
      </p:pic>
      <p:sp>
        <p:nvSpPr>
          <p:cNvPr id="10" name="文本框 9">
            <a:extLst>
              <a:ext uri="{FF2B5EF4-FFF2-40B4-BE49-F238E27FC236}">
                <a16:creationId xmlns:a16="http://schemas.microsoft.com/office/drawing/2014/main" id="{EEBF5723-3AEA-4356-8A7C-9346C3C6D3E9}"/>
              </a:ext>
            </a:extLst>
          </p:cNvPr>
          <p:cNvSpPr txBox="1"/>
          <p:nvPr/>
        </p:nvSpPr>
        <p:spPr>
          <a:xfrm>
            <a:off x="10052145" y="1178603"/>
            <a:ext cx="1336290" cy="2585323"/>
          </a:xfrm>
          <a:prstGeom prst="rect">
            <a:avLst/>
          </a:prstGeom>
          <a:solidFill>
            <a:schemeClr val="bg1"/>
          </a:solidFill>
        </p:spPr>
        <p:txBody>
          <a:bodyPr wrap="square" rtlCol="0">
            <a:spAutoFit/>
          </a:bodyPr>
          <a:lstStyle/>
          <a:p>
            <a:r>
              <a:rPr lang="zh-CN" altLang="en-US" dirty="0">
                <a:solidFill>
                  <a:srgbClr val="FF0000"/>
                </a:solidFill>
              </a:rPr>
              <a:t>总线</a:t>
            </a:r>
            <a:endParaRPr lang="en-US" altLang="zh-CN" dirty="0">
              <a:solidFill>
                <a:srgbClr val="FF0000"/>
              </a:solidFill>
            </a:endParaRPr>
          </a:p>
          <a:p>
            <a:r>
              <a:rPr lang="zh-CN" altLang="en-US" dirty="0">
                <a:solidFill>
                  <a:srgbClr val="FF0000"/>
                </a:solidFill>
              </a:rPr>
              <a:t>总线入口</a:t>
            </a:r>
            <a:endParaRPr lang="en-US" altLang="zh-CN" dirty="0">
              <a:solidFill>
                <a:srgbClr val="FF0000"/>
              </a:solidFill>
            </a:endParaRPr>
          </a:p>
          <a:p>
            <a:r>
              <a:rPr lang="zh-CN" altLang="en-US" dirty="0">
                <a:solidFill>
                  <a:srgbClr val="FF0000"/>
                </a:solidFill>
              </a:rPr>
              <a:t>元件</a:t>
            </a:r>
            <a:endParaRPr lang="en-US" altLang="zh-CN" dirty="0">
              <a:solidFill>
                <a:srgbClr val="FF0000"/>
              </a:solidFill>
            </a:endParaRPr>
          </a:p>
          <a:p>
            <a:r>
              <a:rPr lang="zh-CN" altLang="en-US" dirty="0">
                <a:solidFill>
                  <a:srgbClr val="FF0000"/>
                </a:solidFill>
              </a:rPr>
              <a:t>连接点</a:t>
            </a:r>
            <a:endParaRPr lang="en-US" altLang="zh-CN" dirty="0">
              <a:solidFill>
                <a:srgbClr val="FF0000"/>
              </a:solidFill>
            </a:endParaRPr>
          </a:p>
          <a:p>
            <a:r>
              <a:rPr lang="zh-CN" altLang="en-US" dirty="0">
                <a:solidFill>
                  <a:srgbClr val="FF0000"/>
                </a:solidFill>
              </a:rPr>
              <a:t>电源与地</a:t>
            </a:r>
            <a:endParaRPr lang="en-US" altLang="zh-CN" dirty="0">
              <a:solidFill>
                <a:srgbClr val="FF0000"/>
              </a:solidFill>
            </a:endParaRPr>
          </a:p>
          <a:p>
            <a:r>
              <a:rPr lang="zh-CN" altLang="en-US" dirty="0">
                <a:solidFill>
                  <a:srgbClr val="FF0000"/>
                </a:solidFill>
              </a:rPr>
              <a:t>电线</a:t>
            </a:r>
            <a:endParaRPr lang="en-US" altLang="zh-CN" dirty="0">
              <a:solidFill>
                <a:srgbClr val="FF0000"/>
              </a:solidFill>
            </a:endParaRPr>
          </a:p>
          <a:p>
            <a:r>
              <a:rPr lang="zh-CN" altLang="en-US" dirty="0">
                <a:solidFill>
                  <a:srgbClr val="FF0000"/>
                </a:solidFill>
              </a:rPr>
              <a:t>网络标号</a:t>
            </a:r>
            <a:endParaRPr lang="en-US" altLang="zh-CN" dirty="0">
              <a:solidFill>
                <a:srgbClr val="FF0000"/>
              </a:solidFill>
            </a:endParaRPr>
          </a:p>
          <a:p>
            <a:r>
              <a:rPr lang="zh-CN" altLang="en-US" dirty="0">
                <a:solidFill>
                  <a:srgbClr val="FF0000"/>
                </a:solidFill>
              </a:rPr>
              <a:t>出入口</a:t>
            </a:r>
            <a:endParaRPr lang="en-US" altLang="zh-CN" dirty="0">
              <a:solidFill>
                <a:srgbClr val="FF0000"/>
              </a:solidFill>
            </a:endParaRPr>
          </a:p>
          <a:p>
            <a:r>
              <a:rPr lang="en-US" altLang="zh-CN" dirty="0">
                <a:solidFill>
                  <a:srgbClr val="FF0000"/>
                </a:solidFill>
              </a:rPr>
              <a:t>…</a:t>
            </a:r>
            <a:endParaRPr lang="zh-CN" altLang="en-US" dirty="0">
              <a:solidFill>
                <a:srgbClr val="FF0000"/>
              </a:solidFill>
            </a:endParaRPr>
          </a:p>
        </p:txBody>
      </p:sp>
      <p:sp>
        <p:nvSpPr>
          <p:cNvPr id="14" name="矩形 13">
            <a:extLst>
              <a:ext uri="{FF2B5EF4-FFF2-40B4-BE49-F238E27FC236}">
                <a16:creationId xmlns:a16="http://schemas.microsoft.com/office/drawing/2014/main" id="{08EE88C3-FDD9-8FBA-4720-98D18266B5B3}"/>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文本框 14">
            <a:extLst>
              <a:ext uri="{FF2B5EF4-FFF2-40B4-BE49-F238E27FC236}">
                <a16:creationId xmlns:a16="http://schemas.microsoft.com/office/drawing/2014/main" id="{80540782-D72A-26AD-D33B-BC4C2E7DA213}"/>
              </a:ext>
            </a:extLst>
          </p:cNvPr>
          <p:cNvSpPr txBox="1"/>
          <p:nvPr/>
        </p:nvSpPr>
        <p:spPr>
          <a:xfrm>
            <a:off x="925287" y="1474731"/>
            <a:ext cx="6117770" cy="584775"/>
          </a:xfrm>
          <a:prstGeom prst="rect">
            <a:avLst/>
          </a:prstGeom>
          <a:noFill/>
        </p:spPr>
        <p:txBody>
          <a:bodyPr wrap="square">
            <a:spAutoFit/>
          </a:bodyPr>
          <a:lstStyle/>
          <a:p>
            <a:pPr marL="0" indent="0">
              <a:buNone/>
            </a:pPr>
            <a:r>
              <a:rPr lang="zh-CN" altLang="en-US" sz="3200" dirty="0">
                <a:latin typeface="Arial Black" panose="020B0A04020102020204" pitchFamily="34" charset="0"/>
                <a:ea typeface="黑体" panose="02010609060101010101" pitchFamily="49" charset="-122"/>
              </a:rPr>
              <a:t>设计电路原理图</a:t>
            </a:r>
            <a:endParaRPr lang="en-US" altLang="zh-CN" sz="3200" dirty="0">
              <a:latin typeface="Arial Black" panose="020B0A04020102020204" pitchFamily="34" charset="0"/>
              <a:ea typeface="黑体" panose="02010609060101010101" pitchFamily="49" charset="-122"/>
            </a:endParaRPr>
          </a:p>
        </p:txBody>
      </p:sp>
    </p:spTree>
    <p:extLst>
      <p:ext uri="{BB962C8B-B14F-4D97-AF65-F5344CB8AC3E}">
        <p14:creationId xmlns:p14="http://schemas.microsoft.com/office/powerpoint/2010/main" val="157541812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C4E5B-5C1C-CDE0-E18B-62E944ED95CC}"/>
            </a:ext>
          </a:extLst>
        </p:cNvPr>
        <p:cNvGrpSpPr/>
        <p:nvPr/>
      </p:nvGrpSpPr>
      <p:grpSpPr>
        <a:xfrm>
          <a:off x="0" y="0"/>
          <a:ext cx="0" cy="0"/>
          <a:chOff x="0" y="0"/>
          <a:chExt cx="0" cy="0"/>
        </a:xfrm>
      </p:grpSpPr>
      <p:sp>
        <p:nvSpPr>
          <p:cNvPr id="16" name="文本框 15">
            <a:extLst>
              <a:ext uri="{FF2B5EF4-FFF2-40B4-BE49-F238E27FC236}">
                <a16:creationId xmlns:a16="http://schemas.microsoft.com/office/drawing/2014/main" id="{E06BD5B7-1E01-0087-1BEC-92299C2A7CA8}"/>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使用</a:t>
            </a:r>
            <a:r>
              <a:rPr lang="en-US" altLang="zh-CN" sz="4000" dirty="0">
                <a:solidFill>
                  <a:schemeClr val="accent1">
                    <a:lumMod val="75000"/>
                  </a:schemeClr>
                </a:solidFill>
                <a:latin typeface="Arial Black" panose="020B0A04020102020204" pitchFamily="34" charset="0"/>
                <a:ea typeface="黑体" panose="02010609060101010101" pitchFamily="49" charset="-122"/>
              </a:rPr>
              <a:t>AD</a:t>
            </a:r>
            <a:r>
              <a:rPr lang="zh-CN" altLang="en-US" sz="4000" dirty="0">
                <a:solidFill>
                  <a:schemeClr val="accent1">
                    <a:lumMod val="75000"/>
                  </a:schemeClr>
                </a:solidFill>
                <a:latin typeface="黑体" panose="02010609060101010101" pitchFamily="49" charset="-122"/>
                <a:ea typeface="黑体" panose="02010609060101010101" pitchFamily="49" charset="-122"/>
              </a:rPr>
              <a:t>设计电路原理图</a:t>
            </a:r>
            <a:endParaRPr lang="zh-CN" altLang="en-US" sz="4000" dirty="0">
              <a:solidFill>
                <a:srgbClr val="003F88"/>
              </a:solidFill>
              <a:latin typeface="黑体" panose="02010609060101010101" pitchFamily="49" charset="-122"/>
              <a:ea typeface="黑体" panose="02010609060101010101" pitchFamily="49" charset="-122"/>
            </a:endParaRPr>
          </a:p>
        </p:txBody>
      </p:sp>
      <p:sp>
        <p:nvSpPr>
          <p:cNvPr id="17" name="矩形 16">
            <a:extLst>
              <a:ext uri="{FF2B5EF4-FFF2-40B4-BE49-F238E27FC236}">
                <a16:creationId xmlns:a16="http://schemas.microsoft.com/office/drawing/2014/main" id="{73BA79EA-8076-B27F-ECFB-8EF5EA96C81B}"/>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内容占位符 2">
            <a:extLst>
              <a:ext uri="{FF2B5EF4-FFF2-40B4-BE49-F238E27FC236}">
                <a16:creationId xmlns:a16="http://schemas.microsoft.com/office/drawing/2014/main" id="{F0597E8B-928C-92A3-8C3C-50CD7F58FE7A}"/>
              </a:ext>
            </a:extLst>
          </p:cNvPr>
          <p:cNvSpPr>
            <a:spLocks noGrp="1"/>
          </p:cNvSpPr>
          <p:nvPr>
            <p:ph idx="1"/>
          </p:nvPr>
        </p:nvSpPr>
        <p:spPr>
          <a:xfrm>
            <a:off x="838201" y="2213552"/>
            <a:ext cx="5257800" cy="2039793"/>
          </a:xfrm>
        </p:spPr>
        <p:txBody>
          <a:bodyPr/>
          <a:lstStyle/>
          <a:p>
            <a:pPr marL="0" indent="0">
              <a:buNone/>
            </a:pPr>
            <a:r>
              <a:rPr lang="zh-CN" altLang="en-US" dirty="0">
                <a:latin typeface="Arial Black" panose="020B0A04020102020204" pitchFamily="34" charset="0"/>
                <a:ea typeface="黑体" panose="02010609060101010101" pitchFamily="49" charset="-122"/>
              </a:rPr>
              <a:t>★选择</a:t>
            </a:r>
            <a:r>
              <a:rPr lang="en-US" altLang="zh-CN" dirty="0">
                <a:latin typeface="Arial Black" panose="020B0A04020102020204" pitchFamily="34" charset="0"/>
                <a:ea typeface="黑体" panose="02010609060101010101" pitchFamily="49" charset="-122"/>
              </a:rPr>
              <a:t>”Place”</a:t>
            </a:r>
            <a:r>
              <a:rPr lang="zh-CN" altLang="en-US" dirty="0">
                <a:latin typeface="Arial Black" panose="020B0A04020102020204" pitchFamily="34" charset="0"/>
                <a:ea typeface="黑体" panose="02010609060101010101" pitchFamily="49" charset="-122"/>
              </a:rPr>
              <a:t>菜单下的</a:t>
            </a:r>
            <a:r>
              <a:rPr lang="en-US" altLang="zh-CN" dirty="0">
                <a:latin typeface="Arial Black" panose="020B0A04020102020204" pitchFamily="34" charset="0"/>
                <a:ea typeface="黑体" panose="02010609060101010101" pitchFamily="49" charset="-122"/>
              </a:rPr>
              <a:t>”Part”</a:t>
            </a:r>
          </a:p>
          <a:p>
            <a:pPr marL="0" indent="0">
              <a:buNone/>
            </a:pPr>
            <a:r>
              <a:rPr lang="zh-CN" altLang="en-US" dirty="0">
                <a:latin typeface="Arial Black" panose="020B0A04020102020204" pitchFamily="34" charset="0"/>
                <a:ea typeface="黑体" panose="02010609060101010101" pitchFamily="49" charset="-122"/>
              </a:rPr>
              <a:t>菜单弹出选择电路元件的对话框，</a:t>
            </a:r>
            <a:endParaRPr lang="en-US" altLang="zh-CN" dirty="0">
              <a:latin typeface="Arial Black" panose="020B0A04020102020204" pitchFamily="34" charset="0"/>
              <a:ea typeface="黑体" panose="02010609060101010101" pitchFamily="49" charset="-122"/>
            </a:endParaRPr>
          </a:p>
          <a:p>
            <a:pPr marL="0" indent="0">
              <a:buNone/>
            </a:pPr>
            <a:r>
              <a:rPr lang="zh-CN" altLang="en-US" dirty="0">
                <a:latin typeface="Arial Black" panose="020B0A04020102020204" pitchFamily="34" charset="0"/>
                <a:ea typeface="黑体" panose="02010609060101010101" pitchFamily="49" charset="-122"/>
              </a:rPr>
              <a:t>可放置各种电路元件。</a:t>
            </a:r>
          </a:p>
        </p:txBody>
      </p:sp>
      <p:pic>
        <p:nvPicPr>
          <p:cNvPr id="9" name="图片 8">
            <a:extLst>
              <a:ext uri="{FF2B5EF4-FFF2-40B4-BE49-F238E27FC236}">
                <a16:creationId xmlns:a16="http://schemas.microsoft.com/office/drawing/2014/main" id="{908ADA90-83E5-0319-1ED0-ED612359EBB9}"/>
              </a:ext>
            </a:extLst>
          </p:cNvPr>
          <p:cNvPicPr>
            <a:picLocks noChangeAspect="1"/>
          </p:cNvPicPr>
          <p:nvPr/>
        </p:nvPicPr>
        <p:blipFill>
          <a:blip r:embed="rId2"/>
          <a:stretch>
            <a:fillRect/>
          </a:stretch>
        </p:blipFill>
        <p:spPr>
          <a:xfrm>
            <a:off x="838201" y="3865418"/>
            <a:ext cx="5063836" cy="2901399"/>
          </a:xfrm>
          <a:prstGeom prst="rect">
            <a:avLst/>
          </a:prstGeom>
        </p:spPr>
      </p:pic>
      <p:pic>
        <p:nvPicPr>
          <p:cNvPr id="11" name="图片 10">
            <a:extLst>
              <a:ext uri="{FF2B5EF4-FFF2-40B4-BE49-F238E27FC236}">
                <a16:creationId xmlns:a16="http://schemas.microsoft.com/office/drawing/2014/main" id="{A7288B45-50A9-D884-A98E-4970FEFD5BEC}"/>
              </a:ext>
            </a:extLst>
          </p:cNvPr>
          <p:cNvPicPr>
            <a:picLocks noChangeAspect="1"/>
          </p:cNvPicPr>
          <p:nvPr/>
        </p:nvPicPr>
        <p:blipFill>
          <a:blip r:embed="rId3"/>
          <a:stretch>
            <a:fillRect/>
          </a:stretch>
        </p:blipFill>
        <p:spPr>
          <a:xfrm>
            <a:off x="6096000" y="1241280"/>
            <a:ext cx="5715000" cy="5248275"/>
          </a:xfrm>
          <a:prstGeom prst="rect">
            <a:avLst/>
          </a:prstGeom>
        </p:spPr>
      </p:pic>
      <p:sp>
        <p:nvSpPr>
          <p:cNvPr id="12" name="矩形: 圆角 11">
            <a:extLst>
              <a:ext uri="{FF2B5EF4-FFF2-40B4-BE49-F238E27FC236}">
                <a16:creationId xmlns:a16="http://schemas.microsoft.com/office/drawing/2014/main" id="{4775FE6D-F93F-31C5-BB88-C43D07BB3E96}"/>
              </a:ext>
            </a:extLst>
          </p:cNvPr>
          <p:cNvSpPr/>
          <p:nvPr/>
        </p:nvSpPr>
        <p:spPr>
          <a:xfrm>
            <a:off x="3522520" y="4128656"/>
            <a:ext cx="509153" cy="304799"/>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12">
            <a:extLst>
              <a:ext uri="{FF2B5EF4-FFF2-40B4-BE49-F238E27FC236}">
                <a16:creationId xmlns:a16="http://schemas.microsoft.com/office/drawing/2014/main" id="{4CCA8A16-FF7B-8090-3562-8493D8747AB8}"/>
              </a:ext>
            </a:extLst>
          </p:cNvPr>
          <p:cNvSpPr/>
          <p:nvPr/>
        </p:nvSpPr>
        <p:spPr>
          <a:xfrm>
            <a:off x="3564080" y="5056910"/>
            <a:ext cx="1381993" cy="304799"/>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0341EF90-44E7-6B72-0C03-B63576819693}"/>
              </a:ext>
            </a:extLst>
          </p:cNvPr>
          <p:cNvSpPr txBox="1"/>
          <p:nvPr/>
        </p:nvSpPr>
        <p:spPr>
          <a:xfrm>
            <a:off x="9247908" y="3808411"/>
            <a:ext cx="1283609" cy="414632"/>
          </a:xfrm>
          <a:prstGeom prst="rect">
            <a:avLst/>
          </a:prstGeom>
          <a:solidFill>
            <a:schemeClr val="bg1">
              <a:lumMod val="95000"/>
            </a:schemeClr>
          </a:solidFill>
        </p:spPr>
        <p:txBody>
          <a:bodyPr wrap="square" rtlCol="0">
            <a:spAutoFit/>
          </a:bodyPr>
          <a:lstStyle/>
          <a:p>
            <a:pPr algn="ctr"/>
            <a:r>
              <a:rPr lang="zh-CN" altLang="en-US" sz="2000" dirty="0">
                <a:solidFill>
                  <a:srgbClr val="FF0000"/>
                </a:solidFill>
                <a:latin typeface="黑体" panose="02010609060101010101" pitchFamily="49" charset="-122"/>
                <a:ea typeface="黑体" panose="02010609060101010101" pitchFamily="49" charset="-122"/>
              </a:rPr>
              <a:t>元件封装</a:t>
            </a:r>
          </a:p>
        </p:txBody>
      </p:sp>
      <p:sp>
        <p:nvSpPr>
          <p:cNvPr id="18" name="文本框 17">
            <a:extLst>
              <a:ext uri="{FF2B5EF4-FFF2-40B4-BE49-F238E27FC236}">
                <a16:creationId xmlns:a16="http://schemas.microsoft.com/office/drawing/2014/main" id="{F839B104-9076-2965-549E-AE3C130A6135}"/>
              </a:ext>
            </a:extLst>
          </p:cNvPr>
          <p:cNvSpPr txBox="1"/>
          <p:nvPr/>
        </p:nvSpPr>
        <p:spPr>
          <a:xfrm>
            <a:off x="8442103" y="2995913"/>
            <a:ext cx="2502809" cy="369332"/>
          </a:xfrm>
          <a:prstGeom prst="rect">
            <a:avLst/>
          </a:prstGeom>
          <a:solidFill>
            <a:schemeClr val="bg1">
              <a:lumMod val="95000"/>
            </a:schemeClr>
          </a:solidFill>
        </p:spPr>
        <p:txBody>
          <a:bodyPr wrap="square">
            <a:spAutoFit/>
          </a:bodyPr>
          <a:lstStyle/>
          <a:p>
            <a:pPr algn="ctr"/>
            <a:r>
              <a:rPr lang="zh-CN" altLang="en-US" sz="1800" dirty="0">
                <a:solidFill>
                  <a:srgbClr val="FF0000"/>
                </a:solidFill>
                <a:latin typeface="黑体" panose="02010609060101010101" pitchFamily="49" charset="-122"/>
                <a:ea typeface="黑体" panose="02010609060101010101" pitchFamily="49" charset="-122"/>
              </a:rPr>
              <a:t>元件标识名，不能重名</a:t>
            </a:r>
            <a:endParaRPr lang="en-US" altLang="zh-CN" sz="1800" dirty="0">
              <a:solidFill>
                <a:srgbClr val="FF0000"/>
              </a:solidFill>
              <a:latin typeface="黑体" panose="02010609060101010101" pitchFamily="49" charset="-122"/>
              <a:ea typeface="黑体" panose="02010609060101010101" pitchFamily="49" charset="-122"/>
            </a:endParaRPr>
          </a:p>
        </p:txBody>
      </p:sp>
      <p:sp>
        <p:nvSpPr>
          <p:cNvPr id="20" name="文本框 19">
            <a:extLst>
              <a:ext uri="{FF2B5EF4-FFF2-40B4-BE49-F238E27FC236}">
                <a16:creationId xmlns:a16="http://schemas.microsoft.com/office/drawing/2014/main" id="{C5E569D2-7AA6-3726-49E1-910A5D145C7E}"/>
              </a:ext>
            </a:extLst>
          </p:cNvPr>
          <p:cNvSpPr txBox="1"/>
          <p:nvPr/>
        </p:nvSpPr>
        <p:spPr>
          <a:xfrm>
            <a:off x="8953500" y="2189274"/>
            <a:ext cx="933978" cy="369332"/>
          </a:xfrm>
          <a:prstGeom prst="rect">
            <a:avLst/>
          </a:prstGeom>
          <a:solidFill>
            <a:schemeClr val="bg1">
              <a:lumMod val="95000"/>
            </a:schemeClr>
          </a:solidFill>
        </p:spPr>
        <p:txBody>
          <a:bodyPr wrap="square">
            <a:spAutoFit/>
          </a:bodyPr>
          <a:lstStyle/>
          <a:p>
            <a:pPr algn="ctr"/>
            <a:r>
              <a:rPr lang="zh-CN" altLang="en-US" sz="1800" dirty="0">
                <a:solidFill>
                  <a:srgbClr val="FF0000"/>
                </a:solidFill>
                <a:latin typeface="黑体" panose="02010609060101010101" pitchFamily="49" charset="-122"/>
                <a:ea typeface="黑体" panose="02010609060101010101" pitchFamily="49" charset="-122"/>
              </a:rPr>
              <a:t>元件名</a:t>
            </a:r>
            <a:endParaRPr lang="en-US" altLang="zh-CN" sz="1800" dirty="0">
              <a:solidFill>
                <a:srgbClr val="FF0000"/>
              </a:solidFill>
              <a:latin typeface="黑体" panose="02010609060101010101" pitchFamily="49" charset="-122"/>
              <a:ea typeface="黑体" panose="02010609060101010101" pitchFamily="49" charset="-122"/>
            </a:endParaRPr>
          </a:p>
        </p:txBody>
      </p:sp>
      <p:sp>
        <p:nvSpPr>
          <p:cNvPr id="22" name="文本框 21">
            <a:extLst>
              <a:ext uri="{FF2B5EF4-FFF2-40B4-BE49-F238E27FC236}">
                <a16:creationId xmlns:a16="http://schemas.microsoft.com/office/drawing/2014/main" id="{51BF3009-3E5B-8C02-F907-DA17F838639B}"/>
              </a:ext>
            </a:extLst>
          </p:cNvPr>
          <p:cNvSpPr txBox="1"/>
          <p:nvPr/>
        </p:nvSpPr>
        <p:spPr>
          <a:xfrm>
            <a:off x="8971514" y="3411450"/>
            <a:ext cx="1163781" cy="369329"/>
          </a:xfrm>
          <a:prstGeom prst="rect">
            <a:avLst/>
          </a:prstGeom>
          <a:solidFill>
            <a:schemeClr val="bg1">
              <a:lumMod val="95000"/>
            </a:schemeClr>
          </a:solidFill>
        </p:spPr>
        <p:txBody>
          <a:bodyPr wrap="square">
            <a:spAutoFit/>
          </a:bodyPr>
          <a:lstStyle/>
          <a:p>
            <a:pPr algn="ctr"/>
            <a:r>
              <a:rPr lang="zh-CN" altLang="en-US" sz="1800" dirty="0">
                <a:solidFill>
                  <a:srgbClr val="FF0000"/>
                </a:solidFill>
                <a:latin typeface="黑体" panose="02010609060101010101" pitchFamily="49" charset="-122"/>
                <a:ea typeface="黑体" panose="02010609060101010101" pitchFamily="49" charset="-122"/>
              </a:rPr>
              <a:t>元件参数</a:t>
            </a:r>
            <a:endParaRPr lang="en-US" altLang="zh-CN" sz="1800" dirty="0">
              <a:solidFill>
                <a:srgbClr val="FF0000"/>
              </a:solidFill>
              <a:latin typeface="黑体" panose="02010609060101010101" pitchFamily="49" charset="-122"/>
              <a:ea typeface="黑体" panose="02010609060101010101" pitchFamily="49" charset="-122"/>
            </a:endParaRPr>
          </a:p>
        </p:txBody>
      </p:sp>
      <p:sp>
        <p:nvSpPr>
          <p:cNvPr id="23" name="对话气泡: 圆角矩形 22">
            <a:extLst>
              <a:ext uri="{FF2B5EF4-FFF2-40B4-BE49-F238E27FC236}">
                <a16:creationId xmlns:a16="http://schemas.microsoft.com/office/drawing/2014/main" id="{CA67CE03-287C-F72F-C997-5321BE7B23DF}"/>
              </a:ext>
            </a:extLst>
          </p:cNvPr>
          <p:cNvSpPr/>
          <p:nvPr/>
        </p:nvSpPr>
        <p:spPr>
          <a:xfrm>
            <a:off x="8784477" y="656934"/>
            <a:ext cx="2701636" cy="449409"/>
          </a:xfrm>
          <a:prstGeom prst="wedgeRoundRectCallout">
            <a:avLst>
              <a:gd name="adj1" fmla="val 38141"/>
              <a:gd name="adj2" fmla="val 297674"/>
              <a:gd name="adj3" fmla="val 16667"/>
            </a:avLst>
          </a:prstGeom>
          <a:solidFill>
            <a:schemeClr val="bg1">
              <a:lumMod val="95000"/>
            </a:scheme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FF0000"/>
                </a:solidFill>
              </a:rPr>
              <a:t>点击选择元件库和元件</a:t>
            </a:r>
          </a:p>
        </p:txBody>
      </p:sp>
      <p:sp>
        <p:nvSpPr>
          <p:cNvPr id="19" name="文本框 18">
            <a:extLst>
              <a:ext uri="{FF2B5EF4-FFF2-40B4-BE49-F238E27FC236}">
                <a16:creationId xmlns:a16="http://schemas.microsoft.com/office/drawing/2014/main" id="{1F5D2B2D-CC2D-5FAA-418F-2949D135CF31}"/>
              </a:ext>
            </a:extLst>
          </p:cNvPr>
          <p:cNvSpPr txBox="1"/>
          <p:nvPr/>
        </p:nvSpPr>
        <p:spPr>
          <a:xfrm>
            <a:off x="925287" y="1474731"/>
            <a:ext cx="6117770" cy="584775"/>
          </a:xfrm>
          <a:prstGeom prst="rect">
            <a:avLst/>
          </a:prstGeom>
          <a:noFill/>
        </p:spPr>
        <p:txBody>
          <a:bodyPr wrap="square">
            <a:spAutoFit/>
          </a:bodyPr>
          <a:lstStyle/>
          <a:p>
            <a:pPr marL="0" indent="0">
              <a:buNone/>
            </a:pPr>
            <a:r>
              <a:rPr lang="zh-CN" altLang="en-US" sz="3200" dirty="0">
                <a:latin typeface="Arial Black" panose="020B0A04020102020204" pitchFamily="34" charset="0"/>
                <a:ea typeface="黑体" panose="02010609060101010101" pitchFamily="49" charset="-122"/>
              </a:rPr>
              <a:t>设计电路原理图</a:t>
            </a:r>
            <a:endParaRPr lang="en-US" altLang="zh-CN" sz="3200" dirty="0">
              <a:latin typeface="Arial Black" panose="020B0A04020102020204" pitchFamily="34" charset="0"/>
              <a:ea typeface="黑体" panose="02010609060101010101" pitchFamily="49" charset="-122"/>
            </a:endParaRPr>
          </a:p>
        </p:txBody>
      </p:sp>
    </p:spTree>
    <p:extLst>
      <p:ext uri="{BB962C8B-B14F-4D97-AF65-F5344CB8AC3E}">
        <p14:creationId xmlns:p14="http://schemas.microsoft.com/office/powerpoint/2010/main" val="200782198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C4E5B-5C1C-CDE0-E18B-62E944ED95CC}"/>
            </a:ext>
          </a:extLst>
        </p:cNvPr>
        <p:cNvGrpSpPr/>
        <p:nvPr/>
      </p:nvGrpSpPr>
      <p:grpSpPr>
        <a:xfrm>
          <a:off x="0" y="0"/>
          <a:ext cx="0" cy="0"/>
          <a:chOff x="0" y="0"/>
          <a:chExt cx="0" cy="0"/>
        </a:xfrm>
      </p:grpSpPr>
      <p:sp>
        <p:nvSpPr>
          <p:cNvPr id="13" name="文本框 12">
            <a:extLst>
              <a:ext uri="{FF2B5EF4-FFF2-40B4-BE49-F238E27FC236}">
                <a16:creationId xmlns:a16="http://schemas.microsoft.com/office/drawing/2014/main" id="{0BC4B36C-12A7-69A0-4318-9128F580D01F}"/>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使用</a:t>
            </a:r>
            <a:r>
              <a:rPr lang="en-US" altLang="zh-CN" sz="4000" dirty="0">
                <a:solidFill>
                  <a:schemeClr val="accent1">
                    <a:lumMod val="75000"/>
                  </a:schemeClr>
                </a:solidFill>
                <a:latin typeface="Arial Black" panose="020B0A04020102020204" pitchFamily="34" charset="0"/>
                <a:ea typeface="黑体" panose="02010609060101010101" pitchFamily="49" charset="-122"/>
              </a:rPr>
              <a:t>AD</a:t>
            </a:r>
            <a:r>
              <a:rPr lang="zh-CN" altLang="en-US" sz="4000" dirty="0">
                <a:solidFill>
                  <a:schemeClr val="accent1">
                    <a:lumMod val="75000"/>
                  </a:schemeClr>
                </a:solidFill>
                <a:latin typeface="黑体" panose="02010609060101010101" pitchFamily="49" charset="-122"/>
                <a:ea typeface="黑体" panose="02010609060101010101" pitchFamily="49" charset="-122"/>
              </a:rPr>
              <a:t>设计电路原理图</a:t>
            </a:r>
            <a:endParaRPr lang="zh-CN" altLang="en-US" sz="4000" dirty="0">
              <a:solidFill>
                <a:srgbClr val="003F88"/>
              </a:solidFill>
              <a:latin typeface="黑体" panose="02010609060101010101" pitchFamily="49" charset="-122"/>
              <a:ea typeface="黑体" panose="02010609060101010101" pitchFamily="49" charset="-122"/>
            </a:endParaRPr>
          </a:p>
        </p:txBody>
      </p:sp>
      <p:sp>
        <p:nvSpPr>
          <p:cNvPr id="15" name="矩形 14">
            <a:extLst>
              <a:ext uri="{FF2B5EF4-FFF2-40B4-BE49-F238E27FC236}">
                <a16:creationId xmlns:a16="http://schemas.microsoft.com/office/drawing/2014/main" id="{0C84F90A-E71B-F69F-3F35-0D557BEA8D2E}"/>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内容占位符 2">
            <a:extLst>
              <a:ext uri="{FF2B5EF4-FFF2-40B4-BE49-F238E27FC236}">
                <a16:creationId xmlns:a16="http://schemas.microsoft.com/office/drawing/2014/main" id="{F0597E8B-928C-92A3-8C3C-50CD7F58FE7A}"/>
              </a:ext>
            </a:extLst>
          </p:cNvPr>
          <p:cNvSpPr>
            <a:spLocks noGrp="1"/>
          </p:cNvSpPr>
          <p:nvPr>
            <p:ph idx="1"/>
          </p:nvPr>
        </p:nvSpPr>
        <p:spPr>
          <a:xfrm>
            <a:off x="838200" y="2436618"/>
            <a:ext cx="5257800" cy="2039793"/>
          </a:xfrm>
        </p:spPr>
        <p:txBody>
          <a:bodyPr/>
          <a:lstStyle/>
          <a:p>
            <a:pPr marL="0" indent="0">
              <a:buNone/>
            </a:pPr>
            <a:r>
              <a:rPr lang="zh-CN" altLang="en-US" dirty="0">
                <a:latin typeface="Arial Black" panose="020B0A04020102020204" pitchFamily="34" charset="0"/>
                <a:ea typeface="黑体" panose="02010609060101010101" pitchFamily="49" charset="-122"/>
              </a:rPr>
              <a:t>★选择</a:t>
            </a:r>
            <a:r>
              <a:rPr lang="en-US" altLang="zh-CN" dirty="0">
                <a:latin typeface="Arial Black" panose="020B0A04020102020204" pitchFamily="34" charset="0"/>
                <a:ea typeface="黑体" panose="02010609060101010101" pitchFamily="49" charset="-122"/>
              </a:rPr>
              <a:t>”Place”</a:t>
            </a:r>
            <a:r>
              <a:rPr lang="zh-CN" altLang="en-US" dirty="0">
                <a:latin typeface="Arial Black" panose="020B0A04020102020204" pitchFamily="34" charset="0"/>
                <a:ea typeface="黑体" panose="02010609060101010101" pitchFamily="49" charset="-122"/>
              </a:rPr>
              <a:t>菜单下的</a:t>
            </a:r>
            <a:r>
              <a:rPr lang="en-US" altLang="zh-CN" dirty="0">
                <a:latin typeface="Arial Black" panose="020B0A04020102020204" pitchFamily="34" charset="0"/>
                <a:ea typeface="黑体" panose="02010609060101010101" pitchFamily="49" charset="-122"/>
              </a:rPr>
              <a:t>”Part”</a:t>
            </a:r>
          </a:p>
          <a:p>
            <a:pPr marL="0" indent="0">
              <a:buNone/>
            </a:pPr>
            <a:r>
              <a:rPr lang="zh-CN" altLang="en-US" dirty="0">
                <a:latin typeface="Arial Black" panose="020B0A04020102020204" pitchFamily="34" charset="0"/>
                <a:ea typeface="黑体" panose="02010609060101010101" pitchFamily="49" charset="-122"/>
              </a:rPr>
              <a:t>菜单弹出选择电路元件的对话框，</a:t>
            </a:r>
            <a:endParaRPr lang="en-US" altLang="zh-CN" dirty="0">
              <a:latin typeface="Arial Black" panose="020B0A04020102020204" pitchFamily="34" charset="0"/>
              <a:ea typeface="黑体" panose="02010609060101010101" pitchFamily="49" charset="-122"/>
            </a:endParaRPr>
          </a:p>
          <a:p>
            <a:pPr marL="0" indent="0">
              <a:buNone/>
            </a:pPr>
            <a:r>
              <a:rPr lang="zh-CN" altLang="en-US" dirty="0">
                <a:latin typeface="Arial Black" panose="020B0A04020102020204" pitchFamily="34" charset="0"/>
                <a:ea typeface="黑体" panose="02010609060101010101" pitchFamily="49" charset="-122"/>
              </a:rPr>
              <a:t>可放置各种电路元件。</a:t>
            </a:r>
          </a:p>
        </p:txBody>
      </p:sp>
      <p:pic>
        <p:nvPicPr>
          <p:cNvPr id="11" name="图片 10">
            <a:extLst>
              <a:ext uri="{FF2B5EF4-FFF2-40B4-BE49-F238E27FC236}">
                <a16:creationId xmlns:a16="http://schemas.microsoft.com/office/drawing/2014/main" id="{A7288B45-50A9-D884-A98E-4970FEFD5BEC}"/>
              </a:ext>
            </a:extLst>
          </p:cNvPr>
          <p:cNvPicPr>
            <a:picLocks noChangeAspect="1"/>
          </p:cNvPicPr>
          <p:nvPr/>
        </p:nvPicPr>
        <p:blipFill>
          <a:blip r:embed="rId2"/>
          <a:stretch>
            <a:fillRect/>
          </a:stretch>
        </p:blipFill>
        <p:spPr>
          <a:xfrm>
            <a:off x="6096000" y="1241280"/>
            <a:ext cx="5715000" cy="5248275"/>
          </a:xfrm>
          <a:prstGeom prst="rect">
            <a:avLst/>
          </a:prstGeom>
        </p:spPr>
      </p:pic>
      <p:sp>
        <p:nvSpPr>
          <p:cNvPr id="14" name="文本框 13">
            <a:extLst>
              <a:ext uri="{FF2B5EF4-FFF2-40B4-BE49-F238E27FC236}">
                <a16:creationId xmlns:a16="http://schemas.microsoft.com/office/drawing/2014/main" id="{0341EF90-44E7-6B72-0C03-B63576819693}"/>
              </a:ext>
            </a:extLst>
          </p:cNvPr>
          <p:cNvSpPr txBox="1"/>
          <p:nvPr/>
        </p:nvSpPr>
        <p:spPr>
          <a:xfrm>
            <a:off x="9247908" y="3808411"/>
            <a:ext cx="1283609" cy="414632"/>
          </a:xfrm>
          <a:prstGeom prst="rect">
            <a:avLst/>
          </a:prstGeom>
          <a:solidFill>
            <a:schemeClr val="bg1">
              <a:lumMod val="95000"/>
            </a:schemeClr>
          </a:solidFill>
        </p:spPr>
        <p:txBody>
          <a:bodyPr wrap="square" rtlCol="0">
            <a:spAutoFit/>
          </a:bodyPr>
          <a:lstStyle/>
          <a:p>
            <a:pPr algn="ctr"/>
            <a:r>
              <a:rPr lang="zh-CN" altLang="en-US" sz="2000" dirty="0">
                <a:solidFill>
                  <a:srgbClr val="FF0000"/>
                </a:solidFill>
                <a:latin typeface="黑体" panose="02010609060101010101" pitchFamily="49" charset="-122"/>
                <a:ea typeface="黑体" panose="02010609060101010101" pitchFamily="49" charset="-122"/>
              </a:rPr>
              <a:t>元件封装</a:t>
            </a:r>
          </a:p>
        </p:txBody>
      </p:sp>
      <p:sp>
        <p:nvSpPr>
          <p:cNvPr id="18" name="文本框 17">
            <a:extLst>
              <a:ext uri="{FF2B5EF4-FFF2-40B4-BE49-F238E27FC236}">
                <a16:creationId xmlns:a16="http://schemas.microsoft.com/office/drawing/2014/main" id="{F839B104-9076-2965-549E-AE3C130A6135}"/>
              </a:ext>
            </a:extLst>
          </p:cNvPr>
          <p:cNvSpPr txBox="1"/>
          <p:nvPr/>
        </p:nvSpPr>
        <p:spPr>
          <a:xfrm>
            <a:off x="8442103" y="2995913"/>
            <a:ext cx="2502809" cy="369332"/>
          </a:xfrm>
          <a:prstGeom prst="rect">
            <a:avLst/>
          </a:prstGeom>
          <a:solidFill>
            <a:schemeClr val="bg1">
              <a:lumMod val="95000"/>
            </a:schemeClr>
          </a:solidFill>
        </p:spPr>
        <p:txBody>
          <a:bodyPr wrap="square">
            <a:spAutoFit/>
          </a:bodyPr>
          <a:lstStyle/>
          <a:p>
            <a:pPr algn="ctr"/>
            <a:r>
              <a:rPr lang="zh-CN" altLang="en-US" sz="1800" dirty="0">
                <a:solidFill>
                  <a:srgbClr val="FF0000"/>
                </a:solidFill>
                <a:latin typeface="黑体" panose="02010609060101010101" pitchFamily="49" charset="-122"/>
                <a:ea typeface="黑体" panose="02010609060101010101" pitchFamily="49" charset="-122"/>
              </a:rPr>
              <a:t>元件标识名，不能重名</a:t>
            </a:r>
            <a:endParaRPr lang="en-US" altLang="zh-CN" sz="1800" dirty="0">
              <a:solidFill>
                <a:srgbClr val="FF0000"/>
              </a:solidFill>
              <a:latin typeface="黑体" panose="02010609060101010101" pitchFamily="49" charset="-122"/>
              <a:ea typeface="黑体" panose="02010609060101010101" pitchFamily="49" charset="-122"/>
            </a:endParaRPr>
          </a:p>
        </p:txBody>
      </p:sp>
      <p:sp>
        <p:nvSpPr>
          <p:cNvPr id="20" name="文本框 19">
            <a:extLst>
              <a:ext uri="{FF2B5EF4-FFF2-40B4-BE49-F238E27FC236}">
                <a16:creationId xmlns:a16="http://schemas.microsoft.com/office/drawing/2014/main" id="{C5E569D2-7AA6-3726-49E1-910A5D145C7E}"/>
              </a:ext>
            </a:extLst>
          </p:cNvPr>
          <p:cNvSpPr txBox="1"/>
          <p:nvPr/>
        </p:nvSpPr>
        <p:spPr>
          <a:xfrm>
            <a:off x="8953500" y="2189274"/>
            <a:ext cx="933978" cy="369332"/>
          </a:xfrm>
          <a:prstGeom prst="rect">
            <a:avLst/>
          </a:prstGeom>
          <a:solidFill>
            <a:schemeClr val="bg1">
              <a:lumMod val="95000"/>
            </a:schemeClr>
          </a:solidFill>
        </p:spPr>
        <p:txBody>
          <a:bodyPr wrap="square">
            <a:spAutoFit/>
          </a:bodyPr>
          <a:lstStyle/>
          <a:p>
            <a:pPr algn="ctr"/>
            <a:r>
              <a:rPr lang="zh-CN" altLang="en-US" sz="1800" dirty="0">
                <a:solidFill>
                  <a:srgbClr val="FF0000"/>
                </a:solidFill>
                <a:latin typeface="黑体" panose="02010609060101010101" pitchFamily="49" charset="-122"/>
                <a:ea typeface="黑体" panose="02010609060101010101" pitchFamily="49" charset="-122"/>
              </a:rPr>
              <a:t>元件名</a:t>
            </a:r>
            <a:endParaRPr lang="en-US" altLang="zh-CN" sz="1800" dirty="0">
              <a:solidFill>
                <a:srgbClr val="FF0000"/>
              </a:solidFill>
              <a:latin typeface="黑体" panose="02010609060101010101" pitchFamily="49" charset="-122"/>
              <a:ea typeface="黑体" panose="02010609060101010101" pitchFamily="49" charset="-122"/>
            </a:endParaRPr>
          </a:p>
        </p:txBody>
      </p:sp>
      <p:sp>
        <p:nvSpPr>
          <p:cNvPr id="22" name="文本框 21">
            <a:extLst>
              <a:ext uri="{FF2B5EF4-FFF2-40B4-BE49-F238E27FC236}">
                <a16:creationId xmlns:a16="http://schemas.microsoft.com/office/drawing/2014/main" id="{51BF3009-3E5B-8C02-F907-DA17F838639B}"/>
              </a:ext>
            </a:extLst>
          </p:cNvPr>
          <p:cNvSpPr txBox="1"/>
          <p:nvPr/>
        </p:nvSpPr>
        <p:spPr>
          <a:xfrm>
            <a:off x="8971514" y="3411450"/>
            <a:ext cx="1163781" cy="369329"/>
          </a:xfrm>
          <a:prstGeom prst="rect">
            <a:avLst/>
          </a:prstGeom>
          <a:solidFill>
            <a:schemeClr val="bg1">
              <a:lumMod val="95000"/>
            </a:schemeClr>
          </a:solidFill>
        </p:spPr>
        <p:txBody>
          <a:bodyPr wrap="square">
            <a:spAutoFit/>
          </a:bodyPr>
          <a:lstStyle/>
          <a:p>
            <a:pPr algn="ctr"/>
            <a:r>
              <a:rPr lang="zh-CN" altLang="en-US" sz="1800" dirty="0">
                <a:solidFill>
                  <a:srgbClr val="FF0000"/>
                </a:solidFill>
                <a:latin typeface="黑体" panose="02010609060101010101" pitchFamily="49" charset="-122"/>
                <a:ea typeface="黑体" panose="02010609060101010101" pitchFamily="49" charset="-122"/>
              </a:rPr>
              <a:t>元件参数</a:t>
            </a:r>
            <a:endParaRPr lang="en-US" altLang="zh-CN" sz="1800" dirty="0">
              <a:solidFill>
                <a:srgbClr val="FF0000"/>
              </a:solidFill>
              <a:latin typeface="黑体" panose="02010609060101010101" pitchFamily="49" charset="-122"/>
              <a:ea typeface="黑体" panose="02010609060101010101" pitchFamily="49" charset="-122"/>
            </a:endParaRPr>
          </a:p>
        </p:txBody>
      </p:sp>
      <p:sp>
        <p:nvSpPr>
          <p:cNvPr id="23" name="对话气泡: 圆角矩形 22">
            <a:extLst>
              <a:ext uri="{FF2B5EF4-FFF2-40B4-BE49-F238E27FC236}">
                <a16:creationId xmlns:a16="http://schemas.microsoft.com/office/drawing/2014/main" id="{CA67CE03-287C-F72F-C997-5321BE7B23DF}"/>
              </a:ext>
            </a:extLst>
          </p:cNvPr>
          <p:cNvSpPr/>
          <p:nvPr/>
        </p:nvSpPr>
        <p:spPr>
          <a:xfrm>
            <a:off x="8784477" y="656934"/>
            <a:ext cx="2701636" cy="449409"/>
          </a:xfrm>
          <a:prstGeom prst="wedgeRoundRectCallout">
            <a:avLst>
              <a:gd name="adj1" fmla="val 38141"/>
              <a:gd name="adj2" fmla="val 297674"/>
              <a:gd name="adj3" fmla="val 16667"/>
            </a:avLst>
          </a:prstGeom>
          <a:solidFill>
            <a:schemeClr val="bg1">
              <a:lumMod val="95000"/>
            </a:scheme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FF0000"/>
                </a:solidFill>
              </a:rPr>
              <a:t>点击选择</a:t>
            </a:r>
            <a:r>
              <a:rPr lang="zh-CN" altLang="en-US" b="1" dirty="0">
                <a:solidFill>
                  <a:srgbClr val="FF0000"/>
                </a:solidFill>
                <a:effectLst>
                  <a:outerShdw blurRad="38100" dist="38100" dir="2700000" algn="tl">
                    <a:srgbClr val="000000">
                      <a:alpha val="43137"/>
                    </a:srgbClr>
                  </a:outerShdw>
                </a:effectLst>
                <a:highlight>
                  <a:srgbClr val="FFFF00"/>
                </a:highlight>
              </a:rPr>
              <a:t>元件库</a:t>
            </a:r>
            <a:r>
              <a:rPr lang="zh-CN" altLang="en-US" b="1" dirty="0">
                <a:solidFill>
                  <a:srgbClr val="FF0000"/>
                </a:solidFill>
              </a:rPr>
              <a:t>和元件</a:t>
            </a:r>
          </a:p>
        </p:txBody>
      </p:sp>
      <p:sp>
        <p:nvSpPr>
          <p:cNvPr id="10" name="文本框 9">
            <a:extLst>
              <a:ext uri="{FF2B5EF4-FFF2-40B4-BE49-F238E27FC236}">
                <a16:creationId xmlns:a16="http://schemas.microsoft.com/office/drawing/2014/main" id="{97E721C4-2232-EC81-1626-70AA510C7768}"/>
              </a:ext>
            </a:extLst>
          </p:cNvPr>
          <p:cNvSpPr txBox="1"/>
          <p:nvPr/>
        </p:nvSpPr>
        <p:spPr>
          <a:xfrm>
            <a:off x="838200" y="4421382"/>
            <a:ext cx="5133109" cy="1255728"/>
          </a:xfrm>
          <a:prstGeom prst="rect">
            <a:avLst/>
          </a:prstGeom>
          <a:noFill/>
        </p:spPr>
        <p:txBody>
          <a:bodyPr wrap="square">
            <a:spAutoFit/>
          </a:bodyPr>
          <a:lstStyle/>
          <a:p>
            <a:pPr>
              <a:lnSpc>
                <a:spcPct val="90000"/>
              </a:lnSpc>
              <a:spcBef>
                <a:spcPts val="1000"/>
              </a:spcBef>
            </a:pPr>
            <a:r>
              <a:rPr lang="zh-CN" altLang="en-US" sz="2800" dirty="0">
                <a:solidFill>
                  <a:srgbClr val="FF0000"/>
                </a:solidFill>
                <a:latin typeface="黑体" panose="02010609060101010101" pitchFamily="49" charset="-122"/>
                <a:ea typeface="黑体" panose="02010609060101010101" pitchFamily="49" charset="-122"/>
              </a:rPr>
              <a:t>注意：一张图纸中元件标识名是唯一的，不可以存在相同的元件标识名。</a:t>
            </a:r>
          </a:p>
        </p:txBody>
      </p:sp>
      <p:sp>
        <p:nvSpPr>
          <p:cNvPr id="16" name="文本框 15">
            <a:extLst>
              <a:ext uri="{FF2B5EF4-FFF2-40B4-BE49-F238E27FC236}">
                <a16:creationId xmlns:a16="http://schemas.microsoft.com/office/drawing/2014/main" id="{6D48DB57-82F8-B9AB-3613-74F163A1C37E}"/>
              </a:ext>
            </a:extLst>
          </p:cNvPr>
          <p:cNvSpPr txBox="1"/>
          <p:nvPr/>
        </p:nvSpPr>
        <p:spPr>
          <a:xfrm>
            <a:off x="925287" y="1474731"/>
            <a:ext cx="6117770" cy="584775"/>
          </a:xfrm>
          <a:prstGeom prst="rect">
            <a:avLst/>
          </a:prstGeom>
          <a:noFill/>
        </p:spPr>
        <p:txBody>
          <a:bodyPr wrap="square">
            <a:spAutoFit/>
          </a:bodyPr>
          <a:lstStyle/>
          <a:p>
            <a:pPr marL="0" indent="0">
              <a:buNone/>
            </a:pPr>
            <a:r>
              <a:rPr lang="zh-CN" altLang="en-US" sz="3200" dirty="0">
                <a:latin typeface="Arial Black" panose="020B0A04020102020204" pitchFamily="34" charset="0"/>
                <a:ea typeface="黑体" panose="02010609060101010101" pitchFamily="49" charset="-122"/>
              </a:rPr>
              <a:t>设计电路原理图</a:t>
            </a:r>
            <a:endParaRPr lang="en-US" altLang="zh-CN" sz="3200" dirty="0">
              <a:latin typeface="Arial Black" panose="020B0A04020102020204" pitchFamily="34" charset="0"/>
              <a:ea typeface="黑体" panose="02010609060101010101" pitchFamily="49" charset="-122"/>
            </a:endParaRPr>
          </a:p>
        </p:txBody>
      </p:sp>
    </p:spTree>
    <p:extLst>
      <p:ext uri="{BB962C8B-B14F-4D97-AF65-F5344CB8AC3E}">
        <p14:creationId xmlns:p14="http://schemas.microsoft.com/office/powerpoint/2010/main" val="359787343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5FECE-9B26-1FD9-11A7-9C9AE120519A}"/>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B95D9B3B-BD49-EDF7-DBAA-7D91B2C931E5}"/>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使用</a:t>
            </a:r>
            <a:r>
              <a:rPr lang="en-US" altLang="zh-CN" sz="4000" dirty="0">
                <a:solidFill>
                  <a:schemeClr val="accent1">
                    <a:lumMod val="75000"/>
                  </a:schemeClr>
                </a:solidFill>
                <a:latin typeface="Arial Black" panose="020B0A04020102020204" pitchFamily="34" charset="0"/>
                <a:ea typeface="黑体" panose="02010609060101010101" pitchFamily="49" charset="-122"/>
              </a:rPr>
              <a:t>AD</a:t>
            </a:r>
            <a:r>
              <a:rPr lang="zh-CN" altLang="en-US" sz="4000" dirty="0">
                <a:solidFill>
                  <a:schemeClr val="accent1">
                    <a:lumMod val="75000"/>
                  </a:schemeClr>
                </a:solidFill>
                <a:latin typeface="黑体" panose="02010609060101010101" pitchFamily="49" charset="-122"/>
                <a:ea typeface="黑体" panose="02010609060101010101" pitchFamily="49" charset="-122"/>
              </a:rPr>
              <a:t>设计电路原理图</a:t>
            </a:r>
            <a:endParaRPr lang="zh-CN" altLang="en-US" sz="4000" dirty="0">
              <a:solidFill>
                <a:srgbClr val="003F88"/>
              </a:solidFill>
              <a:latin typeface="黑体" panose="02010609060101010101" pitchFamily="49" charset="-122"/>
              <a:ea typeface="黑体" panose="02010609060101010101" pitchFamily="49" charset="-122"/>
            </a:endParaRPr>
          </a:p>
        </p:txBody>
      </p:sp>
      <p:sp>
        <p:nvSpPr>
          <p:cNvPr id="19" name="矩形 18">
            <a:extLst>
              <a:ext uri="{FF2B5EF4-FFF2-40B4-BE49-F238E27FC236}">
                <a16:creationId xmlns:a16="http://schemas.microsoft.com/office/drawing/2014/main" id="{DA83D392-6CF5-DD62-E99D-19A532E60F8F}"/>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内容占位符 2">
            <a:extLst>
              <a:ext uri="{FF2B5EF4-FFF2-40B4-BE49-F238E27FC236}">
                <a16:creationId xmlns:a16="http://schemas.microsoft.com/office/drawing/2014/main" id="{A9AB36F1-291D-A012-FF63-DB59426FF2E8}"/>
              </a:ext>
            </a:extLst>
          </p:cNvPr>
          <p:cNvSpPr>
            <a:spLocks noGrp="1"/>
          </p:cNvSpPr>
          <p:nvPr>
            <p:ph idx="1"/>
          </p:nvPr>
        </p:nvSpPr>
        <p:spPr>
          <a:xfrm>
            <a:off x="838200" y="2189224"/>
            <a:ext cx="5253615" cy="4351338"/>
          </a:xfrm>
        </p:spPr>
        <p:txBody>
          <a:bodyPr/>
          <a:lstStyle/>
          <a:p>
            <a:pPr marL="0" indent="0">
              <a:buNone/>
            </a:pPr>
            <a:r>
              <a:rPr lang="zh-CN" altLang="en-US" dirty="0">
                <a:latin typeface="Arial Black" panose="020B0A04020102020204" pitchFamily="34" charset="0"/>
                <a:ea typeface="黑体" panose="02010609060101010101" pitchFamily="49" charset="-122"/>
              </a:rPr>
              <a:t>★点击上图中选择元件库的按钮，</a:t>
            </a:r>
            <a:endParaRPr lang="en-US" altLang="zh-CN" dirty="0">
              <a:latin typeface="Arial Black" panose="020B0A04020102020204" pitchFamily="34" charset="0"/>
              <a:ea typeface="黑体" panose="02010609060101010101" pitchFamily="49" charset="-122"/>
            </a:endParaRPr>
          </a:p>
          <a:p>
            <a:pPr marL="0" indent="0">
              <a:buNone/>
            </a:pPr>
            <a:r>
              <a:rPr lang="zh-CN" altLang="en-US" dirty="0">
                <a:latin typeface="Arial Black" panose="020B0A04020102020204" pitchFamily="34" charset="0"/>
                <a:ea typeface="黑体" panose="02010609060101010101" pitchFamily="49" charset="-122"/>
              </a:rPr>
              <a:t>弹出右图。</a:t>
            </a:r>
            <a:endParaRPr lang="en-US" altLang="zh-CN" dirty="0">
              <a:latin typeface="Arial Black" panose="020B0A04020102020204" pitchFamily="34" charset="0"/>
              <a:ea typeface="黑体" panose="02010609060101010101" pitchFamily="49" charset="-122"/>
            </a:endParaRPr>
          </a:p>
          <a:p>
            <a:pPr marL="0" indent="0">
              <a:buNone/>
            </a:pPr>
            <a:r>
              <a:rPr lang="zh-CN" altLang="en-US" dirty="0">
                <a:latin typeface="Arial Black" panose="020B0A04020102020204" pitchFamily="34" charset="0"/>
                <a:ea typeface="黑体" panose="02010609060101010101" pitchFamily="49" charset="-122"/>
              </a:rPr>
              <a:t>★在这里可以选择不同的元件库</a:t>
            </a:r>
            <a:endParaRPr lang="en-US" altLang="zh-CN" dirty="0">
              <a:latin typeface="Arial Black" panose="020B0A04020102020204" pitchFamily="34" charset="0"/>
              <a:ea typeface="黑体" panose="02010609060101010101" pitchFamily="49" charset="-122"/>
            </a:endParaRPr>
          </a:p>
          <a:p>
            <a:pPr marL="0" indent="0">
              <a:buNone/>
            </a:pPr>
            <a:r>
              <a:rPr lang="zh-CN" altLang="en-US" dirty="0">
                <a:latin typeface="Arial Black" panose="020B0A04020102020204" pitchFamily="34" charset="0"/>
                <a:ea typeface="黑体" panose="02010609060101010101" pitchFamily="49" charset="-122"/>
              </a:rPr>
              <a:t>和库中的元件。</a:t>
            </a:r>
            <a:endParaRPr lang="en-US" altLang="zh-CN" dirty="0">
              <a:latin typeface="Arial Black" panose="020B0A04020102020204" pitchFamily="34" charset="0"/>
              <a:ea typeface="黑体" panose="02010609060101010101" pitchFamily="49" charset="-122"/>
            </a:endParaRPr>
          </a:p>
          <a:p>
            <a:pPr marL="0" indent="0">
              <a:buNone/>
            </a:pPr>
            <a:r>
              <a:rPr lang="zh-CN" altLang="en-US" dirty="0">
                <a:latin typeface="Arial Black" panose="020B0A04020102020204" pitchFamily="34" charset="0"/>
                <a:ea typeface="黑体" panose="02010609060101010101" pitchFamily="49" charset="-122"/>
              </a:rPr>
              <a:t>★选择好元件后，点击</a:t>
            </a:r>
            <a:r>
              <a:rPr lang="en-US" altLang="zh-CN" dirty="0">
                <a:latin typeface="Arial Black" panose="020B0A04020102020204" pitchFamily="34" charset="0"/>
                <a:ea typeface="黑体" panose="02010609060101010101" pitchFamily="49" charset="-122"/>
              </a:rPr>
              <a:t>OK</a:t>
            </a:r>
            <a:r>
              <a:rPr lang="zh-CN" altLang="en-US" dirty="0">
                <a:latin typeface="Arial Black" panose="020B0A04020102020204" pitchFamily="34" charset="0"/>
                <a:ea typeface="黑体" panose="02010609060101010101" pitchFamily="49" charset="-122"/>
              </a:rPr>
              <a:t>按钮关闭对话框，回到编辑窗口。</a:t>
            </a:r>
          </a:p>
        </p:txBody>
      </p:sp>
      <p:pic>
        <p:nvPicPr>
          <p:cNvPr id="17" name="图片 16">
            <a:extLst>
              <a:ext uri="{FF2B5EF4-FFF2-40B4-BE49-F238E27FC236}">
                <a16:creationId xmlns:a16="http://schemas.microsoft.com/office/drawing/2014/main" id="{049ACC93-7FF0-F310-0137-85CF5FE1BB17}"/>
              </a:ext>
            </a:extLst>
          </p:cNvPr>
          <p:cNvPicPr>
            <a:picLocks noChangeAspect="1"/>
          </p:cNvPicPr>
          <p:nvPr/>
        </p:nvPicPr>
        <p:blipFill>
          <a:blip r:embed="rId3"/>
          <a:stretch>
            <a:fillRect/>
          </a:stretch>
        </p:blipFill>
        <p:spPr>
          <a:xfrm>
            <a:off x="1082819" y="7369645"/>
            <a:ext cx="9001125" cy="2028825"/>
          </a:xfrm>
          <a:prstGeom prst="rect">
            <a:avLst/>
          </a:prstGeom>
        </p:spPr>
      </p:pic>
      <p:grpSp>
        <p:nvGrpSpPr>
          <p:cNvPr id="22" name="组合 21">
            <a:extLst>
              <a:ext uri="{FF2B5EF4-FFF2-40B4-BE49-F238E27FC236}">
                <a16:creationId xmlns:a16="http://schemas.microsoft.com/office/drawing/2014/main" id="{D158A59D-D595-A447-8EF7-9D2DED47FB9C}"/>
              </a:ext>
            </a:extLst>
          </p:cNvPr>
          <p:cNvGrpSpPr/>
          <p:nvPr/>
        </p:nvGrpSpPr>
        <p:grpSpPr>
          <a:xfrm>
            <a:off x="6103814" y="975940"/>
            <a:ext cx="6091813" cy="5882060"/>
            <a:chOff x="6100186" y="624231"/>
            <a:chExt cx="6091813" cy="5882060"/>
          </a:xfrm>
        </p:grpSpPr>
        <p:grpSp>
          <p:nvGrpSpPr>
            <p:cNvPr id="21" name="组合 20">
              <a:extLst>
                <a:ext uri="{FF2B5EF4-FFF2-40B4-BE49-F238E27FC236}">
                  <a16:creationId xmlns:a16="http://schemas.microsoft.com/office/drawing/2014/main" id="{5D451397-5544-DBAB-A34F-EB1ABDDF12F3}"/>
                </a:ext>
              </a:extLst>
            </p:cNvPr>
            <p:cNvGrpSpPr/>
            <p:nvPr/>
          </p:nvGrpSpPr>
          <p:grpSpPr>
            <a:xfrm>
              <a:off x="6100186" y="644840"/>
              <a:ext cx="6091813" cy="5861451"/>
              <a:chOff x="6100186" y="644840"/>
              <a:chExt cx="6091813" cy="5861451"/>
            </a:xfrm>
          </p:grpSpPr>
          <p:pic>
            <p:nvPicPr>
              <p:cNvPr id="11" name="图片 10">
                <a:extLst>
                  <a:ext uri="{FF2B5EF4-FFF2-40B4-BE49-F238E27FC236}">
                    <a16:creationId xmlns:a16="http://schemas.microsoft.com/office/drawing/2014/main" id="{75BE9267-C8B2-BD24-06FD-2573E9EFA0E0}"/>
                  </a:ext>
                </a:extLst>
              </p:cNvPr>
              <p:cNvPicPr>
                <a:picLocks noChangeAspect="1"/>
              </p:cNvPicPr>
              <p:nvPr/>
            </p:nvPicPr>
            <p:blipFill>
              <a:blip r:embed="rId4"/>
              <a:stretch>
                <a:fillRect/>
              </a:stretch>
            </p:blipFill>
            <p:spPr>
              <a:xfrm>
                <a:off x="6100186" y="644840"/>
                <a:ext cx="6091813" cy="5861451"/>
              </a:xfrm>
              <a:prstGeom prst="rect">
                <a:avLst/>
              </a:prstGeom>
            </p:spPr>
          </p:pic>
          <p:sp>
            <p:nvSpPr>
              <p:cNvPr id="12" name="文本框 11">
                <a:extLst>
                  <a:ext uri="{FF2B5EF4-FFF2-40B4-BE49-F238E27FC236}">
                    <a16:creationId xmlns:a16="http://schemas.microsoft.com/office/drawing/2014/main" id="{E7370BE2-C1D6-7E6C-2BCB-0B3BDC7796DB}"/>
                  </a:ext>
                </a:extLst>
              </p:cNvPr>
              <p:cNvSpPr txBox="1"/>
              <p:nvPr/>
            </p:nvSpPr>
            <p:spPr>
              <a:xfrm>
                <a:off x="8238214" y="945037"/>
                <a:ext cx="2460869" cy="369332"/>
              </a:xfrm>
              <a:prstGeom prst="rect">
                <a:avLst/>
              </a:prstGeom>
              <a:noFill/>
            </p:spPr>
            <p:txBody>
              <a:bodyPr wrap="square" rtlCol="0">
                <a:spAutoFit/>
              </a:bodyPr>
              <a:lstStyle/>
              <a:p>
                <a:pPr algn="ctr"/>
                <a:r>
                  <a:rPr lang="zh-CN" altLang="en-US" dirty="0">
                    <a:solidFill>
                      <a:srgbClr val="FF0000"/>
                    </a:solidFill>
                  </a:rPr>
                  <a:t>选择元件库</a:t>
                </a:r>
              </a:p>
            </p:txBody>
          </p:sp>
          <p:sp>
            <p:nvSpPr>
              <p:cNvPr id="15" name="文本框 14">
                <a:extLst>
                  <a:ext uri="{FF2B5EF4-FFF2-40B4-BE49-F238E27FC236}">
                    <a16:creationId xmlns:a16="http://schemas.microsoft.com/office/drawing/2014/main" id="{87CC851B-3B06-AD33-5011-833846542C58}"/>
                  </a:ext>
                </a:extLst>
              </p:cNvPr>
              <p:cNvSpPr txBox="1"/>
              <p:nvPr/>
            </p:nvSpPr>
            <p:spPr>
              <a:xfrm>
                <a:off x="7747819" y="3568455"/>
                <a:ext cx="1422413" cy="369332"/>
              </a:xfrm>
              <a:prstGeom prst="rect">
                <a:avLst/>
              </a:prstGeom>
              <a:solidFill>
                <a:schemeClr val="bg1">
                  <a:lumMod val="95000"/>
                </a:schemeClr>
              </a:solidFill>
            </p:spPr>
            <p:txBody>
              <a:bodyPr wrap="square" rtlCol="0">
                <a:spAutoFit/>
              </a:bodyPr>
              <a:lstStyle/>
              <a:p>
                <a:pPr algn="ctr"/>
                <a:r>
                  <a:rPr lang="zh-CN" altLang="en-US" dirty="0">
                    <a:solidFill>
                      <a:srgbClr val="FF0000"/>
                    </a:solidFill>
                  </a:rPr>
                  <a:t>选择元件</a:t>
                </a:r>
              </a:p>
            </p:txBody>
          </p:sp>
          <p:sp>
            <p:nvSpPr>
              <p:cNvPr id="9" name="矩形: 圆角 8">
                <a:extLst>
                  <a:ext uri="{FF2B5EF4-FFF2-40B4-BE49-F238E27FC236}">
                    <a16:creationId xmlns:a16="http://schemas.microsoft.com/office/drawing/2014/main" id="{A236F3E1-B53C-E95C-C2F4-B9AAD0E62CDB}"/>
                  </a:ext>
                </a:extLst>
              </p:cNvPr>
              <p:cNvSpPr/>
              <p:nvPr/>
            </p:nvSpPr>
            <p:spPr>
              <a:xfrm>
                <a:off x="7737545" y="1030773"/>
                <a:ext cx="368765" cy="228529"/>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 name="文本框 12">
              <a:extLst>
                <a:ext uri="{FF2B5EF4-FFF2-40B4-BE49-F238E27FC236}">
                  <a16:creationId xmlns:a16="http://schemas.microsoft.com/office/drawing/2014/main" id="{A66D2B86-C6C8-5CAC-19A9-7052C7240C5B}"/>
                </a:ext>
              </a:extLst>
            </p:cNvPr>
            <p:cNvSpPr txBox="1"/>
            <p:nvPr/>
          </p:nvSpPr>
          <p:spPr>
            <a:xfrm>
              <a:off x="7327741" y="624231"/>
              <a:ext cx="3487220" cy="307777"/>
            </a:xfrm>
            <a:prstGeom prst="rect">
              <a:avLst/>
            </a:prstGeom>
            <a:noFill/>
          </p:spPr>
          <p:txBody>
            <a:bodyPr wrap="square">
              <a:spAutoFit/>
            </a:bodyPr>
            <a:lstStyle/>
            <a:p>
              <a:r>
                <a:rPr lang="en-US" altLang="zh-CN" sz="1400" dirty="0">
                  <a:solidFill>
                    <a:srgbClr val="7030A0"/>
                  </a:solidFill>
                </a:rPr>
                <a:t>*</a:t>
              </a:r>
              <a:r>
                <a:rPr lang="en-US" altLang="zh-CN" sz="1400" b="0" i="0" dirty="0">
                  <a:solidFill>
                    <a:srgbClr val="7030A0"/>
                  </a:solidFill>
                  <a:effectLst/>
                  <a:latin typeface="Arial" panose="020B0604020202020204" pitchFamily="34" charset="0"/>
                </a:rPr>
                <a:t>miscellaneous adj. </a:t>
              </a:r>
              <a:r>
                <a:rPr lang="zh-CN" altLang="en-US" sz="1400" b="0" i="0" dirty="0">
                  <a:solidFill>
                    <a:srgbClr val="7030A0"/>
                  </a:solidFill>
                  <a:effectLst/>
                  <a:latin typeface="Arial" panose="020B0604020202020204" pitchFamily="34" charset="0"/>
                </a:rPr>
                <a:t>各种各样的，混杂的</a:t>
              </a:r>
              <a:r>
                <a:rPr lang="en-US" altLang="zh-CN" sz="1400" b="0" i="0" dirty="0">
                  <a:solidFill>
                    <a:srgbClr val="7030A0"/>
                  </a:solidFill>
                  <a:effectLst/>
                  <a:latin typeface="Arial" panose="020B0604020202020204" pitchFamily="34" charset="0"/>
                </a:rPr>
                <a:t> </a:t>
              </a:r>
              <a:endParaRPr lang="zh-CN" altLang="en-US" sz="1400" dirty="0">
                <a:solidFill>
                  <a:srgbClr val="7030A0"/>
                </a:solidFill>
              </a:endParaRPr>
            </a:p>
          </p:txBody>
        </p:sp>
      </p:grpSp>
      <p:sp>
        <p:nvSpPr>
          <p:cNvPr id="14" name="文本框 13">
            <a:extLst>
              <a:ext uri="{FF2B5EF4-FFF2-40B4-BE49-F238E27FC236}">
                <a16:creationId xmlns:a16="http://schemas.microsoft.com/office/drawing/2014/main" id="{C2556B11-0A17-9A2D-17CF-0A2DAF53834E}"/>
              </a:ext>
            </a:extLst>
          </p:cNvPr>
          <p:cNvSpPr txBox="1"/>
          <p:nvPr/>
        </p:nvSpPr>
        <p:spPr>
          <a:xfrm>
            <a:off x="838200" y="5723997"/>
            <a:ext cx="6217972" cy="923330"/>
          </a:xfrm>
          <a:prstGeom prst="rect">
            <a:avLst/>
          </a:prstGeom>
          <a:noFill/>
        </p:spPr>
        <p:txBody>
          <a:bodyPr wrap="square" rtlCol="0">
            <a:spAutoFit/>
          </a:bodyPr>
          <a:lstStyle/>
          <a:p>
            <a:r>
              <a:rPr lang="en-US" altLang="zh-CN" dirty="0">
                <a:latin typeface="Arial Black" panose="020B0A04020102020204" pitchFamily="34" charset="0"/>
                <a:ea typeface="黑体" panose="02010609060101010101" pitchFamily="49" charset="-122"/>
              </a:rPr>
              <a:t>.</a:t>
            </a:r>
            <a:r>
              <a:rPr lang="en-US" altLang="zh-CN" dirty="0" err="1">
                <a:latin typeface="Arial Black" panose="020B0A04020102020204" pitchFamily="34" charset="0"/>
                <a:ea typeface="黑体" panose="02010609060101010101" pitchFamily="49" charset="-122"/>
              </a:rPr>
              <a:t>IntLib</a:t>
            </a:r>
            <a:r>
              <a:rPr lang="en-US" altLang="zh-CN" dirty="0">
                <a:latin typeface="Arial Black" panose="020B0A04020102020204" pitchFamily="34" charset="0"/>
                <a:ea typeface="黑体" panose="02010609060101010101" pitchFamily="49" charset="-122"/>
              </a:rPr>
              <a:t>	   integrated library </a:t>
            </a:r>
            <a:r>
              <a:rPr lang="zh-CN" altLang="en-US" dirty="0">
                <a:latin typeface="Arial Black" panose="020B0A04020102020204" pitchFamily="34" charset="0"/>
                <a:ea typeface="黑体" panose="02010609060101010101" pitchFamily="49" charset="-122"/>
              </a:rPr>
              <a:t>集成库</a:t>
            </a:r>
            <a:endParaRPr lang="en-US" altLang="zh-CN" dirty="0">
              <a:latin typeface="Arial Black" panose="020B0A04020102020204" pitchFamily="34" charset="0"/>
              <a:ea typeface="黑体" panose="02010609060101010101" pitchFamily="49" charset="-122"/>
            </a:endParaRPr>
          </a:p>
          <a:p>
            <a:r>
              <a:rPr lang="en-US" altLang="zh-CN" dirty="0">
                <a:latin typeface="Arial Black" panose="020B0A04020102020204" pitchFamily="34" charset="0"/>
                <a:ea typeface="黑体" panose="02010609060101010101" pitchFamily="49" charset="-122"/>
              </a:rPr>
              <a:t>.</a:t>
            </a:r>
            <a:r>
              <a:rPr lang="en-US" altLang="zh-CN" dirty="0" err="1">
                <a:latin typeface="Arial Black" panose="020B0A04020102020204" pitchFamily="34" charset="0"/>
                <a:ea typeface="黑体" panose="02010609060101010101" pitchFamily="49" charset="-122"/>
              </a:rPr>
              <a:t>SchLib</a:t>
            </a:r>
            <a:r>
              <a:rPr lang="en-US" altLang="zh-CN" dirty="0">
                <a:latin typeface="Arial Black" panose="020B0A04020102020204" pitchFamily="34" charset="0"/>
                <a:ea typeface="黑体" panose="02010609060101010101" pitchFamily="49" charset="-122"/>
              </a:rPr>
              <a:t>   schematic library </a:t>
            </a:r>
            <a:r>
              <a:rPr lang="zh-CN" altLang="en-US" dirty="0">
                <a:latin typeface="Arial Black" panose="020B0A04020102020204" pitchFamily="34" charset="0"/>
                <a:ea typeface="黑体" panose="02010609060101010101" pitchFamily="49" charset="-122"/>
              </a:rPr>
              <a:t>原理图库</a:t>
            </a:r>
            <a:endParaRPr lang="en-US" altLang="zh-CN" dirty="0">
              <a:latin typeface="Arial Black" panose="020B0A04020102020204" pitchFamily="34" charset="0"/>
              <a:ea typeface="黑体" panose="02010609060101010101" pitchFamily="49" charset="-122"/>
            </a:endParaRPr>
          </a:p>
          <a:p>
            <a:r>
              <a:rPr lang="en-US" altLang="zh-CN" dirty="0">
                <a:latin typeface="Arial Black" panose="020B0A04020102020204" pitchFamily="34" charset="0"/>
                <a:ea typeface="黑体" panose="02010609060101010101" pitchFamily="49" charset="-122"/>
              </a:rPr>
              <a:t>.</a:t>
            </a:r>
            <a:r>
              <a:rPr lang="en-US" altLang="zh-CN" dirty="0" err="1">
                <a:latin typeface="Arial Black" panose="020B0A04020102020204" pitchFamily="34" charset="0"/>
                <a:ea typeface="黑体" panose="02010609060101010101" pitchFamily="49" charset="-122"/>
              </a:rPr>
              <a:t>PcbLib</a:t>
            </a:r>
            <a:r>
              <a:rPr lang="en-US" altLang="zh-CN" dirty="0">
                <a:latin typeface="Arial Black" panose="020B0A04020102020204" pitchFamily="34" charset="0"/>
                <a:ea typeface="黑体" panose="02010609060101010101" pitchFamily="49" charset="-122"/>
              </a:rPr>
              <a:t>   PCB library </a:t>
            </a:r>
            <a:r>
              <a:rPr lang="zh-CN" altLang="en-US" dirty="0">
                <a:latin typeface="Arial Black" panose="020B0A04020102020204" pitchFamily="34" charset="0"/>
                <a:ea typeface="黑体" panose="02010609060101010101" pitchFamily="49" charset="-122"/>
              </a:rPr>
              <a:t>印制电路板库，即封装库</a:t>
            </a:r>
          </a:p>
        </p:txBody>
      </p:sp>
      <p:sp>
        <p:nvSpPr>
          <p:cNvPr id="20" name="文本框 19">
            <a:extLst>
              <a:ext uri="{FF2B5EF4-FFF2-40B4-BE49-F238E27FC236}">
                <a16:creationId xmlns:a16="http://schemas.microsoft.com/office/drawing/2014/main" id="{E86AE503-89CE-9BC9-BAFD-49F7EBA11BA4}"/>
              </a:ext>
            </a:extLst>
          </p:cNvPr>
          <p:cNvSpPr txBox="1"/>
          <p:nvPr/>
        </p:nvSpPr>
        <p:spPr>
          <a:xfrm>
            <a:off x="925287" y="1474731"/>
            <a:ext cx="6117770" cy="584775"/>
          </a:xfrm>
          <a:prstGeom prst="rect">
            <a:avLst/>
          </a:prstGeom>
          <a:noFill/>
        </p:spPr>
        <p:txBody>
          <a:bodyPr wrap="square">
            <a:spAutoFit/>
          </a:bodyPr>
          <a:lstStyle/>
          <a:p>
            <a:pPr marL="0" indent="0">
              <a:buNone/>
            </a:pPr>
            <a:r>
              <a:rPr lang="zh-CN" altLang="en-US" sz="3200" dirty="0">
                <a:latin typeface="Arial Black" panose="020B0A04020102020204" pitchFamily="34" charset="0"/>
                <a:ea typeface="黑体" panose="02010609060101010101" pitchFamily="49" charset="-122"/>
              </a:rPr>
              <a:t>设计电路原理图</a:t>
            </a:r>
            <a:endParaRPr lang="en-US" altLang="zh-CN" sz="3200" dirty="0">
              <a:latin typeface="Arial Black" panose="020B0A04020102020204" pitchFamily="34" charset="0"/>
              <a:ea typeface="黑体" panose="02010609060101010101" pitchFamily="49" charset="-122"/>
            </a:endParaRPr>
          </a:p>
        </p:txBody>
      </p:sp>
    </p:spTree>
    <p:extLst>
      <p:ext uri="{BB962C8B-B14F-4D97-AF65-F5344CB8AC3E}">
        <p14:creationId xmlns:p14="http://schemas.microsoft.com/office/powerpoint/2010/main" val="33457196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08389-E1C0-3C71-0972-A6BB852C953E}"/>
            </a:ext>
          </a:extLst>
        </p:cNvPr>
        <p:cNvGrpSpPr/>
        <p:nvPr/>
      </p:nvGrpSpPr>
      <p:grpSpPr>
        <a:xfrm>
          <a:off x="0" y="0"/>
          <a:ext cx="0" cy="0"/>
          <a:chOff x="0" y="0"/>
          <a:chExt cx="0" cy="0"/>
        </a:xfrm>
      </p:grpSpPr>
      <p:sp>
        <p:nvSpPr>
          <p:cNvPr id="13" name="文本框 12">
            <a:extLst>
              <a:ext uri="{FF2B5EF4-FFF2-40B4-BE49-F238E27FC236}">
                <a16:creationId xmlns:a16="http://schemas.microsoft.com/office/drawing/2014/main" id="{C2EE2B1B-5A7A-991E-B971-D31D49AA3B9A}"/>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使用</a:t>
            </a:r>
            <a:r>
              <a:rPr lang="en-US" altLang="zh-CN" sz="4000" dirty="0">
                <a:solidFill>
                  <a:schemeClr val="accent1">
                    <a:lumMod val="75000"/>
                  </a:schemeClr>
                </a:solidFill>
                <a:latin typeface="Arial Black" panose="020B0A04020102020204" pitchFamily="34" charset="0"/>
                <a:ea typeface="黑体" panose="02010609060101010101" pitchFamily="49" charset="-122"/>
              </a:rPr>
              <a:t>AD</a:t>
            </a:r>
            <a:r>
              <a:rPr lang="zh-CN" altLang="en-US" sz="4000" dirty="0">
                <a:solidFill>
                  <a:schemeClr val="accent1">
                    <a:lumMod val="75000"/>
                  </a:schemeClr>
                </a:solidFill>
                <a:latin typeface="黑体" panose="02010609060101010101" pitchFamily="49" charset="-122"/>
                <a:ea typeface="黑体" panose="02010609060101010101" pitchFamily="49" charset="-122"/>
              </a:rPr>
              <a:t>设计电路原理图</a:t>
            </a:r>
            <a:endParaRPr lang="zh-CN" altLang="en-US" sz="4000" dirty="0">
              <a:solidFill>
                <a:srgbClr val="003F88"/>
              </a:solidFill>
              <a:latin typeface="黑体" panose="02010609060101010101" pitchFamily="49" charset="-122"/>
              <a:ea typeface="黑体" panose="02010609060101010101" pitchFamily="49" charset="-122"/>
            </a:endParaRPr>
          </a:p>
        </p:txBody>
      </p:sp>
      <p:sp>
        <p:nvSpPr>
          <p:cNvPr id="14" name="矩形 13">
            <a:extLst>
              <a:ext uri="{FF2B5EF4-FFF2-40B4-BE49-F238E27FC236}">
                <a16:creationId xmlns:a16="http://schemas.microsoft.com/office/drawing/2014/main" id="{B277D569-FE32-4BF1-35DA-C63049E1E615}"/>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内容占位符 2">
            <a:extLst>
              <a:ext uri="{FF2B5EF4-FFF2-40B4-BE49-F238E27FC236}">
                <a16:creationId xmlns:a16="http://schemas.microsoft.com/office/drawing/2014/main" id="{9E0FEFBD-1697-C03F-A7AC-1348761DA783}"/>
              </a:ext>
            </a:extLst>
          </p:cNvPr>
          <p:cNvSpPr>
            <a:spLocks noGrp="1"/>
          </p:cNvSpPr>
          <p:nvPr>
            <p:ph idx="1"/>
          </p:nvPr>
        </p:nvSpPr>
        <p:spPr>
          <a:xfrm>
            <a:off x="838200" y="2667454"/>
            <a:ext cx="4371109" cy="2164484"/>
          </a:xfrm>
        </p:spPr>
        <p:txBody>
          <a:bodyPr/>
          <a:lstStyle/>
          <a:p>
            <a:pPr marL="0" indent="0">
              <a:buNone/>
            </a:pPr>
            <a:r>
              <a:rPr lang="zh-CN" altLang="en-US" dirty="0">
                <a:latin typeface="Arial Black" panose="020B0A04020102020204" pitchFamily="34" charset="0"/>
                <a:ea typeface="黑体" panose="02010609060101010101" pitchFamily="49" charset="-122"/>
              </a:rPr>
              <a:t>★在放置状态下，按</a:t>
            </a:r>
            <a:r>
              <a:rPr lang="en-US" altLang="zh-CN" dirty="0">
                <a:latin typeface="Arial Black" panose="020B0A04020102020204" pitchFamily="34" charset="0"/>
                <a:ea typeface="黑体" panose="02010609060101010101" pitchFamily="49" charset="-122"/>
              </a:rPr>
              <a:t>Tab</a:t>
            </a:r>
            <a:r>
              <a:rPr lang="zh-CN" altLang="en-US" dirty="0">
                <a:latin typeface="Arial Black" panose="020B0A04020102020204" pitchFamily="34" charset="0"/>
                <a:ea typeface="黑体" panose="02010609060101010101" pitchFamily="49" charset="-122"/>
              </a:rPr>
              <a:t>键进入该元件特性窗口。在该窗口中可编辑包括元件封装在内的元件参数。</a:t>
            </a:r>
          </a:p>
        </p:txBody>
      </p:sp>
      <p:pic>
        <p:nvPicPr>
          <p:cNvPr id="11" name="图片 10">
            <a:extLst>
              <a:ext uri="{FF2B5EF4-FFF2-40B4-BE49-F238E27FC236}">
                <a16:creationId xmlns:a16="http://schemas.microsoft.com/office/drawing/2014/main" id="{26F401F7-AFEC-4414-5360-086F4C26CC66}"/>
              </a:ext>
            </a:extLst>
          </p:cNvPr>
          <p:cNvPicPr>
            <a:picLocks noChangeAspect="1"/>
          </p:cNvPicPr>
          <p:nvPr/>
        </p:nvPicPr>
        <p:blipFill>
          <a:blip r:embed="rId2"/>
          <a:stretch>
            <a:fillRect/>
          </a:stretch>
        </p:blipFill>
        <p:spPr>
          <a:xfrm>
            <a:off x="5209309" y="1302105"/>
            <a:ext cx="6677025" cy="5324475"/>
          </a:xfrm>
          <a:prstGeom prst="rect">
            <a:avLst/>
          </a:prstGeom>
        </p:spPr>
      </p:pic>
      <p:sp>
        <p:nvSpPr>
          <p:cNvPr id="12" name="文本框 11">
            <a:extLst>
              <a:ext uri="{FF2B5EF4-FFF2-40B4-BE49-F238E27FC236}">
                <a16:creationId xmlns:a16="http://schemas.microsoft.com/office/drawing/2014/main" id="{164D1FB8-8014-552C-42DB-B22F90E9CBFF}"/>
              </a:ext>
            </a:extLst>
          </p:cNvPr>
          <p:cNvSpPr txBox="1"/>
          <p:nvPr/>
        </p:nvSpPr>
        <p:spPr>
          <a:xfrm>
            <a:off x="3615047" y="5383130"/>
            <a:ext cx="3983182" cy="954107"/>
          </a:xfrm>
          <a:prstGeom prst="rect">
            <a:avLst/>
          </a:prstGeom>
          <a:solidFill>
            <a:schemeClr val="bg1">
              <a:lumMod val="95000"/>
            </a:schemeClr>
          </a:solidFill>
        </p:spPr>
        <p:txBody>
          <a:bodyPr wrap="square" rtlCol="0">
            <a:spAutoFit/>
          </a:bodyPr>
          <a:lstStyle/>
          <a:p>
            <a:r>
              <a:rPr lang="zh-CN" altLang="en-US" sz="2800" dirty="0">
                <a:latin typeface="Arial Black" panose="020B0A04020102020204" pitchFamily="34" charset="0"/>
                <a:ea typeface="黑体" panose="02010609060101010101" pitchFamily="49" charset="-122"/>
              </a:rPr>
              <a:t>在放置状态下按</a:t>
            </a:r>
            <a:r>
              <a:rPr lang="en-US" altLang="zh-CN" sz="2800" dirty="0">
                <a:solidFill>
                  <a:srgbClr val="FF0000"/>
                </a:solidFill>
                <a:latin typeface="Arial Black" panose="020B0A04020102020204" pitchFamily="34" charset="0"/>
                <a:ea typeface="黑体" panose="02010609060101010101" pitchFamily="49" charset="-122"/>
              </a:rPr>
              <a:t>Tab</a:t>
            </a:r>
            <a:r>
              <a:rPr lang="zh-CN" altLang="en-US" sz="2800" dirty="0">
                <a:latin typeface="Arial Black" panose="020B0A04020102020204" pitchFamily="34" charset="0"/>
                <a:ea typeface="黑体" panose="02010609060101010101" pitchFamily="49" charset="-122"/>
              </a:rPr>
              <a:t>键，可编辑元件参数及封装</a:t>
            </a:r>
          </a:p>
        </p:txBody>
      </p:sp>
      <p:sp>
        <p:nvSpPr>
          <p:cNvPr id="15" name="文本框 14">
            <a:extLst>
              <a:ext uri="{FF2B5EF4-FFF2-40B4-BE49-F238E27FC236}">
                <a16:creationId xmlns:a16="http://schemas.microsoft.com/office/drawing/2014/main" id="{508EC255-1322-BAA0-FEE7-6F8A87976810}"/>
              </a:ext>
            </a:extLst>
          </p:cNvPr>
          <p:cNvSpPr txBox="1"/>
          <p:nvPr/>
        </p:nvSpPr>
        <p:spPr>
          <a:xfrm>
            <a:off x="925287" y="1474731"/>
            <a:ext cx="6117770" cy="584775"/>
          </a:xfrm>
          <a:prstGeom prst="rect">
            <a:avLst/>
          </a:prstGeom>
          <a:noFill/>
        </p:spPr>
        <p:txBody>
          <a:bodyPr wrap="square">
            <a:spAutoFit/>
          </a:bodyPr>
          <a:lstStyle/>
          <a:p>
            <a:pPr marL="0" indent="0">
              <a:buNone/>
            </a:pPr>
            <a:r>
              <a:rPr lang="zh-CN" altLang="en-US" sz="3200" dirty="0">
                <a:latin typeface="Arial Black" panose="020B0A04020102020204" pitchFamily="34" charset="0"/>
                <a:ea typeface="黑体" panose="02010609060101010101" pitchFamily="49" charset="-122"/>
              </a:rPr>
              <a:t>设计电路原理图</a:t>
            </a:r>
            <a:endParaRPr lang="en-US" altLang="zh-CN" sz="3200" dirty="0">
              <a:latin typeface="Arial Black" panose="020B0A04020102020204" pitchFamily="34" charset="0"/>
              <a:ea typeface="黑体" panose="02010609060101010101" pitchFamily="49" charset="-122"/>
            </a:endParaRPr>
          </a:p>
        </p:txBody>
      </p:sp>
    </p:spTree>
    <p:extLst>
      <p:ext uri="{BB962C8B-B14F-4D97-AF65-F5344CB8AC3E}">
        <p14:creationId xmlns:p14="http://schemas.microsoft.com/office/powerpoint/2010/main" val="375520989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453DD-2879-EF3F-D558-B9F7353CAE7F}"/>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F9D97674-B419-82FF-2ABA-855DB87EC0A3}"/>
              </a:ext>
            </a:extLst>
          </p:cNvPr>
          <p:cNvSpPr>
            <a:spLocks noGrp="1"/>
          </p:cNvSpPr>
          <p:nvPr>
            <p:ph idx="1"/>
          </p:nvPr>
        </p:nvSpPr>
        <p:spPr>
          <a:xfrm>
            <a:off x="893616" y="2413968"/>
            <a:ext cx="10515600" cy="4351338"/>
          </a:xfrm>
        </p:spPr>
        <p:txBody>
          <a:bodyPr/>
          <a:lstStyle/>
          <a:p>
            <a:pPr marL="0" indent="0">
              <a:buNone/>
            </a:pPr>
            <a:r>
              <a:rPr lang="zh-CN" altLang="en-US" dirty="0">
                <a:latin typeface="黑体" panose="02010609060101010101" pitchFamily="49" charset="-122"/>
                <a:ea typeface="黑体" panose="02010609060101010101" pitchFamily="49" charset="-122"/>
              </a:rPr>
              <a:t>★可编辑：</a:t>
            </a:r>
            <a:endParaRPr lang="en-US" altLang="zh-CN" dirty="0">
              <a:latin typeface="黑体" panose="02010609060101010101" pitchFamily="49" charset="-122"/>
              <a:ea typeface="黑体" panose="02010609060101010101" pitchFamily="49" charset="-122"/>
            </a:endParaRPr>
          </a:p>
          <a:p>
            <a:pPr marL="0" indent="0">
              <a:buNone/>
            </a:pPr>
            <a:r>
              <a:rPr lang="zh-CN" altLang="en-US" b="1" dirty="0">
                <a:latin typeface="黑体" panose="02010609060101010101" pitchFamily="49" charset="-122"/>
                <a:ea typeface="黑体" panose="02010609060101010101" pitchFamily="49" charset="-122"/>
              </a:rPr>
              <a:t>元件标识名；</a:t>
            </a:r>
            <a:endParaRPr lang="en-US" altLang="zh-CN" b="1" dirty="0">
              <a:latin typeface="黑体" panose="02010609060101010101" pitchFamily="49" charset="-122"/>
              <a:ea typeface="黑体" panose="02010609060101010101" pitchFamily="49" charset="-122"/>
            </a:endParaRPr>
          </a:p>
          <a:p>
            <a:pPr marL="0" indent="0">
              <a:buNone/>
            </a:pPr>
            <a:r>
              <a:rPr lang="zh-CN" altLang="en-US" b="1" dirty="0">
                <a:latin typeface="黑体" panose="02010609060101010101" pitchFamily="49" charset="-122"/>
                <a:ea typeface="黑体" panose="02010609060101010101" pitchFamily="49" charset="-122"/>
              </a:rPr>
              <a:t>元件值；</a:t>
            </a:r>
            <a:endParaRPr lang="en-US" altLang="zh-CN" b="1" dirty="0">
              <a:latin typeface="黑体" panose="02010609060101010101" pitchFamily="49" charset="-122"/>
              <a:ea typeface="黑体" panose="02010609060101010101" pitchFamily="49" charset="-122"/>
            </a:endParaRPr>
          </a:p>
          <a:p>
            <a:pPr marL="0" indent="0">
              <a:buNone/>
            </a:pPr>
            <a:r>
              <a:rPr lang="zh-CN" altLang="en-US" b="1" dirty="0">
                <a:latin typeface="黑体" panose="02010609060101010101" pitchFamily="49" charset="-122"/>
                <a:ea typeface="黑体" panose="02010609060101010101" pitchFamily="49" charset="-122"/>
              </a:rPr>
              <a:t>封装</a:t>
            </a:r>
            <a:r>
              <a:rPr lang="zh-CN" altLang="en-US" dirty="0">
                <a:latin typeface="黑体" panose="02010609060101010101" pitchFamily="49" charset="-122"/>
                <a:ea typeface="黑体" panose="02010609060101010101" pitchFamily="49" charset="-122"/>
              </a:rPr>
              <a:t>。</a:t>
            </a:r>
            <a:endParaRPr lang="en-US" altLang="zh-CN" dirty="0">
              <a:latin typeface="黑体" panose="02010609060101010101" pitchFamily="49" charset="-122"/>
              <a:ea typeface="黑体" panose="02010609060101010101" pitchFamily="49" charset="-122"/>
            </a:endParaRPr>
          </a:p>
        </p:txBody>
      </p:sp>
      <p:pic>
        <p:nvPicPr>
          <p:cNvPr id="9" name="图片 8">
            <a:extLst>
              <a:ext uri="{FF2B5EF4-FFF2-40B4-BE49-F238E27FC236}">
                <a16:creationId xmlns:a16="http://schemas.microsoft.com/office/drawing/2014/main" id="{618BC84C-A38C-3856-A9BE-7A01812B27DB}"/>
              </a:ext>
            </a:extLst>
          </p:cNvPr>
          <p:cNvPicPr>
            <a:picLocks noChangeAspect="1"/>
          </p:cNvPicPr>
          <p:nvPr/>
        </p:nvPicPr>
        <p:blipFill>
          <a:blip r:embed="rId2"/>
          <a:stretch>
            <a:fillRect/>
          </a:stretch>
        </p:blipFill>
        <p:spPr>
          <a:xfrm>
            <a:off x="4253345" y="1278876"/>
            <a:ext cx="7938655" cy="5486430"/>
          </a:xfrm>
          <a:prstGeom prst="rect">
            <a:avLst/>
          </a:prstGeom>
        </p:spPr>
      </p:pic>
      <p:sp>
        <p:nvSpPr>
          <p:cNvPr id="10" name="文本框 9">
            <a:extLst>
              <a:ext uri="{FF2B5EF4-FFF2-40B4-BE49-F238E27FC236}">
                <a16:creationId xmlns:a16="http://schemas.microsoft.com/office/drawing/2014/main" id="{F5E3B82C-36B7-819A-3CFF-554F757DD1CE}"/>
              </a:ext>
            </a:extLst>
          </p:cNvPr>
          <p:cNvSpPr txBox="1"/>
          <p:nvPr/>
        </p:nvSpPr>
        <p:spPr>
          <a:xfrm>
            <a:off x="4973780" y="1594792"/>
            <a:ext cx="2355273" cy="369332"/>
          </a:xfrm>
          <a:prstGeom prst="rect">
            <a:avLst/>
          </a:prstGeom>
          <a:noFill/>
        </p:spPr>
        <p:txBody>
          <a:bodyPr wrap="square" rtlCol="0">
            <a:spAutoFit/>
          </a:bodyPr>
          <a:lstStyle/>
          <a:p>
            <a:pPr algn="ctr"/>
            <a:r>
              <a:rPr lang="zh-CN" altLang="en-US" b="1" dirty="0">
                <a:solidFill>
                  <a:srgbClr val="FF0000"/>
                </a:solidFill>
                <a:latin typeface="黑体" panose="02010609060101010101" pitchFamily="49" charset="-122"/>
                <a:ea typeface="黑体" panose="02010609060101010101" pitchFamily="49" charset="-122"/>
              </a:rPr>
              <a:t>元件标识名</a:t>
            </a:r>
            <a:endParaRPr lang="en-US" altLang="zh-CN" b="1" dirty="0">
              <a:solidFill>
                <a:srgbClr val="FF0000"/>
              </a:solidFill>
              <a:latin typeface="黑体" panose="02010609060101010101" pitchFamily="49" charset="-122"/>
              <a:ea typeface="黑体" panose="02010609060101010101" pitchFamily="49" charset="-122"/>
            </a:endParaRPr>
          </a:p>
        </p:txBody>
      </p:sp>
      <p:sp>
        <p:nvSpPr>
          <p:cNvPr id="12" name="文本框 11">
            <a:extLst>
              <a:ext uri="{FF2B5EF4-FFF2-40B4-BE49-F238E27FC236}">
                <a16:creationId xmlns:a16="http://schemas.microsoft.com/office/drawing/2014/main" id="{BD33F2D5-E1A8-CA9B-50F6-72A656EF89C5}"/>
              </a:ext>
            </a:extLst>
          </p:cNvPr>
          <p:cNvSpPr txBox="1"/>
          <p:nvPr/>
        </p:nvSpPr>
        <p:spPr>
          <a:xfrm>
            <a:off x="5153891" y="1928176"/>
            <a:ext cx="1565564" cy="369332"/>
          </a:xfrm>
          <a:prstGeom prst="rect">
            <a:avLst/>
          </a:prstGeom>
          <a:noFill/>
        </p:spPr>
        <p:txBody>
          <a:bodyPr wrap="square">
            <a:spAutoFit/>
          </a:bodyPr>
          <a:lstStyle/>
          <a:p>
            <a:pPr algn="ctr"/>
            <a:r>
              <a:rPr lang="zh-CN" altLang="en-US" b="1" dirty="0">
                <a:solidFill>
                  <a:srgbClr val="FF0000"/>
                </a:solidFill>
                <a:latin typeface="黑体" panose="02010609060101010101" pitchFamily="49" charset="-122"/>
                <a:ea typeface="黑体" panose="02010609060101010101" pitchFamily="49" charset="-122"/>
              </a:rPr>
              <a:t>元件值</a:t>
            </a:r>
            <a:endParaRPr lang="en-US" altLang="zh-CN" b="1" dirty="0">
              <a:solidFill>
                <a:srgbClr val="FF0000"/>
              </a:solidFill>
              <a:latin typeface="黑体" panose="02010609060101010101" pitchFamily="49" charset="-122"/>
              <a:ea typeface="黑体" panose="02010609060101010101" pitchFamily="49" charset="-122"/>
            </a:endParaRPr>
          </a:p>
        </p:txBody>
      </p:sp>
      <p:sp>
        <p:nvSpPr>
          <p:cNvPr id="13" name="对话气泡: 圆角矩形 12">
            <a:extLst>
              <a:ext uri="{FF2B5EF4-FFF2-40B4-BE49-F238E27FC236}">
                <a16:creationId xmlns:a16="http://schemas.microsoft.com/office/drawing/2014/main" id="{47A8223C-4F8D-6A4B-4A62-14CBAD220AA0}"/>
              </a:ext>
            </a:extLst>
          </p:cNvPr>
          <p:cNvSpPr/>
          <p:nvPr/>
        </p:nvSpPr>
        <p:spPr>
          <a:xfrm>
            <a:off x="8319654" y="5335335"/>
            <a:ext cx="1573335" cy="487578"/>
          </a:xfrm>
          <a:prstGeom prst="wedgeRoundRectCallout">
            <a:avLst>
              <a:gd name="adj1" fmla="val -49012"/>
              <a:gd name="adj2" fmla="val 125013"/>
              <a:gd name="adj3" fmla="val 16667"/>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FF0000"/>
                </a:solidFill>
                <a:latin typeface="黑体" panose="02010609060101010101" pitchFamily="49" charset="-122"/>
                <a:ea typeface="黑体" panose="02010609060101010101" pitchFamily="49" charset="-122"/>
              </a:rPr>
              <a:t>增加封装</a:t>
            </a:r>
          </a:p>
        </p:txBody>
      </p:sp>
      <p:sp>
        <p:nvSpPr>
          <p:cNvPr id="15" name="文本框 14">
            <a:extLst>
              <a:ext uri="{FF2B5EF4-FFF2-40B4-BE49-F238E27FC236}">
                <a16:creationId xmlns:a16="http://schemas.microsoft.com/office/drawing/2014/main" id="{404D1238-FE72-A33C-1F8E-250F44948FB1}"/>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使用</a:t>
            </a:r>
            <a:r>
              <a:rPr lang="en-US" altLang="zh-CN" sz="4000" dirty="0">
                <a:solidFill>
                  <a:schemeClr val="accent1">
                    <a:lumMod val="75000"/>
                  </a:schemeClr>
                </a:solidFill>
                <a:latin typeface="Arial Black" panose="020B0A04020102020204" pitchFamily="34" charset="0"/>
                <a:ea typeface="黑体" panose="02010609060101010101" pitchFamily="49" charset="-122"/>
              </a:rPr>
              <a:t>AD</a:t>
            </a:r>
            <a:r>
              <a:rPr lang="zh-CN" altLang="en-US" sz="4000" dirty="0">
                <a:solidFill>
                  <a:schemeClr val="accent1">
                    <a:lumMod val="75000"/>
                  </a:schemeClr>
                </a:solidFill>
                <a:latin typeface="黑体" panose="02010609060101010101" pitchFamily="49" charset="-122"/>
                <a:ea typeface="黑体" panose="02010609060101010101" pitchFamily="49" charset="-122"/>
              </a:rPr>
              <a:t>设计电路原理图</a:t>
            </a:r>
            <a:endParaRPr lang="zh-CN" altLang="en-US" sz="4000" dirty="0">
              <a:solidFill>
                <a:srgbClr val="003F88"/>
              </a:solidFill>
              <a:latin typeface="黑体" panose="02010609060101010101" pitchFamily="49" charset="-122"/>
              <a:ea typeface="黑体" panose="02010609060101010101" pitchFamily="49" charset="-122"/>
            </a:endParaRPr>
          </a:p>
        </p:txBody>
      </p:sp>
      <p:sp>
        <p:nvSpPr>
          <p:cNvPr id="16" name="矩形 15">
            <a:extLst>
              <a:ext uri="{FF2B5EF4-FFF2-40B4-BE49-F238E27FC236}">
                <a16:creationId xmlns:a16="http://schemas.microsoft.com/office/drawing/2014/main" id="{B03378EE-008F-617C-4313-4881CE9EEC96}"/>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文本框 16">
            <a:extLst>
              <a:ext uri="{FF2B5EF4-FFF2-40B4-BE49-F238E27FC236}">
                <a16:creationId xmlns:a16="http://schemas.microsoft.com/office/drawing/2014/main" id="{5F36E1D0-CAB2-E7C6-0854-DC556A2AF496}"/>
              </a:ext>
            </a:extLst>
          </p:cNvPr>
          <p:cNvSpPr txBox="1"/>
          <p:nvPr/>
        </p:nvSpPr>
        <p:spPr>
          <a:xfrm>
            <a:off x="925287" y="1474731"/>
            <a:ext cx="6117770" cy="584775"/>
          </a:xfrm>
          <a:prstGeom prst="rect">
            <a:avLst/>
          </a:prstGeom>
          <a:noFill/>
        </p:spPr>
        <p:txBody>
          <a:bodyPr wrap="square">
            <a:spAutoFit/>
          </a:bodyPr>
          <a:lstStyle/>
          <a:p>
            <a:pPr marL="0" indent="0">
              <a:buNone/>
            </a:pPr>
            <a:r>
              <a:rPr lang="zh-CN" altLang="en-US" sz="3200" dirty="0">
                <a:latin typeface="Arial Black" panose="020B0A04020102020204" pitchFamily="34" charset="0"/>
                <a:ea typeface="黑体" panose="02010609060101010101" pitchFamily="49" charset="-122"/>
              </a:rPr>
              <a:t>设计电路原理图</a:t>
            </a:r>
            <a:endParaRPr lang="en-US" altLang="zh-CN" sz="3200" dirty="0">
              <a:latin typeface="Arial Black" panose="020B0A04020102020204" pitchFamily="34" charset="0"/>
              <a:ea typeface="黑体" panose="02010609060101010101" pitchFamily="49" charset="-122"/>
            </a:endParaRPr>
          </a:p>
        </p:txBody>
      </p:sp>
    </p:spTree>
    <p:extLst>
      <p:ext uri="{BB962C8B-B14F-4D97-AF65-F5344CB8AC3E}">
        <p14:creationId xmlns:p14="http://schemas.microsoft.com/office/powerpoint/2010/main" val="371443840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2063A-13A5-433B-4C6B-A55EFBC8E5B4}"/>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83FFEABF-4156-F0EA-C214-5CF7E702769F}"/>
              </a:ext>
            </a:extLst>
          </p:cNvPr>
          <p:cNvSpPr>
            <a:spLocks noGrp="1"/>
          </p:cNvSpPr>
          <p:nvPr>
            <p:ph idx="1"/>
          </p:nvPr>
        </p:nvSpPr>
        <p:spPr>
          <a:xfrm>
            <a:off x="662538" y="2265559"/>
            <a:ext cx="3539836" cy="4351338"/>
          </a:xfrm>
        </p:spPr>
        <p:txBody>
          <a:bodyPr/>
          <a:lstStyle/>
          <a:p>
            <a:pPr marL="0" indent="0">
              <a:buNone/>
            </a:pPr>
            <a:r>
              <a:rPr lang="zh-CN" altLang="en-US" dirty="0">
                <a:latin typeface="Arial Black" panose="020B0A04020102020204" pitchFamily="34" charset="0"/>
                <a:ea typeface="黑体" panose="02010609060101010101" pitchFamily="49" charset="-122"/>
              </a:rPr>
              <a:t>★给元件添加封装：</a:t>
            </a:r>
            <a:endParaRPr lang="en-US" altLang="zh-CN" dirty="0">
              <a:latin typeface="Arial Black" panose="020B0A04020102020204" pitchFamily="34" charset="0"/>
              <a:ea typeface="黑体" panose="02010609060101010101" pitchFamily="49" charset="-122"/>
            </a:endParaRPr>
          </a:p>
          <a:p>
            <a:pPr marL="0" indent="0">
              <a:buNone/>
            </a:pPr>
            <a:r>
              <a:rPr lang="zh-CN" altLang="zh-CN" dirty="0">
                <a:latin typeface="Arial Black" panose="020B0A04020102020204" pitchFamily="34" charset="0"/>
                <a:ea typeface="黑体" panose="02010609060101010101" pitchFamily="49" charset="-122"/>
              </a:rPr>
              <a:t>①</a:t>
            </a:r>
            <a:r>
              <a:rPr lang="zh-CN" altLang="en-US" dirty="0">
                <a:latin typeface="Arial Black" panose="020B0A04020102020204" pitchFamily="34" charset="0"/>
                <a:ea typeface="黑体" panose="02010609060101010101" pitchFamily="49" charset="-122"/>
              </a:rPr>
              <a:t>点击</a:t>
            </a:r>
            <a:r>
              <a:rPr lang="en-US" altLang="zh-CN" dirty="0">
                <a:latin typeface="Arial Black" panose="020B0A04020102020204" pitchFamily="34" charset="0"/>
                <a:ea typeface="黑体" panose="02010609060101010101" pitchFamily="49" charset="-122"/>
              </a:rPr>
              <a:t>Add</a:t>
            </a:r>
            <a:r>
              <a:rPr lang="zh-CN" altLang="en-US" dirty="0">
                <a:latin typeface="Arial Black" panose="020B0A04020102020204" pitchFamily="34" charset="0"/>
                <a:ea typeface="黑体" panose="02010609060101010101" pitchFamily="49" charset="-122"/>
              </a:rPr>
              <a:t>按钮</a:t>
            </a:r>
            <a:endParaRPr lang="en-US" altLang="zh-CN" dirty="0">
              <a:latin typeface="Arial Black" panose="020B0A04020102020204" pitchFamily="34" charset="0"/>
              <a:ea typeface="黑体" panose="02010609060101010101" pitchFamily="49" charset="-122"/>
            </a:endParaRPr>
          </a:p>
          <a:p>
            <a:pPr marL="0" indent="0">
              <a:buNone/>
            </a:pPr>
            <a:r>
              <a:rPr lang="zh-CN" altLang="en-US" dirty="0">
                <a:latin typeface="Arial Black" panose="020B0A04020102020204" pitchFamily="34" charset="0"/>
                <a:ea typeface="黑体" panose="02010609060101010101" pitchFamily="49" charset="-122"/>
              </a:rPr>
              <a:t>②选择</a:t>
            </a:r>
            <a:r>
              <a:rPr lang="en-US" altLang="zh-CN" dirty="0">
                <a:latin typeface="Arial Black" panose="020B0A04020102020204" pitchFamily="34" charset="0"/>
                <a:ea typeface="黑体" panose="02010609060101010101" pitchFamily="49" charset="-122"/>
              </a:rPr>
              <a:t>Footprint</a:t>
            </a:r>
          </a:p>
          <a:p>
            <a:pPr marL="0" indent="0">
              <a:buNone/>
            </a:pPr>
            <a:r>
              <a:rPr lang="zh-CN" altLang="en-US" dirty="0">
                <a:latin typeface="Arial Black" panose="020B0A04020102020204" pitchFamily="34" charset="0"/>
                <a:ea typeface="黑体" panose="02010609060101010101" pitchFamily="49" charset="-122"/>
              </a:rPr>
              <a:t>③点击</a:t>
            </a:r>
            <a:r>
              <a:rPr lang="en-US" altLang="zh-CN" dirty="0">
                <a:latin typeface="Arial Black" panose="020B0A04020102020204" pitchFamily="34" charset="0"/>
                <a:ea typeface="黑体" panose="02010609060101010101" pitchFamily="49" charset="-122"/>
              </a:rPr>
              <a:t>Browse</a:t>
            </a:r>
            <a:r>
              <a:rPr lang="zh-CN" altLang="en-US" dirty="0">
                <a:latin typeface="Arial Black" panose="020B0A04020102020204" pitchFamily="34" charset="0"/>
                <a:ea typeface="黑体" panose="02010609060101010101" pitchFamily="49" charset="-122"/>
              </a:rPr>
              <a:t>，选择所需封装库和正确的封装。</a:t>
            </a:r>
          </a:p>
        </p:txBody>
      </p:sp>
      <p:pic>
        <p:nvPicPr>
          <p:cNvPr id="9" name="图片 8">
            <a:extLst>
              <a:ext uri="{FF2B5EF4-FFF2-40B4-BE49-F238E27FC236}">
                <a16:creationId xmlns:a16="http://schemas.microsoft.com/office/drawing/2014/main" id="{787C93B7-9B41-8EA8-A735-7059E7445B41}"/>
              </a:ext>
            </a:extLst>
          </p:cNvPr>
          <p:cNvPicPr>
            <a:picLocks noChangeAspect="1"/>
          </p:cNvPicPr>
          <p:nvPr/>
        </p:nvPicPr>
        <p:blipFill>
          <a:blip r:embed="rId2"/>
          <a:stretch>
            <a:fillRect/>
          </a:stretch>
        </p:blipFill>
        <p:spPr>
          <a:xfrm>
            <a:off x="4242740" y="1363400"/>
            <a:ext cx="7822454" cy="5314139"/>
          </a:xfrm>
          <a:prstGeom prst="rect">
            <a:avLst/>
          </a:prstGeom>
        </p:spPr>
      </p:pic>
      <p:pic>
        <p:nvPicPr>
          <p:cNvPr id="11" name="图片 10">
            <a:extLst>
              <a:ext uri="{FF2B5EF4-FFF2-40B4-BE49-F238E27FC236}">
                <a16:creationId xmlns:a16="http://schemas.microsoft.com/office/drawing/2014/main" id="{81DB0ABE-B4D4-19C4-5009-478649050F59}"/>
              </a:ext>
            </a:extLst>
          </p:cNvPr>
          <p:cNvPicPr>
            <a:picLocks noChangeAspect="1"/>
          </p:cNvPicPr>
          <p:nvPr/>
        </p:nvPicPr>
        <p:blipFill>
          <a:blip r:embed="rId3"/>
          <a:stretch>
            <a:fillRect/>
          </a:stretch>
        </p:blipFill>
        <p:spPr>
          <a:xfrm>
            <a:off x="5243512" y="3114806"/>
            <a:ext cx="2099397" cy="1224214"/>
          </a:xfrm>
          <a:prstGeom prst="rect">
            <a:avLst/>
          </a:prstGeom>
          <a:ln>
            <a:solidFill>
              <a:srgbClr val="FF0000"/>
            </a:solidFill>
          </a:ln>
        </p:spPr>
      </p:pic>
      <p:sp>
        <p:nvSpPr>
          <p:cNvPr id="12" name="对话气泡: 圆角矩形 11">
            <a:extLst>
              <a:ext uri="{FF2B5EF4-FFF2-40B4-BE49-F238E27FC236}">
                <a16:creationId xmlns:a16="http://schemas.microsoft.com/office/drawing/2014/main" id="{282B9FB8-06EA-CB53-64B0-6F9E918D8889}"/>
              </a:ext>
            </a:extLst>
          </p:cNvPr>
          <p:cNvSpPr/>
          <p:nvPr/>
        </p:nvSpPr>
        <p:spPr>
          <a:xfrm>
            <a:off x="5616181" y="6176963"/>
            <a:ext cx="1826042" cy="408710"/>
          </a:xfrm>
          <a:prstGeom prst="wedgeRoundRectCallout">
            <a:avLst>
              <a:gd name="adj1" fmla="val 67937"/>
              <a:gd name="adj2" fmla="val -49364"/>
              <a:gd name="adj3" fmla="val 16667"/>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FF0000"/>
                </a:solidFill>
              </a:rPr>
              <a:t>1.</a:t>
            </a:r>
            <a:r>
              <a:rPr lang="zh-CN" altLang="en-US" sz="2400" b="1" dirty="0">
                <a:solidFill>
                  <a:srgbClr val="FF0000"/>
                </a:solidFill>
              </a:rPr>
              <a:t>点击</a:t>
            </a:r>
            <a:r>
              <a:rPr lang="en-US" altLang="zh-CN" sz="2400" b="1" dirty="0">
                <a:solidFill>
                  <a:srgbClr val="FF0000"/>
                </a:solidFill>
              </a:rPr>
              <a:t>Add</a:t>
            </a:r>
            <a:endParaRPr lang="zh-CN" altLang="en-US" sz="2400" b="1" dirty="0">
              <a:solidFill>
                <a:srgbClr val="FF0000"/>
              </a:solidFill>
            </a:endParaRPr>
          </a:p>
        </p:txBody>
      </p:sp>
      <p:sp>
        <p:nvSpPr>
          <p:cNvPr id="13" name="对话气泡: 圆角矩形 12">
            <a:extLst>
              <a:ext uri="{FF2B5EF4-FFF2-40B4-BE49-F238E27FC236}">
                <a16:creationId xmlns:a16="http://schemas.microsoft.com/office/drawing/2014/main" id="{ACF104C8-81B8-5095-0D10-CADE33B98D0D}"/>
              </a:ext>
            </a:extLst>
          </p:cNvPr>
          <p:cNvSpPr/>
          <p:nvPr/>
        </p:nvSpPr>
        <p:spPr>
          <a:xfrm>
            <a:off x="9537623" y="3599709"/>
            <a:ext cx="2204982" cy="841519"/>
          </a:xfrm>
          <a:prstGeom prst="wedgeRoundRectCallout">
            <a:avLst>
              <a:gd name="adj1" fmla="val 10583"/>
              <a:gd name="adj2" fmla="val -227262"/>
              <a:gd name="adj3" fmla="val 16667"/>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FF0000"/>
                </a:solidFill>
              </a:rPr>
              <a:t>3.</a:t>
            </a:r>
            <a:r>
              <a:rPr lang="zh-CN" altLang="en-US" sz="2400" b="1" dirty="0">
                <a:solidFill>
                  <a:srgbClr val="FF0000"/>
                </a:solidFill>
              </a:rPr>
              <a:t>点击</a:t>
            </a:r>
            <a:r>
              <a:rPr lang="en-US" altLang="zh-CN" sz="2400" b="1" dirty="0">
                <a:solidFill>
                  <a:srgbClr val="FF0000"/>
                </a:solidFill>
              </a:rPr>
              <a:t>Browse</a:t>
            </a:r>
            <a:r>
              <a:rPr lang="zh-CN" altLang="en-US" sz="2400" b="1" dirty="0">
                <a:solidFill>
                  <a:srgbClr val="FF0000"/>
                </a:solidFill>
              </a:rPr>
              <a:t>选择封装</a:t>
            </a:r>
          </a:p>
        </p:txBody>
      </p:sp>
      <p:sp>
        <p:nvSpPr>
          <p:cNvPr id="14" name="对话气泡: 圆角矩形 13">
            <a:extLst>
              <a:ext uri="{FF2B5EF4-FFF2-40B4-BE49-F238E27FC236}">
                <a16:creationId xmlns:a16="http://schemas.microsoft.com/office/drawing/2014/main" id="{42B20A04-6E67-2A13-1E0C-509A3666D53C}"/>
              </a:ext>
            </a:extLst>
          </p:cNvPr>
          <p:cNvSpPr/>
          <p:nvPr/>
        </p:nvSpPr>
        <p:spPr>
          <a:xfrm>
            <a:off x="4853475" y="4516160"/>
            <a:ext cx="2485050" cy="494554"/>
          </a:xfrm>
          <a:prstGeom prst="wedgeRoundRectCallout">
            <a:avLst>
              <a:gd name="adj1" fmla="val -16373"/>
              <a:gd name="adj2" fmla="val -186827"/>
              <a:gd name="adj3" fmla="val 16667"/>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FF0000"/>
                </a:solidFill>
              </a:rPr>
              <a:t>2.</a:t>
            </a:r>
            <a:r>
              <a:rPr lang="zh-CN" altLang="en-US" sz="2400" b="1" dirty="0">
                <a:solidFill>
                  <a:srgbClr val="FF0000"/>
                </a:solidFill>
              </a:rPr>
              <a:t>选择</a:t>
            </a:r>
            <a:r>
              <a:rPr lang="en-US" altLang="zh-CN" sz="2400" b="1" dirty="0">
                <a:solidFill>
                  <a:srgbClr val="FF0000"/>
                </a:solidFill>
              </a:rPr>
              <a:t>Footprint</a:t>
            </a:r>
            <a:endParaRPr lang="zh-CN" altLang="en-US" sz="2400" b="1" dirty="0">
              <a:solidFill>
                <a:srgbClr val="FF0000"/>
              </a:solidFill>
            </a:endParaRPr>
          </a:p>
        </p:txBody>
      </p:sp>
      <p:sp>
        <p:nvSpPr>
          <p:cNvPr id="10" name="文本框 9">
            <a:extLst>
              <a:ext uri="{FF2B5EF4-FFF2-40B4-BE49-F238E27FC236}">
                <a16:creationId xmlns:a16="http://schemas.microsoft.com/office/drawing/2014/main" id="{83362EDF-DDE2-4A8A-9524-006F6F21130A}"/>
              </a:ext>
            </a:extLst>
          </p:cNvPr>
          <p:cNvSpPr txBox="1"/>
          <p:nvPr/>
        </p:nvSpPr>
        <p:spPr>
          <a:xfrm>
            <a:off x="662086" y="5576798"/>
            <a:ext cx="2806827" cy="923330"/>
          </a:xfrm>
          <a:prstGeom prst="rect">
            <a:avLst/>
          </a:prstGeom>
          <a:noFill/>
          <a:ln>
            <a:solidFill>
              <a:srgbClr val="00B0F0"/>
            </a:solidFill>
          </a:ln>
        </p:spPr>
        <p:txBody>
          <a:bodyPr wrap="square" rtlCol="0">
            <a:spAutoFit/>
          </a:bodyPr>
          <a:lstStyle/>
          <a:p>
            <a:r>
              <a:rPr lang="zh-CN" altLang="en-US" dirty="0">
                <a:latin typeface="黑体" panose="02010609060101010101" pitchFamily="49" charset="-122"/>
                <a:ea typeface="黑体" panose="02010609060101010101" pitchFamily="49" charset="-122"/>
              </a:rPr>
              <a:t>如果元件已经包含封装库，则不必再添加封装该图中的元件就包含了封装库。</a:t>
            </a:r>
          </a:p>
        </p:txBody>
      </p:sp>
      <p:cxnSp>
        <p:nvCxnSpPr>
          <p:cNvPr id="16" name="直接箭头连接符 15">
            <a:extLst>
              <a:ext uri="{FF2B5EF4-FFF2-40B4-BE49-F238E27FC236}">
                <a16:creationId xmlns:a16="http://schemas.microsoft.com/office/drawing/2014/main" id="{8EBDB2BD-D3C3-E7CB-F2D5-C5D632849E0B}"/>
              </a:ext>
            </a:extLst>
          </p:cNvPr>
          <p:cNvCxnSpPr>
            <a:cxnSpLocks/>
            <a:stCxn id="10" idx="3"/>
          </p:cNvCxnSpPr>
          <p:nvPr/>
        </p:nvCxnSpPr>
        <p:spPr>
          <a:xfrm flipV="1">
            <a:off x="3468913" y="5291191"/>
            <a:ext cx="4345053" cy="7472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41495683-9250-F2E4-3D66-A6BCB5C57945}"/>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使用</a:t>
            </a:r>
            <a:r>
              <a:rPr lang="en-US" altLang="zh-CN" sz="4000" dirty="0">
                <a:solidFill>
                  <a:schemeClr val="accent1">
                    <a:lumMod val="75000"/>
                  </a:schemeClr>
                </a:solidFill>
                <a:latin typeface="Arial Black" panose="020B0A04020102020204" pitchFamily="34" charset="0"/>
                <a:ea typeface="黑体" panose="02010609060101010101" pitchFamily="49" charset="-122"/>
              </a:rPr>
              <a:t>AD</a:t>
            </a:r>
            <a:r>
              <a:rPr lang="zh-CN" altLang="en-US" sz="4000" dirty="0">
                <a:solidFill>
                  <a:schemeClr val="accent1">
                    <a:lumMod val="75000"/>
                  </a:schemeClr>
                </a:solidFill>
                <a:latin typeface="黑体" panose="02010609060101010101" pitchFamily="49" charset="-122"/>
                <a:ea typeface="黑体" panose="02010609060101010101" pitchFamily="49" charset="-122"/>
              </a:rPr>
              <a:t>设计电路原理图</a:t>
            </a:r>
            <a:endParaRPr lang="zh-CN" altLang="en-US" sz="4000" dirty="0">
              <a:solidFill>
                <a:srgbClr val="003F88"/>
              </a:solidFill>
              <a:latin typeface="黑体" panose="02010609060101010101" pitchFamily="49" charset="-122"/>
              <a:ea typeface="黑体" panose="02010609060101010101" pitchFamily="49" charset="-122"/>
            </a:endParaRPr>
          </a:p>
        </p:txBody>
      </p:sp>
      <p:sp>
        <p:nvSpPr>
          <p:cNvPr id="19" name="矩形 18">
            <a:extLst>
              <a:ext uri="{FF2B5EF4-FFF2-40B4-BE49-F238E27FC236}">
                <a16:creationId xmlns:a16="http://schemas.microsoft.com/office/drawing/2014/main" id="{20C2F07D-E929-132D-A047-CD33FA6A52DE}"/>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文本框 20">
            <a:extLst>
              <a:ext uri="{FF2B5EF4-FFF2-40B4-BE49-F238E27FC236}">
                <a16:creationId xmlns:a16="http://schemas.microsoft.com/office/drawing/2014/main" id="{8D3F318B-BB7B-3ACE-6BD8-362FD9AC5CCE}"/>
              </a:ext>
            </a:extLst>
          </p:cNvPr>
          <p:cNvSpPr txBox="1"/>
          <p:nvPr/>
        </p:nvSpPr>
        <p:spPr>
          <a:xfrm>
            <a:off x="662086" y="1461464"/>
            <a:ext cx="6117770" cy="584775"/>
          </a:xfrm>
          <a:prstGeom prst="rect">
            <a:avLst/>
          </a:prstGeom>
          <a:noFill/>
        </p:spPr>
        <p:txBody>
          <a:bodyPr wrap="square">
            <a:spAutoFit/>
          </a:bodyPr>
          <a:lstStyle/>
          <a:p>
            <a:pPr marL="0" indent="0">
              <a:buNone/>
            </a:pPr>
            <a:r>
              <a:rPr lang="zh-CN" altLang="en-US" sz="3200" dirty="0">
                <a:latin typeface="Arial Black" panose="020B0A04020102020204" pitchFamily="34" charset="0"/>
                <a:ea typeface="黑体" panose="02010609060101010101" pitchFamily="49" charset="-122"/>
              </a:rPr>
              <a:t>设计电路原理图</a:t>
            </a:r>
            <a:endParaRPr lang="en-US" altLang="zh-CN" sz="3200" dirty="0">
              <a:latin typeface="Arial Black" panose="020B0A04020102020204" pitchFamily="34" charset="0"/>
              <a:ea typeface="黑体" panose="02010609060101010101" pitchFamily="49" charset="-122"/>
            </a:endParaRPr>
          </a:p>
        </p:txBody>
      </p:sp>
    </p:spTree>
    <p:extLst>
      <p:ext uri="{BB962C8B-B14F-4D97-AF65-F5344CB8AC3E}">
        <p14:creationId xmlns:p14="http://schemas.microsoft.com/office/powerpoint/2010/main" val="33598681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54E8A7-9B22-9B54-82AD-ADA147C4CDC3}"/>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0CC242A5-CC38-664E-7B15-85F537AC4104}"/>
              </a:ext>
            </a:extLst>
          </p:cNvPr>
          <p:cNvSpPr>
            <a:spLocks noGrp="1"/>
          </p:cNvSpPr>
          <p:nvPr>
            <p:ph idx="1"/>
          </p:nvPr>
        </p:nvSpPr>
        <p:spPr>
          <a:xfrm>
            <a:off x="830942" y="2718254"/>
            <a:ext cx="3179618" cy="4351338"/>
          </a:xfrm>
        </p:spPr>
        <p:txBody>
          <a:bodyPr/>
          <a:lstStyle/>
          <a:p>
            <a:pPr marL="0" indent="0">
              <a:buNone/>
            </a:pPr>
            <a:r>
              <a:rPr lang="zh-CN" altLang="en-US" dirty="0">
                <a:latin typeface="Arial Black" panose="020B0A04020102020204" pitchFamily="34" charset="0"/>
                <a:ea typeface="黑体" panose="02010609060101010101" pitchFamily="49" charset="-122"/>
              </a:rPr>
              <a:t>★点击</a:t>
            </a:r>
            <a:r>
              <a:rPr lang="en-US" altLang="zh-CN" dirty="0">
                <a:latin typeface="Arial Black" panose="020B0A04020102020204" pitchFamily="34" charset="0"/>
                <a:ea typeface="黑体" panose="02010609060101010101" pitchFamily="49" charset="-122"/>
              </a:rPr>
              <a:t>Brows</a:t>
            </a:r>
            <a:r>
              <a:rPr lang="zh-CN" altLang="en-US" dirty="0">
                <a:latin typeface="Arial Black" panose="020B0A04020102020204" pitchFamily="34" charset="0"/>
                <a:ea typeface="黑体" panose="02010609060101010101" pitchFamily="49" charset="-122"/>
              </a:rPr>
              <a:t>后，选择所需封装库和正确的封装。</a:t>
            </a:r>
          </a:p>
        </p:txBody>
      </p:sp>
      <p:pic>
        <p:nvPicPr>
          <p:cNvPr id="9" name="图片 8">
            <a:extLst>
              <a:ext uri="{FF2B5EF4-FFF2-40B4-BE49-F238E27FC236}">
                <a16:creationId xmlns:a16="http://schemas.microsoft.com/office/drawing/2014/main" id="{D653C5A4-B050-8EF1-F057-A4A51E24235A}"/>
              </a:ext>
            </a:extLst>
          </p:cNvPr>
          <p:cNvPicPr>
            <a:picLocks noChangeAspect="1"/>
          </p:cNvPicPr>
          <p:nvPr/>
        </p:nvPicPr>
        <p:blipFill>
          <a:blip r:embed="rId2"/>
          <a:stretch>
            <a:fillRect/>
          </a:stretch>
        </p:blipFill>
        <p:spPr>
          <a:xfrm>
            <a:off x="4192704" y="1330038"/>
            <a:ext cx="7986218" cy="5472374"/>
          </a:xfrm>
          <a:prstGeom prst="rect">
            <a:avLst/>
          </a:prstGeom>
        </p:spPr>
      </p:pic>
      <p:sp>
        <p:nvSpPr>
          <p:cNvPr id="10" name="文本框 9">
            <a:extLst>
              <a:ext uri="{FF2B5EF4-FFF2-40B4-BE49-F238E27FC236}">
                <a16:creationId xmlns:a16="http://schemas.microsoft.com/office/drawing/2014/main" id="{6AA00ED9-3446-3DBA-632D-72E5163647AC}"/>
              </a:ext>
            </a:extLst>
          </p:cNvPr>
          <p:cNvSpPr txBox="1"/>
          <p:nvPr/>
        </p:nvSpPr>
        <p:spPr>
          <a:xfrm>
            <a:off x="5999018" y="1875354"/>
            <a:ext cx="2008909" cy="400110"/>
          </a:xfrm>
          <a:prstGeom prst="rect">
            <a:avLst/>
          </a:prstGeom>
          <a:solidFill>
            <a:schemeClr val="bg1"/>
          </a:solidFill>
        </p:spPr>
        <p:txBody>
          <a:bodyPr wrap="square" rtlCol="0">
            <a:spAutoFit/>
          </a:bodyPr>
          <a:lstStyle/>
          <a:p>
            <a:pPr algn="ctr"/>
            <a:r>
              <a:rPr lang="zh-CN" altLang="en-US" sz="2000" dirty="0">
                <a:solidFill>
                  <a:srgbClr val="FF0000"/>
                </a:solidFill>
              </a:rPr>
              <a:t>选择封装库</a:t>
            </a:r>
          </a:p>
        </p:txBody>
      </p:sp>
      <p:sp>
        <p:nvSpPr>
          <p:cNvPr id="11" name="文本框 10">
            <a:extLst>
              <a:ext uri="{FF2B5EF4-FFF2-40B4-BE49-F238E27FC236}">
                <a16:creationId xmlns:a16="http://schemas.microsoft.com/office/drawing/2014/main" id="{29ED7C70-115B-52D5-5C8A-63C872EAE7FD}"/>
              </a:ext>
            </a:extLst>
          </p:cNvPr>
          <p:cNvSpPr txBox="1"/>
          <p:nvPr/>
        </p:nvSpPr>
        <p:spPr>
          <a:xfrm>
            <a:off x="5363413" y="4200281"/>
            <a:ext cx="2008909" cy="400110"/>
          </a:xfrm>
          <a:prstGeom prst="rect">
            <a:avLst/>
          </a:prstGeom>
          <a:solidFill>
            <a:schemeClr val="bg1"/>
          </a:solidFill>
        </p:spPr>
        <p:txBody>
          <a:bodyPr wrap="square" rtlCol="0">
            <a:spAutoFit/>
          </a:bodyPr>
          <a:lstStyle/>
          <a:p>
            <a:pPr algn="ctr"/>
            <a:r>
              <a:rPr lang="zh-CN" altLang="en-US" sz="2000" dirty="0">
                <a:solidFill>
                  <a:srgbClr val="FF0000"/>
                </a:solidFill>
              </a:rPr>
              <a:t>选择所需封装</a:t>
            </a:r>
          </a:p>
        </p:txBody>
      </p:sp>
      <p:sp>
        <p:nvSpPr>
          <p:cNvPr id="14" name="文本框 13">
            <a:extLst>
              <a:ext uri="{FF2B5EF4-FFF2-40B4-BE49-F238E27FC236}">
                <a16:creationId xmlns:a16="http://schemas.microsoft.com/office/drawing/2014/main" id="{A12C5D51-14C4-EE0F-F1AA-B12CEC104D29}"/>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使用</a:t>
            </a:r>
            <a:r>
              <a:rPr lang="en-US" altLang="zh-CN" sz="4000" dirty="0">
                <a:solidFill>
                  <a:schemeClr val="accent1">
                    <a:lumMod val="75000"/>
                  </a:schemeClr>
                </a:solidFill>
                <a:latin typeface="Arial Black" panose="020B0A04020102020204" pitchFamily="34" charset="0"/>
                <a:ea typeface="黑体" panose="02010609060101010101" pitchFamily="49" charset="-122"/>
              </a:rPr>
              <a:t>AD</a:t>
            </a:r>
            <a:r>
              <a:rPr lang="zh-CN" altLang="en-US" sz="4000" dirty="0">
                <a:solidFill>
                  <a:schemeClr val="accent1">
                    <a:lumMod val="75000"/>
                  </a:schemeClr>
                </a:solidFill>
                <a:latin typeface="黑体" panose="02010609060101010101" pitchFamily="49" charset="-122"/>
                <a:ea typeface="黑体" panose="02010609060101010101" pitchFamily="49" charset="-122"/>
              </a:rPr>
              <a:t>设计电路原理图</a:t>
            </a:r>
            <a:endParaRPr lang="zh-CN" altLang="en-US" sz="4000" dirty="0">
              <a:solidFill>
                <a:srgbClr val="003F88"/>
              </a:solidFill>
              <a:latin typeface="黑体" panose="02010609060101010101" pitchFamily="49" charset="-122"/>
              <a:ea typeface="黑体" panose="02010609060101010101" pitchFamily="49" charset="-122"/>
            </a:endParaRPr>
          </a:p>
        </p:txBody>
      </p:sp>
      <p:sp>
        <p:nvSpPr>
          <p:cNvPr id="15" name="矩形 14">
            <a:extLst>
              <a:ext uri="{FF2B5EF4-FFF2-40B4-BE49-F238E27FC236}">
                <a16:creationId xmlns:a16="http://schemas.microsoft.com/office/drawing/2014/main" id="{A02C8FE1-555A-6478-F702-B45AA62B5AB8}"/>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445CF8F5-2FD2-BA46-6BA4-5239B58A6D99}"/>
              </a:ext>
            </a:extLst>
          </p:cNvPr>
          <p:cNvSpPr txBox="1"/>
          <p:nvPr/>
        </p:nvSpPr>
        <p:spPr>
          <a:xfrm>
            <a:off x="925287" y="1474731"/>
            <a:ext cx="6117770" cy="584775"/>
          </a:xfrm>
          <a:prstGeom prst="rect">
            <a:avLst/>
          </a:prstGeom>
          <a:noFill/>
        </p:spPr>
        <p:txBody>
          <a:bodyPr wrap="square">
            <a:spAutoFit/>
          </a:bodyPr>
          <a:lstStyle/>
          <a:p>
            <a:pPr marL="0" indent="0">
              <a:buNone/>
            </a:pPr>
            <a:r>
              <a:rPr lang="zh-CN" altLang="en-US" sz="3200" dirty="0">
                <a:latin typeface="Arial Black" panose="020B0A04020102020204" pitchFamily="34" charset="0"/>
                <a:ea typeface="黑体" panose="02010609060101010101" pitchFamily="49" charset="-122"/>
              </a:rPr>
              <a:t>设计电路原理图</a:t>
            </a:r>
            <a:endParaRPr lang="en-US" altLang="zh-CN" sz="3200" dirty="0">
              <a:latin typeface="Arial Black" panose="020B0A04020102020204" pitchFamily="34" charset="0"/>
              <a:ea typeface="黑体" panose="02010609060101010101" pitchFamily="49" charset="-122"/>
            </a:endParaRPr>
          </a:p>
        </p:txBody>
      </p:sp>
    </p:spTree>
    <p:extLst>
      <p:ext uri="{BB962C8B-B14F-4D97-AF65-F5344CB8AC3E}">
        <p14:creationId xmlns:p14="http://schemas.microsoft.com/office/powerpoint/2010/main" val="194474636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36E48-B3EB-ACBC-9690-7D2D67528B4A}"/>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AE3488DD-F9B3-B488-3EC0-D3D3DD2532E7}"/>
              </a:ext>
            </a:extLst>
          </p:cNvPr>
          <p:cNvSpPr>
            <a:spLocks noGrp="1"/>
          </p:cNvSpPr>
          <p:nvPr>
            <p:ph idx="1"/>
          </p:nvPr>
        </p:nvSpPr>
        <p:spPr>
          <a:xfrm>
            <a:off x="838200" y="2293134"/>
            <a:ext cx="10515600" cy="4351338"/>
          </a:xfrm>
        </p:spPr>
        <p:txBody>
          <a:bodyPr/>
          <a:lstStyle/>
          <a:p>
            <a:pPr marL="0" indent="0">
              <a:buNone/>
            </a:pPr>
            <a:r>
              <a:rPr lang="zh-CN" altLang="en-US" dirty="0">
                <a:latin typeface="Arial Black" panose="020B0A04020102020204" pitchFamily="34" charset="0"/>
                <a:ea typeface="黑体" panose="02010609060101010101" pitchFamily="49" charset="-122"/>
              </a:rPr>
              <a:t>★放置好所有元件，并编辑好正确的参数和封装，连接上导线。得到完整的原理图。</a:t>
            </a:r>
          </a:p>
        </p:txBody>
      </p:sp>
      <p:sp>
        <p:nvSpPr>
          <p:cNvPr id="16" name="文本框 15">
            <a:extLst>
              <a:ext uri="{FF2B5EF4-FFF2-40B4-BE49-F238E27FC236}">
                <a16:creationId xmlns:a16="http://schemas.microsoft.com/office/drawing/2014/main" id="{059C0741-3111-4617-EA00-AB620C5FD762}"/>
              </a:ext>
            </a:extLst>
          </p:cNvPr>
          <p:cNvSpPr txBox="1"/>
          <p:nvPr/>
        </p:nvSpPr>
        <p:spPr>
          <a:xfrm>
            <a:off x="7829550" y="3129975"/>
            <a:ext cx="4490755" cy="2677656"/>
          </a:xfrm>
          <a:prstGeom prst="rect">
            <a:avLst/>
          </a:prstGeom>
          <a:noFill/>
        </p:spPr>
        <p:txBody>
          <a:bodyPr wrap="square" rtlCol="0">
            <a:spAutoFit/>
          </a:bodyPr>
          <a:lstStyle/>
          <a:p>
            <a:r>
              <a:rPr lang="zh-CN" altLang="en-US" sz="2800" dirty="0">
                <a:latin typeface="Arial" panose="020B0604020202020204" pitchFamily="34" charset="0"/>
                <a:ea typeface="黑体" panose="02010609060101010101" pitchFamily="49" charset="-122"/>
                <a:cs typeface="Arial" panose="020B0604020202020204" pitchFamily="34" charset="0"/>
              </a:rPr>
              <a:t>快捷键：</a:t>
            </a:r>
            <a:endParaRPr lang="en-US" altLang="zh-CN" sz="2800" dirty="0">
              <a:latin typeface="Arial" panose="020B0604020202020204" pitchFamily="34" charset="0"/>
              <a:ea typeface="黑体" panose="02010609060101010101" pitchFamily="49" charset="-122"/>
              <a:cs typeface="Arial" panose="020B0604020202020204" pitchFamily="34" charset="0"/>
            </a:endParaRPr>
          </a:p>
          <a:p>
            <a:r>
              <a:rPr lang="zh-CN" altLang="en-US" sz="2800" dirty="0">
                <a:latin typeface="Arial" panose="020B0604020202020204" pitchFamily="34" charset="0"/>
                <a:ea typeface="黑体" panose="02010609060101010101" pitchFamily="49" charset="-122"/>
                <a:cs typeface="Arial" panose="020B0604020202020204" pitchFamily="34" charset="0"/>
              </a:rPr>
              <a:t>放大</a:t>
            </a:r>
            <a:r>
              <a:rPr lang="en-US" altLang="zh-CN" sz="2800" dirty="0" err="1">
                <a:latin typeface="Arial" panose="020B0604020202020204" pitchFamily="34" charset="0"/>
                <a:ea typeface="黑体" panose="02010609060101010101" pitchFamily="49" charset="-122"/>
                <a:cs typeface="Arial" panose="020B0604020202020204" pitchFamily="34" charset="0"/>
              </a:rPr>
              <a:t>PgUp</a:t>
            </a:r>
            <a:endParaRPr lang="en-US" altLang="zh-CN" sz="2800" dirty="0">
              <a:latin typeface="Arial" panose="020B0604020202020204" pitchFamily="34" charset="0"/>
              <a:ea typeface="黑体" panose="02010609060101010101" pitchFamily="49" charset="-122"/>
              <a:cs typeface="Arial" panose="020B0604020202020204" pitchFamily="34" charset="0"/>
            </a:endParaRPr>
          </a:p>
          <a:p>
            <a:r>
              <a:rPr lang="zh-CN" altLang="en-US" sz="2800" dirty="0">
                <a:latin typeface="Arial" panose="020B0604020202020204" pitchFamily="34" charset="0"/>
                <a:ea typeface="黑体" panose="02010609060101010101" pitchFamily="49" charset="-122"/>
                <a:cs typeface="Arial" panose="020B0604020202020204" pitchFamily="34" charset="0"/>
              </a:rPr>
              <a:t>缩小</a:t>
            </a:r>
            <a:r>
              <a:rPr lang="en-US" altLang="zh-CN" sz="2800" dirty="0" err="1">
                <a:latin typeface="Arial" panose="020B0604020202020204" pitchFamily="34" charset="0"/>
                <a:ea typeface="黑体" panose="02010609060101010101" pitchFamily="49" charset="-122"/>
                <a:cs typeface="Arial" panose="020B0604020202020204" pitchFamily="34" charset="0"/>
              </a:rPr>
              <a:t>PgDn</a:t>
            </a:r>
            <a:endParaRPr lang="en-US" altLang="zh-CN" sz="2800" dirty="0">
              <a:latin typeface="Arial" panose="020B0604020202020204" pitchFamily="34" charset="0"/>
              <a:ea typeface="黑体" panose="02010609060101010101" pitchFamily="49" charset="-122"/>
              <a:cs typeface="Arial" panose="020B0604020202020204" pitchFamily="34" charset="0"/>
            </a:endParaRPr>
          </a:p>
          <a:p>
            <a:r>
              <a:rPr lang="zh-CN" altLang="en-US" sz="2800" dirty="0">
                <a:latin typeface="Arial" panose="020B0604020202020204" pitchFamily="34" charset="0"/>
                <a:ea typeface="黑体" panose="02010609060101010101" pitchFamily="49" charset="-122"/>
                <a:cs typeface="Arial" panose="020B0604020202020204" pitchFamily="34" charset="0"/>
              </a:rPr>
              <a:t>电器画线</a:t>
            </a:r>
            <a:r>
              <a:rPr lang="en-US" altLang="zh-CN" sz="2800" dirty="0" err="1">
                <a:latin typeface="Arial" panose="020B0604020202020204" pitchFamily="34" charset="0"/>
                <a:ea typeface="黑体" panose="02010609060101010101" pitchFamily="49" charset="-122"/>
                <a:cs typeface="Arial" panose="020B0604020202020204" pitchFamily="34" charset="0"/>
              </a:rPr>
              <a:t>ctrl+W</a:t>
            </a:r>
            <a:endParaRPr lang="en-US" altLang="zh-CN" sz="2800" dirty="0">
              <a:latin typeface="Arial" panose="020B0604020202020204" pitchFamily="34" charset="0"/>
              <a:ea typeface="黑体" panose="02010609060101010101" pitchFamily="49" charset="-122"/>
              <a:cs typeface="Arial" panose="020B0604020202020204" pitchFamily="34" charset="0"/>
            </a:endParaRPr>
          </a:p>
          <a:p>
            <a:r>
              <a:rPr lang="zh-CN" altLang="en-US" sz="2800" dirty="0">
                <a:latin typeface="Arial" panose="020B0604020202020204" pitchFamily="34" charset="0"/>
                <a:ea typeface="黑体" panose="02010609060101010101" pitchFamily="49" charset="-122"/>
                <a:cs typeface="Arial" panose="020B0604020202020204" pitchFamily="34" charset="0"/>
              </a:rPr>
              <a:t>旋转元件 </a:t>
            </a:r>
            <a:r>
              <a:rPr lang="en-US" altLang="zh-CN" sz="2800" dirty="0">
                <a:latin typeface="Arial" panose="020B0604020202020204" pitchFamily="34" charset="0"/>
                <a:ea typeface="黑体" panose="02010609060101010101" pitchFamily="49" charset="-122"/>
                <a:cs typeface="Arial" panose="020B0604020202020204" pitchFamily="34" charset="0"/>
              </a:rPr>
              <a:t>space</a:t>
            </a:r>
            <a:r>
              <a:rPr lang="zh-CN" altLang="en-US" sz="2800" dirty="0">
                <a:latin typeface="Arial" panose="020B0604020202020204" pitchFamily="34" charset="0"/>
                <a:ea typeface="黑体" panose="02010609060101010101" pitchFamily="49" charset="-122"/>
                <a:cs typeface="Arial" panose="020B0604020202020204" pitchFamily="34" charset="0"/>
              </a:rPr>
              <a:t>空格键</a:t>
            </a:r>
            <a:endParaRPr lang="en-US" altLang="zh-CN" sz="2800" dirty="0">
              <a:latin typeface="Arial" panose="020B0604020202020204" pitchFamily="34" charset="0"/>
              <a:ea typeface="黑体" panose="02010609060101010101" pitchFamily="49" charset="-122"/>
              <a:cs typeface="Arial" panose="020B0604020202020204" pitchFamily="34" charset="0"/>
            </a:endParaRPr>
          </a:p>
          <a:p>
            <a:r>
              <a:rPr lang="en-US" altLang="zh-CN" sz="2800" dirty="0">
                <a:latin typeface="Arial" panose="020B0604020202020204" pitchFamily="34" charset="0"/>
                <a:ea typeface="黑体" panose="02010609060101010101" pitchFamily="49" charset="-122"/>
                <a:cs typeface="Arial" panose="020B0604020202020204" pitchFamily="34" charset="0"/>
              </a:rPr>
              <a:t>PCB</a:t>
            </a:r>
            <a:r>
              <a:rPr lang="zh-CN" altLang="en-US" sz="2800" dirty="0">
                <a:latin typeface="Arial" panose="020B0604020202020204" pitchFamily="34" charset="0"/>
                <a:ea typeface="黑体" panose="02010609060101010101" pitchFamily="49" charset="-122"/>
                <a:cs typeface="Arial" panose="020B0604020202020204" pitchFamily="34" charset="0"/>
              </a:rPr>
              <a:t>中测量两点距离</a:t>
            </a:r>
            <a:r>
              <a:rPr lang="en-US" altLang="zh-CN" sz="2800" dirty="0" err="1">
                <a:latin typeface="Arial" panose="020B0604020202020204" pitchFamily="34" charset="0"/>
                <a:ea typeface="黑体" panose="02010609060101010101" pitchFamily="49" charset="-122"/>
                <a:cs typeface="Arial" panose="020B0604020202020204" pitchFamily="34" charset="0"/>
              </a:rPr>
              <a:t>ctrl+M</a:t>
            </a:r>
            <a:endParaRPr lang="zh-CN" altLang="en-US" sz="2800" dirty="0">
              <a:latin typeface="Arial" panose="020B0604020202020204" pitchFamily="34" charset="0"/>
              <a:ea typeface="黑体" panose="02010609060101010101" pitchFamily="49" charset="-122"/>
              <a:cs typeface="Arial" panose="020B0604020202020204" pitchFamily="34" charset="0"/>
            </a:endParaRPr>
          </a:p>
        </p:txBody>
      </p:sp>
      <p:pic>
        <p:nvPicPr>
          <p:cNvPr id="14" name="图片 13">
            <a:extLst>
              <a:ext uri="{FF2B5EF4-FFF2-40B4-BE49-F238E27FC236}">
                <a16:creationId xmlns:a16="http://schemas.microsoft.com/office/drawing/2014/main" id="{DCE59D1A-F38D-2FDC-2651-9033DEF3324D}"/>
              </a:ext>
            </a:extLst>
          </p:cNvPr>
          <p:cNvPicPr>
            <a:picLocks noChangeAspect="1"/>
          </p:cNvPicPr>
          <p:nvPr/>
        </p:nvPicPr>
        <p:blipFill>
          <a:blip r:embed="rId2"/>
          <a:stretch>
            <a:fillRect/>
          </a:stretch>
        </p:blipFill>
        <p:spPr>
          <a:xfrm>
            <a:off x="3703950" y="3025156"/>
            <a:ext cx="4043869" cy="2661849"/>
          </a:xfrm>
          <a:prstGeom prst="rect">
            <a:avLst/>
          </a:prstGeom>
        </p:spPr>
      </p:pic>
      <p:sp>
        <p:nvSpPr>
          <p:cNvPr id="7" name="文本框 6">
            <a:extLst>
              <a:ext uri="{FF2B5EF4-FFF2-40B4-BE49-F238E27FC236}">
                <a16:creationId xmlns:a16="http://schemas.microsoft.com/office/drawing/2014/main" id="{792F1E7B-0601-A80D-E6D3-AC5211867B1D}"/>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使用</a:t>
            </a:r>
            <a:r>
              <a:rPr lang="en-US" altLang="zh-CN" sz="4000" dirty="0">
                <a:solidFill>
                  <a:schemeClr val="accent1">
                    <a:lumMod val="75000"/>
                  </a:schemeClr>
                </a:solidFill>
                <a:latin typeface="Arial Black" panose="020B0A04020102020204" pitchFamily="34" charset="0"/>
                <a:ea typeface="黑体" panose="02010609060101010101" pitchFamily="49" charset="-122"/>
              </a:rPr>
              <a:t>AD</a:t>
            </a:r>
            <a:r>
              <a:rPr lang="zh-CN" altLang="en-US" sz="4000" dirty="0">
                <a:solidFill>
                  <a:schemeClr val="accent1">
                    <a:lumMod val="75000"/>
                  </a:schemeClr>
                </a:solidFill>
                <a:latin typeface="黑体" panose="02010609060101010101" pitchFamily="49" charset="-122"/>
                <a:ea typeface="黑体" panose="02010609060101010101" pitchFamily="49" charset="-122"/>
              </a:rPr>
              <a:t>设计电路原理图</a:t>
            </a:r>
            <a:endParaRPr lang="zh-CN" altLang="en-US" sz="4000" dirty="0">
              <a:solidFill>
                <a:srgbClr val="003F88"/>
              </a:solidFill>
              <a:latin typeface="黑体" panose="02010609060101010101" pitchFamily="49" charset="-122"/>
              <a:ea typeface="黑体" panose="02010609060101010101" pitchFamily="49" charset="-122"/>
            </a:endParaRPr>
          </a:p>
        </p:txBody>
      </p:sp>
      <p:sp>
        <p:nvSpPr>
          <p:cNvPr id="9" name="矩形 8">
            <a:extLst>
              <a:ext uri="{FF2B5EF4-FFF2-40B4-BE49-F238E27FC236}">
                <a16:creationId xmlns:a16="http://schemas.microsoft.com/office/drawing/2014/main" id="{DA894555-AA2A-C748-8664-B472039C8447}"/>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文本框 14">
            <a:extLst>
              <a:ext uri="{FF2B5EF4-FFF2-40B4-BE49-F238E27FC236}">
                <a16:creationId xmlns:a16="http://schemas.microsoft.com/office/drawing/2014/main" id="{F8FFDD4B-DE9B-297C-E8AF-577C01B98383}"/>
              </a:ext>
            </a:extLst>
          </p:cNvPr>
          <p:cNvSpPr txBox="1"/>
          <p:nvPr/>
        </p:nvSpPr>
        <p:spPr>
          <a:xfrm>
            <a:off x="925287" y="1474731"/>
            <a:ext cx="6117770" cy="584775"/>
          </a:xfrm>
          <a:prstGeom prst="rect">
            <a:avLst/>
          </a:prstGeom>
          <a:noFill/>
        </p:spPr>
        <p:txBody>
          <a:bodyPr wrap="square">
            <a:spAutoFit/>
          </a:bodyPr>
          <a:lstStyle/>
          <a:p>
            <a:pPr marL="0" indent="0">
              <a:buNone/>
            </a:pPr>
            <a:r>
              <a:rPr lang="zh-CN" altLang="en-US" sz="3200" dirty="0">
                <a:latin typeface="Arial Black" panose="020B0A04020102020204" pitchFamily="34" charset="0"/>
                <a:ea typeface="黑体" panose="02010609060101010101" pitchFamily="49" charset="-122"/>
              </a:rPr>
              <a:t>设计电路原理图</a:t>
            </a:r>
            <a:endParaRPr lang="en-US" altLang="zh-CN" sz="3200" dirty="0">
              <a:latin typeface="Arial Black" panose="020B0A04020102020204" pitchFamily="34" charset="0"/>
              <a:ea typeface="黑体" panose="02010609060101010101" pitchFamily="49" charset="-122"/>
            </a:endParaRPr>
          </a:p>
        </p:txBody>
      </p:sp>
    </p:spTree>
    <p:extLst>
      <p:ext uri="{BB962C8B-B14F-4D97-AF65-F5344CB8AC3E}">
        <p14:creationId xmlns:p14="http://schemas.microsoft.com/office/powerpoint/2010/main" val="257621451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F71DB2-CCB9-64AF-BE8F-90D47FCE85D0}"/>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CD2F1618-FF3D-76DD-F254-D9301E23DE2C}"/>
              </a:ext>
            </a:extLst>
          </p:cNvPr>
          <p:cNvSpPr>
            <a:spLocks noGrp="1"/>
          </p:cNvSpPr>
          <p:nvPr>
            <p:ph idx="1"/>
          </p:nvPr>
        </p:nvSpPr>
        <p:spPr>
          <a:xfrm>
            <a:off x="838200" y="2159454"/>
            <a:ext cx="10515600" cy="4351338"/>
          </a:xfrm>
        </p:spPr>
        <p:txBody>
          <a:bodyPr/>
          <a:lstStyle/>
          <a:p>
            <a:pPr marL="0" indent="0">
              <a:buNone/>
            </a:pPr>
            <a:r>
              <a:rPr lang="zh-CN" altLang="en-US" dirty="0">
                <a:latin typeface="Arial Black" panose="020B0A04020102020204" pitchFamily="34" charset="0"/>
                <a:ea typeface="黑体" panose="02010609060101010101" pitchFamily="49" charset="-122"/>
              </a:rPr>
              <a:t>★放置好所有元件，并编辑好正确的参数和封装，</a:t>
            </a:r>
            <a:r>
              <a:rPr lang="zh-CN" altLang="en-US" b="1" dirty="0">
                <a:solidFill>
                  <a:srgbClr val="FF0000"/>
                </a:solidFill>
                <a:latin typeface="Arial Black" panose="020B0A04020102020204" pitchFamily="34" charset="0"/>
                <a:ea typeface="黑体" panose="02010609060101010101" pitchFamily="49" charset="-122"/>
              </a:rPr>
              <a:t>连接上导线</a:t>
            </a:r>
            <a:r>
              <a:rPr lang="zh-CN" altLang="en-US" dirty="0">
                <a:latin typeface="Arial Black" panose="020B0A04020102020204" pitchFamily="34" charset="0"/>
                <a:ea typeface="黑体" panose="02010609060101010101" pitchFamily="49" charset="-122"/>
              </a:rPr>
              <a:t>。得到完整的原理图。</a:t>
            </a:r>
          </a:p>
        </p:txBody>
      </p:sp>
      <p:pic>
        <p:nvPicPr>
          <p:cNvPr id="6" name="图片 5">
            <a:extLst>
              <a:ext uri="{FF2B5EF4-FFF2-40B4-BE49-F238E27FC236}">
                <a16:creationId xmlns:a16="http://schemas.microsoft.com/office/drawing/2014/main" id="{529473E3-40A2-CC5B-F5E2-12526E81967C}"/>
              </a:ext>
            </a:extLst>
          </p:cNvPr>
          <p:cNvPicPr>
            <a:picLocks noChangeAspect="1"/>
          </p:cNvPicPr>
          <p:nvPr/>
        </p:nvPicPr>
        <p:blipFill>
          <a:blip r:embed="rId2"/>
          <a:stretch>
            <a:fillRect/>
          </a:stretch>
        </p:blipFill>
        <p:spPr>
          <a:xfrm>
            <a:off x="3267075" y="3157538"/>
            <a:ext cx="6934200" cy="3019425"/>
          </a:xfrm>
          <a:prstGeom prst="rect">
            <a:avLst/>
          </a:prstGeom>
        </p:spPr>
      </p:pic>
      <p:sp>
        <p:nvSpPr>
          <p:cNvPr id="4" name="矩形 3">
            <a:extLst>
              <a:ext uri="{FF2B5EF4-FFF2-40B4-BE49-F238E27FC236}">
                <a16:creationId xmlns:a16="http://schemas.microsoft.com/office/drawing/2014/main" id="{5E224628-4997-F057-3614-F180CC1ED63C}"/>
              </a:ext>
            </a:extLst>
          </p:cNvPr>
          <p:cNvSpPr/>
          <p:nvPr/>
        </p:nvSpPr>
        <p:spPr>
          <a:xfrm>
            <a:off x="3333750" y="3157538"/>
            <a:ext cx="742950" cy="452437"/>
          </a:xfrm>
          <a:custGeom>
            <a:avLst/>
            <a:gdLst>
              <a:gd name="connsiteX0" fmla="*/ 0 w 742950"/>
              <a:gd name="connsiteY0" fmla="*/ 0 h 452437"/>
              <a:gd name="connsiteX1" fmla="*/ 364046 w 742950"/>
              <a:gd name="connsiteY1" fmla="*/ 0 h 452437"/>
              <a:gd name="connsiteX2" fmla="*/ 742950 w 742950"/>
              <a:gd name="connsiteY2" fmla="*/ 0 h 452437"/>
              <a:gd name="connsiteX3" fmla="*/ 742950 w 742950"/>
              <a:gd name="connsiteY3" fmla="*/ 452437 h 452437"/>
              <a:gd name="connsiteX4" fmla="*/ 378905 w 742950"/>
              <a:gd name="connsiteY4" fmla="*/ 452437 h 452437"/>
              <a:gd name="connsiteX5" fmla="*/ 0 w 742950"/>
              <a:gd name="connsiteY5" fmla="*/ 452437 h 452437"/>
              <a:gd name="connsiteX6" fmla="*/ 0 w 742950"/>
              <a:gd name="connsiteY6" fmla="*/ 0 h 452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2950" h="452437" extrusionOk="0">
                <a:moveTo>
                  <a:pt x="0" y="0"/>
                </a:moveTo>
                <a:cubicBezTo>
                  <a:pt x="111307" y="-31825"/>
                  <a:pt x="207155" y="21936"/>
                  <a:pt x="364046" y="0"/>
                </a:cubicBezTo>
                <a:cubicBezTo>
                  <a:pt x="520937" y="-21936"/>
                  <a:pt x="661044" y="18308"/>
                  <a:pt x="742950" y="0"/>
                </a:cubicBezTo>
                <a:cubicBezTo>
                  <a:pt x="758779" y="146995"/>
                  <a:pt x="717510" y="284087"/>
                  <a:pt x="742950" y="452437"/>
                </a:cubicBezTo>
                <a:cubicBezTo>
                  <a:pt x="578783" y="470016"/>
                  <a:pt x="526558" y="439694"/>
                  <a:pt x="378905" y="452437"/>
                </a:cubicBezTo>
                <a:cubicBezTo>
                  <a:pt x="231253" y="465180"/>
                  <a:pt x="126278" y="435504"/>
                  <a:pt x="0" y="452437"/>
                </a:cubicBezTo>
                <a:cubicBezTo>
                  <a:pt x="-43636" y="320643"/>
                  <a:pt x="30885" y="208736"/>
                  <a:pt x="0" y="0"/>
                </a:cubicBezTo>
                <a:close/>
              </a:path>
            </a:pathLst>
          </a:custGeom>
          <a:noFill/>
          <a:ln w="38100">
            <a:solidFill>
              <a:srgbClr val="FF0000"/>
            </a:solidFill>
            <a:extLst>
              <a:ext uri="{C807C97D-BFC1-408E-A445-0C87EB9F89A2}">
                <ask:lineSketchStyleProps xmlns:ask="http://schemas.microsoft.com/office/drawing/2018/sketchyshapes" sd="3841872309">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9A460281-ED00-008D-6400-3393A701BC93}"/>
              </a:ext>
            </a:extLst>
          </p:cNvPr>
          <p:cNvSpPr/>
          <p:nvPr/>
        </p:nvSpPr>
        <p:spPr>
          <a:xfrm>
            <a:off x="3362325" y="5367338"/>
            <a:ext cx="2000250" cy="547687"/>
          </a:xfrm>
          <a:custGeom>
            <a:avLst/>
            <a:gdLst>
              <a:gd name="connsiteX0" fmla="*/ 0 w 2000250"/>
              <a:gd name="connsiteY0" fmla="*/ 0 h 547687"/>
              <a:gd name="connsiteX1" fmla="*/ 480060 w 2000250"/>
              <a:gd name="connsiteY1" fmla="*/ 0 h 547687"/>
              <a:gd name="connsiteX2" fmla="*/ 960120 w 2000250"/>
              <a:gd name="connsiteY2" fmla="*/ 0 h 547687"/>
              <a:gd name="connsiteX3" fmla="*/ 1440180 w 2000250"/>
              <a:gd name="connsiteY3" fmla="*/ 0 h 547687"/>
              <a:gd name="connsiteX4" fmla="*/ 2000250 w 2000250"/>
              <a:gd name="connsiteY4" fmla="*/ 0 h 547687"/>
              <a:gd name="connsiteX5" fmla="*/ 2000250 w 2000250"/>
              <a:gd name="connsiteY5" fmla="*/ 547687 h 547687"/>
              <a:gd name="connsiteX6" fmla="*/ 1560195 w 2000250"/>
              <a:gd name="connsiteY6" fmla="*/ 547687 h 547687"/>
              <a:gd name="connsiteX7" fmla="*/ 1020128 w 2000250"/>
              <a:gd name="connsiteY7" fmla="*/ 547687 h 547687"/>
              <a:gd name="connsiteX8" fmla="*/ 560070 w 2000250"/>
              <a:gd name="connsiteY8" fmla="*/ 547687 h 547687"/>
              <a:gd name="connsiteX9" fmla="*/ 0 w 2000250"/>
              <a:gd name="connsiteY9" fmla="*/ 547687 h 547687"/>
              <a:gd name="connsiteX10" fmla="*/ 0 w 2000250"/>
              <a:gd name="connsiteY10" fmla="*/ 0 h 547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00250" h="547687" extrusionOk="0">
                <a:moveTo>
                  <a:pt x="0" y="0"/>
                </a:moveTo>
                <a:cubicBezTo>
                  <a:pt x="144911" y="-42694"/>
                  <a:pt x="370548" y="24410"/>
                  <a:pt x="480060" y="0"/>
                </a:cubicBezTo>
                <a:cubicBezTo>
                  <a:pt x="589572" y="-24410"/>
                  <a:pt x="735920" y="43076"/>
                  <a:pt x="960120" y="0"/>
                </a:cubicBezTo>
                <a:cubicBezTo>
                  <a:pt x="1184320" y="-43076"/>
                  <a:pt x="1266602" y="47563"/>
                  <a:pt x="1440180" y="0"/>
                </a:cubicBezTo>
                <a:cubicBezTo>
                  <a:pt x="1613758" y="-47563"/>
                  <a:pt x="1796229" y="59737"/>
                  <a:pt x="2000250" y="0"/>
                </a:cubicBezTo>
                <a:cubicBezTo>
                  <a:pt x="2005298" y="140822"/>
                  <a:pt x="1945591" y="312948"/>
                  <a:pt x="2000250" y="547687"/>
                </a:cubicBezTo>
                <a:cubicBezTo>
                  <a:pt x="1803323" y="572575"/>
                  <a:pt x="1770093" y="498199"/>
                  <a:pt x="1560195" y="547687"/>
                </a:cubicBezTo>
                <a:cubicBezTo>
                  <a:pt x="1350298" y="597175"/>
                  <a:pt x="1150942" y="515779"/>
                  <a:pt x="1020128" y="547687"/>
                </a:cubicBezTo>
                <a:cubicBezTo>
                  <a:pt x="889314" y="579595"/>
                  <a:pt x="653081" y="542795"/>
                  <a:pt x="560070" y="547687"/>
                </a:cubicBezTo>
                <a:cubicBezTo>
                  <a:pt x="467059" y="552579"/>
                  <a:pt x="142355" y="490349"/>
                  <a:pt x="0" y="547687"/>
                </a:cubicBezTo>
                <a:cubicBezTo>
                  <a:pt x="-50076" y="319023"/>
                  <a:pt x="13717" y="167749"/>
                  <a:pt x="0" y="0"/>
                </a:cubicBezTo>
                <a:close/>
              </a:path>
            </a:pathLst>
          </a:custGeom>
          <a:noFill/>
          <a:ln w="38100">
            <a:solidFill>
              <a:srgbClr val="FF0000"/>
            </a:solidFill>
            <a:extLst>
              <a:ext uri="{C807C97D-BFC1-408E-A445-0C87EB9F89A2}">
                <ask:lineSketchStyleProps xmlns:ask="http://schemas.microsoft.com/office/drawing/2018/sketchyshapes" sd="3841872309">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085F54EE-36E6-3D6F-0E29-ABD16707DBD9}"/>
              </a:ext>
            </a:extLst>
          </p:cNvPr>
          <p:cNvSpPr/>
          <p:nvPr/>
        </p:nvSpPr>
        <p:spPr>
          <a:xfrm>
            <a:off x="8724900" y="3548857"/>
            <a:ext cx="295275" cy="527843"/>
          </a:xfrm>
          <a:custGeom>
            <a:avLst/>
            <a:gdLst>
              <a:gd name="connsiteX0" fmla="*/ 0 w 295275"/>
              <a:gd name="connsiteY0" fmla="*/ 0 h 527843"/>
              <a:gd name="connsiteX1" fmla="*/ 295275 w 295275"/>
              <a:gd name="connsiteY1" fmla="*/ 0 h 527843"/>
              <a:gd name="connsiteX2" fmla="*/ 295275 w 295275"/>
              <a:gd name="connsiteY2" fmla="*/ 527843 h 527843"/>
              <a:gd name="connsiteX3" fmla="*/ 0 w 295275"/>
              <a:gd name="connsiteY3" fmla="*/ 527843 h 527843"/>
              <a:gd name="connsiteX4" fmla="*/ 0 w 295275"/>
              <a:gd name="connsiteY4" fmla="*/ 0 h 527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275" h="527843" extrusionOk="0">
                <a:moveTo>
                  <a:pt x="0" y="0"/>
                </a:moveTo>
                <a:cubicBezTo>
                  <a:pt x="107093" y="-16405"/>
                  <a:pt x="232661" y="10465"/>
                  <a:pt x="295275" y="0"/>
                </a:cubicBezTo>
                <a:cubicBezTo>
                  <a:pt x="357190" y="251050"/>
                  <a:pt x="261425" y="300161"/>
                  <a:pt x="295275" y="527843"/>
                </a:cubicBezTo>
                <a:cubicBezTo>
                  <a:pt x="174075" y="554606"/>
                  <a:pt x="81782" y="503484"/>
                  <a:pt x="0" y="527843"/>
                </a:cubicBezTo>
                <a:cubicBezTo>
                  <a:pt x="-3512" y="359298"/>
                  <a:pt x="6055" y="145924"/>
                  <a:pt x="0" y="0"/>
                </a:cubicBezTo>
                <a:close/>
              </a:path>
            </a:pathLst>
          </a:custGeom>
          <a:noFill/>
          <a:ln w="38100">
            <a:solidFill>
              <a:srgbClr val="FF0000"/>
            </a:solidFill>
            <a:extLst>
              <a:ext uri="{C807C97D-BFC1-408E-A445-0C87EB9F89A2}">
                <ask:lineSketchStyleProps xmlns:ask="http://schemas.microsoft.com/office/drawing/2018/sketchyshapes" sd="3841872309">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箭头连接符 16">
            <a:extLst>
              <a:ext uri="{FF2B5EF4-FFF2-40B4-BE49-F238E27FC236}">
                <a16:creationId xmlns:a16="http://schemas.microsoft.com/office/drawing/2014/main" id="{FBCD7E7A-B98B-B356-A32A-F35F09DFBDBA}"/>
              </a:ext>
            </a:extLst>
          </p:cNvPr>
          <p:cNvCxnSpPr>
            <a:cxnSpLocks/>
          </p:cNvCxnSpPr>
          <p:nvPr/>
        </p:nvCxnSpPr>
        <p:spPr>
          <a:xfrm flipH="1">
            <a:off x="9105900" y="2743200"/>
            <a:ext cx="600075" cy="80565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8C866EA9-2209-1534-D42A-70A78BF9199A}"/>
              </a:ext>
            </a:extLst>
          </p:cNvPr>
          <p:cNvCxnSpPr>
            <a:cxnSpLocks/>
          </p:cNvCxnSpPr>
          <p:nvPr/>
        </p:nvCxnSpPr>
        <p:spPr>
          <a:xfrm flipH="1">
            <a:off x="4376737" y="2754709"/>
            <a:ext cx="5329238" cy="288647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DBA7C392-36FB-3CED-08B7-5682BE5D45C5}"/>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使用</a:t>
            </a:r>
            <a:r>
              <a:rPr lang="en-US" altLang="zh-CN" sz="4000" dirty="0">
                <a:solidFill>
                  <a:schemeClr val="accent1">
                    <a:lumMod val="75000"/>
                  </a:schemeClr>
                </a:solidFill>
                <a:latin typeface="Arial Black" panose="020B0A04020102020204" pitchFamily="34" charset="0"/>
                <a:ea typeface="黑体" panose="02010609060101010101" pitchFamily="49" charset="-122"/>
              </a:rPr>
              <a:t>AD</a:t>
            </a:r>
            <a:r>
              <a:rPr lang="zh-CN" altLang="en-US" sz="4000" dirty="0">
                <a:solidFill>
                  <a:schemeClr val="accent1">
                    <a:lumMod val="75000"/>
                  </a:schemeClr>
                </a:solidFill>
                <a:latin typeface="黑体" panose="02010609060101010101" pitchFamily="49" charset="-122"/>
                <a:ea typeface="黑体" panose="02010609060101010101" pitchFamily="49" charset="-122"/>
              </a:rPr>
              <a:t>设计电路原理图</a:t>
            </a:r>
            <a:endParaRPr lang="zh-CN" altLang="en-US" sz="4000" dirty="0">
              <a:solidFill>
                <a:srgbClr val="003F88"/>
              </a:solidFill>
              <a:latin typeface="黑体" panose="02010609060101010101" pitchFamily="49" charset="-122"/>
              <a:ea typeface="黑体" panose="02010609060101010101" pitchFamily="49" charset="-122"/>
            </a:endParaRPr>
          </a:p>
        </p:txBody>
      </p:sp>
      <p:sp>
        <p:nvSpPr>
          <p:cNvPr id="16" name="矩形 15">
            <a:extLst>
              <a:ext uri="{FF2B5EF4-FFF2-40B4-BE49-F238E27FC236}">
                <a16:creationId xmlns:a16="http://schemas.microsoft.com/office/drawing/2014/main" id="{0EE3E3DA-7244-FD49-5EFD-7FDB4418D9B8}"/>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文本框 18">
            <a:extLst>
              <a:ext uri="{FF2B5EF4-FFF2-40B4-BE49-F238E27FC236}">
                <a16:creationId xmlns:a16="http://schemas.microsoft.com/office/drawing/2014/main" id="{5DD7FD22-BA11-50E4-A594-3921B43FFC7B}"/>
              </a:ext>
            </a:extLst>
          </p:cNvPr>
          <p:cNvSpPr txBox="1"/>
          <p:nvPr/>
        </p:nvSpPr>
        <p:spPr>
          <a:xfrm>
            <a:off x="925287" y="1474731"/>
            <a:ext cx="6117770" cy="584775"/>
          </a:xfrm>
          <a:prstGeom prst="rect">
            <a:avLst/>
          </a:prstGeom>
          <a:noFill/>
        </p:spPr>
        <p:txBody>
          <a:bodyPr wrap="square">
            <a:spAutoFit/>
          </a:bodyPr>
          <a:lstStyle/>
          <a:p>
            <a:pPr marL="0" indent="0">
              <a:buNone/>
            </a:pPr>
            <a:r>
              <a:rPr lang="zh-CN" altLang="en-US" sz="3200" dirty="0">
                <a:latin typeface="Arial Black" panose="020B0A04020102020204" pitchFamily="34" charset="0"/>
                <a:ea typeface="黑体" panose="02010609060101010101" pitchFamily="49" charset="-122"/>
              </a:rPr>
              <a:t>设计电路原理图</a:t>
            </a:r>
            <a:endParaRPr lang="en-US" altLang="zh-CN" sz="3200" dirty="0">
              <a:latin typeface="Arial Black" panose="020B0A04020102020204" pitchFamily="34" charset="0"/>
              <a:ea typeface="黑体" panose="02010609060101010101" pitchFamily="49" charset="-122"/>
            </a:endParaRPr>
          </a:p>
        </p:txBody>
      </p:sp>
    </p:spTree>
    <p:extLst>
      <p:ext uri="{BB962C8B-B14F-4D97-AF65-F5344CB8AC3E}">
        <p14:creationId xmlns:p14="http://schemas.microsoft.com/office/powerpoint/2010/main" val="406057727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D2EC3AB1-3A2B-EEAB-41F9-4A57BF44D4FB}"/>
              </a:ext>
            </a:extLst>
          </p:cNvPr>
          <p:cNvPicPr>
            <a:picLocks noChangeAspect="1"/>
          </p:cNvPicPr>
          <p:nvPr/>
        </p:nvPicPr>
        <p:blipFill>
          <a:blip r:embed="rId2"/>
          <a:stretch>
            <a:fillRect/>
          </a:stretch>
        </p:blipFill>
        <p:spPr>
          <a:xfrm>
            <a:off x="838200" y="841719"/>
            <a:ext cx="10515600" cy="6054150"/>
          </a:xfrm>
          <a:prstGeom prst="rect">
            <a:avLst/>
          </a:prstGeom>
        </p:spPr>
      </p:pic>
      <p:sp>
        <p:nvSpPr>
          <p:cNvPr id="2" name="矩形: 圆角 1">
            <a:extLst>
              <a:ext uri="{FF2B5EF4-FFF2-40B4-BE49-F238E27FC236}">
                <a16:creationId xmlns:a16="http://schemas.microsoft.com/office/drawing/2014/main" id="{2A58BBBD-4184-0EB7-77BD-BF83D6991A96}"/>
              </a:ext>
            </a:extLst>
          </p:cNvPr>
          <p:cNvSpPr/>
          <p:nvPr/>
        </p:nvSpPr>
        <p:spPr>
          <a:xfrm>
            <a:off x="9543469" y="4257906"/>
            <a:ext cx="616450" cy="246579"/>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标题 1">
            <a:extLst>
              <a:ext uri="{FF2B5EF4-FFF2-40B4-BE49-F238E27FC236}">
                <a16:creationId xmlns:a16="http://schemas.microsoft.com/office/drawing/2014/main" id="{10A1D01D-19C3-4BF9-9B82-65A70E09AD28}"/>
              </a:ext>
            </a:extLst>
          </p:cNvPr>
          <p:cNvSpPr>
            <a:spLocks noGrp="1"/>
          </p:cNvSpPr>
          <p:nvPr>
            <p:ph type="title"/>
          </p:nvPr>
        </p:nvSpPr>
        <p:spPr>
          <a:xfrm>
            <a:off x="523875" y="104775"/>
            <a:ext cx="10515600" cy="1081088"/>
          </a:xfrm>
          <a:solidFill>
            <a:schemeClr val="bg1">
              <a:lumMod val="85000"/>
            </a:schemeClr>
          </a:solidFill>
        </p:spPr>
        <p:txBody>
          <a:bodyPr>
            <a:normAutofit/>
          </a:bodyPr>
          <a:lstStyle/>
          <a:p>
            <a:r>
              <a:rPr lang="zh-CN" altLang="en-US" sz="3600" dirty="0">
                <a:latin typeface="Arial Black" panose="020B0A04020102020204" pitchFamily="34" charset="0"/>
                <a:ea typeface="黑体" panose="02010609060101010101" pitchFamily="49" charset="-122"/>
              </a:rPr>
              <a:t>注意：添加库时，文件类型筛选栏：</a:t>
            </a:r>
            <a:r>
              <a:rPr lang="en-US" altLang="zh-CN" sz="3600" dirty="0">
                <a:solidFill>
                  <a:srgbClr val="FF0000"/>
                </a:solidFill>
                <a:latin typeface="Arial Black" panose="020B0A04020102020204" pitchFamily="34" charset="0"/>
                <a:ea typeface="黑体" panose="02010609060101010101" pitchFamily="49" charset="-122"/>
              </a:rPr>
              <a:t>All Files(’.’ )</a:t>
            </a:r>
            <a:endParaRPr lang="zh-CN" altLang="en-US" sz="3600" dirty="0">
              <a:solidFill>
                <a:srgbClr val="FF0000"/>
              </a:solidFill>
              <a:latin typeface="Arial Black" panose="020B0A04020102020204" pitchFamily="34" charset="0"/>
              <a:ea typeface="黑体" panose="02010609060101010101" pitchFamily="49" charset="-122"/>
            </a:endParaRPr>
          </a:p>
        </p:txBody>
      </p:sp>
    </p:spTree>
    <p:extLst>
      <p:ext uri="{BB962C8B-B14F-4D97-AF65-F5344CB8AC3E}">
        <p14:creationId xmlns:p14="http://schemas.microsoft.com/office/powerpoint/2010/main" val="396512587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E8D6276E-BB92-4191-E72F-5A15885FCA9D}"/>
              </a:ext>
            </a:extLst>
          </p:cNvPr>
          <p:cNvPicPr>
            <a:picLocks noChangeAspect="1"/>
          </p:cNvPicPr>
          <p:nvPr/>
        </p:nvPicPr>
        <p:blipFill>
          <a:blip r:embed="rId2"/>
          <a:stretch>
            <a:fillRect/>
          </a:stretch>
        </p:blipFill>
        <p:spPr>
          <a:xfrm>
            <a:off x="2706809" y="0"/>
            <a:ext cx="6587819" cy="6858000"/>
          </a:xfrm>
          <a:prstGeom prst="rect">
            <a:avLst/>
          </a:prstGeom>
        </p:spPr>
      </p:pic>
      <p:sp>
        <p:nvSpPr>
          <p:cNvPr id="2" name="标题 1">
            <a:extLst>
              <a:ext uri="{FF2B5EF4-FFF2-40B4-BE49-F238E27FC236}">
                <a16:creationId xmlns:a16="http://schemas.microsoft.com/office/drawing/2014/main" id="{A67E9592-69C8-1AA1-A88B-9EF5707FB4DA}"/>
              </a:ext>
            </a:extLst>
          </p:cNvPr>
          <p:cNvSpPr>
            <a:spLocks noGrp="1"/>
          </p:cNvSpPr>
          <p:nvPr>
            <p:ph type="title"/>
          </p:nvPr>
        </p:nvSpPr>
        <p:spPr>
          <a:xfrm>
            <a:off x="571500" y="4638675"/>
            <a:ext cx="11239500" cy="1847850"/>
          </a:xfrm>
          <a:solidFill>
            <a:schemeClr val="tx2">
              <a:lumMod val="20000"/>
              <a:lumOff val="80000"/>
            </a:schemeClr>
          </a:solidFill>
        </p:spPr>
        <p:txBody>
          <a:bodyPr>
            <a:normAutofit fontScale="90000"/>
          </a:bodyPr>
          <a:lstStyle/>
          <a:p>
            <a:r>
              <a:rPr lang="zh-CN" altLang="en-US" sz="3600" dirty="0">
                <a:latin typeface="Arial Black" panose="020B0A04020102020204" pitchFamily="34" charset="0"/>
                <a:ea typeface="黑体" panose="02010609060101010101" pitchFamily="49" charset="-122"/>
              </a:rPr>
              <a:t>注意：</a:t>
            </a:r>
            <a:br>
              <a:rPr lang="en-US" altLang="zh-CN" sz="3600" dirty="0">
                <a:latin typeface="Arial Black" panose="020B0A04020102020204" pitchFamily="34" charset="0"/>
                <a:ea typeface="黑体" panose="02010609060101010101" pitchFamily="49" charset="-122"/>
              </a:rPr>
            </a:br>
            <a:r>
              <a:rPr lang="en-US" altLang="zh-CN" sz="3600" dirty="0">
                <a:latin typeface="Arial Black" panose="020B0A04020102020204" pitchFamily="34" charset="0"/>
                <a:ea typeface="黑体" panose="02010609060101010101" pitchFamily="49" charset="-122"/>
              </a:rPr>
              <a:t>*</a:t>
            </a:r>
            <a:r>
              <a:rPr lang="zh-CN" altLang="en-US" sz="3600" dirty="0">
                <a:latin typeface="Arial Black" panose="020B0A04020102020204" pitchFamily="34" charset="0"/>
                <a:ea typeface="黑体" panose="02010609060101010101" pitchFamily="49" charset="-122"/>
              </a:rPr>
              <a:t>复制库文件，放在</a:t>
            </a:r>
            <a:r>
              <a:rPr lang="zh-CN" altLang="en-US" sz="3600" u="sng" dirty="0">
                <a:solidFill>
                  <a:srgbClr val="FF0000"/>
                </a:solidFill>
                <a:latin typeface="Arial Black" panose="020B0A04020102020204" pitchFamily="34" charset="0"/>
                <a:ea typeface="黑体" panose="02010609060101010101" pitchFamily="49" charset="-122"/>
              </a:rPr>
              <a:t>安装目录下的</a:t>
            </a:r>
            <a:r>
              <a:rPr lang="en-US" altLang="zh-CN" sz="3600" u="sng" dirty="0">
                <a:solidFill>
                  <a:srgbClr val="FF0000"/>
                </a:solidFill>
                <a:latin typeface="Arial Black" panose="020B0A04020102020204" pitchFamily="34" charset="0"/>
                <a:ea typeface="黑体" panose="02010609060101010101" pitchFamily="49" charset="-122"/>
              </a:rPr>
              <a:t>Library</a:t>
            </a:r>
            <a:r>
              <a:rPr lang="zh-CN" altLang="en-US" sz="3600" u="sng" dirty="0">
                <a:solidFill>
                  <a:srgbClr val="FF0000"/>
                </a:solidFill>
                <a:latin typeface="Arial Black" panose="020B0A04020102020204" pitchFamily="34" charset="0"/>
                <a:ea typeface="黑体" panose="02010609060101010101" pitchFamily="49" charset="-122"/>
              </a:rPr>
              <a:t>文件夹</a:t>
            </a:r>
            <a:br>
              <a:rPr lang="en-US" altLang="zh-CN" sz="3600" u="sng" dirty="0">
                <a:solidFill>
                  <a:srgbClr val="FF0000"/>
                </a:solidFill>
                <a:latin typeface="Arial Black" panose="020B0A04020102020204" pitchFamily="34" charset="0"/>
                <a:ea typeface="黑体" panose="02010609060101010101" pitchFamily="49" charset="-122"/>
              </a:rPr>
            </a:br>
            <a:r>
              <a:rPr lang="en-US" altLang="zh-CN" sz="3600" dirty="0">
                <a:latin typeface="Arial Black" panose="020B0A04020102020204" pitchFamily="34" charset="0"/>
                <a:ea typeface="黑体" panose="02010609060101010101" pitchFamily="49" charset="-122"/>
              </a:rPr>
              <a:t>*</a:t>
            </a:r>
            <a:r>
              <a:rPr lang="zh-CN" altLang="en-US" sz="3600" dirty="0">
                <a:latin typeface="Arial Black" panose="020B0A04020102020204" pitchFamily="34" charset="0"/>
                <a:ea typeface="黑体" panose="02010609060101010101" pitchFamily="49" charset="-122"/>
              </a:rPr>
              <a:t>原理图库文件和</a:t>
            </a:r>
            <a:r>
              <a:rPr lang="en-US" altLang="zh-CN" sz="3600" dirty="0">
                <a:latin typeface="Arial Black" panose="020B0A04020102020204" pitchFamily="34" charset="0"/>
                <a:ea typeface="黑体" panose="02010609060101010101" pitchFamily="49" charset="-122"/>
              </a:rPr>
              <a:t>PCB</a:t>
            </a:r>
            <a:r>
              <a:rPr lang="zh-CN" altLang="en-US" sz="3600" dirty="0">
                <a:latin typeface="Arial Black" panose="020B0A04020102020204" pitchFamily="34" charset="0"/>
                <a:ea typeface="黑体" panose="02010609060101010101" pitchFamily="49" charset="-122"/>
              </a:rPr>
              <a:t>封装库文件放在</a:t>
            </a:r>
            <a:r>
              <a:rPr lang="zh-CN" altLang="en-US" sz="3600" u="sng" dirty="0">
                <a:solidFill>
                  <a:srgbClr val="FF0000"/>
                </a:solidFill>
                <a:latin typeface="Arial Black" panose="020B0A04020102020204" pitchFamily="34" charset="0"/>
                <a:ea typeface="黑体" panose="02010609060101010101" pitchFamily="49" charset="-122"/>
              </a:rPr>
              <a:t>安装目录下的</a:t>
            </a:r>
            <a:r>
              <a:rPr lang="en-US" altLang="zh-CN" sz="3600" u="sng" dirty="0">
                <a:solidFill>
                  <a:srgbClr val="FF0000"/>
                </a:solidFill>
                <a:latin typeface="Arial Black" panose="020B0A04020102020204" pitchFamily="34" charset="0"/>
                <a:ea typeface="黑体" panose="02010609060101010101" pitchFamily="49" charset="-122"/>
              </a:rPr>
              <a:t>SCHLIB</a:t>
            </a:r>
            <a:r>
              <a:rPr lang="zh-CN" altLang="en-US" sz="3600" u="sng" dirty="0">
                <a:solidFill>
                  <a:srgbClr val="FF0000"/>
                </a:solidFill>
                <a:latin typeface="Arial Black" panose="020B0A04020102020204" pitchFamily="34" charset="0"/>
                <a:ea typeface="黑体" panose="02010609060101010101" pitchFamily="49" charset="-122"/>
              </a:rPr>
              <a:t>文件夹和</a:t>
            </a:r>
            <a:r>
              <a:rPr lang="en-US" altLang="zh-CN" sz="3600" u="sng" dirty="0">
                <a:solidFill>
                  <a:srgbClr val="FF0000"/>
                </a:solidFill>
                <a:latin typeface="Arial Black" panose="020B0A04020102020204" pitchFamily="34" charset="0"/>
                <a:ea typeface="黑体" panose="02010609060101010101" pitchFamily="49" charset="-122"/>
              </a:rPr>
              <a:t>PCBLIB</a:t>
            </a:r>
            <a:r>
              <a:rPr lang="zh-CN" altLang="en-US" sz="3600" u="sng" dirty="0">
                <a:solidFill>
                  <a:srgbClr val="FF0000"/>
                </a:solidFill>
                <a:latin typeface="Arial Black" panose="020B0A04020102020204" pitchFamily="34" charset="0"/>
                <a:ea typeface="黑体" panose="02010609060101010101" pitchFamily="49" charset="-122"/>
              </a:rPr>
              <a:t>文件夹</a:t>
            </a:r>
          </a:p>
        </p:txBody>
      </p:sp>
    </p:spTree>
    <p:extLst>
      <p:ext uri="{BB962C8B-B14F-4D97-AF65-F5344CB8AC3E}">
        <p14:creationId xmlns:p14="http://schemas.microsoft.com/office/powerpoint/2010/main" val="313083928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a:extLst>
              <a:ext uri="{FF2B5EF4-FFF2-40B4-BE49-F238E27FC236}">
                <a16:creationId xmlns:a16="http://schemas.microsoft.com/office/drawing/2014/main" id="{7DD64AC6-6440-D7FC-9C5D-7C19FFA31859}"/>
              </a:ext>
            </a:extLst>
          </p:cNvPr>
          <p:cNvPicPr>
            <a:picLocks noChangeAspect="1"/>
          </p:cNvPicPr>
          <p:nvPr/>
        </p:nvPicPr>
        <p:blipFill>
          <a:blip r:embed="rId2"/>
          <a:stretch>
            <a:fillRect/>
          </a:stretch>
        </p:blipFill>
        <p:spPr>
          <a:xfrm>
            <a:off x="0" y="4162958"/>
            <a:ext cx="7464166" cy="2543709"/>
          </a:xfrm>
          <a:prstGeom prst="rect">
            <a:avLst/>
          </a:prstGeom>
          <a:ln w="28575">
            <a:solidFill>
              <a:srgbClr val="FF0000"/>
            </a:solidFill>
          </a:ln>
        </p:spPr>
      </p:pic>
      <p:pic>
        <p:nvPicPr>
          <p:cNvPr id="9" name="图片 8">
            <a:extLst>
              <a:ext uri="{FF2B5EF4-FFF2-40B4-BE49-F238E27FC236}">
                <a16:creationId xmlns:a16="http://schemas.microsoft.com/office/drawing/2014/main" id="{E30836CB-D025-187B-76BD-0EB3F8767B4F}"/>
              </a:ext>
            </a:extLst>
          </p:cNvPr>
          <p:cNvPicPr>
            <a:picLocks noChangeAspect="1"/>
          </p:cNvPicPr>
          <p:nvPr/>
        </p:nvPicPr>
        <p:blipFill rotWithShape="1">
          <a:blip r:embed="rId3"/>
          <a:srcRect b="9811"/>
          <a:stretch/>
        </p:blipFill>
        <p:spPr>
          <a:xfrm>
            <a:off x="3197342" y="4975024"/>
            <a:ext cx="8785108" cy="1474468"/>
          </a:xfrm>
          <a:prstGeom prst="rect">
            <a:avLst/>
          </a:prstGeom>
          <a:ln w="28575">
            <a:solidFill>
              <a:srgbClr val="FF0000"/>
            </a:solidFill>
          </a:ln>
        </p:spPr>
      </p:pic>
      <p:pic>
        <p:nvPicPr>
          <p:cNvPr id="7" name="图片 6">
            <a:extLst>
              <a:ext uri="{FF2B5EF4-FFF2-40B4-BE49-F238E27FC236}">
                <a16:creationId xmlns:a16="http://schemas.microsoft.com/office/drawing/2014/main" id="{63D31EEA-7B6B-2A97-C19D-89959B7E39CE}"/>
              </a:ext>
            </a:extLst>
          </p:cNvPr>
          <p:cNvPicPr>
            <a:picLocks noChangeAspect="1"/>
          </p:cNvPicPr>
          <p:nvPr/>
        </p:nvPicPr>
        <p:blipFill>
          <a:blip r:embed="rId4"/>
          <a:stretch>
            <a:fillRect/>
          </a:stretch>
        </p:blipFill>
        <p:spPr>
          <a:xfrm>
            <a:off x="1402022" y="2180038"/>
            <a:ext cx="8073653" cy="1798036"/>
          </a:xfrm>
          <a:prstGeom prst="rect">
            <a:avLst/>
          </a:prstGeom>
          <a:ln w="38100">
            <a:solidFill>
              <a:srgbClr val="FF0000"/>
            </a:solidFill>
          </a:ln>
        </p:spPr>
      </p:pic>
      <p:sp>
        <p:nvSpPr>
          <p:cNvPr id="2" name="标题 1">
            <a:extLst>
              <a:ext uri="{FF2B5EF4-FFF2-40B4-BE49-F238E27FC236}">
                <a16:creationId xmlns:a16="http://schemas.microsoft.com/office/drawing/2014/main" id="{6A4A8D5A-43B7-BC8E-EB79-E13EE7E399A5}"/>
              </a:ext>
            </a:extLst>
          </p:cNvPr>
          <p:cNvSpPr>
            <a:spLocks noGrp="1"/>
          </p:cNvSpPr>
          <p:nvPr>
            <p:ph type="title"/>
          </p:nvPr>
        </p:nvSpPr>
        <p:spPr>
          <a:xfrm>
            <a:off x="0" y="-65274"/>
            <a:ext cx="12192000" cy="2207372"/>
          </a:xfrm>
          <a:solidFill>
            <a:schemeClr val="tx2">
              <a:lumMod val="20000"/>
              <a:lumOff val="80000"/>
            </a:schemeClr>
          </a:solidFill>
        </p:spPr>
        <p:txBody>
          <a:bodyPr>
            <a:normAutofit fontScale="90000"/>
          </a:bodyPr>
          <a:lstStyle/>
          <a:p>
            <a:r>
              <a:rPr lang="en-US" altLang="zh-CN" sz="3600" dirty="0">
                <a:latin typeface="Arial" panose="020B0604020202020204" pitchFamily="34" charset="0"/>
                <a:ea typeface="黑体" panose="02010609060101010101" pitchFamily="49" charset="-122"/>
                <a:cs typeface="Arial" panose="020B0604020202020204" pitchFamily="34" charset="0"/>
              </a:rPr>
              <a:t>1. ftp</a:t>
            </a:r>
            <a:r>
              <a:rPr lang="zh-CN" altLang="en-US" sz="3600" dirty="0">
                <a:latin typeface="Arial" panose="020B0604020202020204" pitchFamily="34" charset="0"/>
                <a:ea typeface="黑体" panose="02010609060101010101" pitchFamily="49" charset="-122"/>
                <a:cs typeface="Arial" panose="020B0604020202020204" pitchFamily="34" charset="0"/>
              </a:rPr>
              <a:t>上提供的原理图库和封装库；</a:t>
            </a:r>
            <a:br>
              <a:rPr lang="en-US" altLang="zh-CN" sz="3600" dirty="0">
                <a:latin typeface="Arial" panose="020B0604020202020204" pitchFamily="34" charset="0"/>
                <a:ea typeface="黑体" panose="02010609060101010101" pitchFamily="49" charset="-122"/>
                <a:cs typeface="Arial" panose="020B0604020202020204" pitchFamily="34" charset="0"/>
              </a:rPr>
            </a:br>
            <a:r>
              <a:rPr lang="en-US" altLang="zh-CN" sz="3600" dirty="0">
                <a:latin typeface="Arial" panose="020B0604020202020204" pitchFamily="34" charset="0"/>
                <a:ea typeface="黑体" panose="02010609060101010101" pitchFamily="49" charset="-122"/>
                <a:cs typeface="Arial" panose="020B0604020202020204" pitchFamily="34" charset="0"/>
              </a:rPr>
              <a:t>2. </a:t>
            </a:r>
            <a:r>
              <a:rPr lang="zh-CN" altLang="en-US" sz="3600" dirty="0">
                <a:latin typeface="Arial" panose="020B0604020202020204" pitchFamily="34" charset="0"/>
                <a:ea typeface="黑体" panose="02010609060101010101" pitchFamily="49" charset="-122"/>
                <a:cs typeface="Arial" panose="020B0604020202020204" pitchFamily="34" charset="0"/>
              </a:rPr>
              <a:t>根据需要安装，不需要不要安装太多；</a:t>
            </a:r>
            <a:br>
              <a:rPr lang="en-US" altLang="zh-CN" sz="3600" dirty="0">
                <a:latin typeface="Arial" panose="020B0604020202020204" pitchFamily="34" charset="0"/>
                <a:ea typeface="黑体" panose="02010609060101010101" pitchFamily="49" charset="-122"/>
                <a:cs typeface="Arial" panose="020B0604020202020204" pitchFamily="34" charset="0"/>
              </a:rPr>
            </a:br>
            <a:r>
              <a:rPr lang="en-US" altLang="zh-CN" sz="3600" dirty="0">
                <a:latin typeface="Arial" panose="020B0604020202020204" pitchFamily="34" charset="0"/>
                <a:ea typeface="黑体" panose="02010609060101010101" pitchFamily="49" charset="-122"/>
                <a:cs typeface="Arial" panose="020B0604020202020204" pitchFamily="34" charset="0"/>
              </a:rPr>
              <a:t>3. </a:t>
            </a:r>
            <a:r>
              <a:rPr lang="zh-CN" altLang="en-US" sz="3600" dirty="0">
                <a:latin typeface="Arial" panose="020B0604020202020204" pitchFamily="34" charset="0"/>
                <a:ea typeface="黑体" panose="02010609060101010101" pitchFamily="49" charset="-122"/>
                <a:cs typeface="Arial" panose="020B0604020202020204" pitchFamily="34" charset="0"/>
              </a:rPr>
              <a:t>安装</a:t>
            </a:r>
            <a:r>
              <a:rPr lang="en-US" altLang="zh-CN" sz="3600" dirty="0">
                <a:latin typeface="Arial" panose="020B0604020202020204" pitchFamily="34" charset="0"/>
                <a:ea typeface="黑体" panose="02010609060101010101" pitchFamily="49" charset="-122"/>
                <a:cs typeface="Arial" panose="020B0604020202020204" pitchFamily="34" charset="0"/>
              </a:rPr>
              <a:t>——</a:t>
            </a:r>
            <a:br>
              <a:rPr lang="en-US" altLang="zh-CN" sz="3600" dirty="0">
                <a:latin typeface="Arial" panose="020B0604020202020204" pitchFamily="34" charset="0"/>
                <a:ea typeface="黑体" panose="02010609060101010101" pitchFamily="49" charset="-122"/>
                <a:cs typeface="Arial" panose="020B0604020202020204" pitchFamily="34" charset="0"/>
              </a:rPr>
            </a:br>
            <a:r>
              <a:rPr lang="zh-CN" altLang="en-US" sz="3600" dirty="0">
                <a:latin typeface="Arial" panose="020B0604020202020204" pitchFamily="34" charset="0"/>
                <a:ea typeface="黑体" panose="02010609060101010101" pitchFamily="49" charset="-122"/>
                <a:cs typeface="Arial" panose="020B0604020202020204" pitchFamily="34" charset="0"/>
              </a:rPr>
              <a:t>原理图库：</a:t>
            </a:r>
            <a:r>
              <a:rPr lang="en-US" altLang="zh-CN" sz="3600" dirty="0">
                <a:latin typeface="Arial" panose="020B0604020202020204" pitchFamily="34" charset="0"/>
                <a:ea typeface="黑体" panose="02010609060101010101" pitchFamily="49" charset="-122"/>
                <a:cs typeface="Arial" panose="020B0604020202020204" pitchFamily="34" charset="0"/>
              </a:rPr>
              <a:t>LixhSch.lib, Schematic Operational Amplifiers.lib</a:t>
            </a:r>
            <a:br>
              <a:rPr lang="en-US" altLang="zh-CN" sz="3600" dirty="0">
                <a:latin typeface="Arial" panose="020B0604020202020204" pitchFamily="34" charset="0"/>
                <a:ea typeface="黑体" panose="02010609060101010101" pitchFamily="49" charset="-122"/>
                <a:cs typeface="Arial" panose="020B0604020202020204" pitchFamily="34" charset="0"/>
              </a:rPr>
            </a:br>
            <a:r>
              <a:rPr lang="zh-CN" altLang="en-US" sz="3600" dirty="0">
                <a:latin typeface="Arial" panose="020B0604020202020204" pitchFamily="34" charset="0"/>
                <a:ea typeface="黑体" panose="02010609060101010101" pitchFamily="49" charset="-122"/>
                <a:cs typeface="Arial" panose="020B0604020202020204" pitchFamily="34" charset="0"/>
              </a:rPr>
              <a:t>封装库</a:t>
            </a:r>
            <a:r>
              <a:rPr lang="en-US" altLang="zh-CN" sz="3600" dirty="0">
                <a:latin typeface="Arial" panose="020B0604020202020204" pitchFamily="34" charset="0"/>
                <a:ea typeface="黑体" panose="02010609060101010101" pitchFamily="49" charset="-122"/>
                <a:cs typeface="Arial" panose="020B0604020202020204" pitchFamily="34" charset="0"/>
              </a:rPr>
              <a:t>LixhPCB.LIB, PCB Footprints.lib</a:t>
            </a:r>
            <a:endParaRPr lang="zh-CN" altLang="en-US" sz="3600" u="sng" dirty="0">
              <a:solidFill>
                <a:srgbClr val="FF0000"/>
              </a:solidFill>
              <a:latin typeface="Arial" panose="020B0604020202020204" pitchFamily="34" charset="0"/>
              <a:ea typeface="黑体" panose="02010609060101010101" pitchFamily="49" charset="-122"/>
              <a:cs typeface="Arial" panose="020B0604020202020204" pitchFamily="34" charset="0"/>
            </a:endParaRPr>
          </a:p>
        </p:txBody>
      </p:sp>
    </p:spTree>
    <p:extLst>
      <p:ext uri="{BB962C8B-B14F-4D97-AF65-F5344CB8AC3E}">
        <p14:creationId xmlns:p14="http://schemas.microsoft.com/office/powerpoint/2010/main" val="343664773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3A92F-6AD6-0FD8-69B4-930CB4BD38E0}"/>
            </a:ext>
          </a:extLst>
        </p:cNvPr>
        <p:cNvGrpSpPr/>
        <p:nvPr/>
      </p:nvGrpSpPr>
      <p:grpSpPr>
        <a:xfrm>
          <a:off x="0" y="0"/>
          <a:ext cx="0" cy="0"/>
          <a:chOff x="0" y="0"/>
          <a:chExt cx="0" cy="0"/>
        </a:xfrm>
      </p:grpSpPr>
      <p:pic>
        <p:nvPicPr>
          <p:cNvPr id="2050" name="Picture 2">
            <a:extLst>
              <a:ext uri="{FF2B5EF4-FFF2-40B4-BE49-F238E27FC236}">
                <a16:creationId xmlns:a16="http://schemas.microsoft.com/office/drawing/2014/main" id="{63AE14BE-3F3C-578B-39F8-E928200DBE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96" y="-7272"/>
            <a:ext cx="3792511" cy="6877524"/>
          </a:xfrm>
          <a:prstGeom prst="rect">
            <a:avLst/>
          </a:prstGeom>
          <a:noFill/>
          <a:extLst>
            <a:ext uri="{909E8E84-426E-40DD-AFC4-6F175D3DCCD1}">
              <a14:hiddenFill xmlns:a14="http://schemas.microsoft.com/office/drawing/2010/main">
                <a:solidFill>
                  <a:srgbClr val="FFFFFF"/>
                </a:solidFill>
              </a14:hiddenFill>
            </a:ext>
          </a:extLst>
        </p:spPr>
      </p:pic>
      <p:grpSp>
        <p:nvGrpSpPr>
          <p:cNvPr id="7" name="组合 6">
            <a:extLst>
              <a:ext uri="{FF2B5EF4-FFF2-40B4-BE49-F238E27FC236}">
                <a16:creationId xmlns:a16="http://schemas.microsoft.com/office/drawing/2014/main" id="{CA2ED3A1-A0DC-0CA4-4E11-B29588E605CB}"/>
              </a:ext>
            </a:extLst>
          </p:cNvPr>
          <p:cNvGrpSpPr/>
          <p:nvPr/>
        </p:nvGrpSpPr>
        <p:grpSpPr>
          <a:xfrm>
            <a:off x="0" y="1289410"/>
            <a:ext cx="4614333" cy="757589"/>
            <a:chOff x="-8313" y="1494236"/>
            <a:chExt cx="4319047" cy="757589"/>
          </a:xfrm>
        </p:grpSpPr>
        <p:sp>
          <p:nvSpPr>
            <p:cNvPr id="4" name="矩形 3">
              <a:extLst>
                <a:ext uri="{FF2B5EF4-FFF2-40B4-BE49-F238E27FC236}">
                  <a16:creationId xmlns:a16="http://schemas.microsoft.com/office/drawing/2014/main" id="{4D2609E4-20DC-439F-E870-C8AFF96E40A9}"/>
                </a:ext>
              </a:extLst>
            </p:cNvPr>
            <p:cNvSpPr/>
            <p:nvPr/>
          </p:nvSpPr>
          <p:spPr>
            <a:xfrm>
              <a:off x="-8313" y="1540255"/>
              <a:ext cx="4160031" cy="711570"/>
            </a:xfrm>
            <a:prstGeom prst="rect">
              <a:avLst/>
            </a:prstGeom>
            <a:gradFill flip="none" rotWithShape="1">
              <a:gsLst>
                <a:gs pos="22000">
                  <a:srgbClr val="165195"/>
                </a:gs>
                <a:gs pos="0">
                  <a:srgbClr val="003F88"/>
                </a:gs>
                <a:gs pos="100000">
                  <a:srgbClr val="BFDEF5"/>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文本框 5">
              <a:extLst>
                <a:ext uri="{FF2B5EF4-FFF2-40B4-BE49-F238E27FC236}">
                  <a16:creationId xmlns:a16="http://schemas.microsoft.com/office/drawing/2014/main" id="{5BAE8C2E-E08C-1B9D-AF5F-404E864C0880}"/>
                </a:ext>
              </a:extLst>
            </p:cNvPr>
            <p:cNvSpPr txBox="1"/>
            <p:nvPr/>
          </p:nvSpPr>
          <p:spPr>
            <a:xfrm>
              <a:off x="2798804" y="1494236"/>
              <a:ext cx="1511930" cy="707886"/>
            </a:xfrm>
            <a:prstGeom prst="rect">
              <a:avLst/>
            </a:prstGeom>
            <a:noFill/>
          </p:spPr>
          <p:txBody>
            <a:bodyPr wrap="square" rtlCol="0">
              <a:spAutoFit/>
            </a:bodyPr>
            <a:lstStyle/>
            <a:p>
              <a:pPr algn="ctr"/>
              <a:r>
                <a:rPr lang="zh-CN" altLang="en-US" sz="4000" b="1" dirty="0">
                  <a:ln w="10160">
                    <a:solidFill>
                      <a:schemeClr val="accent5"/>
                    </a:solidFill>
                    <a:prstDash val="solid"/>
                  </a:ln>
                  <a:solidFill>
                    <a:schemeClr val="bg1"/>
                  </a:solidFill>
                  <a:effectLst>
                    <a:outerShdw blurRad="38100" dist="22860" dir="5400000" algn="tl" rotWithShape="0">
                      <a:srgbClr val="000000">
                        <a:alpha val="30000"/>
                      </a:srgbClr>
                    </a:outerShdw>
                  </a:effectLst>
                  <a:latin typeface="黑体" panose="02010609060101010101" pitchFamily="49" charset="-122"/>
                  <a:ea typeface="黑体" panose="02010609060101010101" pitchFamily="49" charset="-122"/>
                </a:rPr>
                <a:t>目录</a:t>
              </a:r>
              <a:endParaRPr lang="zh-CN" altLang="en-US" sz="2000" b="1" dirty="0">
                <a:ln w="10160">
                  <a:solidFill>
                    <a:schemeClr val="accent5"/>
                  </a:solidFill>
                  <a:prstDash val="solid"/>
                </a:ln>
                <a:solidFill>
                  <a:schemeClr val="bg1"/>
                </a:solidFill>
                <a:effectLst>
                  <a:outerShdw blurRad="38100" dist="22860" dir="5400000" algn="tl" rotWithShape="0">
                    <a:srgbClr val="000000">
                      <a:alpha val="30000"/>
                    </a:srgbClr>
                  </a:outerShdw>
                </a:effectLst>
                <a:latin typeface="黑体" panose="02010609060101010101" pitchFamily="49" charset="-122"/>
                <a:ea typeface="黑体" panose="02010609060101010101" pitchFamily="49" charset="-122"/>
              </a:endParaRPr>
            </a:p>
          </p:txBody>
        </p:sp>
      </p:grpSp>
      <p:grpSp>
        <p:nvGrpSpPr>
          <p:cNvPr id="18" name="组合 17">
            <a:extLst>
              <a:ext uri="{FF2B5EF4-FFF2-40B4-BE49-F238E27FC236}">
                <a16:creationId xmlns:a16="http://schemas.microsoft.com/office/drawing/2014/main" id="{55A2369B-7131-3E60-3E5F-A6A290967433}"/>
              </a:ext>
            </a:extLst>
          </p:cNvPr>
          <p:cNvGrpSpPr/>
          <p:nvPr/>
        </p:nvGrpSpPr>
        <p:grpSpPr>
          <a:xfrm>
            <a:off x="5029534" y="3063144"/>
            <a:ext cx="6588642" cy="2641733"/>
            <a:chOff x="4393412" y="2240607"/>
            <a:chExt cx="6588642" cy="2641733"/>
          </a:xfrm>
        </p:grpSpPr>
        <p:sp>
          <p:nvSpPr>
            <p:cNvPr id="8" name="文本框 7">
              <a:extLst>
                <a:ext uri="{FF2B5EF4-FFF2-40B4-BE49-F238E27FC236}">
                  <a16:creationId xmlns:a16="http://schemas.microsoft.com/office/drawing/2014/main" id="{D90BBA0A-C92D-25D3-3510-1C670E86712F}"/>
                </a:ext>
              </a:extLst>
            </p:cNvPr>
            <p:cNvSpPr txBox="1"/>
            <p:nvPr/>
          </p:nvSpPr>
          <p:spPr>
            <a:xfrm>
              <a:off x="4393412" y="2240607"/>
              <a:ext cx="6213089" cy="646331"/>
            </a:xfrm>
            <a:prstGeom prst="rect">
              <a:avLst/>
            </a:prstGeom>
            <a:noFill/>
          </p:spPr>
          <p:txBody>
            <a:bodyPr wrap="square" rtlCol="0">
              <a:spAutoFit/>
            </a:bodyPr>
            <a:lstStyle/>
            <a:p>
              <a:r>
                <a:rPr lang="zh-CN" altLang="en-US" sz="3600" dirty="0">
                  <a:solidFill>
                    <a:schemeClr val="accent1">
                      <a:lumMod val="20000"/>
                      <a:lumOff val="80000"/>
                    </a:schemeClr>
                  </a:solidFill>
                  <a:latin typeface="黑体" panose="02010609060101010101" pitchFamily="49" charset="-122"/>
                  <a:ea typeface="黑体" panose="02010609060101010101" pitchFamily="49" charset="-122"/>
                </a:rPr>
                <a:t>一、电路板设计概述</a:t>
              </a:r>
            </a:p>
          </p:txBody>
        </p:sp>
        <p:sp>
          <p:nvSpPr>
            <p:cNvPr id="9" name="文本框 8">
              <a:extLst>
                <a:ext uri="{FF2B5EF4-FFF2-40B4-BE49-F238E27FC236}">
                  <a16:creationId xmlns:a16="http://schemas.microsoft.com/office/drawing/2014/main" id="{66AE08F1-93F0-8060-1A86-25D36C6881FE}"/>
                </a:ext>
              </a:extLst>
            </p:cNvPr>
            <p:cNvSpPr txBox="1"/>
            <p:nvPr/>
          </p:nvSpPr>
          <p:spPr>
            <a:xfrm>
              <a:off x="4401879" y="3155072"/>
              <a:ext cx="4585684" cy="646331"/>
            </a:xfrm>
            <a:prstGeom prst="rect">
              <a:avLst/>
            </a:prstGeom>
            <a:noFill/>
          </p:spPr>
          <p:txBody>
            <a:bodyPr wrap="square" rtlCol="0">
              <a:spAutoFit/>
            </a:bodyPr>
            <a:lstStyle/>
            <a:p>
              <a:r>
                <a:rPr lang="zh-CN" altLang="en-US" sz="3600" dirty="0">
                  <a:solidFill>
                    <a:schemeClr val="accent1">
                      <a:lumMod val="20000"/>
                      <a:lumOff val="80000"/>
                    </a:schemeClr>
                  </a:solidFill>
                  <a:latin typeface="黑体" panose="02010609060101010101" pitchFamily="49" charset="-122"/>
                  <a:ea typeface="黑体" panose="02010609060101010101" pitchFamily="49" charset="-122"/>
                </a:rPr>
                <a:t>二、电路原理图设计</a:t>
              </a:r>
            </a:p>
          </p:txBody>
        </p:sp>
        <p:sp>
          <p:nvSpPr>
            <p:cNvPr id="10" name="文本框 9">
              <a:extLst>
                <a:ext uri="{FF2B5EF4-FFF2-40B4-BE49-F238E27FC236}">
                  <a16:creationId xmlns:a16="http://schemas.microsoft.com/office/drawing/2014/main" id="{8EAA4198-BF6A-BE4D-CFC0-5B0B7F86DF05}"/>
                </a:ext>
              </a:extLst>
            </p:cNvPr>
            <p:cNvSpPr txBox="1"/>
            <p:nvPr/>
          </p:nvSpPr>
          <p:spPr>
            <a:xfrm>
              <a:off x="4393412" y="4069537"/>
              <a:ext cx="6588642" cy="646331"/>
            </a:xfrm>
            <a:prstGeom prst="rect">
              <a:avLst/>
            </a:prstGeom>
            <a:noFill/>
          </p:spPr>
          <p:txBody>
            <a:bodyPr wrap="square" rtlCol="0">
              <a:spAutoFit/>
            </a:bodyPr>
            <a:lstStyle/>
            <a:p>
              <a:r>
                <a:rPr lang="zh-CN" altLang="en-US" sz="3600" dirty="0">
                  <a:solidFill>
                    <a:schemeClr val="accent1">
                      <a:lumMod val="75000"/>
                    </a:schemeClr>
                  </a:solidFill>
                  <a:latin typeface="黑体" panose="02010609060101010101" pitchFamily="49" charset="-122"/>
                  <a:ea typeface="黑体" panose="02010609060101010101" pitchFamily="49" charset="-122"/>
                </a:rPr>
                <a:t>三、印刷电路板设计</a:t>
              </a:r>
            </a:p>
          </p:txBody>
        </p:sp>
        <p:cxnSp>
          <p:nvCxnSpPr>
            <p:cNvPr id="13" name="直接连接符 12">
              <a:extLst>
                <a:ext uri="{FF2B5EF4-FFF2-40B4-BE49-F238E27FC236}">
                  <a16:creationId xmlns:a16="http://schemas.microsoft.com/office/drawing/2014/main" id="{4A4E4100-B928-0237-05E1-2683BB559851}"/>
                </a:ext>
              </a:extLst>
            </p:cNvPr>
            <p:cNvCxnSpPr>
              <a:cxnSpLocks/>
            </p:cNvCxnSpPr>
            <p:nvPr/>
          </p:nvCxnSpPr>
          <p:spPr>
            <a:xfrm>
              <a:off x="4495801" y="3048003"/>
              <a:ext cx="6316133" cy="0"/>
            </a:xfrm>
            <a:prstGeom prst="line">
              <a:avLst/>
            </a:prstGeom>
            <a:ln w="28575">
              <a:solidFill>
                <a:schemeClr val="accent1">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C2940C07-A9C7-C0E4-06DA-69BF18D4C970}"/>
                </a:ext>
              </a:extLst>
            </p:cNvPr>
            <p:cNvCxnSpPr>
              <a:cxnSpLocks/>
            </p:cNvCxnSpPr>
            <p:nvPr/>
          </p:nvCxnSpPr>
          <p:spPr>
            <a:xfrm>
              <a:off x="4495801" y="3984873"/>
              <a:ext cx="6316133" cy="0"/>
            </a:xfrm>
            <a:prstGeom prst="line">
              <a:avLst/>
            </a:prstGeom>
            <a:ln w="28575">
              <a:solidFill>
                <a:schemeClr val="accent1">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811BA0EC-9DB7-5E43-8E4D-D0DA84C8CBC7}"/>
                </a:ext>
              </a:extLst>
            </p:cNvPr>
            <p:cNvCxnSpPr>
              <a:cxnSpLocks/>
            </p:cNvCxnSpPr>
            <p:nvPr/>
          </p:nvCxnSpPr>
          <p:spPr>
            <a:xfrm>
              <a:off x="4495801" y="4882340"/>
              <a:ext cx="6316133" cy="0"/>
            </a:xfrm>
            <a:prstGeom prst="line">
              <a:avLst/>
            </a:prstGeom>
            <a:ln w="28575">
              <a:solidFill>
                <a:schemeClr val="accent1">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9778478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453DD-2879-EF3F-D558-B9F7353CAE7F}"/>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F9D97674-B419-82FF-2ABA-855DB87EC0A3}"/>
              </a:ext>
            </a:extLst>
          </p:cNvPr>
          <p:cNvSpPr>
            <a:spLocks noGrp="1"/>
          </p:cNvSpPr>
          <p:nvPr>
            <p:ph idx="1"/>
          </p:nvPr>
        </p:nvSpPr>
        <p:spPr>
          <a:xfrm>
            <a:off x="838199" y="1825625"/>
            <a:ext cx="11259457" cy="4351338"/>
          </a:xfrm>
        </p:spPr>
        <p:txBody>
          <a:bodyPr>
            <a:normAutofit/>
          </a:bodyPr>
          <a:lstStyle/>
          <a:p>
            <a:pPr marL="0" indent="0">
              <a:buNone/>
            </a:pPr>
            <a:r>
              <a:rPr lang="zh-CN" altLang="en-US" dirty="0">
                <a:latin typeface="Arial Black" panose="020B0A04020102020204" pitchFamily="34" charset="0"/>
                <a:ea typeface="黑体" panose="02010609060101010101" pitchFamily="49" charset="-122"/>
              </a:rPr>
              <a:t>在完成原理图设计后，就可以开始设计电路板（</a:t>
            </a:r>
            <a:r>
              <a:rPr lang="en-US" altLang="zh-CN" dirty="0">
                <a:latin typeface="Arial Black" panose="020B0A04020102020204" pitchFamily="34" charset="0"/>
                <a:ea typeface="黑体" panose="02010609060101010101" pitchFamily="49" charset="-122"/>
              </a:rPr>
              <a:t>PCB</a:t>
            </a:r>
            <a:r>
              <a:rPr lang="zh-CN" altLang="en-US" dirty="0">
                <a:latin typeface="Arial Black" panose="020B0A04020102020204" pitchFamily="34" charset="0"/>
                <a:ea typeface="黑体" panose="02010609060101010101" pitchFamily="49" charset="-122"/>
              </a:rPr>
              <a:t>）</a:t>
            </a:r>
            <a:endParaRPr lang="en-US" altLang="zh-CN" dirty="0">
              <a:latin typeface="Arial Black" panose="020B0A04020102020204" pitchFamily="34" charset="0"/>
              <a:ea typeface="黑体" panose="02010609060101010101" pitchFamily="49" charset="-122"/>
            </a:endParaRPr>
          </a:p>
          <a:p>
            <a:pPr marL="0" indent="0">
              <a:buNone/>
            </a:pPr>
            <a:r>
              <a:rPr lang="en-US" altLang="zh-CN" dirty="0">
                <a:latin typeface="Arial Black" panose="020B0A04020102020204" pitchFamily="34" charset="0"/>
                <a:ea typeface="黑体" panose="02010609060101010101" pitchFamily="49" charset="-122"/>
              </a:rPr>
              <a:t>1</a:t>
            </a:r>
            <a:r>
              <a:rPr lang="zh-CN" altLang="en-US" dirty="0">
                <a:latin typeface="Arial Black" panose="020B0A04020102020204" pitchFamily="34" charset="0"/>
                <a:ea typeface="黑体" panose="02010609060101010101" pitchFamily="49" charset="-122"/>
              </a:rPr>
              <a:t>、在工程中创建</a:t>
            </a:r>
            <a:r>
              <a:rPr lang="en-US" altLang="zh-CN" dirty="0">
                <a:latin typeface="Arial Black" panose="020B0A04020102020204" pitchFamily="34" charset="0"/>
                <a:ea typeface="黑体" panose="02010609060101010101" pitchFamily="49" charset="-122"/>
              </a:rPr>
              <a:t>PCB</a:t>
            </a:r>
            <a:r>
              <a:rPr lang="zh-CN" altLang="en-US" dirty="0">
                <a:latin typeface="Arial Black" panose="020B0A04020102020204" pitchFamily="34" charset="0"/>
                <a:ea typeface="黑体" panose="02010609060101010101" pitchFamily="49" charset="-122"/>
              </a:rPr>
              <a:t>文件</a:t>
            </a:r>
            <a:endParaRPr lang="en-US" altLang="zh-CN" dirty="0">
              <a:latin typeface="Arial Black" panose="020B0A04020102020204" pitchFamily="34" charset="0"/>
              <a:ea typeface="黑体" panose="02010609060101010101" pitchFamily="49" charset="-122"/>
            </a:endParaRPr>
          </a:p>
          <a:p>
            <a:pPr marL="0" indent="0">
              <a:buNone/>
            </a:pPr>
            <a:r>
              <a:rPr lang="zh-CN" altLang="en-US" dirty="0">
                <a:latin typeface="Arial Black" panose="020B0A04020102020204" pitchFamily="34" charset="0"/>
                <a:ea typeface="黑体" panose="02010609060101010101" pitchFamily="49" charset="-122"/>
              </a:rPr>
              <a:t>★在工程面板中点击“</a:t>
            </a:r>
            <a:r>
              <a:rPr lang="en-US" altLang="zh-CN" dirty="0">
                <a:latin typeface="Arial Black" panose="020B0A04020102020204" pitchFamily="34" charset="0"/>
                <a:ea typeface="黑体" panose="02010609060101010101" pitchFamily="49" charset="-122"/>
              </a:rPr>
              <a:t>Project</a:t>
            </a:r>
            <a:r>
              <a:rPr lang="zh-CN" altLang="en-US" dirty="0">
                <a:latin typeface="Arial Black" panose="020B0A04020102020204" pitchFamily="34" charset="0"/>
                <a:ea typeface="黑体" panose="02010609060101010101" pitchFamily="49" charset="-122"/>
              </a:rPr>
              <a:t>”按钮；</a:t>
            </a:r>
            <a:endParaRPr lang="en-US" altLang="zh-CN" dirty="0">
              <a:latin typeface="Arial Black" panose="020B0A04020102020204" pitchFamily="34" charset="0"/>
              <a:ea typeface="黑体" panose="02010609060101010101" pitchFamily="49" charset="-122"/>
            </a:endParaRPr>
          </a:p>
          <a:p>
            <a:pPr marL="0" indent="0">
              <a:buNone/>
            </a:pPr>
            <a:r>
              <a:rPr lang="zh-CN" altLang="en-US" dirty="0">
                <a:latin typeface="Arial Black" panose="020B0A04020102020204" pitchFamily="34" charset="0"/>
                <a:ea typeface="黑体" panose="02010609060101010101" pitchFamily="49" charset="-122"/>
              </a:rPr>
              <a:t>★或右击工程面板中的工程项目名；</a:t>
            </a:r>
            <a:endParaRPr lang="en-US" altLang="zh-CN" dirty="0">
              <a:latin typeface="Arial Black" panose="020B0A04020102020204" pitchFamily="34" charset="0"/>
              <a:ea typeface="黑体" panose="02010609060101010101" pitchFamily="49" charset="-122"/>
            </a:endParaRPr>
          </a:p>
          <a:p>
            <a:pPr marL="0" indent="0">
              <a:buNone/>
            </a:pPr>
            <a:r>
              <a:rPr lang="zh-CN" altLang="en-US" dirty="0">
                <a:latin typeface="Arial Black" panose="020B0A04020102020204" pitchFamily="34" charset="0"/>
                <a:ea typeface="黑体" panose="02010609060101010101" pitchFamily="49" charset="-122"/>
              </a:rPr>
              <a:t>★或打开主菜单“</a:t>
            </a:r>
            <a:r>
              <a:rPr lang="en-US" altLang="zh-CN" dirty="0">
                <a:latin typeface="Arial Black" panose="020B0A04020102020204" pitchFamily="34" charset="0"/>
                <a:ea typeface="黑体" panose="02010609060101010101" pitchFamily="49" charset="-122"/>
              </a:rPr>
              <a:t>Project”</a:t>
            </a:r>
          </a:p>
          <a:p>
            <a:pPr marL="0" indent="0">
              <a:buNone/>
            </a:pPr>
            <a:r>
              <a:rPr lang="zh-CN" altLang="en-US" dirty="0">
                <a:latin typeface="Arial Black" panose="020B0A04020102020204" pitchFamily="34" charset="0"/>
                <a:ea typeface="黑体" panose="02010609060101010101" pitchFamily="49" charset="-122"/>
              </a:rPr>
              <a:t>★在弹出的菜单中选择“</a:t>
            </a:r>
            <a:r>
              <a:rPr lang="en-US" altLang="zh-CN" dirty="0">
                <a:latin typeface="Arial Black" panose="020B0A04020102020204" pitchFamily="34" charset="0"/>
                <a:ea typeface="黑体" panose="02010609060101010101" pitchFamily="49" charset="-122"/>
              </a:rPr>
              <a:t>Add New to Project”</a:t>
            </a:r>
            <a:r>
              <a:rPr lang="zh-CN" altLang="en-US" dirty="0">
                <a:latin typeface="Arial Black" panose="020B0A04020102020204" pitchFamily="34" charset="0"/>
                <a:ea typeface="黑体" panose="02010609060101010101" pitchFamily="49" charset="-122"/>
              </a:rPr>
              <a:t> →“</a:t>
            </a:r>
            <a:r>
              <a:rPr lang="en-US" altLang="zh-CN" dirty="0">
                <a:latin typeface="Arial Black" panose="020B0A04020102020204" pitchFamily="34" charset="0"/>
                <a:ea typeface="黑体" panose="02010609060101010101" pitchFamily="49" charset="-122"/>
              </a:rPr>
              <a:t>PCB</a:t>
            </a:r>
            <a:r>
              <a:rPr lang="zh-CN" altLang="en-US" dirty="0">
                <a:latin typeface="Arial Black" panose="020B0A04020102020204" pitchFamily="34" charset="0"/>
                <a:ea typeface="黑体" panose="02010609060101010101" pitchFamily="49" charset="-122"/>
              </a:rPr>
              <a:t>”</a:t>
            </a:r>
            <a:endParaRPr lang="en-US" altLang="zh-CN" dirty="0">
              <a:latin typeface="Arial Black" panose="020B0A04020102020204" pitchFamily="34" charset="0"/>
              <a:ea typeface="黑体" panose="02010609060101010101" pitchFamily="49" charset="-122"/>
            </a:endParaRPr>
          </a:p>
          <a:p>
            <a:pPr marL="0" indent="0">
              <a:buNone/>
            </a:pPr>
            <a:r>
              <a:rPr lang="zh-CN" altLang="en-US" dirty="0">
                <a:latin typeface="Arial Black" panose="020B0A04020102020204" pitchFamily="34" charset="0"/>
                <a:ea typeface="黑体" panose="02010609060101010101" pitchFamily="49" charset="-122"/>
              </a:rPr>
              <a:t>★则系统就在该工程下新建了一个名为“</a:t>
            </a:r>
            <a:r>
              <a:rPr lang="en-US" altLang="zh-CN" dirty="0" err="1">
                <a:latin typeface="Arial Black" panose="020B0A04020102020204" pitchFamily="34" charset="0"/>
                <a:ea typeface="黑体" panose="02010609060101010101" pitchFamily="49" charset="-122"/>
              </a:rPr>
              <a:t>PCB.PcbDoc</a:t>
            </a:r>
            <a:r>
              <a:rPr lang="en-US" altLang="zh-CN" dirty="0">
                <a:latin typeface="Arial Black" panose="020B0A04020102020204" pitchFamily="34" charset="0"/>
                <a:ea typeface="黑体" panose="02010609060101010101" pitchFamily="49" charset="-122"/>
              </a:rPr>
              <a:t>”</a:t>
            </a:r>
            <a:r>
              <a:rPr lang="zh-CN" altLang="en-US" dirty="0">
                <a:latin typeface="Arial Black" panose="020B0A04020102020204" pitchFamily="34" charset="0"/>
                <a:ea typeface="黑体" panose="02010609060101010101" pitchFamily="49" charset="-122"/>
              </a:rPr>
              <a:t>的</a:t>
            </a:r>
            <a:r>
              <a:rPr lang="en-US" altLang="zh-CN" dirty="0">
                <a:latin typeface="Arial Black" panose="020B0A04020102020204" pitchFamily="34" charset="0"/>
                <a:ea typeface="黑体" panose="02010609060101010101" pitchFamily="49" charset="-122"/>
              </a:rPr>
              <a:t>PCB</a:t>
            </a:r>
            <a:r>
              <a:rPr lang="zh-CN" altLang="en-US" dirty="0">
                <a:latin typeface="Arial Black" panose="020B0A04020102020204" pitchFamily="34" charset="0"/>
                <a:ea typeface="黑体" panose="02010609060101010101" pitchFamily="49" charset="-122"/>
              </a:rPr>
              <a:t>文件。</a:t>
            </a:r>
            <a:endParaRPr lang="en-US" altLang="zh-CN" dirty="0">
              <a:latin typeface="Arial Black" panose="020B0A04020102020204" pitchFamily="34" charset="0"/>
              <a:ea typeface="黑体" panose="02010609060101010101" pitchFamily="49" charset="-122"/>
            </a:endParaRPr>
          </a:p>
        </p:txBody>
      </p:sp>
      <p:sp>
        <p:nvSpPr>
          <p:cNvPr id="2" name="文本框 1">
            <a:extLst>
              <a:ext uri="{FF2B5EF4-FFF2-40B4-BE49-F238E27FC236}">
                <a16:creationId xmlns:a16="http://schemas.microsoft.com/office/drawing/2014/main" id="{A3FA20F5-0EBE-B37D-3C01-575A6E58B0DE}"/>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使用</a:t>
            </a:r>
            <a:r>
              <a:rPr lang="en-US" altLang="zh-CN" sz="4000" dirty="0">
                <a:solidFill>
                  <a:schemeClr val="accent1">
                    <a:lumMod val="75000"/>
                  </a:schemeClr>
                </a:solidFill>
                <a:latin typeface="Arial Black" panose="020B0A04020102020204" pitchFamily="34" charset="0"/>
                <a:ea typeface="黑体" panose="02010609060101010101" pitchFamily="49" charset="-122"/>
              </a:rPr>
              <a:t>AD</a:t>
            </a:r>
            <a:r>
              <a:rPr lang="zh-CN" altLang="en-US" sz="4000" dirty="0">
                <a:solidFill>
                  <a:schemeClr val="accent1">
                    <a:lumMod val="75000"/>
                  </a:schemeClr>
                </a:solidFill>
                <a:latin typeface="黑体" panose="02010609060101010101" pitchFamily="49" charset="-122"/>
                <a:ea typeface="黑体" panose="02010609060101010101" pitchFamily="49" charset="-122"/>
              </a:rPr>
              <a:t>设计印刷电路板图</a:t>
            </a:r>
            <a:endParaRPr lang="zh-CN" altLang="en-US" sz="4000" dirty="0">
              <a:solidFill>
                <a:srgbClr val="003F88"/>
              </a:solidFill>
              <a:latin typeface="黑体" panose="02010609060101010101" pitchFamily="49" charset="-122"/>
              <a:ea typeface="黑体" panose="02010609060101010101" pitchFamily="49" charset="-122"/>
            </a:endParaRPr>
          </a:p>
        </p:txBody>
      </p:sp>
      <p:sp>
        <p:nvSpPr>
          <p:cNvPr id="9" name="矩形 8">
            <a:extLst>
              <a:ext uri="{FF2B5EF4-FFF2-40B4-BE49-F238E27FC236}">
                <a16:creationId xmlns:a16="http://schemas.microsoft.com/office/drawing/2014/main" id="{FBE24E86-32AF-DB25-CA5A-FB22220AA8D2}"/>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261207041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453DD-2879-EF3F-D558-B9F7353CAE7F}"/>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482FEF22-4051-9895-4759-F952BAB915E9}"/>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使用</a:t>
            </a:r>
            <a:r>
              <a:rPr lang="en-US" altLang="zh-CN" sz="4000" dirty="0">
                <a:solidFill>
                  <a:schemeClr val="accent1">
                    <a:lumMod val="75000"/>
                  </a:schemeClr>
                </a:solidFill>
                <a:latin typeface="Arial Black" panose="020B0A04020102020204" pitchFamily="34" charset="0"/>
                <a:ea typeface="黑体" panose="02010609060101010101" pitchFamily="49" charset="-122"/>
              </a:rPr>
              <a:t>AD</a:t>
            </a:r>
            <a:r>
              <a:rPr lang="zh-CN" altLang="en-US" sz="4000" dirty="0">
                <a:solidFill>
                  <a:schemeClr val="accent1">
                    <a:lumMod val="75000"/>
                  </a:schemeClr>
                </a:solidFill>
                <a:latin typeface="黑体" panose="02010609060101010101" pitchFamily="49" charset="-122"/>
                <a:ea typeface="黑体" panose="02010609060101010101" pitchFamily="49" charset="-122"/>
              </a:rPr>
              <a:t>设计印刷电路板图</a:t>
            </a:r>
            <a:endParaRPr lang="zh-CN" altLang="en-US" sz="4000" dirty="0">
              <a:solidFill>
                <a:srgbClr val="003F88"/>
              </a:solidFill>
              <a:latin typeface="黑体" panose="02010609060101010101" pitchFamily="49" charset="-122"/>
              <a:ea typeface="黑体" panose="02010609060101010101" pitchFamily="49" charset="-122"/>
            </a:endParaRPr>
          </a:p>
        </p:txBody>
      </p:sp>
      <p:sp>
        <p:nvSpPr>
          <p:cNvPr id="9" name="矩形 8">
            <a:extLst>
              <a:ext uri="{FF2B5EF4-FFF2-40B4-BE49-F238E27FC236}">
                <a16:creationId xmlns:a16="http://schemas.microsoft.com/office/drawing/2014/main" id="{2B009C25-5467-8B22-07CA-2488BC3B76E5}"/>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2" name="图片 21">
            <a:extLst>
              <a:ext uri="{FF2B5EF4-FFF2-40B4-BE49-F238E27FC236}">
                <a16:creationId xmlns:a16="http://schemas.microsoft.com/office/drawing/2014/main" id="{AD0E8612-35EC-16A8-C628-084030D3DB76}"/>
              </a:ext>
            </a:extLst>
          </p:cNvPr>
          <p:cNvPicPr>
            <a:picLocks noChangeAspect="1"/>
          </p:cNvPicPr>
          <p:nvPr/>
        </p:nvPicPr>
        <p:blipFill>
          <a:blip r:embed="rId2"/>
          <a:stretch>
            <a:fillRect/>
          </a:stretch>
        </p:blipFill>
        <p:spPr>
          <a:xfrm>
            <a:off x="5629779" y="431199"/>
            <a:ext cx="6562221" cy="6426801"/>
          </a:xfrm>
          <a:prstGeom prst="rect">
            <a:avLst/>
          </a:prstGeom>
        </p:spPr>
      </p:pic>
      <p:sp>
        <p:nvSpPr>
          <p:cNvPr id="3" name="内容占位符 2">
            <a:extLst>
              <a:ext uri="{FF2B5EF4-FFF2-40B4-BE49-F238E27FC236}">
                <a16:creationId xmlns:a16="http://schemas.microsoft.com/office/drawing/2014/main" id="{F9D97674-B419-82FF-2ABA-855DB87EC0A3}"/>
              </a:ext>
            </a:extLst>
          </p:cNvPr>
          <p:cNvSpPr>
            <a:spLocks noGrp="1"/>
          </p:cNvSpPr>
          <p:nvPr>
            <p:ph idx="1"/>
          </p:nvPr>
        </p:nvSpPr>
        <p:spPr>
          <a:xfrm>
            <a:off x="838200" y="1825625"/>
            <a:ext cx="4925291" cy="4351338"/>
          </a:xfrm>
        </p:spPr>
        <p:txBody>
          <a:bodyPr>
            <a:normAutofit/>
          </a:bodyPr>
          <a:lstStyle/>
          <a:p>
            <a:pPr marL="0" indent="0">
              <a:buNone/>
            </a:pPr>
            <a:r>
              <a:rPr lang="en-US" altLang="zh-CN" dirty="0">
                <a:latin typeface="Times New Roman" panose="02020603050405020304" pitchFamily="18" charset="0"/>
                <a:cs typeface="Times New Roman" panose="02020603050405020304" pitchFamily="18" charset="0"/>
              </a:rPr>
              <a:t>1. </a:t>
            </a:r>
            <a:r>
              <a:rPr lang="zh-CN" altLang="en-US" dirty="0">
                <a:latin typeface="Times New Roman" panose="02020603050405020304" pitchFamily="18" charset="0"/>
                <a:cs typeface="Times New Roman" panose="02020603050405020304" pitchFamily="18" charset="0"/>
              </a:rPr>
              <a:t>在工程中创建</a:t>
            </a:r>
            <a:r>
              <a:rPr lang="en-US" altLang="zh-CN" dirty="0">
                <a:latin typeface="Times New Roman" panose="02020603050405020304" pitchFamily="18" charset="0"/>
                <a:cs typeface="Times New Roman" panose="02020603050405020304" pitchFamily="18" charset="0"/>
              </a:rPr>
              <a:t>PCB</a:t>
            </a:r>
          </a:p>
          <a:p>
            <a:pPr marL="0" indent="0">
              <a:buNone/>
            </a:pPr>
            <a:r>
              <a:rPr lang="zh-CN" altLang="en-US" dirty="0">
                <a:latin typeface="Times New Roman" panose="02020603050405020304" pitchFamily="18" charset="0"/>
                <a:cs typeface="Times New Roman" panose="02020603050405020304" pitchFamily="18" charset="0"/>
              </a:rPr>
              <a:t>★点击工程面板中的“</a:t>
            </a:r>
            <a:r>
              <a:rPr lang="en-US" altLang="zh-CN" dirty="0">
                <a:latin typeface="Times New Roman" panose="02020603050405020304" pitchFamily="18" charset="0"/>
                <a:cs typeface="Times New Roman" panose="02020603050405020304" pitchFamily="18" charset="0"/>
              </a:rPr>
              <a:t>project”</a:t>
            </a:r>
            <a:r>
              <a:rPr lang="zh-CN" altLang="en-US" dirty="0">
                <a:latin typeface="Times New Roman" panose="02020603050405020304" pitchFamily="18" charset="0"/>
                <a:cs typeface="Times New Roman" panose="02020603050405020304" pitchFamily="18" charset="0"/>
              </a:rPr>
              <a:t>按钮，或右击工程面板中的工程名，或打开主菜单“</a:t>
            </a:r>
            <a:r>
              <a:rPr lang="en-US" altLang="zh-CN" dirty="0">
                <a:latin typeface="Times New Roman" panose="02020603050405020304" pitchFamily="18" charset="0"/>
                <a:cs typeface="Times New Roman" panose="02020603050405020304" pitchFamily="18" charset="0"/>
              </a:rPr>
              <a:t>Project”</a:t>
            </a:r>
            <a:r>
              <a:rPr lang="zh-CN" altLang="en-US" dirty="0">
                <a:latin typeface="Times New Roman" panose="02020603050405020304" pitchFamily="18" charset="0"/>
                <a:cs typeface="Times New Roman" panose="02020603050405020304" pitchFamily="18" charset="0"/>
              </a:rPr>
              <a:t>，在弹出的菜单中选择</a:t>
            </a:r>
            <a:endParaRPr lang="en-US" altLang="zh-CN" dirty="0">
              <a:latin typeface="Times New Roman" panose="02020603050405020304" pitchFamily="18" charset="0"/>
              <a:cs typeface="Times New Roman" panose="02020603050405020304" pitchFamily="18" charset="0"/>
            </a:endParaRPr>
          </a:p>
          <a:p>
            <a:pPr marL="0" indent="0">
              <a:buNone/>
            </a:pP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Add New to Project”</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PCB</a:t>
            </a:r>
            <a:r>
              <a:rPr lang="zh-CN" altLang="en-US" dirty="0">
                <a:latin typeface="Times New Roman" panose="02020603050405020304" pitchFamily="18" charset="0"/>
                <a:cs typeface="Times New Roman" panose="02020603050405020304" pitchFamily="18" charset="0"/>
              </a:rPr>
              <a:t>”，系统就在该工程下新建了一个名为“</a:t>
            </a:r>
            <a:r>
              <a:rPr lang="en-US" altLang="zh-CN" dirty="0" err="1">
                <a:latin typeface="Times New Roman" panose="02020603050405020304" pitchFamily="18" charset="0"/>
                <a:cs typeface="Times New Roman" panose="02020603050405020304" pitchFamily="18" charset="0"/>
              </a:rPr>
              <a:t>PCB.PcbDoc</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的</a:t>
            </a:r>
            <a:r>
              <a:rPr lang="en-US" altLang="zh-CN" dirty="0">
                <a:latin typeface="Times New Roman" panose="02020603050405020304" pitchFamily="18" charset="0"/>
                <a:cs typeface="Times New Roman" panose="02020603050405020304" pitchFamily="18" charset="0"/>
              </a:rPr>
              <a:t>PCB</a:t>
            </a:r>
            <a:r>
              <a:rPr lang="zh-CN" altLang="en-US" dirty="0">
                <a:latin typeface="Times New Roman" panose="02020603050405020304" pitchFamily="18" charset="0"/>
                <a:cs typeface="Times New Roman" panose="02020603050405020304" pitchFamily="18" charset="0"/>
              </a:rPr>
              <a:t>文件元件。</a:t>
            </a:r>
            <a:endParaRPr lang="en-US" altLang="zh-CN" dirty="0">
              <a:latin typeface="Times New Roman" panose="02020603050405020304" pitchFamily="18" charset="0"/>
              <a:cs typeface="Times New Roman" panose="02020603050405020304" pitchFamily="18" charset="0"/>
            </a:endParaRPr>
          </a:p>
        </p:txBody>
      </p:sp>
      <p:sp>
        <p:nvSpPr>
          <p:cNvPr id="15" name="对话气泡: 圆角矩形 14">
            <a:extLst>
              <a:ext uri="{FF2B5EF4-FFF2-40B4-BE49-F238E27FC236}">
                <a16:creationId xmlns:a16="http://schemas.microsoft.com/office/drawing/2014/main" id="{324E4B77-2A90-892E-2359-5AE69A402D32}"/>
              </a:ext>
            </a:extLst>
          </p:cNvPr>
          <p:cNvSpPr/>
          <p:nvPr/>
        </p:nvSpPr>
        <p:spPr>
          <a:xfrm>
            <a:off x="6166517" y="11252"/>
            <a:ext cx="1316182" cy="498763"/>
          </a:xfrm>
          <a:prstGeom prst="wedgeRoundRectCallout">
            <a:avLst>
              <a:gd name="adj1" fmla="val 42325"/>
              <a:gd name="adj2" fmla="val 90278"/>
              <a:gd name="adj3" fmla="val 16667"/>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800" b="1" dirty="0">
                <a:solidFill>
                  <a:srgbClr val="FF0000"/>
                </a:solidFill>
              </a:rPr>
              <a:t>或打开</a:t>
            </a:r>
            <a:endParaRPr lang="zh-CN" altLang="en-US" b="1" dirty="0">
              <a:solidFill>
                <a:srgbClr val="FF0000"/>
              </a:solidFill>
            </a:endParaRPr>
          </a:p>
        </p:txBody>
      </p:sp>
      <p:sp>
        <p:nvSpPr>
          <p:cNvPr id="16" name="对话气泡: 圆角矩形 15">
            <a:extLst>
              <a:ext uri="{FF2B5EF4-FFF2-40B4-BE49-F238E27FC236}">
                <a16:creationId xmlns:a16="http://schemas.microsoft.com/office/drawing/2014/main" id="{4ACDE562-A5D6-79C0-6521-24B464137F5E}"/>
              </a:ext>
            </a:extLst>
          </p:cNvPr>
          <p:cNvSpPr/>
          <p:nvPr/>
        </p:nvSpPr>
        <p:spPr>
          <a:xfrm>
            <a:off x="7931978" y="1118344"/>
            <a:ext cx="1316182" cy="498763"/>
          </a:xfrm>
          <a:prstGeom prst="wedgeRoundRectCallout">
            <a:avLst>
              <a:gd name="adj1" fmla="val -71359"/>
              <a:gd name="adj2" fmla="val 48611"/>
              <a:gd name="adj3" fmla="val 16667"/>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800" b="1" dirty="0">
                <a:solidFill>
                  <a:srgbClr val="FF0000"/>
                </a:solidFill>
              </a:rPr>
              <a:t>点击</a:t>
            </a:r>
            <a:endParaRPr lang="zh-CN" altLang="en-US" b="1" dirty="0">
              <a:solidFill>
                <a:srgbClr val="FF0000"/>
              </a:solidFill>
            </a:endParaRPr>
          </a:p>
        </p:txBody>
      </p:sp>
      <p:sp>
        <p:nvSpPr>
          <p:cNvPr id="17" name="对话气泡: 圆角矩形 16">
            <a:extLst>
              <a:ext uri="{FF2B5EF4-FFF2-40B4-BE49-F238E27FC236}">
                <a16:creationId xmlns:a16="http://schemas.microsoft.com/office/drawing/2014/main" id="{B1C1AC35-688B-474B-FA5A-71C235DA16E8}"/>
              </a:ext>
            </a:extLst>
          </p:cNvPr>
          <p:cNvSpPr/>
          <p:nvPr/>
        </p:nvSpPr>
        <p:spPr>
          <a:xfrm>
            <a:off x="7931978" y="1745201"/>
            <a:ext cx="1316182" cy="498763"/>
          </a:xfrm>
          <a:prstGeom prst="wedgeRoundRectCallout">
            <a:avLst>
              <a:gd name="adj1" fmla="val -127148"/>
              <a:gd name="adj2" fmla="val 65279"/>
              <a:gd name="adj3" fmla="val 16667"/>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800" b="1" dirty="0">
                <a:solidFill>
                  <a:srgbClr val="FF0000"/>
                </a:solidFill>
              </a:rPr>
              <a:t>或右击</a:t>
            </a:r>
            <a:endParaRPr lang="zh-CN" altLang="en-US" b="1" dirty="0">
              <a:solidFill>
                <a:srgbClr val="FF0000"/>
              </a:solidFill>
            </a:endParaRPr>
          </a:p>
        </p:txBody>
      </p:sp>
      <p:sp>
        <p:nvSpPr>
          <p:cNvPr id="18" name="文本框 17">
            <a:extLst>
              <a:ext uri="{FF2B5EF4-FFF2-40B4-BE49-F238E27FC236}">
                <a16:creationId xmlns:a16="http://schemas.microsoft.com/office/drawing/2014/main" id="{DA66EB24-3F1F-B7CE-0212-87D12E072564}"/>
              </a:ext>
            </a:extLst>
          </p:cNvPr>
          <p:cNvSpPr txBox="1"/>
          <p:nvPr/>
        </p:nvSpPr>
        <p:spPr>
          <a:xfrm>
            <a:off x="838200" y="5749636"/>
            <a:ext cx="4925291" cy="954107"/>
          </a:xfrm>
          <a:prstGeom prst="rect">
            <a:avLst/>
          </a:prstGeom>
          <a:solidFill>
            <a:schemeClr val="accent1">
              <a:lumMod val="20000"/>
              <a:lumOff val="80000"/>
            </a:schemeClr>
          </a:solidFill>
        </p:spPr>
        <p:txBody>
          <a:bodyPr wrap="square" rtlCol="0">
            <a:spAutoFit/>
          </a:bodyPr>
          <a:lstStyle/>
          <a:p>
            <a:r>
              <a:rPr lang="zh-CN" altLang="en-US" sz="2800" dirty="0">
                <a:latin typeface="Times New Roman" panose="02020603050405020304" pitchFamily="18" charset="0"/>
                <a:cs typeface="Times New Roman" panose="02020603050405020304" pitchFamily="18" charset="0"/>
              </a:rPr>
              <a:t>可通过</a:t>
            </a:r>
            <a:r>
              <a:rPr lang="en-US" altLang="zh-CN" sz="2800" b="1" dirty="0">
                <a:latin typeface="Times New Roman" panose="02020603050405020304" pitchFamily="18" charset="0"/>
                <a:cs typeface="Times New Roman" panose="02020603050405020304" pitchFamily="18" charset="0"/>
              </a:rPr>
              <a:t>Save As</a:t>
            </a:r>
            <a:r>
              <a:rPr lang="zh-CN" altLang="en-US" sz="2800" dirty="0">
                <a:latin typeface="Times New Roman" panose="02020603050405020304" pitchFamily="18" charset="0"/>
                <a:cs typeface="Times New Roman" panose="02020603050405020304" pitchFamily="18" charset="0"/>
              </a:rPr>
              <a:t>命令保存为</a:t>
            </a:r>
            <a:r>
              <a:rPr lang="zh-CN" altLang="en-US" sz="2800" dirty="0">
                <a:solidFill>
                  <a:srgbClr val="FF0000"/>
                </a:solidFill>
                <a:latin typeface="Times New Roman" panose="02020603050405020304" pitchFamily="18" charset="0"/>
                <a:cs typeface="Times New Roman" panose="02020603050405020304" pitchFamily="18" charset="0"/>
              </a:rPr>
              <a:t>合适的路径和文件名</a:t>
            </a:r>
          </a:p>
        </p:txBody>
      </p:sp>
      <p:sp>
        <p:nvSpPr>
          <p:cNvPr id="23" name="矩形: 圆角 22">
            <a:extLst>
              <a:ext uri="{FF2B5EF4-FFF2-40B4-BE49-F238E27FC236}">
                <a16:creationId xmlns:a16="http://schemas.microsoft.com/office/drawing/2014/main" id="{75018EF8-7F04-A20E-254F-F2EAAD3E1FC5}"/>
              </a:ext>
            </a:extLst>
          </p:cNvPr>
          <p:cNvSpPr/>
          <p:nvPr/>
        </p:nvSpPr>
        <p:spPr>
          <a:xfrm>
            <a:off x="9533614" y="3037398"/>
            <a:ext cx="1614115" cy="310101"/>
          </a:xfrm>
          <a:prstGeom prst="roundRect">
            <a:avLst/>
          </a:prstGeom>
          <a:no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4493840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453DD-2879-EF3F-D558-B9F7353CAE7F}"/>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F9D97674-B419-82FF-2ABA-855DB87EC0A3}"/>
              </a:ext>
            </a:extLst>
          </p:cNvPr>
          <p:cNvSpPr>
            <a:spLocks noGrp="1"/>
          </p:cNvSpPr>
          <p:nvPr>
            <p:ph idx="1"/>
          </p:nvPr>
        </p:nvSpPr>
        <p:spPr>
          <a:xfrm>
            <a:off x="838200" y="1825625"/>
            <a:ext cx="4925291" cy="4351338"/>
          </a:xfrm>
        </p:spPr>
        <p:txBody>
          <a:bodyPr>
            <a:normAutofit/>
          </a:bodyPr>
          <a:lstStyle/>
          <a:p>
            <a:pPr marL="0" indent="0">
              <a:buNone/>
            </a:pPr>
            <a:r>
              <a:rPr lang="en-US" altLang="zh-CN" dirty="0">
                <a:latin typeface="Times New Roman" panose="02020603050405020304" pitchFamily="18" charset="0"/>
                <a:cs typeface="Times New Roman" panose="02020603050405020304" pitchFamily="18" charset="0"/>
              </a:rPr>
              <a:t>1. </a:t>
            </a:r>
            <a:r>
              <a:rPr lang="zh-CN" altLang="en-US" dirty="0">
                <a:latin typeface="Times New Roman" panose="02020603050405020304" pitchFamily="18" charset="0"/>
                <a:cs typeface="Times New Roman" panose="02020603050405020304" pitchFamily="18" charset="0"/>
              </a:rPr>
              <a:t>在工程中创建</a:t>
            </a:r>
            <a:r>
              <a:rPr lang="en-US" altLang="zh-CN" dirty="0">
                <a:latin typeface="Times New Roman" panose="02020603050405020304" pitchFamily="18" charset="0"/>
                <a:cs typeface="Times New Roman" panose="02020603050405020304" pitchFamily="18" charset="0"/>
              </a:rPr>
              <a:t>PCB</a:t>
            </a:r>
          </a:p>
          <a:p>
            <a:pPr marL="0" indent="0">
              <a:buNone/>
            </a:pPr>
            <a:r>
              <a:rPr lang="zh-CN" altLang="en-US" dirty="0">
                <a:latin typeface="Times New Roman" panose="02020603050405020304" pitchFamily="18" charset="0"/>
                <a:cs typeface="Times New Roman" panose="02020603050405020304" pitchFamily="18" charset="0"/>
              </a:rPr>
              <a:t>★这是保存后的情形</a:t>
            </a:r>
            <a:endParaRPr lang="en-US" altLang="zh-CN" dirty="0">
              <a:latin typeface="Times New Roman" panose="02020603050405020304" pitchFamily="18" charset="0"/>
              <a:cs typeface="Times New Roman" panose="02020603050405020304" pitchFamily="18" charset="0"/>
            </a:endParaRPr>
          </a:p>
          <a:p>
            <a:pPr marL="0" indent="0">
              <a:buNone/>
            </a:pPr>
            <a:r>
              <a:rPr lang="zh-CN" altLang="en-US" dirty="0">
                <a:latin typeface="Times New Roman" panose="02020603050405020304" pitchFamily="18" charset="0"/>
                <a:cs typeface="Times New Roman" panose="02020603050405020304" pitchFamily="18" charset="0"/>
              </a:rPr>
              <a:t>★工程文件名为：</a:t>
            </a:r>
            <a:endParaRPr lang="en-US" altLang="zh-CN" dirty="0">
              <a:latin typeface="Times New Roman" panose="02020603050405020304" pitchFamily="18" charset="0"/>
              <a:cs typeface="Times New Roman" panose="02020603050405020304" pitchFamily="18" charset="0"/>
            </a:endParaRPr>
          </a:p>
          <a:p>
            <a:pPr marL="0" indent="0">
              <a:buNone/>
            </a:pPr>
            <a:r>
              <a:rPr lang="en-US" altLang="zh-CN" dirty="0">
                <a:latin typeface="Times New Roman" panose="02020603050405020304" pitchFamily="18" charset="0"/>
                <a:cs typeface="Times New Roman" panose="02020603050405020304" pitchFamily="18" charset="0"/>
              </a:rPr>
              <a:t>Text1_2024.PrjPcb</a:t>
            </a:r>
          </a:p>
          <a:p>
            <a:pPr marL="0" indent="0">
              <a:buNone/>
            </a:pPr>
            <a:r>
              <a:rPr lang="zh-CN" altLang="en-US" dirty="0">
                <a:latin typeface="Times New Roman" panose="02020603050405020304" pitchFamily="18" charset="0"/>
                <a:cs typeface="Times New Roman" panose="02020603050405020304" pitchFamily="18" charset="0"/>
              </a:rPr>
              <a:t>★原理图文件名为：</a:t>
            </a:r>
            <a:endParaRPr lang="en-US" altLang="zh-CN" dirty="0">
              <a:latin typeface="Times New Roman" panose="02020603050405020304" pitchFamily="18" charset="0"/>
              <a:cs typeface="Times New Roman" panose="02020603050405020304" pitchFamily="18" charset="0"/>
            </a:endParaRPr>
          </a:p>
          <a:p>
            <a:pPr marL="0" indent="0">
              <a:buNone/>
            </a:pPr>
            <a:r>
              <a:rPr lang="en-US" altLang="zh-CN" dirty="0">
                <a:latin typeface="Times New Roman" panose="02020603050405020304" pitchFamily="18" charset="0"/>
                <a:cs typeface="Times New Roman" panose="02020603050405020304" pitchFamily="18" charset="0"/>
              </a:rPr>
              <a:t>Test1_2024.SchDoc</a:t>
            </a:r>
          </a:p>
          <a:p>
            <a:pPr marL="0" indent="0">
              <a:buNone/>
            </a:pP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PCB</a:t>
            </a:r>
            <a:r>
              <a:rPr lang="zh-CN" altLang="en-US" dirty="0">
                <a:latin typeface="Times New Roman" panose="02020603050405020304" pitchFamily="18" charset="0"/>
                <a:cs typeface="Times New Roman" panose="02020603050405020304" pitchFamily="18" charset="0"/>
              </a:rPr>
              <a:t>文件名为：</a:t>
            </a:r>
            <a:endParaRPr lang="en-US" altLang="zh-CN" dirty="0">
              <a:latin typeface="Times New Roman" panose="02020603050405020304" pitchFamily="18" charset="0"/>
              <a:cs typeface="Times New Roman" panose="02020603050405020304" pitchFamily="18" charset="0"/>
            </a:endParaRPr>
          </a:p>
          <a:p>
            <a:pPr marL="0" indent="0">
              <a:buNone/>
            </a:pPr>
            <a:r>
              <a:rPr lang="en-US" altLang="zh-CN" dirty="0">
                <a:latin typeface="Times New Roman" panose="02020603050405020304" pitchFamily="18" charset="0"/>
                <a:cs typeface="Times New Roman" panose="02020603050405020304" pitchFamily="18" charset="0"/>
              </a:rPr>
              <a:t>Test1_2024.PcbDoc</a:t>
            </a:r>
          </a:p>
        </p:txBody>
      </p:sp>
      <p:pic>
        <p:nvPicPr>
          <p:cNvPr id="10" name="图片 9">
            <a:extLst>
              <a:ext uri="{FF2B5EF4-FFF2-40B4-BE49-F238E27FC236}">
                <a16:creationId xmlns:a16="http://schemas.microsoft.com/office/drawing/2014/main" id="{CDFD4E82-4733-63DF-5069-0F8C5444DC86}"/>
              </a:ext>
            </a:extLst>
          </p:cNvPr>
          <p:cNvPicPr>
            <a:picLocks noChangeAspect="1"/>
          </p:cNvPicPr>
          <p:nvPr/>
        </p:nvPicPr>
        <p:blipFill>
          <a:blip r:embed="rId2"/>
          <a:stretch>
            <a:fillRect/>
          </a:stretch>
        </p:blipFill>
        <p:spPr>
          <a:xfrm>
            <a:off x="4350160" y="1825625"/>
            <a:ext cx="7448550" cy="4105275"/>
          </a:xfrm>
          <a:prstGeom prst="rect">
            <a:avLst/>
          </a:prstGeom>
        </p:spPr>
      </p:pic>
      <p:sp>
        <p:nvSpPr>
          <p:cNvPr id="2" name="文本框 1">
            <a:extLst>
              <a:ext uri="{FF2B5EF4-FFF2-40B4-BE49-F238E27FC236}">
                <a16:creationId xmlns:a16="http://schemas.microsoft.com/office/drawing/2014/main" id="{4B439AAE-B8F8-B338-3E78-21C49CF9F751}"/>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使用</a:t>
            </a:r>
            <a:r>
              <a:rPr lang="en-US" altLang="zh-CN" sz="4000" dirty="0">
                <a:solidFill>
                  <a:schemeClr val="accent1">
                    <a:lumMod val="75000"/>
                  </a:schemeClr>
                </a:solidFill>
                <a:latin typeface="Arial Black" panose="020B0A04020102020204" pitchFamily="34" charset="0"/>
                <a:ea typeface="黑体" panose="02010609060101010101" pitchFamily="49" charset="-122"/>
              </a:rPr>
              <a:t>AD</a:t>
            </a:r>
            <a:r>
              <a:rPr lang="zh-CN" altLang="en-US" sz="4000" dirty="0">
                <a:solidFill>
                  <a:schemeClr val="accent1">
                    <a:lumMod val="75000"/>
                  </a:schemeClr>
                </a:solidFill>
                <a:latin typeface="黑体" panose="02010609060101010101" pitchFamily="49" charset="-122"/>
                <a:ea typeface="黑体" panose="02010609060101010101" pitchFamily="49" charset="-122"/>
              </a:rPr>
              <a:t>设计印刷电路板图</a:t>
            </a:r>
            <a:endParaRPr lang="zh-CN" altLang="en-US" sz="4000" dirty="0">
              <a:solidFill>
                <a:srgbClr val="003F88"/>
              </a:solidFill>
              <a:latin typeface="黑体" panose="02010609060101010101" pitchFamily="49" charset="-122"/>
              <a:ea typeface="黑体" panose="02010609060101010101" pitchFamily="49" charset="-122"/>
            </a:endParaRPr>
          </a:p>
        </p:txBody>
      </p:sp>
      <p:sp>
        <p:nvSpPr>
          <p:cNvPr id="9" name="矩形 8">
            <a:extLst>
              <a:ext uri="{FF2B5EF4-FFF2-40B4-BE49-F238E27FC236}">
                <a16:creationId xmlns:a16="http://schemas.microsoft.com/office/drawing/2014/main" id="{1736119F-A485-0676-666D-6D375F66601E}"/>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82264969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453DD-2879-EF3F-D558-B9F7353CAE7F}"/>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C65004AD-9FAA-0813-8999-9E452A3F51C0}"/>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使用</a:t>
            </a:r>
            <a:r>
              <a:rPr lang="en-US" altLang="zh-CN" sz="4000" dirty="0">
                <a:solidFill>
                  <a:schemeClr val="accent1">
                    <a:lumMod val="75000"/>
                  </a:schemeClr>
                </a:solidFill>
                <a:latin typeface="Arial Black" panose="020B0A04020102020204" pitchFamily="34" charset="0"/>
                <a:ea typeface="黑体" panose="02010609060101010101" pitchFamily="49" charset="-122"/>
              </a:rPr>
              <a:t>AD</a:t>
            </a:r>
            <a:r>
              <a:rPr lang="zh-CN" altLang="en-US" sz="4000" dirty="0">
                <a:solidFill>
                  <a:schemeClr val="accent1">
                    <a:lumMod val="75000"/>
                  </a:schemeClr>
                </a:solidFill>
                <a:latin typeface="黑体" panose="02010609060101010101" pitchFamily="49" charset="-122"/>
                <a:ea typeface="黑体" panose="02010609060101010101" pitchFamily="49" charset="-122"/>
              </a:rPr>
              <a:t>设计印刷电路板图</a:t>
            </a:r>
            <a:endParaRPr lang="zh-CN" altLang="en-US" sz="4000" dirty="0">
              <a:solidFill>
                <a:srgbClr val="003F88"/>
              </a:solidFill>
              <a:latin typeface="黑体" panose="02010609060101010101" pitchFamily="49" charset="-122"/>
              <a:ea typeface="黑体" panose="02010609060101010101" pitchFamily="49" charset="-122"/>
            </a:endParaRPr>
          </a:p>
        </p:txBody>
      </p:sp>
      <p:sp>
        <p:nvSpPr>
          <p:cNvPr id="9" name="矩形 8">
            <a:extLst>
              <a:ext uri="{FF2B5EF4-FFF2-40B4-BE49-F238E27FC236}">
                <a16:creationId xmlns:a16="http://schemas.microsoft.com/office/drawing/2014/main" id="{8ABFE1AD-433B-5548-20FB-117B2A248E9D}"/>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内容占位符 2">
            <a:extLst>
              <a:ext uri="{FF2B5EF4-FFF2-40B4-BE49-F238E27FC236}">
                <a16:creationId xmlns:a16="http://schemas.microsoft.com/office/drawing/2014/main" id="{F9D97674-B419-82FF-2ABA-855DB87EC0A3}"/>
              </a:ext>
            </a:extLst>
          </p:cNvPr>
          <p:cNvSpPr>
            <a:spLocks noGrp="1"/>
          </p:cNvSpPr>
          <p:nvPr>
            <p:ph idx="1"/>
          </p:nvPr>
        </p:nvSpPr>
        <p:spPr>
          <a:xfrm>
            <a:off x="838200" y="1825625"/>
            <a:ext cx="4368081" cy="4351338"/>
          </a:xfrm>
        </p:spPr>
        <p:txBody>
          <a:bodyPr>
            <a:normAutofit/>
          </a:bodyPr>
          <a:lstStyle/>
          <a:p>
            <a:pPr marL="0" indent="0">
              <a:buNone/>
            </a:pPr>
            <a:r>
              <a:rPr lang="en-US" altLang="zh-CN" dirty="0">
                <a:latin typeface="Times New Roman" panose="02020603050405020304" pitchFamily="18" charset="0"/>
                <a:cs typeface="Times New Roman" panose="02020603050405020304" pitchFamily="18" charset="0"/>
              </a:rPr>
              <a:t>2. </a:t>
            </a:r>
            <a:r>
              <a:rPr lang="zh-CN" altLang="en-US" dirty="0">
                <a:latin typeface="Times New Roman" panose="02020603050405020304" pitchFamily="18" charset="0"/>
                <a:cs typeface="Times New Roman" panose="02020603050405020304" pitchFamily="18" charset="0"/>
              </a:rPr>
              <a:t>设置环境参数</a:t>
            </a:r>
            <a:endParaRPr lang="en-US" altLang="zh-CN" dirty="0">
              <a:latin typeface="Times New Roman" panose="02020603050405020304" pitchFamily="18" charset="0"/>
              <a:cs typeface="Times New Roman" panose="02020603050405020304" pitchFamily="18" charset="0"/>
            </a:endParaRPr>
          </a:p>
          <a:p>
            <a:pPr marL="0" indent="0">
              <a:buNone/>
            </a:pPr>
            <a:r>
              <a:rPr lang="zh-CN" altLang="en-US" dirty="0">
                <a:latin typeface="Times New Roman" panose="02020603050405020304" pitchFamily="18" charset="0"/>
                <a:cs typeface="Times New Roman" panose="02020603050405020304" pitchFamily="18" charset="0"/>
              </a:rPr>
              <a:t>★设置</a:t>
            </a:r>
            <a:r>
              <a:rPr lang="en-US" altLang="zh-CN" dirty="0">
                <a:latin typeface="Times New Roman" panose="02020603050405020304" pitchFamily="18" charset="0"/>
                <a:cs typeface="Times New Roman" panose="02020603050405020304" pitchFamily="18" charset="0"/>
              </a:rPr>
              <a:t>PCB</a:t>
            </a:r>
            <a:r>
              <a:rPr lang="zh-CN" altLang="en-US" dirty="0">
                <a:latin typeface="Times New Roman" panose="02020603050405020304" pitchFamily="18" charset="0"/>
                <a:cs typeface="Times New Roman" panose="02020603050405020304" pitchFamily="18" charset="0"/>
              </a:rPr>
              <a:t>编辑器中的栅格及尺寸、长度单位等的参数，便于</a:t>
            </a:r>
            <a:r>
              <a:rPr lang="en-US" altLang="zh-CN" dirty="0">
                <a:latin typeface="Times New Roman" panose="02020603050405020304" pitchFamily="18" charset="0"/>
                <a:cs typeface="Times New Roman" panose="02020603050405020304" pitchFamily="18" charset="0"/>
              </a:rPr>
              <a:t>PCB</a:t>
            </a:r>
            <a:r>
              <a:rPr lang="zh-CN" altLang="en-US" dirty="0">
                <a:latin typeface="Times New Roman" panose="02020603050405020304" pitchFamily="18" charset="0"/>
                <a:cs typeface="Times New Roman" panose="02020603050405020304" pitchFamily="18" charset="0"/>
              </a:rPr>
              <a:t>编辑。</a:t>
            </a:r>
            <a:endParaRPr lang="en-US" altLang="zh-CN" dirty="0">
              <a:latin typeface="Times New Roman" panose="02020603050405020304" pitchFamily="18" charset="0"/>
              <a:cs typeface="Times New Roman" panose="02020603050405020304" pitchFamily="18" charset="0"/>
            </a:endParaRPr>
          </a:p>
          <a:p>
            <a:pPr marL="0" indent="0">
              <a:buNone/>
            </a:pP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Design</a:t>
            </a:r>
            <a:r>
              <a:rPr lang="zh-CN" altLang="en-US" dirty="0">
                <a:latin typeface="Times New Roman" panose="02020603050405020304" pitchFamily="18" charset="0"/>
                <a:cs typeface="Times New Roman" panose="02020603050405020304" pitchFamily="18" charset="0"/>
              </a:rPr>
              <a:t>菜单→</a:t>
            </a:r>
            <a:r>
              <a:rPr lang="en-US" altLang="zh-CN" dirty="0">
                <a:latin typeface="Times New Roman" panose="02020603050405020304" pitchFamily="18" charset="0"/>
                <a:cs typeface="Times New Roman" panose="02020603050405020304" pitchFamily="18" charset="0"/>
              </a:rPr>
              <a:t>Board Options</a:t>
            </a:r>
            <a:r>
              <a:rPr lang="zh-CN" altLang="en-US" dirty="0">
                <a:latin typeface="Times New Roman" panose="02020603050405020304" pitchFamily="18" charset="0"/>
                <a:cs typeface="Times New Roman" panose="02020603050405020304" pitchFamily="18" charset="0"/>
              </a:rPr>
              <a:t>设置如图参数</a:t>
            </a:r>
            <a:endParaRPr lang="en-US" altLang="zh-CN" dirty="0">
              <a:latin typeface="Times New Roman" panose="02020603050405020304" pitchFamily="18" charset="0"/>
              <a:cs typeface="Times New Roman" panose="02020603050405020304" pitchFamily="18" charset="0"/>
            </a:endParaRPr>
          </a:p>
        </p:txBody>
      </p:sp>
      <p:pic>
        <p:nvPicPr>
          <p:cNvPr id="11" name="图片 10">
            <a:extLst>
              <a:ext uri="{FF2B5EF4-FFF2-40B4-BE49-F238E27FC236}">
                <a16:creationId xmlns:a16="http://schemas.microsoft.com/office/drawing/2014/main" id="{A2B40C70-DB9B-69BF-289F-A95424E8FBB2}"/>
              </a:ext>
            </a:extLst>
          </p:cNvPr>
          <p:cNvPicPr>
            <a:picLocks noChangeAspect="1"/>
          </p:cNvPicPr>
          <p:nvPr/>
        </p:nvPicPr>
        <p:blipFill>
          <a:blip r:embed="rId2"/>
          <a:stretch>
            <a:fillRect/>
          </a:stretch>
        </p:blipFill>
        <p:spPr>
          <a:xfrm>
            <a:off x="5406571" y="1164512"/>
            <a:ext cx="6726581" cy="5693488"/>
          </a:xfrm>
          <a:prstGeom prst="rect">
            <a:avLst/>
          </a:prstGeom>
        </p:spPr>
      </p:pic>
      <p:sp>
        <p:nvSpPr>
          <p:cNvPr id="12" name="矩形: 圆角 11">
            <a:extLst>
              <a:ext uri="{FF2B5EF4-FFF2-40B4-BE49-F238E27FC236}">
                <a16:creationId xmlns:a16="http://schemas.microsoft.com/office/drawing/2014/main" id="{05F01FFE-8F62-B113-4DEA-48102B1CC453}"/>
              </a:ext>
            </a:extLst>
          </p:cNvPr>
          <p:cNvSpPr/>
          <p:nvPr/>
        </p:nvSpPr>
        <p:spPr>
          <a:xfrm>
            <a:off x="8552146" y="1447793"/>
            <a:ext cx="648597" cy="313536"/>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12">
            <a:extLst>
              <a:ext uri="{FF2B5EF4-FFF2-40B4-BE49-F238E27FC236}">
                <a16:creationId xmlns:a16="http://schemas.microsoft.com/office/drawing/2014/main" id="{0068DC37-03B8-9058-D2A0-270831ACFB3B}"/>
              </a:ext>
            </a:extLst>
          </p:cNvPr>
          <p:cNvSpPr/>
          <p:nvPr/>
        </p:nvSpPr>
        <p:spPr>
          <a:xfrm>
            <a:off x="8552146" y="6399981"/>
            <a:ext cx="3466905" cy="366837"/>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06499146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453DD-2879-EF3F-D558-B9F7353CAE7F}"/>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DB05B296-C7EA-459F-4E12-0A593C283D5B}"/>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使用</a:t>
            </a:r>
            <a:r>
              <a:rPr lang="en-US" altLang="zh-CN" sz="4000" dirty="0">
                <a:solidFill>
                  <a:schemeClr val="accent1">
                    <a:lumMod val="75000"/>
                  </a:schemeClr>
                </a:solidFill>
                <a:latin typeface="Arial Black" panose="020B0A04020102020204" pitchFamily="34" charset="0"/>
                <a:ea typeface="黑体" panose="02010609060101010101" pitchFamily="49" charset="-122"/>
              </a:rPr>
              <a:t>AD</a:t>
            </a:r>
            <a:r>
              <a:rPr lang="zh-CN" altLang="en-US" sz="4000" dirty="0">
                <a:solidFill>
                  <a:schemeClr val="accent1">
                    <a:lumMod val="75000"/>
                  </a:schemeClr>
                </a:solidFill>
                <a:latin typeface="黑体" panose="02010609060101010101" pitchFamily="49" charset="-122"/>
                <a:ea typeface="黑体" panose="02010609060101010101" pitchFamily="49" charset="-122"/>
              </a:rPr>
              <a:t>设计印刷电路板图</a:t>
            </a:r>
            <a:endParaRPr lang="zh-CN" altLang="en-US" sz="4000" dirty="0">
              <a:solidFill>
                <a:srgbClr val="003F88"/>
              </a:solidFill>
              <a:latin typeface="黑体" panose="02010609060101010101" pitchFamily="49" charset="-122"/>
              <a:ea typeface="黑体" panose="02010609060101010101" pitchFamily="49" charset="-122"/>
            </a:endParaRPr>
          </a:p>
        </p:txBody>
      </p:sp>
      <p:sp>
        <p:nvSpPr>
          <p:cNvPr id="9" name="矩形 8">
            <a:extLst>
              <a:ext uri="{FF2B5EF4-FFF2-40B4-BE49-F238E27FC236}">
                <a16:creationId xmlns:a16="http://schemas.microsoft.com/office/drawing/2014/main" id="{3D769702-6E9B-D65F-C998-5CCB1DFB4C68}"/>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0" name="组合 19">
            <a:extLst>
              <a:ext uri="{FF2B5EF4-FFF2-40B4-BE49-F238E27FC236}">
                <a16:creationId xmlns:a16="http://schemas.microsoft.com/office/drawing/2014/main" id="{53EF0D93-8999-112D-3560-90BB3B1BB3F3}"/>
              </a:ext>
            </a:extLst>
          </p:cNvPr>
          <p:cNvGrpSpPr/>
          <p:nvPr/>
        </p:nvGrpSpPr>
        <p:grpSpPr>
          <a:xfrm>
            <a:off x="4786685" y="1419244"/>
            <a:ext cx="7405315" cy="4997189"/>
            <a:chOff x="186855" y="0"/>
            <a:chExt cx="10650773" cy="6256271"/>
          </a:xfrm>
        </p:grpSpPr>
        <p:pic>
          <p:nvPicPr>
            <p:cNvPr id="21" name="图片 20">
              <a:extLst>
                <a:ext uri="{FF2B5EF4-FFF2-40B4-BE49-F238E27FC236}">
                  <a16:creationId xmlns:a16="http://schemas.microsoft.com/office/drawing/2014/main" id="{BFB15ACE-8F67-3BA4-06C8-511913F8BD27}"/>
                </a:ext>
              </a:extLst>
            </p:cNvPr>
            <p:cNvPicPr>
              <a:picLocks noChangeAspect="1"/>
            </p:cNvPicPr>
            <p:nvPr/>
          </p:nvPicPr>
          <p:blipFill>
            <a:blip r:embed="rId2"/>
            <a:stretch>
              <a:fillRect/>
            </a:stretch>
          </p:blipFill>
          <p:spPr>
            <a:xfrm>
              <a:off x="186855" y="0"/>
              <a:ext cx="10650773" cy="6256271"/>
            </a:xfrm>
            <a:prstGeom prst="rect">
              <a:avLst/>
            </a:prstGeom>
          </p:spPr>
        </p:pic>
        <p:pic>
          <p:nvPicPr>
            <p:cNvPr id="22" name="图片 21">
              <a:extLst>
                <a:ext uri="{FF2B5EF4-FFF2-40B4-BE49-F238E27FC236}">
                  <a16:creationId xmlns:a16="http://schemas.microsoft.com/office/drawing/2014/main" id="{5808D829-C07C-3693-4E18-984C38ACC6A3}"/>
                </a:ext>
              </a:extLst>
            </p:cNvPr>
            <p:cNvPicPr>
              <a:picLocks noChangeAspect="1"/>
            </p:cNvPicPr>
            <p:nvPr/>
          </p:nvPicPr>
          <p:blipFill>
            <a:blip r:embed="rId3"/>
            <a:stretch>
              <a:fillRect/>
            </a:stretch>
          </p:blipFill>
          <p:spPr>
            <a:xfrm>
              <a:off x="5488387" y="1001863"/>
              <a:ext cx="5285630" cy="3726131"/>
            </a:xfrm>
            <a:prstGeom prst="rect">
              <a:avLst/>
            </a:prstGeom>
          </p:spPr>
        </p:pic>
        <p:sp>
          <p:nvSpPr>
            <p:cNvPr id="23" name="矩形: 圆角 22">
              <a:extLst>
                <a:ext uri="{FF2B5EF4-FFF2-40B4-BE49-F238E27FC236}">
                  <a16:creationId xmlns:a16="http://schemas.microsoft.com/office/drawing/2014/main" id="{766B1DFD-7124-EC32-79EC-835B657D842E}"/>
                </a:ext>
              </a:extLst>
            </p:cNvPr>
            <p:cNvSpPr/>
            <p:nvPr/>
          </p:nvSpPr>
          <p:spPr>
            <a:xfrm>
              <a:off x="5661328" y="1558457"/>
              <a:ext cx="1407382" cy="286246"/>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a:extLst>
                <a:ext uri="{FF2B5EF4-FFF2-40B4-BE49-F238E27FC236}">
                  <a16:creationId xmlns:a16="http://schemas.microsoft.com/office/drawing/2014/main" id="{A9B154A2-242D-3A6B-6A9E-88FD2DF1BAEA}"/>
                </a:ext>
              </a:extLst>
            </p:cNvPr>
            <p:cNvSpPr/>
            <p:nvPr/>
          </p:nvSpPr>
          <p:spPr>
            <a:xfrm>
              <a:off x="6096000" y="2116376"/>
              <a:ext cx="972710" cy="515505"/>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24">
              <a:extLst>
                <a:ext uri="{FF2B5EF4-FFF2-40B4-BE49-F238E27FC236}">
                  <a16:creationId xmlns:a16="http://schemas.microsoft.com/office/drawing/2014/main" id="{03960336-D935-53D8-4502-A1C6DCBC2E49}"/>
                </a:ext>
              </a:extLst>
            </p:cNvPr>
            <p:cNvSpPr/>
            <p:nvPr/>
          </p:nvSpPr>
          <p:spPr>
            <a:xfrm>
              <a:off x="6096000" y="2996792"/>
              <a:ext cx="972710" cy="515505"/>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id="{1C357A09-07B8-E55F-4769-BC982192D442}"/>
                </a:ext>
              </a:extLst>
            </p:cNvPr>
            <p:cNvSpPr/>
            <p:nvPr/>
          </p:nvSpPr>
          <p:spPr>
            <a:xfrm>
              <a:off x="7393387" y="1775795"/>
              <a:ext cx="1407381" cy="286247"/>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圆角 26">
              <a:extLst>
                <a:ext uri="{FF2B5EF4-FFF2-40B4-BE49-F238E27FC236}">
                  <a16:creationId xmlns:a16="http://schemas.microsoft.com/office/drawing/2014/main" id="{752135DF-F80A-7257-717F-B438F92BC42A}"/>
                </a:ext>
              </a:extLst>
            </p:cNvPr>
            <p:cNvSpPr/>
            <p:nvPr/>
          </p:nvSpPr>
          <p:spPr>
            <a:xfrm>
              <a:off x="7251589" y="2722476"/>
              <a:ext cx="1637969" cy="919222"/>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 name="内容占位符 2">
            <a:extLst>
              <a:ext uri="{FF2B5EF4-FFF2-40B4-BE49-F238E27FC236}">
                <a16:creationId xmlns:a16="http://schemas.microsoft.com/office/drawing/2014/main" id="{F9D97674-B419-82FF-2ABA-855DB87EC0A3}"/>
              </a:ext>
            </a:extLst>
          </p:cNvPr>
          <p:cNvSpPr>
            <a:spLocks noGrp="1"/>
          </p:cNvSpPr>
          <p:nvPr>
            <p:ph idx="1"/>
          </p:nvPr>
        </p:nvSpPr>
        <p:spPr>
          <a:xfrm>
            <a:off x="838200" y="1825625"/>
            <a:ext cx="4368081" cy="2745984"/>
          </a:xfrm>
        </p:spPr>
        <p:txBody>
          <a:bodyPr>
            <a:normAutofit/>
          </a:bodyPr>
          <a:lstStyle/>
          <a:p>
            <a:pPr marL="0" indent="0">
              <a:buNone/>
            </a:pPr>
            <a:r>
              <a:rPr lang="en-US" altLang="zh-CN" dirty="0">
                <a:latin typeface="Times New Roman" panose="02020603050405020304" pitchFamily="18" charset="0"/>
                <a:cs typeface="Times New Roman" panose="02020603050405020304" pitchFamily="18" charset="0"/>
              </a:rPr>
              <a:t>2. </a:t>
            </a:r>
            <a:r>
              <a:rPr lang="zh-CN" altLang="en-US" dirty="0">
                <a:latin typeface="Times New Roman" panose="02020603050405020304" pitchFamily="18" charset="0"/>
                <a:cs typeface="Times New Roman" panose="02020603050405020304" pitchFamily="18" charset="0"/>
              </a:rPr>
              <a:t>设置环境参数</a:t>
            </a:r>
            <a:endParaRPr lang="en-US" altLang="zh-CN" dirty="0">
              <a:latin typeface="Times New Roman" panose="02020603050405020304" pitchFamily="18" charset="0"/>
              <a:cs typeface="Times New Roman" panose="02020603050405020304" pitchFamily="18" charset="0"/>
            </a:endParaRPr>
          </a:p>
          <a:p>
            <a:pPr marL="0" indent="0">
              <a:spcAft>
                <a:spcPts val="600"/>
              </a:spcAft>
              <a:buNone/>
            </a:pPr>
            <a:r>
              <a:rPr lang="zh-CN" altLang="en-US" dirty="0">
                <a:latin typeface="Times New Roman" panose="02020603050405020304" pitchFamily="18" charset="0"/>
                <a:cs typeface="Times New Roman" panose="02020603050405020304" pitchFamily="18" charset="0"/>
              </a:rPr>
              <a:t>★设置</a:t>
            </a:r>
            <a:r>
              <a:rPr lang="en-US" altLang="zh-CN" dirty="0">
                <a:latin typeface="Times New Roman" panose="02020603050405020304" pitchFamily="18" charset="0"/>
                <a:cs typeface="Times New Roman" panose="02020603050405020304" pitchFamily="18" charset="0"/>
              </a:rPr>
              <a:t>PCB</a:t>
            </a:r>
            <a:r>
              <a:rPr lang="zh-CN" altLang="en-US" dirty="0">
                <a:latin typeface="Times New Roman" panose="02020603050405020304" pitchFamily="18" charset="0"/>
                <a:cs typeface="Times New Roman" panose="02020603050405020304" pitchFamily="18" charset="0"/>
              </a:rPr>
              <a:t>编辑器中的栅格及尺寸、长度单位等的参数，便于</a:t>
            </a:r>
            <a:r>
              <a:rPr lang="en-US" altLang="zh-CN" dirty="0">
                <a:latin typeface="Times New Roman" panose="02020603050405020304" pitchFamily="18" charset="0"/>
                <a:cs typeface="Times New Roman" panose="02020603050405020304" pitchFamily="18" charset="0"/>
              </a:rPr>
              <a:t>PCB</a:t>
            </a:r>
            <a:r>
              <a:rPr lang="zh-CN" altLang="en-US" dirty="0">
                <a:latin typeface="Times New Roman" panose="02020603050405020304" pitchFamily="18" charset="0"/>
                <a:cs typeface="Times New Roman" panose="02020603050405020304" pitchFamily="18" charset="0"/>
              </a:rPr>
              <a:t>编辑。</a:t>
            </a:r>
            <a:endParaRPr lang="en-US" altLang="zh-CN" dirty="0">
              <a:latin typeface="Times New Roman" panose="02020603050405020304" pitchFamily="18" charset="0"/>
              <a:cs typeface="Times New Roman" panose="02020603050405020304" pitchFamily="18" charset="0"/>
            </a:endParaRPr>
          </a:p>
          <a:p>
            <a:pPr marL="0" indent="0">
              <a:buNone/>
            </a:pP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Design</a:t>
            </a:r>
            <a:r>
              <a:rPr lang="zh-CN" altLang="en-US" dirty="0">
                <a:latin typeface="Times New Roman" panose="02020603050405020304" pitchFamily="18" charset="0"/>
                <a:cs typeface="Times New Roman" panose="02020603050405020304" pitchFamily="18" charset="0"/>
              </a:rPr>
              <a:t>菜单→</a:t>
            </a:r>
            <a:r>
              <a:rPr lang="en-US" altLang="zh-CN" dirty="0">
                <a:latin typeface="Times New Roman" panose="02020603050405020304" pitchFamily="18" charset="0"/>
                <a:cs typeface="Times New Roman" panose="02020603050405020304" pitchFamily="18" charset="0"/>
              </a:rPr>
              <a:t>Board Options</a:t>
            </a:r>
            <a:r>
              <a:rPr lang="zh-CN" altLang="en-US" dirty="0">
                <a:latin typeface="Times New Roman" panose="02020603050405020304" pitchFamily="18" charset="0"/>
                <a:cs typeface="Times New Roman" panose="02020603050405020304" pitchFamily="18" charset="0"/>
              </a:rPr>
              <a:t>设置如图参数：</a:t>
            </a:r>
            <a:endParaRPr lang="en-US" altLang="zh-CN" dirty="0">
              <a:latin typeface="Times New Roman" panose="02020603050405020304" pitchFamily="18" charset="0"/>
              <a:cs typeface="Times New Roman" panose="02020603050405020304" pitchFamily="18" charset="0"/>
            </a:endParaRPr>
          </a:p>
        </p:txBody>
      </p:sp>
      <p:sp>
        <p:nvSpPr>
          <p:cNvPr id="29" name="文本框 28">
            <a:extLst>
              <a:ext uri="{FF2B5EF4-FFF2-40B4-BE49-F238E27FC236}">
                <a16:creationId xmlns:a16="http://schemas.microsoft.com/office/drawing/2014/main" id="{E7C8091D-43E6-B436-3384-8C9D8A26AD66}"/>
              </a:ext>
            </a:extLst>
          </p:cNvPr>
          <p:cNvSpPr txBox="1"/>
          <p:nvPr/>
        </p:nvSpPr>
        <p:spPr>
          <a:xfrm>
            <a:off x="984328" y="4571609"/>
            <a:ext cx="3253717" cy="2031325"/>
          </a:xfrm>
          <a:prstGeom prst="rect">
            <a:avLst/>
          </a:prstGeom>
          <a:noFill/>
        </p:spPr>
        <p:txBody>
          <a:bodyPr wrap="square">
            <a:spAutoFit/>
          </a:bodyPr>
          <a:lstStyle/>
          <a:p>
            <a:pPr marL="0" indent="0">
              <a:buNone/>
            </a:pPr>
            <a:r>
              <a:rPr lang="zh-CN" altLang="en-US" dirty="0">
                <a:latin typeface="Times New Roman" panose="02020603050405020304" pitchFamily="18" charset="0"/>
                <a:cs typeface="Times New Roman" panose="02020603050405020304" pitchFamily="18" charset="0"/>
              </a:rPr>
              <a:t>测量单位：英制单位</a:t>
            </a:r>
            <a:endParaRPr lang="en-US" altLang="zh-CN" dirty="0">
              <a:latin typeface="Times New Roman" panose="02020603050405020304" pitchFamily="18" charset="0"/>
              <a:cs typeface="Times New Roman" panose="02020603050405020304" pitchFamily="18" charset="0"/>
            </a:endParaRPr>
          </a:p>
          <a:p>
            <a:pPr marL="0" indent="0">
              <a:buNone/>
            </a:pPr>
            <a:r>
              <a:rPr lang="zh-CN" altLang="en-US" dirty="0">
                <a:latin typeface="Times New Roman" panose="02020603050405020304" pitchFamily="18" charset="0"/>
                <a:cs typeface="Times New Roman" panose="02020603050405020304" pitchFamily="18" charset="0"/>
              </a:rPr>
              <a:t>捕捉栅格：</a:t>
            </a:r>
            <a:r>
              <a:rPr lang="en-US" altLang="zh-CN" dirty="0">
                <a:latin typeface="Times New Roman" panose="02020603050405020304" pitchFamily="18" charset="0"/>
                <a:cs typeface="Times New Roman" panose="02020603050405020304" pitchFamily="18" charset="0"/>
              </a:rPr>
              <a:t>X 10mil</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Y 10mil</a:t>
            </a:r>
          </a:p>
          <a:p>
            <a:pPr marL="0" indent="0">
              <a:buNone/>
            </a:pPr>
            <a:r>
              <a:rPr lang="zh-CN" altLang="en-US" dirty="0">
                <a:latin typeface="Times New Roman" panose="02020603050405020304" pitchFamily="18" charset="0"/>
                <a:cs typeface="Times New Roman" panose="02020603050405020304" pitchFamily="18" charset="0"/>
              </a:rPr>
              <a:t>原件栅格：</a:t>
            </a:r>
            <a:r>
              <a:rPr lang="en-US" altLang="zh-CN" dirty="0">
                <a:latin typeface="Times New Roman" panose="02020603050405020304" pitchFamily="18" charset="0"/>
                <a:cs typeface="Times New Roman" panose="02020603050405020304" pitchFamily="18" charset="0"/>
              </a:rPr>
              <a:t>X 10mil</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Y 10mil</a:t>
            </a:r>
          </a:p>
          <a:p>
            <a:pPr marL="0" indent="0">
              <a:buNone/>
            </a:pPr>
            <a:r>
              <a:rPr lang="zh-CN" altLang="en-US" dirty="0">
                <a:latin typeface="Times New Roman" panose="02020603050405020304" pitchFamily="18" charset="0"/>
                <a:cs typeface="Times New Roman" panose="02020603050405020304" pitchFamily="18" charset="0"/>
              </a:rPr>
              <a:t>电器栅格：</a:t>
            </a:r>
            <a:r>
              <a:rPr lang="en-US" altLang="zh-CN" dirty="0">
                <a:latin typeface="Times New Roman" panose="02020603050405020304" pitchFamily="18" charset="0"/>
                <a:cs typeface="Times New Roman" panose="02020603050405020304" pitchFamily="18" charset="0"/>
              </a:rPr>
              <a:t>8 mil</a:t>
            </a:r>
          </a:p>
          <a:p>
            <a:pPr marL="0" indent="0">
              <a:buNone/>
            </a:pPr>
            <a:r>
              <a:rPr lang="zh-CN" altLang="en-US" dirty="0">
                <a:latin typeface="Times New Roman" panose="02020603050405020304" pitchFamily="18" charset="0"/>
                <a:cs typeface="Times New Roman" panose="02020603050405020304" pitchFamily="18" charset="0"/>
              </a:rPr>
              <a:t>可见栅格：</a:t>
            </a:r>
            <a:r>
              <a:rPr lang="en-US" altLang="zh-CN" dirty="0">
                <a:latin typeface="Times New Roman" panose="02020603050405020304" pitchFamily="18" charset="0"/>
                <a:cs typeface="Times New Roman" panose="02020603050405020304" pitchFamily="18" charset="0"/>
              </a:rPr>
              <a:t>markers: Dots</a:t>
            </a:r>
          </a:p>
          <a:p>
            <a:pPr marL="0" indent="0">
              <a:buNone/>
            </a:pPr>
            <a:r>
              <a:rPr lang="en-US" altLang="zh-CN" dirty="0">
                <a:latin typeface="Times New Roman" panose="02020603050405020304" pitchFamily="18" charset="0"/>
                <a:cs typeface="Times New Roman" panose="02020603050405020304" pitchFamily="18" charset="0"/>
              </a:rPr>
              <a:t>	    Grid 1: 100mil</a:t>
            </a:r>
          </a:p>
          <a:p>
            <a:r>
              <a:rPr lang="en-US" altLang="zh-CN" dirty="0">
                <a:latin typeface="Times New Roman" panose="02020603050405020304" pitchFamily="18" charset="0"/>
                <a:cs typeface="Times New Roman" panose="02020603050405020304" pitchFamily="18" charset="0"/>
              </a:rPr>
              <a:t>	    Grid 2: 100mil</a:t>
            </a:r>
          </a:p>
        </p:txBody>
      </p:sp>
      <p:sp>
        <p:nvSpPr>
          <p:cNvPr id="30" name="箭头: 下弧形 29">
            <a:extLst>
              <a:ext uri="{FF2B5EF4-FFF2-40B4-BE49-F238E27FC236}">
                <a16:creationId xmlns:a16="http://schemas.microsoft.com/office/drawing/2014/main" id="{87C54F35-3BD8-4571-CA32-4A3FE2F5B4D0}"/>
              </a:ext>
            </a:extLst>
          </p:cNvPr>
          <p:cNvSpPr/>
          <p:nvPr/>
        </p:nvSpPr>
        <p:spPr>
          <a:xfrm rot="20680296">
            <a:off x="7077261" y="4613946"/>
            <a:ext cx="2513524" cy="1030797"/>
          </a:xfrm>
          <a:prstGeom prst="curvedUp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96596571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02C8B55D-5C17-A2D9-2EEE-0064BB6D0716}"/>
              </a:ext>
            </a:extLst>
          </p:cNvPr>
          <p:cNvPicPr>
            <a:picLocks noChangeAspect="1"/>
          </p:cNvPicPr>
          <p:nvPr/>
        </p:nvPicPr>
        <p:blipFill>
          <a:blip r:embed="rId2"/>
          <a:stretch>
            <a:fillRect/>
          </a:stretch>
        </p:blipFill>
        <p:spPr>
          <a:xfrm>
            <a:off x="795130" y="619510"/>
            <a:ext cx="8237551" cy="2181838"/>
          </a:xfrm>
          <a:prstGeom prst="rect">
            <a:avLst/>
          </a:prstGeom>
        </p:spPr>
      </p:pic>
      <p:pic>
        <p:nvPicPr>
          <p:cNvPr id="7" name="图片 6">
            <a:extLst>
              <a:ext uri="{FF2B5EF4-FFF2-40B4-BE49-F238E27FC236}">
                <a16:creationId xmlns:a16="http://schemas.microsoft.com/office/drawing/2014/main" id="{869BD609-B66F-BA45-1ED9-77102EBFB414}"/>
              </a:ext>
            </a:extLst>
          </p:cNvPr>
          <p:cNvPicPr>
            <a:picLocks noChangeAspect="1"/>
          </p:cNvPicPr>
          <p:nvPr/>
        </p:nvPicPr>
        <p:blipFill>
          <a:blip r:embed="rId3"/>
          <a:stretch>
            <a:fillRect/>
          </a:stretch>
        </p:blipFill>
        <p:spPr>
          <a:xfrm>
            <a:off x="4007457" y="2964869"/>
            <a:ext cx="6591631" cy="3528989"/>
          </a:xfrm>
          <a:prstGeom prst="rect">
            <a:avLst/>
          </a:prstGeom>
        </p:spPr>
      </p:pic>
      <p:sp>
        <p:nvSpPr>
          <p:cNvPr id="9" name="文本框 8">
            <a:extLst>
              <a:ext uri="{FF2B5EF4-FFF2-40B4-BE49-F238E27FC236}">
                <a16:creationId xmlns:a16="http://schemas.microsoft.com/office/drawing/2014/main" id="{B5B1EBBB-7CB8-B4BB-873F-B05740B11FFE}"/>
              </a:ext>
            </a:extLst>
          </p:cNvPr>
          <p:cNvSpPr txBox="1"/>
          <p:nvPr/>
        </p:nvSpPr>
        <p:spPr>
          <a:xfrm>
            <a:off x="4701209" y="6387735"/>
            <a:ext cx="6820231" cy="369332"/>
          </a:xfrm>
          <a:prstGeom prst="rect">
            <a:avLst/>
          </a:prstGeom>
          <a:noFill/>
        </p:spPr>
        <p:txBody>
          <a:bodyPr wrap="square">
            <a:spAutoFit/>
          </a:bodyPr>
          <a:lstStyle/>
          <a:p>
            <a:r>
              <a:rPr lang="zh-CN" altLang="en-US" dirty="0"/>
              <a:t>https://blog.csdn.net/zhengyanan815/article/details/90703049</a:t>
            </a:r>
          </a:p>
        </p:txBody>
      </p:sp>
      <p:sp>
        <p:nvSpPr>
          <p:cNvPr id="11" name="文本框 10">
            <a:extLst>
              <a:ext uri="{FF2B5EF4-FFF2-40B4-BE49-F238E27FC236}">
                <a16:creationId xmlns:a16="http://schemas.microsoft.com/office/drawing/2014/main" id="{0EF42825-2DE0-5F7E-172D-D43DCC6A8813}"/>
              </a:ext>
            </a:extLst>
          </p:cNvPr>
          <p:cNvSpPr txBox="1"/>
          <p:nvPr/>
        </p:nvSpPr>
        <p:spPr>
          <a:xfrm>
            <a:off x="837869" y="250178"/>
            <a:ext cx="7273455" cy="369332"/>
          </a:xfrm>
          <a:prstGeom prst="rect">
            <a:avLst/>
          </a:prstGeom>
          <a:noFill/>
        </p:spPr>
        <p:txBody>
          <a:bodyPr wrap="square">
            <a:spAutoFit/>
          </a:bodyPr>
          <a:lstStyle/>
          <a:p>
            <a:r>
              <a:rPr lang="zh-CN" altLang="en-US" dirty="0"/>
              <a:t>https://blog.csdn.net/weixin_30241919/article/details/98156293</a:t>
            </a:r>
          </a:p>
        </p:txBody>
      </p:sp>
    </p:spTree>
    <p:extLst>
      <p:ext uri="{BB962C8B-B14F-4D97-AF65-F5344CB8AC3E}">
        <p14:creationId xmlns:p14="http://schemas.microsoft.com/office/powerpoint/2010/main" val="7030508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453DD-2879-EF3F-D558-B9F7353CAE7F}"/>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41F6A659-628F-FE1F-C7B7-39F415725079}"/>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使用</a:t>
            </a:r>
            <a:r>
              <a:rPr lang="en-US" altLang="zh-CN" sz="4000" dirty="0">
                <a:solidFill>
                  <a:schemeClr val="accent1">
                    <a:lumMod val="75000"/>
                  </a:schemeClr>
                </a:solidFill>
                <a:latin typeface="Arial Black" panose="020B0A04020102020204" pitchFamily="34" charset="0"/>
                <a:ea typeface="黑体" panose="02010609060101010101" pitchFamily="49" charset="-122"/>
              </a:rPr>
              <a:t>AD</a:t>
            </a:r>
            <a:r>
              <a:rPr lang="zh-CN" altLang="en-US" sz="4000" dirty="0">
                <a:solidFill>
                  <a:schemeClr val="accent1">
                    <a:lumMod val="75000"/>
                  </a:schemeClr>
                </a:solidFill>
                <a:latin typeface="黑体" panose="02010609060101010101" pitchFamily="49" charset="-122"/>
                <a:ea typeface="黑体" panose="02010609060101010101" pitchFamily="49" charset="-122"/>
              </a:rPr>
              <a:t>设计印刷电路板图</a:t>
            </a:r>
            <a:endParaRPr lang="zh-CN" altLang="en-US" sz="4000" dirty="0">
              <a:solidFill>
                <a:srgbClr val="003F88"/>
              </a:solidFill>
              <a:latin typeface="黑体" panose="02010609060101010101" pitchFamily="49" charset="-122"/>
              <a:ea typeface="黑体" panose="02010609060101010101" pitchFamily="49" charset="-122"/>
            </a:endParaRPr>
          </a:p>
        </p:txBody>
      </p:sp>
      <p:sp>
        <p:nvSpPr>
          <p:cNvPr id="9" name="矩形 8">
            <a:extLst>
              <a:ext uri="{FF2B5EF4-FFF2-40B4-BE49-F238E27FC236}">
                <a16:creationId xmlns:a16="http://schemas.microsoft.com/office/drawing/2014/main" id="{4D08C75F-15C5-1920-7A75-F91FEDC847FB}"/>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0" name="图片 9">
            <a:extLst>
              <a:ext uri="{FF2B5EF4-FFF2-40B4-BE49-F238E27FC236}">
                <a16:creationId xmlns:a16="http://schemas.microsoft.com/office/drawing/2014/main" id="{CBDBA6D9-C79F-8E87-C7AE-789D31AD7EDA}"/>
              </a:ext>
            </a:extLst>
          </p:cNvPr>
          <p:cNvPicPr>
            <a:picLocks noChangeAspect="1"/>
          </p:cNvPicPr>
          <p:nvPr/>
        </p:nvPicPr>
        <p:blipFill>
          <a:blip r:embed="rId3"/>
          <a:stretch>
            <a:fillRect/>
          </a:stretch>
        </p:blipFill>
        <p:spPr>
          <a:xfrm>
            <a:off x="5056310" y="1472918"/>
            <a:ext cx="6902058" cy="5205433"/>
          </a:xfrm>
          <a:prstGeom prst="rect">
            <a:avLst/>
          </a:prstGeom>
        </p:spPr>
      </p:pic>
      <p:sp>
        <p:nvSpPr>
          <p:cNvPr id="16" name="矩形: 圆角 15">
            <a:extLst>
              <a:ext uri="{FF2B5EF4-FFF2-40B4-BE49-F238E27FC236}">
                <a16:creationId xmlns:a16="http://schemas.microsoft.com/office/drawing/2014/main" id="{334A8CDF-FC7F-60D0-F290-4E5509B9C3A0}"/>
              </a:ext>
            </a:extLst>
          </p:cNvPr>
          <p:cNvSpPr/>
          <p:nvPr/>
        </p:nvSpPr>
        <p:spPr>
          <a:xfrm>
            <a:off x="5206281" y="1728382"/>
            <a:ext cx="1491051" cy="605241"/>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内容占位符 2">
            <a:extLst>
              <a:ext uri="{FF2B5EF4-FFF2-40B4-BE49-F238E27FC236}">
                <a16:creationId xmlns:a16="http://schemas.microsoft.com/office/drawing/2014/main" id="{F9D97674-B419-82FF-2ABA-855DB87EC0A3}"/>
              </a:ext>
            </a:extLst>
          </p:cNvPr>
          <p:cNvSpPr>
            <a:spLocks noGrp="1"/>
          </p:cNvSpPr>
          <p:nvPr>
            <p:ph idx="1"/>
          </p:nvPr>
        </p:nvSpPr>
        <p:spPr>
          <a:xfrm>
            <a:off x="838200" y="1825624"/>
            <a:ext cx="4368081" cy="4852727"/>
          </a:xfrm>
        </p:spPr>
        <p:txBody>
          <a:bodyPr>
            <a:normAutofit/>
          </a:bodyPr>
          <a:lstStyle/>
          <a:p>
            <a:pPr marL="0" indent="0">
              <a:spcAft>
                <a:spcPts val="600"/>
              </a:spcAft>
              <a:buNone/>
            </a:pPr>
            <a:r>
              <a:rPr lang="en-US" altLang="zh-CN" dirty="0">
                <a:latin typeface="Times New Roman" panose="02020603050405020304" pitchFamily="18" charset="0"/>
                <a:cs typeface="Times New Roman" panose="02020603050405020304" pitchFamily="18" charset="0"/>
              </a:rPr>
              <a:t>3. </a:t>
            </a:r>
            <a:r>
              <a:rPr lang="zh-CN" altLang="en-US" dirty="0">
                <a:latin typeface="Times New Roman" panose="02020603050405020304" pitchFamily="18" charset="0"/>
                <a:cs typeface="Times New Roman" panose="02020603050405020304" pitchFamily="18" charset="0"/>
              </a:rPr>
              <a:t>设置布线规则</a:t>
            </a:r>
            <a:endParaRPr lang="en-US" altLang="zh-CN" dirty="0">
              <a:latin typeface="Times New Roman" panose="02020603050405020304" pitchFamily="18" charset="0"/>
              <a:cs typeface="Times New Roman" panose="02020603050405020304" pitchFamily="18" charset="0"/>
            </a:endParaRPr>
          </a:p>
          <a:p>
            <a:pPr marL="0" indent="0">
              <a:buNone/>
            </a:pPr>
            <a:r>
              <a:rPr lang="en-US" altLang="zh-CN" dirty="0">
                <a:latin typeface="Times New Roman" panose="02020603050405020304" pitchFamily="18" charset="0"/>
                <a:cs typeface="Times New Roman" panose="02020603050405020304" pitchFamily="18" charset="0"/>
              </a:rPr>
              <a:t>Design</a:t>
            </a:r>
            <a:r>
              <a:rPr lang="zh-CN" altLang="en-US" dirty="0">
                <a:latin typeface="Times New Roman" panose="02020603050405020304" pitchFamily="18" charset="0"/>
                <a:cs typeface="Times New Roman" panose="02020603050405020304" pitchFamily="18" charset="0"/>
              </a:rPr>
              <a:t>菜单→</a:t>
            </a:r>
            <a:endParaRPr lang="en-US" altLang="zh-CN" dirty="0">
              <a:latin typeface="Times New Roman" panose="02020603050405020304" pitchFamily="18" charset="0"/>
              <a:cs typeface="Times New Roman" panose="02020603050405020304" pitchFamily="18" charset="0"/>
            </a:endParaRPr>
          </a:p>
          <a:p>
            <a:pPr marL="0" indent="0">
              <a:buNone/>
            </a:pPr>
            <a:r>
              <a:rPr lang="en-US" altLang="zh-CN" dirty="0">
                <a:latin typeface="Times New Roman" panose="02020603050405020304" pitchFamily="18" charset="0"/>
                <a:cs typeface="Times New Roman" panose="02020603050405020304" pitchFamily="18" charset="0"/>
              </a:rPr>
              <a:t>	Rules…</a:t>
            </a:r>
          </a:p>
          <a:p>
            <a:pPr marL="0" indent="0">
              <a:buNone/>
            </a:pPr>
            <a:r>
              <a:rPr lang="zh-CN" altLang="en-US" dirty="0">
                <a:latin typeface="Times New Roman" panose="02020603050405020304" pitchFamily="18" charset="0"/>
                <a:cs typeface="Times New Roman" panose="02020603050405020304" pitchFamily="18" charset="0"/>
              </a:rPr>
              <a:t>★设置</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间隔</a:t>
            </a:r>
            <a:endParaRPr lang="en-US" altLang="zh-CN" dirty="0">
              <a:latin typeface="Times New Roman" panose="02020603050405020304" pitchFamily="18" charset="0"/>
              <a:cs typeface="Times New Roman" panose="02020603050405020304" pitchFamily="18" charset="0"/>
            </a:endParaRPr>
          </a:p>
          <a:p>
            <a:pPr marL="0" indent="0">
              <a:buNone/>
            </a:pPr>
            <a:endParaRPr lang="en-US" altLang="zh-CN" dirty="0">
              <a:latin typeface="Times New Roman" panose="02020603050405020304" pitchFamily="18" charset="0"/>
              <a:cs typeface="Times New Roman" panose="02020603050405020304" pitchFamily="18" charset="0"/>
            </a:endParaRPr>
          </a:p>
          <a:p>
            <a:pPr marL="0" indent="0">
              <a:buNone/>
            </a:pPr>
            <a:r>
              <a:rPr lang="zh-CN" altLang="en-US" dirty="0">
                <a:latin typeface="Times New Roman" panose="02020603050405020304" pitchFamily="18" charset="0"/>
                <a:cs typeface="Times New Roman" panose="02020603050405020304" pitchFamily="18" charset="0"/>
              </a:rPr>
              <a:t>间隔是指走线和焊盘之间的距离，一般按默认的数值就可以</a:t>
            </a:r>
            <a:endParaRPr lang="en-US" altLang="zh-C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109535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453DD-2879-EF3F-D558-B9F7353CAE7F}"/>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15C81219-7AD2-677D-D1FF-49B9E76C37FC}"/>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使用</a:t>
            </a:r>
            <a:r>
              <a:rPr lang="en-US" altLang="zh-CN" sz="4000" dirty="0">
                <a:solidFill>
                  <a:schemeClr val="accent1">
                    <a:lumMod val="75000"/>
                  </a:schemeClr>
                </a:solidFill>
                <a:latin typeface="Arial Black" panose="020B0A04020102020204" pitchFamily="34" charset="0"/>
                <a:ea typeface="黑体" panose="02010609060101010101" pitchFamily="49" charset="-122"/>
              </a:rPr>
              <a:t>AD</a:t>
            </a:r>
            <a:r>
              <a:rPr lang="zh-CN" altLang="en-US" sz="4000" dirty="0">
                <a:solidFill>
                  <a:schemeClr val="accent1">
                    <a:lumMod val="75000"/>
                  </a:schemeClr>
                </a:solidFill>
                <a:latin typeface="黑体" panose="02010609060101010101" pitchFamily="49" charset="-122"/>
                <a:ea typeface="黑体" panose="02010609060101010101" pitchFamily="49" charset="-122"/>
              </a:rPr>
              <a:t>设计印刷电路板图</a:t>
            </a:r>
            <a:endParaRPr lang="zh-CN" altLang="en-US" sz="4000" dirty="0">
              <a:solidFill>
                <a:srgbClr val="003F88"/>
              </a:solidFill>
              <a:latin typeface="黑体" panose="02010609060101010101" pitchFamily="49" charset="-122"/>
              <a:ea typeface="黑体" panose="02010609060101010101" pitchFamily="49" charset="-122"/>
            </a:endParaRPr>
          </a:p>
        </p:txBody>
      </p:sp>
      <p:sp>
        <p:nvSpPr>
          <p:cNvPr id="10" name="矩形 9">
            <a:extLst>
              <a:ext uri="{FF2B5EF4-FFF2-40B4-BE49-F238E27FC236}">
                <a16:creationId xmlns:a16="http://schemas.microsoft.com/office/drawing/2014/main" id="{E7F6FB4F-6B14-4142-94FB-F12D2B0C4B54}"/>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9" name="图片 8">
            <a:extLst>
              <a:ext uri="{FF2B5EF4-FFF2-40B4-BE49-F238E27FC236}">
                <a16:creationId xmlns:a16="http://schemas.microsoft.com/office/drawing/2014/main" id="{F69703A1-84EA-A1AB-5924-D8A3649065D0}"/>
              </a:ext>
            </a:extLst>
          </p:cNvPr>
          <p:cNvPicPr>
            <a:picLocks noChangeAspect="1"/>
          </p:cNvPicPr>
          <p:nvPr/>
        </p:nvPicPr>
        <p:blipFill rotWithShape="1">
          <a:blip r:embed="rId3"/>
          <a:srcRect r="5341" b="7084"/>
          <a:stretch/>
        </p:blipFill>
        <p:spPr>
          <a:xfrm>
            <a:off x="4646302" y="1316727"/>
            <a:ext cx="7545698" cy="5541267"/>
          </a:xfrm>
          <a:prstGeom prst="rect">
            <a:avLst/>
          </a:prstGeom>
        </p:spPr>
      </p:pic>
      <p:sp>
        <p:nvSpPr>
          <p:cNvPr id="3" name="内容占位符 2">
            <a:extLst>
              <a:ext uri="{FF2B5EF4-FFF2-40B4-BE49-F238E27FC236}">
                <a16:creationId xmlns:a16="http://schemas.microsoft.com/office/drawing/2014/main" id="{F9D97674-B419-82FF-2ABA-855DB87EC0A3}"/>
              </a:ext>
            </a:extLst>
          </p:cNvPr>
          <p:cNvSpPr>
            <a:spLocks noGrp="1"/>
          </p:cNvSpPr>
          <p:nvPr>
            <p:ph idx="1"/>
          </p:nvPr>
        </p:nvSpPr>
        <p:spPr>
          <a:xfrm>
            <a:off x="450928" y="1717964"/>
            <a:ext cx="5082915" cy="4852727"/>
          </a:xfrm>
        </p:spPr>
        <p:txBody>
          <a:bodyPr>
            <a:normAutofit lnSpcReduction="10000"/>
          </a:bodyPr>
          <a:lstStyle/>
          <a:p>
            <a:pPr marL="0" indent="0">
              <a:spcAft>
                <a:spcPts val="600"/>
              </a:spcAft>
              <a:buNone/>
            </a:pPr>
            <a:r>
              <a:rPr lang="en-US" altLang="zh-CN" dirty="0">
                <a:latin typeface="Times New Roman" panose="02020603050405020304" pitchFamily="18" charset="0"/>
                <a:cs typeface="Times New Roman" panose="02020603050405020304" pitchFamily="18" charset="0"/>
              </a:rPr>
              <a:t>3. </a:t>
            </a:r>
            <a:r>
              <a:rPr lang="zh-CN" altLang="en-US" dirty="0">
                <a:latin typeface="Times New Roman" panose="02020603050405020304" pitchFamily="18" charset="0"/>
                <a:cs typeface="Times New Roman" panose="02020603050405020304" pitchFamily="18" charset="0"/>
              </a:rPr>
              <a:t>设置布线规则</a:t>
            </a:r>
            <a:endParaRPr lang="en-US" altLang="zh-CN" dirty="0">
              <a:latin typeface="Times New Roman" panose="02020603050405020304" pitchFamily="18" charset="0"/>
              <a:cs typeface="Times New Roman" panose="02020603050405020304" pitchFamily="18" charset="0"/>
            </a:endParaRPr>
          </a:p>
          <a:p>
            <a:pPr marL="0" indent="0">
              <a:buNone/>
            </a:pPr>
            <a:r>
              <a:rPr lang="en-US" altLang="zh-CN" dirty="0">
                <a:latin typeface="Times New Roman" panose="02020603050405020304" pitchFamily="18" charset="0"/>
                <a:cs typeface="Times New Roman" panose="02020603050405020304" pitchFamily="18" charset="0"/>
              </a:rPr>
              <a:t>Design</a:t>
            </a:r>
            <a:r>
              <a:rPr lang="zh-CN" altLang="en-US" dirty="0">
                <a:latin typeface="Times New Roman" panose="02020603050405020304" pitchFamily="18" charset="0"/>
                <a:cs typeface="Times New Roman" panose="02020603050405020304" pitchFamily="18" charset="0"/>
              </a:rPr>
              <a:t>菜单→</a:t>
            </a:r>
            <a:endParaRPr lang="en-US" altLang="zh-CN" dirty="0">
              <a:latin typeface="Times New Roman" panose="02020603050405020304" pitchFamily="18" charset="0"/>
              <a:cs typeface="Times New Roman" panose="02020603050405020304" pitchFamily="18" charset="0"/>
            </a:endParaRPr>
          </a:p>
          <a:p>
            <a:pPr marL="0" indent="0">
              <a:buNone/>
            </a:pPr>
            <a:r>
              <a:rPr lang="en-US" altLang="zh-CN" dirty="0">
                <a:latin typeface="Times New Roman" panose="02020603050405020304" pitchFamily="18" charset="0"/>
                <a:cs typeface="Times New Roman" panose="02020603050405020304" pitchFamily="18" charset="0"/>
              </a:rPr>
              <a:t>	Rules…</a:t>
            </a:r>
          </a:p>
          <a:p>
            <a:pPr marL="0" indent="0">
              <a:buNone/>
            </a:pPr>
            <a:r>
              <a:rPr lang="zh-CN" altLang="en-US" dirty="0">
                <a:latin typeface="Times New Roman" panose="02020603050405020304" pitchFamily="18" charset="0"/>
                <a:cs typeface="Times New Roman" panose="02020603050405020304" pitchFamily="18" charset="0"/>
              </a:rPr>
              <a:t>★设置</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线宽</a:t>
            </a:r>
            <a:endParaRPr lang="en-US" altLang="zh-CN" dirty="0">
              <a:latin typeface="Times New Roman" panose="02020603050405020304" pitchFamily="18" charset="0"/>
              <a:cs typeface="Times New Roman" panose="02020603050405020304" pitchFamily="18" charset="0"/>
            </a:endParaRPr>
          </a:p>
          <a:p>
            <a:pPr marL="0" indent="0">
              <a:buNone/>
            </a:pPr>
            <a:r>
              <a:rPr lang="zh-CN" altLang="en-US" dirty="0">
                <a:latin typeface="Times New Roman" panose="02020603050405020304" pitchFamily="18" charset="0"/>
                <a:cs typeface="Times New Roman" panose="02020603050405020304" pitchFamily="18" charset="0"/>
              </a:rPr>
              <a:t>线宽范围</a:t>
            </a:r>
            <a:r>
              <a:rPr lang="en-US" altLang="zh-CN" dirty="0">
                <a:latin typeface="Times New Roman" panose="02020603050405020304" pitchFamily="18" charset="0"/>
                <a:cs typeface="Times New Roman" panose="02020603050405020304" pitchFamily="18" charset="0"/>
              </a:rPr>
              <a:t>:[10mil</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50mil]</a:t>
            </a:r>
          </a:p>
          <a:p>
            <a:pPr marL="0" indent="0">
              <a:buNone/>
            </a:pPr>
            <a:endParaRPr lang="en-US" altLang="zh-CN" dirty="0">
              <a:latin typeface="Times New Roman" panose="02020603050405020304" pitchFamily="18" charset="0"/>
              <a:cs typeface="Times New Roman" panose="02020603050405020304" pitchFamily="18" charset="0"/>
            </a:endParaRPr>
          </a:p>
          <a:p>
            <a:pPr marL="0" indent="0">
              <a:buNone/>
            </a:pPr>
            <a:r>
              <a:rPr lang="zh-CN" altLang="en-US" dirty="0">
                <a:latin typeface="Times New Roman" panose="02020603050405020304" pitchFamily="18" charset="0"/>
                <a:cs typeface="Times New Roman" panose="02020603050405020304" pitchFamily="18" charset="0"/>
              </a:rPr>
              <a:t>一般线宽设为</a:t>
            </a:r>
            <a:r>
              <a:rPr lang="en-US" altLang="zh-CN" dirty="0">
                <a:latin typeface="Times New Roman" panose="02020603050405020304" pitchFamily="18" charset="0"/>
                <a:cs typeface="Times New Roman" panose="02020603050405020304" pitchFamily="18" charset="0"/>
              </a:rPr>
              <a:t>15mil~20mil</a:t>
            </a:r>
          </a:p>
          <a:p>
            <a:pPr marL="0" indent="0">
              <a:buNone/>
            </a:pPr>
            <a:r>
              <a:rPr lang="zh-CN" altLang="en-US" dirty="0">
                <a:latin typeface="Times New Roman" panose="02020603050405020304" pitchFamily="18" charset="0"/>
                <a:cs typeface="Times New Roman" panose="02020603050405020304" pitchFamily="18" charset="0"/>
              </a:rPr>
              <a:t>模拟电路可适当增加线宽：</a:t>
            </a:r>
            <a:endParaRPr lang="en-US" altLang="zh-CN" dirty="0">
              <a:latin typeface="Times New Roman" panose="02020603050405020304" pitchFamily="18" charset="0"/>
              <a:cs typeface="Times New Roman" panose="02020603050405020304" pitchFamily="18" charset="0"/>
            </a:endParaRPr>
          </a:p>
          <a:p>
            <a:pPr marL="0" indent="0">
              <a:buNone/>
            </a:pPr>
            <a:r>
              <a:rPr lang="zh-CN" altLang="en-US" dirty="0">
                <a:latin typeface="Times New Roman" panose="02020603050405020304" pitchFamily="18" charset="0"/>
                <a:cs typeface="Times New Roman" panose="02020603050405020304" pitchFamily="18" charset="0"/>
              </a:rPr>
              <a:t>    信号线：</a:t>
            </a:r>
            <a:r>
              <a:rPr lang="en-US" altLang="zh-CN" dirty="0">
                <a:latin typeface="Times New Roman" panose="02020603050405020304" pitchFamily="18" charset="0"/>
                <a:cs typeface="Times New Roman" panose="02020603050405020304" pitchFamily="18" charset="0"/>
              </a:rPr>
              <a:t>20mil</a:t>
            </a:r>
          </a:p>
          <a:p>
            <a:pPr marL="0" indent="0">
              <a:buNone/>
            </a:pPr>
            <a:r>
              <a:rPr lang="zh-CN" altLang="en-US" dirty="0">
                <a:latin typeface="Times New Roman" panose="02020603050405020304" pitchFamily="18" charset="0"/>
                <a:cs typeface="Times New Roman" panose="02020603050405020304" pitchFamily="18" charset="0"/>
              </a:rPr>
              <a:t>   电源和地：</a:t>
            </a:r>
            <a:r>
              <a:rPr lang="en-US" altLang="zh-CN" dirty="0">
                <a:latin typeface="Times New Roman" panose="02020603050405020304" pitchFamily="18" charset="0"/>
                <a:cs typeface="Times New Roman" panose="02020603050405020304" pitchFamily="18" charset="0"/>
              </a:rPr>
              <a:t>50mil</a:t>
            </a:r>
          </a:p>
          <a:p>
            <a:pPr marL="0" indent="0">
              <a:buNone/>
            </a:pPr>
            <a:endParaRPr lang="en-US" altLang="zh-CN" dirty="0">
              <a:latin typeface="Times New Roman" panose="02020603050405020304" pitchFamily="18" charset="0"/>
              <a:cs typeface="Times New Roman" panose="02020603050405020304" pitchFamily="18" charset="0"/>
            </a:endParaRPr>
          </a:p>
        </p:txBody>
      </p:sp>
      <p:grpSp>
        <p:nvGrpSpPr>
          <p:cNvPr id="19" name="组合 18">
            <a:extLst>
              <a:ext uri="{FF2B5EF4-FFF2-40B4-BE49-F238E27FC236}">
                <a16:creationId xmlns:a16="http://schemas.microsoft.com/office/drawing/2014/main" id="{C363A9D6-59A7-CDEA-3980-543381A59DE0}"/>
              </a:ext>
            </a:extLst>
          </p:cNvPr>
          <p:cNvGrpSpPr/>
          <p:nvPr/>
        </p:nvGrpSpPr>
        <p:grpSpPr>
          <a:xfrm>
            <a:off x="7297783" y="1996873"/>
            <a:ext cx="4790981" cy="4680668"/>
            <a:chOff x="-648562" y="1204123"/>
            <a:chExt cx="9063345" cy="6858000"/>
          </a:xfrm>
        </p:grpSpPr>
        <p:grpSp>
          <p:nvGrpSpPr>
            <p:cNvPr id="18" name="组合 17">
              <a:extLst>
                <a:ext uri="{FF2B5EF4-FFF2-40B4-BE49-F238E27FC236}">
                  <a16:creationId xmlns:a16="http://schemas.microsoft.com/office/drawing/2014/main" id="{4EB76D05-B040-2187-78F6-83EB2AF8E492}"/>
                </a:ext>
              </a:extLst>
            </p:cNvPr>
            <p:cNvGrpSpPr/>
            <p:nvPr/>
          </p:nvGrpSpPr>
          <p:grpSpPr>
            <a:xfrm>
              <a:off x="-648562" y="1204123"/>
              <a:ext cx="9063345" cy="6858000"/>
              <a:chOff x="-1379650" y="908223"/>
              <a:chExt cx="9063345" cy="6858000"/>
            </a:xfrm>
          </p:grpSpPr>
          <p:pic>
            <p:nvPicPr>
              <p:cNvPr id="16" name="图片 15">
                <a:extLst>
                  <a:ext uri="{FF2B5EF4-FFF2-40B4-BE49-F238E27FC236}">
                    <a16:creationId xmlns:a16="http://schemas.microsoft.com/office/drawing/2014/main" id="{9075CD4F-6334-3C08-4AAB-5F5D8360C2CE}"/>
                  </a:ext>
                </a:extLst>
              </p:cNvPr>
              <p:cNvPicPr>
                <a:picLocks noChangeAspect="1"/>
              </p:cNvPicPr>
              <p:nvPr/>
            </p:nvPicPr>
            <p:blipFill>
              <a:blip r:embed="rId4"/>
              <a:stretch>
                <a:fillRect/>
              </a:stretch>
            </p:blipFill>
            <p:spPr>
              <a:xfrm>
                <a:off x="-1379650" y="908223"/>
                <a:ext cx="9063345" cy="6858000"/>
              </a:xfrm>
              <a:prstGeom prst="rect">
                <a:avLst/>
              </a:prstGeom>
            </p:spPr>
          </p:pic>
          <p:sp>
            <p:nvSpPr>
              <p:cNvPr id="15" name="矩形: 圆角 14">
                <a:extLst>
                  <a:ext uri="{FF2B5EF4-FFF2-40B4-BE49-F238E27FC236}">
                    <a16:creationId xmlns:a16="http://schemas.microsoft.com/office/drawing/2014/main" id="{8BEAC428-B203-F2E0-446C-90511413E341}"/>
                  </a:ext>
                </a:extLst>
              </p:cNvPr>
              <p:cNvSpPr/>
              <p:nvPr/>
            </p:nvSpPr>
            <p:spPr>
              <a:xfrm>
                <a:off x="1452104" y="5373889"/>
                <a:ext cx="6042977" cy="629671"/>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 name="矩形: 圆角 12">
              <a:extLst>
                <a:ext uri="{FF2B5EF4-FFF2-40B4-BE49-F238E27FC236}">
                  <a16:creationId xmlns:a16="http://schemas.microsoft.com/office/drawing/2014/main" id="{1168B024-1E3D-1F4F-DB5A-169EC13E401D}"/>
                </a:ext>
              </a:extLst>
            </p:cNvPr>
            <p:cNvSpPr/>
            <p:nvPr/>
          </p:nvSpPr>
          <p:spPr>
            <a:xfrm>
              <a:off x="-265546" y="2773304"/>
              <a:ext cx="1592175" cy="539521"/>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2" name="双括号 21">
            <a:extLst>
              <a:ext uri="{FF2B5EF4-FFF2-40B4-BE49-F238E27FC236}">
                <a16:creationId xmlns:a16="http://schemas.microsoft.com/office/drawing/2014/main" id="{E2657701-3558-2879-F9F4-EBBAF0D6DA47}"/>
              </a:ext>
            </a:extLst>
          </p:cNvPr>
          <p:cNvSpPr/>
          <p:nvPr/>
        </p:nvSpPr>
        <p:spPr>
          <a:xfrm>
            <a:off x="660638" y="5579197"/>
            <a:ext cx="2953062" cy="839449"/>
          </a:xfrm>
          <a:prstGeom prst="bracketPair">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154400951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453DD-2879-EF3F-D558-B9F7353CAE7F}"/>
            </a:ext>
          </a:extLst>
        </p:cNvPr>
        <p:cNvGrpSpPr/>
        <p:nvPr/>
      </p:nvGrpSpPr>
      <p:grpSpPr>
        <a:xfrm>
          <a:off x="0" y="0"/>
          <a:ext cx="0" cy="0"/>
          <a:chOff x="0" y="0"/>
          <a:chExt cx="0" cy="0"/>
        </a:xfrm>
      </p:grpSpPr>
      <p:sp>
        <p:nvSpPr>
          <p:cNvPr id="12" name="文本框 11">
            <a:extLst>
              <a:ext uri="{FF2B5EF4-FFF2-40B4-BE49-F238E27FC236}">
                <a16:creationId xmlns:a16="http://schemas.microsoft.com/office/drawing/2014/main" id="{EAB7E0AF-C4E9-AC9E-C6AA-B6298307DFEA}"/>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使用</a:t>
            </a:r>
            <a:r>
              <a:rPr lang="en-US" altLang="zh-CN" sz="4000" dirty="0">
                <a:solidFill>
                  <a:schemeClr val="accent1">
                    <a:lumMod val="75000"/>
                  </a:schemeClr>
                </a:solidFill>
                <a:latin typeface="Arial Black" panose="020B0A04020102020204" pitchFamily="34" charset="0"/>
                <a:ea typeface="黑体" panose="02010609060101010101" pitchFamily="49" charset="-122"/>
              </a:rPr>
              <a:t>AD</a:t>
            </a:r>
            <a:r>
              <a:rPr lang="zh-CN" altLang="en-US" sz="4000" dirty="0">
                <a:solidFill>
                  <a:schemeClr val="accent1">
                    <a:lumMod val="75000"/>
                  </a:schemeClr>
                </a:solidFill>
                <a:latin typeface="黑体" panose="02010609060101010101" pitchFamily="49" charset="-122"/>
                <a:ea typeface="黑体" panose="02010609060101010101" pitchFamily="49" charset="-122"/>
              </a:rPr>
              <a:t>设计印刷电路板图</a:t>
            </a:r>
            <a:endParaRPr lang="zh-CN" altLang="en-US" sz="4000" dirty="0">
              <a:solidFill>
                <a:srgbClr val="003F88"/>
              </a:solidFill>
              <a:latin typeface="黑体" panose="02010609060101010101" pitchFamily="49" charset="-122"/>
              <a:ea typeface="黑体" panose="02010609060101010101" pitchFamily="49" charset="-122"/>
            </a:endParaRPr>
          </a:p>
        </p:txBody>
      </p:sp>
      <p:sp>
        <p:nvSpPr>
          <p:cNvPr id="13" name="矩形 12">
            <a:extLst>
              <a:ext uri="{FF2B5EF4-FFF2-40B4-BE49-F238E27FC236}">
                <a16:creationId xmlns:a16="http://schemas.microsoft.com/office/drawing/2014/main" id="{5FE8BE86-1DC6-E9CA-2A0B-C2DAADD9B4A1}"/>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 name="组合 1">
            <a:extLst>
              <a:ext uri="{FF2B5EF4-FFF2-40B4-BE49-F238E27FC236}">
                <a16:creationId xmlns:a16="http://schemas.microsoft.com/office/drawing/2014/main" id="{C19492B4-5385-6938-DAA7-0B31B1C3E26B}"/>
              </a:ext>
            </a:extLst>
          </p:cNvPr>
          <p:cNvGrpSpPr/>
          <p:nvPr/>
        </p:nvGrpSpPr>
        <p:grpSpPr>
          <a:xfrm>
            <a:off x="4972280" y="1302105"/>
            <a:ext cx="7219719" cy="5490376"/>
            <a:chOff x="1433951" y="0"/>
            <a:chExt cx="9324098" cy="6858000"/>
          </a:xfrm>
        </p:grpSpPr>
        <p:pic>
          <p:nvPicPr>
            <p:cNvPr id="9" name="图片 8">
              <a:extLst>
                <a:ext uri="{FF2B5EF4-FFF2-40B4-BE49-F238E27FC236}">
                  <a16:creationId xmlns:a16="http://schemas.microsoft.com/office/drawing/2014/main" id="{DDF7B46D-B91E-71E3-2F94-D71D7CCA8513}"/>
                </a:ext>
              </a:extLst>
            </p:cNvPr>
            <p:cNvPicPr>
              <a:picLocks noChangeAspect="1"/>
            </p:cNvPicPr>
            <p:nvPr/>
          </p:nvPicPr>
          <p:blipFill>
            <a:blip r:embed="rId3"/>
            <a:stretch>
              <a:fillRect/>
            </a:stretch>
          </p:blipFill>
          <p:spPr>
            <a:xfrm>
              <a:off x="1433951" y="0"/>
              <a:ext cx="9324098" cy="6858000"/>
            </a:xfrm>
            <a:prstGeom prst="rect">
              <a:avLst/>
            </a:prstGeom>
          </p:spPr>
        </p:pic>
        <p:sp>
          <p:nvSpPr>
            <p:cNvPr id="10" name="箭头: 下 9">
              <a:extLst>
                <a:ext uri="{FF2B5EF4-FFF2-40B4-BE49-F238E27FC236}">
                  <a16:creationId xmlns:a16="http://schemas.microsoft.com/office/drawing/2014/main" id="{8B66E417-822C-16AD-397B-C6FCD16BB62E}"/>
                </a:ext>
              </a:extLst>
            </p:cNvPr>
            <p:cNvSpPr/>
            <p:nvPr/>
          </p:nvSpPr>
          <p:spPr>
            <a:xfrm>
              <a:off x="10003402" y="6176963"/>
              <a:ext cx="534256" cy="449868"/>
            </a:xfrm>
            <a:prstGeom prst="down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箭头连接符 10">
              <a:extLst>
                <a:ext uri="{FF2B5EF4-FFF2-40B4-BE49-F238E27FC236}">
                  <a16:creationId xmlns:a16="http://schemas.microsoft.com/office/drawing/2014/main" id="{61FD1FE2-D271-C8CC-C7E0-A33D66A85193}"/>
                </a:ext>
              </a:extLst>
            </p:cNvPr>
            <p:cNvCxnSpPr/>
            <p:nvPr/>
          </p:nvCxnSpPr>
          <p:spPr>
            <a:xfrm>
              <a:off x="3883631" y="2013735"/>
              <a:ext cx="2383605" cy="945222"/>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3" name="内容占位符 2">
            <a:extLst>
              <a:ext uri="{FF2B5EF4-FFF2-40B4-BE49-F238E27FC236}">
                <a16:creationId xmlns:a16="http://schemas.microsoft.com/office/drawing/2014/main" id="{F9D97674-B419-82FF-2ABA-855DB87EC0A3}"/>
              </a:ext>
            </a:extLst>
          </p:cNvPr>
          <p:cNvSpPr>
            <a:spLocks noGrp="1"/>
          </p:cNvSpPr>
          <p:nvPr>
            <p:ph idx="1"/>
          </p:nvPr>
        </p:nvSpPr>
        <p:spPr>
          <a:xfrm>
            <a:off x="838200" y="1825624"/>
            <a:ext cx="4368081" cy="4852727"/>
          </a:xfrm>
        </p:spPr>
        <p:txBody>
          <a:bodyPr>
            <a:normAutofit/>
          </a:bodyPr>
          <a:lstStyle/>
          <a:p>
            <a:pPr marL="0" indent="0">
              <a:spcAft>
                <a:spcPts val="600"/>
              </a:spcAft>
              <a:buNone/>
            </a:pPr>
            <a:r>
              <a:rPr lang="en-US" altLang="zh-CN" dirty="0">
                <a:latin typeface="Times New Roman" panose="02020603050405020304" pitchFamily="18" charset="0"/>
                <a:cs typeface="Times New Roman" panose="02020603050405020304" pitchFamily="18" charset="0"/>
              </a:rPr>
              <a:t>4. </a:t>
            </a:r>
            <a:r>
              <a:rPr lang="zh-CN" altLang="en-US" dirty="0">
                <a:latin typeface="Times New Roman" panose="02020603050405020304" pitchFamily="18" charset="0"/>
                <a:cs typeface="Times New Roman" panose="02020603050405020304" pitchFamily="18" charset="0"/>
              </a:rPr>
              <a:t>设置电路板禁止布线区</a:t>
            </a:r>
            <a:endParaRPr lang="en-US" altLang="zh-CN" dirty="0">
              <a:latin typeface="Times New Roman" panose="02020603050405020304" pitchFamily="18" charset="0"/>
              <a:cs typeface="Times New Roman" panose="02020603050405020304" pitchFamily="18" charset="0"/>
            </a:endParaRPr>
          </a:p>
          <a:p>
            <a:pPr marL="0" indent="0">
              <a:buNone/>
            </a:pPr>
            <a:r>
              <a:rPr lang="zh-CN" altLang="en-US" dirty="0">
                <a:latin typeface="Times New Roman" panose="02020603050405020304" pitchFamily="18" charset="0"/>
                <a:cs typeface="Times New Roman" panose="02020603050405020304" pitchFamily="18" charset="0"/>
              </a:rPr>
              <a:t>★根据电路的情况 预估电路板的大小和形状，确定电路板的电气边界。</a:t>
            </a:r>
            <a:endParaRPr lang="en-US" altLang="zh-CN" dirty="0">
              <a:latin typeface="Times New Roman" panose="02020603050405020304" pitchFamily="18" charset="0"/>
              <a:cs typeface="Times New Roman" panose="02020603050405020304" pitchFamily="18" charset="0"/>
            </a:endParaRPr>
          </a:p>
          <a:p>
            <a:pPr marL="0" indent="0">
              <a:spcBef>
                <a:spcPts val="1200"/>
              </a:spcBef>
              <a:buNone/>
            </a:pPr>
            <a:r>
              <a:rPr lang="zh-CN" altLang="en-US" dirty="0">
                <a:latin typeface="Times New Roman" panose="02020603050405020304" pitchFamily="18" charset="0"/>
                <a:cs typeface="Times New Roman" panose="02020603050405020304" pitchFamily="18" charset="0"/>
              </a:rPr>
              <a:t>★选择</a:t>
            </a:r>
            <a:r>
              <a:rPr lang="en-US" altLang="zh-CN" dirty="0" err="1">
                <a:latin typeface="Times New Roman" panose="02020603050405020304" pitchFamily="18" charset="0"/>
                <a:cs typeface="Times New Roman" panose="02020603050405020304" pitchFamily="18" charset="0"/>
              </a:rPr>
              <a:t>keepout</a:t>
            </a:r>
            <a:r>
              <a:rPr lang="en-US" altLang="zh-CN" dirty="0">
                <a:latin typeface="Times New Roman" panose="02020603050405020304" pitchFamily="18" charset="0"/>
                <a:cs typeface="Times New Roman" panose="02020603050405020304" pitchFamily="18" charset="0"/>
              </a:rPr>
              <a:t> layer</a:t>
            </a:r>
            <a:r>
              <a:rPr lang="zh-CN" altLang="en-US" dirty="0">
                <a:latin typeface="Times New Roman" panose="02020603050405020304" pitchFamily="18" charset="0"/>
                <a:cs typeface="Times New Roman" panose="02020603050405020304" pitchFamily="18" charset="0"/>
              </a:rPr>
              <a:t>层上，执行“</a:t>
            </a:r>
            <a:r>
              <a:rPr lang="en-US" altLang="zh-CN" dirty="0">
                <a:latin typeface="Times New Roman" panose="02020603050405020304" pitchFamily="18" charset="0"/>
                <a:cs typeface="Times New Roman" panose="02020603050405020304" pitchFamily="18" charset="0"/>
              </a:rPr>
              <a:t>place</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line</a:t>
            </a:r>
            <a:r>
              <a:rPr lang="zh-CN" altLang="en-US" dirty="0">
                <a:latin typeface="Times New Roman" panose="02020603050405020304" pitchFamily="18" charset="0"/>
                <a:cs typeface="Times New Roman" panose="02020603050405020304" pitchFamily="18" charset="0"/>
              </a:rPr>
              <a:t>”，画出电路板的预估形状和大小。</a:t>
            </a:r>
            <a:endParaRPr lang="en-US" altLang="zh-CN" dirty="0">
              <a:latin typeface="Times New Roman" panose="02020603050405020304" pitchFamily="18" charset="0"/>
              <a:cs typeface="Times New Roman" panose="02020603050405020304" pitchFamily="18" charset="0"/>
            </a:endParaRPr>
          </a:p>
          <a:p>
            <a:pPr marL="0" indent="0">
              <a:spcBef>
                <a:spcPts val="1200"/>
              </a:spcBef>
              <a:buNone/>
            </a:pPr>
            <a:r>
              <a:rPr lang="zh-CN" altLang="en-US" dirty="0">
                <a:latin typeface="Times New Roman" panose="02020603050405020304" pitchFamily="18" charset="0"/>
                <a:cs typeface="Times New Roman" panose="02020603050405020304" pitchFamily="18" charset="0"/>
              </a:rPr>
              <a:t>★随时观察窗口左下角的坐标以掌握实际尺寸。</a:t>
            </a:r>
            <a:endParaRPr lang="en-US" altLang="zh-C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527389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453DD-2879-EF3F-D558-B9F7353CAE7F}"/>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D837A7CE-52FF-B7B6-F51E-4D2B9430D06A}"/>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使用</a:t>
            </a:r>
            <a:r>
              <a:rPr lang="en-US" altLang="zh-CN" sz="4000" dirty="0">
                <a:solidFill>
                  <a:schemeClr val="accent1">
                    <a:lumMod val="75000"/>
                  </a:schemeClr>
                </a:solidFill>
                <a:latin typeface="Arial Black" panose="020B0A04020102020204" pitchFamily="34" charset="0"/>
                <a:ea typeface="黑体" panose="02010609060101010101" pitchFamily="49" charset="-122"/>
              </a:rPr>
              <a:t>AD</a:t>
            </a:r>
            <a:r>
              <a:rPr lang="zh-CN" altLang="en-US" sz="4000" dirty="0">
                <a:solidFill>
                  <a:schemeClr val="accent1">
                    <a:lumMod val="75000"/>
                  </a:schemeClr>
                </a:solidFill>
                <a:latin typeface="黑体" panose="02010609060101010101" pitchFamily="49" charset="-122"/>
                <a:ea typeface="黑体" panose="02010609060101010101" pitchFamily="49" charset="-122"/>
              </a:rPr>
              <a:t>设计印刷电路板图</a:t>
            </a:r>
            <a:endParaRPr lang="zh-CN" altLang="en-US" sz="4000" dirty="0">
              <a:solidFill>
                <a:srgbClr val="003F88"/>
              </a:solidFill>
              <a:latin typeface="黑体" panose="02010609060101010101" pitchFamily="49" charset="-122"/>
              <a:ea typeface="黑体" panose="02010609060101010101" pitchFamily="49" charset="-122"/>
            </a:endParaRPr>
          </a:p>
        </p:txBody>
      </p:sp>
      <p:sp>
        <p:nvSpPr>
          <p:cNvPr id="11" name="矩形 10">
            <a:extLst>
              <a:ext uri="{FF2B5EF4-FFF2-40B4-BE49-F238E27FC236}">
                <a16:creationId xmlns:a16="http://schemas.microsoft.com/office/drawing/2014/main" id="{2C4B08DC-CA24-B177-F623-3BECC8793E72}"/>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内容占位符 2">
            <a:extLst>
              <a:ext uri="{FF2B5EF4-FFF2-40B4-BE49-F238E27FC236}">
                <a16:creationId xmlns:a16="http://schemas.microsoft.com/office/drawing/2014/main" id="{F9D97674-B419-82FF-2ABA-855DB87EC0A3}"/>
              </a:ext>
            </a:extLst>
          </p:cNvPr>
          <p:cNvSpPr>
            <a:spLocks noGrp="1"/>
          </p:cNvSpPr>
          <p:nvPr>
            <p:ph idx="1"/>
          </p:nvPr>
        </p:nvSpPr>
        <p:spPr>
          <a:xfrm>
            <a:off x="838200" y="1825624"/>
            <a:ext cx="4606636" cy="4852727"/>
          </a:xfrm>
        </p:spPr>
        <p:txBody>
          <a:bodyPr>
            <a:normAutofit/>
          </a:bodyPr>
          <a:lstStyle/>
          <a:p>
            <a:pPr marL="0" indent="0">
              <a:spcAft>
                <a:spcPts val="600"/>
              </a:spcAft>
              <a:buNone/>
            </a:pPr>
            <a:r>
              <a:rPr lang="en-US" altLang="zh-CN" dirty="0">
                <a:latin typeface="Times New Roman" panose="02020603050405020304" pitchFamily="18" charset="0"/>
                <a:cs typeface="Times New Roman" panose="02020603050405020304" pitchFamily="18" charset="0"/>
              </a:rPr>
              <a:t>5. </a:t>
            </a:r>
            <a:r>
              <a:rPr lang="zh-CN" altLang="en-US" dirty="0">
                <a:latin typeface="Times New Roman" panose="02020603050405020304" pitchFamily="18" charset="0"/>
                <a:cs typeface="Times New Roman" panose="02020603050405020304" pitchFamily="18" charset="0"/>
              </a:rPr>
              <a:t>导入原理图数据</a:t>
            </a:r>
            <a:endParaRPr lang="en-US" altLang="zh-CN" dirty="0">
              <a:latin typeface="Times New Roman" panose="02020603050405020304" pitchFamily="18" charset="0"/>
              <a:cs typeface="Times New Roman" panose="02020603050405020304" pitchFamily="18" charset="0"/>
            </a:endParaRPr>
          </a:p>
          <a:p>
            <a:pPr marL="0" indent="0">
              <a:spcAft>
                <a:spcPts val="600"/>
              </a:spcAft>
              <a:buNone/>
            </a:pPr>
            <a:r>
              <a:rPr lang="zh-CN" altLang="en-US" dirty="0">
                <a:latin typeface="Times New Roman" panose="02020603050405020304" pitchFamily="18" charset="0"/>
                <a:cs typeface="Times New Roman" panose="02020603050405020304" pitchFamily="18" charset="0"/>
              </a:rPr>
              <a:t>★在原理图文件中执行：</a:t>
            </a:r>
            <a:endParaRPr lang="en-US" altLang="zh-CN" dirty="0">
              <a:latin typeface="Times New Roman" panose="02020603050405020304" pitchFamily="18" charset="0"/>
              <a:cs typeface="Times New Roman" panose="02020603050405020304" pitchFamily="18" charset="0"/>
            </a:endParaRPr>
          </a:p>
          <a:p>
            <a:pPr marL="0" indent="0">
              <a:spcAft>
                <a:spcPts val="600"/>
              </a:spcAft>
              <a:buNone/>
            </a:pP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Design</a:t>
            </a:r>
            <a:r>
              <a:rPr lang="zh-CN" altLang="en-US"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marL="0" indent="0">
              <a:spcAft>
                <a:spcPts val="600"/>
              </a:spcAft>
              <a:buNone/>
            </a:pPr>
            <a:r>
              <a:rPr lang="zh-CN" altLang="en-US" dirty="0">
                <a:latin typeface="Times New Roman" panose="02020603050405020304" pitchFamily="18" charset="0"/>
                <a:cs typeface="Times New Roman" panose="02020603050405020304" pitchFamily="18" charset="0"/>
              </a:rPr>
              <a:t>“</a:t>
            </a:r>
            <a:r>
              <a:rPr lang="en-US" altLang="zh-CN" b="1" dirty="0">
                <a:solidFill>
                  <a:srgbClr val="FF0000"/>
                </a:solidFill>
                <a:latin typeface="Times New Roman" panose="02020603050405020304" pitchFamily="18" charset="0"/>
                <a:cs typeface="Times New Roman" panose="02020603050405020304" pitchFamily="18" charset="0"/>
              </a:rPr>
              <a:t>Import Changes From…</a:t>
            </a:r>
            <a:r>
              <a:rPr lang="zh-CN" altLang="en-US"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marL="0" indent="0">
              <a:spcAft>
                <a:spcPts val="600"/>
              </a:spcAft>
              <a:buNone/>
            </a:pPr>
            <a:r>
              <a:rPr lang="en-US" altLang="zh-CN" dirty="0">
                <a:latin typeface="Times New Roman" panose="02020603050405020304" pitchFamily="18" charset="0"/>
                <a:cs typeface="Times New Roman" panose="02020603050405020304" pitchFamily="18" charset="0"/>
              </a:rPr>
              <a:t>    </a:t>
            </a:r>
          </a:p>
        </p:txBody>
      </p:sp>
      <p:pic>
        <p:nvPicPr>
          <p:cNvPr id="9" name="图片 8">
            <a:extLst>
              <a:ext uri="{FF2B5EF4-FFF2-40B4-BE49-F238E27FC236}">
                <a16:creationId xmlns:a16="http://schemas.microsoft.com/office/drawing/2014/main" id="{9ED746CF-97E8-C6F5-2C6F-C8DD73AB68D1}"/>
              </a:ext>
            </a:extLst>
          </p:cNvPr>
          <p:cNvPicPr>
            <a:picLocks noChangeAspect="1"/>
          </p:cNvPicPr>
          <p:nvPr/>
        </p:nvPicPr>
        <p:blipFill>
          <a:blip r:embed="rId3"/>
          <a:stretch>
            <a:fillRect/>
          </a:stretch>
        </p:blipFill>
        <p:spPr>
          <a:xfrm>
            <a:off x="5426014" y="1257066"/>
            <a:ext cx="6765986" cy="5600934"/>
          </a:xfrm>
          <a:prstGeom prst="rect">
            <a:avLst/>
          </a:prstGeom>
        </p:spPr>
      </p:pic>
      <p:sp>
        <p:nvSpPr>
          <p:cNvPr id="10" name="矩形: 圆角 9">
            <a:extLst>
              <a:ext uri="{FF2B5EF4-FFF2-40B4-BE49-F238E27FC236}">
                <a16:creationId xmlns:a16="http://schemas.microsoft.com/office/drawing/2014/main" id="{373CDBDB-3436-E0E0-5222-43B59147F5F7}"/>
              </a:ext>
            </a:extLst>
          </p:cNvPr>
          <p:cNvSpPr/>
          <p:nvPr/>
        </p:nvSpPr>
        <p:spPr>
          <a:xfrm>
            <a:off x="8408039" y="2029790"/>
            <a:ext cx="3355626" cy="387792"/>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46214533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453DD-2879-EF3F-D558-B9F7353CAE7F}"/>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F9D97674-B419-82FF-2ABA-855DB87EC0A3}"/>
              </a:ext>
            </a:extLst>
          </p:cNvPr>
          <p:cNvSpPr>
            <a:spLocks noGrp="1"/>
          </p:cNvSpPr>
          <p:nvPr>
            <p:ph idx="1"/>
          </p:nvPr>
        </p:nvSpPr>
        <p:spPr>
          <a:xfrm>
            <a:off x="449411" y="1825625"/>
            <a:ext cx="4606636" cy="4852727"/>
          </a:xfrm>
        </p:spPr>
        <p:txBody>
          <a:bodyPr>
            <a:normAutofit/>
          </a:bodyPr>
          <a:lstStyle/>
          <a:p>
            <a:pPr marL="0" indent="0">
              <a:spcAft>
                <a:spcPts val="600"/>
              </a:spcAft>
              <a:buNone/>
            </a:pPr>
            <a:r>
              <a:rPr lang="en-US" altLang="zh-CN" dirty="0">
                <a:latin typeface="Times New Roman" panose="02020603050405020304" pitchFamily="18" charset="0"/>
                <a:cs typeface="Times New Roman" panose="02020603050405020304" pitchFamily="18" charset="0"/>
              </a:rPr>
              <a:t>5. </a:t>
            </a:r>
            <a:r>
              <a:rPr lang="zh-CN" altLang="en-US" dirty="0">
                <a:latin typeface="Times New Roman" panose="02020603050405020304" pitchFamily="18" charset="0"/>
                <a:cs typeface="Times New Roman" panose="02020603050405020304" pitchFamily="18" charset="0"/>
              </a:rPr>
              <a:t>导入原理图数据</a:t>
            </a:r>
            <a:endParaRPr lang="en-US" altLang="zh-CN" dirty="0">
              <a:latin typeface="Times New Roman" panose="02020603050405020304" pitchFamily="18" charset="0"/>
              <a:cs typeface="Times New Roman" panose="02020603050405020304" pitchFamily="18" charset="0"/>
            </a:endParaRPr>
          </a:p>
          <a:p>
            <a:pPr marL="0" indent="0">
              <a:spcAft>
                <a:spcPts val="600"/>
              </a:spcAft>
              <a:buNone/>
            </a:pPr>
            <a:r>
              <a:rPr lang="zh-CN" altLang="en-US" dirty="0">
                <a:latin typeface="Times New Roman" panose="02020603050405020304" pitchFamily="18" charset="0"/>
                <a:cs typeface="Times New Roman" panose="02020603050405020304" pitchFamily="18" charset="0"/>
              </a:rPr>
              <a:t>★点击“</a:t>
            </a:r>
            <a:r>
              <a:rPr lang="en-US" altLang="zh-CN" b="1" dirty="0">
                <a:solidFill>
                  <a:srgbClr val="FF0000"/>
                </a:solidFill>
                <a:latin typeface="Times New Roman" panose="02020603050405020304" pitchFamily="18" charset="0"/>
                <a:cs typeface="Times New Roman" panose="02020603050405020304" pitchFamily="18" charset="0"/>
              </a:rPr>
              <a:t>Execute Changes</a:t>
            </a:r>
            <a:r>
              <a:rPr lang="zh-CN" altLang="en-US"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marL="0" indent="0">
              <a:spcAft>
                <a:spcPts val="600"/>
              </a:spcAft>
              <a:buNone/>
            </a:pPr>
            <a:r>
              <a:rPr lang="en-US" altLang="zh-CN" dirty="0">
                <a:latin typeface="Times New Roman" panose="02020603050405020304" pitchFamily="18" charset="0"/>
                <a:cs typeface="Times New Roman" panose="02020603050405020304" pitchFamily="18" charset="0"/>
              </a:rPr>
              <a:t>    </a:t>
            </a:r>
          </a:p>
        </p:txBody>
      </p:sp>
      <p:grpSp>
        <p:nvGrpSpPr>
          <p:cNvPr id="2" name="组合 1">
            <a:extLst>
              <a:ext uri="{FF2B5EF4-FFF2-40B4-BE49-F238E27FC236}">
                <a16:creationId xmlns:a16="http://schemas.microsoft.com/office/drawing/2014/main" id="{EB0D6204-BFEC-D43D-B40D-75C1231E9ADD}"/>
              </a:ext>
            </a:extLst>
          </p:cNvPr>
          <p:cNvGrpSpPr/>
          <p:nvPr/>
        </p:nvGrpSpPr>
        <p:grpSpPr>
          <a:xfrm>
            <a:off x="4500860" y="1589907"/>
            <a:ext cx="7502453" cy="4174757"/>
            <a:chOff x="1016955" y="1738859"/>
            <a:chExt cx="8999871" cy="4216106"/>
          </a:xfrm>
        </p:grpSpPr>
        <p:pic>
          <p:nvPicPr>
            <p:cNvPr id="9" name="图片 8">
              <a:extLst>
                <a:ext uri="{FF2B5EF4-FFF2-40B4-BE49-F238E27FC236}">
                  <a16:creationId xmlns:a16="http://schemas.microsoft.com/office/drawing/2014/main" id="{0C65ADE3-F5DF-670B-6898-9E6C720DC5D6}"/>
                </a:ext>
              </a:extLst>
            </p:cNvPr>
            <p:cNvPicPr>
              <a:picLocks noChangeAspect="1"/>
            </p:cNvPicPr>
            <p:nvPr/>
          </p:nvPicPr>
          <p:blipFill>
            <a:blip r:embed="rId3"/>
            <a:stretch>
              <a:fillRect/>
            </a:stretch>
          </p:blipFill>
          <p:spPr>
            <a:xfrm>
              <a:off x="1016955" y="1738859"/>
              <a:ext cx="8999871" cy="4216106"/>
            </a:xfrm>
            <a:prstGeom prst="rect">
              <a:avLst/>
            </a:prstGeom>
          </p:spPr>
        </p:pic>
        <p:sp>
          <p:nvSpPr>
            <p:cNvPr id="10" name="矩形: 圆角 9">
              <a:extLst>
                <a:ext uri="{FF2B5EF4-FFF2-40B4-BE49-F238E27FC236}">
                  <a16:creationId xmlns:a16="http://schemas.microsoft.com/office/drawing/2014/main" id="{CD2D8E70-B713-4AE6-D88B-CCC44D0F13F4}"/>
                </a:ext>
              </a:extLst>
            </p:cNvPr>
            <p:cNvSpPr/>
            <p:nvPr/>
          </p:nvSpPr>
          <p:spPr>
            <a:xfrm>
              <a:off x="1896256" y="5688767"/>
              <a:ext cx="876924" cy="262328"/>
            </a:xfrm>
            <a:prstGeom prst="round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文本框 10">
            <a:extLst>
              <a:ext uri="{FF2B5EF4-FFF2-40B4-BE49-F238E27FC236}">
                <a16:creationId xmlns:a16="http://schemas.microsoft.com/office/drawing/2014/main" id="{FC81BA7D-7D23-70DC-055E-5F75AE073736}"/>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使用</a:t>
            </a:r>
            <a:r>
              <a:rPr lang="en-US" altLang="zh-CN" sz="4000" dirty="0">
                <a:solidFill>
                  <a:schemeClr val="accent1">
                    <a:lumMod val="75000"/>
                  </a:schemeClr>
                </a:solidFill>
                <a:latin typeface="Arial Black" panose="020B0A04020102020204" pitchFamily="34" charset="0"/>
                <a:ea typeface="黑体" panose="02010609060101010101" pitchFamily="49" charset="-122"/>
              </a:rPr>
              <a:t>AD</a:t>
            </a:r>
            <a:r>
              <a:rPr lang="zh-CN" altLang="en-US" sz="4000" dirty="0">
                <a:solidFill>
                  <a:schemeClr val="accent1">
                    <a:lumMod val="75000"/>
                  </a:schemeClr>
                </a:solidFill>
                <a:latin typeface="黑体" panose="02010609060101010101" pitchFamily="49" charset="-122"/>
                <a:ea typeface="黑体" panose="02010609060101010101" pitchFamily="49" charset="-122"/>
              </a:rPr>
              <a:t>设计印刷电路板图</a:t>
            </a:r>
            <a:endParaRPr lang="zh-CN" altLang="en-US" sz="4000" dirty="0">
              <a:solidFill>
                <a:srgbClr val="003F88"/>
              </a:solidFill>
              <a:latin typeface="黑体" panose="02010609060101010101" pitchFamily="49" charset="-122"/>
              <a:ea typeface="黑体" panose="02010609060101010101" pitchFamily="49" charset="-122"/>
            </a:endParaRPr>
          </a:p>
        </p:txBody>
      </p:sp>
      <p:sp>
        <p:nvSpPr>
          <p:cNvPr id="12" name="矩形 11">
            <a:extLst>
              <a:ext uri="{FF2B5EF4-FFF2-40B4-BE49-F238E27FC236}">
                <a16:creationId xmlns:a16="http://schemas.microsoft.com/office/drawing/2014/main" id="{5D3DB6D6-63D1-6E69-D11B-A22993A356AC}"/>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181609413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453DD-2879-EF3F-D558-B9F7353CAE7F}"/>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E16F5982-E807-46E4-E5E3-377448E16B25}"/>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使用</a:t>
            </a:r>
            <a:r>
              <a:rPr lang="en-US" altLang="zh-CN" sz="4000" dirty="0">
                <a:solidFill>
                  <a:schemeClr val="accent1">
                    <a:lumMod val="75000"/>
                  </a:schemeClr>
                </a:solidFill>
                <a:latin typeface="Arial Black" panose="020B0A04020102020204" pitchFamily="34" charset="0"/>
                <a:ea typeface="黑体" panose="02010609060101010101" pitchFamily="49" charset="-122"/>
              </a:rPr>
              <a:t>AD</a:t>
            </a:r>
            <a:r>
              <a:rPr lang="zh-CN" altLang="en-US" sz="4000" dirty="0">
                <a:solidFill>
                  <a:schemeClr val="accent1">
                    <a:lumMod val="75000"/>
                  </a:schemeClr>
                </a:solidFill>
                <a:latin typeface="黑体" panose="02010609060101010101" pitchFamily="49" charset="-122"/>
                <a:ea typeface="黑体" panose="02010609060101010101" pitchFamily="49" charset="-122"/>
              </a:rPr>
              <a:t>设计印刷电路板图</a:t>
            </a:r>
            <a:endParaRPr lang="zh-CN" altLang="en-US" sz="4000" dirty="0">
              <a:solidFill>
                <a:srgbClr val="003F88"/>
              </a:solidFill>
              <a:latin typeface="黑体" panose="02010609060101010101" pitchFamily="49" charset="-122"/>
              <a:ea typeface="黑体" panose="02010609060101010101" pitchFamily="49" charset="-122"/>
            </a:endParaRPr>
          </a:p>
        </p:txBody>
      </p:sp>
      <p:sp>
        <p:nvSpPr>
          <p:cNvPr id="9" name="矩形 8">
            <a:extLst>
              <a:ext uri="{FF2B5EF4-FFF2-40B4-BE49-F238E27FC236}">
                <a16:creationId xmlns:a16="http://schemas.microsoft.com/office/drawing/2014/main" id="{837F7142-0308-17DC-6F9B-58D406418346}"/>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1" name="图片 10">
            <a:extLst>
              <a:ext uri="{FF2B5EF4-FFF2-40B4-BE49-F238E27FC236}">
                <a16:creationId xmlns:a16="http://schemas.microsoft.com/office/drawing/2014/main" id="{C60BBAE8-3B1E-2D30-70AD-985827F8BA9A}"/>
              </a:ext>
            </a:extLst>
          </p:cNvPr>
          <p:cNvPicPr>
            <a:picLocks noChangeAspect="1"/>
          </p:cNvPicPr>
          <p:nvPr/>
        </p:nvPicPr>
        <p:blipFill>
          <a:blip r:embed="rId3"/>
          <a:stretch>
            <a:fillRect/>
          </a:stretch>
        </p:blipFill>
        <p:spPr>
          <a:xfrm>
            <a:off x="4226704" y="1396431"/>
            <a:ext cx="7965296" cy="4852727"/>
          </a:xfrm>
          <a:prstGeom prst="rect">
            <a:avLst/>
          </a:prstGeom>
        </p:spPr>
      </p:pic>
      <p:sp>
        <p:nvSpPr>
          <p:cNvPr id="3" name="内容占位符 2">
            <a:extLst>
              <a:ext uri="{FF2B5EF4-FFF2-40B4-BE49-F238E27FC236}">
                <a16:creationId xmlns:a16="http://schemas.microsoft.com/office/drawing/2014/main" id="{F9D97674-B419-82FF-2ABA-855DB87EC0A3}"/>
              </a:ext>
            </a:extLst>
          </p:cNvPr>
          <p:cNvSpPr>
            <a:spLocks noGrp="1"/>
          </p:cNvSpPr>
          <p:nvPr>
            <p:ph idx="1"/>
          </p:nvPr>
        </p:nvSpPr>
        <p:spPr>
          <a:xfrm>
            <a:off x="838200" y="1825624"/>
            <a:ext cx="4606636" cy="4852727"/>
          </a:xfrm>
        </p:spPr>
        <p:txBody>
          <a:bodyPr>
            <a:normAutofit/>
          </a:bodyPr>
          <a:lstStyle/>
          <a:p>
            <a:pPr marL="0" indent="0">
              <a:spcAft>
                <a:spcPts val="600"/>
              </a:spcAft>
              <a:buNone/>
            </a:pPr>
            <a:r>
              <a:rPr lang="en-US" altLang="zh-CN" dirty="0">
                <a:latin typeface="Times New Roman" panose="02020603050405020304" pitchFamily="18" charset="0"/>
                <a:cs typeface="Times New Roman" panose="02020603050405020304" pitchFamily="18" charset="0"/>
              </a:rPr>
              <a:t>5. </a:t>
            </a:r>
            <a:r>
              <a:rPr lang="zh-CN" altLang="en-US" dirty="0">
                <a:latin typeface="Times New Roman" panose="02020603050405020304" pitchFamily="18" charset="0"/>
                <a:cs typeface="Times New Roman" panose="02020603050405020304" pitchFamily="18" charset="0"/>
              </a:rPr>
              <a:t>导入原理图数据</a:t>
            </a:r>
            <a:endParaRPr lang="en-US" altLang="zh-CN" dirty="0">
              <a:latin typeface="Times New Roman" panose="02020603050405020304" pitchFamily="18" charset="0"/>
              <a:cs typeface="Times New Roman" panose="02020603050405020304" pitchFamily="18" charset="0"/>
            </a:endParaRPr>
          </a:p>
          <a:p>
            <a:pPr marL="0" indent="0">
              <a:spcAft>
                <a:spcPts val="600"/>
              </a:spcAft>
              <a:buNone/>
            </a:pPr>
            <a:r>
              <a:rPr lang="zh-CN" altLang="en-US" dirty="0">
                <a:latin typeface="Times New Roman" panose="02020603050405020304" pitchFamily="18" charset="0"/>
                <a:cs typeface="Times New Roman" panose="02020603050405020304" pitchFamily="18" charset="0"/>
              </a:rPr>
              <a:t>★点击</a:t>
            </a:r>
            <a:endParaRPr lang="en-US" altLang="zh-CN" dirty="0">
              <a:latin typeface="Times New Roman" panose="02020603050405020304" pitchFamily="18" charset="0"/>
              <a:cs typeface="Times New Roman" panose="02020603050405020304" pitchFamily="18" charset="0"/>
            </a:endParaRPr>
          </a:p>
          <a:p>
            <a:pPr marL="0" indent="0">
              <a:spcAft>
                <a:spcPts val="600"/>
              </a:spcAft>
              <a:buNone/>
            </a:pP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Execute Changes</a:t>
            </a:r>
            <a:r>
              <a:rPr lang="zh-CN" altLang="en-US" dirty="0">
                <a:latin typeface="Times New Roman" panose="02020603050405020304" pitchFamily="18" charset="0"/>
                <a:cs typeface="Times New Roman" panose="02020603050405020304" pitchFamily="18" charset="0"/>
              </a:rPr>
              <a:t>”后</a:t>
            </a:r>
            <a:endParaRPr lang="en-US" altLang="zh-CN" dirty="0">
              <a:latin typeface="Times New Roman" panose="02020603050405020304" pitchFamily="18" charset="0"/>
              <a:cs typeface="Times New Roman" panose="02020603050405020304" pitchFamily="18" charset="0"/>
            </a:endParaRPr>
          </a:p>
          <a:p>
            <a:pPr marL="0" indent="0">
              <a:spcAft>
                <a:spcPts val="600"/>
              </a:spcAft>
              <a:buNone/>
            </a:pPr>
            <a:r>
              <a:rPr lang="en-US" altLang="zh-CN"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17725753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453DD-2879-EF3F-D558-B9F7353CAE7F}"/>
            </a:ext>
          </a:extLst>
        </p:cNvPr>
        <p:cNvGrpSpPr/>
        <p:nvPr/>
      </p:nvGrpSpPr>
      <p:grpSpPr>
        <a:xfrm>
          <a:off x="0" y="0"/>
          <a:ext cx="0" cy="0"/>
          <a:chOff x="0" y="0"/>
          <a:chExt cx="0" cy="0"/>
        </a:xfrm>
      </p:grpSpPr>
      <p:grpSp>
        <p:nvGrpSpPr>
          <p:cNvPr id="12" name="组合 11">
            <a:extLst>
              <a:ext uri="{FF2B5EF4-FFF2-40B4-BE49-F238E27FC236}">
                <a16:creationId xmlns:a16="http://schemas.microsoft.com/office/drawing/2014/main" id="{B6F39EF8-BEF1-18A2-0857-790F975A038F}"/>
              </a:ext>
            </a:extLst>
          </p:cNvPr>
          <p:cNvGrpSpPr/>
          <p:nvPr/>
        </p:nvGrpSpPr>
        <p:grpSpPr>
          <a:xfrm>
            <a:off x="5131153" y="2274283"/>
            <a:ext cx="7060847" cy="3166683"/>
            <a:chOff x="-673027" y="1427802"/>
            <a:chExt cx="8466209" cy="4002396"/>
          </a:xfrm>
        </p:grpSpPr>
        <p:pic>
          <p:nvPicPr>
            <p:cNvPr id="11" name="图片 10">
              <a:extLst>
                <a:ext uri="{FF2B5EF4-FFF2-40B4-BE49-F238E27FC236}">
                  <a16:creationId xmlns:a16="http://schemas.microsoft.com/office/drawing/2014/main" id="{0CB4D821-B9B0-AAB4-B849-5E6630D6B01A}"/>
                </a:ext>
              </a:extLst>
            </p:cNvPr>
            <p:cNvPicPr>
              <a:picLocks noChangeAspect="1"/>
            </p:cNvPicPr>
            <p:nvPr/>
          </p:nvPicPr>
          <p:blipFill>
            <a:blip r:embed="rId3"/>
            <a:stretch>
              <a:fillRect/>
            </a:stretch>
          </p:blipFill>
          <p:spPr>
            <a:xfrm>
              <a:off x="-673027" y="1427802"/>
              <a:ext cx="8466209" cy="4002396"/>
            </a:xfrm>
            <a:prstGeom prst="rect">
              <a:avLst/>
            </a:prstGeom>
          </p:spPr>
        </p:pic>
        <p:sp>
          <p:nvSpPr>
            <p:cNvPr id="16" name="椭圆 15">
              <a:extLst>
                <a:ext uri="{FF2B5EF4-FFF2-40B4-BE49-F238E27FC236}">
                  <a16:creationId xmlns:a16="http://schemas.microsoft.com/office/drawing/2014/main" id="{D872550C-2510-32C4-A5EB-9E6B0A494D0C}"/>
                </a:ext>
              </a:extLst>
            </p:cNvPr>
            <p:cNvSpPr/>
            <p:nvPr/>
          </p:nvSpPr>
          <p:spPr>
            <a:xfrm>
              <a:off x="4973782" y="1491383"/>
              <a:ext cx="1122218" cy="3747679"/>
            </a:xfrm>
            <a:prstGeom prst="ellipse">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E3E0BBF8-C0C7-9EB2-E396-7FA4F966E2E7}"/>
                </a:ext>
              </a:extLst>
            </p:cNvPr>
            <p:cNvSpPr txBox="1"/>
            <p:nvPr/>
          </p:nvSpPr>
          <p:spPr>
            <a:xfrm>
              <a:off x="6147955" y="1958941"/>
              <a:ext cx="471054" cy="3108543"/>
            </a:xfrm>
            <a:prstGeom prst="rect">
              <a:avLst/>
            </a:prstGeom>
            <a:solidFill>
              <a:schemeClr val="bg1">
                <a:lumMod val="95000"/>
              </a:schemeClr>
            </a:solidFill>
          </p:spPr>
          <p:txBody>
            <a:bodyPr wrap="square" rtlCol="0">
              <a:spAutoFit/>
            </a:bodyPr>
            <a:lstStyle/>
            <a:p>
              <a:r>
                <a:rPr lang="zh-CN" altLang="en-US" sz="2800" dirty="0">
                  <a:solidFill>
                    <a:srgbClr val="FF0000"/>
                  </a:solidFill>
                </a:rPr>
                <a:t>全</a:t>
              </a:r>
              <a:endParaRPr lang="en-US" altLang="zh-CN" sz="2800" dirty="0">
                <a:solidFill>
                  <a:srgbClr val="FF0000"/>
                </a:solidFill>
              </a:endParaRPr>
            </a:p>
            <a:p>
              <a:r>
                <a:rPr lang="zh-CN" altLang="en-US" sz="2800" dirty="0">
                  <a:solidFill>
                    <a:srgbClr val="FF0000"/>
                  </a:solidFill>
                </a:rPr>
                <a:t>部</a:t>
              </a:r>
              <a:endParaRPr lang="en-US" altLang="zh-CN" sz="2800" dirty="0">
                <a:solidFill>
                  <a:srgbClr val="FF0000"/>
                </a:solidFill>
              </a:endParaRPr>
            </a:p>
            <a:p>
              <a:r>
                <a:rPr lang="zh-CN" altLang="en-US" sz="2800" dirty="0">
                  <a:solidFill>
                    <a:srgbClr val="FF0000"/>
                  </a:solidFill>
                </a:rPr>
                <a:t>为</a:t>
              </a:r>
              <a:endParaRPr lang="en-US" altLang="zh-CN" sz="2800" dirty="0">
                <a:solidFill>
                  <a:srgbClr val="FF0000"/>
                </a:solidFill>
              </a:endParaRPr>
            </a:p>
            <a:p>
              <a:r>
                <a:rPr lang="zh-CN" altLang="en-US" sz="2800" dirty="0">
                  <a:solidFill>
                    <a:srgbClr val="FF0000"/>
                  </a:solidFill>
                </a:rPr>
                <a:t>绿</a:t>
              </a:r>
              <a:endParaRPr lang="en-US" altLang="zh-CN" sz="2800" dirty="0">
                <a:solidFill>
                  <a:srgbClr val="FF0000"/>
                </a:solidFill>
              </a:endParaRPr>
            </a:p>
            <a:p>
              <a:r>
                <a:rPr lang="zh-CN" altLang="en-US" sz="2800" dirty="0">
                  <a:solidFill>
                    <a:srgbClr val="FF0000"/>
                  </a:solidFill>
                </a:rPr>
                <a:t>色</a:t>
              </a:r>
              <a:endParaRPr lang="en-US" altLang="zh-CN" sz="2800" dirty="0">
                <a:solidFill>
                  <a:srgbClr val="FF0000"/>
                </a:solidFill>
              </a:endParaRPr>
            </a:p>
            <a:p>
              <a:r>
                <a:rPr lang="zh-CN" altLang="en-US" sz="2800" dirty="0">
                  <a:solidFill>
                    <a:srgbClr val="FF0000"/>
                  </a:solidFill>
                </a:rPr>
                <a:t>的</a:t>
              </a:r>
              <a:endParaRPr lang="en-US" altLang="zh-CN" sz="2800" dirty="0">
                <a:solidFill>
                  <a:srgbClr val="FF0000"/>
                </a:solidFill>
              </a:endParaRPr>
            </a:p>
            <a:p>
              <a:r>
                <a:rPr lang="zh-CN" altLang="en-US" sz="2800" dirty="0">
                  <a:solidFill>
                    <a:srgbClr val="FF0000"/>
                  </a:solidFill>
                </a:rPr>
                <a:t>勾</a:t>
              </a:r>
            </a:p>
          </p:txBody>
        </p:sp>
      </p:grpSp>
      <p:sp>
        <p:nvSpPr>
          <p:cNvPr id="3" name="内容占位符 2">
            <a:extLst>
              <a:ext uri="{FF2B5EF4-FFF2-40B4-BE49-F238E27FC236}">
                <a16:creationId xmlns:a16="http://schemas.microsoft.com/office/drawing/2014/main" id="{F9D97674-B419-82FF-2ABA-855DB87EC0A3}"/>
              </a:ext>
            </a:extLst>
          </p:cNvPr>
          <p:cNvSpPr>
            <a:spLocks noGrp="1"/>
          </p:cNvSpPr>
          <p:nvPr>
            <p:ph idx="1"/>
          </p:nvPr>
        </p:nvSpPr>
        <p:spPr>
          <a:xfrm>
            <a:off x="179020" y="1891091"/>
            <a:ext cx="5193079" cy="4852727"/>
          </a:xfrm>
        </p:spPr>
        <p:txBody>
          <a:bodyPr>
            <a:normAutofit/>
          </a:bodyPr>
          <a:lstStyle/>
          <a:p>
            <a:pPr marL="0" indent="0">
              <a:spcAft>
                <a:spcPts val="600"/>
              </a:spcAft>
              <a:buNone/>
            </a:pPr>
            <a:r>
              <a:rPr lang="en-US" altLang="zh-CN" dirty="0">
                <a:latin typeface="Times New Roman" panose="02020603050405020304" pitchFamily="18" charset="0"/>
                <a:cs typeface="Times New Roman" panose="02020603050405020304" pitchFamily="18" charset="0"/>
              </a:rPr>
              <a:t>5. </a:t>
            </a:r>
            <a:r>
              <a:rPr lang="zh-CN" altLang="en-US" dirty="0">
                <a:latin typeface="Times New Roman" panose="02020603050405020304" pitchFamily="18" charset="0"/>
                <a:cs typeface="Times New Roman" panose="02020603050405020304" pitchFamily="18" charset="0"/>
              </a:rPr>
              <a:t>导入原理图数据</a:t>
            </a:r>
            <a:endParaRPr lang="en-US" altLang="zh-CN" dirty="0">
              <a:latin typeface="Times New Roman" panose="02020603050405020304" pitchFamily="18" charset="0"/>
              <a:cs typeface="Times New Roman" panose="02020603050405020304" pitchFamily="18" charset="0"/>
            </a:endParaRPr>
          </a:p>
          <a:p>
            <a:pPr marL="0" indent="0">
              <a:spcAft>
                <a:spcPts val="600"/>
              </a:spcAft>
              <a:buNone/>
            </a:pPr>
            <a:r>
              <a:rPr lang="zh-CN" altLang="en-US" dirty="0">
                <a:latin typeface="Times New Roman" panose="02020603050405020304" pitchFamily="18" charset="0"/>
                <a:cs typeface="Times New Roman" panose="02020603050405020304" pitchFamily="18" charset="0"/>
              </a:rPr>
              <a:t>★点击“</a:t>
            </a:r>
            <a:r>
              <a:rPr lang="en-US" altLang="zh-CN" dirty="0">
                <a:latin typeface="Times New Roman" panose="02020603050405020304" pitchFamily="18" charset="0"/>
                <a:cs typeface="Times New Roman" panose="02020603050405020304" pitchFamily="18" charset="0"/>
              </a:rPr>
              <a:t>Execute Changes</a:t>
            </a:r>
            <a:r>
              <a:rPr lang="zh-CN" altLang="en-US"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marL="0" indent="0">
              <a:spcAft>
                <a:spcPts val="600"/>
              </a:spcAft>
              <a:buNone/>
            </a:pP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后应为全部绿色的勾，点击“</a:t>
            </a:r>
            <a:r>
              <a:rPr lang="en-US" altLang="zh-CN" dirty="0">
                <a:latin typeface="Times New Roman" panose="02020603050405020304" pitchFamily="18" charset="0"/>
                <a:cs typeface="Times New Roman" panose="02020603050405020304" pitchFamily="18" charset="0"/>
              </a:rPr>
              <a:t>Close</a:t>
            </a:r>
            <a:r>
              <a:rPr lang="zh-CN" altLang="en-US"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marL="0" indent="0">
              <a:spcAft>
                <a:spcPts val="600"/>
              </a:spcAft>
              <a:buNone/>
            </a:pPr>
            <a:r>
              <a:rPr lang="zh-CN" altLang="en-US" dirty="0">
                <a:latin typeface="Times New Roman" panose="02020603050405020304" pitchFamily="18" charset="0"/>
                <a:cs typeface="Times New Roman" panose="02020603050405020304" pitchFamily="18" charset="0"/>
              </a:rPr>
              <a:t>★如果有红色的</a:t>
            </a:r>
            <a:r>
              <a:rPr lang="en-US" altLang="zh-CN" dirty="0">
                <a:solidFill>
                  <a:srgbClr val="FF0000"/>
                </a:solidFill>
                <a:latin typeface="Times New Roman" panose="02020603050405020304" pitchFamily="18" charset="0"/>
                <a:cs typeface="Times New Roman" panose="02020603050405020304" pitchFamily="18" charset="0"/>
              </a:rPr>
              <a:t>X</a:t>
            </a:r>
            <a:r>
              <a:rPr lang="zh-CN" altLang="en-US" dirty="0">
                <a:latin typeface="Times New Roman" panose="02020603050405020304" pitchFamily="18" charset="0"/>
                <a:cs typeface="Times New Roman" panose="02020603050405020304" pitchFamily="18" charset="0"/>
              </a:rPr>
              <a:t>，则需要根据</a:t>
            </a:r>
            <a:r>
              <a:rPr lang="en-US" altLang="zh-CN" dirty="0">
                <a:solidFill>
                  <a:srgbClr val="FF0000"/>
                </a:solidFill>
                <a:latin typeface="Times New Roman" panose="02020603050405020304" pitchFamily="18" charset="0"/>
                <a:cs typeface="Times New Roman" panose="02020603050405020304" pitchFamily="18" charset="0"/>
              </a:rPr>
              <a:t>X</a:t>
            </a:r>
            <a:r>
              <a:rPr lang="zh-CN" altLang="en-US" dirty="0">
                <a:latin typeface="Times New Roman" panose="02020603050405020304" pitchFamily="18" charset="0"/>
                <a:cs typeface="Times New Roman" panose="02020603050405020304" pitchFamily="18" charset="0"/>
              </a:rPr>
              <a:t>后面的信息，返回原理图进行修改，直到没有</a:t>
            </a:r>
            <a:r>
              <a:rPr lang="en-US" altLang="zh-CN" dirty="0">
                <a:solidFill>
                  <a:srgbClr val="FF0000"/>
                </a:solidFill>
                <a:latin typeface="Times New Roman" panose="02020603050405020304" pitchFamily="18" charset="0"/>
                <a:cs typeface="Times New Roman" panose="02020603050405020304" pitchFamily="18" charset="0"/>
              </a:rPr>
              <a:t>X</a:t>
            </a:r>
            <a:r>
              <a:rPr lang="zh-CN" altLang="en-US"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p:txBody>
      </p:sp>
      <p:sp>
        <p:nvSpPr>
          <p:cNvPr id="2" name="文本框 1">
            <a:extLst>
              <a:ext uri="{FF2B5EF4-FFF2-40B4-BE49-F238E27FC236}">
                <a16:creationId xmlns:a16="http://schemas.microsoft.com/office/drawing/2014/main" id="{05FE09F0-9308-45B3-4057-B95BEFE9AC1B}"/>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使用</a:t>
            </a:r>
            <a:r>
              <a:rPr lang="en-US" altLang="zh-CN" sz="4000" dirty="0">
                <a:solidFill>
                  <a:schemeClr val="accent1">
                    <a:lumMod val="75000"/>
                  </a:schemeClr>
                </a:solidFill>
                <a:latin typeface="Arial Black" panose="020B0A04020102020204" pitchFamily="34" charset="0"/>
                <a:ea typeface="黑体" panose="02010609060101010101" pitchFamily="49" charset="-122"/>
              </a:rPr>
              <a:t>AD</a:t>
            </a:r>
            <a:r>
              <a:rPr lang="zh-CN" altLang="en-US" sz="4000" dirty="0">
                <a:solidFill>
                  <a:schemeClr val="accent1">
                    <a:lumMod val="75000"/>
                  </a:schemeClr>
                </a:solidFill>
                <a:latin typeface="黑体" panose="02010609060101010101" pitchFamily="49" charset="-122"/>
                <a:ea typeface="黑体" panose="02010609060101010101" pitchFamily="49" charset="-122"/>
              </a:rPr>
              <a:t>设计印刷电路板图</a:t>
            </a:r>
            <a:endParaRPr lang="zh-CN" altLang="en-US" sz="4000" dirty="0">
              <a:solidFill>
                <a:srgbClr val="003F88"/>
              </a:solidFill>
              <a:latin typeface="黑体" panose="02010609060101010101" pitchFamily="49" charset="-122"/>
              <a:ea typeface="黑体" panose="02010609060101010101" pitchFamily="49" charset="-122"/>
            </a:endParaRPr>
          </a:p>
        </p:txBody>
      </p:sp>
      <p:sp>
        <p:nvSpPr>
          <p:cNvPr id="9" name="矩形 8">
            <a:extLst>
              <a:ext uri="{FF2B5EF4-FFF2-40B4-BE49-F238E27FC236}">
                <a16:creationId xmlns:a16="http://schemas.microsoft.com/office/drawing/2014/main" id="{536A03FA-957E-617E-A56F-982A82080A46}"/>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415103889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453DD-2879-EF3F-D558-B9F7353CAE7F}"/>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94D92025-0C59-1443-2E7A-FED751D09A46}"/>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使用</a:t>
            </a:r>
            <a:r>
              <a:rPr lang="en-US" altLang="zh-CN" sz="4000" dirty="0">
                <a:solidFill>
                  <a:schemeClr val="accent1">
                    <a:lumMod val="75000"/>
                  </a:schemeClr>
                </a:solidFill>
                <a:latin typeface="Arial Black" panose="020B0A04020102020204" pitchFamily="34" charset="0"/>
                <a:ea typeface="黑体" panose="02010609060101010101" pitchFamily="49" charset="-122"/>
              </a:rPr>
              <a:t>AD</a:t>
            </a:r>
            <a:r>
              <a:rPr lang="zh-CN" altLang="en-US" sz="4000" dirty="0">
                <a:solidFill>
                  <a:schemeClr val="accent1">
                    <a:lumMod val="75000"/>
                  </a:schemeClr>
                </a:solidFill>
                <a:latin typeface="黑体" panose="02010609060101010101" pitchFamily="49" charset="-122"/>
                <a:ea typeface="黑体" panose="02010609060101010101" pitchFamily="49" charset="-122"/>
              </a:rPr>
              <a:t>设计印刷电路板图</a:t>
            </a:r>
            <a:endParaRPr lang="zh-CN" altLang="en-US" sz="4000" dirty="0">
              <a:solidFill>
                <a:srgbClr val="003F88"/>
              </a:solidFill>
              <a:latin typeface="黑体" panose="02010609060101010101" pitchFamily="49" charset="-122"/>
              <a:ea typeface="黑体" panose="02010609060101010101" pitchFamily="49" charset="-122"/>
            </a:endParaRPr>
          </a:p>
        </p:txBody>
      </p:sp>
      <p:sp>
        <p:nvSpPr>
          <p:cNvPr id="9" name="矩形 8">
            <a:extLst>
              <a:ext uri="{FF2B5EF4-FFF2-40B4-BE49-F238E27FC236}">
                <a16:creationId xmlns:a16="http://schemas.microsoft.com/office/drawing/2014/main" id="{851271BD-E483-E80E-661F-D576F61957C8}"/>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内容占位符 2">
            <a:extLst>
              <a:ext uri="{FF2B5EF4-FFF2-40B4-BE49-F238E27FC236}">
                <a16:creationId xmlns:a16="http://schemas.microsoft.com/office/drawing/2014/main" id="{F9D97674-B419-82FF-2ABA-855DB87EC0A3}"/>
              </a:ext>
            </a:extLst>
          </p:cNvPr>
          <p:cNvSpPr>
            <a:spLocks noGrp="1"/>
          </p:cNvSpPr>
          <p:nvPr>
            <p:ph idx="1"/>
          </p:nvPr>
        </p:nvSpPr>
        <p:spPr>
          <a:xfrm>
            <a:off x="838200" y="1825624"/>
            <a:ext cx="4606636" cy="4852727"/>
          </a:xfrm>
        </p:spPr>
        <p:txBody>
          <a:bodyPr>
            <a:normAutofit/>
          </a:bodyPr>
          <a:lstStyle/>
          <a:p>
            <a:pPr marL="0" indent="0">
              <a:spcAft>
                <a:spcPts val="600"/>
              </a:spcAft>
              <a:buNone/>
            </a:pPr>
            <a:r>
              <a:rPr lang="en-US" altLang="zh-CN" dirty="0">
                <a:latin typeface="Times New Roman" panose="02020603050405020304" pitchFamily="18" charset="0"/>
                <a:cs typeface="Times New Roman" panose="02020603050405020304" pitchFamily="18" charset="0"/>
              </a:rPr>
              <a:t>6. </a:t>
            </a:r>
            <a:r>
              <a:rPr lang="zh-CN" altLang="en-US" dirty="0">
                <a:latin typeface="Times New Roman" panose="02020603050405020304" pitchFamily="18" charset="0"/>
                <a:cs typeface="Times New Roman" panose="02020603050405020304" pitchFamily="18" charset="0"/>
              </a:rPr>
              <a:t>合理放置元件（布局）</a:t>
            </a:r>
            <a:endParaRPr lang="en-US" altLang="zh-CN" dirty="0">
              <a:latin typeface="Times New Roman" panose="02020603050405020304" pitchFamily="18" charset="0"/>
              <a:cs typeface="Times New Roman" panose="02020603050405020304" pitchFamily="18" charset="0"/>
            </a:endParaRPr>
          </a:p>
          <a:p>
            <a:pPr marL="0" indent="0">
              <a:spcAft>
                <a:spcPts val="600"/>
              </a:spcAft>
              <a:buNone/>
            </a:pPr>
            <a:r>
              <a:rPr lang="zh-CN" altLang="en-US" dirty="0">
                <a:latin typeface="Times New Roman" panose="02020603050405020304" pitchFamily="18" charset="0"/>
                <a:cs typeface="Times New Roman" panose="02020603050405020304" pitchFamily="18" charset="0"/>
              </a:rPr>
              <a:t>★执行“</a:t>
            </a:r>
            <a:r>
              <a:rPr lang="en-US" altLang="zh-CN" dirty="0">
                <a:latin typeface="Times New Roman" panose="02020603050405020304" pitchFamily="18" charset="0"/>
                <a:cs typeface="Times New Roman" panose="02020603050405020304" pitchFamily="18" charset="0"/>
              </a:rPr>
              <a:t>Execute Changes</a:t>
            </a:r>
            <a:r>
              <a:rPr lang="zh-CN" altLang="en-US"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marL="0" indent="0">
              <a:spcAft>
                <a:spcPts val="600"/>
              </a:spcAft>
              <a:buNone/>
            </a:pPr>
            <a:r>
              <a:rPr lang="zh-CN" altLang="en-US" dirty="0">
                <a:latin typeface="Times New Roman" panose="02020603050405020304" pitchFamily="18" charset="0"/>
                <a:cs typeface="Times New Roman" panose="02020603050405020304" pitchFamily="18" charset="0"/>
              </a:rPr>
              <a:t>导入后所有的原件都自动调入了</a:t>
            </a:r>
            <a:r>
              <a:rPr lang="en-US" altLang="zh-CN" dirty="0">
                <a:latin typeface="Times New Roman" panose="02020603050405020304" pitchFamily="18" charset="0"/>
                <a:cs typeface="Times New Roman" panose="02020603050405020304" pitchFamily="18" charset="0"/>
              </a:rPr>
              <a:t>PCB</a:t>
            </a:r>
            <a:r>
              <a:rPr lang="zh-CN" altLang="en-US" dirty="0">
                <a:latin typeface="Times New Roman" panose="02020603050405020304" pitchFamily="18" charset="0"/>
                <a:cs typeface="Times New Roman" panose="02020603050405020304" pitchFamily="18" charset="0"/>
              </a:rPr>
              <a:t>板中。</a:t>
            </a:r>
            <a:endParaRPr lang="en-US" altLang="zh-CN" dirty="0">
              <a:latin typeface="Times New Roman" panose="02020603050405020304" pitchFamily="18" charset="0"/>
              <a:cs typeface="Times New Roman" panose="02020603050405020304" pitchFamily="18" charset="0"/>
            </a:endParaRPr>
          </a:p>
          <a:p>
            <a:pPr marL="0" indent="0">
              <a:spcAft>
                <a:spcPts val="600"/>
              </a:spcAft>
              <a:buNone/>
            </a:pPr>
            <a:r>
              <a:rPr lang="zh-CN" altLang="en-US" dirty="0">
                <a:latin typeface="Times New Roman" panose="02020603050405020304" pitchFamily="18" charset="0"/>
                <a:cs typeface="Times New Roman" panose="02020603050405020304" pitchFamily="18" charset="0"/>
              </a:rPr>
              <a:t>★把所有元件拖入预设电路板中，并合理的放置位置。</a:t>
            </a:r>
            <a:endParaRPr lang="en-US" altLang="zh-CN" dirty="0">
              <a:latin typeface="Times New Roman" panose="02020603050405020304" pitchFamily="18" charset="0"/>
              <a:cs typeface="Times New Roman" panose="02020603050405020304" pitchFamily="18" charset="0"/>
            </a:endParaRPr>
          </a:p>
          <a:p>
            <a:pPr marL="0" indent="0">
              <a:buNone/>
            </a:pPr>
            <a:r>
              <a:rPr lang="zh-CN" altLang="en-US" dirty="0">
                <a:solidFill>
                  <a:srgbClr val="FF0000"/>
                </a:solidFill>
                <a:latin typeface="Times New Roman" panose="02020603050405020304" pitchFamily="18" charset="0"/>
                <a:cs typeface="Times New Roman" panose="02020603050405020304" pitchFamily="18" charset="0"/>
              </a:rPr>
              <a:t>快捷键 </a:t>
            </a:r>
            <a:endParaRPr lang="en-US" altLang="zh-CN" dirty="0">
              <a:solidFill>
                <a:srgbClr val="FF0000"/>
              </a:solidFill>
              <a:latin typeface="Times New Roman" panose="02020603050405020304" pitchFamily="18" charset="0"/>
              <a:cs typeface="Times New Roman" panose="02020603050405020304" pitchFamily="18" charset="0"/>
            </a:endParaRPr>
          </a:p>
          <a:p>
            <a:pPr marL="0" indent="0">
              <a:spcBef>
                <a:spcPts val="0"/>
              </a:spcBef>
              <a:spcAft>
                <a:spcPts val="600"/>
              </a:spcAft>
              <a:buNone/>
            </a:pPr>
            <a:r>
              <a:rPr lang="zh-CN" altLang="en-US" dirty="0">
                <a:solidFill>
                  <a:srgbClr val="FF0000"/>
                </a:solidFill>
                <a:latin typeface="Times New Roman" panose="02020603050405020304" pitchFamily="18" charset="0"/>
                <a:cs typeface="Times New Roman" panose="02020603050405020304" pitchFamily="18" charset="0"/>
              </a:rPr>
              <a:t>放大：</a:t>
            </a:r>
            <a:r>
              <a:rPr lang="en-US" altLang="zh-CN" dirty="0" err="1">
                <a:solidFill>
                  <a:srgbClr val="FF0000"/>
                </a:solidFill>
                <a:latin typeface="Times New Roman" panose="02020603050405020304" pitchFamily="18" charset="0"/>
                <a:cs typeface="Times New Roman" panose="02020603050405020304" pitchFamily="18" charset="0"/>
              </a:rPr>
              <a:t>PgUp</a:t>
            </a:r>
            <a:endParaRPr lang="en-US" altLang="zh-CN" dirty="0">
              <a:solidFill>
                <a:srgbClr val="FF0000"/>
              </a:solidFill>
              <a:latin typeface="Times New Roman" panose="02020603050405020304" pitchFamily="18" charset="0"/>
              <a:cs typeface="Times New Roman" panose="02020603050405020304" pitchFamily="18" charset="0"/>
            </a:endParaRPr>
          </a:p>
          <a:p>
            <a:pPr marL="0" indent="0">
              <a:spcBef>
                <a:spcPts val="0"/>
              </a:spcBef>
              <a:spcAft>
                <a:spcPts val="600"/>
              </a:spcAft>
              <a:buNone/>
            </a:pPr>
            <a:r>
              <a:rPr lang="zh-CN" altLang="en-US" dirty="0">
                <a:solidFill>
                  <a:srgbClr val="FF0000"/>
                </a:solidFill>
                <a:latin typeface="Times New Roman" panose="02020603050405020304" pitchFamily="18" charset="0"/>
                <a:cs typeface="Times New Roman" panose="02020603050405020304" pitchFamily="18" charset="0"/>
              </a:rPr>
              <a:t>缩小：</a:t>
            </a:r>
            <a:r>
              <a:rPr lang="en-US" altLang="zh-CN" dirty="0" err="1">
                <a:solidFill>
                  <a:srgbClr val="FF0000"/>
                </a:solidFill>
                <a:latin typeface="Times New Roman" panose="02020603050405020304" pitchFamily="18" charset="0"/>
                <a:cs typeface="Times New Roman" panose="02020603050405020304" pitchFamily="18" charset="0"/>
              </a:rPr>
              <a:t>PgDn</a:t>
            </a:r>
            <a:endParaRPr lang="en-US" altLang="zh-CN" dirty="0">
              <a:solidFill>
                <a:srgbClr val="FF0000"/>
              </a:solidFill>
              <a:latin typeface="Times New Roman" panose="02020603050405020304" pitchFamily="18" charset="0"/>
              <a:cs typeface="Times New Roman" panose="02020603050405020304" pitchFamily="18" charset="0"/>
            </a:endParaRPr>
          </a:p>
        </p:txBody>
      </p:sp>
      <p:pic>
        <p:nvPicPr>
          <p:cNvPr id="23" name="图片 22">
            <a:extLst>
              <a:ext uri="{FF2B5EF4-FFF2-40B4-BE49-F238E27FC236}">
                <a16:creationId xmlns:a16="http://schemas.microsoft.com/office/drawing/2014/main" id="{6D1E869C-FD9C-088A-4040-FC9B6F5B64CD}"/>
              </a:ext>
            </a:extLst>
          </p:cNvPr>
          <p:cNvPicPr>
            <a:picLocks noChangeAspect="1"/>
          </p:cNvPicPr>
          <p:nvPr/>
        </p:nvPicPr>
        <p:blipFill>
          <a:blip r:embed="rId3"/>
          <a:stretch>
            <a:fillRect/>
          </a:stretch>
        </p:blipFill>
        <p:spPr>
          <a:xfrm>
            <a:off x="5444836" y="1600285"/>
            <a:ext cx="6978174" cy="4087768"/>
          </a:xfrm>
          <a:prstGeom prst="rect">
            <a:avLst/>
          </a:prstGeom>
        </p:spPr>
      </p:pic>
    </p:spTree>
    <p:extLst>
      <p:ext uri="{BB962C8B-B14F-4D97-AF65-F5344CB8AC3E}">
        <p14:creationId xmlns:p14="http://schemas.microsoft.com/office/powerpoint/2010/main" val="24509596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453DD-2879-EF3F-D558-B9F7353CAE7F}"/>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B407FB35-6FAF-A215-ACBE-57F6C4220B16}"/>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使用</a:t>
            </a:r>
            <a:r>
              <a:rPr lang="en-US" altLang="zh-CN" sz="4000" dirty="0">
                <a:solidFill>
                  <a:schemeClr val="accent1">
                    <a:lumMod val="75000"/>
                  </a:schemeClr>
                </a:solidFill>
                <a:latin typeface="Arial Black" panose="020B0A04020102020204" pitchFamily="34" charset="0"/>
                <a:ea typeface="黑体" panose="02010609060101010101" pitchFamily="49" charset="-122"/>
              </a:rPr>
              <a:t>AD</a:t>
            </a:r>
            <a:r>
              <a:rPr lang="zh-CN" altLang="en-US" sz="4000" dirty="0">
                <a:solidFill>
                  <a:schemeClr val="accent1">
                    <a:lumMod val="75000"/>
                  </a:schemeClr>
                </a:solidFill>
                <a:latin typeface="黑体" panose="02010609060101010101" pitchFamily="49" charset="-122"/>
                <a:ea typeface="黑体" panose="02010609060101010101" pitchFamily="49" charset="-122"/>
              </a:rPr>
              <a:t>设计印刷电路板图</a:t>
            </a:r>
            <a:endParaRPr lang="zh-CN" altLang="en-US" sz="4000" dirty="0">
              <a:solidFill>
                <a:srgbClr val="003F88"/>
              </a:solidFill>
              <a:latin typeface="黑体" panose="02010609060101010101" pitchFamily="49" charset="-122"/>
              <a:ea typeface="黑体" panose="02010609060101010101" pitchFamily="49" charset="-122"/>
            </a:endParaRPr>
          </a:p>
        </p:txBody>
      </p:sp>
      <p:sp>
        <p:nvSpPr>
          <p:cNvPr id="9" name="矩形 8">
            <a:extLst>
              <a:ext uri="{FF2B5EF4-FFF2-40B4-BE49-F238E27FC236}">
                <a16:creationId xmlns:a16="http://schemas.microsoft.com/office/drawing/2014/main" id="{1ADA9E85-900A-4ADB-2737-774FD26A9CE4}"/>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内容占位符 2">
            <a:extLst>
              <a:ext uri="{FF2B5EF4-FFF2-40B4-BE49-F238E27FC236}">
                <a16:creationId xmlns:a16="http://schemas.microsoft.com/office/drawing/2014/main" id="{F9D97674-B419-82FF-2ABA-855DB87EC0A3}"/>
              </a:ext>
            </a:extLst>
          </p:cNvPr>
          <p:cNvSpPr>
            <a:spLocks noGrp="1"/>
          </p:cNvSpPr>
          <p:nvPr>
            <p:ph idx="1"/>
          </p:nvPr>
        </p:nvSpPr>
        <p:spPr>
          <a:xfrm>
            <a:off x="838200" y="1825624"/>
            <a:ext cx="4606636" cy="4852727"/>
          </a:xfrm>
        </p:spPr>
        <p:txBody>
          <a:bodyPr>
            <a:normAutofit/>
          </a:bodyPr>
          <a:lstStyle/>
          <a:p>
            <a:pPr marL="0" indent="0">
              <a:spcAft>
                <a:spcPts val="600"/>
              </a:spcAft>
              <a:buNone/>
            </a:pPr>
            <a:r>
              <a:rPr lang="en-US" altLang="zh-CN" dirty="0">
                <a:latin typeface="Times New Roman" panose="02020603050405020304" pitchFamily="18" charset="0"/>
                <a:cs typeface="Times New Roman" panose="02020603050405020304" pitchFamily="18" charset="0"/>
              </a:rPr>
              <a:t>6. </a:t>
            </a:r>
            <a:r>
              <a:rPr lang="zh-CN" altLang="en-US" dirty="0">
                <a:latin typeface="Times New Roman" panose="02020603050405020304" pitchFamily="18" charset="0"/>
                <a:cs typeface="Times New Roman" panose="02020603050405020304" pitchFamily="18" charset="0"/>
              </a:rPr>
              <a:t>合理放置元件（布局）</a:t>
            </a:r>
            <a:endParaRPr lang="en-US" altLang="zh-CN" dirty="0">
              <a:latin typeface="Times New Roman" panose="02020603050405020304" pitchFamily="18" charset="0"/>
              <a:cs typeface="Times New Roman" panose="02020603050405020304" pitchFamily="18" charset="0"/>
            </a:endParaRPr>
          </a:p>
          <a:p>
            <a:pPr marL="0" indent="0">
              <a:spcAft>
                <a:spcPts val="600"/>
              </a:spcAft>
              <a:buNone/>
            </a:pPr>
            <a:r>
              <a:rPr lang="zh-CN" altLang="en-US" dirty="0">
                <a:latin typeface="Times New Roman" panose="02020603050405020304" pitchFamily="18" charset="0"/>
                <a:cs typeface="Times New Roman" panose="02020603050405020304" pitchFamily="18" charset="0"/>
              </a:rPr>
              <a:t>★元件布局至关重要，布局合理可提高导线布通率，提高电路性能和抗干扰能力。</a:t>
            </a:r>
            <a:endParaRPr lang="en-US" altLang="zh-CN" dirty="0">
              <a:latin typeface="Times New Roman" panose="02020603050405020304" pitchFamily="18" charset="0"/>
              <a:cs typeface="Times New Roman" panose="02020603050405020304" pitchFamily="18" charset="0"/>
            </a:endParaRPr>
          </a:p>
          <a:p>
            <a:pPr marL="0" indent="0">
              <a:spcAft>
                <a:spcPts val="600"/>
              </a:spcAft>
              <a:buNone/>
            </a:pPr>
            <a:r>
              <a:rPr lang="zh-CN" altLang="en-US" dirty="0">
                <a:latin typeface="Times New Roman" panose="02020603050405020304" pitchFamily="18" charset="0"/>
                <a:cs typeface="Times New Roman" panose="02020603050405020304" pitchFamily="18" charset="0"/>
              </a:rPr>
              <a:t>★放置元件时，元件放置在栅格点上，排列整齐，间距合适尽量靠近，飞线尽量短且交叉少。</a:t>
            </a:r>
            <a:endParaRPr lang="en-US" altLang="zh-CN" dirty="0">
              <a:latin typeface="Times New Roman" panose="02020603050405020304" pitchFamily="18" charset="0"/>
              <a:cs typeface="Times New Roman" panose="02020603050405020304" pitchFamily="18" charset="0"/>
            </a:endParaRPr>
          </a:p>
          <a:p>
            <a:pPr marL="0" indent="0">
              <a:spcAft>
                <a:spcPts val="600"/>
              </a:spcAft>
              <a:buNone/>
            </a:pPr>
            <a:r>
              <a:rPr lang="zh-CN" altLang="en-US" dirty="0">
                <a:latin typeface="Times New Roman" panose="02020603050405020304" pitchFamily="18" charset="0"/>
                <a:cs typeface="Times New Roman" panose="02020603050405020304" pitchFamily="18" charset="0"/>
              </a:rPr>
              <a:t>★需要反复调整元件位置才能获得满意的布局。</a:t>
            </a:r>
            <a:endParaRPr lang="en-US" altLang="zh-CN" dirty="0">
              <a:latin typeface="Times New Roman" panose="02020603050405020304" pitchFamily="18" charset="0"/>
              <a:cs typeface="Times New Roman" panose="02020603050405020304" pitchFamily="18" charset="0"/>
            </a:endParaRPr>
          </a:p>
        </p:txBody>
      </p:sp>
      <p:pic>
        <p:nvPicPr>
          <p:cNvPr id="11" name="图片 10">
            <a:extLst>
              <a:ext uri="{FF2B5EF4-FFF2-40B4-BE49-F238E27FC236}">
                <a16:creationId xmlns:a16="http://schemas.microsoft.com/office/drawing/2014/main" id="{C2D6304A-5F99-C2BF-C587-D8504F128D0F}"/>
              </a:ext>
            </a:extLst>
          </p:cNvPr>
          <p:cNvPicPr>
            <a:picLocks noChangeAspect="1"/>
          </p:cNvPicPr>
          <p:nvPr/>
        </p:nvPicPr>
        <p:blipFill>
          <a:blip r:embed="rId3"/>
          <a:stretch>
            <a:fillRect/>
          </a:stretch>
        </p:blipFill>
        <p:spPr>
          <a:xfrm>
            <a:off x="5222913" y="522958"/>
            <a:ext cx="6686412" cy="6076264"/>
          </a:xfrm>
          <a:prstGeom prst="rect">
            <a:avLst/>
          </a:prstGeom>
        </p:spPr>
      </p:pic>
    </p:spTree>
    <p:extLst>
      <p:ext uri="{BB962C8B-B14F-4D97-AF65-F5344CB8AC3E}">
        <p14:creationId xmlns:p14="http://schemas.microsoft.com/office/powerpoint/2010/main" val="297120126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453DD-2879-EF3F-D558-B9F7353CAE7F}"/>
            </a:ext>
          </a:extLst>
        </p:cNvPr>
        <p:cNvGrpSpPr/>
        <p:nvPr/>
      </p:nvGrpSpPr>
      <p:grpSpPr>
        <a:xfrm>
          <a:off x="0" y="0"/>
          <a:ext cx="0" cy="0"/>
          <a:chOff x="0" y="0"/>
          <a:chExt cx="0" cy="0"/>
        </a:xfrm>
      </p:grpSpPr>
      <p:sp>
        <p:nvSpPr>
          <p:cNvPr id="10" name="文本框 9">
            <a:extLst>
              <a:ext uri="{FF2B5EF4-FFF2-40B4-BE49-F238E27FC236}">
                <a16:creationId xmlns:a16="http://schemas.microsoft.com/office/drawing/2014/main" id="{188579B1-6DEC-36D1-57F2-34DDA92A024C}"/>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使用</a:t>
            </a:r>
            <a:r>
              <a:rPr lang="en-US" altLang="zh-CN" sz="4000" dirty="0">
                <a:solidFill>
                  <a:schemeClr val="accent1">
                    <a:lumMod val="75000"/>
                  </a:schemeClr>
                </a:solidFill>
                <a:latin typeface="Arial Black" panose="020B0A04020102020204" pitchFamily="34" charset="0"/>
                <a:ea typeface="黑体" panose="02010609060101010101" pitchFamily="49" charset="-122"/>
              </a:rPr>
              <a:t>AD</a:t>
            </a:r>
            <a:r>
              <a:rPr lang="zh-CN" altLang="en-US" sz="4000" dirty="0">
                <a:solidFill>
                  <a:schemeClr val="accent1">
                    <a:lumMod val="75000"/>
                  </a:schemeClr>
                </a:solidFill>
                <a:latin typeface="黑体" panose="02010609060101010101" pitchFamily="49" charset="-122"/>
                <a:ea typeface="黑体" panose="02010609060101010101" pitchFamily="49" charset="-122"/>
              </a:rPr>
              <a:t>设计印刷电路板图</a:t>
            </a:r>
            <a:endParaRPr lang="zh-CN" altLang="en-US" sz="4000" dirty="0">
              <a:solidFill>
                <a:srgbClr val="003F88"/>
              </a:solidFill>
              <a:latin typeface="黑体" panose="02010609060101010101" pitchFamily="49" charset="-122"/>
              <a:ea typeface="黑体" panose="02010609060101010101" pitchFamily="49" charset="-122"/>
            </a:endParaRPr>
          </a:p>
        </p:txBody>
      </p:sp>
      <p:sp>
        <p:nvSpPr>
          <p:cNvPr id="12" name="矩形 11">
            <a:extLst>
              <a:ext uri="{FF2B5EF4-FFF2-40B4-BE49-F238E27FC236}">
                <a16:creationId xmlns:a16="http://schemas.microsoft.com/office/drawing/2014/main" id="{A6397BE6-4DE9-F7FA-943E-C812D1C95A2D}"/>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3" name="图片 12">
            <a:extLst>
              <a:ext uri="{FF2B5EF4-FFF2-40B4-BE49-F238E27FC236}">
                <a16:creationId xmlns:a16="http://schemas.microsoft.com/office/drawing/2014/main" id="{BF53D86E-0B18-F5BD-57A6-E77222B25E9C}"/>
              </a:ext>
            </a:extLst>
          </p:cNvPr>
          <p:cNvPicPr>
            <a:picLocks noChangeAspect="1"/>
          </p:cNvPicPr>
          <p:nvPr/>
        </p:nvPicPr>
        <p:blipFill>
          <a:blip r:embed="rId3"/>
          <a:stretch>
            <a:fillRect/>
          </a:stretch>
        </p:blipFill>
        <p:spPr>
          <a:xfrm>
            <a:off x="6181526" y="768458"/>
            <a:ext cx="3895234" cy="5971445"/>
          </a:xfrm>
          <a:prstGeom prst="rect">
            <a:avLst/>
          </a:prstGeom>
        </p:spPr>
      </p:pic>
      <p:sp>
        <p:nvSpPr>
          <p:cNvPr id="3" name="内容占位符 2">
            <a:extLst>
              <a:ext uri="{FF2B5EF4-FFF2-40B4-BE49-F238E27FC236}">
                <a16:creationId xmlns:a16="http://schemas.microsoft.com/office/drawing/2014/main" id="{F9D97674-B419-82FF-2ABA-855DB87EC0A3}"/>
              </a:ext>
            </a:extLst>
          </p:cNvPr>
          <p:cNvSpPr>
            <a:spLocks noGrp="1"/>
          </p:cNvSpPr>
          <p:nvPr>
            <p:ph idx="1"/>
          </p:nvPr>
        </p:nvSpPr>
        <p:spPr>
          <a:xfrm>
            <a:off x="838200" y="1825624"/>
            <a:ext cx="6021052" cy="4852727"/>
          </a:xfrm>
        </p:spPr>
        <p:txBody>
          <a:bodyPr>
            <a:normAutofit/>
          </a:bodyPr>
          <a:lstStyle/>
          <a:p>
            <a:pPr marL="0" indent="0">
              <a:lnSpc>
                <a:spcPct val="110000"/>
              </a:lnSpc>
              <a:spcAft>
                <a:spcPts val="600"/>
              </a:spcAft>
              <a:buNone/>
            </a:pPr>
            <a:r>
              <a:rPr lang="en-US" altLang="zh-CN" dirty="0">
                <a:latin typeface="Times New Roman" panose="02020603050405020304" pitchFamily="18" charset="0"/>
                <a:cs typeface="Times New Roman" panose="02020603050405020304" pitchFamily="18" charset="0"/>
              </a:rPr>
              <a:t>7. </a:t>
            </a:r>
            <a:r>
              <a:rPr lang="zh-CN" altLang="en-US" dirty="0">
                <a:latin typeface="Times New Roman" panose="02020603050405020304" pitchFamily="18" charset="0"/>
                <a:cs typeface="Times New Roman" panose="02020603050405020304" pitchFamily="18" charset="0"/>
              </a:rPr>
              <a:t>开始布线：</a:t>
            </a:r>
            <a:endParaRPr lang="en-US" altLang="zh-CN" dirty="0">
              <a:latin typeface="Times New Roman" panose="02020603050405020304" pitchFamily="18" charset="0"/>
              <a:cs typeface="Times New Roman" panose="02020603050405020304" pitchFamily="18" charset="0"/>
            </a:endParaRPr>
          </a:p>
          <a:p>
            <a:pPr marL="0" indent="0">
              <a:lnSpc>
                <a:spcPct val="110000"/>
              </a:lnSpc>
              <a:spcAft>
                <a:spcPts val="600"/>
              </a:spcAft>
              <a:buNone/>
            </a:pPr>
            <a:r>
              <a:rPr lang="en-US" altLang="zh-CN" b="1" dirty="0">
                <a:latin typeface="Times New Roman" panose="02020603050405020304" pitchFamily="18" charset="0"/>
                <a:ea typeface="黑体" panose="02010609060101010101" pitchFamily="49" charset="-122"/>
                <a:cs typeface="Times New Roman" panose="02020603050405020304" pitchFamily="18" charset="0"/>
              </a:rPr>
              <a:t>Step1</a:t>
            </a:r>
            <a:r>
              <a:rPr lang="zh-CN" altLang="en-US" b="1"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b="1" dirty="0">
                <a:solidFill>
                  <a:srgbClr val="FF0000"/>
                </a:solidFill>
                <a:latin typeface="黑体" panose="02010609060101010101" pitchFamily="49" charset="-122"/>
                <a:ea typeface="黑体" panose="02010609060101010101" pitchFamily="49" charset="-122"/>
                <a:cs typeface="Times New Roman" panose="02020603050405020304" pitchFamily="18" charset="0"/>
              </a:rPr>
              <a:t>选择布线层</a:t>
            </a:r>
            <a:endParaRPr lang="en-US" altLang="zh-CN" b="1" dirty="0">
              <a:solidFill>
                <a:srgbClr val="FF0000"/>
              </a:solidFill>
              <a:latin typeface="黑体" panose="02010609060101010101" pitchFamily="49" charset="-122"/>
              <a:ea typeface="黑体" panose="02010609060101010101" pitchFamily="49" charset="-122"/>
              <a:cs typeface="Times New Roman" panose="02020603050405020304" pitchFamily="18" charset="0"/>
            </a:endParaRPr>
          </a:p>
          <a:p>
            <a:pPr marL="0" indent="0">
              <a:lnSpc>
                <a:spcPct val="110000"/>
              </a:lnSpc>
              <a:spcAft>
                <a:spcPts val="600"/>
              </a:spcAft>
              <a:buNone/>
            </a:pPr>
            <a:r>
              <a:rPr lang="en-US" altLang="zh-CN" dirty="0">
                <a:latin typeface="Times New Roman" panose="02020603050405020304" pitchFamily="18" charset="0"/>
                <a:cs typeface="Times New Roman" panose="02020603050405020304" pitchFamily="18" charset="0"/>
              </a:rPr>
              <a:t>Step2</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Place</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a:t>
            </a:r>
            <a:r>
              <a:rPr lang="en-US" altLang="zh-CN" b="1" dirty="0">
                <a:solidFill>
                  <a:srgbClr val="FF0000"/>
                </a:solidFill>
                <a:latin typeface="Times New Roman" panose="02020603050405020304" pitchFamily="18" charset="0"/>
                <a:cs typeface="Times New Roman" panose="02020603050405020304" pitchFamily="18" charset="0"/>
              </a:rPr>
              <a:t>Interactive Routing</a:t>
            </a:r>
            <a:r>
              <a:rPr lang="zh-CN" altLang="en-US" dirty="0">
                <a:latin typeface="Times New Roman" panose="02020603050405020304" pitchFamily="18" charset="0"/>
                <a:cs typeface="Times New Roman" panose="02020603050405020304" pitchFamily="18" charset="0"/>
              </a:rPr>
              <a:t>”</a:t>
            </a:r>
          </a:p>
        </p:txBody>
      </p:sp>
      <p:sp>
        <p:nvSpPr>
          <p:cNvPr id="2" name="箭头: 下 1">
            <a:extLst>
              <a:ext uri="{FF2B5EF4-FFF2-40B4-BE49-F238E27FC236}">
                <a16:creationId xmlns:a16="http://schemas.microsoft.com/office/drawing/2014/main" id="{59877E22-1597-77CD-5594-B4EF0F247099}"/>
              </a:ext>
            </a:extLst>
          </p:cNvPr>
          <p:cNvSpPr/>
          <p:nvPr/>
        </p:nvSpPr>
        <p:spPr>
          <a:xfrm>
            <a:off x="8769064" y="6219983"/>
            <a:ext cx="413678" cy="360155"/>
          </a:xfrm>
          <a:prstGeom prst="down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F45F8D74-5F07-D28E-6764-2345DB704964}"/>
              </a:ext>
            </a:extLst>
          </p:cNvPr>
          <p:cNvSpPr txBox="1"/>
          <p:nvPr/>
        </p:nvSpPr>
        <p:spPr>
          <a:xfrm>
            <a:off x="8129143" y="5769178"/>
            <a:ext cx="2139714" cy="461665"/>
          </a:xfrm>
          <a:prstGeom prst="rect">
            <a:avLst/>
          </a:prstGeom>
          <a:solidFill>
            <a:schemeClr val="bg1">
              <a:lumMod val="95000"/>
            </a:schemeClr>
          </a:solidFill>
        </p:spPr>
        <p:txBody>
          <a:bodyPr wrap="square" rtlCol="0">
            <a:spAutoFit/>
          </a:bodyPr>
          <a:lstStyle/>
          <a:p>
            <a:r>
              <a:rPr lang="zh-CN" altLang="en-US" sz="2400" b="1" dirty="0">
                <a:solidFill>
                  <a:srgbClr val="FF0000"/>
                </a:solidFill>
                <a:highlight>
                  <a:srgbClr val="FFFF00"/>
                </a:highlight>
              </a:rPr>
              <a:t>选择布线层！！</a:t>
            </a:r>
          </a:p>
        </p:txBody>
      </p:sp>
      <p:sp>
        <p:nvSpPr>
          <p:cNvPr id="11" name="矩形: 圆角 10">
            <a:extLst>
              <a:ext uri="{FF2B5EF4-FFF2-40B4-BE49-F238E27FC236}">
                <a16:creationId xmlns:a16="http://schemas.microsoft.com/office/drawing/2014/main" id="{E6AD1471-8E64-B014-33B8-DFB0508729A7}"/>
              </a:ext>
            </a:extLst>
          </p:cNvPr>
          <p:cNvSpPr/>
          <p:nvPr/>
        </p:nvSpPr>
        <p:spPr>
          <a:xfrm>
            <a:off x="7753270" y="3163969"/>
            <a:ext cx="1934667" cy="22128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28170893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453DD-2879-EF3F-D558-B9F7353CAE7F}"/>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F9D97674-B419-82FF-2ABA-855DB87EC0A3}"/>
              </a:ext>
            </a:extLst>
          </p:cNvPr>
          <p:cNvSpPr>
            <a:spLocks noGrp="1"/>
          </p:cNvSpPr>
          <p:nvPr>
            <p:ph idx="1"/>
          </p:nvPr>
        </p:nvSpPr>
        <p:spPr>
          <a:xfrm>
            <a:off x="838200" y="1825624"/>
            <a:ext cx="4606636" cy="4852727"/>
          </a:xfrm>
        </p:spPr>
        <p:txBody>
          <a:bodyPr>
            <a:normAutofit fontScale="77500" lnSpcReduction="20000"/>
          </a:bodyPr>
          <a:lstStyle/>
          <a:p>
            <a:pPr marL="0" indent="0">
              <a:lnSpc>
                <a:spcPct val="110000"/>
              </a:lnSpc>
              <a:spcAft>
                <a:spcPts val="600"/>
              </a:spcAft>
              <a:buNone/>
            </a:pPr>
            <a:r>
              <a:rPr lang="en-US" altLang="zh-CN" dirty="0">
                <a:latin typeface="Times New Roman" panose="02020603050405020304" pitchFamily="18" charset="0"/>
                <a:cs typeface="Times New Roman" panose="02020603050405020304" pitchFamily="18" charset="0"/>
              </a:rPr>
              <a:t>7. </a:t>
            </a:r>
            <a:r>
              <a:rPr lang="zh-CN" altLang="en-US" dirty="0">
                <a:latin typeface="Times New Roman" panose="02020603050405020304" pitchFamily="18" charset="0"/>
                <a:cs typeface="Times New Roman" panose="02020603050405020304" pitchFamily="18" charset="0"/>
              </a:rPr>
              <a:t>开始布线</a:t>
            </a:r>
            <a:endParaRPr lang="en-US" altLang="zh-CN" dirty="0">
              <a:latin typeface="Times New Roman" panose="02020603050405020304" pitchFamily="18" charset="0"/>
              <a:cs typeface="Times New Roman" panose="02020603050405020304" pitchFamily="18" charset="0"/>
            </a:endParaRPr>
          </a:p>
          <a:p>
            <a:pPr marL="0" indent="0">
              <a:lnSpc>
                <a:spcPct val="110000"/>
              </a:lnSpc>
              <a:spcAft>
                <a:spcPts val="600"/>
              </a:spcAft>
              <a:buNone/>
            </a:pPr>
            <a:r>
              <a:rPr lang="zh-CN" altLang="en-US" dirty="0">
                <a:latin typeface="Times New Roman" panose="02020603050405020304" pitchFamily="18" charset="0"/>
                <a:cs typeface="Times New Roman" panose="02020603050405020304" pitchFamily="18" charset="0"/>
              </a:rPr>
              <a:t>★光标移到布线起点点击开始布线。</a:t>
            </a:r>
            <a:endParaRPr lang="en-US" altLang="zh-CN" dirty="0">
              <a:latin typeface="Times New Roman" panose="02020603050405020304" pitchFamily="18" charset="0"/>
              <a:cs typeface="Times New Roman" panose="02020603050405020304" pitchFamily="18" charset="0"/>
            </a:endParaRPr>
          </a:p>
          <a:p>
            <a:pPr marL="0" indent="0">
              <a:lnSpc>
                <a:spcPct val="110000"/>
              </a:lnSpc>
              <a:spcAft>
                <a:spcPts val="600"/>
              </a:spcAft>
              <a:buNone/>
            </a:pPr>
            <a:r>
              <a:rPr lang="zh-CN" altLang="en-US" dirty="0">
                <a:latin typeface="Times New Roman" panose="02020603050405020304" pitchFamily="18" charset="0"/>
                <a:cs typeface="Times New Roman" panose="02020603050405020304" pitchFamily="18" charset="0"/>
              </a:rPr>
              <a:t>★在布线状态下可随时按</a:t>
            </a:r>
            <a:r>
              <a:rPr lang="en-US" altLang="zh-CN" dirty="0">
                <a:latin typeface="Times New Roman" panose="02020603050405020304" pitchFamily="18" charset="0"/>
                <a:cs typeface="Times New Roman" panose="02020603050405020304" pitchFamily="18" charset="0"/>
              </a:rPr>
              <a:t>TAB</a:t>
            </a:r>
            <a:r>
              <a:rPr lang="zh-CN" altLang="en-US" dirty="0">
                <a:latin typeface="Times New Roman" panose="02020603050405020304" pitchFamily="18" charset="0"/>
                <a:cs typeface="Times New Roman" panose="02020603050405020304" pitchFamily="18" charset="0"/>
              </a:rPr>
              <a:t>键改变接下来的布线宽度。</a:t>
            </a:r>
            <a:endParaRPr lang="en-US" altLang="zh-CN" dirty="0">
              <a:latin typeface="Times New Roman" panose="02020603050405020304" pitchFamily="18" charset="0"/>
              <a:cs typeface="Times New Roman" panose="02020603050405020304" pitchFamily="18" charset="0"/>
            </a:endParaRPr>
          </a:p>
          <a:p>
            <a:pPr marL="0" indent="0">
              <a:lnSpc>
                <a:spcPct val="110000"/>
              </a:lnSpc>
              <a:spcAft>
                <a:spcPts val="600"/>
              </a:spcAft>
              <a:buNone/>
            </a:pPr>
            <a:r>
              <a:rPr lang="zh-CN" altLang="en-US" dirty="0">
                <a:latin typeface="Times New Roman" panose="02020603050405020304" pitchFamily="18" charset="0"/>
                <a:cs typeface="Times New Roman" panose="02020603050405020304" pitchFamily="18" charset="0"/>
              </a:rPr>
              <a:t>★可按小键盘的</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键或</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键随时切换布线层。</a:t>
            </a:r>
            <a:endParaRPr lang="en-US" altLang="zh-CN" dirty="0">
              <a:latin typeface="Times New Roman" panose="02020603050405020304" pitchFamily="18" charset="0"/>
              <a:cs typeface="Times New Roman" panose="02020603050405020304" pitchFamily="18" charset="0"/>
            </a:endParaRPr>
          </a:p>
          <a:p>
            <a:pPr marL="0" indent="0">
              <a:lnSpc>
                <a:spcPct val="110000"/>
              </a:lnSpc>
              <a:spcAft>
                <a:spcPts val="600"/>
              </a:spcAft>
              <a:buNone/>
            </a:pPr>
            <a:r>
              <a:rPr lang="zh-CN" altLang="en-US" dirty="0">
                <a:latin typeface="Times New Roman" panose="02020603050405020304" pitchFamily="18" charset="0"/>
                <a:cs typeface="Times New Roman" panose="02020603050405020304" pitchFamily="18" charset="0"/>
              </a:rPr>
              <a:t>★根据预设的路径，移动到合适的点位点击完成一段导线的布设。</a:t>
            </a:r>
            <a:endParaRPr lang="en-US" altLang="zh-CN" dirty="0">
              <a:latin typeface="Times New Roman" panose="02020603050405020304" pitchFamily="18" charset="0"/>
              <a:cs typeface="Times New Roman" panose="02020603050405020304" pitchFamily="18" charset="0"/>
            </a:endParaRPr>
          </a:p>
          <a:p>
            <a:pPr marL="0" indent="0">
              <a:lnSpc>
                <a:spcPct val="110000"/>
              </a:lnSpc>
              <a:spcAft>
                <a:spcPts val="600"/>
              </a:spcAft>
              <a:buNone/>
            </a:pPr>
            <a:r>
              <a:rPr lang="zh-CN" altLang="en-US" dirty="0">
                <a:latin typeface="Times New Roman" panose="02020603050405020304" pitchFamily="18" charset="0"/>
                <a:cs typeface="Times New Roman" panose="02020603050405020304" pitchFamily="18" charset="0"/>
              </a:rPr>
              <a:t>★再移动到下一个合适的点位点击完成下一段导线的布设，直至该连接完成全部导线布设。</a:t>
            </a:r>
          </a:p>
        </p:txBody>
      </p:sp>
      <p:pic>
        <p:nvPicPr>
          <p:cNvPr id="11" name="图片 10">
            <a:extLst>
              <a:ext uri="{FF2B5EF4-FFF2-40B4-BE49-F238E27FC236}">
                <a16:creationId xmlns:a16="http://schemas.microsoft.com/office/drawing/2014/main" id="{75AE49DE-B613-F69A-7B65-6F8773229D92}"/>
              </a:ext>
            </a:extLst>
          </p:cNvPr>
          <p:cNvPicPr>
            <a:picLocks noChangeAspect="1"/>
          </p:cNvPicPr>
          <p:nvPr/>
        </p:nvPicPr>
        <p:blipFill>
          <a:blip r:embed="rId3"/>
          <a:stretch>
            <a:fillRect/>
          </a:stretch>
        </p:blipFill>
        <p:spPr>
          <a:xfrm>
            <a:off x="5740176" y="1995967"/>
            <a:ext cx="5389537" cy="4512039"/>
          </a:xfrm>
          <a:prstGeom prst="rect">
            <a:avLst/>
          </a:prstGeom>
        </p:spPr>
      </p:pic>
      <p:sp>
        <p:nvSpPr>
          <p:cNvPr id="2" name="文本框 1">
            <a:extLst>
              <a:ext uri="{FF2B5EF4-FFF2-40B4-BE49-F238E27FC236}">
                <a16:creationId xmlns:a16="http://schemas.microsoft.com/office/drawing/2014/main" id="{6F8AB01F-FD2F-E9D5-3A9F-8C3E4BDB7E41}"/>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使用</a:t>
            </a:r>
            <a:r>
              <a:rPr lang="en-US" altLang="zh-CN" sz="4000" dirty="0">
                <a:solidFill>
                  <a:schemeClr val="accent1">
                    <a:lumMod val="75000"/>
                  </a:schemeClr>
                </a:solidFill>
                <a:latin typeface="Arial Black" panose="020B0A04020102020204" pitchFamily="34" charset="0"/>
                <a:ea typeface="黑体" panose="02010609060101010101" pitchFamily="49" charset="-122"/>
              </a:rPr>
              <a:t>AD</a:t>
            </a:r>
            <a:r>
              <a:rPr lang="zh-CN" altLang="en-US" sz="4000" dirty="0">
                <a:solidFill>
                  <a:schemeClr val="accent1">
                    <a:lumMod val="75000"/>
                  </a:schemeClr>
                </a:solidFill>
                <a:latin typeface="黑体" panose="02010609060101010101" pitchFamily="49" charset="-122"/>
                <a:ea typeface="黑体" panose="02010609060101010101" pitchFamily="49" charset="-122"/>
              </a:rPr>
              <a:t>设计印刷电路板图</a:t>
            </a:r>
            <a:endParaRPr lang="zh-CN" altLang="en-US" sz="4000" dirty="0">
              <a:solidFill>
                <a:srgbClr val="003F88"/>
              </a:solidFill>
              <a:latin typeface="黑体" panose="02010609060101010101" pitchFamily="49" charset="-122"/>
              <a:ea typeface="黑体" panose="02010609060101010101" pitchFamily="49" charset="-122"/>
            </a:endParaRPr>
          </a:p>
        </p:txBody>
      </p:sp>
      <p:sp>
        <p:nvSpPr>
          <p:cNvPr id="9" name="矩形 8">
            <a:extLst>
              <a:ext uri="{FF2B5EF4-FFF2-40B4-BE49-F238E27FC236}">
                <a16:creationId xmlns:a16="http://schemas.microsoft.com/office/drawing/2014/main" id="{12FE9E36-5FEF-5659-3C04-A82FCBDEE391}"/>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424861653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453DD-2879-EF3F-D558-B9F7353CAE7F}"/>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19784623-FCF1-895D-8ACB-273F1C460293}"/>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使用</a:t>
            </a:r>
            <a:r>
              <a:rPr lang="en-US" altLang="zh-CN" sz="4000" dirty="0">
                <a:solidFill>
                  <a:schemeClr val="accent1">
                    <a:lumMod val="75000"/>
                  </a:schemeClr>
                </a:solidFill>
                <a:latin typeface="Arial Black" panose="020B0A04020102020204" pitchFamily="34" charset="0"/>
                <a:ea typeface="黑体" panose="02010609060101010101" pitchFamily="49" charset="-122"/>
              </a:rPr>
              <a:t>AD</a:t>
            </a:r>
            <a:r>
              <a:rPr lang="zh-CN" altLang="en-US" sz="4000" dirty="0">
                <a:solidFill>
                  <a:schemeClr val="accent1">
                    <a:lumMod val="75000"/>
                  </a:schemeClr>
                </a:solidFill>
                <a:latin typeface="黑体" panose="02010609060101010101" pitchFamily="49" charset="-122"/>
                <a:ea typeface="黑体" panose="02010609060101010101" pitchFamily="49" charset="-122"/>
              </a:rPr>
              <a:t>设计印刷电路板图</a:t>
            </a:r>
            <a:endParaRPr lang="zh-CN" altLang="en-US" sz="4000" dirty="0">
              <a:solidFill>
                <a:srgbClr val="003F88"/>
              </a:solidFill>
              <a:latin typeface="黑体" panose="02010609060101010101" pitchFamily="49" charset="-122"/>
              <a:ea typeface="黑体" panose="02010609060101010101" pitchFamily="49" charset="-122"/>
            </a:endParaRPr>
          </a:p>
        </p:txBody>
      </p:sp>
      <p:sp>
        <p:nvSpPr>
          <p:cNvPr id="14" name="矩形 13">
            <a:extLst>
              <a:ext uri="{FF2B5EF4-FFF2-40B4-BE49-F238E27FC236}">
                <a16:creationId xmlns:a16="http://schemas.microsoft.com/office/drawing/2014/main" id="{CA3096E2-D028-A75F-92B3-1982266E5666}"/>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内容占位符 2">
            <a:extLst>
              <a:ext uri="{FF2B5EF4-FFF2-40B4-BE49-F238E27FC236}">
                <a16:creationId xmlns:a16="http://schemas.microsoft.com/office/drawing/2014/main" id="{F9D97674-B419-82FF-2ABA-855DB87EC0A3}"/>
              </a:ext>
            </a:extLst>
          </p:cNvPr>
          <p:cNvSpPr>
            <a:spLocks noGrp="1"/>
          </p:cNvSpPr>
          <p:nvPr>
            <p:ph idx="1"/>
          </p:nvPr>
        </p:nvSpPr>
        <p:spPr>
          <a:xfrm>
            <a:off x="838200" y="1825624"/>
            <a:ext cx="4606636" cy="4852727"/>
          </a:xfrm>
        </p:spPr>
        <p:txBody>
          <a:bodyPr>
            <a:normAutofit/>
          </a:bodyPr>
          <a:lstStyle/>
          <a:p>
            <a:pPr marL="0" indent="0">
              <a:lnSpc>
                <a:spcPct val="110000"/>
              </a:lnSpc>
              <a:spcAft>
                <a:spcPts val="600"/>
              </a:spcAft>
              <a:buNone/>
            </a:pPr>
            <a:r>
              <a:rPr lang="en-US" altLang="zh-CN" dirty="0">
                <a:latin typeface="Times New Roman" panose="02020603050405020304" pitchFamily="18" charset="0"/>
                <a:cs typeface="Times New Roman" panose="02020603050405020304" pitchFamily="18" charset="0"/>
              </a:rPr>
              <a:t>7. </a:t>
            </a:r>
            <a:r>
              <a:rPr lang="zh-CN" altLang="en-US" dirty="0">
                <a:latin typeface="Times New Roman" panose="02020603050405020304" pitchFamily="18" charset="0"/>
                <a:cs typeface="Times New Roman" panose="02020603050405020304" pitchFamily="18" charset="0"/>
              </a:rPr>
              <a:t>开始布线</a:t>
            </a:r>
            <a:endParaRPr lang="en-US" altLang="zh-CN" dirty="0">
              <a:latin typeface="Times New Roman" panose="02020603050405020304" pitchFamily="18" charset="0"/>
              <a:cs typeface="Times New Roman" panose="02020603050405020304" pitchFamily="18" charset="0"/>
            </a:endParaRPr>
          </a:p>
          <a:p>
            <a:pPr marL="0" indent="0">
              <a:lnSpc>
                <a:spcPct val="110000"/>
              </a:lnSpc>
              <a:spcAft>
                <a:spcPts val="600"/>
              </a:spcAft>
              <a:buNone/>
            </a:pPr>
            <a:r>
              <a:rPr lang="zh-CN" altLang="en-US" dirty="0">
                <a:latin typeface="Times New Roman" panose="02020603050405020304" pitchFamily="18" charset="0"/>
                <a:cs typeface="Times New Roman" panose="02020603050405020304" pitchFamily="18" charset="0"/>
              </a:rPr>
              <a:t>★这是在布线状态下按</a:t>
            </a:r>
            <a:r>
              <a:rPr lang="en-US" altLang="zh-CN" dirty="0">
                <a:latin typeface="Times New Roman" panose="02020603050405020304" pitchFamily="18" charset="0"/>
                <a:cs typeface="Times New Roman" panose="02020603050405020304" pitchFamily="18" charset="0"/>
              </a:rPr>
              <a:t>Tab</a:t>
            </a:r>
            <a:r>
              <a:rPr lang="zh-CN" altLang="en-US" dirty="0">
                <a:latin typeface="Times New Roman" panose="02020603050405020304" pitchFamily="18" charset="0"/>
                <a:cs typeface="Times New Roman" panose="02020603050405020304" pitchFamily="18" charset="0"/>
              </a:rPr>
              <a:t>键后出现的对话框，可改变 接下来的布线宽度以及过孔参数等。</a:t>
            </a:r>
          </a:p>
        </p:txBody>
      </p:sp>
      <p:pic>
        <p:nvPicPr>
          <p:cNvPr id="9" name="图片 8">
            <a:extLst>
              <a:ext uri="{FF2B5EF4-FFF2-40B4-BE49-F238E27FC236}">
                <a16:creationId xmlns:a16="http://schemas.microsoft.com/office/drawing/2014/main" id="{2B7B8C6D-6F28-28A0-6703-BAA0B7081DFD}"/>
              </a:ext>
            </a:extLst>
          </p:cNvPr>
          <p:cNvPicPr>
            <a:picLocks noChangeAspect="1"/>
          </p:cNvPicPr>
          <p:nvPr/>
        </p:nvPicPr>
        <p:blipFill>
          <a:blip r:embed="rId3"/>
          <a:stretch>
            <a:fillRect/>
          </a:stretch>
        </p:blipFill>
        <p:spPr>
          <a:xfrm>
            <a:off x="5234227" y="846059"/>
            <a:ext cx="6957772" cy="6011941"/>
          </a:xfrm>
          <a:prstGeom prst="rect">
            <a:avLst/>
          </a:prstGeom>
        </p:spPr>
      </p:pic>
      <p:sp>
        <p:nvSpPr>
          <p:cNvPr id="10" name="矩形: 圆角 9">
            <a:extLst>
              <a:ext uri="{FF2B5EF4-FFF2-40B4-BE49-F238E27FC236}">
                <a16:creationId xmlns:a16="http://schemas.microsoft.com/office/drawing/2014/main" id="{D01D5EAC-59D8-8CE8-DE47-981C43C50A80}"/>
              </a:ext>
            </a:extLst>
          </p:cNvPr>
          <p:cNvSpPr/>
          <p:nvPr/>
        </p:nvSpPr>
        <p:spPr>
          <a:xfrm>
            <a:off x="5234227" y="1569113"/>
            <a:ext cx="1839569" cy="950976"/>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圆角 10">
            <a:extLst>
              <a:ext uri="{FF2B5EF4-FFF2-40B4-BE49-F238E27FC236}">
                <a16:creationId xmlns:a16="http://schemas.microsoft.com/office/drawing/2014/main" id="{AFFAD49F-F152-EB2F-C031-A1B945D0B4D9}"/>
              </a:ext>
            </a:extLst>
          </p:cNvPr>
          <p:cNvSpPr/>
          <p:nvPr/>
        </p:nvSpPr>
        <p:spPr>
          <a:xfrm>
            <a:off x="7246922" y="1170916"/>
            <a:ext cx="2204314" cy="1853922"/>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84881884-E05D-DFD1-3382-2C4A36D605E4}"/>
              </a:ext>
            </a:extLst>
          </p:cNvPr>
          <p:cNvSpPr txBox="1"/>
          <p:nvPr/>
        </p:nvSpPr>
        <p:spPr>
          <a:xfrm>
            <a:off x="5234227" y="1225298"/>
            <a:ext cx="1722526" cy="369332"/>
          </a:xfrm>
          <a:prstGeom prst="rect">
            <a:avLst/>
          </a:prstGeom>
          <a:noFill/>
        </p:spPr>
        <p:txBody>
          <a:bodyPr wrap="square" rtlCol="0">
            <a:spAutoFit/>
          </a:bodyPr>
          <a:lstStyle/>
          <a:p>
            <a:pPr algn="ctr"/>
            <a:r>
              <a:rPr lang="zh-CN" altLang="en-US" b="1" dirty="0">
                <a:solidFill>
                  <a:srgbClr val="FF0000"/>
                </a:solidFill>
              </a:rPr>
              <a:t>布线宽度</a:t>
            </a:r>
          </a:p>
        </p:txBody>
      </p:sp>
      <p:sp>
        <p:nvSpPr>
          <p:cNvPr id="13" name="文本框 12">
            <a:extLst>
              <a:ext uri="{FF2B5EF4-FFF2-40B4-BE49-F238E27FC236}">
                <a16:creationId xmlns:a16="http://schemas.microsoft.com/office/drawing/2014/main" id="{FF3D3F03-6038-60FE-9DE7-D08F19A04E9C}"/>
              </a:ext>
            </a:extLst>
          </p:cNvPr>
          <p:cNvSpPr txBox="1"/>
          <p:nvPr/>
        </p:nvSpPr>
        <p:spPr>
          <a:xfrm>
            <a:off x="8014621" y="1546514"/>
            <a:ext cx="1722526" cy="369332"/>
          </a:xfrm>
          <a:prstGeom prst="rect">
            <a:avLst/>
          </a:prstGeom>
          <a:noFill/>
        </p:spPr>
        <p:txBody>
          <a:bodyPr wrap="square" rtlCol="0">
            <a:spAutoFit/>
          </a:bodyPr>
          <a:lstStyle/>
          <a:p>
            <a:pPr algn="ctr"/>
            <a:r>
              <a:rPr lang="zh-CN" altLang="en-US" b="1" dirty="0">
                <a:solidFill>
                  <a:srgbClr val="FF0000"/>
                </a:solidFill>
              </a:rPr>
              <a:t>过孔参数</a:t>
            </a:r>
          </a:p>
        </p:txBody>
      </p:sp>
    </p:spTree>
    <p:extLst>
      <p:ext uri="{BB962C8B-B14F-4D97-AF65-F5344CB8AC3E}">
        <p14:creationId xmlns:p14="http://schemas.microsoft.com/office/powerpoint/2010/main" val="48216450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7397B-0A63-5D77-4E28-6EB1E9E4525D}"/>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28852A63-A29C-EB20-73C3-467B58894B66}"/>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使用</a:t>
            </a:r>
            <a:r>
              <a:rPr lang="en-US" altLang="zh-CN" sz="4000" dirty="0">
                <a:solidFill>
                  <a:schemeClr val="accent1">
                    <a:lumMod val="75000"/>
                  </a:schemeClr>
                </a:solidFill>
                <a:latin typeface="Arial Black" panose="020B0A04020102020204" pitchFamily="34" charset="0"/>
                <a:ea typeface="黑体" panose="02010609060101010101" pitchFamily="49" charset="-122"/>
              </a:rPr>
              <a:t>AD</a:t>
            </a:r>
            <a:r>
              <a:rPr lang="zh-CN" altLang="en-US" sz="4000" dirty="0">
                <a:solidFill>
                  <a:schemeClr val="accent1">
                    <a:lumMod val="75000"/>
                  </a:schemeClr>
                </a:solidFill>
                <a:latin typeface="黑体" panose="02010609060101010101" pitchFamily="49" charset="-122"/>
                <a:ea typeface="黑体" panose="02010609060101010101" pitchFamily="49" charset="-122"/>
              </a:rPr>
              <a:t>设计印刷电路板图</a:t>
            </a:r>
            <a:endParaRPr lang="zh-CN" altLang="en-US" sz="4000" dirty="0">
              <a:solidFill>
                <a:srgbClr val="003F88"/>
              </a:solidFill>
              <a:latin typeface="黑体" panose="02010609060101010101" pitchFamily="49" charset="-122"/>
              <a:ea typeface="黑体" panose="02010609060101010101" pitchFamily="49" charset="-122"/>
            </a:endParaRPr>
          </a:p>
        </p:txBody>
      </p:sp>
      <p:sp>
        <p:nvSpPr>
          <p:cNvPr id="14" name="矩形 13">
            <a:extLst>
              <a:ext uri="{FF2B5EF4-FFF2-40B4-BE49-F238E27FC236}">
                <a16:creationId xmlns:a16="http://schemas.microsoft.com/office/drawing/2014/main" id="{6A532E6C-6A8B-05EE-33ED-F4994A2A2CE7}"/>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内容占位符 2">
            <a:extLst>
              <a:ext uri="{FF2B5EF4-FFF2-40B4-BE49-F238E27FC236}">
                <a16:creationId xmlns:a16="http://schemas.microsoft.com/office/drawing/2014/main" id="{E275FB7D-1CA2-7352-8AD8-0FF275413E0C}"/>
              </a:ext>
            </a:extLst>
          </p:cNvPr>
          <p:cNvSpPr>
            <a:spLocks noGrp="1"/>
          </p:cNvSpPr>
          <p:nvPr>
            <p:ph idx="1"/>
          </p:nvPr>
        </p:nvSpPr>
        <p:spPr>
          <a:xfrm>
            <a:off x="838199" y="1825624"/>
            <a:ext cx="8004143" cy="4852727"/>
          </a:xfrm>
        </p:spPr>
        <p:txBody>
          <a:bodyPr>
            <a:normAutofit/>
          </a:bodyPr>
          <a:lstStyle/>
          <a:p>
            <a:pPr marL="0" indent="0">
              <a:lnSpc>
                <a:spcPct val="110000"/>
              </a:lnSpc>
              <a:spcAft>
                <a:spcPts val="600"/>
              </a:spcAft>
              <a:buNone/>
            </a:pPr>
            <a:r>
              <a:rPr lang="en-US" altLang="zh-CN" dirty="0">
                <a:latin typeface="Times New Roman" panose="02020603050405020304" pitchFamily="18" charset="0"/>
                <a:cs typeface="Times New Roman" panose="02020603050405020304" pitchFamily="18" charset="0"/>
              </a:rPr>
              <a:t>7. </a:t>
            </a:r>
            <a:r>
              <a:rPr lang="zh-CN" altLang="en-US" dirty="0">
                <a:latin typeface="Times New Roman" panose="02020603050405020304" pitchFamily="18" charset="0"/>
                <a:cs typeface="Times New Roman" panose="02020603050405020304" pitchFamily="18" charset="0"/>
              </a:rPr>
              <a:t>开始布线</a:t>
            </a:r>
            <a:endParaRPr lang="en-US" altLang="zh-CN" dirty="0">
              <a:latin typeface="Times New Roman" panose="02020603050405020304" pitchFamily="18" charset="0"/>
              <a:cs typeface="Times New Roman" panose="02020603050405020304" pitchFamily="18" charset="0"/>
            </a:endParaRPr>
          </a:p>
          <a:p>
            <a:pPr marL="0" indent="0">
              <a:lnSpc>
                <a:spcPct val="110000"/>
              </a:lnSpc>
              <a:spcAft>
                <a:spcPts val="600"/>
              </a:spcAft>
              <a:buNone/>
            </a:pP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PCB</a:t>
            </a:r>
            <a:r>
              <a:rPr lang="zh-CN" altLang="en-US" dirty="0">
                <a:latin typeface="Times New Roman" panose="02020603050405020304" pitchFamily="18" charset="0"/>
                <a:cs typeface="Times New Roman" panose="02020603050405020304" pitchFamily="18" charset="0"/>
              </a:rPr>
              <a:t>布线不能走直角；</a:t>
            </a:r>
            <a:endParaRPr lang="en-US" altLang="zh-CN" dirty="0">
              <a:latin typeface="Times New Roman" panose="02020603050405020304" pitchFamily="18" charset="0"/>
              <a:cs typeface="Times New Roman" panose="02020603050405020304" pitchFamily="18" charset="0"/>
            </a:endParaRPr>
          </a:p>
          <a:p>
            <a:pPr marL="0" indent="0">
              <a:lnSpc>
                <a:spcPct val="110000"/>
              </a:lnSpc>
              <a:spcAft>
                <a:spcPts val="600"/>
              </a:spcAft>
              <a:buNone/>
            </a:pPr>
            <a:r>
              <a:rPr lang="zh-CN" altLang="en-US" dirty="0">
                <a:latin typeface="Times New Roman" panose="02020603050405020304" pitchFamily="18" charset="0"/>
                <a:cs typeface="Times New Roman" panose="02020603050405020304" pitchFamily="18" charset="0"/>
              </a:rPr>
              <a:t>★电源线宽一些，电压越高线越宽；</a:t>
            </a:r>
            <a:endParaRPr lang="en-US" altLang="zh-CN" dirty="0">
              <a:latin typeface="Times New Roman" panose="02020603050405020304" pitchFamily="18" charset="0"/>
              <a:cs typeface="Times New Roman" panose="02020603050405020304" pitchFamily="18" charset="0"/>
            </a:endParaRPr>
          </a:p>
          <a:p>
            <a:pPr marL="0" indent="0">
              <a:lnSpc>
                <a:spcPct val="110000"/>
              </a:lnSpc>
              <a:spcAft>
                <a:spcPts val="600"/>
              </a:spcAft>
              <a:buNone/>
            </a:pPr>
            <a:r>
              <a:rPr lang="zh-CN" altLang="en-US" dirty="0">
                <a:latin typeface="Times New Roman" panose="02020603050405020304" pitchFamily="18" charset="0"/>
                <a:cs typeface="Times New Roman" panose="02020603050405020304" pitchFamily="18" charset="0"/>
              </a:rPr>
              <a:t>★模拟地与数字地分开布线；</a:t>
            </a:r>
            <a:endParaRPr lang="en-US" altLang="zh-CN" dirty="0">
              <a:latin typeface="Times New Roman" panose="02020603050405020304" pitchFamily="18" charset="0"/>
              <a:cs typeface="Times New Roman" panose="02020603050405020304" pitchFamily="18" charset="0"/>
            </a:endParaRPr>
          </a:p>
          <a:p>
            <a:pPr marL="0" indent="0">
              <a:lnSpc>
                <a:spcPct val="110000"/>
              </a:lnSpc>
              <a:spcAft>
                <a:spcPts val="600"/>
              </a:spcAft>
              <a:buNone/>
            </a:pPr>
            <a:r>
              <a:rPr lang="zh-CN" altLang="en-US" dirty="0">
                <a:latin typeface="Times New Roman" panose="02020603050405020304" pitchFamily="18" charset="0"/>
                <a:cs typeface="Times New Roman" panose="02020603050405020304" pitchFamily="18" charset="0"/>
              </a:rPr>
              <a:t>★元件与元件之间要留足间隙；</a:t>
            </a:r>
            <a:endParaRPr lang="en-US" altLang="zh-CN" dirty="0">
              <a:latin typeface="Times New Roman" panose="02020603050405020304" pitchFamily="18" charset="0"/>
              <a:cs typeface="Times New Roman" panose="02020603050405020304" pitchFamily="18" charset="0"/>
            </a:endParaRPr>
          </a:p>
          <a:p>
            <a:pPr marL="0" indent="0">
              <a:lnSpc>
                <a:spcPct val="110000"/>
              </a:lnSpc>
              <a:spcAft>
                <a:spcPts val="600"/>
              </a:spcAft>
              <a:buNone/>
            </a:pPr>
            <a:r>
              <a:rPr lang="zh-CN" altLang="en-US" dirty="0">
                <a:latin typeface="Times New Roman" panose="02020603050405020304" pitchFamily="18" charset="0"/>
                <a:cs typeface="Times New Roman" panose="02020603050405020304" pitchFamily="18" charset="0"/>
              </a:rPr>
              <a:t>★将电磁元件（继电器、电感、变压器、霍尔传感器等与磁场有关元件）分开放。置</a:t>
            </a:r>
          </a:p>
        </p:txBody>
      </p:sp>
      <p:pic>
        <p:nvPicPr>
          <p:cNvPr id="5" name="图片 4">
            <a:extLst>
              <a:ext uri="{FF2B5EF4-FFF2-40B4-BE49-F238E27FC236}">
                <a16:creationId xmlns:a16="http://schemas.microsoft.com/office/drawing/2014/main" id="{D736AC03-558F-31C0-C52C-0FD178AAFAB9}"/>
              </a:ext>
            </a:extLst>
          </p:cNvPr>
          <p:cNvPicPr>
            <a:picLocks noChangeAspect="1"/>
          </p:cNvPicPr>
          <p:nvPr/>
        </p:nvPicPr>
        <p:blipFill>
          <a:blip r:embed="rId3"/>
          <a:stretch>
            <a:fillRect/>
          </a:stretch>
        </p:blipFill>
        <p:spPr>
          <a:xfrm>
            <a:off x="8579791" y="2462155"/>
            <a:ext cx="3503973" cy="2258955"/>
          </a:xfrm>
          <a:prstGeom prst="rect">
            <a:avLst/>
          </a:prstGeom>
        </p:spPr>
      </p:pic>
      <p:pic>
        <p:nvPicPr>
          <p:cNvPr id="7" name="图片 6">
            <a:extLst>
              <a:ext uri="{FF2B5EF4-FFF2-40B4-BE49-F238E27FC236}">
                <a16:creationId xmlns:a16="http://schemas.microsoft.com/office/drawing/2014/main" id="{4350AE67-841D-00EF-E270-638B25B045B9}"/>
              </a:ext>
            </a:extLst>
          </p:cNvPr>
          <p:cNvPicPr>
            <a:picLocks noChangeAspect="1"/>
          </p:cNvPicPr>
          <p:nvPr/>
        </p:nvPicPr>
        <p:blipFill>
          <a:blip r:embed="rId4"/>
          <a:stretch>
            <a:fillRect/>
          </a:stretch>
        </p:blipFill>
        <p:spPr>
          <a:xfrm>
            <a:off x="8908330" y="4967952"/>
            <a:ext cx="2846896" cy="1710399"/>
          </a:xfrm>
          <a:prstGeom prst="rect">
            <a:avLst/>
          </a:prstGeom>
        </p:spPr>
      </p:pic>
      <p:pic>
        <p:nvPicPr>
          <p:cNvPr id="15" name="图片 14">
            <a:extLst>
              <a:ext uri="{FF2B5EF4-FFF2-40B4-BE49-F238E27FC236}">
                <a16:creationId xmlns:a16="http://schemas.microsoft.com/office/drawing/2014/main" id="{9901F7BB-8962-56A5-3060-2C495D3776E3}"/>
              </a:ext>
            </a:extLst>
          </p:cNvPr>
          <p:cNvPicPr>
            <a:picLocks noChangeAspect="1"/>
          </p:cNvPicPr>
          <p:nvPr/>
        </p:nvPicPr>
        <p:blipFill>
          <a:blip r:embed="rId5"/>
          <a:stretch>
            <a:fillRect/>
          </a:stretch>
        </p:blipFill>
        <p:spPr>
          <a:xfrm>
            <a:off x="6979940" y="1316728"/>
            <a:ext cx="5029200" cy="1552575"/>
          </a:xfrm>
          <a:prstGeom prst="rect">
            <a:avLst/>
          </a:prstGeom>
        </p:spPr>
      </p:pic>
    </p:spTree>
    <p:extLst>
      <p:ext uri="{BB962C8B-B14F-4D97-AF65-F5344CB8AC3E}">
        <p14:creationId xmlns:p14="http://schemas.microsoft.com/office/powerpoint/2010/main" val="40346034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453DD-2879-EF3F-D558-B9F7353CAE7F}"/>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61CFD5D7-CCF7-68DE-0C52-4B84CC86CD97}"/>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使用</a:t>
            </a:r>
            <a:r>
              <a:rPr lang="en-US" altLang="zh-CN" sz="4000" dirty="0">
                <a:solidFill>
                  <a:schemeClr val="accent1">
                    <a:lumMod val="75000"/>
                  </a:schemeClr>
                </a:solidFill>
                <a:latin typeface="Arial Black" panose="020B0A04020102020204" pitchFamily="34" charset="0"/>
                <a:ea typeface="黑体" panose="02010609060101010101" pitchFamily="49" charset="-122"/>
              </a:rPr>
              <a:t>AD</a:t>
            </a:r>
            <a:r>
              <a:rPr lang="zh-CN" altLang="en-US" sz="4000" dirty="0">
                <a:solidFill>
                  <a:schemeClr val="accent1">
                    <a:lumMod val="75000"/>
                  </a:schemeClr>
                </a:solidFill>
                <a:latin typeface="黑体" panose="02010609060101010101" pitchFamily="49" charset="-122"/>
                <a:ea typeface="黑体" panose="02010609060101010101" pitchFamily="49" charset="-122"/>
              </a:rPr>
              <a:t>设计印刷电路板图</a:t>
            </a:r>
            <a:endParaRPr lang="zh-CN" altLang="en-US" sz="4000" dirty="0">
              <a:solidFill>
                <a:srgbClr val="003F88"/>
              </a:solidFill>
              <a:latin typeface="黑体" panose="02010609060101010101" pitchFamily="49" charset="-122"/>
              <a:ea typeface="黑体" panose="02010609060101010101" pitchFamily="49" charset="-122"/>
            </a:endParaRPr>
          </a:p>
        </p:txBody>
      </p:sp>
      <p:sp>
        <p:nvSpPr>
          <p:cNvPr id="10" name="矩形 9">
            <a:extLst>
              <a:ext uri="{FF2B5EF4-FFF2-40B4-BE49-F238E27FC236}">
                <a16:creationId xmlns:a16="http://schemas.microsoft.com/office/drawing/2014/main" id="{56EEF14D-38FE-D175-C777-AEE84B027713}"/>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内容占位符 2">
            <a:extLst>
              <a:ext uri="{FF2B5EF4-FFF2-40B4-BE49-F238E27FC236}">
                <a16:creationId xmlns:a16="http://schemas.microsoft.com/office/drawing/2014/main" id="{F9D97674-B419-82FF-2ABA-855DB87EC0A3}"/>
              </a:ext>
            </a:extLst>
          </p:cNvPr>
          <p:cNvSpPr>
            <a:spLocks noGrp="1"/>
          </p:cNvSpPr>
          <p:nvPr>
            <p:ph idx="1"/>
          </p:nvPr>
        </p:nvSpPr>
        <p:spPr>
          <a:xfrm>
            <a:off x="838200" y="1825624"/>
            <a:ext cx="4606636" cy="4852727"/>
          </a:xfrm>
        </p:spPr>
        <p:txBody>
          <a:bodyPr>
            <a:normAutofit fontScale="77500" lnSpcReduction="20000"/>
          </a:bodyPr>
          <a:lstStyle/>
          <a:p>
            <a:pPr marL="0" indent="0">
              <a:lnSpc>
                <a:spcPct val="110000"/>
              </a:lnSpc>
              <a:spcAft>
                <a:spcPts val="600"/>
              </a:spcAft>
              <a:buNone/>
            </a:pPr>
            <a:r>
              <a:rPr lang="en-US" altLang="zh-CN" dirty="0">
                <a:latin typeface="Times New Roman" panose="02020603050405020304" pitchFamily="18" charset="0"/>
                <a:cs typeface="Times New Roman" panose="02020603050405020304" pitchFamily="18" charset="0"/>
              </a:rPr>
              <a:t>8. </a:t>
            </a:r>
            <a:r>
              <a:rPr lang="zh-CN" altLang="en-US" dirty="0">
                <a:latin typeface="Times New Roman" panose="02020603050405020304" pitchFamily="18" charset="0"/>
                <a:cs typeface="Times New Roman" panose="02020603050405020304" pitchFamily="18" charset="0"/>
              </a:rPr>
              <a:t>双面布线</a:t>
            </a:r>
            <a:endParaRPr lang="en-US" altLang="zh-CN" dirty="0">
              <a:latin typeface="Times New Roman" panose="02020603050405020304" pitchFamily="18" charset="0"/>
              <a:cs typeface="Times New Roman" panose="02020603050405020304" pitchFamily="18" charset="0"/>
            </a:endParaRPr>
          </a:p>
          <a:p>
            <a:pPr marL="0" indent="0">
              <a:lnSpc>
                <a:spcPct val="110000"/>
              </a:lnSpc>
              <a:spcAft>
                <a:spcPts val="600"/>
              </a:spcAft>
              <a:buNone/>
            </a:pPr>
            <a:r>
              <a:rPr lang="zh-CN" altLang="en-US" dirty="0">
                <a:latin typeface="Times New Roman" panose="02020603050405020304" pitchFamily="18" charset="0"/>
                <a:cs typeface="Times New Roman" panose="02020603050405020304" pitchFamily="18" charset="0"/>
              </a:rPr>
              <a:t>★当电路比较复杂，单面布线无法布通的情况下，可进行双面布线，也就是不仅在电路板的底面布线，还可以在电路板的顶面进行布线。</a:t>
            </a:r>
          </a:p>
          <a:p>
            <a:pPr marL="0" indent="0">
              <a:lnSpc>
                <a:spcPct val="110000"/>
              </a:lnSpc>
              <a:spcAft>
                <a:spcPts val="600"/>
              </a:spcAft>
              <a:buNone/>
            </a:pPr>
            <a:r>
              <a:rPr lang="zh-CN" altLang="en-US" dirty="0">
                <a:latin typeface="Times New Roman" panose="02020603050405020304" pitchFamily="18" charset="0"/>
                <a:cs typeface="Times New Roman" panose="02020603050405020304" pitchFamily="18" charset="0"/>
              </a:rPr>
              <a:t>★在布线过程中可通过小键盘的</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键或</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键来切换布线层。</a:t>
            </a:r>
          </a:p>
          <a:p>
            <a:pPr marL="0" indent="0">
              <a:lnSpc>
                <a:spcPct val="110000"/>
              </a:lnSpc>
              <a:spcAft>
                <a:spcPts val="600"/>
              </a:spcAft>
              <a:buNone/>
            </a:pPr>
            <a:r>
              <a:rPr lang="zh-CN" altLang="en-US" dirty="0">
                <a:latin typeface="Times New Roman" panose="02020603050405020304" pitchFamily="18" charset="0"/>
                <a:cs typeface="Times New Roman" panose="02020603050405020304" pitchFamily="18" charset="0"/>
              </a:rPr>
              <a:t>★当切换布线层时，系统自动放置一个过孔。点击后固定过孔位置。</a:t>
            </a:r>
          </a:p>
          <a:p>
            <a:pPr marL="0" indent="0">
              <a:lnSpc>
                <a:spcPct val="110000"/>
              </a:lnSpc>
              <a:spcAft>
                <a:spcPts val="600"/>
              </a:spcAft>
              <a:buNone/>
            </a:pPr>
            <a:r>
              <a:rPr lang="zh-CN" altLang="en-US" dirty="0">
                <a:latin typeface="Times New Roman" panose="02020603050405020304" pitchFamily="18" charset="0"/>
                <a:cs typeface="Times New Roman" panose="02020603050405020304" pitchFamily="18" charset="0"/>
              </a:rPr>
              <a:t>★双面布线时，一个面布一个方向。即一面布水平线，另一面布垂直线，这样可提高布通率。</a:t>
            </a:r>
          </a:p>
        </p:txBody>
      </p:sp>
      <p:pic>
        <p:nvPicPr>
          <p:cNvPr id="9" name="图片 8">
            <a:extLst>
              <a:ext uri="{FF2B5EF4-FFF2-40B4-BE49-F238E27FC236}">
                <a16:creationId xmlns:a16="http://schemas.microsoft.com/office/drawing/2014/main" id="{1DD48349-837F-9393-67B6-D8187F5C9380}"/>
              </a:ext>
            </a:extLst>
          </p:cNvPr>
          <p:cNvPicPr>
            <a:picLocks noChangeAspect="1"/>
          </p:cNvPicPr>
          <p:nvPr/>
        </p:nvPicPr>
        <p:blipFill>
          <a:blip r:embed="rId3"/>
          <a:stretch>
            <a:fillRect/>
          </a:stretch>
        </p:blipFill>
        <p:spPr>
          <a:xfrm>
            <a:off x="6747166" y="1294515"/>
            <a:ext cx="5144127" cy="5563485"/>
          </a:xfrm>
          <a:prstGeom prst="rect">
            <a:avLst/>
          </a:prstGeom>
        </p:spPr>
      </p:pic>
    </p:spTree>
    <p:extLst>
      <p:ext uri="{BB962C8B-B14F-4D97-AF65-F5344CB8AC3E}">
        <p14:creationId xmlns:p14="http://schemas.microsoft.com/office/powerpoint/2010/main" val="186777653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453DD-2879-EF3F-D558-B9F7353CAE7F}"/>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F9D97674-B419-82FF-2ABA-855DB87EC0A3}"/>
              </a:ext>
            </a:extLst>
          </p:cNvPr>
          <p:cNvSpPr>
            <a:spLocks noGrp="1"/>
          </p:cNvSpPr>
          <p:nvPr>
            <p:ph idx="1"/>
          </p:nvPr>
        </p:nvSpPr>
        <p:spPr>
          <a:xfrm>
            <a:off x="838200" y="1825624"/>
            <a:ext cx="4606636" cy="4852727"/>
          </a:xfrm>
        </p:spPr>
        <p:txBody>
          <a:bodyPr>
            <a:normAutofit fontScale="92500"/>
          </a:bodyPr>
          <a:lstStyle/>
          <a:p>
            <a:pPr marL="0" indent="0">
              <a:lnSpc>
                <a:spcPct val="110000"/>
              </a:lnSpc>
              <a:spcAft>
                <a:spcPts val="600"/>
              </a:spcAft>
              <a:buNone/>
            </a:pPr>
            <a:r>
              <a:rPr lang="en-US" altLang="zh-CN" dirty="0">
                <a:latin typeface="Times New Roman" panose="02020603050405020304" pitchFamily="18" charset="0"/>
                <a:cs typeface="Times New Roman" panose="02020603050405020304" pitchFamily="18" charset="0"/>
              </a:rPr>
              <a:t>8. </a:t>
            </a:r>
            <a:r>
              <a:rPr lang="zh-CN" altLang="en-US" dirty="0">
                <a:latin typeface="Times New Roman" panose="02020603050405020304" pitchFamily="18" charset="0"/>
                <a:cs typeface="Times New Roman" panose="02020603050405020304" pitchFamily="18" charset="0"/>
              </a:rPr>
              <a:t>双面布线</a:t>
            </a:r>
            <a:endParaRPr lang="en-US" altLang="zh-CN" dirty="0">
              <a:latin typeface="Times New Roman" panose="02020603050405020304" pitchFamily="18" charset="0"/>
              <a:cs typeface="Times New Roman" panose="02020603050405020304" pitchFamily="18" charset="0"/>
            </a:endParaRPr>
          </a:p>
          <a:p>
            <a:pPr marL="0" indent="0">
              <a:lnSpc>
                <a:spcPct val="110000"/>
              </a:lnSpc>
              <a:spcAft>
                <a:spcPts val="600"/>
              </a:spcAft>
              <a:buNone/>
            </a:pPr>
            <a:r>
              <a:rPr lang="zh-CN" altLang="en-US" dirty="0">
                <a:latin typeface="Times New Roman" panose="02020603050405020304" pitchFamily="18" charset="0"/>
                <a:cs typeface="Times New Roman" panose="02020603050405020304" pitchFamily="18" charset="0"/>
              </a:rPr>
              <a:t>★全部布线完成后如图所示。电源和地线适当宽一些，元件标识 和参数值标识调整到合适的位置。</a:t>
            </a:r>
          </a:p>
          <a:p>
            <a:pPr marL="0" indent="0">
              <a:lnSpc>
                <a:spcPct val="110000"/>
              </a:lnSpc>
              <a:spcAft>
                <a:spcPts val="600"/>
              </a:spcAft>
              <a:buNone/>
            </a:pPr>
            <a:r>
              <a:rPr lang="zh-CN" altLang="en-US" dirty="0">
                <a:latin typeface="Times New Roman" panose="02020603050405020304" pitchFamily="18" charset="0"/>
                <a:cs typeface="Times New Roman" panose="02020603050405020304" pitchFamily="18" charset="0"/>
              </a:rPr>
              <a:t>★还可放置一些字符串来作标识：如在电源的正负极接入处放置“</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”。对于电路板产品，需要安装在仪器机箱里，所以还要放置安装孔等。</a:t>
            </a:r>
          </a:p>
        </p:txBody>
      </p:sp>
      <p:pic>
        <p:nvPicPr>
          <p:cNvPr id="9" name="图片 8">
            <a:extLst>
              <a:ext uri="{FF2B5EF4-FFF2-40B4-BE49-F238E27FC236}">
                <a16:creationId xmlns:a16="http://schemas.microsoft.com/office/drawing/2014/main" id="{871DA38A-330E-0AD7-BE51-AB5C7BAC76F4}"/>
              </a:ext>
            </a:extLst>
          </p:cNvPr>
          <p:cNvPicPr>
            <a:picLocks noChangeAspect="1"/>
          </p:cNvPicPr>
          <p:nvPr/>
        </p:nvPicPr>
        <p:blipFill>
          <a:blip r:embed="rId3"/>
          <a:stretch>
            <a:fillRect/>
          </a:stretch>
        </p:blipFill>
        <p:spPr>
          <a:xfrm>
            <a:off x="6981213" y="2266516"/>
            <a:ext cx="3581400" cy="3571875"/>
          </a:xfrm>
          <a:prstGeom prst="rect">
            <a:avLst/>
          </a:prstGeom>
        </p:spPr>
      </p:pic>
      <p:sp>
        <p:nvSpPr>
          <p:cNvPr id="2" name="文本框 1">
            <a:extLst>
              <a:ext uri="{FF2B5EF4-FFF2-40B4-BE49-F238E27FC236}">
                <a16:creationId xmlns:a16="http://schemas.microsoft.com/office/drawing/2014/main" id="{EF2882A6-0ADE-ED52-A838-68660F17511B}"/>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使用</a:t>
            </a:r>
            <a:r>
              <a:rPr lang="en-US" altLang="zh-CN" sz="4000" dirty="0">
                <a:solidFill>
                  <a:schemeClr val="accent1">
                    <a:lumMod val="75000"/>
                  </a:schemeClr>
                </a:solidFill>
                <a:latin typeface="Arial Black" panose="020B0A04020102020204" pitchFamily="34" charset="0"/>
                <a:ea typeface="黑体" panose="02010609060101010101" pitchFamily="49" charset="-122"/>
              </a:rPr>
              <a:t>AD</a:t>
            </a:r>
            <a:r>
              <a:rPr lang="zh-CN" altLang="en-US" sz="4000" dirty="0">
                <a:solidFill>
                  <a:schemeClr val="accent1">
                    <a:lumMod val="75000"/>
                  </a:schemeClr>
                </a:solidFill>
                <a:latin typeface="黑体" panose="02010609060101010101" pitchFamily="49" charset="-122"/>
                <a:ea typeface="黑体" panose="02010609060101010101" pitchFamily="49" charset="-122"/>
              </a:rPr>
              <a:t>设计印刷电路板图</a:t>
            </a:r>
            <a:endParaRPr lang="zh-CN" altLang="en-US" sz="4000" dirty="0">
              <a:solidFill>
                <a:srgbClr val="003F88"/>
              </a:solidFill>
              <a:latin typeface="黑体" panose="02010609060101010101" pitchFamily="49" charset="-122"/>
              <a:ea typeface="黑体" panose="02010609060101010101" pitchFamily="49" charset="-122"/>
            </a:endParaRPr>
          </a:p>
        </p:txBody>
      </p:sp>
      <p:sp>
        <p:nvSpPr>
          <p:cNvPr id="10" name="矩形 9">
            <a:extLst>
              <a:ext uri="{FF2B5EF4-FFF2-40B4-BE49-F238E27FC236}">
                <a16:creationId xmlns:a16="http://schemas.microsoft.com/office/drawing/2014/main" id="{53BBDC19-AB5A-3C8E-6B42-FFD13042B90D}"/>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50145638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453DD-2879-EF3F-D558-B9F7353CAE7F}"/>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F9D97674-B419-82FF-2ABA-855DB87EC0A3}"/>
              </a:ext>
            </a:extLst>
          </p:cNvPr>
          <p:cNvSpPr>
            <a:spLocks noGrp="1"/>
          </p:cNvSpPr>
          <p:nvPr>
            <p:ph idx="1"/>
          </p:nvPr>
        </p:nvSpPr>
        <p:spPr>
          <a:xfrm>
            <a:off x="838200" y="1825624"/>
            <a:ext cx="4606636" cy="4852727"/>
          </a:xfrm>
        </p:spPr>
        <p:txBody>
          <a:bodyPr>
            <a:normAutofit/>
          </a:bodyPr>
          <a:lstStyle/>
          <a:p>
            <a:pPr marL="0" indent="0">
              <a:lnSpc>
                <a:spcPct val="110000"/>
              </a:lnSpc>
              <a:spcAft>
                <a:spcPts val="600"/>
              </a:spcAft>
              <a:buNone/>
            </a:pPr>
            <a:r>
              <a:rPr lang="en-US" altLang="zh-CN" dirty="0">
                <a:latin typeface="Times New Roman" panose="02020603050405020304" pitchFamily="18" charset="0"/>
                <a:cs typeface="Times New Roman" panose="02020603050405020304" pitchFamily="18" charset="0"/>
              </a:rPr>
              <a:t>8. </a:t>
            </a:r>
            <a:r>
              <a:rPr lang="zh-CN" altLang="en-US" dirty="0">
                <a:latin typeface="Times New Roman" panose="02020603050405020304" pitchFamily="18" charset="0"/>
                <a:cs typeface="Times New Roman" panose="02020603050405020304" pitchFamily="18" charset="0"/>
              </a:rPr>
              <a:t>完成布线的电路板</a:t>
            </a:r>
            <a:endParaRPr lang="en-US" altLang="zh-CN" dirty="0">
              <a:latin typeface="Times New Roman" panose="02020603050405020304" pitchFamily="18" charset="0"/>
              <a:cs typeface="Times New Roman" panose="02020603050405020304" pitchFamily="18" charset="0"/>
            </a:endParaRPr>
          </a:p>
          <a:p>
            <a:pPr marL="0" indent="0">
              <a:lnSpc>
                <a:spcPct val="110000"/>
              </a:lnSpc>
              <a:spcAft>
                <a:spcPts val="600"/>
              </a:spcAft>
              <a:buNone/>
            </a:pPr>
            <a:r>
              <a:rPr lang="zh-CN" altLang="en-US" dirty="0">
                <a:latin typeface="Times New Roman" panose="02020603050405020304" pitchFamily="18" charset="0"/>
                <a:cs typeface="Times New Roman" panose="02020603050405020304" pitchFamily="18" charset="0"/>
              </a:rPr>
              <a:t>★边缘合适、必要的标识、安装孔。</a:t>
            </a:r>
            <a:endParaRPr lang="en-US" altLang="zh-CN" dirty="0">
              <a:latin typeface="Times New Roman" panose="02020603050405020304" pitchFamily="18" charset="0"/>
              <a:cs typeface="Times New Roman" panose="02020603050405020304" pitchFamily="18" charset="0"/>
            </a:endParaRPr>
          </a:p>
        </p:txBody>
      </p:sp>
      <p:pic>
        <p:nvPicPr>
          <p:cNvPr id="9" name="图片 8">
            <a:extLst>
              <a:ext uri="{FF2B5EF4-FFF2-40B4-BE49-F238E27FC236}">
                <a16:creationId xmlns:a16="http://schemas.microsoft.com/office/drawing/2014/main" id="{AB1F1871-6715-8932-F3EF-F0991376261F}"/>
              </a:ext>
            </a:extLst>
          </p:cNvPr>
          <p:cNvPicPr>
            <a:picLocks noChangeAspect="1"/>
          </p:cNvPicPr>
          <p:nvPr/>
        </p:nvPicPr>
        <p:blipFill>
          <a:blip r:embed="rId3"/>
          <a:stretch>
            <a:fillRect/>
          </a:stretch>
        </p:blipFill>
        <p:spPr>
          <a:xfrm>
            <a:off x="6414632" y="2070822"/>
            <a:ext cx="3381375" cy="3686175"/>
          </a:xfrm>
          <a:prstGeom prst="rect">
            <a:avLst/>
          </a:prstGeom>
        </p:spPr>
      </p:pic>
      <p:sp>
        <p:nvSpPr>
          <p:cNvPr id="2" name="文本框 1">
            <a:extLst>
              <a:ext uri="{FF2B5EF4-FFF2-40B4-BE49-F238E27FC236}">
                <a16:creationId xmlns:a16="http://schemas.microsoft.com/office/drawing/2014/main" id="{30DFAF89-3A8E-74BB-0645-AD1E39432C9A}"/>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使用</a:t>
            </a:r>
            <a:r>
              <a:rPr lang="en-US" altLang="zh-CN" sz="4000" dirty="0">
                <a:solidFill>
                  <a:schemeClr val="accent1">
                    <a:lumMod val="75000"/>
                  </a:schemeClr>
                </a:solidFill>
                <a:latin typeface="Arial Black" panose="020B0A04020102020204" pitchFamily="34" charset="0"/>
                <a:ea typeface="黑体" panose="02010609060101010101" pitchFamily="49" charset="-122"/>
              </a:rPr>
              <a:t>AD</a:t>
            </a:r>
            <a:r>
              <a:rPr lang="zh-CN" altLang="en-US" sz="4000" dirty="0">
                <a:solidFill>
                  <a:schemeClr val="accent1">
                    <a:lumMod val="75000"/>
                  </a:schemeClr>
                </a:solidFill>
                <a:latin typeface="黑体" panose="02010609060101010101" pitchFamily="49" charset="-122"/>
                <a:ea typeface="黑体" panose="02010609060101010101" pitchFamily="49" charset="-122"/>
              </a:rPr>
              <a:t>设计印刷电路板图</a:t>
            </a:r>
            <a:endParaRPr lang="zh-CN" altLang="en-US" sz="4000" dirty="0">
              <a:solidFill>
                <a:srgbClr val="003F88"/>
              </a:solidFill>
              <a:latin typeface="黑体" panose="02010609060101010101" pitchFamily="49" charset="-122"/>
              <a:ea typeface="黑体" panose="02010609060101010101" pitchFamily="49" charset="-122"/>
            </a:endParaRPr>
          </a:p>
        </p:txBody>
      </p:sp>
      <p:sp>
        <p:nvSpPr>
          <p:cNvPr id="10" name="矩形 9">
            <a:extLst>
              <a:ext uri="{FF2B5EF4-FFF2-40B4-BE49-F238E27FC236}">
                <a16:creationId xmlns:a16="http://schemas.microsoft.com/office/drawing/2014/main" id="{5C891920-C214-0A0A-E42B-E33D460C892F}"/>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126498528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223C2-E340-A5DC-FD80-472C24BD4D39}"/>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45BF028E-5CFD-4D16-A28F-78B9D1447BAC}"/>
              </a:ext>
            </a:extLst>
          </p:cNvPr>
          <p:cNvSpPr>
            <a:spLocks noGrp="1"/>
          </p:cNvSpPr>
          <p:nvPr>
            <p:ph idx="1"/>
          </p:nvPr>
        </p:nvSpPr>
        <p:spPr>
          <a:xfrm>
            <a:off x="838199" y="1825624"/>
            <a:ext cx="10954733" cy="4852727"/>
          </a:xfrm>
        </p:spPr>
        <p:txBody>
          <a:bodyPr>
            <a:normAutofit/>
          </a:bodyPr>
          <a:lstStyle/>
          <a:p>
            <a:pPr marL="0" indent="0">
              <a:lnSpc>
                <a:spcPct val="100000"/>
              </a:lnSpc>
              <a:spcBef>
                <a:spcPts val="0"/>
              </a:spcBef>
              <a:spcAft>
                <a:spcPts val="3600"/>
              </a:spcAft>
              <a:buNone/>
            </a:pPr>
            <a:r>
              <a:rPr lang="zh-CN" altLang="en-US" sz="3200" dirty="0">
                <a:latin typeface="Arial" panose="020B0604020202020204" pitchFamily="34" charset="0"/>
                <a:ea typeface="黑体" panose="02010609060101010101" pitchFamily="49" charset="-122"/>
                <a:cs typeface="Arial" panose="020B0604020202020204" pitchFamily="34" charset="0"/>
              </a:rPr>
              <a:t>禁止布线层（</a:t>
            </a:r>
            <a:r>
              <a:rPr lang="en-US" altLang="zh-CN" sz="3200" dirty="0">
                <a:latin typeface="Arial" panose="020B0604020202020204" pitchFamily="34" charset="0"/>
                <a:ea typeface="黑体" panose="02010609060101010101" pitchFamily="49" charset="-122"/>
                <a:cs typeface="Arial" panose="020B0604020202020204" pitchFamily="34" charset="0"/>
              </a:rPr>
              <a:t>Keep-Out Layer</a:t>
            </a:r>
            <a:r>
              <a:rPr lang="zh-CN" altLang="en-US" sz="3200" dirty="0">
                <a:latin typeface="Arial" panose="020B0604020202020204" pitchFamily="34" charset="0"/>
                <a:ea typeface="黑体" panose="02010609060101010101" pitchFamily="49" charset="-122"/>
                <a:cs typeface="Arial" panose="020B0604020202020204" pitchFamily="34" charset="0"/>
              </a:rPr>
              <a:t>）</a:t>
            </a:r>
            <a:endParaRPr lang="en-US" altLang="zh-CN" sz="3200" dirty="0">
              <a:latin typeface="Arial" panose="020B0604020202020204" pitchFamily="34" charset="0"/>
              <a:ea typeface="黑体" panose="02010609060101010101" pitchFamily="49" charset="-122"/>
              <a:cs typeface="Arial" panose="020B0604020202020204" pitchFamily="34" charset="0"/>
            </a:endParaRPr>
          </a:p>
          <a:p>
            <a:pPr>
              <a:lnSpc>
                <a:spcPct val="100000"/>
              </a:lnSpc>
              <a:spcBef>
                <a:spcPts val="0"/>
              </a:spcBef>
              <a:spcAft>
                <a:spcPts val="1200"/>
              </a:spcAft>
            </a:pPr>
            <a:r>
              <a:rPr lang="zh-CN" altLang="en-US" sz="3200" b="0" i="0" dirty="0">
                <a:solidFill>
                  <a:srgbClr val="222222"/>
                </a:solidFill>
                <a:effectLst/>
                <a:latin typeface="Arial" panose="020B0604020202020204" pitchFamily="34" charset="0"/>
                <a:ea typeface="黑体" panose="02010609060101010101" pitchFamily="49" charset="-122"/>
                <a:cs typeface="Arial" panose="020B0604020202020204" pitchFamily="34" charset="0"/>
              </a:rPr>
              <a:t>用于定义在电路板上能够</a:t>
            </a:r>
            <a:r>
              <a:rPr lang="zh-CN" altLang="en-US" sz="3200" b="0" i="0" dirty="0">
                <a:solidFill>
                  <a:srgbClr val="222222"/>
                </a:solidFill>
                <a:effectLst/>
                <a:highlight>
                  <a:srgbClr val="FFFF00"/>
                </a:highlight>
                <a:latin typeface="Arial" panose="020B0604020202020204" pitchFamily="34" charset="0"/>
                <a:ea typeface="黑体" panose="02010609060101010101" pitchFamily="49" charset="-122"/>
                <a:cs typeface="Arial" panose="020B0604020202020204" pitchFamily="34" charset="0"/>
              </a:rPr>
              <a:t>有效放置元件和布线的区域</a:t>
            </a:r>
            <a:r>
              <a:rPr lang="zh-CN" altLang="en-US" sz="3200" b="0" i="0" dirty="0">
                <a:solidFill>
                  <a:srgbClr val="222222"/>
                </a:solidFill>
                <a:effectLst/>
                <a:latin typeface="Arial" panose="020B0604020202020204" pitchFamily="34" charset="0"/>
                <a:ea typeface="黑体" panose="02010609060101010101" pitchFamily="49" charset="-122"/>
                <a:cs typeface="Arial" panose="020B0604020202020204" pitchFamily="34" charset="0"/>
              </a:rPr>
              <a:t>；</a:t>
            </a:r>
            <a:endParaRPr lang="en-US" altLang="zh-CN" sz="3200" b="0" i="0" dirty="0">
              <a:solidFill>
                <a:srgbClr val="222222"/>
              </a:solidFill>
              <a:effectLst/>
              <a:latin typeface="Arial" panose="020B0604020202020204" pitchFamily="34" charset="0"/>
              <a:ea typeface="黑体" panose="02010609060101010101" pitchFamily="49" charset="-122"/>
              <a:cs typeface="Arial" panose="020B0604020202020204" pitchFamily="34" charset="0"/>
            </a:endParaRPr>
          </a:p>
          <a:p>
            <a:pPr>
              <a:lnSpc>
                <a:spcPct val="100000"/>
              </a:lnSpc>
              <a:spcBef>
                <a:spcPts val="0"/>
              </a:spcBef>
              <a:spcAft>
                <a:spcPts val="1200"/>
              </a:spcAft>
            </a:pPr>
            <a:r>
              <a:rPr lang="zh-CN" altLang="en-US" sz="3200" b="0" i="0" dirty="0">
                <a:solidFill>
                  <a:srgbClr val="222222"/>
                </a:solidFill>
                <a:effectLst/>
                <a:latin typeface="Arial" panose="020B0604020202020204" pitchFamily="34" charset="0"/>
                <a:ea typeface="黑体" panose="02010609060101010101" pitchFamily="49" charset="-122"/>
                <a:cs typeface="Arial" panose="020B0604020202020204" pitchFamily="34" charset="0"/>
              </a:rPr>
              <a:t>在该层绘制一个封闭区域作为布线有效区，在该区域外不能进行自动布局和布线。</a:t>
            </a:r>
            <a:endParaRPr lang="en-US" altLang="zh-CN" sz="3200" b="0" i="0" dirty="0">
              <a:solidFill>
                <a:srgbClr val="222222"/>
              </a:solidFill>
              <a:effectLst/>
              <a:latin typeface="Arial" panose="020B0604020202020204" pitchFamily="34" charset="0"/>
              <a:ea typeface="黑体" panose="02010609060101010101" pitchFamily="49" charset="-122"/>
              <a:cs typeface="Arial" panose="020B0604020202020204" pitchFamily="34" charset="0"/>
            </a:endParaRPr>
          </a:p>
          <a:p>
            <a:pPr>
              <a:lnSpc>
                <a:spcPct val="100000"/>
              </a:lnSpc>
              <a:spcBef>
                <a:spcPts val="0"/>
              </a:spcBef>
              <a:spcAft>
                <a:spcPts val="1200"/>
              </a:spcAft>
            </a:pPr>
            <a:r>
              <a:rPr lang="zh-CN" altLang="en-US" sz="3200" dirty="0">
                <a:solidFill>
                  <a:srgbClr val="222222"/>
                </a:solidFill>
                <a:latin typeface="Arial" panose="020B0604020202020204" pitchFamily="34" charset="0"/>
                <a:ea typeface="黑体" panose="02010609060101010101" pitchFamily="49" charset="-122"/>
                <a:cs typeface="Arial" panose="020B0604020202020204" pitchFamily="34" charset="0"/>
              </a:rPr>
              <a:t>电路板外形可以在禁止布线层绘制，也可以在机械层绘制</a:t>
            </a:r>
            <a:endParaRPr lang="en-US" altLang="zh-CN" sz="3200" dirty="0">
              <a:latin typeface="Arial" panose="020B0604020202020204" pitchFamily="34" charset="0"/>
              <a:ea typeface="黑体" panose="02010609060101010101" pitchFamily="49" charset="-122"/>
              <a:cs typeface="Arial" panose="020B0604020202020204" pitchFamily="34" charset="0"/>
            </a:endParaRPr>
          </a:p>
        </p:txBody>
      </p:sp>
      <p:sp>
        <p:nvSpPr>
          <p:cNvPr id="2" name="文本框 1">
            <a:extLst>
              <a:ext uri="{FF2B5EF4-FFF2-40B4-BE49-F238E27FC236}">
                <a16:creationId xmlns:a16="http://schemas.microsoft.com/office/drawing/2014/main" id="{DD99788F-2E55-E28D-64BA-06D884A7A4B7}"/>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使用</a:t>
            </a:r>
            <a:r>
              <a:rPr lang="en-US" altLang="zh-CN" sz="4000" dirty="0">
                <a:solidFill>
                  <a:schemeClr val="accent1">
                    <a:lumMod val="75000"/>
                  </a:schemeClr>
                </a:solidFill>
                <a:latin typeface="Arial Black" panose="020B0A04020102020204" pitchFamily="34" charset="0"/>
                <a:ea typeface="黑体" panose="02010609060101010101" pitchFamily="49" charset="-122"/>
              </a:rPr>
              <a:t>AD</a:t>
            </a:r>
            <a:r>
              <a:rPr lang="zh-CN" altLang="en-US" sz="4000" dirty="0">
                <a:solidFill>
                  <a:schemeClr val="accent1">
                    <a:lumMod val="75000"/>
                  </a:schemeClr>
                </a:solidFill>
                <a:latin typeface="黑体" panose="02010609060101010101" pitchFamily="49" charset="-122"/>
                <a:ea typeface="黑体" panose="02010609060101010101" pitchFamily="49" charset="-122"/>
              </a:rPr>
              <a:t>设计印刷电路板图</a:t>
            </a:r>
            <a:endParaRPr lang="zh-CN" altLang="en-US" sz="4000" dirty="0">
              <a:solidFill>
                <a:srgbClr val="003F88"/>
              </a:solidFill>
              <a:latin typeface="黑体" panose="02010609060101010101" pitchFamily="49" charset="-122"/>
              <a:ea typeface="黑体" panose="02010609060101010101" pitchFamily="49" charset="-122"/>
            </a:endParaRPr>
          </a:p>
        </p:txBody>
      </p:sp>
      <p:sp>
        <p:nvSpPr>
          <p:cNvPr id="10" name="矩形 9">
            <a:extLst>
              <a:ext uri="{FF2B5EF4-FFF2-40B4-BE49-F238E27FC236}">
                <a16:creationId xmlns:a16="http://schemas.microsoft.com/office/drawing/2014/main" id="{FA56C219-7681-73B1-872A-E94BBBBD594E}"/>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5" name="图片 4">
            <a:extLst>
              <a:ext uri="{FF2B5EF4-FFF2-40B4-BE49-F238E27FC236}">
                <a16:creationId xmlns:a16="http://schemas.microsoft.com/office/drawing/2014/main" id="{2C4969EF-7DB1-FC36-1660-1C170C08F0F4}"/>
              </a:ext>
            </a:extLst>
          </p:cNvPr>
          <p:cNvPicPr>
            <a:picLocks noChangeAspect="1"/>
          </p:cNvPicPr>
          <p:nvPr/>
        </p:nvPicPr>
        <p:blipFill>
          <a:blip r:embed="rId3"/>
          <a:stretch>
            <a:fillRect/>
          </a:stretch>
        </p:blipFill>
        <p:spPr>
          <a:xfrm>
            <a:off x="4383464" y="5612704"/>
            <a:ext cx="2998033" cy="636454"/>
          </a:xfrm>
          <a:prstGeom prst="rect">
            <a:avLst/>
          </a:prstGeom>
        </p:spPr>
      </p:pic>
    </p:spTree>
    <p:extLst>
      <p:ext uri="{BB962C8B-B14F-4D97-AF65-F5344CB8AC3E}">
        <p14:creationId xmlns:p14="http://schemas.microsoft.com/office/powerpoint/2010/main" val="871212453"/>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01659-2AAE-A3AA-EAA3-36210EB1618E}"/>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027ECA82-8284-A5DD-F785-29994E4745A2}"/>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使用</a:t>
            </a:r>
            <a:r>
              <a:rPr lang="en-US" altLang="zh-CN" sz="4000" dirty="0">
                <a:solidFill>
                  <a:schemeClr val="accent1">
                    <a:lumMod val="75000"/>
                  </a:schemeClr>
                </a:solidFill>
                <a:latin typeface="Arial Black" panose="020B0A04020102020204" pitchFamily="34" charset="0"/>
                <a:ea typeface="黑体" panose="02010609060101010101" pitchFamily="49" charset="-122"/>
              </a:rPr>
              <a:t>AD</a:t>
            </a:r>
            <a:r>
              <a:rPr lang="zh-CN" altLang="en-US" sz="4000" dirty="0">
                <a:solidFill>
                  <a:schemeClr val="accent1">
                    <a:lumMod val="75000"/>
                  </a:schemeClr>
                </a:solidFill>
                <a:latin typeface="黑体" panose="02010609060101010101" pitchFamily="49" charset="-122"/>
                <a:ea typeface="黑体" panose="02010609060101010101" pitchFamily="49" charset="-122"/>
              </a:rPr>
              <a:t>设计印刷电路板图</a:t>
            </a:r>
            <a:endParaRPr lang="zh-CN" altLang="en-US" sz="4000" dirty="0">
              <a:solidFill>
                <a:srgbClr val="003F88"/>
              </a:solidFill>
              <a:latin typeface="黑体" panose="02010609060101010101" pitchFamily="49" charset="-122"/>
              <a:ea typeface="黑体" panose="02010609060101010101" pitchFamily="49" charset="-122"/>
            </a:endParaRPr>
          </a:p>
        </p:txBody>
      </p:sp>
      <p:sp>
        <p:nvSpPr>
          <p:cNvPr id="10" name="矩形 9">
            <a:extLst>
              <a:ext uri="{FF2B5EF4-FFF2-40B4-BE49-F238E27FC236}">
                <a16:creationId xmlns:a16="http://schemas.microsoft.com/office/drawing/2014/main" id="{36921B8E-A516-345D-2041-3FC9FB724BE6}"/>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文本框 6">
            <a:extLst>
              <a:ext uri="{FF2B5EF4-FFF2-40B4-BE49-F238E27FC236}">
                <a16:creationId xmlns:a16="http://schemas.microsoft.com/office/drawing/2014/main" id="{F66CB7A7-B768-CBCF-D5DD-0856A5273D6F}"/>
              </a:ext>
            </a:extLst>
          </p:cNvPr>
          <p:cNvSpPr txBox="1"/>
          <p:nvPr/>
        </p:nvSpPr>
        <p:spPr>
          <a:xfrm>
            <a:off x="541079" y="1724462"/>
            <a:ext cx="10566732" cy="4955203"/>
          </a:xfrm>
          <a:prstGeom prst="rect">
            <a:avLst/>
          </a:prstGeom>
          <a:noFill/>
        </p:spPr>
        <p:txBody>
          <a:bodyPr wrap="square">
            <a:spAutoFit/>
          </a:bodyPr>
          <a:lstStyle/>
          <a:p>
            <a:pPr algn="l">
              <a:spcAft>
                <a:spcPts val="1800"/>
              </a:spcAft>
            </a:pPr>
            <a:r>
              <a:rPr lang="zh-CN" altLang="en-US" sz="3200" b="1" i="0" dirty="0">
                <a:solidFill>
                  <a:srgbClr val="333333"/>
                </a:solidFill>
                <a:effectLst/>
                <a:latin typeface="黑体" panose="02010609060101010101" pitchFamily="49" charset="-122"/>
                <a:ea typeface="黑体" panose="02010609060101010101" pitchFamily="49" charset="-122"/>
                <a:cs typeface="Arial" panose="020B0604020202020204" pitchFamily="34" charset="0"/>
              </a:rPr>
              <a:t>丝印层（</a:t>
            </a:r>
            <a:r>
              <a:rPr lang="en-US" altLang="zh-CN" sz="3200" b="1" i="0" dirty="0">
                <a:solidFill>
                  <a:srgbClr val="333333"/>
                </a:solidFill>
                <a:effectLst/>
                <a:latin typeface="Arial" panose="020B0604020202020204" pitchFamily="34" charset="0"/>
                <a:ea typeface="黑体" panose="02010609060101010101" pitchFamily="49" charset="-122"/>
                <a:cs typeface="Arial" panose="020B0604020202020204" pitchFamily="34" charset="0"/>
              </a:rPr>
              <a:t>Silkscreen layer</a:t>
            </a:r>
            <a:r>
              <a:rPr lang="zh-CN" altLang="en-US" sz="3200" b="1" i="0" dirty="0">
                <a:solidFill>
                  <a:srgbClr val="333333"/>
                </a:solidFill>
                <a:effectLst/>
                <a:latin typeface="Arial" panose="020B0604020202020204" pitchFamily="34" charset="0"/>
                <a:ea typeface="黑体" panose="02010609060101010101" pitchFamily="49" charset="-122"/>
                <a:cs typeface="Arial" panose="020B0604020202020204" pitchFamily="34" charset="0"/>
              </a:rPr>
              <a:t>）</a:t>
            </a:r>
            <a:endParaRPr lang="en-US" altLang="zh-CN" sz="3200" b="1" dirty="0">
              <a:solidFill>
                <a:srgbClr val="333333"/>
              </a:solidFill>
              <a:latin typeface="Arial" panose="020B0604020202020204" pitchFamily="34" charset="0"/>
              <a:ea typeface="黑体" panose="02010609060101010101" pitchFamily="49" charset="-122"/>
              <a:cs typeface="Arial" panose="020B0604020202020204" pitchFamily="34" charset="0"/>
            </a:endParaRPr>
          </a:p>
          <a:p>
            <a:pPr marL="457200" indent="-457200" algn="l">
              <a:spcAft>
                <a:spcPts val="1800"/>
              </a:spcAft>
              <a:buFont typeface="Wingdings" panose="05000000000000000000" pitchFamily="2" charset="2"/>
              <a:buChar char="Ø"/>
            </a:pPr>
            <a:r>
              <a:rPr lang="zh-CN" altLang="en-US" sz="3200" b="0" i="0" dirty="0">
                <a:solidFill>
                  <a:srgbClr val="222222"/>
                </a:solidFill>
                <a:effectLst/>
                <a:latin typeface="Arial" panose="020B0604020202020204" pitchFamily="34" charset="0"/>
                <a:ea typeface="黑体" panose="02010609060101010101" pitchFamily="49" charset="-122"/>
                <a:cs typeface="Arial" panose="020B0604020202020204" pitchFamily="34" charset="0"/>
              </a:rPr>
              <a:t>丝印层</a:t>
            </a:r>
            <a:r>
              <a:rPr lang="zh-CN" altLang="en-US" sz="3200" dirty="0">
                <a:solidFill>
                  <a:srgbClr val="222222"/>
                </a:solidFill>
                <a:latin typeface="Arial" panose="020B0604020202020204" pitchFamily="34" charset="0"/>
                <a:ea typeface="黑体" panose="02010609060101010101" pitchFamily="49" charset="-122"/>
                <a:cs typeface="Arial" panose="020B0604020202020204" pitchFamily="34" charset="0"/>
              </a:rPr>
              <a:t>包括顶层丝印层（</a:t>
            </a:r>
            <a:r>
              <a:rPr lang="en-US" altLang="zh-CN" sz="3200" dirty="0">
                <a:solidFill>
                  <a:srgbClr val="222222"/>
                </a:solidFill>
                <a:latin typeface="Arial" panose="020B0604020202020204" pitchFamily="34" charset="0"/>
                <a:ea typeface="黑体" panose="02010609060101010101" pitchFamily="49" charset="-122"/>
                <a:cs typeface="Arial" panose="020B0604020202020204" pitchFamily="34" charset="0"/>
              </a:rPr>
              <a:t>Top Overlay</a:t>
            </a:r>
            <a:r>
              <a:rPr lang="zh-CN" altLang="en-US" sz="3200" dirty="0">
                <a:solidFill>
                  <a:srgbClr val="222222"/>
                </a:solidFill>
                <a:latin typeface="Arial" panose="020B0604020202020204" pitchFamily="34" charset="0"/>
                <a:ea typeface="黑体" panose="02010609060101010101" pitchFamily="49" charset="-122"/>
                <a:cs typeface="Arial" panose="020B0604020202020204" pitchFamily="34" charset="0"/>
              </a:rPr>
              <a:t>）和底层丝印层（</a:t>
            </a:r>
            <a:r>
              <a:rPr lang="en-US" altLang="zh-CN" sz="3200" dirty="0">
                <a:solidFill>
                  <a:srgbClr val="222222"/>
                </a:solidFill>
                <a:latin typeface="Arial" panose="020B0604020202020204" pitchFamily="34" charset="0"/>
                <a:ea typeface="黑体" panose="02010609060101010101" pitchFamily="49" charset="-122"/>
                <a:cs typeface="Arial" panose="020B0604020202020204" pitchFamily="34" charset="0"/>
              </a:rPr>
              <a:t>Bottom Overlay</a:t>
            </a:r>
            <a:r>
              <a:rPr lang="zh-CN" altLang="en-US" sz="3200" dirty="0">
                <a:solidFill>
                  <a:srgbClr val="222222"/>
                </a:solidFill>
                <a:latin typeface="Arial" panose="020B0604020202020204" pitchFamily="34" charset="0"/>
                <a:ea typeface="黑体" panose="02010609060101010101" pitchFamily="49" charset="-122"/>
                <a:cs typeface="Arial" panose="020B0604020202020204" pitchFamily="34" charset="0"/>
              </a:rPr>
              <a:t>）；</a:t>
            </a:r>
            <a:endParaRPr lang="en-US" altLang="zh-CN" sz="3200" dirty="0">
              <a:solidFill>
                <a:srgbClr val="222222"/>
              </a:solidFill>
              <a:latin typeface="Arial" panose="020B0604020202020204" pitchFamily="34" charset="0"/>
              <a:ea typeface="黑体" panose="02010609060101010101" pitchFamily="49" charset="-122"/>
              <a:cs typeface="Arial" panose="020B0604020202020204" pitchFamily="34" charset="0"/>
            </a:endParaRPr>
          </a:p>
          <a:p>
            <a:pPr marL="457200" indent="-457200" algn="l">
              <a:spcAft>
                <a:spcPts val="1800"/>
              </a:spcAft>
              <a:buFont typeface="Wingdings" panose="05000000000000000000" pitchFamily="2" charset="2"/>
              <a:buChar char="Ø"/>
            </a:pPr>
            <a:r>
              <a:rPr lang="zh-CN" altLang="en-US" sz="3200" b="0" i="0" dirty="0">
                <a:solidFill>
                  <a:srgbClr val="222222"/>
                </a:solidFill>
                <a:effectLst/>
                <a:latin typeface="Arial" panose="020B0604020202020204" pitchFamily="34" charset="0"/>
                <a:ea typeface="黑体" panose="02010609060101010101" pitchFamily="49" charset="-122"/>
                <a:cs typeface="Arial" panose="020B0604020202020204" pitchFamily="34" charset="0"/>
              </a:rPr>
              <a:t>是印刷在阻焊层上的一些文字符号，如元件的标称值、外轮廓、标识符，以及版权</a:t>
            </a:r>
            <a:r>
              <a:rPr lang="zh-CN" altLang="en-US" sz="3200" dirty="0">
                <a:solidFill>
                  <a:srgbClr val="222222"/>
                </a:solidFill>
                <a:latin typeface="Arial" panose="020B0604020202020204" pitchFamily="34" charset="0"/>
                <a:ea typeface="黑体" panose="02010609060101010101" pitchFamily="49" charset="-122"/>
                <a:cs typeface="Arial" panose="020B0604020202020204" pitchFamily="34" charset="0"/>
              </a:rPr>
              <a:t>、</a:t>
            </a:r>
            <a:r>
              <a:rPr lang="zh-CN" altLang="en-US" sz="3200" b="0" i="0" dirty="0">
                <a:solidFill>
                  <a:srgbClr val="222222"/>
                </a:solidFill>
                <a:effectLst/>
                <a:latin typeface="Arial" panose="020B0604020202020204" pitchFamily="34" charset="0"/>
                <a:ea typeface="黑体" panose="02010609060101010101" pitchFamily="49" charset="-122"/>
                <a:cs typeface="Arial" panose="020B0604020202020204" pitchFamily="34" charset="0"/>
              </a:rPr>
              <a:t>注释字符、厂家标志图案等；</a:t>
            </a:r>
            <a:endParaRPr lang="en-US" altLang="zh-CN" sz="3200" b="0" i="0" dirty="0">
              <a:solidFill>
                <a:srgbClr val="222222"/>
              </a:solidFill>
              <a:effectLst/>
              <a:latin typeface="Arial" panose="020B0604020202020204" pitchFamily="34" charset="0"/>
              <a:ea typeface="黑体" panose="02010609060101010101" pitchFamily="49" charset="-122"/>
              <a:cs typeface="Arial" panose="020B0604020202020204" pitchFamily="34" charset="0"/>
            </a:endParaRPr>
          </a:p>
          <a:p>
            <a:pPr marL="457200" indent="-457200" algn="l">
              <a:spcAft>
                <a:spcPts val="1800"/>
              </a:spcAft>
              <a:buFont typeface="Wingdings" panose="05000000000000000000" pitchFamily="2" charset="2"/>
              <a:buChar char="Ø"/>
            </a:pPr>
            <a:r>
              <a:rPr lang="zh-CN" altLang="en-US" sz="3200" dirty="0">
                <a:solidFill>
                  <a:srgbClr val="222222"/>
                </a:solidFill>
                <a:latin typeface="Arial" panose="020B0604020202020204" pitchFamily="34" charset="0"/>
                <a:ea typeface="黑体" panose="02010609060101010101" pitchFamily="49" charset="-122"/>
                <a:cs typeface="Arial" panose="020B0604020202020204" pitchFamily="34" charset="0"/>
              </a:rPr>
              <a:t>以方便</a:t>
            </a:r>
            <a:r>
              <a:rPr lang="en-US" altLang="zh-CN" sz="3200" dirty="0">
                <a:solidFill>
                  <a:srgbClr val="222222"/>
                </a:solidFill>
                <a:latin typeface="Arial" panose="020B0604020202020204" pitchFamily="34" charset="0"/>
                <a:ea typeface="黑体" panose="02010609060101010101" pitchFamily="49" charset="-122"/>
                <a:cs typeface="Arial" panose="020B0604020202020204" pitchFamily="34" charset="0"/>
              </a:rPr>
              <a:t>PCB</a:t>
            </a:r>
            <a:r>
              <a:rPr lang="zh-CN" altLang="en-US" sz="3200" dirty="0">
                <a:solidFill>
                  <a:srgbClr val="222222"/>
                </a:solidFill>
                <a:latin typeface="Arial" panose="020B0604020202020204" pitchFamily="34" charset="0"/>
                <a:ea typeface="黑体" panose="02010609060101010101" pitchFamily="49" charset="-122"/>
                <a:cs typeface="Arial" panose="020B0604020202020204" pitchFamily="34" charset="0"/>
              </a:rPr>
              <a:t>元件安装、焊接和维修。</a:t>
            </a:r>
            <a:endParaRPr lang="zh-CN" altLang="en-US" sz="3200" b="0" i="0" dirty="0">
              <a:solidFill>
                <a:srgbClr val="222222"/>
              </a:solidFill>
              <a:effectLst/>
              <a:latin typeface="Arial" panose="020B0604020202020204" pitchFamily="34" charset="0"/>
              <a:ea typeface="黑体" panose="02010609060101010101" pitchFamily="49" charset="-122"/>
              <a:cs typeface="Arial" panose="020B0604020202020204" pitchFamily="34" charset="0"/>
            </a:endParaRPr>
          </a:p>
          <a:p>
            <a:pPr algn="l">
              <a:spcAft>
                <a:spcPts val="1200"/>
              </a:spcAft>
            </a:pPr>
            <a:endParaRPr lang="zh-CN" altLang="en-US" sz="3200" b="0" i="0" dirty="0">
              <a:solidFill>
                <a:srgbClr val="222222"/>
              </a:solidFill>
              <a:effectLst/>
              <a:latin typeface="Arial" panose="020B0604020202020204" pitchFamily="34" charset="0"/>
              <a:ea typeface="黑体" panose="02010609060101010101" pitchFamily="49" charset="-122"/>
              <a:cs typeface="Arial" panose="020B0604020202020204" pitchFamily="34" charset="0"/>
            </a:endParaRPr>
          </a:p>
        </p:txBody>
      </p:sp>
      <p:pic>
        <p:nvPicPr>
          <p:cNvPr id="13" name="图片 12">
            <a:extLst>
              <a:ext uri="{FF2B5EF4-FFF2-40B4-BE49-F238E27FC236}">
                <a16:creationId xmlns:a16="http://schemas.microsoft.com/office/drawing/2014/main" id="{A0F490D1-00BC-6A0E-C555-4043667ACB6E}"/>
              </a:ext>
            </a:extLst>
          </p:cNvPr>
          <p:cNvPicPr>
            <a:picLocks noChangeAspect="1"/>
          </p:cNvPicPr>
          <p:nvPr/>
        </p:nvPicPr>
        <p:blipFill>
          <a:blip r:embed="rId3"/>
          <a:stretch>
            <a:fillRect/>
          </a:stretch>
        </p:blipFill>
        <p:spPr>
          <a:xfrm>
            <a:off x="8490407" y="5232304"/>
            <a:ext cx="2961939" cy="707885"/>
          </a:xfrm>
          <a:prstGeom prst="rect">
            <a:avLst/>
          </a:prstGeom>
        </p:spPr>
      </p:pic>
      <p:pic>
        <p:nvPicPr>
          <p:cNvPr id="15" name="图片 14">
            <a:extLst>
              <a:ext uri="{FF2B5EF4-FFF2-40B4-BE49-F238E27FC236}">
                <a16:creationId xmlns:a16="http://schemas.microsoft.com/office/drawing/2014/main" id="{1CFF8375-C073-76FC-CE9B-16FB0136B172}"/>
              </a:ext>
            </a:extLst>
          </p:cNvPr>
          <p:cNvPicPr>
            <a:picLocks noChangeAspect="1"/>
          </p:cNvPicPr>
          <p:nvPr/>
        </p:nvPicPr>
        <p:blipFill>
          <a:blip r:embed="rId4"/>
          <a:stretch>
            <a:fillRect/>
          </a:stretch>
        </p:blipFill>
        <p:spPr>
          <a:xfrm>
            <a:off x="8490407" y="6165119"/>
            <a:ext cx="3022860" cy="707885"/>
          </a:xfrm>
          <a:prstGeom prst="rect">
            <a:avLst/>
          </a:prstGeom>
        </p:spPr>
      </p:pic>
    </p:spTree>
    <p:extLst>
      <p:ext uri="{BB962C8B-B14F-4D97-AF65-F5344CB8AC3E}">
        <p14:creationId xmlns:p14="http://schemas.microsoft.com/office/powerpoint/2010/main" val="383904837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03E97F-2120-0344-2F1A-835A7DC7AAE6}"/>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2F8E702C-11AC-0464-5051-91D7EFE5B8DA}"/>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使用</a:t>
            </a:r>
            <a:r>
              <a:rPr lang="en-US" altLang="zh-CN" sz="4000" dirty="0">
                <a:solidFill>
                  <a:schemeClr val="accent1">
                    <a:lumMod val="75000"/>
                  </a:schemeClr>
                </a:solidFill>
                <a:latin typeface="Arial Black" panose="020B0A04020102020204" pitchFamily="34" charset="0"/>
                <a:ea typeface="黑体" panose="02010609060101010101" pitchFamily="49" charset="-122"/>
              </a:rPr>
              <a:t>AD</a:t>
            </a:r>
            <a:r>
              <a:rPr lang="zh-CN" altLang="en-US" sz="4000" dirty="0">
                <a:solidFill>
                  <a:schemeClr val="accent1">
                    <a:lumMod val="75000"/>
                  </a:schemeClr>
                </a:solidFill>
                <a:latin typeface="黑体" panose="02010609060101010101" pitchFamily="49" charset="-122"/>
                <a:ea typeface="黑体" panose="02010609060101010101" pitchFamily="49" charset="-122"/>
              </a:rPr>
              <a:t>设计印刷电路板图</a:t>
            </a:r>
            <a:endParaRPr lang="zh-CN" altLang="en-US" sz="4000" dirty="0">
              <a:solidFill>
                <a:srgbClr val="003F88"/>
              </a:solidFill>
              <a:latin typeface="黑体" panose="02010609060101010101" pitchFamily="49" charset="-122"/>
              <a:ea typeface="黑体" panose="02010609060101010101" pitchFamily="49" charset="-122"/>
            </a:endParaRPr>
          </a:p>
        </p:txBody>
      </p:sp>
      <p:sp>
        <p:nvSpPr>
          <p:cNvPr id="10" name="矩形 9">
            <a:extLst>
              <a:ext uri="{FF2B5EF4-FFF2-40B4-BE49-F238E27FC236}">
                <a16:creationId xmlns:a16="http://schemas.microsoft.com/office/drawing/2014/main" id="{280DC347-A9DE-D41E-84F2-F2FEF8F54DF4}"/>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文本框 6">
            <a:extLst>
              <a:ext uri="{FF2B5EF4-FFF2-40B4-BE49-F238E27FC236}">
                <a16:creationId xmlns:a16="http://schemas.microsoft.com/office/drawing/2014/main" id="{5E149330-6B3A-A3EE-B6B2-B65293E3E7A9}"/>
              </a:ext>
            </a:extLst>
          </p:cNvPr>
          <p:cNvSpPr txBox="1"/>
          <p:nvPr/>
        </p:nvSpPr>
        <p:spPr>
          <a:xfrm>
            <a:off x="541079" y="1869664"/>
            <a:ext cx="11572364" cy="4647426"/>
          </a:xfrm>
          <a:prstGeom prst="rect">
            <a:avLst/>
          </a:prstGeom>
          <a:noFill/>
        </p:spPr>
        <p:txBody>
          <a:bodyPr wrap="square">
            <a:spAutoFit/>
          </a:bodyPr>
          <a:lstStyle/>
          <a:p>
            <a:pPr algn="l">
              <a:spcAft>
                <a:spcPts val="1200"/>
              </a:spcAft>
            </a:pPr>
            <a:r>
              <a:rPr lang="zh-CN" altLang="en-US" sz="3200" b="1" i="0" dirty="0">
                <a:solidFill>
                  <a:srgbClr val="333333"/>
                </a:solidFill>
                <a:effectLst/>
                <a:latin typeface="Arial" panose="020B0604020202020204" pitchFamily="34" charset="0"/>
                <a:ea typeface="黑体" panose="02010609060101010101" pitchFamily="49" charset="-122"/>
                <a:cs typeface="Arial" panose="020B0604020202020204" pitchFamily="34" charset="0"/>
              </a:rPr>
              <a:t>（</a:t>
            </a:r>
            <a:r>
              <a:rPr lang="en-US" altLang="zh-CN" sz="3200" b="1" i="0" dirty="0">
                <a:solidFill>
                  <a:srgbClr val="333333"/>
                </a:solidFill>
                <a:effectLst/>
                <a:latin typeface="Arial" panose="020B0604020202020204" pitchFamily="34" charset="0"/>
                <a:ea typeface="黑体" panose="02010609060101010101" pitchFamily="49" charset="-122"/>
                <a:cs typeface="Arial" panose="020B0604020202020204" pitchFamily="34" charset="0"/>
              </a:rPr>
              <a:t>1</a:t>
            </a:r>
            <a:r>
              <a:rPr lang="zh-CN" altLang="en-US" sz="3200" b="1" i="0" dirty="0">
                <a:solidFill>
                  <a:srgbClr val="333333"/>
                </a:solidFill>
                <a:effectLst/>
                <a:latin typeface="Arial" panose="020B0604020202020204" pitchFamily="34" charset="0"/>
                <a:ea typeface="黑体" panose="02010609060101010101" pitchFamily="49" charset="-122"/>
                <a:cs typeface="Arial" panose="020B0604020202020204" pitchFamily="34" charset="0"/>
              </a:rPr>
              <a:t>）</a:t>
            </a:r>
            <a:r>
              <a:rPr lang="zh-CN" altLang="en-US" sz="3200" b="1" i="0" dirty="0">
                <a:solidFill>
                  <a:srgbClr val="FF0000"/>
                </a:solidFill>
                <a:effectLst/>
                <a:latin typeface="Arial" panose="020B0604020202020204" pitchFamily="34" charset="0"/>
                <a:ea typeface="黑体" panose="02010609060101010101" pitchFamily="49" charset="-122"/>
                <a:cs typeface="Arial" panose="020B0604020202020204" pitchFamily="34" charset="0"/>
              </a:rPr>
              <a:t>顶层丝印层</a:t>
            </a:r>
            <a:r>
              <a:rPr lang="en-US" altLang="zh-CN" sz="3200" b="1" i="0" dirty="0">
                <a:solidFill>
                  <a:srgbClr val="FF0000"/>
                </a:solidFill>
                <a:effectLst/>
                <a:latin typeface="Arial" panose="020B0604020202020204" pitchFamily="34" charset="0"/>
                <a:ea typeface="黑体" panose="02010609060101010101" pitchFamily="49" charset="-122"/>
                <a:cs typeface="Arial" panose="020B0604020202020204" pitchFamily="34" charset="0"/>
              </a:rPr>
              <a:t>(Top Overlay)</a:t>
            </a:r>
            <a:endParaRPr lang="en-US" altLang="zh-CN" sz="3200" dirty="0">
              <a:solidFill>
                <a:srgbClr val="FF0000"/>
              </a:solidFill>
              <a:latin typeface="Arial" panose="020B0604020202020204" pitchFamily="34" charset="0"/>
              <a:ea typeface="黑体" panose="02010609060101010101" pitchFamily="49" charset="-122"/>
              <a:cs typeface="Arial" panose="020B0604020202020204" pitchFamily="34" charset="0"/>
            </a:endParaRPr>
          </a:p>
          <a:p>
            <a:pPr indent="457200" algn="l">
              <a:spcAft>
                <a:spcPts val="1200"/>
              </a:spcAft>
            </a:pPr>
            <a:r>
              <a:rPr lang="zh-CN" altLang="en-US" sz="3200" b="0" i="0" dirty="0">
                <a:solidFill>
                  <a:srgbClr val="222222"/>
                </a:solidFill>
                <a:effectLst/>
                <a:latin typeface="Arial" panose="020B0604020202020204" pitchFamily="34" charset="0"/>
                <a:ea typeface="黑体" panose="02010609060101010101" pitchFamily="49" charset="-122"/>
                <a:cs typeface="Arial" panose="020B0604020202020204" pitchFamily="34" charset="0"/>
              </a:rPr>
              <a:t>用于标注元器件的投影轮廓、标称值</a:t>
            </a:r>
            <a:r>
              <a:rPr lang="zh-CN" altLang="en-US" sz="3200" dirty="0">
                <a:solidFill>
                  <a:srgbClr val="222222"/>
                </a:solidFill>
                <a:latin typeface="Arial" panose="020B0604020202020204" pitchFamily="34" charset="0"/>
                <a:ea typeface="黑体" panose="02010609060101010101" pitchFamily="49" charset="-122"/>
                <a:cs typeface="Arial" panose="020B0604020202020204" pitchFamily="34" charset="0"/>
              </a:rPr>
              <a:t>、</a:t>
            </a:r>
            <a:r>
              <a:rPr lang="zh-CN" altLang="en-US" sz="3200" b="0" i="0" dirty="0">
                <a:solidFill>
                  <a:srgbClr val="222222"/>
                </a:solidFill>
                <a:effectLst/>
                <a:latin typeface="Arial" panose="020B0604020202020204" pitchFamily="34" charset="0"/>
                <a:ea typeface="黑体" panose="02010609060101010101" pitchFamily="49" charset="-122"/>
                <a:cs typeface="Arial" panose="020B0604020202020204" pitchFamily="34" charset="0"/>
              </a:rPr>
              <a:t>型号以及注释字符和图片等。</a:t>
            </a:r>
            <a:endParaRPr lang="en-US" altLang="zh-CN" sz="3200" b="0" i="0" dirty="0">
              <a:solidFill>
                <a:srgbClr val="222222"/>
              </a:solidFill>
              <a:effectLst/>
              <a:latin typeface="Arial" panose="020B0604020202020204" pitchFamily="34" charset="0"/>
              <a:ea typeface="黑体" panose="02010609060101010101" pitchFamily="49" charset="-122"/>
              <a:cs typeface="Arial" panose="020B0604020202020204" pitchFamily="34" charset="0"/>
            </a:endParaRPr>
          </a:p>
          <a:p>
            <a:pPr indent="457200" algn="l">
              <a:spcAft>
                <a:spcPts val="1200"/>
              </a:spcAft>
            </a:pPr>
            <a:r>
              <a:rPr lang="zh-CN" altLang="en-US" sz="3200" b="0" i="0" dirty="0">
                <a:solidFill>
                  <a:srgbClr val="222222"/>
                </a:solidFill>
                <a:effectLst/>
                <a:latin typeface="Arial" panose="020B0604020202020204" pitchFamily="34" charset="0"/>
                <a:ea typeface="黑体" panose="02010609060101010101" pitchFamily="49" charset="-122"/>
                <a:cs typeface="Arial" panose="020B0604020202020204" pitchFamily="34" charset="0"/>
              </a:rPr>
              <a:t>这些信息不会对电路板的功能产生影响，主要用于：</a:t>
            </a:r>
            <a:endParaRPr lang="en-US" altLang="zh-CN" sz="3200" dirty="0">
              <a:solidFill>
                <a:srgbClr val="222222"/>
              </a:solidFill>
              <a:latin typeface="Arial" panose="020B0604020202020204" pitchFamily="34" charset="0"/>
              <a:ea typeface="黑体" panose="02010609060101010101" pitchFamily="49" charset="-122"/>
              <a:cs typeface="Arial" panose="020B0604020202020204" pitchFamily="34" charset="0"/>
            </a:endParaRPr>
          </a:p>
          <a:p>
            <a:pPr marL="914400" lvl="1" indent="-457200">
              <a:spcAft>
                <a:spcPts val="1200"/>
              </a:spcAft>
              <a:buFont typeface="Arial" panose="020B0604020202020204" pitchFamily="34" charset="0"/>
              <a:buChar char="•"/>
            </a:pPr>
            <a:r>
              <a:rPr lang="zh-CN" altLang="en-US" sz="3200" b="0" i="0" dirty="0">
                <a:solidFill>
                  <a:srgbClr val="7030A0"/>
                </a:solidFill>
                <a:effectLst/>
                <a:latin typeface="Arial" panose="020B0604020202020204" pitchFamily="34" charset="0"/>
                <a:ea typeface="黑体" panose="02010609060101010101" pitchFamily="49" charset="-122"/>
                <a:cs typeface="Arial" panose="020B0604020202020204" pitchFamily="34" charset="0"/>
              </a:rPr>
              <a:t>标识信息</a:t>
            </a:r>
            <a:r>
              <a:rPr lang="en-US" altLang="zh-CN" sz="3200" b="0" i="0" dirty="0">
                <a:solidFill>
                  <a:srgbClr val="222222"/>
                </a:solidFill>
                <a:effectLst/>
                <a:latin typeface="Arial" panose="020B0604020202020204" pitchFamily="34" charset="0"/>
                <a:ea typeface="黑体" panose="02010609060101010101" pitchFamily="49" charset="-122"/>
                <a:cs typeface="Arial" panose="020B0604020202020204" pitchFamily="34" charset="0"/>
              </a:rPr>
              <a:t>-</a:t>
            </a:r>
            <a:r>
              <a:rPr lang="zh-CN" altLang="en-US" sz="3200" b="0" i="0" dirty="0">
                <a:solidFill>
                  <a:srgbClr val="222222"/>
                </a:solidFill>
                <a:effectLst/>
                <a:latin typeface="Arial" panose="020B0604020202020204" pitchFamily="34" charset="0"/>
                <a:ea typeface="黑体" panose="02010609060101010101" pitchFamily="49" charset="-122"/>
                <a:cs typeface="Arial" panose="020B0604020202020204" pitchFamily="34" charset="0"/>
              </a:rPr>
              <a:t>可以印制元件编号、字符等信息，帮助识别和组</a:t>
            </a:r>
            <a:r>
              <a:rPr lang="en-US" altLang="zh-CN" sz="3200" b="0" i="0" dirty="0">
                <a:solidFill>
                  <a:srgbClr val="222222"/>
                </a:solidFill>
                <a:effectLst/>
                <a:latin typeface="Arial" panose="020B0604020202020204" pitchFamily="34" charset="0"/>
                <a:ea typeface="黑体" panose="02010609060101010101" pitchFamily="49" charset="-122"/>
                <a:cs typeface="Arial" panose="020B0604020202020204" pitchFamily="34" charset="0"/>
              </a:rPr>
              <a:t>	</a:t>
            </a:r>
            <a:r>
              <a:rPr lang="en-US" altLang="zh-CN" sz="3200" dirty="0">
                <a:solidFill>
                  <a:srgbClr val="222222"/>
                </a:solidFill>
                <a:latin typeface="Arial" panose="020B0604020202020204" pitchFamily="34" charset="0"/>
                <a:ea typeface="黑体" panose="02010609060101010101" pitchFamily="49" charset="-122"/>
                <a:cs typeface="Arial" panose="020B0604020202020204" pitchFamily="34" charset="0"/>
              </a:rPr>
              <a:t>       </a:t>
            </a:r>
            <a:r>
              <a:rPr lang="zh-CN" altLang="en-US" sz="3200" b="0" i="0" dirty="0">
                <a:solidFill>
                  <a:srgbClr val="222222"/>
                </a:solidFill>
                <a:effectLst/>
                <a:latin typeface="Arial" panose="020B0604020202020204" pitchFamily="34" charset="0"/>
                <a:ea typeface="黑体" panose="02010609060101010101" pitchFamily="49" charset="-122"/>
                <a:cs typeface="Arial" panose="020B0604020202020204" pitchFamily="34" charset="0"/>
              </a:rPr>
              <a:t>装电路板；</a:t>
            </a:r>
            <a:endParaRPr lang="en-US" altLang="zh-CN" sz="3200" dirty="0">
              <a:solidFill>
                <a:srgbClr val="222222"/>
              </a:solidFill>
              <a:latin typeface="Arial" panose="020B0604020202020204" pitchFamily="34" charset="0"/>
              <a:ea typeface="黑体" panose="02010609060101010101" pitchFamily="49" charset="-122"/>
              <a:cs typeface="Arial" panose="020B0604020202020204" pitchFamily="34" charset="0"/>
            </a:endParaRPr>
          </a:p>
          <a:p>
            <a:pPr marL="914400" lvl="1" indent="-457200">
              <a:spcAft>
                <a:spcPts val="1200"/>
              </a:spcAft>
              <a:buFont typeface="Arial" panose="020B0604020202020204" pitchFamily="34" charset="0"/>
              <a:buChar char="•"/>
            </a:pPr>
            <a:r>
              <a:rPr lang="zh-CN" altLang="en-US" sz="3200" b="0" i="0" dirty="0">
                <a:solidFill>
                  <a:srgbClr val="7030A0"/>
                </a:solidFill>
                <a:effectLst/>
                <a:latin typeface="Arial" panose="020B0604020202020204" pitchFamily="34" charset="0"/>
                <a:ea typeface="黑体" panose="02010609060101010101" pitchFamily="49" charset="-122"/>
                <a:cs typeface="Arial" panose="020B0604020202020204" pitchFamily="34" charset="0"/>
              </a:rPr>
              <a:t>辅助设计</a:t>
            </a:r>
            <a:r>
              <a:rPr lang="en-US" altLang="zh-CN" sz="3200" b="0" i="0" dirty="0">
                <a:solidFill>
                  <a:srgbClr val="222222"/>
                </a:solidFill>
                <a:effectLst/>
                <a:latin typeface="Arial" panose="020B0604020202020204" pitchFamily="34" charset="0"/>
                <a:ea typeface="黑体" panose="02010609060101010101" pitchFamily="49" charset="-122"/>
                <a:cs typeface="Arial" panose="020B0604020202020204" pitchFamily="34" charset="0"/>
              </a:rPr>
              <a:t>-</a:t>
            </a:r>
            <a:r>
              <a:rPr lang="zh-CN" altLang="en-US" sz="3200" b="0" i="0" dirty="0">
                <a:solidFill>
                  <a:srgbClr val="222222"/>
                </a:solidFill>
                <a:effectLst/>
                <a:latin typeface="Arial" panose="020B0604020202020204" pitchFamily="34" charset="0"/>
                <a:ea typeface="黑体" panose="02010609060101010101" pitchFamily="49" charset="-122"/>
                <a:cs typeface="Arial" panose="020B0604020202020204" pitchFamily="34" charset="0"/>
              </a:rPr>
              <a:t>在设计和制造过程中，</a:t>
            </a:r>
            <a:r>
              <a:rPr lang="en-US" altLang="zh-CN" sz="3200" b="0" i="0" dirty="0">
                <a:solidFill>
                  <a:srgbClr val="222222"/>
                </a:solidFill>
                <a:effectLst/>
                <a:latin typeface="Arial" panose="020B0604020202020204" pitchFamily="34" charset="0"/>
                <a:ea typeface="黑体" panose="02010609060101010101" pitchFamily="49" charset="-122"/>
                <a:cs typeface="Arial" panose="020B0604020202020204" pitchFamily="34" charset="0"/>
              </a:rPr>
              <a:t>Top overlay</a:t>
            </a:r>
            <a:r>
              <a:rPr lang="zh-CN" altLang="en-US" sz="3200" b="0" i="0" dirty="0">
                <a:solidFill>
                  <a:srgbClr val="222222"/>
                </a:solidFill>
                <a:effectLst/>
                <a:latin typeface="Arial" panose="020B0604020202020204" pitchFamily="34" charset="0"/>
                <a:ea typeface="黑体" panose="02010609060101010101" pitchFamily="49" charset="-122"/>
                <a:cs typeface="Arial" panose="020B0604020202020204" pitchFamily="34" charset="0"/>
              </a:rPr>
              <a:t>上的信息可以</a:t>
            </a:r>
            <a:r>
              <a:rPr lang="en-US" altLang="zh-CN" sz="3200" b="0" i="0" dirty="0">
                <a:solidFill>
                  <a:srgbClr val="222222"/>
                </a:solidFill>
                <a:effectLst/>
                <a:latin typeface="Arial" panose="020B0604020202020204" pitchFamily="34" charset="0"/>
                <a:ea typeface="黑体" panose="02010609060101010101" pitchFamily="49" charset="-122"/>
                <a:cs typeface="Arial" panose="020B0604020202020204" pitchFamily="34" charset="0"/>
              </a:rPr>
              <a:t>	</a:t>
            </a:r>
            <a:r>
              <a:rPr lang="en-US" altLang="zh-CN" sz="3200" dirty="0">
                <a:solidFill>
                  <a:srgbClr val="222222"/>
                </a:solidFill>
                <a:latin typeface="Arial" panose="020B0604020202020204" pitchFamily="34" charset="0"/>
                <a:ea typeface="黑体" panose="02010609060101010101" pitchFamily="49" charset="-122"/>
                <a:cs typeface="Arial" panose="020B0604020202020204" pitchFamily="34" charset="0"/>
              </a:rPr>
              <a:t>       </a:t>
            </a:r>
            <a:r>
              <a:rPr lang="zh-CN" altLang="en-US" sz="3200" b="0" i="0" dirty="0">
                <a:solidFill>
                  <a:srgbClr val="222222"/>
                </a:solidFill>
                <a:effectLst/>
                <a:latin typeface="Arial" panose="020B0604020202020204" pitchFamily="34" charset="0"/>
                <a:ea typeface="黑体" panose="02010609060101010101" pitchFamily="49" charset="-122"/>
                <a:cs typeface="Arial" panose="020B0604020202020204" pitchFamily="34" charset="0"/>
              </a:rPr>
              <a:t>辅助工程师和生产线进行操作和组装。</a:t>
            </a:r>
          </a:p>
        </p:txBody>
      </p:sp>
      <p:pic>
        <p:nvPicPr>
          <p:cNvPr id="13" name="图片 12">
            <a:extLst>
              <a:ext uri="{FF2B5EF4-FFF2-40B4-BE49-F238E27FC236}">
                <a16:creationId xmlns:a16="http://schemas.microsoft.com/office/drawing/2014/main" id="{D12DF5BA-2F1B-8557-E0E5-53E09966F3F1}"/>
              </a:ext>
            </a:extLst>
          </p:cNvPr>
          <p:cNvPicPr>
            <a:picLocks noChangeAspect="1"/>
          </p:cNvPicPr>
          <p:nvPr/>
        </p:nvPicPr>
        <p:blipFill>
          <a:blip r:embed="rId3"/>
          <a:stretch>
            <a:fillRect/>
          </a:stretch>
        </p:blipFill>
        <p:spPr>
          <a:xfrm>
            <a:off x="7768799" y="1765969"/>
            <a:ext cx="2961939" cy="707885"/>
          </a:xfrm>
          <a:prstGeom prst="rect">
            <a:avLst/>
          </a:prstGeom>
        </p:spPr>
      </p:pic>
    </p:spTree>
    <p:extLst>
      <p:ext uri="{BB962C8B-B14F-4D97-AF65-F5344CB8AC3E}">
        <p14:creationId xmlns:p14="http://schemas.microsoft.com/office/powerpoint/2010/main" val="3493160745"/>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53197-E1B8-35B3-95C4-9D174E23D35A}"/>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D36C4B92-E7BD-E837-F99F-6EFE481EA171}"/>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使用</a:t>
            </a:r>
            <a:r>
              <a:rPr lang="en-US" altLang="zh-CN" sz="4000" dirty="0">
                <a:solidFill>
                  <a:schemeClr val="accent1">
                    <a:lumMod val="75000"/>
                  </a:schemeClr>
                </a:solidFill>
                <a:latin typeface="Arial Black" panose="020B0A04020102020204" pitchFamily="34" charset="0"/>
                <a:ea typeface="黑体" panose="02010609060101010101" pitchFamily="49" charset="-122"/>
              </a:rPr>
              <a:t>AD</a:t>
            </a:r>
            <a:r>
              <a:rPr lang="zh-CN" altLang="en-US" sz="4000" dirty="0">
                <a:solidFill>
                  <a:schemeClr val="accent1">
                    <a:lumMod val="75000"/>
                  </a:schemeClr>
                </a:solidFill>
                <a:latin typeface="黑体" panose="02010609060101010101" pitchFamily="49" charset="-122"/>
                <a:ea typeface="黑体" panose="02010609060101010101" pitchFamily="49" charset="-122"/>
              </a:rPr>
              <a:t>设计印刷电路板图</a:t>
            </a:r>
            <a:endParaRPr lang="zh-CN" altLang="en-US" sz="4000" dirty="0">
              <a:solidFill>
                <a:srgbClr val="003F88"/>
              </a:solidFill>
              <a:latin typeface="黑体" panose="02010609060101010101" pitchFamily="49" charset="-122"/>
              <a:ea typeface="黑体" panose="02010609060101010101" pitchFamily="49" charset="-122"/>
            </a:endParaRPr>
          </a:p>
        </p:txBody>
      </p:sp>
      <p:sp>
        <p:nvSpPr>
          <p:cNvPr id="10" name="矩形 9">
            <a:extLst>
              <a:ext uri="{FF2B5EF4-FFF2-40B4-BE49-F238E27FC236}">
                <a16:creationId xmlns:a16="http://schemas.microsoft.com/office/drawing/2014/main" id="{20994A6F-735C-7087-77F8-AC918D83E1A2}"/>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文本框 6">
            <a:extLst>
              <a:ext uri="{FF2B5EF4-FFF2-40B4-BE49-F238E27FC236}">
                <a16:creationId xmlns:a16="http://schemas.microsoft.com/office/drawing/2014/main" id="{B06D2088-DDB5-B7D6-1E26-F3085ABAE474}"/>
              </a:ext>
            </a:extLst>
          </p:cNvPr>
          <p:cNvSpPr txBox="1"/>
          <p:nvPr/>
        </p:nvSpPr>
        <p:spPr>
          <a:xfrm>
            <a:off x="541079" y="1954684"/>
            <a:ext cx="11572364" cy="1723549"/>
          </a:xfrm>
          <a:prstGeom prst="rect">
            <a:avLst/>
          </a:prstGeom>
          <a:noFill/>
        </p:spPr>
        <p:txBody>
          <a:bodyPr wrap="square">
            <a:spAutoFit/>
          </a:bodyPr>
          <a:lstStyle/>
          <a:p>
            <a:pPr algn="l">
              <a:spcAft>
                <a:spcPts val="1200"/>
              </a:spcAft>
            </a:pPr>
            <a:r>
              <a:rPr lang="zh-CN" altLang="en-US" sz="3200" b="1" i="0" dirty="0">
                <a:solidFill>
                  <a:srgbClr val="333333"/>
                </a:solidFill>
                <a:effectLst/>
                <a:latin typeface="Arial" panose="020B0604020202020204" pitchFamily="34" charset="0"/>
                <a:ea typeface="黑体" panose="02010609060101010101" pitchFamily="49" charset="-122"/>
                <a:cs typeface="Arial" panose="020B0604020202020204" pitchFamily="34" charset="0"/>
              </a:rPr>
              <a:t>（</a:t>
            </a:r>
            <a:r>
              <a:rPr lang="en-US" altLang="zh-CN" sz="3200" b="1" i="0" dirty="0">
                <a:solidFill>
                  <a:srgbClr val="333333"/>
                </a:solidFill>
                <a:effectLst/>
                <a:latin typeface="Arial" panose="020B0604020202020204" pitchFamily="34" charset="0"/>
                <a:ea typeface="黑体" panose="02010609060101010101" pitchFamily="49" charset="-122"/>
                <a:cs typeface="Arial" panose="020B0604020202020204" pitchFamily="34" charset="0"/>
              </a:rPr>
              <a:t>2</a:t>
            </a:r>
            <a:r>
              <a:rPr lang="zh-CN" altLang="en-US" sz="3200" b="1" i="0" dirty="0">
                <a:solidFill>
                  <a:srgbClr val="333333"/>
                </a:solidFill>
                <a:effectLst/>
                <a:latin typeface="Arial" panose="020B0604020202020204" pitchFamily="34" charset="0"/>
                <a:ea typeface="黑体" panose="02010609060101010101" pitchFamily="49" charset="-122"/>
                <a:cs typeface="Arial" panose="020B0604020202020204" pitchFamily="34" charset="0"/>
              </a:rPr>
              <a:t>）底层丝印层</a:t>
            </a:r>
            <a:r>
              <a:rPr lang="en-US" altLang="zh-CN" sz="3200" b="1" i="0" dirty="0">
                <a:solidFill>
                  <a:srgbClr val="333333"/>
                </a:solidFill>
                <a:effectLst/>
                <a:latin typeface="Arial" panose="020B0604020202020204" pitchFamily="34" charset="0"/>
                <a:ea typeface="黑体" panose="02010609060101010101" pitchFamily="49" charset="-122"/>
                <a:cs typeface="Arial" panose="020B0604020202020204" pitchFamily="34" charset="0"/>
              </a:rPr>
              <a:t>(Bottom Overlay)</a:t>
            </a:r>
            <a:endParaRPr lang="zh-CN" altLang="en-US" sz="3200" b="0" i="0" dirty="0">
              <a:solidFill>
                <a:srgbClr val="222222"/>
              </a:solidFill>
              <a:effectLst/>
              <a:latin typeface="Arial" panose="020B0604020202020204" pitchFamily="34" charset="0"/>
              <a:ea typeface="黑体" panose="02010609060101010101" pitchFamily="49" charset="-122"/>
              <a:cs typeface="Arial" panose="020B0604020202020204" pitchFamily="34" charset="0"/>
            </a:endParaRPr>
          </a:p>
          <a:p>
            <a:pPr indent="457200" algn="l">
              <a:spcAft>
                <a:spcPts val="1200"/>
              </a:spcAft>
            </a:pPr>
            <a:r>
              <a:rPr lang="zh-CN" altLang="en-US" sz="3200" b="0" i="0" dirty="0">
                <a:solidFill>
                  <a:srgbClr val="222222"/>
                </a:solidFill>
                <a:effectLst/>
                <a:latin typeface="Arial" panose="020B0604020202020204" pitchFamily="34" charset="0"/>
                <a:ea typeface="黑体" panose="02010609060101010101" pitchFamily="49" charset="-122"/>
                <a:cs typeface="Arial" panose="020B0604020202020204" pitchFamily="34" charset="0"/>
              </a:rPr>
              <a:t>与顶层丝印层相同，若所有标注在顶层丝印层都已经包含，底层丝印层可关闭。</a:t>
            </a:r>
          </a:p>
        </p:txBody>
      </p:sp>
      <p:pic>
        <p:nvPicPr>
          <p:cNvPr id="15" name="图片 14">
            <a:extLst>
              <a:ext uri="{FF2B5EF4-FFF2-40B4-BE49-F238E27FC236}">
                <a16:creationId xmlns:a16="http://schemas.microsoft.com/office/drawing/2014/main" id="{B5613B93-CF03-3A55-7632-AD6E28094249}"/>
              </a:ext>
            </a:extLst>
          </p:cNvPr>
          <p:cNvPicPr>
            <a:picLocks noChangeAspect="1"/>
          </p:cNvPicPr>
          <p:nvPr/>
        </p:nvPicPr>
        <p:blipFill>
          <a:blip r:embed="rId3"/>
          <a:stretch>
            <a:fillRect/>
          </a:stretch>
        </p:blipFill>
        <p:spPr>
          <a:xfrm>
            <a:off x="4584570" y="5401866"/>
            <a:ext cx="3022860" cy="707885"/>
          </a:xfrm>
          <a:prstGeom prst="rect">
            <a:avLst/>
          </a:prstGeom>
        </p:spPr>
      </p:pic>
    </p:spTree>
    <p:extLst>
      <p:ext uri="{BB962C8B-B14F-4D97-AF65-F5344CB8AC3E}">
        <p14:creationId xmlns:p14="http://schemas.microsoft.com/office/powerpoint/2010/main" val="163636166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0F9ED-8E1A-39A8-46F0-7F54F9F0EC92}"/>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876F7732-71F9-EFCE-343E-5255A6FB9ACA}"/>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使用</a:t>
            </a:r>
            <a:r>
              <a:rPr lang="en-US" altLang="zh-CN" sz="4000" dirty="0">
                <a:solidFill>
                  <a:schemeClr val="accent1">
                    <a:lumMod val="75000"/>
                  </a:schemeClr>
                </a:solidFill>
                <a:latin typeface="Arial Black" panose="020B0A04020102020204" pitchFamily="34" charset="0"/>
                <a:ea typeface="黑体" panose="02010609060101010101" pitchFamily="49" charset="-122"/>
              </a:rPr>
              <a:t>AD</a:t>
            </a:r>
            <a:r>
              <a:rPr lang="zh-CN" altLang="en-US" sz="4000" dirty="0">
                <a:solidFill>
                  <a:schemeClr val="accent1">
                    <a:lumMod val="75000"/>
                  </a:schemeClr>
                </a:solidFill>
                <a:latin typeface="黑体" panose="02010609060101010101" pitchFamily="49" charset="-122"/>
                <a:ea typeface="黑体" panose="02010609060101010101" pitchFamily="49" charset="-122"/>
              </a:rPr>
              <a:t>设计印刷电路板图</a:t>
            </a:r>
            <a:endParaRPr lang="zh-CN" altLang="en-US" sz="4000" dirty="0">
              <a:solidFill>
                <a:srgbClr val="003F88"/>
              </a:solidFill>
              <a:latin typeface="黑体" panose="02010609060101010101" pitchFamily="49" charset="-122"/>
              <a:ea typeface="黑体" panose="02010609060101010101" pitchFamily="49" charset="-122"/>
            </a:endParaRPr>
          </a:p>
        </p:txBody>
      </p:sp>
      <p:sp>
        <p:nvSpPr>
          <p:cNvPr id="10" name="矩形 9">
            <a:extLst>
              <a:ext uri="{FF2B5EF4-FFF2-40B4-BE49-F238E27FC236}">
                <a16:creationId xmlns:a16="http://schemas.microsoft.com/office/drawing/2014/main" id="{B641141E-9B36-BE1D-69A1-03B9C8477316}"/>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文本框 6">
            <a:extLst>
              <a:ext uri="{FF2B5EF4-FFF2-40B4-BE49-F238E27FC236}">
                <a16:creationId xmlns:a16="http://schemas.microsoft.com/office/drawing/2014/main" id="{7824D321-2BCF-FC8E-94C2-216CDBAE9E5F}"/>
              </a:ext>
            </a:extLst>
          </p:cNvPr>
          <p:cNvSpPr txBox="1"/>
          <p:nvPr/>
        </p:nvSpPr>
        <p:spPr>
          <a:xfrm>
            <a:off x="541079" y="1712651"/>
            <a:ext cx="11572364" cy="3893374"/>
          </a:xfrm>
          <a:prstGeom prst="rect">
            <a:avLst/>
          </a:prstGeom>
          <a:noFill/>
        </p:spPr>
        <p:txBody>
          <a:bodyPr wrap="square">
            <a:spAutoFit/>
          </a:bodyPr>
          <a:lstStyle/>
          <a:p>
            <a:pPr>
              <a:spcAft>
                <a:spcPts val="2400"/>
              </a:spcAft>
            </a:pPr>
            <a:r>
              <a:rPr lang="zh-CN" altLang="en-US" sz="3200" b="1" i="0" dirty="0">
                <a:solidFill>
                  <a:srgbClr val="333333"/>
                </a:solidFill>
                <a:effectLst/>
                <a:latin typeface="Arial" panose="020B0604020202020204" pitchFamily="34" charset="0"/>
                <a:ea typeface="黑体" panose="02010609060101010101" pitchFamily="49" charset="-122"/>
                <a:cs typeface="Arial" panose="020B0604020202020204" pitchFamily="34" charset="0"/>
              </a:rPr>
              <a:t>实际应用中的设置方法</a:t>
            </a:r>
          </a:p>
          <a:p>
            <a:pPr algn="l">
              <a:spcAft>
                <a:spcPts val="1800"/>
              </a:spcAft>
            </a:pPr>
            <a:r>
              <a:rPr lang="zh-CN" altLang="en-US" sz="3200" b="0" i="0" dirty="0">
                <a:solidFill>
                  <a:srgbClr val="333333"/>
                </a:solidFill>
                <a:effectLst/>
                <a:latin typeface="Arial" panose="020B0604020202020204" pitchFamily="34" charset="0"/>
                <a:ea typeface="黑体" panose="02010609060101010101" pitchFamily="49" charset="-122"/>
                <a:cs typeface="Arial" panose="020B0604020202020204" pitchFamily="34" charset="0"/>
              </a:rPr>
              <a:t>在</a:t>
            </a:r>
            <a:r>
              <a:rPr lang="en-US" altLang="zh-CN" sz="3200" b="0" i="0" dirty="0">
                <a:solidFill>
                  <a:srgbClr val="333333"/>
                </a:solidFill>
                <a:effectLst/>
                <a:latin typeface="Arial" panose="020B0604020202020204" pitchFamily="34" charset="0"/>
                <a:ea typeface="黑体" panose="02010609060101010101" pitchFamily="49" charset="-122"/>
                <a:cs typeface="Arial" panose="020B0604020202020204" pitchFamily="34" charset="0"/>
              </a:rPr>
              <a:t>PCB</a:t>
            </a:r>
            <a:r>
              <a:rPr lang="zh-CN" altLang="en-US" sz="3200" b="0" i="0" dirty="0">
                <a:solidFill>
                  <a:srgbClr val="333333"/>
                </a:solidFill>
                <a:effectLst/>
                <a:latin typeface="Arial" panose="020B0604020202020204" pitchFamily="34" charset="0"/>
                <a:ea typeface="黑体" panose="02010609060101010101" pitchFamily="49" charset="-122"/>
                <a:cs typeface="Arial" panose="020B0604020202020204" pitchFamily="34" charset="0"/>
              </a:rPr>
              <a:t>编辑器中设置</a:t>
            </a:r>
            <a:r>
              <a:rPr lang="en-US" altLang="zh-CN" sz="3200" b="0" i="0" dirty="0">
                <a:solidFill>
                  <a:srgbClr val="333333"/>
                </a:solidFill>
                <a:effectLst/>
                <a:latin typeface="Arial" panose="020B0604020202020204" pitchFamily="34" charset="0"/>
                <a:ea typeface="黑体" panose="02010609060101010101" pitchFamily="49" charset="-122"/>
                <a:cs typeface="Arial" panose="020B0604020202020204" pitchFamily="34" charset="0"/>
              </a:rPr>
              <a:t>Top overlay</a:t>
            </a:r>
            <a:r>
              <a:rPr lang="zh-CN" altLang="en-US" sz="3200" b="0" i="0" dirty="0">
                <a:solidFill>
                  <a:srgbClr val="333333"/>
                </a:solidFill>
                <a:effectLst/>
                <a:latin typeface="Arial" panose="020B0604020202020204" pitchFamily="34" charset="0"/>
                <a:ea typeface="黑体" panose="02010609060101010101" pitchFamily="49" charset="-122"/>
                <a:cs typeface="Arial" panose="020B0604020202020204" pitchFamily="34" charset="0"/>
              </a:rPr>
              <a:t>：</a:t>
            </a:r>
          </a:p>
          <a:p>
            <a:pPr algn="l">
              <a:spcAft>
                <a:spcPts val="1200"/>
              </a:spcAft>
              <a:buFont typeface="+mj-lt"/>
              <a:buAutoNum type="arabicPeriod"/>
            </a:pPr>
            <a:r>
              <a:rPr lang="zh-CN" altLang="en-US" sz="3200" b="0" i="0" dirty="0">
                <a:solidFill>
                  <a:srgbClr val="333333"/>
                </a:solidFill>
                <a:effectLst/>
                <a:highlight>
                  <a:srgbClr val="FFFF00"/>
                </a:highlight>
                <a:latin typeface="Arial" panose="020B0604020202020204" pitchFamily="34" charset="0"/>
                <a:ea typeface="黑体" panose="02010609060101010101" pitchFamily="49" charset="-122"/>
                <a:cs typeface="Arial" panose="020B0604020202020204" pitchFamily="34" charset="0"/>
              </a:rPr>
              <a:t>选择顶层丝印层</a:t>
            </a:r>
            <a:r>
              <a:rPr lang="zh-CN" altLang="en-US" sz="3200" b="0" i="0" dirty="0">
                <a:solidFill>
                  <a:srgbClr val="333333"/>
                </a:solidFill>
                <a:effectLst/>
                <a:latin typeface="Arial" panose="020B0604020202020204" pitchFamily="34" charset="0"/>
                <a:ea typeface="黑体" panose="02010609060101010101" pitchFamily="49" charset="-122"/>
                <a:cs typeface="Arial" panose="020B0604020202020204" pitchFamily="34" charset="0"/>
              </a:rPr>
              <a:t>（</a:t>
            </a:r>
            <a:r>
              <a:rPr lang="en-US" altLang="zh-CN" sz="3200" b="0" i="0" dirty="0">
                <a:solidFill>
                  <a:srgbClr val="333333"/>
                </a:solidFill>
                <a:effectLst/>
                <a:latin typeface="Arial" panose="020B0604020202020204" pitchFamily="34" charset="0"/>
                <a:ea typeface="黑体" panose="02010609060101010101" pitchFamily="49" charset="-122"/>
                <a:cs typeface="Arial" panose="020B0604020202020204" pitchFamily="34" charset="0"/>
              </a:rPr>
              <a:t>Top Overlay</a:t>
            </a:r>
            <a:r>
              <a:rPr lang="zh-CN" altLang="en-US" sz="3200" b="0" i="0" dirty="0">
                <a:solidFill>
                  <a:srgbClr val="333333"/>
                </a:solidFill>
                <a:effectLst/>
                <a:latin typeface="Arial" panose="020B0604020202020204" pitchFamily="34" charset="0"/>
                <a:ea typeface="黑体" panose="02010609060101010101" pitchFamily="49" charset="-122"/>
                <a:cs typeface="Arial" panose="020B0604020202020204" pitchFamily="34" charset="0"/>
              </a:rPr>
              <a:t>）。</a:t>
            </a:r>
          </a:p>
          <a:p>
            <a:pPr algn="l">
              <a:spcAft>
                <a:spcPts val="1200"/>
              </a:spcAft>
              <a:buFont typeface="+mj-lt"/>
              <a:buAutoNum type="arabicPeriod"/>
            </a:pPr>
            <a:r>
              <a:rPr lang="zh-CN" altLang="en-US" sz="3200" b="0" i="0" dirty="0">
                <a:solidFill>
                  <a:srgbClr val="333333"/>
                </a:solidFill>
                <a:effectLst/>
                <a:latin typeface="Arial" panose="020B0604020202020204" pitchFamily="34" charset="0"/>
                <a:ea typeface="黑体" panose="02010609060101010101" pitchFamily="49" charset="-122"/>
                <a:cs typeface="Arial" panose="020B0604020202020204" pitchFamily="34" charset="0"/>
              </a:rPr>
              <a:t>在该层上绘制所需的丝印字符、文字或图片。</a:t>
            </a:r>
          </a:p>
          <a:p>
            <a:pPr algn="l">
              <a:spcAft>
                <a:spcPts val="1200"/>
              </a:spcAft>
              <a:buFont typeface="+mj-lt"/>
              <a:buAutoNum type="arabicPeriod"/>
            </a:pPr>
            <a:r>
              <a:rPr lang="zh-CN" altLang="en-US" sz="3200" b="0" i="0" dirty="0">
                <a:solidFill>
                  <a:srgbClr val="333333"/>
                </a:solidFill>
                <a:effectLst/>
                <a:latin typeface="Arial" panose="020B0604020202020204" pitchFamily="34" charset="0"/>
                <a:ea typeface="黑体" panose="02010609060101010101" pitchFamily="49" charset="-122"/>
                <a:cs typeface="Arial" panose="020B0604020202020204" pitchFamily="34" charset="0"/>
              </a:rPr>
              <a:t>确保这些信息不会干扰电路的正常工作，并且能够</a:t>
            </a:r>
            <a:r>
              <a:rPr lang="zh-CN" altLang="en-US" sz="3200" b="0" i="0" dirty="0">
                <a:solidFill>
                  <a:srgbClr val="333333"/>
                </a:solidFill>
                <a:effectLst/>
                <a:highlight>
                  <a:srgbClr val="FFFF00"/>
                </a:highlight>
                <a:latin typeface="Arial" panose="020B0604020202020204" pitchFamily="34" charset="0"/>
                <a:ea typeface="黑体" panose="02010609060101010101" pitchFamily="49" charset="-122"/>
                <a:cs typeface="Arial" panose="020B0604020202020204" pitchFamily="34" charset="0"/>
              </a:rPr>
              <a:t>清晰地标识电路板的关键部分</a:t>
            </a:r>
            <a:r>
              <a:rPr lang="zh-CN" altLang="en-US" sz="3200" b="0" i="0" dirty="0">
                <a:solidFill>
                  <a:srgbClr val="333333"/>
                </a:solidFill>
                <a:effectLst/>
                <a:latin typeface="Arial" panose="020B0604020202020204" pitchFamily="34" charset="0"/>
                <a:ea typeface="黑体" panose="02010609060101010101" pitchFamily="49" charset="-122"/>
                <a:cs typeface="Arial" panose="020B0604020202020204" pitchFamily="34" charset="0"/>
              </a:rPr>
              <a:t>。</a:t>
            </a:r>
          </a:p>
        </p:txBody>
      </p:sp>
    </p:spTree>
    <p:extLst>
      <p:ext uri="{BB962C8B-B14F-4D97-AF65-F5344CB8AC3E}">
        <p14:creationId xmlns:p14="http://schemas.microsoft.com/office/powerpoint/2010/main" val="253177177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3E2E104E-E8B0-FB61-6C50-10722BAD33E0}"/>
              </a:ext>
            </a:extLst>
          </p:cNvPr>
          <p:cNvSpPr txBox="1"/>
          <p:nvPr/>
        </p:nvSpPr>
        <p:spPr>
          <a:xfrm>
            <a:off x="541079" y="608842"/>
            <a:ext cx="11650920" cy="707886"/>
          </a:xfrm>
          <a:prstGeom prst="rect">
            <a:avLst/>
          </a:prstGeom>
          <a:noFill/>
        </p:spPr>
        <p:txBody>
          <a:bodyPr wrap="square" rtlCol="0">
            <a:spAutoFit/>
          </a:bodyPr>
          <a:lstStyle/>
          <a:p>
            <a:r>
              <a:rPr lang="zh-CN" altLang="en-US" sz="4000" dirty="0">
                <a:solidFill>
                  <a:schemeClr val="accent1">
                    <a:lumMod val="75000"/>
                  </a:schemeClr>
                </a:solidFill>
                <a:latin typeface="黑体" panose="02010609060101010101" pitchFamily="49" charset="-122"/>
                <a:ea typeface="黑体" panose="02010609060101010101" pitchFamily="49" charset="-122"/>
              </a:rPr>
              <a:t>电路板设计概述</a:t>
            </a:r>
            <a:r>
              <a:rPr lang="en-US" altLang="zh-CN" sz="4000" dirty="0">
                <a:solidFill>
                  <a:schemeClr val="accent1">
                    <a:lumMod val="75000"/>
                  </a:schemeClr>
                </a:solidFill>
                <a:latin typeface="黑体" panose="02010609060101010101" pitchFamily="49" charset="-122"/>
                <a:ea typeface="黑体" panose="02010609060101010101" pitchFamily="49" charset="-122"/>
              </a:rPr>
              <a:t>——</a:t>
            </a:r>
            <a:r>
              <a:rPr lang="zh-CN" altLang="en-US" sz="4000" dirty="0">
                <a:solidFill>
                  <a:schemeClr val="accent1">
                    <a:lumMod val="75000"/>
                  </a:schemeClr>
                </a:solidFill>
                <a:latin typeface="黑体" panose="02010609060101010101" pitchFamily="49" charset="-122"/>
                <a:ea typeface="黑体" panose="02010609060101010101" pitchFamily="49" charset="-122"/>
              </a:rPr>
              <a:t>使用</a:t>
            </a:r>
            <a:r>
              <a:rPr lang="en-US" altLang="zh-CN" sz="4000" dirty="0">
                <a:solidFill>
                  <a:schemeClr val="accent1">
                    <a:lumMod val="75000"/>
                  </a:schemeClr>
                </a:solidFill>
                <a:latin typeface="Arial Black" panose="020B0A04020102020204" pitchFamily="34" charset="0"/>
                <a:ea typeface="黑体" panose="02010609060101010101" pitchFamily="49" charset="-122"/>
              </a:rPr>
              <a:t>AD</a:t>
            </a:r>
            <a:r>
              <a:rPr lang="zh-CN" altLang="en-US" sz="4000" dirty="0">
                <a:solidFill>
                  <a:schemeClr val="accent1">
                    <a:lumMod val="75000"/>
                  </a:schemeClr>
                </a:solidFill>
                <a:latin typeface="黑体" panose="02010609060101010101" pitchFamily="49" charset="-122"/>
                <a:ea typeface="黑体" panose="02010609060101010101" pitchFamily="49" charset="-122"/>
              </a:rPr>
              <a:t>设计印刷电路板图</a:t>
            </a:r>
            <a:endParaRPr lang="zh-CN" altLang="en-US" sz="4000" dirty="0">
              <a:solidFill>
                <a:srgbClr val="003F88"/>
              </a:solidFill>
              <a:latin typeface="黑体" panose="02010609060101010101" pitchFamily="49" charset="-122"/>
              <a:ea typeface="黑体" panose="02010609060101010101" pitchFamily="49" charset="-122"/>
            </a:endParaRPr>
          </a:p>
        </p:txBody>
      </p:sp>
      <p:sp>
        <p:nvSpPr>
          <p:cNvPr id="3" name="矩形 2">
            <a:extLst>
              <a:ext uri="{FF2B5EF4-FFF2-40B4-BE49-F238E27FC236}">
                <a16:creationId xmlns:a16="http://schemas.microsoft.com/office/drawing/2014/main" id="{F837A15A-6D26-7D23-0877-B9C89AA0FC0E}"/>
              </a:ext>
            </a:extLst>
          </p:cNvPr>
          <p:cNvSpPr/>
          <p:nvPr/>
        </p:nvSpPr>
        <p:spPr>
          <a:xfrm>
            <a:off x="1" y="561912"/>
            <a:ext cx="416966" cy="740193"/>
          </a:xfrm>
          <a:prstGeom prst="rect">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5" name="图片 4">
            <a:extLst>
              <a:ext uri="{FF2B5EF4-FFF2-40B4-BE49-F238E27FC236}">
                <a16:creationId xmlns:a16="http://schemas.microsoft.com/office/drawing/2014/main" id="{FB2E5C61-BC88-4028-7582-6999C01E023C}"/>
              </a:ext>
            </a:extLst>
          </p:cNvPr>
          <p:cNvPicPr>
            <a:picLocks noChangeAspect="1"/>
          </p:cNvPicPr>
          <p:nvPr/>
        </p:nvPicPr>
        <p:blipFill>
          <a:blip r:embed="rId2"/>
          <a:stretch>
            <a:fillRect/>
          </a:stretch>
        </p:blipFill>
        <p:spPr>
          <a:xfrm>
            <a:off x="772033" y="1782260"/>
            <a:ext cx="9994790" cy="2133483"/>
          </a:xfrm>
          <a:prstGeom prst="rect">
            <a:avLst/>
          </a:prstGeom>
        </p:spPr>
      </p:pic>
      <p:sp>
        <p:nvSpPr>
          <p:cNvPr id="6" name="矩形: 圆角 5">
            <a:extLst>
              <a:ext uri="{FF2B5EF4-FFF2-40B4-BE49-F238E27FC236}">
                <a16:creationId xmlns:a16="http://schemas.microsoft.com/office/drawing/2014/main" id="{437B6A68-73EC-CF53-9179-4E9C9053C8FB}"/>
              </a:ext>
            </a:extLst>
          </p:cNvPr>
          <p:cNvSpPr/>
          <p:nvPr/>
        </p:nvSpPr>
        <p:spPr>
          <a:xfrm>
            <a:off x="2669082" y="2413353"/>
            <a:ext cx="2997641" cy="357809"/>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圆角 6">
            <a:extLst>
              <a:ext uri="{FF2B5EF4-FFF2-40B4-BE49-F238E27FC236}">
                <a16:creationId xmlns:a16="http://schemas.microsoft.com/office/drawing/2014/main" id="{2FD9C3A0-6080-37F8-AE23-8E152A9EF664}"/>
              </a:ext>
            </a:extLst>
          </p:cNvPr>
          <p:cNvSpPr/>
          <p:nvPr/>
        </p:nvSpPr>
        <p:spPr>
          <a:xfrm>
            <a:off x="2567041" y="2834424"/>
            <a:ext cx="1922890" cy="413816"/>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0581539B-B93C-C100-4C6A-376B74C185BB}"/>
              </a:ext>
            </a:extLst>
          </p:cNvPr>
          <p:cNvSpPr txBox="1"/>
          <p:nvPr/>
        </p:nvSpPr>
        <p:spPr>
          <a:xfrm>
            <a:off x="772033" y="3979005"/>
            <a:ext cx="2886324" cy="646331"/>
          </a:xfrm>
          <a:prstGeom prst="rect">
            <a:avLst/>
          </a:prstGeom>
          <a:noFill/>
        </p:spPr>
        <p:txBody>
          <a:bodyPr wrap="square" rtlCol="0">
            <a:spAutoFit/>
          </a:bodyPr>
          <a:lstStyle/>
          <a:p>
            <a:r>
              <a:rPr lang="zh-CN" altLang="en-US" dirty="0">
                <a:solidFill>
                  <a:srgbClr val="FF0000"/>
                </a:solidFill>
              </a:rPr>
              <a:t>可能会用到的元器件的封装在该文档的第八页</a:t>
            </a:r>
          </a:p>
        </p:txBody>
      </p:sp>
      <p:pic>
        <p:nvPicPr>
          <p:cNvPr id="4" name="图片 3">
            <a:extLst>
              <a:ext uri="{FF2B5EF4-FFF2-40B4-BE49-F238E27FC236}">
                <a16:creationId xmlns:a16="http://schemas.microsoft.com/office/drawing/2014/main" id="{32B7B1FA-8873-B09F-0FCE-1A8E2E852182}"/>
              </a:ext>
            </a:extLst>
          </p:cNvPr>
          <p:cNvPicPr>
            <a:picLocks noChangeAspect="1"/>
          </p:cNvPicPr>
          <p:nvPr/>
        </p:nvPicPr>
        <p:blipFill rotWithShape="1">
          <a:blip r:embed="rId3"/>
          <a:srcRect l="33388" t="9957" b="24004"/>
          <a:stretch/>
        </p:blipFill>
        <p:spPr>
          <a:xfrm>
            <a:off x="6466806" y="1943363"/>
            <a:ext cx="3844562" cy="4431945"/>
          </a:xfrm>
          <a:prstGeom prst="rect">
            <a:avLst/>
          </a:prstGeom>
        </p:spPr>
      </p:pic>
      <p:cxnSp>
        <p:nvCxnSpPr>
          <p:cNvPr id="9" name="直接箭头连接符 8">
            <a:extLst>
              <a:ext uri="{FF2B5EF4-FFF2-40B4-BE49-F238E27FC236}">
                <a16:creationId xmlns:a16="http://schemas.microsoft.com/office/drawing/2014/main" id="{1DD74A4B-E4C2-8200-BD83-E804F42019D9}"/>
              </a:ext>
            </a:extLst>
          </p:cNvPr>
          <p:cNvCxnSpPr>
            <a:cxnSpLocks/>
          </p:cNvCxnSpPr>
          <p:nvPr/>
        </p:nvCxnSpPr>
        <p:spPr>
          <a:xfrm>
            <a:off x="3832437" y="3088224"/>
            <a:ext cx="2634369" cy="47928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2390344"/>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23173</TotalTime>
  <Words>38718</Words>
  <Application>Microsoft Office PowerPoint</Application>
  <PresentationFormat>宽屏</PresentationFormat>
  <Paragraphs>893</Paragraphs>
  <Slides>123</Slides>
  <Notes>80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123</vt:i4>
      </vt:variant>
    </vt:vector>
  </HeadingPairs>
  <TitlesOfParts>
    <vt:vector size="137" baseType="lpstr">
      <vt:lpstr>-apple-system</vt:lpstr>
      <vt:lpstr>Malgun Gothic</vt:lpstr>
      <vt:lpstr>PingFang SC</vt:lpstr>
      <vt:lpstr>等线</vt:lpstr>
      <vt:lpstr>等线 Light</vt:lpstr>
      <vt:lpstr>黑体</vt:lpstr>
      <vt:lpstr>华文琥珀</vt:lpstr>
      <vt:lpstr>华文细黑</vt:lpstr>
      <vt:lpstr>宋体</vt:lpstr>
      <vt:lpstr>Arial</vt:lpstr>
      <vt:lpstr>Arial Black</vt:lpstr>
      <vt:lpstr>Times New Roman</vt:lpstr>
      <vt:lpstr>Wingdings</vt:lpstr>
      <vt:lpstr>Office 主题​​</vt:lpstr>
      <vt:lpstr>电子电路的电子设计自动化* （Electronic Design Automation, EDA）</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准备工作：配置系统参数、原理图编辑器参数、PCB编辑器参数</vt:lpstr>
      <vt:lpstr>准备工作：配置系统参数、原理图编辑器参数、PCB编辑器参数</vt:lpstr>
      <vt:lpstr>准备工作：配置系统参数、原理图编辑器参数、PCB编辑器参数</vt:lpstr>
      <vt:lpstr>准备工作：配置系统参数、原理图编辑器参数、PCB编辑器参数</vt:lpstr>
      <vt:lpstr>准备工作：配置系统参数、原理图编辑器参数、PCB编辑器参数</vt:lpstr>
      <vt:lpstr>准备工作：配置系统参数、原理图编辑器参数、PCB编辑器参数</vt:lpstr>
      <vt:lpstr>准备工作：配置系统参数、原理图编辑器参数、PCB编辑器参数</vt:lpstr>
      <vt:lpstr>准备工作：配置系统参数、原理图编辑器参数、PCB编辑器参数</vt:lpstr>
      <vt:lpstr>准备工作：配置系统参数、原理图编辑器参数、PCB编辑器参数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注意：添加库时，文件类型筛选栏：All Files(’.’ )</vt:lpstr>
      <vt:lpstr>注意： *复制库文件，放在安装目录下的Library文件夹 *原理图库文件和PCB封装库文件放在安装目录下的SCHLIB文件夹和PCBLIB文件夹</vt:lpstr>
      <vt:lpstr>1. ftp上提供的原理图库和封装库； 2. 根据需要安装，不需要不要安装太多； 3. 安装—— 原理图库：LixhSch.lib, Schematic Operational Amplifiers.lib 封装库LixhPCB.LIB, PCB Footprints.lib</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电子电路的EDA辅助设计</dc:title>
  <dc:creator>123 123</dc:creator>
  <cp:lastModifiedBy>123 123</cp:lastModifiedBy>
  <cp:revision>140</cp:revision>
  <dcterms:created xsi:type="dcterms:W3CDTF">2024-02-29T03:14:23Z</dcterms:created>
  <dcterms:modified xsi:type="dcterms:W3CDTF">2025-03-05T05:17:48Z</dcterms:modified>
</cp:coreProperties>
</file>