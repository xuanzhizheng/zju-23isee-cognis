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sldIdLst>
    <p:sldId id="281" r:id="rId4"/>
    <p:sldId id="279" r:id="rId5"/>
    <p:sldId id="273" r:id="rId6"/>
    <p:sldId id="274" r:id="rId7"/>
    <p:sldId id="280" r:id="rId8"/>
    <p:sldId id="276" r:id="rId9"/>
    <p:sldId id="277" r:id="rId10"/>
    <p:sldId id="288" r:id="rId11"/>
    <p:sldId id="289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E93EE51-2F9E-43D1-B81A-4A2FABA63B3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AAB897-5BCB-463C-9410-E3A71AFBDB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C5C572-CADF-43BD-9C03-3F90D8279D0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383AA13-1A75-42B0-8A02-192DC3D122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DEB3B2-3228-4806-913A-3A06B54F6A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B52F60-D370-4D7E-B992-17E8216F492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D8E277F-57D9-4010-9997-5FAD73B66E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4AAE0A-0835-47C6-A524-72FEF3CFA40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9FA31D-4606-4C8B-BD1B-2FCD50F1E83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DA1227C-A250-41D6-99D8-20DB8C2E1A0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BA15E5-5607-4805-A5D3-B07F924F4D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C2FBAED-0A35-4DDA-8774-4F6690311A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21CA54-9127-4650-AFED-6C39029AF0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9CFC6C-663F-45DD-A7DC-CD2FBFCFA3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2615D7-B6D0-4EA3-949C-7C7245BA01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E93EE51-2F9E-43D1-B81A-4A2FABA63B3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AAB897-5BCB-463C-9410-E3A71AFBDB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C5C572-CADF-43BD-9C03-3F90D8279D0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383AA13-1A75-42B0-8A02-192DC3D122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DEB3B2-3228-4806-913A-3A06B54F6A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B52F60-D370-4D7E-B992-17E8216F492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D8E277F-57D9-4010-9997-5FAD73B66E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4AAE0A-0835-47C6-A524-72FEF3CFA40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9FA31D-4606-4C8B-BD1B-2FCD50F1E83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DA1227C-A250-41D6-99D8-20DB8C2E1A0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BA15E5-5607-4805-A5D3-B07F924F4D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C2FBAED-0A35-4DDA-8774-4F6690311A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21CA54-9127-4650-AFED-6C39029AF0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9CFC6C-663F-45DD-A7DC-CD2FBFCFA3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2615D7-B6D0-4EA3-949C-7C7245BA01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 userDrawn="1"/>
        </p:nvSpPr>
        <p:spPr bwMode="auto">
          <a:xfrm>
            <a:off x="0" y="6381750"/>
            <a:ext cx="12192000" cy="476250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50000">
                <a:srgbClr val="761800"/>
              </a:gs>
              <a:gs pos="100000">
                <a:srgbClr val="FF33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 sz="1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53189"/>
            <a:ext cx="2844800" cy="26828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CBF37BDF-E71A-401B-9843-24D78D88995A}" type="slidenum">
              <a:rPr lang="en-US" altLang="zh-CN" smtClean="0"/>
            </a:fld>
            <a:endParaRPr lang="en-US" altLang="zh-CN"/>
          </a:p>
        </p:txBody>
      </p:sp>
      <p:sp>
        <p:nvSpPr>
          <p:cNvPr id="1031" name="Line 8"/>
          <p:cNvSpPr>
            <a:spLocks noChangeShapeType="1"/>
          </p:cNvSpPr>
          <p:nvPr userDrawn="1"/>
        </p:nvSpPr>
        <p:spPr bwMode="auto">
          <a:xfrm>
            <a:off x="0" y="6381750"/>
            <a:ext cx="121920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 userDrawn="1"/>
        </p:nvSpPr>
        <p:spPr bwMode="auto">
          <a:xfrm>
            <a:off x="0" y="6381750"/>
            <a:ext cx="12192000" cy="476250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50000">
                <a:srgbClr val="761800"/>
              </a:gs>
              <a:gs pos="100000">
                <a:srgbClr val="FF33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53188"/>
            <a:ext cx="2844800" cy="26828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solidFill>
                  <a:srgbClr val="FFFF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53188"/>
            <a:ext cx="2844800" cy="26828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FFFF00"/>
                </a:solidFill>
              </a:defRPr>
            </a:lvl1pPr>
          </a:lstStyle>
          <a:p>
            <a:fld id="{CBF37BDF-E71A-401B-9843-24D78D88995A}" type="slidenum">
              <a:rPr lang="en-US" altLang="zh-CN"/>
            </a:fld>
            <a:endParaRPr lang="en-US" altLang="zh-CN"/>
          </a:p>
        </p:txBody>
      </p:sp>
      <p:sp>
        <p:nvSpPr>
          <p:cNvPr id="1031" name="Line 8"/>
          <p:cNvSpPr>
            <a:spLocks noChangeShapeType="1"/>
          </p:cNvSpPr>
          <p:nvPr userDrawn="1"/>
        </p:nvSpPr>
        <p:spPr bwMode="auto">
          <a:xfrm>
            <a:off x="0" y="6381750"/>
            <a:ext cx="121920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Text Box 1024"/>
          <p:cNvSpPr txBox="1">
            <a:spLocks noChangeArrowheads="1"/>
          </p:cNvSpPr>
          <p:nvPr userDrawn="1"/>
        </p:nvSpPr>
        <p:spPr bwMode="auto">
          <a:xfrm>
            <a:off x="239184" y="6446838"/>
            <a:ext cx="8352367" cy="368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 四 章  组 合 逻 辑 电 路 的 分 析 与 设 计</a:t>
            </a:r>
            <a:endParaRPr lang="zh-CN" altLang="en-US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3" name="Text Box 1024"/>
          <p:cNvSpPr txBox="1">
            <a:spLocks noChangeArrowheads="1"/>
          </p:cNvSpPr>
          <p:nvPr userDrawn="1"/>
        </p:nvSpPr>
        <p:spPr bwMode="auto">
          <a:xfrm>
            <a:off x="9457267" y="6491288"/>
            <a:ext cx="2734733" cy="368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lilinear@zju.edu.cn</a:t>
            </a:r>
            <a:endParaRPr lang="en-US" altLang="zh-CN">
              <a:solidFill>
                <a:srgbClr val="FFCC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状态机</a:t>
            </a:r>
            <a:r>
              <a:rPr lang="zh-CN" altLang="en-US"/>
              <a:t>练习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8480" y="1697355"/>
            <a:ext cx="5902960" cy="41592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0" y="1451610"/>
            <a:ext cx="4703445" cy="4069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 b="1"/>
              <a:t>课堂练习：将</a:t>
            </a:r>
            <a:r>
              <a:rPr lang="en-US" altLang="zh-CN" sz="2400" b="1"/>
              <a:t>lab4</a:t>
            </a:r>
            <a:r>
              <a:rPr lang="zh-CN" altLang="en-US" sz="2400" b="1"/>
              <a:t>密码改为</a:t>
            </a:r>
            <a:r>
              <a:rPr lang="en-US" altLang="zh-CN" sz="2400" b="1"/>
              <a:t>1101</a:t>
            </a:r>
            <a:endParaRPr lang="zh-CN" altLang="en-US" sz="2400" b="1"/>
          </a:p>
          <a:p>
            <a:pPr>
              <a:lnSpc>
                <a:spcPct val="150000"/>
              </a:lnSpc>
            </a:pPr>
            <a:r>
              <a:rPr lang="en-US" altLang="zh-CN"/>
              <a:t>1. </a:t>
            </a:r>
            <a:r>
              <a:rPr lang="zh-CN" altLang="en-US"/>
              <a:t>画出对应的状态转换图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2. </a:t>
            </a:r>
            <a:r>
              <a:rPr lang="zh-CN" altLang="en-US"/>
              <a:t>在</a:t>
            </a:r>
            <a:r>
              <a:rPr lang="en-US" altLang="zh-CN"/>
              <a:t>lab4</a:t>
            </a:r>
            <a:r>
              <a:rPr lang="zh-CN" altLang="en-US"/>
              <a:t>程序的基础上修改</a:t>
            </a:r>
            <a:r>
              <a:rPr lang="zh-CN" altLang="en-US"/>
              <a:t>代码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3. </a:t>
            </a:r>
            <a:r>
              <a:rPr lang="zh-CN" altLang="en-US"/>
              <a:t>上板子</a:t>
            </a:r>
            <a:r>
              <a:rPr lang="zh-CN" altLang="en-US"/>
              <a:t>验证。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共</a:t>
            </a:r>
            <a:r>
              <a:rPr lang="en-US" altLang="zh-CN"/>
              <a:t>30min</a:t>
            </a:r>
            <a:r>
              <a:rPr lang="zh-CN" altLang="en-US"/>
              <a:t>，建议</a:t>
            </a:r>
            <a:r>
              <a:rPr lang="en-US" altLang="zh-CN"/>
              <a:t>10min</a:t>
            </a:r>
            <a:r>
              <a:rPr lang="zh-CN" altLang="en-US"/>
              <a:t>之内画完状态图，</a:t>
            </a:r>
            <a:r>
              <a:rPr lang="en-US" altLang="zh-CN"/>
              <a:t>20min</a:t>
            </a:r>
            <a:r>
              <a:rPr lang="zh-CN" altLang="en-US"/>
              <a:t>完成代码及</a:t>
            </a:r>
            <a:r>
              <a:rPr lang="zh-CN" altLang="en-US"/>
              <a:t>上板子。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时间到后开始验收，演示板子操作并展示所</a:t>
            </a:r>
            <a:r>
              <a:rPr lang="zh-CN" altLang="en-US"/>
              <a:t>画状态图。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36180" y="1451610"/>
            <a:ext cx="206756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en-US" altLang="zh-CN" b="1">
                <a:sym typeface="+mn-ea"/>
              </a:rPr>
              <a:t>lab4</a:t>
            </a:r>
            <a:r>
              <a:rPr lang="zh-CN" altLang="en-US" b="1">
                <a:sym typeface="+mn-ea"/>
              </a:rPr>
              <a:t>密码：</a:t>
            </a:r>
            <a:r>
              <a:rPr lang="en-US" altLang="zh-CN" b="1">
                <a:sym typeface="+mn-ea"/>
              </a:rPr>
              <a:t>01011</a:t>
            </a:r>
            <a:endParaRPr lang="en-US" altLang="zh-CN" b="1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组合逻辑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idx="1"/>
          </p:nvPr>
        </p:nvSpPr>
        <p:spPr>
          <a:xfrm>
            <a:off x="838200" y="1328420"/>
            <a:ext cx="10515600" cy="4580890"/>
          </a:xfrm>
        </p:spPr>
        <p:txBody>
          <a:bodyPr/>
          <a:p>
            <a:pPr marL="0" indent="0">
              <a:buNone/>
            </a:pPr>
            <a:r>
              <a:rPr lang="zh-CN" altLang="en-US"/>
              <a:t>优先</a:t>
            </a:r>
            <a:r>
              <a:rPr lang="zh-CN" altLang="en-US"/>
              <a:t>编码器</a:t>
            </a:r>
            <a:r>
              <a:rPr lang="en-US" altLang="zh-CN"/>
              <a:t> 1-8</a:t>
            </a:r>
            <a:r>
              <a:rPr lang="zh-CN" altLang="en-US"/>
              <a:t>显示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229360" y="5309235"/>
            <a:ext cx="102965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输入：红圈所示开关，</a:t>
            </a:r>
            <a:r>
              <a:rPr lang="en-US" altLang="zh-CN"/>
              <a:t>8</a:t>
            </a:r>
            <a:r>
              <a:rPr lang="zh-CN" altLang="en-US"/>
              <a:t>个开关表示</a:t>
            </a:r>
            <a:r>
              <a:rPr lang="en-US" altLang="zh-CN"/>
              <a:t>1-8</a:t>
            </a:r>
            <a:r>
              <a:rPr lang="zh-CN" altLang="en-US"/>
              <a:t>，引脚要求按照红圈</a:t>
            </a:r>
            <a:r>
              <a:rPr lang="zh-CN" altLang="en-US"/>
              <a:t>设置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输出：红圈所示数码管，输出数字</a:t>
            </a:r>
            <a:r>
              <a:rPr lang="en-US" altLang="zh-CN"/>
              <a:t>01-08</a:t>
            </a:r>
            <a:r>
              <a:rPr lang="zh-CN" altLang="en-US"/>
              <a:t>。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1243965" y="2284730"/>
            <a:ext cx="4297680" cy="2879725"/>
            <a:chOff x="1959" y="4166"/>
            <a:chExt cx="6768" cy="4535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rcRect l="10579" t="5873" r="7586" b="2587"/>
            <a:stretch>
              <a:fillRect/>
            </a:stretch>
          </p:blipFill>
          <p:spPr>
            <a:xfrm rot="16200000">
              <a:off x="3075" y="3049"/>
              <a:ext cx="4535" cy="6768"/>
            </a:xfrm>
            <a:prstGeom prst="rect">
              <a:avLst/>
            </a:prstGeom>
          </p:spPr>
        </p:pic>
        <p:sp>
          <p:nvSpPr>
            <p:cNvPr id="21" name="椭圆 20"/>
            <p:cNvSpPr/>
            <p:nvPr/>
          </p:nvSpPr>
          <p:spPr>
            <a:xfrm>
              <a:off x="2455" y="7978"/>
              <a:ext cx="3019" cy="72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2615" y="5584"/>
              <a:ext cx="780" cy="56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789420" y="2284730"/>
            <a:ext cx="4656455" cy="2879725"/>
            <a:chOff x="10692" y="4166"/>
            <a:chExt cx="7333" cy="4535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/>
            <a:srcRect l="9384" t="4814" r="17004" b="5951"/>
            <a:stretch>
              <a:fillRect/>
            </a:stretch>
          </p:blipFill>
          <p:spPr>
            <a:xfrm rot="16200000">
              <a:off x="12091" y="2767"/>
              <a:ext cx="4535" cy="7333"/>
            </a:xfrm>
            <a:prstGeom prst="rect">
              <a:avLst/>
            </a:prstGeom>
          </p:spPr>
        </p:pic>
        <p:sp>
          <p:nvSpPr>
            <p:cNvPr id="26" name="椭圆 25"/>
            <p:cNvSpPr/>
            <p:nvPr/>
          </p:nvSpPr>
          <p:spPr>
            <a:xfrm>
              <a:off x="11102" y="7847"/>
              <a:ext cx="3304" cy="72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1745" y="6853"/>
              <a:ext cx="1157" cy="6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Priority Encoder Design</a:t>
            </a:r>
            <a:endParaRPr lang="zh-CN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1028700" y="1317978"/>
            <a:ext cx="7664408" cy="27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H7 </a:t>
            </a:r>
            <a:r>
              <a:rPr lang="en-US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I7’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)’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H6 </a:t>
            </a:r>
            <a:r>
              <a:rPr lang="en-US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I6’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)’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lang="en-US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I7’</a:t>
            </a:r>
            <a:endParaRPr lang="en-US" altLang="zh-CN" sz="24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H5 </a:t>
            </a:r>
            <a:r>
              <a:rPr lang="en-US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I5’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)’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I6’</a:t>
            </a:r>
            <a:r>
              <a:rPr lang="en-US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I7’</a:t>
            </a:r>
            <a:endParaRPr lang="en-US" altLang="zh-CN" sz="24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altLang="zh-CN" sz="24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nn-NO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H0 </a:t>
            </a:r>
            <a:r>
              <a:rPr lang="nn-NO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nn-NO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)’</a:t>
            </a:r>
            <a:r>
              <a:rPr lang="nn-NO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n-NO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lang="nn-NO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I1’</a:t>
            </a:r>
            <a:r>
              <a:rPr lang="nn-NO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lang="nn-NO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I2’</a:t>
            </a:r>
            <a:r>
              <a:rPr lang="nn-NO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lang="nn-NO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I3’</a:t>
            </a:r>
            <a:r>
              <a:rPr lang="nn-NO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lang="nn-NO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I4’</a:t>
            </a:r>
            <a:r>
              <a:rPr lang="nn-NO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lang="nn-NO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I5’</a:t>
            </a:r>
            <a:r>
              <a:rPr lang="nn-NO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lang="nn-NO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I6’</a:t>
            </a:r>
            <a:r>
              <a:rPr lang="nn-NO" altLang="zh-C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lang="nn-NO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I7’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28700" y="5801899"/>
            <a:ext cx="8591550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n-NO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IDLE_L </a:t>
            </a:r>
            <a:r>
              <a:rPr lang="nn-NO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(I0’ · I1’ · I2’ · I3’ · I4’ · I5’ · I6’ · I7’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nn-NO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EI’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27207" y="274638"/>
            <a:ext cx="1746007" cy="214574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089" y="3533969"/>
            <a:ext cx="5000625" cy="20330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28700" y="4113936"/>
            <a:ext cx="7664408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 = H4 + H5 + H6 + H7</a:t>
            </a:r>
            <a:endParaRPr lang="pt-BR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= H2 + H3 + H6 + H7</a:t>
            </a:r>
            <a:endParaRPr lang="pt-BR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 = H1 + H3 + H5 + H7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08000" y="4216400"/>
            <a:ext cx="6264589" cy="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8000" y="5812598"/>
            <a:ext cx="6264589" cy="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>
              <a:solidFill>
                <a:srgbClr val="FFFF00"/>
              </a:solidFill>
            </a:endParaRPr>
          </a:p>
        </p:txBody>
      </p:sp>
      <p:graphicFrame>
        <p:nvGraphicFramePr>
          <p:cNvPr id="235710" name="Group 190"/>
          <p:cNvGraphicFramePr>
            <a:graphicFrameLocks noGrp="1"/>
          </p:cNvGraphicFramePr>
          <p:nvPr/>
        </p:nvGraphicFramePr>
        <p:xfrm>
          <a:off x="1882775" y="1376363"/>
          <a:ext cx="8534400" cy="4419600"/>
        </p:xfrm>
        <a:graphic>
          <a:graphicData uri="http://schemas.openxmlformats.org/drawingml/2006/table">
            <a:tbl>
              <a:tblPr/>
              <a:tblGrid>
                <a:gridCol w="609600"/>
                <a:gridCol w="611505"/>
                <a:gridCol w="607695"/>
                <a:gridCol w="609600"/>
                <a:gridCol w="608330"/>
                <a:gridCol w="610870"/>
                <a:gridCol w="609600"/>
                <a:gridCol w="609600"/>
                <a:gridCol w="611505"/>
                <a:gridCol w="607695"/>
                <a:gridCol w="609600"/>
                <a:gridCol w="608330"/>
                <a:gridCol w="610870"/>
                <a:gridCol w="609600"/>
              </a:tblGrid>
              <a:tr h="368300"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输          入  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输          出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EI’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I0’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I1’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I2’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I3’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I4’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I5’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I6’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I7’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A2’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A1’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A0’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GS’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EO’</a:t>
                      </a:r>
                      <a:endParaRPr kumimoji="0" lang="en-US" altLang="zh-CN" sz="1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cap="flat"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798" marB="46798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>
                <a:sym typeface="+mn-ea"/>
              </a:rPr>
              <a:t>优先编码器真值表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低电平有效</a:t>
            </a:r>
            <a:r>
              <a:rPr lang="en-US" altLang="zh-CN">
                <a:sym typeface="+mn-ea"/>
              </a:rPr>
              <a:t>)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小组实验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优先编码器级联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8</a:t>
            </a:r>
            <a:r>
              <a:rPr lang="zh-CN" altLang="en-US"/>
              <a:t>位优先编码器的基础上，小组利用</a:t>
            </a:r>
            <a:r>
              <a:rPr lang="en-US" altLang="zh-CN"/>
              <a:t>3</a:t>
            </a:r>
            <a:r>
              <a:rPr lang="zh-CN" altLang="en-US"/>
              <a:t>个</a:t>
            </a:r>
            <a:r>
              <a:rPr lang="en-US" altLang="zh-CN"/>
              <a:t>8</a:t>
            </a:r>
            <a:r>
              <a:rPr lang="zh-CN" altLang="en-US"/>
              <a:t>位优先编码器级联完成</a:t>
            </a:r>
            <a:r>
              <a:rPr lang="en-US" altLang="zh-CN"/>
              <a:t>24</a:t>
            </a:r>
            <a:r>
              <a:rPr lang="zh-CN" altLang="en-US"/>
              <a:t>位优先编码器</a:t>
            </a:r>
            <a:r>
              <a:rPr lang="en-US" altLang="zh-CN"/>
              <a:t>(</a:t>
            </a:r>
            <a:r>
              <a:rPr lang="zh-CN" altLang="en-US"/>
              <a:t>若小组只有</a:t>
            </a:r>
            <a:r>
              <a:rPr lang="en-US" altLang="zh-CN"/>
              <a:t>2</a:t>
            </a:r>
            <a:r>
              <a:rPr lang="zh-CN" altLang="en-US"/>
              <a:t>人则为</a:t>
            </a:r>
            <a:r>
              <a:rPr lang="en-US" altLang="zh-CN"/>
              <a:t>16</a:t>
            </a:r>
            <a:r>
              <a:rPr lang="zh-CN" altLang="en-US"/>
              <a:t>位</a:t>
            </a:r>
            <a:r>
              <a:rPr lang="en-US" altLang="zh-CN"/>
              <a:t>)</a:t>
            </a:r>
            <a:endParaRPr lang="en-US" altLang="zh-CN"/>
          </a:p>
          <a:p>
            <a:r>
              <a:rPr lang="zh-CN" altLang="en-US"/>
              <a:t>输入：每个板子有</a:t>
            </a:r>
            <a:r>
              <a:rPr lang="en-US" altLang="zh-CN"/>
              <a:t>8</a:t>
            </a:r>
            <a:r>
              <a:rPr lang="zh-CN" altLang="en-US"/>
              <a:t>个开关控制</a:t>
            </a:r>
            <a:r>
              <a:rPr lang="en-US" altLang="zh-CN"/>
              <a:t>1-8</a:t>
            </a:r>
            <a:r>
              <a:rPr lang="zh-CN" altLang="en-US"/>
              <a:t>输入，高位板子优先级高于低位板子</a:t>
            </a:r>
            <a:endParaRPr lang="zh-CN" altLang="en-US"/>
          </a:p>
          <a:p>
            <a:r>
              <a:rPr lang="zh-CN" altLang="en-US"/>
              <a:t>输出：最后一级板子上数码管输出数字</a:t>
            </a:r>
            <a:r>
              <a:rPr lang="en-US" altLang="zh-CN"/>
              <a:t>01-24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1536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优先编码器</a:t>
            </a:r>
            <a:r>
              <a:rPr lang="zh-CN" altLang="en-US" smtClean="0"/>
              <a:t>级联</a:t>
            </a:r>
            <a:endParaRPr lang="zh-CN" altLang="en-US" smtClean="0"/>
          </a:p>
        </p:txBody>
      </p:sp>
      <p:grpSp>
        <p:nvGrpSpPr>
          <p:cNvPr id="153604" name="Group 76"/>
          <p:cNvGrpSpPr/>
          <p:nvPr/>
        </p:nvGrpSpPr>
        <p:grpSpPr bwMode="auto">
          <a:xfrm>
            <a:off x="6490653" y="2889250"/>
            <a:ext cx="3203575" cy="2987676"/>
            <a:chOff x="2132" y="1864"/>
            <a:chExt cx="2018" cy="1882"/>
          </a:xfrm>
        </p:grpSpPr>
        <p:grpSp>
          <p:nvGrpSpPr>
            <p:cNvPr id="153624" name="Group 73"/>
            <p:cNvGrpSpPr/>
            <p:nvPr/>
          </p:nvGrpSpPr>
          <p:grpSpPr bwMode="auto">
            <a:xfrm rot="5400000">
              <a:off x="3798" y="2217"/>
              <a:ext cx="91" cy="476"/>
              <a:chOff x="1995" y="2298"/>
              <a:chExt cx="91" cy="476"/>
            </a:xfrm>
          </p:grpSpPr>
          <p:sp>
            <p:nvSpPr>
              <p:cNvPr id="153664" name="Line 74"/>
              <p:cNvSpPr>
                <a:spLocks noChangeShapeType="1"/>
              </p:cNvSpPr>
              <p:nvPr/>
            </p:nvSpPr>
            <p:spPr bwMode="auto">
              <a:xfrm rot="-5400000">
                <a:off x="1804" y="2536"/>
                <a:ext cx="4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65" name="Oval 75"/>
              <p:cNvSpPr>
                <a:spLocks noChangeArrowheads="1"/>
              </p:cNvSpPr>
              <p:nvPr/>
            </p:nvSpPr>
            <p:spPr bwMode="auto">
              <a:xfrm rot="-5400000">
                <a:off x="1995" y="2478"/>
                <a:ext cx="91" cy="91"/>
              </a:xfrm>
              <a:prstGeom prst="ellipse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153625" name="Group 72"/>
            <p:cNvGrpSpPr/>
            <p:nvPr/>
          </p:nvGrpSpPr>
          <p:grpSpPr bwMode="auto">
            <a:xfrm rot="5400000">
              <a:off x="2324" y="2217"/>
              <a:ext cx="91" cy="476"/>
              <a:chOff x="1995" y="2298"/>
              <a:chExt cx="91" cy="476"/>
            </a:xfrm>
          </p:grpSpPr>
          <p:sp>
            <p:nvSpPr>
              <p:cNvPr id="153662" name="Line 70"/>
              <p:cNvSpPr>
                <a:spLocks noChangeShapeType="1"/>
              </p:cNvSpPr>
              <p:nvPr/>
            </p:nvSpPr>
            <p:spPr bwMode="auto">
              <a:xfrm rot="-5400000">
                <a:off x="1804" y="2536"/>
                <a:ext cx="4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63" name="Oval 71"/>
              <p:cNvSpPr>
                <a:spLocks noChangeArrowheads="1"/>
              </p:cNvSpPr>
              <p:nvPr/>
            </p:nvSpPr>
            <p:spPr bwMode="auto">
              <a:xfrm rot="-5400000">
                <a:off x="1995" y="2478"/>
                <a:ext cx="91" cy="91"/>
              </a:xfrm>
              <a:prstGeom prst="ellipse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53626" name="Line 53"/>
            <p:cNvSpPr>
              <a:spLocks noChangeShapeType="1"/>
            </p:cNvSpPr>
            <p:nvPr/>
          </p:nvSpPr>
          <p:spPr bwMode="auto">
            <a:xfrm rot="-5400000">
              <a:off x="2416" y="2102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27" name="Line 54"/>
            <p:cNvSpPr>
              <a:spLocks noChangeShapeType="1"/>
            </p:cNvSpPr>
            <p:nvPr/>
          </p:nvSpPr>
          <p:spPr bwMode="auto">
            <a:xfrm rot="-5400000">
              <a:off x="2666" y="2102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28" name="Line 55"/>
            <p:cNvSpPr>
              <a:spLocks noChangeShapeType="1"/>
            </p:cNvSpPr>
            <p:nvPr/>
          </p:nvSpPr>
          <p:spPr bwMode="auto">
            <a:xfrm rot="-5400000">
              <a:off x="2916" y="2102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29" name="Line 56"/>
            <p:cNvSpPr>
              <a:spLocks noChangeShapeType="1"/>
            </p:cNvSpPr>
            <p:nvPr/>
          </p:nvSpPr>
          <p:spPr bwMode="auto">
            <a:xfrm rot="-5400000">
              <a:off x="3437" y="2102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30" name="Oval 61"/>
            <p:cNvSpPr>
              <a:spLocks noChangeArrowheads="1"/>
            </p:cNvSpPr>
            <p:nvPr/>
          </p:nvSpPr>
          <p:spPr bwMode="auto">
            <a:xfrm rot="-5400000">
              <a:off x="2608" y="2044"/>
              <a:ext cx="91" cy="91"/>
            </a:xfrm>
            <a:prstGeom prst="ellipse">
              <a:avLst/>
            </a:prstGeom>
            <a:solidFill>
              <a:srgbClr val="FF3300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31" name="Oval 62"/>
            <p:cNvSpPr>
              <a:spLocks noChangeArrowheads="1"/>
            </p:cNvSpPr>
            <p:nvPr/>
          </p:nvSpPr>
          <p:spPr bwMode="auto">
            <a:xfrm rot="-5400000">
              <a:off x="2857" y="2044"/>
              <a:ext cx="91" cy="91"/>
            </a:xfrm>
            <a:prstGeom prst="ellipse">
              <a:avLst/>
            </a:prstGeom>
            <a:solidFill>
              <a:srgbClr val="FF3300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32" name="Oval 63"/>
            <p:cNvSpPr>
              <a:spLocks noChangeArrowheads="1"/>
            </p:cNvSpPr>
            <p:nvPr/>
          </p:nvSpPr>
          <p:spPr bwMode="auto">
            <a:xfrm rot="-5400000">
              <a:off x="3107" y="2044"/>
              <a:ext cx="91" cy="91"/>
            </a:xfrm>
            <a:prstGeom prst="ellipse">
              <a:avLst/>
            </a:prstGeom>
            <a:solidFill>
              <a:srgbClr val="FF3300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33" name="Oval 64"/>
            <p:cNvSpPr>
              <a:spLocks noChangeArrowheads="1"/>
            </p:cNvSpPr>
            <p:nvPr/>
          </p:nvSpPr>
          <p:spPr bwMode="auto">
            <a:xfrm rot="-5400000">
              <a:off x="3628" y="2044"/>
              <a:ext cx="91" cy="91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34" name="Line 9"/>
            <p:cNvSpPr>
              <a:spLocks noChangeShapeType="1"/>
            </p:cNvSpPr>
            <p:nvPr/>
          </p:nvSpPr>
          <p:spPr bwMode="auto">
            <a:xfrm rot="-5400000">
              <a:off x="2416" y="2874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35" name="Line 10"/>
            <p:cNvSpPr>
              <a:spLocks noChangeShapeType="1"/>
            </p:cNvSpPr>
            <p:nvPr/>
          </p:nvSpPr>
          <p:spPr bwMode="auto">
            <a:xfrm rot="-5400000">
              <a:off x="2553" y="2874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36" name="Line 11"/>
            <p:cNvSpPr>
              <a:spLocks noChangeShapeType="1"/>
            </p:cNvSpPr>
            <p:nvPr/>
          </p:nvSpPr>
          <p:spPr bwMode="auto">
            <a:xfrm rot="-5400000">
              <a:off x="2689" y="2874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37" name="Line 12"/>
            <p:cNvSpPr>
              <a:spLocks noChangeShapeType="1"/>
            </p:cNvSpPr>
            <p:nvPr/>
          </p:nvSpPr>
          <p:spPr bwMode="auto">
            <a:xfrm rot="-5400000">
              <a:off x="2825" y="2874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38" name="Line 13"/>
            <p:cNvSpPr>
              <a:spLocks noChangeShapeType="1"/>
            </p:cNvSpPr>
            <p:nvPr/>
          </p:nvSpPr>
          <p:spPr bwMode="auto">
            <a:xfrm rot="-5400000">
              <a:off x="2961" y="2874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39" name="Line 14"/>
            <p:cNvSpPr>
              <a:spLocks noChangeShapeType="1"/>
            </p:cNvSpPr>
            <p:nvPr/>
          </p:nvSpPr>
          <p:spPr bwMode="auto">
            <a:xfrm rot="-5400000">
              <a:off x="3096" y="2874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40" name="Line 15"/>
            <p:cNvSpPr>
              <a:spLocks noChangeShapeType="1"/>
            </p:cNvSpPr>
            <p:nvPr/>
          </p:nvSpPr>
          <p:spPr bwMode="auto">
            <a:xfrm rot="-5400000">
              <a:off x="3232" y="2874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41" name="Line 16"/>
            <p:cNvSpPr>
              <a:spLocks noChangeShapeType="1"/>
            </p:cNvSpPr>
            <p:nvPr/>
          </p:nvSpPr>
          <p:spPr bwMode="auto">
            <a:xfrm rot="-5400000">
              <a:off x="3368" y="2874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42" name="Oval 21"/>
            <p:cNvSpPr>
              <a:spLocks noChangeArrowheads="1"/>
            </p:cNvSpPr>
            <p:nvPr/>
          </p:nvSpPr>
          <p:spPr bwMode="auto">
            <a:xfrm rot="-5400000">
              <a:off x="2608" y="2816"/>
              <a:ext cx="91" cy="91"/>
            </a:xfrm>
            <a:prstGeom prst="ellipse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43" name="Oval 22"/>
            <p:cNvSpPr>
              <a:spLocks noChangeArrowheads="1"/>
            </p:cNvSpPr>
            <p:nvPr/>
          </p:nvSpPr>
          <p:spPr bwMode="auto">
            <a:xfrm rot="-5400000">
              <a:off x="2744" y="2816"/>
              <a:ext cx="91" cy="91"/>
            </a:xfrm>
            <a:prstGeom prst="ellipse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44" name="Oval 23"/>
            <p:cNvSpPr>
              <a:spLocks noChangeArrowheads="1"/>
            </p:cNvSpPr>
            <p:nvPr/>
          </p:nvSpPr>
          <p:spPr bwMode="auto">
            <a:xfrm rot="-5400000">
              <a:off x="2880" y="2816"/>
              <a:ext cx="91" cy="91"/>
            </a:xfrm>
            <a:prstGeom prst="ellipse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45" name="Oval 24"/>
            <p:cNvSpPr>
              <a:spLocks noChangeArrowheads="1"/>
            </p:cNvSpPr>
            <p:nvPr/>
          </p:nvSpPr>
          <p:spPr bwMode="auto">
            <a:xfrm rot="-5400000">
              <a:off x="3016" y="2816"/>
              <a:ext cx="91" cy="91"/>
            </a:xfrm>
            <a:prstGeom prst="ellipse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46" name="Oval 25"/>
            <p:cNvSpPr>
              <a:spLocks noChangeArrowheads="1"/>
            </p:cNvSpPr>
            <p:nvPr/>
          </p:nvSpPr>
          <p:spPr bwMode="auto">
            <a:xfrm rot="-5400000">
              <a:off x="3152" y="2816"/>
              <a:ext cx="91" cy="91"/>
            </a:xfrm>
            <a:prstGeom prst="ellipse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47" name="Oval 26"/>
            <p:cNvSpPr>
              <a:spLocks noChangeArrowheads="1"/>
            </p:cNvSpPr>
            <p:nvPr/>
          </p:nvSpPr>
          <p:spPr bwMode="auto">
            <a:xfrm rot="-5400000">
              <a:off x="3289" y="2816"/>
              <a:ext cx="91" cy="91"/>
            </a:xfrm>
            <a:prstGeom prst="ellipse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48" name="Oval 27"/>
            <p:cNvSpPr>
              <a:spLocks noChangeArrowheads="1"/>
            </p:cNvSpPr>
            <p:nvPr/>
          </p:nvSpPr>
          <p:spPr bwMode="auto">
            <a:xfrm rot="-5400000">
              <a:off x="3425" y="2816"/>
              <a:ext cx="91" cy="91"/>
            </a:xfrm>
            <a:prstGeom prst="ellipse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49" name="Oval 28"/>
            <p:cNvSpPr>
              <a:spLocks noChangeArrowheads="1"/>
            </p:cNvSpPr>
            <p:nvPr/>
          </p:nvSpPr>
          <p:spPr bwMode="auto">
            <a:xfrm rot="-5400000">
              <a:off x="3561" y="2816"/>
              <a:ext cx="91" cy="91"/>
            </a:xfrm>
            <a:prstGeom prst="ellipse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50" name="Rectangle 43"/>
            <p:cNvSpPr>
              <a:spLocks noChangeArrowheads="1"/>
            </p:cNvSpPr>
            <p:nvPr/>
          </p:nvSpPr>
          <p:spPr bwMode="auto">
            <a:xfrm>
              <a:off x="2427" y="2137"/>
              <a:ext cx="1383" cy="658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/>
                <a:t>74x148</a:t>
              </a:r>
              <a:endParaRPr lang="en-US" altLang="zh-CN" b="1"/>
            </a:p>
          </p:txBody>
        </p:sp>
        <p:sp>
          <p:nvSpPr>
            <p:cNvPr id="153651" name="Rectangle 32"/>
            <p:cNvSpPr>
              <a:spLocks noChangeArrowheads="1"/>
            </p:cNvSpPr>
            <p:nvPr/>
          </p:nvSpPr>
          <p:spPr bwMode="auto">
            <a:xfrm>
              <a:off x="2540" y="2614"/>
              <a:ext cx="1225" cy="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7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6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652" name="Rectangle 44"/>
            <p:cNvSpPr>
              <a:spLocks noChangeArrowheads="1"/>
            </p:cNvSpPr>
            <p:nvPr/>
          </p:nvSpPr>
          <p:spPr bwMode="auto">
            <a:xfrm>
              <a:off x="2290" y="3543"/>
              <a:ext cx="1860" cy="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7’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6’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5’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4’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3’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2’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1’</a:t>
              </a:r>
              <a:r>
                <a:rPr lang="en-US" altLang="zh-CN" sz="1500">
                  <a:latin typeface="Times New Roman" panose="02020603050405020304" pitchFamily="18" charset="0"/>
                </a:rPr>
                <a:t> </a:t>
              </a:r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5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0’</a:t>
              </a:r>
              <a:endPara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653" name="Line 45"/>
            <p:cNvSpPr>
              <a:spLocks noChangeShapeType="1"/>
            </p:cNvSpPr>
            <p:nvPr/>
          </p:nvSpPr>
          <p:spPr bwMode="auto">
            <a:xfrm flipV="1">
              <a:off x="2449" y="3113"/>
              <a:ext cx="204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4" name="Line 46"/>
            <p:cNvSpPr>
              <a:spLocks noChangeShapeType="1"/>
            </p:cNvSpPr>
            <p:nvPr/>
          </p:nvSpPr>
          <p:spPr bwMode="auto">
            <a:xfrm flipV="1">
              <a:off x="2676" y="3090"/>
              <a:ext cx="113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5" name="Line 47"/>
            <p:cNvSpPr>
              <a:spLocks noChangeShapeType="1"/>
            </p:cNvSpPr>
            <p:nvPr/>
          </p:nvSpPr>
          <p:spPr bwMode="auto">
            <a:xfrm flipH="1">
              <a:off x="2857" y="3113"/>
              <a:ext cx="68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6" name="Line 48"/>
            <p:cNvSpPr>
              <a:spLocks noChangeShapeType="1"/>
            </p:cNvSpPr>
            <p:nvPr/>
          </p:nvSpPr>
          <p:spPr bwMode="auto">
            <a:xfrm>
              <a:off x="3061" y="3090"/>
              <a:ext cx="0" cy="4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7" name="Line 49"/>
            <p:cNvSpPr>
              <a:spLocks noChangeShapeType="1"/>
            </p:cNvSpPr>
            <p:nvPr/>
          </p:nvSpPr>
          <p:spPr bwMode="auto">
            <a:xfrm>
              <a:off x="3198" y="3113"/>
              <a:ext cx="68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8" name="Line 50"/>
            <p:cNvSpPr>
              <a:spLocks noChangeShapeType="1"/>
            </p:cNvSpPr>
            <p:nvPr/>
          </p:nvSpPr>
          <p:spPr bwMode="auto">
            <a:xfrm>
              <a:off x="3334" y="3113"/>
              <a:ext cx="158" cy="4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9" name="Line 51"/>
            <p:cNvSpPr>
              <a:spLocks noChangeShapeType="1"/>
            </p:cNvSpPr>
            <p:nvPr/>
          </p:nvSpPr>
          <p:spPr bwMode="auto">
            <a:xfrm>
              <a:off x="3470" y="3113"/>
              <a:ext cx="226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60" name="Line 52"/>
            <p:cNvSpPr>
              <a:spLocks noChangeShapeType="1"/>
            </p:cNvSpPr>
            <p:nvPr/>
          </p:nvSpPr>
          <p:spPr bwMode="auto">
            <a:xfrm>
              <a:off x="3606" y="3113"/>
              <a:ext cx="295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61" name="Rectangle 69"/>
            <p:cNvSpPr>
              <a:spLocks noChangeArrowheads="1"/>
            </p:cNvSpPr>
            <p:nvPr/>
          </p:nvSpPr>
          <p:spPr bwMode="auto">
            <a:xfrm>
              <a:off x="2540" y="2137"/>
              <a:ext cx="1225" cy="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5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A2   A1   A0</a:t>
              </a:r>
              <a:endPara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44177" name="Group 81"/>
          <p:cNvGrpSpPr/>
          <p:nvPr/>
        </p:nvGrpSpPr>
        <p:grpSpPr bwMode="auto">
          <a:xfrm>
            <a:off x="7174865" y="2241550"/>
            <a:ext cx="287338" cy="709613"/>
            <a:chOff x="2585" y="1661"/>
            <a:chExt cx="181" cy="447"/>
          </a:xfrm>
        </p:grpSpPr>
        <p:sp>
          <p:nvSpPr>
            <p:cNvPr id="153621" name="Line 6"/>
            <p:cNvSpPr>
              <a:spLocks noChangeAspect="1" noChangeShapeType="1"/>
            </p:cNvSpPr>
            <p:nvPr/>
          </p:nvSpPr>
          <p:spPr bwMode="auto">
            <a:xfrm rot="-5400000">
              <a:off x="2452" y="1885"/>
              <a:ext cx="4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等腰三角形 23"/>
            <p:cNvSpPr>
              <a:spLocks noChangeAspect="1" noChangeArrowheads="1"/>
            </p:cNvSpPr>
            <p:nvPr/>
          </p:nvSpPr>
          <p:spPr bwMode="auto">
            <a:xfrm rot="21600000">
              <a:off x="2585" y="1865"/>
              <a:ext cx="181" cy="166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38100" algn="ctr">
              <a:solidFill>
                <a:schemeClr val="tx1"/>
              </a:solidFill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53623" name="Oval 31"/>
            <p:cNvSpPr>
              <a:spLocks noChangeArrowheads="1"/>
            </p:cNvSpPr>
            <p:nvPr/>
          </p:nvSpPr>
          <p:spPr bwMode="auto">
            <a:xfrm rot="-5400000">
              <a:off x="2631" y="1777"/>
              <a:ext cx="91" cy="91"/>
            </a:xfrm>
            <a:prstGeom prst="ellipse">
              <a:avLst/>
            </a:prstGeom>
            <a:solidFill>
              <a:srgbClr val="009900"/>
            </a:solidFill>
            <a:ln w="38100">
              <a:solidFill>
                <a:schemeClr val="tx1"/>
              </a:solidFill>
              <a:round/>
            </a:ln>
          </p:spPr>
          <p:txBody>
            <a:bodyPr vert="eaVert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644178" name="Group 82"/>
          <p:cNvGrpSpPr/>
          <p:nvPr/>
        </p:nvGrpSpPr>
        <p:grpSpPr bwMode="auto">
          <a:xfrm>
            <a:off x="7571740" y="2241550"/>
            <a:ext cx="287338" cy="709613"/>
            <a:chOff x="2585" y="1661"/>
            <a:chExt cx="181" cy="447"/>
          </a:xfrm>
        </p:grpSpPr>
        <p:sp>
          <p:nvSpPr>
            <p:cNvPr id="153618" name="Line 6"/>
            <p:cNvSpPr>
              <a:spLocks noChangeAspect="1" noChangeShapeType="1"/>
            </p:cNvSpPr>
            <p:nvPr/>
          </p:nvSpPr>
          <p:spPr bwMode="auto">
            <a:xfrm rot="-5400000">
              <a:off x="2452" y="1885"/>
              <a:ext cx="4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等腰三角形 23"/>
            <p:cNvSpPr>
              <a:spLocks noChangeAspect="1" noChangeArrowheads="1"/>
            </p:cNvSpPr>
            <p:nvPr/>
          </p:nvSpPr>
          <p:spPr bwMode="auto">
            <a:xfrm rot="21600000">
              <a:off x="2585" y="1865"/>
              <a:ext cx="181" cy="166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38100" algn="ctr">
              <a:solidFill>
                <a:schemeClr val="tx1"/>
              </a:solidFill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53620" name="Oval 31"/>
            <p:cNvSpPr>
              <a:spLocks noChangeArrowheads="1"/>
            </p:cNvSpPr>
            <p:nvPr/>
          </p:nvSpPr>
          <p:spPr bwMode="auto">
            <a:xfrm rot="-5400000">
              <a:off x="2631" y="1777"/>
              <a:ext cx="91" cy="91"/>
            </a:xfrm>
            <a:prstGeom prst="ellipse">
              <a:avLst/>
            </a:prstGeom>
            <a:solidFill>
              <a:srgbClr val="009900"/>
            </a:solidFill>
            <a:ln w="38100">
              <a:solidFill>
                <a:schemeClr val="tx1"/>
              </a:solidFill>
              <a:round/>
            </a:ln>
          </p:spPr>
          <p:txBody>
            <a:bodyPr vert="eaVert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644182" name="Group 86"/>
          <p:cNvGrpSpPr/>
          <p:nvPr/>
        </p:nvGrpSpPr>
        <p:grpSpPr bwMode="auto">
          <a:xfrm>
            <a:off x="7967028" y="2241550"/>
            <a:ext cx="287337" cy="709613"/>
            <a:chOff x="2585" y="1661"/>
            <a:chExt cx="181" cy="447"/>
          </a:xfrm>
        </p:grpSpPr>
        <p:sp>
          <p:nvSpPr>
            <p:cNvPr id="153615" name="Line 6"/>
            <p:cNvSpPr>
              <a:spLocks noChangeAspect="1" noChangeShapeType="1"/>
            </p:cNvSpPr>
            <p:nvPr/>
          </p:nvSpPr>
          <p:spPr bwMode="auto">
            <a:xfrm rot="-5400000">
              <a:off x="2452" y="1885"/>
              <a:ext cx="4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等腰三角形 23"/>
            <p:cNvSpPr>
              <a:spLocks noChangeAspect="1" noChangeArrowheads="1"/>
            </p:cNvSpPr>
            <p:nvPr/>
          </p:nvSpPr>
          <p:spPr bwMode="auto">
            <a:xfrm rot="21600000">
              <a:off x="2585" y="1865"/>
              <a:ext cx="181" cy="166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38100" algn="ctr">
              <a:solidFill>
                <a:schemeClr val="tx1"/>
              </a:solidFill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53617" name="Oval 31"/>
            <p:cNvSpPr>
              <a:spLocks noChangeArrowheads="1"/>
            </p:cNvSpPr>
            <p:nvPr/>
          </p:nvSpPr>
          <p:spPr bwMode="auto">
            <a:xfrm rot="-5400000">
              <a:off x="2631" y="1777"/>
              <a:ext cx="91" cy="91"/>
            </a:xfrm>
            <a:prstGeom prst="ellipse">
              <a:avLst/>
            </a:prstGeom>
            <a:solidFill>
              <a:srgbClr val="009900"/>
            </a:solidFill>
            <a:ln w="38100">
              <a:solidFill>
                <a:schemeClr val="tx1"/>
              </a:solidFill>
              <a:round/>
            </a:ln>
          </p:spPr>
          <p:txBody>
            <a:bodyPr vert="eaVert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644192" name="Group 96"/>
          <p:cNvGrpSpPr/>
          <p:nvPr/>
        </p:nvGrpSpPr>
        <p:grpSpPr bwMode="auto">
          <a:xfrm>
            <a:off x="6382703" y="3825875"/>
            <a:ext cx="215900" cy="215900"/>
            <a:chOff x="1122" y="3227"/>
            <a:chExt cx="136" cy="136"/>
          </a:xfrm>
        </p:grpSpPr>
        <p:sp>
          <p:nvSpPr>
            <p:cNvPr id="153613" name="Line 93"/>
            <p:cNvSpPr>
              <a:spLocks noChangeShapeType="1"/>
            </p:cNvSpPr>
            <p:nvPr/>
          </p:nvSpPr>
          <p:spPr bwMode="auto">
            <a:xfrm rot="10800000">
              <a:off x="1190" y="3227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14" name="Line 94"/>
            <p:cNvSpPr>
              <a:spLocks noChangeShapeType="1"/>
            </p:cNvSpPr>
            <p:nvPr/>
          </p:nvSpPr>
          <p:spPr bwMode="auto">
            <a:xfrm rot="-5400000">
              <a:off x="1190" y="3295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3609" name="Rectangle 97"/>
          <p:cNvSpPr>
            <a:spLocks noChangeArrowheads="1"/>
          </p:cNvSpPr>
          <p:nvPr/>
        </p:nvSpPr>
        <p:spPr bwMode="auto">
          <a:xfrm>
            <a:off x="6922453" y="3644900"/>
            <a:ext cx="395287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FF3300"/>
                </a:solidFill>
                <a:latin typeface="Times New Roman" panose="02020603050405020304" pitchFamily="18" charset="0"/>
              </a:rPr>
              <a:t>EI</a:t>
            </a:r>
            <a:endParaRPr lang="en-US" altLang="zh-CN" sz="1500" b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10" name="Rectangle 98"/>
          <p:cNvSpPr>
            <a:spLocks noChangeArrowheads="1"/>
          </p:cNvSpPr>
          <p:nvPr/>
        </p:nvSpPr>
        <p:spPr bwMode="auto">
          <a:xfrm>
            <a:off x="8759190" y="3644900"/>
            <a:ext cx="53975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FF3300"/>
                </a:solidFill>
                <a:latin typeface="Times New Roman" panose="02020603050405020304" pitchFamily="18" charset="0"/>
              </a:rPr>
              <a:t>EO</a:t>
            </a:r>
            <a:endParaRPr lang="en-US" altLang="zh-CN" sz="1500" b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11" name="Rectangle 99"/>
          <p:cNvSpPr>
            <a:spLocks noChangeArrowheads="1"/>
          </p:cNvSpPr>
          <p:nvPr/>
        </p:nvSpPr>
        <p:spPr bwMode="auto">
          <a:xfrm>
            <a:off x="8686165" y="3284538"/>
            <a:ext cx="53975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FF3300"/>
                </a:solidFill>
                <a:latin typeface="Times New Roman" panose="02020603050405020304" pitchFamily="18" charset="0"/>
              </a:rPr>
              <a:t>GS</a:t>
            </a:r>
            <a:endParaRPr lang="en-US" altLang="zh-CN" sz="1500" b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12" name="Rectangle 100"/>
          <p:cNvSpPr>
            <a:spLocks noChangeArrowheads="1"/>
          </p:cNvSpPr>
          <p:nvPr/>
        </p:nvSpPr>
        <p:spPr bwMode="auto">
          <a:xfrm>
            <a:off x="7138353" y="1812925"/>
            <a:ext cx="109537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Y2   Y1   Y0</a:t>
            </a:r>
            <a:endParaRPr lang="en-US" altLang="zh-CN" sz="1500" b="1" i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2792095"/>
            <a:ext cx="52755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/>
              <a:t>EI</a:t>
            </a:r>
            <a:r>
              <a:rPr lang="zh-CN" altLang="en-US" sz="2400"/>
              <a:t>：输入端，连接到上一级的输出</a:t>
            </a:r>
            <a:endParaRPr lang="zh-CN" altLang="en-US" sz="2400"/>
          </a:p>
          <a:p>
            <a:pPr indent="0" fontAlgn="auto">
              <a:lnSpc>
                <a:spcPct val="150000"/>
              </a:lnSpc>
            </a:pPr>
            <a:r>
              <a:rPr lang="en-US" altLang="zh-CN" sz="2400"/>
              <a:t>EO</a:t>
            </a:r>
            <a:r>
              <a:rPr lang="zh-CN" altLang="en-US" sz="2400"/>
              <a:t>：输出端，连接到下一级的输入</a:t>
            </a:r>
            <a:endParaRPr lang="zh-CN" altLang="en-US" sz="2400"/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最低一级</a:t>
            </a:r>
            <a:r>
              <a:rPr lang="en-US" altLang="zh-CN" sz="2400"/>
              <a:t>EI</a:t>
            </a:r>
            <a:r>
              <a:rPr lang="zh-CN" altLang="en-US" sz="2400"/>
              <a:t>接地，最高一级不需要</a:t>
            </a:r>
            <a:r>
              <a:rPr lang="en-US" altLang="zh-CN" sz="2400"/>
              <a:t>EO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64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44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4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4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>
              <a:solidFill>
                <a:srgbClr val="FFFF00"/>
              </a:solidFill>
            </a:endParaRPr>
          </a:p>
        </p:txBody>
      </p:sp>
      <p:grpSp>
        <p:nvGrpSpPr>
          <p:cNvPr id="155651" name="Group 2"/>
          <p:cNvGrpSpPr/>
          <p:nvPr/>
        </p:nvGrpSpPr>
        <p:grpSpPr bwMode="auto">
          <a:xfrm rot="5400000">
            <a:off x="9067007" y="3483769"/>
            <a:ext cx="144462" cy="755650"/>
            <a:chOff x="1995" y="2298"/>
            <a:chExt cx="91" cy="476"/>
          </a:xfrm>
        </p:grpSpPr>
        <p:sp>
          <p:nvSpPr>
            <p:cNvPr id="155785" name="Line 3"/>
            <p:cNvSpPr>
              <a:spLocks noChangeShapeType="1"/>
            </p:cNvSpPr>
            <p:nvPr/>
          </p:nvSpPr>
          <p:spPr bwMode="auto">
            <a:xfrm rot="-5400000">
              <a:off x="1804" y="2536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86" name="Oval 4"/>
            <p:cNvSpPr>
              <a:spLocks noChangeArrowheads="1"/>
            </p:cNvSpPr>
            <p:nvPr/>
          </p:nvSpPr>
          <p:spPr bwMode="auto">
            <a:xfrm rot="-5400000">
              <a:off x="1995" y="2478"/>
              <a:ext cx="91" cy="91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55652" name="Group 5"/>
          <p:cNvGrpSpPr/>
          <p:nvPr/>
        </p:nvGrpSpPr>
        <p:grpSpPr bwMode="auto">
          <a:xfrm rot="5400000">
            <a:off x="6727032" y="3483769"/>
            <a:ext cx="144462" cy="755650"/>
            <a:chOff x="1995" y="2298"/>
            <a:chExt cx="91" cy="476"/>
          </a:xfrm>
        </p:grpSpPr>
        <p:sp>
          <p:nvSpPr>
            <p:cNvPr id="155783" name="Line 6"/>
            <p:cNvSpPr>
              <a:spLocks noChangeShapeType="1"/>
            </p:cNvSpPr>
            <p:nvPr/>
          </p:nvSpPr>
          <p:spPr bwMode="auto">
            <a:xfrm rot="-5400000">
              <a:off x="1804" y="2536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84" name="Oval 7"/>
            <p:cNvSpPr>
              <a:spLocks noChangeArrowheads="1"/>
            </p:cNvSpPr>
            <p:nvPr/>
          </p:nvSpPr>
          <p:spPr bwMode="auto">
            <a:xfrm rot="-5400000">
              <a:off x="1995" y="2478"/>
              <a:ext cx="91" cy="91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55653" name="Line 8"/>
          <p:cNvSpPr>
            <a:spLocks noChangeShapeType="1"/>
          </p:cNvSpPr>
          <p:nvPr/>
        </p:nvSpPr>
        <p:spPr bwMode="auto">
          <a:xfrm rot="-5400000">
            <a:off x="6872288" y="330200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54" name="Line 9"/>
          <p:cNvSpPr>
            <a:spLocks noChangeShapeType="1"/>
          </p:cNvSpPr>
          <p:nvPr/>
        </p:nvSpPr>
        <p:spPr bwMode="auto">
          <a:xfrm rot="-5400000">
            <a:off x="7269163" y="330200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55" name="Line 10"/>
          <p:cNvSpPr>
            <a:spLocks noChangeShapeType="1"/>
          </p:cNvSpPr>
          <p:nvPr/>
        </p:nvSpPr>
        <p:spPr bwMode="auto">
          <a:xfrm rot="-5400000">
            <a:off x="7666038" y="330200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56" name="Line 11"/>
          <p:cNvSpPr>
            <a:spLocks noChangeShapeType="1"/>
          </p:cNvSpPr>
          <p:nvPr/>
        </p:nvSpPr>
        <p:spPr bwMode="auto">
          <a:xfrm rot="-5400000">
            <a:off x="8493125" y="330200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57" name="Oval 12"/>
          <p:cNvSpPr>
            <a:spLocks noChangeArrowheads="1"/>
          </p:cNvSpPr>
          <p:nvPr/>
        </p:nvSpPr>
        <p:spPr bwMode="auto">
          <a:xfrm rot="-5400000">
            <a:off x="7177087" y="3209926"/>
            <a:ext cx="144463" cy="144462"/>
          </a:xfrm>
          <a:prstGeom prst="ellipse">
            <a:avLst/>
          </a:prstGeom>
          <a:solidFill>
            <a:srgbClr val="FF3300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58" name="Oval 13"/>
          <p:cNvSpPr>
            <a:spLocks noChangeArrowheads="1"/>
          </p:cNvSpPr>
          <p:nvPr/>
        </p:nvSpPr>
        <p:spPr bwMode="auto">
          <a:xfrm rot="-5400000">
            <a:off x="7572375" y="3209925"/>
            <a:ext cx="144463" cy="144463"/>
          </a:xfrm>
          <a:prstGeom prst="ellipse">
            <a:avLst/>
          </a:prstGeom>
          <a:solidFill>
            <a:srgbClr val="FF3300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59" name="Oval 14"/>
          <p:cNvSpPr>
            <a:spLocks noChangeArrowheads="1"/>
          </p:cNvSpPr>
          <p:nvPr/>
        </p:nvSpPr>
        <p:spPr bwMode="auto">
          <a:xfrm rot="-5400000">
            <a:off x="7969250" y="3209925"/>
            <a:ext cx="144463" cy="144463"/>
          </a:xfrm>
          <a:prstGeom prst="ellipse">
            <a:avLst/>
          </a:prstGeom>
          <a:solidFill>
            <a:srgbClr val="FF3300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60" name="Oval 15"/>
          <p:cNvSpPr>
            <a:spLocks noChangeArrowheads="1"/>
          </p:cNvSpPr>
          <p:nvPr/>
        </p:nvSpPr>
        <p:spPr bwMode="auto">
          <a:xfrm rot="-5400000">
            <a:off x="8796337" y="3209926"/>
            <a:ext cx="144463" cy="144462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61" name="Line 16"/>
          <p:cNvSpPr>
            <a:spLocks noChangeShapeType="1"/>
          </p:cNvSpPr>
          <p:nvPr/>
        </p:nvSpPr>
        <p:spPr bwMode="auto">
          <a:xfrm rot="-5400000">
            <a:off x="6872288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62" name="Line 17"/>
          <p:cNvSpPr>
            <a:spLocks noChangeShapeType="1"/>
          </p:cNvSpPr>
          <p:nvPr/>
        </p:nvSpPr>
        <p:spPr bwMode="auto">
          <a:xfrm rot="-5400000">
            <a:off x="7089775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63" name="Line 18"/>
          <p:cNvSpPr>
            <a:spLocks noChangeShapeType="1"/>
          </p:cNvSpPr>
          <p:nvPr/>
        </p:nvSpPr>
        <p:spPr bwMode="auto">
          <a:xfrm rot="-5400000">
            <a:off x="7305675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64" name="Line 19"/>
          <p:cNvSpPr>
            <a:spLocks noChangeShapeType="1"/>
          </p:cNvSpPr>
          <p:nvPr/>
        </p:nvSpPr>
        <p:spPr bwMode="auto">
          <a:xfrm rot="-5400000">
            <a:off x="7521575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65" name="Line 20"/>
          <p:cNvSpPr>
            <a:spLocks noChangeShapeType="1"/>
          </p:cNvSpPr>
          <p:nvPr/>
        </p:nvSpPr>
        <p:spPr bwMode="auto">
          <a:xfrm rot="-5400000">
            <a:off x="7737475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66" name="Line 21"/>
          <p:cNvSpPr>
            <a:spLocks noChangeShapeType="1"/>
          </p:cNvSpPr>
          <p:nvPr/>
        </p:nvSpPr>
        <p:spPr bwMode="auto">
          <a:xfrm rot="-5400000">
            <a:off x="7951788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67" name="Line 22"/>
          <p:cNvSpPr>
            <a:spLocks noChangeShapeType="1"/>
          </p:cNvSpPr>
          <p:nvPr/>
        </p:nvSpPr>
        <p:spPr bwMode="auto">
          <a:xfrm rot="-5400000">
            <a:off x="8167688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68" name="Line 23"/>
          <p:cNvSpPr>
            <a:spLocks noChangeShapeType="1"/>
          </p:cNvSpPr>
          <p:nvPr/>
        </p:nvSpPr>
        <p:spPr bwMode="auto">
          <a:xfrm rot="-5400000">
            <a:off x="8383588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69" name="Oval 24"/>
          <p:cNvSpPr>
            <a:spLocks noChangeArrowheads="1"/>
          </p:cNvSpPr>
          <p:nvPr/>
        </p:nvSpPr>
        <p:spPr bwMode="auto">
          <a:xfrm rot="-5400000">
            <a:off x="7177087" y="4435476"/>
            <a:ext cx="144463" cy="144462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70" name="Oval 25"/>
          <p:cNvSpPr>
            <a:spLocks noChangeArrowheads="1"/>
          </p:cNvSpPr>
          <p:nvPr/>
        </p:nvSpPr>
        <p:spPr bwMode="auto">
          <a:xfrm rot="-5400000">
            <a:off x="7392987" y="4435476"/>
            <a:ext cx="144463" cy="144462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71" name="Oval 26"/>
          <p:cNvSpPr>
            <a:spLocks noChangeArrowheads="1"/>
          </p:cNvSpPr>
          <p:nvPr/>
        </p:nvSpPr>
        <p:spPr bwMode="auto">
          <a:xfrm rot="-5400000">
            <a:off x="7608887" y="4435476"/>
            <a:ext cx="144463" cy="144462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72" name="Oval 27"/>
          <p:cNvSpPr>
            <a:spLocks noChangeArrowheads="1"/>
          </p:cNvSpPr>
          <p:nvPr/>
        </p:nvSpPr>
        <p:spPr bwMode="auto">
          <a:xfrm rot="-5400000">
            <a:off x="7824787" y="4435476"/>
            <a:ext cx="144463" cy="144462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73" name="Oval 28"/>
          <p:cNvSpPr>
            <a:spLocks noChangeArrowheads="1"/>
          </p:cNvSpPr>
          <p:nvPr/>
        </p:nvSpPr>
        <p:spPr bwMode="auto">
          <a:xfrm rot="-5400000">
            <a:off x="8040687" y="4435476"/>
            <a:ext cx="144463" cy="144462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74" name="Oval 29"/>
          <p:cNvSpPr>
            <a:spLocks noChangeArrowheads="1"/>
          </p:cNvSpPr>
          <p:nvPr/>
        </p:nvSpPr>
        <p:spPr bwMode="auto">
          <a:xfrm rot="-5400000">
            <a:off x="8258175" y="4435475"/>
            <a:ext cx="144463" cy="144463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75" name="Oval 30"/>
          <p:cNvSpPr>
            <a:spLocks noChangeArrowheads="1"/>
          </p:cNvSpPr>
          <p:nvPr/>
        </p:nvSpPr>
        <p:spPr bwMode="auto">
          <a:xfrm rot="-5400000">
            <a:off x="8474075" y="4435475"/>
            <a:ext cx="144463" cy="144463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76" name="Oval 31"/>
          <p:cNvSpPr>
            <a:spLocks noChangeArrowheads="1"/>
          </p:cNvSpPr>
          <p:nvPr/>
        </p:nvSpPr>
        <p:spPr bwMode="auto">
          <a:xfrm rot="-5400000">
            <a:off x="8689975" y="4435475"/>
            <a:ext cx="144463" cy="144463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77" name="Rectangle 32"/>
          <p:cNvSpPr>
            <a:spLocks noChangeArrowheads="1"/>
          </p:cNvSpPr>
          <p:nvPr/>
        </p:nvSpPr>
        <p:spPr bwMode="auto">
          <a:xfrm>
            <a:off x="6889750" y="3357563"/>
            <a:ext cx="2195513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74x148</a:t>
            </a:r>
            <a:endParaRPr lang="en-US" altLang="zh-CN" b="1"/>
          </a:p>
        </p:txBody>
      </p:sp>
      <p:sp>
        <p:nvSpPr>
          <p:cNvPr id="155678" name="Rectangle 33"/>
          <p:cNvSpPr>
            <a:spLocks noChangeArrowheads="1"/>
          </p:cNvSpPr>
          <p:nvPr/>
        </p:nvSpPr>
        <p:spPr bwMode="auto">
          <a:xfrm>
            <a:off x="7069138" y="4114800"/>
            <a:ext cx="1944687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lang="en-US" altLang="zh-CN" sz="15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79" name="Rectangle 34"/>
          <p:cNvSpPr>
            <a:spLocks noChangeArrowheads="1"/>
          </p:cNvSpPr>
          <p:nvPr/>
        </p:nvSpPr>
        <p:spPr bwMode="auto">
          <a:xfrm>
            <a:off x="6672263" y="5589588"/>
            <a:ext cx="295275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7’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6’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5’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4’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3’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2’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1’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0’</a:t>
            </a:r>
            <a:endParaRPr lang="en-US" altLang="zh-CN" sz="15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80" name="Line 35"/>
          <p:cNvSpPr>
            <a:spLocks noChangeShapeType="1"/>
          </p:cNvSpPr>
          <p:nvPr/>
        </p:nvSpPr>
        <p:spPr bwMode="auto">
          <a:xfrm flipV="1">
            <a:off x="6924675" y="4906963"/>
            <a:ext cx="323850" cy="755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81" name="Line 36"/>
          <p:cNvSpPr>
            <a:spLocks noChangeShapeType="1"/>
          </p:cNvSpPr>
          <p:nvPr/>
        </p:nvSpPr>
        <p:spPr bwMode="auto">
          <a:xfrm flipV="1">
            <a:off x="7285038" y="4870450"/>
            <a:ext cx="179387" cy="755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82" name="Line 37"/>
          <p:cNvSpPr>
            <a:spLocks noChangeShapeType="1"/>
          </p:cNvSpPr>
          <p:nvPr/>
        </p:nvSpPr>
        <p:spPr bwMode="auto">
          <a:xfrm flipH="1">
            <a:off x="7572375" y="4906963"/>
            <a:ext cx="107950" cy="755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83" name="Line 38"/>
          <p:cNvSpPr>
            <a:spLocks noChangeShapeType="1"/>
          </p:cNvSpPr>
          <p:nvPr/>
        </p:nvSpPr>
        <p:spPr bwMode="auto">
          <a:xfrm>
            <a:off x="7896225" y="4870450"/>
            <a:ext cx="0" cy="7921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84" name="Line 39"/>
          <p:cNvSpPr>
            <a:spLocks noChangeShapeType="1"/>
          </p:cNvSpPr>
          <p:nvPr/>
        </p:nvSpPr>
        <p:spPr bwMode="auto">
          <a:xfrm>
            <a:off x="8113713" y="4906963"/>
            <a:ext cx="107950" cy="755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85" name="Line 40"/>
          <p:cNvSpPr>
            <a:spLocks noChangeShapeType="1"/>
          </p:cNvSpPr>
          <p:nvPr/>
        </p:nvSpPr>
        <p:spPr bwMode="auto">
          <a:xfrm>
            <a:off x="8329613" y="4906963"/>
            <a:ext cx="250825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86" name="Line 41"/>
          <p:cNvSpPr>
            <a:spLocks noChangeShapeType="1"/>
          </p:cNvSpPr>
          <p:nvPr/>
        </p:nvSpPr>
        <p:spPr bwMode="auto">
          <a:xfrm>
            <a:off x="8545513" y="4906963"/>
            <a:ext cx="358775" cy="755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87" name="Line 42"/>
          <p:cNvSpPr>
            <a:spLocks noChangeShapeType="1"/>
          </p:cNvSpPr>
          <p:nvPr/>
        </p:nvSpPr>
        <p:spPr bwMode="auto">
          <a:xfrm>
            <a:off x="8761413" y="4906963"/>
            <a:ext cx="468312" cy="755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88" name="Rectangle 43"/>
          <p:cNvSpPr>
            <a:spLocks noChangeArrowheads="1"/>
          </p:cNvSpPr>
          <p:nvPr/>
        </p:nvSpPr>
        <p:spPr bwMode="auto">
          <a:xfrm>
            <a:off x="7069138" y="3357563"/>
            <a:ext cx="1944687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A2   A1   A0</a:t>
            </a:r>
            <a:endParaRPr lang="en-US" altLang="zh-CN" sz="1500" b="1" i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89" name="Rectangle 44"/>
          <p:cNvSpPr>
            <a:spLocks noChangeArrowheads="1"/>
          </p:cNvSpPr>
          <p:nvPr/>
        </p:nvSpPr>
        <p:spPr bwMode="auto">
          <a:xfrm>
            <a:off x="6818313" y="3681413"/>
            <a:ext cx="395287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FF3300"/>
                </a:solidFill>
                <a:latin typeface="Times New Roman" panose="02020603050405020304" pitchFamily="18" charset="0"/>
              </a:rPr>
              <a:t>EI</a:t>
            </a:r>
            <a:endParaRPr lang="en-US" altLang="zh-CN" sz="1500" b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90" name="Rectangle 45"/>
          <p:cNvSpPr>
            <a:spLocks noChangeArrowheads="1"/>
          </p:cNvSpPr>
          <p:nvPr/>
        </p:nvSpPr>
        <p:spPr bwMode="auto">
          <a:xfrm>
            <a:off x="8689975" y="3681413"/>
            <a:ext cx="53975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FF3300"/>
                </a:solidFill>
                <a:latin typeface="Times New Roman" panose="02020603050405020304" pitchFamily="18" charset="0"/>
              </a:rPr>
              <a:t>EO</a:t>
            </a:r>
            <a:endParaRPr lang="en-US" altLang="zh-CN" sz="1500" b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91" name="Rectangle 46"/>
          <p:cNvSpPr>
            <a:spLocks noChangeArrowheads="1"/>
          </p:cNvSpPr>
          <p:nvPr/>
        </p:nvSpPr>
        <p:spPr bwMode="auto">
          <a:xfrm>
            <a:off x="8653463" y="3321050"/>
            <a:ext cx="53975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FF3300"/>
                </a:solidFill>
                <a:latin typeface="Times New Roman" panose="02020603050405020304" pitchFamily="18" charset="0"/>
              </a:rPr>
              <a:t>GS</a:t>
            </a:r>
            <a:endParaRPr lang="en-US" altLang="zh-CN" sz="1500" b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5692" name="Group 47"/>
          <p:cNvGrpSpPr/>
          <p:nvPr/>
        </p:nvGrpSpPr>
        <p:grpSpPr bwMode="auto">
          <a:xfrm rot="5400000">
            <a:off x="5141119" y="3483769"/>
            <a:ext cx="144462" cy="755650"/>
            <a:chOff x="1995" y="2298"/>
            <a:chExt cx="91" cy="476"/>
          </a:xfrm>
        </p:grpSpPr>
        <p:sp>
          <p:nvSpPr>
            <p:cNvPr id="155781" name="Line 48"/>
            <p:cNvSpPr>
              <a:spLocks noChangeShapeType="1"/>
            </p:cNvSpPr>
            <p:nvPr/>
          </p:nvSpPr>
          <p:spPr bwMode="auto">
            <a:xfrm rot="-5400000">
              <a:off x="1804" y="2536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82" name="Oval 49"/>
            <p:cNvSpPr>
              <a:spLocks noChangeArrowheads="1"/>
            </p:cNvSpPr>
            <p:nvPr/>
          </p:nvSpPr>
          <p:spPr bwMode="auto">
            <a:xfrm rot="-5400000">
              <a:off x="1995" y="2478"/>
              <a:ext cx="91" cy="91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55693" name="Group 50"/>
          <p:cNvGrpSpPr/>
          <p:nvPr/>
        </p:nvGrpSpPr>
        <p:grpSpPr bwMode="auto">
          <a:xfrm rot="5400000">
            <a:off x="2801144" y="3483769"/>
            <a:ext cx="144462" cy="755650"/>
            <a:chOff x="1995" y="2298"/>
            <a:chExt cx="91" cy="476"/>
          </a:xfrm>
        </p:grpSpPr>
        <p:sp>
          <p:nvSpPr>
            <p:cNvPr id="155779" name="Line 51"/>
            <p:cNvSpPr>
              <a:spLocks noChangeShapeType="1"/>
            </p:cNvSpPr>
            <p:nvPr/>
          </p:nvSpPr>
          <p:spPr bwMode="auto">
            <a:xfrm rot="-5400000">
              <a:off x="1804" y="2536"/>
              <a:ext cx="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80" name="Oval 52"/>
            <p:cNvSpPr>
              <a:spLocks noChangeArrowheads="1"/>
            </p:cNvSpPr>
            <p:nvPr/>
          </p:nvSpPr>
          <p:spPr bwMode="auto">
            <a:xfrm rot="-5400000">
              <a:off x="1995" y="2478"/>
              <a:ext cx="91" cy="91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55694" name="Line 53"/>
          <p:cNvSpPr>
            <a:spLocks noChangeShapeType="1"/>
          </p:cNvSpPr>
          <p:nvPr/>
        </p:nvSpPr>
        <p:spPr bwMode="auto">
          <a:xfrm rot="-5400000">
            <a:off x="2946400" y="330200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95" name="Line 54"/>
          <p:cNvSpPr>
            <a:spLocks noChangeShapeType="1"/>
          </p:cNvSpPr>
          <p:nvPr/>
        </p:nvSpPr>
        <p:spPr bwMode="auto">
          <a:xfrm rot="-5400000">
            <a:off x="3343275" y="330200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96" name="Line 55"/>
          <p:cNvSpPr>
            <a:spLocks noChangeShapeType="1"/>
          </p:cNvSpPr>
          <p:nvPr/>
        </p:nvSpPr>
        <p:spPr bwMode="auto">
          <a:xfrm rot="-5400000">
            <a:off x="3740150" y="330200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97" name="Line 56"/>
          <p:cNvSpPr>
            <a:spLocks noChangeShapeType="1"/>
          </p:cNvSpPr>
          <p:nvPr/>
        </p:nvSpPr>
        <p:spPr bwMode="auto">
          <a:xfrm rot="-5400000">
            <a:off x="4567238" y="330200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98" name="Oval 57"/>
          <p:cNvSpPr>
            <a:spLocks noChangeArrowheads="1"/>
          </p:cNvSpPr>
          <p:nvPr/>
        </p:nvSpPr>
        <p:spPr bwMode="auto">
          <a:xfrm rot="-5400000">
            <a:off x="3251200" y="3209925"/>
            <a:ext cx="144463" cy="144463"/>
          </a:xfrm>
          <a:prstGeom prst="ellipse">
            <a:avLst/>
          </a:prstGeom>
          <a:solidFill>
            <a:srgbClr val="FF3300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699" name="Oval 58"/>
          <p:cNvSpPr>
            <a:spLocks noChangeArrowheads="1"/>
          </p:cNvSpPr>
          <p:nvPr/>
        </p:nvSpPr>
        <p:spPr bwMode="auto">
          <a:xfrm rot="-5400000">
            <a:off x="3646487" y="3209926"/>
            <a:ext cx="144463" cy="144462"/>
          </a:xfrm>
          <a:prstGeom prst="ellipse">
            <a:avLst/>
          </a:prstGeom>
          <a:solidFill>
            <a:srgbClr val="FF3300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700" name="Oval 59"/>
          <p:cNvSpPr>
            <a:spLocks noChangeArrowheads="1"/>
          </p:cNvSpPr>
          <p:nvPr/>
        </p:nvSpPr>
        <p:spPr bwMode="auto">
          <a:xfrm rot="-5400000">
            <a:off x="4043362" y="3209926"/>
            <a:ext cx="144463" cy="144462"/>
          </a:xfrm>
          <a:prstGeom prst="ellipse">
            <a:avLst/>
          </a:prstGeom>
          <a:solidFill>
            <a:srgbClr val="FF3300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701" name="Oval 60"/>
          <p:cNvSpPr>
            <a:spLocks noChangeArrowheads="1"/>
          </p:cNvSpPr>
          <p:nvPr/>
        </p:nvSpPr>
        <p:spPr bwMode="auto">
          <a:xfrm rot="-5400000">
            <a:off x="4870450" y="3209925"/>
            <a:ext cx="144463" cy="144463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702" name="Line 61"/>
          <p:cNvSpPr>
            <a:spLocks noChangeShapeType="1"/>
          </p:cNvSpPr>
          <p:nvPr/>
        </p:nvSpPr>
        <p:spPr bwMode="auto">
          <a:xfrm rot="-5400000">
            <a:off x="2946400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03" name="Line 62"/>
          <p:cNvSpPr>
            <a:spLocks noChangeShapeType="1"/>
          </p:cNvSpPr>
          <p:nvPr/>
        </p:nvSpPr>
        <p:spPr bwMode="auto">
          <a:xfrm rot="-5400000">
            <a:off x="3163888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04" name="Line 63"/>
          <p:cNvSpPr>
            <a:spLocks noChangeShapeType="1"/>
          </p:cNvSpPr>
          <p:nvPr/>
        </p:nvSpPr>
        <p:spPr bwMode="auto">
          <a:xfrm rot="-5400000">
            <a:off x="3379788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05" name="Line 64"/>
          <p:cNvSpPr>
            <a:spLocks noChangeShapeType="1"/>
          </p:cNvSpPr>
          <p:nvPr/>
        </p:nvSpPr>
        <p:spPr bwMode="auto">
          <a:xfrm rot="-5400000">
            <a:off x="3595688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06" name="Line 65"/>
          <p:cNvSpPr>
            <a:spLocks noChangeShapeType="1"/>
          </p:cNvSpPr>
          <p:nvPr/>
        </p:nvSpPr>
        <p:spPr bwMode="auto">
          <a:xfrm rot="-5400000">
            <a:off x="3811588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07" name="Line 66"/>
          <p:cNvSpPr>
            <a:spLocks noChangeShapeType="1"/>
          </p:cNvSpPr>
          <p:nvPr/>
        </p:nvSpPr>
        <p:spPr bwMode="auto">
          <a:xfrm rot="-5400000">
            <a:off x="4025900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08" name="Line 67"/>
          <p:cNvSpPr>
            <a:spLocks noChangeShapeType="1"/>
          </p:cNvSpPr>
          <p:nvPr/>
        </p:nvSpPr>
        <p:spPr bwMode="auto">
          <a:xfrm rot="-5400000">
            <a:off x="4241800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09" name="Line 68"/>
          <p:cNvSpPr>
            <a:spLocks noChangeShapeType="1"/>
          </p:cNvSpPr>
          <p:nvPr/>
        </p:nvSpPr>
        <p:spPr bwMode="auto">
          <a:xfrm rot="-5400000">
            <a:off x="4457700" y="4527550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10" name="Oval 69"/>
          <p:cNvSpPr>
            <a:spLocks noChangeArrowheads="1"/>
          </p:cNvSpPr>
          <p:nvPr/>
        </p:nvSpPr>
        <p:spPr bwMode="auto">
          <a:xfrm rot="-5400000">
            <a:off x="3251200" y="4435475"/>
            <a:ext cx="144463" cy="144463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711" name="Oval 70"/>
          <p:cNvSpPr>
            <a:spLocks noChangeArrowheads="1"/>
          </p:cNvSpPr>
          <p:nvPr/>
        </p:nvSpPr>
        <p:spPr bwMode="auto">
          <a:xfrm rot="-5400000">
            <a:off x="3467100" y="4435475"/>
            <a:ext cx="144463" cy="144463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712" name="Oval 71"/>
          <p:cNvSpPr>
            <a:spLocks noChangeArrowheads="1"/>
          </p:cNvSpPr>
          <p:nvPr/>
        </p:nvSpPr>
        <p:spPr bwMode="auto">
          <a:xfrm rot="-5400000">
            <a:off x="3683000" y="4435475"/>
            <a:ext cx="144463" cy="144463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713" name="Oval 72"/>
          <p:cNvSpPr>
            <a:spLocks noChangeArrowheads="1"/>
          </p:cNvSpPr>
          <p:nvPr/>
        </p:nvSpPr>
        <p:spPr bwMode="auto">
          <a:xfrm rot="-5400000">
            <a:off x="3898900" y="4435475"/>
            <a:ext cx="144463" cy="144463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714" name="Oval 73"/>
          <p:cNvSpPr>
            <a:spLocks noChangeArrowheads="1"/>
          </p:cNvSpPr>
          <p:nvPr/>
        </p:nvSpPr>
        <p:spPr bwMode="auto">
          <a:xfrm rot="-5400000">
            <a:off x="4114800" y="4435475"/>
            <a:ext cx="144463" cy="144463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715" name="Oval 74"/>
          <p:cNvSpPr>
            <a:spLocks noChangeArrowheads="1"/>
          </p:cNvSpPr>
          <p:nvPr/>
        </p:nvSpPr>
        <p:spPr bwMode="auto">
          <a:xfrm rot="-5400000">
            <a:off x="4332287" y="4435476"/>
            <a:ext cx="144463" cy="144462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716" name="Oval 75"/>
          <p:cNvSpPr>
            <a:spLocks noChangeArrowheads="1"/>
          </p:cNvSpPr>
          <p:nvPr/>
        </p:nvSpPr>
        <p:spPr bwMode="auto">
          <a:xfrm rot="-5400000">
            <a:off x="4548187" y="4435476"/>
            <a:ext cx="144463" cy="144462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717" name="Oval 76"/>
          <p:cNvSpPr>
            <a:spLocks noChangeArrowheads="1"/>
          </p:cNvSpPr>
          <p:nvPr/>
        </p:nvSpPr>
        <p:spPr bwMode="auto">
          <a:xfrm rot="-5400000">
            <a:off x="4764087" y="4435476"/>
            <a:ext cx="144463" cy="144462"/>
          </a:xfrm>
          <a:prstGeom prst="ellipse">
            <a:avLst/>
          </a:prstGeom>
          <a:solidFill>
            <a:srgbClr val="0000FF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5718" name="Rectangle 77"/>
          <p:cNvSpPr>
            <a:spLocks noChangeArrowheads="1"/>
          </p:cNvSpPr>
          <p:nvPr/>
        </p:nvSpPr>
        <p:spPr bwMode="auto">
          <a:xfrm>
            <a:off x="2963863" y="3357563"/>
            <a:ext cx="2195512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74x148</a:t>
            </a:r>
            <a:endParaRPr lang="en-US" altLang="zh-CN" b="1"/>
          </a:p>
        </p:txBody>
      </p:sp>
      <p:sp>
        <p:nvSpPr>
          <p:cNvPr id="155719" name="Rectangle 78"/>
          <p:cNvSpPr>
            <a:spLocks noChangeArrowheads="1"/>
          </p:cNvSpPr>
          <p:nvPr/>
        </p:nvSpPr>
        <p:spPr bwMode="auto">
          <a:xfrm>
            <a:off x="3143250" y="4114800"/>
            <a:ext cx="1944688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500" b="1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lang="en-US" altLang="zh-CN" sz="15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720" name="Rectangle 79"/>
          <p:cNvSpPr>
            <a:spLocks noChangeArrowheads="1"/>
          </p:cNvSpPr>
          <p:nvPr/>
        </p:nvSpPr>
        <p:spPr bwMode="auto">
          <a:xfrm>
            <a:off x="2208213" y="5589588"/>
            <a:ext cx="3490912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15’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14’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13’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12’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11’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10’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9’</a:t>
            </a:r>
            <a:r>
              <a:rPr lang="en-US" altLang="zh-CN" sz="1500">
                <a:latin typeface="Times New Roman" panose="02020603050405020304" pitchFamily="18" charset="0"/>
              </a:rPr>
              <a:t> </a:t>
            </a:r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500" b="1">
                <a:solidFill>
                  <a:srgbClr val="0000FF"/>
                </a:solidFill>
                <a:latin typeface="Times New Roman" panose="02020603050405020304" pitchFamily="18" charset="0"/>
              </a:rPr>
              <a:t>8’</a:t>
            </a:r>
            <a:endParaRPr lang="en-US" altLang="zh-CN" sz="15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721" name="Line 80"/>
          <p:cNvSpPr>
            <a:spLocks noChangeShapeType="1"/>
          </p:cNvSpPr>
          <p:nvPr/>
        </p:nvSpPr>
        <p:spPr bwMode="auto">
          <a:xfrm flipV="1">
            <a:off x="2459038" y="4906963"/>
            <a:ext cx="863600" cy="827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22" name="Line 81"/>
          <p:cNvSpPr>
            <a:spLocks noChangeShapeType="1"/>
          </p:cNvSpPr>
          <p:nvPr/>
        </p:nvSpPr>
        <p:spPr bwMode="auto">
          <a:xfrm flipV="1">
            <a:off x="2963863" y="4870450"/>
            <a:ext cx="574675" cy="790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23" name="Line 82"/>
          <p:cNvSpPr>
            <a:spLocks noChangeShapeType="1"/>
          </p:cNvSpPr>
          <p:nvPr/>
        </p:nvSpPr>
        <p:spPr bwMode="auto">
          <a:xfrm flipH="1">
            <a:off x="3395663" y="4906963"/>
            <a:ext cx="358775" cy="717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24" name="Line 83"/>
          <p:cNvSpPr>
            <a:spLocks noChangeShapeType="1"/>
          </p:cNvSpPr>
          <p:nvPr/>
        </p:nvSpPr>
        <p:spPr bwMode="auto">
          <a:xfrm flipH="1">
            <a:off x="3827463" y="4870450"/>
            <a:ext cx="142875" cy="7540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25" name="Line 84"/>
          <p:cNvSpPr>
            <a:spLocks noChangeShapeType="1"/>
          </p:cNvSpPr>
          <p:nvPr/>
        </p:nvSpPr>
        <p:spPr bwMode="auto">
          <a:xfrm>
            <a:off x="4187825" y="4906963"/>
            <a:ext cx="0" cy="682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26" name="Line 85"/>
          <p:cNvSpPr>
            <a:spLocks noChangeShapeType="1"/>
          </p:cNvSpPr>
          <p:nvPr/>
        </p:nvSpPr>
        <p:spPr bwMode="auto">
          <a:xfrm>
            <a:off x="4403725" y="4906963"/>
            <a:ext cx="215900" cy="682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27" name="Line 86"/>
          <p:cNvSpPr>
            <a:spLocks noChangeShapeType="1"/>
          </p:cNvSpPr>
          <p:nvPr/>
        </p:nvSpPr>
        <p:spPr bwMode="auto">
          <a:xfrm>
            <a:off x="4619625" y="4906963"/>
            <a:ext cx="360363" cy="682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28" name="Line 87"/>
          <p:cNvSpPr>
            <a:spLocks noChangeShapeType="1"/>
          </p:cNvSpPr>
          <p:nvPr/>
        </p:nvSpPr>
        <p:spPr bwMode="auto">
          <a:xfrm>
            <a:off x="4835525" y="4906963"/>
            <a:ext cx="468313" cy="682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729" name="Rectangle 88"/>
          <p:cNvSpPr>
            <a:spLocks noChangeArrowheads="1"/>
          </p:cNvSpPr>
          <p:nvPr/>
        </p:nvSpPr>
        <p:spPr bwMode="auto">
          <a:xfrm>
            <a:off x="3143250" y="3357563"/>
            <a:ext cx="1944688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0000FF"/>
                </a:solidFill>
                <a:latin typeface="Times New Roman" panose="02020603050405020304" pitchFamily="18" charset="0"/>
              </a:rPr>
              <a:t>A2   A1   A0</a:t>
            </a:r>
            <a:endParaRPr lang="en-US" altLang="zh-CN" sz="1500" b="1" i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730" name="Rectangle 89"/>
          <p:cNvSpPr>
            <a:spLocks noChangeArrowheads="1"/>
          </p:cNvSpPr>
          <p:nvPr/>
        </p:nvSpPr>
        <p:spPr bwMode="auto">
          <a:xfrm>
            <a:off x="2892425" y="3681413"/>
            <a:ext cx="395288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FF3300"/>
                </a:solidFill>
                <a:latin typeface="Times New Roman" panose="02020603050405020304" pitchFamily="18" charset="0"/>
              </a:rPr>
              <a:t>EI</a:t>
            </a:r>
            <a:endParaRPr lang="en-US" altLang="zh-CN" sz="1500" b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731" name="Rectangle 90"/>
          <p:cNvSpPr>
            <a:spLocks noChangeArrowheads="1"/>
          </p:cNvSpPr>
          <p:nvPr/>
        </p:nvSpPr>
        <p:spPr bwMode="auto">
          <a:xfrm>
            <a:off x="4764088" y="3681413"/>
            <a:ext cx="53975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FF3300"/>
                </a:solidFill>
                <a:latin typeface="Times New Roman" panose="02020603050405020304" pitchFamily="18" charset="0"/>
              </a:rPr>
              <a:t>EO</a:t>
            </a:r>
            <a:endParaRPr lang="en-US" altLang="zh-CN" sz="1500" b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732" name="Rectangle 91"/>
          <p:cNvSpPr>
            <a:spLocks noChangeArrowheads="1"/>
          </p:cNvSpPr>
          <p:nvPr/>
        </p:nvSpPr>
        <p:spPr bwMode="auto">
          <a:xfrm>
            <a:off x="4727575" y="3321050"/>
            <a:ext cx="53975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i="1">
                <a:solidFill>
                  <a:srgbClr val="FF3300"/>
                </a:solidFill>
                <a:latin typeface="Times New Roman" panose="02020603050405020304" pitchFamily="18" charset="0"/>
              </a:rPr>
              <a:t>GS</a:t>
            </a:r>
            <a:endParaRPr lang="en-US" altLang="zh-CN" sz="1500" b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50332" name="Group 92"/>
          <p:cNvGrpSpPr/>
          <p:nvPr/>
        </p:nvGrpSpPr>
        <p:grpSpPr bwMode="auto">
          <a:xfrm>
            <a:off x="2387600" y="3860800"/>
            <a:ext cx="215900" cy="215900"/>
            <a:chOff x="1122" y="3227"/>
            <a:chExt cx="136" cy="136"/>
          </a:xfrm>
        </p:grpSpPr>
        <p:sp>
          <p:nvSpPr>
            <p:cNvPr id="155777" name="Line 93"/>
            <p:cNvSpPr>
              <a:spLocks noChangeShapeType="1"/>
            </p:cNvSpPr>
            <p:nvPr/>
          </p:nvSpPr>
          <p:spPr bwMode="auto">
            <a:xfrm rot="10800000">
              <a:off x="1190" y="3227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78" name="Line 94"/>
            <p:cNvSpPr>
              <a:spLocks noChangeShapeType="1"/>
            </p:cNvSpPr>
            <p:nvPr/>
          </p:nvSpPr>
          <p:spPr bwMode="auto">
            <a:xfrm rot="-5400000">
              <a:off x="1190" y="3295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5734" name="Rectangle 95"/>
          <p:cNvSpPr>
            <a:spLocks noChangeArrowheads="1"/>
          </p:cNvSpPr>
          <p:nvPr/>
        </p:nvSpPr>
        <p:spPr bwMode="auto">
          <a:xfrm>
            <a:off x="3827463" y="836613"/>
            <a:ext cx="3731260" cy="537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900" b="1" i="1">
                <a:solidFill>
                  <a:srgbClr val="0000FF"/>
                </a:solidFill>
                <a:latin typeface="Times New Roman" panose="02020603050405020304" pitchFamily="18" charset="0"/>
              </a:rPr>
              <a:t>Y3       Y2       Y1       Y0</a:t>
            </a:r>
            <a:endParaRPr lang="en-US" altLang="zh-CN" sz="2900" b="1" i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50336" name="Group 96"/>
          <p:cNvGrpSpPr/>
          <p:nvPr/>
        </p:nvGrpSpPr>
        <p:grpSpPr bwMode="auto">
          <a:xfrm>
            <a:off x="6311900" y="3860800"/>
            <a:ext cx="215900" cy="215900"/>
            <a:chOff x="1122" y="3227"/>
            <a:chExt cx="136" cy="136"/>
          </a:xfrm>
        </p:grpSpPr>
        <p:sp>
          <p:nvSpPr>
            <p:cNvPr id="155775" name="Line 97"/>
            <p:cNvSpPr>
              <a:spLocks noChangeShapeType="1"/>
            </p:cNvSpPr>
            <p:nvPr/>
          </p:nvSpPr>
          <p:spPr bwMode="auto">
            <a:xfrm rot="10800000">
              <a:off x="1190" y="3227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76" name="Line 98"/>
            <p:cNvSpPr>
              <a:spLocks noChangeShapeType="1"/>
            </p:cNvSpPr>
            <p:nvPr/>
          </p:nvSpPr>
          <p:spPr bwMode="auto">
            <a:xfrm rot="-5400000">
              <a:off x="1190" y="3295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0339" name="Group 99"/>
          <p:cNvGrpSpPr/>
          <p:nvPr/>
        </p:nvGrpSpPr>
        <p:grpSpPr bwMode="auto">
          <a:xfrm>
            <a:off x="4116388" y="1268413"/>
            <a:ext cx="3924300" cy="1655762"/>
            <a:chOff x="1633" y="799"/>
            <a:chExt cx="2472" cy="1043"/>
          </a:xfrm>
        </p:grpSpPr>
        <p:sp>
          <p:nvSpPr>
            <p:cNvPr id="155763" name="Line 100"/>
            <p:cNvSpPr>
              <a:spLocks noChangeShapeType="1"/>
            </p:cNvSpPr>
            <p:nvPr/>
          </p:nvSpPr>
          <p:spPr bwMode="auto">
            <a:xfrm>
              <a:off x="3742" y="1480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5764" name="Group 101"/>
            <p:cNvGrpSpPr/>
            <p:nvPr/>
          </p:nvGrpSpPr>
          <p:grpSpPr bwMode="auto">
            <a:xfrm rot="-5400000">
              <a:off x="3355" y="959"/>
              <a:ext cx="591" cy="272"/>
              <a:chOff x="1837" y="2024"/>
              <a:chExt cx="591" cy="272"/>
            </a:xfrm>
          </p:grpSpPr>
          <p:sp>
            <p:nvSpPr>
              <p:cNvPr id="155770" name="Line 21"/>
              <p:cNvSpPr>
                <a:spLocks noChangeShapeType="1"/>
              </p:cNvSpPr>
              <p:nvPr/>
            </p:nvSpPr>
            <p:spPr bwMode="auto">
              <a:xfrm>
                <a:off x="2201" y="2158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71" name="Line 22"/>
              <p:cNvSpPr>
                <a:spLocks noChangeShapeType="1"/>
              </p:cNvSpPr>
              <p:nvPr/>
            </p:nvSpPr>
            <p:spPr bwMode="auto">
              <a:xfrm>
                <a:off x="1837" y="2092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72" name="Line 23"/>
              <p:cNvSpPr>
                <a:spLocks noChangeShapeType="1"/>
              </p:cNvSpPr>
              <p:nvPr/>
            </p:nvSpPr>
            <p:spPr bwMode="auto">
              <a:xfrm>
                <a:off x="1837" y="2250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73" name="AutoShape 24"/>
              <p:cNvSpPr>
                <a:spLocks noChangeArrowheads="1"/>
              </p:cNvSpPr>
              <p:nvPr/>
            </p:nvSpPr>
            <p:spPr bwMode="auto">
              <a:xfrm>
                <a:off x="1941" y="2024"/>
                <a:ext cx="317" cy="272"/>
              </a:xfrm>
              <a:prstGeom prst="flowChartDelay">
                <a:avLst/>
              </a:prstGeom>
              <a:solidFill>
                <a:srgbClr val="FF6600"/>
              </a:solidFill>
              <a:ln w="38100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5774" name="Oval 31"/>
              <p:cNvSpPr>
                <a:spLocks noChangeArrowheads="1"/>
              </p:cNvSpPr>
              <p:nvPr/>
            </p:nvSpPr>
            <p:spPr bwMode="auto">
              <a:xfrm>
                <a:off x="2258" y="2114"/>
                <a:ext cx="91" cy="96"/>
              </a:xfrm>
              <a:prstGeom prst="ellipse">
                <a:avLst/>
              </a:prstGeom>
              <a:solidFill>
                <a:srgbClr val="FF6600"/>
              </a:solidFill>
              <a:ln w="38100">
                <a:solidFill>
                  <a:schemeClr val="tx1"/>
                </a:solidFill>
                <a:rou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55765" name="Line 107"/>
            <p:cNvSpPr>
              <a:spLocks noChangeShapeType="1"/>
            </p:cNvSpPr>
            <p:nvPr/>
          </p:nvSpPr>
          <p:spPr bwMode="auto">
            <a:xfrm flipV="1">
              <a:off x="4105" y="1480"/>
              <a:ext cx="0" cy="3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66" name="Line 108"/>
            <p:cNvSpPr>
              <a:spLocks noChangeShapeType="1"/>
            </p:cNvSpPr>
            <p:nvPr/>
          </p:nvSpPr>
          <p:spPr bwMode="auto">
            <a:xfrm>
              <a:off x="1633" y="1480"/>
              <a:ext cx="1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67" name="Line 109"/>
            <p:cNvSpPr>
              <a:spLocks noChangeShapeType="1"/>
            </p:cNvSpPr>
            <p:nvPr/>
          </p:nvSpPr>
          <p:spPr bwMode="auto">
            <a:xfrm flipV="1">
              <a:off x="1633" y="1480"/>
              <a:ext cx="0" cy="3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68" name="Line 110"/>
            <p:cNvSpPr>
              <a:spLocks noChangeShapeType="1"/>
            </p:cNvSpPr>
            <p:nvPr/>
          </p:nvSpPr>
          <p:spPr bwMode="auto">
            <a:xfrm flipV="1">
              <a:off x="3583" y="1344"/>
              <a:ext cx="0" cy="1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69" name="Line 111"/>
            <p:cNvSpPr>
              <a:spLocks noChangeShapeType="1"/>
            </p:cNvSpPr>
            <p:nvPr/>
          </p:nvSpPr>
          <p:spPr bwMode="auto">
            <a:xfrm flipV="1">
              <a:off x="3742" y="1344"/>
              <a:ext cx="0" cy="1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0352" name="Group 112"/>
          <p:cNvGrpSpPr/>
          <p:nvPr/>
        </p:nvGrpSpPr>
        <p:grpSpPr bwMode="auto">
          <a:xfrm>
            <a:off x="3719513" y="1268413"/>
            <a:ext cx="3924300" cy="1655762"/>
            <a:chOff x="1383" y="799"/>
            <a:chExt cx="2472" cy="1043"/>
          </a:xfrm>
        </p:grpSpPr>
        <p:grpSp>
          <p:nvGrpSpPr>
            <p:cNvPr id="155751" name="Group 113"/>
            <p:cNvGrpSpPr/>
            <p:nvPr/>
          </p:nvGrpSpPr>
          <p:grpSpPr bwMode="auto">
            <a:xfrm rot="-5400000">
              <a:off x="2675" y="959"/>
              <a:ext cx="591" cy="272"/>
              <a:chOff x="1837" y="2024"/>
              <a:chExt cx="591" cy="272"/>
            </a:xfrm>
          </p:grpSpPr>
          <p:sp>
            <p:nvSpPr>
              <p:cNvPr id="155758" name="Line 21"/>
              <p:cNvSpPr>
                <a:spLocks noChangeShapeType="1"/>
              </p:cNvSpPr>
              <p:nvPr/>
            </p:nvSpPr>
            <p:spPr bwMode="auto">
              <a:xfrm>
                <a:off x="2201" y="2158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59" name="Line 22"/>
              <p:cNvSpPr>
                <a:spLocks noChangeShapeType="1"/>
              </p:cNvSpPr>
              <p:nvPr/>
            </p:nvSpPr>
            <p:spPr bwMode="auto">
              <a:xfrm>
                <a:off x="1837" y="2092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60" name="Line 23"/>
              <p:cNvSpPr>
                <a:spLocks noChangeShapeType="1"/>
              </p:cNvSpPr>
              <p:nvPr/>
            </p:nvSpPr>
            <p:spPr bwMode="auto">
              <a:xfrm>
                <a:off x="1837" y="2250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61" name="AutoShape 24"/>
              <p:cNvSpPr>
                <a:spLocks noChangeArrowheads="1"/>
              </p:cNvSpPr>
              <p:nvPr/>
            </p:nvSpPr>
            <p:spPr bwMode="auto">
              <a:xfrm>
                <a:off x="1941" y="2024"/>
                <a:ext cx="317" cy="272"/>
              </a:xfrm>
              <a:prstGeom prst="flowChartDelay">
                <a:avLst/>
              </a:prstGeom>
              <a:solidFill>
                <a:srgbClr val="FF6600"/>
              </a:solidFill>
              <a:ln w="38100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5762" name="Oval 31"/>
              <p:cNvSpPr>
                <a:spLocks noChangeArrowheads="1"/>
              </p:cNvSpPr>
              <p:nvPr/>
            </p:nvSpPr>
            <p:spPr bwMode="auto">
              <a:xfrm>
                <a:off x="2258" y="2114"/>
                <a:ext cx="91" cy="96"/>
              </a:xfrm>
              <a:prstGeom prst="ellipse">
                <a:avLst/>
              </a:prstGeom>
              <a:solidFill>
                <a:srgbClr val="FF6600"/>
              </a:solidFill>
              <a:ln w="38100">
                <a:solidFill>
                  <a:schemeClr val="tx1"/>
                </a:solidFill>
                <a:rou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55752" name="Line 119"/>
            <p:cNvSpPr>
              <a:spLocks noChangeShapeType="1"/>
            </p:cNvSpPr>
            <p:nvPr/>
          </p:nvSpPr>
          <p:spPr bwMode="auto">
            <a:xfrm>
              <a:off x="1383" y="1593"/>
              <a:ext cx="15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53" name="Line 120"/>
            <p:cNvSpPr>
              <a:spLocks noChangeShapeType="1"/>
            </p:cNvSpPr>
            <p:nvPr/>
          </p:nvSpPr>
          <p:spPr bwMode="auto">
            <a:xfrm>
              <a:off x="3061" y="1593"/>
              <a:ext cx="7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54" name="Line 121"/>
            <p:cNvSpPr>
              <a:spLocks noChangeShapeType="1"/>
            </p:cNvSpPr>
            <p:nvPr/>
          </p:nvSpPr>
          <p:spPr bwMode="auto">
            <a:xfrm flipV="1">
              <a:off x="3855" y="1593"/>
              <a:ext cx="0" cy="2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55" name="Line 122"/>
            <p:cNvSpPr>
              <a:spLocks noChangeShapeType="1"/>
            </p:cNvSpPr>
            <p:nvPr/>
          </p:nvSpPr>
          <p:spPr bwMode="auto">
            <a:xfrm flipV="1">
              <a:off x="3061" y="1366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56" name="Line 123"/>
            <p:cNvSpPr>
              <a:spLocks noChangeShapeType="1"/>
            </p:cNvSpPr>
            <p:nvPr/>
          </p:nvSpPr>
          <p:spPr bwMode="auto">
            <a:xfrm flipV="1">
              <a:off x="2903" y="1366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57" name="Line 124"/>
            <p:cNvSpPr>
              <a:spLocks noChangeShapeType="1"/>
            </p:cNvSpPr>
            <p:nvPr/>
          </p:nvSpPr>
          <p:spPr bwMode="auto">
            <a:xfrm flipV="1">
              <a:off x="1383" y="1593"/>
              <a:ext cx="0" cy="2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0382" name="Group 142"/>
          <p:cNvGrpSpPr/>
          <p:nvPr/>
        </p:nvGrpSpPr>
        <p:grpSpPr bwMode="auto">
          <a:xfrm>
            <a:off x="3324225" y="1268413"/>
            <a:ext cx="3924300" cy="1836737"/>
            <a:chOff x="1134" y="799"/>
            <a:chExt cx="2472" cy="1157"/>
          </a:xfrm>
        </p:grpSpPr>
        <p:grpSp>
          <p:nvGrpSpPr>
            <p:cNvPr id="155739" name="Group 126"/>
            <p:cNvGrpSpPr/>
            <p:nvPr/>
          </p:nvGrpSpPr>
          <p:grpSpPr bwMode="auto">
            <a:xfrm rot="-5400000">
              <a:off x="2040" y="959"/>
              <a:ext cx="591" cy="272"/>
              <a:chOff x="1837" y="2024"/>
              <a:chExt cx="591" cy="272"/>
            </a:xfrm>
          </p:grpSpPr>
          <p:sp>
            <p:nvSpPr>
              <p:cNvPr id="155746" name="Line 21"/>
              <p:cNvSpPr>
                <a:spLocks noChangeShapeType="1"/>
              </p:cNvSpPr>
              <p:nvPr/>
            </p:nvSpPr>
            <p:spPr bwMode="auto">
              <a:xfrm>
                <a:off x="2201" y="2158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47" name="Line 22"/>
              <p:cNvSpPr>
                <a:spLocks noChangeShapeType="1"/>
              </p:cNvSpPr>
              <p:nvPr/>
            </p:nvSpPr>
            <p:spPr bwMode="auto">
              <a:xfrm>
                <a:off x="1837" y="2092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48" name="Line 23"/>
              <p:cNvSpPr>
                <a:spLocks noChangeShapeType="1"/>
              </p:cNvSpPr>
              <p:nvPr/>
            </p:nvSpPr>
            <p:spPr bwMode="auto">
              <a:xfrm>
                <a:off x="1837" y="2250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49" name="AutoShape 24"/>
              <p:cNvSpPr>
                <a:spLocks noChangeArrowheads="1"/>
              </p:cNvSpPr>
              <p:nvPr/>
            </p:nvSpPr>
            <p:spPr bwMode="auto">
              <a:xfrm>
                <a:off x="1941" y="2024"/>
                <a:ext cx="317" cy="272"/>
              </a:xfrm>
              <a:prstGeom prst="flowChartDelay">
                <a:avLst/>
              </a:prstGeom>
              <a:solidFill>
                <a:srgbClr val="FF6600"/>
              </a:solidFill>
              <a:ln w="38100">
                <a:solidFill>
                  <a:schemeClr val="tx1"/>
                </a:solidFill>
                <a:miter lim="800000"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5750" name="Oval 31"/>
              <p:cNvSpPr>
                <a:spLocks noChangeArrowheads="1"/>
              </p:cNvSpPr>
              <p:nvPr/>
            </p:nvSpPr>
            <p:spPr bwMode="auto">
              <a:xfrm>
                <a:off x="2258" y="2114"/>
                <a:ext cx="91" cy="96"/>
              </a:xfrm>
              <a:prstGeom prst="ellipse">
                <a:avLst/>
              </a:prstGeom>
              <a:solidFill>
                <a:srgbClr val="FF6600"/>
              </a:solidFill>
              <a:ln w="38100">
                <a:solidFill>
                  <a:schemeClr val="tx1"/>
                </a:solidFill>
                <a:rou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55740" name="Line 132"/>
            <p:cNvSpPr>
              <a:spLocks noChangeShapeType="1"/>
            </p:cNvSpPr>
            <p:nvPr/>
          </p:nvSpPr>
          <p:spPr bwMode="auto">
            <a:xfrm>
              <a:off x="1134" y="1706"/>
              <a:ext cx="11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41" name="Line 133"/>
            <p:cNvSpPr>
              <a:spLocks noChangeShapeType="1"/>
            </p:cNvSpPr>
            <p:nvPr/>
          </p:nvSpPr>
          <p:spPr bwMode="auto">
            <a:xfrm>
              <a:off x="2426" y="1706"/>
              <a:ext cx="11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42" name="Line 134"/>
            <p:cNvSpPr>
              <a:spLocks noChangeShapeType="1"/>
            </p:cNvSpPr>
            <p:nvPr/>
          </p:nvSpPr>
          <p:spPr bwMode="auto">
            <a:xfrm flipV="1">
              <a:off x="3606" y="1707"/>
              <a:ext cx="0" cy="2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43" name="Line 135"/>
            <p:cNvSpPr>
              <a:spLocks noChangeShapeType="1"/>
            </p:cNvSpPr>
            <p:nvPr/>
          </p:nvSpPr>
          <p:spPr bwMode="auto">
            <a:xfrm flipV="1">
              <a:off x="2426" y="1344"/>
              <a:ext cx="0" cy="3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44" name="Line 136"/>
            <p:cNvSpPr>
              <a:spLocks noChangeShapeType="1"/>
            </p:cNvSpPr>
            <p:nvPr/>
          </p:nvSpPr>
          <p:spPr bwMode="auto">
            <a:xfrm flipV="1">
              <a:off x="2268" y="1344"/>
              <a:ext cx="0" cy="3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45" name="Line 137"/>
            <p:cNvSpPr>
              <a:spLocks noChangeShapeType="1"/>
            </p:cNvSpPr>
            <p:nvPr/>
          </p:nvSpPr>
          <p:spPr bwMode="auto">
            <a:xfrm flipV="1">
              <a:off x="1134" y="1707"/>
              <a:ext cx="0" cy="2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591175" y="3863975"/>
            <a:ext cx="1033780" cy="461010"/>
            <a:chOff x="8805" y="6085"/>
            <a:chExt cx="1628" cy="726"/>
          </a:xfrm>
        </p:grpSpPr>
        <p:cxnSp>
          <p:nvCxnSpPr>
            <p:cNvPr id="2" name="直接连接符 1"/>
            <p:cNvCxnSpPr>
              <a:stCxn id="155781" idx="1"/>
              <a:endCxn id="155783" idx="0"/>
            </p:cNvCxnSpPr>
            <p:nvPr/>
          </p:nvCxnSpPr>
          <p:spPr>
            <a:xfrm>
              <a:off x="8805" y="6085"/>
              <a:ext cx="13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" name="乘号 2"/>
            <p:cNvSpPr/>
            <p:nvPr/>
          </p:nvSpPr>
          <p:spPr>
            <a:xfrm>
              <a:off x="9769" y="6195"/>
              <a:ext cx="665" cy="616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65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5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5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050" y="607060"/>
            <a:ext cx="6819900" cy="1371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540" y="2062480"/>
            <a:ext cx="5836920" cy="390144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5498465" y="3543300"/>
            <a:ext cx="574040" cy="38290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3435" y="2727325"/>
            <a:ext cx="18726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/>
              <a:t>新板子</a:t>
            </a:r>
            <a:endParaRPr lang="zh-CN" altLang="en-US" sz="3600"/>
          </a:p>
          <a:p>
            <a:pPr algn="ctr"/>
            <a:r>
              <a:rPr lang="en-US" altLang="zh-CN" sz="3600"/>
              <a:t>EGO1</a:t>
            </a:r>
            <a:endParaRPr lang="en-US" altLang="zh-CN"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1015" y="3707130"/>
            <a:ext cx="4318635" cy="246126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300095" y="755015"/>
            <a:ext cx="6386830" cy="2879090"/>
            <a:chOff x="2172" y="476"/>
            <a:chExt cx="10058" cy="4534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/>
            <a:srcRect l="9384" t="4814" r="17004" b="5951"/>
            <a:stretch>
              <a:fillRect/>
            </a:stretch>
          </p:blipFill>
          <p:spPr>
            <a:xfrm rot="16200000">
              <a:off x="5168" y="-923"/>
              <a:ext cx="4535" cy="7333"/>
            </a:xfrm>
            <a:prstGeom prst="rect">
              <a:avLst/>
            </a:prstGeom>
          </p:spPr>
        </p:pic>
        <p:sp>
          <p:nvSpPr>
            <p:cNvPr id="28" name="椭圆 27"/>
            <p:cNvSpPr/>
            <p:nvPr/>
          </p:nvSpPr>
          <p:spPr>
            <a:xfrm>
              <a:off x="3769" y="1428"/>
              <a:ext cx="1188" cy="117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10033" y="1523"/>
              <a:ext cx="1188" cy="117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10033" y="2807"/>
              <a:ext cx="1188" cy="117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6" name="直接箭头连接符 5"/>
            <p:cNvCxnSpPr/>
            <p:nvPr/>
          </p:nvCxnSpPr>
          <p:spPr>
            <a:xfrm flipH="1">
              <a:off x="3334" y="1809"/>
              <a:ext cx="110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2172" y="1523"/>
              <a:ext cx="14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GND</a:t>
              </a:r>
              <a:endParaRPr lang="en-US" altLang="zh-CN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820" y="2027"/>
              <a:ext cx="94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JA</a:t>
              </a:r>
              <a:endParaRPr lang="en-US" altLang="zh-CN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1282" y="1809"/>
              <a:ext cx="94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JB</a:t>
              </a:r>
              <a:endParaRPr lang="en-US" altLang="zh-CN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1282" y="3106"/>
              <a:ext cx="94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JC</a:t>
              </a:r>
              <a:endParaRPr lang="en-US" altLang="zh-CN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13435" y="1969770"/>
            <a:ext cx="19748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/>
              <a:t>老板子</a:t>
            </a:r>
            <a:endParaRPr lang="zh-CN" altLang="en-US" sz="3600"/>
          </a:p>
          <a:p>
            <a:pPr algn="ctr"/>
            <a:r>
              <a:rPr lang="en-US" altLang="zh-CN" sz="3600"/>
              <a:t>BAYSY3</a:t>
            </a:r>
            <a:endParaRPr lang="en-US" altLang="zh-CN" sz="3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t="3393"/>
          <a:stretch>
            <a:fillRect/>
          </a:stretch>
        </p:blipFill>
        <p:spPr>
          <a:xfrm>
            <a:off x="1085215" y="3707130"/>
            <a:ext cx="5504815" cy="246126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RhMzcyMzEyODlhOWM2Njg5MjExZjU2M2JhNTg5NzE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1330</Words>
  <Application>WPS 演示</Application>
  <PresentationFormat>宽屏</PresentationFormat>
  <Paragraphs>444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黑体</vt:lpstr>
      <vt:lpstr>楷体_GB2312</vt:lpstr>
      <vt:lpstr>新宋体</vt:lpstr>
      <vt:lpstr>微软雅黑</vt:lpstr>
      <vt:lpstr>Arial Unicode MS</vt:lpstr>
      <vt:lpstr>Calibri</vt:lpstr>
      <vt:lpstr>楷体_GB2312</vt:lpstr>
      <vt:lpstr>默认设计模板</vt:lpstr>
      <vt:lpstr>1_默认设计模板</vt:lpstr>
      <vt:lpstr>状态机练习</vt:lpstr>
      <vt:lpstr>组合逻辑练习</vt:lpstr>
      <vt:lpstr>Priority Encoder Design</vt:lpstr>
      <vt:lpstr>PowerPoint 演示文稿</vt:lpstr>
      <vt:lpstr>小组实验: 优先编码器级联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xcj</dc:creator>
  <cp:lastModifiedBy>楚佳</cp:lastModifiedBy>
  <cp:revision>31</cp:revision>
  <dcterms:created xsi:type="dcterms:W3CDTF">2023-08-09T12:44:00Z</dcterms:created>
  <dcterms:modified xsi:type="dcterms:W3CDTF">2024-04-01T03:59:30Z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2052-12.1.0.16417</vt:lpwstr>
  </property>
</Properties>
</file>