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notesSlides/notesSlide1.xml" ContentType="application/vnd.openxmlformats-officedocument.presentationml.notesSlide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notesSlides/notesSlide2.xml" ContentType="application/vnd.openxmlformats-officedocument.presentationml.notesSlide+xml"/>
  <Override PartName="/ppt/tags/tag31.xml" ContentType="application/vnd.openxmlformats-officedocument.presentationml.tags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notesSlides/notesSlide13.xml" ContentType="application/vnd.openxmlformats-officedocument.presentationml.notesSlide+xml"/>
  <Override PartName="/ppt/tags/tag59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7"/>
  </p:notesMasterIdLst>
  <p:sldIdLst>
    <p:sldId id="257" r:id="rId2"/>
    <p:sldId id="258" r:id="rId3"/>
    <p:sldId id="261" r:id="rId4"/>
    <p:sldId id="262" r:id="rId5"/>
    <p:sldId id="256" r:id="rId6"/>
    <p:sldId id="263" r:id="rId7"/>
    <p:sldId id="264" r:id="rId8"/>
    <p:sldId id="265" r:id="rId9"/>
    <p:sldId id="266" r:id="rId10"/>
    <p:sldId id="267" r:id="rId11"/>
    <p:sldId id="268" r:id="rId12"/>
    <p:sldId id="269" r:id="rId13"/>
    <p:sldId id="270" r:id="rId14"/>
    <p:sldId id="271" r:id="rId15"/>
    <p:sldId id="272" r:id="rId16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F78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59218" autoAdjust="0"/>
  </p:normalViewPr>
  <p:slideViewPr>
    <p:cSldViewPr snapToGrid="0">
      <p:cViewPr varScale="1">
        <p:scale>
          <a:sx n="53" d="100"/>
          <a:sy n="53" d="100"/>
        </p:scale>
        <p:origin x="68" y="3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DEB1027-FDBF-4394-A9D4-8EA2761BEC29}" type="datetimeFigureOut">
              <a:rPr lang="zh-CN" altLang="en-US" smtClean="0"/>
              <a:t>2026/5/19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BD6EE95-0B18-4A79-9FB2-6830B6398F4A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rPr lang="zh-CN" altLang="en-US"/>
              <a:t>各位老师、同学们好，我们是第三小组，我们小组所汇报的主题是</a:t>
            </a:r>
            <a:r>
              <a:rPr lang="en-US" altLang="zh-CN"/>
              <a:t>AI </a:t>
            </a:r>
            <a:r>
              <a:rPr lang="zh-CN" altLang="en-US"/>
              <a:t>图片生成模块的四次工程伦理选择。在今年四月份，</a:t>
            </a:r>
            <a:r>
              <a:rPr lang="en-US" altLang="zh-CN"/>
              <a:t>OpenAI</a:t>
            </a:r>
            <a:r>
              <a:rPr lang="zh-CN" altLang="en-US"/>
              <a:t>推出了</a:t>
            </a:r>
            <a:r>
              <a:rPr lang="en-US" altLang="zh-CN"/>
              <a:t>GPT-Image-2，</a:t>
            </a:r>
            <a:r>
              <a:rPr lang="zh-CN" altLang="en-US"/>
              <a:t>让</a:t>
            </a:r>
            <a:r>
              <a:rPr lang="en-US" altLang="zh-CN"/>
              <a:t>AI</a:t>
            </a:r>
            <a:r>
              <a:rPr lang="zh-CN" altLang="en-US"/>
              <a:t>生成的图片具备更高的效率、逻辑和分辨率，但是，在技术的飞跃同时，我们对于工程伦理也应当有更多的思考。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rPr lang="zh-CN" altLang="en-US"/>
              <a:t>我们小组将对</a:t>
            </a:r>
            <a:r>
              <a:rPr lang="en-US" altLang="zh-CN"/>
              <a:t>AI</a:t>
            </a:r>
            <a:r>
              <a:rPr lang="zh-CN" altLang="en-US"/>
              <a:t>生成图片所隐藏的伦理问题展开探讨，首先我们需要了解</a:t>
            </a:r>
            <a:r>
              <a:rPr lang="en-US" altLang="zh-CN"/>
              <a:t>AI</a:t>
            </a:r>
            <a:r>
              <a:rPr lang="zh-CN" altLang="en-US"/>
              <a:t>生成图片模块的流程，它主要包括训练数据、模型设计、输出控制、反馈迭代等四个闭环的操作，基于此，我们需要解决数据从哪里来，该如何解释模型，模型输出内容的边界在哪里，该如何正确使用用户反馈的数据等等伦理问题。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rPr lang="zh-CN" altLang="en-US"/>
              <a:t>首先是训练数据这个板块，数据从哪里来？一般来说，数据可以通过网络爬取、公开数据集、合成数据、商业数据集、领域采集等途径进行获取，可以看到，一般来说，越是容易获取的数据，它所面临的版权风险和隐私风险就越大，但是，考虑到成本，</a:t>
            </a:r>
            <a:r>
              <a:rPr lang="en-US" altLang="zh-CN"/>
              <a:t>AI</a:t>
            </a:r>
            <a:r>
              <a:rPr lang="zh-CN" altLang="en-US"/>
              <a:t>公司总是倾向于使用一部分风险较大的数据，为了保证责任透明，保证数据的可追溯性成为了重中之重，这不仅是法律的要求，更是对用户的负责。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rPr lang="zh-CN" altLang="en-US"/>
              <a:t>我们以</a:t>
            </a:r>
            <a:r>
              <a:rPr lang="en-US" altLang="zh-CN"/>
              <a:t>Adobe Firefly</a:t>
            </a:r>
            <a:r>
              <a:rPr lang="zh-CN" altLang="en-US"/>
              <a:t>为例，在发布的时候，</a:t>
            </a:r>
            <a:r>
              <a:rPr lang="en-US" altLang="zh-CN"/>
              <a:t>Adobe Firefly</a:t>
            </a:r>
            <a:r>
              <a:rPr lang="zh-CN" altLang="en-US"/>
              <a:t>对外承诺它的训练数据100%来自</a:t>
            </a:r>
            <a:r>
              <a:rPr lang="en-US" altLang="zh-CN"/>
              <a:t>Adobe Stock</a:t>
            </a:r>
            <a:r>
              <a:rPr lang="zh-CN" altLang="en-US"/>
              <a:t>授权图库和公共领域，以这个嘘（</a:t>
            </a:r>
            <a:r>
              <a:rPr lang="en-US" altLang="zh-CN"/>
              <a:t>xue2）</a:t>
            </a:r>
            <a:r>
              <a:rPr lang="zh-CN" altLang="en-US"/>
              <a:t>头获取了大量利润，然而，后面的报告却揭露了它的部分训练数据来自竞品的</a:t>
            </a:r>
            <a:r>
              <a:rPr lang="en-US" altLang="zh-CN"/>
              <a:t>AI</a:t>
            </a:r>
            <a:r>
              <a:rPr lang="zh-CN" altLang="en-US"/>
              <a:t>生成图片，可见，有道德的</a:t>
            </a:r>
            <a:r>
              <a:rPr lang="en-US" altLang="zh-CN"/>
              <a:t>AI</a:t>
            </a:r>
            <a:r>
              <a:rPr lang="zh-CN" altLang="en-US"/>
              <a:t>是少的，训练数据的来源必须严格把关，才能保证</a:t>
            </a:r>
            <a:r>
              <a:rPr lang="en-US" altLang="zh-CN"/>
              <a:t>AI</a:t>
            </a:r>
            <a:r>
              <a:rPr lang="zh-CN" altLang="en-US"/>
              <a:t>竞争的公平性。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115000"/>
              </a:lnSpc>
              <a:spcAft>
                <a:spcPts val="800"/>
              </a:spcAft>
            </a:pPr>
            <a:r>
              <a:rPr lang="zh-CN" altLang="zh-CN" sz="18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搞定了数据，下一步是模型设计。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lang="zh-CN" altLang="zh-CN" sz="18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我们要决定的是——模型应该学到什么程度。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lang="zh-CN" altLang="zh-CN" sz="18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学构图、配色、光影、镜头感都没问题，是公共的视觉语言。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lang="zh-CN" altLang="zh-CN" sz="18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但如果用户说</a:t>
            </a:r>
            <a:r>
              <a:rPr lang="en-US" altLang="zh-CN" sz="18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"</a:t>
            </a:r>
            <a:r>
              <a:rPr lang="zh-CN" altLang="zh-CN" sz="18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来一张宫崎骏风格的图</a:t>
            </a:r>
            <a:r>
              <a:rPr lang="en-US" altLang="zh-CN" sz="18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"</a:t>
            </a:r>
            <a:r>
              <a:rPr lang="zh-CN" altLang="zh-CN" sz="18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，模型学的就不再是一般审美，而是在复刻具体的人、工作室、甚至</a:t>
            </a:r>
            <a:r>
              <a:rPr lang="en-US" altLang="zh-CN" sz="18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 IP</a:t>
            </a:r>
            <a:r>
              <a:rPr lang="zh-CN" altLang="zh-CN" sz="18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——这就越过了工程伦理的底线：缺乏对原作者劳动的基本尊重。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lang="zh-CN" altLang="zh-CN" sz="18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那负责任的模型怎么处理？我们拿这个提示词试了</a:t>
            </a:r>
            <a:r>
              <a:rPr lang="en-US" altLang="zh-CN" sz="18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1800" kern="10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gpt-image-2</a:t>
            </a:r>
            <a:r>
              <a:rPr lang="zh-CN" altLang="zh-CN" sz="1800" kern="10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。</a:t>
            </a:r>
            <a:r>
              <a:rPr lang="zh-CN" altLang="en-US" sz="1800" kern="10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（指向</a:t>
            </a:r>
            <a:r>
              <a:rPr lang="en-US" altLang="zh-CN" sz="1800" kern="10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PPT</a:t>
            </a:r>
            <a:r>
              <a:rPr lang="zh-CN" altLang="en-US" sz="1800" kern="10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）</a:t>
            </a:r>
            <a:endParaRPr lang="zh-CN" altLang="zh-CN" sz="1800" kern="1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lang="zh-CN" altLang="zh-CN" sz="18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如果让他直接生成</a:t>
            </a:r>
            <a:r>
              <a:rPr lang="en-US" altLang="zh-CN" sz="18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"</a:t>
            </a:r>
            <a:r>
              <a:rPr lang="zh-CN" altLang="zh-CN" sz="18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宫崎骏风格</a:t>
            </a:r>
            <a:r>
              <a:rPr lang="en-US" altLang="zh-CN" sz="18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"</a:t>
            </a:r>
            <a:r>
              <a:rPr lang="zh-CN" altLang="zh-CN" sz="18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，他会直接拒绝——理由是</a:t>
            </a:r>
            <a:r>
              <a:rPr lang="en-US" altLang="zh-CN" sz="18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"</a:t>
            </a:r>
            <a:r>
              <a:rPr lang="zh-CN" altLang="zh-CN" sz="18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模仿创作者或工作室的可识别风格</a:t>
            </a:r>
            <a:r>
              <a:rPr lang="en-US" altLang="zh-CN" sz="18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"</a:t>
            </a:r>
            <a:r>
              <a:rPr lang="zh-CN" altLang="zh-CN" sz="18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。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lang="zh-CN" altLang="zh-CN" sz="18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而且</a:t>
            </a:r>
            <a:r>
              <a:rPr lang="en-US" altLang="zh-CN" sz="18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 ChatGPT </a:t>
            </a:r>
            <a:r>
              <a:rPr lang="zh-CN" altLang="zh-CN" sz="18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没停在拒绝。它顺手把请求重写成一段不带工作室名的原创描述：森林深处的小屋，柔和自然光，低饱和色彩，而且要求不模仿任何特定艺术家、动画工作室或已有作品。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lang="zh-CN" altLang="zh-CN" sz="18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我们按重写后的提示词生成的了右边这张图片，绕过了“宫崎骏”的</a:t>
            </a:r>
            <a:r>
              <a:rPr lang="en-US" altLang="zh-CN" sz="18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IP</a:t>
            </a:r>
            <a:r>
              <a:rPr lang="zh-CN" altLang="zh-CN" sz="18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115000"/>
              </a:lnSpc>
              <a:spcAft>
                <a:spcPts val="800"/>
              </a:spcAft>
            </a:pPr>
            <a:r>
              <a:rPr lang="zh-CN" altLang="zh-CN" sz="18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到这里好像问题解决了</a:t>
            </a:r>
            <a:r>
              <a:rPr lang="en-US" altLang="zh-CN" sz="18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——</a:t>
            </a:r>
            <a:r>
              <a:rPr lang="zh-CN" altLang="zh-CN" sz="18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拦截了敏感词、改写成技术性描述，画出来也不是</a:t>
            </a:r>
            <a:r>
              <a:rPr lang="zh-CN" altLang="zh-CN" sz="1800" kern="10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“宫崎骏”。</a:t>
            </a:r>
            <a:endParaRPr lang="en-US" altLang="zh-CN" sz="1800" kern="10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lang="zh-CN" altLang="en-US" sz="1800" kern="10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也就是完成了输入层：识别显性请求，与中间层：引导回原创方向（指向</a:t>
            </a:r>
            <a:r>
              <a:rPr lang="en-US" altLang="zh-CN" sz="1800" kern="10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PPT</a:t>
            </a:r>
            <a:r>
              <a:rPr lang="zh-CN" altLang="en-US" sz="1800" kern="10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）</a:t>
            </a:r>
            <a:endParaRPr lang="zh-CN" altLang="zh-CN" sz="1800" kern="1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lang="zh-CN" altLang="zh-CN" sz="18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但我们需要深思</a:t>
            </a:r>
            <a:r>
              <a:rPr lang="zh-CN" altLang="zh-CN" sz="1800" kern="10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，把</a:t>
            </a:r>
            <a:r>
              <a:rPr lang="en-US" altLang="zh-CN" sz="1800" kern="10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“</a:t>
            </a:r>
            <a:r>
              <a:rPr lang="zh-CN" altLang="zh-CN" sz="1800" kern="10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宫崎骏</a:t>
            </a:r>
            <a:r>
              <a:rPr lang="en-US" altLang="zh-CN" sz="1800" kern="10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”</a:t>
            </a:r>
            <a:r>
              <a:rPr lang="zh-CN" altLang="zh-CN" sz="1800" kern="10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换成</a:t>
            </a:r>
            <a:r>
              <a:rPr lang="en-US" altLang="zh-CN" sz="1800" kern="10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“</a:t>
            </a:r>
            <a:r>
              <a:rPr lang="zh-CN" altLang="zh-CN" sz="1800" kern="10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柔和</a:t>
            </a:r>
            <a:r>
              <a:rPr lang="zh-CN" altLang="zh-CN" sz="18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自然光、低饱和、</a:t>
            </a:r>
            <a:r>
              <a:rPr lang="zh-CN" altLang="zh-CN" sz="1800" kern="10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童话氛围</a:t>
            </a:r>
            <a:r>
              <a:rPr lang="en-US" altLang="zh-CN" sz="1800" kern="10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”</a:t>
            </a:r>
            <a:r>
              <a:rPr lang="zh-CN" altLang="zh-CN" sz="1800" kern="10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，</a:t>
            </a:r>
            <a:r>
              <a:rPr lang="zh-CN" altLang="zh-CN" sz="18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听起来很</a:t>
            </a:r>
            <a:r>
              <a:rPr lang="zh-CN" altLang="zh-CN" sz="1800" kern="10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美好，</a:t>
            </a:r>
            <a:r>
              <a:rPr lang="zh-CN" altLang="en-US" sz="1800" kern="10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但</a:t>
            </a:r>
            <a:r>
              <a:rPr lang="zh-CN" altLang="zh-CN" sz="1800" kern="10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有没有</a:t>
            </a:r>
            <a:r>
              <a:rPr lang="zh-CN" altLang="zh-CN" sz="18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可能，这组词拼起来，本质还是在描述</a:t>
            </a:r>
            <a:r>
              <a:rPr lang="en-US" altLang="zh-CN" sz="18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"</a:t>
            </a:r>
            <a:r>
              <a:rPr lang="zh-CN" altLang="zh-CN" sz="18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宫崎骏</a:t>
            </a:r>
            <a:r>
              <a:rPr lang="en-US" altLang="zh-CN" sz="18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"</a:t>
            </a:r>
            <a:r>
              <a:rPr lang="zh-CN" altLang="zh-CN" sz="18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，模型出来的结果还是“宫崎骏”呢？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lang="zh-CN" altLang="zh-CN" sz="18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其实，边界从来不在</a:t>
            </a:r>
            <a:r>
              <a:rPr lang="en-US" altLang="zh-CN" sz="18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"</a:t>
            </a:r>
            <a:r>
              <a:rPr lang="zh-CN" altLang="zh-CN" sz="18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宫崎骏</a:t>
            </a:r>
            <a:r>
              <a:rPr lang="en-US" altLang="zh-CN" sz="18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"</a:t>
            </a:r>
            <a:r>
              <a:rPr lang="zh-CN" altLang="zh-CN" sz="18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三个字上。一组技术性描述如果稳定指向某个具体创作者，本质上还是隐性模仿</a:t>
            </a:r>
            <a:r>
              <a:rPr lang="en-US" altLang="zh-CN" sz="18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——</a:t>
            </a:r>
            <a:r>
              <a:rPr lang="zh-CN" altLang="zh-CN" sz="18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只是把模仿藏进了技术层面。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lang="zh-CN" altLang="zh-CN" sz="1800" kern="10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所以</a:t>
            </a:r>
            <a:r>
              <a:rPr lang="zh-CN" altLang="en-US" sz="1800" kern="10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我们认为，</a:t>
            </a:r>
            <a:r>
              <a:rPr lang="zh-CN" altLang="zh-CN" sz="1800" kern="10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光</a:t>
            </a:r>
            <a:r>
              <a:rPr lang="zh-CN" altLang="zh-CN" sz="18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靠改写不够。改写只是把显性的名字换成隐性的特征，没解决</a:t>
            </a:r>
            <a:r>
              <a:rPr lang="en-US" altLang="zh-CN" sz="18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"</a:t>
            </a:r>
            <a:r>
              <a:rPr lang="zh-CN" altLang="zh-CN" sz="18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这组特征到底指向谁</a:t>
            </a:r>
            <a:r>
              <a:rPr lang="en-US" altLang="zh-CN" sz="18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"</a:t>
            </a:r>
            <a:r>
              <a:rPr lang="zh-CN" altLang="zh-CN" sz="18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。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lang="zh-CN" altLang="zh-CN" sz="18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完整合理的</a:t>
            </a:r>
            <a:r>
              <a:rPr lang="zh-CN" altLang="zh-CN" sz="1800" kern="10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设计应该</a:t>
            </a:r>
            <a:r>
              <a:rPr lang="zh-CN" altLang="en-US" sz="1800" kern="10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对“可识别的表达系统进行判断”，并</a:t>
            </a:r>
            <a:r>
              <a:rPr lang="zh-CN" altLang="zh-CN" sz="1800" kern="10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还要</a:t>
            </a:r>
            <a:r>
              <a:rPr lang="zh-CN" altLang="zh-CN" sz="18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加一层</a:t>
            </a:r>
            <a:r>
              <a:rPr lang="en-US" altLang="zh-CN" sz="18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——</a:t>
            </a:r>
            <a:r>
              <a:rPr lang="zh-CN" altLang="zh-CN" sz="18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输出层。即生成出结果前，再检测一次它是否过度接近已有角色、海报</a:t>
            </a:r>
            <a:r>
              <a:rPr lang="zh-CN" altLang="zh-CN" sz="1800" kern="10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或镜头</a:t>
            </a:r>
            <a:r>
              <a:rPr lang="zh-CN" altLang="en-US" sz="1800" kern="10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（指向</a:t>
            </a:r>
            <a:r>
              <a:rPr lang="en-US" altLang="zh-CN" sz="1800" kern="10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PPT</a:t>
            </a:r>
            <a:r>
              <a:rPr lang="zh-CN" altLang="en-US" sz="1800" kern="10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）</a:t>
            </a:r>
            <a:endParaRPr lang="zh-CN" altLang="zh-CN" sz="1800" kern="1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lang="zh-CN" altLang="zh-CN" sz="18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输入层，中间层，输出层三层加起来，</a:t>
            </a:r>
            <a:r>
              <a:rPr lang="zh-CN" altLang="en-US" sz="18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或许</a:t>
            </a:r>
            <a:r>
              <a:rPr lang="zh-CN" altLang="zh-CN" sz="18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才是负责任的模型设计。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完成了数据和模型设计，接下来是输出控制，也就是 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AI 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生成内容在离开模型、进入传播链之后，系统还应不应该继续承担责任。</a:t>
            </a:r>
          </a:p>
          <a:p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这里的核心问题是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AI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生成的图片在被转发或二次编辑之后，别人还能不能判断它的来源。 如果一张 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AI 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图片一旦离开平台，就完全变成一张普通图片，那么责任其实就被推给了后面的用户和公众。</a:t>
            </a:r>
          </a:p>
          <a:p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所以工程上的决策点是：不要把识别、验证、追溯做成事后补救，而要默认加入产品流程。 由于从生成图片，到下载分享，再到平台传播和二次编辑，每一步都可能让原始语境丢失，所以输出控制本质上不是给图片“贴标签”这么简单，而是在产品默认值里提前放入伦理选择。</a:t>
            </a:r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6D252E7-A228-43E2-97E4-8A88DAE25CE9}" type="slidenum">
              <a:rPr lang="zh-CN" altLang="en-US" smtClean="0"/>
              <a:t>7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具体来说，输出控制可以分成三层：人能看见，机器能检测，平台能追溯。</a:t>
            </a:r>
          </a:p>
          <a:p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第一层是显式标识。比如平台上的 “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AI info” 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标签，它是给普通用户看的。优点是用户第一眼就知道这可能是 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AI 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内容。但它很脆弱，在裁剪或转存之后，标签很容易丢失。</a:t>
            </a:r>
          </a:p>
          <a:p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第二层是隐式水印。比如 </a:t>
            </a:r>
            <a:r>
              <a:rPr lang="en-US" altLang="zh-CN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SynthID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，它把识别信号藏进内容本身，交给检测工具判断。这样即使图片被压缩或裁剪，仍然有机会被机器识别。</a:t>
            </a:r>
          </a:p>
          <a:p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第三层是内容凭证，它更关注来源和修改历史，帮助平台或审核者检查一张内容经过了哪些环节。 所以这三层分别解决了“看见”“检测”和“追溯”三个问题。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6D252E7-A228-43E2-97E4-8A88DAE25CE9}" type="slidenum">
              <a:rPr lang="zh-CN" altLang="en-US" smtClean="0"/>
              <a:t>8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最后看监管趋势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，不管是中国、欧盟，还是美国加州，方向其实都在收敛，即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AI 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生成内容要能够被识别，并且尽量留下责任链</a:t>
            </a:r>
            <a:r>
              <a:rPr lang="zh-CN" altLang="en-US" dirty="0"/>
              <a:t>。这说明输出控制已经不只是一个可选功能，而是在逐渐变成工程底线。  对 </a:t>
            </a:r>
            <a:r>
              <a:rPr lang="en-US" altLang="zh-CN" dirty="0"/>
              <a:t>IT </a:t>
            </a:r>
            <a:r>
              <a:rPr lang="zh-CN" altLang="en-US" dirty="0"/>
              <a:t>工程伦理来说，关键不是等内容造成伤害以后再补救，而是在系统设计阶段就把可追溯做成默认能力。  一个负责任的 </a:t>
            </a:r>
            <a:r>
              <a:rPr lang="en-US" altLang="zh-CN" dirty="0"/>
              <a:t>AI </a:t>
            </a:r>
            <a:r>
              <a:rPr lang="zh-CN" altLang="en-US" dirty="0"/>
              <a:t>产品，不仅要能生成内容，还要让生成内容在传播过程中保留责任链路。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6D252E7-A228-43E2-97E4-8A88DAE25CE9}" type="slidenum">
              <a:rPr lang="zh-CN" altLang="en-US" smtClean="0"/>
              <a:t>9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前面三步讲的是模型上线之前和上线时的选择：</a:t>
            </a:r>
            <a:br>
              <a:rPr lang="zh-CN" altLang="en-US" dirty="0"/>
            </a:br>
            <a:r>
              <a:rPr lang="zh-CN" altLang="en-US" dirty="0"/>
              <a:t>第一，训练数据从哪里来；第二，模型到底学什么；第三，生成出来的图片能不能被追踪和验证。</a:t>
            </a:r>
          </a:p>
          <a:p>
            <a:r>
              <a:rPr lang="zh-CN" altLang="en-US" dirty="0"/>
              <a:t>我这一部分讲第四步：</a:t>
            </a:r>
            <a:r>
              <a:rPr lang="zh-CN" altLang="en-US" b="1" dirty="0"/>
              <a:t>反馈与迭代</a:t>
            </a:r>
            <a:r>
              <a:rPr lang="zh-CN" altLang="en-US" dirty="0"/>
              <a:t>，也就是模型上线之后，如果出了问题，系统怎么改。</a:t>
            </a:r>
          </a:p>
          <a:p>
            <a:r>
              <a:rPr lang="zh-CN" altLang="en-US" dirty="0"/>
              <a:t>这里的反馈包括很多种：用户投诉、画师选择退出；新法规出台；还有旧模型继续生成有争议的内容。</a:t>
            </a:r>
          </a:p>
          <a:p>
            <a:r>
              <a:rPr lang="zh-CN" altLang="en-US" dirty="0"/>
              <a:t>但是，仅仅“收到反馈”还不算治理。真正关键的是：这些外部信号能不能进入工程流程。</a:t>
            </a:r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0C0C3D1-7336-474F-B2AC-6A067BD54EF9}" type="slidenum">
              <a:rPr lang="zh-CN" altLang="en-US" smtClean="0"/>
              <a:t>10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这里举一个具体例子：</a:t>
            </a:r>
            <a:r>
              <a:rPr lang="en-US" altLang="zh-CN" dirty="0"/>
              <a:t>Have I Been Trained</a:t>
            </a:r>
            <a:r>
              <a:rPr lang="zh-CN" altLang="en-US" dirty="0"/>
              <a:t>。它是一个给创作者使用的训练数据查询和退出工具，画师可以用它查询自己的作品有没有出现在大型</a:t>
            </a:r>
            <a:r>
              <a:rPr lang="en-US" altLang="zh-CN" dirty="0"/>
              <a:t>AI</a:t>
            </a:r>
            <a:r>
              <a:rPr lang="zh-CN" altLang="en-US" dirty="0"/>
              <a:t>训练数据集中。具体用法是：第一步，画师发现自己的作品可能进入了训练数据。第二步，如果画师不同意就提交 </a:t>
            </a:r>
            <a:r>
              <a:rPr lang="en-US" altLang="zh-CN" dirty="0"/>
              <a:t>Do Not Train</a:t>
            </a:r>
            <a:r>
              <a:rPr lang="zh-CN" altLang="en-US" dirty="0"/>
              <a:t>。第三步，</a:t>
            </a:r>
            <a:r>
              <a:rPr lang="en-US" altLang="zh-CN" dirty="0"/>
              <a:t>AI</a:t>
            </a:r>
            <a:r>
              <a:rPr lang="zh-CN" altLang="en-US" dirty="0"/>
              <a:t>公司读取这份名单。第四步，整理下一轮训练数据时，把对应作品排除出去。第五步，这个新规则回流到下一轮训练中。案例的重点是把人的反对意见，转化成机器能读取、工程上能执行的过滤规则。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0C0C3D1-7336-474F-B2AC-6A067BD54EF9}" type="slidenum">
              <a:rPr lang="zh-CN" altLang="en-US" smtClean="0"/>
              <a:t>11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反馈不只有 </a:t>
            </a:r>
            <a:r>
              <a:rPr lang="en-US" altLang="zh-CN" dirty="0"/>
              <a:t>Have I Been Trained </a:t>
            </a:r>
            <a:r>
              <a:rPr lang="zh-CN" altLang="en-US" dirty="0"/>
              <a:t>这一种形式，这一页给出了另外四种类型。</a:t>
            </a:r>
          </a:p>
          <a:p>
            <a:r>
              <a:rPr lang="zh-CN" altLang="en-US" dirty="0"/>
              <a:t>第一类是 </a:t>
            </a:r>
            <a:r>
              <a:rPr lang="en-US" altLang="zh-CN" b="1" dirty="0"/>
              <a:t>ai.txt</a:t>
            </a:r>
            <a:r>
              <a:rPr lang="zh-CN" altLang="en-US" dirty="0"/>
              <a:t>。网站可以用一个机器可读的文件告诉爬虫：这里的内容不要拿去训练</a:t>
            </a:r>
            <a:r>
              <a:rPr lang="en-US" altLang="zh-CN" dirty="0"/>
              <a:t>AI</a:t>
            </a:r>
            <a:r>
              <a:rPr lang="zh-CN" altLang="en-US" dirty="0"/>
              <a:t>模型。</a:t>
            </a:r>
            <a:endParaRPr lang="en-US" altLang="zh-CN" dirty="0"/>
          </a:p>
          <a:p>
            <a:r>
              <a:rPr lang="zh-CN" altLang="en-US" dirty="0"/>
              <a:t>第二类是平台集成 </a:t>
            </a:r>
            <a:r>
              <a:rPr lang="en-US" altLang="zh-CN" b="1" dirty="0"/>
              <a:t>opt-out</a:t>
            </a:r>
            <a:r>
              <a:rPr lang="zh-CN" altLang="en-US" dirty="0"/>
              <a:t>。举个例子，创作者平台</a:t>
            </a:r>
            <a:r>
              <a:rPr lang="en-US" altLang="zh-CN" dirty="0"/>
              <a:t>DeviantArt</a:t>
            </a:r>
            <a:r>
              <a:rPr lang="zh-CN" altLang="en-US" dirty="0"/>
              <a:t>直接接入 </a:t>
            </a:r>
            <a:r>
              <a:rPr lang="en-US" altLang="zh-CN" dirty="0"/>
              <a:t>Do Not Train</a:t>
            </a:r>
            <a:r>
              <a:rPr lang="zh-CN" altLang="en-US" dirty="0"/>
              <a:t>，画师就不用分别去找每一家</a:t>
            </a:r>
            <a:r>
              <a:rPr lang="en-US" altLang="zh-CN" dirty="0"/>
              <a:t>AI</a:t>
            </a:r>
            <a:r>
              <a:rPr lang="zh-CN" altLang="en-US" dirty="0"/>
              <a:t>公司申请退出。</a:t>
            </a:r>
            <a:endParaRPr lang="en-US" altLang="zh-CN" dirty="0"/>
          </a:p>
          <a:p>
            <a:r>
              <a:rPr lang="zh-CN" altLang="en-US" dirty="0"/>
              <a:t>第三类是</a:t>
            </a:r>
            <a:r>
              <a:rPr lang="zh-CN" altLang="en-US" b="1" dirty="0"/>
              <a:t>诉讼和司法压力</a:t>
            </a:r>
            <a:r>
              <a:rPr lang="zh-CN" altLang="en-US" dirty="0"/>
              <a:t>。</a:t>
            </a:r>
            <a:r>
              <a:rPr lang="en-US" altLang="zh-CN" dirty="0"/>
              <a:t>2024</a:t>
            </a:r>
            <a:r>
              <a:rPr lang="zh-CN" altLang="en-US" dirty="0"/>
              <a:t>年</a:t>
            </a:r>
            <a:r>
              <a:rPr lang="en-US" altLang="zh-CN" dirty="0"/>
              <a:t>6</a:t>
            </a:r>
            <a:r>
              <a:rPr lang="zh-CN" altLang="en-US" dirty="0"/>
              <a:t>月，北京互联网法院开庭审理了四起画师起诉</a:t>
            </a:r>
            <a:r>
              <a:rPr lang="en-US" altLang="zh-CN" dirty="0"/>
              <a:t>AI</a:t>
            </a:r>
            <a:r>
              <a:rPr lang="zh-CN" altLang="en-US" dirty="0"/>
              <a:t>绘画软件开发运营者的著作权侵权案件。反馈不一定只来自产品按钮，也可能来自诉讼、监管和舆论压力。</a:t>
            </a:r>
            <a:endParaRPr lang="en-US" altLang="zh-CN" dirty="0"/>
          </a:p>
          <a:p>
            <a:r>
              <a:rPr lang="zh-CN" altLang="en-US" dirty="0"/>
              <a:t>第四类是产品规则更新。比如 </a:t>
            </a:r>
            <a:r>
              <a:rPr lang="en-US" altLang="zh-CN" b="1" dirty="0"/>
              <a:t>Midjourney</a:t>
            </a:r>
            <a:r>
              <a:rPr lang="zh-CN" altLang="en-US" dirty="0"/>
              <a:t>，一个主流</a:t>
            </a:r>
            <a:r>
              <a:rPr lang="en-US" altLang="zh-CN" dirty="0"/>
              <a:t>AI</a:t>
            </a:r>
            <a:r>
              <a:rPr lang="zh-CN" altLang="en-US" dirty="0"/>
              <a:t>文生图平台。当外部争议出现后，平台可以更新关键词拦截规则，限制某些艺术家姓名、</a:t>
            </a:r>
            <a:r>
              <a:rPr lang="en-US" altLang="zh-CN" dirty="0"/>
              <a:t>IP</a:t>
            </a:r>
            <a:r>
              <a:rPr lang="zh-CN" altLang="en-US" dirty="0"/>
              <a:t>角色或者敏感风格被直接生成。</a:t>
            </a:r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0C0C3D1-7336-474F-B2AC-6A067BD54EF9}" type="slidenum">
              <a:rPr lang="zh-CN" altLang="en-US" smtClean="0"/>
              <a:t>12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zh-CN" dirty="0"/>
              <a:t>回看整个闭环，从训练数据，模型设计，输出控制到反馈迭代，四个节点环环相扣，完成了</a:t>
            </a:r>
            <a:r>
              <a:rPr lang="en-US" altLang="zh-CN" dirty="0"/>
              <a:t>AI</a:t>
            </a:r>
            <a:r>
              <a:rPr lang="zh-CN" altLang="en-US" dirty="0"/>
              <a:t>生图伦理性问题在当下最合理的答卷。在不远的未来，我们也期待会有更简洁，更有效的方法破解</a:t>
            </a:r>
            <a:r>
              <a:rPr lang="en-US" altLang="zh-CN" dirty="0"/>
              <a:t>AI</a:t>
            </a:r>
            <a:r>
              <a:rPr lang="zh-CN" altLang="en-US" dirty="0"/>
              <a:t>生图的伦理性难题。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0C0C3D1-7336-474F-B2AC-6A067BD54EF9}" type="slidenum">
              <a:rPr lang="zh-CN" altLang="en-US" smtClean="0"/>
              <a:t>13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D4D661-EAFE-407D-8E7A-D1E442E95FEB}" type="datetimeFigureOut">
              <a:rPr lang="zh-CN" altLang="en-US" smtClean="0"/>
              <a:t>2026/5/19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A902A9-58A0-4193-BF73-2B99058F5565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D4D661-EAFE-407D-8E7A-D1E442E95FEB}" type="datetimeFigureOut">
              <a:rPr lang="zh-CN" altLang="en-US" smtClean="0"/>
              <a:t>2026/5/19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A902A9-58A0-4193-BF73-2B99058F5565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D4D661-EAFE-407D-8E7A-D1E442E95FEB}" type="datetimeFigureOut">
              <a:rPr lang="zh-CN" altLang="en-US" smtClean="0"/>
              <a:t>2026/5/19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A902A9-58A0-4193-BF73-2B99058F5565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D4D661-EAFE-407D-8E7A-D1E442E95FEB}" type="datetimeFigureOut">
              <a:rPr lang="zh-CN" altLang="en-US" smtClean="0"/>
              <a:t>2026/5/19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A902A9-58A0-4193-BF73-2B99058F5565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D4D661-EAFE-407D-8E7A-D1E442E95FEB}" type="datetimeFigureOut">
              <a:rPr lang="zh-CN" altLang="en-US" smtClean="0"/>
              <a:t>2026/5/19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A902A9-58A0-4193-BF73-2B99058F5565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D4D661-EAFE-407D-8E7A-D1E442E95FEB}" type="datetimeFigureOut">
              <a:rPr lang="zh-CN" altLang="en-US" smtClean="0"/>
              <a:t>2026/5/19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A902A9-58A0-4193-BF73-2B99058F5565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D4D661-EAFE-407D-8E7A-D1E442E95FEB}" type="datetimeFigureOut">
              <a:rPr lang="zh-CN" altLang="en-US" smtClean="0"/>
              <a:t>2026/5/19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A902A9-58A0-4193-BF73-2B99058F5565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D4D661-EAFE-407D-8E7A-D1E442E95FEB}" type="datetimeFigureOut">
              <a:rPr lang="zh-CN" altLang="en-US" smtClean="0"/>
              <a:t>2026/5/19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A902A9-58A0-4193-BF73-2B99058F5565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D4D661-EAFE-407D-8E7A-D1E442E95FEB}" type="datetimeFigureOut">
              <a:rPr lang="zh-CN" altLang="en-US" smtClean="0"/>
              <a:t>2026/5/19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A902A9-58A0-4193-BF73-2B99058F5565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D4D661-EAFE-407D-8E7A-D1E442E95FEB}" type="datetimeFigureOut">
              <a:rPr lang="zh-CN" altLang="en-US" smtClean="0"/>
              <a:t>2026/5/19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A902A9-58A0-4193-BF73-2B99058F5565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D4D661-EAFE-407D-8E7A-D1E442E95FEB}" type="datetimeFigureOut">
              <a:rPr lang="zh-CN" altLang="en-US" smtClean="0"/>
              <a:t>2026/5/19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A902A9-58A0-4193-BF73-2B99058F5565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8D4D661-EAFE-407D-8E7A-D1E442E95FEB}" type="datetimeFigureOut">
              <a:rPr lang="zh-CN" altLang="en-US" smtClean="0"/>
              <a:t>2026/5/19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FA902A9-58A0-4193-BF73-2B99058F5565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7.xml"/><Relationship Id="rId3" Type="http://schemas.openxmlformats.org/officeDocument/2006/relationships/tags" Target="../tags/tag3.xml"/><Relationship Id="rId7" Type="http://schemas.openxmlformats.org/officeDocument/2006/relationships/tags" Target="../tags/tag7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6" Type="http://schemas.openxmlformats.org/officeDocument/2006/relationships/tags" Target="../tags/tag6.xml"/><Relationship Id="rId5" Type="http://schemas.openxmlformats.org/officeDocument/2006/relationships/tags" Target="../tags/tag5.xml"/><Relationship Id="rId10" Type="http://schemas.openxmlformats.org/officeDocument/2006/relationships/image" Target="../media/image1.png"/><Relationship Id="rId4" Type="http://schemas.openxmlformats.org/officeDocument/2006/relationships/tags" Target="../tags/tag4.xml"/><Relationship Id="rId9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tags" Target="../tags/tag15.xml"/><Relationship Id="rId13" Type="http://schemas.openxmlformats.org/officeDocument/2006/relationships/tags" Target="../tags/tag20.xml"/><Relationship Id="rId18" Type="http://schemas.openxmlformats.org/officeDocument/2006/relationships/tags" Target="../tags/tag25.xml"/><Relationship Id="rId26" Type="http://schemas.openxmlformats.org/officeDocument/2006/relationships/image" Target="../media/image1.png"/><Relationship Id="rId3" Type="http://schemas.openxmlformats.org/officeDocument/2006/relationships/tags" Target="../tags/tag10.xml"/><Relationship Id="rId21" Type="http://schemas.openxmlformats.org/officeDocument/2006/relationships/tags" Target="../tags/tag28.xml"/><Relationship Id="rId7" Type="http://schemas.openxmlformats.org/officeDocument/2006/relationships/tags" Target="../tags/tag14.xml"/><Relationship Id="rId12" Type="http://schemas.openxmlformats.org/officeDocument/2006/relationships/tags" Target="../tags/tag19.xml"/><Relationship Id="rId17" Type="http://schemas.openxmlformats.org/officeDocument/2006/relationships/tags" Target="../tags/tag24.xml"/><Relationship Id="rId25" Type="http://schemas.openxmlformats.org/officeDocument/2006/relationships/notesSlide" Target="../notesSlides/notesSlide2.xml"/><Relationship Id="rId2" Type="http://schemas.openxmlformats.org/officeDocument/2006/relationships/tags" Target="../tags/tag9.xml"/><Relationship Id="rId16" Type="http://schemas.openxmlformats.org/officeDocument/2006/relationships/tags" Target="../tags/tag23.xml"/><Relationship Id="rId20" Type="http://schemas.openxmlformats.org/officeDocument/2006/relationships/tags" Target="../tags/tag27.xml"/><Relationship Id="rId1" Type="http://schemas.openxmlformats.org/officeDocument/2006/relationships/tags" Target="../tags/tag8.xml"/><Relationship Id="rId6" Type="http://schemas.openxmlformats.org/officeDocument/2006/relationships/tags" Target="../tags/tag13.xml"/><Relationship Id="rId11" Type="http://schemas.openxmlformats.org/officeDocument/2006/relationships/tags" Target="../tags/tag18.xml"/><Relationship Id="rId24" Type="http://schemas.openxmlformats.org/officeDocument/2006/relationships/slideLayout" Target="../slideLayouts/slideLayout7.xml"/><Relationship Id="rId5" Type="http://schemas.openxmlformats.org/officeDocument/2006/relationships/tags" Target="../tags/tag12.xml"/><Relationship Id="rId15" Type="http://schemas.openxmlformats.org/officeDocument/2006/relationships/tags" Target="../tags/tag22.xml"/><Relationship Id="rId23" Type="http://schemas.openxmlformats.org/officeDocument/2006/relationships/tags" Target="../tags/tag30.xml"/><Relationship Id="rId10" Type="http://schemas.openxmlformats.org/officeDocument/2006/relationships/tags" Target="../tags/tag17.xml"/><Relationship Id="rId19" Type="http://schemas.openxmlformats.org/officeDocument/2006/relationships/tags" Target="../tags/tag26.xml"/><Relationship Id="rId4" Type="http://schemas.openxmlformats.org/officeDocument/2006/relationships/tags" Target="../tags/tag11.xml"/><Relationship Id="rId9" Type="http://schemas.openxmlformats.org/officeDocument/2006/relationships/tags" Target="../tags/tag16.xml"/><Relationship Id="rId14" Type="http://schemas.openxmlformats.org/officeDocument/2006/relationships/tags" Target="../tags/tag21.xml"/><Relationship Id="rId22" Type="http://schemas.openxmlformats.org/officeDocument/2006/relationships/tags" Target="../tags/tag29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31.xml"/><Relationship Id="rId4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1.png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7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tags" Target="../tags/tag39.xml"/><Relationship Id="rId13" Type="http://schemas.openxmlformats.org/officeDocument/2006/relationships/tags" Target="../tags/tag44.xml"/><Relationship Id="rId18" Type="http://schemas.openxmlformats.org/officeDocument/2006/relationships/tags" Target="../tags/tag49.xml"/><Relationship Id="rId26" Type="http://schemas.openxmlformats.org/officeDocument/2006/relationships/tags" Target="../tags/tag57.xml"/><Relationship Id="rId3" Type="http://schemas.openxmlformats.org/officeDocument/2006/relationships/tags" Target="../tags/tag34.xml"/><Relationship Id="rId21" Type="http://schemas.openxmlformats.org/officeDocument/2006/relationships/tags" Target="../tags/tag52.xml"/><Relationship Id="rId7" Type="http://schemas.openxmlformats.org/officeDocument/2006/relationships/tags" Target="../tags/tag38.xml"/><Relationship Id="rId12" Type="http://schemas.openxmlformats.org/officeDocument/2006/relationships/tags" Target="../tags/tag43.xml"/><Relationship Id="rId17" Type="http://schemas.openxmlformats.org/officeDocument/2006/relationships/tags" Target="../tags/tag48.xml"/><Relationship Id="rId25" Type="http://schemas.openxmlformats.org/officeDocument/2006/relationships/tags" Target="../tags/tag56.xml"/><Relationship Id="rId2" Type="http://schemas.openxmlformats.org/officeDocument/2006/relationships/tags" Target="../tags/tag33.xml"/><Relationship Id="rId16" Type="http://schemas.openxmlformats.org/officeDocument/2006/relationships/tags" Target="../tags/tag47.xml"/><Relationship Id="rId20" Type="http://schemas.openxmlformats.org/officeDocument/2006/relationships/tags" Target="../tags/tag51.xml"/><Relationship Id="rId29" Type="http://schemas.openxmlformats.org/officeDocument/2006/relationships/notesSlide" Target="../notesSlides/notesSlide13.xml"/><Relationship Id="rId1" Type="http://schemas.openxmlformats.org/officeDocument/2006/relationships/tags" Target="../tags/tag32.xml"/><Relationship Id="rId6" Type="http://schemas.openxmlformats.org/officeDocument/2006/relationships/tags" Target="../tags/tag37.xml"/><Relationship Id="rId11" Type="http://schemas.openxmlformats.org/officeDocument/2006/relationships/tags" Target="../tags/tag42.xml"/><Relationship Id="rId24" Type="http://schemas.openxmlformats.org/officeDocument/2006/relationships/tags" Target="../tags/tag55.xml"/><Relationship Id="rId5" Type="http://schemas.openxmlformats.org/officeDocument/2006/relationships/tags" Target="../tags/tag36.xml"/><Relationship Id="rId15" Type="http://schemas.openxmlformats.org/officeDocument/2006/relationships/tags" Target="../tags/tag46.xml"/><Relationship Id="rId23" Type="http://schemas.openxmlformats.org/officeDocument/2006/relationships/tags" Target="../tags/tag54.xml"/><Relationship Id="rId28" Type="http://schemas.openxmlformats.org/officeDocument/2006/relationships/slideLayout" Target="../slideLayouts/slideLayout7.xml"/><Relationship Id="rId10" Type="http://schemas.openxmlformats.org/officeDocument/2006/relationships/tags" Target="../tags/tag41.xml"/><Relationship Id="rId19" Type="http://schemas.openxmlformats.org/officeDocument/2006/relationships/tags" Target="../tags/tag50.xml"/><Relationship Id="rId4" Type="http://schemas.openxmlformats.org/officeDocument/2006/relationships/tags" Target="../tags/tag35.xml"/><Relationship Id="rId9" Type="http://schemas.openxmlformats.org/officeDocument/2006/relationships/tags" Target="../tags/tag40.xml"/><Relationship Id="rId14" Type="http://schemas.openxmlformats.org/officeDocument/2006/relationships/tags" Target="../tags/tag45.xml"/><Relationship Id="rId22" Type="http://schemas.openxmlformats.org/officeDocument/2006/relationships/tags" Target="../tags/tag53.xml"/><Relationship Id="rId27" Type="http://schemas.openxmlformats.org/officeDocument/2006/relationships/tags" Target="../tags/tag58.xml"/><Relationship Id="rId30" Type="http://schemas.openxmlformats.org/officeDocument/2006/relationships/image" Target="../media/image1.png"/></Relationships>
</file>

<file path=ppt/slides/_rels/slide14.xml.rels><?xml version="1.0" encoding="UTF-8" standalone="yes"?>
<Relationships xmlns="http://schemas.openxmlformats.org/package/2006/relationships"><Relationship Id="rId13" Type="http://schemas.openxmlformats.org/officeDocument/2006/relationships/tags" Target="../tags/tag71.xml"/><Relationship Id="rId18" Type="http://schemas.openxmlformats.org/officeDocument/2006/relationships/tags" Target="../tags/tag76.xml"/><Relationship Id="rId26" Type="http://schemas.openxmlformats.org/officeDocument/2006/relationships/tags" Target="../tags/tag84.xml"/><Relationship Id="rId39" Type="http://schemas.openxmlformats.org/officeDocument/2006/relationships/tags" Target="../tags/tag97.xml"/><Relationship Id="rId21" Type="http://schemas.openxmlformats.org/officeDocument/2006/relationships/tags" Target="../tags/tag79.xml"/><Relationship Id="rId34" Type="http://schemas.openxmlformats.org/officeDocument/2006/relationships/tags" Target="../tags/tag92.xml"/><Relationship Id="rId42" Type="http://schemas.openxmlformats.org/officeDocument/2006/relationships/notesSlide" Target="../notesSlides/notesSlide14.xml"/><Relationship Id="rId7" Type="http://schemas.openxmlformats.org/officeDocument/2006/relationships/tags" Target="../tags/tag65.xml"/><Relationship Id="rId2" Type="http://schemas.openxmlformats.org/officeDocument/2006/relationships/tags" Target="../tags/tag60.xml"/><Relationship Id="rId16" Type="http://schemas.openxmlformats.org/officeDocument/2006/relationships/tags" Target="../tags/tag74.xml"/><Relationship Id="rId20" Type="http://schemas.openxmlformats.org/officeDocument/2006/relationships/tags" Target="../tags/tag78.xml"/><Relationship Id="rId29" Type="http://schemas.openxmlformats.org/officeDocument/2006/relationships/tags" Target="../tags/tag87.xml"/><Relationship Id="rId41" Type="http://schemas.openxmlformats.org/officeDocument/2006/relationships/slideLayout" Target="../slideLayouts/slideLayout12.xml"/><Relationship Id="rId1" Type="http://schemas.openxmlformats.org/officeDocument/2006/relationships/tags" Target="../tags/tag59.xml"/><Relationship Id="rId6" Type="http://schemas.openxmlformats.org/officeDocument/2006/relationships/tags" Target="../tags/tag64.xml"/><Relationship Id="rId11" Type="http://schemas.openxmlformats.org/officeDocument/2006/relationships/tags" Target="../tags/tag69.xml"/><Relationship Id="rId24" Type="http://schemas.openxmlformats.org/officeDocument/2006/relationships/tags" Target="../tags/tag82.xml"/><Relationship Id="rId32" Type="http://schemas.openxmlformats.org/officeDocument/2006/relationships/tags" Target="../tags/tag90.xml"/><Relationship Id="rId37" Type="http://schemas.openxmlformats.org/officeDocument/2006/relationships/tags" Target="../tags/tag95.xml"/><Relationship Id="rId40" Type="http://schemas.openxmlformats.org/officeDocument/2006/relationships/tags" Target="../tags/tag98.xml"/><Relationship Id="rId5" Type="http://schemas.openxmlformats.org/officeDocument/2006/relationships/tags" Target="../tags/tag63.xml"/><Relationship Id="rId15" Type="http://schemas.openxmlformats.org/officeDocument/2006/relationships/tags" Target="../tags/tag73.xml"/><Relationship Id="rId23" Type="http://schemas.openxmlformats.org/officeDocument/2006/relationships/tags" Target="../tags/tag81.xml"/><Relationship Id="rId28" Type="http://schemas.openxmlformats.org/officeDocument/2006/relationships/tags" Target="../tags/tag86.xml"/><Relationship Id="rId36" Type="http://schemas.openxmlformats.org/officeDocument/2006/relationships/tags" Target="../tags/tag94.xml"/><Relationship Id="rId10" Type="http://schemas.openxmlformats.org/officeDocument/2006/relationships/tags" Target="../tags/tag68.xml"/><Relationship Id="rId19" Type="http://schemas.openxmlformats.org/officeDocument/2006/relationships/tags" Target="../tags/tag77.xml"/><Relationship Id="rId31" Type="http://schemas.openxmlformats.org/officeDocument/2006/relationships/tags" Target="../tags/tag89.xml"/><Relationship Id="rId4" Type="http://schemas.openxmlformats.org/officeDocument/2006/relationships/tags" Target="../tags/tag62.xml"/><Relationship Id="rId9" Type="http://schemas.openxmlformats.org/officeDocument/2006/relationships/tags" Target="../tags/tag67.xml"/><Relationship Id="rId14" Type="http://schemas.openxmlformats.org/officeDocument/2006/relationships/tags" Target="../tags/tag72.xml"/><Relationship Id="rId22" Type="http://schemas.openxmlformats.org/officeDocument/2006/relationships/tags" Target="../tags/tag80.xml"/><Relationship Id="rId27" Type="http://schemas.openxmlformats.org/officeDocument/2006/relationships/tags" Target="../tags/tag85.xml"/><Relationship Id="rId30" Type="http://schemas.openxmlformats.org/officeDocument/2006/relationships/tags" Target="../tags/tag88.xml"/><Relationship Id="rId35" Type="http://schemas.openxmlformats.org/officeDocument/2006/relationships/tags" Target="../tags/tag93.xml"/><Relationship Id="rId43" Type="http://schemas.openxmlformats.org/officeDocument/2006/relationships/image" Target="../media/image1.png"/><Relationship Id="rId8" Type="http://schemas.openxmlformats.org/officeDocument/2006/relationships/tags" Target="../tags/tag66.xml"/><Relationship Id="rId3" Type="http://schemas.openxmlformats.org/officeDocument/2006/relationships/tags" Target="../tags/tag61.xml"/><Relationship Id="rId12" Type="http://schemas.openxmlformats.org/officeDocument/2006/relationships/tags" Target="../tags/tag70.xml"/><Relationship Id="rId17" Type="http://schemas.openxmlformats.org/officeDocument/2006/relationships/tags" Target="../tags/tag75.xml"/><Relationship Id="rId25" Type="http://schemas.openxmlformats.org/officeDocument/2006/relationships/tags" Target="../tags/tag83.xml"/><Relationship Id="rId33" Type="http://schemas.openxmlformats.org/officeDocument/2006/relationships/tags" Target="../tags/tag91.xml"/><Relationship Id="rId38" Type="http://schemas.openxmlformats.org/officeDocument/2006/relationships/tags" Target="../tags/tag96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图形"/>
          <p:cNvSpPr/>
          <p:nvPr>
            <p:custDataLst>
              <p:tags r:id="rId1"/>
            </p:custDataLst>
          </p:nvPr>
        </p:nvSpPr>
        <p:spPr>
          <a:xfrm>
            <a:off x="410210" y="412750"/>
            <a:ext cx="11343640" cy="603250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723900" dist="38100" dir="5400000" algn="t" rotWithShape="0">
              <a:srgbClr val="82C2FD">
                <a:alpha val="43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8" name="图形"/>
          <p:cNvSpPr/>
          <p:nvPr>
            <p:custDataLst>
              <p:tags r:id="rId2"/>
            </p:custDataLst>
          </p:nvPr>
        </p:nvSpPr>
        <p:spPr>
          <a:xfrm rot="18420000">
            <a:off x="-556895" y="5923915"/>
            <a:ext cx="1082040" cy="1048385"/>
          </a:xfrm>
          <a:prstGeom prst="triangle">
            <a:avLst/>
          </a:prstGeom>
          <a:gradFill flip="none" rotWithShape="1">
            <a:gsLst>
              <a:gs pos="0">
                <a:srgbClr val="E0F1FF"/>
              </a:gs>
              <a:gs pos="84000">
                <a:srgbClr val="82C2FD"/>
              </a:gs>
            </a:gsLst>
            <a:lin ang="2700000" scaled="0"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>
              <a:cs typeface="思源宋体 SemiBold" panose="02020600000000000000" charset="-122"/>
            </a:endParaRPr>
          </a:p>
        </p:txBody>
      </p:sp>
      <p:grpSp>
        <p:nvGrpSpPr>
          <p:cNvPr id="39" name="图形"/>
          <p:cNvGrpSpPr/>
          <p:nvPr/>
        </p:nvGrpSpPr>
        <p:grpSpPr>
          <a:xfrm>
            <a:off x="0" y="-205105"/>
            <a:ext cx="4007485" cy="2002155"/>
            <a:chOff x="0" y="-323"/>
            <a:chExt cx="6311" cy="3153"/>
          </a:xfrm>
          <a:gradFill>
            <a:gsLst>
              <a:gs pos="0">
                <a:srgbClr val="E0F1FF"/>
              </a:gs>
              <a:gs pos="84000">
                <a:srgbClr val="82C2FD"/>
              </a:gs>
            </a:gsLst>
            <a:lin ang="2700000" scaled="0"/>
          </a:gradFill>
        </p:grpSpPr>
        <p:sp>
          <p:nvSpPr>
            <p:cNvPr id="40" name="图形"/>
            <p:cNvSpPr/>
            <p:nvPr>
              <p:custDataLst>
                <p:tags r:id="rId6"/>
              </p:custDataLst>
            </p:nvPr>
          </p:nvSpPr>
          <p:spPr>
            <a:xfrm rot="5400000" flipH="1">
              <a:off x="944" y="-944"/>
              <a:ext cx="2831" cy="4718"/>
            </a:xfrm>
            <a:custGeom>
              <a:avLst/>
              <a:gdLst>
                <a:gd name="connsiteX0" fmla="*/ 1901598 w 1901598"/>
                <a:gd name="connsiteY0" fmla="*/ 2026407 h 3169332"/>
                <a:gd name="connsiteX1" fmla="*/ 1901598 w 1901598"/>
                <a:gd name="connsiteY1" fmla="*/ 0 h 3169332"/>
                <a:gd name="connsiteX2" fmla="*/ 0 w 1901598"/>
                <a:gd name="connsiteY2" fmla="*/ 3169332 h 3169332"/>
                <a:gd name="connsiteX3" fmla="*/ 758389 w 1901598"/>
                <a:gd name="connsiteY3" fmla="*/ 3169332 h 31693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01598" h="3169332">
                  <a:moveTo>
                    <a:pt x="1901598" y="2026407"/>
                  </a:moveTo>
                  <a:lnTo>
                    <a:pt x="1901598" y="0"/>
                  </a:lnTo>
                  <a:lnTo>
                    <a:pt x="0" y="3169332"/>
                  </a:lnTo>
                  <a:lnTo>
                    <a:pt x="758389" y="3169332"/>
                  </a:lnTo>
                  <a:close/>
                </a:path>
              </a:pathLst>
            </a:custGeom>
            <a:grpFill/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>
                <a:cs typeface="思源宋体 SemiBold" panose="02020600000000000000" charset="-122"/>
              </a:endParaRPr>
            </a:p>
          </p:txBody>
        </p:sp>
        <p:sp>
          <p:nvSpPr>
            <p:cNvPr id="41" name="图形"/>
            <p:cNvSpPr/>
            <p:nvPr>
              <p:custDataLst>
                <p:tags r:id="rId7"/>
              </p:custDataLst>
            </p:nvPr>
          </p:nvSpPr>
          <p:spPr>
            <a:xfrm rot="5820000" flipH="1">
              <a:off x="4425" y="-795"/>
              <a:ext cx="1415" cy="2358"/>
            </a:xfrm>
            <a:custGeom>
              <a:avLst/>
              <a:gdLst>
                <a:gd name="connsiteX0" fmla="*/ 898328 w 898328"/>
                <a:gd name="connsiteY0" fmla="*/ 0 h 1497214"/>
                <a:gd name="connsiteX1" fmla="*/ 898328 w 898328"/>
                <a:gd name="connsiteY1" fmla="*/ 599109 h 1497214"/>
                <a:gd name="connsiteX2" fmla="*/ 0 w 898328"/>
                <a:gd name="connsiteY2" fmla="*/ 1497214 h 14972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898328" h="1497214">
                  <a:moveTo>
                    <a:pt x="898328" y="0"/>
                  </a:moveTo>
                  <a:lnTo>
                    <a:pt x="898328" y="599109"/>
                  </a:lnTo>
                  <a:lnTo>
                    <a:pt x="0" y="1497214"/>
                  </a:lnTo>
                  <a:close/>
                </a:path>
              </a:pathLst>
            </a:custGeom>
            <a:grpFill/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>
                <a:cs typeface="思源黑体 CN Bold" panose="020B0800000000000000" charset="-122"/>
              </a:endParaRPr>
            </a:p>
          </p:txBody>
        </p:sp>
      </p:grpSp>
      <p:sp>
        <p:nvSpPr>
          <p:cNvPr id="42" name="图形"/>
          <p:cNvSpPr/>
          <p:nvPr>
            <p:custDataLst>
              <p:tags r:id="rId3"/>
            </p:custDataLst>
          </p:nvPr>
        </p:nvSpPr>
        <p:spPr>
          <a:xfrm rot="16200000">
            <a:off x="10220325" y="5177790"/>
            <a:ext cx="2193290" cy="1884680"/>
          </a:xfrm>
          <a:custGeom>
            <a:avLst/>
            <a:gdLst>
              <a:gd name="connsiteX0" fmla="*/ 2193309 w 2193309"/>
              <a:gd name="connsiteY0" fmla="*/ 1884391 h 1884391"/>
              <a:gd name="connsiteX1" fmla="*/ 1758906 w 2193309"/>
              <a:gd name="connsiteY1" fmla="*/ 1884391 h 1884391"/>
              <a:gd name="connsiteX2" fmla="*/ 1068726 w 2193309"/>
              <a:gd name="connsiteY2" fmla="*/ 1189710 h 1884391"/>
              <a:gd name="connsiteX3" fmla="*/ 373873 w 2193309"/>
              <a:gd name="connsiteY3" fmla="*/ 1884391 h 1884391"/>
              <a:gd name="connsiteX4" fmla="*/ 0 w 2193309"/>
              <a:gd name="connsiteY4" fmla="*/ 1884391 h 1884391"/>
              <a:gd name="connsiteX5" fmla="*/ 0 w 2193309"/>
              <a:gd name="connsiteY5" fmla="*/ 1771128 h 1884391"/>
              <a:gd name="connsiteX6" fmla="*/ 1062676 w 2193309"/>
              <a:gd name="connsiteY6" fmla="*/ 0 h 18843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193309" h="1884391">
                <a:moveTo>
                  <a:pt x="2193309" y="1884391"/>
                </a:moveTo>
                <a:lnTo>
                  <a:pt x="1758906" y="1884391"/>
                </a:lnTo>
                <a:lnTo>
                  <a:pt x="1068726" y="1189710"/>
                </a:lnTo>
                <a:lnTo>
                  <a:pt x="373873" y="1884391"/>
                </a:lnTo>
                <a:lnTo>
                  <a:pt x="0" y="1884391"/>
                </a:lnTo>
                <a:lnTo>
                  <a:pt x="0" y="1771128"/>
                </a:lnTo>
                <a:lnTo>
                  <a:pt x="1062676" y="0"/>
                </a:lnTo>
                <a:close/>
              </a:path>
            </a:pathLst>
          </a:custGeom>
          <a:gradFill flip="none" rotWithShape="1">
            <a:gsLst>
              <a:gs pos="0">
                <a:srgbClr val="E0F1FF"/>
              </a:gs>
              <a:gs pos="84000">
                <a:srgbClr val="82C2FD"/>
              </a:gs>
            </a:gsLst>
            <a:lin ang="2700000" scaled="0"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>
              <a:cs typeface="思源黑体 CN Bold" panose="020B0800000000000000" charset="-122"/>
            </a:endParaRPr>
          </a:p>
        </p:txBody>
      </p:sp>
      <p:sp>
        <p:nvSpPr>
          <p:cNvPr id="43" name="图形"/>
          <p:cNvSpPr/>
          <p:nvPr>
            <p:custDataLst>
              <p:tags r:id="rId4"/>
            </p:custDataLst>
          </p:nvPr>
        </p:nvSpPr>
        <p:spPr>
          <a:xfrm rot="5400000" flipH="1">
            <a:off x="10868025" y="-299085"/>
            <a:ext cx="898525" cy="1497330"/>
          </a:xfrm>
          <a:custGeom>
            <a:avLst/>
            <a:gdLst>
              <a:gd name="connsiteX0" fmla="*/ 898328 w 898328"/>
              <a:gd name="connsiteY0" fmla="*/ 0 h 1497214"/>
              <a:gd name="connsiteX1" fmla="*/ 898328 w 898328"/>
              <a:gd name="connsiteY1" fmla="*/ 599109 h 1497214"/>
              <a:gd name="connsiteX2" fmla="*/ 0 w 898328"/>
              <a:gd name="connsiteY2" fmla="*/ 1497214 h 14972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898328" h="1497214">
                <a:moveTo>
                  <a:pt x="898328" y="0"/>
                </a:moveTo>
                <a:lnTo>
                  <a:pt x="898328" y="599109"/>
                </a:lnTo>
                <a:lnTo>
                  <a:pt x="0" y="1497214"/>
                </a:lnTo>
                <a:close/>
              </a:path>
            </a:pathLst>
          </a:custGeom>
          <a:gradFill flip="none" rotWithShape="1">
            <a:gsLst>
              <a:gs pos="0">
                <a:srgbClr val="E0F1FF"/>
              </a:gs>
              <a:gs pos="84000">
                <a:srgbClr val="82C2FD"/>
              </a:gs>
            </a:gsLst>
            <a:lin ang="2700000" scaled="0"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>
              <a:cs typeface="思源黑体 CN Bold" panose="020B0800000000000000" charset="-122"/>
            </a:endParaRPr>
          </a:p>
        </p:txBody>
      </p:sp>
      <p:sp>
        <p:nvSpPr>
          <p:cNvPr id="44" name="图形"/>
          <p:cNvSpPr/>
          <p:nvPr>
            <p:custDataLst>
              <p:tags r:id="rId5"/>
            </p:custDataLst>
          </p:nvPr>
        </p:nvSpPr>
        <p:spPr>
          <a:xfrm rot="17940000">
            <a:off x="9725025" y="6592570"/>
            <a:ext cx="1354455" cy="1355725"/>
          </a:xfrm>
          <a:prstGeom prst="roundRect">
            <a:avLst>
              <a:gd name="adj" fmla="val 13178"/>
            </a:avLst>
          </a:prstGeom>
          <a:gradFill flip="none" rotWithShape="1">
            <a:gsLst>
              <a:gs pos="0">
                <a:srgbClr val="E0F1FF"/>
              </a:gs>
              <a:gs pos="84000">
                <a:srgbClr val="82C2FD"/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>
              <a:cs typeface="思源黑体旧字形 Light" panose="020B0300000000000000" charset="-128"/>
            </a:endParaRPr>
          </a:p>
        </p:txBody>
      </p:sp>
      <p:pic>
        <p:nvPicPr>
          <p:cNvPr id="2" name="Picture 1" descr="ISE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768840" y="899795"/>
            <a:ext cx="1054100" cy="767080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4811395" y="3945890"/>
            <a:ext cx="2524125" cy="497205"/>
          </a:xfrm>
          <a:prstGeom prst="roundRect">
            <a:avLst/>
          </a:prstGeom>
          <a:solidFill>
            <a:srgbClr val="E8F0FE"/>
          </a:solidFill>
          <a:ln>
            <a:solidFill>
              <a:srgbClr val="DA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565015" y="4043680"/>
            <a:ext cx="3061970" cy="3124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defRPr sz="1800" b="0">
                <a:solidFill>
                  <a:srgbClr val="5F6368"/>
                </a:solidFill>
                <a:latin typeface="微软雅黑" panose="020B0503020204020204" charset="-122"/>
              </a:defRPr>
            </a:pPr>
            <a:r>
              <a:t>从训练到反馈的闭环</a:t>
            </a:r>
          </a:p>
        </p:txBody>
      </p:sp>
      <p:sp>
        <p:nvSpPr>
          <p:cNvPr id="3" name="Text 7"/>
          <p:cNvSpPr/>
          <p:nvPr/>
        </p:nvSpPr>
        <p:spPr>
          <a:xfrm>
            <a:off x="1080770" y="1821815"/>
            <a:ext cx="9984740" cy="1283335"/>
          </a:xfrm>
          <a:prstGeom prst="rect">
            <a:avLst/>
          </a:prstGeom>
          <a:noFill/>
        </p:spPr>
        <p:txBody>
          <a:bodyPr wrap="square" lIns="25400" tIns="25400" rIns="25400" bIns="25400" rtlCol="0" anchor="t"/>
          <a:lstStyle/>
          <a:p>
            <a:pPr marL="0" algn="ctr">
              <a:lnSpc>
                <a:spcPct val="100000"/>
              </a:lnSpc>
              <a:buClrTx/>
              <a:buSzTx/>
              <a:buFontTx/>
              <a:buNone/>
              <a:defRPr sz="2200" b="1">
                <a:solidFill>
                  <a:srgbClr val="4285F4"/>
                </a:solidFill>
                <a:latin typeface="微软雅黑" panose="020B0503020204020204" charset="-122"/>
              </a:defRPr>
            </a:pPr>
            <a:r>
              <a:rPr sz="4800" b="1">
                <a:latin typeface="微软雅黑" panose="020B0503020204020204" charset="-122"/>
              </a:rPr>
              <a:t>AI </a:t>
            </a:r>
            <a:r>
              <a:rPr lang="zh-CN" sz="4800" b="1">
                <a:latin typeface="微软雅黑" panose="020B0503020204020204" charset="-122"/>
              </a:rPr>
              <a:t>图像生成模型</a:t>
            </a:r>
            <a:r>
              <a:rPr sz="4800" b="1">
                <a:latin typeface="微软雅黑" panose="020B0503020204020204" charset="-122"/>
              </a:rPr>
              <a:t>的 </a:t>
            </a:r>
          </a:p>
          <a:p>
            <a:pPr marL="0" indent="0" algn="ctr">
              <a:lnSpc>
                <a:spcPct val="122000"/>
              </a:lnSpc>
              <a:buNone/>
            </a:pPr>
            <a:r>
              <a:rPr sz="6000" b="1">
                <a:solidFill>
                  <a:srgbClr val="202124"/>
                </a:solidFill>
                <a:latin typeface="微软雅黑" panose="020B0503020204020204" charset="-122"/>
              </a:rPr>
              <a:t>四次工程伦理选择</a:t>
            </a:r>
            <a:endParaRPr lang="en-US" sz="6000" b="1" dirty="0">
              <a:solidFill>
                <a:srgbClr val="202124"/>
              </a:solidFill>
              <a:latin typeface="微软雅黑" panose="020B0503020204020204" charset="-122"/>
            </a:endParaRPr>
          </a:p>
        </p:txBody>
      </p:sp>
      <p:sp>
        <p:nvSpPr>
          <p:cNvPr id="34" name="Text 10"/>
          <p:cNvSpPr/>
          <p:nvPr/>
        </p:nvSpPr>
        <p:spPr>
          <a:xfrm>
            <a:off x="3923665" y="4679315"/>
            <a:ext cx="4298315" cy="102108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lnSpc>
                <a:spcPct val="155000"/>
              </a:lnSpc>
              <a:buNone/>
            </a:pPr>
            <a:r>
              <a:rPr lang="en-US" sz="1500" dirty="0">
                <a:solidFill>
                  <a:srgbClr val="3A3A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IT 工程伦理与项目管理</a:t>
            </a:r>
          </a:p>
          <a:p>
            <a:pPr marL="0" indent="0" algn="ctr">
              <a:lnSpc>
                <a:spcPct val="155000"/>
              </a:lnSpc>
              <a:buNone/>
            </a:pPr>
            <a:r>
              <a:rPr lang="zh-CN" altLang="en-US" sz="1500" dirty="0"/>
              <a:t>成琦艺峰 郑智瑄 孙维奇</a:t>
            </a:r>
            <a:r>
              <a:rPr lang="en-US" altLang="zh-CN" sz="1500" dirty="0"/>
              <a:t> </a:t>
            </a:r>
            <a:r>
              <a:rPr lang="zh-CN" altLang="en-US" sz="1500" dirty="0"/>
              <a:t>李梓川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2" name="组合 41"/>
          <p:cNvGrpSpPr/>
          <p:nvPr>
            <p:custDataLst>
              <p:tags r:id="rId1"/>
            </p:custDataLst>
          </p:nvPr>
        </p:nvGrpSpPr>
        <p:grpSpPr>
          <a:xfrm>
            <a:off x="4074795" y="1718945"/>
            <a:ext cx="3895725" cy="3841115"/>
            <a:chOff x="10886" y="2131"/>
            <a:chExt cx="6135" cy="6049"/>
          </a:xfrm>
          <a:effectLst/>
        </p:grpSpPr>
        <p:cxnSp>
          <p:nvCxnSpPr>
            <p:cNvPr id="3" name="Connector 11"/>
            <p:cNvCxnSpPr/>
            <p:nvPr>
              <p:custDataLst>
                <p:tags r:id="rId8"/>
              </p:custDataLst>
            </p:nvPr>
          </p:nvCxnSpPr>
          <p:spPr>
            <a:xfrm>
              <a:off x="12672" y="3024"/>
              <a:ext cx="2563" cy="0"/>
            </a:xfrm>
            <a:prstGeom prst="line">
              <a:avLst/>
            </a:prstGeom>
            <a:ln w="38100">
              <a:solidFill>
                <a:srgbClr val="4285F4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" name="Connector 12"/>
            <p:cNvCxnSpPr/>
            <p:nvPr>
              <p:custDataLst>
                <p:tags r:id="rId9"/>
              </p:custDataLst>
            </p:nvPr>
          </p:nvCxnSpPr>
          <p:spPr>
            <a:xfrm>
              <a:off x="16128" y="3917"/>
              <a:ext cx="0" cy="2477"/>
            </a:xfrm>
            <a:prstGeom prst="line">
              <a:avLst/>
            </a:prstGeom>
            <a:ln w="38100">
              <a:solidFill>
                <a:srgbClr val="FBBC05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" name="Connector 13"/>
            <p:cNvCxnSpPr/>
            <p:nvPr>
              <p:custDataLst>
                <p:tags r:id="rId10"/>
              </p:custDataLst>
            </p:nvPr>
          </p:nvCxnSpPr>
          <p:spPr>
            <a:xfrm flipH="1">
              <a:off x="12672" y="7286"/>
              <a:ext cx="2563" cy="0"/>
            </a:xfrm>
            <a:prstGeom prst="line">
              <a:avLst/>
            </a:prstGeom>
            <a:ln w="38100">
              <a:solidFill>
                <a:srgbClr val="EA4335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" name="Connector 14"/>
            <p:cNvCxnSpPr/>
            <p:nvPr>
              <p:custDataLst>
                <p:tags r:id="rId11"/>
              </p:custDataLst>
            </p:nvPr>
          </p:nvCxnSpPr>
          <p:spPr>
            <a:xfrm flipV="1">
              <a:off x="11779" y="3917"/>
              <a:ext cx="0" cy="2477"/>
            </a:xfrm>
            <a:prstGeom prst="line">
              <a:avLst/>
            </a:prstGeom>
            <a:ln w="38100">
              <a:solidFill>
                <a:srgbClr val="34A853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8" name="Oval 15"/>
            <p:cNvSpPr/>
            <p:nvPr>
              <p:custDataLst>
                <p:tags r:id="rId12"/>
              </p:custDataLst>
            </p:nvPr>
          </p:nvSpPr>
          <p:spPr>
            <a:xfrm>
              <a:off x="10886" y="2131"/>
              <a:ext cx="1786" cy="1786"/>
            </a:xfrm>
            <a:prstGeom prst="ellipse">
              <a:avLst/>
            </a:prstGeom>
            <a:solidFill>
              <a:srgbClr val="FFFFFF"/>
            </a:solidFill>
            <a:ln w="25400">
              <a:solidFill>
                <a:srgbClr val="34A853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30" name="TextBox 16"/>
            <p:cNvSpPr txBox="1"/>
            <p:nvPr>
              <p:custDataLst>
                <p:tags r:id="rId13"/>
              </p:custDataLst>
            </p:nvPr>
          </p:nvSpPr>
          <p:spPr>
            <a:xfrm>
              <a:off x="10886" y="2362"/>
              <a:ext cx="1786" cy="397"/>
            </a:xfrm>
            <a:prstGeom prst="rect">
              <a:avLst/>
            </a:prstGeom>
            <a:noFill/>
          </p:spPr>
          <p:txBody>
            <a:bodyPr wrap="square" lIns="18288" tIns="18288" rIns="18288" bIns="18288" anchor="t">
              <a:noAutofit/>
            </a:bodyPr>
            <a:lstStyle/>
            <a:p>
              <a:pPr algn="ctr">
                <a:defRPr sz="1100" b="1">
                  <a:solidFill>
                    <a:srgbClr val="34A853"/>
                  </a:solidFill>
                  <a:latin typeface="微软雅黑" panose="020B0503020204020204" charset="-122"/>
                </a:defRPr>
              </a:pPr>
              <a:r>
                <a:rPr sz="1400"/>
                <a:t>1</a:t>
              </a:r>
            </a:p>
          </p:txBody>
        </p:sp>
        <p:sp>
          <p:nvSpPr>
            <p:cNvPr id="32" name="TextBox 17"/>
            <p:cNvSpPr txBox="1"/>
            <p:nvPr>
              <p:custDataLst>
                <p:tags r:id="rId14"/>
              </p:custDataLst>
            </p:nvPr>
          </p:nvSpPr>
          <p:spPr>
            <a:xfrm>
              <a:off x="11002" y="2803"/>
              <a:ext cx="1555" cy="443"/>
            </a:xfrm>
            <a:prstGeom prst="rect">
              <a:avLst/>
            </a:prstGeom>
            <a:noFill/>
          </p:spPr>
          <p:txBody>
            <a:bodyPr wrap="square" lIns="18288" tIns="18288" rIns="18288" bIns="18288" anchor="ctr">
              <a:spAutoFit/>
            </a:bodyPr>
            <a:lstStyle/>
            <a:p>
              <a:pPr algn="ctr">
                <a:defRPr sz="1200" b="1">
                  <a:solidFill>
                    <a:srgbClr val="202124"/>
                  </a:solidFill>
                  <a:latin typeface="微软雅黑" panose="020B0503020204020204" charset="-122"/>
                </a:defRPr>
              </a:pPr>
              <a:r>
                <a:rPr sz="1600"/>
                <a:t>训练数据</a:t>
              </a:r>
            </a:p>
          </p:txBody>
        </p:sp>
        <p:sp>
          <p:nvSpPr>
            <p:cNvPr id="33" name="Oval 18"/>
            <p:cNvSpPr/>
            <p:nvPr>
              <p:custDataLst>
                <p:tags r:id="rId15"/>
              </p:custDataLst>
            </p:nvPr>
          </p:nvSpPr>
          <p:spPr>
            <a:xfrm>
              <a:off x="15235" y="2131"/>
              <a:ext cx="1786" cy="1786"/>
            </a:xfrm>
            <a:prstGeom prst="ellipse">
              <a:avLst/>
            </a:prstGeom>
            <a:solidFill>
              <a:srgbClr val="FFFFFF"/>
            </a:solidFill>
            <a:ln w="25400">
              <a:solidFill>
                <a:srgbClr val="4285F4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34" name="TextBox 19"/>
            <p:cNvSpPr txBox="1"/>
            <p:nvPr>
              <p:custDataLst>
                <p:tags r:id="rId16"/>
              </p:custDataLst>
            </p:nvPr>
          </p:nvSpPr>
          <p:spPr>
            <a:xfrm>
              <a:off x="15235" y="2362"/>
              <a:ext cx="1786" cy="398"/>
            </a:xfrm>
            <a:prstGeom prst="rect">
              <a:avLst/>
            </a:prstGeom>
            <a:noFill/>
          </p:spPr>
          <p:txBody>
            <a:bodyPr wrap="square" lIns="18288" tIns="18288" rIns="18288" bIns="18288" anchor="t">
              <a:noAutofit/>
            </a:bodyPr>
            <a:lstStyle/>
            <a:p>
              <a:pPr algn="ctr">
                <a:defRPr sz="1100" b="1">
                  <a:solidFill>
                    <a:srgbClr val="4285F4"/>
                  </a:solidFill>
                  <a:latin typeface="微软雅黑" panose="020B0503020204020204" charset="-122"/>
                </a:defRPr>
              </a:pPr>
              <a:r>
                <a:rPr sz="1400"/>
                <a:t>2</a:t>
              </a:r>
            </a:p>
          </p:txBody>
        </p:sp>
        <p:sp>
          <p:nvSpPr>
            <p:cNvPr id="35" name="TextBox 20"/>
            <p:cNvSpPr txBox="1"/>
            <p:nvPr>
              <p:custDataLst>
                <p:tags r:id="rId17"/>
              </p:custDataLst>
            </p:nvPr>
          </p:nvSpPr>
          <p:spPr>
            <a:xfrm>
              <a:off x="15350" y="2803"/>
              <a:ext cx="1555" cy="443"/>
            </a:xfrm>
            <a:prstGeom prst="rect">
              <a:avLst/>
            </a:prstGeom>
            <a:noFill/>
          </p:spPr>
          <p:txBody>
            <a:bodyPr wrap="square" lIns="18288" tIns="18288" rIns="18288" bIns="18288" anchor="ctr">
              <a:spAutoFit/>
            </a:bodyPr>
            <a:lstStyle/>
            <a:p>
              <a:pPr algn="ctr">
                <a:defRPr sz="1200" b="1">
                  <a:solidFill>
                    <a:srgbClr val="202124"/>
                  </a:solidFill>
                  <a:latin typeface="微软雅黑" panose="020B0503020204020204" charset="-122"/>
                </a:defRPr>
              </a:pPr>
              <a:r>
                <a:rPr sz="1600"/>
                <a:t>模型设计</a:t>
              </a:r>
            </a:p>
          </p:txBody>
        </p:sp>
        <p:sp>
          <p:nvSpPr>
            <p:cNvPr id="36" name="Oval 21"/>
            <p:cNvSpPr/>
            <p:nvPr>
              <p:custDataLst>
                <p:tags r:id="rId18"/>
              </p:custDataLst>
            </p:nvPr>
          </p:nvSpPr>
          <p:spPr>
            <a:xfrm>
              <a:off x="15235" y="6394"/>
              <a:ext cx="1786" cy="1786"/>
            </a:xfrm>
            <a:prstGeom prst="ellipse">
              <a:avLst/>
            </a:prstGeom>
            <a:solidFill>
              <a:srgbClr val="FFFFFF"/>
            </a:solidFill>
            <a:ln w="25400">
              <a:solidFill>
                <a:srgbClr val="FBBC05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37" name="TextBox 22"/>
            <p:cNvSpPr txBox="1"/>
            <p:nvPr>
              <p:custDataLst>
                <p:tags r:id="rId19"/>
              </p:custDataLst>
            </p:nvPr>
          </p:nvSpPr>
          <p:spPr>
            <a:xfrm>
              <a:off x="15235" y="6624"/>
              <a:ext cx="1786" cy="662"/>
            </a:xfrm>
            <a:prstGeom prst="rect">
              <a:avLst/>
            </a:prstGeom>
            <a:noFill/>
          </p:spPr>
          <p:txBody>
            <a:bodyPr wrap="square" lIns="18288" tIns="18288" rIns="18288" bIns="18288" anchor="t">
              <a:noAutofit/>
            </a:bodyPr>
            <a:lstStyle/>
            <a:p>
              <a:pPr algn="ctr">
                <a:defRPr sz="1100" b="1">
                  <a:solidFill>
                    <a:srgbClr val="FBBC05"/>
                  </a:solidFill>
                  <a:latin typeface="微软雅黑" panose="020B0503020204020204" charset="-122"/>
                </a:defRPr>
              </a:pPr>
              <a:r>
                <a:rPr sz="1400"/>
                <a:t>3</a:t>
              </a:r>
            </a:p>
          </p:txBody>
        </p:sp>
        <p:sp>
          <p:nvSpPr>
            <p:cNvPr id="38" name="TextBox 23"/>
            <p:cNvSpPr txBox="1"/>
            <p:nvPr>
              <p:custDataLst>
                <p:tags r:id="rId20"/>
              </p:custDataLst>
            </p:nvPr>
          </p:nvSpPr>
          <p:spPr>
            <a:xfrm>
              <a:off x="15350" y="7109"/>
              <a:ext cx="1555" cy="443"/>
            </a:xfrm>
            <a:prstGeom prst="rect">
              <a:avLst/>
            </a:prstGeom>
            <a:noFill/>
          </p:spPr>
          <p:txBody>
            <a:bodyPr wrap="square" lIns="18288" tIns="18288" rIns="18288" bIns="18288" anchor="ctr">
              <a:spAutoFit/>
            </a:bodyPr>
            <a:lstStyle/>
            <a:p>
              <a:pPr algn="ctr">
                <a:defRPr sz="1200" b="1">
                  <a:solidFill>
                    <a:srgbClr val="202124"/>
                  </a:solidFill>
                  <a:latin typeface="微软雅黑" panose="020B0503020204020204" charset="-122"/>
                </a:defRPr>
              </a:pPr>
              <a:r>
                <a:rPr sz="1600"/>
                <a:t>输出控制</a:t>
              </a:r>
            </a:p>
          </p:txBody>
        </p:sp>
        <p:sp>
          <p:nvSpPr>
            <p:cNvPr id="39" name="Oval 24"/>
            <p:cNvSpPr/>
            <p:nvPr>
              <p:custDataLst>
                <p:tags r:id="rId21"/>
              </p:custDataLst>
            </p:nvPr>
          </p:nvSpPr>
          <p:spPr>
            <a:xfrm>
              <a:off x="10886" y="6394"/>
              <a:ext cx="1786" cy="1786"/>
            </a:xfrm>
            <a:prstGeom prst="ellipse">
              <a:avLst/>
            </a:prstGeom>
            <a:solidFill>
              <a:srgbClr val="FFFFFF"/>
            </a:solidFill>
            <a:ln w="25400">
              <a:solidFill>
                <a:schemeClr val="accent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40" name="TextBox 25"/>
            <p:cNvSpPr txBox="1"/>
            <p:nvPr>
              <p:custDataLst>
                <p:tags r:id="rId22"/>
              </p:custDataLst>
            </p:nvPr>
          </p:nvSpPr>
          <p:spPr>
            <a:xfrm>
              <a:off x="10886" y="6624"/>
              <a:ext cx="1786" cy="428"/>
            </a:xfrm>
            <a:prstGeom prst="rect">
              <a:avLst/>
            </a:prstGeom>
            <a:noFill/>
          </p:spPr>
          <p:txBody>
            <a:bodyPr wrap="square" lIns="18288" tIns="18288" rIns="18288" bIns="18288" anchor="t">
              <a:noAutofit/>
            </a:bodyPr>
            <a:lstStyle/>
            <a:p>
              <a:pPr algn="ctr">
                <a:defRPr sz="1100" b="1">
                  <a:solidFill>
                    <a:srgbClr val="EA4335"/>
                  </a:solidFill>
                  <a:latin typeface="微软雅黑" panose="020B0503020204020204" charset="-122"/>
                </a:defRPr>
              </a:pPr>
              <a:r>
                <a:rPr sz="1400"/>
                <a:t>4</a:t>
              </a:r>
            </a:p>
          </p:txBody>
        </p:sp>
        <p:sp>
          <p:nvSpPr>
            <p:cNvPr id="41" name="TextBox 26"/>
            <p:cNvSpPr txBox="1"/>
            <p:nvPr>
              <p:custDataLst>
                <p:tags r:id="rId23"/>
              </p:custDataLst>
            </p:nvPr>
          </p:nvSpPr>
          <p:spPr>
            <a:xfrm>
              <a:off x="11002" y="7109"/>
              <a:ext cx="1555" cy="443"/>
            </a:xfrm>
            <a:prstGeom prst="rect">
              <a:avLst/>
            </a:prstGeom>
            <a:noFill/>
          </p:spPr>
          <p:txBody>
            <a:bodyPr wrap="square" lIns="18288" tIns="18288" rIns="18288" bIns="18288" anchor="ctr">
              <a:spAutoFit/>
            </a:bodyPr>
            <a:lstStyle/>
            <a:p>
              <a:pPr algn="ctr">
                <a:defRPr sz="1200" b="1">
                  <a:solidFill>
                    <a:srgbClr val="202124"/>
                  </a:solidFill>
                  <a:latin typeface="微软雅黑" panose="020B0503020204020204" charset="-122"/>
                </a:defRPr>
              </a:pPr>
              <a:r>
                <a:rPr sz="1600"/>
                <a:t>反馈迭代</a:t>
              </a:r>
            </a:p>
          </p:txBody>
        </p:sp>
      </p:grpSp>
      <p:sp>
        <p:nvSpPr>
          <p:cNvPr id="44" name="TextBox 3"/>
          <p:cNvSpPr txBox="1"/>
          <p:nvPr/>
        </p:nvSpPr>
        <p:spPr>
          <a:xfrm>
            <a:off x="475488" y="703961"/>
            <a:ext cx="9966960" cy="46609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defRPr sz="2400" b="1">
                <a:solidFill>
                  <a:srgbClr val="202124"/>
                </a:solidFill>
                <a:latin typeface="微软雅黑" panose="020B0503020204020204" charset="-122"/>
              </a:defRPr>
            </a:pPr>
            <a:r>
              <a:rPr sz="2800">
                <a:solidFill>
                  <a:srgbClr val="4285F4"/>
                </a:solidFill>
                <a:sym typeface="+mn-ea"/>
              </a:rPr>
              <a:t>AI </a:t>
            </a:r>
            <a:r>
              <a:rPr lang="zh-CN" sz="2800">
                <a:solidFill>
                  <a:srgbClr val="4285F4"/>
                </a:solidFill>
                <a:sym typeface="+mn-ea"/>
              </a:rPr>
              <a:t>图像生成模型</a:t>
            </a:r>
            <a:r>
              <a:rPr sz="2800">
                <a:solidFill>
                  <a:srgbClr val="4285F4"/>
                </a:solidFill>
                <a:sym typeface="+mn-ea"/>
              </a:rPr>
              <a:t>的闭环结构</a:t>
            </a:r>
          </a:p>
        </p:txBody>
      </p:sp>
      <p:sp>
        <p:nvSpPr>
          <p:cNvPr id="50" name="Rounded Rectangle 22"/>
          <p:cNvSpPr/>
          <p:nvPr/>
        </p:nvSpPr>
        <p:spPr>
          <a:xfrm>
            <a:off x="658700" y="1865503"/>
            <a:ext cx="3015537" cy="1115568"/>
          </a:xfrm>
          <a:prstGeom prst="roundRect">
            <a:avLst/>
          </a:prstGeom>
          <a:solidFill>
            <a:srgbClr val="E6F4EA"/>
          </a:solidFill>
          <a:ln w="9525" cap="flat" cmpd="sng" algn="ctr">
            <a:solidFill>
              <a:srgbClr val="DADCE0"/>
            </a:solidFill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Rectangle 23"/>
          <p:cNvSpPr/>
          <p:nvPr/>
        </p:nvSpPr>
        <p:spPr>
          <a:xfrm>
            <a:off x="585548" y="1845941"/>
            <a:ext cx="73152" cy="1115568"/>
          </a:xfrm>
          <a:prstGeom prst="rect">
            <a:avLst/>
          </a:prstGeom>
          <a:solidFill>
            <a:srgbClr val="34A853"/>
          </a:solidFill>
          <a:ln w="9525" cap="flat" cmpd="sng" algn="ctr">
            <a:noFill/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24"/>
          <p:cNvSpPr txBox="1"/>
          <p:nvPr/>
        </p:nvSpPr>
        <p:spPr>
          <a:xfrm>
            <a:off x="883285" y="2055484"/>
            <a:ext cx="2103120" cy="281305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defRPr sz="1600" b="1">
                <a:solidFill>
                  <a:srgbClr val="202124"/>
                </a:solidFill>
                <a:latin typeface="微软雅黑" panose="020B0503020204020204" charset="-122"/>
              </a:defRPr>
            </a:pPr>
            <a:r>
              <a:rPr lang="zh-CN" dirty="0"/>
              <a:t>模型学习的基础</a:t>
            </a:r>
          </a:p>
        </p:txBody>
      </p:sp>
      <p:sp>
        <p:nvSpPr>
          <p:cNvPr id="53" name="TextBox 25"/>
          <p:cNvSpPr txBox="1"/>
          <p:nvPr/>
        </p:nvSpPr>
        <p:spPr>
          <a:xfrm>
            <a:off x="883285" y="2453641"/>
            <a:ext cx="2690495" cy="283154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defRPr sz="1600" b="0">
                <a:solidFill>
                  <a:srgbClr val="202124"/>
                </a:solidFill>
                <a:latin typeface="微软雅黑" panose="020B0503020204020204" charset="-122"/>
              </a:defRPr>
            </a:pPr>
            <a:r>
              <a:rPr dirty="0" err="1"/>
              <a:t>数据从哪里来？能否追溯</a:t>
            </a:r>
            <a:r>
              <a:rPr dirty="0"/>
              <a:t>？</a:t>
            </a:r>
          </a:p>
        </p:txBody>
      </p:sp>
      <p:sp>
        <p:nvSpPr>
          <p:cNvPr id="58" name="Rounded Rectangle 26"/>
          <p:cNvSpPr/>
          <p:nvPr/>
        </p:nvSpPr>
        <p:spPr>
          <a:xfrm>
            <a:off x="8446770" y="1865758"/>
            <a:ext cx="2743200" cy="1115568"/>
          </a:xfrm>
          <a:prstGeom prst="roundRect">
            <a:avLst/>
          </a:prstGeom>
          <a:solidFill>
            <a:srgbClr val="E8F0FE"/>
          </a:solidFill>
          <a:ln w="9525" cap="flat" cmpd="sng" algn="ctr">
            <a:solidFill>
              <a:srgbClr val="DADCE0"/>
            </a:solidFill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Rectangle 27"/>
          <p:cNvSpPr/>
          <p:nvPr/>
        </p:nvSpPr>
        <p:spPr>
          <a:xfrm>
            <a:off x="8446770" y="1865758"/>
            <a:ext cx="73152" cy="1115568"/>
          </a:xfrm>
          <a:prstGeom prst="rect">
            <a:avLst/>
          </a:prstGeom>
          <a:solidFill>
            <a:srgbClr val="4285F4"/>
          </a:solidFill>
          <a:ln w="9525" cap="flat" cmpd="sng" algn="ctr">
            <a:noFill/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TextBox 28"/>
          <p:cNvSpPr txBox="1"/>
          <p:nvPr/>
        </p:nvSpPr>
        <p:spPr>
          <a:xfrm>
            <a:off x="8629650" y="2088262"/>
            <a:ext cx="2103120" cy="281305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defRPr sz="1600" b="1">
                <a:solidFill>
                  <a:srgbClr val="202124"/>
                </a:solidFill>
                <a:latin typeface="微软雅黑" panose="020B0503020204020204" charset="-122"/>
              </a:defRPr>
            </a:pPr>
            <a:r>
              <a:rPr lang="zh-CN"/>
              <a:t>模型学习的方式</a:t>
            </a:r>
          </a:p>
        </p:txBody>
      </p:sp>
      <p:sp>
        <p:nvSpPr>
          <p:cNvPr id="61" name="TextBox 29"/>
          <p:cNvSpPr txBox="1"/>
          <p:nvPr/>
        </p:nvSpPr>
        <p:spPr>
          <a:xfrm>
            <a:off x="8629650" y="2453387"/>
            <a:ext cx="2148840" cy="281305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defRPr sz="1600" b="0">
                <a:solidFill>
                  <a:srgbClr val="202124"/>
                </a:solidFill>
                <a:latin typeface="微软雅黑" panose="020B0503020204020204" charset="-122"/>
              </a:defRPr>
            </a:pPr>
            <a:r>
              <a:t>如何学习？如何解释？</a:t>
            </a:r>
            <a:endParaRPr lang="zh-CN"/>
          </a:p>
        </p:txBody>
      </p:sp>
      <p:sp>
        <p:nvSpPr>
          <p:cNvPr id="66" name="半闭框 65"/>
          <p:cNvSpPr/>
          <p:nvPr>
            <p:custDataLst>
              <p:tags r:id="rId2"/>
            </p:custDataLst>
          </p:nvPr>
        </p:nvSpPr>
        <p:spPr>
          <a:xfrm rot="8220000">
            <a:off x="6741795" y="2242820"/>
            <a:ext cx="75565" cy="85725"/>
          </a:xfrm>
          <a:prstGeom prst="halfFrame">
            <a:avLst/>
          </a:prstGeom>
          <a:solidFill>
            <a:srgbClr val="4285F4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67" name="半闭框 66"/>
          <p:cNvSpPr/>
          <p:nvPr>
            <p:custDataLst>
              <p:tags r:id="rId3"/>
            </p:custDataLst>
          </p:nvPr>
        </p:nvSpPr>
        <p:spPr>
          <a:xfrm rot="2820000">
            <a:off x="4603750" y="2856865"/>
            <a:ext cx="75565" cy="85725"/>
          </a:xfrm>
          <a:prstGeom prst="halfFrame">
            <a:avLst/>
          </a:prstGeom>
          <a:solidFill>
            <a:srgbClr val="34A853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68" name="半闭框 67"/>
          <p:cNvSpPr/>
          <p:nvPr>
            <p:custDataLst>
              <p:tags r:id="rId4"/>
            </p:custDataLst>
          </p:nvPr>
        </p:nvSpPr>
        <p:spPr>
          <a:xfrm rot="19080000">
            <a:off x="5227955" y="4949190"/>
            <a:ext cx="75565" cy="85725"/>
          </a:xfrm>
          <a:prstGeom prst="halfFrame">
            <a:avLst/>
          </a:prstGeom>
          <a:solidFill>
            <a:srgbClr val="EA4335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69" name="半闭框 68"/>
          <p:cNvSpPr/>
          <p:nvPr>
            <p:custDataLst>
              <p:tags r:id="rId5"/>
            </p:custDataLst>
          </p:nvPr>
        </p:nvSpPr>
        <p:spPr>
          <a:xfrm rot="13680000">
            <a:off x="7365365" y="4326255"/>
            <a:ext cx="75565" cy="85725"/>
          </a:xfrm>
          <a:prstGeom prst="halfFrame">
            <a:avLst/>
          </a:prstGeom>
          <a:solidFill>
            <a:srgbClr val="FBBC05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71" name="右弧形箭头 70"/>
          <p:cNvSpPr/>
          <p:nvPr>
            <p:custDataLst>
              <p:tags r:id="rId6"/>
            </p:custDataLst>
          </p:nvPr>
        </p:nvSpPr>
        <p:spPr>
          <a:xfrm>
            <a:off x="6089650" y="3107690"/>
            <a:ext cx="600075" cy="1028700"/>
          </a:xfrm>
          <a:prstGeom prst="curvedLeftArrow">
            <a:avLst/>
          </a:prstGeom>
          <a:solidFill>
            <a:srgbClr val="4285F4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72" name="右弧形箭头 71"/>
          <p:cNvSpPr/>
          <p:nvPr>
            <p:custDataLst>
              <p:tags r:id="rId7"/>
            </p:custDataLst>
          </p:nvPr>
        </p:nvSpPr>
        <p:spPr>
          <a:xfrm rot="10800000">
            <a:off x="5426075" y="3048635"/>
            <a:ext cx="600075" cy="1028700"/>
          </a:xfrm>
          <a:prstGeom prst="curvedLeftArrow">
            <a:avLst/>
          </a:prstGeom>
          <a:solidFill>
            <a:srgbClr val="4285F4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77" name="Rounded Rectangle 30"/>
          <p:cNvSpPr/>
          <p:nvPr/>
        </p:nvSpPr>
        <p:spPr>
          <a:xfrm>
            <a:off x="8519795" y="4450080"/>
            <a:ext cx="3136900" cy="1115695"/>
          </a:xfrm>
          <a:prstGeom prst="roundRect">
            <a:avLst/>
          </a:prstGeom>
          <a:solidFill>
            <a:srgbClr val="FEF7E0"/>
          </a:solidFill>
          <a:ln w="9525" cap="flat" cmpd="sng" algn="ctr">
            <a:solidFill>
              <a:srgbClr val="DADCE0"/>
            </a:solidFill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78" name="Rectangle 31"/>
          <p:cNvSpPr/>
          <p:nvPr/>
        </p:nvSpPr>
        <p:spPr>
          <a:xfrm>
            <a:off x="8446516" y="4459097"/>
            <a:ext cx="73152" cy="1115568"/>
          </a:xfrm>
          <a:prstGeom prst="rect">
            <a:avLst/>
          </a:prstGeom>
          <a:solidFill>
            <a:srgbClr val="FBBC05"/>
          </a:solidFill>
          <a:ln w="9525" cap="flat" cmpd="sng" algn="ctr">
            <a:noFill/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79" name="TextBox 32"/>
          <p:cNvSpPr txBox="1"/>
          <p:nvPr/>
        </p:nvSpPr>
        <p:spPr>
          <a:xfrm>
            <a:off x="8657971" y="4653661"/>
            <a:ext cx="2103120" cy="281305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defRPr sz="1600" b="1">
                <a:solidFill>
                  <a:srgbClr val="202124"/>
                </a:solidFill>
                <a:latin typeface="微软雅黑" panose="020B0503020204020204" charset="-122"/>
              </a:defRPr>
            </a:pPr>
            <a:r>
              <a:rPr lang="zh-CN"/>
              <a:t>模型生成的内容</a:t>
            </a:r>
          </a:p>
        </p:txBody>
      </p:sp>
      <p:sp>
        <p:nvSpPr>
          <p:cNvPr id="80" name="TextBox 33"/>
          <p:cNvSpPr txBox="1"/>
          <p:nvPr/>
        </p:nvSpPr>
        <p:spPr>
          <a:xfrm>
            <a:off x="8676640" y="5048885"/>
            <a:ext cx="3027680" cy="417830"/>
          </a:xfrm>
          <a:prstGeom prst="rect">
            <a:avLst/>
          </a:prstGeom>
          <a:noFill/>
        </p:spPr>
        <p:txBody>
          <a:bodyPr wrap="square" lIns="18288" tIns="18288" rIns="18288" bIns="18288" anchor="t">
            <a:noAutofit/>
          </a:bodyPr>
          <a:lstStyle/>
          <a:p>
            <a:pPr algn="l">
              <a:defRPr sz="1600" b="0">
                <a:solidFill>
                  <a:srgbClr val="202124"/>
                </a:solidFill>
                <a:latin typeface="微软雅黑" panose="020B0503020204020204" charset="-122"/>
              </a:defRPr>
            </a:pPr>
            <a:r>
              <a:t>生成的内容是什么？边界在哪？</a:t>
            </a:r>
          </a:p>
        </p:txBody>
      </p:sp>
      <p:sp>
        <p:nvSpPr>
          <p:cNvPr id="81" name="Rounded Rectangle 34"/>
          <p:cNvSpPr/>
          <p:nvPr/>
        </p:nvSpPr>
        <p:spPr>
          <a:xfrm>
            <a:off x="558165" y="4458970"/>
            <a:ext cx="3115945" cy="1115695"/>
          </a:xfrm>
          <a:prstGeom prst="roundRect">
            <a:avLst/>
          </a:prstGeom>
          <a:solidFill>
            <a:srgbClr val="FCE8E6"/>
          </a:solidFill>
          <a:ln w="9525" cap="flat" cmpd="sng" algn="ctr">
            <a:solidFill>
              <a:srgbClr val="DADCE0"/>
            </a:solidFill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82" name="Rectangle 35"/>
          <p:cNvSpPr/>
          <p:nvPr/>
        </p:nvSpPr>
        <p:spPr>
          <a:xfrm>
            <a:off x="558292" y="4458843"/>
            <a:ext cx="73152" cy="1115568"/>
          </a:xfrm>
          <a:prstGeom prst="rect">
            <a:avLst/>
          </a:prstGeom>
          <a:solidFill>
            <a:srgbClr val="EA4335"/>
          </a:solidFill>
          <a:ln w="9525" cap="flat" cmpd="sng" algn="ctr">
            <a:noFill/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83" name="TextBox 36"/>
          <p:cNvSpPr txBox="1"/>
          <p:nvPr/>
        </p:nvSpPr>
        <p:spPr>
          <a:xfrm>
            <a:off x="741680" y="4686935"/>
            <a:ext cx="2027555" cy="384175"/>
          </a:xfrm>
          <a:prstGeom prst="rect">
            <a:avLst/>
          </a:prstGeom>
          <a:noFill/>
        </p:spPr>
        <p:txBody>
          <a:bodyPr wrap="square" lIns="18288" tIns="18288" rIns="18288" bIns="18288" anchor="t">
            <a:noAutofit/>
          </a:bodyPr>
          <a:lstStyle/>
          <a:p>
            <a:pPr algn="l">
              <a:defRPr sz="1600" b="1">
                <a:solidFill>
                  <a:srgbClr val="202124"/>
                </a:solidFill>
                <a:latin typeface="微软雅黑" panose="020B0503020204020204" charset="-122"/>
              </a:defRPr>
            </a:pPr>
            <a:r>
              <a:rPr lang="zh-CN"/>
              <a:t>模型学习的新数据</a:t>
            </a:r>
          </a:p>
        </p:txBody>
      </p:sp>
      <p:sp>
        <p:nvSpPr>
          <p:cNvPr id="84" name="TextBox 37"/>
          <p:cNvSpPr txBox="1"/>
          <p:nvPr/>
        </p:nvSpPr>
        <p:spPr>
          <a:xfrm>
            <a:off x="741680" y="5071110"/>
            <a:ext cx="2933065" cy="281305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defRPr sz="1600" b="0">
                <a:solidFill>
                  <a:srgbClr val="202124"/>
                </a:solidFill>
                <a:latin typeface="微软雅黑" panose="020B0503020204020204" charset="-122"/>
              </a:defRPr>
            </a:pPr>
            <a:r>
              <a:t>如何正确使用用户反馈的数据？</a:t>
            </a:r>
            <a:endParaRPr lang="zh-CN"/>
          </a:p>
        </p:txBody>
      </p:sp>
      <p:pic>
        <p:nvPicPr>
          <p:cNvPr id="7" name="Picture 1" descr="ISEE.png"/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10643675" y="219456"/>
            <a:ext cx="1133797" cy="825119"/>
          </a:xfrm>
          <a:prstGeom prst="rect">
            <a:avLst/>
          </a:prstGeom>
        </p:spPr>
      </p:pic>
      <p:sp>
        <p:nvSpPr>
          <p:cNvPr id="13" name="TextBox 89"/>
          <p:cNvSpPr txBox="1"/>
          <p:nvPr/>
        </p:nvSpPr>
        <p:spPr>
          <a:xfrm>
            <a:off x="8380000" y="260000"/>
            <a:ext cx="2300000" cy="3200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sz="1200" b="0" dirty="0" err="1">
                <a:solidFill>
                  <a:srgbClr val="5C6B7C"/>
                </a:solidFill>
                <a:latin typeface="微软雅黑" panose="020B0503020204020204" charset="-122"/>
              </a:rPr>
              <a:t>汇报人：成琦艺峰</a:t>
            </a:r>
            <a:endParaRPr sz="1200" b="0" dirty="0">
              <a:solidFill>
                <a:srgbClr val="5C6B7C"/>
              </a:solidFill>
              <a:latin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ounded Rectangle 6"/>
          <p:cNvSpPr/>
          <p:nvPr/>
        </p:nvSpPr>
        <p:spPr>
          <a:xfrm>
            <a:off x="255270" y="1205865"/>
            <a:ext cx="11705590" cy="4483735"/>
          </a:xfrm>
          <a:prstGeom prst="roundRect">
            <a:avLst/>
          </a:prstGeom>
          <a:solidFill>
            <a:srgbClr val="FFFFFF"/>
          </a:solidFill>
          <a:ln>
            <a:solidFill>
              <a:srgbClr val="DADC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矩形 12"/>
          <p:cNvSpPr/>
          <p:nvPr/>
        </p:nvSpPr>
        <p:spPr>
          <a:xfrm>
            <a:off x="5422265" y="1451610"/>
            <a:ext cx="3028315" cy="4076700"/>
          </a:xfrm>
          <a:prstGeom prst="rect">
            <a:avLst/>
          </a:prstGeom>
          <a:solidFill>
            <a:srgbClr val="DCD5C9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矩形 13"/>
          <p:cNvSpPr/>
          <p:nvPr/>
        </p:nvSpPr>
        <p:spPr>
          <a:xfrm>
            <a:off x="9983470" y="1451610"/>
            <a:ext cx="1440815" cy="4076700"/>
          </a:xfrm>
          <a:prstGeom prst="rect">
            <a:avLst/>
          </a:prstGeom>
          <a:solidFill>
            <a:srgbClr val="A3C4B2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矩形 10"/>
          <p:cNvSpPr/>
          <p:nvPr/>
        </p:nvSpPr>
        <p:spPr>
          <a:xfrm>
            <a:off x="711835" y="1451610"/>
            <a:ext cx="1492885" cy="407670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aphicFrame>
        <p:nvGraphicFramePr>
          <p:cNvPr id="3" name="表格 2"/>
          <p:cNvGraphicFramePr/>
          <p:nvPr>
            <p:custDataLst>
              <p:tags r:id="rId1"/>
            </p:custDataLst>
          </p:nvPr>
        </p:nvGraphicFramePr>
        <p:xfrm>
          <a:off x="819150" y="1451610"/>
          <a:ext cx="10828020" cy="4076700"/>
        </p:xfrm>
        <a:graphic>
          <a:graphicData uri="http://schemas.openxmlformats.org/drawingml/2006/table">
            <a:tbl>
              <a:tblPr firstRow="1" firstCol="1">
                <a:tableStyleId>{5C22544A-7EE6-4342-B048-85BDC9FD1C3A}</a:tableStyleId>
              </a:tblPr>
              <a:tblGrid>
                <a:gridCol w="15468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468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468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468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4686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54686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54686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67945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CN" altLang="en-US" b="0">
                          <a:solidFill>
                            <a:schemeClr val="tx1"/>
                          </a:solidFill>
                        </a:rPr>
                        <a:t>来源类型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CN" altLang="en-US" b="0">
                          <a:solidFill>
                            <a:schemeClr val="tx1"/>
                          </a:solidFill>
                        </a:rPr>
                        <a:t>规模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CN" altLang="en-US" b="0">
                          <a:solidFill>
                            <a:schemeClr val="tx1"/>
                          </a:solidFill>
                        </a:rPr>
                        <a:t>质量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CN" altLang="en-US" b="0">
                          <a:solidFill>
                            <a:schemeClr val="tx1"/>
                          </a:solidFill>
                        </a:rPr>
                        <a:t>版权风险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CN" altLang="en-US" b="0">
                          <a:solidFill>
                            <a:schemeClr val="tx1"/>
                          </a:solidFill>
                        </a:rPr>
                        <a:t>隐私风险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CN" altLang="en-US" b="0">
                          <a:solidFill>
                            <a:schemeClr val="tx1"/>
                          </a:solidFill>
                        </a:rPr>
                        <a:t>多样性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CN" altLang="en-US" b="0">
                          <a:solidFill>
                            <a:schemeClr val="tx1"/>
                          </a:solidFill>
                        </a:rPr>
                        <a:t>成本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7945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CN" altLang="en-US" b="1">
                          <a:solidFill>
                            <a:schemeClr val="tx1"/>
                          </a:solidFill>
                        </a:rPr>
                        <a:t>网络爬取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CN" altLang="en-US">
                          <a:solidFill>
                            <a:schemeClr val="tx1"/>
                          </a:solidFill>
                        </a:rPr>
                        <a:t>极大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CN" altLang="en-US">
                          <a:solidFill>
                            <a:schemeClr val="tx1"/>
                          </a:solidFill>
                        </a:rPr>
                        <a:t>低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CN" altLang="en-US">
                          <a:solidFill>
                            <a:schemeClr val="tx1"/>
                          </a:solidFill>
                        </a:rPr>
                        <a:t>高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CN" altLang="en-US">
                          <a:solidFill>
                            <a:schemeClr val="tx1"/>
                          </a:solidFill>
                        </a:rPr>
                        <a:t>高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CN" altLang="en-US">
                          <a:solidFill>
                            <a:schemeClr val="tx1"/>
                          </a:solidFill>
                        </a:rPr>
                        <a:t>极高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CN" altLang="en-US">
                          <a:solidFill>
                            <a:schemeClr val="tx1"/>
                          </a:solidFill>
                        </a:rPr>
                        <a:t>低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7945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CN" altLang="en-US" b="1">
                          <a:solidFill>
                            <a:schemeClr val="tx1"/>
                          </a:solidFill>
                        </a:rPr>
                        <a:t>公开数据集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CN" altLang="en-US">
                          <a:solidFill>
                            <a:schemeClr val="tx1"/>
                          </a:solidFill>
                        </a:rPr>
                        <a:t>中</a:t>
                      </a:r>
                      <a:r>
                        <a:rPr lang="en-US" altLang="zh-CN">
                          <a:solidFill>
                            <a:schemeClr val="tx1"/>
                          </a:solidFill>
                        </a:rPr>
                        <a:t>-</a:t>
                      </a:r>
                      <a:r>
                        <a:rPr lang="zh-CN" altLang="en-US">
                          <a:solidFill>
                            <a:schemeClr val="tx1"/>
                          </a:solidFill>
                        </a:rPr>
                        <a:t>大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CN" altLang="en-US">
                          <a:solidFill>
                            <a:schemeClr val="tx1"/>
                          </a:solidFill>
                        </a:rPr>
                        <a:t>中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CN" altLang="en-US">
                          <a:solidFill>
                            <a:schemeClr val="tx1"/>
                          </a:solidFill>
                        </a:rPr>
                        <a:t>中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CN" altLang="en-US">
                          <a:solidFill>
                            <a:schemeClr val="tx1"/>
                          </a:solidFill>
                        </a:rPr>
                        <a:t>低</a:t>
                      </a:r>
                      <a:r>
                        <a:rPr lang="en-US" altLang="zh-CN">
                          <a:solidFill>
                            <a:schemeClr val="tx1"/>
                          </a:solidFill>
                        </a:rPr>
                        <a:t>-</a:t>
                      </a:r>
                      <a:r>
                        <a:rPr lang="zh-CN" altLang="en-US">
                          <a:solidFill>
                            <a:schemeClr val="tx1"/>
                          </a:solidFill>
                        </a:rPr>
                        <a:t>中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CN" altLang="en-US">
                          <a:solidFill>
                            <a:schemeClr val="tx1"/>
                          </a:solidFill>
                        </a:rPr>
                        <a:t>中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CN" altLang="en-US">
                          <a:solidFill>
                            <a:schemeClr val="tx1"/>
                          </a:solidFill>
                        </a:rPr>
                        <a:t>中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7945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CN" altLang="en-US" b="1">
                          <a:solidFill>
                            <a:schemeClr val="tx1"/>
                          </a:solidFill>
                        </a:rPr>
                        <a:t>合成数据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CN" altLang="en-US">
                          <a:solidFill>
                            <a:schemeClr val="tx1"/>
                          </a:solidFill>
                        </a:rPr>
                        <a:t>极大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CN" altLang="en-US">
                          <a:solidFill>
                            <a:schemeClr val="tx1"/>
                          </a:solidFill>
                        </a:rPr>
                        <a:t>高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CN" altLang="en-US">
                          <a:solidFill>
                            <a:schemeClr val="tx1"/>
                          </a:solidFill>
                        </a:rPr>
                        <a:t>无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CN" altLang="en-US">
                          <a:solidFill>
                            <a:schemeClr val="tx1"/>
                          </a:solidFill>
                        </a:rPr>
                        <a:t>无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CN" altLang="en-US">
                          <a:solidFill>
                            <a:schemeClr val="tx1"/>
                          </a:solidFill>
                        </a:rPr>
                        <a:t>中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CN" altLang="en-US">
                          <a:solidFill>
                            <a:schemeClr val="tx1"/>
                          </a:solidFill>
                        </a:rPr>
                        <a:t>低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7945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CN" altLang="en-US" b="1">
                          <a:solidFill>
                            <a:schemeClr val="tx1"/>
                          </a:solidFill>
                        </a:rPr>
                        <a:t>商业数据集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CN" altLang="en-US">
                          <a:solidFill>
                            <a:schemeClr val="tx1"/>
                          </a:solidFill>
                        </a:rPr>
                        <a:t>中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CN" altLang="en-US">
                          <a:solidFill>
                            <a:schemeClr val="tx1"/>
                          </a:solidFill>
                        </a:rPr>
                        <a:t>高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CN" altLang="en-US">
                          <a:solidFill>
                            <a:schemeClr val="tx1"/>
                          </a:solidFill>
                        </a:rPr>
                        <a:t>低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CN" altLang="en-US">
                          <a:solidFill>
                            <a:schemeClr val="tx1"/>
                          </a:solidFill>
                        </a:rPr>
                        <a:t>低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CN" altLang="en-US">
                          <a:solidFill>
                            <a:schemeClr val="tx1"/>
                          </a:solidFill>
                        </a:rPr>
                        <a:t>低</a:t>
                      </a:r>
                      <a:r>
                        <a:rPr lang="en-US" altLang="zh-CN">
                          <a:solidFill>
                            <a:schemeClr val="tx1"/>
                          </a:solidFill>
                        </a:rPr>
                        <a:t>-</a:t>
                      </a:r>
                      <a:r>
                        <a:rPr lang="zh-CN" altLang="en-US">
                          <a:solidFill>
                            <a:schemeClr val="tx1"/>
                          </a:solidFill>
                        </a:rPr>
                        <a:t>中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CN" altLang="en-US">
                          <a:solidFill>
                            <a:schemeClr val="tx1"/>
                          </a:solidFill>
                        </a:rPr>
                        <a:t>极高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7945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CN" altLang="en-US" b="1">
                          <a:solidFill>
                            <a:schemeClr val="tx1"/>
                          </a:solidFill>
                        </a:rPr>
                        <a:t>领域采集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CN" altLang="en-US">
                          <a:solidFill>
                            <a:schemeClr val="tx1"/>
                          </a:solidFill>
                        </a:rPr>
                        <a:t>小</a:t>
                      </a:r>
                      <a:r>
                        <a:rPr lang="en-US" altLang="zh-CN">
                          <a:solidFill>
                            <a:schemeClr val="tx1"/>
                          </a:solidFill>
                        </a:rPr>
                        <a:t>-</a:t>
                      </a:r>
                      <a:r>
                        <a:rPr lang="zh-CN" altLang="en-US">
                          <a:solidFill>
                            <a:schemeClr val="tx1"/>
                          </a:solidFill>
                        </a:rPr>
                        <a:t>中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CN" altLang="en-US">
                          <a:solidFill>
                            <a:schemeClr val="tx1"/>
                          </a:solidFill>
                        </a:rPr>
                        <a:t>高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CN" altLang="en-US">
                          <a:solidFill>
                            <a:schemeClr val="tx1"/>
                          </a:solidFill>
                        </a:rPr>
                        <a:t>低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CN" altLang="en-US">
                          <a:solidFill>
                            <a:schemeClr val="tx1"/>
                          </a:solidFill>
                        </a:rPr>
                        <a:t>很高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CN" altLang="en-US">
                          <a:solidFill>
                            <a:schemeClr val="tx1"/>
                          </a:solidFill>
                        </a:rPr>
                        <a:t>低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CN" altLang="en-US">
                          <a:solidFill>
                            <a:schemeClr val="tx1"/>
                          </a:solidFill>
                        </a:rPr>
                        <a:t>极高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pic>
        <p:nvPicPr>
          <p:cNvPr id="2" name="Picture 1" descr="ISE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643675" y="219456"/>
            <a:ext cx="1133797" cy="825119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75488" y="676656"/>
            <a:ext cx="9966960" cy="46609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defRPr sz="2400" b="1">
                <a:solidFill>
                  <a:srgbClr val="202124"/>
                </a:solidFill>
                <a:latin typeface="微软雅黑" panose="020B0503020204020204" charset="-122"/>
              </a:defRPr>
            </a:pPr>
            <a:r>
              <a:rPr sz="2800">
                <a:solidFill>
                  <a:srgbClr val="4285F4"/>
                </a:solidFill>
              </a:rPr>
              <a:t>训练数据：数据从哪儿来？</a:t>
            </a:r>
          </a:p>
        </p:txBody>
      </p:sp>
      <p:cxnSp>
        <p:nvCxnSpPr>
          <p:cNvPr id="5" name="直接连接符 4"/>
          <p:cNvCxnSpPr/>
          <p:nvPr/>
        </p:nvCxnSpPr>
        <p:spPr>
          <a:xfrm>
            <a:off x="707390" y="2070100"/>
            <a:ext cx="10717530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6" name="直接连接符 5"/>
          <p:cNvCxnSpPr/>
          <p:nvPr/>
        </p:nvCxnSpPr>
        <p:spPr>
          <a:xfrm>
            <a:off x="707390" y="5528310"/>
            <a:ext cx="10717530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7" name="直接连接符 6"/>
          <p:cNvCxnSpPr/>
          <p:nvPr/>
        </p:nvCxnSpPr>
        <p:spPr>
          <a:xfrm>
            <a:off x="715010" y="2805430"/>
            <a:ext cx="1070991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8" name="直接连接符 7"/>
          <p:cNvCxnSpPr/>
          <p:nvPr/>
        </p:nvCxnSpPr>
        <p:spPr>
          <a:xfrm>
            <a:off x="721995" y="3489960"/>
            <a:ext cx="10702925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9" name="直接连接符 8"/>
          <p:cNvCxnSpPr/>
          <p:nvPr/>
        </p:nvCxnSpPr>
        <p:spPr>
          <a:xfrm>
            <a:off x="707390" y="4166870"/>
            <a:ext cx="1071753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0" name="直接连接符 9"/>
          <p:cNvCxnSpPr/>
          <p:nvPr/>
        </p:nvCxnSpPr>
        <p:spPr>
          <a:xfrm>
            <a:off x="715010" y="4909820"/>
            <a:ext cx="1070991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6" name="TextBox 3"/>
          <p:cNvSpPr txBox="1"/>
          <p:nvPr/>
        </p:nvSpPr>
        <p:spPr>
          <a:xfrm>
            <a:off x="624713" y="5907582"/>
            <a:ext cx="9966960" cy="3124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defRPr sz="2400" b="1">
                <a:solidFill>
                  <a:srgbClr val="202124"/>
                </a:solidFill>
                <a:latin typeface="微软雅黑" panose="020B0503020204020204" charset="-122"/>
              </a:defRPr>
            </a:pPr>
            <a:r>
              <a:rPr sz="1800" dirty="0" err="1"/>
              <a:t>无论训练数据从何而来，它都应当是可追溯的，这不仅是法律的要求，更是对用户的负责</a:t>
            </a:r>
            <a:endParaRPr sz="1800" dirty="0"/>
          </a:p>
        </p:txBody>
      </p:sp>
      <p:cxnSp>
        <p:nvCxnSpPr>
          <p:cNvPr id="12" name="Connector 84"/>
          <p:cNvCxnSpPr/>
          <p:nvPr/>
        </p:nvCxnSpPr>
        <p:spPr>
          <a:xfrm>
            <a:off x="152" y="6322821"/>
            <a:ext cx="12192000" cy="0"/>
          </a:xfrm>
          <a:prstGeom prst="line">
            <a:avLst/>
          </a:prstGeom>
          <a:ln w="6350">
            <a:solidFill>
              <a:srgbClr val="D7DE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ectangle 85"/>
          <p:cNvSpPr/>
          <p:nvPr/>
        </p:nvSpPr>
        <p:spPr>
          <a:xfrm>
            <a:off x="152" y="6322821"/>
            <a:ext cx="3047924" cy="566928"/>
          </a:xfrm>
          <a:prstGeom prst="rect">
            <a:avLst/>
          </a:prstGeom>
          <a:solidFill>
            <a:srgbClr val="064D8F"/>
          </a:solidFill>
          <a:ln w="10160">
            <a:solidFill>
              <a:srgbClr val="064D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sz="1400" b="1">
                <a:solidFill>
                  <a:srgbClr val="FFFFFF"/>
                </a:solidFill>
                <a:latin typeface="微软雅黑" panose="020B0503020204020204" charset="-122"/>
              </a:rPr>
              <a:t>1  训练数据</a:t>
            </a:r>
          </a:p>
        </p:txBody>
      </p:sp>
      <p:sp>
        <p:nvSpPr>
          <p:cNvPr id="18" name="Rectangle 86"/>
          <p:cNvSpPr/>
          <p:nvPr/>
        </p:nvSpPr>
        <p:spPr>
          <a:xfrm>
            <a:off x="3048076" y="6322821"/>
            <a:ext cx="3047924" cy="566928"/>
          </a:xfrm>
          <a:prstGeom prst="rect">
            <a:avLst/>
          </a:prstGeom>
          <a:solidFill>
            <a:srgbClr val="E8EEF6"/>
          </a:solidFill>
          <a:ln w="10160">
            <a:solidFill>
              <a:srgbClr val="D7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sz="1400" b="0">
                <a:solidFill>
                  <a:srgbClr val="5C6B7C"/>
                </a:solidFill>
                <a:latin typeface="微软雅黑" panose="020B0503020204020204" charset="-122"/>
              </a:rPr>
              <a:t>2  模型设计</a:t>
            </a:r>
          </a:p>
        </p:txBody>
      </p:sp>
      <p:sp>
        <p:nvSpPr>
          <p:cNvPr id="19" name="Rectangle 87"/>
          <p:cNvSpPr/>
          <p:nvPr/>
        </p:nvSpPr>
        <p:spPr>
          <a:xfrm>
            <a:off x="6096000" y="6322821"/>
            <a:ext cx="3047924" cy="566928"/>
          </a:xfrm>
          <a:prstGeom prst="rect">
            <a:avLst/>
          </a:prstGeom>
          <a:solidFill>
            <a:srgbClr val="E8EEF6"/>
          </a:solidFill>
          <a:ln w="10160">
            <a:solidFill>
              <a:srgbClr val="D7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sz="1400" b="0">
                <a:solidFill>
                  <a:srgbClr val="5C6B7C"/>
                </a:solidFill>
                <a:latin typeface="微软雅黑" panose="020B0503020204020204" charset="-122"/>
              </a:rPr>
              <a:t>3  输出控制</a:t>
            </a:r>
          </a:p>
        </p:txBody>
      </p:sp>
      <p:sp>
        <p:nvSpPr>
          <p:cNvPr id="20" name="Rectangle 88"/>
          <p:cNvSpPr/>
          <p:nvPr/>
        </p:nvSpPr>
        <p:spPr>
          <a:xfrm>
            <a:off x="9143924" y="6322821"/>
            <a:ext cx="3048228" cy="566928"/>
          </a:xfrm>
          <a:prstGeom prst="rect">
            <a:avLst/>
          </a:prstGeom>
          <a:solidFill>
            <a:srgbClr val="E8EEF6"/>
          </a:solidFill>
          <a:ln w="10160">
            <a:solidFill>
              <a:srgbClr val="D7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sz="1400" b="0">
                <a:solidFill>
                  <a:srgbClr val="5C6B7C"/>
                </a:solidFill>
                <a:latin typeface="微软雅黑" panose="020B0503020204020204" charset="-122"/>
              </a:rPr>
              <a:t>4  反馈迭代</a:t>
            </a:r>
          </a:p>
        </p:txBody>
      </p:sp>
      <p:sp>
        <p:nvSpPr>
          <p:cNvPr id="21" name="TextBox 89"/>
          <p:cNvSpPr txBox="1"/>
          <p:nvPr/>
        </p:nvSpPr>
        <p:spPr>
          <a:xfrm>
            <a:off x="8380000" y="260000"/>
            <a:ext cx="2300000" cy="3200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sz="1200" b="0" dirty="0" err="1">
                <a:solidFill>
                  <a:srgbClr val="5C6B7C"/>
                </a:solidFill>
                <a:latin typeface="微软雅黑" panose="020B0503020204020204" charset="-122"/>
              </a:rPr>
              <a:t>汇报人：成琦艺峰</a:t>
            </a:r>
            <a:endParaRPr sz="1200" b="0" dirty="0">
              <a:solidFill>
                <a:srgbClr val="5C6B7C"/>
              </a:solidFill>
              <a:latin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3"/>
          <p:cNvSpPr txBox="1"/>
          <p:nvPr/>
        </p:nvSpPr>
        <p:spPr>
          <a:xfrm>
            <a:off x="475488" y="676656"/>
            <a:ext cx="9966960" cy="46609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defRPr sz="2400" b="1">
                <a:solidFill>
                  <a:srgbClr val="202124"/>
                </a:solidFill>
                <a:latin typeface="微软雅黑" panose="020B0503020204020204" charset="-122"/>
              </a:defRPr>
            </a:pPr>
            <a:r>
              <a:rPr sz="2800">
                <a:solidFill>
                  <a:srgbClr val="4285F4"/>
                </a:solidFill>
                <a:sym typeface="+mn-ea"/>
              </a:rPr>
              <a:t>Adobe Firefly：“道德AI”也在“偷”数据</a:t>
            </a: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3565" y="2210435"/>
            <a:ext cx="4568825" cy="2540635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7" name="文本框 6"/>
          <p:cNvSpPr txBox="1"/>
          <p:nvPr/>
        </p:nvSpPr>
        <p:spPr>
          <a:xfrm>
            <a:off x="583565" y="1472882"/>
            <a:ext cx="5080000" cy="645160"/>
          </a:xfrm>
          <a:prstGeom prst="rect">
            <a:avLst/>
          </a:prstGeom>
        </p:spPr>
        <p:txBody>
          <a:bodyPr>
            <a:spAutoFit/>
          </a:bodyPr>
          <a:lstStyle/>
          <a:p>
            <a:pPr defTabSz="266700"/>
            <a:r>
              <a:rPr lang="en-US" altLang="zh-CN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Adobe Firefly</a:t>
            </a:r>
            <a:r>
              <a:rPr lang="zh-CN" altLang="en-US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对外承诺它的训练数据</a:t>
            </a:r>
            <a:r>
              <a:rPr lang="en-US" altLang="zh-CN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100%</a:t>
            </a:r>
            <a:r>
              <a:rPr lang="zh-CN" altLang="en-US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来自</a:t>
            </a:r>
            <a:r>
              <a:rPr lang="en-US" altLang="zh-CN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Adobe Stock</a:t>
            </a:r>
            <a:r>
              <a:rPr lang="zh-CN" altLang="en-US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授权图库和公共领域</a:t>
            </a:r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3565" y="4843780"/>
            <a:ext cx="5369560" cy="1289050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75705" y="2379980"/>
            <a:ext cx="4803140" cy="3747135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10" name="文本框 9"/>
          <p:cNvSpPr txBox="1"/>
          <p:nvPr/>
        </p:nvSpPr>
        <p:spPr>
          <a:xfrm>
            <a:off x="6275705" y="1380807"/>
            <a:ext cx="5080000" cy="922020"/>
          </a:xfrm>
          <a:prstGeom prst="rect">
            <a:avLst/>
          </a:prstGeom>
        </p:spPr>
        <p:txBody>
          <a:bodyPr>
            <a:spAutoFit/>
          </a:bodyPr>
          <a:lstStyle/>
          <a:p>
            <a:pPr defTabSz="266700"/>
            <a:r>
              <a:rPr lang="zh-CN" altLang="en-US" sz="18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然而，Adobe Stock 里有 5700 万张图被标记为 AI生成，占总库14%</a:t>
            </a:r>
            <a:r>
              <a:rPr lang="zh-CN" altLang="en-US" sz="1800" b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，而Firefly的训练集里</a:t>
            </a:r>
            <a:r>
              <a:rPr lang="zh-CN" altLang="en-US" sz="18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5%是从Midjourney这种竞品生成图上间接学来的</a:t>
            </a:r>
          </a:p>
        </p:txBody>
      </p:sp>
      <p:pic>
        <p:nvPicPr>
          <p:cNvPr id="3" name="Picture 1" descr="ISE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643675" y="219456"/>
            <a:ext cx="1133797" cy="825119"/>
          </a:xfrm>
          <a:prstGeom prst="rect">
            <a:avLst/>
          </a:prstGeom>
        </p:spPr>
      </p:pic>
      <p:cxnSp>
        <p:nvCxnSpPr>
          <p:cNvPr id="4" name="Connector 84"/>
          <p:cNvCxnSpPr/>
          <p:nvPr/>
        </p:nvCxnSpPr>
        <p:spPr>
          <a:xfrm>
            <a:off x="152" y="6291072"/>
            <a:ext cx="12192000" cy="0"/>
          </a:xfrm>
          <a:prstGeom prst="line">
            <a:avLst/>
          </a:prstGeom>
          <a:ln w="6350">
            <a:solidFill>
              <a:srgbClr val="D7DE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ectangle 85"/>
          <p:cNvSpPr/>
          <p:nvPr/>
        </p:nvSpPr>
        <p:spPr>
          <a:xfrm>
            <a:off x="152" y="6291072"/>
            <a:ext cx="3047924" cy="566928"/>
          </a:xfrm>
          <a:prstGeom prst="rect">
            <a:avLst/>
          </a:prstGeom>
          <a:solidFill>
            <a:srgbClr val="064D8F"/>
          </a:solidFill>
          <a:ln w="10160">
            <a:solidFill>
              <a:srgbClr val="064D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sz="1400" b="1">
                <a:solidFill>
                  <a:srgbClr val="FFFFFF"/>
                </a:solidFill>
                <a:latin typeface="微软雅黑" panose="020B0503020204020204" charset="-122"/>
              </a:rPr>
              <a:t>1  训练数据</a:t>
            </a:r>
          </a:p>
        </p:txBody>
      </p:sp>
      <p:sp>
        <p:nvSpPr>
          <p:cNvPr id="12" name="Rectangle 86"/>
          <p:cNvSpPr/>
          <p:nvPr/>
        </p:nvSpPr>
        <p:spPr>
          <a:xfrm>
            <a:off x="3048076" y="6291072"/>
            <a:ext cx="3047924" cy="566928"/>
          </a:xfrm>
          <a:prstGeom prst="rect">
            <a:avLst/>
          </a:prstGeom>
          <a:solidFill>
            <a:srgbClr val="E8EEF6"/>
          </a:solidFill>
          <a:ln w="10160">
            <a:solidFill>
              <a:srgbClr val="D7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sz="1400" b="0">
                <a:solidFill>
                  <a:srgbClr val="5C6B7C"/>
                </a:solidFill>
                <a:latin typeface="微软雅黑" panose="020B0503020204020204" charset="-122"/>
              </a:rPr>
              <a:t>2  模型设计</a:t>
            </a:r>
          </a:p>
        </p:txBody>
      </p:sp>
      <p:sp>
        <p:nvSpPr>
          <p:cNvPr id="13" name="Rectangle 87"/>
          <p:cNvSpPr/>
          <p:nvPr/>
        </p:nvSpPr>
        <p:spPr>
          <a:xfrm>
            <a:off x="6096000" y="6291072"/>
            <a:ext cx="3047924" cy="566928"/>
          </a:xfrm>
          <a:prstGeom prst="rect">
            <a:avLst/>
          </a:prstGeom>
          <a:solidFill>
            <a:srgbClr val="E8EEF6"/>
          </a:solidFill>
          <a:ln w="10160">
            <a:solidFill>
              <a:srgbClr val="D7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sz="1400" b="0">
                <a:solidFill>
                  <a:srgbClr val="5C6B7C"/>
                </a:solidFill>
                <a:latin typeface="微软雅黑" panose="020B0503020204020204" charset="-122"/>
              </a:rPr>
              <a:t>3  输出控制</a:t>
            </a:r>
          </a:p>
        </p:txBody>
      </p:sp>
      <p:sp>
        <p:nvSpPr>
          <p:cNvPr id="14" name="Rectangle 88"/>
          <p:cNvSpPr/>
          <p:nvPr/>
        </p:nvSpPr>
        <p:spPr>
          <a:xfrm>
            <a:off x="9143924" y="6291072"/>
            <a:ext cx="3048228" cy="566928"/>
          </a:xfrm>
          <a:prstGeom prst="rect">
            <a:avLst/>
          </a:prstGeom>
          <a:solidFill>
            <a:srgbClr val="E8EEF6"/>
          </a:solidFill>
          <a:ln w="10160">
            <a:solidFill>
              <a:srgbClr val="D7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sz="1400" b="0">
                <a:solidFill>
                  <a:srgbClr val="5C6B7C"/>
                </a:solidFill>
                <a:latin typeface="微软雅黑" panose="020B0503020204020204" charset="-122"/>
              </a:rPr>
              <a:t>4  反馈迭代</a:t>
            </a:r>
          </a:p>
        </p:txBody>
      </p:sp>
      <p:sp>
        <p:nvSpPr>
          <p:cNvPr id="15" name="TextBox 89"/>
          <p:cNvSpPr txBox="1"/>
          <p:nvPr/>
        </p:nvSpPr>
        <p:spPr>
          <a:xfrm>
            <a:off x="8380000" y="260000"/>
            <a:ext cx="2300000" cy="3200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sz="1200" b="0" dirty="0" err="1">
                <a:solidFill>
                  <a:srgbClr val="5C6B7C"/>
                </a:solidFill>
                <a:latin typeface="微软雅黑" panose="020B0503020204020204" charset="-122"/>
              </a:rPr>
              <a:t>汇报人：成琦艺峰</a:t>
            </a:r>
            <a:endParaRPr sz="1200" b="0" dirty="0">
              <a:solidFill>
                <a:srgbClr val="5C6B7C"/>
              </a:solidFill>
              <a:latin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0" y="18288"/>
            <a:ext cx="12191695" cy="0"/>
          </a:xfrm>
          <a:prstGeom prst="line">
            <a:avLst/>
          </a:prstGeom>
          <a:noFill/>
          <a:ln w="8890">
            <a:solidFill>
              <a:srgbClr val="E5EAF2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285193" y="290540"/>
            <a:ext cx="4090865" cy="86783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3B82F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模型设计：拒绝与改写</a:t>
            </a:r>
            <a:endParaRPr lang="en-US" sz="3200" dirty="0">
              <a:solidFill>
                <a:srgbClr val="3B82F6"/>
              </a:solidFill>
            </a:endParaRPr>
          </a:p>
        </p:txBody>
      </p:sp>
      <p:sp>
        <p:nvSpPr>
          <p:cNvPr id="7" name="Text 4"/>
          <p:cNvSpPr/>
          <p:nvPr/>
        </p:nvSpPr>
        <p:spPr>
          <a:xfrm>
            <a:off x="277038" y="1435287"/>
            <a:ext cx="5061248" cy="24239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5F66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ChatGPT gpt-image-2 </a:t>
            </a:r>
            <a:r>
              <a:rPr lang="en-US" sz="2400" b="1" dirty="0" err="1">
                <a:solidFill>
                  <a:srgbClr val="5F66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输入请求</a:t>
            </a:r>
            <a:endParaRPr lang="en-US" sz="2400" dirty="0"/>
          </a:p>
        </p:txBody>
      </p:sp>
      <p:sp>
        <p:nvSpPr>
          <p:cNvPr id="8" name="Text 5"/>
          <p:cNvSpPr/>
          <p:nvPr/>
        </p:nvSpPr>
        <p:spPr>
          <a:xfrm>
            <a:off x="6016752" y="1473829"/>
            <a:ext cx="182880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5F66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改写后生成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277036" y="1972650"/>
            <a:ext cx="2558759" cy="480161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5240">
            <a:solidFill>
              <a:srgbClr val="3B82F6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3B82F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宫崎骏风格 → 拒绝</a:t>
            </a:r>
            <a:endParaRPr lang="en-US" dirty="0"/>
          </a:p>
        </p:txBody>
      </p:sp>
      <p:sp>
        <p:nvSpPr>
          <p:cNvPr id="13" name="Shape 8"/>
          <p:cNvSpPr/>
          <p:nvPr/>
        </p:nvSpPr>
        <p:spPr>
          <a:xfrm>
            <a:off x="5788153" y="1426464"/>
            <a:ext cx="0" cy="4736592"/>
          </a:xfrm>
          <a:prstGeom prst="line">
            <a:avLst/>
          </a:prstGeom>
          <a:noFill/>
          <a:ln w="12700">
            <a:solidFill>
              <a:srgbClr val="E1E6EF"/>
            </a:solidFill>
            <a:prstDash val="solid"/>
          </a:ln>
        </p:spPr>
      </p:sp>
      <p:pic>
        <p:nvPicPr>
          <p:cNvPr id="14" name="Image 3" descr="/mnt/data/Chatgpt3.png"/>
          <p:cNvPicPr>
            <a:picLocks noChangeAspect="1"/>
          </p:cNvPicPr>
          <p:nvPr/>
        </p:nvPicPr>
        <p:blipFill>
          <a:blip r:embed="rId3"/>
          <a:srcRect t="5406" b="5406"/>
          <a:stretch>
            <a:fillRect/>
          </a:stretch>
        </p:blipFill>
        <p:spPr>
          <a:xfrm>
            <a:off x="6016752" y="1865375"/>
            <a:ext cx="5641848" cy="3773875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6654219" y="5797295"/>
            <a:ext cx="393192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5F66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按 ChatGPT </a:t>
            </a:r>
            <a:r>
              <a:rPr lang="en-US" sz="1600" dirty="0" err="1">
                <a:solidFill>
                  <a:srgbClr val="5F66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重写后的原创提示词生成</a:t>
            </a:r>
            <a:endParaRPr lang="en-US" sz="1600" dirty="0"/>
          </a:p>
        </p:txBody>
      </p:sp>
      <p:sp>
        <p:nvSpPr>
          <p:cNvPr id="18" name="Shape 12"/>
          <p:cNvSpPr/>
          <p:nvPr/>
        </p:nvSpPr>
        <p:spPr>
          <a:xfrm>
            <a:off x="0" y="6291072"/>
            <a:ext cx="12191695" cy="0"/>
          </a:xfrm>
          <a:prstGeom prst="line">
            <a:avLst/>
          </a:prstGeom>
          <a:noFill/>
          <a:ln w="27940">
            <a:solidFill>
              <a:srgbClr val="064D8F"/>
            </a:solidFill>
            <a:prstDash val="solid"/>
          </a:ln>
        </p:spPr>
      </p:sp>
      <p:sp>
        <p:nvSpPr>
          <p:cNvPr id="19" name="Text 13"/>
          <p:cNvSpPr/>
          <p:nvPr/>
        </p:nvSpPr>
        <p:spPr>
          <a:xfrm>
            <a:off x="0" y="6291072"/>
            <a:ext cx="3047924" cy="566928"/>
          </a:xfrm>
          <a:prstGeom prst="rect">
            <a:avLst/>
          </a:prstGeom>
          <a:solidFill>
            <a:srgbClr val="E8EEF6"/>
          </a:solidFill>
          <a:ln w="10160">
            <a:solidFill>
              <a:srgbClr val="D7DEE8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5C6B7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1  训练数据</a:t>
            </a:r>
            <a:endParaRPr lang="en-US" sz="1400" dirty="0"/>
          </a:p>
        </p:txBody>
      </p:sp>
      <p:sp>
        <p:nvSpPr>
          <p:cNvPr id="20" name="Text 14"/>
          <p:cNvSpPr/>
          <p:nvPr/>
        </p:nvSpPr>
        <p:spPr>
          <a:xfrm>
            <a:off x="3047924" y="6291072"/>
            <a:ext cx="3047924" cy="566928"/>
          </a:xfrm>
          <a:prstGeom prst="rect">
            <a:avLst/>
          </a:prstGeom>
          <a:solidFill>
            <a:srgbClr val="064D8F"/>
          </a:solidFill>
          <a:ln w="10160">
            <a:solidFill>
              <a:srgbClr val="064D8F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2  模型设计</a:t>
            </a:r>
            <a:endParaRPr lang="en-US" sz="1400" dirty="0"/>
          </a:p>
        </p:txBody>
      </p:sp>
      <p:sp>
        <p:nvSpPr>
          <p:cNvPr id="21" name="Text 15"/>
          <p:cNvSpPr/>
          <p:nvPr/>
        </p:nvSpPr>
        <p:spPr>
          <a:xfrm>
            <a:off x="6095848" y="6291072"/>
            <a:ext cx="3047924" cy="566928"/>
          </a:xfrm>
          <a:prstGeom prst="rect">
            <a:avLst/>
          </a:prstGeom>
          <a:solidFill>
            <a:srgbClr val="E8EEF6"/>
          </a:solidFill>
          <a:ln w="10160">
            <a:solidFill>
              <a:srgbClr val="D7DEE8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5C6B7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3  输出控制</a:t>
            </a:r>
            <a:endParaRPr lang="en-US" sz="1400" dirty="0"/>
          </a:p>
        </p:txBody>
      </p:sp>
      <p:sp>
        <p:nvSpPr>
          <p:cNvPr id="22" name="Text 16"/>
          <p:cNvSpPr/>
          <p:nvPr/>
        </p:nvSpPr>
        <p:spPr>
          <a:xfrm>
            <a:off x="9143771" y="6291072"/>
            <a:ext cx="3047924" cy="566928"/>
          </a:xfrm>
          <a:prstGeom prst="rect">
            <a:avLst/>
          </a:prstGeom>
          <a:solidFill>
            <a:srgbClr val="E8EEF6"/>
          </a:solidFill>
          <a:ln w="10160">
            <a:solidFill>
              <a:srgbClr val="D7DEE8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5C6B7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4  反馈迭代</a:t>
            </a:r>
            <a:endParaRPr lang="en-US" sz="1400" dirty="0"/>
          </a:p>
        </p:txBody>
      </p:sp>
      <p:pic>
        <p:nvPicPr>
          <p:cNvPr id="6" name="图片 5" descr="文本&#10;&#10;AI 生成的内容可能不正确。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200" y="2613910"/>
            <a:ext cx="5753954" cy="2847840"/>
          </a:xfrm>
          <a:prstGeom prst="rect">
            <a:avLst/>
          </a:prstGeom>
        </p:spPr>
      </p:pic>
      <p:sp>
        <p:nvSpPr>
          <p:cNvPr id="10" name="Text 9"/>
          <p:cNvSpPr/>
          <p:nvPr/>
        </p:nvSpPr>
        <p:spPr>
          <a:xfrm>
            <a:off x="841702" y="5562333"/>
            <a:ext cx="393192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altLang="en-US" sz="1600" dirty="0">
                <a:solidFill>
                  <a:srgbClr val="5F6673"/>
                </a:solidFill>
                <a:latin typeface="微软雅黑" panose="020B0503020204020204" charset="-122"/>
                <a:ea typeface="微软雅黑" panose="020B0503020204020204" charset="-122"/>
              </a:rPr>
              <a:t>要求被</a:t>
            </a:r>
            <a:r>
              <a:rPr lang="zh-CN" altLang="en-US" sz="1600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拒绝</a:t>
            </a:r>
            <a:r>
              <a:rPr lang="zh-CN" altLang="en-US" sz="1600" dirty="0">
                <a:solidFill>
                  <a:srgbClr val="5F6673"/>
                </a:solidFill>
                <a:latin typeface="微软雅黑" panose="020B0503020204020204" charset="-122"/>
                <a:ea typeface="微软雅黑" panose="020B0503020204020204" charset="-122"/>
              </a:rPr>
              <a:t>：不模仿任何特定已有</a:t>
            </a:r>
            <a:r>
              <a:rPr lang="en-US" altLang="zh-CN" sz="1600" dirty="0">
                <a:solidFill>
                  <a:srgbClr val="5F6673"/>
                </a:solidFill>
                <a:latin typeface="微软雅黑" panose="020B0503020204020204" charset="-122"/>
                <a:ea typeface="微软雅黑" panose="020B0503020204020204" charset="-122"/>
              </a:rPr>
              <a:t>IP</a:t>
            </a:r>
            <a:endParaRPr lang="en-US" sz="1600" dirty="0"/>
          </a:p>
        </p:txBody>
      </p:sp>
      <p:pic>
        <p:nvPicPr>
          <p:cNvPr id="4" name="Picture 1" descr="ISE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643675" y="219456"/>
            <a:ext cx="1133797" cy="825119"/>
          </a:xfrm>
          <a:prstGeom prst="rect">
            <a:avLst/>
          </a:prstGeom>
        </p:spPr>
      </p:pic>
      <p:sp>
        <p:nvSpPr>
          <p:cNvPr id="11" name="TextBox 20"/>
          <p:cNvSpPr txBox="1"/>
          <p:nvPr/>
        </p:nvSpPr>
        <p:spPr>
          <a:xfrm>
            <a:off x="8380000" y="260000"/>
            <a:ext cx="2300000" cy="3200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sz="1200" b="0" dirty="0" err="1">
                <a:solidFill>
                  <a:srgbClr val="5C6B7C"/>
                </a:solidFill>
                <a:latin typeface="微软雅黑" panose="020B0503020204020204" charset="-122"/>
              </a:rPr>
              <a:t>汇报人：郑智瑄</a:t>
            </a:r>
            <a:endParaRPr sz="1200" b="0" dirty="0">
              <a:solidFill>
                <a:srgbClr val="5C6B7C"/>
              </a:solidFill>
              <a:latin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0" y="18288"/>
            <a:ext cx="12191695" cy="0"/>
          </a:xfrm>
          <a:prstGeom prst="line">
            <a:avLst/>
          </a:prstGeom>
          <a:noFill/>
          <a:ln w="8890">
            <a:solidFill>
              <a:srgbClr val="E5EAF2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566928" y="644499"/>
            <a:ext cx="6309360" cy="40233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3B82F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三层边界：从关键词到设计责任</a:t>
            </a:r>
            <a:endParaRPr lang="en-US" sz="3200" dirty="0">
              <a:solidFill>
                <a:srgbClr val="3B82F6"/>
              </a:solidFill>
            </a:endParaRPr>
          </a:p>
        </p:txBody>
      </p:sp>
      <p:sp>
        <p:nvSpPr>
          <p:cNvPr id="7" name="Text 4"/>
          <p:cNvSpPr/>
          <p:nvPr/>
        </p:nvSpPr>
        <p:spPr>
          <a:xfrm>
            <a:off x="555726" y="1812559"/>
            <a:ext cx="10241280" cy="1348286"/>
          </a:xfrm>
          <a:prstGeom prst="roundRect">
            <a:avLst>
              <a:gd name="adj" fmla="val 8421"/>
            </a:avLst>
          </a:prstGeom>
          <a:solidFill>
            <a:srgbClr val="EAF2FF"/>
          </a:solidFill>
          <a:ln w="12700">
            <a:solidFill>
              <a:srgbClr val="CADDFE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1F23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边界不在“宫崎骏”三个字上，</a:t>
            </a:r>
            <a:endParaRPr lang="en-US" sz="3200" dirty="0"/>
          </a:p>
          <a:p>
            <a:pPr marL="0" indent="0" algn="ctr">
              <a:buNone/>
            </a:pPr>
            <a:r>
              <a:rPr lang="en-US" sz="3200" b="1" dirty="0">
                <a:solidFill>
                  <a:srgbClr val="1F23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而在请求是否复刻一个</a:t>
            </a:r>
            <a:r>
              <a:rPr lang="en-US" sz="3200" b="1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可识别的表达系统</a:t>
            </a:r>
            <a:r>
              <a:rPr lang="en-US" sz="2400" b="1" dirty="0">
                <a:solidFill>
                  <a:srgbClr val="1F23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。</a:t>
            </a:r>
            <a:endParaRPr lang="en-US" sz="2400" dirty="0"/>
          </a:p>
        </p:txBody>
      </p:sp>
      <p:sp>
        <p:nvSpPr>
          <p:cNvPr id="8" name="Shape 5"/>
          <p:cNvSpPr/>
          <p:nvPr/>
        </p:nvSpPr>
        <p:spPr>
          <a:xfrm>
            <a:off x="3255824" y="4240584"/>
            <a:ext cx="1161288" cy="0"/>
          </a:xfrm>
          <a:prstGeom prst="line">
            <a:avLst/>
          </a:prstGeom>
          <a:noFill/>
          <a:ln w="25400">
            <a:solidFill>
              <a:srgbClr val="D7DCE5"/>
            </a:solidFill>
            <a:prstDash val="solid"/>
            <a:headEnd type="none"/>
            <a:tailEnd type="triangle"/>
          </a:ln>
        </p:spPr>
      </p:sp>
      <p:sp>
        <p:nvSpPr>
          <p:cNvPr id="9" name="Shape 6"/>
          <p:cNvSpPr/>
          <p:nvPr/>
        </p:nvSpPr>
        <p:spPr>
          <a:xfrm>
            <a:off x="6614844" y="4191132"/>
            <a:ext cx="1161288" cy="0"/>
          </a:xfrm>
          <a:prstGeom prst="line">
            <a:avLst/>
          </a:prstGeom>
          <a:noFill/>
          <a:ln w="25400">
            <a:solidFill>
              <a:srgbClr val="D7DCE5"/>
            </a:solidFill>
            <a:prstDash val="solid"/>
            <a:headEnd type="none"/>
            <a:tailEnd type="triangle"/>
          </a:ln>
        </p:spPr>
      </p:sp>
      <p:sp>
        <p:nvSpPr>
          <p:cNvPr id="10" name="Text 7"/>
          <p:cNvSpPr/>
          <p:nvPr/>
        </p:nvSpPr>
        <p:spPr>
          <a:xfrm>
            <a:off x="896112" y="3474914"/>
            <a:ext cx="278892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3B82F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输入层</a:t>
            </a:r>
            <a:endParaRPr lang="en-US" sz="2800" dirty="0"/>
          </a:p>
        </p:txBody>
      </p:sp>
      <p:sp>
        <p:nvSpPr>
          <p:cNvPr id="11" name="Text 8"/>
          <p:cNvSpPr/>
          <p:nvPr/>
        </p:nvSpPr>
        <p:spPr>
          <a:xfrm>
            <a:off x="1499616" y="4026540"/>
            <a:ext cx="1572768" cy="329184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 w="16510">
            <a:solidFill>
              <a:srgbClr val="3B82F6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3B82F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拦关键词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896112" y="4480754"/>
            <a:ext cx="2788920" cy="694944"/>
          </a:xfrm>
          <a:prstGeom prst="rect">
            <a:avLst/>
          </a:prstGeom>
          <a:noFill/>
        </p:spPr>
        <p:txBody>
          <a:bodyPr wrap="square" lIns="762" tIns="762" rIns="762" bIns="762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1F23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识别“宫崎骏”“吉卜力”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dirty="0">
                <a:solidFill>
                  <a:srgbClr val="1F23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等</a:t>
            </a:r>
            <a:r>
              <a:rPr lang="en-US" sz="1600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显性</a:t>
            </a:r>
            <a:r>
              <a:rPr lang="en-US" sz="1600" dirty="0">
                <a:solidFill>
                  <a:srgbClr val="1F23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艺术家 / 工作室</a:t>
            </a:r>
            <a:r>
              <a:rPr lang="en-US" sz="1600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请求</a:t>
            </a:r>
            <a:endParaRPr lang="en-US" sz="1600" dirty="0">
              <a:solidFill>
                <a:srgbClr val="FF0000"/>
              </a:solidFill>
            </a:endParaRPr>
          </a:p>
        </p:txBody>
      </p:sp>
      <p:sp>
        <p:nvSpPr>
          <p:cNvPr id="13" name="Text 10"/>
          <p:cNvSpPr/>
          <p:nvPr/>
        </p:nvSpPr>
        <p:spPr>
          <a:xfrm>
            <a:off x="4160520" y="3474914"/>
            <a:ext cx="278892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22A55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中间层</a:t>
            </a:r>
            <a:endParaRPr lang="en-US" sz="2800" dirty="0"/>
          </a:p>
        </p:txBody>
      </p:sp>
      <p:sp>
        <p:nvSpPr>
          <p:cNvPr id="14" name="Text 11"/>
          <p:cNvSpPr/>
          <p:nvPr/>
        </p:nvSpPr>
        <p:spPr>
          <a:xfrm>
            <a:off x="4764024" y="4026540"/>
            <a:ext cx="1572768" cy="329184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 w="16510">
            <a:solidFill>
              <a:srgbClr val="22A55A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2A55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语义改写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4160520" y="4535431"/>
            <a:ext cx="2788920" cy="694944"/>
          </a:xfrm>
          <a:prstGeom prst="rect">
            <a:avLst/>
          </a:prstGeom>
          <a:noFill/>
        </p:spPr>
        <p:txBody>
          <a:bodyPr wrap="square" lIns="762" tIns="762" rIns="762" bIns="762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1F23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判断是否在</a:t>
            </a:r>
            <a:r>
              <a:rPr lang="en-US" sz="1600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隐性复刻风格系统</a:t>
            </a:r>
            <a:endParaRPr lang="en-US" sz="1600" dirty="0">
              <a:solidFill>
                <a:srgbClr val="FF0000"/>
              </a:solidFill>
            </a:endParaRPr>
          </a:p>
          <a:p>
            <a:pPr marL="0" indent="0" algn="ctr">
              <a:buNone/>
            </a:pPr>
            <a:r>
              <a:rPr lang="en-US" sz="1600" dirty="0">
                <a:solidFill>
                  <a:srgbClr val="1F23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并引导回原创方向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7434072" y="3474914"/>
            <a:ext cx="278892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5B7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输出层</a:t>
            </a:r>
            <a:endParaRPr lang="en-US" sz="2800" dirty="0"/>
          </a:p>
        </p:txBody>
      </p:sp>
      <p:sp>
        <p:nvSpPr>
          <p:cNvPr id="17" name="Text 14"/>
          <p:cNvSpPr/>
          <p:nvPr/>
        </p:nvSpPr>
        <p:spPr>
          <a:xfrm>
            <a:off x="8054184" y="3979327"/>
            <a:ext cx="1572768" cy="329184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 w="16510">
            <a:solidFill>
              <a:srgbClr val="F5B700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5B7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筛结果</a:t>
            </a:r>
            <a:endParaRPr lang="en-US" sz="1600" dirty="0"/>
          </a:p>
        </p:txBody>
      </p:sp>
      <p:sp>
        <p:nvSpPr>
          <p:cNvPr id="18" name="Text 15"/>
          <p:cNvSpPr/>
          <p:nvPr/>
        </p:nvSpPr>
        <p:spPr>
          <a:xfrm>
            <a:off x="7434072" y="4480754"/>
            <a:ext cx="2788920" cy="694944"/>
          </a:xfrm>
          <a:prstGeom prst="rect">
            <a:avLst/>
          </a:prstGeom>
          <a:noFill/>
        </p:spPr>
        <p:txBody>
          <a:bodyPr wrap="square" lIns="762" tIns="762" rIns="762" bIns="762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1F23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检查生成图是否</a:t>
            </a:r>
            <a:r>
              <a:rPr lang="en-US" sz="1600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过度接近</a:t>
            </a:r>
            <a:endParaRPr lang="en-US" sz="1600" dirty="0">
              <a:solidFill>
                <a:srgbClr val="FF0000"/>
              </a:solidFill>
            </a:endParaRPr>
          </a:p>
          <a:p>
            <a:pPr marL="0" indent="0" algn="ctr">
              <a:buNone/>
            </a:pPr>
            <a:r>
              <a:rPr lang="en-US" sz="1600" dirty="0">
                <a:solidFill>
                  <a:srgbClr val="1F23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已有角色、海报或镜头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1417320" y="5489767"/>
            <a:ext cx="9235440" cy="4754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dirty="0">
                <a:solidFill>
                  <a:srgbClr val="5F66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负责任的模型设计，不是帮用户</a:t>
            </a:r>
            <a:r>
              <a:rPr lang="en-US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绕开版权词</a:t>
            </a:r>
            <a:r>
              <a:rPr lang="en-US" dirty="0">
                <a:solidFill>
                  <a:srgbClr val="5F66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，</a:t>
            </a:r>
            <a:endParaRPr lang="en-US" dirty="0"/>
          </a:p>
          <a:p>
            <a:pPr marL="0" indent="0" algn="ctr">
              <a:buNone/>
            </a:pPr>
            <a:r>
              <a:rPr lang="en-US" dirty="0">
                <a:solidFill>
                  <a:srgbClr val="5F66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而是把</a:t>
            </a:r>
            <a:r>
              <a:rPr lang="en-US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“模仿某个人”</a:t>
            </a:r>
            <a:r>
              <a:rPr lang="en-US" dirty="0">
                <a:solidFill>
                  <a:srgbClr val="5F66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重新引导为</a:t>
            </a:r>
            <a:r>
              <a:rPr lang="en-US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“生成原创作品”</a:t>
            </a:r>
            <a:r>
              <a:rPr lang="en-US" dirty="0">
                <a:solidFill>
                  <a:srgbClr val="5F66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。</a:t>
            </a:r>
            <a:endParaRPr lang="en-US" dirty="0"/>
          </a:p>
        </p:txBody>
      </p:sp>
      <p:sp>
        <p:nvSpPr>
          <p:cNvPr id="22" name="Shape 19"/>
          <p:cNvSpPr/>
          <p:nvPr/>
        </p:nvSpPr>
        <p:spPr>
          <a:xfrm>
            <a:off x="0" y="6291072"/>
            <a:ext cx="12191695" cy="0"/>
          </a:xfrm>
          <a:prstGeom prst="line">
            <a:avLst/>
          </a:prstGeom>
          <a:noFill/>
          <a:ln w="27940">
            <a:solidFill>
              <a:srgbClr val="064D8F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0" y="6291072"/>
            <a:ext cx="3047924" cy="566928"/>
          </a:xfrm>
          <a:prstGeom prst="rect">
            <a:avLst/>
          </a:prstGeom>
          <a:solidFill>
            <a:srgbClr val="E8EEF6"/>
          </a:solidFill>
          <a:ln w="10160">
            <a:solidFill>
              <a:srgbClr val="D7DEE8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5C6B7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1  训练数据</a:t>
            </a:r>
            <a:endParaRPr lang="en-US" sz="1400" dirty="0"/>
          </a:p>
        </p:txBody>
      </p:sp>
      <p:sp>
        <p:nvSpPr>
          <p:cNvPr id="24" name="Text 21"/>
          <p:cNvSpPr/>
          <p:nvPr/>
        </p:nvSpPr>
        <p:spPr>
          <a:xfrm>
            <a:off x="3047924" y="6291072"/>
            <a:ext cx="3047924" cy="566928"/>
          </a:xfrm>
          <a:prstGeom prst="rect">
            <a:avLst/>
          </a:prstGeom>
          <a:solidFill>
            <a:srgbClr val="064D8F"/>
          </a:solidFill>
          <a:ln w="10160">
            <a:solidFill>
              <a:srgbClr val="064D8F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2  模型设计</a:t>
            </a:r>
            <a:endParaRPr lang="en-US" sz="1400" dirty="0"/>
          </a:p>
        </p:txBody>
      </p:sp>
      <p:sp>
        <p:nvSpPr>
          <p:cNvPr id="25" name="Text 22"/>
          <p:cNvSpPr/>
          <p:nvPr/>
        </p:nvSpPr>
        <p:spPr>
          <a:xfrm>
            <a:off x="6095848" y="6291072"/>
            <a:ext cx="3047924" cy="566928"/>
          </a:xfrm>
          <a:prstGeom prst="rect">
            <a:avLst/>
          </a:prstGeom>
          <a:solidFill>
            <a:srgbClr val="E8EEF6"/>
          </a:solidFill>
          <a:ln w="10160">
            <a:solidFill>
              <a:srgbClr val="D7DEE8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5C6B7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3  输出控制</a:t>
            </a:r>
            <a:endParaRPr lang="en-US" sz="1400" dirty="0"/>
          </a:p>
        </p:txBody>
      </p:sp>
      <p:sp>
        <p:nvSpPr>
          <p:cNvPr id="26" name="Text 23"/>
          <p:cNvSpPr/>
          <p:nvPr/>
        </p:nvSpPr>
        <p:spPr>
          <a:xfrm>
            <a:off x="9143771" y="6291072"/>
            <a:ext cx="3047924" cy="566928"/>
          </a:xfrm>
          <a:prstGeom prst="rect">
            <a:avLst/>
          </a:prstGeom>
          <a:solidFill>
            <a:srgbClr val="E8EEF6"/>
          </a:solidFill>
          <a:ln w="10160">
            <a:solidFill>
              <a:srgbClr val="D7DEE8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5C6B7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4  反馈迭代</a:t>
            </a:r>
            <a:endParaRPr lang="en-US" sz="1400" dirty="0"/>
          </a:p>
        </p:txBody>
      </p:sp>
      <p:sp>
        <p:nvSpPr>
          <p:cNvPr id="2" name="Text 4"/>
          <p:cNvSpPr/>
          <p:nvPr/>
        </p:nvSpPr>
        <p:spPr>
          <a:xfrm>
            <a:off x="544493" y="1103478"/>
            <a:ext cx="10011829" cy="70511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altLang="en-US" b="1" dirty="0">
                <a:solidFill>
                  <a:srgbClr val="5F66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一组技术性描述如果指向某个具体创作者，本质上还是</a:t>
            </a:r>
            <a:r>
              <a:rPr lang="zh-CN" altLang="en-US" b="1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隐形模仿</a:t>
            </a:r>
            <a:r>
              <a:rPr lang="en-US" altLang="zh-CN" b="1" dirty="0">
                <a:solidFill>
                  <a:srgbClr val="5F66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-</a:t>
            </a:r>
            <a:r>
              <a:rPr lang="zh-CN" altLang="en-US" b="1" dirty="0">
                <a:solidFill>
                  <a:srgbClr val="5F66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只是把模仿藏进了技术层面</a:t>
            </a:r>
            <a:endParaRPr lang="en-US" b="1" dirty="0">
              <a:latin typeface="+mj-lt"/>
            </a:endParaRPr>
          </a:p>
        </p:txBody>
      </p:sp>
      <p:pic>
        <p:nvPicPr>
          <p:cNvPr id="4" name="Picture 1" descr="ISE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43675" y="219456"/>
            <a:ext cx="1133797" cy="825119"/>
          </a:xfrm>
          <a:prstGeom prst="rect">
            <a:avLst/>
          </a:prstGeom>
        </p:spPr>
      </p:pic>
      <p:sp>
        <p:nvSpPr>
          <p:cNvPr id="6" name="TextBox 20"/>
          <p:cNvSpPr txBox="1"/>
          <p:nvPr/>
        </p:nvSpPr>
        <p:spPr>
          <a:xfrm>
            <a:off x="8380000" y="260000"/>
            <a:ext cx="2300000" cy="3200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sz="1200" b="0" dirty="0" err="1">
                <a:solidFill>
                  <a:srgbClr val="5C6B7C"/>
                </a:solidFill>
                <a:latin typeface="微软雅黑" panose="020B0503020204020204" charset="-122"/>
              </a:rPr>
              <a:t>汇报人：郑智瑄</a:t>
            </a:r>
            <a:endParaRPr sz="1200" b="0" dirty="0">
              <a:solidFill>
                <a:srgbClr val="5C6B7C"/>
              </a:solidFill>
              <a:latin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Connector 1"/>
          <p:cNvCxnSpPr/>
          <p:nvPr/>
        </p:nvCxnSpPr>
        <p:spPr>
          <a:xfrm>
            <a:off x="0" y="19050"/>
            <a:ext cx="12191695" cy="0"/>
          </a:xfrm>
          <a:prstGeom prst="line">
            <a:avLst/>
          </a:prstGeom>
          <a:ln w="8890">
            <a:solidFill>
              <a:srgbClr val="DDE3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283464" y="484632"/>
            <a:ext cx="8961120" cy="50292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2700" b="1">
                <a:solidFill>
                  <a:srgbClr val="2F78FF"/>
                </a:solidFill>
                <a:latin typeface="微软雅黑" panose="020B0503020204020204" charset="-122"/>
              </a:rPr>
              <a:t>输出控制：AI 图片该不该自带“身份证”？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74320" y="1133856"/>
            <a:ext cx="9875520" cy="332399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b="1" dirty="0">
                <a:solidFill>
                  <a:srgbClr val="5E6675"/>
                </a:solidFill>
                <a:latin typeface="微软雅黑" panose="020B0503020204020204" charset="-122"/>
              </a:rPr>
              <a:t>核心不是“</a:t>
            </a:r>
            <a:r>
              <a:rPr b="1" dirty="0" err="1">
                <a:solidFill>
                  <a:srgbClr val="5E6675"/>
                </a:solidFill>
                <a:latin typeface="微软雅黑" panose="020B0503020204020204" charset="-122"/>
              </a:rPr>
              <a:t>能不能生成</a:t>
            </a:r>
            <a:r>
              <a:rPr b="1" dirty="0">
                <a:solidFill>
                  <a:srgbClr val="5E6675"/>
                </a:solidFill>
                <a:latin typeface="微软雅黑" panose="020B0503020204020204" charset="-122"/>
              </a:rPr>
              <a:t>”，</a:t>
            </a:r>
            <a:r>
              <a:rPr b="1" dirty="0" err="1">
                <a:solidFill>
                  <a:srgbClr val="5E6675"/>
                </a:solidFill>
                <a:latin typeface="微软雅黑" panose="020B0503020204020204" charset="-122"/>
              </a:rPr>
              <a:t>而是进入传播链后能否</a:t>
            </a:r>
            <a:r>
              <a:rPr b="1" dirty="0" err="1">
                <a:solidFill>
                  <a:srgbClr val="FF0000"/>
                </a:solidFill>
                <a:latin typeface="微软雅黑" panose="020B0503020204020204" charset="-122"/>
              </a:rPr>
              <a:t>证明来源</a:t>
            </a:r>
            <a:r>
              <a:rPr b="1" dirty="0">
                <a:solidFill>
                  <a:srgbClr val="5E6675"/>
                </a:solidFill>
                <a:latin typeface="微软雅黑" panose="020B0503020204020204" charset="-122"/>
              </a:rPr>
              <a:t>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83464" y="1783080"/>
            <a:ext cx="6364224" cy="960120"/>
          </a:xfrm>
          <a:prstGeom prst="roundRect">
            <a:avLst/>
          </a:prstGeom>
          <a:solidFill>
            <a:srgbClr val="EDF4FD"/>
          </a:solidFill>
          <a:ln w="12700">
            <a:solidFill>
              <a:srgbClr val="C7D9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347473" y="2061432"/>
            <a:ext cx="6181344" cy="370871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/>
            <a:r>
              <a:rPr sz="2000" b="1" dirty="0" err="1">
                <a:solidFill>
                  <a:srgbClr val="202733"/>
                </a:solidFill>
                <a:latin typeface="微软雅黑" panose="020B0503020204020204" charset="-122"/>
              </a:rPr>
              <a:t>工程决策点：</a:t>
            </a:r>
            <a:r>
              <a:rPr sz="2000" b="1" dirty="0" err="1">
                <a:solidFill>
                  <a:srgbClr val="FF0000"/>
                </a:solidFill>
                <a:latin typeface="微软雅黑" panose="020B0503020204020204" charset="-122"/>
              </a:rPr>
              <a:t>默认加入可识别、可验证、可追溯机制</a:t>
            </a:r>
            <a:endParaRPr sz="2000" b="1" dirty="0">
              <a:solidFill>
                <a:srgbClr val="FF0000"/>
              </a:solidFill>
              <a:latin typeface="微软雅黑" panose="020B0503020204020204" charset="-122"/>
            </a:endParaRPr>
          </a:p>
        </p:txBody>
      </p:sp>
      <p:sp>
        <p:nvSpPr>
          <p:cNvPr id="17" name="Rounded Rectangle 16"/>
          <p:cNvSpPr/>
          <p:nvPr/>
        </p:nvSpPr>
        <p:spPr>
          <a:xfrm>
            <a:off x="658368" y="3273552"/>
            <a:ext cx="1060704" cy="530352"/>
          </a:xfrm>
          <a:prstGeom prst="roundRect">
            <a:avLst/>
          </a:prstGeom>
          <a:solidFill>
            <a:srgbClr val="FFFFFF"/>
          </a:solidFill>
          <a:ln w="16510">
            <a:solidFill>
              <a:srgbClr val="2F7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00"/>
          </a:p>
        </p:txBody>
      </p:sp>
      <p:sp>
        <p:nvSpPr>
          <p:cNvPr id="18" name="TextBox 17"/>
          <p:cNvSpPr txBox="1"/>
          <p:nvPr/>
        </p:nvSpPr>
        <p:spPr>
          <a:xfrm>
            <a:off x="658368" y="3419856"/>
            <a:ext cx="1060704" cy="301621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/>
            <a:r>
              <a:rPr sz="1600" b="1">
                <a:solidFill>
                  <a:srgbClr val="2F78FF"/>
                </a:solidFill>
                <a:latin typeface="微软雅黑" panose="020B0503020204020204" charset="-122"/>
              </a:rPr>
              <a:t>生成图片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1737360" y="3538728"/>
            <a:ext cx="137159" cy="0"/>
          </a:xfrm>
          <a:prstGeom prst="line">
            <a:avLst/>
          </a:prstGeom>
          <a:ln w="17780">
            <a:solidFill>
              <a:srgbClr val="D4DA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1892807" y="3273552"/>
            <a:ext cx="1060704" cy="530352"/>
          </a:xfrm>
          <a:prstGeom prst="roundRect">
            <a:avLst/>
          </a:prstGeom>
          <a:solidFill>
            <a:srgbClr val="FFFFFF"/>
          </a:solidFill>
          <a:ln w="16510">
            <a:solidFill>
              <a:srgbClr val="2F7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00"/>
          </a:p>
        </p:txBody>
      </p:sp>
      <p:sp>
        <p:nvSpPr>
          <p:cNvPr id="21" name="TextBox 20"/>
          <p:cNvSpPr txBox="1"/>
          <p:nvPr/>
        </p:nvSpPr>
        <p:spPr>
          <a:xfrm>
            <a:off x="1892807" y="3419856"/>
            <a:ext cx="1060704" cy="301621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/>
            <a:r>
              <a:rPr sz="1600" b="1" dirty="0" err="1">
                <a:solidFill>
                  <a:srgbClr val="2F78FF"/>
                </a:solidFill>
                <a:latin typeface="微软雅黑" panose="020B0503020204020204" charset="-122"/>
              </a:rPr>
              <a:t>下载</a:t>
            </a:r>
            <a:r>
              <a:rPr sz="1600" b="1" dirty="0">
                <a:solidFill>
                  <a:srgbClr val="2F78FF"/>
                </a:solidFill>
                <a:latin typeface="微软雅黑" panose="020B0503020204020204" charset="-122"/>
              </a:rPr>
              <a:t>/</a:t>
            </a:r>
            <a:r>
              <a:rPr sz="1600" b="1" dirty="0" err="1">
                <a:solidFill>
                  <a:srgbClr val="2F78FF"/>
                </a:solidFill>
                <a:latin typeface="微软雅黑" panose="020B0503020204020204" charset="-122"/>
              </a:rPr>
              <a:t>分享</a:t>
            </a:r>
            <a:endParaRPr sz="1600" b="1" dirty="0">
              <a:solidFill>
                <a:srgbClr val="2F78FF"/>
              </a:solidFill>
              <a:latin typeface="微软雅黑" panose="020B0503020204020204" charset="-122"/>
            </a:endParaRPr>
          </a:p>
        </p:txBody>
      </p:sp>
      <p:cxnSp>
        <p:nvCxnSpPr>
          <p:cNvPr id="22" name="Connector 21"/>
          <p:cNvCxnSpPr/>
          <p:nvPr/>
        </p:nvCxnSpPr>
        <p:spPr>
          <a:xfrm>
            <a:off x="2971799" y="3538728"/>
            <a:ext cx="137160" cy="0"/>
          </a:xfrm>
          <a:prstGeom prst="line">
            <a:avLst/>
          </a:prstGeom>
          <a:ln w="17780">
            <a:solidFill>
              <a:srgbClr val="D4DA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22"/>
          <p:cNvSpPr/>
          <p:nvPr/>
        </p:nvSpPr>
        <p:spPr>
          <a:xfrm>
            <a:off x="3127248" y="3273552"/>
            <a:ext cx="1060704" cy="530352"/>
          </a:xfrm>
          <a:prstGeom prst="roundRect">
            <a:avLst/>
          </a:prstGeom>
          <a:solidFill>
            <a:srgbClr val="FFFFFF"/>
          </a:solidFill>
          <a:ln w="16510">
            <a:solidFill>
              <a:srgbClr val="22A6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00"/>
          </a:p>
        </p:txBody>
      </p:sp>
      <p:sp>
        <p:nvSpPr>
          <p:cNvPr id="24" name="TextBox 23"/>
          <p:cNvSpPr txBox="1"/>
          <p:nvPr/>
        </p:nvSpPr>
        <p:spPr>
          <a:xfrm>
            <a:off x="3127248" y="3419856"/>
            <a:ext cx="1060704" cy="301621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/>
            <a:r>
              <a:rPr sz="1600" b="1">
                <a:solidFill>
                  <a:srgbClr val="22A65A"/>
                </a:solidFill>
                <a:latin typeface="微软雅黑" panose="020B0503020204020204" charset="-122"/>
              </a:rPr>
              <a:t>平台传播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4206240" y="3538728"/>
            <a:ext cx="137160" cy="0"/>
          </a:xfrm>
          <a:prstGeom prst="line">
            <a:avLst/>
          </a:prstGeom>
          <a:ln w="17780">
            <a:solidFill>
              <a:srgbClr val="D4DA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ounded Rectangle 25"/>
          <p:cNvSpPr/>
          <p:nvPr/>
        </p:nvSpPr>
        <p:spPr>
          <a:xfrm>
            <a:off x="4361688" y="3273552"/>
            <a:ext cx="1060704" cy="530352"/>
          </a:xfrm>
          <a:prstGeom prst="roundRect">
            <a:avLst/>
          </a:prstGeom>
          <a:solidFill>
            <a:srgbClr val="FFFFFF"/>
          </a:solidFill>
          <a:ln w="16510">
            <a:solidFill>
              <a:srgbClr val="F0B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00"/>
          </a:p>
        </p:txBody>
      </p:sp>
      <p:sp>
        <p:nvSpPr>
          <p:cNvPr id="27" name="TextBox 26"/>
          <p:cNvSpPr txBox="1"/>
          <p:nvPr/>
        </p:nvSpPr>
        <p:spPr>
          <a:xfrm>
            <a:off x="4361688" y="3419856"/>
            <a:ext cx="1060704" cy="301621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/>
            <a:r>
              <a:rPr sz="1600" b="1">
                <a:solidFill>
                  <a:srgbClr val="F0B000"/>
                </a:solidFill>
                <a:latin typeface="微软雅黑" panose="020B0503020204020204" charset="-122"/>
              </a:rPr>
              <a:t>二次编辑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5440679" y="3538728"/>
            <a:ext cx="137161" cy="0"/>
          </a:xfrm>
          <a:prstGeom prst="line">
            <a:avLst/>
          </a:prstGeom>
          <a:ln w="17780">
            <a:solidFill>
              <a:srgbClr val="D4DA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ounded Rectangle 28"/>
          <p:cNvSpPr/>
          <p:nvPr/>
        </p:nvSpPr>
        <p:spPr>
          <a:xfrm>
            <a:off x="5596127" y="3273552"/>
            <a:ext cx="1060704" cy="530352"/>
          </a:xfrm>
          <a:prstGeom prst="roundRect">
            <a:avLst/>
          </a:prstGeom>
          <a:solidFill>
            <a:srgbClr val="FFFFFF"/>
          </a:solidFill>
          <a:ln w="16510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00"/>
          </a:p>
        </p:txBody>
      </p:sp>
      <p:sp>
        <p:nvSpPr>
          <p:cNvPr id="30" name="TextBox 29"/>
          <p:cNvSpPr txBox="1"/>
          <p:nvPr/>
        </p:nvSpPr>
        <p:spPr>
          <a:xfrm>
            <a:off x="5596127" y="3419856"/>
            <a:ext cx="1060704" cy="301621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/>
            <a:r>
              <a:rPr sz="1600" b="1">
                <a:solidFill>
                  <a:srgbClr val="FF0000"/>
                </a:solidFill>
                <a:latin typeface="微软雅黑" panose="020B0503020204020204" charset="-122"/>
              </a:rPr>
              <a:t>公众判断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48640" y="4206240"/>
            <a:ext cx="1371600" cy="301621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/>
            <a:r>
              <a:rPr sz="1600" b="1">
                <a:solidFill>
                  <a:srgbClr val="2F78FF"/>
                </a:solidFill>
                <a:latin typeface="微软雅黑" panose="020B0503020204020204" charset="-122"/>
              </a:rPr>
              <a:t>用户要干净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560320" y="4206240"/>
            <a:ext cx="1371600" cy="301621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/>
            <a:r>
              <a:rPr sz="1600" b="1">
                <a:solidFill>
                  <a:srgbClr val="FF0000"/>
                </a:solidFill>
                <a:latin typeface="微软雅黑" panose="020B0503020204020204" charset="-122"/>
              </a:rPr>
              <a:t>平台要追责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90288" y="4206240"/>
            <a:ext cx="1371600" cy="301621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/>
            <a:r>
              <a:rPr sz="1600" b="1">
                <a:solidFill>
                  <a:srgbClr val="22A65A"/>
                </a:solidFill>
                <a:latin typeface="微软雅黑" panose="020B0503020204020204" charset="-122"/>
              </a:rPr>
              <a:t>社会要识别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66928" y="4818888"/>
            <a:ext cx="6080760" cy="493776"/>
          </a:xfrm>
          <a:prstGeom prst="roundRect">
            <a:avLst/>
          </a:prstGeom>
          <a:solidFill>
            <a:srgbClr val="F7FAFF"/>
          </a:solidFill>
          <a:ln w="10160">
            <a:solidFill>
              <a:srgbClr val="DDE7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00"/>
          </a:p>
        </p:txBody>
      </p:sp>
      <p:sp>
        <p:nvSpPr>
          <p:cNvPr id="35" name="TextBox 34"/>
          <p:cNvSpPr txBox="1"/>
          <p:nvPr/>
        </p:nvSpPr>
        <p:spPr>
          <a:xfrm>
            <a:off x="731520" y="4956048"/>
            <a:ext cx="5760720" cy="301621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/>
            <a:r>
              <a:rPr sz="1600" b="1">
                <a:solidFill>
                  <a:srgbClr val="5E6675"/>
                </a:solidFill>
                <a:latin typeface="微软雅黑" panose="020B0503020204020204" charset="-122"/>
              </a:rPr>
              <a:t>伦理取向：</a:t>
            </a:r>
            <a:r>
              <a:rPr sz="1600" b="1">
                <a:solidFill>
                  <a:srgbClr val="FF0000"/>
                </a:solidFill>
                <a:latin typeface="微软雅黑" panose="020B0503020204020204" charset="-122"/>
              </a:rPr>
              <a:t>把责任前置到产品流程，</a:t>
            </a:r>
            <a:r>
              <a:rPr sz="1600" b="1">
                <a:solidFill>
                  <a:srgbClr val="5E6675"/>
                </a:solidFill>
                <a:latin typeface="微软雅黑" panose="020B0503020204020204" charset="-122"/>
              </a:rPr>
              <a:t>而不是交给用户事后辨别。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6876288" y="1417320"/>
            <a:ext cx="0" cy="4050792"/>
          </a:xfrm>
          <a:prstGeom prst="line">
            <a:avLst/>
          </a:prstGeom>
          <a:ln w="12700">
            <a:solidFill>
              <a:srgbClr val="D9DE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TextBox 37"/>
          <p:cNvSpPr txBox="1"/>
          <p:nvPr/>
        </p:nvSpPr>
        <p:spPr>
          <a:xfrm>
            <a:off x="7287768" y="5376672"/>
            <a:ext cx="4297680" cy="32004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/>
            <a:r>
              <a:rPr sz="1350" b="1" dirty="0" err="1">
                <a:solidFill>
                  <a:srgbClr val="5E6675"/>
                </a:solidFill>
                <a:latin typeface="微软雅黑" panose="020B0503020204020204" charset="-122"/>
              </a:rPr>
              <a:t>示例生成图进入传播链后，需要可识别标识</a:t>
            </a:r>
            <a:endParaRPr sz="1350" b="1" dirty="0">
              <a:solidFill>
                <a:srgbClr val="5E6675"/>
              </a:solidFill>
              <a:latin typeface="微软雅黑" panose="020B0503020204020204" charset="-122"/>
            </a:endParaRPr>
          </a:p>
        </p:txBody>
      </p:sp>
      <p:sp>
        <p:nvSpPr>
          <p:cNvPr id="39" name="TextBox 38"/>
          <p:cNvSpPr txBox="1"/>
          <p:nvPr/>
        </p:nvSpPr>
        <p:spPr>
          <a:xfrm>
            <a:off x="7287768" y="5669279"/>
            <a:ext cx="4297680" cy="38404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/>
            <a:r>
              <a:rPr sz="1500" b="0" dirty="0" err="1">
                <a:solidFill>
                  <a:srgbClr val="5E6675"/>
                </a:solidFill>
                <a:latin typeface="微软雅黑" panose="020B0503020204020204" charset="-122"/>
              </a:rPr>
              <a:t>输出控制</a:t>
            </a:r>
            <a:r>
              <a:rPr sz="1500" b="0" dirty="0">
                <a:solidFill>
                  <a:srgbClr val="5E6675"/>
                </a:solidFill>
                <a:latin typeface="微软雅黑" panose="020B0503020204020204" charset="-122"/>
              </a:rPr>
              <a:t> = </a:t>
            </a:r>
            <a:r>
              <a:rPr sz="1500" b="1" dirty="0" err="1">
                <a:solidFill>
                  <a:srgbClr val="FF0000"/>
                </a:solidFill>
                <a:latin typeface="微软雅黑" panose="020B0503020204020204" charset="-122"/>
              </a:rPr>
              <a:t>产品默认值</a:t>
            </a:r>
            <a:r>
              <a:rPr sz="1500" b="0" dirty="0" err="1">
                <a:solidFill>
                  <a:srgbClr val="5E6675"/>
                </a:solidFill>
                <a:latin typeface="微软雅黑" panose="020B0503020204020204" charset="-122"/>
              </a:rPr>
              <a:t>里的伦理选择</a:t>
            </a:r>
            <a:endParaRPr sz="1500" b="0" dirty="0">
              <a:solidFill>
                <a:srgbClr val="5E6675"/>
              </a:solidFill>
              <a:latin typeface="微软雅黑" panose="020B0503020204020204" charset="-122"/>
            </a:endParaRPr>
          </a:p>
        </p:txBody>
      </p:sp>
      <p:pic>
        <p:nvPicPr>
          <p:cNvPr id="4" name="Picture 1" descr="ISE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43675" y="219456"/>
            <a:ext cx="1133797" cy="825119"/>
          </a:xfrm>
          <a:prstGeom prst="rect">
            <a:avLst/>
          </a:prstGeom>
        </p:spPr>
      </p:pic>
      <p:cxnSp>
        <p:nvCxnSpPr>
          <p:cNvPr id="37" name="Connector 41"/>
          <p:cNvCxnSpPr/>
          <p:nvPr/>
        </p:nvCxnSpPr>
        <p:spPr>
          <a:xfrm>
            <a:off x="152" y="6282059"/>
            <a:ext cx="12192000" cy="0"/>
          </a:xfrm>
          <a:prstGeom prst="line">
            <a:avLst/>
          </a:prstGeom>
          <a:ln w="6350">
            <a:solidFill>
              <a:srgbClr val="D7DE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Rectangle 42"/>
          <p:cNvSpPr/>
          <p:nvPr/>
        </p:nvSpPr>
        <p:spPr>
          <a:xfrm>
            <a:off x="152" y="6282059"/>
            <a:ext cx="3047924" cy="566928"/>
          </a:xfrm>
          <a:prstGeom prst="rect">
            <a:avLst/>
          </a:prstGeom>
          <a:solidFill>
            <a:srgbClr val="E8EEF6"/>
          </a:solidFill>
          <a:ln w="10160">
            <a:solidFill>
              <a:srgbClr val="D7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sz="1400" b="0">
                <a:solidFill>
                  <a:srgbClr val="5C6B7C"/>
                </a:solidFill>
                <a:latin typeface="微软雅黑" panose="020B0503020204020204" charset="-122"/>
              </a:rPr>
              <a:t>1  训练数据</a:t>
            </a:r>
          </a:p>
        </p:txBody>
      </p:sp>
      <p:sp>
        <p:nvSpPr>
          <p:cNvPr id="42" name="Rectangle 43"/>
          <p:cNvSpPr/>
          <p:nvPr/>
        </p:nvSpPr>
        <p:spPr>
          <a:xfrm>
            <a:off x="3048076" y="6282059"/>
            <a:ext cx="3047924" cy="566928"/>
          </a:xfrm>
          <a:prstGeom prst="rect">
            <a:avLst/>
          </a:prstGeom>
          <a:solidFill>
            <a:srgbClr val="E8EEF6"/>
          </a:solidFill>
          <a:ln w="10160">
            <a:solidFill>
              <a:srgbClr val="D7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sz="1400" b="0">
                <a:solidFill>
                  <a:srgbClr val="5C6B7C"/>
                </a:solidFill>
                <a:latin typeface="微软雅黑" panose="020B0503020204020204" charset="-122"/>
              </a:rPr>
              <a:t>2  模型设计</a:t>
            </a:r>
          </a:p>
        </p:txBody>
      </p:sp>
      <p:sp>
        <p:nvSpPr>
          <p:cNvPr id="43" name="Rectangle 44"/>
          <p:cNvSpPr/>
          <p:nvPr/>
        </p:nvSpPr>
        <p:spPr>
          <a:xfrm>
            <a:off x="6096000" y="6282059"/>
            <a:ext cx="3047924" cy="566928"/>
          </a:xfrm>
          <a:prstGeom prst="rect">
            <a:avLst/>
          </a:prstGeom>
          <a:solidFill>
            <a:srgbClr val="064D8F"/>
          </a:solidFill>
          <a:ln w="10160">
            <a:solidFill>
              <a:srgbClr val="064D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sz="1400" b="1">
                <a:solidFill>
                  <a:srgbClr val="FFFFFF"/>
                </a:solidFill>
                <a:latin typeface="微软雅黑" panose="020B0503020204020204" charset="-122"/>
              </a:rPr>
              <a:t>3  输出控制</a:t>
            </a:r>
          </a:p>
        </p:txBody>
      </p:sp>
      <p:sp>
        <p:nvSpPr>
          <p:cNvPr id="44" name="Rectangle 45"/>
          <p:cNvSpPr/>
          <p:nvPr/>
        </p:nvSpPr>
        <p:spPr>
          <a:xfrm>
            <a:off x="9143924" y="6282059"/>
            <a:ext cx="3048228" cy="566928"/>
          </a:xfrm>
          <a:prstGeom prst="rect">
            <a:avLst/>
          </a:prstGeom>
          <a:solidFill>
            <a:srgbClr val="E8EEF6"/>
          </a:solidFill>
          <a:ln w="10160">
            <a:solidFill>
              <a:srgbClr val="D7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sz="1400" b="0">
                <a:solidFill>
                  <a:srgbClr val="5C6B7C"/>
                </a:solidFill>
                <a:latin typeface="微软雅黑" panose="020B0503020204020204" charset="-122"/>
              </a:rPr>
              <a:t>4  反馈迭代</a:t>
            </a:r>
          </a:p>
        </p:txBody>
      </p:sp>
      <p:sp>
        <p:nvSpPr>
          <p:cNvPr id="45" name="TextBox 46"/>
          <p:cNvSpPr txBox="1"/>
          <p:nvPr/>
        </p:nvSpPr>
        <p:spPr>
          <a:xfrm>
            <a:off x="8380000" y="260000"/>
            <a:ext cx="2300000" cy="3200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sz="1200" b="0" dirty="0" err="1">
                <a:solidFill>
                  <a:srgbClr val="5C6B7C"/>
                </a:solidFill>
                <a:latin typeface="微软雅黑" panose="020B0503020204020204" charset="-122"/>
              </a:rPr>
              <a:t>汇报人：孙维奇</a:t>
            </a:r>
            <a:endParaRPr sz="1200" b="0" dirty="0">
              <a:solidFill>
                <a:srgbClr val="5C6B7C"/>
              </a:solidFill>
              <a:latin typeface="微软雅黑" panose="020B0503020204020204" charset="-122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4"/>
          <a:srcRect l="32822" t="-197" r="469" b="197"/>
          <a:stretch>
            <a:fillRect/>
          </a:stretch>
        </p:blipFill>
        <p:spPr>
          <a:xfrm>
            <a:off x="7361555" y="1553210"/>
            <a:ext cx="4337685" cy="354965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Connector 1"/>
          <p:cNvCxnSpPr/>
          <p:nvPr/>
        </p:nvCxnSpPr>
        <p:spPr>
          <a:xfrm>
            <a:off x="0" y="19050"/>
            <a:ext cx="12191695" cy="0"/>
          </a:xfrm>
          <a:prstGeom prst="line">
            <a:avLst/>
          </a:prstGeom>
          <a:ln w="8890">
            <a:solidFill>
              <a:srgbClr val="DDE3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566928" y="658368"/>
            <a:ext cx="9784080" cy="50292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2700" b="1">
                <a:solidFill>
                  <a:srgbClr val="2F78FF"/>
                </a:solidFill>
                <a:latin typeface="微软雅黑" panose="020B0503020204020204" charset="-122"/>
              </a:rPr>
              <a:t>三层标识：人能看见，机器能检测，平台能追溯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1170432"/>
            <a:ext cx="10332720" cy="38404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1550" b="1">
                <a:solidFill>
                  <a:srgbClr val="5E6675"/>
                </a:solidFill>
                <a:latin typeface="微软雅黑" panose="020B0503020204020204" charset="-122"/>
              </a:rPr>
              <a:t>不是单一水印，而是从</a:t>
            </a:r>
            <a:r>
              <a:rPr sz="1550" b="1">
                <a:solidFill>
                  <a:srgbClr val="FF0000"/>
                </a:solidFill>
                <a:latin typeface="微软雅黑" panose="020B0503020204020204" charset="-122"/>
              </a:rPr>
              <a:t>可识别</a:t>
            </a:r>
            <a:r>
              <a:rPr sz="1550" b="1">
                <a:solidFill>
                  <a:srgbClr val="5E6675"/>
                </a:solidFill>
                <a:latin typeface="微软雅黑" panose="020B0503020204020204" charset="-122"/>
              </a:rPr>
              <a:t>到</a:t>
            </a:r>
            <a:r>
              <a:rPr sz="1550" b="1">
                <a:solidFill>
                  <a:srgbClr val="FF0000"/>
                </a:solidFill>
                <a:latin typeface="微软雅黑" panose="020B0503020204020204" charset="-122"/>
              </a:rPr>
              <a:t>可追溯</a:t>
            </a:r>
            <a:r>
              <a:rPr sz="1550" b="1">
                <a:solidFill>
                  <a:srgbClr val="5E6675"/>
                </a:solidFill>
                <a:latin typeface="微软雅黑" panose="020B0503020204020204" charset="-122"/>
              </a:rPr>
              <a:t>的证据链。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1719072"/>
            <a:ext cx="11018520" cy="987552"/>
          </a:xfrm>
          <a:prstGeom prst="roundRect">
            <a:avLst/>
          </a:prstGeom>
          <a:solidFill>
            <a:srgbClr val="EDF4FD"/>
          </a:solidFill>
          <a:ln w="12700">
            <a:solidFill>
              <a:srgbClr val="C7D9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49808" y="1920240"/>
            <a:ext cx="10652760" cy="27432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/>
            <a:r>
              <a:rPr sz="2100" b="1">
                <a:solidFill>
                  <a:srgbClr val="202733"/>
                </a:solidFill>
                <a:latin typeface="微软雅黑" panose="020B0503020204020204" charset="-122"/>
              </a:rPr>
              <a:t>三层机制不是互相替代：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49808" y="2267712"/>
            <a:ext cx="10652760" cy="27432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/>
            <a:r>
              <a:rPr sz="1900" b="1">
                <a:solidFill>
                  <a:srgbClr val="FF0000"/>
                </a:solidFill>
                <a:latin typeface="微软雅黑" panose="020B0503020204020204" charset="-122"/>
              </a:rPr>
              <a:t>显式解决“看见”，隐式解决“检测”，凭证解决“追溯”。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41832" y="2907792"/>
            <a:ext cx="2743200" cy="32004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/>
            <a:r>
              <a:rPr sz="2200" b="1">
                <a:solidFill>
                  <a:srgbClr val="2F78FF"/>
                </a:solidFill>
                <a:latin typeface="微软雅黑" panose="020B0503020204020204" charset="-122"/>
              </a:rPr>
              <a:t>显式标识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353312" y="3410712"/>
            <a:ext cx="1920240" cy="347472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2F7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1353312" y="3456432"/>
            <a:ext cx="1920240" cy="20116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/>
            <a:r>
              <a:rPr sz="1250" b="1">
                <a:solidFill>
                  <a:srgbClr val="2F78FF"/>
                </a:solidFill>
                <a:latin typeface="微软雅黑" panose="020B0503020204020204" charset="-122"/>
              </a:rPr>
              <a:t>给普通用户看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41832" y="3840480"/>
            <a:ext cx="2743200" cy="71323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/>
            <a:r>
              <a:rPr sz="1310" b="0">
                <a:solidFill>
                  <a:srgbClr val="202733"/>
                </a:solidFill>
                <a:latin typeface="微软雅黑" panose="020B0503020204020204" charset="-122"/>
              </a:rPr>
              <a:t>AI 角标 / 文字提示
第一眼知道“可能是 AI”
但截图、裁剪后容易丢失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718304" y="2907792"/>
            <a:ext cx="2743200" cy="32004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/>
            <a:r>
              <a:rPr sz="2200" b="1">
                <a:solidFill>
                  <a:srgbClr val="22A65A"/>
                </a:solidFill>
                <a:latin typeface="微软雅黑" panose="020B0503020204020204" charset="-122"/>
              </a:rPr>
              <a:t>隐式水印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129784" y="3410712"/>
            <a:ext cx="1920240" cy="347472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22A6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5129784" y="3456432"/>
            <a:ext cx="1920240" cy="20116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/>
            <a:r>
              <a:rPr sz="1250" b="1">
                <a:solidFill>
                  <a:srgbClr val="22A65A"/>
                </a:solidFill>
                <a:latin typeface="微软雅黑" panose="020B0503020204020204" charset="-122"/>
              </a:rPr>
              <a:t>给检测工具看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718304" y="3840480"/>
            <a:ext cx="2743200" cy="71323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/>
            <a:r>
              <a:rPr sz="1310" b="0">
                <a:solidFill>
                  <a:srgbClr val="202733"/>
                </a:solidFill>
                <a:latin typeface="微软雅黑" panose="020B0503020204020204" charset="-122"/>
              </a:rPr>
              <a:t>如 SynthID
把识别信号藏进内容本身
裁剪压缩后仍尽量可检测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494776" y="2907792"/>
            <a:ext cx="2743200" cy="32004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/>
            <a:r>
              <a:rPr sz="2200" b="1">
                <a:solidFill>
                  <a:srgbClr val="F0B000"/>
                </a:solidFill>
                <a:latin typeface="微软雅黑" panose="020B0503020204020204" charset="-122"/>
              </a:rPr>
              <a:t>内容凭证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906255" y="3410712"/>
            <a:ext cx="1920240" cy="347472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F0B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8906255" y="3456432"/>
            <a:ext cx="1920240" cy="20116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/>
            <a:r>
              <a:rPr sz="1250" b="1">
                <a:solidFill>
                  <a:srgbClr val="F0B000"/>
                </a:solidFill>
                <a:latin typeface="微软雅黑" panose="020B0503020204020204" charset="-122"/>
              </a:rPr>
              <a:t>给平台 / 审核看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494776" y="3840480"/>
            <a:ext cx="2743200" cy="71323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/>
            <a:r>
              <a:rPr sz="1310" b="0">
                <a:solidFill>
                  <a:srgbClr val="202733"/>
                </a:solidFill>
                <a:latin typeface="微软雅黑" panose="020B0503020204020204" charset="-122"/>
              </a:rPr>
              <a:t>如 C2PA
记录来源、工具、修改历史
形成可检查的传播链路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3959352" y="3621024"/>
            <a:ext cx="484632" cy="0"/>
          </a:xfrm>
          <a:prstGeom prst="line">
            <a:avLst/>
          </a:prstGeom>
          <a:ln w="20320">
            <a:solidFill>
              <a:srgbClr val="D4DA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7735824" y="3621024"/>
            <a:ext cx="484632" cy="0"/>
          </a:xfrm>
          <a:prstGeom prst="line">
            <a:avLst/>
          </a:prstGeom>
          <a:ln w="20320">
            <a:solidFill>
              <a:srgbClr val="D4DA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Rounded Rectangle 31"/>
          <p:cNvSpPr/>
          <p:nvPr/>
        </p:nvSpPr>
        <p:spPr>
          <a:xfrm>
            <a:off x="1170432" y="4709160"/>
            <a:ext cx="2286000" cy="128016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D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ounded Rectangle 32"/>
          <p:cNvSpPr/>
          <p:nvPr/>
        </p:nvSpPr>
        <p:spPr>
          <a:xfrm>
            <a:off x="4946904" y="4709160"/>
            <a:ext cx="2286000" cy="128016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D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ounded Rectangle 33"/>
          <p:cNvSpPr/>
          <p:nvPr/>
        </p:nvSpPr>
        <p:spPr>
          <a:xfrm>
            <a:off x="8723376" y="4709160"/>
            <a:ext cx="2286000" cy="128016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D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5" name="Picture 34" descr="meta_ai_info_tag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97864" y="4754880"/>
            <a:ext cx="2231136" cy="1188720"/>
          </a:xfrm>
          <a:prstGeom prst="rect">
            <a:avLst/>
          </a:prstGeom>
        </p:spPr>
      </p:pic>
      <p:pic>
        <p:nvPicPr>
          <p:cNvPr id="36" name="Picture 35" descr="synthid_deepmind_og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74336" y="4754880"/>
            <a:ext cx="2231136" cy="1188720"/>
          </a:xfrm>
          <a:prstGeom prst="rect">
            <a:avLst/>
          </a:prstGeom>
        </p:spPr>
      </p:pic>
      <p:pic>
        <p:nvPicPr>
          <p:cNvPr id="37" name="Picture 36" descr="content_credential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906255" y="5111496"/>
            <a:ext cx="1920240" cy="539496"/>
          </a:xfrm>
          <a:prstGeom prst="rect">
            <a:avLst/>
          </a:prstGeom>
        </p:spPr>
      </p:pic>
      <p:sp>
        <p:nvSpPr>
          <p:cNvPr id="38" name="TextBox 37"/>
          <p:cNvSpPr txBox="1"/>
          <p:nvPr/>
        </p:nvSpPr>
        <p:spPr>
          <a:xfrm>
            <a:off x="1170432" y="6016752"/>
            <a:ext cx="2286000" cy="13716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/>
            <a:r>
              <a:rPr sz="680" b="0">
                <a:solidFill>
                  <a:srgbClr val="5E6675"/>
                </a:solidFill>
                <a:latin typeface="微软雅黑" panose="020B0503020204020204" charset="-122"/>
              </a:rPr>
              <a:t>Meta / Instagram AI info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946904" y="6016752"/>
            <a:ext cx="2286000" cy="13716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/>
            <a:r>
              <a:rPr sz="680" b="0">
                <a:solidFill>
                  <a:srgbClr val="5E6675"/>
                </a:solidFill>
                <a:latin typeface="微软雅黑" panose="020B0503020204020204" charset="-122"/>
              </a:rPr>
              <a:t>Google DeepMind SynthID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723376" y="6016752"/>
            <a:ext cx="2286000" cy="13716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/>
            <a:r>
              <a:rPr sz="680" b="0">
                <a:solidFill>
                  <a:srgbClr val="5E6675"/>
                </a:solidFill>
                <a:latin typeface="微软雅黑" panose="020B0503020204020204" charset="-122"/>
              </a:rPr>
              <a:t>C2PA / Content Credentials</a:t>
            </a:r>
          </a:p>
        </p:txBody>
      </p:sp>
      <p:pic>
        <p:nvPicPr>
          <p:cNvPr id="4" name="Picture 1" descr="ISE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643675" y="219456"/>
            <a:ext cx="1133797" cy="825119"/>
          </a:xfrm>
          <a:prstGeom prst="rect">
            <a:avLst/>
          </a:prstGeom>
        </p:spPr>
      </p:pic>
      <p:cxnSp>
        <p:nvCxnSpPr>
          <p:cNvPr id="41" name="Connector 41"/>
          <p:cNvCxnSpPr/>
          <p:nvPr/>
        </p:nvCxnSpPr>
        <p:spPr>
          <a:xfrm>
            <a:off x="152" y="6291072"/>
            <a:ext cx="12192000" cy="0"/>
          </a:xfrm>
          <a:prstGeom prst="line">
            <a:avLst/>
          </a:prstGeom>
          <a:ln w="6350">
            <a:solidFill>
              <a:srgbClr val="D7DE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Rectangle 42"/>
          <p:cNvSpPr/>
          <p:nvPr/>
        </p:nvSpPr>
        <p:spPr>
          <a:xfrm>
            <a:off x="152" y="6291072"/>
            <a:ext cx="3047924" cy="566928"/>
          </a:xfrm>
          <a:prstGeom prst="rect">
            <a:avLst/>
          </a:prstGeom>
          <a:solidFill>
            <a:srgbClr val="E8EEF6"/>
          </a:solidFill>
          <a:ln w="10160">
            <a:solidFill>
              <a:srgbClr val="D7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sz="1400" b="0">
                <a:solidFill>
                  <a:srgbClr val="5C6B7C"/>
                </a:solidFill>
                <a:latin typeface="微软雅黑" panose="020B0503020204020204" charset="-122"/>
              </a:rPr>
              <a:t>1  训练数据</a:t>
            </a:r>
          </a:p>
        </p:txBody>
      </p:sp>
      <p:sp>
        <p:nvSpPr>
          <p:cNvPr id="43" name="Rectangle 43"/>
          <p:cNvSpPr/>
          <p:nvPr/>
        </p:nvSpPr>
        <p:spPr>
          <a:xfrm>
            <a:off x="3048076" y="6291072"/>
            <a:ext cx="3047924" cy="566928"/>
          </a:xfrm>
          <a:prstGeom prst="rect">
            <a:avLst/>
          </a:prstGeom>
          <a:solidFill>
            <a:srgbClr val="E8EEF6"/>
          </a:solidFill>
          <a:ln w="10160">
            <a:solidFill>
              <a:srgbClr val="D7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sz="1400" b="0">
                <a:solidFill>
                  <a:srgbClr val="5C6B7C"/>
                </a:solidFill>
                <a:latin typeface="微软雅黑" panose="020B0503020204020204" charset="-122"/>
              </a:rPr>
              <a:t>2  模型设计</a:t>
            </a:r>
          </a:p>
        </p:txBody>
      </p:sp>
      <p:sp>
        <p:nvSpPr>
          <p:cNvPr id="44" name="Rectangle 44"/>
          <p:cNvSpPr/>
          <p:nvPr/>
        </p:nvSpPr>
        <p:spPr>
          <a:xfrm>
            <a:off x="6096000" y="6291072"/>
            <a:ext cx="3047924" cy="566928"/>
          </a:xfrm>
          <a:prstGeom prst="rect">
            <a:avLst/>
          </a:prstGeom>
          <a:solidFill>
            <a:srgbClr val="064D8F"/>
          </a:solidFill>
          <a:ln w="10160">
            <a:solidFill>
              <a:srgbClr val="064D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sz="1400" b="1">
                <a:solidFill>
                  <a:srgbClr val="FFFFFF"/>
                </a:solidFill>
                <a:latin typeface="微软雅黑" panose="020B0503020204020204" charset="-122"/>
              </a:rPr>
              <a:t>3  输出控制</a:t>
            </a:r>
          </a:p>
        </p:txBody>
      </p:sp>
      <p:sp>
        <p:nvSpPr>
          <p:cNvPr id="45" name="Rectangle 45"/>
          <p:cNvSpPr/>
          <p:nvPr/>
        </p:nvSpPr>
        <p:spPr>
          <a:xfrm>
            <a:off x="9143924" y="6291072"/>
            <a:ext cx="3048228" cy="566928"/>
          </a:xfrm>
          <a:prstGeom prst="rect">
            <a:avLst/>
          </a:prstGeom>
          <a:solidFill>
            <a:srgbClr val="E8EEF6"/>
          </a:solidFill>
          <a:ln w="10160">
            <a:solidFill>
              <a:srgbClr val="D7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sz="1400" b="0">
                <a:solidFill>
                  <a:srgbClr val="5C6B7C"/>
                </a:solidFill>
                <a:latin typeface="微软雅黑" panose="020B0503020204020204" charset="-122"/>
              </a:rPr>
              <a:t>4  反馈迭代</a:t>
            </a:r>
          </a:p>
        </p:txBody>
      </p:sp>
      <p:sp>
        <p:nvSpPr>
          <p:cNvPr id="46" name="TextBox 46"/>
          <p:cNvSpPr txBox="1"/>
          <p:nvPr/>
        </p:nvSpPr>
        <p:spPr>
          <a:xfrm>
            <a:off x="8380000" y="260000"/>
            <a:ext cx="2300000" cy="3200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sz="1200" b="0" dirty="0" err="1">
                <a:solidFill>
                  <a:srgbClr val="5C6B7C"/>
                </a:solidFill>
                <a:latin typeface="微软雅黑" panose="020B0503020204020204" charset="-122"/>
              </a:rPr>
              <a:t>汇报人：孙维奇</a:t>
            </a:r>
            <a:endParaRPr sz="1200" b="0" dirty="0">
              <a:solidFill>
                <a:srgbClr val="5C6B7C"/>
              </a:solidFill>
              <a:latin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Connector 1"/>
          <p:cNvCxnSpPr/>
          <p:nvPr/>
        </p:nvCxnSpPr>
        <p:spPr>
          <a:xfrm>
            <a:off x="0" y="19050"/>
            <a:ext cx="12191695" cy="0"/>
          </a:xfrm>
          <a:prstGeom prst="line">
            <a:avLst/>
          </a:prstGeom>
          <a:ln w="8890">
            <a:solidFill>
              <a:srgbClr val="DDE3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566928" y="658368"/>
            <a:ext cx="9418320" cy="47089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2700" b="1" dirty="0" err="1">
                <a:solidFill>
                  <a:srgbClr val="2F78FF"/>
                </a:solidFill>
                <a:latin typeface="微软雅黑" panose="020B0503020204020204" charset="-122"/>
              </a:rPr>
              <a:t>监管正在收敛：默认透明成为工程底线</a:t>
            </a:r>
            <a:endParaRPr sz="2700" b="1" dirty="0">
              <a:solidFill>
                <a:srgbClr val="2F78FF"/>
              </a:solidFill>
              <a:latin typeface="微软雅黑" panose="020B0503020204020204" charset="-122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548640" y="1188720"/>
            <a:ext cx="10149840" cy="38404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1550" b="1">
                <a:solidFill>
                  <a:srgbClr val="5E6675"/>
                </a:solidFill>
                <a:latin typeface="微软雅黑" panose="020B0503020204020204" charset="-122"/>
              </a:rPr>
              <a:t>各地区强度不同，但共同方向都是：让 AI 生成内容</a:t>
            </a:r>
            <a:r>
              <a:rPr sz="1550" b="1">
                <a:solidFill>
                  <a:srgbClr val="FF0000"/>
                </a:solidFill>
                <a:latin typeface="微软雅黑" panose="020B0503020204020204" charset="-122"/>
              </a:rPr>
              <a:t>可被机器识别</a:t>
            </a:r>
            <a:r>
              <a:rPr sz="1550" b="1">
                <a:solidFill>
                  <a:srgbClr val="5E6675"/>
                </a:solidFill>
                <a:latin typeface="微软雅黑" panose="020B0503020204020204" charset="-122"/>
              </a:rPr>
              <a:t>，并留下责任链路。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1783080"/>
            <a:ext cx="11018520" cy="914400"/>
          </a:xfrm>
          <a:prstGeom prst="roundRect">
            <a:avLst/>
          </a:prstGeom>
          <a:solidFill>
            <a:srgbClr val="EDF4FD"/>
          </a:solidFill>
          <a:ln w="12700">
            <a:solidFill>
              <a:srgbClr val="C7D9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49808" y="2039112"/>
            <a:ext cx="10652760" cy="41148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/>
            <a:r>
              <a:rPr sz="2500" b="1">
                <a:solidFill>
                  <a:srgbClr val="202733"/>
                </a:solidFill>
                <a:latin typeface="微软雅黑" panose="020B0503020204020204" charset="-122"/>
              </a:rPr>
              <a:t>输出控制正在从“可选功能”变成 </a:t>
            </a:r>
            <a:r>
              <a:rPr sz="2500" b="1">
                <a:solidFill>
                  <a:srgbClr val="FF0000"/>
                </a:solidFill>
                <a:latin typeface="微软雅黑" panose="020B0503020204020204" charset="-122"/>
              </a:rPr>
              <a:t>工程底线</a:t>
            </a:r>
            <a:r>
              <a:rPr sz="2500" b="1">
                <a:solidFill>
                  <a:srgbClr val="202733"/>
                </a:solidFill>
                <a:latin typeface="微软雅黑" panose="020B0503020204020204" charset="-122"/>
              </a:rPr>
              <a:t>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" y="3054096"/>
            <a:ext cx="2148840" cy="310896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/>
            <a:r>
              <a:rPr sz="1900" b="1">
                <a:solidFill>
                  <a:srgbClr val="5E6675"/>
                </a:solidFill>
                <a:latin typeface="微软雅黑" panose="020B0503020204020204" charset="-122"/>
              </a:rPr>
              <a:t>监管收敛路径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1874519" y="3547872"/>
            <a:ext cx="0" cy="1682496"/>
          </a:xfrm>
          <a:prstGeom prst="line">
            <a:avLst/>
          </a:prstGeom>
          <a:ln w="25400">
            <a:solidFill>
              <a:srgbClr val="C8D2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Oval 18"/>
          <p:cNvSpPr/>
          <p:nvPr/>
        </p:nvSpPr>
        <p:spPr>
          <a:xfrm>
            <a:off x="1737360" y="3456432"/>
            <a:ext cx="274320" cy="274320"/>
          </a:xfrm>
          <a:prstGeom prst="ellipse">
            <a:avLst/>
          </a:prstGeom>
          <a:solidFill>
            <a:srgbClr val="2F78FF"/>
          </a:solidFill>
          <a:ln w="12700">
            <a:solidFill>
              <a:srgbClr val="2F7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530352" y="3429000"/>
            <a:ext cx="1060704" cy="25603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r"/>
            <a:r>
              <a:rPr sz="1520" b="1">
                <a:solidFill>
                  <a:srgbClr val="2F78FF"/>
                </a:solidFill>
                <a:latin typeface="微软雅黑" panose="020B0503020204020204" charset="-122"/>
              </a:rPr>
              <a:t>中国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2286000" y="3410712"/>
            <a:ext cx="2057400" cy="347472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2F7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2286000" y="3456432"/>
            <a:ext cx="2057400" cy="20116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/>
            <a:r>
              <a:rPr sz="1250" b="1">
                <a:solidFill>
                  <a:srgbClr val="2F78FF"/>
                </a:solidFill>
                <a:latin typeface="微软雅黑" panose="020B0503020204020204" charset="-122"/>
              </a:rPr>
              <a:t>2025.9.1 施行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681728" y="3447288"/>
            <a:ext cx="3703320" cy="25603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1500" b="1">
                <a:solidFill>
                  <a:srgbClr val="202733"/>
                </a:solidFill>
                <a:latin typeface="微软雅黑" panose="020B0503020204020204" charset="-122"/>
              </a:rPr>
              <a:t>显式标识 + 文件元数据隐式标识</a:t>
            </a:r>
          </a:p>
        </p:txBody>
      </p:sp>
      <p:sp>
        <p:nvSpPr>
          <p:cNvPr id="24" name="Oval 23"/>
          <p:cNvSpPr/>
          <p:nvPr/>
        </p:nvSpPr>
        <p:spPr>
          <a:xfrm>
            <a:off x="1737360" y="4279392"/>
            <a:ext cx="274320" cy="274320"/>
          </a:xfrm>
          <a:prstGeom prst="ellipse">
            <a:avLst/>
          </a:prstGeom>
          <a:solidFill>
            <a:srgbClr val="22A65A"/>
          </a:solidFill>
          <a:ln w="12700">
            <a:solidFill>
              <a:srgbClr val="22A6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530352" y="4251959"/>
            <a:ext cx="1060704" cy="25603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r"/>
            <a:r>
              <a:rPr sz="1520" b="1">
                <a:solidFill>
                  <a:srgbClr val="22A65A"/>
                </a:solidFill>
                <a:latin typeface="微软雅黑" panose="020B0503020204020204" charset="-122"/>
              </a:rPr>
              <a:t>欧盟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2286000" y="4233672"/>
            <a:ext cx="2057400" cy="347472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22A6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2286000" y="4279392"/>
            <a:ext cx="2057400" cy="20116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/>
            <a:r>
              <a:rPr sz="1250" b="1">
                <a:solidFill>
                  <a:srgbClr val="22A65A"/>
                </a:solidFill>
                <a:latin typeface="微软雅黑" panose="020B0503020204020204" charset="-122"/>
              </a:rPr>
              <a:t>AI Act Article 50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681728" y="4270248"/>
            <a:ext cx="3703320" cy="25603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1500" b="1">
                <a:solidFill>
                  <a:srgbClr val="202733"/>
                </a:solidFill>
                <a:latin typeface="微软雅黑" panose="020B0503020204020204" charset="-122"/>
              </a:rPr>
              <a:t>机器可读标记，可识别为 AI 生成或操纵</a:t>
            </a:r>
          </a:p>
        </p:txBody>
      </p:sp>
      <p:sp>
        <p:nvSpPr>
          <p:cNvPr id="29" name="Oval 28"/>
          <p:cNvSpPr/>
          <p:nvPr/>
        </p:nvSpPr>
        <p:spPr>
          <a:xfrm>
            <a:off x="1737360" y="5102352"/>
            <a:ext cx="274320" cy="274320"/>
          </a:xfrm>
          <a:prstGeom prst="ellipse">
            <a:avLst/>
          </a:prstGeom>
          <a:solidFill>
            <a:srgbClr val="F0B000"/>
          </a:solidFill>
          <a:ln w="12700">
            <a:solidFill>
              <a:srgbClr val="F0B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530352" y="5074920"/>
            <a:ext cx="1060704" cy="25603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r"/>
            <a:r>
              <a:rPr sz="1520" b="1">
                <a:solidFill>
                  <a:srgbClr val="F0B000"/>
                </a:solidFill>
                <a:latin typeface="微软雅黑" panose="020B0503020204020204" charset="-122"/>
              </a:rPr>
              <a:t>美国加州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2286000" y="5056632"/>
            <a:ext cx="2057400" cy="347472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F0B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2286000" y="5102352"/>
            <a:ext cx="2057400" cy="20116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/>
            <a:r>
              <a:rPr sz="1250" b="1">
                <a:solidFill>
                  <a:srgbClr val="F0B000"/>
                </a:solidFill>
                <a:latin typeface="微软雅黑" panose="020B0503020204020204" charset="-122"/>
              </a:rPr>
              <a:t>SB 942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681728" y="5093208"/>
            <a:ext cx="3703320" cy="25603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1500" b="1">
                <a:solidFill>
                  <a:srgbClr val="202733"/>
                </a:solidFill>
                <a:latin typeface="微软雅黑" panose="020B0503020204020204" charset="-122"/>
              </a:rPr>
              <a:t>潜在披露、检测工具与显式披露选项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823959" y="3447288"/>
            <a:ext cx="2688887" cy="1810512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C7D9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9208282" y="3689665"/>
            <a:ext cx="1920240" cy="29260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/>
            <a:r>
              <a:rPr sz="1800" b="1" dirty="0" err="1">
                <a:solidFill>
                  <a:srgbClr val="2F78FF"/>
                </a:solidFill>
                <a:latin typeface="微软雅黑" panose="020B0503020204020204" charset="-122"/>
              </a:rPr>
              <a:t>工程结论</a:t>
            </a:r>
            <a:endParaRPr sz="1800" b="1" dirty="0">
              <a:solidFill>
                <a:srgbClr val="2F78FF"/>
              </a:solidFill>
              <a:latin typeface="微软雅黑" panose="020B0503020204020204" charset="-122"/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8936755" y="4185742"/>
            <a:ext cx="2642616" cy="57862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/>
            <a:r>
              <a:rPr sz="1700" b="1" dirty="0" err="1">
                <a:solidFill>
                  <a:srgbClr val="5E6675"/>
                </a:solidFill>
                <a:latin typeface="微软雅黑" panose="020B0503020204020204" charset="-122"/>
              </a:rPr>
              <a:t>把</a:t>
            </a:r>
            <a:r>
              <a:rPr sz="1700" b="1" dirty="0" err="1">
                <a:solidFill>
                  <a:srgbClr val="FF0000"/>
                </a:solidFill>
                <a:latin typeface="微软雅黑" panose="020B0503020204020204" charset="-122"/>
              </a:rPr>
              <a:t>可追溯</a:t>
            </a:r>
            <a:r>
              <a:rPr sz="1700" b="1" dirty="0" err="1">
                <a:solidFill>
                  <a:srgbClr val="5E6675"/>
                </a:solidFill>
                <a:latin typeface="微软雅黑" panose="020B0503020204020204" charset="-122"/>
              </a:rPr>
              <a:t>做成默认能力</a:t>
            </a:r>
            <a:r>
              <a:rPr lang="zh-CN" altLang="en-US" sz="1700" b="1" dirty="0">
                <a:solidFill>
                  <a:srgbClr val="5E6675"/>
                </a:solidFill>
                <a:latin typeface="微软雅黑" panose="020B0503020204020204" charset="-122"/>
              </a:rPr>
              <a:t>，</a:t>
            </a:r>
            <a:r>
              <a:rPr sz="1700" b="1" dirty="0">
                <a:solidFill>
                  <a:srgbClr val="5E6675"/>
                </a:solidFill>
                <a:latin typeface="微软雅黑" panose="020B0503020204020204" charset="-122"/>
              </a:rPr>
              <a:t>
</a:t>
            </a:r>
            <a:r>
              <a:rPr sz="1700" b="1" dirty="0" err="1">
                <a:solidFill>
                  <a:srgbClr val="5E6675"/>
                </a:solidFill>
                <a:latin typeface="微软雅黑" panose="020B0503020204020204" charset="-122"/>
              </a:rPr>
              <a:t>而不是出事后的补救功</a:t>
            </a:r>
            <a:r>
              <a:rPr lang="zh-CN" altLang="en-US" sz="1700" b="1" dirty="0">
                <a:solidFill>
                  <a:srgbClr val="5E6675"/>
                </a:solidFill>
                <a:latin typeface="微软雅黑" panose="020B0503020204020204" charset="-122"/>
                <a:ea typeface="微软雅黑" panose="020B0503020204020204" charset="-122"/>
              </a:rPr>
              <a:t>能。</a:t>
            </a:r>
            <a:endParaRPr sz="1700" b="1" dirty="0">
              <a:solidFill>
                <a:srgbClr val="5E6675"/>
              </a:solidFill>
              <a:latin typeface="微软雅黑" panose="020B0503020204020204" charset="-122"/>
            </a:endParaRPr>
          </a:p>
        </p:txBody>
      </p:sp>
      <p:pic>
        <p:nvPicPr>
          <p:cNvPr id="4" name="Picture 1" descr="ISE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43675" y="219456"/>
            <a:ext cx="1133797" cy="825119"/>
          </a:xfrm>
          <a:prstGeom prst="rect">
            <a:avLst/>
          </a:prstGeom>
        </p:spPr>
      </p:pic>
      <p:cxnSp>
        <p:nvCxnSpPr>
          <p:cNvPr id="37" name="Connector 41"/>
          <p:cNvCxnSpPr/>
          <p:nvPr/>
        </p:nvCxnSpPr>
        <p:spPr>
          <a:xfrm>
            <a:off x="-305" y="6291072"/>
            <a:ext cx="12192000" cy="0"/>
          </a:xfrm>
          <a:prstGeom prst="line">
            <a:avLst/>
          </a:prstGeom>
          <a:ln w="6350">
            <a:solidFill>
              <a:srgbClr val="D7DE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Rectangle 42"/>
          <p:cNvSpPr/>
          <p:nvPr/>
        </p:nvSpPr>
        <p:spPr>
          <a:xfrm>
            <a:off x="-305" y="6291072"/>
            <a:ext cx="3047924" cy="566928"/>
          </a:xfrm>
          <a:prstGeom prst="rect">
            <a:avLst/>
          </a:prstGeom>
          <a:solidFill>
            <a:srgbClr val="E8EEF6"/>
          </a:solidFill>
          <a:ln w="10160">
            <a:solidFill>
              <a:srgbClr val="D7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sz="1400" b="0">
                <a:solidFill>
                  <a:srgbClr val="5C6B7C"/>
                </a:solidFill>
                <a:latin typeface="微软雅黑" panose="020B0503020204020204" charset="-122"/>
              </a:rPr>
              <a:t>1  训练数据</a:t>
            </a:r>
          </a:p>
        </p:txBody>
      </p:sp>
      <p:sp>
        <p:nvSpPr>
          <p:cNvPr id="39" name="Rectangle 43"/>
          <p:cNvSpPr/>
          <p:nvPr/>
        </p:nvSpPr>
        <p:spPr>
          <a:xfrm>
            <a:off x="3047619" y="6291072"/>
            <a:ext cx="3047924" cy="566928"/>
          </a:xfrm>
          <a:prstGeom prst="rect">
            <a:avLst/>
          </a:prstGeom>
          <a:solidFill>
            <a:srgbClr val="E8EEF6"/>
          </a:solidFill>
          <a:ln w="10160">
            <a:solidFill>
              <a:srgbClr val="D7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sz="1400" b="0">
                <a:solidFill>
                  <a:srgbClr val="5C6B7C"/>
                </a:solidFill>
                <a:latin typeface="微软雅黑" panose="020B0503020204020204" charset="-122"/>
              </a:rPr>
              <a:t>2  模型设计</a:t>
            </a:r>
          </a:p>
        </p:txBody>
      </p:sp>
      <p:sp>
        <p:nvSpPr>
          <p:cNvPr id="40" name="Rectangle 44"/>
          <p:cNvSpPr/>
          <p:nvPr/>
        </p:nvSpPr>
        <p:spPr>
          <a:xfrm>
            <a:off x="6095543" y="6291072"/>
            <a:ext cx="3047924" cy="566928"/>
          </a:xfrm>
          <a:prstGeom prst="rect">
            <a:avLst/>
          </a:prstGeom>
          <a:solidFill>
            <a:srgbClr val="064D8F"/>
          </a:solidFill>
          <a:ln w="10160">
            <a:solidFill>
              <a:srgbClr val="064D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sz="1400" b="1">
                <a:solidFill>
                  <a:srgbClr val="FFFFFF"/>
                </a:solidFill>
                <a:latin typeface="微软雅黑" panose="020B0503020204020204" charset="-122"/>
              </a:rPr>
              <a:t>3  输出控制</a:t>
            </a:r>
          </a:p>
        </p:txBody>
      </p:sp>
      <p:sp>
        <p:nvSpPr>
          <p:cNvPr id="41" name="Rectangle 45"/>
          <p:cNvSpPr/>
          <p:nvPr/>
        </p:nvSpPr>
        <p:spPr>
          <a:xfrm>
            <a:off x="9143467" y="6291072"/>
            <a:ext cx="3048228" cy="566928"/>
          </a:xfrm>
          <a:prstGeom prst="rect">
            <a:avLst/>
          </a:prstGeom>
          <a:solidFill>
            <a:srgbClr val="E8EEF6"/>
          </a:solidFill>
          <a:ln w="10160">
            <a:solidFill>
              <a:srgbClr val="D7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sz="1400" b="0">
                <a:solidFill>
                  <a:srgbClr val="5C6B7C"/>
                </a:solidFill>
                <a:latin typeface="微软雅黑" panose="020B0503020204020204" charset="-122"/>
              </a:rPr>
              <a:t>4  反馈迭代</a:t>
            </a:r>
          </a:p>
        </p:txBody>
      </p:sp>
      <p:sp>
        <p:nvSpPr>
          <p:cNvPr id="42" name="TextBox 46"/>
          <p:cNvSpPr txBox="1"/>
          <p:nvPr/>
        </p:nvSpPr>
        <p:spPr>
          <a:xfrm>
            <a:off x="8380000" y="260000"/>
            <a:ext cx="2300000" cy="3200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sz="1200" b="0" dirty="0" err="1">
                <a:solidFill>
                  <a:srgbClr val="5C6B7C"/>
                </a:solidFill>
                <a:latin typeface="微软雅黑" panose="020B0503020204020204" charset="-122"/>
              </a:rPr>
              <a:t>汇报人：孙维奇</a:t>
            </a:r>
            <a:endParaRPr sz="1200" b="0" dirty="0">
              <a:solidFill>
                <a:srgbClr val="5C6B7C"/>
              </a:solidFill>
              <a:latin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475488" y="676656"/>
            <a:ext cx="9966960" cy="406265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t">
            <a:spAutoFit/>
          </a:bodyPr>
          <a:lstStyle/>
          <a:p>
            <a:pPr algn="l">
              <a:defRPr sz="2400" b="1">
                <a:solidFill>
                  <a:srgbClr val="202124"/>
                </a:solidFill>
                <a:latin typeface="微软雅黑" panose="020B0503020204020204" charset="-122"/>
              </a:defRPr>
            </a:pPr>
            <a:r>
              <a:rPr dirty="0" err="1">
                <a:solidFill>
                  <a:srgbClr val="2F78FF"/>
                </a:solidFill>
              </a:rPr>
              <a:t>反馈与迭代：模型上线之后，怎么改</a:t>
            </a:r>
            <a:r>
              <a:rPr dirty="0">
                <a:solidFill>
                  <a:srgbClr val="2F78FF"/>
                </a:solidFill>
              </a:rPr>
              <a:t>？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9099465" y="2691055"/>
            <a:ext cx="1627632" cy="0"/>
          </a:xfrm>
          <a:prstGeom prst="line">
            <a:avLst/>
          </a:prstGeom>
          <a:ln w="127000">
            <a:solidFill>
              <a:srgbClr val="4285F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11294025" y="3257983"/>
            <a:ext cx="0" cy="1572768"/>
          </a:xfrm>
          <a:prstGeom prst="line">
            <a:avLst/>
          </a:prstGeom>
          <a:ln w="127000">
            <a:solidFill>
              <a:srgbClr val="FBBC0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 flipH="1">
            <a:off x="9099465" y="5397679"/>
            <a:ext cx="1627632" cy="0"/>
          </a:xfrm>
          <a:prstGeom prst="line">
            <a:avLst/>
          </a:prstGeom>
          <a:ln w="127000">
            <a:solidFill>
              <a:srgbClr val="EA433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V="1">
            <a:off x="8532536" y="3257983"/>
            <a:ext cx="0" cy="1572768"/>
          </a:xfrm>
          <a:prstGeom prst="line">
            <a:avLst/>
          </a:prstGeom>
          <a:ln w="127000">
            <a:solidFill>
              <a:srgbClr val="34A853"/>
            </a:solidFill>
            <a:headEnd type="non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Oval 10"/>
          <p:cNvSpPr/>
          <p:nvPr/>
        </p:nvSpPr>
        <p:spPr>
          <a:xfrm>
            <a:off x="7965609" y="2124127"/>
            <a:ext cx="1133856" cy="1133856"/>
          </a:xfrm>
          <a:prstGeom prst="ellipse">
            <a:avLst/>
          </a:prstGeom>
          <a:solidFill>
            <a:srgbClr val="FFFFFF"/>
          </a:solidFill>
          <a:ln w="63500">
            <a:solidFill>
              <a:srgbClr val="34A8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965609" y="2270431"/>
            <a:ext cx="1133856" cy="20621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defRPr sz="1100" b="1">
                <a:solidFill>
                  <a:srgbClr val="34A853"/>
                </a:solidFill>
                <a:latin typeface="微软雅黑" panose="020B0503020204020204" charset="-122"/>
              </a:defRPr>
            </a:pPr>
            <a: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38761" y="2552823"/>
            <a:ext cx="987552" cy="221599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defRPr sz="1200" b="1">
                <a:solidFill>
                  <a:srgbClr val="202124"/>
                </a:solidFill>
                <a:latin typeface="微软雅黑" panose="020B0503020204020204" charset="-122"/>
              </a:defRPr>
            </a:pPr>
            <a:r>
              <a:rPr dirty="0" err="1">
                <a:solidFill>
                  <a:srgbClr val="00B050"/>
                </a:solidFill>
              </a:rPr>
              <a:t>训练数据</a:t>
            </a:r>
            <a:endParaRPr dirty="0">
              <a:solidFill>
                <a:srgbClr val="00B050"/>
              </a:solidFill>
            </a:endParaRPr>
          </a:p>
        </p:txBody>
      </p:sp>
      <p:sp>
        <p:nvSpPr>
          <p:cNvPr id="14" name="Oval 13"/>
          <p:cNvSpPr/>
          <p:nvPr/>
        </p:nvSpPr>
        <p:spPr>
          <a:xfrm>
            <a:off x="10727097" y="2124127"/>
            <a:ext cx="1133856" cy="1133856"/>
          </a:xfrm>
          <a:prstGeom prst="ellipse">
            <a:avLst/>
          </a:prstGeom>
          <a:solidFill>
            <a:srgbClr val="FFFFFF"/>
          </a:solidFill>
          <a:ln w="63500">
            <a:solidFill>
              <a:srgbClr val="4285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0727097" y="2270431"/>
            <a:ext cx="1133856" cy="20621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defRPr sz="1100" b="1">
                <a:solidFill>
                  <a:srgbClr val="4285F4"/>
                </a:solidFill>
                <a:latin typeface="微软雅黑" panose="020B0503020204020204" charset="-122"/>
              </a:defRPr>
            </a:pPr>
            <a: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800249" y="2552823"/>
            <a:ext cx="987552" cy="221599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defRPr sz="1200" b="1">
                <a:solidFill>
                  <a:srgbClr val="202124"/>
                </a:solidFill>
                <a:latin typeface="微软雅黑" panose="020B0503020204020204" charset="-122"/>
              </a:defRPr>
            </a:pPr>
            <a:r>
              <a:rPr dirty="0" err="1">
                <a:solidFill>
                  <a:srgbClr val="0070C0"/>
                </a:solidFill>
              </a:rPr>
              <a:t>模型设计</a:t>
            </a:r>
            <a:endParaRPr dirty="0">
              <a:solidFill>
                <a:srgbClr val="0070C0"/>
              </a:solidFill>
            </a:endParaRPr>
          </a:p>
        </p:txBody>
      </p:sp>
      <p:sp>
        <p:nvSpPr>
          <p:cNvPr id="17" name="Oval 16"/>
          <p:cNvSpPr/>
          <p:nvPr/>
        </p:nvSpPr>
        <p:spPr>
          <a:xfrm>
            <a:off x="10727097" y="4830751"/>
            <a:ext cx="1133856" cy="1133856"/>
          </a:xfrm>
          <a:prstGeom prst="ellipse">
            <a:avLst/>
          </a:prstGeom>
          <a:solidFill>
            <a:srgbClr val="FFFFFF"/>
          </a:solidFill>
          <a:ln w="63500">
            <a:solidFill>
              <a:srgbClr val="FBBC0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10727097" y="4977055"/>
            <a:ext cx="1133856" cy="20621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defRPr sz="1100" b="1">
                <a:solidFill>
                  <a:srgbClr val="FBBC05"/>
                </a:solidFill>
                <a:latin typeface="微软雅黑" panose="020B0503020204020204" charset="-122"/>
              </a:defRPr>
            </a:pPr>
            <a: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800249" y="5259447"/>
            <a:ext cx="987552" cy="221599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defRPr sz="1200" b="1">
                <a:solidFill>
                  <a:srgbClr val="202124"/>
                </a:solidFill>
                <a:latin typeface="微软雅黑" panose="020B0503020204020204" charset="-122"/>
              </a:defRPr>
            </a:pPr>
            <a:r>
              <a:rPr dirty="0" err="1">
                <a:solidFill>
                  <a:srgbClr val="FFC000"/>
                </a:solidFill>
              </a:rPr>
              <a:t>输出控制</a:t>
            </a:r>
            <a:endParaRPr dirty="0">
              <a:solidFill>
                <a:srgbClr val="FFC000"/>
              </a:solidFill>
            </a:endParaRPr>
          </a:p>
        </p:txBody>
      </p:sp>
      <p:sp>
        <p:nvSpPr>
          <p:cNvPr id="20" name="Oval 19"/>
          <p:cNvSpPr/>
          <p:nvPr/>
        </p:nvSpPr>
        <p:spPr>
          <a:xfrm>
            <a:off x="7965609" y="4830751"/>
            <a:ext cx="1133856" cy="1133856"/>
          </a:xfrm>
          <a:prstGeom prst="ellipse">
            <a:avLst/>
          </a:prstGeom>
          <a:solidFill>
            <a:schemeClr val="bg1"/>
          </a:solidFill>
          <a:ln w="63500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7965609" y="5022486"/>
            <a:ext cx="1133856" cy="20621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rPr dirty="0">
                <a:solidFill>
                  <a:srgbClr val="FF0000"/>
                </a:solidFill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038761" y="5259447"/>
            <a:ext cx="987552" cy="221599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rPr dirty="0" err="1">
                <a:solidFill>
                  <a:srgbClr val="FF0000"/>
                </a:solidFill>
              </a:rPr>
              <a:t>反馈迭代</a:t>
            </a:r>
            <a:endParaRPr dirty="0">
              <a:solidFill>
                <a:srgbClr val="FF0000"/>
              </a:solidFill>
            </a:endParaRPr>
          </a:p>
        </p:txBody>
      </p:sp>
      <p:sp>
        <p:nvSpPr>
          <p:cNvPr id="24" name="Rounded Rectangle 23"/>
          <p:cNvSpPr/>
          <p:nvPr/>
        </p:nvSpPr>
        <p:spPr>
          <a:xfrm>
            <a:off x="1182632" y="3028913"/>
            <a:ext cx="1887280" cy="475488"/>
          </a:xfrm>
          <a:prstGeom prst="roundRect">
            <a:avLst/>
          </a:prstGeom>
          <a:solidFill>
            <a:srgbClr val="FFFFFF"/>
          </a:solidFill>
          <a:ln>
            <a:solidFill>
              <a:srgbClr val="DA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1109479" y="3038057"/>
            <a:ext cx="65195" cy="475488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1328935" y="3127453"/>
            <a:ext cx="2607780" cy="298543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defRPr sz="1700" b="1">
                <a:solidFill>
                  <a:srgbClr val="202124"/>
                </a:solidFill>
                <a:latin typeface="微软雅黑" panose="020B0503020204020204" charset="-122"/>
              </a:defRPr>
            </a:pPr>
            <a:r>
              <a:rPr dirty="0" err="1"/>
              <a:t>用户投诉</a:t>
            </a:r>
            <a:endParaRPr dirty="0"/>
          </a:p>
        </p:txBody>
      </p:sp>
      <p:sp>
        <p:nvSpPr>
          <p:cNvPr id="27" name="Rounded Rectangle 26"/>
          <p:cNvSpPr/>
          <p:nvPr/>
        </p:nvSpPr>
        <p:spPr>
          <a:xfrm>
            <a:off x="1109480" y="3659849"/>
            <a:ext cx="1960432" cy="475488"/>
          </a:xfrm>
          <a:prstGeom prst="roundRect">
            <a:avLst/>
          </a:prstGeom>
          <a:solidFill>
            <a:srgbClr val="FFFFFF"/>
          </a:solidFill>
          <a:ln>
            <a:solidFill>
              <a:srgbClr val="DA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1109479" y="3659849"/>
            <a:ext cx="65195" cy="475488"/>
          </a:xfrm>
          <a:prstGeom prst="rect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1328935" y="3806153"/>
            <a:ext cx="2607780" cy="298543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defRPr sz="1700" b="1">
                <a:solidFill>
                  <a:srgbClr val="202124"/>
                </a:solidFill>
                <a:latin typeface="微软雅黑" panose="020B0503020204020204" charset="-122"/>
              </a:defRPr>
            </a:pPr>
            <a:r>
              <a:rPr dirty="0" err="1"/>
              <a:t>画师</a:t>
            </a:r>
            <a:r>
              <a:rPr dirty="0"/>
              <a:t> opt-out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109480" y="4281641"/>
            <a:ext cx="1960432" cy="475488"/>
          </a:xfrm>
          <a:prstGeom prst="roundRect">
            <a:avLst/>
          </a:prstGeom>
          <a:solidFill>
            <a:srgbClr val="FFFFFF"/>
          </a:solidFill>
          <a:ln>
            <a:solidFill>
              <a:srgbClr val="DA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1109479" y="4281641"/>
            <a:ext cx="65195" cy="475488"/>
          </a:xfrm>
          <a:prstGeom prst="rect">
            <a:avLst/>
          </a:prstGeom>
          <a:solidFill>
            <a:srgbClr val="FBBC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1328935" y="4427945"/>
            <a:ext cx="2607780" cy="298543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defRPr sz="1700" b="1">
                <a:solidFill>
                  <a:srgbClr val="202124"/>
                </a:solidFill>
                <a:latin typeface="微软雅黑" panose="020B0503020204020204" charset="-122"/>
              </a:defRPr>
            </a:pPr>
            <a:r>
              <a:t>新法规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1109480" y="4903433"/>
            <a:ext cx="1960432" cy="475488"/>
          </a:xfrm>
          <a:prstGeom prst="roundRect">
            <a:avLst/>
          </a:prstGeom>
          <a:solidFill>
            <a:srgbClr val="FFFFFF"/>
          </a:solidFill>
          <a:ln>
            <a:solidFill>
              <a:srgbClr val="DA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1109479" y="4903433"/>
            <a:ext cx="65195" cy="475488"/>
          </a:xfrm>
          <a:prstGeom prst="rect">
            <a:avLst/>
          </a:prstGeom>
          <a:solidFill>
            <a:srgbClr val="EA4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1328935" y="5049737"/>
            <a:ext cx="2607780" cy="298543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defRPr sz="1700" b="1">
                <a:solidFill>
                  <a:srgbClr val="202124"/>
                </a:solidFill>
                <a:latin typeface="微软雅黑" panose="020B0503020204020204" charset="-122"/>
              </a:defRPr>
            </a:pPr>
            <a:r>
              <a:rPr dirty="0" err="1"/>
              <a:t>旧模型继续产出</a:t>
            </a:r>
            <a:endParaRPr dirty="0"/>
          </a:p>
        </p:txBody>
      </p:sp>
      <p:sp>
        <p:nvSpPr>
          <p:cNvPr id="37" name="TextBox 36"/>
          <p:cNvSpPr txBox="1"/>
          <p:nvPr/>
        </p:nvSpPr>
        <p:spPr>
          <a:xfrm>
            <a:off x="3751644" y="3854592"/>
            <a:ext cx="5010912" cy="16459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defRPr sz="1700" b="1">
                <a:solidFill>
                  <a:srgbClr val="EA4335"/>
                </a:solidFill>
                <a:latin typeface="微软雅黑" panose="020B0503020204020204" charset="-122"/>
              </a:defRPr>
            </a:pPr>
            <a:r>
              <a:rPr dirty="0" err="1"/>
              <a:t>谁能把外部信号真正接回训练管线</a:t>
            </a:r>
            <a:r>
              <a:rPr dirty="0"/>
              <a:t>？</a:t>
            </a:r>
          </a:p>
        </p:txBody>
      </p:sp>
      <p:cxnSp>
        <p:nvCxnSpPr>
          <p:cNvPr id="84" name="Connector 9"/>
          <p:cNvCxnSpPr/>
          <p:nvPr/>
        </p:nvCxnSpPr>
        <p:spPr>
          <a:xfrm>
            <a:off x="3475811" y="4230991"/>
            <a:ext cx="4992624" cy="828"/>
          </a:xfrm>
          <a:prstGeom prst="line">
            <a:avLst/>
          </a:prstGeom>
          <a:ln w="63500">
            <a:gradFill flip="none" rotWithShape="1">
              <a:gsLst>
                <a:gs pos="0">
                  <a:srgbClr val="FF0000"/>
                </a:gs>
                <a:gs pos="62000">
                  <a:srgbClr val="FF0000"/>
                </a:gs>
                <a:gs pos="95000">
                  <a:srgbClr val="FED3D2"/>
                </a:gs>
              </a:gsLst>
              <a:lin ang="0" scaled="1"/>
              <a:tileRect/>
            </a:gradFill>
            <a:headEnd type="none"/>
            <a:tailEnd type="triangle"/>
          </a:ln>
          <a:effectLst>
            <a:outerShdw blurRad="40000" dist="20000" dir="5400000" rotWithShape="0">
              <a:srgbClr val="000000">
                <a:alpha val="0"/>
              </a:srgbClr>
            </a:outerShd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5" name="右大括号 104"/>
          <p:cNvSpPr/>
          <p:nvPr/>
        </p:nvSpPr>
        <p:spPr>
          <a:xfrm>
            <a:off x="3069912" y="3119883"/>
            <a:ext cx="552702" cy="2168068"/>
          </a:xfrm>
          <a:prstGeom prst="rightBrace">
            <a:avLst>
              <a:gd name="adj1" fmla="val 8333"/>
              <a:gd name="adj2" fmla="val 51261"/>
            </a:avLst>
          </a:prstGeom>
          <a:ln w="63500">
            <a:solidFill>
              <a:srgbClr val="FF0000"/>
            </a:solidFill>
            <a:bevel/>
          </a:ln>
          <a:effectLst>
            <a:outerShdw blurRad="40000" dist="20000" dir="5400000" rotWithShape="0">
              <a:srgbClr val="000000">
                <a:alpha val="0"/>
              </a:srgbClr>
            </a:outerShd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3076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11734" y="1246890"/>
            <a:ext cx="2477836" cy="25655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右弧形箭头 70"/>
          <p:cNvSpPr/>
          <p:nvPr/>
        </p:nvSpPr>
        <p:spPr>
          <a:xfrm>
            <a:off x="10077707" y="3610509"/>
            <a:ext cx="600075" cy="1028700"/>
          </a:xfrm>
          <a:prstGeom prst="curvedLeftArrow">
            <a:avLst/>
          </a:prstGeom>
          <a:solidFill>
            <a:srgbClr val="4285F4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23" name="右弧形箭头 71"/>
          <p:cNvSpPr/>
          <p:nvPr/>
        </p:nvSpPr>
        <p:spPr>
          <a:xfrm rot="10800000">
            <a:off x="9414132" y="3551454"/>
            <a:ext cx="600075" cy="1028700"/>
          </a:xfrm>
          <a:prstGeom prst="curvedLeftArrow">
            <a:avLst/>
          </a:prstGeom>
          <a:solidFill>
            <a:srgbClr val="4285F4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43" name="Text 13"/>
          <p:cNvSpPr/>
          <p:nvPr/>
        </p:nvSpPr>
        <p:spPr>
          <a:xfrm>
            <a:off x="0" y="6291072"/>
            <a:ext cx="3047924" cy="566928"/>
          </a:xfrm>
          <a:prstGeom prst="rect">
            <a:avLst/>
          </a:prstGeom>
          <a:solidFill>
            <a:srgbClr val="E8EEF6"/>
          </a:solidFill>
          <a:ln w="10160">
            <a:solidFill>
              <a:srgbClr val="D7DEE8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5C6B7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1  训练数据</a:t>
            </a:r>
            <a:endParaRPr lang="en-US" sz="1400" dirty="0"/>
          </a:p>
        </p:txBody>
      </p:sp>
      <p:sp>
        <p:nvSpPr>
          <p:cNvPr id="44" name="Text 14"/>
          <p:cNvSpPr/>
          <p:nvPr/>
        </p:nvSpPr>
        <p:spPr>
          <a:xfrm>
            <a:off x="9153820" y="6293000"/>
            <a:ext cx="3047924" cy="566928"/>
          </a:xfrm>
          <a:prstGeom prst="rect">
            <a:avLst/>
          </a:prstGeom>
          <a:solidFill>
            <a:srgbClr val="064D8F"/>
          </a:solidFill>
          <a:ln w="10160">
            <a:solidFill>
              <a:srgbClr val="064D8F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4  </a:t>
            </a:r>
            <a:r>
              <a:rPr lang="zh-CN" altLang="en-US" sz="14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反馈迭代</a:t>
            </a:r>
            <a:endParaRPr lang="en-US" sz="1400" dirty="0"/>
          </a:p>
        </p:txBody>
      </p:sp>
      <p:sp>
        <p:nvSpPr>
          <p:cNvPr id="45" name="Text 15"/>
          <p:cNvSpPr/>
          <p:nvPr/>
        </p:nvSpPr>
        <p:spPr>
          <a:xfrm>
            <a:off x="3047923" y="6289145"/>
            <a:ext cx="3047924" cy="566928"/>
          </a:xfrm>
          <a:prstGeom prst="rect">
            <a:avLst/>
          </a:prstGeom>
          <a:solidFill>
            <a:srgbClr val="E8EEF6"/>
          </a:solidFill>
          <a:ln w="10160">
            <a:solidFill>
              <a:srgbClr val="D7DEE8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5C6B7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2  </a:t>
            </a:r>
            <a:r>
              <a:rPr lang="zh-CN" altLang="en-US" sz="1400" dirty="0">
                <a:solidFill>
                  <a:srgbClr val="5C6B7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模型设计</a:t>
            </a:r>
            <a:endParaRPr lang="en-US" sz="1400" dirty="0"/>
          </a:p>
        </p:txBody>
      </p:sp>
      <p:sp>
        <p:nvSpPr>
          <p:cNvPr id="46" name="Text 16"/>
          <p:cNvSpPr/>
          <p:nvPr/>
        </p:nvSpPr>
        <p:spPr>
          <a:xfrm>
            <a:off x="6095846" y="6287218"/>
            <a:ext cx="3047924" cy="566928"/>
          </a:xfrm>
          <a:prstGeom prst="rect">
            <a:avLst/>
          </a:prstGeom>
          <a:solidFill>
            <a:srgbClr val="E8EEF6"/>
          </a:solidFill>
          <a:ln w="10160">
            <a:solidFill>
              <a:srgbClr val="D7DEE8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5C6B7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3  </a:t>
            </a:r>
            <a:r>
              <a:rPr lang="zh-CN" altLang="en-US" sz="1400" dirty="0">
                <a:solidFill>
                  <a:srgbClr val="5C6B7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输出控制</a:t>
            </a:r>
            <a:endParaRPr lang="en-US" sz="1400" dirty="0"/>
          </a:p>
        </p:txBody>
      </p:sp>
      <p:pic>
        <p:nvPicPr>
          <p:cNvPr id="2" name="Picture 1" descr="ISE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643675" y="219456"/>
            <a:ext cx="1133797" cy="825119"/>
          </a:xfrm>
          <a:prstGeom prst="rect">
            <a:avLst/>
          </a:prstGeom>
        </p:spPr>
      </p:pic>
      <p:sp>
        <p:nvSpPr>
          <p:cNvPr id="3" name="TextBox 3081"/>
          <p:cNvSpPr txBox="1"/>
          <p:nvPr/>
        </p:nvSpPr>
        <p:spPr>
          <a:xfrm>
            <a:off x="8380000" y="260000"/>
            <a:ext cx="2300000" cy="3200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sz="1200" b="0">
                <a:solidFill>
                  <a:srgbClr val="5C6B7C"/>
                </a:solidFill>
                <a:latin typeface="微软雅黑" panose="020B0503020204020204" charset="-122"/>
              </a:rPr>
              <a:t>汇报人：李梓川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Freeform 6"/>
          <p:cNvSpPr/>
          <p:nvPr/>
        </p:nvSpPr>
        <p:spPr>
          <a:xfrm>
            <a:off x="6238888" y="2091483"/>
            <a:ext cx="819034" cy="2266651"/>
          </a:xfrm>
          <a:custGeom>
            <a:avLst/>
            <a:gdLst/>
            <a:ahLst/>
            <a:cxnLst/>
            <a:rect l="l" t="t" r="r" b="b"/>
            <a:pathLst>
              <a:path w="4572000" h="4953000">
                <a:moveTo>
                  <a:pt x="152400" y="0"/>
                </a:moveTo>
                <a:lnTo>
                  <a:pt x="4419600" y="0"/>
                </a:lnTo>
                <a:cubicBezTo>
                  <a:pt x="4503768" y="0"/>
                  <a:pt x="4572000" y="68232"/>
                  <a:pt x="4572000" y="152400"/>
                </a:cubicBezTo>
                <a:lnTo>
                  <a:pt x="4572000" y="4800600"/>
                </a:lnTo>
                <a:cubicBezTo>
                  <a:pt x="4572000" y="4884768"/>
                  <a:pt x="4503768" y="4953000"/>
                  <a:pt x="4419600" y="4953000"/>
                </a:cubicBezTo>
                <a:lnTo>
                  <a:pt x="152400" y="4953000"/>
                </a:lnTo>
                <a:cubicBezTo>
                  <a:pt x="68232" y="4953000"/>
                  <a:pt x="0" y="4884768"/>
                  <a:pt x="0" y="4800600"/>
                </a:cubicBezTo>
                <a:lnTo>
                  <a:pt x="0" y="152400"/>
                </a:lnTo>
                <a:cubicBezTo>
                  <a:pt x="0" y="68232"/>
                  <a:pt x="68232" y="0"/>
                  <a:pt x="152400" y="0"/>
                </a:cubicBezTo>
                <a:close/>
              </a:path>
            </a:pathLst>
          </a:custGeom>
          <a:solidFill>
            <a:srgbClr val="F8F9FA"/>
          </a:solidFill>
          <a:ln w="28575">
            <a:solidFill>
              <a:srgbClr val="FFC000"/>
            </a:solidFill>
          </a:ln>
          <a:effectLst>
            <a:outerShdw blurRad="114300" dist="28575" dir="10798854" algn="t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zh-CN" alt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543727" y="508635"/>
            <a:ext cx="5214216" cy="406265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defRPr sz="2400" b="1">
                <a:solidFill>
                  <a:srgbClr val="202124"/>
                </a:solidFill>
                <a:latin typeface="微软雅黑" panose="020B0503020204020204" charset="-122"/>
              </a:defRPr>
            </a:pPr>
            <a:r>
              <a:rPr dirty="0">
                <a:solidFill>
                  <a:srgbClr val="2F78FF"/>
                </a:solidFill>
              </a:rPr>
              <a:t>Have I Been Trained</a:t>
            </a:r>
            <a:r>
              <a:rPr lang="zh-CN" altLang="en-US" dirty="0">
                <a:solidFill>
                  <a:srgbClr val="2F78FF"/>
                </a:solidFill>
              </a:rPr>
              <a:t>：</a:t>
            </a:r>
            <a:endParaRPr dirty="0">
              <a:solidFill>
                <a:srgbClr val="2F78FF"/>
              </a:solidFill>
            </a:endParaRPr>
          </a:p>
        </p:txBody>
      </p:sp>
      <p:grpSp>
        <p:nvGrpSpPr>
          <p:cNvPr id="61" name="Group 28"/>
          <p:cNvGrpSpPr/>
          <p:nvPr/>
        </p:nvGrpSpPr>
        <p:grpSpPr>
          <a:xfrm>
            <a:off x="438911" y="-868597"/>
            <a:ext cx="5084227" cy="6540976"/>
            <a:chOff x="699051" y="2397442"/>
            <a:chExt cx="4320766" cy="10025204"/>
          </a:xfrm>
        </p:grpSpPr>
        <p:sp>
          <p:nvSpPr>
            <p:cNvPr id="62" name="Freeform 6"/>
            <p:cNvSpPr/>
            <p:nvPr/>
          </p:nvSpPr>
          <p:spPr>
            <a:xfrm>
              <a:off x="699051" y="5377208"/>
              <a:ext cx="4320766" cy="7045438"/>
            </a:xfrm>
            <a:custGeom>
              <a:avLst/>
              <a:gdLst/>
              <a:ahLst/>
              <a:cxnLst/>
              <a:rect l="l" t="t" r="r" b="b"/>
              <a:pathLst>
                <a:path w="4572000" h="4953000">
                  <a:moveTo>
                    <a:pt x="152400" y="0"/>
                  </a:moveTo>
                  <a:lnTo>
                    <a:pt x="4419600" y="0"/>
                  </a:lnTo>
                  <a:cubicBezTo>
                    <a:pt x="4503768" y="0"/>
                    <a:pt x="4572000" y="68232"/>
                    <a:pt x="4572000" y="152400"/>
                  </a:cubicBezTo>
                  <a:lnTo>
                    <a:pt x="4572000" y="4800600"/>
                  </a:lnTo>
                  <a:cubicBezTo>
                    <a:pt x="4572000" y="4884768"/>
                    <a:pt x="4503768" y="4953000"/>
                    <a:pt x="4419600" y="4953000"/>
                  </a:cubicBezTo>
                  <a:lnTo>
                    <a:pt x="152400" y="4953000"/>
                  </a:lnTo>
                  <a:cubicBezTo>
                    <a:pt x="68232" y="4953000"/>
                    <a:pt x="0" y="4884768"/>
                    <a:pt x="0" y="4800600"/>
                  </a:cubicBezTo>
                  <a:lnTo>
                    <a:pt x="0" y="152400"/>
                  </a:lnTo>
                  <a:cubicBezTo>
                    <a:pt x="0" y="68232"/>
                    <a:pt x="68232" y="0"/>
                    <a:pt x="152400" y="0"/>
                  </a:cubicBezTo>
                  <a:close/>
                </a:path>
              </a:pathLst>
            </a:custGeom>
            <a:solidFill>
              <a:srgbClr val="F8F9FA"/>
            </a:solidFill>
            <a:ln w="28575">
              <a:solidFill>
                <a:srgbClr val="4285F4"/>
              </a:solidFill>
            </a:ln>
            <a:effectLst>
              <a:outerShdw blurRad="114300" dist="28575" dir="10798854" algn="tl" rotWithShape="0">
                <a:srgbClr val="000000">
                  <a:alpha val="25000"/>
                </a:srgbClr>
              </a:outerShdw>
            </a:effectLst>
          </p:spPr>
          <p:txBody>
            <a:bodyPr/>
            <a:lstStyle/>
            <a:p>
              <a:endParaRPr lang="zh-CN" altLang="en-US" dirty="0"/>
            </a:p>
          </p:txBody>
        </p:sp>
        <p:sp>
          <p:nvSpPr>
            <p:cNvPr id="66" name="TextBox 10"/>
            <p:cNvSpPr txBox="1"/>
            <p:nvPr/>
          </p:nvSpPr>
          <p:spPr>
            <a:xfrm>
              <a:off x="840105" y="2397442"/>
              <a:ext cx="52" cy="17053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endParaRPr lang="zh-CN" sz="1350" dirty="0">
                <a:solidFill>
                  <a:srgbClr val="5F6368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endParaRPr>
            </a:p>
          </p:txBody>
        </p:sp>
        <p:sp>
          <p:nvSpPr>
            <p:cNvPr id="68" name="TextBox 12"/>
            <p:cNvSpPr txBox="1"/>
            <p:nvPr/>
          </p:nvSpPr>
          <p:spPr>
            <a:xfrm>
              <a:off x="836295" y="3012758"/>
              <a:ext cx="52" cy="20842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endParaRPr lang="zh-CN" sz="1650" b="1" dirty="0">
                <a:solidFill>
                  <a:srgbClr val="4285F4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endParaRPr>
            </a:p>
          </p:txBody>
        </p:sp>
      </p:grpSp>
      <p:sp>
        <p:nvSpPr>
          <p:cNvPr id="86" name="TextBox 25"/>
          <p:cNvSpPr txBox="1"/>
          <p:nvPr/>
        </p:nvSpPr>
        <p:spPr>
          <a:xfrm>
            <a:off x="753580" y="3240545"/>
            <a:ext cx="1057982" cy="253916"/>
          </a:xfrm>
          <a:prstGeom prst="rect">
            <a:avLst/>
          </a:prstGeom>
          <a:noFill/>
          <a:ln>
            <a:noFill/>
          </a:ln>
          <a:effectLst>
            <a:outerShdw blurRad="114300" dist="38100" dir="10799140" algn="tl" rotWithShape="0">
              <a:srgbClr val="000000">
                <a:alpha val="25000"/>
              </a:srgbClr>
            </a:outerShdw>
          </a:effectLst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altLang="en-US" sz="1650" b="1" dirty="0">
                <a:solidFill>
                  <a:srgbClr val="1A237E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图库大小：</a:t>
            </a:r>
            <a:endParaRPr lang="zh-CN" sz="1650" b="1" dirty="0">
              <a:solidFill>
                <a:srgbClr val="1A237E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88" name="文本框 87"/>
          <p:cNvSpPr txBox="1"/>
          <p:nvPr/>
        </p:nvSpPr>
        <p:spPr>
          <a:xfrm>
            <a:off x="489999" y="3456642"/>
            <a:ext cx="157051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2800" b="1" dirty="0">
                <a:solidFill>
                  <a:srgbClr val="4285F4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58.5</a:t>
            </a:r>
            <a:r>
              <a:rPr lang="zh-CN" altLang="en-US" sz="2800" b="1" dirty="0">
                <a:solidFill>
                  <a:srgbClr val="4285F4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亿</a:t>
            </a:r>
            <a:endParaRPr lang="zh-CN" altLang="zh-CN" sz="2800" b="1" dirty="0">
              <a:solidFill>
                <a:srgbClr val="4285F4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89" name="TextBox 19"/>
          <p:cNvSpPr txBox="1"/>
          <p:nvPr/>
        </p:nvSpPr>
        <p:spPr>
          <a:xfrm>
            <a:off x="746264" y="4013080"/>
            <a:ext cx="1057982" cy="253916"/>
          </a:xfrm>
          <a:prstGeom prst="rect">
            <a:avLst/>
          </a:prstGeom>
          <a:noFill/>
          <a:ln>
            <a:noFill/>
          </a:ln>
          <a:effectLst>
            <a:outerShdw blurRad="114300" dist="38100" dir="10799140" algn="tl" rotWithShape="0">
              <a:srgbClr val="000000">
                <a:alpha val="25000"/>
              </a:srgbClr>
            </a:outerShdw>
          </a:effectLst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altLang="en-US" sz="1650" b="1" dirty="0">
                <a:solidFill>
                  <a:srgbClr val="1A237E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法律依据：</a:t>
            </a:r>
            <a:endParaRPr lang="zh-CN" sz="1650" b="1" dirty="0">
              <a:solidFill>
                <a:srgbClr val="1A237E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91" name="文本框 90"/>
          <p:cNvSpPr txBox="1"/>
          <p:nvPr/>
        </p:nvSpPr>
        <p:spPr>
          <a:xfrm>
            <a:off x="633411" y="4278386"/>
            <a:ext cx="412446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1800" b="1" dirty="0">
                <a:solidFill>
                  <a:srgbClr val="4285F4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AI Act </a:t>
            </a:r>
            <a:r>
              <a:rPr lang="zh-CN" altLang="en-US" sz="1800" b="1" dirty="0">
                <a:solidFill>
                  <a:srgbClr val="4285F4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把</a:t>
            </a:r>
            <a:r>
              <a:rPr lang="en-US" altLang="zh-CN" sz="1800" b="1" dirty="0">
                <a:solidFill>
                  <a:srgbClr val="4285F4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"</a:t>
            </a:r>
            <a:r>
              <a:rPr lang="zh-CN" altLang="en-US" sz="1800" b="1" dirty="0">
                <a:solidFill>
                  <a:srgbClr val="4285F4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尊重 </a:t>
            </a:r>
            <a:r>
              <a:rPr lang="en-US" altLang="zh-CN" sz="1800" b="1" dirty="0">
                <a:solidFill>
                  <a:srgbClr val="4285F4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opt-out"</a:t>
            </a:r>
            <a:r>
              <a:rPr lang="zh-CN" altLang="en-US" sz="1800" b="1" dirty="0">
                <a:solidFill>
                  <a:srgbClr val="4285F4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写成法律义务</a:t>
            </a:r>
            <a:endParaRPr lang="zh-CN" altLang="zh-CN" sz="1800" b="1" dirty="0">
              <a:solidFill>
                <a:srgbClr val="4285F4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92" name="Line 11"/>
          <p:cNvSpPr/>
          <p:nvPr/>
        </p:nvSpPr>
        <p:spPr>
          <a:xfrm>
            <a:off x="753580" y="4689328"/>
            <a:ext cx="4557122" cy="45719"/>
          </a:xfrm>
          <a:custGeom>
            <a:avLst/>
            <a:gdLst/>
            <a:ahLst/>
            <a:cxnLst/>
            <a:rect l="l" t="t" r="r" b="b"/>
            <a:pathLst>
              <a:path w="4000500" h="9525">
                <a:moveTo>
                  <a:pt x="0" y="0"/>
                </a:moveTo>
                <a:lnTo>
                  <a:pt x="4000500" y="0"/>
                </a:lnTo>
              </a:path>
            </a:pathLst>
          </a:custGeom>
          <a:noFill/>
          <a:ln w="9525">
            <a:solidFill>
              <a:srgbClr val="E8EAED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3" name="TextBox 31"/>
          <p:cNvSpPr txBox="1"/>
          <p:nvPr/>
        </p:nvSpPr>
        <p:spPr>
          <a:xfrm>
            <a:off x="740464" y="4784135"/>
            <a:ext cx="1274387" cy="253916"/>
          </a:xfrm>
          <a:prstGeom prst="rect">
            <a:avLst/>
          </a:prstGeom>
          <a:noFill/>
          <a:ln>
            <a:noFill/>
          </a:ln>
          <a:effectLst>
            <a:outerShdw blurRad="114300" dist="38100" dir="10799140" algn="tl" rotWithShape="0">
              <a:srgbClr val="000000">
                <a:alpha val="25000"/>
              </a:srgbClr>
            </a:outerShdw>
          </a:effectLst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altLang="zh-CN" sz="1650" b="1" dirty="0">
                <a:solidFill>
                  <a:srgbClr val="1A237E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AI</a:t>
            </a:r>
            <a:r>
              <a:rPr lang="zh-CN" altLang="en-US" sz="1650" b="1" dirty="0">
                <a:solidFill>
                  <a:srgbClr val="1A237E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厂家回应：</a:t>
            </a:r>
            <a:endParaRPr lang="zh-CN" sz="1650" b="1" dirty="0">
              <a:solidFill>
                <a:srgbClr val="1A237E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94" name="文本框 93"/>
          <p:cNvSpPr txBox="1"/>
          <p:nvPr/>
        </p:nvSpPr>
        <p:spPr>
          <a:xfrm>
            <a:off x="466213" y="5087139"/>
            <a:ext cx="521427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1800" b="1" dirty="0">
                <a:solidFill>
                  <a:srgbClr val="4285F4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Stability AI </a:t>
            </a:r>
            <a:r>
              <a:rPr lang="zh-CN" altLang="en-US" sz="1800" b="1" dirty="0">
                <a:solidFill>
                  <a:srgbClr val="4285F4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在 </a:t>
            </a:r>
            <a:r>
              <a:rPr lang="en-US" altLang="zh-CN" sz="1800" b="1" dirty="0">
                <a:solidFill>
                  <a:srgbClr val="4285F4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SD 3 </a:t>
            </a:r>
            <a:r>
              <a:rPr lang="zh-CN" altLang="en-US" sz="1800" b="1" dirty="0">
                <a:solidFill>
                  <a:srgbClr val="4285F4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训练时已正式尊重该名单</a:t>
            </a:r>
            <a:endParaRPr lang="zh-CN" altLang="zh-CN" sz="1800" b="1" dirty="0">
              <a:solidFill>
                <a:srgbClr val="4285F4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95" name="Rounded Rectangle 6"/>
          <p:cNvSpPr/>
          <p:nvPr/>
        </p:nvSpPr>
        <p:spPr>
          <a:xfrm>
            <a:off x="8111281" y="732867"/>
            <a:ext cx="2315174" cy="820649"/>
          </a:xfrm>
          <a:prstGeom prst="roundRect">
            <a:avLst/>
          </a:prstGeom>
          <a:solidFill>
            <a:srgbClr val="E6F4EA"/>
          </a:solidFill>
          <a:ln>
            <a:solidFill>
              <a:srgbClr val="DA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6" name="TextBox 7"/>
          <p:cNvSpPr txBox="1"/>
          <p:nvPr/>
        </p:nvSpPr>
        <p:spPr>
          <a:xfrm>
            <a:off x="8317892" y="841347"/>
            <a:ext cx="1901952" cy="31393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defRPr sz="1800" b="1">
                <a:solidFill>
                  <a:srgbClr val="34A853"/>
                </a:solidFill>
                <a:latin typeface="微软雅黑" panose="020B0503020204020204" charset="-122"/>
              </a:defRPr>
            </a:pPr>
            <a:r>
              <a:rPr dirty="0" err="1"/>
              <a:t>发现</a:t>
            </a:r>
            <a:endParaRPr dirty="0"/>
          </a:p>
        </p:txBody>
      </p:sp>
      <p:sp>
        <p:nvSpPr>
          <p:cNvPr id="97" name="TextBox 8"/>
          <p:cNvSpPr txBox="1"/>
          <p:nvPr/>
        </p:nvSpPr>
        <p:spPr>
          <a:xfrm>
            <a:off x="8221009" y="1215087"/>
            <a:ext cx="2037810" cy="26776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defRPr sz="1500" b="0">
                <a:solidFill>
                  <a:srgbClr val="202124"/>
                </a:solidFill>
                <a:latin typeface="微软雅黑" panose="020B0503020204020204" charset="-122"/>
              </a:defRPr>
            </a:pPr>
            <a:r>
              <a:rPr dirty="0" err="1">
                <a:solidFill>
                  <a:srgbClr val="34A853"/>
                </a:solidFill>
              </a:rPr>
              <a:t>查到作品进入训练集</a:t>
            </a:r>
            <a:endParaRPr dirty="0">
              <a:solidFill>
                <a:srgbClr val="34A853"/>
              </a:solidFill>
            </a:endParaRPr>
          </a:p>
        </p:txBody>
      </p:sp>
      <p:sp>
        <p:nvSpPr>
          <p:cNvPr id="98" name="Rounded Rectangle 10"/>
          <p:cNvSpPr/>
          <p:nvPr/>
        </p:nvSpPr>
        <p:spPr>
          <a:xfrm>
            <a:off x="8111281" y="1692391"/>
            <a:ext cx="2315174" cy="844392"/>
          </a:xfrm>
          <a:prstGeom prst="roundRect">
            <a:avLst/>
          </a:prstGeom>
          <a:solidFill>
            <a:srgbClr val="E8F0FE"/>
          </a:solidFill>
          <a:ln>
            <a:solidFill>
              <a:srgbClr val="DA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9" name="TextBox 11"/>
          <p:cNvSpPr txBox="1"/>
          <p:nvPr/>
        </p:nvSpPr>
        <p:spPr>
          <a:xfrm>
            <a:off x="8317892" y="1824614"/>
            <a:ext cx="1901952" cy="31393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defRPr sz="1800" b="1">
                <a:solidFill>
                  <a:srgbClr val="4285F4"/>
                </a:solidFill>
                <a:latin typeface="微软雅黑" panose="020B0503020204020204" charset="-122"/>
              </a:defRPr>
            </a:pPr>
            <a:r>
              <a:rPr dirty="0" err="1"/>
              <a:t>声明</a:t>
            </a:r>
            <a:endParaRPr dirty="0"/>
          </a:p>
        </p:txBody>
      </p:sp>
      <p:sp>
        <p:nvSpPr>
          <p:cNvPr id="100" name="TextBox 12"/>
          <p:cNvSpPr txBox="1"/>
          <p:nvPr/>
        </p:nvSpPr>
        <p:spPr>
          <a:xfrm>
            <a:off x="8421635" y="2198354"/>
            <a:ext cx="1694466" cy="26776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defRPr sz="1500" b="0">
                <a:solidFill>
                  <a:srgbClr val="202124"/>
                </a:solidFill>
                <a:latin typeface="微软雅黑" panose="020B0503020204020204" charset="-122"/>
              </a:defRPr>
            </a:pPr>
            <a:r>
              <a:rPr dirty="0" err="1">
                <a:solidFill>
                  <a:srgbClr val="0070C0"/>
                </a:solidFill>
              </a:rPr>
              <a:t>提交</a:t>
            </a:r>
            <a:r>
              <a:rPr dirty="0">
                <a:solidFill>
                  <a:srgbClr val="0070C0"/>
                </a:solidFill>
              </a:rPr>
              <a:t> Do Not Train</a:t>
            </a:r>
          </a:p>
        </p:txBody>
      </p:sp>
      <p:sp>
        <p:nvSpPr>
          <p:cNvPr id="101" name="Rounded Rectangle 14"/>
          <p:cNvSpPr/>
          <p:nvPr/>
        </p:nvSpPr>
        <p:spPr>
          <a:xfrm>
            <a:off x="8111281" y="2692176"/>
            <a:ext cx="2351750" cy="867401"/>
          </a:xfrm>
          <a:prstGeom prst="roundRect">
            <a:avLst/>
          </a:prstGeom>
          <a:solidFill>
            <a:srgbClr val="FEF7E0"/>
          </a:solidFill>
          <a:ln>
            <a:solidFill>
              <a:srgbClr val="DA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2" name="TextBox 15"/>
          <p:cNvSpPr txBox="1"/>
          <p:nvPr/>
        </p:nvSpPr>
        <p:spPr>
          <a:xfrm>
            <a:off x="8252362" y="2823068"/>
            <a:ext cx="1901952" cy="31393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defRPr sz="1800" b="1">
                <a:solidFill>
                  <a:srgbClr val="FBBC05"/>
                </a:solidFill>
                <a:latin typeface="微软雅黑" panose="020B0503020204020204" charset="-122"/>
              </a:defRPr>
            </a:pPr>
            <a:r>
              <a:rPr dirty="0" err="1"/>
              <a:t>读取</a:t>
            </a:r>
            <a:endParaRPr dirty="0"/>
          </a:p>
        </p:txBody>
      </p:sp>
      <p:sp>
        <p:nvSpPr>
          <p:cNvPr id="103" name="TextBox 16"/>
          <p:cNvSpPr txBox="1"/>
          <p:nvPr/>
        </p:nvSpPr>
        <p:spPr>
          <a:xfrm>
            <a:off x="8427623" y="3183648"/>
            <a:ext cx="1694466" cy="26776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defRPr sz="1500" b="0">
                <a:solidFill>
                  <a:srgbClr val="202124"/>
                </a:solidFill>
                <a:latin typeface="微软雅黑" panose="020B0503020204020204" charset="-122"/>
              </a:defRPr>
            </a:pPr>
            <a:r>
              <a:rPr dirty="0" err="1">
                <a:solidFill>
                  <a:srgbClr val="FFC000"/>
                </a:solidFill>
              </a:rPr>
              <a:t>训练管线识别名单</a:t>
            </a:r>
            <a:endParaRPr dirty="0">
              <a:solidFill>
                <a:srgbClr val="FFC000"/>
              </a:solidFill>
            </a:endParaRPr>
          </a:p>
        </p:txBody>
      </p:sp>
      <p:sp>
        <p:nvSpPr>
          <p:cNvPr id="104" name="Rounded Rectangle 18"/>
          <p:cNvSpPr/>
          <p:nvPr/>
        </p:nvSpPr>
        <p:spPr>
          <a:xfrm>
            <a:off x="8144421" y="4807600"/>
            <a:ext cx="2315174" cy="880874"/>
          </a:xfrm>
          <a:prstGeom prst="roundRect">
            <a:avLst/>
          </a:prstGeom>
          <a:solidFill>
            <a:srgbClr val="FCE8E6"/>
          </a:solidFill>
          <a:ln>
            <a:solidFill>
              <a:srgbClr val="DA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5" name="TextBox 19"/>
          <p:cNvSpPr txBox="1"/>
          <p:nvPr/>
        </p:nvSpPr>
        <p:spPr>
          <a:xfrm>
            <a:off x="8351032" y="4919343"/>
            <a:ext cx="1901951" cy="3124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defRPr sz="1800" b="1">
                <a:solidFill>
                  <a:srgbClr val="EA4335"/>
                </a:solidFill>
                <a:latin typeface="微软雅黑" panose="020B0503020204020204" charset="-122"/>
              </a:defRPr>
            </a:pPr>
            <a:r>
              <a:rPr lang="zh-CN" dirty="0"/>
              <a:t>回流</a:t>
            </a:r>
          </a:p>
        </p:txBody>
      </p:sp>
      <p:sp>
        <p:nvSpPr>
          <p:cNvPr id="106" name="TextBox 20"/>
          <p:cNvSpPr txBox="1"/>
          <p:nvPr/>
        </p:nvSpPr>
        <p:spPr>
          <a:xfrm>
            <a:off x="8251825" y="5276215"/>
            <a:ext cx="2101215" cy="266065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defRPr sz="1500" b="0">
                <a:solidFill>
                  <a:srgbClr val="202124"/>
                </a:solidFill>
                <a:latin typeface="微软雅黑" panose="020B0503020204020204" charset="-122"/>
              </a:defRPr>
            </a:pPr>
            <a:r>
              <a:rPr lang="zh-CN" dirty="0">
                <a:solidFill>
                  <a:srgbClr val="FF0000"/>
                </a:solidFill>
              </a:rPr>
              <a:t>新规则进入下一轮训练</a:t>
            </a:r>
          </a:p>
        </p:txBody>
      </p:sp>
      <p:sp>
        <p:nvSpPr>
          <p:cNvPr id="107" name="Rounded Rectangle 22"/>
          <p:cNvSpPr/>
          <p:nvPr/>
        </p:nvSpPr>
        <p:spPr>
          <a:xfrm>
            <a:off x="8147857" y="3726365"/>
            <a:ext cx="2315174" cy="880874"/>
          </a:xfrm>
          <a:prstGeom prst="roundRect">
            <a:avLst/>
          </a:prstGeom>
          <a:solidFill>
            <a:srgbClr val="E6F4EA"/>
          </a:solidFill>
          <a:ln>
            <a:solidFill>
              <a:srgbClr val="DA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8" name="TextBox 23"/>
          <p:cNvSpPr txBox="1"/>
          <p:nvPr/>
        </p:nvSpPr>
        <p:spPr>
          <a:xfrm>
            <a:off x="8354467" y="3827436"/>
            <a:ext cx="1901951" cy="3124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defRPr sz="1800" b="1">
                <a:solidFill>
                  <a:srgbClr val="34A853"/>
                </a:solidFill>
                <a:latin typeface="微软雅黑" panose="020B0503020204020204" charset="-122"/>
              </a:defRPr>
            </a:pPr>
            <a:r>
              <a:rPr lang="zh-CN" altLang="en-US" dirty="0"/>
              <a:t>剔除</a:t>
            </a:r>
          </a:p>
        </p:txBody>
      </p:sp>
      <p:sp>
        <p:nvSpPr>
          <p:cNvPr id="109" name="TextBox 24"/>
          <p:cNvSpPr txBox="1"/>
          <p:nvPr/>
        </p:nvSpPr>
        <p:spPr>
          <a:xfrm>
            <a:off x="8250725" y="4260936"/>
            <a:ext cx="2102566" cy="266065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defRPr sz="1500" b="0">
                <a:solidFill>
                  <a:srgbClr val="202124"/>
                </a:solidFill>
                <a:latin typeface="微软雅黑" panose="020B0503020204020204" charset="-122"/>
              </a:defRPr>
            </a:pPr>
            <a:r>
              <a:rPr lang="zh-CN" dirty="0">
                <a:solidFill>
                  <a:srgbClr val="34A853"/>
                </a:solidFill>
              </a:rPr>
              <a:t>数据选择被改写</a:t>
            </a:r>
          </a:p>
        </p:txBody>
      </p:sp>
      <p:sp>
        <p:nvSpPr>
          <p:cNvPr id="110" name="箭头: 右弧形 109"/>
          <p:cNvSpPr/>
          <p:nvPr/>
        </p:nvSpPr>
        <p:spPr>
          <a:xfrm>
            <a:off x="10426455" y="1034645"/>
            <a:ext cx="576460" cy="1056838"/>
          </a:xfrm>
          <a:prstGeom prst="curvedLeftArrow">
            <a:avLst/>
          </a:prstGeom>
          <a:gradFill>
            <a:gsLst>
              <a:gs pos="0">
                <a:srgbClr val="75DBFF"/>
              </a:gs>
              <a:gs pos="100000">
                <a:srgbClr val="5DFFA6"/>
              </a:gs>
            </a:gsLst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111" name="箭头: 右弧形 110"/>
          <p:cNvSpPr/>
          <p:nvPr/>
        </p:nvSpPr>
        <p:spPr>
          <a:xfrm>
            <a:off x="10495256" y="2167970"/>
            <a:ext cx="532259" cy="1056838"/>
          </a:xfrm>
          <a:prstGeom prst="curvedLeftArrow">
            <a:avLst/>
          </a:prstGeom>
          <a:gradFill>
            <a:gsLst>
              <a:gs pos="0">
                <a:srgbClr val="FFC000"/>
              </a:gs>
              <a:gs pos="100000">
                <a:srgbClr val="75DBFF"/>
              </a:gs>
            </a:gsLst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112" name="箭头: 右弧形 111"/>
          <p:cNvSpPr/>
          <p:nvPr/>
        </p:nvSpPr>
        <p:spPr>
          <a:xfrm>
            <a:off x="10498131" y="3298987"/>
            <a:ext cx="576460" cy="1056838"/>
          </a:xfrm>
          <a:prstGeom prst="curvedLeftArrow">
            <a:avLst/>
          </a:prstGeom>
          <a:gradFill>
            <a:gsLst>
              <a:gs pos="0">
                <a:srgbClr val="5DFFA6"/>
              </a:gs>
              <a:gs pos="100000">
                <a:srgbClr val="FFC000"/>
              </a:gs>
            </a:gsLst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113" name="箭头: 右弧形 112"/>
          <p:cNvSpPr/>
          <p:nvPr/>
        </p:nvSpPr>
        <p:spPr>
          <a:xfrm>
            <a:off x="10532703" y="4407670"/>
            <a:ext cx="576460" cy="1056838"/>
          </a:xfrm>
          <a:prstGeom prst="curvedLeftArrow">
            <a:avLst/>
          </a:prstGeom>
          <a:gradFill>
            <a:gsLst>
              <a:gs pos="0">
                <a:srgbClr val="FF9999"/>
              </a:gs>
              <a:gs pos="100000">
                <a:srgbClr val="5DFFA6"/>
              </a:gs>
            </a:gsLst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115" name="文本框 114"/>
          <p:cNvSpPr txBox="1"/>
          <p:nvPr/>
        </p:nvSpPr>
        <p:spPr>
          <a:xfrm>
            <a:off x="6339885" y="2205161"/>
            <a:ext cx="819033" cy="20621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b="1" dirty="0">
                <a:solidFill>
                  <a:srgbClr val="FFC000"/>
                </a:solidFill>
                <a:latin typeface="微软雅黑" panose="020B0503020204020204" charset="-122"/>
                <a:ea typeface="微软雅黑" panose="020B0503020204020204" charset="-122"/>
              </a:rPr>
              <a:t>使用流程</a:t>
            </a:r>
          </a:p>
        </p:txBody>
      </p:sp>
      <p:sp>
        <p:nvSpPr>
          <p:cNvPr id="117" name="左大括号 116"/>
          <p:cNvSpPr/>
          <p:nvPr/>
        </p:nvSpPr>
        <p:spPr>
          <a:xfrm>
            <a:off x="7567961" y="1068114"/>
            <a:ext cx="343459" cy="4476031"/>
          </a:xfrm>
          <a:prstGeom prst="leftBrace">
            <a:avLst>
              <a:gd name="adj1" fmla="val 8333"/>
              <a:gd name="adj2" fmla="val 49947"/>
            </a:avLst>
          </a:prstGeom>
          <a:ln>
            <a:gradFill>
              <a:gsLst>
                <a:gs pos="0">
                  <a:srgbClr val="5DFFA6"/>
                </a:gs>
                <a:gs pos="49500">
                  <a:srgbClr val="FFC000"/>
                </a:gs>
                <a:gs pos="26000">
                  <a:schemeClr val="accent1">
                    <a:lumMod val="45000"/>
                    <a:lumOff val="55000"/>
                  </a:schemeClr>
                </a:gs>
                <a:gs pos="73000">
                  <a:srgbClr val="5DFFA6"/>
                </a:gs>
                <a:gs pos="100000">
                  <a:srgbClr val="FF9999"/>
                </a:gs>
              </a:gsLst>
              <a:lin ang="5400000" scaled="1"/>
            </a:gradFill>
            <a:bevel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19" name="直接连接符 118"/>
          <p:cNvCxnSpPr>
            <a:stCxn id="117" idx="1"/>
          </p:cNvCxnSpPr>
          <p:nvPr/>
        </p:nvCxnSpPr>
        <p:spPr>
          <a:xfrm flipH="1">
            <a:off x="7057922" y="3303757"/>
            <a:ext cx="510039" cy="2372"/>
          </a:xfrm>
          <a:prstGeom prst="line">
            <a:avLst/>
          </a:prstGeom>
          <a:ln>
            <a:solidFill>
              <a:srgbClr val="FFC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Line 11"/>
          <p:cNvSpPr/>
          <p:nvPr/>
        </p:nvSpPr>
        <p:spPr>
          <a:xfrm>
            <a:off x="740464" y="3937392"/>
            <a:ext cx="4557122" cy="45719"/>
          </a:xfrm>
          <a:custGeom>
            <a:avLst/>
            <a:gdLst/>
            <a:ahLst/>
            <a:cxnLst/>
            <a:rect l="l" t="t" r="r" b="b"/>
            <a:pathLst>
              <a:path w="4000500" h="9525">
                <a:moveTo>
                  <a:pt x="0" y="0"/>
                </a:moveTo>
                <a:lnTo>
                  <a:pt x="4000500" y="0"/>
                </a:lnTo>
              </a:path>
            </a:pathLst>
          </a:custGeom>
          <a:noFill/>
          <a:ln w="9525">
            <a:solidFill>
              <a:srgbClr val="E8EAED"/>
            </a:solidFill>
          </a:ln>
        </p:spPr>
        <p:txBody>
          <a:bodyPr/>
          <a:lstStyle/>
          <a:p>
            <a:endParaRPr lang="zh-CN" altLang="en-US"/>
          </a:p>
        </p:txBody>
      </p:sp>
      <p:pic>
        <p:nvPicPr>
          <p:cNvPr id="13" name="图片 1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6295" y="1314591"/>
            <a:ext cx="4751264" cy="1740449"/>
          </a:xfrm>
          <a:prstGeom prst="rect">
            <a:avLst/>
          </a:prstGeom>
        </p:spPr>
      </p:pic>
      <p:sp>
        <p:nvSpPr>
          <p:cNvPr id="10" name="Text 13"/>
          <p:cNvSpPr/>
          <p:nvPr/>
        </p:nvSpPr>
        <p:spPr>
          <a:xfrm>
            <a:off x="0" y="6291072"/>
            <a:ext cx="3047924" cy="566928"/>
          </a:xfrm>
          <a:prstGeom prst="rect">
            <a:avLst/>
          </a:prstGeom>
          <a:solidFill>
            <a:srgbClr val="E8EEF6"/>
          </a:solidFill>
          <a:ln w="10160">
            <a:solidFill>
              <a:srgbClr val="D7DEE8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5C6B7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1  训练数据</a:t>
            </a:r>
            <a:endParaRPr lang="en-US" sz="1400" dirty="0"/>
          </a:p>
        </p:txBody>
      </p:sp>
      <p:sp>
        <p:nvSpPr>
          <p:cNvPr id="12" name="Text 14"/>
          <p:cNvSpPr/>
          <p:nvPr/>
        </p:nvSpPr>
        <p:spPr>
          <a:xfrm>
            <a:off x="9153820" y="6293000"/>
            <a:ext cx="3047924" cy="566928"/>
          </a:xfrm>
          <a:prstGeom prst="rect">
            <a:avLst/>
          </a:prstGeom>
          <a:solidFill>
            <a:srgbClr val="064D8F"/>
          </a:solidFill>
          <a:ln w="10160">
            <a:solidFill>
              <a:srgbClr val="064D8F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4  </a:t>
            </a:r>
            <a:r>
              <a:rPr lang="zh-CN" altLang="en-US" sz="14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反馈迭代</a:t>
            </a:r>
            <a:endParaRPr lang="en-US" sz="1400" dirty="0"/>
          </a:p>
        </p:txBody>
      </p:sp>
      <p:sp>
        <p:nvSpPr>
          <p:cNvPr id="14" name="Text 15"/>
          <p:cNvSpPr/>
          <p:nvPr/>
        </p:nvSpPr>
        <p:spPr>
          <a:xfrm>
            <a:off x="3047923" y="6289145"/>
            <a:ext cx="3047924" cy="566928"/>
          </a:xfrm>
          <a:prstGeom prst="rect">
            <a:avLst/>
          </a:prstGeom>
          <a:solidFill>
            <a:srgbClr val="E8EEF6"/>
          </a:solidFill>
          <a:ln w="10160">
            <a:solidFill>
              <a:srgbClr val="D7DEE8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5C6B7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2  </a:t>
            </a:r>
            <a:r>
              <a:rPr lang="zh-CN" altLang="en-US" sz="1400" dirty="0">
                <a:solidFill>
                  <a:srgbClr val="5C6B7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模型设计</a:t>
            </a:r>
            <a:endParaRPr lang="en-US" sz="1400" dirty="0"/>
          </a:p>
        </p:txBody>
      </p:sp>
      <p:sp>
        <p:nvSpPr>
          <p:cNvPr id="15" name="Text 16"/>
          <p:cNvSpPr/>
          <p:nvPr/>
        </p:nvSpPr>
        <p:spPr>
          <a:xfrm>
            <a:off x="6095846" y="6287218"/>
            <a:ext cx="3047924" cy="566928"/>
          </a:xfrm>
          <a:prstGeom prst="rect">
            <a:avLst/>
          </a:prstGeom>
          <a:solidFill>
            <a:srgbClr val="E8EEF6"/>
          </a:solidFill>
          <a:ln w="10160">
            <a:solidFill>
              <a:srgbClr val="D7DEE8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5C6B7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3  </a:t>
            </a:r>
            <a:r>
              <a:rPr lang="zh-CN" altLang="en-US" sz="1400" dirty="0">
                <a:solidFill>
                  <a:srgbClr val="5C6B7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输出控制</a:t>
            </a:r>
            <a:endParaRPr lang="en-US" sz="1400" dirty="0"/>
          </a:p>
        </p:txBody>
      </p:sp>
      <p:pic>
        <p:nvPicPr>
          <p:cNvPr id="2" name="Picture 1" descr="ISE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643675" y="219456"/>
            <a:ext cx="1133797" cy="825119"/>
          </a:xfrm>
          <a:prstGeom prst="rect">
            <a:avLst/>
          </a:prstGeom>
        </p:spPr>
      </p:pic>
      <p:sp>
        <p:nvSpPr>
          <p:cNvPr id="3" name="TextBox 3081"/>
          <p:cNvSpPr txBox="1"/>
          <p:nvPr/>
        </p:nvSpPr>
        <p:spPr>
          <a:xfrm>
            <a:off x="8380000" y="260000"/>
            <a:ext cx="2300000" cy="3200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sz="1200" b="0">
                <a:solidFill>
                  <a:srgbClr val="5C6B7C"/>
                </a:solidFill>
                <a:latin typeface="微软雅黑" panose="020B0503020204020204" charset="-122"/>
              </a:rPr>
              <a:t>汇报人：李梓川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5" name="Group 35"/>
          <p:cNvGrpSpPr/>
          <p:nvPr/>
        </p:nvGrpSpPr>
        <p:grpSpPr>
          <a:xfrm>
            <a:off x="6210328" y="1228344"/>
            <a:ext cx="5334000" cy="2286000"/>
            <a:chOff x="6286500" y="1333500"/>
            <a:chExt cx="5334000" cy="2286000"/>
          </a:xfrm>
          <a:effectLst>
            <a:outerShdw blurRad="95250" dist="28575" dir="10798854" algn="tl" rotWithShape="0">
              <a:srgbClr val="000000">
                <a:alpha val="25000"/>
              </a:srgbClr>
            </a:outerShdw>
          </a:effectLst>
        </p:grpSpPr>
        <p:sp>
          <p:nvSpPr>
            <p:cNvPr id="186" name="Freeform 21"/>
            <p:cNvSpPr/>
            <p:nvPr/>
          </p:nvSpPr>
          <p:spPr>
            <a:xfrm>
              <a:off x="6286500" y="1333500"/>
              <a:ext cx="5334000" cy="2286000"/>
            </a:xfrm>
            <a:custGeom>
              <a:avLst/>
              <a:gdLst/>
              <a:ahLst/>
              <a:cxnLst/>
              <a:rect l="l" t="t" r="r" b="b"/>
              <a:pathLst>
                <a:path w="5334000" h="2286000">
                  <a:moveTo>
                    <a:pt x="152400" y="0"/>
                  </a:moveTo>
                  <a:lnTo>
                    <a:pt x="5181600" y="0"/>
                  </a:lnTo>
                  <a:cubicBezTo>
                    <a:pt x="5265768" y="0"/>
                    <a:pt x="5334000" y="68232"/>
                    <a:pt x="5334000" y="152400"/>
                  </a:cubicBezTo>
                  <a:lnTo>
                    <a:pt x="5334000" y="2133600"/>
                  </a:lnTo>
                  <a:cubicBezTo>
                    <a:pt x="5334000" y="2217768"/>
                    <a:pt x="5265768" y="2286000"/>
                    <a:pt x="5181600" y="2286000"/>
                  </a:cubicBezTo>
                  <a:lnTo>
                    <a:pt x="152400" y="2286000"/>
                  </a:lnTo>
                  <a:cubicBezTo>
                    <a:pt x="68232" y="2286000"/>
                    <a:pt x="0" y="2217768"/>
                    <a:pt x="0" y="2133600"/>
                  </a:cubicBezTo>
                  <a:lnTo>
                    <a:pt x="0" y="152400"/>
                  </a:lnTo>
                  <a:cubicBezTo>
                    <a:pt x="0" y="68232"/>
                    <a:pt x="68232" y="0"/>
                    <a:pt x="152400" y="0"/>
                  </a:cubicBezTo>
                  <a:close/>
                </a:path>
              </a:pathLst>
            </a:custGeom>
            <a:solidFill>
              <a:srgbClr val="FFFFFF"/>
            </a:solidFill>
            <a:ln w="28575">
              <a:solidFill>
                <a:srgbClr val="34A853"/>
              </a:solidFill>
            </a:ln>
            <a:effectLst>
              <a:outerShdw blurRad="95250" dist="28575" dir="10798854" algn="tl" rotWithShape="0">
                <a:srgbClr val="000000">
                  <a:alpha val="25000"/>
                </a:srgbClr>
              </a:outerShdw>
            </a:effec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7" name="TextBox 22"/>
            <p:cNvSpPr txBox="1"/>
            <p:nvPr/>
          </p:nvSpPr>
          <p:spPr>
            <a:xfrm>
              <a:off x="6549390" y="1513463"/>
              <a:ext cx="1713867" cy="276999"/>
            </a:xfrm>
            <a:prstGeom prst="rect">
              <a:avLst/>
            </a:prstGeom>
            <a:noFill/>
            <a:ln>
              <a:noFill/>
            </a:ln>
            <a:effectLst>
              <a:outerShdw blurRad="95250" dist="28575" dir="10798854" algn="tl" rotWithShape="0">
                <a:srgbClr val="000000">
                  <a:alpha val="250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altLang="zh-CN" sz="1800" b="1" dirty="0">
                  <a:solidFill>
                    <a:srgbClr val="34A853"/>
                  </a:solidFill>
                  <a:latin typeface="Segoe UI" panose="020B0502040204020203"/>
                  <a:ea typeface="微软雅黑" panose="020B0503020204020204" charset="-122"/>
                  <a:cs typeface="Segoe UI" panose="020B0502040204020203"/>
                </a:rPr>
                <a:t>DeviantArt </a:t>
              </a:r>
              <a:r>
                <a:rPr lang="zh-CN" altLang="en-US" sz="1800" b="1" dirty="0">
                  <a:solidFill>
                    <a:srgbClr val="34A853"/>
                  </a:solidFill>
                  <a:latin typeface="Segoe UI" panose="020B0502040204020203"/>
                  <a:ea typeface="微软雅黑" panose="020B0503020204020204" charset="-122"/>
                  <a:cs typeface="Segoe UI" panose="020B0502040204020203"/>
                </a:rPr>
                <a:t>集成</a:t>
              </a:r>
              <a:endParaRPr lang="zh-CN" sz="1800" b="1" dirty="0">
                <a:solidFill>
                  <a:srgbClr val="34A853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endParaRPr>
            </a:p>
          </p:txBody>
        </p:sp>
        <p:sp>
          <p:nvSpPr>
            <p:cNvPr id="198" name="TextBox 24"/>
            <p:cNvSpPr txBox="1"/>
            <p:nvPr/>
          </p:nvSpPr>
          <p:spPr>
            <a:xfrm>
              <a:off x="7715218" y="2059305"/>
              <a:ext cx="64" cy="323165"/>
            </a:xfrm>
            <a:prstGeom prst="rect">
              <a:avLst/>
            </a:prstGeom>
            <a:noFill/>
            <a:ln>
              <a:noFill/>
            </a:ln>
            <a:effectLst>
              <a:outerShdw blurRad="95250" dist="28575" dir="10798854" algn="tl" rotWithShape="0">
                <a:srgbClr val="000000">
                  <a:alpha val="250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endParaRPr lang="zh-CN" sz="2100" b="1" dirty="0">
                <a:solidFill>
                  <a:srgbClr val="34A853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endParaRPr>
            </a:p>
          </p:txBody>
        </p:sp>
      </p:grpSp>
      <p:sp>
        <p:nvSpPr>
          <p:cNvPr id="3" name="TextBox 2"/>
          <p:cNvSpPr txBox="1"/>
          <p:nvPr/>
        </p:nvSpPr>
        <p:spPr>
          <a:xfrm>
            <a:off x="475488" y="310896"/>
            <a:ext cx="1051560" cy="12801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反馈管线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75488" y="676656"/>
            <a:ext cx="9966960" cy="406265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defRPr sz="2400" b="1">
                <a:solidFill>
                  <a:srgbClr val="202124"/>
                </a:solidFill>
                <a:latin typeface="微软雅黑" panose="020B0503020204020204" charset="-122"/>
              </a:defRPr>
            </a:pPr>
            <a:r>
              <a:rPr dirty="0" err="1">
                <a:solidFill>
                  <a:srgbClr val="2F78FF"/>
                </a:solidFill>
              </a:rPr>
              <a:t>反馈不止一种：行业开始长出“回流接口</a:t>
            </a:r>
            <a:r>
              <a:rPr dirty="0">
                <a:solidFill>
                  <a:srgbClr val="2F78FF"/>
                </a:solidFill>
              </a:rPr>
              <a:t>”</a:t>
            </a:r>
          </a:p>
        </p:txBody>
      </p:sp>
      <p:grpSp>
        <p:nvGrpSpPr>
          <p:cNvPr id="170" name="Group 20"/>
          <p:cNvGrpSpPr/>
          <p:nvPr/>
        </p:nvGrpSpPr>
        <p:grpSpPr>
          <a:xfrm>
            <a:off x="495328" y="1228344"/>
            <a:ext cx="5333943" cy="2286000"/>
            <a:chOff x="571500" y="1333500"/>
            <a:chExt cx="5334000" cy="2286000"/>
          </a:xfrm>
          <a:effectLst>
            <a:outerShdw blurRad="95250" dist="28575" dir="10798854" algn="tl" rotWithShape="0">
              <a:srgbClr val="000000">
                <a:alpha val="25000"/>
              </a:srgbClr>
            </a:outerShdw>
          </a:effectLst>
        </p:grpSpPr>
        <p:sp>
          <p:nvSpPr>
            <p:cNvPr id="171" name="Freeform 6"/>
            <p:cNvSpPr/>
            <p:nvPr/>
          </p:nvSpPr>
          <p:spPr>
            <a:xfrm>
              <a:off x="571500" y="1333500"/>
              <a:ext cx="5334000" cy="2286000"/>
            </a:xfrm>
            <a:custGeom>
              <a:avLst/>
              <a:gdLst/>
              <a:ahLst/>
              <a:cxnLst/>
              <a:rect l="l" t="t" r="r" b="b"/>
              <a:pathLst>
                <a:path w="5334000" h="2286000">
                  <a:moveTo>
                    <a:pt x="152400" y="0"/>
                  </a:moveTo>
                  <a:lnTo>
                    <a:pt x="5181600" y="0"/>
                  </a:lnTo>
                  <a:cubicBezTo>
                    <a:pt x="5265768" y="0"/>
                    <a:pt x="5334000" y="68232"/>
                    <a:pt x="5334000" y="152400"/>
                  </a:cubicBezTo>
                  <a:lnTo>
                    <a:pt x="5334000" y="2133600"/>
                  </a:lnTo>
                  <a:cubicBezTo>
                    <a:pt x="5334000" y="2217768"/>
                    <a:pt x="5265768" y="2286000"/>
                    <a:pt x="5181600" y="2286000"/>
                  </a:cubicBezTo>
                  <a:lnTo>
                    <a:pt x="152400" y="2286000"/>
                  </a:lnTo>
                  <a:cubicBezTo>
                    <a:pt x="68232" y="2286000"/>
                    <a:pt x="0" y="2217768"/>
                    <a:pt x="0" y="2133600"/>
                  </a:cubicBezTo>
                  <a:lnTo>
                    <a:pt x="0" y="152400"/>
                  </a:lnTo>
                  <a:cubicBezTo>
                    <a:pt x="0" y="68232"/>
                    <a:pt x="68232" y="0"/>
                    <a:pt x="152400" y="0"/>
                  </a:cubicBezTo>
                  <a:close/>
                </a:path>
              </a:pathLst>
            </a:custGeom>
            <a:solidFill>
              <a:srgbClr val="FFFFFF"/>
            </a:solidFill>
            <a:ln w="28575">
              <a:solidFill>
                <a:srgbClr val="4285F4"/>
              </a:solidFill>
            </a:ln>
            <a:effectLst>
              <a:outerShdw blurRad="95250" dist="28575" dir="10798854" algn="tl" rotWithShape="0">
                <a:srgbClr val="000000">
                  <a:alpha val="25000"/>
                </a:srgbClr>
              </a:outerShdw>
            </a:effectLst>
          </p:spPr>
          <p:txBody>
            <a:bodyPr/>
            <a:lstStyle/>
            <a:p>
              <a:endParaRPr lang="zh-CN" altLang="en-US" dirty="0"/>
            </a:p>
          </p:txBody>
        </p:sp>
        <p:sp>
          <p:nvSpPr>
            <p:cNvPr id="172" name="TextBox 7"/>
            <p:cNvSpPr txBox="1"/>
            <p:nvPr/>
          </p:nvSpPr>
          <p:spPr>
            <a:xfrm>
              <a:off x="834390" y="1520190"/>
              <a:ext cx="2152856" cy="276999"/>
            </a:xfrm>
            <a:prstGeom prst="rect">
              <a:avLst/>
            </a:prstGeom>
            <a:noFill/>
            <a:ln>
              <a:noFill/>
            </a:ln>
            <a:effectLst>
              <a:outerShdw blurRad="95250" dist="28575" dir="10798854" algn="tl" rotWithShape="0">
                <a:srgbClr val="000000">
                  <a:alpha val="250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altLang="zh-CN" b="1" dirty="0">
                  <a:solidFill>
                    <a:srgbClr val="1A237E"/>
                  </a:solidFill>
                  <a:latin typeface="Segoe UI" panose="020B0502040204020203"/>
                  <a:ea typeface="微软雅黑" panose="020B0503020204020204" charset="-122"/>
                  <a:cs typeface="Segoe UI" panose="020B0502040204020203"/>
                </a:rPr>
                <a:t>Spawning ai.txt</a:t>
              </a:r>
              <a:r>
                <a:rPr lang="zh-CN" altLang="en-US" b="1" dirty="0">
                  <a:solidFill>
                    <a:srgbClr val="1A237E"/>
                  </a:solidFill>
                  <a:latin typeface="Segoe UI" panose="020B0502040204020203"/>
                  <a:ea typeface="微软雅黑" panose="020B0503020204020204" charset="-122"/>
                  <a:cs typeface="Segoe UI" panose="020B0502040204020203"/>
                </a:rPr>
                <a:t>协议</a:t>
              </a:r>
              <a:endParaRPr lang="zh-CN" sz="1800" b="1" dirty="0">
                <a:solidFill>
                  <a:srgbClr val="1A237E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endParaRPr>
            </a:p>
          </p:txBody>
        </p:sp>
        <p:sp>
          <p:nvSpPr>
            <p:cNvPr id="184" name="TextBox 9"/>
            <p:cNvSpPr txBox="1"/>
            <p:nvPr/>
          </p:nvSpPr>
          <p:spPr>
            <a:xfrm>
              <a:off x="982980" y="1949768"/>
              <a:ext cx="1078950" cy="207749"/>
            </a:xfrm>
            <a:prstGeom prst="rect">
              <a:avLst/>
            </a:prstGeom>
            <a:noFill/>
            <a:ln>
              <a:noFill/>
            </a:ln>
            <a:effectLst>
              <a:outerShdw blurRad="95250" dist="28575" dir="10798854" algn="tl" rotWithShape="0">
                <a:srgbClr val="000000">
                  <a:alpha val="250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altLang="en-US" sz="1350" dirty="0">
                  <a:solidFill>
                    <a:srgbClr val="5F6368"/>
                  </a:solidFill>
                  <a:latin typeface="Segoe UI" panose="020B0502040204020203"/>
                  <a:ea typeface="微软雅黑" panose="020B0503020204020204" charset="-122"/>
                  <a:cs typeface="Segoe UI" panose="020B0502040204020203"/>
                </a:rPr>
                <a:t>类似</a:t>
              </a:r>
              <a:r>
                <a:rPr lang="en-US" altLang="zh-CN" sz="1350" dirty="0">
                  <a:solidFill>
                    <a:srgbClr val="5F6368"/>
                  </a:solidFill>
                  <a:latin typeface="Segoe UI" panose="020B0502040204020203"/>
                  <a:ea typeface="微软雅黑" panose="020B0503020204020204" charset="-122"/>
                  <a:cs typeface="Segoe UI" panose="020B0502040204020203"/>
                </a:rPr>
                <a:t>robots.txt</a:t>
              </a:r>
              <a:endParaRPr lang="zh-CN" sz="1350" dirty="0">
                <a:solidFill>
                  <a:srgbClr val="5F6368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endParaRPr>
            </a:p>
          </p:txBody>
        </p:sp>
        <p:grpSp>
          <p:nvGrpSpPr>
            <p:cNvPr id="174" name="Group 13"/>
            <p:cNvGrpSpPr/>
            <p:nvPr/>
          </p:nvGrpSpPr>
          <p:grpSpPr>
            <a:xfrm>
              <a:off x="819150" y="2330768"/>
              <a:ext cx="3106943" cy="207749"/>
              <a:chOff x="819150" y="2330768"/>
              <a:chExt cx="3106943" cy="207749"/>
            </a:xfrm>
          </p:grpSpPr>
          <p:sp>
            <p:nvSpPr>
              <p:cNvPr id="181" name="Ellipse 11"/>
              <p:cNvSpPr/>
              <p:nvPr/>
            </p:nvSpPr>
            <p:spPr>
              <a:xfrm>
                <a:off x="819150" y="2390775"/>
                <a:ext cx="76200" cy="76200"/>
              </a:xfrm>
              <a:prstGeom prst="ellipse">
                <a:avLst/>
              </a:prstGeom>
              <a:solidFill>
                <a:srgbClr val="4285F4"/>
              </a:solidFill>
              <a:ln>
                <a:noFill/>
              </a:ln>
              <a:effectLst>
                <a:outerShdw blurRad="95250" dist="28575" dir="10798854" algn="tl" rotWithShape="0">
                  <a:srgbClr val="000000">
                    <a:alpha val="25000"/>
                  </a:srgbClr>
                </a:outerShdw>
              </a:effec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82" name="TextBox 12"/>
              <p:cNvSpPr txBox="1"/>
              <p:nvPr/>
            </p:nvSpPr>
            <p:spPr>
              <a:xfrm>
                <a:off x="982980" y="2330768"/>
                <a:ext cx="2943113" cy="207749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95250" dist="28575" dir="10798854" algn="tl" rotWithShape="0">
                  <a:srgbClr val="000000">
                    <a:alpha val="25000"/>
                  </a:srgbClr>
                </a:outerShdw>
              </a:effectLst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altLang="en-US" sz="1350" dirty="0">
                    <a:solidFill>
                      <a:srgbClr val="5F6368"/>
                    </a:solidFill>
                    <a:latin typeface="Segoe UI" panose="020B0502040204020203"/>
                    <a:ea typeface="微软雅黑" panose="020B0503020204020204" charset="-122"/>
                    <a:cs typeface="Segoe UI" panose="020B0502040204020203"/>
                  </a:rPr>
                  <a:t>告诉爬虫这里的内容不被允许用于训练</a:t>
                </a:r>
                <a:endParaRPr lang="zh-CN" sz="1350" dirty="0">
                  <a:solidFill>
                    <a:srgbClr val="5F6368"/>
                  </a:solidFill>
                  <a:latin typeface="Segoe UI" panose="020B0502040204020203"/>
                  <a:ea typeface="微软雅黑" panose="020B0503020204020204" charset="-122"/>
                  <a:cs typeface="Segoe UI" panose="020B0502040204020203"/>
                </a:endParaRPr>
              </a:p>
            </p:txBody>
          </p:sp>
        </p:grpSp>
        <p:grpSp>
          <p:nvGrpSpPr>
            <p:cNvPr id="175" name="Group 16"/>
            <p:cNvGrpSpPr/>
            <p:nvPr/>
          </p:nvGrpSpPr>
          <p:grpSpPr>
            <a:xfrm>
              <a:off x="819150" y="2711768"/>
              <a:ext cx="1707522" cy="207749"/>
              <a:chOff x="819150" y="2711768"/>
              <a:chExt cx="1707522" cy="207749"/>
            </a:xfrm>
          </p:grpSpPr>
          <p:sp>
            <p:nvSpPr>
              <p:cNvPr id="179" name="Ellipse 14"/>
              <p:cNvSpPr/>
              <p:nvPr/>
            </p:nvSpPr>
            <p:spPr>
              <a:xfrm>
                <a:off x="819150" y="2771775"/>
                <a:ext cx="76200" cy="76200"/>
              </a:xfrm>
              <a:prstGeom prst="ellipse">
                <a:avLst/>
              </a:prstGeom>
              <a:solidFill>
                <a:srgbClr val="4285F4"/>
              </a:solidFill>
              <a:ln>
                <a:noFill/>
              </a:ln>
              <a:effectLst>
                <a:outerShdw blurRad="95250" dist="28575" dir="10798854" algn="tl" rotWithShape="0">
                  <a:srgbClr val="000000">
                    <a:alpha val="25000"/>
                  </a:srgbClr>
                </a:outerShdw>
              </a:effec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80" name="TextBox 15"/>
              <p:cNvSpPr txBox="1"/>
              <p:nvPr/>
            </p:nvSpPr>
            <p:spPr>
              <a:xfrm>
                <a:off x="982980" y="2711768"/>
                <a:ext cx="1543692" cy="207749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95250" dist="28575" dir="10798854" algn="tl" rotWithShape="0">
                  <a:srgbClr val="000000">
                    <a:alpha val="25000"/>
                  </a:srgbClr>
                </a:outerShdw>
              </a:effectLst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altLang="en-US" sz="1350" dirty="0">
                    <a:solidFill>
                      <a:srgbClr val="75DBFF"/>
                    </a:solidFill>
                    <a:latin typeface="Segoe UI" panose="020B0502040204020203"/>
                    <a:ea typeface="微软雅黑" panose="020B0503020204020204" charset="-122"/>
                    <a:cs typeface="Segoe UI" panose="020B0502040204020203"/>
                  </a:rPr>
                  <a:t>已被多家</a:t>
                </a:r>
                <a:r>
                  <a:rPr lang="en-US" altLang="zh-CN" sz="1350" dirty="0">
                    <a:solidFill>
                      <a:srgbClr val="75DBFF"/>
                    </a:solidFill>
                    <a:latin typeface="Segoe UI" panose="020B0502040204020203"/>
                    <a:ea typeface="微软雅黑" panose="020B0503020204020204" charset="-122"/>
                    <a:cs typeface="Segoe UI" panose="020B0502040204020203"/>
                  </a:rPr>
                  <a:t>AI</a:t>
                </a:r>
                <a:r>
                  <a:rPr lang="zh-CN" altLang="en-US" sz="1350" dirty="0">
                    <a:solidFill>
                      <a:srgbClr val="75DBFF"/>
                    </a:solidFill>
                    <a:latin typeface="Segoe UI" panose="020B0502040204020203"/>
                    <a:ea typeface="微软雅黑" panose="020B0503020204020204" charset="-122"/>
                    <a:cs typeface="Segoe UI" panose="020B0502040204020203"/>
                  </a:rPr>
                  <a:t>公司接受</a:t>
                </a:r>
                <a:endParaRPr lang="zh-CN" sz="1350" dirty="0">
                  <a:solidFill>
                    <a:srgbClr val="75DBFF"/>
                  </a:solidFill>
                  <a:latin typeface="Segoe UI" panose="020B0502040204020203"/>
                  <a:ea typeface="微软雅黑" panose="020B0503020204020204" charset="-122"/>
                  <a:cs typeface="Segoe UI" panose="020B0502040204020203"/>
                </a:endParaRPr>
              </a:p>
            </p:txBody>
          </p:sp>
        </p:grpSp>
      </p:grpSp>
      <p:grpSp>
        <p:nvGrpSpPr>
          <p:cNvPr id="200" name="Group 44"/>
          <p:cNvGrpSpPr/>
          <p:nvPr/>
        </p:nvGrpSpPr>
        <p:grpSpPr>
          <a:xfrm>
            <a:off x="495328" y="3757291"/>
            <a:ext cx="5334000" cy="2286000"/>
            <a:chOff x="571500" y="4000500"/>
            <a:chExt cx="5334000" cy="2286000"/>
          </a:xfrm>
          <a:effectLst>
            <a:outerShdw blurRad="95250" dist="28575" dir="10798854" algn="tl" rotWithShape="0">
              <a:srgbClr val="000000">
                <a:alpha val="25000"/>
              </a:srgbClr>
            </a:outerShdw>
          </a:effectLst>
        </p:grpSpPr>
        <p:sp>
          <p:nvSpPr>
            <p:cNvPr id="201" name="Freeform 36"/>
            <p:cNvSpPr/>
            <p:nvPr/>
          </p:nvSpPr>
          <p:spPr>
            <a:xfrm>
              <a:off x="571500" y="4000500"/>
              <a:ext cx="5334000" cy="2286000"/>
            </a:xfrm>
            <a:custGeom>
              <a:avLst/>
              <a:gdLst/>
              <a:ahLst/>
              <a:cxnLst/>
              <a:rect l="l" t="t" r="r" b="b"/>
              <a:pathLst>
                <a:path w="5334000" h="2286000">
                  <a:moveTo>
                    <a:pt x="152400" y="0"/>
                  </a:moveTo>
                  <a:lnTo>
                    <a:pt x="5181600" y="0"/>
                  </a:lnTo>
                  <a:cubicBezTo>
                    <a:pt x="5265768" y="0"/>
                    <a:pt x="5334000" y="68232"/>
                    <a:pt x="5334000" y="152400"/>
                  </a:cubicBezTo>
                  <a:lnTo>
                    <a:pt x="5334000" y="2133600"/>
                  </a:lnTo>
                  <a:cubicBezTo>
                    <a:pt x="5334000" y="2217768"/>
                    <a:pt x="5265768" y="2286000"/>
                    <a:pt x="5181600" y="2286000"/>
                  </a:cubicBezTo>
                  <a:lnTo>
                    <a:pt x="152400" y="2286000"/>
                  </a:lnTo>
                  <a:cubicBezTo>
                    <a:pt x="68232" y="2286000"/>
                    <a:pt x="0" y="2217768"/>
                    <a:pt x="0" y="2133600"/>
                  </a:cubicBezTo>
                  <a:lnTo>
                    <a:pt x="0" y="152400"/>
                  </a:lnTo>
                  <a:cubicBezTo>
                    <a:pt x="0" y="68232"/>
                    <a:pt x="68232" y="0"/>
                    <a:pt x="152400" y="0"/>
                  </a:cubicBezTo>
                  <a:close/>
                </a:path>
              </a:pathLst>
            </a:custGeom>
            <a:solidFill>
              <a:srgbClr val="FFFFFF"/>
            </a:solidFill>
            <a:ln w="28575">
              <a:solidFill>
                <a:srgbClr val="FBBC04"/>
              </a:solidFill>
            </a:ln>
            <a:effectLst>
              <a:outerShdw blurRad="95250" dist="28575" dir="10798854" algn="tl" rotWithShape="0">
                <a:srgbClr val="000000">
                  <a:alpha val="25000"/>
                </a:srgbClr>
              </a:outerShdw>
            </a:effec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2" name="TextBox 37"/>
            <p:cNvSpPr txBox="1"/>
            <p:nvPr/>
          </p:nvSpPr>
          <p:spPr>
            <a:xfrm>
              <a:off x="895346" y="4173474"/>
              <a:ext cx="3037691" cy="276999"/>
            </a:xfrm>
            <a:prstGeom prst="rect">
              <a:avLst/>
            </a:prstGeom>
            <a:noFill/>
            <a:ln>
              <a:noFill/>
            </a:ln>
            <a:effectLst>
              <a:outerShdw blurRad="95250" dist="28575" dir="10798854" algn="tl" rotWithShape="0">
                <a:srgbClr val="000000">
                  <a:alpha val="250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altLang="en-US" sz="1800" b="1" dirty="0">
                  <a:solidFill>
                    <a:srgbClr val="1A237E"/>
                  </a:solidFill>
                  <a:latin typeface="Segoe UI" panose="020B0502040204020203"/>
                  <a:ea typeface="微软雅黑" panose="020B0503020204020204" charset="-122"/>
                  <a:cs typeface="Segoe UI" panose="020B0502040204020203"/>
                </a:rPr>
                <a:t> </a:t>
              </a:r>
              <a:r>
                <a:rPr lang="en-US" altLang="zh-CN" b="1" dirty="0">
                  <a:solidFill>
                    <a:srgbClr val="FFC000"/>
                  </a:solidFill>
                  <a:latin typeface="Segoe UI" panose="020B0502040204020203"/>
                  <a:ea typeface="微软雅黑" panose="020B0503020204020204" charset="-122"/>
                  <a:cs typeface="Segoe UI" panose="020B0502040204020203"/>
                </a:rPr>
                <a:t>2024</a:t>
              </a:r>
              <a:r>
                <a:rPr lang="zh-CN" altLang="en-US" b="1" dirty="0">
                  <a:solidFill>
                    <a:srgbClr val="FFC000"/>
                  </a:solidFill>
                  <a:latin typeface="Segoe UI" panose="020B0502040204020203"/>
                  <a:ea typeface="微软雅黑" panose="020B0503020204020204" charset="-122"/>
                  <a:cs typeface="Segoe UI" panose="020B0502040204020203"/>
                </a:rPr>
                <a:t>年</a:t>
              </a:r>
              <a:r>
                <a:rPr lang="en-US" altLang="zh-CN" b="1" dirty="0">
                  <a:solidFill>
                    <a:srgbClr val="FFC000"/>
                  </a:solidFill>
                  <a:latin typeface="Segoe UI" panose="020B0502040204020203"/>
                  <a:ea typeface="微软雅黑" panose="020B0503020204020204" charset="-122"/>
                  <a:cs typeface="Segoe UI" panose="020B0502040204020203"/>
                </a:rPr>
                <a:t>6</a:t>
              </a:r>
              <a:r>
                <a:rPr lang="zh-CN" altLang="en-US" b="1" dirty="0">
                  <a:solidFill>
                    <a:srgbClr val="FFC000"/>
                  </a:solidFill>
                  <a:latin typeface="Segoe UI" panose="020B0502040204020203"/>
                  <a:ea typeface="微软雅黑" panose="020B0503020204020204" charset="-122"/>
                  <a:cs typeface="Segoe UI" panose="020B0502040204020203"/>
                </a:rPr>
                <a:t>月</a:t>
              </a:r>
              <a:r>
                <a:rPr lang="zh-CN" altLang="en-US" sz="1800" b="1" dirty="0">
                  <a:solidFill>
                    <a:srgbClr val="FFC000"/>
                  </a:solidFill>
                  <a:latin typeface="Segoe UI" panose="020B0502040204020203"/>
                  <a:ea typeface="微软雅黑" panose="020B0503020204020204" charset="-122"/>
                  <a:cs typeface="Segoe UI" panose="020B0502040204020203"/>
                </a:rPr>
                <a:t>中国画师集体诉讼</a:t>
              </a:r>
              <a:endParaRPr lang="zh-CN" sz="1800" b="1" dirty="0">
                <a:solidFill>
                  <a:srgbClr val="FFC000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endParaRPr>
            </a:p>
          </p:txBody>
        </p:sp>
        <p:sp>
          <p:nvSpPr>
            <p:cNvPr id="208" name="TextBox 39"/>
            <p:cNvSpPr txBox="1"/>
            <p:nvPr/>
          </p:nvSpPr>
          <p:spPr>
            <a:xfrm>
              <a:off x="1030605" y="4931092"/>
              <a:ext cx="65" cy="207749"/>
            </a:xfrm>
            <a:prstGeom prst="rect">
              <a:avLst/>
            </a:prstGeom>
            <a:noFill/>
            <a:ln>
              <a:noFill/>
            </a:ln>
            <a:effectLst>
              <a:outerShdw blurRad="95250" dist="28575" dir="10798854" algn="tl" rotWithShape="0">
                <a:srgbClr val="000000">
                  <a:alpha val="250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endParaRPr lang="zh-CN" sz="1350" dirty="0">
                <a:solidFill>
                  <a:srgbClr val="5F6368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endParaRPr>
            </a:p>
          </p:txBody>
        </p:sp>
        <p:sp>
          <p:nvSpPr>
            <p:cNvPr id="206" name="TextBox 42"/>
            <p:cNvSpPr txBox="1"/>
            <p:nvPr/>
          </p:nvSpPr>
          <p:spPr>
            <a:xfrm>
              <a:off x="1010932" y="5757678"/>
              <a:ext cx="2596865" cy="207749"/>
            </a:xfrm>
            <a:prstGeom prst="rect">
              <a:avLst/>
            </a:prstGeom>
            <a:noFill/>
            <a:ln>
              <a:noFill/>
            </a:ln>
            <a:effectLst>
              <a:outerShdw blurRad="95250" dist="28575" dir="10798854" algn="tl" rotWithShape="0">
                <a:srgbClr val="000000">
                  <a:alpha val="250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altLang="en-US" sz="1350" dirty="0">
                  <a:solidFill>
                    <a:srgbClr val="FFC000"/>
                  </a:solidFill>
                  <a:latin typeface="Segoe UI" panose="020B0502040204020203"/>
                  <a:ea typeface="微软雅黑" panose="020B0503020204020204" charset="-122"/>
                  <a:cs typeface="Segoe UI" panose="020B0502040204020203"/>
                </a:rPr>
                <a:t>法院判决公司须给予画家金额赔偿</a:t>
              </a:r>
              <a:endParaRPr lang="zh-CN" sz="1350" dirty="0">
                <a:solidFill>
                  <a:srgbClr val="FFC000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endParaRPr>
            </a:p>
          </p:txBody>
        </p:sp>
      </p:grpSp>
      <p:grpSp>
        <p:nvGrpSpPr>
          <p:cNvPr id="209" name="Group 65"/>
          <p:cNvGrpSpPr/>
          <p:nvPr/>
        </p:nvGrpSpPr>
        <p:grpSpPr>
          <a:xfrm>
            <a:off x="6153174" y="3752632"/>
            <a:ext cx="5334000" cy="2286000"/>
            <a:chOff x="6286500" y="4000500"/>
            <a:chExt cx="5334000" cy="2286000"/>
          </a:xfrm>
          <a:effectLst>
            <a:outerShdw blurRad="95250" dist="28575" dir="10798854" algn="tl" rotWithShape="0">
              <a:srgbClr val="000000">
                <a:alpha val="25000"/>
              </a:srgbClr>
            </a:outerShdw>
          </a:effectLst>
        </p:grpSpPr>
        <p:sp>
          <p:nvSpPr>
            <p:cNvPr id="210" name="Freeform 45"/>
            <p:cNvSpPr/>
            <p:nvPr/>
          </p:nvSpPr>
          <p:spPr>
            <a:xfrm>
              <a:off x="6286500" y="4000500"/>
              <a:ext cx="5334000" cy="2286000"/>
            </a:xfrm>
            <a:custGeom>
              <a:avLst/>
              <a:gdLst/>
              <a:ahLst/>
              <a:cxnLst/>
              <a:rect l="l" t="t" r="r" b="b"/>
              <a:pathLst>
                <a:path w="5334000" h="2286000">
                  <a:moveTo>
                    <a:pt x="152400" y="0"/>
                  </a:moveTo>
                  <a:lnTo>
                    <a:pt x="5181600" y="0"/>
                  </a:lnTo>
                  <a:cubicBezTo>
                    <a:pt x="5265768" y="0"/>
                    <a:pt x="5334000" y="68232"/>
                    <a:pt x="5334000" y="152400"/>
                  </a:cubicBezTo>
                  <a:lnTo>
                    <a:pt x="5334000" y="2133600"/>
                  </a:lnTo>
                  <a:cubicBezTo>
                    <a:pt x="5334000" y="2217768"/>
                    <a:pt x="5265768" y="2286000"/>
                    <a:pt x="5181600" y="2286000"/>
                  </a:cubicBezTo>
                  <a:lnTo>
                    <a:pt x="152400" y="2286000"/>
                  </a:lnTo>
                  <a:cubicBezTo>
                    <a:pt x="68232" y="2286000"/>
                    <a:pt x="0" y="2217768"/>
                    <a:pt x="0" y="2133600"/>
                  </a:cubicBezTo>
                  <a:lnTo>
                    <a:pt x="0" y="152400"/>
                  </a:lnTo>
                  <a:cubicBezTo>
                    <a:pt x="0" y="68232"/>
                    <a:pt x="68232" y="0"/>
                    <a:pt x="152400" y="0"/>
                  </a:cubicBezTo>
                  <a:close/>
                </a:path>
              </a:pathLst>
            </a:custGeom>
            <a:solidFill>
              <a:srgbClr val="FFFFFF"/>
            </a:solidFill>
            <a:ln w="28575">
              <a:solidFill>
                <a:srgbClr val="EA4335"/>
              </a:solidFill>
            </a:ln>
            <a:effectLst>
              <a:outerShdw blurRad="95250" dist="28575" dir="10798854" algn="tl" rotWithShape="0">
                <a:srgbClr val="000000">
                  <a:alpha val="25000"/>
                </a:srgbClr>
              </a:outerShdw>
            </a:effec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11" name="TextBox 46"/>
            <p:cNvSpPr txBox="1"/>
            <p:nvPr/>
          </p:nvSpPr>
          <p:spPr>
            <a:xfrm>
              <a:off x="6549390" y="4187190"/>
              <a:ext cx="2409314" cy="276999"/>
            </a:xfrm>
            <a:prstGeom prst="rect">
              <a:avLst/>
            </a:prstGeom>
            <a:noFill/>
            <a:ln>
              <a:noFill/>
            </a:ln>
            <a:effectLst>
              <a:outerShdw blurRad="95250" dist="28575" dir="10798854" algn="tl" rotWithShape="0">
                <a:srgbClr val="000000">
                  <a:alpha val="250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altLang="zh-CN" sz="1800" b="1" dirty="0">
                  <a:solidFill>
                    <a:srgbClr val="FF0000"/>
                  </a:solidFill>
                  <a:latin typeface="Segoe UI" panose="020B0502040204020203"/>
                  <a:ea typeface="微软雅黑" panose="020B0503020204020204" charset="-122"/>
                  <a:cs typeface="Segoe UI" panose="020B0502040204020203"/>
                </a:rPr>
                <a:t>Midjourney</a:t>
              </a:r>
              <a:r>
                <a:rPr lang="zh-CN" altLang="en-US" sz="1800" b="1" dirty="0">
                  <a:solidFill>
                    <a:srgbClr val="FF0000"/>
                  </a:solidFill>
                  <a:latin typeface="Segoe UI" panose="020B0502040204020203"/>
                  <a:ea typeface="微软雅黑" panose="020B0503020204020204" charset="-122"/>
                  <a:cs typeface="Segoe UI" panose="020B0502040204020203"/>
                </a:rPr>
                <a:t>关键词拦截</a:t>
              </a:r>
              <a:endParaRPr lang="zh-CN" sz="1800" b="1" dirty="0">
                <a:solidFill>
                  <a:srgbClr val="FF0000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endParaRPr>
            </a:p>
          </p:txBody>
        </p:sp>
        <p:grpSp>
          <p:nvGrpSpPr>
            <p:cNvPr id="215" name="Group 61"/>
            <p:cNvGrpSpPr/>
            <p:nvPr/>
          </p:nvGrpSpPr>
          <p:grpSpPr>
            <a:xfrm>
              <a:off x="6520871" y="4782681"/>
              <a:ext cx="362688" cy="184666"/>
              <a:chOff x="6520871" y="4782681"/>
              <a:chExt cx="362688" cy="184666"/>
            </a:xfrm>
          </p:grpSpPr>
          <p:sp>
            <p:nvSpPr>
              <p:cNvPr id="219" name="Ellipse 59"/>
              <p:cNvSpPr/>
              <p:nvPr/>
            </p:nvSpPr>
            <p:spPr>
              <a:xfrm>
                <a:off x="6520871" y="4849201"/>
                <a:ext cx="76200" cy="76200"/>
              </a:xfrm>
              <a:prstGeom prst="ellipse">
                <a:avLst/>
              </a:prstGeom>
              <a:solidFill>
                <a:srgbClr val="EA4335"/>
              </a:solidFill>
              <a:ln>
                <a:noFill/>
              </a:ln>
              <a:effectLst>
                <a:outerShdw blurRad="95250" dist="28575" dir="10798854" algn="tl" rotWithShape="0">
                  <a:srgbClr val="000000">
                    <a:alpha val="25000"/>
                  </a:srgbClr>
                </a:outerShdw>
              </a:effec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20" name="TextBox 60"/>
              <p:cNvSpPr txBox="1"/>
              <p:nvPr/>
            </p:nvSpPr>
            <p:spPr>
              <a:xfrm>
                <a:off x="6883494" y="4782681"/>
                <a:ext cx="65" cy="184666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95250" dist="28575" dir="10798854" algn="tl" rotWithShape="0">
                  <a:srgbClr val="000000">
                    <a:alpha val="25000"/>
                  </a:srgbClr>
                </a:outerShdw>
              </a:effectLst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endParaRPr lang="zh-CN" sz="1200" dirty="0">
                  <a:solidFill>
                    <a:srgbClr val="5F6368"/>
                  </a:solidFill>
                  <a:latin typeface="Segoe UI" panose="020B0502040204020203"/>
                  <a:ea typeface="微软雅黑" panose="020B0503020204020204" charset="-122"/>
                  <a:cs typeface="Segoe UI" panose="020B0502040204020203"/>
                </a:endParaRPr>
              </a:p>
            </p:txBody>
          </p:sp>
        </p:grpSp>
        <p:grpSp>
          <p:nvGrpSpPr>
            <p:cNvPr id="216" name="Group 64"/>
            <p:cNvGrpSpPr/>
            <p:nvPr/>
          </p:nvGrpSpPr>
          <p:grpSpPr>
            <a:xfrm>
              <a:off x="6533571" y="5522130"/>
              <a:ext cx="2790660" cy="184666"/>
              <a:chOff x="6533571" y="5522130"/>
              <a:chExt cx="2790660" cy="184666"/>
            </a:xfrm>
          </p:grpSpPr>
          <p:sp>
            <p:nvSpPr>
              <p:cNvPr id="217" name="Ellipse 62"/>
              <p:cNvSpPr/>
              <p:nvPr/>
            </p:nvSpPr>
            <p:spPr>
              <a:xfrm>
                <a:off x="6533571" y="5567850"/>
                <a:ext cx="76200" cy="76200"/>
              </a:xfrm>
              <a:prstGeom prst="ellipse">
                <a:avLst/>
              </a:prstGeom>
              <a:solidFill>
                <a:srgbClr val="EA4335"/>
              </a:solidFill>
              <a:ln>
                <a:noFill/>
              </a:ln>
              <a:effectLst>
                <a:outerShdw blurRad="95250" dist="28575" dir="10798854" algn="tl" rotWithShape="0">
                  <a:srgbClr val="000000">
                    <a:alpha val="25000"/>
                  </a:srgbClr>
                </a:outerShdw>
              </a:effec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18" name="TextBox 63"/>
              <p:cNvSpPr txBox="1"/>
              <p:nvPr/>
            </p:nvSpPr>
            <p:spPr>
              <a:xfrm>
                <a:off x="6775456" y="5522130"/>
                <a:ext cx="2548775" cy="184666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95250" dist="28575" dir="10798854" algn="tl" rotWithShape="0">
                  <a:srgbClr val="000000">
                    <a:alpha val="25000"/>
                  </a:srgbClr>
                </a:outerShdw>
              </a:effectLst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altLang="en-US" sz="1200" dirty="0">
                    <a:solidFill>
                      <a:srgbClr val="FF0000"/>
                    </a:solidFill>
                    <a:latin typeface="Segoe UI" panose="020B0502040204020203"/>
                    <a:ea typeface="微软雅黑" panose="020B0503020204020204" charset="-122"/>
                    <a:cs typeface="Segoe UI" panose="020B0502040204020203"/>
                  </a:rPr>
                  <a:t>在同时</a:t>
                </a:r>
                <a:r>
                  <a:rPr lang="en-US" altLang="zh-CN" sz="1200" dirty="0">
                    <a:solidFill>
                      <a:srgbClr val="FF0000"/>
                    </a:solidFill>
                    <a:latin typeface="Segoe UI" panose="020B0502040204020203"/>
                    <a:ea typeface="微软雅黑" panose="020B0503020204020204" charset="-122"/>
                    <a:cs typeface="Segoe UI" panose="020B0502040204020203"/>
                  </a:rPr>
                  <a:t>Midjourney</a:t>
                </a:r>
                <a:r>
                  <a:rPr lang="zh-CN" altLang="en-US" sz="1200" dirty="0">
                    <a:solidFill>
                      <a:srgbClr val="FF0000"/>
                    </a:solidFill>
                    <a:latin typeface="Segoe UI" panose="020B0502040204020203"/>
                    <a:ea typeface="微软雅黑" panose="020B0503020204020204" charset="-122"/>
                    <a:cs typeface="Segoe UI" panose="020B0502040204020203"/>
                  </a:rPr>
                  <a:t>更新了关键词拦截</a:t>
                </a:r>
                <a:endParaRPr lang="zh-CN" sz="1200" dirty="0">
                  <a:solidFill>
                    <a:srgbClr val="FF0000"/>
                  </a:solidFill>
                  <a:latin typeface="Segoe UI" panose="020B0502040204020203"/>
                  <a:ea typeface="微软雅黑" panose="020B0503020204020204" charset="-122"/>
                  <a:cs typeface="Segoe UI" panose="020B0502040204020203"/>
                </a:endParaRPr>
              </a:p>
            </p:txBody>
          </p:sp>
        </p:grpSp>
      </p:grpSp>
      <p:sp>
        <p:nvSpPr>
          <p:cNvPr id="233" name="TextBox 9"/>
          <p:cNvSpPr txBox="1"/>
          <p:nvPr/>
        </p:nvSpPr>
        <p:spPr>
          <a:xfrm>
            <a:off x="6560096" y="1838606"/>
            <a:ext cx="2200924" cy="207749"/>
          </a:xfrm>
          <a:prstGeom prst="rect">
            <a:avLst/>
          </a:prstGeom>
          <a:noFill/>
          <a:ln>
            <a:noFill/>
          </a:ln>
          <a:effectLst>
            <a:outerShdw blurRad="95250" dist="28575" dir="10798854" algn="tl" rotWithShape="0">
              <a:srgbClr val="000000">
                <a:alpha val="25000"/>
              </a:srgbClr>
            </a:outerShdw>
          </a:effectLst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altLang="en-US" sz="1350" dirty="0">
                <a:solidFill>
                  <a:srgbClr val="5F6368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艺术家直接对接</a:t>
            </a:r>
            <a:r>
              <a:rPr lang="en-US" altLang="zh-CN" sz="1350" dirty="0">
                <a:solidFill>
                  <a:srgbClr val="5F6368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Do Not Train</a:t>
            </a:r>
            <a:endParaRPr lang="zh-CN" sz="1350" dirty="0">
              <a:solidFill>
                <a:srgbClr val="5F6368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234" name="Ellipse 8"/>
          <p:cNvSpPr/>
          <p:nvPr/>
        </p:nvSpPr>
        <p:spPr>
          <a:xfrm>
            <a:off x="742978" y="1904619"/>
            <a:ext cx="76200" cy="76200"/>
          </a:xfrm>
          <a:prstGeom prst="ellipse">
            <a:avLst/>
          </a:prstGeom>
          <a:solidFill>
            <a:srgbClr val="4285F4"/>
          </a:solidFill>
          <a:ln>
            <a:noFill/>
          </a:ln>
          <a:effectLst>
            <a:outerShdw blurRad="95250" dist="28575" dir="10798854" algn="t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235" name="Ellipse 8"/>
          <p:cNvSpPr/>
          <p:nvPr/>
        </p:nvSpPr>
        <p:spPr>
          <a:xfrm>
            <a:off x="6396955" y="1904380"/>
            <a:ext cx="76199" cy="76200"/>
          </a:xfrm>
          <a:prstGeom prst="ellipse">
            <a:avLst/>
          </a:prstGeom>
          <a:solidFill>
            <a:srgbClr val="34A853"/>
          </a:solidFill>
          <a:ln>
            <a:noFill/>
          </a:ln>
          <a:effectLst>
            <a:outerShdw blurRad="95250" dist="28575" dir="10798854" algn="t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236" name="Ellipse 8"/>
          <p:cNvSpPr/>
          <p:nvPr/>
        </p:nvSpPr>
        <p:spPr>
          <a:xfrm>
            <a:off x="6403397" y="2666619"/>
            <a:ext cx="76199" cy="76200"/>
          </a:xfrm>
          <a:prstGeom prst="ellipse">
            <a:avLst/>
          </a:prstGeom>
          <a:solidFill>
            <a:srgbClr val="34A853"/>
          </a:solidFill>
          <a:ln>
            <a:noFill/>
          </a:ln>
          <a:effectLst>
            <a:outerShdw blurRad="95250" dist="28575" dir="10798854" algn="t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238" name="TextBox 9"/>
          <p:cNvSpPr txBox="1"/>
          <p:nvPr/>
        </p:nvSpPr>
        <p:spPr>
          <a:xfrm>
            <a:off x="6591328" y="2600844"/>
            <a:ext cx="1558119" cy="207749"/>
          </a:xfrm>
          <a:prstGeom prst="rect">
            <a:avLst/>
          </a:prstGeom>
          <a:noFill/>
          <a:ln>
            <a:noFill/>
          </a:ln>
          <a:effectLst>
            <a:outerShdw blurRad="95250" dist="28575" dir="10798854" algn="tl" rotWithShape="0">
              <a:srgbClr val="000000">
                <a:alpha val="25000"/>
              </a:srgbClr>
            </a:outerShdw>
          </a:effectLst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altLang="en-US" sz="1350" dirty="0">
                <a:solidFill>
                  <a:srgbClr val="34A853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反馈工作嵌入工作流</a:t>
            </a:r>
            <a:endParaRPr lang="zh-CN" sz="1350" dirty="0">
              <a:solidFill>
                <a:srgbClr val="34A853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239" name="Rectangle 1"/>
          <p:cNvSpPr>
            <a:spLocks noChangeArrowheads="1"/>
          </p:cNvSpPr>
          <p:nvPr/>
        </p:nvSpPr>
        <p:spPr bwMode="auto">
          <a:xfrm>
            <a:off x="0" y="-92333"/>
            <a:ext cx="205505" cy="18466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zh-CN" altLang="zh-CN" sz="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endParaRPr kumimoji="0" lang="zh-CN" altLang="zh-CN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45" name="文本框 244"/>
          <p:cNvSpPr txBox="1"/>
          <p:nvPr/>
        </p:nvSpPr>
        <p:spPr>
          <a:xfrm>
            <a:off x="823167" y="4628712"/>
            <a:ext cx="4762435" cy="3708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altLang="zh-CN" sz="1350" dirty="0" err="1">
                <a:solidFill>
                  <a:srgbClr val="5F6368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多名画师起诉大模型公司未经授权用画训练</a:t>
            </a:r>
            <a:endParaRPr lang="en-US" altLang="zh-CN" sz="1800" dirty="0"/>
          </a:p>
        </p:txBody>
      </p:sp>
      <p:sp>
        <p:nvSpPr>
          <p:cNvPr id="249" name="文本框 248"/>
          <p:cNvSpPr txBox="1"/>
          <p:nvPr/>
        </p:nvSpPr>
        <p:spPr>
          <a:xfrm>
            <a:off x="6570347" y="4491688"/>
            <a:ext cx="2194259" cy="5078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350" dirty="0">
                <a:solidFill>
                  <a:srgbClr val="5F6368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被 </a:t>
            </a:r>
            <a:r>
              <a:rPr lang="en-US" altLang="zh-CN" sz="1350" dirty="0">
                <a:solidFill>
                  <a:srgbClr val="5F6368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Reid </a:t>
            </a:r>
            <a:r>
              <a:rPr lang="en-US" altLang="zh-CN" sz="1350" dirty="0" err="1">
                <a:solidFill>
                  <a:srgbClr val="5F6368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Southen</a:t>
            </a:r>
            <a:r>
              <a:rPr lang="en-US" altLang="zh-CN" sz="1350" dirty="0">
                <a:solidFill>
                  <a:srgbClr val="5F6368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 </a:t>
            </a:r>
            <a:r>
              <a:rPr lang="zh-CN" altLang="en-US" sz="1350" dirty="0">
                <a:solidFill>
                  <a:srgbClr val="5F6368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曝光后，</a:t>
            </a:r>
            <a:endParaRPr lang="en-US" altLang="zh-CN" sz="1350" dirty="0">
              <a:solidFill>
                <a:srgbClr val="5F6368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  <a:p>
            <a:r>
              <a:rPr lang="zh-CN" altLang="en-US" sz="1350" dirty="0">
                <a:solidFill>
                  <a:srgbClr val="5F6368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封禁了画师账号</a:t>
            </a:r>
          </a:p>
        </p:txBody>
      </p:sp>
      <p:sp>
        <p:nvSpPr>
          <p:cNvPr id="250" name="Ellipse 59"/>
          <p:cNvSpPr/>
          <p:nvPr/>
        </p:nvSpPr>
        <p:spPr>
          <a:xfrm>
            <a:off x="742298" y="4824091"/>
            <a:ext cx="76200" cy="76200"/>
          </a:xfrm>
          <a:prstGeom prst="ellipse">
            <a:avLst/>
          </a:prstGeom>
          <a:solidFill>
            <a:srgbClr val="FFC000"/>
          </a:solidFill>
          <a:ln>
            <a:noFill/>
          </a:ln>
          <a:effectLst>
            <a:outerShdw blurRad="95250" dist="28575" dir="10798854" algn="t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251" name="Ellipse 59"/>
          <p:cNvSpPr/>
          <p:nvPr/>
        </p:nvSpPr>
        <p:spPr>
          <a:xfrm>
            <a:off x="746967" y="5553456"/>
            <a:ext cx="76200" cy="76200"/>
          </a:xfrm>
          <a:prstGeom prst="ellipse">
            <a:avLst/>
          </a:prstGeom>
          <a:solidFill>
            <a:srgbClr val="FFC000"/>
          </a:solidFill>
          <a:ln>
            <a:noFill/>
          </a:ln>
          <a:effectLst>
            <a:outerShdw blurRad="95250" dist="28575" dir="10798854" algn="t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pic>
        <p:nvPicPr>
          <p:cNvPr id="2050" name="Picture 2" descr="Spawning.ai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05548" y="1293463"/>
            <a:ext cx="1798254" cy="10115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4" name="Picture 6" descr="北京互联网法院天平链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49895" y="4051205"/>
            <a:ext cx="1423647" cy="4358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" name="图片 1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490547" y="1279655"/>
            <a:ext cx="1903801" cy="1025326"/>
          </a:xfrm>
          <a:prstGeom prst="rect">
            <a:avLst/>
          </a:prstGeom>
        </p:spPr>
      </p:pic>
      <p:pic>
        <p:nvPicPr>
          <p:cNvPr id="20" name="图片 19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711348" y="3937262"/>
            <a:ext cx="1724266" cy="828791"/>
          </a:xfrm>
          <a:prstGeom prst="rect">
            <a:avLst/>
          </a:prstGeom>
        </p:spPr>
      </p:pic>
      <p:sp>
        <p:nvSpPr>
          <p:cNvPr id="12" name="Text 13"/>
          <p:cNvSpPr/>
          <p:nvPr/>
        </p:nvSpPr>
        <p:spPr>
          <a:xfrm>
            <a:off x="0" y="6291072"/>
            <a:ext cx="3047924" cy="566928"/>
          </a:xfrm>
          <a:prstGeom prst="rect">
            <a:avLst/>
          </a:prstGeom>
          <a:solidFill>
            <a:srgbClr val="E8EEF6"/>
          </a:solidFill>
          <a:ln w="10160">
            <a:solidFill>
              <a:srgbClr val="D7DEE8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5C6B7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1  训练数据</a:t>
            </a:r>
            <a:endParaRPr lang="en-US" sz="1400" dirty="0"/>
          </a:p>
        </p:txBody>
      </p:sp>
      <p:sp>
        <p:nvSpPr>
          <p:cNvPr id="13" name="Text 14"/>
          <p:cNvSpPr/>
          <p:nvPr/>
        </p:nvSpPr>
        <p:spPr>
          <a:xfrm>
            <a:off x="9153820" y="6293000"/>
            <a:ext cx="3047924" cy="566928"/>
          </a:xfrm>
          <a:prstGeom prst="rect">
            <a:avLst/>
          </a:prstGeom>
          <a:solidFill>
            <a:srgbClr val="064D8F"/>
          </a:solidFill>
          <a:ln w="10160">
            <a:solidFill>
              <a:srgbClr val="064D8F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4  </a:t>
            </a:r>
            <a:r>
              <a:rPr lang="zh-CN" altLang="en-US" sz="14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反馈迭代</a:t>
            </a:r>
            <a:endParaRPr lang="en-US" sz="1400" dirty="0"/>
          </a:p>
        </p:txBody>
      </p:sp>
      <p:sp>
        <p:nvSpPr>
          <p:cNvPr id="14" name="Text 15"/>
          <p:cNvSpPr/>
          <p:nvPr/>
        </p:nvSpPr>
        <p:spPr>
          <a:xfrm>
            <a:off x="3047923" y="6289145"/>
            <a:ext cx="3047924" cy="566928"/>
          </a:xfrm>
          <a:prstGeom prst="rect">
            <a:avLst/>
          </a:prstGeom>
          <a:solidFill>
            <a:srgbClr val="E8EEF6"/>
          </a:solidFill>
          <a:ln w="10160">
            <a:solidFill>
              <a:srgbClr val="D7DEE8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5C6B7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2  </a:t>
            </a:r>
            <a:r>
              <a:rPr lang="zh-CN" altLang="en-US" sz="1400" dirty="0">
                <a:solidFill>
                  <a:srgbClr val="5C6B7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模型设计</a:t>
            </a:r>
            <a:endParaRPr lang="en-US" sz="1400" dirty="0"/>
          </a:p>
        </p:txBody>
      </p:sp>
      <p:sp>
        <p:nvSpPr>
          <p:cNvPr id="15" name="Text 16"/>
          <p:cNvSpPr/>
          <p:nvPr/>
        </p:nvSpPr>
        <p:spPr>
          <a:xfrm>
            <a:off x="6095846" y="6287218"/>
            <a:ext cx="3047924" cy="566928"/>
          </a:xfrm>
          <a:prstGeom prst="rect">
            <a:avLst/>
          </a:prstGeom>
          <a:solidFill>
            <a:srgbClr val="E8EEF6"/>
          </a:solidFill>
          <a:ln w="10160">
            <a:solidFill>
              <a:srgbClr val="D7DEE8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5C6B7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3  </a:t>
            </a:r>
            <a:r>
              <a:rPr lang="zh-CN" altLang="en-US" sz="1400" dirty="0">
                <a:solidFill>
                  <a:srgbClr val="5C6B7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输出控制</a:t>
            </a:r>
            <a:endParaRPr lang="en-US" sz="1400" dirty="0"/>
          </a:p>
        </p:txBody>
      </p:sp>
      <p:pic>
        <p:nvPicPr>
          <p:cNvPr id="2" name="Picture 1" descr="ISE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643675" y="219456"/>
            <a:ext cx="1133797" cy="825119"/>
          </a:xfrm>
          <a:prstGeom prst="rect">
            <a:avLst/>
          </a:prstGeom>
        </p:spPr>
      </p:pic>
      <p:sp>
        <p:nvSpPr>
          <p:cNvPr id="5" name="TextBox 3081"/>
          <p:cNvSpPr txBox="1"/>
          <p:nvPr/>
        </p:nvSpPr>
        <p:spPr>
          <a:xfrm>
            <a:off x="8380000" y="260000"/>
            <a:ext cx="2300000" cy="3200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sz="1200" b="0">
                <a:solidFill>
                  <a:srgbClr val="5C6B7C"/>
                </a:solidFill>
                <a:latin typeface="微软雅黑" panose="020B0503020204020204" charset="-122"/>
              </a:rPr>
              <a:t>汇报人：李梓川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475488" y="600990"/>
            <a:ext cx="4313600" cy="406265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defRPr sz="2400" b="1">
                <a:solidFill>
                  <a:srgbClr val="202124"/>
                </a:solidFill>
                <a:latin typeface="微软雅黑" panose="020B0503020204020204" charset="-122"/>
              </a:defRPr>
            </a:pPr>
            <a:r>
              <a:rPr lang="zh-CN" altLang="en-US" dirty="0">
                <a:solidFill>
                  <a:srgbClr val="2F78FF"/>
                </a:solidFill>
              </a:rPr>
              <a:t>四次选择，最后连成一个闭环</a:t>
            </a:r>
          </a:p>
        </p:txBody>
      </p:sp>
      <p:cxnSp>
        <p:nvCxnSpPr>
          <p:cNvPr id="45" name="Connector 6"/>
          <p:cNvCxnSpPr>
            <a:stCxn id="49" idx="6"/>
            <a:endCxn id="52" idx="2"/>
          </p:cNvCxnSpPr>
          <p:nvPr>
            <p:custDataLst>
              <p:tags r:id="rId1"/>
            </p:custDataLst>
          </p:nvPr>
        </p:nvCxnSpPr>
        <p:spPr>
          <a:xfrm>
            <a:off x="4305542" y="2494371"/>
            <a:ext cx="3799988" cy="1941"/>
          </a:xfrm>
          <a:prstGeom prst="line">
            <a:avLst/>
          </a:prstGeom>
          <a:ln w="127000">
            <a:solidFill>
              <a:srgbClr val="4285F4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7"/>
          <p:cNvCxnSpPr>
            <a:stCxn id="52" idx="4"/>
            <a:endCxn id="55" idx="0"/>
          </p:cNvCxnSpPr>
          <p:nvPr>
            <p:custDataLst>
              <p:tags r:id="rId2"/>
            </p:custDataLst>
          </p:nvPr>
        </p:nvCxnSpPr>
        <p:spPr>
          <a:xfrm>
            <a:off x="8672458" y="3063240"/>
            <a:ext cx="22170" cy="1543806"/>
          </a:xfrm>
          <a:prstGeom prst="line">
            <a:avLst/>
          </a:prstGeom>
          <a:ln w="127000">
            <a:solidFill>
              <a:srgbClr val="FBBC05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8"/>
          <p:cNvCxnSpPr>
            <a:stCxn id="55" idx="2"/>
            <a:endCxn id="58" idx="6"/>
          </p:cNvCxnSpPr>
          <p:nvPr>
            <p:custDataLst>
              <p:tags r:id="rId3"/>
            </p:custDataLst>
          </p:nvPr>
        </p:nvCxnSpPr>
        <p:spPr>
          <a:xfrm flipH="1">
            <a:off x="4283372" y="5173974"/>
            <a:ext cx="3844328" cy="0"/>
          </a:xfrm>
          <a:prstGeom prst="line">
            <a:avLst/>
          </a:prstGeom>
          <a:ln w="127000">
            <a:solidFill>
              <a:srgbClr val="EA4335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9"/>
          <p:cNvCxnSpPr>
            <a:stCxn id="58" idx="0"/>
            <a:endCxn id="49" idx="4"/>
          </p:cNvCxnSpPr>
          <p:nvPr>
            <p:custDataLst>
              <p:tags r:id="rId4"/>
            </p:custDataLst>
          </p:nvPr>
        </p:nvCxnSpPr>
        <p:spPr>
          <a:xfrm flipV="1">
            <a:off x="3716444" y="3061299"/>
            <a:ext cx="22170" cy="1545747"/>
          </a:xfrm>
          <a:prstGeom prst="line">
            <a:avLst/>
          </a:prstGeom>
          <a:ln w="127000">
            <a:solidFill>
              <a:srgbClr val="34A853"/>
            </a:solidFill>
            <a:headEnd type="non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Oval 10"/>
          <p:cNvSpPr/>
          <p:nvPr>
            <p:custDataLst>
              <p:tags r:id="rId5"/>
            </p:custDataLst>
          </p:nvPr>
        </p:nvSpPr>
        <p:spPr>
          <a:xfrm>
            <a:off x="3171686" y="1927443"/>
            <a:ext cx="1133856" cy="1133856"/>
          </a:xfrm>
          <a:prstGeom prst="ellipse">
            <a:avLst/>
          </a:prstGeom>
          <a:solidFill>
            <a:srgbClr val="FFFFFF"/>
          </a:solidFill>
          <a:ln w="63500">
            <a:solidFill>
              <a:srgbClr val="34A8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11"/>
          <p:cNvSpPr txBox="1"/>
          <p:nvPr>
            <p:custDataLst>
              <p:tags r:id="rId6"/>
            </p:custDataLst>
          </p:nvPr>
        </p:nvSpPr>
        <p:spPr>
          <a:xfrm>
            <a:off x="3149516" y="2075688"/>
            <a:ext cx="1133856" cy="146304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defRPr sz="1100" b="1">
                <a:solidFill>
                  <a:srgbClr val="34A853"/>
                </a:solidFill>
                <a:latin typeface="微软雅黑" panose="020B0503020204020204" charset="-122"/>
              </a:defRPr>
            </a:pPr>
            <a:r>
              <a:t>1</a:t>
            </a:r>
          </a:p>
        </p:txBody>
      </p:sp>
      <p:sp>
        <p:nvSpPr>
          <p:cNvPr id="51" name="TextBox 12"/>
          <p:cNvSpPr txBox="1"/>
          <p:nvPr>
            <p:custDataLst>
              <p:tags r:id="rId7"/>
            </p:custDataLst>
          </p:nvPr>
        </p:nvSpPr>
        <p:spPr>
          <a:xfrm>
            <a:off x="3222668" y="2313432"/>
            <a:ext cx="987552" cy="310896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defRPr sz="1200" b="1">
                <a:solidFill>
                  <a:srgbClr val="202124"/>
                </a:solidFill>
                <a:latin typeface="微软雅黑" panose="020B0503020204020204" charset="-122"/>
              </a:defRPr>
            </a:pPr>
            <a:r>
              <a:rPr dirty="0" err="1"/>
              <a:t>训练数据</a:t>
            </a:r>
            <a:endParaRPr dirty="0"/>
          </a:p>
        </p:txBody>
      </p:sp>
      <p:sp>
        <p:nvSpPr>
          <p:cNvPr id="52" name="Oval 13"/>
          <p:cNvSpPr/>
          <p:nvPr>
            <p:custDataLst>
              <p:tags r:id="rId8"/>
            </p:custDataLst>
          </p:nvPr>
        </p:nvSpPr>
        <p:spPr>
          <a:xfrm>
            <a:off x="8105530" y="1929384"/>
            <a:ext cx="1133856" cy="1133856"/>
          </a:xfrm>
          <a:prstGeom prst="ellipse">
            <a:avLst/>
          </a:prstGeom>
          <a:solidFill>
            <a:srgbClr val="FFFFFF"/>
          </a:solidFill>
          <a:ln w="63500">
            <a:solidFill>
              <a:srgbClr val="4285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14"/>
          <p:cNvSpPr txBox="1"/>
          <p:nvPr>
            <p:custDataLst>
              <p:tags r:id="rId9"/>
            </p:custDataLst>
          </p:nvPr>
        </p:nvSpPr>
        <p:spPr>
          <a:xfrm>
            <a:off x="8083360" y="2075688"/>
            <a:ext cx="1133856" cy="146304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defRPr sz="1100" b="1">
                <a:solidFill>
                  <a:srgbClr val="4285F4"/>
                </a:solidFill>
                <a:latin typeface="微软雅黑" panose="020B0503020204020204" charset="-122"/>
              </a:defRPr>
            </a:pPr>
            <a:r>
              <a:rPr dirty="0"/>
              <a:t>2</a:t>
            </a:r>
          </a:p>
        </p:txBody>
      </p:sp>
      <p:sp>
        <p:nvSpPr>
          <p:cNvPr id="54" name="TextBox 15"/>
          <p:cNvSpPr txBox="1"/>
          <p:nvPr>
            <p:custDataLst>
              <p:tags r:id="rId10"/>
            </p:custDataLst>
          </p:nvPr>
        </p:nvSpPr>
        <p:spPr>
          <a:xfrm>
            <a:off x="8189767" y="2331720"/>
            <a:ext cx="987552" cy="310896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defRPr sz="1200" b="1">
                <a:solidFill>
                  <a:srgbClr val="202124"/>
                </a:solidFill>
                <a:latin typeface="微软雅黑" panose="020B0503020204020204" charset="-122"/>
              </a:defRPr>
            </a:pPr>
            <a:r>
              <a:t>模型设计</a:t>
            </a:r>
          </a:p>
        </p:txBody>
      </p:sp>
      <p:sp>
        <p:nvSpPr>
          <p:cNvPr id="55" name="Oval 16"/>
          <p:cNvSpPr/>
          <p:nvPr>
            <p:custDataLst>
              <p:tags r:id="rId11"/>
            </p:custDataLst>
          </p:nvPr>
        </p:nvSpPr>
        <p:spPr>
          <a:xfrm>
            <a:off x="8127700" y="4607046"/>
            <a:ext cx="1133856" cy="1133856"/>
          </a:xfrm>
          <a:prstGeom prst="ellipse">
            <a:avLst/>
          </a:prstGeom>
          <a:solidFill>
            <a:srgbClr val="FFFFFF"/>
          </a:solidFill>
          <a:ln w="63500">
            <a:solidFill>
              <a:srgbClr val="FBBC0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17"/>
          <p:cNvSpPr txBox="1"/>
          <p:nvPr>
            <p:custDataLst>
              <p:tags r:id="rId12"/>
            </p:custDataLst>
          </p:nvPr>
        </p:nvSpPr>
        <p:spPr>
          <a:xfrm>
            <a:off x="8127700" y="4753350"/>
            <a:ext cx="1133856" cy="146304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defRPr sz="1100" b="1">
                <a:solidFill>
                  <a:srgbClr val="FBBC05"/>
                </a:solidFill>
                <a:latin typeface="微软雅黑" panose="020B0503020204020204" charset="-122"/>
              </a:defRPr>
            </a:pPr>
            <a:r>
              <a:t>3</a:t>
            </a:r>
          </a:p>
        </p:txBody>
      </p:sp>
      <p:sp>
        <p:nvSpPr>
          <p:cNvPr id="57" name="TextBox 18"/>
          <p:cNvSpPr txBox="1"/>
          <p:nvPr>
            <p:custDataLst>
              <p:tags r:id="rId13"/>
            </p:custDataLst>
          </p:nvPr>
        </p:nvSpPr>
        <p:spPr>
          <a:xfrm>
            <a:off x="8200852" y="4991094"/>
            <a:ext cx="987552" cy="310896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defRPr sz="1200" b="1">
                <a:solidFill>
                  <a:srgbClr val="202124"/>
                </a:solidFill>
                <a:latin typeface="微软雅黑" panose="020B0503020204020204" charset="-122"/>
              </a:defRPr>
            </a:pPr>
            <a:r>
              <a:t>输出控制</a:t>
            </a:r>
          </a:p>
        </p:txBody>
      </p:sp>
      <p:sp>
        <p:nvSpPr>
          <p:cNvPr id="58" name="Oval 19"/>
          <p:cNvSpPr/>
          <p:nvPr>
            <p:custDataLst>
              <p:tags r:id="rId14"/>
            </p:custDataLst>
          </p:nvPr>
        </p:nvSpPr>
        <p:spPr>
          <a:xfrm>
            <a:off x="3149516" y="4607046"/>
            <a:ext cx="1133856" cy="1133856"/>
          </a:xfrm>
          <a:prstGeom prst="ellipse">
            <a:avLst/>
          </a:prstGeom>
          <a:solidFill>
            <a:srgbClr val="FFFFFF"/>
          </a:solidFill>
          <a:ln w="63500">
            <a:solidFill>
              <a:srgbClr val="EA43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TextBox 20"/>
          <p:cNvSpPr txBox="1"/>
          <p:nvPr>
            <p:custDataLst>
              <p:tags r:id="rId15"/>
            </p:custDataLst>
          </p:nvPr>
        </p:nvSpPr>
        <p:spPr>
          <a:xfrm>
            <a:off x="3149516" y="4753350"/>
            <a:ext cx="1133856" cy="146304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defRPr sz="1100" b="1">
                <a:solidFill>
                  <a:srgbClr val="EA4335"/>
                </a:solidFill>
                <a:latin typeface="微软雅黑" panose="020B0503020204020204" charset="-122"/>
              </a:defRPr>
            </a:pPr>
            <a:r>
              <a:t>4</a:t>
            </a:r>
          </a:p>
        </p:txBody>
      </p:sp>
      <p:sp>
        <p:nvSpPr>
          <p:cNvPr id="60" name="TextBox 21"/>
          <p:cNvSpPr txBox="1"/>
          <p:nvPr>
            <p:custDataLst>
              <p:tags r:id="rId16"/>
            </p:custDataLst>
          </p:nvPr>
        </p:nvSpPr>
        <p:spPr>
          <a:xfrm>
            <a:off x="3222668" y="4991094"/>
            <a:ext cx="987552" cy="310896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defRPr sz="1200" b="1">
                <a:solidFill>
                  <a:srgbClr val="202124"/>
                </a:solidFill>
                <a:latin typeface="微软雅黑" panose="020B0503020204020204" charset="-122"/>
              </a:defRPr>
            </a:pPr>
            <a:r>
              <a:t>反馈迭代</a:t>
            </a:r>
          </a:p>
        </p:txBody>
      </p:sp>
      <p:grpSp>
        <p:nvGrpSpPr>
          <p:cNvPr id="82" name="Group 11"/>
          <p:cNvGrpSpPr/>
          <p:nvPr>
            <p:custDataLst>
              <p:tags r:id="rId17"/>
            </p:custDataLst>
          </p:nvPr>
        </p:nvGrpSpPr>
        <p:grpSpPr>
          <a:xfrm>
            <a:off x="617518" y="1637293"/>
            <a:ext cx="2314736" cy="1035787"/>
            <a:chOff x="691537" y="1631632"/>
            <a:chExt cx="3284180" cy="1529855"/>
          </a:xfrm>
          <a:effectLst>
            <a:outerShdw blurRad="114300" dist="38100" dir="10799140" algn="tl" rotWithShape="0">
              <a:srgbClr val="000000">
                <a:alpha val="25000"/>
              </a:srgbClr>
            </a:outerShdw>
          </a:effectLst>
        </p:grpSpPr>
        <p:sp>
          <p:nvSpPr>
            <p:cNvPr id="84" name="TextBox 7"/>
            <p:cNvSpPr txBox="1"/>
            <p:nvPr/>
          </p:nvSpPr>
          <p:spPr>
            <a:xfrm>
              <a:off x="981312" y="1631632"/>
              <a:ext cx="2704643" cy="374220"/>
            </a:xfrm>
            <a:prstGeom prst="rect">
              <a:avLst/>
            </a:prstGeom>
            <a:noFill/>
            <a:ln>
              <a:noFill/>
            </a:ln>
            <a:effectLst>
              <a:outerShdw blurRad="114300" dist="38100" dir="10799140" algn="tl" rotWithShape="0">
                <a:srgbClr val="000000">
                  <a:alpha val="250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altLang="en-US" sz="1650" b="1" dirty="0">
                  <a:solidFill>
                    <a:srgbClr val="34A853"/>
                  </a:solidFill>
                  <a:latin typeface="Segoe UI" panose="020B0502040204020203"/>
                  <a:ea typeface="微软雅黑" panose="020B0503020204020204" charset="-122"/>
                  <a:cs typeface="Segoe UI" panose="020B0502040204020203"/>
                </a:rPr>
                <a:t>“利欲熏心”</a:t>
              </a:r>
              <a:r>
                <a:rPr lang="en-US" altLang="zh-CN" sz="1650" b="1" dirty="0">
                  <a:solidFill>
                    <a:srgbClr val="34A853"/>
                  </a:solidFill>
                  <a:latin typeface="Segoe UI" panose="020B0502040204020203"/>
                  <a:ea typeface="微软雅黑" panose="020B0503020204020204" charset="-122"/>
                  <a:cs typeface="Segoe UI" panose="020B0502040204020203"/>
                </a:rPr>
                <a:t>Adobe</a:t>
              </a:r>
              <a:endParaRPr lang="zh-CN" sz="1650" b="1" dirty="0">
                <a:solidFill>
                  <a:srgbClr val="34A853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endParaRPr>
            </a:p>
          </p:txBody>
        </p:sp>
        <p:sp>
          <p:nvSpPr>
            <p:cNvPr id="85" name="TextBox 8"/>
            <p:cNvSpPr txBox="1"/>
            <p:nvPr>
              <p:custDataLst>
                <p:tags r:id="rId27"/>
              </p:custDataLst>
            </p:nvPr>
          </p:nvSpPr>
          <p:spPr>
            <a:xfrm>
              <a:off x="691537" y="1975484"/>
              <a:ext cx="3284180" cy="954629"/>
            </a:xfrm>
            <a:prstGeom prst="rect">
              <a:avLst/>
            </a:prstGeom>
            <a:noFill/>
            <a:ln>
              <a:noFill/>
            </a:ln>
            <a:effectLst>
              <a:outerShdw blurRad="114300" dist="38100" dir="10799140" algn="tl" rotWithShape="0">
                <a:srgbClr val="000000">
                  <a:alpha val="250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altLang="zh-CN" sz="4200" b="1" dirty="0">
                  <a:solidFill>
                    <a:srgbClr val="34A853"/>
                  </a:solidFill>
                  <a:latin typeface="Segoe UI" panose="020B0502040204020203"/>
                  <a:ea typeface="微软雅黑" panose="020B0503020204020204" charset="-122"/>
                  <a:cs typeface="Segoe UI" panose="020B0502040204020203"/>
                </a:rPr>
                <a:t>5700</a:t>
              </a:r>
              <a:r>
                <a:rPr lang="zh-CN" altLang="en-US" sz="4200" b="1" dirty="0">
                  <a:solidFill>
                    <a:srgbClr val="34A853"/>
                  </a:solidFill>
                  <a:latin typeface="Segoe UI" panose="020B0502040204020203"/>
                  <a:ea typeface="微软雅黑" panose="020B0503020204020204" charset="-122"/>
                  <a:cs typeface="Segoe UI" panose="020B0502040204020203"/>
                </a:rPr>
                <a:t>万张</a:t>
              </a:r>
              <a:endParaRPr lang="zh-CN" sz="4200" b="1" dirty="0">
                <a:solidFill>
                  <a:srgbClr val="34A853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endParaRPr>
            </a:p>
          </p:txBody>
        </p:sp>
        <p:sp>
          <p:nvSpPr>
            <p:cNvPr id="86" name="TextBox 9"/>
            <p:cNvSpPr txBox="1"/>
            <p:nvPr/>
          </p:nvSpPr>
          <p:spPr>
            <a:xfrm>
              <a:off x="2333578" y="2616518"/>
              <a:ext cx="92" cy="306845"/>
            </a:xfrm>
            <a:prstGeom prst="rect">
              <a:avLst/>
            </a:prstGeom>
            <a:noFill/>
            <a:ln>
              <a:noFill/>
            </a:ln>
            <a:effectLst>
              <a:outerShdw blurRad="114300" dist="38100" dir="10799140" algn="tl" rotWithShape="0">
                <a:srgbClr val="000000">
                  <a:alpha val="250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endParaRPr lang="zh-CN" sz="1350" dirty="0">
                <a:solidFill>
                  <a:srgbClr val="5F6368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endParaRPr>
            </a:p>
          </p:txBody>
        </p:sp>
        <p:sp>
          <p:nvSpPr>
            <p:cNvPr id="87" name="TextBox 10"/>
            <p:cNvSpPr txBox="1"/>
            <p:nvPr/>
          </p:nvSpPr>
          <p:spPr>
            <a:xfrm>
              <a:off x="2333578" y="2854642"/>
              <a:ext cx="92" cy="306845"/>
            </a:xfrm>
            <a:prstGeom prst="rect">
              <a:avLst/>
            </a:prstGeom>
            <a:noFill/>
            <a:ln>
              <a:noFill/>
            </a:ln>
            <a:effectLst>
              <a:outerShdw blurRad="114300" dist="38100" dir="10799140" algn="tl" rotWithShape="0">
                <a:srgbClr val="000000">
                  <a:alpha val="250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endParaRPr lang="zh-CN" sz="1350" dirty="0">
                <a:solidFill>
                  <a:srgbClr val="5F6368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endParaRPr>
            </a:p>
          </p:txBody>
        </p:sp>
      </p:grpSp>
      <p:sp>
        <p:nvSpPr>
          <p:cNvPr id="88" name="TextBox 9"/>
          <p:cNvSpPr txBox="1"/>
          <p:nvPr>
            <p:custDataLst>
              <p:tags r:id="rId18"/>
            </p:custDataLst>
          </p:nvPr>
        </p:nvSpPr>
        <p:spPr>
          <a:xfrm>
            <a:off x="1328310" y="2467875"/>
            <a:ext cx="851194" cy="207749"/>
          </a:xfrm>
          <a:prstGeom prst="rect">
            <a:avLst/>
          </a:prstGeom>
          <a:noFill/>
          <a:ln>
            <a:noFill/>
          </a:ln>
          <a:effectLst>
            <a:outerShdw blurRad="114300" dist="38100" dir="10799140" algn="tl" rotWithShape="0">
              <a:srgbClr val="000000">
                <a:alpha val="25000"/>
              </a:srgbClr>
            </a:outerShdw>
          </a:effectLst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altLang="zh-CN" sz="1350" dirty="0">
                <a:solidFill>
                  <a:srgbClr val="5F6368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AI</a:t>
            </a:r>
            <a:r>
              <a:rPr lang="zh-CN" altLang="en-US" sz="1350" dirty="0">
                <a:solidFill>
                  <a:srgbClr val="5F6368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生成图片</a:t>
            </a:r>
            <a:endParaRPr lang="zh-CN" sz="1350" dirty="0">
              <a:solidFill>
                <a:srgbClr val="5F6368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grpSp>
        <p:nvGrpSpPr>
          <p:cNvPr id="91" name="Group 11"/>
          <p:cNvGrpSpPr/>
          <p:nvPr>
            <p:custDataLst>
              <p:tags r:id="rId19"/>
            </p:custDataLst>
          </p:nvPr>
        </p:nvGrpSpPr>
        <p:grpSpPr>
          <a:xfrm>
            <a:off x="9380880" y="1510335"/>
            <a:ext cx="2734471" cy="1229551"/>
            <a:chOff x="393724" y="1345443"/>
            <a:chExt cx="3879707" cy="1816044"/>
          </a:xfrm>
          <a:effectLst>
            <a:outerShdw blurRad="114300" dist="38100" dir="10799140" algn="tl" rotWithShape="0">
              <a:srgbClr val="000000">
                <a:alpha val="25000"/>
              </a:srgbClr>
            </a:outerShdw>
          </a:effectLst>
        </p:grpSpPr>
        <p:sp>
          <p:nvSpPr>
            <p:cNvPr id="92" name="TextBox 7"/>
            <p:cNvSpPr txBox="1"/>
            <p:nvPr/>
          </p:nvSpPr>
          <p:spPr>
            <a:xfrm>
              <a:off x="393724" y="1345443"/>
              <a:ext cx="3879707" cy="375033"/>
            </a:xfrm>
            <a:prstGeom prst="rect">
              <a:avLst/>
            </a:prstGeom>
            <a:noFill/>
            <a:ln>
              <a:noFill/>
            </a:ln>
            <a:effectLst>
              <a:outerShdw blurRad="114300" dist="38100" dir="10799140" algn="tl" rotWithShape="0">
                <a:srgbClr val="000000">
                  <a:alpha val="25000"/>
                </a:srgbClr>
              </a:outerShdw>
            </a:effectLst>
          </p:spPr>
          <p:txBody>
            <a:bodyPr wrap="square" lIns="0" tIns="0" rIns="0" bIns="0" anchor="t" anchorCtr="0">
              <a:spAutoFit/>
            </a:bodyPr>
            <a:lstStyle/>
            <a:p>
              <a:pPr algn="ctr"/>
              <a:endParaRPr lang="zh-CN" sz="1650" b="1" dirty="0">
                <a:solidFill>
                  <a:srgbClr val="34A853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endParaRPr>
            </a:p>
          </p:txBody>
        </p:sp>
        <p:sp>
          <p:nvSpPr>
            <p:cNvPr id="93" name="TextBox 8"/>
            <p:cNvSpPr txBox="1"/>
            <p:nvPr>
              <p:custDataLst>
                <p:tags r:id="rId26"/>
              </p:custDataLst>
            </p:nvPr>
          </p:nvSpPr>
          <p:spPr>
            <a:xfrm>
              <a:off x="694060" y="1975037"/>
              <a:ext cx="3056745" cy="954629"/>
            </a:xfrm>
            <a:prstGeom prst="rect">
              <a:avLst/>
            </a:prstGeom>
            <a:noFill/>
            <a:ln>
              <a:noFill/>
            </a:ln>
            <a:effectLst>
              <a:outerShdw blurRad="114300" dist="38100" dir="10799140" algn="tl" rotWithShape="0">
                <a:srgbClr val="000000">
                  <a:alpha val="250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altLang="en-US" sz="4200" b="1" dirty="0">
                  <a:solidFill>
                    <a:srgbClr val="0070C0"/>
                  </a:solidFill>
                  <a:latin typeface="Segoe UI" panose="020B0502040204020203"/>
                  <a:ea typeface="微软雅黑" panose="020B0503020204020204" charset="-122"/>
                  <a:cs typeface="Segoe UI" panose="020B0502040204020203"/>
                </a:rPr>
                <a:t>设计责任</a:t>
              </a:r>
              <a:endParaRPr lang="zh-CN" sz="4200" b="1" dirty="0">
                <a:solidFill>
                  <a:srgbClr val="0070C0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endParaRPr>
            </a:p>
          </p:txBody>
        </p:sp>
        <p:sp>
          <p:nvSpPr>
            <p:cNvPr id="94" name="TextBox 9"/>
            <p:cNvSpPr txBox="1"/>
            <p:nvPr/>
          </p:nvSpPr>
          <p:spPr>
            <a:xfrm>
              <a:off x="2333578" y="2616518"/>
              <a:ext cx="92" cy="306845"/>
            </a:xfrm>
            <a:prstGeom prst="rect">
              <a:avLst/>
            </a:prstGeom>
            <a:noFill/>
            <a:ln>
              <a:noFill/>
            </a:ln>
            <a:effectLst>
              <a:outerShdw blurRad="114300" dist="38100" dir="10799140" algn="tl" rotWithShape="0">
                <a:srgbClr val="000000">
                  <a:alpha val="250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endParaRPr lang="zh-CN" sz="1350" dirty="0">
                <a:solidFill>
                  <a:srgbClr val="5F6368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endParaRPr>
            </a:p>
          </p:txBody>
        </p:sp>
        <p:sp>
          <p:nvSpPr>
            <p:cNvPr id="95" name="TextBox 10"/>
            <p:cNvSpPr txBox="1"/>
            <p:nvPr/>
          </p:nvSpPr>
          <p:spPr>
            <a:xfrm>
              <a:off x="2333578" y="2854642"/>
              <a:ext cx="92" cy="306845"/>
            </a:xfrm>
            <a:prstGeom prst="rect">
              <a:avLst/>
            </a:prstGeom>
            <a:noFill/>
            <a:ln>
              <a:noFill/>
            </a:ln>
            <a:effectLst>
              <a:outerShdw blurRad="114300" dist="38100" dir="10799140" algn="tl" rotWithShape="0">
                <a:srgbClr val="000000">
                  <a:alpha val="250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endParaRPr lang="zh-CN" sz="1350" dirty="0">
                <a:solidFill>
                  <a:srgbClr val="5F6368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endParaRPr>
            </a:p>
          </p:txBody>
        </p:sp>
      </p:grpSp>
      <p:sp>
        <p:nvSpPr>
          <p:cNvPr id="99" name="文本框 98"/>
          <p:cNvSpPr txBox="1"/>
          <p:nvPr/>
        </p:nvSpPr>
        <p:spPr>
          <a:xfrm>
            <a:off x="9652700" y="1566734"/>
            <a:ext cx="1885996" cy="3683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800" b="1" dirty="0">
                <a:solidFill>
                  <a:srgbClr val="0070C0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不止于关键词</a:t>
            </a:r>
            <a:endParaRPr lang="zh-CN" altLang="en-US" dirty="0">
              <a:solidFill>
                <a:srgbClr val="0070C0"/>
              </a:solidFill>
            </a:endParaRPr>
          </a:p>
        </p:txBody>
      </p:sp>
      <p:sp>
        <p:nvSpPr>
          <p:cNvPr id="100" name="TextBox 9"/>
          <p:cNvSpPr txBox="1"/>
          <p:nvPr>
            <p:custDataLst>
              <p:tags r:id="rId20"/>
            </p:custDataLst>
          </p:nvPr>
        </p:nvSpPr>
        <p:spPr>
          <a:xfrm>
            <a:off x="10199611" y="2580729"/>
            <a:ext cx="1038746" cy="207749"/>
          </a:xfrm>
          <a:prstGeom prst="rect">
            <a:avLst/>
          </a:prstGeom>
          <a:noFill/>
          <a:ln>
            <a:noFill/>
          </a:ln>
          <a:effectLst>
            <a:outerShdw blurRad="114300" dist="38100" dir="10799140" algn="tl" rotWithShape="0">
              <a:srgbClr val="000000">
                <a:alpha val="25000"/>
              </a:srgbClr>
            </a:outerShdw>
          </a:effectLst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altLang="en-US" sz="1350" dirty="0">
                <a:solidFill>
                  <a:srgbClr val="5F6368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设计需要深思</a:t>
            </a:r>
            <a:endParaRPr lang="zh-CN" sz="1350" dirty="0">
              <a:solidFill>
                <a:srgbClr val="5F6368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102" name="文本框 101"/>
          <p:cNvSpPr txBox="1"/>
          <p:nvPr/>
        </p:nvSpPr>
        <p:spPr>
          <a:xfrm>
            <a:off x="9380880" y="4459324"/>
            <a:ext cx="770332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b="1" dirty="0">
                <a:solidFill>
                  <a:srgbClr val="FFC000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 “身份证”的共识</a:t>
            </a:r>
            <a:r>
              <a:rPr lang="zh-CN" altLang="en-US" b="1" dirty="0">
                <a:solidFill>
                  <a:srgbClr val="FFFFFF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”</a:t>
            </a:r>
            <a:r>
              <a:rPr lang="zh-CN" altLang="en-US" sz="1800" b="1" dirty="0">
                <a:solidFill>
                  <a:srgbClr val="FFFFFF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”</a:t>
            </a:r>
            <a:endParaRPr lang="zh-CN" altLang="en-US" dirty="0"/>
          </a:p>
        </p:txBody>
      </p:sp>
      <p:sp>
        <p:nvSpPr>
          <p:cNvPr id="103" name="TextBox 8"/>
          <p:cNvSpPr txBox="1"/>
          <p:nvPr>
            <p:custDataLst>
              <p:tags r:id="rId21"/>
            </p:custDataLst>
          </p:nvPr>
        </p:nvSpPr>
        <p:spPr>
          <a:xfrm>
            <a:off x="9681384" y="4814711"/>
            <a:ext cx="2133600" cy="645795"/>
          </a:xfrm>
          <a:prstGeom prst="rect">
            <a:avLst/>
          </a:prstGeom>
          <a:noFill/>
          <a:ln>
            <a:noFill/>
          </a:ln>
          <a:effectLst>
            <a:outerShdw blurRad="114300" dist="38100" dir="10799140" algn="tl" rotWithShape="0">
              <a:srgbClr val="000000">
                <a:alpha val="25000"/>
              </a:srgbClr>
            </a:outerShdw>
          </a:effectLst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altLang="en-US" sz="4200" b="1" dirty="0">
                <a:solidFill>
                  <a:srgbClr val="FFC000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三层水印</a:t>
            </a:r>
            <a:endParaRPr lang="zh-CN" sz="4200" b="1" dirty="0">
              <a:solidFill>
                <a:srgbClr val="FFC000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104" name="TextBox 9"/>
          <p:cNvSpPr txBox="1"/>
          <p:nvPr>
            <p:custDataLst>
              <p:tags r:id="rId22"/>
            </p:custDataLst>
          </p:nvPr>
        </p:nvSpPr>
        <p:spPr>
          <a:xfrm>
            <a:off x="9889778" y="5533153"/>
            <a:ext cx="1716816" cy="207749"/>
          </a:xfrm>
          <a:prstGeom prst="rect">
            <a:avLst/>
          </a:prstGeom>
          <a:noFill/>
          <a:ln>
            <a:noFill/>
          </a:ln>
          <a:effectLst>
            <a:outerShdw blurRad="114300" dist="38100" dir="10799140" algn="tl" rotWithShape="0">
              <a:srgbClr val="000000">
                <a:alpha val="25000"/>
              </a:srgbClr>
            </a:outerShdw>
          </a:effectLst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altLang="zh-CN" sz="1350" dirty="0">
                <a:solidFill>
                  <a:srgbClr val="5F6368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AI</a:t>
            </a:r>
            <a:r>
              <a:rPr lang="zh-CN" altLang="en-US" sz="1350" dirty="0">
                <a:solidFill>
                  <a:srgbClr val="5F6368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生成图的“身份证”</a:t>
            </a:r>
            <a:endParaRPr lang="zh-CN" sz="1350" dirty="0">
              <a:solidFill>
                <a:srgbClr val="5F6368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grpSp>
        <p:nvGrpSpPr>
          <p:cNvPr id="105" name="Group 11"/>
          <p:cNvGrpSpPr/>
          <p:nvPr>
            <p:custDataLst>
              <p:tags r:id="rId23"/>
            </p:custDataLst>
          </p:nvPr>
        </p:nvGrpSpPr>
        <p:grpSpPr>
          <a:xfrm>
            <a:off x="934885" y="4656080"/>
            <a:ext cx="1676400" cy="1035787"/>
            <a:chOff x="1144390" y="1631632"/>
            <a:chExt cx="2378500" cy="1529855"/>
          </a:xfrm>
          <a:effectLst>
            <a:outerShdw blurRad="114300" dist="38100" dir="10799140" algn="tl" rotWithShape="0">
              <a:srgbClr val="000000">
                <a:alpha val="25000"/>
              </a:srgbClr>
            </a:outerShdw>
          </a:effectLst>
        </p:grpSpPr>
        <p:sp>
          <p:nvSpPr>
            <p:cNvPr id="106" name="TextBox 7"/>
            <p:cNvSpPr txBox="1"/>
            <p:nvPr/>
          </p:nvSpPr>
          <p:spPr>
            <a:xfrm>
              <a:off x="1144390" y="1631632"/>
              <a:ext cx="2378500" cy="374220"/>
            </a:xfrm>
            <a:prstGeom prst="rect">
              <a:avLst/>
            </a:prstGeom>
            <a:noFill/>
            <a:ln>
              <a:noFill/>
            </a:ln>
            <a:effectLst>
              <a:outerShdw blurRad="114300" dist="38100" dir="10799140" algn="tl" rotWithShape="0">
                <a:srgbClr val="000000">
                  <a:alpha val="250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altLang="en-US" sz="1650" b="1" dirty="0">
                  <a:solidFill>
                    <a:srgbClr val="FF0000"/>
                  </a:solidFill>
                  <a:latin typeface="Segoe UI" panose="020B0502040204020203"/>
                  <a:ea typeface="微软雅黑" panose="020B0503020204020204" charset="-122"/>
                  <a:cs typeface="Segoe UI" panose="020B0502040204020203"/>
                </a:rPr>
                <a:t>反馈环的最后一节</a:t>
              </a:r>
              <a:endParaRPr lang="zh-CN" sz="1650" b="1" dirty="0">
                <a:solidFill>
                  <a:srgbClr val="FF0000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endParaRPr>
            </a:p>
          </p:txBody>
        </p:sp>
        <p:sp>
          <p:nvSpPr>
            <p:cNvPr id="107" name="TextBox 8"/>
            <p:cNvSpPr txBox="1"/>
            <p:nvPr>
              <p:custDataLst>
                <p:tags r:id="rId25"/>
              </p:custDataLst>
            </p:nvPr>
          </p:nvSpPr>
          <p:spPr>
            <a:xfrm>
              <a:off x="1452313" y="1975484"/>
              <a:ext cx="1762633" cy="954629"/>
            </a:xfrm>
            <a:prstGeom prst="rect">
              <a:avLst/>
            </a:prstGeom>
            <a:noFill/>
            <a:ln>
              <a:noFill/>
            </a:ln>
            <a:effectLst>
              <a:outerShdw blurRad="114300" dist="38100" dir="10799140" algn="tl" rotWithShape="0">
                <a:srgbClr val="000000">
                  <a:alpha val="250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altLang="zh-CN" sz="4200" b="1" dirty="0">
                  <a:solidFill>
                    <a:srgbClr val="FF0000"/>
                  </a:solidFill>
                  <a:latin typeface="Segoe UI" panose="020B0502040204020203"/>
                  <a:ea typeface="微软雅黑" panose="020B0503020204020204" charset="-122"/>
                  <a:cs typeface="Segoe UI" panose="020B0502040204020203"/>
                </a:rPr>
                <a:t>HIBT</a:t>
              </a:r>
              <a:endParaRPr lang="zh-CN" sz="4200" b="1" dirty="0">
                <a:solidFill>
                  <a:srgbClr val="FF0000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endParaRPr>
            </a:p>
          </p:txBody>
        </p:sp>
        <p:sp>
          <p:nvSpPr>
            <p:cNvPr id="108" name="TextBox 9"/>
            <p:cNvSpPr txBox="1"/>
            <p:nvPr/>
          </p:nvSpPr>
          <p:spPr>
            <a:xfrm>
              <a:off x="2333578" y="2616518"/>
              <a:ext cx="92" cy="306845"/>
            </a:xfrm>
            <a:prstGeom prst="rect">
              <a:avLst/>
            </a:prstGeom>
            <a:noFill/>
            <a:ln>
              <a:noFill/>
            </a:ln>
            <a:effectLst>
              <a:outerShdw blurRad="114300" dist="38100" dir="10799140" algn="tl" rotWithShape="0">
                <a:srgbClr val="000000">
                  <a:alpha val="250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endParaRPr lang="zh-CN" sz="1350" dirty="0">
                <a:solidFill>
                  <a:srgbClr val="5F6368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endParaRPr>
            </a:p>
          </p:txBody>
        </p:sp>
        <p:sp>
          <p:nvSpPr>
            <p:cNvPr id="109" name="TextBox 10"/>
            <p:cNvSpPr txBox="1"/>
            <p:nvPr/>
          </p:nvSpPr>
          <p:spPr>
            <a:xfrm>
              <a:off x="2333578" y="2854642"/>
              <a:ext cx="92" cy="306845"/>
            </a:xfrm>
            <a:prstGeom prst="rect">
              <a:avLst/>
            </a:prstGeom>
            <a:noFill/>
            <a:ln>
              <a:noFill/>
            </a:ln>
            <a:effectLst>
              <a:outerShdw blurRad="114300" dist="38100" dir="10799140" algn="tl" rotWithShape="0">
                <a:srgbClr val="000000">
                  <a:alpha val="250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endParaRPr lang="zh-CN" sz="1350" dirty="0">
                <a:solidFill>
                  <a:srgbClr val="5F6368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endParaRPr>
            </a:p>
          </p:txBody>
        </p:sp>
      </p:grpSp>
      <p:sp>
        <p:nvSpPr>
          <p:cNvPr id="110" name="TextBox 9"/>
          <p:cNvSpPr txBox="1"/>
          <p:nvPr>
            <p:custDataLst>
              <p:tags r:id="rId24"/>
            </p:custDataLst>
          </p:nvPr>
        </p:nvSpPr>
        <p:spPr>
          <a:xfrm>
            <a:off x="886478" y="5486662"/>
            <a:ext cx="1731244" cy="207749"/>
          </a:xfrm>
          <a:prstGeom prst="rect">
            <a:avLst/>
          </a:prstGeom>
          <a:noFill/>
          <a:ln>
            <a:noFill/>
          </a:ln>
          <a:effectLst>
            <a:outerShdw blurRad="114300" dist="38100" dir="10799140" algn="tl" rotWithShape="0">
              <a:srgbClr val="000000">
                <a:alpha val="25000"/>
              </a:srgbClr>
            </a:outerShdw>
          </a:effectLst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altLang="en-US" sz="1350" dirty="0">
                <a:solidFill>
                  <a:srgbClr val="5F6368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将“我反对”输入机器</a:t>
            </a:r>
            <a:endParaRPr lang="zh-CN" sz="1350" dirty="0">
              <a:solidFill>
                <a:srgbClr val="5F6368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pic>
        <p:nvPicPr>
          <p:cNvPr id="2" name="Picture 1" descr="ISEE.png"/>
          <p:cNvPicPr>
            <a:picLocks noChangeAspect="1"/>
          </p:cNvPicPr>
          <p:nvPr/>
        </p:nvPicPr>
        <p:blipFill>
          <a:blip r:embed="rId30"/>
          <a:stretch>
            <a:fillRect/>
          </a:stretch>
        </p:blipFill>
        <p:spPr>
          <a:xfrm>
            <a:off x="10643675" y="219456"/>
            <a:ext cx="1133797" cy="825119"/>
          </a:xfrm>
          <a:prstGeom prst="rect">
            <a:avLst/>
          </a:prstGeom>
        </p:spPr>
      </p:pic>
      <p:sp>
        <p:nvSpPr>
          <p:cNvPr id="3" name="TextBox 3081"/>
          <p:cNvSpPr txBox="1"/>
          <p:nvPr/>
        </p:nvSpPr>
        <p:spPr>
          <a:xfrm>
            <a:off x="8380000" y="260000"/>
            <a:ext cx="2300000" cy="3200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sz="1200" b="0">
                <a:solidFill>
                  <a:srgbClr val="5C6B7C"/>
                </a:solidFill>
                <a:latin typeface="微软雅黑" panose="020B0503020204020204" charset="-122"/>
              </a:rPr>
              <a:t>汇报人：李梓川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82122" y="530354"/>
            <a:ext cx="2651760" cy="47548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4400" b="1" dirty="0">
                <a:solidFill>
                  <a:srgbClr val="1F6FE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分工说明</a:t>
            </a:r>
            <a:endParaRPr lang="en-US" sz="4400" dirty="0"/>
          </a:p>
        </p:txBody>
      </p:sp>
      <p:sp>
        <p:nvSpPr>
          <p:cNvPr id="5" name="Shape 2"/>
          <p:cNvSpPr/>
          <p:nvPr/>
        </p:nvSpPr>
        <p:spPr>
          <a:xfrm>
            <a:off x="2926080" y="1225296"/>
            <a:ext cx="6355080" cy="713232"/>
          </a:xfrm>
          <a:prstGeom prst="roundRect">
            <a:avLst>
              <a:gd name="adj" fmla="val 15385"/>
            </a:avLst>
          </a:prstGeom>
          <a:solidFill>
            <a:srgbClr val="F8FBFF"/>
          </a:solidFill>
          <a:ln w="12700">
            <a:solidFill>
              <a:srgbClr val="C9DAF2"/>
            </a:solidFill>
            <a:prstDash val="solid"/>
          </a:ln>
          <a:effectLst>
            <a:outerShdw blurRad="25400" dist="50800" dir="2700000" algn="bl" rotWithShape="0">
              <a:srgbClr val="B8C8E0">
                <a:alpha val="12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3493008" y="1344168"/>
            <a:ext cx="438912" cy="43891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D6E6FF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3557016" y="1417320"/>
            <a:ext cx="310896" cy="21945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1600" dirty="0">
                <a:solidFill>
                  <a:srgbClr val="1F6FE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👥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4407408" y="1453896"/>
            <a:ext cx="2697480" cy="25603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r">
              <a:buNone/>
            </a:pPr>
            <a:r>
              <a:rPr lang="en-US" sz="1700" b="1" dirty="0">
                <a:solidFill>
                  <a:srgbClr val="222B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贡献占比：四位成员均为 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7104888" y="1371600"/>
            <a:ext cx="777240" cy="36576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1F6FE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25%</a:t>
            </a:r>
            <a:endParaRPr lang="en-US" sz="2500" dirty="0"/>
          </a:p>
        </p:txBody>
      </p:sp>
      <p:sp>
        <p:nvSpPr>
          <p:cNvPr id="10" name="Shape 7"/>
          <p:cNvSpPr/>
          <p:nvPr>
            <p:custDataLst>
              <p:tags r:id="rId1"/>
            </p:custDataLst>
          </p:nvPr>
        </p:nvSpPr>
        <p:spPr>
          <a:xfrm>
            <a:off x="448056" y="2359152"/>
            <a:ext cx="2721026" cy="3246120"/>
          </a:xfrm>
          <a:prstGeom prst="roundRect">
            <a:avLst>
              <a:gd name="adj" fmla="val 2688"/>
            </a:avLst>
          </a:prstGeom>
          <a:solidFill>
            <a:srgbClr val="FDFEFF"/>
          </a:solidFill>
          <a:ln w="12700">
            <a:solidFill>
              <a:srgbClr val="C9DAF2"/>
            </a:solidFill>
            <a:prstDash val="solid"/>
          </a:ln>
          <a:effectLst>
            <a:outerShdw blurRad="25400" dist="50800" dir="2700000" algn="bl" rotWithShape="0">
              <a:srgbClr val="B8C8E0">
                <a:alpha val="15000"/>
              </a:srgbClr>
            </a:outerShdw>
          </a:effectLst>
        </p:spPr>
      </p:sp>
      <p:sp>
        <p:nvSpPr>
          <p:cNvPr id="11" name="Shape 8"/>
          <p:cNvSpPr/>
          <p:nvPr>
            <p:custDataLst>
              <p:tags r:id="rId2"/>
            </p:custDataLst>
          </p:nvPr>
        </p:nvSpPr>
        <p:spPr>
          <a:xfrm>
            <a:off x="612648" y="2770632"/>
            <a:ext cx="694944" cy="0"/>
          </a:xfrm>
          <a:prstGeom prst="line">
            <a:avLst/>
          </a:prstGeom>
          <a:noFill/>
          <a:ln w="10160">
            <a:solidFill>
              <a:srgbClr val="C4D3E9"/>
            </a:solidFill>
            <a:prstDash val="solid"/>
          </a:ln>
        </p:spPr>
      </p:sp>
      <p:sp>
        <p:nvSpPr>
          <p:cNvPr id="12" name="Shape 9"/>
          <p:cNvSpPr/>
          <p:nvPr>
            <p:custDataLst>
              <p:tags r:id="rId3"/>
            </p:custDataLst>
          </p:nvPr>
        </p:nvSpPr>
        <p:spPr>
          <a:xfrm>
            <a:off x="2309546" y="2770632"/>
            <a:ext cx="694944" cy="0"/>
          </a:xfrm>
          <a:prstGeom prst="line">
            <a:avLst/>
          </a:prstGeom>
          <a:noFill/>
          <a:ln w="10160">
            <a:solidFill>
              <a:srgbClr val="C4D3E9"/>
            </a:solidFill>
            <a:prstDash val="solid"/>
          </a:ln>
        </p:spPr>
      </p:sp>
      <p:sp>
        <p:nvSpPr>
          <p:cNvPr id="13" name="Shape 10"/>
          <p:cNvSpPr/>
          <p:nvPr>
            <p:custDataLst>
              <p:tags r:id="rId4"/>
            </p:custDataLst>
          </p:nvPr>
        </p:nvSpPr>
        <p:spPr>
          <a:xfrm>
            <a:off x="1589113" y="2551176"/>
            <a:ext cx="438912" cy="438912"/>
          </a:xfrm>
          <a:prstGeom prst="ellipse">
            <a:avLst/>
          </a:prstGeom>
          <a:solidFill>
            <a:srgbClr val="1F6FE5"/>
          </a:solidFill>
          <a:ln w="15240">
            <a:solidFill>
              <a:srgbClr val="FFFFFF"/>
            </a:solidFill>
            <a:prstDash val="solid"/>
          </a:ln>
          <a:effectLst>
            <a:outerShdw blurRad="25400" dist="50800" dir="2700000" algn="bl" rotWithShape="0">
              <a:srgbClr val="7BA7E6">
                <a:alpha val="22000"/>
              </a:srgbClr>
            </a:outerShdw>
          </a:effectLst>
        </p:spPr>
      </p:sp>
      <p:sp>
        <p:nvSpPr>
          <p:cNvPr id="14" name="Shape 11"/>
          <p:cNvSpPr/>
          <p:nvPr>
            <p:custDataLst>
              <p:tags r:id="rId5"/>
            </p:custDataLst>
          </p:nvPr>
        </p:nvSpPr>
        <p:spPr>
          <a:xfrm>
            <a:off x="1739989" y="2674620"/>
            <a:ext cx="137160" cy="13716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" name="Shape 12"/>
          <p:cNvSpPr/>
          <p:nvPr>
            <p:custDataLst>
              <p:tags r:id="rId6"/>
            </p:custDataLst>
          </p:nvPr>
        </p:nvSpPr>
        <p:spPr>
          <a:xfrm>
            <a:off x="1694269" y="2820924"/>
            <a:ext cx="228600" cy="118872"/>
          </a:xfrm>
          <a:prstGeom prst="roundRect">
            <a:avLst>
              <a:gd name="adj" fmla="val 30769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Text 13"/>
          <p:cNvSpPr/>
          <p:nvPr>
            <p:custDataLst>
              <p:tags r:id="rId7"/>
            </p:custDataLst>
          </p:nvPr>
        </p:nvSpPr>
        <p:spPr>
          <a:xfrm>
            <a:off x="585216" y="3145536"/>
            <a:ext cx="2446706" cy="29260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530" b="1" dirty="0">
                <a:solidFill>
                  <a:srgbClr val="222B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成琦艺峰</a:t>
            </a:r>
            <a:endParaRPr lang="en-US" sz="1530" dirty="0"/>
          </a:p>
        </p:txBody>
      </p:sp>
      <p:sp>
        <p:nvSpPr>
          <p:cNvPr id="17" name="Text 14"/>
          <p:cNvSpPr/>
          <p:nvPr>
            <p:custDataLst>
              <p:tags r:id="rId8"/>
            </p:custDataLst>
          </p:nvPr>
        </p:nvSpPr>
        <p:spPr>
          <a:xfrm>
            <a:off x="630936" y="3675888"/>
            <a:ext cx="2355266" cy="53035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3300" b="1" dirty="0">
                <a:solidFill>
                  <a:srgbClr val="1F6FE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25%</a:t>
            </a:r>
            <a:endParaRPr lang="en-US" sz="3300" dirty="0"/>
          </a:p>
        </p:txBody>
      </p:sp>
      <p:sp>
        <p:nvSpPr>
          <p:cNvPr id="18" name="Shape 15"/>
          <p:cNvSpPr/>
          <p:nvPr>
            <p:custDataLst>
              <p:tags r:id="rId9"/>
            </p:custDataLst>
          </p:nvPr>
        </p:nvSpPr>
        <p:spPr>
          <a:xfrm>
            <a:off x="649224" y="4215384"/>
            <a:ext cx="2318690" cy="0"/>
          </a:xfrm>
          <a:prstGeom prst="line">
            <a:avLst/>
          </a:prstGeom>
          <a:noFill/>
          <a:ln w="10160">
            <a:solidFill>
              <a:srgbClr val="C4D3E9"/>
            </a:solidFill>
            <a:prstDash val="solid"/>
          </a:ln>
        </p:spPr>
      </p:sp>
      <p:sp>
        <p:nvSpPr>
          <p:cNvPr id="19" name="Text 16"/>
          <p:cNvSpPr/>
          <p:nvPr>
            <p:custDataLst>
              <p:tags r:id="rId10"/>
            </p:custDataLst>
          </p:nvPr>
        </p:nvSpPr>
        <p:spPr>
          <a:xfrm>
            <a:off x="482122" y="4434839"/>
            <a:ext cx="3025288" cy="1115568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222B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•  </a:t>
            </a:r>
            <a:r>
              <a:rPr lang="en-US" sz="1300" dirty="0" err="1">
                <a:solidFill>
                  <a:srgbClr val="222B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架构审校优化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222B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•  </a:t>
            </a:r>
            <a:r>
              <a:rPr lang="zh-CN" altLang="en-US" sz="1300" dirty="0">
                <a:solidFill>
                  <a:srgbClr val="222B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“数据训练”</a:t>
            </a:r>
            <a:r>
              <a:rPr lang="en-US" sz="1300" dirty="0" err="1">
                <a:solidFill>
                  <a:srgbClr val="222B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部分PPT与文稿编写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222B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•  </a:t>
            </a:r>
            <a:r>
              <a:rPr lang="en-US" sz="1300" dirty="0" err="1">
                <a:solidFill>
                  <a:srgbClr val="222B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PPT美化</a:t>
            </a:r>
            <a:endParaRPr lang="en-US" sz="1300" dirty="0"/>
          </a:p>
        </p:txBody>
      </p:sp>
      <p:sp>
        <p:nvSpPr>
          <p:cNvPr id="20" name="Shape 17"/>
          <p:cNvSpPr/>
          <p:nvPr>
            <p:custDataLst>
              <p:tags r:id="rId11"/>
            </p:custDataLst>
          </p:nvPr>
        </p:nvSpPr>
        <p:spPr>
          <a:xfrm>
            <a:off x="3306242" y="2359152"/>
            <a:ext cx="2721026" cy="3246120"/>
          </a:xfrm>
          <a:prstGeom prst="roundRect">
            <a:avLst>
              <a:gd name="adj" fmla="val 2688"/>
            </a:avLst>
          </a:prstGeom>
          <a:solidFill>
            <a:srgbClr val="FDFEFF"/>
          </a:solidFill>
          <a:ln w="12700">
            <a:solidFill>
              <a:srgbClr val="C9DAF2"/>
            </a:solidFill>
            <a:prstDash val="solid"/>
          </a:ln>
          <a:effectLst>
            <a:outerShdw blurRad="25400" dist="50800" dir="2700000" algn="bl" rotWithShape="0">
              <a:srgbClr val="B8C8E0">
                <a:alpha val="15000"/>
              </a:srgbClr>
            </a:outerShdw>
          </a:effectLst>
        </p:spPr>
      </p:sp>
      <p:sp>
        <p:nvSpPr>
          <p:cNvPr id="21" name="Shape 18"/>
          <p:cNvSpPr/>
          <p:nvPr>
            <p:custDataLst>
              <p:tags r:id="rId12"/>
            </p:custDataLst>
          </p:nvPr>
        </p:nvSpPr>
        <p:spPr>
          <a:xfrm>
            <a:off x="3470834" y="2770632"/>
            <a:ext cx="694944" cy="0"/>
          </a:xfrm>
          <a:prstGeom prst="line">
            <a:avLst/>
          </a:prstGeom>
          <a:noFill/>
          <a:ln w="10160">
            <a:solidFill>
              <a:srgbClr val="C4D3E9"/>
            </a:solidFill>
            <a:prstDash val="solid"/>
          </a:ln>
        </p:spPr>
      </p:sp>
      <p:sp>
        <p:nvSpPr>
          <p:cNvPr id="22" name="Shape 19"/>
          <p:cNvSpPr/>
          <p:nvPr>
            <p:custDataLst>
              <p:tags r:id="rId13"/>
            </p:custDataLst>
          </p:nvPr>
        </p:nvSpPr>
        <p:spPr>
          <a:xfrm>
            <a:off x="5167732" y="2770632"/>
            <a:ext cx="694944" cy="0"/>
          </a:xfrm>
          <a:prstGeom prst="line">
            <a:avLst/>
          </a:prstGeom>
          <a:noFill/>
          <a:ln w="10160">
            <a:solidFill>
              <a:srgbClr val="C4D3E9"/>
            </a:solidFill>
            <a:prstDash val="solid"/>
          </a:ln>
        </p:spPr>
      </p:sp>
      <p:sp>
        <p:nvSpPr>
          <p:cNvPr id="23" name="Shape 20"/>
          <p:cNvSpPr/>
          <p:nvPr>
            <p:custDataLst>
              <p:tags r:id="rId14"/>
            </p:custDataLst>
          </p:nvPr>
        </p:nvSpPr>
        <p:spPr>
          <a:xfrm>
            <a:off x="4447299" y="2551176"/>
            <a:ext cx="438912" cy="438912"/>
          </a:xfrm>
          <a:prstGeom prst="ellipse">
            <a:avLst/>
          </a:prstGeom>
          <a:solidFill>
            <a:srgbClr val="1F6FE5"/>
          </a:solidFill>
          <a:ln w="15240">
            <a:solidFill>
              <a:srgbClr val="FFFFFF"/>
            </a:solidFill>
            <a:prstDash val="solid"/>
          </a:ln>
          <a:effectLst>
            <a:outerShdw blurRad="25400" dist="50800" dir="2700000" algn="bl" rotWithShape="0">
              <a:srgbClr val="7BA7E6">
                <a:alpha val="22000"/>
              </a:srgbClr>
            </a:outerShdw>
          </a:effectLst>
        </p:spPr>
      </p:sp>
      <p:sp>
        <p:nvSpPr>
          <p:cNvPr id="24" name="Shape 21"/>
          <p:cNvSpPr/>
          <p:nvPr>
            <p:custDataLst>
              <p:tags r:id="rId15"/>
            </p:custDataLst>
          </p:nvPr>
        </p:nvSpPr>
        <p:spPr>
          <a:xfrm>
            <a:off x="4598175" y="2674620"/>
            <a:ext cx="137160" cy="13716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5" name="Shape 22"/>
          <p:cNvSpPr/>
          <p:nvPr>
            <p:custDataLst>
              <p:tags r:id="rId16"/>
            </p:custDataLst>
          </p:nvPr>
        </p:nvSpPr>
        <p:spPr>
          <a:xfrm>
            <a:off x="4552455" y="2820924"/>
            <a:ext cx="228600" cy="118872"/>
          </a:xfrm>
          <a:prstGeom prst="roundRect">
            <a:avLst>
              <a:gd name="adj" fmla="val 30769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6" name="Text 23"/>
          <p:cNvSpPr/>
          <p:nvPr>
            <p:custDataLst>
              <p:tags r:id="rId17"/>
            </p:custDataLst>
          </p:nvPr>
        </p:nvSpPr>
        <p:spPr>
          <a:xfrm>
            <a:off x="3443402" y="3145536"/>
            <a:ext cx="2446706" cy="29260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530" b="1" dirty="0" err="1">
                <a:solidFill>
                  <a:srgbClr val="222B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郑智瑄</a:t>
            </a:r>
            <a:endParaRPr lang="en-US" sz="1530" dirty="0"/>
          </a:p>
        </p:txBody>
      </p:sp>
      <p:sp>
        <p:nvSpPr>
          <p:cNvPr id="27" name="Text 24"/>
          <p:cNvSpPr/>
          <p:nvPr>
            <p:custDataLst>
              <p:tags r:id="rId18"/>
            </p:custDataLst>
          </p:nvPr>
        </p:nvSpPr>
        <p:spPr>
          <a:xfrm>
            <a:off x="3489122" y="3675888"/>
            <a:ext cx="2355266" cy="53035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3300" b="1" dirty="0">
                <a:solidFill>
                  <a:srgbClr val="1F6FE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25%</a:t>
            </a:r>
            <a:endParaRPr lang="en-US" sz="3300" dirty="0"/>
          </a:p>
        </p:txBody>
      </p:sp>
      <p:sp>
        <p:nvSpPr>
          <p:cNvPr id="28" name="Shape 25"/>
          <p:cNvSpPr/>
          <p:nvPr>
            <p:custDataLst>
              <p:tags r:id="rId19"/>
            </p:custDataLst>
          </p:nvPr>
        </p:nvSpPr>
        <p:spPr>
          <a:xfrm>
            <a:off x="3507410" y="4215384"/>
            <a:ext cx="2318690" cy="0"/>
          </a:xfrm>
          <a:prstGeom prst="line">
            <a:avLst/>
          </a:prstGeom>
          <a:noFill/>
          <a:ln w="10160">
            <a:solidFill>
              <a:srgbClr val="C4D3E9"/>
            </a:solidFill>
            <a:prstDash val="solid"/>
          </a:ln>
        </p:spPr>
      </p:sp>
      <p:sp>
        <p:nvSpPr>
          <p:cNvPr id="29" name="Text 26"/>
          <p:cNvSpPr/>
          <p:nvPr>
            <p:custDataLst>
              <p:tags r:id="rId20"/>
            </p:custDataLst>
          </p:nvPr>
        </p:nvSpPr>
        <p:spPr>
          <a:xfrm>
            <a:off x="3377907" y="4443984"/>
            <a:ext cx="2647873" cy="1115568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222B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•  整体报告架构构思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222B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•  </a:t>
            </a:r>
            <a:r>
              <a:rPr lang="zh-CN" altLang="en-US" sz="1300" dirty="0">
                <a:solidFill>
                  <a:srgbClr val="222B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“模型设计”</a:t>
            </a:r>
            <a:r>
              <a:rPr lang="en-US" sz="1300" dirty="0" err="1">
                <a:solidFill>
                  <a:srgbClr val="222B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部分PPT与文稿编写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222B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•  PPT初稿整合</a:t>
            </a:r>
            <a:endParaRPr lang="en-US" sz="1300" dirty="0"/>
          </a:p>
        </p:txBody>
      </p:sp>
      <p:sp>
        <p:nvSpPr>
          <p:cNvPr id="30" name="Shape 27"/>
          <p:cNvSpPr/>
          <p:nvPr>
            <p:custDataLst>
              <p:tags r:id="rId21"/>
            </p:custDataLst>
          </p:nvPr>
        </p:nvSpPr>
        <p:spPr>
          <a:xfrm>
            <a:off x="6164428" y="2359152"/>
            <a:ext cx="2721026" cy="3246120"/>
          </a:xfrm>
          <a:prstGeom prst="roundRect">
            <a:avLst>
              <a:gd name="adj" fmla="val 2688"/>
            </a:avLst>
          </a:prstGeom>
          <a:solidFill>
            <a:srgbClr val="FDFEFF"/>
          </a:solidFill>
          <a:ln w="12700">
            <a:solidFill>
              <a:srgbClr val="C9DAF2"/>
            </a:solidFill>
            <a:prstDash val="solid"/>
          </a:ln>
          <a:effectLst>
            <a:outerShdw blurRad="25400" dist="50800" dir="2700000" algn="bl" rotWithShape="0">
              <a:srgbClr val="B8C8E0">
                <a:alpha val="15000"/>
              </a:srgbClr>
            </a:outerShdw>
          </a:effectLst>
        </p:spPr>
      </p:sp>
      <p:sp>
        <p:nvSpPr>
          <p:cNvPr id="31" name="Shape 28"/>
          <p:cNvSpPr/>
          <p:nvPr>
            <p:custDataLst>
              <p:tags r:id="rId22"/>
            </p:custDataLst>
          </p:nvPr>
        </p:nvSpPr>
        <p:spPr>
          <a:xfrm>
            <a:off x="6329020" y="2770632"/>
            <a:ext cx="694944" cy="0"/>
          </a:xfrm>
          <a:prstGeom prst="line">
            <a:avLst/>
          </a:prstGeom>
          <a:noFill/>
          <a:ln w="10160">
            <a:solidFill>
              <a:srgbClr val="C4D3E9"/>
            </a:solidFill>
            <a:prstDash val="solid"/>
          </a:ln>
        </p:spPr>
      </p:sp>
      <p:sp>
        <p:nvSpPr>
          <p:cNvPr id="32" name="Shape 29"/>
          <p:cNvSpPr/>
          <p:nvPr>
            <p:custDataLst>
              <p:tags r:id="rId23"/>
            </p:custDataLst>
          </p:nvPr>
        </p:nvSpPr>
        <p:spPr>
          <a:xfrm>
            <a:off x="8025917" y="2770632"/>
            <a:ext cx="694944" cy="0"/>
          </a:xfrm>
          <a:prstGeom prst="line">
            <a:avLst/>
          </a:prstGeom>
          <a:noFill/>
          <a:ln w="10160">
            <a:solidFill>
              <a:srgbClr val="C4D3E9"/>
            </a:solidFill>
            <a:prstDash val="solid"/>
          </a:ln>
        </p:spPr>
      </p:sp>
      <p:sp>
        <p:nvSpPr>
          <p:cNvPr id="33" name="Shape 30"/>
          <p:cNvSpPr/>
          <p:nvPr>
            <p:custDataLst>
              <p:tags r:id="rId24"/>
            </p:custDataLst>
          </p:nvPr>
        </p:nvSpPr>
        <p:spPr>
          <a:xfrm>
            <a:off x="7305485" y="2551176"/>
            <a:ext cx="438912" cy="438912"/>
          </a:xfrm>
          <a:prstGeom prst="ellipse">
            <a:avLst/>
          </a:prstGeom>
          <a:solidFill>
            <a:srgbClr val="1F6FE5"/>
          </a:solidFill>
          <a:ln w="15240">
            <a:solidFill>
              <a:srgbClr val="FFFFFF"/>
            </a:solidFill>
            <a:prstDash val="solid"/>
          </a:ln>
          <a:effectLst>
            <a:outerShdw blurRad="25400" dist="50800" dir="2700000" algn="bl" rotWithShape="0">
              <a:srgbClr val="7BA7E6">
                <a:alpha val="22000"/>
              </a:srgbClr>
            </a:outerShdw>
          </a:effectLst>
        </p:spPr>
      </p:sp>
      <p:sp>
        <p:nvSpPr>
          <p:cNvPr id="34" name="Shape 31"/>
          <p:cNvSpPr/>
          <p:nvPr>
            <p:custDataLst>
              <p:tags r:id="rId25"/>
            </p:custDataLst>
          </p:nvPr>
        </p:nvSpPr>
        <p:spPr>
          <a:xfrm>
            <a:off x="7456361" y="2674620"/>
            <a:ext cx="137160" cy="13716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5" name="Shape 32"/>
          <p:cNvSpPr/>
          <p:nvPr>
            <p:custDataLst>
              <p:tags r:id="rId26"/>
            </p:custDataLst>
          </p:nvPr>
        </p:nvSpPr>
        <p:spPr>
          <a:xfrm>
            <a:off x="7410641" y="2820924"/>
            <a:ext cx="228600" cy="118872"/>
          </a:xfrm>
          <a:prstGeom prst="roundRect">
            <a:avLst>
              <a:gd name="adj" fmla="val 30769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6" name="Text 33"/>
          <p:cNvSpPr/>
          <p:nvPr>
            <p:custDataLst>
              <p:tags r:id="rId27"/>
            </p:custDataLst>
          </p:nvPr>
        </p:nvSpPr>
        <p:spPr>
          <a:xfrm>
            <a:off x="6301588" y="3145536"/>
            <a:ext cx="2446706" cy="29260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530" b="1" dirty="0" err="1">
                <a:solidFill>
                  <a:srgbClr val="222B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孙维奇（组长</a:t>
            </a:r>
            <a:r>
              <a:rPr lang="en-US" sz="1530" b="1" dirty="0">
                <a:solidFill>
                  <a:srgbClr val="222B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）</a:t>
            </a:r>
            <a:endParaRPr lang="en-US" sz="1530" dirty="0"/>
          </a:p>
        </p:txBody>
      </p:sp>
      <p:sp>
        <p:nvSpPr>
          <p:cNvPr id="37" name="Text 34"/>
          <p:cNvSpPr/>
          <p:nvPr>
            <p:custDataLst>
              <p:tags r:id="rId28"/>
            </p:custDataLst>
          </p:nvPr>
        </p:nvSpPr>
        <p:spPr>
          <a:xfrm>
            <a:off x="6347308" y="3675888"/>
            <a:ext cx="2355266" cy="53035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3300" b="1" dirty="0">
                <a:solidFill>
                  <a:srgbClr val="1F6FE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25%</a:t>
            </a:r>
            <a:endParaRPr lang="en-US" sz="3300" dirty="0"/>
          </a:p>
        </p:txBody>
      </p:sp>
      <p:sp>
        <p:nvSpPr>
          <p:cNvPr id="38" name="Shape 35"/>
          <p:cNvSpPr/>
          <p:nvPr>
            <p:custDataLst>
              <p:tags r:id="rId29"/>
            </p:custDataLst>
          </p:nvPr>
        </p:nvSpPr>
        <p:spPr>
          <a:xfrm>
            <a:off x="6365596" y="4215384"/>
            <a:ext cx="2318690" cy="0"/>
          </a:xfrm>
          <a:prstGeom prst="line">
            <a:avLst/>
          </a:prstGeom>
          <a:noFill/>
          <a:ln w="10160">
            <a:solidFill>
              <a:srgbClr val="C4D3E9"/>
            </a:solidFill>
            <a:prstDash val="solid"/>
          </a:ln>
        </p:spPr>
      </p:sp>
      <p:sp>
        <p:nvSpPr>
          <p:cNvPr id="39" name="Text 36"/>
          <p:cNvSpPr/>
          <p:nvPr>
            <p:custDataLst>
              <p:tags r:id="rId30"/>
            </p:custDataLst>
          </p:nvPr>
        </p:nvSpPr>
        <p:spPr>
          <a:xfrm>
            <a:off x="6205120" y="4377691"/>
            <a:ext cx="2670619" cy="1115568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222B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•  统筹分工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222B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•  架构审校优化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222B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•  </a:t>
            </a:r>
            <a:r>
              <a:rPr lang="zh-CN" altLang="en-US" sz="1300" dirty="0">
                <a:solidFill>
                  <a:srgbClr val="222B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“输出控制”</a:t>
            </a:r>
            <a:r>
              <a:rPr lang="en-US" sz="1300" dirty="0" err="1">
                <a:solidFill>
                  <a:srgbClr val="222B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部分PPT与文稿编写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222B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•  PPT美化</a:t>
            </a:r>
            <a:endParaRPr lang="en-US" sz="1300" dirty="0"/>
          </a:p>
        </p:txBody>
      </p:sp>
      <p:sp>
        <p:nvSpPr>
          <p:cNvPr id="40" name="Shape 37"/>
          <p:cNvSpPr/>
          <p:nvPr>
            <p:custDataLst>
              <p:tags r:id="rId31"/>
            </p:custDataLst>
          </p:nvPr>
        </p:nvSpPr>
        <p:spPr>
          <a:xfrm>
            <a:off x="9022613" y="2359152"/>
            <a:ext cx="2721026" cy="3246120"/>
          </a:xfrm>
          <a:prstGeom prst="roundRect">
            <a:avLst>
              <a:gd name="adj" fmla="val 2688"/>
            </a:avLst>
          </a:prstGeom>
          <a:solidFill>
            <a:srgbClr val="FDFEFF"/>
          </a:solidFill>
          <a:ln w="12700">
            <a:solidFill>
              <a:srgbClr val="C9DAF2"/>
            </a:solidFill>
            <a:prstDash val="solid"/>
          </a:ln>
          <a:effectLst>
            <a:outerShdw blurRad="25400" dist="50800" dir="2700000" algn="bl" rotWithShape="0">
              <a:srgbClr val="B8C8E0">
                <a:alpha val="15000"/>
              </a:srgbClr>
            </a:outerShdw>
          </a:effectLst>
        </p:spPr>
      </p:sp>
      <p:sp>
        <p:nvSpPr>
          <p:cNvPr id="41" name="Shape 38"/>
          <p:cNvSpPr/>
          <p:nvPr>
            <p:custDataLst>
              <p:tags r:id="rId32"/>
            </p:custDataLst>
          </p:nvPr>
        </p:nvSpPr>
        <p:spPr>
          <a:xfrm>
            <a:off x="9187205" y="2770632"/>
            <a:ext cx="694944" cy="0"/>
          </a:xfrm>
          <a:prstGeom prst="line">
            <a:avLst/>
          </a:prstGeom>
          <a:noFill/>
          <a:ln w="10160">
            <a:solidFill>
              <a:srgbClr val="C4D3E9"/>
            </a:solidFill>
            <a:prstDash val="solid"/>
          </a:ln>
        </p:spPr>
      </p:sp>
      <p:sp>
        <p:nvSpPr>
          <p:cNvPr id="42" name="Shape 39"/>
          <p:cNvSpPr/>
          <p:nvPr>
            <p:custDataLst>
              <p:tags r:id="rId33"/>
            </p:custDataLst>
          </p:nvPr>
        </p:nvSpPr>
        <p:spPr>
          <a:xfrm>
            <a:off x="10884103" y="2770632"/>
            <a:ext cx="694944" cy="0"/>
          </a:xfrm>
          <a:prstGeom prst="line">
            <a:avLst/>
          </a:prstGeom>
          <a:noFill/>
          <a:ln w="10160">
            <a:solidFill>
              <a:srgbClr val="C4D3E9"/>
            </a:solidFill>
            <a:prstDash val="solid"/>
          </a:ln>
        </p:spPr>
      </p:sp>
      <p:sp>
        <p:nvSpPr>
          <p:cNvPr id="43" name="Shape 40"/>
          <p:cNvSpPr/>
          <p:nvPr>
            <p:custDataLst>
              <p:tags r:id="rId34"/>
            </p:custDataLst>
          </p:nvPr>
        </p:nvSpPr>
        <p:spPr>
          <a:xfrm>
            <a:off x="10163670" y="2551176"/>
            <a:ext cx="438912" cy="438912"/>
          </a:xfrm>
          <a:prstGeom prst="ellipse">
            <a:avLst/>
          </a:prstGeom>
          <a:solidFill>
            <a:srgbClr val="1F6FE5"/>
          </a:solidFill>
          <a:ln w="15240">
            <a:solidFill>
              <a:srgbClr val="FFFFFF"/>
            </a:solidFill>
            <a:prstDash val="solid"/>
          </a:ln>
          <a:effectLst>
            <a:outerShdw blurRad="25400" dist="50800" dir="2700000" algn="bl" rotWithShape="0">
              <a:srgbClr val="7BA7E6">
                <a:alpha val="22000"/>
              </a:srgbClr>
            </a:outerShdw>
          </a:effectLst>
        </p:spPr>
      </p:sp>
      <p:sp>
        <p:nvSpPr>
          <p:cNvPr id="44" name="Shape 41"/>
          <p:cNvSpPr/>
          <p:nvPr>
            <p:custDataLst>
              <p:tags r:id="rId35"/>
            </p:custDataLst>
          </p:nvPr>
        </p:nvSpPr>
        <p:spPr>
          <a:xfrm>
            <a:off x="10314546" y="2674620"/>
            <a:ext cx="137160" cy="13716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5" name="Shape 42"/>
          <p:cNvSpPr/>
          <p:nvPr>
            <p:custDataLst>
              <p:tags r:id="rId36"/>
            </p:custDataLst>
          </p:nvPr>
        </p:nvSpPr>
        <p:spPr>
          <a:xfrm>
            <a:off x="10268826" y="2820924"/>
            <a:ext cx="228600" cy="118872"/>
          </a:xfrm>
          <a:prstGeom prst="roundRect">
            <a:avLst>
              <a:gd name="adj" fmla="val 30769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6" name="Text 43"/>
          <p:cNvSpPr/>
          <p:nvPr>
            <p:custDataLst>
              <p:tags r:id="rId37"/>
            </p:custDataLst>
          </p:nvPr>
        </p:nvSpPr>
        <p:spPr>
          <a:xfrm>
            <a:off x="9159773" y="3145536"/>
            <a:ext cx="2446706" cy="29260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530" b="1" dirty="0">
                <a:solidFill>
                  <a:srgbClr val="222B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李梓川</a:t>
            </a:r>
            <a:endParaRPr lang="en-US" sz="1530" dirty="0"/>
          </a:p>
        </p:txBody>
      </p:sp>
      <p:sp>
        <p:nvSpPr>
          <p:cNvPr id="47" name="Text 44"/>
          <p:cNvSpPr/>
          <p:nvPr>
            <p:custDataLst>
              <p:tags r:id="rId38"/>
            </p:custDataLst>
          </p:nvPr>
        </p:nvSpPr>
        <p:spPr>
          <a:xfrm>
            <a:off x="9205493" y="3675888"/>
            <a:ext cx="2355266" cy="53035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3300" b="1" dirty="0">
                <a:solidFill>
                  <a:srgbClr val="1F6FE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25%</a:t>
            </a:r>
            <a:endParaRPr lang="en-US" sz="3300" dirty="0"/>
          </a:p>
        </p:txBody>
      </p:sp>
      <p:sp>
        <p:nvSpPr>
          <p:cNvPr id="48" name="Shape 45"/>
          <p:cNvSpPr/>
          <p:nvPr>
            <p:custDataLst>
              <p:tags r:id="rId39"/>
            </p:custDataLst>
          </p:nvPr>
        </p:nvSpPr>
        <p:spPr>
          <a:xfrm>
            <a:off x="9223781" y="4215384"/>
            <a:ext cx="2318690" cy="0"/>
          </a:xfrm>
          <a:prstGeom prst="line">
            <a:avLst/>
          </a:prstGeom>
          <a:noFill/>
          <a:ln w="10160">
            <a:solidFill>
              <a:srgbClr val="C4D3E9"/>
            </a:solidFill>
            <a:prstDash val="solid"/>
          </a:ln>
        </p:spPr>
      </p:sp>
      <p:sp>
        <p:nvSpPr>
          <p:cNvPr id="49" name="Text 46"/>
          <p:cNvSpPr/>
          <p:nvPr>
            <p:custDataLst>
              <p:tags r:id="rId40"/>
            </p:custDataLst>
          </p:nvPr>
        </p:nvSpPr>
        <p:spPr>
          <a:xfrm>
            <a:off x="9095766" y="4407409"/>
            <a:ext cx="2647873" cy="1115568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222B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•  架构审校优化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222B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•  </a:t>
            </a:r>
            <a:r>
              <a:rPr lang="zh-CN" altLang="en-US" sz="1300" dirty="0">
                <a:solidFill>
                  <a:srgbClr val="222B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“反馈迭代”</a:t>
            </a:r>
            <a:r>
              <a:rPr lang="en-US" sz="1300" dirty="0" err="1">
                <a:solidFill>
                  <a:srgbClr val="222B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部分PPT与文稿编写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222B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•  PPT美化</a:t>
            </a:r>
            <a:endParaRPr lang="en-US" sz="1300" dirty="0"/>
          </a:p>
        </p:txBody>
      </p:sp>
      <p:pic>
        <p:nvPicPr>
          <p:cNvPr id="3" name="Picture 1" descr="ISEE.png"/>
          <p:cNvPicPr>
            <a:picLocks noChangeAspect="1"/>
          </p:cNvPicPr>
          <p:nvPr/>
        </p:nvPicPr>
        <p:blipFill>
          <a:blip r:embed="rId43"/>
          <a:stretch>
            <a:fillRect/>
          </a:stretch>
        </p:blipFill>
        <p:spPr>
          <a:xfrm>
            <a:off x="10643675" y="219456"/>
            <a:ext cx="1133797" cy="825119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502920"/>
            <a:ext cx="3840480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200" b="1" dirty="0" err="1">
                <a:solidFill>
                  <a:srgbClr val="1F73E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感谢</a:t>
            </a:r>
            <a:r>
              <a:rPr lang="zh-CN" altLang="en-US" sz="4200" b="1" dirty="0">
                <a:solidFill>
                  <a:srgbClr val="1F73E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倾</a:t>
            </a:r>
            <a:r>
              <a:rPr lang="en-US" sz="4200" b="1" dirty="0">
                <a:solidFill>
                  <a:srgbClr val="1F73E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听</a:t>
            </a:r>
            <a:endParaRPr lang="en-US" sz="4200" dirty="0"/>
          </a:p>
        </p:txBody>
      </p:sp>
      <p:sp>
        <p:nvSpPr>
          <p:cNvPr id="6" name="Shape 4"/>
          <p:cNvSpPr/>
          <p:nvPr/>
        </p:nvSpPr>
        <p:spPr>
          <a:xfrm>
            <a:off x="9098280" y="1188720"/>
            <a:ext cx="1737360" cy="1737360"/>
          </a:xfrm>
          <a:prstGeom prst="ellipse">
            <a:avLst/>
          </a:prstGeom>
          <a:solidFill>
            <a:srgbClr val="EAF4FF">
              <a:alpha val="35000"/>
            </a:srgbClr>
          </a:solidFill>
          <a:ln w="12700">
            <a:solidFill>
              <a:srgbClr val="EAF4FF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28600" y="4526280"/>
            <a:ext cx="685800" cy="685800"/>
          </a:xfrm>
          <a:prstGeom prst="ellipse">
            <a:avLst/>
          </a:prstGeom>
          <a:solidFill>
            <a:srgbClr val="EAF4FF">
              <a:alpha val="30000"/>
            </a:srgbClr>
          </a:solidFill>
          <a:ln w="12700">
            <a:solidFill>
              <a:srgbClr val="EAF4FF">
                <a:alpha val="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 rot="300000">
            <a:off x="4754880" y="1188720"/>
            <a:ext cx="2834640" cy="2011680"/>
          </a:xfrm>
          <a:prstGeom prst="arc">
            <a:avLst/>
          </a:prstGeom>
          <a:solidFill>
            <a:srgbClr val="FFFFFF">
              <a:alpha val="0"/>
            </a:srgbClr>
          </a:solidFill>
          <a:ln w="15240">
            <a:solidFill>
              <a:srgbClr val="C8DCF7">
                <a:alpha val="9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800600" y="2240280"/>
            <a:ext cx="1783080" cy="1463040"/>
          </a:xfrm>
          <a:prstGeom prst="ellipse">
            <a:avLst/>
          </a:prstGeom>
          <a:solidFill>
            <a:srgbClr val="FFFFFF"/>
          </a:solidFill>
          <a:ln w="16510">
            <a:solidFill>
              <a:srgbClr val="B7D6FF"/>
            </a:solidFill>
            <a:prstDash val="solid"/>
          </a:ln>
          <a:effectLst>
            <a:outerShdw blurRad="25400" dist="50800" dir="2700000" algn="bl" rotWithShape="0">
              <a:srgbClr val="7FB1F2">
                <a:alpha val="1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230368" y="2468880"/>
            <a:ext cx="914400" cy="914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400" b="1" dirty="0">
                <a:solidFill>
                  <a:srgbClr val="1F73E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?</a:t>
            </a:r>
            <a:endParaRPr lang="en-US" sz="5400" dirty="0"/>
          </a:p>
        </p:txBody>
      </p:sp>
      <p:sp>
        <p:nvSpPr>
          <p:cNvPr id="11" name="Shape 9"/>
          <p:cNvSpPr/>
          <p:nvPr/>
        </p:nvSpPr>
        <p:spPr>
          <a:xfrm>
            <a:off x="6903720" y="2395728"/>
            <a:ext cx="1691640" cy="1097280"/>
          </a:xfrm>
          <a:prstGeom prst="roundRect">
            <a:avLst>
              <a:gd name="adj" fmla="val 15000"/>
            </a:avLst>
          </a:prstGeom>
          <a:solidFill>
            <a:srgbClr val="A8CBFF">
              <a:alpha val="88000"/>
            </a:srgbClr>
          </a:solidFill>
          <a:ln w="12700">
            <a:solidFill>
              <a:srgbClr val="A8CBFF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178040" y="2633472"/>
            <a:ext cx="11430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2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···</a:t>
            </a:r>
            <a:endParaRPr lang="en-US" sz="4200" dirty="0"/>
          </a:p>
        </p:txBody>
      </p:sp>
      <p:sp>
        <p:nvSpPr>
          <p:cNvPr id="13" name="Shape 11"/>
          <p:cNvSpPr/>
          <p:nvPr/>
        </p:nvSpPr>
        <p:spPr>
          <a:xfrm>
            <a:off x="4709160" y="3877056"/>
            <a:ext cx="3840480" cy="109728"/>
          </a:xfrm>
          <a:prstGeom prst="ellipse">
            <a:avLst/>
          </a:prstGeom>
          <a:solidFill>
            <a:srgbClr val="CFE2FF">
              <a:alpha val="90000"/>
            </a:srgbClr>
          </a:solidFill>
          <a:ln w="12700">
            <a:solidFill>
              <a:srgbClr val="CFE2FF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943100" y="4249643"/>
            <a:ext cx="8458200" cy="8686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altLang="en-US" sz="3600" b="1" dirty="0">
                <a:solidFill>
                  <a:srgbClr val="1F73E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恳请各位</a:t>
            </a:r>
            <a:r>
              <a:rPr lang="en-US" sz="3600" b="1" dirty="0" err="1">
                <a:solidFill>
                  <a:srgbClr val="1F73E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老师</a:t>
            </a:r>
            <a:r>
              <a:rPr lang="zh-CN" altLang="en-US" sz="3600" b="1" dirty="0">
                <a:solidFill>
                  <a:srgbClr val="1F73E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、同学批评指正</a:t>
            </a:r>
            <a:endParaRPr lang="en-US" sz="3600" dirty="0"/>
          </a:p>
        </p:txBody>
      </p:sp>
      <p:sp>
        <p:nvSpPr>
          <p:cNvPr id="15" name="Text 13"/>
          <p:cNvSpPr/>
          <p:nvPr/>
        </p:nvSpPr>
        <p:spPr>
          <a:xfrm>
            <a:off x="3977640" y="4956048"/>
            <a:ext cx="42519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850" dirty="0"/>
          </a:p>
        </p:txBody>
      </p:sp>
      <p:sp>
        <p:nvSpPr>
          <p:cNvPr id="16" name="Shape 14"/>
          <p:cNvSpPr/>
          <p:nvPr/>
        </p:nvSpPr>
        <p:spPr>
          <a:xfrm>
            <a:off x="3337560" y="2816352"/>
            <a:ext cx="502920" cy="0"/>
          </a:xfrm>
          <a:prstGeom prst="line">
            <a:avLst/>
          </a:prstGeom>
          <a:noFill/>
          <a:ln w="38100">
            <a:solidFill>
              <a:srgbClr val="D5E7FF"/>
            </a:solidFill>
            <a:prstDash val="solid"/>
            <a:headEnd type="none"/>
            <a:tailEnd type="none"/>
          </a:ln>
        </p:spPr>
      </p:sp>
      <p:sp>
        <p:nvSpPr>
          <p:cNvPr id="17" name="Shape 15"/>
          <p:cNvSpPr/>
          <p:nvPr/>
        </p:nvSpPr>
        <p:spPr>
          <a:xfrm>
            <a:off x="9098280" y="3547872"/>
            <a:ext cx="594360" cy="0"/>
          </a:xfrm>
          <a:prstGeom prst="line">
            <a:avLst/>
          </a:prstGeom>
          <a:noFill/>
          <a:ln w="38100">
            <a:solidFill>
              <a:srgbClr val="D5E7FF"/>
            </a:solidFill>
            <a:prstDash val="solid"/>
            <a:headEnd type="none"/>
            <a:tailEnd type="none"/>
          </a:ln>
        </p:spPr>
      </p:sp>
      <p:sp>
        <p:nvSpPr>
          <p:cNvPr id="18" name="Shape 16"/>
          <p:cNvSpPr/>
          <p:nvPr/>
        </p:nvSpPr>
        <p:spPr>
          <a:xfrm>
            <a:off x="4069080" y="1993392"/>
            <a:ext cx="118872" cy="118872"/>
          </a:xfrm>
          <a:prstGeom prst="ellipse">
            <a:avLst/>
          </a:prstGeom>
          <a:solidFill>
            <a:srgbClr val="A9CCFF"/>
          </a:solidFill>
          <a:ln w="12700">
            <a:solidFill>
              <a:srgbClr val="A9CCFF">
                <a:alpha val="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412480" y="3703320"/>
            <a:ext cx="100584" cy="100584"/>
          </a:xfrm>
          <a:prstGeom prst="ellipse">
            <a:avLst/>
          </a:prstGeom>
          <a:solidFill>
            <a:srgbClr val="A9CCFF"/>
          </a:solidFill>
          <a:ln w="12700">
            <a:solidFill>
              <a:srgbClr val="A9CCFF">
                <a:alpha val="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269480" y="1691640"/>
            <a:ext cx="201168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A9CC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+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4480560" y="2148840"/>
            <a:ext cx="201168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A9CC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+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502920" y="6108192"/>
            <a:ext cx="11183112" cy="0"/>
          </a:xfrm>
          <a:prstGeom prst="line">
            <a:avLst/>
          </a:prstGeom>
          <a:noFill/>
          <a:ln w="12700">
            <a:solidFill>
              <a:srgbClr val="E3EFFD"/>
            </a:solidFill>
            <a:prstDash val="solid"/>
            <a:headEnd type="none"/>
            <a:tailEnd type="none"/>
          </a:ln>
        </p:spPr>
      </p:sp>
      <p:pic>
        <p:nvPicPr>
          <p:cNvPr id="4" name="Picture 1" descr="ISE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43675" y="199792"/>
            <a:ext cx="1133797" cy="825119"/>
          </a:xfrm>
          <a:prstGeom prst="rect">
            <a:avLst/>
          </a:prstGeom>
        </p:spPr>
      </p:pic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30.8,&quot;left&quot;:320.85,&quot;top&quot;:107,&quot;width&quot;:312.5}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30.8,&quot;left&quot;:320.85,&quot;top&quot;:107,&quot;width&quot;:312.5}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30.8,&quot;left&quot;:320.85,&quot;top&quot;:107,&quot;width&quot;:312.5}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30.8,&quot;left&quot;:320.85,&quot;top&quot;:107,&quot;width&quot;:312.5}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30.8,&quot;left&quot;:320.85,&quot;top&quot;:107,&quot;width&quot;:312.5}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30.8,&quot;left&quot;:320.85,&quot;top&quot;:107,&quot;width&quot;:312.5}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30.8,&quot;left&quot;:320.85,&quot;top&quot;:107,&quot;width&quot;:312.5}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30.8,&quot;left&quot;:320.85,&quot;top&quot;:107,&quot;width&quot;:312.5}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30.8,&quot;left&quot;:320.85,&quot;top&quot;:107,&quot;width&quot;:312.5}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30.8,&quot;left&quot;:320.85,&quot;top&quot;:107,&quot;width&quot;:312.5}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30.8,&quot;left&quot;:320.85,&quot;top&quot;:107,&quot;width&quot;:312.5}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30.8,&quot;left&quot;:320.85,&quot;top&quot;:107,&quot;width&quot;:312.5}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30.8,&quot;left&quot;:320.85,&quot;top&quot;:107,&quot;width&quot;:312.5}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30.8,&quot;left&quot;:320.85,&quot;top&quot;:107,&quot;width&quot;:312.5}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30.8,&quot;left&quot;:320.85,&quot;top&quot;:107,&quot;width&quot;:312.5}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30.8,&quot;left&quot;:320.85,&quot;top&quot;:107,&quot;width&quot;:312.5}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30.8,&quot;left&quot;:320.85,&quot;top&quot;:107,&quot;width&quot;:312.5}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30.8,&quot;left&quot;:320.85,&quot;top&quot;:107,&quot;width&quot;:312.5}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30.8,&quot;left&quot;:320.85,&quot;top&quot;:107,&quot;width&quot;:312.5}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30.8,&quot;left&quot;:320.85,&quot;top&quot;:107,&quot;width&quot;:312.5}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30.8,&quot;left&quot;:320.85,&quot;top&quot;:107,&quot;width&quot;:312.5}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30.8,&quot;left&quot;:320.85,&quot;top&quot;:107,&quot;width&quot;:312.5}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30.8,&quot;left&quot;:320.85,&quot;top&quot;:107,&quot;width&quot;:312.5}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BLE_ENDDRAG_ORIGIN_RECT" val="852*320"/>
  <p:tag name="TABLE_ENDDRAG_RECT" val="57*114*852*320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33.11551181102357,&quot;left&quot;:48.62346456692914,&quot;top&quot;:118.92401574803151,&quot;width&quot;:905.3411811023622}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33.11551181102357,&quot;left&quot;:48.62346456692914,&quot;top&quot;:118.92401574803151,&quot;width&quot;:905.3411811023622}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33.11551181102357,&quot;left&quot;:48.62346456692914,&quot;top&quot;:118.92401574803151,&quot;width&quot;:905.3411811023622}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33.11551181102357,&quot;left&quot;:48.62346456692914,&quot;top&quot;:118.92401574803151,&quot;width&quot;:905.3411811023622}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33.11551181102357,&quot;left&quot;:48.62346456692914,&quot;top&quot;:118.92401574803151,&quot;width&quot;:905.3411811023622}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33.11551181102357,&quot;left&quot;:48.62346456692914,&quot;top&quot;:118.92401574803151,&quot;width&quot;:905.3411811023622}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33.11551181102357,&quot;left&quot;:48.62346456692914,&quot;top&quot;:118.92401574803151,&quot;width&quot;:905.3411811023622}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33.11551181102357,&quot;left&quot;:48.62346456692914,&quot;top&quot;:118.92401574803151,&quot;width&quot;:905.3411811023622}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33.11551181102357,&quot;left&quot;:48.62346456692914,&quot;top&quot;:118.92401574803151,&quot;width&quot;:905.3411811023622}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33.11551181102357,&quot;left&quot;:48.62346456692914,&quot;top&quot;:118.92401574803151,&quot;width&quot;:905.3411811023622}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33.11551181102357,&quot;left&quot;:48.62346456692914,&quot;top&quot;:118.92401574803151,&quot;width&quot;:905.3411811023622}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33.11551181102357,&quot;left&quot;:48.62346456692914,&quot;top&quot;:118.92401574803151,&quot;width&quot;:905.3411811023622}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33.11551181102357,&quot;left&quot;:48.62346456692914,&quot;top&quot;:118.92401574803151,&quot;width&quot;:905.3411811023622}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33.11551181102357,&quot;left&quot;:48.62346456692914,&quot;top&quot;:118.92401574803151,&quot;width&quot;:905.3411811023622}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33.11551181102357,&quot;left&quot;:48.62346456692914,&quot;top&quot;:118.92401574803151,&quot;width&quot;:905.3411811023622}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33.11551181102357,&quot;left&quot;:48.62346456692914,&quot;top&quot;:118.92401574803151,&quot;width&quot;:905.3411811023622}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33.11551181102357,&quot;left&quot;:48.62346456692914,&quot;top&quot;:118.92401574803151,&quot;width&quot;:905.3411811023622}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33.11551181102357,&quot;left&quot;:48.62346456692914,&quot;top&quot;:118.92401574803151,&quot;width&quot;:905.3411811023622}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33.11551181102357,&quot;left&quot;:48.62346456692914,&quot;top&quot;:118.92401574803151,&quot;width&quot;:905.3411811023622}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33.11551181102357,&quot;left&quot;:48.62346456692914,&quot;top&quot;:118.92401574803151,&quot;width&quot;:905.3411811023622}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33.11551181102357,&quot;left&quot;:48.62346456692914,&quot;top&quot;:118.92401574803151,&quot;width&quot;:905.3411811023622}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33.11551181102357,&quot;left&quot;:48.62346456692914,&quot;top&quot;:118.92401574803151,&quot;width&quot;:905.3411811023622}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33.11551181102357,&quot;left&quot;:48.62346456692914,&quot;top&quot;:118.92401574803151,&quot;width&quot;:905.3411811023622}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33.11551181102357,&quot;left&quot;:48.62346456692914,&quot;top&quot;:118.92401574803151,&quot;width&quot;:905.3411811023622}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33.11551181102357,&quot;left&quot;:48.62346456692914,&quot;top&quot;:118.92401574803151,&quot;width&quot;:905.3411811023622}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33.11551181102357,&quot;left&quot;:48.62346456692914,&quot;top&quot;:118.92401574803151,&quot;width&quot;:905.3411811023622}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33.11551181102357,&quot;left&quot;:48.62346456692914,&quot;top&quot;:118.92401574803151,&quot;width&quot;:905.3411811023622}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55.60000000000005,&quot;left&quot;:35.28,&quot;top&quot;:185.76,&quot;width&quot;:889.4159842519687}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55.60000000000005,&quot;left&quot;:35.28,&quot;top&quot;:185.76,&quot;width&quot;:889.4159842519687}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55.60000000000005,&quot;left&quot;:35.28,&quot;top&quot;:185.76,&quot;width&quot;:889.4159842519687}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55.60000000000005,&quot;left&quot;:35.28,&quot;top&quot;:185.76,&quot;width&quot;:889.4159842519687}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55.60000000000005,&quot;left&quot;:35.28,&quot;top&quot;:185.76,&quot;width&quot;:889.4159842519687}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55.60000000000005,&quot;left&quot;:35.28,&quot;top&quot;:185.76,&quot;width&quot;:889.4159842519687}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55.60000000000005,&quot;left&quot;:35.28,&quot;top&quot;:185.76,&quot;width&quot;:889.4159842519687}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55.60000000000005,&quot;left&quot;:35.28,&quot;top&quot;:185.76,&quot;width&quot;:889.4159842519687}"/>
</p:tagLst>
</file>

<file path=ppt/tags/tag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55.60000000000005,&quot;left&quot;:35.28,&quot;top&quot;:185.76,&quot;width&quot;:889.4159842519687}"/>
</p:tagLst>
</file>

<file path=ppt/tags/tag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55.60000000000005,&quot;left&quot;:35.28,&quot;top&quot;:185.76,&quot;width&quot;:889.4159842519687}"/>
</p:tagLst>
</file>

<file path=ppt/tags/tag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55.60000000000005,&quot;left&quot;:35.28,&quot;top&quot;:185.76,&quot;width&quot;:889.4159842519687}"/>
</p:tagLst>
</file>

<file path=ppt/tags/tag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55.60000000000005,&quot;left&quot;:35.28,&quot;top&quot;:185.76,&quot;width&quot;:889.4159842519687}"/>
</p:tagLst>
</file>

<file path=ppt/tags/tag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55.60000000000005,&quot;left&quot;:35.28,&quot;top&quot;:185.76,&quot;width&quot;:889.4159842519687}"/>
</p:tagLst>
</file>

<file path=ppt/tags/tag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55.60000000000005,&quot;left&quot;:35.28,&quot;top&quot;:185.76,&quot;width&quot;:889.4159842519687}"/>
</p:tagLst>
</file>

<file path=ppt/tags/tag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55.60000000000005,&quot;left&quot;:35.28,&quot;top&quot;:185.76,&quot;width&quot;:889.4159842519687}"/>
</p:tagLst>
</file>

<file path=ppt/tags/tag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55.60000000000005,&quot;left&quot;:35.28,&quot;top&quot;:185.76,&quot;width&quot;:889.4159842519687}"/>
</p:tagLst>
</file>

<file path=ppt/tags/tag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55.60000000000005,&quot;left&quot;:35.28,&quot;top&quot;:185.76,&quot;width&quot;:889.4159842519687}"/>
</p:tagLst>
</file>

<file path=ppt/tags/tag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55.60000000000005,&quot;left&quot;:35.28,&quot;top&quot;:185.76,&quot;width&quot;:889.4159842519687}"/>
</p:tagLst>
</file>

<file path=ppt/tags/tag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55.60000000000005,&quot;left&quot;:35.28,&quot;top&quot;:185.76,&quot;width&quot;:889.4159842519687}"/>
</p:tagLst>
</file>

<file path=ppt/tags/tag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55.60000000000005,&quot;left&quot;:35.28,&quot;top&quot;:185.76,&quot;width&quot;:889.4159842519687}"/>
</p:tagLst>
</file>

<file path=ppt/tags/tag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55.60000000000005,&quot;left&quot;:35.28,&quot;top&quot;:185.76,&quot;width&quot;:889.4159842519687}"/>
</p:tagLst>
</file>

<file path=ppt/tags/tag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55.60000000000005,&quot;left&quot;:35.28,&quot;top&quot;:185.76,&quot;width&quot;:889.4159842519687}"/>
</p:tagLst>
</file>

<file path=ppt/tags/tag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55.60000000000005,&quot;left&quot;:35.28,&quot;top&quot;:185.76,&quot;width&quot;:889.4159842519687}"/>
</p:tagLst>
</file>

<file path=ppt/tags/tag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55.60000000000005,&quot;left&quot;:35.28,&quot;top&quot;:185.76,&quot;width&quot;:889.4159842519687}"/>
</p:tagLst>
</file>

<file path=ppt/tags/tag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55.60000000000005,&quot;left&quot;:35.28,&quot;top&quot;:185.76,&quot;width&quot;:889.4159842519687}"/>
</p:tagLst>
</file>

<file path=ppt/tags/tag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55.60000000000005,&quot;left&quot;:35.28,&quot;top&quot;:185.76,&quot;width&quot;:889.4159842519687}"/>
</p:tagLst>
</file>

<file path=ppt/tags/tag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55.60000000000005,&quot;left&quot;:35.28,&quot;top&quot;:185.76,&quot;width&quot;:889.4159842519687}"/>
</p:tagLst>
</file>

<file path=ppt/tags/tag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55.60000000000005,&quot;left&quot;:35.28,&quot;top&quot;:185.76,&quot;width&quot;:889.4159842519687}"/>
</p:tagLst>
</file>

<file path=ppt/tags/tag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55.60000000000005,&quot;left&quot;:35.28,&quot;top&quot;:185.76,&quot;width&quot;:889.4159842519687}"/>
</p:tagLst>
</file>

<file path=ppt/tags/tag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55.60000000000005,&quot;left&quot;:35.28,&quot;top&quot;:185.76,&quot;width&quot;:889.4159842519687}"/>
</p:tagLst>
</file>

<file path=ppt/tags/tag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55.60000000000005,&quot;left&quot;:35.28,&quot;top&quot;:185.76,&quot;width&quot;:889.4159842519687}"/>
</p:tagLst>
</file>

<file path=ppt/tags/tag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55.60000000000005,&quot;left&quot;:35.28,&quot;top&quot;:185.76,&quot;width&quot;:889.4159842519687}"/>
</p:tagLst>
</file>

<file path=ppt/tags/tag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55.60000000000005,&quot;left&quot;:35.28,&quot;top&quot;:185.76,&quot;width&quot;:889.4159842519687}"/>
</p:tagLst>
</file>

<file path=ppt/tags/tag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55.60000000000005,&quot;left&quot;:35.28,&quot;top&quot;:185.76,&quot;width&quot;:889.4159842519687}"/>
</p:tagLst>
</file>

<file path=ppt/tags/tag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55.60000000000005,&quot;left&quot;:35.28,&quot;top&quot;:185.76,&quot;width&quot;:889.4159842519687}"/>
</p:tagLst>
</file>

<file path=ppt/tags/tag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55.60000000000005,&quot;left&quot;:35.28,&quot;top&quot;:185.76,&quot;width&quot;:889.4159842519687}"/>
</p:tagLst>
</file>

<file path=ppt/tags/tag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55.60000000000005,&quot;left&quot;:35.28,&quot;top&quot;:185.76,&quot;width&quot;:889.4159842519687}"/>
</p:tagLst>
</file>

<file path=ppt/tags/tag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55.60000000000005,&quot;left&quot;:35.28,&quot;top&quot;:185.76,&quot;width&quot;:889.4159842519687}"/>
</p:tagLst>
</file>

<file path=ppt/tags/tag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55.60000000000005,&quot;left&quot;:35.28,&quot;top&quot;:185.76,&quot;width&quot;:889.4159842519687}"/>
</p:tagLst>
</file>

<file path=ppt/tags/tag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55.60000000000005,&quot;left&quot;:35.28,&quot;top&quot;:185.76,&quot;width&quot;:889.4159842519687}"/>
</p:tagLst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</TotalTime>
  <Words>2639</Words>
  <Application>Microsoft Office PowerPoint</Application>
  <PresentationFormat>宽屏</PresentationFormat>
  <Paragraphs>340</Paragraphs>
  <Slides>15</Slides>
  <Notes>15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15</vt:i4>
      </vt:variant>
    </vt:vector>
  </HeadingPairs>
  <TitlesOfParts>
    <vt:vector size="26" baseType="lpstr">
      <vt:lpstr>等线</vt:lpstr>
      <vt:lpstr>等线 Light</vt:lpstr>
      <vt:lpstr>思源黑体 CN Bold</vt:lpstr>
      <vt:lpstr>思源黑体 CN Normal</vt:lpstr>
      <vt:lpstr>思源黑体旧字形 Light</vt:lpstr>
      <vt:lpstr>思源宋体 SemiBold</vt:lpstr>
      <vt:lpstr>微软雅黑</vt:lpstr>
      <vt:lpstr>Aptos Display</vt:lpstr>
      <vt:lpstr>Arial</vt:lpstr>
      <vt:lpstr>Segoe UI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xzz_xuanzhizheng@qq.com</dc:creator>
  <cp:lastModifiedBy>执正 玄</cp:lastModifiedBy>
  <cp:revision>33</cp:revision>
  <dcterms:created xsi:type="dcterms:W3CDTF">2026-05-17T15:45:00Z</dcterms:created>
  <dcterms:modified xsi:type="dcterms:W3CDTF">2026-05-19T11:08:20Z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40E7F84B59C4476DA866DC9D8E4D87D8_13</vt:lpwstr>
  </property>
  <property fmtid="{D5CDD505-2E9C-101B-9397-08002B2CF9AE}" pid="3" name="KSOProductBuildVer">
    <vt:lpwstr>2052-12.1.0.23542</vt:lpwstr>
  </property>
</Properties>
</file>