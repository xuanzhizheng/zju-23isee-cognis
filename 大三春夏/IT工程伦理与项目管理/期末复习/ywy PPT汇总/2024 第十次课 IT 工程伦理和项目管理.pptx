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30.xml" ContentType="application/vnd.openxmlformats-officedocument.presentationml.slide+xml"/>
  <Override PartName="/ppt/slides/slide390.xml" ContentType="application/vnd.openxmlformats-officedocument.presentationml.slide+xml"/>
  <Override PartName="/ppt/slides/slide910.xml" ContentType="application/vnd.openxmlformats-officedocument.presentationml.slide+xml"/>
  <Override PartName="/ppt/slides/slide510.xml" ContentType="application/vnd.openxmlformats-officedocument.presentationml.slide+xml"/>
  <Override PartName="/ppt/notesSlides/notesSlide520.xml" ContentType="application/vnd.openxmlformats-officedocument.presentationml.notesSlide+xml"/>
  <Override PartName="/ppt/notesSlides/notesSlide350.xml" ContentType="application/vnd.openxmlformats-officedocument.presentationml.notesSlide+xml"/>
  <Override PartName="/ppt/slideLayouts/slideLayout20.xml" ContentType="application/vnd.openxmlformats-officedocument.presentationml.slideLayout+xml"/>
  <Override PartName="/ppt/notesSlides/notesSlide710.xml" ContentType="application/vnd.openxmlformats-officedocument.presentationml.notesSlide+xml"/>
  <Override PartName="/ppt/notesSlides/notesSlide310.xml" ContentType="application/vnd.openxmlformats-officedocument.presentationml.notesSlide+xml"/>
  <Override PartName="/ppt/notesMasters/notesMaster10.xml" ContentType="application/vnd.openxmlformats-officedocument.presentationml.notesMaster+xml"/>
  <Override PartName="/ppt/slideMasters/slideMaster10.xml" ContentType="application/vnd.openxmlformats-officedocument.presentationml.slideMaster+xml"/>
  <Override PartName="/ppt/theme/theme20.xml" ContentType="application/vnd.openxmlformats-officedocument.theme+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theme/theme10.xml" ContentType="application/vnd.openxmlformats-officedocument.theme+xml"/>
  <Override PartName="/ppt/slideLayouts/slideLayout5.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20"/>
  </p:notesMasterIdLst>
  <p:handoutMasterIdLst>
    <p:handoutMasterId r:id="rId121"/>
  </p:handoutMasterIdLst>
  <p:sldIdLst>
    <p:sldId id="256" r:id="rId2"/>
    <p:sldId id="596" r:id="rId3"/>
    <p:sldId id="603" r:id="rId4"/>
    <p:sldId id="607" r:id="rId5"/>
    <p:sldId id="450" r:id="rId6"/>
    <p:sldId id="608" r:id="rId7"/>
    <p:sldId id="501" r:id="rId8"/>
    <p:sldId id="668" r:id="rId9"/>
    <p:sldId id="669" r:id="rId10"/>
    <p:sldId id="529" r:id="rId11"/>
    <p:sldId id="530" r:id="rId12"/>
    <p:sldId id="610" r:id="rId13"/>
    <p:sldId id="663" r:id="rId14"/>
    <p:sldId id="666" r:id="rId15"/>
    <p:sldId id="611" r:id="rId16"/>
    <p:sldId id="664" r:id="rId17"/>
    <p:sldId id="667" r:id="rId18"/>
    <p:sldId id="670" r:id="rId19"/>
    <p:sldId id="671" r:id="rId20"/>
    <p:sldId id="612" r:id="rId21"/>
    <p:sldId id="420" r:id="rId22"/>
    <p:sldId id="672" r:id="rId23"/>
    <p:sldId id="673" r:id="rId24"/>
    <p:sldId id="613" r:id="rId25"/>
    <p:sldId id="674" r:id="rId26"/>
    <p:sldId id="675" r:id="rId27"/>
    <p:sldId id="676" r:id="rId28"/>
    <p:sldId id="677" r:id="rId29"/>
    <p:sldId id="678" r:id="rId30"/>
    <p:sldId id="614" r:id="rId31"/>
    <p:sldId id="681" r:id="rId32"/>
    <p:sldId id="679" r:id="rId33"/>
    <p:sldId id="680" r:id="rId34"/>
    <p:sldId id="615" r:id="rId35"/>
    <p:sldId id="618" r:id="rId36"/>
    <p:sldId id="456" r:id="rId37"/>
    <p:sldId id="619" r:id="rId38"/>
    <p:sldId id="683" r:id="rId39"/>
    <p:sldId id="457" r:id="rId40"/>
    <p:sldId id="684" r:id="rId41"/>
    <p:sldId id="682" r:id="rId42"/>
    <p:sldId id="685" r:id="rId43"/>
    <p:sldId id="422" r:id="rId44"/>
    <p:sldId id="687" r:id="rId45"/>
    <p:sldId id="686" r:id="rId46"/>
    <p:sldId id="688" r:id="rId47"/>
    <p:sldId id="690" r:id="rId48"/>
    <p:sldId id="691" r:id="rId49"/>
    <p:sldId id="689" r:id="rId50"/>
    <p:sldId id="624" r:id="rId51"/>
    <p:sldId id="538" r:id="rId52"/>
    <p:sldId id="541" r:id="rId53"/>
    <p:sldId id="510" r:id="rId54"/>
    <p:sldId id="429" r:id="rId55"/>
    <p:sldId id="539" r:id="rId56"/>
    <p:sldId id="543" r:id="rId57"/>
    <p:sldId id="411" r:id="rId58"/>
    <p:sldId id="542" r:id="rId59"/>
    <p:sldId id="432" r:id="rId60"/>
    <p:sldId id="545" r:id="rId61"/>
    <p:sldId id="465" r:id="rId62"/>
    <p:sldId id="616" r:id="rId63"/>
    <p:sldId id="546" r:id="rId64"/>
    <p:sldId id="544" r:id="rId65"/>
    <p:sldId id="466" r:id="rId66"/>
    <p:sldId id="547" r:id="rId67"/>
    <p:sldId id="548" r:id="rId68"/>
    <p:sldId id="517" r:id="rId69"/>
    <p:sldId id="549" r:id="rId70"/>
    <p:sldId id="550" r:id="rId71"/>
    <p:sldId id="571" r:id="rId72"/>
    <p:sldId id="570" r:id="rId73"/>
    <p:sldId id="551" r:id="rId74"/>
    <p:sldId id="554" r:id="rId75"/>
    <p:sldId id="555" r:id="rId76"/>
    <p:sldId id="556" r:id="rId77"/>
    <p:sldId id="553" r:id="rId78"/>
    <p:sldId id="557" r:id="rId79"/>
    <p:sldId id="467" r:id="rId80"/>
    <p:sldId id="464" r:id="rId81"/>
    <p:sldId id="468" r:id="rId82"/>
    <p:sldId id="559" r:id="rId83"/>
    <p:sldId id="572" r:id="rId84"/>
    <p:sldId id="469" r:id="rId85"/>
    <p:sldId id="692" r:id="rId86"/>
    <p:sldId id="617" r:id="rId87"/>
    <p:sldId id="470" r:id="rId88"/>
    <p:sldId id="562" r:id="rId89"/>
    <p:sldId id="474" r:id="rId90"/>
    <p:sldId id="693" r:id="rId91"/>
    <p:sldId id="472" r:id="rId92"/>
    <p:sldId id="473" r:id="rId93"/>
    <p:sldId id="476" r:id="rId94"/>
    <p:sldId id="477" r:id="rId95"/>
    <p:sldId id="521" r:id="rId96"/>
    <p:sldId id="694" r:id="rId97"/>
    <p:sldId id="565" r:id="rId98"/>
    <p:sldId id="695" r:id="rId99"/>
    <p:sldId id="520" r:id="rId100"/>
    <p:sldId id="569" r:id="rId101"/>
    <p:sldId id="568" r:id="rId102"/>
    <p:sldId id="475" r:id="rId103"/>
    <p:sldId id="573" r:id="rId104"/>
    <p:sldId id="574" r:id="rId105"/>
    <p:sldId id="575" r:id="rId106"/>
    <p:sldId id="576" r:id="rId107"/>
    <p:sldId id="478" r:id="rId108"/>
    <p:sldId id="479" r:id="rId109"/>
    <p:sldId id="522" r:id="rId110"/>
    <p:sldId id="578" r:id="rId111"/>
    <p:sldId id="579" r:id="rId112"/>
    <p:sldId id="480" r:id="rId113"/>
    <p:sldId id="481" r:id="rId114"/>
    <p:sldId id="580" r:id="rId115"/>
    <p:sldId id="577" r:id="rId116"/>
    <p:sldId id="583" r:id="rId117"/>
    <p:sldId id="483" r:id="rId118"/>
    <p:sldId id="484" r:id="rId119"/>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p15:clr>
            <a:srgbClr val="A4A3A4"/>
          </p15:clr>
        </p15:guide>
        <p15:guide id="2" pos="384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02BE"/>
    <a:srgbClr val="FFFF99"/>
    <a:srgbClr val="333333"/>
    <a:srgbClr val="660033"/>
    <a:srgbClr val="000000"/>
    <a:srgbClr val="800000"/>
    <a:srgbClr val="C0009B"/>
    <a:srgbClr val="663300"/>
    <a:srgbClr val="CCFFCC"/>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467" autoAdjust="0"/>
    <p:restoredTop sz="76671" autoAdjust="0"/>
  </p:normalViewPr>
  <p:slideViewPr>
    <p:cSldViewPr snapToGrid="0">
      <p:cViewPr varScale="1">
        <p:scale>
          <a:sx n="49" d="100"/>
          <a:sy n="49" d="100"/>
        </p:scale>
        <p:origin x="771" y="21"/>
      </p:cViewPr>
      <p:guideLst>
        <p:guide orient="horz" pos="2115"/>
        <p:guide pos="3840"/>
      </p:guideLst>
    </p:cSldViewPr>
  </p:slideViewPr>
  <p:outlineViewPr>
    <p:cViewPr>
      <p:scale>
        <a:sx n="33" d="100"/>
        <a:sy n="33" d="100"/>
      </p:scale>
      <p:origin x="0" y="-1896"/>
    </p:cViewPr>
  </p:outlineViewPr>
  <p:notesTextViewPr>
    <p:cViewPr>
      <p:scale>
        <a:sx n="1" d="1"/>
        <a:sy n="1" d="1"/>
      </p:scale>
      <p:origin x="0" y="0"/>
    </p:cViewPr>
  </p:notesTextViewPr>
  <p:notesViewPr>
    <p:cSldViewPr snapToGrid="0">
      <p:cViewPr varScale="1">
        <p:scale>
          <a:sx n="77" d="100"/>
          <a:sy n="77" d="100"/>
        </p:scale>
        <p:origin x="4008" y="120"/>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3"/>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6" y="3"/>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2024/5/28</a:t>
            </a:fld>
            <a:endParaRPr lang="zh-CN" altLang="en-US"/>
          </a:p>
        </p:txBody>
      </p:sp>
      <p:sp>
        <p:nvSpPr>
          <p:cNvPr id="4" name="页脚占位符 3"/>
          <p:cNvSpPr>
            <a:spLocks noGrp="1"/>
          </p:cNvSpPr>
          <p:nvPr>
            <p:ph type="ftr" sz="quarter" idx="2"/>
          </p:nvPr>
        </p:nvSpPr>
        <p:spPr>
          <a:xfrm>
            <a:off x="2" y="9721109"/>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6" y="9721109"/>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6"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2024/5/28</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6"/>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1903"/>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6" y="9721903"/>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2022/5/29</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baike.baidu.com/item/%E8%B0%83%E6%9F%A5%E8%A1%A8"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2" Type="http://schemas.openxmlformats.org/officeDocument/2006/relationships/slide" Target="../slides/slide510.xml"/><Relationship Id="rId1" Type="http://schemas.openxmlformats.org/officeDocument/2006/relationships/notesMaster" Target="../notesMasters/notesMaster10.xml"/></Relationships>
</file>

<file path=ppt/notesSlides/_rels/notesSlide350.xml.rels><?xml version="1.0" encoding="UTF-8" standalone="yes"?>
<Relationships xmlns="http://schemas.openxmlformats.org/package/2006/relationships"><Relationship Id="rId2" Type="http://schemas.openxmlformats.org/officeDocument/2006/relationships/slide" Target="../slides/slide390.xml"/><Relationship Id="rId1" Type="http://schemas.openxmlformats.org/officeDocument/2006/relationships/notesMaster" Target="../notesMasters/notesMaster10.xml"/></Relationships>
</file>

<file path=ppt/notesSlides/_rels/notesSlide520.xml.rels><?xml version="1.0" encoding="UTF-8" standalone="yes"?>
<Relationships xmlns="http://schemas.openxmlformats.org/package/2006/relationships"><Relationship Id="rId2" Type="http://schemas.openxmlformats.org/officeDocument/2006/relationships/slide" Target="../slides/slide530.xml"/><Relationship Id="rId1" Type="http://schemas.openxmlformats.org/officeDocument/2006/relationships/notesMaster" Target="../notesMasters/notesMaster1.xml"/></Relationships>
</file>

<file path=ppt/notesSlides/_rels/notesSlide710.xml.rels><?xml version="1.0" encoding="UTF-8" standalone="yes"?>
<Relationships xmlns="http://schemas.openxmlformats.org/package/2006/relationships"><Relationship Id="rId2" Type="http://schemas.openxmlformats.org/officeDocument/2006/relationships/slide" Target="../slides/slide91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项目管理不只是将来你们管理一个工程项目时需要的知识，对平时学习、生活、工作中都有指导意义。</a:t>
            </a:r>
            <a:r>
              <a:rPr lang="en-US" altLang="zh-CN" dirty="0"/>
              <a:t>SRTP</a:t>
            </a:r>
            <a:r>
              <a:rPr lang="zh-CN" altLang="en-US" dirty="0"/>
              <a:t>，大学生科研训练项目，可能是你们碰到的第一比较正式的工程项目。 </a:t>
            </a:r>
            <a:endParaRPr lang="en-US" altLang="zh-CN" dirty="0"/>
          </a:p>
          <a:p>
            <a:r>
              <a:rPr lang="en-US" altLang="zh-CN" dirty="0"/>
              <a:t>  </a:t>
            </a:r>
          </a:p>
          <a:p>
            <a:r>
              <a:rPr lang="en-US" altLang="zh-CN" dirty="0"/>
              <a:t>   </a:t>
            </a:r>
            <a:r>
              <a:rPr lang="zh-CN" altLang="en-US" dirty="0"/>
              <a:t>实际上，几乎在所有的领域</a:t>
            </a:r>
            <a:r>
              <a:rPr lang="zh-CN" altLang="en-US" dirty="0">
                <a:cs typeface="Times New Roman" panose="02020603050405020304" pitchFamily="18" charset="0"/>
              </a:rPr>
              <a:t>，</a:t>
            </a:r>
            <a:r>
              <a:rPr lang="zh-CN" altLang="en-US" dirty="0"/>
              <a:t>工作都细化为一个个相对独立的项目。随着竞争的加剧，通过科学的项目管理来优化工程作业已成为潮流，高效成功的项目管理者成为急需的紧缺人才。</a:t>
            </a:r>
          </a:p>
          <a:p>
            <a:r>
              <a:rPr lang="zh-CN" altLang="en-US" dirty="0">
                <a:solidFill>
                  <a:srgbClr val="000000"/>
                </a:solidFill>
                <a:latin typeface="宋体" panose="02010600030101010101" pitchFamily="2" charset="-122"/>
              </a:rPr>
              <a:t>    一位项目管理界的权威说：一切都是项目。这是一种境界，一种对项目管理的理解已经炉火纯青的境界。这种境界意味着能把周围的工作、任务、事情都看作项目，按项目的模型来分析、思考，并根据项目的思想进行处理、解决。</a:t>
            </a:r>
            <a:r>
              <a:rPr lang="zh-CN" altLang="en-US" dirty="0">
                <a:solidFill>
                  <a:srgbClr val="000000"/>
                </a:solidFill>
                <a:latin typeface="宋体" panose="02010600030101010101" pitchFamily="2" charset="-122"/>
                <a:cs typeface="Times New Roman" panose="02020603050405020304" pitchFamily="18" charset="0"/>
              </a:rPr>
              <a:t> </a:t>
            </a:r>
            <a:endParaRPr lang="zh-CN" altLang="en-US" dirty="0">
              <a:latin typeface="宋体" panose="02010600030101010101" pitchFamily="2" charset="-122"/>
              <a:cs typeface="Times New Roman" panose="02020603050405020304" pitchFamily="18" charset="0"/>
            </a:endParaRPr>
          </a:p>
          <a:p>
            <a:r>
              <a:rPr lang="zh-CN" altLang="en-US" dirty="0">
                <a:solidFill>
                  <a:srgbClr val="000000"/>
                </a:solidFill>
                <a:latin typeface="宋体" panose="02010600030101010101" pitchFamily="2" charset="-122"/>
              </a:rPr>
              <a:t>　项目管理还有更高的境界：项目意识，也就是把项目管理成为一种思维方式。也就是把项目管理的思想转化为自己思考问题、处理事务过程中的常识、习惯和条件反射，在项目开发、计划、决策、管理、日常事务等等过程中，都具有项目意识。</a:t>
            </a:r>
            <a:r>
              <a:rPr lang="zh-CN" altLang="en-US" dirty="0">
                <a:solidFill>
                  <a:srgbClr val="000000"/>
                </a:solidFill>
              </a:rPr>
              <a:t> </a:t>
            </a:r>
          </a:p>
          <a:p>
            <a:r>
              <a:rPr lang="zh-CN" altLang="en-US" dirty="0">
                <a:solidFill>
                  <a:srgbClr val="000000"/>
                </a:solidFill>
                <a:latin typeface="宋体" panose="02010600030101010101" pitchFamily="2" charset="-122"/>
              </a:rPr>
              <a:t>    当我们建立项目意识以后，我们对周围的工作、任务、事情都能按照项目的思路来分析、思考、处理、解决，而不是刻意使用项目的思想。建立项目意识就像练成了独孤九剑，各种招式、套路都了然于胸，而使剑的人却不会拘泥于此，因为使剑的人已经娴熟剑法原理。</a:t>
            </a:r>
          </a:p>
          <a:p>
            <a:r>
              <a:rPr lang="zh-CN" altLang="en-US" dirty="0">
                <a:solidFill>
                  <a:srgbClr val="000000"/>
                </a:solidFill>
                <a:latin typeface="宋体" panose="02010600030101010101" pitchFamily="2" charset="-122"/>
              </a:rPr>
              <a:t>    在项目意识的指导下，我们会很清楚如何</a:t>
            </a:r>
            <a:r>
              <a:rPr lang="zh-CN" altLang="en-US" dirty="0">
                <a:solidFill>
                  <a:srgbClr val="000000"/>
                </a:solidFill>
              </a:rPr>
              <a:t>“</a:t>
            </a:r>
            <a:r>
              <a:rPr lang="zh-CN" altLang="en-US" dirty="0">
                <a:solidFill>
                  <a:srgbClr val="000000"/>
                </a:solidFill>
                <a:latin typeface="宋体" panose="02010600030101010101" pitchFamily="2" charset="-122"/>
              </a:rPr>
              <a:t>正确地</a:t>
            </a:r>
            <a:r>
              <a:rPr lang="zh-CN" altLang="en-US" dirty="0">
                <a:solidFill>
                  <a:srgbClr val="000000"/>
                </a:solidFill>
              </a:rPr>
              <a:t>”</a:t>
            </a:r>
            <a:r>
              <a:rPr lang="zh-CN" altLang="en-US" dirty="0">
                <a:solidFill>
                  <a:srgbClr val="000000"/>
                </a:solidFill>
                <a:latin typeface="宋体" panose="02010600030101010101" pitchFamily="2" charset="-122"/>
              </a:rPr>
              <a:t>做事，对招式、经验的依赖程度大大减轻，即使遇到新的问题，也能因地制宜，思路清晰地分析问题、解决问题，灵活而恰到好处。</a:t>
            </a:r>
            <a:r>
              <a:rPr lang="zh-CN" altLang="en-US" dirty="0">
                <a:solidFill>
                  <a:srgbClr val="000000"/>
                </a:solidFill>
              </a:rPr>
              <a:t> </a:t>
            </a:r>
          </a:p>
          <a:p>
            <a:r>
              <a:rPr lang="zh-CN" altLang="en-US" dirty="0">
                <a:solidFill>
                  <a:srgbClr val="000000"/>
                </a:solidFill>
              </a:rPr>
              <a:t>　我们这门课就是要帮助大家，通过较为系统地学习项目管理的原理、理论、技术和方法，来修炼大家的项目管理意识，从而帮助你获得成功。由于课时较少，我们只能“较为系统”。</a:t>
            </a:r>
            <a:endParaRPr lang="en-US" altLang="zh-CN" dirty="0">
              <a:solidFill>
                <a:srgbClr val="000000"/>
              </a:solidFill>
            </a:endParaRPr>
          </a:p>
          <a:p>
            <a:r>
              <a:rPr lang="en-US" altLang="zh-CN" dirty="0">
                <a:solidFill>
                  <a:srgbClr val="000000"/>
                </a:solidFill>
              </a:rPr>
              <a:t>   </a:t>
            </a:r>
          </a:p>
          <a:p>
            <a:r>
              <a:rPr lang="en-US" altLang="zh-CN" dirty="0">
                <a:solidFill>
                  <a:srgbClr val="000000"/>
                </a:solidFill>
              </a:rPr>
              <a:t>  </a:t>
            </a:r>
            <a:r>
              <a:rPr lang="zh-CN" altLang="en-US" dirty="0">
                <a:solidFill>
                  <a:srgbClr val="000000"/>
                </a:solidFill>
              </a:rPr>
              <a:t>所以，我们的课，表面上是专业认证的需要，华盛顿协议的专业认证为什么需要工程伦理和项目管理知识，因为对于我们人类，特别是专业技术人员，非常重要，这才是内涵。</a:t>
            </a:r>
          </a:p>
          <a:p>
            <a:endParaRPr lang="en-US" altLang="zh-CN" dirty="0"/>
          </a:p>
          <a:p>
            <a:r>
              <a:rPr lang="zh-CN" altLang="en-US" dirty="0"/>
              <a:t>   继 </a:t>
            </a:r>
            <a:r>
              <a:rPr lang="en-US" altLang="zh-CN" dirty="0"/>
              <a:t>MBA </a:t>
            </a:r>
            <a:r>
              <a:rPr lang="zh-CN" altLang="en-US" dirty="0"/>
              <a:t>之后，项目管理热潮又席卷全球经理阶层，现在延伸到所有项目人员。与注重战略管理的 </a:t>
            </a:r>
            <a:r>
              <a:rPr lang="en-US" altLang="zh-CN" dirty="0"/>
              <a:t>MBA </a:t>
            </a:r>
            <a:r>
              <a:rPr lang="zh-CN" altLang="en-US" dirty="0"/>
              <a:t>不同，项目管理注重对一次性的、独特的业务的管理。</a:t>
            </a:r>
          </a:p>
          <a:p>
            <a:r>
              <a:rPr lang="zh-CN" altLang="en-US" b="0" i="0" dirty="0">
                <a:solidFill>
                  <a:srgbClr val="191919"/>
                </a:solidFill>
                <a:effectLst/>
                <a:latin typeface="PingFang SC"/>
              </a:rPr>
              <a:t>美国</a:t>
            </a:r>
            <a:r>
              <a:rPr lang="en-US" altLang="zh-CN" b="0" i="0" dirty="0">
                <a:solidFill>
                  <a:srgbClr val="191919"/>
                </a:solidFill>
                <a:effectLst/>
                <a:latin typeface="PingFang SC"/>
              </a:rPr>
              <a:t>《</a:t>
            </a:r>
            <a:r>
              <a:rPr lang="zh-CN" altLang="en-US" b="0" i="0" dirty="0">
                <a:solidFill>
                  <a:srgbClr val="191919"/>
                </a:solidFill>
                <a:effectLst/>
                <a:latin typeface="PingFang SC"/>
              </a:rPr>
              <a:t>财富</a:t>
            </a:r>
            <a:r>
              <a:rPr lang="en-US" altLang="zh-CN" b="0" i="0" dirty="0">
                <a:solidFill>
                  <a:srgbClr val="191919"/>
                </a:solidFill>
                <a:effectLst/>
                <a:latin typeface="PingFang SC"/>
              </a:rPr>
              <a:t>》</a:t>
            </a:r>
            <a:r>
              <a:rPr lang="zh-CN" altLang="en-US" b="0" i="0" dirty="0">
                <a:solidFill>
                  <a:srgbClr val="191919"/>
                </a:solidFill>
                <a:effectLst/>
                <a:latin typeface="PingFang SC"/>
              </a:rPr>
              <a:t>杂志预测，项目管理</a:t>
            </a:r>
            <a:r>
              <a:rPr lang="en-US" altLang="zh-CN" b="0" i="0" dirty="0">
                <a:solidFill>
                  <a:srgbClr val="191919"/>
                </a:solidFill>
                <a:effectLst/>
                <a:latin typeface="PingFang SC"/>
              </a:rPr>
              <a:t>PM</a:t>
            </a:r>
            <a:r>
              <a:rPr lang="zh-CN" altLang="en-US" b="0" i="0" dirty="0">
                <a:solidFill>
                  <a:srgbClr val="191919"/>
                </a:solidFill>
                <a:effectLst/>
                <a:latin typeface="PingFang SC"/>
              </a:rPr>
              <a:t>将成为</a:t>
            </a:r>
            <a:r>
              <a:rPr lang="en-US" altLang="zh-CN" b="0" i="0" dirty="0">
                <a:solidFill>
                  <a:srgbClr val="191919"/>
                </a:solidFill>
                <a:effectLst/>
                <a:latin typeface="PingFang SC"/>
              </a:rPr>
              <a:t>21</a:t>
            </a:r>
            <a:r>
              <a:rPr lang="zh-CN" altLang="en-US" b="0" i="0" dirty="0">
                <a:solidFill>
                  <a:srgbClr val="191919"/>
                </a:solidFill>
                <a:effectLst/>
                <a:latin typeface="PingFang SC"/>
              </a:rPr>
              <a:t>世纪的首选职业。</a:t>
            </a:r>
            <a:r>
              <a:rPr lang="zh-CN" altLang="en-US" dirty="0"/>
              <a:t>随着经济全球化，项目管理能力和资格成了进入跨国集团和大型企业的敲门砖。</a:t>
            </a:r>
          </a:p>
          <a:p>
            <a:endParaRPr lang="en-US" altLang="zh-CN" dirty="0"/>
          </a:p>
          <a:p>
            <a:r>
              <a:rPr lang="zh-CN" altLang="en-US" dirty="0"/>
              <a:t>“项目管理”是欧美商学院、国内知名学院核心课程，如哈佛商学院、上海交大、复旦、北大和清华的</a:t>
            </a:r>
            <a:r>
              <a:rPr lang="en-US" altLang="zh-CN" dirty="0"/>
              <a:t>EMBA</a:t>
            </a:r>
            <a:r>
              <a:rPr lang="zh-CN" altLang="en-US" dirty="0"/>
              <a:t>班等。</a:t>
            </a:r>
          </a:p>
          <a:p>
            <a:r>
              <a:rPr lang="zh-CN" altLang="en-US" dirty="0"/>
              <a:t>我校：管理学院、建筑学院博士生学位课；工程师学院学位课；管理学院、教学学院、计算学院、软件学院等硕士选修课</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281246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上一章，我们学习了项目管理的基本概念。大家一定体会到，</a:t>
            </a:r>
          </a:p>
          <a:p>
            <a:r>
              <a:rPr lang="zh-CN" altLang="en-US" dirty="0"/>
              <a:t>项目管理的许多理论和概念其实并不难懂。难的是在实际项目管理中如何很好地运用它们。</a:t>
            </a:r>
            <a:endParaRPr lang="en-US" altLang="zh-CN" dirty="0"/>
          </a:p>
          <a:p>
            <a:r>
              <a:rPr lang="zh-CN" altLang="en-US" dirty="0"/>
              <a:t>如果项目都是被孤立地运作，那它们就很难真正地符合组织的需要。项目经理在管理项目时必须考虑很多不同的方面。</a:t>
            </a:r>
          </a:p>
          <a:p>
            <a:r>
              <a:rPr lang="zh-CN" altLang="en-US" dirty="0"/>
              <a:t>本章我们学习项目整体管理，那么为什么要整体管理呢？</a:t>
            </a:r>
            <a:endParaRPr lang="ja-JP"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0" dirty="0">
                <a:latin typeface="微软雅黑" panose="020B0503020204020204" pitchFamily="34" charset="-122"/>
                <a:ea typeface="微软雅黑" panose="020B0503020204020204" pitchFamily="34" charset="-122"/>
              </a:rPr>
              <a:t>其它知识领域所创建的计划，如进度管理中的进度计划</a:t>
            </a:r>
            <a:endParaRPr lang="en-US" altLang="zh-CN" sz="1200" b="1" kern="0" dirty="0">
              <a:latin typeface="微软雅黑" panose="020B0503020204020204" pitchFamily="34" charset="-122"/>
              <a:ea typeface="微软雅黑" panose="020B0503020204020204" pitchFamily="34" charset="-122"/>
            </a:endParaRPr>
          </a:p>
          <a:p>
            <a:r>
              <a:rPr lang="zh-CN" altLang="en-US" sz="1200" b="1" kern="0" dirty="0">
                <a:latin typeface="微软雅黑" panose="020B0503020204020204" pitchFamily="34" charset="-122"/>
                <a:ea typeface="微软雅黑" panose="020B0503020204020204" pitchFamily="34" charset="-122"/>
              </a:rPr>
              <a:t>对应</a:t>
            </a:r>
            <a:r>
              <a:rPr lang="en-US" altLang="zh-CN" sz="1200" b="1" kern="0" dirty="0">
                <a:latin typeface="微软雅黑" panose="020B0503020204020204" pitchFamily="34" charset="-122"/>
                <a:ea typeface="微软雅黑" panose="020B0503020204020204" pitchFamily="34" charset="-122"/>
              </a:rPr>
              <a:t>PMBOK V7</a:t>
            </a:r>
            <a:r>
              <a:rPr lang="zh-CN" altLang="en-US" sz="1200" b="1" kern="0" dirty="0">
                <a:latin typeface="微软雅黑" panose="020B0503020204020204" pitchFamily="34" charset="-122"/>
                <a:ea typeface="微软雅黑" panose="020B0503020204020204" pitchFamily="34" charset="-122"/>
              </a:rPr>
              <a:t>的规划绩效域，包括进度规划，还包括推进方式（开发方法）、交付的项目成果、时间进度、干系人期望、沟通、资源、采购、变更等</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74197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DA7E5915-D76C-4EB9-965F-2F90BA74B96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备注占位符 2">
            <a:extLst>
              <a:ext uri="{FF2B5EF4-FFF2-40B4-BE49-F238E27FC236}">
                <a16:creationId xmlns:a16="http://schemas.microsoft.com/office/drawing/2014/main" id="{4C28D15E-87C9-4FF9-A4EC-793B15C26E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0" dirty="0">
                <a:solidFill>
                  <a:srgbClr val="FF0000"/>
                </a:solidFill>
                <a:latin typeface="微软雅黑" panose="020B0503020204020204" pitchFamily="34" charset="-122"/>
                <a:ea typeface="微软雅黑" panose="020B0503020204020204" pitchFamily="34" charset="-122"/>
              </a:rPr>
              <a:t>规划过程组</a:t>
            </a:r>
          </a:p>
          <a:p>
            <a:endParaRPr lang="en-US" altLang="zh-CN" dirty="0">
              <a:latin typeface="Arial" panose="020B0604020202020204" pitchFamily="34" charset="0"/>
            </a:endParaRPr>
          </a:p>
          <a:p>
            <a:r>
              <a:rPr lang="zh-CN" altLang="en-US" dirty="0">
                <a:latin typeface="Arial" panose="020B0604020202020204" pitchFamily="34" charset="0"/>
              </a:rPr>
              <a:t>环形线内的过程是整体管理知识领域的一部分，该知识领域协调与统一其他各知识领域的规划子过程。</a:t>
            </a:r>
          </a:p>
          <a:p>
            <a:endParaRPr lang="zh-CN" altLang="en-US" dirty="0"/>
          </a:p>
        </p:txBody>
      </p:sp>
      <p:sp>
        <p:nvSpPr>
          <p:cNvPr id="147460" name="灯片编号占位符 3">
            <a:extLst>
              <a:ext uri="{FF2B5EF4-FFF2-40B4-BE49-F238E27FC236}">
                <a16:creationId xmlns:a16="http://schemas.microsoft.com/office/drawing/2014/main" id="{323C1233-8438-4366-BAB8-2E56737DD3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5FB0FC8-D711-46C0-BC9E-F2011B29BC31}"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4.2.1 </a:t>
            </a:r>
            <a:r>
              <a:rPr lang="zh-CN" altLang="en-US" sz="1800" b="0" i="0" u="none" strike="noStrike" baseline="0" dirty="0">
                <a:latin typeface="SourceHanSansSC-Medium"/>
              </a:rPr>
              <a:t>制定项目管理计划：输入</a:t>
            </a:r>
          </a:p>
          <a:p>
            <a:pPr algn="l"/>
            <a:r>
              <a:rPr lang="en-US" altLang="zh-CN" sz="1800" b="0" i="0" u="none" strike="noStrike" baseline="0" dirty="0">
                <a:latin typeface="HelveticaNeue-MediumCond"/>
              </a:rPr>
              <a:t>4.2.1.1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项目团队把项目章程作为初始项目规划的起始点。项目章程所包含的信息种类数量因项目的复杂程度和已知的信息而异。在项目章程中至少应该定义项目的高层级信息，供将来在项目管理计划的各个组成部分中进一步细化。</a:t>
            </a:r>
          </a:p>
          <a:p>
            <a:pPr algn="l"/>
            <a:r>
              <a:rPr lang="en-US" altLang="zh-CN" sz="1800" b="0" i="0" u="none" strike="noStrike" baseline="0" dirty="0">
                <a:latin typeface="HelveticaNeue-MediumCond"/>
              </a:rPr>
              <a:t>4.2.1.2 </a:t>
            </a:r>
            <a:r>
              <a:rPr lang="zh-CN" altLang="en-US" sz="1800" b="0" i="0" u="none" strike="noStrike" baseline="0" dirty="0">
                <a:latin typeface="SourceHanSansSC-Medium"/>
              </a:rPr>
              <a:t>其他过程的输出</a:t>
            </a:r>
          </a:p>
          <a:p>
            <a:pPr algn="l"/>
            <a:r>
              <a:rPr lang="zh-CN" altLang="en-US" sz="1800" b="1" i="0" u="none" strike="noStrike" baseline="0" dirty="0">
                <a:latin typeface="SourceHanSansSC-Regular"/>
              </a:rPr>
              <a:t>创建项目管理计划需要整合诸多过程的输出。其他规划过程所输出的子计划和基准都是本过程的输入</a:t>
            </a:r>
            <a:r>
              <a:rPr lang="zh-CN" altLang="en-US" sz="1800" b="0" i="0" u="none" strike="noStrike" baseline="0" dirty="0">
                <a:latin typeface="SourceHanSansSC-Regular"/>
              </a:rPr>
              <a:t>。此外，对这些子计划和基准的变更都可能导致对项目管理计划的相应更新。</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4.2.1.3 </a:t>
            </a:r>
            <a:r>
              <a:rPr lang="zh-CN" altLang="en-US" sz="1800" b="0" i="0" u="none" strike="noStrike" baseline="0" dirty="0">
                <a:latin typeface="SourceHanSansSC-Medium"/>
              </a:rPr>
              <a:t>事业环境因素 （与前面制定章程时一样）</a:t>
            </a:r>
          </a:p>
          <a:p>
            <a:pPr algn="l"/>
            <a:r>
              <a:rPr lang="zh-CN" altLang="en-US" sz="1800" b="0" i="0" u="none" strike="noStrike" baseline="0" dirty="0">
                <a:latin typeface="SourceHanSansSC-Regular"/>
              </a:rPr>
              <a:t>能够影响制定项目管理计划过程的事业环境因素包括（但不限于）：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政府或行业标准（如产品标准、质量标准、安全标准和工艺标准）；</a:t>
            </a:r>
          </a:p>
          <a:p>
            <a:pPr algn="l"/>
            <a:r>
              <a:rPr lang="zh-CN" altLang="en-US" sz="1800" b="0" i="0" u="none" strike="noStrike" baseline="0" dirty="0">
                <a:latin typeface="SourceHanSansSC-Regular"/>
              </a:rPr>
              <a:t>  法律法规要求和（或）制约因素；</a:t>
            </a:r>
          </a:p>
          <a:p>
            <a:pPr algn="l"/>
            <a:r>
              <a:rPr lang="zh-CN" altLang="en-US" sz="1800" b="0" i="0" u="none" strike="noStrike" baseline="0" dirty="0">
                <a:latin typeface="SourceHanSansSC-Regular"/>
              </a:rPr>
              <a:t>  垂直市场（如建筑）和（或）专门领域（如环境、安全、风险或敏捷软件开发）的项目管理知识体系；</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组织的结构、文化、管理实践和可持续性；</a:t>
            </a:r>
          </a:p>
          <a:p>
            <a:pPr algn="l"/>
            <a:r>
              <a:rPr lang="zh-CN" altLang="en-US" sz="1800" b="0" i="0" u="none" strike="noStrike" baseline="0" dirty="0">
                <a:latin typeface="SourceHanSansSC-Regular"/>
              </a:rPr>
              <a:t>  组织治理框架（通过安排人员、制定政策和确定过程，以结构化的方式实施控制、指导和协调，以实现组织的战略和运营目标）；</a:t>
            </a:r>
          </a:p>
          <a:p>
            <a:pPr algn="l"/>
            <a:r>
              <a:rPr lang="zh-CN" altLang="en-US" sz="1800" b="0" i="0" u="none" strike="noStrike" baseline="0" dirty="0">
                <a:latin typeface="SourceHanSansSC-Regular"/>
              </a:rPr>
              <a:t>  基础设施（如现有的设施和固定资产）。</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i="0" u="none" strike="noStrike" baseline="0" dirty="0">
                <a:latin typeface="HelveticaNeue-MediumCond"/>
              </a:rPr>
              <a:t>4.2.1.4 </a:t>
            </a:r>
            <a:r>
              <a:rPr lang="zh-CN" altLang="en-US" sz="1800" b="0" i="0" u="none" strike="noStrike" baseline="0" dirty="0">
                <a:latin typeface="SourceHanSansSC-Medium"/>
              </a:rPr>
              <a:t>组织过程资产（与前面制定章程时一样）</a:t>
            </a:r>
          </a:p>
          <a:p>
            <a:pPr algn="l"/>
            <a:r>
              <a:rPr lang="zh-CN" altLang="en-US" sz="1800" b="0" i="0" u="none" strike="noStrike" baseline="0" dirty="0">
                <a:latin typeface="SourceHanSansSC-Regular"/>
              </a:rPr>
              <a:t>能够影响制定项目管理计划过程的组织过程资产包括（但不限于）：</a:t>
            </a:r>
          </a:p>
          <a:p>
            <a:pPr algn="l"/>
            <a:r>
              <a:rPr lang="zh-CN" altLang="en-US" sz="1800" b="0" i="0" u="none" strike="noStrike" baseline="0" dirty="0">
                <a:latin typeface="SourceHanSansSC-Regular"/>
              </a:rPr>
              <a:t>  组织的标准政策、流程和程序；</a:t>
            </a:r>
          </a:p>
          <a:p>
            <a:pPr algn="l"/>
            <a:r>
              <a:rPr lang="zh-CN" altLang="en-US" sz="1800" b="0" i="0" u="none" strike="noStrike" baseline="0" dirty="0">
                <a:latin typeface="SourceHanSansSC-Regular"/>
              </a:rPr>
              <a:t>  项目管理计划模板，包括：</a:t>
            </a:r>
          </a:p>
          <a:p>
            <a:pPr algn="l"/>
            <a:r>
              <a:rPr lang="zh-CN" altLang="en-US" sz="1800" b="0" i="0" u="none" strike="noStrike" baseline="0" dirty="0">
                <a:latin typeface="SourceHanSansSC-Regular"/>
              </a:rPr>
              <a:t>  根据项目的特定要求而裁剪组织的标准流程的指南和标准；</a:t>
            </a:r>
          </a:p>
          <a:p>
            <a:pPr algn="l"/>
            <a:r>
              <a:rPr lang="zh-CN" altLang="en-US" sz="1800" b="0" i="0" u="none" strike="noStrike" baseline="0" dirty="0">
                <a:latin typeface="SourceHanSansSC-Regular"/>
              </a:rPr>
              <a:t>  项目收尾指南或要求，如产品确认及验收标准。</a:t>
            </a:r>
          </a:p>
          <a:p>
            <a:pPr algn="l"/>
            <a:r>
              <a:rPr lang="zh-CN" altLang="en-US" sz="1800" b="0" i="0" u="none" strike="noStrike" baseline="0" dirty="0">
                <a:latin typeface="SourceHanSansSC-Regular"/>
              </a:rPr>
              <a:t>  变更控制程序，包括修改正式的组织标准、政策、计划、程序或项目文件，以及批准和确认变更所须遵循的步骤；</a:t>
            </a:r>
          </a:p>
          <a:p>
            <a:pPr algn="l"/>
            <a:r>
              <a:rPr lang="zh-CN" altLang="en-US" sz="1800" b="0" i="0" u="none" strike="noStrike" baseline="0" dirty="0">
                <a:latin typeface="SourceHanSansSC-Regular"/>
              </a:rPr>
              <a:t>  监督和报告方法、风险控制程序，以及沟通要求；</a:t>
            </a:r>
          </a:p>
          <a:p>
            <a:pPr algn="l"/>
            <a:r>
              <a:rPr lang="zh-CN" altLang="en-US" sz="1800" b="0" i="0" u="none" strike="noStrike" baseline="0" dirty="0">
                <a:latin typeface="SourceHanSansSC-Regular"/>
              </a:rPr>
              <a:t>  以往类似项目的相关信息（如范围、成本、进度与绩效测量基准、项目日历、项目进度网络图和风险登记册）；</a:t>
            </a:r>
          </a:p>
          <a:p>
            <a:pPr algn="l"/>
            <a:r>
              <a:rPr lang="zh-CN" altLang="en-US" sz="1800" b="0" i="0" u="none" strike="noStrike" baseline="0" dirty="0">
                <a:latin typeface="SourceHanSansSC-Regular"/>
              </a:rPr>
              <a:t>  历史信息和经验教训知识库。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347714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6A8BE6D-D941-4BC8-BCA7-5EDB2F1FE1AF}"/>
              </a:ext>
            </a:extLst>
          </p:cNvPr>
          <p:cNvSpPr>
            <a:spLocks noGrp="1" noChangeArrowheads="1"/>
          </p:cNvSpPr>
          <p:nvPr>
            <p:ph type="sldNum" sz="quarter" idx="5"/>
          </p:nvPr>
        </p:nvSpPr>
        <p:spPr>
          <a:ln/>
        </p:spPr>
        <p:txBody>
          <a:bodyPr/>
          <a:lstStyle/>
          <a:p>
            <a:fld id="{924BE0BD-4C2A-4050-A0BD-1D7968CBC5D3}" type="slidenum">
              <a:rPr lang="en-US" altLang="zh-CN"/>
              <a:pPr/>
              <a:t>7</a:t>
            </a:fld>
            <a:endParaRPr lang="en-US" altLang="zh-CN"/>
          </a:p>
        </p:txBody>
      </p:sp>
      <p:sp>
        <p:nvSpPr>
          <p:cNvPr id="653314" name="Rectangle 2">
            <a:extLst>
              <a:ext uri="{FF2B5EF4-FFF2-40B4-BE49-F238E27FC236}">
                <a16:creationId xmlns:a16="http://schemas.microsoft.com/office/drawing/2014/main" id="{376CD3FF-63B2-4FE6-A604-0D80B7010C59}"/>
              </a:ext>
            </a:extLst>
          </p:cNvPr>
          <p:cNvSpPr>
            <a:spLocks noGrp="1" noRot="1" noChangeAspect="1" noChangeArrowheads="1" noTextEdit="1"/>
          </p:cNvSpPr>
          <p:nvPr>
            <p:ph type="sldImg"/>
          </p:nvPr>
        </p:nvSpPr>
        <p:spPr>
          <a:ln/>
        </p:spPr>
      </p:sp>
      <p:sp>
        <p:nvSpPr>
          <p:cNvPr id="653315" name="Rectangle 3">
            <a:extLst>
              <a:ext uri="{FF2B5EF4-FFF2-40B4-BE49-F238E27FC236}">
                <a16:creationId xmlns:a16="http://schemas.microsoft.com/office/drawing/2014/main" id="{0497872B-B5E6-4FB0-814E-322851ED0CD7}"/>
              </a:ext>
            </a:extLst>
          </p:cNvPr>
          <p:cNvSpPr>
            <a:spLocks noGrp="1" noChangeArrowheads="1"/>
          </p:cNvSpPr>
          <p:nvPr>
            <p:ph type="body" idx="1"/>
          </p:nvPr>
        </p:nvSpPr>
        <p:spPr/>
        <p:txBody>
          <a:bodyPr/>
          <a:lstStyle/>
          <a:p>
            <a:r>
              <a:rPr lang="en-US" altLang="zh-CN" dirty="0"/>
              <a:t>WBS</a:t>
            </a:r>
            <a:r>
              <a:rPr lang="zh-CN" altLang="en-US" dirty="0"/>
              <a:t>：工作分解结构</a:t>
            </a:r>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F1AAC4-5B1E-4533-96B2-2FA485455D5E}"/>
              </a:ext>
            </a:extLst>
          </p:cNvPr>
          <p:cNvSpPr>
            <a:spLocks noGrp="1" noChangeArrowheads="1"/>
          </p:cNvSpPr>
          <p:nvPr>
            <p:ph type="sldNum" sz="quarter" idx="5"/>
          </p:nvPr>
        </p:nvSpPr>
        <p:spPr>
          <a:ln/>
        </p:spPr>
        <p:txBody>
          <a:bodyPr/>
          <a:lstStyle/>
          <a:p>
            <a:fld id="{2EE26F03-6F37-42E6-85AA-836D2706C069}" type="slidenum">
              <a:rPr lang="en-US" altLang="zh-CN"/>
              <a:pPr/>
              <a:t>8</a:t>
            </a:fld>
            <a:endParaRPr lang="en-US" altLang="zh-CN"/>
          </a:p>
        </p:txBody>
      </p:sp>
      <p:sp>
        <p:nvSpPr>
          <p:cNvPr id="654338" name="Rectangle 2">
            <a:extLst>
              <a:ext uri="{FF2B5EF4-FFF2-40B4-BE49-F238E27FC236}">
                <a16:creationId xmlns:a16="http://schemas.microsoft.com/office/drawing/2014/main" id="{533D0303-3888-4F85-BE41-5804CF22FF2A}"/>
              </a:ext>
            </a:extLst>
          </p:cNvPr>
          <p:cNvSpPr>
            <a:spLocks noGrp="1" noRot="1" noChangeAspect="1" noChangeArrowheads="1" noTextEdit="1"/>
          </p:cNvSpPr>
          <p:nvPr>
            <p:ph type="sldImg"/>
          </p:nvPr>
        </p:nvSpPr>
        <p:spPr>
          <a:ln/>
        </p:spPr>
      </p:sp>
      <p:sp>
        <p:nvSpPr>
          <p:cNvPr id="654339" name="Rectangle 3">
            <a:extLst>
              <a:ext uri="{FF2B5EF4-FFF2-40B4-BE49-F238E27FC236}">
                <a16:creationId xmlns:a16="http://schemas.microsoft.com/office/drawing/2014/main" id="{D0519C62-4F3D-4977-98B4-CBC9967FA78D}"/>
              </a:ext>
            </a:extLst>
          </p:cNvPr>
          <p:cNvSpPr>
            <a:spLocks noGrp="1" noChangeArrowheads="1"/>
          </p:cNvSpPr>
          <p:nvPr>
            <p:ph type="body" idx="1"/>
          </p:nvPr>
        </p:nvSpPr>
        <p:spPr/>
        <p:txBody>
          <a:bodyPr/>
          <a:lstStyle/>
          <a:p>
            <a:r>
              <a:rPr lang="zh-CN" altLang="en-US" dirty="0"/>
              <a:t>这是输入</a:t>
            </a:r>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FB89EC9-5FD6-49B8-A616-A5FFB8442A69}"/>
              </a:ext>
            </a:extLst>
          </p:cNvPr>
          <p:cNvSpPr>
            <a:spLocks noGrp="1" noChangeArrowheads="1"/>
          </p:cNvSpPr>
          <p:nvPr>
            <p:ph type="sldNum" sz="quarter" idx="5"/>
          </p:nvPr>
        </p:nvSpPr>
        <p:spPr>
          <a:ln/>
        </p:spPr>
        <p:txBody>
          <a:bodyPr/>
          <a:lstStyle/>
          <a:p>
            <a:fld id="{CF187E37-F438-4703-817E-D199CA9BD157}" type="slidenum">
              <a:rPr lang="en-US" altLang="zh-CN"/>
              <a:pPr/>
              <a:t>9</a:t>
            </a:fld>
            <a:endParaRPr lang="en-US" altLang="zh-CN"/>
          </a:p>
        </p:txBody>
      </p:sp>
      <p:sp>
        <p:nvSpPr>
          <p:cNvPr id="655362" name="Rectangle 2">
            <a:extLst>
              <a:ext uri="{FF2B5EF4-FFF2-40B4-BE49-F238E27FC236}">
                <a16:creationId xmlns:a16="http://schemas.microsoft.com/office/drawing/2014/main" id="{52335F5B-BC2B-4D9D-9F65-6E8BA6F529FD}"/>
              </a:ext>
            </a:extLst>
          </p:cNvPr>
          <p:cNvSpPr>
            <a:spLocks noGrp="1" noRot="1" noChangeAspect="1" noChangeArrowheads="1" noTextEdit="1"/>
          </p:cNvSpPr>
          <p:nvPr>
            <p:ph type="sldImg"/>
          </p:nvPr>
        </p:nvSpPr>
        <p:spPr>
          <a:ln/>
        </p:spPr>
      </p:sp>
      <p:sp>
        <p:nvSpPr>
          <p:cNvPr id="655363" name="Rectangle 3">
            <a:extLst>
              <a:ext uri="{FF2B5EF4-FFF2-40B4-BE49-F238E27FC236}">
                <a16:creationId xmlns:a16="http://schemas.microsoft.com/office/drawing/2014/main" id="{3A91BC3A-D009-43BD-B19E-62065A37608D}"/>
              </a:ext>
            </a:extLst>
          </p:cNvPr>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744CC6C-1A6D-4147-846F-89424BD7C6EC}"/>
              </a:ext>
            </a:extLst>
          </p:cNvPr>
          <p:cNvSpPr>
            <a:spLocks noGrp="1" noChangeArrowheads="1"/>
          </p:cNvSpPr>
          <p:nvPr>
            <p:ph type="sldNum" sz="quarter" idx="5"/>
          </p:nvPr>
        </p:nvSpPr>
        <p:spPr>
          <a:ln/>
        </p:spPr>
        <p:txBody>
          <a:bodyPr/>
          <a:lstStyle/>
          <a:p>
            <a:fld id="{2050C5E4-11C1-40CE-9E19-BECE8F1C2D07}" type="slidenum">
              <a:rPr lang="en-US" altLang="zh-CN"/>
              <a:pPr/>
              <a:t>10</a:t>
            </a:fld>
            <a:endParaRPr lang="en-US" altLang="zh-CN"/>
          </a:p>
        </p:txBody>
      </p:sp>
      <p:sp>
        <p:nvSpPr>
          <p:cNvPr id="656386" name="Rectangle 2">
            <a:extLst>
              <a:ext uri="{FF2B5EF4-FFF2-40B4-BE49-F238E27FC236}">
                <a16:creationId xmlns:a16="http://schemas.microsoft.com/office/drawing/2014/main" id="{7E1CAF36-606B-4E70-826E-7523771059A2}"/>
              </a:ext>
            </a:extLst>
          </p:cNvPr>
          <p:cNvSpPr>
            <a:spLocks noGrp="1" noRot="1" noChangeAspect="1" noChangeArrowheads="1" noTextEdit="1"/>
          </p:cNvSpPr>
          <p:nvPr>
            <p:ph type="sldImg"/>
          </p:nvPr>
        </p:nvSpPr>
        <p:spPr>
          <a:ln/>
        </p:spPr>
      </p:sp>
      <p:sp>
        <p:nvSpPr>
          <p:cNvPr id="656387" name="Rectangle 3">
            <a:extLst>
              <a:ext uri="{FF2B5EF4-FFF2-40B4-BE49-F238E27FC236}">
                <a16:creationId xmlns:a16="http://schemas.microsoft.com/office/drawing/2014/main" id="{0E67E963-4B0B-4CC5-8DF4-F05FBCFBC1E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E06173-94A0-49E1-AEBB-01CFFB362C8B}"/>
              </a:ext>
            </a:extLst>
          </p:cNvPr>
          <p:cNvSpPr>
            <a:spLocks noGrp="1" noChangeArrowheads="1"/>
          </p:cNvSpPr>
          <p:nvPr>
            <p:ph type="sldNum" sz="quarter" idx="5"/>
          </p:nvPr>
        </p:nvSpPr>
        <p:spPr>
          <a:ln/>
        </p:spPr>
        <p:txBody>
          <a:bodyPr/>
          <a:lstStyle/>
          <a:p>
            <a:fld id="{CFCC7385-CE1A-4BF6-8C46-3FB2157D81DE}" type="slidenum">
              <a:rPr lang="en-US" altLang="zh-CN"/>
              <a:pPr/>
              <a:t>11</a:t>
            </a:fld>
            <a:endParaRPr lang="en-US" altLang="zh-CN"/>
          </a:p>
        </p:txBody>
      </p:sp>
      <p:sp>
        <p:nvSpPr>
          <p:cNvPr id="657410" name="Rectangle 2">
            <a:extLst>
              <a:ext uri="{FF2B5EF4-FFF2-40B4-BE49-F238E27FC236}">
                <a16:creationId xmlns:a16="http://schemas.microsoft.com/office/drawing/2014/main" id="{CEE54BCC-85F9-4831-9621-2CBD369076F4}"/>
              </a:ext>
            </a:extLst>
          </p:cNvPr>
          <p:cNvSpPr>
            <a:spLocks noGrp="1" noRot="1" noChangeAspect="1" noChangeArrowheads="1" noTextEdit="1"/>
          </p:cNvSpPr>
          <p:nvPr>
            <p:ph type="sldImg"/>
          </p:nvPr>
        </p:nvSpPr>
        <p:spPr>
          <a:ln/>
        </p:spPr>
      </p:sp>
      <p:sp>
        <p:nvSpPr>
          <p:cNvPr id="657411" name="Rectangle 3">
            <a:extLst>
              <a:ext uri="{FF2B5EF4-FFF2-40B4-BE49-F238E27FC236}">
                <a16:creationId xmlns:a16="http://schemas.microsoft.com/office/drawing/2014/main" id="{3701CA29-3FB5-408C-B03B-DC4D19BE2445}"/>
              </a:ext>
            </a:extLst>
          </p:cNvPr>
          <p:cNvSpPr>
            <a:spLocks noGrp="1" noChangeArrowheads="1"/>
          </p:cNvSpPr>
          <p:nvPr>
            <p:ph type="body" idx="1"/>
          </p:nvPr>
        </p:nvSpPr>
        <p:spPr/>
        <p:txBody>
          <a:bodyPr/>
          <a:lstStyle/>
          <a:p>
            <a:r>
              <a:rPr lang="zh-CN" altLang="en-US" dirty="0"/>
              <a:t>答案：</a:t>
            </a:r>
            <a:r>
              <a:rPr lang="en-US" altLang="zh-CN" dirty="0"/>
              <a:t>c</a:t>
            </a:r>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如果开篇案例中的老木工问了 “</a:t>
            </a:r>
            <a:r>
              <a:rPr lang="zh-CN" altLang="en-US" sz="1200" kern="0" dirty="0">
                <a:latin typeface="微软雅黑" panose="020B0503020204020204" pitchFamily="34" charset="-122"/>
                <a:ea typeface="微软雅黑" panose="020B0503020204020204" pitchFamily="34" charset="-122"/>
              </a:rPr>
              <a:t>最终用户是谁？</a:t>
            </a:r>
            <a:r>
              <a:rPr lang="zh-CN" altLang="en-US" dirty="0"/>
              <a:t>“，可能情况就不一样了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1678090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清楚前面这些问题后，就可编</a:t>
            </a:r>
            <a:r>
              <a:rPr lang="zh-CN" altLang="en-US" b="1" dirty="0">
                <a:ea typeface="幼圆" pitchFamily="49" charset="-122"/>
              </a:rPr>
              <a:t>制项目管理计划</a:t>
            </a:r>
            <a:r>
              <a:rPr lang="en-US" altLang="zh-CN" b="1" dirty="0">
                <a:ea typeface="幼圆" pitchFamily="49" charset="-122"/>
              </a:rPr>
              <a:t> </a:t>
            </a:r>
          </a:p>
          <a:p>
            <a:r>
              <a:rPr lang="zh-CN" altLang="en-US" b="1" dirty="0">
                <a:ea typeface="幼圆" pitchFamily="49" charset="-122"/>
              </a:rPr>
              <a:t>在</a:t>
            </a:r>
            <a:r>
              <a:rPr lang="en-US" altLang="zh-CN" b="1" dirty="0">
                <a:ea typeface="幼圆" pitchFamily="49" charset="-122"/>
              </a:rPr>
              <a:t>PMBOK V7</a:t>
            </a:r>
            <a:r>
              <a:rPr lang="zh-CN" altLang="en-US" b="1" dirty="0">
                <a:ea typeface="幼圆" pitchFamily="49" charset="-122"/>
              </a:rPr>
              <a:t>不再强调这些计划，但也不反对。可以根据项目目标、原则灵活编写。</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2056542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项目管理计划是用于管理项目的主要文件之一。管理项目时还会使用其他项目文件。这些其他文件不属于项目管理计划，但它们也是实现高效管理所必需的文件。</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SourceHanSansSC-Regular"/>
              </a:rPr>
              <a:t>大多数项目管理计划组件都来自于其他过程（如上），有些组件是在本过程生成的。</a:t>
            </a:r>
            <a:endParaRPr lang="en-US" altLang="zh-CN" sz="1200" b="1" dirty="0">
              <a:latin typeface="SourceHanSansSC-Regular"/>
            </a:endParaRPr>
          </a:p>
          <a:p>
            <a:pPr algn="l"/>
            <a:endParaRPr lang="en-US" altLang="zh-CN" dirty="0"/>
          </a:p>
          <a:p>
            <a:pPr algn="l"/>
            <a:r>
              <a:rPr lang="zh-CN" altLang="en-US" b="1" dirty="0"/>
              <a:t>不同的开发方法，过程和要求不一样，这在</a:t>
            </a:r>
            <a:r>
              <a:rPr lang="en-US" altLang="zh-CN" b="1" dirty="0"/>
              <a:t>PMBOK V7</a:t>
            </a:r>
            <a:r>
              <a:rPr lang="zh-CN" altLang="en-US" b="1" dirty="0"/>
              <a:t>中被强化了，要求项目管理与开发方法相适应</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1248010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每一部分下面展开</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1D1D1D"/>
                </a:solidFill>
                <a:latin typeface="HiddenHorzOCR"/>
              </a:rPr>
              <a:t>项目的整体介绍至少应包括以下几点：</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项目名称</a:t>
            </a:r>
            <a:r>
              <a:rPr lang="en-US" altLang="zh-CN" sz="1800" b="0" i="0" u="none" strike="noStrike" baseline="0" dirty="0">
                <a:solidFill>
                  <a:srgbClr val="1D1D1D"/>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项目的简要描述及要满足的需求：这部分应详细列出项目的目标及其理由，而且</a:t>
            </a:r>
            <a:r>
              <a:rPr lang="zh-CN" altLang="en-US" sz="1800" b="0" i="0" u="none" strike="noStrike" baseline="0" dirty="0">
                <a:solidFill>
                  <a:srgbClr val="474747"/>
                </a:solidFill>
                <a:latin typeface="HiddenHorzOCR"/>
              </a:rPr>
              <a:t>应该</a:t>
            </a:r>
            <a:r>
              <a:rPr lang="zh-CN" altLang="en-US" sz="1800" b="0" i="0" u="none" strike="noStrike" baseline="0" dirty="0">
                <a:solidFill>
                  <a:srgbClr val="2C2C2C"/>
                </a:solidFill>
                <a:latin typeface="HiddenHorzOCR"/>
              </a:rPr>
              <a:t>用</a:t>
            </a:r>
            <a:r>
              <a:rPr lang="zh-CN" altLang="en-US" sz="1800" b="0" i="0" u="none" strike="noStrike" baseline="0" dirty="0">
                <a:solidFill>
                  <a:srgbClr val="1D1D1D"/>
                </a:solidFill>
                <a:latin typeface="HiddenHorzOCR"/>
              </a:rPr>
              <a:t>常用术语来偏写，避免使用生硬的技术术语，同时</a:t>
            </a:r>
            <a:r>
              <a:rPr lang="zh-CN" altLang="en-US" sz="1800" b="0" i="0" u="none" strike="noStrike" baseline="0" dirty="0">
                <a:solidFill>
                  <a:srgbClr val="474747"/>
                </a:solidFill>
                <a:latin typeface="HiddenHorzOCR"/>
              </a:rPr>
              <a:t>应</a:t>
            </a:r>
            <a:r>
              <a:rPr lang="zh-CN" altLang="en-US" sz="1800" b="0" i="0" u="none" strike="noStrike" baseline="0" dirty="0">
                <a:solidFill>
                  <a:srgbClr val="2C2C2C"/>
                </a:solidFill>
                <a:latin typeface="HiddenHorzOCR"/>
              </a:rPr>
              <a:t>包含项目的粗略时间和成本估算</a:t>
            </a:r>
            <a:r>
              <a:rPr lang="zh-CN" altLang="en-US" sz="1800" b="0" i="0" u="none" strike="noStrike" baseline="0" dirty="0">
                <a:solidFill>
                  <a:srgbClr val="696969"/>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项目发起人名称：</a:t>
            </a:r>
            <a:r>
              <a:rPr lang="zh-CN" altLang="en-US" sz="1800" b="0" i="0" u="none" strike="noStrike" baseline="0" dirty="0">
                <a:solidFill>
                  <a:srgbClr val="2C2C2C"/>
                </a:solidFill>
                <a:latin typeface="HiddenHorzOCR"/>
              </a:rPr>
              <a:t>每个项目都需要发起人，在发起人介绍中应该包括名称、职务和联系方</a:t>
            </a:r>
            <a:r>
              <a:rPr lang="zh-CN" altLang="en-US" sz="1800" b="0" i="0" u="none" strike="noStrike" baseline="0" dirty="0">
                <a:solidFill>
                  <a:srgbClr val="1D1D1D"/>
                </a:solidFill>
                <a:latin typeface="HiddenHorzOCR"/>
              </a:rPr>
              <a:t>式等</a:t>
            </a:r>
            <a:r>
              <a:rPr lang="zh-CN" altLang="en-US" sz="1800" b="0" i="0" u="none" strike="noStrike" baseline="0" dirty="0">
                <a:solidFill>
                  <a:srgbClr val="474747"/>
                </a:solidFill>
                <a:latin typeface="HiddenHorzOCR"/>
              </a:rPr>
              <a:t>信</a:t>
            </a:r>
            <a:r>
              <a:rPr lang="zh-CN" altLang="en-US" sz="1800" b="0" i="0" u="none" strike="noStrike" baseline="0" dirty="0">
                <a:solidFill>
                  <a:srgbClr val="2C2C2C"/>
                </a:solidFill>
                <a:latin typeface="HiddenHorzOCR"/>
              </a:rPr>
              <a:t>息</a:t>
            </a:r>
            <a:r>
              <a:rPr lang="zh-CN" altLang="en-US" sz="1800" b="0" i="0" u="none" strike="noStrike" baseline="0" dirty="0">
                <a:solidFill>
                  <a:srgbClr val="7D7D7D"/>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2C2C2C"/>
                </a:solidFill>
                <a:latin typeface="HiddenHorzOCR"/>
              </a:rPr>
              <a:t>项目经理和关键团队成员的名单：项目经理</a:t>
            </a:r>
            <a:r>
              <a:rPr lang="zh-CN" altLang="en-US" sz="1800" b="0" i="0" u="none" strike="noStrike" baseline="0" dirty="0">
                <a:solidFill>
                  <a:srgbClr val="474747"/>
                </a:solidFill>
                <a:latin typeface="HiddenHorzOCR"/>
              </a:rPr>
              <a:t>应</a:t>
            </a:r>
            <a:r>
              <a:rPr lang="zh-CN" altLang="en-US" sz="1800" b="0" i="0" u="none" strike="noStrike" baseline="0" dirty="0">
                <a:solidFill>
                  <a:srgbClr val="2C2C2C"/>
                </a:solidFill>
                <a:latin typeface="HiddenHorzOCR"/>
              </a:rPr>
              <a:t>该为项目信息的联系者</a:t>
            </a:r>
            <a:r>
              <a:rPr lang="zh-CN" altLang="en-US" sz="1800" b="0" i="0" u="none" strike="noStrike" baseline="0" dirty="0">
                <a:solidFill>
                  <a:srgbClr val="7D7D7D"/>
                </a:solidFill>
                <a:latin typeface="HiddenHorzOCR"/>
              </a:rPr>
              <a:t>。</a:t>
            </a:r>
            <a:r>
              <a:rPr lang="zh-CN" altLang="en-US" sz="1800" b="0" i="0" u="none" strike="noStrike" baseline="0" dirty="0">
                <a:solidFill>
                  <a:srgbClr val="1D1D1D"/>
                </a:solidFill>
                <a:latin typeface="HiddenHorzOCR"/>
              </a:rPr>
              <a:t>根据项目的</a:t>
            </a:r>
            <a:r>
              <a:rPr lang="zh-CN" altLang="en-US" sz="1800" b="0" i="0" u="none" strike="noStrike" baseline="0" dirty="0">
                <a:solidFill>
                  <a:srgbClr val="474747"/>
                </a:solidFill>
                <a:latin typeface="HiddenHorzOCR"/>
              </a:rPr>
              <a:t>大</a:t>
            </a:r>
            <a:r>
              <a:rPr lang="zh-CN" altLang="en-US" sz="1800" b="0" i="0" u="none" strike="noStrike" baseline="0" dirty="0">
                <a:solidFill>
                  <a:srgbClr val="2C2C2C"/>
                </a:solidFill>
                <a:latin typeface="HiddenHorzOCR"/>
              </a:rPr>
              <a:t>小和性质，相应的关键团队成员清单也需要列出</a:t>
            </a:r>
            <a:r>
              <a:rPr lang="zh-CN" altLang="en-US" sz="1800" b="0" i="0" u="none" strike="noStrike" baseline="0" dirty="0">
                <a:solidFill>
                  <a:srgbClr val="474747"/>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项目可交付成果：</a:t>
            </a:r>
            <a:endParaRPr lang="en-US" altLang="zh-CN" sz="1800" b="0" i="0" u="none" strike="noStrike" baseline="0" dirty="0">
              <a:solidFill>
                <a:srgbClr val="1D1D1D"/>
              </a:solidFill>
              <a:latin typeface="HiddenHorzOCR"/>
            </a:endParaRP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相关的重要资料清单：</a:t>
            </a:r>
            <a:endParaRPr lang="zh-CN" altLang="en-US" sz="1800" b="0" i="0" u="none" strike="noStrike" baseline="0" dirty="0">
              <a:solidFill>
                <a:srgbClr val="5A5A5A"/>
              </a:solidFill>
              <a:latin typeface="HiddenHorzOCR"/>
            </a:endParaRP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准确的术语表及其解释：大部分项目，特别是</a:t>
            </a:r>
            <a:r>
              <a:rPr lang="en-US" altLang="zh-CN" sz="1800" b="0" i="0" u="none" strike="noStrike" baseline="0" dirty="0">
                <a:solidFill>
                  <a:srgbClr val="1D1D1D"/>
                </a:solidFill>
                <a:latin typeface="HiddenHorzOCR"/>
              </a:rPr>
              <a:t>IT</a:t>
            </a:r>
            <a:r>
              <a:rPr lang="zh-CN" altLang="en-US" sz="1800" b="0" i="0" u="none" strike="noStrike" baseline="0" dirty="0">
                <a:solidFill>
                  <a:srgbClr val="1D1D1D"/>
                </a:solidFill>
                <a:latin typeface="HiddenHorzOCR"/>
              </a:rPr>
              <a:t>项目，包含某个特殊待行业或技术的大量专业</a:t>
            </a:r>
            <a:r>
              <a:rPr lang="zh-CN" altLang="en-US" sz="1800" b="0" i="0" u="none" strike="noStrike" baseline="0" dirty="0">
                <a:solidFill>
                  <a:srgbClr val="2C2C2C"/>
                </a:solidFill>
                <a:latin typeface="HiddenHorzOCR"/>
              </a:rPr>
              <a:t>术语</a:t>
            </a:r>
            <a:r>
              <a:rPr lang="zh-CN" altLang="en-US" sz="1800" b="0" i="0" u="none" strike="noStrike" baseline="0" dirty="0">
                <a:solidFill>
                  <a:srgbClr val="020202"/>
                </a:solidFill>
                <a:latin typeface="HiddenHorzOCR"/>
              </a:rPr>
              <a:t>， </a:t>
            </a:r>
            <a:r>
              <a:rPr lang="zh-CN" altLang="en-US" sz="1800" b="0" i="0" u="none" strike="noStrike" baseline="0" dirty="0">
                <a:solidFill>
                  <a:srgbClr val="2C2C2C"/>
                </a:solidFill>
                <a:latin typeface="HiddenHorzOCR"/>
              </a:rPr>
              <a:t>列出一个准确的术语表可以防止发生混乱</a:t>
            </a:r>
            <a:r>
              <a:rPr lang="zh-CN" altLang="en-US" sz="1800" b="0" i="0" u="none" strike="noStrike" baseline="0" dirty="0">
                <a:solidFill>
                  <a:srgbClr val="696969"/>
                </a:solidFill>
                <a:latin typeface="HiddenHorzOC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3187544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如何组织和开展项目的描述应该包括</a:t>
            </a:r>
            <a:r>
              <a:rPr lang="en-US" altLang="zh-CN" sz="1200" kern="1200" dirty="0">
                <a:solidFill>
                  <a:schemeClr val="tx1"/>
                </a:solidFill>
                <a:effectLst/>
                <a:latin typeface="+mn-lt"/>
                <a:ea typeface="+mn-ea"/>
                <a:cs typeface="+mn-cs"/>
              </a:rPr>
              <a:t>: </a:t>
            </a:r>
            <a:endParaRPr lang="zh-CN" altLang="en-US" sz="1800" dirty="0"/>
          </a:p>
          <a:p>
            <a:r>
              <a:rPr lang="zh-CN" altLang="en-US" sz="1200" kern="1200" dirty="0">
                <a:solidFill>
                  <a:schemeClr val="tx1"/>
                </a:solidFill>
                <a:effectLst/>
                <a:latin typeface="+mn-lt"/>
                <a:ea typeface="+mn-ea"/>
                <a:cs typeface="+mn-cs"/>
              </a:rPr>
              <a:t>组织结构图：</a:t>
            </a:r>
            <a:endParaRPr lang="zh-CN" altLang="en-US" sz="1800" dirty="0"/>
          </a:p>
          <a:p>
            <a:r>
              <a:rPr lang="zh-CN" altLang="en-US" sz="1200" kern="1200" dirty="0">
                <a:solidFill>
                  <a:schemeClr val="tx1"/>
                </a:solidFill>
                <a:effectLst/>
                <a:latin typeface="+mn-lt"/>
                <a:ea typeface="+mn-ea"/>
                <a:cs typeface="+mn-cs"/>
              </a:rPr>
              <a:t>除了资助项目的公司和客户公司</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如果有的话</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的组织结构图之外，也需要用一个项目组织结构图来说明项目的职权、责任和沟通之间的关系。例如，曼哈顿计划拥有一个非常详细的组织结构图来表示为项目工作的所有员工。</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项目责任： </a:t>
            </a:r>
            <a:endParaRPr lang="zh-CN" altLang="en-US" sz="1800" dirty="0"/>
          </a:p>
          <a:p>
            <a:r>
              <a:rPr lang="zh-CN" altLang="en-US" sz="1200" kern="1200" dirty="0">
                <a:solidFill>
                  <a:schemeClr val="tx1"/>
                </a:solidFill>
                <a:effectLst/>
                <a:latin typeface="+mn-lt"/>
                <a:ea typeface="+mn-ea"/>
                <a:cs typeface="+mn-cs"/>
              </a:rPr>
              <a:t>其他与组织或者过程相关的信息： </a:t>
            </a:r>
            <a:endParaRPr lang="zh-CN" altLang="en-US" sz="1800" dirty="0"/>
          </a:p>
          <a:p>
            <a:r>
              <a:rPr lang="zh-CN" altLang="en-US" sz="1200" kern="1200" dirty="0">
                <a:solidFill>
                  <a:schemeClr val="tx1"/>
                </a:solidFill>
                <a:effectLst/>
                <a:latin typeface="+mn-lt"/>
                <a:ea typeface="+mn-ea"/>
                <a:cs typeface="+mn-cs"/>
              </a:rPr>
              <a:t>例如，如果项目包括发布一个主要的软件升级包，它应该能够帮助项目内的所有人去检查在这一过程中主要步骤的图表或时间表。</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3919785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i="1"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1050383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项目工作和参考范围管理包括的内容：</a:t>
            </a:r>
            <a:endParaRPr lang="zh-CN" altLang="en-US" dirty="0"/>
          </a:p>
          <a:p>
            <a:r>
              <a:rPr lang="zh-CN" altLang="en-US" sz="1200" kern="1200" dirty="0">
                <a:solidFill>
                  <a:schemeClr val="tx1"/>
                </a:solidFill>
                <a:effectLst/>
                <a:latin typeface="+mn-lt"/>
                <a:ea typeface="+mn-ea"/>
                <a:cs typeface="+mn-cs"/>
              </a:rPr>
              <a:t>主要的工作包： </a:t>
            </a:r>
            <a:endParaRPr lang="zh-CN" altLang="en-US" dirty="0"/>
          </a:p>
          <a:p>
            <a:r>
              <a:rPr lang="zh-CN" altLang="en-US" sz="1200" kern="1200" dirty="0">
                <a:solidFill>
                  <a:schemeClr val="tx1"/>
                </a:solidFill>
                <a:effectLst/>
                <a:latin typeface="+mn-lt"/>
                <a:ea typeface="+mn-ea"/>
                <a:cs typeface="+mn-cs"/>
              </a:rPr>
              <a:t>项目经理常常利用工作分解结构 </a:t>
            </a:r>
            <a:r>
              <a:rPr lang="en-US" altLang="zh-CN" sz="1200" kern="1200" dirty="0">
                <a:solidFill>
                  <a:schemeClr val="tx1"/>
                </a:solidFill>
                <a:effectLst/>
                <a:latin typeface="+mn-lt"/>
                <a:ea typeface="+mn-ea"/>
                <a:cs typeface="+mn-cs"/>
              </a:rPr>
              <a:t>(WBS) </a:t>
            </a:r>
            <a:r>
              <a:rPr lang="zh-CN" altLang="en-US" sz="1200" kern="1200" dirty="0">
                <a:solidFill>
                  <a:schemeClr val="tx1"/>
                </a:solidFill>
                <a:effectLst/>
                <a:latin typeface="+mn-lt"/>
                <a:ea typeface="+mn-ea"/>
                <a:cs typeface="+mn-cs"/>
              </a:rPr>
              <a:t>的方法把项目工作分解为几个工作包，并制定一个范围说明书来阐述工作的细节，这个环节应该简要地总结一下项目的主要工作包以及相关的范围管理计划的适当章节。 </a:t>
            </a:r>
            <a:endParaRPr lang="zh-CN" altLang="en-US" dirty="0"/>
          </a:p>
          <a:p>
            <a:r>
              <a:rPr lang="zh-CN" altLang="en-US" sz="1200" kern="1200" dirty="0">
                <a:solidFill>
                  <a:schemeClr val="tx1"/>
                </a:solidFill>
                <a:effectLst/>
                <a:latin typeface="+mn-lt"/>
                <a:ea typeface="+mn-ea"/>
                <a:cs typeface="+mn-cs"/>
              </a:rPr>
              <a:t>关键的可支付成果：</a:t>
            </a:r>
            <a:endParaRPr lang="zh-CN" altLang="en-US" dirty="0"/>
          </a:p>
          <a:p>
            <a:r>
              <a:rPr lang="zh-CN" altLang="en-US" sz="1200" kern="1200" dirty="0">
                <a:solidFill>
                  <a:schemeClr val="tx1"/>
                </a:solidFill>
                <a:effectLst/>
                <a:latin typeface="+mn-lt"/>
                <a:ea typeface="+mn-ea"/>
                <a:cs typeface="+mn-cs"/>
              </a:rPr>
              <a:t>这个环节要列出并介绍项目产生的关键成果，同时也应写出对项目可交付成果的质量预期</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其他与工作相关的信息：</a:t>
            </a:r>
            <a:endParaRPr lang="zh-CN" altLang="en-US" dirty="0"/>
          </a:p>
          <a:p>
            <a:r>
              <a:rPr lang="zh-CN" altLang="en-US" sz="1200" kern="1200" dirty="0">
                <a:solidFill>
                  <a:schemeClr val="tx1"/>
                </a:solidFill>
                <a:effectLst/>
                <a:latin typeface="+mn-lt"/>
                <a:ea typeface="+mn-ea"/>
                <a:cs typeface="+mn-cs"/>
              </a:rPr>
              <a:t>这个环节要强调与项目工作绩效相关的关键信息。例如，可以列出在项目中或特定情况下使用的硬件和软件，同时需要记录在定义项目工作时的主要假设。 </a:t>
            </a:r>
            <a:endParaRPr lang="zh-CN" altLang="en-US" dirty="0"/>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项目进度信息部分应当包括以下内容： </a:t>
            </a:r>
            <a:endParaRPr lang="zh-CN" altLang="en-US" dirty="0"/>
          </a:p>
          <a:p>
            <a:r>
              <a:rPr lang="zh-CN" altLang="en-US" sz="1200" kern="1200" dirty="0">
                <a:solidFill>
                  <a:schemeClr val="tx1"/>
                </a:solidFill>
                <a:effectLst/>
                <a:latin typeface="+mn-lt"/>
                <a:ea typeface="+mn-ea"/>
                <a:cs typeface="+mn-cs"/>
              </a:rPr>
              <a:t>概要进度表：把整个项目进度表浓缩成一页的简短摘要非常有用。</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细节进度表：这部分需要列出项目进度的更多细节信息。 它应该提及项目的进度管理计划，讨论会影响项目进程的项目活动之间的依赖性。这可以用来解释为什么主要的工作不能马上开始，直至外部机构提供的资金到位。一个网络图就可以显示这种依就关系。 </a:t>
            </a:r>
            <a:endParaRPr lang="zh-CN" altLang="en-US" dirty="0"/>
          </a:p>
          <a:p>
            <a:r>
              <a:rPr lang="zh-CN" altLang="en-US" sz="1200" kern="1200" dirty="0">
                <a:solidFill>
                  <a:schemeClr val="tx1"/>
                </a:solidFill>
                <a:effectLst/>
                <a:latin typeface="+mn-lt"/>
                <a:ea typeface="+mn-ea"/>
                <a:cs typeface="+mn-cs"/>
              </a:rPr>
              <a:t>其他与进度相关的信息：很多假设都是在制定项目进度的过程中产生的，这里要记录主要的假设，并强调其他与项目进度相关的重要馆息。 </a:t>
            </a:r>
            <a:endParaRPr lang="zh-CN" altLang="en-US" dirty="0"/>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项目管理计划中的预算部分应该包含的内容有： </a:t>
            </a:r>
            <a:endParaRPr lang="zh-CN" altLang="en-US" dirty="0"/>
          </a:p>
          <a:p>
            <a:r>
              <a:rPr lang="zh-CN" altLang="en-US" sz="1200" kern="1200" dirty="0">
                <a:solidFill>
                  <a:schemeClr val="tx1"/>
                </a:solidFill>
                <a:effectLst/>
                <a:latin typeface="+mn-lt"/>
                <a:ea typeface="+mn-ea"/>
                <a:cs typeface="+mn-cs"/>
              </a:rPr>
              <a:t>预算概况：预算概况应该包括整个项目预算的全部估算，还有某些预算类别在每个月或者每年的估算数目。预算概况中还应附上对数据的解释。例如，总预算是一个不能更改的确定数目，还是基于未来</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年的项目成本而做出的大致估计？</a:t>
            </a:r>
            <a:r>
              <a:rPr lang="en-US" altLang="zh-CN" sz="1200" kern="1200" dirty="0">
                <a:solidFill>
                  <a:schemeClr val="tx1"/>
                </a:solidFill>
                <a:effectLst/>
                <a:latin typeface="+mn-lt"/>
                <a:ea typeface="+mn-ea"/>
                <a:cs typeface="+mn-cs"/>
              </a:rPr>
              <a:t> </a:t>
            </a:r>
            <a:endParaRPr lang="zh-CN" altLang="en-US" dirty="0"/>
          </a:p>
          <a:p>
            <a:r>
              <a:rPr lang="zh-CN" altLang="en-US" sz="1200" kern="1200" dirty="0">
                <a:solidFill>
                  <a:schemeClr val="tx1"/>
                </a:solidFill>
                <a:effectLst/>
                <a:latin typeface="+mn-lt"/>
                <a:ea typeface="+mn-ea"/>
                <a:cs typeface="+mn-cs"/>
              </a:rPr>
              <a:t>预算细节：这里需要总结出成本管理计划包含了什么，以及更多的预算细节信息。例如，项目每年估计都有哪些固定成本和重复成本？项目预计财务收益有哪些？项目工作需要哪些类型的员工</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怎样计算劳动力成本？</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其他与预算相关的信息：记录主要的假设，并强调其他与项目财务方面有关的重要信息。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472910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 执行过程组 的过程，是 </a:t>
            </a:r>
            <a:r>
              <a:rPr lang="zh-CN" altLang="en-US" sz="1200" b="1" dirty="0"/>
              <a:t>项目整体管理计划的执行</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执行过程组中项目</a:t>
            </a:r>
            <a:r>
              <a:rPr lang="zh-CN" altLang="en-US" sz="1200" dirty="0"/>
              <a:t>整合管理的子过程的与其它子过程间的关系</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4129225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  指导与管理项目工作包括执行计划的项目活动，以完成项目</a:t>
            </a:r>
            <a:r>
              <a:rPr lang="zh-CN" altLang="en-US" sz="1800" b="1" i="0" u="none" strike="noStrike" baseline="0" dirty="0">
                <a:latin typeface="SourceHanSansSC-Regular"/>
              </a:rPr>
              <a:t>可交付成果</a:t>
            </a:r>
            <a:r>
              <a:rPr lang="zh-CN" altLang="en-US" sz="1800" b="0" i="0" u="none" strike="noStrike" baseline="0" dirty="0">
                <a:latin typeface="SourceHanSansSC-Regular"/>
              </a:rPr>
              <a:t>并达成既定目标。  本过程需要分配可用资源并管理其有效使用，也需要执行因分析工作绩效数据和信息而提出的项目计划变更。指导与管理项目工作过程会受项目所在应用领域的直接影响，按项目管理计划中的规定，开展相关过程，完成项目工作，并产出可交付成果。</a:t>
            </a:r>
          </a:p>
          <a:p>
            <a:pPr algn="l"/>
            <a:r>
              <a:rPr lang="zh-CN" altLang="en-US" sz="1800" b="0" i="0" u="none" strike="noStrike" baseline="0" dirty="0">
                <a:latin typeface="SourceHanSansSC-Regular"/>
              </a:rPr>
              <a:t>  项目经理与项目管理团队一起指导实施已计划好的项目活动，并管理项目内的各种技术接口和组织接口。指导与管理项目工作还要求回顾所有项目变更的影响，并实施已批准的变更，包括纠正措施、预防措施和（或）缺陷补救。</a:t>
            </a:r>
          </a:p>
          <a:p>
            <a:pPr algn="l"/>
            <a:r>
              <a:rPr lang="zh-CN" altLang="en-US" sz="1800" b="0" i="0" u="none" strike="noStrike" baseline="0" dirty="0">
                <a:latin typeface="SourceHanSansSC-Regular"/>
              </a:rPr>
              <a:t>  在项目执行过程中，</a:t>
            </a:r>
            <a:r>
              <a:rPr lang="zh-CN" altLang="en-US" sz="1800" b="1" i="0" u="none" strike="noStrike" baseline="0" dirty="0">
                <a:latin typeface="SourceHanSansSC-Regular"/>
              </a:rPr>
              <a:t>收集工作绩效数据</a:t>
            </a:r>
            <a:r>
              <a:rPr lang="zh-CN" altLang="en-US" sz="1800" b="0" i="0" u="none" strike="noStrike" baseline="0" dirty="0">
                <a:latin typeface="SourceHanSansSC-Regular"/>
              </a:rPr>
              <a:t>并传达给合适的控制过程做进一步分析。通过分析工作绩效数据，得到关于可交付成果的完成情况以及与项目绩效相关的其他细节，工作绩效数据也用作监控过程组的输入，并可作为反馈输入到经验教训库，以改善未来工作包的绩效。</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1811640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1</a:t>
            </a:r>
            <a:r>
              <a:rPr lang="zh-CN" altLang="en-US" sz="1200" dirty="0"/>
              <a:t>）所以项目的应用领域直接影响了项目的执行。</a:t>
            </a:r>
            <a:endParaRPr lang="en-US" altLang="zh-CN" sz="1200" dirty="0"/>
          </a:p>
          <a:p>
            <a:r>
              <a:rPr lang="zh-CN" altLang="en-US" sz="1200" dirty="0"/>
              <a:t>例如，开头案例中的</a:t>
            </a:r>
            <a:r>
              <a:rPr lang="en-US" altLang="zh-CN" sz="1200" dirty="0"/>
              <a:t>DNA</a:t>
            </a:r>
            <a:r>
              <a:rPr lang="zh-CN" altLang="en-US" sz="1200" dirty="0"/>
              <a:t>排序仪以及所有相关的软件和文件都是在项目执行期内完成的。为了能够成功地产出产品，项目组需要用到生物、硬件、软件开发和测试等方面的技术专长。</a:t>
            </a:r>
            <a:endParaRPr lang="en-US" altLang="zh-CN" sz="1200" dirty="0"/>
          </a:p>
          <a:p>
            <a:pPr algn="l"/>
            <a:r>
              <a:rPr lang="zh-CN" altLang="en-US" sz="1200" b="1" dirty="0"/>
              <a:t>利用产品、业务相应用领域的知识：</a:t>
            </a:r>
            <a:r>
              <a:rPr lang="zh-CN" altLang="en-US" sz="1800" b="0" i="0" u="none" strike="noStrike" baseline="0" dirty="0">
                <a:solidFill>
                  <a:srgbClr val="202020"/>
                </a:solidFill>
                <a:latin typeface="HiddenHorzOCR"/>
              </a:rPr>
              <a:t>除了强有力的领导能力、沟通和政治技巧外，项目经理也需要拥有产品、业务和</a:t>
            </a:r>
            <a:r>
              <a:rPr lang="zh-CN" altLang="en-US" sz="1800" b="1" i="0" u="none" strike="noStrike" baseline="0" dirty="0">
                <a:solidFill>
                  <a:srgbClr val="202020"/>
                </a:solidFill>
                <a:latin typeface="HiddenHorzOCR"/>
              </a:rPr>
              <a:t>应用领域</a:t>
            </a:r>
            <a:r>
              <a:rPr lang="zh-CN" altLang="en-US" sz="1800" b="0" i="0" u="none" strike="noStrike" baseline="0" dirty="0">
                <a:solidFill>
                  <a:srgbClr val="202020"/>
                </a:solidFill>
                <a:latin typeface="HiddenHorzOCR"/>
              </a:rPr>
              <a:t>的知识来成功实施项目</a:t>
            </a:r>
            <a:r>
              <a:rPr lang="zh-CN" altLang="en-US" sz="1800" b="0" i="0" u="none" strike="noStrike" baseline="0" dirty="0">
                <a:solidFill>
                  <a:srgbClr val="606060"/>
                </a:solidFill>
                <a:latin typeface="HiddenHorzOCR"/>
              </a:rPr>
              <a:t>。</a:t>
            </a:r>
            <a:r>
              <a:rPr lang="zh-CN" altLang="en-US" sz="1800" b="0" i="0" u="none" strike="noStrike" baseline="0" dirty="0">
                <a:solidFill>
                  <a:srgbClr val="202020"/>
                </a:solidFill>
                <a:latin typeface="HiddenHorzOCR"/>
              </a:rPr>
              <a:t>对于</a:t>
            </a:r>
            <a:r>
              <a:rPr lang="en-US" altLang="zh-CN" sz="1800" b="0" i="0" u="none" strike="noStrike" baseline="0" dirty="0">
                <a:solidFill>
                  <a:srgbClr val="202020"/>
                </a:solidFill>
                <a:latin typeface="HiddenHorzOCR"/>
              </a:rPr>
              <a:t>IT</a:t>
            </a:r>
            <a:r>
              <a:rPr lang="zh-CN" altLang="en-US" sz="1800" b="0" i="0" u="none" strike="noStrike" baseline="0" dirty="0">
                <a:solidFill>
                  <a:srgbClr val="202020"/>
                </a:solidFill>
                <a:latin typeface="HiddenHorzOCR"/>
              </a:rPr>
              <a:t>项目经理来说，拥有优先的技术经验或者</a:t>
            </a:r>
            <a:r>
              <a:rPr lang="en-US" altLang="zh-CN" sz="1800" b="0" i="0" u="none" strike="noStrike" baseline="0" dirty="0">
                <a:solidFill>
                  <a:srgbClr val="202020"/>
                </a:solidFill>
                <a:latin typeface="HiddenHorzOCR"/>
              </a:rPr>
              <a:t>IT</a:t>
            </a:r>
            <a:r>
              <a:rPr lang="zh-CN" altLang="en-US" sz="1800" b="0" i="0" u="none" strike="noStrike" baseline="0" dirty="0">
                <a:solidFill>
                  <a:srgbClr val="202020"/>
                </a:solidFill>
                <a:latin typeface="HiddenHorzOCR"/>
              </a:rPr>
              <a:t>产品相关工作知识是</a:t>
            </a:r>
            <a:r>
              <a:rPr lang="zh-CN" altLang="en-US" sz="1800" b="0" i="0" u="none" strike="noStrike" baseline="0" dirty="0">
                <a:solidFill>
                  <a:srgbClr val="313131"/>
                </a:solidFill>
                <a:latin typeface="HiddenHorzOCR"/>
              </a:rPr>
              <a:t>非常有用的</a:t>
            </a:r>
            <a:r>
              <a:rPr lang="zh-CN" altLang="en-US" sz="1800" b="0" i="0" u="none" strike="noStrike" baseline="0" dirty="0">
                <a:solidFill>
                  <a:srgbClr val="606060"/>
                </a:solidFill>
                <a:latin typeface="HiddenHorzOCR"/>
              </a:rPr>
              <a:t>。</a:t>
            </a:r>
            <a:endParaRPr lang="zh-CN" altLang="en-US" sz="1200" b="1" dirty="0"/>
          </a:p>
          <a:p>
            <a:r>
              <a:rPr lang="zh-CN" altLang="en-US" sz="1200" dirty="0"/>
              <a:t>然而在</a:t>
            </a:r>
            <a:r>
              <a:rPr lang="zh-CN" altLang="en-US" sz="1200" b="1" dirty="0"/>
              <a:t>大型</a:t>
            </a:r>
            <a:r>
              <a:rPr lang="zh-CN" altLang="en-US" sz="1200" dirty="0"/>
              <a:t>项目中，项目经理的主要责任是领导项目团队，与关键利益相关者进行沟通。他没有时间去做任何技术工作。在这种情况下， 项目经理懂得业务和项目应用领域的知识比懂得技术更有用。</a:t>
            </a:r>
            <a:endParaRPr lang="en-US" altLang="zh-CN" sz="1200" dirty="0"/>
          </a:p>
          <a:p>
            <a:r>
              <a:rPr lang="zh-CN" altLang="en-US" sz="1200" dirty="0"/>
              <a:t>例：西北航空公司完成了一系列持续数年的项目来开发和升级它的订票系统</a:t>
            </a:r>
            <a:r>
              <a:rPr lang="en-US" altLang="zh-CN" sz="1200" dirty="0" err="1"/>
              <a:t>ResNet</a:t>
            </a:r>
            <a:r>
              <a:rPr lang="zh-CN" altLang="en-US" sz="1200" dirty="0"/>
              <a:t>。公司花费了数百万美元，在巅峰时期动用了</a:t>
            </a:r>
            <a:r>
              <a:rPr lang="en-US" altLang="zh-CN" sz="1200" dirty="0"/>
              <a:t>70 </a:t>
            </a:r>
            <a:r>
              <a:rPr lang="zh-CN" altLang="en-US" sz="1200" dirty="0"/>
              <a:t>多名全职职工来完成这个项目。该项目的项目经理是没有任何</a:t>
            </a:r>
            <a:r>
              <a:rPr lang="en-US" altLang="zh-CN" sz="1200" dirty="0"/>
              <a:t>IT</a:t>
            </a:r>
            <a:r>
              <a:rPr lang="zh-CN" altLang="en-US" sz="1200" dirty="0"/>
              <a:t>部门工作经验的</a:t>
            </a:r>
            <a:r>
              <a:rPr lang="en-US" altLang="zh-CN" sz="1200" dirty="0" err="1"/>
              <a:t>Peeter</a:t>
            </a:r>
            <a:r>
              <a:rPr lang="en-US" altLang="zh-CN" sz="1200" dirty="0"/>
              <a:t> </a:t>
            </a:r>
            <a:r>
              <a:rPr lang="en-US" altLang="zh-CN" sz="1200" dirty="0" err="1"/>
              <a:t>Kivestu</a:t>
            </a:r>
            <a:r>
              <a:rPr lang="en-US" altLang="zh-CN" sz="1200" dirty="0"/>
              <a:t> . </a:t>
            </a:r>
            <a:r>
              <a:rPr lang="zh-CN" altLang="en-US" sz="1200" dirty="0"/>
              <a:t>但他拥有渊博的航空工业知识和各种订票经历。他</a:t>
            </a:r>
            <a:r>
              <a:rPr lang="zh-CN" altLang="en-US" sz="1200" b="1" dirty="0"/>
              <a:t>认真地选择了团队领导者</a:t>
            </a:r>
            <a:r>
              <a:rPr lang="zh-CN" altLang="en-US" sz="1200" dirty="0"/>
              <a:t>，确保他们拥有项目要求的技术和生产知识。</a:t>
            </a:r>
            <a:r>
              <a:rPr lang="en-US" altLang="zh-CN" sz="1200" dirty="0" err="1"/>
              <a:t>ResNet</a:t>
            </a:r>
            <a:r>
              <a:rPr lang="zh-CN" altLang="en-US" sz="1200" dirty="0"/>
              <a:t>是西北航空第一个由业务经理代替技术专家来领导的</a:t>
            </a:r>
            <a:r>
              <a:rPr lang="zh-CN" altLang="en-US" sz="1200" b="1" dirty="0">
                <a:solidFill>
                  <a:srgbClr val="0B02BE"/>
                </a:solidFill>
              </a:rPr>
              <a:t>大型</a:t>
            </a:r>
            <a:r>
              <a:rPr lang="en-US" altLang="zh-CN" sz="1200" b="1" dirty="0">
                <a:solidFill>
                  <a:srgbClr val="0B02BE"/>
                </a:solidFill>
              </a:rPr>
              <a:t>IT</a:t>
            </a:r>
            <a:r>
              <a:rPr lang="zh-CN" altLang="en-US" sz="1200" b="1" dirty="0">
                <a:solidFill>
                  <a:srgbClr val="0B02BE"/>
                </a:solidFill>
              </a:rPr>
              <a:t>项目</a:t>
            </a:r>
            <a:r>
              <a:rPr lang="zh-CN" altLang="en-US" sz="1200" dirty="0"/>
              <a:t>，该项目获得了巨大的成功。</a:t>
            </a:r>
            <a:r>
              <a:rPr lang="zh-CN" altLang="en-US" sz="1200" b="1" dirty="0"/>
              <a:t>其实很多组织也发现，大型</a:t>
            </a:r>
            <a:r>
              <a:rPr lang="en-US" altLang="zh-CN" sz="1200" b="1" dirty="0"/>
              <a:t>IT </a:t>
            </a:r>
            <a:r>
              <a:rPr lang="zh-CN" altLang="en-US" sz="1200" b="1" dirty="0"/>
              <a:t>项目需要有经验的懂得业务和技术应用领域的总经理</a:t>
            </a:r>
            <a:r>
              <a:rPr lang="zh-CN" altLang="en-US" sz="1200" dirty="0"/>
              <a:t>，而不是技术总经理，并有相应分管技术的经理负责具体技术管理方面的工作。</a:t>
            </a:r>
            <a:endParaRPr lang="en-US" altLang="zh-CN" sz="1200" dirty="0"/>
          </a:p>
          <a:p>
            <a:endParaRPr lang="en-US" altLang="zh-CN" sz="1200" dirty="0"/>
          </a:p>
          <a:p>
            <a:r>
              <a:rPr lang="en-US" altLang="zh-CN" sz="1200" dirty="0"/>
              <a:t>2</a:t>
            </a:r>
            <a:r>
              <a:rPr lang="zh-CN" altLang="en-US" sz="1200" dirty="0"/>
              <a:t>）项目计划和项目执行是互相渗透、不可分割的活动。计划做的好，执行起来就会容易的多。</a:t>
            </a:r>
          </a:p>
          <a:p>
            <a:r>
              <a:rPr lang="zh-CN" altLang="en-US" sz="1200" dirty="0"/>
              <a:t>制定项目计划的主要职能就是要用来指导项目实施工作。一个好的计划应当有助于产出好的产品和工作成果。</a:t>
            </a:r>
          </a:p>
          <a:p>
            <a:r>
              <a:rPr lang="zh-CN" altLang="en-US" sz="1200" dirty="0"/>
              <a:t>比如说，如果技术规范不清楚的话，编写程序就特别累，有过这种经历的人就非常清楚一个好的计划的重要性。</a:t>
            </a:r>
            <a:endParaRPr lang="en-US" altLang="zh-CN" sz="1200" dirty="0"/>
          </a:p>
          <a:p>
            <a:endParaRPr lang="zh-CN" altLang="en-US" sz="1200" dirty="0"/>
          </a:p>
          <a:p>
            <a:r>
              <a:rPr lang="en-US" altLang="zh-CN" sz="1200" dirty="0"/>
              <a:t>3</a:t>
            </a:r>
            <a:r>
              <a:rPr lang="zh-CN" altLang="en-US" sz="1200" dirty="0"/>
              <a:t>）用于改进项目计划制定和实施之间协调工作的一个常用方法就是遵循这样一个简单的原则“谁负责做这件事，就由谁制定计划”</a:t>
            </a:r>
          </a:p>
          <a:p>
            <a:r>
              <a:rPr lang="zh-CN" altLang="en-US" sz="1200" dirty="0"/>
              <a:t>所有的项目人员都需要实践并提高计划和执行的能力。在软件开发时，如果要求程序员首先写出详细的程序说明，然后按照他们自己写的说明进行编程，那末他们写说明的能力就会有很大改进。同样，大多数系统分析员都是从程序员开始做起的。因此他们就更能够懂得要写出好程序哪些分析和文件是真正需要的。虽然项目经理负责制定整体项目计划但他们必须从那些负责制定各方面计划的项目组成员那里得到项目计划的基础来源。</a:t>
            </a:r>
          </a:p>
          <a:p>
            <a:endParaRPr lang="en-US" altLang="zh-CN" sz="1200" dirty="0"/>
          </a:p>
          <a:p>
            <a:r>
              <a:rPr lang="en-US" altLang="zh-CN" sz="1200" dirty="0"/>
              <a:t>4</a:t>
            </a:r>
            <a:r>
              <a:rPr lang="zh-CN" altLang="en-US" sz="1200" dirty="0"/>
              <a:t>）项目经理必须能够亲自表率，如果项目经理能够贯彻他们自己的计划的话，下面的成员也会跟着做。</a:t>
            </a:r>
            <a:endParaRPr lang="en-US" altLang="zh-CN" sz="1200" dirty="0"/>
          </a:p>
          <a:p>
            <a:r>
              <a:rPr lang="zh-CN" altLang="en-US" sz="1200" dirty="0"/>
              <a:t>许多人根据自己过去的经验，对计划并没有很好的理解。上级领导经常要求做计划，但随后计划到底有没有执行就没有人过问了。例，某项目经理声称要在两个月内与每个项目小组长谈话并检查其计划执行情况。由于忙于另外一项任务，第一次会议取消了，他不解释原因又另外安排了这次会议。</a:t>
            </a:r>
            <a:r>
              <a:rPr lang="en-US" altLang="zh-CN" sz="1200" dirty="0"/>
              <a:t>2</a:t>
            </a:r>
            <a:r>
              <a:rPr lang="zh-CN" altLang="en-US" sz="1200" dirty="0"/>
              <a:t>个月过后，谈过话的项目小组长还不到一半。连经理都没有很好的遵循自己定的计划，成员就会说，我干吗要好好遵守呢？所以必须以身作则。</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extLst>
      <p:ext uri="{BB962C8B-B14F-4D97-AF65-F5344CB8AC3E}">
        <p14:creationId xmlns:p14="http://schemas.microsoft.com/office/powerpoint/2010/main" val="2349739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algn="l"/>
            <a:r>
              <a:rPr lang="en-US" altLang="zh-CN" sz="1200" b="0" i="0" u="none" strike="noStrike" baseline="0" dirty="0">
                <a:latin typeface="HelveticaNeue-MediumCond"/>
              </a:rPr>
              <a:t>4.3.1 </a:t>
            </a:r>
            <a:r>
              <a:rPr lang="zh-CN" altLang="en-US" sz="1200" b="0" i="0" u="none" strike="noStrike" baseline="0" dirty="0">
                <a:latin typeface="SourceHanSansSC-Medium"/>
              </a:rPr>
              <a:t>指导与管理项目工作：输入</a:t>
            </a:r>
          </a:p>
          <a:p>
            <a:pPr algn="l"/>
            <a:r>
              <a:rPr lang="en-US" altLang="zh-CN" sz="1200" b="0" i="0" u="none" strike="noStrike" baseline="0" dirty="0">
                <a:latin typeface="HelveticaNeue-MediumCond"/>
              </a:rPr>
              <a:t>4.3.1.1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项目管理计划的任何组件都可用作本过程的输入。</a:t>
            </a:r>
          </a:p>
          <a:p>
            <a:pPr algn="l"/>
            <a:r>
              <a:rPr lang="en-US" altLang="zh-CN" sz="1200" b="0" i="0" u="none" strike="noStrike" baseline="0" dirty="0">
                <a:latin typeface="HelveticaNeue-MediumCond"/>
              </a:rPr>
              <a:t>4.3.1.2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zh-CN" altLang="en-US" sz="1200" b="1" i="0" u="none" strike="noStrike" baseline="0" dirty="0">
                <a:latin typeface="SourceHanSansSC-Bold"/>
              </a:rPr>
              <a:t>变更日志。</a:t>
            </a:r>
            <a:r>
              <a:rPr lang="zh-CN" altLang="en-US" sz="1200" b="0" i="0" u="none" strike="noStrike" baseline="0" dirty="0">
                <a:latin typeface="SourceHanSansSC-Regular"/>
              </a:rPr>
              <a:t>变更日志记录所有变更请求的状态。</a:t>
            </a:r>
          </a:p>
          <a:p>
            <a:pPr algn="l"/>
            <a:r>
              <a:rPr lang="zh-CN" altLang="en-US" sz="1200" b="1" i="0" u="none" strike="noStrike" baseline="0" dirty="0">
                <a:latin typeface="SourceHanSansSC-Bold"/>
              </a:rPr>
              <a:t>经验教训登记册。</a:t>
            </a:r>
            <a:r>
              <a:rPr lang="zh-CN" altLang="en-US" sz="1200" b="0" i="0" u="none" strike="noStrike" baseline="0" dirty="0">
                <a:latin typeface="SourceHanSansSC-Regular"/>
              </a:rPr>
              <a:t>经验教训用于改进项目绩效，以免重犯错误。登记册有助于确定针对哪些方面设定规则或指南，以使团队行动保持一致。</a:t>
            </a:r>
          </a:p>
          <a:p>
            <a:pPr algn="l"/>
            <a:r>
              <a:rPr lang="zh-CN" altLang="en-US" sz="1200" b="1" i="0" u="none" strike="noStrike" baseline="0" dirty="0">
                <a:latin typeface="SourceHanSansSC-Bold"/>
              </a:rPr>
              <a:t>里程碑清单。</a:t>
            </a:r>
            <a:r>
              <a:rPr lang="zh-CN" altLang="en-US" sz="1200" b="0" i="0" u="none" strike="noStrike" baseline="0" dirty="0">
                <a:latin typeface="SourceHanSansSC-Regular"/>
              </a:rPr>
              <a:t>里程碑清单列出特定里程碑的计划实现日期。</a:t>
            </a:r>
          </a:p>
          <a:p>
            <a:pPr algn="l"/>
            <a:r>
              <a:rPr lang="zh-CN" altLang="en-US" sz="1200" b="1" i="0" u="none" strike="noStrike" baseline="0" dirty="0">
                <a:latin typeface="SourceHanSansSC-Bold"/>
              </a:rPr>
              <a:t>项目沟通记录。</a:t>
            </a:r>
            <a:r>
              <a:rPr lang="zh-CN" altLang="en-US" sz="1200" b="0" i="0" u="none" strike="noStrike" baseline="0" dirty="0">
                <a:latin typeface="SourceHanSansSC-Regular"/>
              </a:rPr>
              <a:t>项目沟通记录包含绩效报告、可交付成果的状态，以及项目生成的其他信息。</a:t>
            </a:r>
            <a:endParaRPr lang="en-US" altLang="zh-CN" sz="1200" b="0" i="0" u="none" strike="noStrike" baseline="0" dirty="0">
              <a:latin typeface="SourceHanSansSC-Regular"/>
            </a:endParaRPr>
          </a:p>
          <a:p>
            <a:pPr algn="l"/>
            <a:r>
              <a:rPr lang="zh-CN" altLang="en-US" sz="1200" b="1" i="0" u="none" strike="noStrike" baseline="0" dirty="0">
                <a:latin typeface="SourceHanSansSC-Bold"/>
              </a:rPr>
              <a:t>项目进度计划。</a:t>
            </a:r>
            <a:r>
              <a:rPr lang="zh-CN" altLang="en-US" sz="1200" b="0" i="0" u="none" strike="noStrike" baseline="0" dirty="0">
                <a:latin typeface="SourceHanSansSC-Regular"/>
              </a:rPr>
              <a:t>进度计划至少包含工作活动清单、持续时间、资源，以及计划的开始与完成日期。</a:t>
            </a:r>
          </a:p>
          <a:p>
            <a:pPr algn="l"/>
            <a:r>
              <a:rPr lang="zh-CN" altLang="en-US" sz="1200" b="1" i="0" u="none" strike="noStrike" baseline="0" dirty="0">
                <a:latin typeface="SourceHanSansSC-Bold"/>
              </a:rPr>
              <a:t>需求跟踪矩阵。</a:t>
            </a:r>
            <a:r>
              <a:rPr lang="zh-CN" altLang="en-US" sz="1200" b="0" i="0" u="none" strike="noStrike" baseline="0" dirty="0">
                <a:latin typeface="SourceHanSansSC-Regular"/>
              </a:rPr>
              <a:t>需求跟踪矩阵把产品需求连接到相应的可交付成果，有助于把关注点放在最终结果上。</a:t>
            </a:r>
          </a:p>
          <a:p>
            <a:pPr algn="l"/>
            <a:r>
              <a:rPr lang="zh-CN" altLang="en-US" sz="1200" b="1" i="0" u="none" strike="noStrike" baseline="0" dirty="0">
                <a:latin typeface="SourceHanSansSC-Bold"/>
              </a:rPr>
              <a:t>风险登记册。</a:t>
            </a:r>
            <a:r>
              <a:rPr lang="zh-CN" altLang="en-US" sz="1200" b="0" i="0" u="none" strike="noStrike" baseline="0" dirty="0">
                <a:latin typeface="SourceHanSansSC-Regular"/>
              </a:rPr>
              <a:t>风险登记册提供可能影响项目执行的各种威胁和机会的信息。</a:t>
            </a:r>
          </a:p>
          <a:p>
            <a:pPr algn="l"/>
            <a:r>
              <a:rPr lang="zh-CN" altLang="en-US" sz="1200" b="1" i="0" u="none" strike="noStrike" baseline="0" dirty="0">
                <a:latin typeface="SourceHanSansSC-Bold"/>
              </a:rPr>
              <a:t>风险报告。</a:t>
            </a:r>
            <a:r>
              <a:rPr lang="zh-CN" altLang="en-US" sz="1200" b="0" i="0" u="none" strike="noStrike" baseline="0" dirty="0">
                <a:latin typeface="SourceHanSansSC-Regular"/>
              </a:rPr>
              <a:t>风险报告提供关于整体项目风险来源的信息，以及关于已识别单个项目风险的概括信息。</a:t>
            </a:r>
          </a:p>
          <a:p>
            <a:pPr algn="l"/>
            <a:r>
              <a:rPr lang="en-US" altLang="zh-CN" sz="1200" b="0" i="0" u="none" strike="noStrike" baseline="0" dirty="0">
                <a:latin typeface="HelveticaNeue-MediumCond"/>
              </a:rPr>
              <a:t>4.3.1.3 </a:t>
            </a:r>
            <a:r>
              <a:rPr lang="zh-CN" altLang="en-US" sz="1200" b="0" i="0" u="none" strike="noStrike" baseline="0" dirty="0">
                <a:latin typeface="SourceHanSansSC-Medium"/>
              </a:rPr>
              <a:t>批准的变更请求</a:t>
            </a:r>
          </a:p>
          <a:p>
            <a:pPr algn="l"/>
            <a:r>
              <a:rPr lang="zh-CN" altLang="en-US" sz="1200" b="0" i="0" u="none" strike="noStrike" baseline="0" dirty="0">
                <a:latin typeface="SourceHanSansSC-Regular"/>
              </a:rPr>
              <a:t>批准的变更请求是实施整体变更控制过程的输出，包括经项目经理审查和批准的变更请求，必要时可经变更控制委员会 </a:t>
            </a:r>
            <a:r>
              <a:rPr lang="en-US" altLang="zh-CN" sz="1200" b="0" i="0" u="none" strike="noStrike" baseline="0" dirty="0">
                <a:latin typeface="HelveticaNeue-Condensed"/>
              </a:rPr>
              <a:t>(CCB) </a:t>
            </a:r>
            <a:r>
              <a:rPr lang="zh-CN" altLang="en-US" sz="1200" b="0" i="0" u="none" strike="noStrike" baseline="0" dirty="0">
                <a:latin typeface="SourceHanSansSC-Regular"/>
              </a:rPr>
              <a:t>审查和批准。批准的变更请求可能是纠正措施、预防措施或缺陷补救，并由项目团队纳入项目进度计划付诸实施，可能对项目或项目管理计划的任一领域产生影响，还可能导致修改正式受控的项目管理计划组件或项目文件。</a:t>
            </a:r>
          </a:p>
          <a:p>
            <a:pPr algn="l"/>
            <a:r>
              <a:rPr lang="en-US" altLang="zh-CN" sz="1200" b="0" i="0" u="none" strike="noStrike" baseline="0" dirty="0">
                <a:latin typeface="HelveticaNeue-MediumCond"/>
              </a:rPr>
              <a:t>4.3.1.4 </a:t>
            </a:r>
            <a:r>
              <a:rPr lang="zh-CN" altLang="en-US" sz="1200" b="0" i="0" u="none" strike="noStrike" baseline="0" dirty="0">
                <a:latin typeface="SourceHanSansSC-Medium"/>
              </a:rPr>
              <a:t>事业环境因素</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能够影响指导与管理项目工作过程的事业环境因素包括（但不限于）：</a:t>
            </a:r>
            <a:r>
              <a:rPr lang="en-US" altLang="zh-CN" sz="1200" b="0" i="0" u="none" strike="noStrike" baseline="0" dirty="0">
                <a:latin typeface="SourceHanSansSC-Medium"/>
              </a:rPr>
              <a:t>(</a:t>
            </a:r>
            <a:r>
              <a:rPr lang="zh-CN" altLang="en-US" sz="1200" b="0" i="0" u="none" strike="noStrike" baseline="0" dirty="0">
                <a:latin typeface="SourceHanSansSC-Medium"/>
              </a:rPr>
              <a:t>与前面同</a:t>
            </a:r>
            <a:r>
              <a:rPr lang="en-US" altLang="zh-CN" sz="1200" b="0" i="0" u="none" strike="noStrike" baseline="0" dirty="0">
                <a:latin typeface="SourceHanSansSC-Medium"/>
              </a:rPr>
              <a:t>)</a:t>
            </a:r>
            <a:endParaRPr lang="zh-CN" altLang="en-US" sz="1200" b="0" i="0" u="none" strike="noStrike" baseline="0" dirty="0">
              <a:latin typeface="SourceHanSansSC-Medium"/>
            </a:endParaRPr>
          </a:p>
          <a:p>
            <a:pPr algn="l"/>
            <a:r>
              <a:rPr lang="zh-CN" altLang="en-US" sz="1200" b="0" i="0" u="none" strike="noStrike" baseline="0" dirty="0">
                <a:latin typeface="SourceHanSansSC-Regular"/>
              </a:rPr>
              <a:t>组织的结构、文化、管理实践和可持续性；</a:t>
            </a:r>
          </a:p>
          <a:p>
            <a:pPr algn="l"/>
            <a:r>
              <a:rPr lang="zh-CN" altLang="en-US" sz="1200" b="0" i="0" u="none" strike="noStrike" baseline="0" dirty="0">
                <a:latin typeface="SourceHanSansSC-Regular"/>
              </a:rPr>
              <a:t>基础设施（如现有的设施和固定资产）；</a:t>
            </a:r>
          </a:p>
          <a:p>
            <a:pPr algn="l"/>
            <a:r>
              <a:rPr lang="zh-CN" altLang="en-US" sz="1200" b="0" i="0" u="none" strike="noStrike" baseline="0" dirty="0">
                <a:latin typeface="SourceHanSansSC-Regular"/>
              </a:rPr>
              <a:t>相关方的风险临界值（如允许的成本超支百分比）。</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4.3.1.5 </a:t>
            </a:r>
            <a:r>
              <a:rPr lang="zh-CN" altLang="en-US" sz="1200" b="0" i="0" u="none" strike="noStrike" baseline="0" dirty="0">
                <a:latin typeface="SourceHanSansSC-Medium"/>
              </a:rPr>
              <a:t>组织过程资产 </a:t>
            </a:r>
            <a:endParaRPr lang="en-US" altLang="zh-CN" sz="1200" b="0" i="0" u="none" strike="noStrike" baseline="0" dirty="0">
              <a:latin typeface="SourceHanSansSC-Mediu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能够影响指导与管理项目工作过程的组织过程资产包括（但不限于）：</a:t>
            </a:r>
            <a:r>
              <a:rPr lang="en-US" altLang="zh-CN" sz="1200" b="0" i="0" u="none" strike="noStrike" baseline="0" dirty="0">
                <a:latin typeface="SourceHanSansSC-Medium"/>
              </a:rPr>
              <a:t>(</a:t>
            </a:r>
            <a:r>
              <a:rPr lang="zh-CN" altLang="en-US" sz="1200" b="0" i="0" u="none" strike="noStrike" baseline="0" dirty="0">
                <a:latin typeface="SourceHanSansSC-Medium"/>
              </a:rPr>
              <a:t>与前面同</a:t>
            </a:r>
            <a:r>
              <a:rPr lang="en-US" altLang="zh-CN" sz="1200" b="0" i="0" u="none" strike="noStrike" baseline="0" dirty="0">
                <a:latin typeface="SourceHanSansSC-Medium"/>
              </a:rPr>
              <a:t>)</a:t>
            </a:r>
            <a:endParaRPr lang="zh-CN" altLang="en-US" sz="1200" b="0" i="0" u="none" strike="noStrike" baseline="0" dirty="0">
              <a:latin typeface="SourceHanSansSC-Medium"/>
            </a:endParaRPr>
          </a:p>
          <a:p>
            <a:pPr algn="l"/>
            <a:r>
              <a:rPr lang="zh-CN" altLang="en-US" sz="1200" b="0" i="0" u="none" strike="noStrike" baseline="0" dirty="0">
                <a:latin typeface="SourceHanSansSC-Regular"/>
              </a:rPr>
              <a:t>组织的标准政策、流程和程序；</a:t>
            </a:r>
          </a:p>
          <a:p>
            <a:pPr algn="l"/>
            <a:r>
              <a:rPr lang="zh-CN" altLang="en-US" sz="1200" b="0" i="0" u="none" strike="noStrike" baseline="0" dirty="0">
                <a:latin typeface="SourceHanSansSC-Regular"/>
              </a:rPr>
              <a:t>问题与缺陷管理程序，用于定义问题与缺陷控制、问题与缺陷识别及其解决，以及行动事项跟踪；</a:t>
            </a:r>
          </a:p>
          <a:p>
            <a:pPr algn="l"/>
            <a:r>
              <a:rPr lang="zh-CN" altLang="en-US" sz="1200" b="0" i="0" u="none" strike="noStrike" baseline="0" dirty="0">
                <a:latin typeface="SourceHanSansSC-Regular"/>
              </a:rPr>
              <a:t>问题与缺陷管理数据库，包括历史问题与缺陷状态、问题和缺陷解决情况，以及行动事项的结果；</a:t>
            </a:r>
          </a:p>
          <a:p>
            <a:pPr algn="l"/>
            <a:r>
              <a:rPr lang="zh-CN" altLang="en-US" sz="1200" b="0" i="0" u="none" strike="noStrike" baseline="0" dirty="0">
                <a:latin typeface="SourceHanSansSC-Regular"/>
              </a:rPr>
              <a:t>绩效测量数据库，用来收集与提供过程和产品的测量数据；</a:t>
            </a:r>
          </a:p>
          <a:p>
            <a:pPr algn="l"/>
            <a:r>
              <a:rPr lang="zh-CN" altLang="en-US" sz="1200" b="0" i="0" u="none" strike="noStrike" baseline="0" dirty="0">
                <a:latin typeface="SourceHanSansSC-Regular"/>
              </a:rPr>
              <a:t>变更控制和风险控制程序；</a:t>
            </a:r>
          </a:p>
          <a:p>
            <a:pPr algn="l"/>
            <a:r>
              <a:rPr lang="zh-CN" altLang="en-US" sz="1200" b="0" i="0" u="none" strike="noStrike" baseline="0" dirty="0">
                <a:latin typeface="SourceHanSansSC-Regular"/>
              </a:rPr>
              <a:t>以往项目的项目信息（如范围、成本、进度与绩效测量基准，项目日历，项目进度网络图，风险登记册，风险报告以及经验教训知识库）。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2519050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333333"/>
                </a:solidFill>
                <a:latin typeface="HiddenHorzOCR"/>
              </a:rPr>
              <a:t>专家评审法：</a:t>
            </a:r>
            <a:r>
              <a:rPr lang="zh-CN" altLang="en-US" sz="1800" b="0" i="0" u="none" strike="noStrike" baseline="0" dirty="0">
                <a:solidFill>
                  <a:srgbClr val="434343"/>
                </a:solidFill>
                <a:latin typeface="HiddenHorzOCR"/>
              </a:rPr>
              <a:t>做过大型复杂项目的人，都知道专家</a:t>
            </a:r>
            <a:r>
              <a:rPr lang="zh-CN" altLang="en-US" sz="1800" b="0" i="0" u="none" strike="noStrike" baseline="0" dirty="0">
                <a:solidFill>
                  <a:srgbClr val="1B1B1B"/>
                </a:solidFill>
                <a:latin typeface="HiddenHorzOCR"/>
              </a:rPr>
              <a:t>评审对于做好决策</a:t>
            </a:r>
            <a:r>
              <a:rPr lang="zh-CN" altLang="en-US" sz="1800" b="0" i="0" u="none" strike="noStrike" baseline="0" dirty="0">
                <a:solidFill>
                  <a:srgbClr val="434343"/>
                </a:solidFill>
                <a:latin typeface="HiddenHorzOCR"/>
              </a:rPr>
              <a:t>的重要性。当项目</a:t>
            </a:r>
            <a:r>
              <a:rPr lang="zh-CN" altLang="en-US" sz="1800" b="0" i="0" u="none" strike="noStrike" baseline="0" dirty="0">
                <a:solidFill>
                  <a:srgbClr val="333333"/>
                </a:solidFill>
                <a:latin typeface="HiddenHorzOCR"/>
              </a:rPr>
              <a:t>经理遇到难题时， </a:t>
            </a:r>
            <a:r>
              <a:rPr lang="zh-CN" altLang="en-US" sz="1800" b="0" i="0" u="none" strike="noStrike" baseline="0" dirty="0">
                <a:solidFill>
                  <a:srgbClr val="575757"/>
                </a:solidFill>
                <a:latin typeface="HiddenHorzOCR"/>
              </a:rPr>
              <a:t>应</a:t>
            </a:r>
            <a:r>
              <a:rPr lang="zh-CN" altLang="en-US" sz="1800" b="0" i="0" u="none" strike="noStrike" baseline="0" dirty="0">
                <a:solidFill>
                  <a:srgbClr val="333333"/>
                </a:solidFill>
                <a:latin typeface="HiddenHorzOCR"/>
              </a:rPr>
              <a:t>及时向专家咨询，比如使用什么方法论</a:t>
            </a:r>
            <a:r>
              <a:rPr lang="zh-CN" altLang="en-US" sz="1800" b="0" i="0" u="none" strike="noStrike" baseline="0" dirty="0">
                <a:solidFill>
                  <a:srgbClr val="575757"/>
                </a:solidFill>
                <a:latin typeface="HiddenHorzOCR"/>
              </a:rPr>
              <a:t>、</a:t>
            </a:r>
            <a:r>
              <a:rPr lang="zh-CN" altLang="en-US" sz="1800" b="0" i="0" u="none" strike="noStrike" baseline="0" dirty="0">
                <a:solidFill>
                  <a:srgbClr val="333333"/>
                </a:solidFill>
                <a:latin typeface="HiddenHorzOCR"/>
              </a:rPr>
              <a:t>用什么编程语言、采用什么培训方式等</a:t>
            </a:r>
            <a:r>
              <a:rPr lang="zh-CN" altLang="en-US" sz="1800" b="0" i="0" u="none" strike="noStrike" baseline="0" dirty="0">
                <a:solidFill>
                  <a:srgbClr val="7D7D7D"/>
                </a:solidFill>
                <a:latin typeface="HiddenHorzOCR"/>
              </a:rPr>
              <a:t>。</a:t>
            </a:r>
          </a:p>
          <a:p>
            <a:pPr algn="l"/>
            <a:r>
              <a:rPr lang="zh-CN" altLang="en-US" sz="1800" b="0" i="0" u="none" strike="noStrike" baseline="0" dirty="0">
                <a:solidFill>
                  <a:srgbClr val="333333"/>
                </a:solidFill>
                <a:latin typeface="HiddenHorzOCR"/>
              </a:rPr>
              <a:t>项目管理信息系统：目前市场上有数以百计的项目管理软件产品，很多大型组织正在用强大的企业项目管理系统，这个系统很容易经互联网和其他系统连接，比如财务系统</a:t>
            </a:r>
            <a:r>
              <a:rPr lang="zh-CN" altLang="en-US" sz="1800" b="0" i="0" u="none" strike="noStrike" baseline="0" dirty="0">
                <a:solidFill>
                  <a:srgbClr val="7D7D7D"/>
                </a:solidFill>
                <a:latin typeface="HiddenHorzOCR"/>
              </a:rPr>
              <a:t>。</a:t>
            </a:r>
            <a:r>
              <a:rPr lang="zh-CN" altLang="en-US" sz="1800" b="0" i="0" u="none" strike="noStrike" baseline="0" dirty="0">
                <a:solidFill>
                  <a:srgbClr val="434343"/>
                </a:solidFill>
                <a:latin typeface="HiddenHorzOCR"/>
              </a:rPr>
              <a:t>即使在小型组织中</a:t>
            </a:r>
            <a:r>
              <a:rPr lang="zh-CN" altLang="en-US" sz="1800" b="0" i="0" u="none" strike="noStrike" baseline="0" dirty="0">
                <a:solidFill>
                  <a:srgbClr val="1B1B1B"/>
                </a:solidFill>
                <a:latin typeface="HiddenHorzOCR"/>
              </a:rPr>
              <a:t>，项</a:t>
            </a:r>
            <a:r>
              <a:rPr lang="zh-CN" altLang="en-US" sz="1800" b="0" i="0" u="none" strike="noStrike" baseline="0" dirty="0">
                <a:solidFill>
                  <a:srgbClr val="434343"/>
                </a:solidFill>
                <a:latin typeface="HiddenHorzOCR"/>
              </a:rPr>
              <a:t>目经理或其他团队成员也能够创建一个与其他计划文件链接的甘特图</a:t>
            </a:r>
            <a:r>
              <a:rPr lang="zh-CN" altLang="en-US" sz="1800" b="0" i="0" u="none" strike="noStrike" baseline="0" dirty="0">
                <a:solidFill>
                  <a:srgbClr val="6A6A6A"/>
                </a:solidFill>
                <a:latin typeface="HiddenHorzOCR"/>
              </a:rPr>
              <a:t>。</a:t>
            </a:r>
            <a:r>
              <a:rPr lang="zh-CN" altLang="en-US" sz="1800" b="0" i="0" u="none" strike="noStrike" baseline="0" dirty="0">
                <a:solidFill>
                  <a:srgbClr val="333333"/>
                </a:solidFill>
                <a:latin typeface="HiddenHorzOCR"/>
              </a:rPr>
              <a:t>例如，</a:t>
            </a:r>
            <a:r>
              <a:rPr lang="en-US" altLang="zh-CN" sz="1800" b="0" i="0" u="none" strike="noStrike" baseline="0" dirty="0">
                <a:solidFill>
                  <a:srgbClr val="333333"/>
                </a:solidFill>
                <a:latin typeface="Times New Roman" panose="02020603050405020304" pitchFamily="18" charset="0"/>
              </a:rPr>
              <a:t>Ni</a:t>
            </a:r>
            <a:r>
              <a:rPr lang="en-US" altLang="zh-CN" sz="1800" b="0" i="0" u="none" strike="noStrike" baseline="0" dirty="0">
                <a:solidFill>
                  <a:srgbClr val="575757"/>
                </a:solidFill>
                <a:latin typeface="Times New Roman" panose="02020603050405020304" pitchFamily="18" charset="0"/>
              </a:rPr>
              <a:t>c</a:t>
            </a:r>
            <a:r>
              <a:rPr lang="en-US" altLang="zh-CN" sz="1800" b="0" i="0" u="none" strike="noStrike" baseline="0" dirty="0">
                <a:solidFill>
                  <a:srgbClr val="1B1B1B"/>
                </a:solidFill>
                <a:latin typeface="Times New Roman" panose="02020603050405020304" pitchFamily="18" charset="0"/>
              </a:rPr>
              <a:t>k</a:t>
            </a:r>
            <a:r>
              <a:rPr lang="zh-CN" altLang="en-US" sz="1800" b="0" i="0" u="none" strike="noStrike" baseline="0" dirty="0">
                <a:solidFill>
                  <a:srgbClr val="1B1B1B"/>
                </a:solidFill>
                <a:latin typeface="Times New Roman" panose="02020603050405020304" pitchFamily="18" charset="0"/>
              </a:rPr>
              <a:t>或者</a:t>
            </a:r>
            <a:r>
              <a:rPr lang="zh-CN" altLang="en-US" sz="1800" b="0" i="0" u="none" strike="noStrike" baseline="0" dirty="0">
                <a:solidFill>
                  <a:srgbClr val="434343"/>
                </a:solidFill>
                <a:latin typeface="HiddenHorzOCR"/>
              </a:rPr>
              <a:t>是他的一个同事，可以用</a:t>
            </a:r>
            <a:r>
              <a:rPr lang="en-US" altLang="zh-CN" sz="1800" b="0" i="0" u="none" strike="noStrike" baseline="0" dirty="0">
                <a:solidFill>
                  <a:srgbClr val="434343"/>
                </a:solidFill>
                <a:latin typeface="HiddenHorzOCR"/>
              </a:rPr>
              <a:t>MS </a:t>
            </a:r>
            <a:r>
              <a:rPr lang="en-US" altLang="zh-CN" sz="1800" b="0" i="0" u="none" strike="noStrike" baseline="0" dirty="0">
                <a:solidFill>
                  <a:srgbClr val="1B1B1B"/>
                </a:solidFill>
                <a:latin typeface="HiddenHorzOCR"/>
              </a:rPr>
              <a:t>Proj</a:t>
            </a:r>
            <a:r>
              <a:rPr lang="en-US" altLang="zh-CN" sz="1800" b="0" i="0" u="none" strike="noStrike" baseline="0" dirty="0">
                <a:solidFill>
                  <a:srgbClr val="434343"/>
                </a:solidFill>
                <a:latin typeface="HiddenHorzOCR"/>
              </a:rPr>
              <a:t>ect </a:t>
            </a:r>
            <a:r>
              <a:rPr lang="zh-CN" altLang="en-US" sz="1800" b="0" i="0" u="none" strike="noStrike" baseline="0" dirty="0">
                <a:solidFill>
                  <a:srgbClr val="333333"/>
                </a:solidFill>
                <a:latin typeface="HiddenHorzOCR"/>
              </a:rPr>
              <a:t>为生物工程项目创建一个详细的甘特图</a:t>
            </a:r>
            <a:r>
              <a:rPr lang="zh-CN" altLang="en-US" sz="1800" b="0" i="0" u="none" strike="noStrike" baseline="0" dirty="0">
                <a:solidFill>
                  <a:srgbClr val="0B0B0B"/>
                </a:solidFill>
                <a:latin typeface="HiddenHorzOCR"/>
              </a:rPr>
              <a:t>，并</a:t>
            </a:r>
            <a:r>
              <a:rPr lang="zh-CN" altLang="en-US" sz="1800" b="0" i="0" u="none" strike="noStrike" baseline="0" dirty="0">
                <a:solidFill>
                  <a:srgbClr val="333333"/>
                </a:solidFill>
                <a:latin typeface="HiddenHorzOCR"/>
              </a:rPr>
              <a:t>创建与其他关键计划文件</a:t>
            </a:r>
            <a:r>
              <a:rPr lang="en-US" altLang="zh-CN" sz="1800" b="0" i="0" u="none" strike="noStrike" baseline="0" dirty="0">
                <a:solidFill>
                  <a:srgbClr val="333333"/>
                </a:solidFill>
                <a:latin typeface="HiddenHorzOCR"/>
              </a:rPr>
              <a:t>(Word </a:t>
            </a:r>
            <a:r>
              <a:rPr lang="zh-CN" altLang="en-US" sz="1800" b="0" i="0" u="none" strike="noStrike" baseline="0" dirty="0">
                <a:solidFill>
                  <a:srgbClr val="575757"/>
                </a:solidFill>
                <a:latin typeface="HiddenHorzOCR"/>
              </a:rPr>
              <a:t>、</a:t>
            </a:r>
            <a:r>
              <a:rPr lang="en-US" altLang="zh-CN" sz="1800" b="0" i="0" u="none" strike="noStrike" baseline="0" dirty="0">
                <a:solidFill>
                  <a:srgbClr val="1B1B1B"/>
                </a:solidFill>
                <a:latin typeface="HiddenHorzOCR"/>
              </a:rPr>
              <a:t>Ex</a:t>
            </a:r>
            <a:r>
              <a:rPr lang="en-US" altLang="zh-CN" sz="1800" b="0" i="0" u="none" strike="noStrike" baseline="0" dirty="0">
                <a:solidFill>
                  <a:srgbClr val="434343"/>
                </a:solidFill>
                <a:latin typeface="HiddenHorzOCR"/>
              </a:rPr>
              <a:t>ce</a:t>
            </a:r>
            <a:r>
              <a:rPr lang="en-US" altLang="zh-CN" sz="1800" b="0" i="0" u="none" strike="noStrike" baseline="0" dirty="0">
                <a:solidFill>
                  <a:srgbClr val="1B1B1B"/>
                </a:solidFill>
                <a:latin typeface="HiddenHorzOCR"/>
              </a:rPr>
              <a:t>l </a:t>
            </a:r>
            <a:r>
              <a:rPr lang="zh-CN" altLang="en-US" sz="1800" b="0" i="0" u="none" strike="noStrike" baseline="0" dirty="0">
                <a:solidFill>
                  <a:srgbClr val="434343"/>
                </a:solidFill>
                <a:latin typeface="HiddenHorzOCR"/>
              </a:rPr>
              <a:t>、</a:t>
            </a:r>
            <a:r>
              <a:rPr lang="en-US" altLang="zh-CN" sz="1800" b="0" i="0" u="none" strike="noStrike" baseline="0" dirty="0">
                <a:solidFill>
                  <a:srgbClr val="434343"/>
                </a:solidFill>
                <a:latin typeface="HiddenHorzOCR"/>
              </a:rPr>
              <a:t>Power</a:t>
            </a:r>
            <a:r>
              <a:rPr lang="en-US" altLang="zh-CN" sz="1800" b="0" i="0" u="none" strike="noStrike" baseline="0" dirty="0">
                <a:solidFill>
                  <a:srgbClr val="1B1B1B"/>
                </a:solidFill>
                <a:latin typeface="HiddenHorzOCR"/>
              </a:rPr>
              <a:t>Po</a:t>
            </a:r>
            <a:r>
              <a:rPr lang="en-US" altLang="zh-CN" sz="1800" b="0" i="0" u="none" strike="noStrike" baseline="0" dirty="0">
                <a:solidFill>
                  <a:srgbClr val="434343"/>
                </a:solidFill>
                <a:latin typeface="HiddenHorzOCR"/>
              </a:rPr>
              <a:t>i</a:t>
            </a:r>
            <a:r>
              <a:rPr lang="en-US" altLang="zh-CN" sz="1800" b="0" i="0" u="none" strike="noStrike" baseline="0" dirty="0">
                <a:solidFill>
                  <a:srgbClr val="1B1B1B"/>
                </a:solidFill>
                <a:latin typeface="HiddenHorzOCR"/>
              </a:rPr>
              <a:t>nt </a:t>
            </a:r>
            <a:r>
              <a:rPr lang="zh-CN" altLang="en-US" sz="1800" b="0" i="0" u="none" strike="noStrike" baseline="0" dirty="0">
                <a:solidFill>
                  <a:srgbClr val="1B1B1B"/>
                </a:solidFill>
                <a:latin typeface="HiddenHorzOCR"/>
              </a:rPr>
              <a:t>格</a:t>
            </a:r>
            <a:r>
              <a:rPr lang="zh-CN" altLang="en-US" sz="1800" b="0" i="0" u="none" strike="noStrike" baseline="0" dirty="0">
                <a:solidFill>
                  <a:srgbClr val="333333"/>
                </a:solidFill>
                <a:latin typeface="HiddenHorzOCR"/>
              </a:rPr>
              <a:t>式</a:t>
            </a:r>
            <a:r>
              <a:rPr lang="en-US" altLang="zh-CN" sz="1800" b="0" i="0" u="none" strike="noStrike" baseline="0" dirty="0">
                <a:solidFill>
                  <a:srgbClr val="333333"/>
                </a:solidFill>
                <a:latin typeface="HiddenHorzOCR"/>
              </a:rPr>
              <a:t>)</a:t>
            </a:r>
            <a:r>
              <a:rPr lang="zh-CN" altLang="en-US" sz="1800" b="0" i="0" u="none" strike="noStrike" baseline="0" dirty="0">
                <a:solidFill>
                  <a:srgbClr val="333333"/>
                </a:solidFill>
                <a:latin typeface="HiddenHorzOCR"/>
              </a:rPr>
              <a:t>的链接</a:t>
            </a:r>
            <a:r>
              <a:rPr lang="zh-CN" altLang="en-US" sz="1800" b="0" i="0" u="none" strike="noStrike" baseline="0" dirty="0">
                <a:solidFill>
                  <a:srgbClr val="7D7D7D"/>
                </a:solidFill>
                <a:latin typeface="HiddenHorzOCR"/>
              </a:rPr>
              <a:t>。</a:t>
            </a:r>
            <a:r>
              <a:rPr lang="en-US" altLang="zh-CN" sz="1800" b="0" i="0" u="none" strike="noStrike" baseline="0" dirty="0">
                <a:solidFill>
                  <a:srgbClr val="333333"/>
                </a:solidFill>
                <a:latin typeface="HiddenHorzOCR"/>
              </a:rPr>
              <a:t>Nick </a:t>
            </a:r>
            <a:r>
              <a:rPr lang="zh-CN" altLang="en-US" sz="1800" b="0" i="0" u="none" strike="noStrike" baseline="0" dirty="0">
                <a:solidFill>
                  <a:srgbClr val="333333"/>
                </a:solidFill>
                <a:latin typeface="HiddenHorzOCR"/>
              </a:rPr>
              <a:t>可以在状态评审会上展示相关的任务概要，并且如果高层管理者有任何疑问，他们可以链接到支持细节上</a:t>
            </a:r>
            <a:r>
              <a:rPr lang="zh-CN" altLang="en-US" sz="1800" b="0" i="0" u="none" strike="noStrike" baseline="0" dirty="0">
                <a:solidFill>
                  <a:srgbClr val="7D7D7D"/>
                </a:solidFill>
                <a:latin typeface="HiddenHorzOCR"/>
              </a:rPr>
              <a:t>。</a:t>
            </a:r>
            <a:r>
              <a:rPr lang="zh-CN" altLang="en-US" sz="1800" b="0" i="0" u="none" strike="noStrike" baseline="0" dirty="0">
                <a:solidFill>
                  <a:srgbClr val="434343"/>
                </a:solidFill>
                <a:latin typeface="HiddenHorzOCR"/>
              </a:rPr>
              <a:t>使用边个系统还能为完成项目设定基线并跟踪</a:t>
            </a:r>
            <a:r>
              <a:rPr lang="zh-CN" altLang="en-US" sz="1800" b="0" i="0" u="none" strike="noStrike" baseline="0" dirty="0">
                <a:solidFill>
                  <a:srgbClr val="333333"/>
                </a:solidFill>
                <a:latin typeface="HiddenHorzOCR"/>
              </a:rPr>
              <a:t>实现目标的进程。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28026578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管理项目知识 是</a:t>
            </a:r>
            <a:r>
              <a:rPr lang="en-US" altLang="zh-CN" dirty="0"/>
              <a:t>PMBOK </a:t>
            </a:r>
            <a:r>
              <a:rPr lang="zh-CN" altLang="en-US" dirty="0"/>
              <a:t>第</a:t>
            </a:r>
            <a:r>
              <a:rPr lang="en-US" altLang="zh-CN" dirty="0"/>
              <a:t>6</a:t>
            </a:r>
            <a:r>
              <a:rPr lang="zh-CN" altLang="en-US" dirty="0"/>
              <a:t>版增加的内容。也是执行过程组的过程。</a:t>
            </a:r>
            <a:endParaRPr lang="en-US" altLang="zh-CN" dirty="0"/>
          </a:p>
          <a:p>
            <a:endParaRPr lang="en-US" altLang="zh-CN" dirty="0"/>
          </a:p>
          <a:p>
            <a:pPr algn="l"/>
            <a:r>
              <a:rPr lang="zh-CN" altLang="en-US" sz="1800" b="0" i="0" u="none" strike="noStrike" baseline="0" dirty="0">
                <a:latin typeface="SourceHanSansSC-Regular"/>
              </a:rPr>
              <a:t>知识通常分为“显性知识”（易使用文字、图片和数字进行编撰的知识）和“隐性知识”（个体知识以及难以明确表达的知识，如信念、洞察力、经验和“诀窍”）两种。</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知识管理指管理显性和隐性知识，旨在重复使用现有知识并生成新知识。有助于达成这两个目的的关键活动是知识分享和知识集成（不同领域的知识、情境知识和项目管理知识）。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一个常见误解是，知识管理只是将知识记录下来用于分享；另一种常见误解是，知识管理只是在项目结束时总结经验教训，以供未来项目使用。这样的话，只有经编撰的显性知识可以得到分享。因为显性知识缺乏情境，可作不同解读，所以，虽易分享，但无法确保正确理解或应用。隐性知识虽蕴含情境，却很难编撰。它存在于专家个人的思想中，或者存在于社会团体和情境中，通常经由人际交流和互动来分享。</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从组织的角度来看，知识管理指的是确保项目团队和其他相关方的技能、经验和专业知识在项目开始之前、开展期间和结束之后得到运用。因为知识存在于人们的思想中，且无法强迫人们分享自己的知识或关注他人的知识，所以，知识管理最重要的环节就是营造一种相互信任的氛围，激励人们分享知识或关注他人的知识。如果不激励人们分享知识或关注他人的知识，即便最好的知识管理工具和技术也无法发挥作用。在实践中，联合使用知识管理工具和技术（用于人际互动）以及信息管理工具和技术（用于编撰显性知识）来分享知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37594211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000000"/>
                </a:solidFill>
                <a:latin typeface="SourceHanSansSC-Regular"/>
              </a:rPr>
              <a:t>可作为本过程输入的项目文件包括（但不限于）：</a:t>
            </a:r>
          </a:p>
          <a:p>
            <a:pPr algn="l"/>
            <a:r>
              <a:rPr lang="zh-CN" altLang="en-US" sz="1800" b="1" i="0" u="none" strike="noStrike" baseline="0" dirty="0">
                <a:solidFill>
                  <a:srgbClr val="000000"/>
                </a:solidFill>
                <a:latin typeface="SourceHanSansSC-Bold"/>
              </a:rPr>
              <a:t>经验教训登记册。</a:t>
            </a:r>
            <a:r>
              <a:rPr lang="zh-CN" altLang="en-US" sz="1800" b="0" i="0" u="none" strike="noStrike" baseline="0" dirty="0">
                <a:solidFill>
                  <a:srgbClr val="000000"/>
                </a:solidFill>
                <a:latin typeface="SourceHanSansSC-Regular"/>
              </a:rPr>
              <a:t>经验教训登记册提供了有效的知识管理实践。</a:t>
            </a:r>
          </a:p>
          <a:p>
            <a:pPr algn="l"/>
            <a:r>
              <a:rPr lang="zh-CN" altLang="en-US" sz="1800" b="1" i="0" u="none" strike="noStrike" baseline="0" dirty="0">
                <a:solidFill>
                  <a:srgbClr val="000000"/>
                </a:solidFill>
                <a:latin typeface="SourceHanSansSC-Bold"/>
              </a:rPr>
              <a:t>项目团队派工单。</a:t>
            </a:r>
            <a:r>
              <a:rPr lang="zh-CN" altLang="en-US" sz="1800" b="0" i="0" u="none" strike="noStrike" baseline="0" dirty="0">
                <a:solidFill>
                  <a:srgbClr val="000000"/>
                </a:solidFill>
                <a:latin typeface="SourceHanSansSC-Regular"/>
              </a:rPr>
              <a:t>项目团队派工单说明了项目已具有的能力和经验以及可能缺乏的知识。</a:t>
            </a:r>
          </a:p>
          <a:p>
            <a:pPr algn="l"/>
            <a:r>
              <a:rPr lang="zh-CN" altLang="en-US" sz="1800" b="1" i="0" u="none" strike="noStrike" baseline="0" dirty="0">
                <a:solidFill>
                  <a:srgbClr val="000000"/>
                </a:solidFill>
                <a:latin typeface="SourceHanSansSC-Bold"/>
              </a:rPr>
              <a:t>资源分解结构。</a:t>
            </a:r>
            <a:r>
              <a:rPr lang="zh-CN" altLang="en-US" sz="1800" b="0" i="0" u="none" strike="noStrike" baseline="0" dirty="0">
                <a:solidFill>
                  <a:srgbClr val="000000"/>
                </a:solidFill>
                <a:latin typeface="SourceHanSansSC-Regular"/>
              </a:rPr>
              <a:t>资源分解结构包含有关团队组成的信息，有助于了解团队拥有和缺乏的知识。</a:t>
            </a:r>
          </a:p>
          <a:p>
            <a:pPr algn="l"/>
            <a:r>
              <a:rPr lang="zh-CN" altLang="en-US" sz="1800" b="1" i="0" u="none" strike="noStrike" baseline="0" dirty="0">
                <a:solidFill>
                  <a:srgbClr val="000000"/>
                </a:solidFill>
                <a:latin typeface="SourceHanSansSC-Bold"/>
              </a:rPr>
              <a:t>相关方登记册。</a:t>
            </a:r>
            <a:r>
              <a:rPr lang="zh-CN" altLang="en-US" sz="1800" b="0" i="0" u="none" strike="noStrike" baseline="0" dirty="0">
                <a:solidFill>
                  <a:srgbClr val="000000"/>
                </a:solidFill>
                <a:latin typeface="SourceHanSansSC-Regular"/>
              </a:rPr>
              <a:t>相关方登记册包含已识别的相关方的详细情况，有助于了解他们可能拥有的知识。</a:t>
            </a:r>
            <a:endParaRPr lang="en-US" altLang="zh-CN" sz="1800" b="0" i="0" u="none" strike="noStrike" baseline="0" dirty="0">
              <a:solidFill>
                <a:srgbClr val="000000"/>
              </a:solidFill>
              <a:latin typeface="SourceHanSansSC-Regular"/>
            </a:endParaRPr>
          </a:p>
          <a:p>
            <a:pPr algn="l"/>
            <a:endParaRPr lang="en-US" altLang="zh-CN" sz="1800" b="0" i="0" u="none" strike="noStrike" baseline="0" dirty="0">
              <a:solidFill>
                <a:srgbClr val="000000"/>
              </a:solidFill>
              <a:latin typeface="SourceHanSansSC-Regular"/>
            </a:endParaRPr>
          </a:p>
          <a:p>
            <a:pPr algn="l"/>
            <a:r>
              <a:rPr lang="zh-CN" altLang="en-US" sz="1800" b="1" i="0" u="none" strike="noStrike" baseline="0" dirty="0">
                <a:latin typeface="SourceHanSansSC-Regular"/>
              </a:rPr>
              <a:t>可交付成果</a:t>
            </a:r>
            <a:r>
              <a:rPr lang="zh-CN" altLang="en-US" sz="1800" b="0" i="0" u="none" strike="noStrike" baseline="0" dirty="0">
                <a:latin typeface="SourceHanSansSC-Regular"/>
              </a:rPr>
              <a:t>是在某一过程、阶段或项目完成时，必须产出的任何独特并可核实的产品、成果或服务能力。它通常是为实现项目目标而完成的有形的组成部分，并可包括项目管理计划的组成部分。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Medium"/>
              </a:rPr>
              <a:t>事业环境因素</a:t>
            </a:r>
          </a:p>
          <a:p>
            <a:pPr algn="l"/>
            <a:r>
              <a:rPr lang="zh-CN" altLang="en-US" sz="1800" b="0" i="0" u="none" strike="noStrike" baseline="0" dirty="0">
                <a:latin typeface="SourceHanSansSC-Regular"/>
              </a:rPr>
              <a:t>能够影响管理项目知识过程的事业环境因素包括（但不限于）：</a:t>
            </a:r>
          </a:p>
          <a:p>
            <a:pPr algn="l"/>
            <a:r>
              <a:rPr lang="zh-CN" altLang="en-US" sz="1800" b="1" i="0" u="none" strike="noStrike" baseline="0" dirty="0">
                <a:latin typeface="SourceHanSansSC-Bold"/>
              </a:rPr>
              <a:t>组织文化、相关方文化和客户文化。</a:t>
            </a:r>
            <a:r>
              <a:rPr lang="zh-CN" altLang="en-US" sz="1800" b="0" i="0" u="none" strike="noStrike" baseline="0" dirty="0">
                <a:latin typeface="SourceHanSansSC-Regular"/>
              </a:rPr>
              <a:t>相互信任的工作关系和互不指责的文化对知识管理尤其重要。其他因素则包括赋予学习的价值和社会行为规范。</a:t>
            </a:r>
          </a:p>
          <a:p>
            <a:pPr algn="l"/>
            <a:r>
              <a:rPr lang="zh-CN" altLang="en-US" sz="1800" b="1" i="0" u="none" strike="noStrike" baseline="0" dirty="0">
                <a:latin typeface="SourceHanSansSC-Bold"/>
              </a:rPr>
              <a:t>设施和资源的地理分布。</a:t>
            </a:r>
            <a:r>
              <a:rPr lang="zh-CN" altLang="en-US" sz="1800" b="0" i="0" u="none" strike="noStrike" baseline="0" dirty="0">
                <a:latin typeface="SourceHanSansSC-Regular"/>
              </a:rPr>
              <a:t>团队成员所在的位置有助于确定收集和分享知识的方法。</a:t>
            </a:r>
          </a:p>
          <a:p>
            <a:pPr algn="l"/>
            <a:r>
              <a:rPr lang="zh-CN" altLang="en-US" sz="1800" b="1" i="0" u="none" strike="noStrike" baseline="0" dirty="0">
                <a:latin typeface="SourceHanSansSC-Bold"/>
              </a:rPr>
              <a:t>组织中的知识专家。</a:t>
            </a:r>
            <a:r>
              <a:rPr lang="zh-CN" altLang="en-US" sz="1800" b="0" i="0" u="none" strike="noStrike" baseline="0" dirty="0">
                <a:latin typeface="SourceHanSansSC-Regular"/>
              </a:rPr>
              <a:t>有些组织拥有专门从事知识管理的团队或员工。</a:t>
            </a:r>
          </a:p>
          <a:p>
            <a:pPr algn="l"/>
            <a:r>
              <a:rPr lang="zh-CN" altLang="en-US" sz="1800" b="1" i="0" u="none" strike="noStrike" baseline="0" dirty="0">
                <a:latin typeface="SourceHanSansSC-Bold"/>
              </a:rPr>
              <a:t>法律法规要求和（或）制约因素。</a:t>
            </a:r>
            <a:r>
              <a:rPr lang="zh-CN" altLang="en-US" sz="1800" b="0" i="0" u="none" strike="noStrike" baseline="0" dirty="0">
                <a:latin typeface="SourceHanSansSC-Regular"/>
              </a:rPr>
              <a:t>包括对项目信息的保密性要求。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Medium"/>
              </a:rPr>
              <a:t>组织过程资产</a:t>
            </a:r>
          </a:p>
          <a:p>
            <a:pPr algn="l"/>
            <a:r>
              <a:rPr lang="zh-CN" altLang="en-US" sz="1800" b="0" i="0" u="none" strike="noStrike" baseline="0" dirty="0">
                <a:latin typeface="SourceHanSansSC-Regular"/>
              </a:rPr>
              <a:t>在项目管理过程和例行工作中，经常必然要使用项目管理知识，能够影响管理项目知识过程的组织过程资产包括（但不限于）：</a:t>
            </a:r>
          </a:p>
          <a:p>
            <a:pPr algn="l"/>
            <a:r>
              <a:rPr lang="zh-CN" altLang="en-US" sz="1800" b="1" i="0" u="none" strike="noStrike" baseline="0" dirty="0">
                <a:latin typeface="SourceHanSansSC-Bold"/>
              </a:rPr>
              <a:t>组织的标准政策、流程和程序。</a:t>
            </a:r>
            <a:r>
              <a:rPr lang="zh-CN" altLang="en-US" sz="1800" b="0" i="0" u="none" strike="noStrike" baseline="0" dirty="0">
                <a:latin typeface="SourceHanSansSC-Regular"/>
              </a:rPr>
              <a:t>可能包括：信息的保密性和获取渠道、安全与数据保护、记录保留政策、版权信息的使用、机密信息的销毁、文件格式和最大篇幅、注册数据和元数据、授</a:t>
            </a:r>
          </a:p>
          <a:p>
            <a:pPr algn="l"/>
            <a:r>
              <a:rPr lang="zh-CN" altLang="en-US" sz="1800" b="0" i="0" u="none" strike="noStrike" baseline="0" dirty="0">
                <a:latin typeface="SourceHanSansSC-Regular"/>
              </a:rPr>
              <a:t>权使用的技术和社交媒体等。</a:t>
            </a:r>
          </a:p>
          <a:p>
            <a:pPr algn="l"/>
            <a:r>
              <a:rPr lang="zh-CN" altLang="en-US" sz="1800" b="1" i="0" u="none" strike="noStrike" baseline="0" dirty="0">
                <a:latin typeface="SourceHanSansSC-Bold"/>
              </a:rPr>
              <a:t>人事管理制度。</a:t>
            </a:r>
            <a:r>
              <a:rPr lang="zh-CN" altLang="en-US" sz="1800" b="0" i="0" u="none" strike="noStrike" baseline="0" dirty="0">
                <a:latin typeface="SourceHanSansSC-Regular"/>
              </a:rPr>
              <a:t>包括员工发展与培训记录以及关于知识分享行为的能力框架。</a:t>
            </a:r>
          </a:p>
          <a:p>
            <a:pPr algn="l"/>
            <a:r>
              <a:rPr lang="zh-CN" altLang="en-US" sz="1800" b="1" i="0" u="none" strike="noStrike" baseline="0" dirty="0">
                <a:latin typeface="SourceHanSansSC-Bold"/>
              </a:rPr>
              <a:t>组织对沟通的要求。</a:t>
            </a:r>
            <a:r>
              <a:rPr lang="zh-CN" altLang="en-US" sz="1800" b="0" i="0" u="none" strike="noStrike" baseline="0" dirty="0">
                <a:latin typeface="SourceHanSansSC-Regular"/>
              </a:rPr>
              <a:t>正式且严格的沟通要求有利于信息分享。对于生成新知识和整合不同相关方群体的知识，非正式沟通更加有效。</a:t>
            </a:r>
          </a:p>
          <a:p>
            <a:pPr algn="l"/>
            <a:r>
              <a:rPr lang="zh-CN" altLang="en-US" sz="1800" b="1" i="0" u="none" strike="noStrike" baseline="0" dirty="0">
                <a:latin typeface="SourceHanSansSC-Bold"/>
              </a:rPr>
              <a:t>正式的知识分享和信息分享程序。</a:t>
            </a:r>
            <a:r>
              <a:rPr lang="zh-CN" altLang="en-US" sz="1800" b="0" i="0" u="none" strike="noStrike" baseline="0" dirty="0">
                <a:latin typeface="SourceHanSansSC-Regular"/>
              </a:rPr>
              <a:t>包括项目和项目阶段开始之前、开展期间和结束之后的学习回顾，例如识别、吸取和分享从当前项目和其他项目获得的经验教训。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2299872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dirty="0"/>
          </a:p>
          <a:p>
            <a:pPr algn="l"/>
            <a:r>
              <a:rPr lang="zh-CN" altLang="en-US" sz="1800" b="1" dirty="0">
                <a:latin typeface="+mn-ea"/>
              </a:rPr>
              <a:t>知识管理</a:t>
            </a:r>
            <a:r>
              <a:rPr lang="zh-CN" altLang="en-US" sz="1800" b="0" i="0" u="none" strike="noStrike" baseline="0" dirty="0">
                <a:latin typeface="SourceHanSansSC-Regular"/>
              </a:rPr>
              <a:t>工具和技术包括（但不限于）：</a:t>
            </a:r>
          </a:p>
          <a:p>
            <a:pPr algn="l"/>
            <a:r>
              <a:rPr lang="zh-CN" altLang="en-US" sz="1800" b="0" i="0" u="none" strike="noStrike" baseline="0" dirty="0">
                <a:latin typeface="SourceHanSansSC-Regular"/>
              </a:rPr>
              <a:t>人际交往，包括非正式的社交和在线社交。可以进行开放式提问的在线论坛有助于与专家进行知识分享对话；（如“谁知道</a:t>
            </a:r>
            <a:r>
              <a:rPr lang="en-US" altLang="zh-CN" sz="1800" b="0" i="0" u="none" strike="noStrike" baseline="0" dirty="0">
                <a:latin typeface="SourceHanSansSC-Regular"/>
              </a:rPr>
              <a:t>……</a:t>
            </a:r>
            <a:r>
              <a:rPr lang="zh-CN" altLang="en-US" sz="1800" b="0" i="0" u="none" strike="noStrike" baseline="0" dirty="0">
                <a:latin typeface="SourceHanSansSC-Regular"/>
              </a:rPr>
              <a:t>？”）</a:t>
            </a:r>
          </a:p>
          <a:p>
            <a:pPr algn="l"/>
            <a:r>
              <a:rPr lang="zh-CN" altLang="en-US" sz="1800" b="0" i="0" u="none" strike="noStrike" baseline="0" dirty="0">
                <a:latin typeface="SourceHanSansSC-Regular"/>
              </a:rPr>
              <a:t>实践社区（有时称为“兴趣社区”或“社区”）和特别兴趣小组；</a:t>
            </a:r>
          </a:p>
          <a:p>
            <a:pPr algn="l"/>
            <a:r>
              <a:rPr lang="zh-CN" altLang="en-US" sz="1800" b="0" i="0" u="none" strike="noStrike" baseline="0" dirty="0">
                <a:latin typeface="SourceHanSansSC-Regular"/>
              </a:rPr>
              <a:t>会议，包括使用通信技术进行互动的虚拟会议；</a:t>
            </a:r>
          </a:p>
          <a:p>
            <a:pPr algn="l"/>
            <a:r>
              <a:rPr lang="zh-CN" altLang="en-US" sz="1800" b="0" i="0" u="none" strike="noStrike" baseline="0" dirty="0">
                <a:latin typeface="SourceHanSansSC-Regular"/>
              </a:rPr>
              <a:t>工作跟随和跟随指导；</a:t>
            </a:r>
          </a:p>
          <a:p>
            <a:pPr algn="l"/>
            <a:r>
              <a:rPr lang="zh-CN" altLang="en-US" sz="1800" b="0" i="0" u="none" strike="noStrike" baseline="0" dirty="0">
                <a:latin typeface="SourceHanSansSC-Regular"/>
              </a:rPr>
              <a:t>讨论论坛，如焦点小组；</a:t>
            </a:r>
          </a:p>
          <a:p>
            <a:pPr algn="l"/>
            <a:r>
              <a:rPr lang="zh-CN" altLang="en-US" sz="1800" b="0" i="0" u="none" strike="noStrike" baseline="0" dirty="0">
                <a:latin typeface="SourceHanSansSC-Regular"/>
              </a:rPr>
              <a:t>知识分享活动，如专题讲座和会议；</a:t>
            </a:r>
          </a:p>
          <a:p>
            <a:pPr algn="l"/>
            <a:r>
              <a:rPr lang="zh-CN" altLang="en-US" sz="1800" b="0" i="0" u="none" strike="noStrike" baseline="0" dirty="0">
                <a:latin typeface="SourceHanSansSC-Regular"/>
              </a:rPr>
              <a:t>研讨会，包括问题解决会议和经验教训总结会议；</a:t>
            </a:r>
          </a:p>
          <a:p>
            <a:pPr algn="l"/>
            <a:r>
              <a:rPr lang="zh-CN" altLang="en-US" sz="1800" b="0" i="0" u="none" strike="noStrike" baseline="0" dirty="0">
                <a:latin typeface="SourceHanSansSC-Regular"/>
              </a:rPr>
              <a:t>讲故事；</a:t>
            </a:r>
          </a:p>
          <a:p>
            <a:pPr algn="l"/>
            <a:r>
              <a:rPr lang="zh-CN" altLang="en-US" sz="1800" b="0" i="0" u="none" strike="noStrike" baseline="0" dirty="0">
                <a:latin typeface="SourceHanSansSC-Regular"/>
              </a:rPr>
              <a:t>创造力和创意管理技术；</a:t>
            </a:r>
          </a:p>
          <a:p>
            <a:pPr algn="l"/>
            <a:r>
              <a:rPr lang="zh-CN" altLang="en-US" sz="1800" b="0" i="0" u="none" strike="noStrike" baseline="0" dirty="0">
                <a:latin typeface="SourceHanSansSC-Regular"/>
              </a:rPr>
              <a:t>知识展会和茶座；</a:t>
            </a:r>
          </a:p>
          <a:p>
            <a:pPr algn="l"/>
            <a:r>
              <a:rPr lang="zh-CN" altLang="en-US" sz="1800" b="0" i="0" u="none" strike="noStrike" baseline="0" dirty="0">
                <a:latin typeface="SourceHanSansSC-Regular"/>
              </a:rPr>
              <a:t>交互式培训。</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Regular"/>
              </a:rPr>
              <a:t>信息管理</a:t>
            </a:r>
            <a:r>
              <a:rPr lang="zh-CN" altLang="en-US" sz="1800" b="0" i="0" u="none" strike="noStrike" baseline="0" dirty="0">
                <a:latin typeface="SourceHanSansSC-Regular"/>
              </a:rPr>
              <a:t>工具和技术用于创建人们与知识之间的联系，可以有效促进简单、明确的显性知识的</a:t>
            </a:r>
          </a:p>
          <a:p>
            <a:pPr algn="l"/>
            <a:r>
              <a:rPr lang="zh-CN" altLang="en-US" sz="1800" b="0" i="0" u="none" strike="noStrike" baseline="0" dirty="0">
                <a:latin typeface="SourceHanSansSC-Regular"/>
              </a:rPr>
              <a:t>分享，包括（但不限于）：</a:t>
            </a:r>
          </a:p>
          <a:p>
            <a:pPr algn="l"/>
            <a:r>
              <a:rPr lang="zh-CN" altLang="en-US" sz="1800" b="0" i="0" u="none" strike="noStrike" baseline="0" dirty="0">
                <a:latin typeface="SourceHanSansSC-Regular"/>
              </a:rPr>
              <a:t>编撰显性知识的方法，例如，如何确定经验教训登记册的条目；</a:t>
            </a:r>
          </a:p>
          <a:p>
            <a:pPr algn="l"/>
            <a:r>
              <a:rPr lang="zh-CN" altLang="en-US" sz="1800" b="0" i="0" u="none" strike="noStrike" baseline="0" dirty="0">
                <a:latin typeface="SourceHanSansSC-Regular"/>
              </a:rPr>
              <a:t>经验教训登记册；</a:t>
            </a:r>
          </a:p>
          <a:p>
            <a:pPr algn="l"/>
            <a:r>
              <a:rPr lang="zh-CN" altLang="en-US" sz="1800" b="0" i="0" u="none" strike="noStrike" baseline="0" dirty="0">
                <a:latin typeface="SourceHanSansSC-Regular"/>
              </a:rPr>
              <a:t>图书馆服务；</a:t>
            </a:r>
          </a:p>
          <a:p>
            <a:pPr algn="l"/>
            <a:r>
              <a:rPr lang="zh-CN" altLang="en-US" sz="1800" b="0" i="0" u="none" strike="noStrike" baseline="0" dirty="0">
                <a:latin typeface="SourceHanSansSC-Regular"/>
              </a:rPr>
              <a:t>信息收集，例如搜索网络和阅读已发表的文章；</a:t>
            </a:r>
          </a:p>
          <a:p>
            <a:pPr algn="l"/>
            <a:r>
              <a:rPr lang="zh-CN" altLang="en-US" sz="1800" b="0" i="0" u="none" strike="noStrike" baseline="0" dirty="0">
                <a:latin typeface="SourceHanSansSC-Regular"/>
              </a:rPr>
              <a:t>项目管理信息系统 </a:t>
            </a:r>
            <a:r>
              <a:rPr lang="en-US" altLang="zh-CN" sz="1800" b="0" i="0" u="none" strike="noStrike" baseline="0" dirty="0">
                <a:latin typeface="HelveticaNeue-Condensed"/>
              </a:rPr>
              <a:t>(PMIS)</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可用于本过程的人际关系与团队技能包括（但不限于）：</a:t>
            </a:r>
          </a:p>
          <a:p>
            <a:pPr algn="l"/>
            <a:r>
              <a:rPr lang="zh-CN" altLang="en-US" sz="1800" b="1" i="0" u="none" strike="noStrike" baseline="0" dirty="0">
                <a:latin typeface="SourceHanSansSC-Bold"/>
              </a:rPr>
              <a:t>积极倾听。</a:t>
            </a:r>
            <a:r>
              <a:rPr lang="zh-CN" altLang="en-US" sz="1800" b="0" i="0" u="none" strike="noStrike" baseline="0" dirty="0">
                <a:latin typeface="SourceHanSansSC-Regular"/>
              </a:rPr>
              <a:t>积极倾听有助于减少误解并促进沟通和知识分享。</a:t>
            </a:r>
          </a:p>
          <a:p>
            <a:pPr algn="l"/>
            <a:r>
              <a:rPr lang="zh-CN" altLang="en-US" sz="1800" b="1" i="0" u="none" strike="noStrike" baseline="0" dirty="0">
                <a:latin typeface="SourceHanSansSC-Bold"/>
              </a:rPr>
              <a:t>引导。</a:t>
            </a:r>
            <a:r>
              <a:rPr lang="zh-CN" altLang="en-US" sz="1800" b="0" i="0" u="none" strike="noStrike" baseline="0" dirty="0">
                <a:latin typeface="SourceHanSansSC-Regular"/>
              </a:rPr>
              <a:t>引导有助于有效指引团队成功地达成决定、解决方案或结论。</a:t>
            </a:r>
          </a:p>
          <a:p>
            <a:pPr algn="l"/>
            <a:r>
              <a:rPr lang="zh-CN" altLang="en-US" sz="1800" b="1" i="0" u="none" strike="noStrike" baseline="0" dirty="0">
                <a:latin typeface="SourceHanSansSC-Bold"/>
              </a:rPr>
              <a:t>领导力。</a:t>
            </a:r>
            <a:r>
              <a:rPr lang="zh-CN" altLang="en-US" sz="1800" b="0" i="0" u="none" strike="noStrike" baseline="0" dirty="0">
                <a:latin typeface="SourceHanSansSC-Regular"/>
              </a:rPr>
              <a:t>领导力可帮助沟通愿景并鼓舞项目团队关注合适的知识和知识目标。</a:t>
            </a:r>
          </a:p>
          <a:p>
            <a:pPr algn="l"/>
            <a:r>
              <a:rPr lang="zh-CN" altLang="en-US" sz="1800" b="1" i="0" u="none" strike="noStrike" baseline="0" dirty="0">
                <a:latin typeface="SourceHanSansSC-Bold"/>
              </a:rPr>
              <a:t>人际交往。</a:t>
            </a:r>
            <a:r>
              <a:rPr lang="zh-CN" altLang="en-US" sz="1800" b="0" i="0" u="none" strike="noStrike" baseline="0" dirty="0">
                <a:latin typeface="SourceHanSansSC-Regular"/>
              </a:rPr>
              <a:t>人际交往促使项目相关方之间建立非正式的联系和关系，为显性和隐性知识的分享创造条件。</a:t>
            </a:r>
          </a:p>
          <a:p>
            <a:pPr algn="l"/>
            <a:r>
              <a:rPr lang="zh-CN" altLang="en-US" sz="1800" b="1" i="0" u="none" strike="noStrike" baseline="0" dirty="0">
                <a:latin typeface="SourceHanSansSC-Bold"/>
              </a:rPr>
              <a:t>政治意识。</a:t>
            </a:r>
            <a:r>
              <a:rPr lang="zh-CN" altLang="en-US" sz="1800" b="0" i="0" u="none" strike="noStrike" baseline="0" dirty="0">
                <a:latin typeface="SourceHanSansSC-Regular"/>
              </a:rPr>
              <a:t>政治意识有助于项目经理根据项目环境和组织的政治环境规划沟通。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32758699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solidFill>
                  <a:srgbClr val="0B02BE"/>
                </a:solidFill>
                <a:latin typeface="黑体" panose="02010609060101010101" pitchFamily="49" charset="-122"/>
                <a:ea typeface="黑体" panose="02010609060101010101" pitchFamily="49" charset="-122"/>
              </a:rPr>
              <a:t>经验教训登记册</a:t>
            </a:r>
            <a:endParaRPr lang="en-US" altLang="zh-CN" sz="1800" dirty="0">
              <a:solidFill>
                <a:srgbClr val="0B02BE"/>
              </a:solidFill>
              <a:latin typeface="黑体" panose="02010609060101010101" pitchFamily="49" charset="-122"/>
              <a:ea typeface="黑体" panose="02010609060101010101" pitchFamily="49" charset="-122"/>
            </a:endParaRPr>
          </a:p>
          <a:p>
            <a:pPr algn="l"/>
            <a:r>
              <a:rPr lang="zh-CN" altLang="en-US" sz="1800" b="0" i="0" u="none" strike="noStrike" baseline="0" dirty="0">
                <a:latin typeface="SourceHanSansSC-Regular"/>
              </a:rPr>
              <a:t>经验教训登记册在项目早期创建，作为本过程的输出。因此，在整个项目期间，它可以作为很多过程的输入，也可以作为输出而不断更新。参与工作的个人和团队也参与记录经验教训。可以通过视频、图片、音频或其他合适的方式记录知识，确保有效吸取经验教训。</a:t>
            </a:r>
          </a:p>
          <a:p>
            <a:pPr algn="l"/>
            <a:r>
              <a:rPr lang="zh-CN" altLang="en-US" sz="1800" b="0" i="0" u="none" strike="noStrike" baseline="0" dirty="0">
                <a:latin typeface="SourceHanSansSC-Regular"/>
              </a:rPr>
              <a:t>在项目或阶段结束时，把相关信息归入经验教训知识库，成为组织过程资产的一部分。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项目管理计划的任何变更都以变更请求的形式提出，且通过组织的变更控制过程进行处理。项目管理计划的任一组成部分都可在本过程中更新。</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所有项目都会生成新知识。有些知识应该被编撰，并在管理项目知识过程中被嵌入可交付成果，或者被用于改进过程和程序。在本过程中，也可以首次编撰或使用现有知识，例如，关于新程序的现有想法在本项目中试用并获得成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可在本过程更新任一组织过程资产。</a:t>
            </a:r>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3344275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latin typeface="微软雅黑" panose="020B0503020204020204" pitchFamily="34" charset="-122"/>
                <a:ea typeface="微软雅黑" panose="020B0503020204020204" pitchFamily="34" charset="-122"/>
                <a:cs typeface="Times New Roman" panose="02020603050405020304" pitchFamily="18" charset="0"/>
              </a:rPr>
              <a:t>监控项目工作</a:t>
            </a:r>
            <a:r>
              <a:rPr lang="en-US" altLang="zh-CN" sz="1200" b="0" i="0" u="none" strike="noStrike" baseline="0" dirty="0">
                <a:solidFill>
                  <a:srgbClr val="262626"/>
                </a:solidFill>
                <a:latin typeface="HiddenHorzOCR"/>
                <a:ea typeface="微软雅黑" panose="020B0503020204020204" pitchFamily="34" charset="-122"/>
                <a:cs typeface="Times New Roman" panose="02020603050405020304" pitchFamily="18" charset="0"/>
              </a:rPr>
              <a:t> </a:t>
            </a:r>
            <a:r>
              <a:rPr lang="zh-CN" altLang="en-US" sz="1200" b="0" i="0" u="none" strike="noStrike" baseline="0" dirty="0">
                <a:solidFill>
                  <a:srgbClr val="262626"/>
                </a:solidFill>
                <a:latin typeface="HiddenHorzOCR"/>
                <a:ea typeface="微软雅黑" panose="020B0503020204020204" pitchFamily="34" charset="-122"/>
                <a:cs typeface="Times New Roman" panose="02020603050405020304" pitchFamily="18" charset="0"/>
              </a:rPr>
              <a:t>与 监控子过程中的其它子过程的关系。</a:t>
            </a:r>
            <a:r>
              <a:rPr lang="zh-CN" altLang="en-US" sz="1200" b="1" dirty="0">
                <a:solidFill>
                  <a:srgbClr val="FFFFFF"/>
                </a:solidFill>
                <a:ea typeface="黑体" panose="02010609060101010101" pitchFamily="49" charset="-122"/>
              </a:rPr>
              <a:t>项目整体管理 </a:t>
            </a:r>
            <a:r>
              <a:rPr lang="zh-CN" altLang="en-US" sz="1200" b="0" dirty="0">
                <a:solidFill>
                  <a:srgbClr val="FFFFFF"/>
                </a:solidFill>
                <a:ea typeface="黑体" panose="02010609060101010101" pitchFamily="49" charset="-122"/>
              </a:rPr>
              <a:t>还有一个子过程</a:t>
            </a:r>
            <a:r>
              <a:rPr lang="zh-CN" altLang="en-US" sz="1200" b="1" dirty="0">
                <a:solidFill>
                  <a:srgbClr val="FFFFFF"/>
                </a:solidFill>
                <a:ea typeface="黑体" panose="02010609060101010101" pitchFamily="49" charset="-122"/>
              </a:rPr>
              <a:t>：</a:t>
            </a:r>
            <a:r>
              <a:rPr lang="zh-CN" altLang="en-US" sz="1200" kern="0" dirty="0">
                <a:solidFill>
                  <a:srgbClr val="000000"/>
                </a:solidFill>
                <a:ea typeface="幼圆" panose="02010509060101010101" pitchFamily="49" charset="-122"/>
              </a:rPr>
              <a:t>实施整体变更控制</a:t>
            </a:r>
          </a:p>
          <a:p>
            <a:endParaRPr lang="en-US" altLang="zh-CN" sz="1200" b="0" i="0" u="none" strike="noStrike" baseline="0" dirty="0">
              <a:solidFill>
                <a:srgbClr val="262626"/>
              </a:solidFill>
              <a:latin typeface="HiddenHorzOCR"/>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ea typeface="黑体" panose="02010609060101010101" pitchFamily="49" charset="-122"/>
              </a:rPr>
              <a:t>环形线内的过程是整体管理知识领域的一部分，该知识领域协调与统一其他各知识领域的过程。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31</a:t>
            </a:fld>
            <a:endParaRPr lang="zh-CN" altLang="en-US"/>
          </a:p>
        </p:txBody>
      </p:sp>
    </p:spTree>
    <p:extLst>
      <p:ext uri="{BB962C8B-B14F-4D97-AF65-F5344CB8AC3E}">
        <p14:creationId xmlns:p14="http://schemas.microsoft.com/office/powerpoint/2010/main" val="31821350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4.5.1 </a:t>
            </a:r>
            <a:r>
              <a:rPr lang="zh-CN" altLang="en-US" sz="1800" b="0" i="0" u="none" strike="noStrike" baseline="0" dirty="0">
                <a:latin typeface="SourceHanSansSC-Medium"/>
              </a:rPr>
              <a:t>监控项目工作：输入</a:t>
            </a:r>
          </a:p>
          <a:p>
            <a:pPr algn="l"/>
            <a:r>
              <a:rPr lang="en-US" altLang="zh-CN" sz="1800" b="0" i="0" u="none" strike="noStrike" baseline="0" dirty="0">
                <a:latin typeface="HelveticaNeue-MediumCond"/>
              </a:rPr>
              <a:t>4.5.1.1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节。监控项目工作包括查看项目的各个方面。项目管理计划的任一组成部分都可作为本过程的输入。</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4.5.1.2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可用于本过程输入的项目文件包括（但不限于）：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节。假设日志包含会影响项目的假设条件和制约因素的信息。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估算依据。</a:t>
            </a:r>
            <a:r>
              <a:rPr lang="zh-CN" altLang="en-US" sz="1800" b="0" i="0" u="none" strike="noStrike" baseline="0" dirty="0">
                <a:latin typeface="SourceHanSansSC-Regular"/>
              </a:rPr>
              <a:t>见 </a:t>
            </a:r>
            <a:r>
              <a:rPr lang="en-US" altLang="zh-CN" sz="1800" b="0" i="0" u="none" strike="noStrike" baseline="0" dirty="0">
                <a:latin typeface="HelveticaNeue-Condensed"/>
              </a:rPr>
              <a:t>6.4.3.2 </a:t>
            </a:r>
            <a:r>
              <a:rPr lang="zh-CN" altLang="en-US" sz="1800" b="0" i="0" u="none" strike="noStrike" baseline="0" dirty="0">
                <a:latin typeface="SourceHanSansSC-Regular"/>
              </a:rPr>
              <a:t>节和 </a:t>
            </a:r>
            <a:r>
              <a:rPr lang="en-US" altLang="zh-CN" sz="1800" b="0" i="0" u="none" strike="noStrike" baseline="0" dirty="0">
                <a:latin typeface="HelveticaNeue-Condensed"/>
              </a:rPr>
              <a:t>7.2.3.2 </a:t>
            </a:r>
            <a:r>
              <a:rPr lang="zh-CN" altLang="en-US" sz="1800" b="0" i="0" u="none" strike="noStrike" baseline="0" dirty="0">
                <a:latin typeface="SourceHanSansSC-Regular"/>
              </a:rPr>
              <a:t>节。估算依据说明不同估算是如何得出的，用于决定如何应对偏差。</a:t>
            </a:r>
          </a:p>
          <a:p>
            <a:pPr algn="l"/>
            <a:r>
              <a:rPr lang="en-US" altLang="zh-CN" sz="1800" b="0" i="0" u="none" strike="noStrike" baseline="0" dirty="0">
                <a:latin typeface="Wingdings-Regular"/>
              </a:rPr>
              <a:t>  </a:t>
            </a:r>
            <a:r>
              <a:rPr lang="zh-CN" altLang="en-US" sz="1800" b="1" i="0" u="none" strike="noStrike" baseline="0" dirty="0">
                <a:latin typeface="SourceHanSansSC-Bold"/>
              </a:rPr>
              <a:t>成本预测。</a:t>
            </a:r>
            <a:r>
              <a:rPr lang="zh-CN" altLang="en-US" sz="1800" b="0" i="0" u="none" strike="noStrike" baseline="0" dirty="0">
                <a:latin typeface="SourceHanSansSC-Regular"/>
              </a:rPr>
              <a:t>见 </a:t>
            </a:r>
            <a:r>
              <a:rPr lang="en-US" altLang="zh-CN" sz="1800" b="0" i="0" u="none" strike="noStrike" baseline="0" dirty="0">
                <a:latin typeface="HelveticaNeue-Condensed"/>
              </a:rPr>
              <a:t>7.4.3.2 </a:t>
            </a:r>
            <a:r>
              <a:rPr lang="zh-CN" altLang="en-US" sz="1800" b="0" i="0" u="none" strike="noStrike" baseline="0" dirty="0">
                <a:latin typeface="SourceHanSansSC-Regular"/>
              </a:rPr>
              <a:t>节。成本预测基于项目以往的绩效，用于确定项目是否仍处于预算的公差区间内，并识别任何必要的变更。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节。问题日志用于记录和监督由谁负责在目标日期内解决特定问题。</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节。经验教训登记册可能包含应对偏差的有效方式以及纠正措施和预防措施。</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节。里程碑清单列出特定里程碑的实现日期，用于检查是否达到计划的里程碑。</a:t>
            </a:r>
          </a:p>
          <a:p>
            <a:pPr algn="l"/>
            <a:r>
              <a:rPr lang="en-US" altLang="zh-CN" sz="1800" b="0" i="0" u="none" strike="noStrike" baseline="0" dirty="0">
                <a:latin typeface="Wingdings-Regular"/>
              </a:rPr>
              <a:t>  </a:t>
            </a:r>
            <a:r>
              <a:rPr lang="zh-CN" altLang="en-US" sz="1800" b="1" i="0" u="none" strike="noStrike" baseline="0" dirty="0">
                <a:latin typeface="SourceHanSansSC-Bold"/>
              </a:rPr>
              <a:t>质量报告。</a:t>
            </a:r>
            <a:r>
              <a:rPr lang="zh-CN" altLang="en-US" sz="1800" b="0" i="0" u="none" strike="noStrike" baseline="0" dirty="0">
                <a:latin typeface="SourceHanSansSC-Regular"/>
              </a:rPr>
              <a:t>见 </a:t>
            </a:r>
            <a:r>
              <a:rPr lang="en-US" altLang="zh-CN" sz="1800" b="0" i="0" u="none" strike="noStrike" baseline="0" dirty="0">
                <a:latin typeface="HelveticaNeue-Condensed"/>
              </a:rPr>
              <a:t>8.2.3.1 </a:t>
            </a:r>
            <a:r>
              <a:rPr lang="zh-CN" altLang="en-US" sz="1800" b="0" i="0" u="none" strike="noStrike" baseline="0" dirty="0">
                <a:latin typeface="SourceHanSansSC-Regular"/>
              </a:rPr>
              <a:t>节。质量报告包含质量管理问题，针对过程、项目和产品的改善建议，纠正措施建议（包括返工、缺陷（漏洞）补救、</a:t>
            </a:r>
            <a:r>
              <a:rPr lang="en-US" altLang="zh-CN" sz="1800" b="0" i="0" u="none" strike="noStrike" baseline="0" dirty="0">
                <a:latin typeface="HelveticaNeue-Condensed"/>
              </a:rPr>
              <a:t>100% </a:t>
            </a:r>
            <a:r>
              <a:rPr lang="zh-CN" altLang="en-US" sz="1800" b="0" i="0" u="none" strike="noStrike" baseline="0" dirty="0">
                <a:latin typeface="SourceHanSansSC-Regular"/>
              </a:rPr>
              <a:t>检查等），以及在控制质量过程中发现</a:t>
            </a:r>
          </a:p>
          <a:p>
            <a:pPr algn="l"/>
            <a:r>
              <a:rPr lang="zh-CN" altLang="en-US" sz="1800" b="0" i="0" u="none" strike="noStrike" baseline="0" dirty="0">
                <a:latin typeface="SourceHanSansSC-Regular"/>
              </a:rPr>
              <a:t>的情况的概述。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节。风险登记册提供在项目执行过程中发生的各种威胁和机会的相关信息。</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节。风险报告提供关于整体项目风险和单个风险的信息。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进度预测。</a:t>
            </a:r>
            <a:r>
              <a:rPr lang="zh-CN" altLang="en-US" sz="1800" b="0" i="0" u="none" strike="noStrike" baseline="0" dirty="0">
                <a:latin typeface="SourceHanSansSC-Regular"/>
              </a:rPr>
              <a:t>见 </a:t>
            </a:r>
            <a:r>
              <a:rPr lang="en-US" altLang="zh-CN" sz="1800" b="0" i="0" u="none" strike="noStrike" baseline="0" dirty="0">
                <a:latin typeface="HelveticaNeue-Condensed"/>
              </a:rPr>
              <a:t>6.6.3.2 </a:t>
            </a:r>
            <a:r>
              <a:rPr lang="zh-CN" altLang="en-US" sz="1800" b="0" i="0" u="none" strike="noStrike" baseline="0" dirty="0">
                <a:latin typeface="SourceHanSansSC-Regular"/>
              </a:rPr>
              <a:t>节。进度预测基于项目以往的绩效，用于确定项目是否仍处于进度的公差区间内，并识别任何必要的变更。</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4.5.1.3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在工作执行过程中收集工作绩效数据，再交由控制过程做进一步分析。将工作绩效数据与项目管理计划组件、项目文件和其他项目变量比较之后生成工作绩效信息。通过这种比较可以了解项目的执行情况。</a:t>
            </a:r>
          </a:p>
          <a:p>
            <a:pPr algn="l"/>
            <a:r>
              <a:rPr lang="zh-CN" altLang="en-US" sz="1800" b="0" i="0" u="none" strike="noStrike" baseline="0" dirty="0">
                <a:latin typeface="SourceHanSansSC-Regular"/>
              </a:rPr>
              <a:t>在项目开始时，就在项目管理计划中规定关于范围、进度、预算和质量的具体工作绩效测量指标。项目期间通过控制过程收集绩效数据，与计划和其他变量比较，为工作绩效提供背景。</a:t>
            </a:r>
          </a:p>
          <a:p>
            <a:pPr algn="l"/>
            <a:r>
              <a:rPr lang="zh-CN" altLang="en-US" sz="1800" b="0" i="0" u="none" strike="noStrike" baseline="0" dirty="0">
                <a:latin typeface="SourceHanSansSC-Regular"/>
              </a:rPr>
              <a:t>例如，关于成本的工作绩效数据可能包含已支出的资金，但必须与预算、已执行的工作、用于完成工作的资源以及资金使用计划比较之后才能有用。这些附加信息为确定项目是否符合预算或是否存在偏差提供了相应的情境；还有助于了解偏差的严重程度。通过与项目管理计划中的偏差临界值进行比较，就可以确定是否需要采取预防或纠正措施。对工作绩效数据和附加信息进行综合分析，可以为项目决策提供可靠的基础。</a:t>
            </a:r>
          </a:p>
          <a:p>
            <a:pPr algn="l"/>
            <a:r>
              <a:rPr lang="en-US" altLang="zh-CN" sz="1800" b="0" i="0" u="none" strike="noStrike" baseline="0" dirty="0">
                <a:latin typeface="HelveticaNeue-MediumCond"/>
              </a:rPr>
              <a:t>4.5.1.4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采购协议中包括条款和条件，也可包括其他条目，如买方就卖方应实施的工作或应交付的产品所做的规定。如果项目将部分工作外包出去，项目经理需要监督承包商的工作，确保所有协议都符合项目的特定要求，以及组织的采购政策。</a:t>
            </a:r>
          </a:p>
          <a:p>
            <a:pPr algn="l"/>
            <a:r>
              <a:rPr lang="en-US" altLang="zh-CN" sz="1800" b="0" i="0" u="none" strike="noStrike" baseline="0" dirty="0">
                <a:latin typeface="HelveticaNeue-MediumCond"/>
              </a:rPr>
              <a:t>4.5.1.5 </a:t>
            </a:r>
            <a:r>
              <a:rPr lang="zh-CN" altLang="en-US" sz="1800" b="0" i="0" u="none" strike="noStrike" baseline="0" dirty="0">
                <a:latin typeface="SourceHanSansSC-Medium"/>
              </a:rPr>
              <a:t>事业环境因素</a:t>
            </a:r>
            <a:endParaRPr lang="en-US" altLang="zh-CN" sz="1800" b="0" i="0" u="none" strike="noStrike" baseline="0" dirty="0">
              <a:latin typeface="SourceHanSansSC-Medium"/>
            </a:endParaRPr>
          </a:p>
          <a:p>
            <a:pPr algn="l"/>
            <a:r>
              <a:rPr lang="en-US" altLang="zh-CN" sz="1800" b="0" i="0" u="none" strike="noStrike" baseline="0" dirty="0">
                <a:latin typeface="HelveticaNeue-MediumCond"/>
              </a:rPr>
              <a:t>4.5.1.6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能够影响监控项目工作过程的组织过程资产包括（但不限于）：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组织的标准政策、流程和程序；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财务控制程序（如必需的费用与支付审查、会计编码及标准合同条款等）；</a:t>
            </a:r>
          </a:p>
          <a:p>
            <a:pPr algn="l"/>
            <a:r>
              <a:rPr lang="en-US" altLang="zh-CN" sz="1800" b="0" i="0" u="none" strike="noStrike" baseline="0" dirty="0">
                <a:latin typeface="Wingdings-Regular"/>
              </a:rPr>
              <a:t>  </a:t>
            </a:r>
            <a:r>
              <a:rPr lang="zh-CN" altLang="en-US" sz="1800" b="0" i="0" u="none" strike="noStrike" baseline="0" dirty="0">
                <a:latin typeface="SourceHanSansSC-Regular"/>
              </a:rPr>
              <a:t>监督和报告方法；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问题管理程序，用于定义问题控制、问题识别及其解决，以及行动事项跟踪；</a:t>
            </a:r>
          </a:p>
          <a:p>
            <a:pPr algn="l"/>
            <a:r>
              <a:rPr lang="en-US" altLang="zh-CN" sz="1800" b="0" i="0" u="none" strike="noStrike" baseline="0" dirty="0">
                <a:latin typeface="Wingdings-Regular"/>
              </a:rPr>
              <a:t>  </a:t>
            </a:r>
            <a:r>
              <a:rPr lang="zh-CN" altLang="en-US" sz="1800" b="0" i="0" u="none" strike="noStrike" baseline="0" dirty="0">
                <a:latin typeface="SourceHanSansSC-Regular"/>
              </a:rPr>
              <a:t>缺陷管理程序，用于定义缺陷控制、缺陷识别及其解决，以及行动事项跟踪；</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组织知识库，尤其是过程测量和经验教训知识库。</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4.5.2 </a:t>
            </a:r>
            <a:r>
              <a:rPr lang="zh-CN" altLang="en-US" sz="1800" b="0" i="0" u="none" strike="noStrike" baseline="0" dirty="0">
                <a:latin typeface="SourceHanSansSC-Medium"/>
              </a:rPr>
              <a:t>监控项目工作：工具与技术</a:t>
            </a:r>
          </a:p>
          <a:p>
            <a:pPr algn="l"/>
            <a:r>
              <a:rPr lang="en-US" altLang="zh-CN" sz="1800" b="0" i="0" u="none" strike="noStrike" baseline="0" dirty="0">
                <a:latin typeface="HelveticaNeue-MediumCond"/>
              </a:rPr>
              <a:t>4.5.2.1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节。应该就以下主题，考虑具备相关专业知识或接受过相关培训的个人或小组的意见：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挣值分析；</a:t>
            </a:r>
          </a:p>
          <a:p>
            <a:pPr algn="l"/>
            <a:r>
              <a:rPr lang="en-US" altLang="zh-CN" sz="1800" b="0" i="0" u="none" strike="noStrike" baseline="0" dirty="0">
                <a:latin typeface="Wingdings-Regular"/>
              </a:rPr>
              <a:t>  </a:t>
            </a:r>
            <a:r>
              <a:rPr lang="zh-CN" altLang="en-US" sz="1800" b="0" i="0" u="none" strike="noStrike" baseline="0" dirty="0">
                <a:latin typeface="SourceHanSansSC-Regular"/>
              </a:rPr>
              <a:t>数据的解释和情境化；</a:t>
            </a:r>
          </a:p>
          <a:p>
            <a:pPr algn="l"/>
            <a:r>
              <a:rPr lang="en-US" altLang="zh-CN" sz="1800" b="0" i="0" u="none" strike="noStrike" baseline="0" dirty="0">
                <a:latin typeface="Wingdings-Regular"/>
              </a:rPr>
              <a:t>  </a:t>
            </a:r>
            <a:r>
              <a:rPr lang="zh-CN" altLang="en-US" sz="1800" b="0" i="0" u="none" strike="noStrike" baseline="0" dirty="0">
                <a:latin typeface="SourceHanSansSC-Regular"/>
              </a:rPr>
              <a:t>持续时间和成本的估算技术；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趋势分析；</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关于项目所在的行业以及项目关注的领域的技术知识；</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合同管理。</a:t>
            </a:r>
            <a:endParaRPr lang="en-US" altLang="zh-CN" sz="1800" b="0" i="0" u="none" strike="noStrike" baseline="0" dirty="0">
              <a:latin typeface="SourceHanSansSC-Medium"/>
            </a:endParaRPr>
          </a:p>
          <a:p>
            <a:pPr algn="l"/>
            <a:r>
              <a:rPr lang="en-US" altLang="zh-CN" sz="1800" b="0" i="0" u="none" strike="noStrike" baseline="0" dirty="0">
                <a:latin typeface="HelveticaNeue-MediumCond"/>
              </a:rPr>
              <a:t>4.5.2.2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备选方案分析用于在出现偏差时选择要执行的纠正措施或纠正措施和预防措施的组合。</a:t>
            </a:r>
          </a:p>
          <a:p>
            <a:pPr algn="l"/>
            <a:r>
              <a:rPr lang="en-US" altLang="zh-CN" sz="1800" b="0" i="0" u="none" strike="noStrike" baseline="0" dirty="0">
                <a:latin typeface="Wingdings-Regular"/>
              </a:rPr>
              <a:t>  </a:t>
            </a:r>
            <a:r>
              <a:rPr lang="zh-CN" altLang="en-US" sz="1800" b="1" i="0" u="none" strike="noStrike" baseline="0" dirty="0">
                <a:latin typeface="SourceHanSansSC-Bold"/>
              </a:rPr>
              <a:t>成本效益分析。</a:t>
            </a:r>
            <a:r>
              <a:rPr lang="zh-CN" altLang="en-US" sz="1800" b="0" i="0" u="none" strike="noStrike" baseline="0" dirty="0">
                <a:latin typeface="SourceHanSansSC-Regular"/>
              </a:rPr>
              <a:t>见 </a:t>
            </a:r>
            <a:r>
              <a:rPr lang="en-US" altLang="zh-CN" sz="1800" b="0" i="0" u="none" strike="noStrike" baseline="0" dirty="0">
                <a:latin typeface="HelveticaNeue-Condensed"/>
              </a:rPr>
              <a:t>8.1.2.3 </a:t>
            </a:r>
            <a:r>
              <a:rPr lang="zh-CN" altLang="en-US" sz="1800" b="0" i="0" u="none" strike="noStrike" baseline="0" dirty="0">
                <a:latin typeface="SourceHanSansSC-Regular"/>
              </a:rPr>
              <a:t>节。成本效益分析有助于在项目出现偏差时确定最节约成本的纠正措施。</a:t>
            </a:r>
          </a:p>
          <a:p>
            <a:pPr algn="l"/>
            <a:r>
              <a:rPr lang="en-US" altLang="zh-CN" sz="1800" b="0" i="0" u="none" strike="noStrike" baseline="0" dirty="0">
                <a:latin typeface="Wingdings-Regular"/>
              </a:rPr>
              <a:t>  </a:t>
            </a:r>
            <a:r>
              <a:rPr lang="zh-CN" altLang="en-US" sz="1800" b="1" i="0" u="none" strike="noStrike" baseline="0" dirty="0">
                <a:latin typeface="SourceHanSansSC-Bold"/>
              </a:rPr>
              <a:t>挣值分析。</a:t>
            </a:r>
            <a:r>
              <a:rPr lang="zh-CN" altLang="en-US" sz="1800" b="0" i="0" u="none" strike="noStrike" baseline="0" dirty="0">
                <a:latin typeface="SourceHanSansSC-Regular"/>
              </a:rPr>
              <a:t>见 </a:t>
            </a:r>
            <a:r>
              <a:rPr lang="en-US" altLang="zh-CN" sz="1800" b="0" i="0" u="none" strike="noStrike" baseline="0" dirty="0">
                <a:latin typeface="HelveticaNeue-Condensed"/>
              </a:rPr>
              <a:t>7.4.2.2 </a:t>
            </a:r>
            <a:r>
              <a:rPr lang="zh-CN" altLang="en-US" sz="1800" b="0" i="0" u="none" strike="noStrike" baseline="0" dirty="0">
                <a:latin typeface="SourceHanSansSC-Regular"/>
              </a:rPr>
              <a:t>节。挣值分析对范围、进度和成本绩效进行了综合分析。</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a:t>
            </a:r>
            <a:r>
              <a:rPr lang="zh-CN" altLang="en-US" sz="1800" b="0" i="0" u="none" strike="noStrike" baseline="0" dirty="0">
                <a:latin typeface="SourceHanSansSC-Regular"/>
              </a:rPr>
              <a:t>见 </a:t>
            </a:r>
            <a:r>
              <a:rPr lang="en-US" altLang="zh-CN" sz="1800" b="0" i="0" u="none" strike="noStrike" baseline="0" dirty="0">
                <a:latin typeface="HelveticaNeue-Condensed"/>
              </a:rPr>
              <a:t>8.2.2.2 </a:t>
            </a:r>
            <a:r>
              <a:rPr lang="zh-CN" altLang="en-US" sz="1800" b="0" i="0" u="none" strike="noStrike" baseline="0" dirty="0">
                <a:latin typeface="SourceHanSansSC-Regular"/>
              </a:rPr>
              <a:t>节。根本原因分析关注识别问题的主要原因，它可用于识别出现偏差的原因以及项目经理为达成项目目标应重点关注的领域。</a:t>
            </a:r>
          </a:p>
          <a:p>
            <a:pPr algn="l"/>
            <a:r>
              <a:rPr lang="en-US" altLang="zh-CN" sz="1800" b="0" i="0" u="none" strike="noStrike" baseline="0" dirty="0">
                <a:latin typeface="Wingdings-Regular"/>
              </a:rPr>
              <a:t>  </a:t>
            </a:r>
            <a:r>
              <a:rPr lang="zh-CN" altLang="en-US" sz="1800" b="1" i="0" u="none" strike="noStrike" baseline="0" dirty="0">
                <a:latin typeface="SourceHanSansSC-Bold"/>
              </a:rPr>
              <a:t>趋势分析。</a:t>
            </a:r>
            <a:r>
              <a:rPr lang="zh-CN" altLang="en-US" sz="1800" b="0" i="0" u="none" strike="noStrike" baseline="0" dirty="0">
                <a:latin typeface="SourceHanSansSC-Regular"/>
              </a:rPr>
              <a:t>趋势分析根据以往结果预测未来绩效，它可以预测项目的进度延误，提前让项目经理意识到，按照既定趋势发展，后期进度可能出现的问题。应该在足够早的项目时间进行趋势分析，使项目团队有时间分析和纠正任何异常。可以根据趋势分析的结果，提出必要的预防措施建议。</a:t>
            </a:r>
          </a:p>
          <a:p>
            <a:pPr algn="l"/>
            <a:r>
              <a:rPr lang="en-US" altLang="zh-CN" sz="1800" b="0" i="0" u="none" strike="noStrike" baseline="0" dirty="0">
                <a:latin typeface="Wingdings-Regular"/>
              </a:rPr>
              <a:t>  </a:t>
            </a:r>
            <a:r>
              <a:rPr lang="zh-CN" altLang="en-US" sz="1800" b="1" i="0" u="none" strike="noStrike" baseline="0" dirty="0">
                <a:latin typeface="SourceHanSansSC-Bold"/>
              </a:rPr>
              <a:t>偏差分析。</a:t>
            </a:r>
            <a:r>
              <a:rPr lang="zh-CN" altLang="en-US" sz="1800" b="0" i="0" u="none" strike="noStrike" baseline="0" dirty="0">
                <a:latin typeface="SourceHanSansSC-Regular"/>
              </a:rPr>
              <a:t>偏差分析审查目标绩效与实际绩效之间的差异（或偏差），可涉及持续时间估算、成本估算、资源使用、资源费率、技术绩效和其他测量指标。可以在每个知识领域，针对特定变量，开展偏差分析。在监控项目工作过程中，通过偏差分析对成本、时间、技术和资源偏差进行综合分析，以了解项目的总体偏差情况。这样就便于采取合适的预防或纠正措施。</a:t>
            </a:r>
          </a:p>
          <a:p>
            <a:pPr algn="l"/>
            <a:r>
              <a:rPr lang="en-US" altLang="zh-CN" sz="1800" b="0" i="0" u="none" strike="noStrike" baseline="0" dirty="0">
                <a:latin typeface="HelveticaNeue-MediumCond"/>
              </a:rPr>
              <a:t>4.5.2.3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可用于本过程的决策技术包括（但不限于）投票。如 </a:t>
            </a:r>
            <a:r>
              <a:rPr lang="en-US" altLang="zh-CN" sz="1800" b="0" i="0" u="none" strike="noStrike" baseline="0" dirty="0">
                <a:latin typeface="HelveticaNeue-Condensed"/>
              </a:rPr>
              <a:t>5.2.2.4 </a:t>
            </a:r>
            <a:r>
              <a:rPr lang="zh-CN" altLang="en-US" sz="1800" b="0" i="0" u="none" strike="noStrike" baseline="0" dirty="0">
                <a:latin typeface="SourceHanSansSC-Regular"/>
              </a:rPr>
              <a:t>所述，投票可以包括用下列方法进行决策：一致同意、大多数同意或相对多数原则。</a:t>
            </a:r>
          </a:p>
          <a:p>
            <a:pPr algn="l"/>
            <a:r>
              <a:rPr lang="en-US" altLang="zh-CN" sz="1800" b="0" i="0" u="none" strike="noStrike" baseline="0" dirty="0">
                <a:latin typeface="HelveticaNeue-MediumCond"/>
              </a:rPr>
              <a:t>4.5.2.4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会议可以是面对面或虚拟会议，正式或非正式会议。参会者可以包括项目团队成员和其他合适的项目相关方；会议的类型包括（但不限于）用户小组会议和用户审查会议。</a:t>
            </a:r>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502455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solidFill>
                  <a:srgbClr val="262626"/>
                </a:solidFill>
                <a:latin typeface="HiddenHorzOCR"/>
              </a:rPr>
              <a:t>项目管理计划为</a:t>
            </a:r>
            <a:r>
              <a:rPr lang="zh-CN" altLang="en-US" sz="1800" b="0" i="0" u="none" strike="noStrike" baseline="0" dirty="0">
                <a:solidFill>
                  <a:srgbClr val="262626"/>
                </a:solidFill>
                <a:latin typeface="HiddenHorzOCR"/>
              </a:rPr>
              <a:t>确认和控制项目变更提供</a:t>
            </a:r>
            <a:r>
              <a:rPr lang="zh-CN" altLang="en-US" sz="1800" b="0" i="0" u="none" strike="noStrike" baseline="0" dirty="0">
                <a:solidFill>
                  <a:srgbClr val="4E4E4E"/>
                </a:solidFill>
                <a:latin typeface="HiddenHorzOCR"/>
              </a:rPr>
              <a:t>了</a:t>
            </a:r>
            <a:r>
              <a:rPr lang="zh-CN" altLang="en-US" sz="1800" b="0" i="0" u="none" strike="noStrike" baseline="0" dirty="0">
                <a:solidFill>
                  <a:srgbClr val="262626"/>
                </a:solidFill>
                <a:latin typeface="HiddenHorzOCR"/>
              </a:rPr>
              <a:t>基准。基准</a:t>
            </a:r>
            <a:r>
              <a:rPr lang="en-US" altLang="zh-CN" sz="1800" b="0" i="0" u="none" strike="noStrike" baseline="0" dirty="0">
                <a:solidFill>
                  <a:srgbClr val="262626"/>
                </a:solidFill>
                <a:latin typeface="HiddenHorzOCR"/>
              </a:rPr>
              <a:t>( baseline) </a:t>
            </a:r>
            <a:r>
              <a:rPr lang="zh-CN" altLang="en-US" sz="1800" b="0" i="0" u="none" strike="noStrike" baseline="0" dirty="0">
                <a:solidFill>
                  <a:srgbClr val="262626"/>
                </a:solidFill>
                <a:latin typeface="HiddenHorzOCR"/>
              </a:rPr>
              <a:t>是批准的项目管理计划加上核准的变更。</a:t>
            </a:r>
            <a:endParaRPr lang="en-US" altLang="zh-CN" sz="1800" b="0" i="0" u="none" strike="noStrike" baseline="0" dirty="0">
              <a:solidFill>
                <a:srgbClr val="262626"/>
              </a:solidFill>
              <a:latin typeface="HiddenHorzOCR"/>
            </a:endParaRPr>
          </a:p>
          <a:p>
            <a:pPr algn="l"/>
            <a:r>
              <a:rPr lang="zh-CN" altLang="en-US" sz="1800" b="0" i="0" u="none" strike="noStrike" baseline="0" dirty="0">
                <a:solidFill>
                  <a:srgbClr val="0E0E0E"/>
                </a:solidFill>
                <a:latin typeface="HiddenHorzOCR"/>
              </a:rPr>
              <a:t>例如，有关计划的部分</a:t>
            </a:r>
            <a:r>
              <a:rPr lang="zh-CN" altLang="en-US" sz="1800" b="0" i="0" u="none" strike="noStrike" baseline="0" dirty="0">
                <a:solidFill>
                  <a:srgbClr val="262626"/>
                </a:solidFill>
                <a:latin typeface="HiddenHorzOCR"/>
              </a:rPr>
              <a:t>描述了项目的主要成果、产品和质量要求；项目管理计划进度表列出了计划完成的关键成果的日期；项目管理计划预算部分列出了完成这些成果的计划成本</a:t>
            </a:r>
            <a:r>
              <a:rPr lang="zh-CN" altLang="en-US" sz="1800" b="0" i="0" u="none" strike="noStrike" baseline="0" dirty="0">
                <a:solidFill>
                  <a:srgbClr val="767676"/>
                </a:solidFill>
                <a:latin typeface="HiddenHorzOCR"/>
              </a:rPr>
              <a:t>。</a:t>
            </a:r>
            <a:r>
              <a:rPr lang="zh-CN" altLang="en-US" sz="1800" b="0" i="0" u="none" strike="noStrike" baseline="0" dirty="0">
                <a:solidFill>
                  <a:srgbClr val="3C3C3C"/>
                </a:solidFill>
                <a:latin typeface="HiddenHorzOCR"/>
              </a:rPr>
              <a:t>项目团队的工作必须按计划</a:t>
            </a:r>
            <a:r>
              <a:rPr lang="zh-CN" altLang="en-US" sz="1800" b="0" i="0" u="none" strike="noStrike" baseline="0" dirty="0">
                <a:solidFill>
                  <a:srgbClr val="262626"/>
                </a:solidFill>
                <a:latin typeface="HiddenHorzOCR"/>
              </a:rPr>
              <a:t>进行，如果项目团队或其它人在实施项目过程中做出了变更，就必须修改项目管理计划，并由项目发起人予且批准。</a:t>
            </a:r>
            <a:endParaRPr lang="en-US" altLang="zh-CN" sz="1800" b="0" i="0" u="none" strike="noStrike" baseline="0" dirty="0">
              <a:solidFill>
                <a:srgbClr val="262626"/>
              </a:solidFill>
              <a:latin typeface="HiddenHorzOCR"/>
            </a:endParaRPr>
          </a:p>
          <a:p>
            <a:pPr algn="l"/>
            <a:endParaRPr lang="en-US" altLang="zh-CN" sz="1800" b="0" i="0" u="none" strike="noStrike" baseline="0" dirty="0">
              <a:solidFill>
                <a:srgbClr val="262626"/>
              </a:solidFill>
              <a:latin typeface="HiddenHorzOCR"/>
            </a:endParaRPr>
          </a:p>
          <a:p>
            <a:pPr algn="l"/>
            <a:r>
              <a:rPr lang="zh-CN" altLang="en-US" sz="1800" b="1" i="0" u="none" strike="noStrike" baseline="0" dirty="0">
                <a:solidFill>
                  <a:srgbClr val="262626"/>
                </a:solidFill>
                <a:latin typeface="HiddenHorzOCR"/>
              </a:rPr>
              <a:t>绩效报告</a:t>
            </a:r>
            <a:r>
              <a:rPr lang="zh-CN" altLang="en-US" sz="1800" b="0" i="0" u="none" strike="noStrike" baseline="0" dirty="0">
                <a:solidFill>
                  <a:srgbClr val="262626"/>
                </a:solidFill>
                <a:latin typeface="HiddenHorzOCR"/>
              </a:rPr>
              <a:t>使用这些资料来提供关于项目执行情况的信息</a:t>
            </a:r>
            <a:r>
              <a:rPr lang="zh-CN" altLang="en-US" sz="1800" b="0" i="0" u="none" strike="noStrike" baseline="0" dirty="0">
                <a:solidFill>
                  <a:srgbClr val="4E4E4E"/>
                </a:solidFill>
                <a:latin typeface="HiddenHorzOCR"/>
              </a:rPr>
              <a:t>。</a:t>
            </a:r>
            <a:r>
              <a:rPr lang="zh-CN" altLang="en-US" sz="1800" b="0" i="0" u="none" strike="noStrike" baseline="0" dirty="0">
                <a:solidFill>
                  <a:srgbClr val="262626"/>
                </a:solidFill>
                <a:latin typeface="HiddenHorzOCR"/>
              </a:rPr>
              <a:t>其主要目的是提醒项目经理和项目团队那些导致问题产生或可能引发问题的因素</a:t>
            </a:r>
            <a:r>
              <a:rPr lang="zh-CN" altLang="en-US" sz="1800" b="0" i="0" u="none" strike="noStrike" baseline="0" dirty="0">
                <a:solidFill>
                  <a:srgbClr val="4E4E4E"/>
                </a:solidFill>
                <a:latin typeface="HiddenHorzOCR"/>
              </a:rPr>
              <a:t>。</a:t>
            </a:r>
            <a:r>
              <a:rPr lang="zh-CN" altLang="en-US" sz="1800" b="0" i="0" u="none" strike="noStrike" baseline="0" dirty="0">
                <a:solidFill>
                  <a:srgbClr val="262626"/>
                </a:solidFill>
                <a:latin typeface="HiddenHorzOCR"/>
              </a:rPr>
              <a:t>项目经理和项目团队必须持续监控项目工作，以决定是否需要采取修正或预防措施、最佳的行动路线是什么、何时采取行动</a:t>
            </a:r>
            <a:r>
              <a:rPr lang="zh-CN" altLang="en-US" sz="1800" b="0" i="0" u="none" strike="noStrike" baseline="0" dirty="0">
                <a:solidFill>
                  <a:srgbClr val="5D5D5D"/>
                </a:solidFill>
                <a:latin typeface="HiddenHorzOC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517463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262626"/>
                </a:solidFill>
                <a:latin typeface="HiddenHorzOCR"/>
              </a:rPr>
              <a:t>举例来说，如果项目团队成员没有报告他们的进度，</a:t>
            </a:r>
            <a:r>
              <a:rPr lang="zh-CN" altLang="en-US" sz="1800" b="1" i="0" u="none" strike="noStrike" baseline="0" dirty="0">
                <a:solidFill>
                  <a:srgbClr val="262626"/>
                </a:solidFill>
                <a:latin typeface="HiddenHorzOCR"/>
              </a:rPr>
              <a:t>纠正措施</a:t>
            </a:r>
            <a:r>
              <a:rPr lang="zh-CN" altLang="en-US" sz="1800" b="0" i="0" u="none" strike="noStrike" baseline="0" dirty="0">
                <a:solidFill>
                  <a:srgbClr val="262626"/>
                </a:solidFill>
                <a:latin typeface="HiddenHorzOCR"/>
              </a:rPr>
              <a:t>可以提示他们应该如何报告进度</a:t>
            </a:r>
            <a:r>
              <a:rPr lang="zh-CN" altLang="en-US" sz="1800" b="0" i="0" u="none" strike="noStrike" baseline="0" dirty="0">
                <a:solidFill>
                  <a:srgbClr val="767676"/>
                </a:solidFill>
                <a:latin typeface="HiddenHorzOCR"/>
              </a:rPr>
              <a:t>；一个</a:t>
            </a:r>
            <a:r>
              <a:rPr lang="zh-CN" altLang="en-US" sz="1800" b="1" i="0" u="none" strike="noStrike" baseline="0" dirty="0">
                <a:solidFill>
                  <a:srgbClr val="262626"/>
                </a:solidFill>
                <a:latin typeface="HiddenHorzOCR"/>
              </a:rPr>
              <a:t>预防措施</a:t>
            </a:r>
            <a:r>
              <a:rPr lang="zh-CN" altLang="en-US" sz="1800" b="0" i="0" u="none" strike="noStrike" baseline="0" dirty="0">
                <a:solidFill>
                  <a:srgbClr val="262626"/>
                </a:solidFill>
                <a:latin typeface="HiddenHorzOCR"/>
              </a:rPr>
              <a:t>是可以是管理系统在屏幕上出现的一个提示，以避免这个过去犯过的错误；</a:t>
            </a:r>
            <a:r>
              <a:rPr lang="zh-CN" altLang="en-US" sz="1800" b="1" i="0" u="none" strike="noStrike" baseline="0" dirty="0">
                <a:solidFill>
                  <a:srgbClr val="262626"/>
                </a:solidFill>
                <a:latin typeface="HiddenHorzOCR"/>
              </a:rPr>
              <a:t>缺陷补救措施</a:t>
            </a:r>
            <a:r>
              <a:rPr lang="zh-CN" altLang="en-US" sz="1800" b="0" i="0" u="none" strike="noStrike" baseline="0" dirty="0">
                <a:solidFill>
                  <a:srgbClr val="262626"/>
                </a:solidFill>
                <a:latin typeface="HiddenHorzOCR"/>
              </a:rPr>
              <a:t>可能让某人将错误的部分重做</a:t>
            </a:r>
            <a:r>
              <a:rPr lang="zh-CN" altLang="en-US" sz="1800" b="0" i="0" u="none" strike="noStrike" baseline="0" dirty="0">
                <a:solidFill>
                  <a:srgbClr val="5D5D5D"/>
                </a:solidFill>
                <a:latin typeface="HiddenHorzOCR"/>
              </a:rPr>
              <a:t>。</a:t>
            </a:r>
            <a:endParaRPr lang="en-US" altLang="zh-CN" sz="1800" b="0" i="0" u="none" strike="noStrike" baseline="0" dirty="0">
              <a:solidFill>
                <a:srgbClr val="5D5D5D"/>
              </a:solidFill>
              <a:latin typeface="HiddenHorzOCR"/>
            </a:endParaRPr>
          </a:p>
          <a:p>
            <a:pPr algn="l"/>
            <a:r>
              <a:rPr lang="zh-CN" altLang="en-US" sz="1800" b="0" i="0" u="none" strike="noStrike" baseline="0" dirty="0">
                <a:solidFill>
                  <a:srgbClr val="262626"/>
                </a:solidFill>
                <a:latin typeface="HiddenHorzOCR"/>
              </a:rPr>
              <a:t>很多组织采用正式的变更请求过程和格式来跟踪项目变更。</a:t>
            </a:r>
            <a:endParaRPr lang="en-US" altLang="zh-CN" sz="1800" b="0" i="0" u="none" strike="noStrike" baseline="0" dirty="0">
              <a:solidFill>
                <a:srgbClr val="262626"/>
              </a:solidFill>
              <a:latin typeface="HiddenHorzOCR"/>
            </a:endParaRPr>
          </a:p>
          <a:p>
            <a:pPr algn="l"/>
            <a:endParaRPr lang="en-US" altLang="zh-CN" sz="1800" b="0" i="0" u="none" strike="noStrike" baseline="0" dirty="0">
              <a:solidFill>
                <a:srgbClr val="262626"/>
              </a:solidFill>
              <a:latin typeface="HiddenHorzOCR"/>
            </a:endParaRPr>
          </a:p>
          <a:p>
            <a:pPr algn="l"/>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监控项目工作</a:t>
            </a:r>
            <a:r>
              <a:rPr lang="en-US" altLang="zh-CN" sz="1800" b="0" i="0" u="none" strike="noStrike" baseline="0" dirty="0">
                <a:solidFill>
                  <a:srgbClr val="262626"/>
                </a:solidFill>
                <a:latin typeface="HiddenHorzOCR"/>
                <a:ea typeface="微软雅黑" panose="020B0503020204020204" pitchFamily="34" charset="-122"/>
                <a:cs typeface="Times New Roman" panose="02020603050405020304" pitchFamily="18" charset="0"/>
              </a:rPr>
              <a:t> </a:t>
            </a:r>
            <a:r>
              <a:rPr lang="zh-CN" altLang="en-US" sz="1800" b="0" i="0" u="none" strike="noStrike" baseline="0" dirty="0">
                <a:solidFill>
                  <a:srgbClr val="262626"/>
                </a:solidFill>
                <a:latin typeface="HiddenHorzOCR"/>
                <a:ea typeface="微软雅黑" panose="020B0503020204020204" pitchFamily="34" charset="-122"/>
                <a:cs typeface="Times New Roman" panose="02020603050405020304" pitchFamily="18" charset="0"/>
              </a:rPr>
              <a:t>对 监控子过程中的其它子过程的协调和整合管理，见下页</a:t>
            </a:r>
            <a:endParaRPr lang="en-US" altLang="zh-CN" sz="1800" b="0" i="0" u="none" strike="noStrike" baseline="0" dirty="0">
              <a:solidFill>
                <a:srgbClr val="262626"/>
              </a:solidFill>
              <a:latin typeface="HiddenHorzOCR"/>
              <a:ea typeface="微软雅黑" panose="020B0503020204020204" pitchFamily="34" charset="-122"/>
              <a:cs typeface="Times New Roman" panose="02020603050405020304" pitchFamily="18" charset="0"/>
            </a:endParaRPr>
          </a:p>
          <a:p>
            <a:pPr algn="l"/>
            <a:endParaRPr lang="en-US" altLang="zh-CN" sz="1800" b="0" i="0" u="none" strike="noStrike" baseline="0" dirty="0">
              <a:solidFill>
                <a:srgbClr val="262626"/>
              </a:solidFill>
              <a:latin typeface="HiddenHorzOCR"/>
              <a:ea typeface="微软雅黑" panose="020B0503020204020204" pitchFamily="34" charset="-122"/>
              <a:cs typeface="Times New Roman" panose="02020603050405020304" pitchFamily="18" charset="0"/>
            </a:endParaRPr>
          </a:p>
          <a:p>
            <a:pPr algn="l"/>
            <a:r>
              <a:rPr lang="en-US" altLang="zh-CN" sz="1800" b="0" i="0" u="none" strike="noStrike" baseline="0" dirty="0">
                <a:latin typeface="HelveticaNeue-MediumCond"/>
              </a:rPr>
              <a:t>4.5.3.1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工作绩效信息可以用实体或电子文档形式加以合并、记录和分发。基于工作绩效信息，以实体或电子文档形式编制工作绩效报告，以制定决策、采取行动或引起关注。根据项目沟通管理计划，通过沟通过程向项目相关方发送工作绩效报告。</a:t>
            </a:r>
          </a:p>
          <a:p>
            <a:pPr algn="l"/>
            <a:r>
              <a:rPr lang="zh-CN" altLang="en-US" sz="1800" b="0" i="0" u="none" strike="noStrike" baseline="0" dirty="0">
                <a:latin typeface="SourceHanSansSC-Regular"/>
              </a:rPr>
              <a:t>工作绩效报告的示例包括状态报告和进展报告。工作绩效报告可以包含挣值图表和信息、趋势线和预测、储备燃尽图、缺陷直方图、合同绩效信息和风险情况概述。可以表现为有助于引起关注、制定决策和采取行动的仪表指示图、热点报告、信号灯图或其他形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solidFill>
                  <a:srgbClr val="0070C0"/>
                </a:solidFill>
                <a:latin typeface="SourceHanSansSC-Regular"/>
              </a:rPr>
              <a:t>实施整体变更控制</a:t>
            </a:r>
            <a:r>
              <a:rPr lang="zh-CN" altLang="en-US" sz="1800" b="0" i="0" u="none" strike="noStrike" baseline="0" dirty="0">
                <a:latin typeface="SourceHanSansSC-Regular"/>
              </a:rPr>
              <a:t>过程贯穿项目始终，项目经理对此承担最终责任。变更请求可能影响项目范围、产品范围以及任一项目管理计划组件或任一项目文件。在整个项目生命周期的任何时间，参与项目的任何相关方都可以提出变更请求。变更控制的实施程度，取决于项目所在应用领域、项目复杂程度、合同要求，以及项目所处的背景与环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变更只发生在基准确定之后：在基准确定之前，变更无需正式受控于实施整体变更控制过程。一旦确定了项目基准，就必须通过本过程来处理变更请求。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尽管也可以口头提出，但</a:t>
            </a:r>
            <a:r>
              <a:rPr lang="zh-CN" altLang="en-US" sz="1800" b="1" i="0" u="none" strike="noStrike" baseline="0" dirty="0">
                <a:latin typeface="SourceHanSansSC-Regular"/>
              </a:rPr>
              <a:t>所有变更请求都必须以书面形式记录，并纳入变更管理和（或）配置管理系统中</a:t>
            </a:r>
            <a:r>
              <a:rPr lang="zh-CN" altLang="en-US" sz="1800" b="0" i="0" u="none" strike="noStrike" baseline="0" dirty="0">
                <a:latin typeface="SourceHanSansSC-Regular"/>
              </a:rPr>
              <a:t>。在批准变更之前，可能需要了解变更对进度的影响和对成本的影响。在变更请求可能影响任一项目基准的情况下，都需要开展正式的整体变更控制过程。每项记录在案的变更请求都必须由一位责任人批准、推迟或否决，这个责任人通常是项目发起人或项目经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微软雅黑" panose="020B0503020204020204" pitchFamily="34" charset="-122"/>
                <a:ea typeface="微软雅黑" panose="020B0503020204020204" pitchFamily="34" charset="-122"/>
              </a:rPr>
              <a:t>属于监控过程组</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1979286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变更请求得到批准后，可能需要新编（或修订）成本估算、活动排序、进度日期、资源需求和（或）风险应对方案分析，这些变更可能要求调整项目管理计划和其他项目文件。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4.6.1.1 </a:t>
            </a:r>
            <a:r>
              <a:rPr lang="zh-CN" altLang="en-US" sz="1800" b="0" i="0" u="none" strike="noStrike" baseline="0" dirty="0">
                <a:latin typeface="SourceHanSansSC-Medium"/>
              </a:rPr>
              <a:t>项目管理计划</a:t>
            </a:r>
          </a:p>
          <a:p>
            <a:pPr algn="l"/>
            <a:r>
              <a:rPr lang="zh-CN" altLang="en-US" sz="1800" b="1" i="0" u="none" strike="noStrike" baseline="0" dirty="0">
                <a:latin typeface="SourceHanSansSC-Bold"/>
              </a:rPr>
              <a:t>变更管理计划。</a:t>
            </a:r>
            <a:r>
              <a:rPr lang="zh-CN" altLang="en-US" sz="1800" b="0" i="0" u="none" strike="noStrike" baseline="0" dirty="0">
                <a:latin typeface="SourceHanSansSC-Regular"/>
              </a:rPr>
              <a:t>变更管理计划为管理变更控制过程提供指导，并记录变更控制委员会（</a:t>
            </a:r>
            <a:r>
              <a:rPr lang="en-US" altLang="zh-CN" sz="1800" b="0" i="0" u="none" strike="noStrike" baseline="0" dirty="0">
                <a:latin typeface="HelveticaNeue-Condensed"/>
              </a:rPr>
              <a:t>CCB</a:t>
            </a:r>
            <a:r>
              <a:rPr lang="zh-CN" altLang="en-US" sz="1800" b="0" i="0" u="none" strike="noStrike" baseline="0" dirty="0">
                <a:latin typeface="SourceHanSansSC-Regular"/>
              </a:rPr>
              <a:t>）的角色和职责。</a:t>
            </a:r>
          </a:p>
          <a:p>
            <a:pPr algn="l"/>
            <a:r>
              <a:rPr lang="zh-CN" altLang="en-US" sz="1800" b="1" i="0" u="none" strike="noStrike" baseline="0" dirty="0">
                <a:latin typeface="SourceHanSansSC-Bold"/>
              </a:rPr>
              <a:t>配置管理计划。</a:t>
            </a:r>
            <a:r>
              <a:rPr lang="zh-CN" altLang="en-US" sz="1800" b="0" i="0" u="none" strike="noStrike" baseline="0" dirty="0">
                <a:latin typeface="SourceHanSansSC-Regular"/>
              </a:rPr>
              <a:t>配置管理计划描述项目的配置项、识别应记录和更新的配置项，以便保持项目产品的一致性和有效性。</a:t>
            </a:r>
          </a:p>
          <a:p>
            <a:pPr algn="l"/>
            <a:r>
              <a:rPr lang="zh-CN" altLang="en-US" sz="1800" b="1" i="0" u="none" strike="noStrike" baseline="0" dirty="0">
                <a:latin typeface="SourceHanSansSC-Bold"/>
              </a:rPr>
              <a:t>范围基准。</a:t>
            </a:r>
            <a:r>
              <a:rPr lang="zh-CN" altLang="en-US" sz="1800" b="0" i="0" u="none" strike="noStrike" baseline="0" dirty="0">
                <a:latin typeface="SourceHanSansSC-Regular"/>
              </a:rPr>
              <a:t>范围基准提供项目和产品定义。</a:t>
            </a:r>
          </a:p>
          <a:p>
            <a:pPr algn="l"/>
            <a:r>
              <a:rPr lang="zh-CN" altLang="en-US" sz="1800" b="1" i="0" u="none" strike="noStrike" baseline="0" dirty="0">
                <a:latin typeface="SourceHanSansSC-Bold"/>
              </a:rPr>
              <a:t>进度基准。</a:t>
            </a:r>
            <a:r>
              <a:rPr lang="zh-CN" altLang="en-US" sz="1800" b="0" i="0" u="none" strike="noStrike" baseline="0" dirty="0">
                <a:latin typeface="SourceHanSansSC-Regular"/>
              </a:rPr>
              <a:t>进度基准用于评估变更对项目进度的影响。</a:t>
            </a:r>
          </a:p>
          <a:p>
            <a:pPr algn="l"/>
            <a:r>
              <a:rPr lang="zh-CN" altLang="en-US" sz="1800" b="1" i="0" u="none" strike="noStrike" baseline="0" dirty="0">
                <a:latin typeface="SourceHanSansSC-Bold"/>
              </a:rPr>
              <a:t>成本基准。</a:t>
            </a:r>
            <a:r>
              <a:rPr lang="zh-CN" altLang="en-US" sz="1800" b="0" i="0" u="none" strike="noStrike" baseline="0" dirty="0">
                <a:latin typeface="SourceHanSansSC-Regular"/>
              </a:rPr>
              <a:t>成本基准用于评估变更对项目成本的影响。</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4.6.1.2 </a:t>
            </a:r>
            <a:r>
              <a:rPr lang="zh-CN" altLang="en-US" sz="1800" b="0" i="0" u="none" strike="noStrike" baseline="0" dirty="0">
                <a:latin typeface="SourceHanSansSC-Medium"/>
              </a:rPr>
              <a:t>项目文件</a:t>
            </a:r>
          </a:p>
          <a:p>
            <a:pPr algn="l"/>
            <a:r>
              <a:rPr lang="zh-CN" altLang="en-US" sz="1800" b="1" i="0" u="none" strike="noStrike" baseline="0" dirty="0">
                <a:latin typeface="SourceHanSansSC-Bold"/>
              </a:rPr>
              <a:t>估算依据。</a:t>
            </a:r>
            <a:r>
              <a:rPr lang="zh-CN" altLang="en-US" sz="1800" b="0" i="0" u="none" strike="noStrike" baseline="0" dirty="0">
                <a:latin typeface="SourceHanSansSC-Regular"/>
              </a:rPr>
              <a:t>估算依据指出了持续时间、成本和资源估算是如何得出的，可用于计算变更对时间、预算和资源的影响。</a:t>
            </a:r>
          </a:p>
          <a:p>
            <a:pPr algn="l"/>
            <a:r>
              <a:rPr lang="zh-CN" altLang="en-US" sz="1800" b="1" i="0" u="none" strike="noStrike" baseline="0" dirty="0">
                <a:latin typeface="SourceHanSansSC-Bold"/>
              </a:rPr>
              <a:t>需求跟踪矩阵。</a:t>
            </a:r>
            <a:r>
              <a:rPr lang="zh-CN" altLang="en-US" sz="1800" b="0" i="0" u="none" strike="noStrike" baseline="0" dirty="0">
                <a:latin typeface="SourceHanSansSC-Regular"/>
              </a:rPr>
              <a:t>需求跟踪矩阵有助于评估变更对项目范围的影响。</a:t>
            </a:r>
          </a:p>
          <a:p>
            <a:pPr algn="l"/>
            <a:r>
              <a:rPr lang="zh-CN" altLang="en-US" sz="1800" b="1" i="0" u="none" strike="noStrike" baseline="0" dirty="0">
                <a:latin typeface="SourceHanSansSC-Bold"/>
              </a:rPr>
              <a:t>风险报告。</a:t>
            </a:r>
            <a:r>
              <a:rPr lang="zh-CN" altLang="en-US" sz="1800" b="0" i="0" u="none" strike="noStrike" baseline="0" dirty="0">
                <a:latin typeface="SourceHanSansSC-Regular"/>
              </a:rPr>
              <a:t>风险报告提供了与变更请求有关的整体和单个项目风险的来源的信息。</a:t>
            </a:r>
          </a:p>
          <a:p>
            <a:pPr algn="l"/>
            <a:r>
              <a:rPr lang="en-US" altLang="zh-CN" sz="1800" b="0" i="0" u="none" strike="noStrike" baseline="0" dirty="0">
                <a:latin typeface="HelveticaNeue-MediumCond"/>
              </a:rPr>
              <a:t>4.6.1.3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对实施整体变更控制过程特别有用的工作绩效报告包括：资源可用情况、进度和成本数据、挣值报告、燃烧图或燃尽图。</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4.6.1.4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很多过程都会输出变更请求。变更请求可能包含纠正措施、预防措施、缺陷补救，以及对正式受控的项目文件或可交付成果的更新，以反映修改或增加的意见或内容。变更可能影响项目基准，也可能不影响项目基准，而只影响相对于基准的项目绩效。变更决定通常由项目经理做出。</a:t>
            </a:r>
          </a:p>
          <a:p>
            <a:pPr algn="l"/>
            <a:r>
              <a:rPr lang="zh-CN" altLang="en-US" sz="1800" b="0" i="0" u="none" strike="noStrike" baseline="0" dirty="0">
                <a:latin typeface="SourceHanSansSC-Regular"/>
              </a:rPr>
              <a:t>对于会影响项目基准的变更，通常应该在变更请求中说明执行变更的成本、所需的计划日期修改、资源需求以及相关的风险。这种变更应由 </a:t>
            </a:r>
            <a:r>
              <a:rPr lang="en-US" altLang="zh-CN" sz="1800" b="0" i="0" u="none" strike="noStrike" baseline="0" dirty="0">
                <a:latin typeface="HelveticaNeue-Condensed"/>
              </a:rPr>
              <a:t>CCB</a:t>
            </a:r>
            <a:r>
              <a:rPr lang="en-US" altLang="zh-CN" sz="1800" b="0" i="0" u="none" strike="noStrike" baseline="0" dirty="0">
                <a:latin typeface="SourceHanSansSC-Regular"/>
              </a:rPr>
              <a:t>(</a:t>
            </a:r>
            <a:r>
              <a:rPr lang="zh-CN" altLang="en-US" sz="1800" b="0" i="0" u="none" strike="noStrike" baseline="0" dirty="0">
                <a:latin typeface="SourceHanSansSC-Regular"/>
              </a:rPr>
              <a:t>变更控制委员会</a:t>
            </a:r>
            <a:r>
              <a:rPr lang="en-US" altLang="zh-CN" sz="1800" b="0" i="0" u="none" strike="noStrike" baseline="0" dirty="0">
                <a:latin typeface="SourceHanSansSC-Regular"/>
              </a:rPr>
              <a:t>)(</a:t>
            </a:r>
            <a:r>
              <a:rPr lang="zh-CN" altLang="en-US" sz="1800" b="0" i="0" u="none" strike="noStrike" baseline="0" dirty="0">
                <a:latin typeface="SourceHanSansSC-Regular"/>
              </a:rPr>
              <a:t>如有的话</a:t>
            </a:r>
            <a:r>
              <a:rPr lang="en-US" altLang="zh-CN" sz="1800" b="0" i="0" u="none" strike="noStrike" baseline="0" dirty="0">
                <a:latin typeface="SourceHanSansSC-Regular"/>
              </a:rPr>
              <a:t>)</a:t>
            </a:r>
            <a:r>
              <a:rPr lang="zh-CN" altLang="en-US" sz="1800" b="0" i="0" u="none" strike="noStrike" baseline="0" dirty="0">
                <a:latin typeface="SourceHanSansSC-Regular"/>
              </a:rPr>
              <a:t>和客户或发起人审批，除非他们本身就是 </a:t>
            </a:r>
            <a:r>
              <a:rPr lang="en-US" altLang="zh-CN" sz="1800" b="0" i="0" u="none" strike="noStrike" baseline="0" dirty="0">
                <a:latin typeface="HelveticaNeue-Condensed"/>
              </a:rPr>
              <a:t>CCB </a:t>
            </a:r>
            <a:r>
              <a:rPr lang="zh-CN" altLang="en-US" sz="1800" b="0" i="0" u="none" strike="noStrike" baseline="0" dirty="0">
                <a:latin typeface="SourceHanSansSC-Regular"/>
              </a:rPr>
              <a:t>的成员。只有经批准的变更才能纳入修改后的基准。</a:t>
            </a:r>
          </a:p>
          <a:p>
            <a:pPr algn="l"/>
            <a:r>
              <a:rPr lang="en-US" altLang="zh-CN" sz="1800" b="0" i="0" u="none" strike="noStrike" baseline="0" dirty="0">
                <a:latin typeface="HelveticaNeue-MediumCond"/>
              </a:rPr>
              <a:t>4.6.1.5 </a:t>
            </a:r>
            <a:r>
              <a:rPr lang="zh-CN" altLang="en-US" sz="1800" b="0" i="0" u="none" strike="noStrike" baseline="0" dirty="0">
                <a:latin typeface="SourceHanSansSC-Medium"/>
              </a:rPr>
              <a:t>事业环境因素 （同前）</a:t>
            </a:r>
          </a:p>
          <a:p>
            <a:pPr algn="l"/>
            <a:r>
              <a:rPr lang="zh-CN" altLang="en-US" sz="1800" b="0" i="0" u="none" strike="noStrike" baseline="0" dirty="0">
                <a:latin typeface="SourceHanSansSC-Regular"/>
              </a:rPr>
              <a:t>法律限制，例如国家或地区法规；</a:t>
            </a:r>
          </a:p>
          <a:p>
            <a:pPr algn="l"/>
            <a:r>
              <a:rPr lang="zh-CN" altLang="en-US" sz="1800" b="0" i="0" u="none" strike="noStrike" baseline="0" dirty="0">
                <a:latin typeface="SourceHanSansSC-Regular"/>
              </a:rPr>
              <a:t>政府或行业标准（如产品标准、质量标准、安全标准和工艺标准）；</a:t>
            </a:r>
          </a:p>
          <a:p>
            <a:pPr algn="l"/>
            <a:r>
              <a:rPr lang="zh-CN" altLang="en-US" sz="1800" b="0" i="0" u="none" strike="noStrike" baseline="0" dirty="0">
                <a:latin typeface="SourceHanSansSC-Regular"/>
              </a:rPr>
              <a:t>法律法规要求和（或）制约因素；</a:t>
            </a:r>
          </a:p>
          <a:p>
            <a:pPr algn="l"/>
            <a:r>
              <a:rPr lang="zh-CN" altLang="en-US" sz="1800" b="0" i="0" u="none" strike="noStrike" baseline="0" dirty="0">
                <a:latin typeface="SourceHanSansSC-Regular"/>
              </a:rPr>
              <a:t>组织治理框架（通过安排人员、制定政策和确定过程，以结构化的方式实施控制、指导和协调，以实现组织的战略和运营目标）；</a:t>
            </a:r>
          </a:p>
          <a:p>
            <a:pPr algn="l"/>
            <a:r>
              <a:rPr lang="zh-CN" altLang="en-US" sz="1800" b="0" i="0" u="none" strike="noStrike" baseline="0" dirty="0">
                <a:latin typeface="SourceHanSansSC-Regular"/>
              </a:rPr>
              <a:t>合同和采购制约因素。</a:t>
            </a:r>
          </a:p>
          <a:p>
            <a:pPr algn="l"/>
            <a:r>
              <a:rPr lang="en-US" altLang="zh-CN" sz="1800" b="0" i="0" u="none" strike="noStrike" baseline="0" dirty="0">
                <a:latin typeface="HelveticaNeue-MediumCond"/>
              </a:rPr>
              <a:t>4.6.1.6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变更控制程序，包括修改组织标准、政策、计划和程序（或任一项目文件）所须遵循的步骤，以及如何批准和确认变更；</a:t>
            </a:r>
          </a:p>
          <a:p>
            <a:pPr algn="l"/>
            <a:r>
              <a:rPr lang="zh-CN" altLang="en-US" sz="1800" b="0" i="0" u="none" strike="noStrike" baseline="0" dirty="0">
                <a:latin typeface="SourceHanSansSC-Regular"/>
              </a:rPr>
              <a:t>批准与签发变更的程序；</a:t>
            </a:r>
          </a:p>
          <a:p>
            <a:pPr algn="l"/>
            <a:r>
              <a:rPr lang="zh-CN" altLang="en-US" sz="1800" b="0" i="0" u="none" strike="noStrike" baseline="0" dirty="0">
                <a:latin typeface="SourceHanSansSC-Regular"/>
              </a:rPr>
              <a:t>配置管理知识库，包括组织标准、政策、程序和项目文件的各种版本及基准。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24991218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solidFill>
                  <a:srgbClr val="3A3A3A"/>
                </a:solidFill>
                <a:latin typeface="HiddenHorzOCR"/>
              </a:rPr>
              <a:t>（</a:t>
            </a:r>
            <a:r>
              <a:rPr lang="en-US" altLang="zh-CN" sz="1200" b="0" i="0" u="none" strike="noStrike" baseline="0" dirty="0">
                <a:solidFill>
                  <a:srgbClr val="3A3A3A"/>
                </a:solidFill>
                <a:latin typeface="HiddenHorzOCR"/>
              </a:rPr>
              <a:t>1</a:t>
            </a:r>
            <a:r>
              <a:rPr lang="zh-CN" altLang="en-US" sz="1200" b="0" i="0" u="none" strike="noStrike" baseline="0" dirty="0">
                <a:solidFill>
                  <a:srgbClr val="3A3A3A"/>
                </a:solidFill>
                <a:latin typeface="HiddenHorzOCR"/>
              </a:rPr>
              <a:t>）要确保变更都是有益的，而且项目是</a:t>
            </a:r>
            <a:r>
              <a:rPr lang="zh-CN" altLang="en-US" sz="1200" b="0" i="0" u="none" strike="noStrike" baseline="0" dirty="0">
                <a:solidFill>
                  <a:srgbClr val="262626"/>
                </a:solidFill>
                <a:latin typeface="HiddenHorzOCR"/>
              </a:rPr>
              <a:t>成功的，项目经理和其团队必须在项目各重点要素中做出权衡，如范围、时间、成本和</a:t>
            </a:r>
            <a:r>
              <a:rPr lang="zh-CN" altLang="en-US" sz="1200" b="0" i="0" u="none" strike="noStrike" baseline="0" dirty="0">
                <a:solidFill>
                  <a:srgbClr val="3A3A3A"/>
                </a:solidFill>
                <a:latin typeface="HiddenHorzOCR"/>
              </a:rPr>
              <a:t>质量</a:t>
            </a:r>
            <a:r>
              <a:rPr lang="zh-CN" altLang="en-US" sz="1200" b="0" i="0" u="none" strike="noStrike" baseline="0" dirty="0">
                <a:solidFill>
                  <a:srgbClr val="626262"/>
                </a:solidFill>
                <a:latin typeface="HiddenHorzOCR"/>
              </a:rPr>
              <a:t>。</a:t>
            </a:r>
            <a:endParaRPr lang="en-US" altLang="zh-CN" sz="1200" b="0" i="0" u="none" strike="noStrike" baseline="0" dirty="0">
              <a:solidFill>
                <a:srgbClr val="626262"/>
              </a:solidFill>
              <a:latin typeface="HiddenHorzOCR"/>
            </a:endParaRPr>
          </a:p>
          <a:p>
            <a:pPr algn="l"/>
            <a:r>
              <a:rPr lang="zh-CN" altLang="en-US" sz="1200" b="0" i="0" u="none" strike="noStrike" baseline="0" dirty="0">
                <a:solidFill>
                  <a:srgbClr val="626262"/>
                </a:solidFill>
                <a:latin typeface="HiddenHorzOCR"/>
              </a:rPr>
              <a:t>（</a:t>
            </a:r>
            <a:r>
              <a:rPr lang="en-US" altLang="zh-CN" sz="1200" b="0" i="0" u="none" strike="noStrike" baseline="0" dirty="0">
                <a:solidFill>
                  <a:srgbClr val="626262"/>
                </a:solidFill>
                <a:latin typeface="HiddenHorzOCR"/>
              </a:rPr>
              <a:t>2</a:t>
            </a:r>
            <a:r>
              <a:rPr lang="zh-CN" altLang="en-US" sz="1200" b="0" i="0" u="none" strike="noStrike" baseline="0" dirty="0">
                <a:solidFill>
                  <a:srgbClr val="626262"/>
                </a:solidFill>
                <a:latin typeface="HiddenHorzOCR"/>
              </a:rPr>
              <a:t>）</a:t>
            </a:r>
            <a:r>
              <a:rPr lang="zh-CN" altLang="en-US" sz="1200" b="0" i="0" u="none" strike="noStrike" baseline="0" dirty="0">
                <a:solidFill>
                  <a:srgbClr val="3A3A3A"/>
                </a:solidFill>
                <a:latin typeface="HiddenHorzOCR"/>
              </a:rPr>
              <a:t>要确定一个变更是否已经发生，项目经理就必须时刻了解项目重点领域</a:t>
            </a:r>
            <a:r>
              <a:rPr lang="zh-CN" altLang="en-US" sz="1200" b="0" i="0" u="none" strike="noStrike" baseline="0" dirty="0">
                <a:solidFill>
                  <a:srgbClr val="262626"/>
                </a:solidFill>
                <a:latin typeface="HiddenHorzOCR"/>
              </a:rPr>
              <a:t>的状态</a:t>
            </a:r>
            <a:r>
              <a:rPr lang="zh-CN" altLang="en-US" sz="1200" b="0" i="0" u="none" strike="noStrike" baseline="0" dirty="0">
                <a:solidFill>
                  <a:srgbClr val="626262"/>
                </a:solidFill>
                <a:latin typeface="HiddenHorzOCR"/>
              </a:rPr>
              <a:t>。</a:t>
            </a:r>
            <a:r>
              <a:rPr lang="zh-CN" altLang="en-US" sz="1200" b="0" i="0" u="none" strike="noStrike" baseline="0" dirty="0">
                <a:solidFill>
                  <a:srgbClr val="3A3A3A"/>
                </a:solidFill>
                <a:latin typeface="HiddenHorzOCR"/>
              </a:rPr>
              <a:t>此外，项目经理还必须与高层管理人员和关键利益相关者就重大变更进行沟</a:t>
            </a:r>
            <a:r>
              <a:rPr lang="zh-CN" altLang="en-US" sz="1200" b="0" i="0" u="none" strike="noStrike" baseline="0" dirty="0">
                <a:solidFill>
                  <a:srgbClr val="262626"/>
                </a:solidFill>
                <a:latin typeface="HiddenHorzOCR"/>
              </a:rPr>
              <a:t>通</a:t>
            </a:r>
            <a:r>
              <a:rPr lang="zh-CN" altLang="en-US" sz="1200" b="0" i="0" u="none" strike="noStrike" baseline="0" dirty="0">
                <a:solidFill>
                  <a:srgbClr val="4B4B4B"/>
                </a:solidFill>
                <a:latin typeface="HiddenHorzOCR"/>
              </a:rPr>
              <a:t>。</a:t>
            </a:r>
            <a:r>
              <a:rPr lang="zh-CN" altLang="en-US" sz="1200" b="0" i="0" u="none" strike="noStrike" baseline="0" dirty="0">
                <a:solidFill>
                  <a:srgbClr val="262626"/>
                </a:solidFill>
                <a:latin typeface="HiddenHorzOCR"/>
              </a:rPr>
              <a:t>高层管理人员和其他关键的利益相关者一般是不喜欢变更的，因为很多变更意味着项目可能会减少产出、需要更多时间、费用超出计划以及质量低于预期，只有少部分变更会变得更好，如采用新的更好的技术</a:t>
            </a:r>
            <a:r>
              <a:rPr lang="zh-CN" altLang="en-US" sz="1200" b="0" i="0" u="none" strike="noStrike" baseline="0" dirty="0">
                <a:solidFill>
                  <a:srgbClr val="626262"/>
                </a:solidFill>
                <a:latin typeface="HiddenHorzOCR"/>
              </a:rPr>
              <a:t>。</a:t>
            </a:r>
            <a:endParaRPr lang="en-US" altLang="zh-CN" sz="1200" b="0" i="0" u="none" strike="noStrike" baseline="0" dirty="0">
              <a:solidFill>
                <a:srgbClr val="626262"/>
              </a:solidFill>
              <a:latin typeface="HiddenHorzOCR"/>
            </a:endParaRPr>
          </a:p>
          <a:p>
            <a:pPr algn="l"/>
            <a:r>
              <a:rPr lang="zh-CN" altLang="en-US" sz="1200" b="0" i="0" u="none" strike="noStrike" baseline="0" dirty="0">
                <a:solidFill>
                  <a:srgbClr val="626262"/>
                </a:solidFill>
                <a:latin typeface="HiddenHorzOCR"/>
              </a:rPr>
              <a:t>（</a:t>
            </a:r>
            <a:r>
              <a:rPr lang="en-US" altLang="zh-CN" sz="1200" b="0" i="0" u="none" strike="noStrike" baseline="0" dirty="0">
                <a:solidFill>
                  <a:srgbClr val="626262"/>
                </a:solidFill>
                <a:latin typeface="HiddenHorzOCR"/>
              </a:rPr>
              <a:t>3</a:t>
            </a:r>
            <a:r>
              <a:rPr lang="zh-CN" altLang="en-US" sz="1200" b="0" i="0" u="none" strike="noStrike" baseline="0" dirty="0">
                <a:solidFill>
                  <a:srgbClr val="626262"/>
                </a:solidFill>
                <a:latin typeface="HiddenHorzOCR"/>
              </a:rPr>
              <a:t>）</a:t>
            </a:r>
            <a:r>
              <a:rPr lang="zh-CN" altLang="en-US" sz="1200" b="0" i="0" u="none" strike="noStrike" baseline="0" dirty="0">
                <a:solidFill>
                  <a:srgbClr val="262626"/>
                </a:solidFill>
                <a:latin typeface="HiddenHorzOCR"/>
              </a:rPr>
              <a:t>管理变更是项目经理及其团</a:t>
            </a:r>
            <a:r>
              <a:rPr lang="zh-CN" altLang="en-US" sz="1200" b="0" i="0" u="none" strike="noStrike" baseline="0" dirty="0">
                <a:solidFill>
                  <a:srgbClr val="4B4B4B"/>
                </a:solidFill>
                <a:latin typeface="HiddenHorzOCR"/>
              </a:rPr>
              <a:t>队的一个重要任</a:t>
            </a:r>
            <a:r>
              <a:rPr lang="zh-CN" altLang="en-US" sz="1200" b="0" i="0" u="none" strike="noStrike" baseline="0" dirty="0">
                <a:solidFill>
                  <a:srgbClr val="262626"/>
                </a:solidFill>
                <a:latin typeface="HiddenHorzOCR"/>
              </a:rPr>
              <a:t>务</a:t>
            </a:r>
            <a:r>
              <a:rPr lang="zh-CN" altLang="en-US" sz="1200" b="0" i="0" u="none" strike="noStrike" baseline="0" dirty="0">
                <a:solidFill>
                  <a:srgbClr val="626262"/>
                </a:solidFill>
                <a:latin typeface="HiddenHorzOCR"/>
              </a:rPr>
              <a:t>。</a:t>
            </a:r>
            <a:r>
              <a:rPr lang="zh-CN" altLang="en-US" sz="1200" b="0" i="0" u="none" strike="noStrike" baseline="0" dirty="0">
                <a:solidFill>
                  <a:srgbClr val="3A3A3A"/>
                </a:solidFill>
                <a:latin typeface="HiddenHorzOCR"/>
              </a:rPr>
              <a:t>项目经埋在项目管理中</a:t>
            </a:r>
            <a:r>
              <a:rPr lang="zh-CN" altLang="en-US" sz="1200" b="0" i="0" u="none" strike="noStrike" baseline="0" dirty="0">
                <a:solidFill>
                  <a:srgbClr val="262626"/>
                </a:solidFill>
                <a:latin typeface="HiddenHorzOCR"/>
              </a:rPr>
              <a:t>强调纪律性，以减少变更的发生，这是非常重要的</a:t>
            </a:r>
            <a:r>
              <a:rPr lang="zh-CN" altLang="en-US" sz="1200" b="0" i="0" u="none" strike="noStrike" baseline="0" dirty="0">
                <a:solidFill>
                  <a:srgbClr val="7A7A7A"/>
                </a:solidFill>
                <a:latin typeface="HiddenHorzOCR"/>
              </a:rPr>
              <a:t>。</a:t>
            </a:r>
            <a:endParaRPr lang="zh-CN" altLang="en-US" sz="1200" dirty="0"/>
          </a:p>
          <a:p>
            <a:pPr algn="l"/>
            <a:endParaRPr lang="en-US" altLang="zh-CN" sz="1200" b="0" i="0" u="none" strike="noStrike" baseline="0" dirty="0">
              <a:solidFill>
                <a:srgbClr val="626262"/>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baseline="0" dirty="0">
                <a:solidFill>
                  <a:srgbClr val="080808"/>
                </a:solidFill>
                <a:latin typeface="HiddenHorzOCR"/>
              </a:rPr>
              <a:t>IT </a:t>
            </a:r>
            <a:r>
              <a:rPr lang="zh-CN" altLang="en-US" sz="1200" b="0" i="0" u="none" strike="noStrike" baseline="0" dirty="0">
                <a:solidFill>
                  <a:srgbClr val="080808"/>
                </a:solidFill>
                <a:latin typeface="HiddenHorzOCR"/>
              </a:rPr>
              <a:t>项目</a:t>
            </a:r>
            <a:r>
              <a:rPr lang="zh-CN" altLang="en-US" sz="1200" b="0" i="0" u="none" strike="noStrike" baseline="0" dirty="0">
                <a:solidFill>
                  <a:srgbClr val="262626"/>
                </a:solidFill>
                <a:latin typeface="HiddenHorzOCR"/>
              </a:rPr>
              <a:t>的变更</a:t>
            </a:r>
            <a:r>
              <a:rPr lang="zh-CN" altLang="en-US" sz="1200" b="0" i="0" u="none" strike="noStrike" baseline="0" dirty="0">
                <a:solidFill>
                  <a:srgbClr val="080808"/>
                </a:solidFill>
                <a:latin typeface="HiddenHorzOCR"/>
              </a:rPr>
              <a:t>控制</a:t>
            </a:r>
            <a:endParaRPr lang="zh-CN" altLang="en-US" dirty="0"/>
          </a:p>
          <a:p>
            <a:pPr algn="l"/>
            <a:r>
              <a:rPr lang="zh-CN" altLang="en-US" sz="1800" b="0" i="0" u="none" strike="noStrike" baseline="0" dirty="0">
                <a:solidFill>
                  <a:srgbClr val="262626"/>
                </a:solidFill>
                <a:latin typeface="HiddenHorzOCR"/>
              </a:rPr>
              <a:t>大部分项目经理和高层管理者认识到，项目管理就是一个对项目目标和利益相关者期望不断进行沟通和谈判的过程。</a:t>
            </a:r>
            <a:r>
              <a:rPr lang="en-US" altLang="zh-CN" sz="1800" b="0" i="0" u="none" strike="noStrike" baseline="0" dirty="0">
                <a:solidFill>
                  <a:srgbClr val="626262"/>
                </a:solidFill>
                <a:latin typeface="HiddenHorzOCR"/>
              </a:rPr>
              <a:t> </a:t>
            </a:r>
            <a:r>
              <a:rPr lang="zh-CN" altLang="en-US" sz="1800" b="0" i="0" u="none" strike="noStrike" baseline="0" dirty="0">
                <a:solidFill>
                  <a:srgbClr val="262626"/>
                </a:solidFill>
                <a:latin typeface="HiddenHorzOCR"/>
              </a:rPr>
              <a:t>这种观点假定，变更发生在项目的整个生命周期</a:t>
            </a:r>
            <a:r>
              <a:rPr lang="en-US" altLang="zh-CN" sz="1800" b="0" i="0" u="none" strike="noStrike" baseline="0" dirty="0">
                <a:solidFill>
                  <a:srgbClr val="262626"/>
                </a:solidFill>
                <a:latin typeface="HiddenHorzOCR"/>
              </a:rPr>
              <a:t>. </a:t>
            </a:r>
            <a:r>
              <a:rPr lang="zh-CN" altLang="en-US" sz="1800" b="0" i="0" u="none" strike="noStrike" baseline="0" dirty="0">
                <a:solidFill>
                  <a:srgbClr val="4B4B4B"/>
                </a:solidFill>
                <a:latin typeface="HiddenHorzOCR"/>
              </a:rPr>
              <a:t>并</a:t>
            </a:r>
            <a:r>
              <a:rPr lang="zh-CN" altLang="en-US" sz="1800" b="0" i="0" u="none" strike="noStrike" baseline="0" dirty="0">
                <a:solidFill>
                  <a:srgbClr val="262626"/>
                </a:solidFill>
                <a:latin typeface="HiddenHorzOCR"/>
              </a:rPr>
              <a:t>且意识到对</a:t>
            </a:r>
            <a:r>
              <a:rPr lang="zh-CN" altLang="en-US" sz="1800" b="0" i="0" u="none" strike="noStrike" baseline="0" dirty="0">
                <a:solidFill>
                  <a:srgbClr val="7A7A7A"/>
                </a:solidFill>
                <a:latin typeface="HiddenHorzOCR"/>
              </a:rPr>
              <a:t>一</a:t>
            </a:r>
            <a:r>
              <a:rPr lang="zh-CN" altLang="en-US" sz="1800" b="0" i="0" u="none" strike="noStrike" baseline="0" dirty="0">
                <a:solidFill>
                  <a:srgbClr val="4B4B4B"/>
                </a:solidFill>
                <a:latin typeface="HiddenHorzOCR"/>
              </a:rPr>
              <a:t>些项目而言</a:t>
            </a:r>
            <a:r>
              <a:rPr lang="zh-CN" altLang="en-US" sz="1800" b="0" i="0" u="none" strike="noStrike" baseline="0" dirty="0">
                <a:solidFill>
                  <a:srgbClr val="262626"/>
                </a:solidFill>
                <a:latin typeface="HiddenHorzOCR"/>
              </a:rPr>
              <a:t>，变更</a:t>
            </a:r>
            <a:r>
              <a:rPr lang="zh-CN" altLang="en-US" sz="1800" b="0" i="0" u="none" strike="noStrike" baseline="0" dirty="0">
                <a:solidFill>
                  <a:srgbClr val="4B4B4B"/>
                </a:solidFill>
                <a:latin typeface="HiddenHorzOCR"/>
              </a:rPr>
              <a:t>往往是</a:t>
            </a:r>
            <a:r>
              <a:rPr lang="zh-CN" altLang="en-US" sz="1800" b="0" i="0" u="none" strike="noStrike" baseline="0" dirty="0">
                <a:solidFill>
                  <a:srgbClr val="262626"/>
                </a:solidFill>
                <a:latin typeface="HiddenHorzOCR"/>
              </a:rPr>
              <a:t>有利的</a:t>
            </a:r>
            <a:r>
              <a:rPr lang="zh-CN" altLang="en-US" sz="1800" b="0" i="0" u="none" strike="noStrike" baseline="0" dirty="0">
                <a:solidFill>
                  <a:srgbClr val="7A7A7A"/>
                </a:solidFill>
                <a:latin typeface="HiddenHorzOCR"/>
              </a:rPr>
              <a:t>。</a:t>
            </a:r>
            <a:r>
              <a:rPr lang="zh-CN" altLang="en-US" sz="1800" b="0" i="0" u="none" strike="noStrike" baseline="0" dirty="0">
                <a:solidFill>
                  <a:srgbClr val="3A3A3A"/>
                </a:solidFill>
                <a:latin typeface="HiddenHorzOCR"/>
              </a:rPr>
              <a:t>例如，如果一个项目团队成员发现</a:t>
            </a:r>
            <a:r>
              <a:rPr lang="zh-CN" altLang="en-US" sz="1800" b="0" i="0" u="none" strike="noStrike" baseline="0" dirty="0">
                <a:solidFill>
                  <a:srgbClr val="7A7A7A"/>
                </a:solidFill>
                <a:latin typeface="HiddenHorzOCR"/>
              </a:rPr>
              <a:t>一</a:t>
            </a:r>
            <a:r>
              <a:rPr lang="zh-CN" altLang="en-US" sz="1800" b="0" i="0" u="none" strike="noStrike" baseline="0" dirty="0">
                <a:solidFill>
                  <a:srgbClr val="262626"/>
                </a:solidFill>
                <a:latin typeface="HiddenHorzOCR"/>
              </a:rPr>
              <a:t>种新的硬件或软件技术，可以用较少的时间和资金来满足客户的需要，项目团队和关键的利益相关者应该接受过种在项目中提出的变更</a:t>
            </a:r>
            <a:r>
              <a:rPr lang="zh-CN" altLang="en-US" sz="1800" b="0" i="0" u="none" strike="noStrike" baseline="0" dirty="0">
                <a:solidFill>
                  <a:srgbClr val="626262"/>
                </a:solidFill>
                <a:latin typeface="HiddenHorzOCR"/>
              </a:rPr>
              <a:t>。</a:t>
            </a:r>
            <a:endParaRPr lang="en-US" altLang="zh-CN" sz="1800" b="0" i="0" u="none" strike="noStrike" baseline="0" dirty="0">
              <a:solidFill>
                <a:srgbClr val="626262"/>
              </a:solidFill>
              <a:latin typeface="HiddenHorzOCR"/>
            </a:endParaRPr>
          </a:p>
          <a:p>
            <a:pPr algn="l"/>
            <a:endParaRPr lang="en-US" altLang="zh-CN" sz="1800" b="0" i="0" u="none" strike="noStrike" baseline="0" dirty="0">
              <a:solidFill>
                <a:srgbClr val="626262"/>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solidFill>
                  <a:srgbClr val="1C1C1C"/>
                </a:solidFill>
                <a:latin typeface="HiddenHorzOCR"/>
              </a:rPr>
              <a:t>变更控制系统</a:t>
            </a:r>
            <a:endParaRPr lang="en-US" altLang="zh-CN" sz="1800" b="0" i="0" u="none" strike="noStrike" baseline="0" dirty="0">
              <a:solidFill>
                <a:srgbClr val="1C1C1C"/>
              </a:solidFill>
              <a:latin typeface="HiddenHorzOCR"/>
            </a:endParaRPr>
          </a:p>
          <a:p>
            <a:pPr algn="l"/>
            <a:r>
              <a:rPr lang="zh-CN" altLang="en-US" b="0" i="0" u="none" strike="noStrike" baseline="0" dirty="0">
                <a:solidFill>
                  <a:srgbClr val="1C1C1C"/>
                </a:solidFill>
                <a:latin typeface="HiddenHorzOCR"/>
              </a:rPr>
              <a:t>变更控制系统通常包含一个</a:t>
            </a:r>
            <a:r>
              <a:rPr lang="zh-CN" altLang="en-US" sz="1200" dirty="0">
                <a:solidFill>
                  <a:srgbClr val="1C1C1C"/>
                </a:solidFill>
                <a:latin typeface="HiddenHorzOCR"/>
              </a:rPr>
              <a:t>变更控制委员会</a:t>
            </a:r>
            <a:r>
              <a:rPr lang="en-US" altLang="zh-CN" sz="1200" dirty="0">
                <a:solidFill>
                  <a:srgbClr val="1C1C1C"/>
                </a:solidFill>
                <a:latin typeface="HiddenHorzOCR"/>
              </a:rPr>
              <a:t>(CCB)</a:t>
            </a:r>
            <a:r>
              <a:rPr lang="zh-CN" altLang="en-US" b="0" i="0" u="none" strike="noStrike" baseline="0" dirty="0">
                <a:solidFill>
                  <a:srgbClr val="1C1C1C"/>
                </a:solidFill>
                <a:latin typeface="HiddenHorzOCR"/>
              </a:rPr>
              <a:t>、配置管理和变更沟通程序。</a:t>
            </a:r>
            <a:endParaRPr lang="en-US" altLang="zh-CN" b="0" i="0" u="none" strike="noStrike" baseline="0" dirty="0">
              <a:solidFill>
                <a:srgbClr val="1C1C1C"/>
              </a:solidFill>
              <a:latin typeface="HiddenHorzOCR"/>
            </a:endParaRPr>
          </a:p>
          <a:p>
            <a:pPr algn="l"/>
            <a:r>
              <a:rPr lang="zh-CN" altLang="en-US" sz="1800" b="0" i="0" u="none" strike="noStrike" baseline="0" dirty="0">
                <a:solidFill>
                  <a:srgbClr val="1C1C1C"/>
                </a:solidFill>
                <a:latin typeface="HiddenHorzOCR"/>
              </a:rPr>
              <a:t>变更</a:t>
            </a:r>
            <a:r>
              <a:rPr lang="zh-CN" altLang="en-US" sz="1800" b="0" i="0" u="none" strike="noStrike" baseline="0" dirty="0">
                <a:solidFill>
                  <a:srgbClr val="2C2C2C"/>
                </a:solidFill>
                <a:latin typeface="HiddenHorzOCR"/>
              </a:rPr>
              <a:t>控制委员会的主要职能是为提出变更请求、评估</a:t>
            </a:r>
            <a:r>
              <a:rPr lang="zh-CN" altLang="en-US" sz="1800" b="0" i="0" u="none" strike="noStrike" baseline="0" dirty="0">
                <a:solidFill>
                  <a:srgbClr val="1C1C1C"/>
                </a:solidFill>
                <a:latin typeface="HiddenHorzOCR"/>
              </a:rPr>
              <a:t>变更</a:t>
            </a:r>
            <a:r>
              <a:rPr lang="zh-CN" altLang="en-US" sz="1800" b="0" i="0" u="none" strike="noStrike" baseline="0" dirty="0">
                <a:solidFill>
                  <a:srgbClr val="2C2C2C"/>
                </a:solidFill>
                <a:latin typeface="HiddenHorzOCR"/>
              </a:rPr>
              <a:t>请求、管理那些经批准的</a:t>
            </a:r>
            <a:r>
              <a:rPr lang="zh-CN" altLang="en-US" sz="1800" b="0" i="0" u="none" strike="noStrike" baseline="0" dirty="0">
                <a:solidFill>
                  <a:srgbClr val="1C1C1C"/>
                </a:solidFill>
                <a:latin typeface="HiddenHorzOCR"/>
              </a:rPr>
              <a:t>变更</a:t>
            </a:r>
            <a:r>
              <a:rPr lang="zh-CN" altLang="en-US" sz="1800" b="0" i="0" u="none" strike="noStrike" baseline="0" dirty="0">
                <a:solidFill>
                  <a:srgbClr val="2C2C2C"/>
                </a:solidFill>
                <a:latin typeface="HiddenHorzOCR"/>
              </a:rPr>
              <a:t>请求的执行过程提供指导方针</a:t>
            </a:r>
            <a:r>
              <a:rPr lang="zh-CN" altLang="en-US" sz="1800" b="0" i="0" u="none" strike="noStrike" baseline="0" dirty="0">
                <a:solidFill>
                  <a:srgbClr val="6C6C6C"/>
                </a:solidFill>
                <a:latin typeface="HiddenHorzOCR"/>
              </a:rPr>
              <a:t>。</a:t>
            </a:r>
            <a:r>
              <a:rPr lang="zh-CN" altLang="en-US" sz="1800" b="0" i="0" u="none" strike="noStrike" baseline="0" dirty="0">
                <a:solidFill>
                  <a:srgbClr val="868686"/>
                </a:solidFill>
                <a:latin typeface="HiddenHorzOCR"/>
              </a:rPr>
              <a:t>一</a:t>
            </a:r>
            <a:r>
              <a:rPr lang="zh-CN" altLang="en-US" sz="1800" b="0" i="0" u="none" strike="noStrike" baseline="0" dirty="0">
                <a:solidFill>
                  <a:srgbClr val="1C1C1C"/>
                </a:solidFill>
                <a:latin typeface="HiddenHorzOCR"/>
              </a:rPr>
              <a:t>般应安排组织的关键利益相关者参</a:t>
            </a:r>
            <a:r>
              <a:rPr lang="zh-CN" altLang="en-US" sz="1800" b="0" i="0" u="none" strike="noStrike" baseline="0" dirty="0">
                <a:solidFill>
                  <a:srgbClr val="414141"/>
                </a:solidFill>
                <a:latin typeface="HiddenHorzOCR"/>
              </a:rPr>
              <a:t>与</a:t>
            </a:r>
            <a:r>
              <a:rPr lang="zh-CN" altLang="en-US" sz="1800" b="0" i="0" u="none" strike="noStrike" baseline="0" dirty="0">
                <a:solidFill>
                  <a:srgbClr val="1C1C1C"/>
                </a:solidFill>
                <a:latin typeface="HiddenHorzOCR"/>
              </a:rPr>
              <a:t>这个委员会，其他成员</a:t>
            </a:r>
            <a:r>
              <a:rPr lang="zh-CN" altLang="en-US" sz="1800" b="0" i="0" u="none" strike="noStrike" baseline="0" dirty="0">
                <a:solidFill>
                  <a:srgbClr val="414141"/>
                </a:solidFill>
                <a:latin typeface="HiddenHorzOCR"/>
              </a:rPr>
              <a:t>可</a:t>
            </a:r>
            <a:r>
              <a:rPr lang="zh-CN" altLang="en-US" sz="1800" b="0" i="0" u="none" strike="noStrike" baseline="0" dirty="0">
                <a:solidFill>
                  <a:srgbClr val="1C1C1C"/>
                </a:solidFill>
                <a:latin typeface="HiddenHorzOCR"/>
              </a:rPr>
              <a:t>根据每个项目特别的需求轮流担任</a:t>
            </a:r>
            <a:r>
              <a:rPr lang="zh-CN" altLang="en-US" sz="1800" b="0" i="0" u="none" strike="noStrike" baseline="0" dirty="0">
                <a:solidFill>
                  <a:srgbClr val="414141"/>
                </a:solidFill>
                <a:latin typeface="HiddenHorzOCR"/>
              </a:rPr>
              <a:t>。</a:t>
            </a:r>
            <a:endParaRPr lang="en-US" altLang="zh-CN" sz="1200" b="0" i="0" u="none" strike="noStrike" baseline="0" dirty="0">
              <a:solidFill>
                <a:srgbClr val="626262"/>
              </a:solidFill>
              <a:latin typeface="HiddenHorzOCR"/>
            </a:endParaRPr>
          </a:p>
          <a:p>
            <a:pPr algn="l"/>
            <a:endParaRPr lang="en-US" altLang="zh-CN" sz="1200" b="0" i="0" u="none" strike="noStrike" baseline="0" dirty="0">
              <a:solidFill>
                <a:srgbClr val="626262"/>
              </a:solidFill>
              <a:latin typeface="HiddenHorzOCR"/>
            </a:endParaRPr>
          </a:p>
          <a:p>
            <a:pPr algn="l"/>
            <a:endParaRPr lang="en-US" altLang="zh-CN" sz="1200" b="0" i="0" u="none" strike="noStrike" baseline="0" dirty="0">
              <a:solidFill>
                <a:srgbClr val="626262"/>
              </a:solidFill>
              <a:latin typeface="HiddenHorzOCR"/>
            </a:endParaRPr>
          </a:p>
          <a:p>
            <a:pPr algn="l"/>
            <a:endParaRPr lang="zh-CN" altLang="en-US" sz="1200" b="0" i="0" u="none" strike="noStrike" baseline="0" dirty="0">
              <a:solidFill>
                <a:srgbClr val="626262"/>
              </a:solidFill>
              <a:latin typeface="HiddenHorzOCR"/>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10050129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BCC01357-ECB5-42BE-B402-A9F47F4B7C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备注占位符 2">
            <a:extLst>
              <a:ext uri="{FF2B5EF4-FFF2-40B4-BE49-F238E27FC236}">
                <a16:creationId xmlns:a16="http://schemas.microsoft.com/office/drawing/2014/main" id="{4229DA59-B57D-4D7A-91DD-97AEE365AD0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solidFill>
                  <a:srgbClr val="F73131"/>
                </a:solidFill>
                <a:latin typeface="Arial" panose="020B0604020202020204" pitchFamily="34" charset="0"/>
              </a:rPr>
              <a:t>CCB</a:t>
            </a:r>
            <a:r>
              <a:rPr lang="en-US" altLang="zh-CN" dirty="0">
                <a:solidFill>
                  <a:srgbClr val="333333"/>
                </a:solidFill>
                <a:latin typeface="Arial" panose="020B0604020202020204" pitchFamily="34" charset="0"/>
              </a:rPr>
              <a:t>(Change Control Board) </a:t>
            </a:r>
            <a:r>
              <a:rPr lang="zh-CN" altLang="en-US" dirty="0">
                <a:solidFill>
                  <a:srgbClr val="333333"/>
                </a:solidFill>
                <a:latin typeface="Arial" panose="020B0604020202020204" pitchFamily="34" charset="0"/>
              </a:rPr>
              <a:t>是“变更控制委员会”</a:t>
            </a:r>
            <a:endParaRPr lang="zh-CN" altLang="en-US" dirty="0"/>
          </a:p>
        </p:txBody>
      </p:sp>
      <p:sp>
        <p:nvSpPr>
          <p:cNvPr id="164868" name="灯片编号占位符 3">
            <a:extLst>
              <a:ext uri="{FF2B5EF4-FFF2-40B4-BE49-F238E27FC236}">
                <a16:creationId xmlns:a16="http://schemas.microsoft.com/office/drawing/2014/main" id="{4E544492-4ED6-4C7E-9E31-17D8BDC03B9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CD0A721-E4D9-4D69-888B-3802870D1487}" type="slidenum">
              <a:rPr lang="zh-CN" altLang="en-US" smtClean="0"/>
              <a:pPr/>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标准答案：</a:t>
            </a:r>
            <a:r>
              <a:rPr lang="en-US" altLang="zh-CN" dirty="0"/>
              <a:t>A</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9958731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28607544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a:extLst>
              <a:ext uri="{FF2B5EF4-FFF2-40B4-BE49-F238E27FC236}">
                <a16:creationId xmlns:a16="http://schemas.microsoft.com/office/drawing/2014/main" id="{7E94F412-C59C-41F1-9060-AD01AA3C6D8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备注占位符 2">
            <a:extLst>
              <a:ext uri="{FF2B5EF4-FFF2-40B4-BE49-F238E27FC236}">
                <a16:creationId xmlns:a16="http://schemas.microsoft.com/office/drawing/2014/main" id="{BA37C754-A9EA-4AD4-8FF9-C7C51DC0C62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标准答案是 </a:t>
            </a:r>
            <a:r>
              <a:rPr lang="en-US" altLang="zh-CN" dirty="0"/>
              <a:t>D</a:t>
            </a:r>
          </a:p>
          <a:p>
            <a:r>
              <a:rPr lang="zh-CN" altLang="en-US" dirty="0"/>
              <a:t>但 如果变更很简单，可选</a:t>
            </a:r>
            <a:r>
              <a:rPr lang="en-US" altLang="zh-CN" dirty="0"/>
              <a:t>C</a:t>
            </a:r>
          </a:p>
          <a:p>
            <a:r>
              <a:rPr lang="zh-CN" altLang="en-US" dirty="0"/>
              <a:t>如果变更投入较大，或会使项目延期，可选</a:t>
            </a:r>
            <a:r>
              <a:rPr lang="en-US" altLang="zh-CN" dirty="0"/>
              <a:t>D</a:t>
            </a:r>
            <a:r>
              <a:rPr lang="zh-CN" altLang="en-US" dirty="0"/>
              <a:t>，或作为下一新项目内容</a:t>
            </a:r>
          </a:p>
        </p:txBody>
      </p:sp>
      <p:sp>
        <p:nvSpPr>
          <p:cNvPr id="169988" name="灯片编号占位符 3">
            <a:extLst>
              <a:ext uri="{FF2B5EF4-FFF2-40B4-BE49-F238E27FC236}">
                <a16:creationId xmlns:a16="http://schemas.microsoft.com/office/drawing/2014/main" id="{E1026DBE-61AB-4B6E-A054-13F64E5D06C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D0CBEBC-1014-4994-A9A1-97C67AFA8215}" type="slidenum">
              <a:rPr lang="zh-CN" altLang="en-US" smtClean="0"/>
              <a:pPr/>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收尾过程组 只有</a:t>
            </a:r>
            <a:r>
              <a:rPr lang="zh-CN" altLang="en-US" sz="1200" dirty="0">
                <a:solidFill>
                  <a:schemeClr val="bg1"/>
                </a:solidFill>
              </a:rPr>
              <a:t>项目整体管理的</a:t>
            </a:r>
            <a:r>
              <a:rPr lang="zh-CN" altLang="en-US" dirty="0"/>
              <a:t>一个子过程。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顺便提一下，可以使用</a:t>
            </a:r>
            <a:r>
              <a:rPr lang="zh-CN" altLang="en-US" sz="1800" b="0" i="0" u="none" strike="noStrike" baseline="0" dirty="0">
                <a:solidFill>
                  <a:srgbClr val="232323"/>
                </a:solidFill>
                <a:latin typeface="HiddenHorzOCR"/>
              </a:rPr>
              <a:t>软</a:t>
            </a:r>
            <a:r>
              <a:rPr lang="zh-CN" altLang="en-US" sz="1800" b="0" i="0" u="none" strike="noStrike" baseline="0" dirty="0">
                <a:solidFill>
                  <a:srgbClr val="080808"/>
                </a:solidFill>
                <a:latin typeface="HiddenHorzOCR"/>
              </a:rPr>
              <a:t>件协助进</a:t>
            </a:r>
            <a:r>
              <a:rPr lang="zh-CN" altLang="en-US" sz="1800" b="0" i="0" u="none" strike="noStrike" baseline="0" dirty="0">
                <a:solidFill>
                  <a:srgbClr val="232323"/>
                </a:solidFill>
                <a:latin typeface="HiddenHorzOCR"/>
              </a:rPr>
              <a:t>行</a:t>
            </a:r>
            <a:r>
              <a:rPr lang="zh-CN" altLang="en-US" sz="1800" b="0" i="0" u="none" strike="noStrike" baseline="0" dirty="0">
                <a:solidFill>
                  <a:srgbClr val="080808"/>
                </a:solidFill>
                <a:latin typeface="HiddenHorzOCR"/>
              </a:rPr>
              <a:t>项目</a:t>
            </a:r>
            <a:r>
              <a:rPr lang="zh-CN" altLang="en-US" sz="1800" b="0" i="0" u="none" strike="noStrike" baseline="0" dirty="0">
                <a:solidFill>
                  <a:srgbClr val="232323"/>
                </a:solidFill>
                <a:latin typeface="HiddenHorzOCR"/>
              </a:rPr>
              <a:t>集</a:t>
            </a:r>
            <a:r>
              <a:rPr lang="zh-CN" altLang="en-US" sz="1800" b="0" i="0" u="none" strike="noStrike" baseline="0" dirty="0">
                <a:solidFill>
                  <a:srgbClr val="080808"/>
                </a:solidFill>
                <a:latin typeface="HiddenHorzOCR"/>
              </a:rPr>
              <a:t>成</a:t>
            </a:r>
            <a:r>
              <a:rPr lang="zh-CN" altLang="en-US" sz="1800" b="0" i="0" u="none" strike="noStrike" baseline="0" dirty="0">
                <a:solidFill>
                  <a:srgbClr val="232323"/>
                </a:solidFill>
                <a:latin typeface="HiddenHorzOCR"/>
              </a:rPr>
              <a:t>管</a:t>
            </a:r>
            <a:r>
              <a:rPr lang="zh-CN" altLang="en-US" sz="1800" b="0" i="0" u="none" strike="noStrike" baseline="0" dirty="0">
                <a:solidFill>
                  <a:srgbClr val="080808"/>
                </a:solidFill>
                <a:latin typeface="HiddenHorzOCR"/>
              </a:rPr>
              <a:t>理，如</a:t>
            </a:r>
            <a:r>
              <a:rPr lang="en-US" altLang="zh-CN" sz="1800" b="0" i="0" u="none" strike="noStrike" baseline="0" dirty="0">
                <a:solidFill>
                  <a:srgbClr val="080808"/>
                </a:solidFill>
                <a:latin typeface="HiddenHorzOCR"/>
              </a:rPr>
              <a:t>Project</a:t>
            </a:r>
            <a:r>
              <a:rPr lang="zh-CN" altLang="en-US" sz="1800" b="0" i="0" u="none" strike="noStrike" baseline="0" dirty="0">
                <a:solidFill>
                  <a:srgbClr val="080808"/>
                </a:solidFill>
                <a:latin typeface="HiddenHorzOCR"/>
              </a:rPr>
              <a:t>，还有开源或商业的软件，也有不少国产软件。不同软件各有特色、针对的管理方式也有所不同。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10033676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383838"/>
                </a:solidFill>
                <a:latin typeface="HiddenHorzOCR"/>
              </a:rPr>
              <a:t>项目整合管理的最后</a:t>
            </a:r>
            <a:r>
              <a:rPr lang="zh-CN" altLang="en-US" sz="1800" b="0" i="0" u="none" strike="noStrike" baseline="0" dirty="0">
                <a:solidFill>
                  <a:srgbClr val="A8A8A8"/>
                </a:solidFill>
                <a:latin typeface="HiddenHorzOCR"/>
              </a:rPr>
              <a:t>一</a:t>
            </a:r>
            <a:r>
              <a:rPr lang="zh-CN" altLang="en-US" sz="1800" b="0" i="0" u="none" strike="noStrike" baseline="0" dirty="0">
                <a:solidFill>
                  <a:srgbClr val="4F4F4F"/>
                </a:solidFill>
                <a:latin typeface="HiddenHorzOCR"/>
              </a:rPr>
              <a:t>步是终止项目或项</a:t>
            </a:r>
            <a:r>
              <a:rPr lang="zh-CN" altLang="en-US" sz="1800" b="0" i="0" u="none" strike="noStrike" baseline="0" dirty="0">
                <a:solidFill>
                  <a:srgbClr val="232323"/>
                </a:solidFill>
                <a:latin typeface="HiddenHorzOCR"/>
              </a:rPr>
              <a:t>目阶段</a:t>
            </a:r>
            <a:r>
              <a:rPr lang="zh-CN" altLang="en-US" sz="1800" b="0" i="0" u="none" strike="noStrike" baseline="0" dirty="0">
                <a:solidFill>
                  <a:srgbClr val="6A6A6A"/>
                </a:solidFill>
                <a:latin typeface="HiddenHorzOCR"/>
              </a:rPr>
              <a:t>。</a:t>
            </a:r>
            <a:r>
              <a:rPr lang="zh-CN" altLang="en-US" sz="1800" b="0" i="0" u="none" strike="noStrike" baseline="0" dirty="0">
                <a:solidFill>
                  <a:srgbClr val="383838"/>
                </a:solidFill>
                <a:latin typeface="HiddenHorzOCR"/>
              </a:rPr>
              <a:t>为了终止</a:t>
            </a:r>
            <a:r>
              <a:rPr lang="en-US" altLang="zh-CN" sz="1800" b="0" i="0" u="none" strike="noStrike" baseline="0" dirty="0">
                <a:solidFill>
                  <a:srgbClr val="383838"/>
                </a:solidFill>
                <a:latin typeface="HiddenHorzOCR"/>
              </a:rPr>
              <a:t>-</a:t>
            </a:r>
            <a:r>
              <a:rPr lang="zh-CN" altLang="en-US" sz="1800" b="0" i="0" u="none" strike="noStrike" baseline="0" dirty="0">
                <a:solidFill>
                  <a:srgbClr val="383838"/>
                </a:solidFill>
                <a:latin typeface="HiddenHorzOCR"/>
              </a:rPr>
              <a:t>个项目或阶段，你必须将所有活动收尾，并将已完成或取消的工作移交给适当的人员</a:t>
            </a:r>
            <a:r>
              <a:rPr lang="zh-CN" altLang="en-US" sz="1800" b="0" i="0" u="none" strike="noStrike" baseline="0" dirty="0">
                <a:solidFill>
                  <a:srgbClr val="7D7D7D"/>
                </a:solidFill>
                <a:latin typeface="HiddenHorzOCR"/>
              </a:rPr>
              <a:t>。</a:t>
            </a:r>
            <a:endParaRPr lang="en-US" altLang="zh-CN" sz="1800" b="0" i="0" u="none" strike="noStrike" baseline="0" dirty="0">
              <a:solidFill>
                <a:srgbClr val="7D7D7D"/>
              </a:solidFill>
              <a:latin typeface="HiddenHorzOCR"/>
            </a:endParaRPr>
          </a:p>
          <a:p>
            <a:pPr algn="l"/>
            <a:r>
              <a:rPr lang="zh-CN" altLang="en-US" sz="1800" b="0" i="0" u="none" strike="noStrike" baseline="0" dirty="0">
                <a:solidFill>
                  <a:srgbClr val="232323"/>
                </a:solidFill>
                <a:latin typeface="HiddenHorzOCR"/>
              </a:rPr>
              <a:t>这一过程的主要输入是项目管理计划、</a:t>
            </a:r>
            <a:r>
              <a:rPr lang="zh-CN" altLang="en-US" sz="1800" b="0" i="0" u="none" strike="noStrike" baseline="0" dirty="0">
                <a:solidFill>
                  <a:srgbClr val="383838"/>
                </a:solidFill>
                <a:latin typeface="HiddenHorzOCR"/>
              </a:rPr>
              <a:t>已接收的交付物以及组织过程资产</a:t>
            </a:r>
            <a:r>
              <a:rPr lang="zh-CN" altLang="en-US" sz="1800" b="0" i="0" u="none" strike="noStrike" baseline="0" dirty="0">
                <a:solidFill>
                  <a:srgbClr val="6A6A6A"/>
                </a:solidFill>
                <a:latin typeface="HiddenHorzOCR"/>
              </a:rPr>
              <a:t>。</a:t>
            </a:r>
            <a:endParaRPr lang="en-US" altLang="zh-CN" sz="1800" b="0" i="0" u="none" strike="noStrike" baseline="0" dirty="0">
              <a:solidFill>
                <a:srgbClr val="6A6A6A"/>
              </a:solidFill>
              <a:latin typeface="HiddenHorzOCR"/>
            </a:endParaRPr>
          </a:p>
          <a:p>
            <a:pPr algn="l"/>
            <a:r>
              <a:rPr lang="zh-CN" altLang="en-US" sz="1800" b="0" i="0" u="none" strike="noStrike" baseline="0" dirty="0">
                <a:solidFill>
                  <a:srgbClr val="383838"/>
                </a:solidFill>
                <a:latin typeface="HiddenHorzOCR"/>
              </a:rPr>
              <a:t>主要工具和技术还是专家评审（</a:t>
            </a:r>
            <a:r>
              <a:rPr lang="zh-CN" altLang="en-US" sz="1800" b="0" i="0" u="none" strike="noStrike" baseline="0" dirty="0">
                <a:latin typeface="SourceHanSansSC-Regular"/>
              </a:rPr>
              <a:t>管理控制、审计、法规与采购等）</a:t>
            </a:r>
            <a:r>
              <a:rPr lang="en-US" altLang="zh-CN" sz="1800" b="0" i="0" u="none" strike="noStrike" baseline="0" dirty="0">
                <a:solidFill>
                  <a:srgbClr val="6A6A6A"/>
                </a:solidFill>
                <a:latin typeface="HiddenHorzOC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34431456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如果项目在完工前就提前终止，结束项目或阶段过程还需要制定程序，来调查和记录提前终止的原因。为了实现上述目的，项目经理应该引导所有合适的相关方参与本过程。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5696747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a:extLst>
              <a:ext uri="{FF2B5EF4-FFF2-40B4-BE49-F238E27FC236}">
                <a16:creationId xmlns:a16="http://schemas.microsoft.com/office/drawing/2014/main" id="{BDDF21B5-AD5A-4079-A50B-E350C2D9F5C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备注占位符 2">
            <a:extLst>
              <a:ext uri="{FF2B5EF4-FFF2-40B4-BE49-F238E27FC236}">
                <a16:creationId xmlns:a16="http://schemas.microsoft.com/office/drawing/2014/main" id="{3980DC73-85D2-4CF2-8D53-1D1CEB29EA2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D</a:t>
            </a:r>
            <a:r>
              <a:rPr lang="zh-CN" altLang="en-US" dirty="0">
                <a:solidFill>
                  <a:srgbClr val="000000"/>
                </a:solidFill>
                <a:latin typeface="Arial" panose="020B0604020202020204" pitchFamily="34" charset="0"/>
                <a:ea typeface="黑体" panose="02010609060101010101" pitchFamily="49" charset="-122"/>
              </a:rPr>
              <a:t>解散团队</a:t>
            </a:r>
          </a:p>
          <a:p>
            <a:endParaRPr lang="zh-CN" altLang="en-US" dirty="0"/>
          </a:p>
        </p:txBody>
      </p:sp>
      <p:sp>
        <p:nvSpPr>
          <p:cNvPr id="178180" name="灯片编号占位符 3">
            <a:extLst>
              <a:ext uri="{FF2B5EF4-FFF2-40B4-BE49-F238E27FC236}">
                <a16:creationId xmlns:a16="http://schemas.microsoft.com/office/drawing/2014/main" id="{A0B6ED74-A9DA-4FCD-A299-3708914D593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196B345-0014-490C-A738-D847946F2E80}" type="slidenum">
              <a:rPr lang="zh-CN" altLang="en-US" smtClean="0"/>
              <a:pPr/>
              <a:t>48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39835688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1" dirty="0"/>
              <a:t>背景</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楷体_GB2312" pitchFamily="49" charset="-122"/>
                <a:ea typeface="楷体_GB2312" pitchFamily="49" charset="-122"/>
              </a:rPr>
              <a:t>  某公司正在优先开发几个因特网应用软件。因此需要制定并实施一个计划，让公司 所有员工的信息技术设施在</a:t>
            </a:r>
            <a:r>
              <a:rPr lang="en-US" altLang="zh-CN" sz="1200" dirty="0">
                <a:latin typeface="楷体_GB2312" pitchFamily="49" charset="-122"/>
                <a:ea typeface="楷体_GB2312" pitchFamily="49" charset="-122"/>
              </a:rPr>
              <a:t>9</a:t>
            </a:r>
            <a:r>
              <a:rPr lang="zh-CN" altLang="en-US" sz="1200" dirty="0">
                <a:latin typeface="楷体_GB2312" pitchFamily="49" charset="-122"/>
                <a:ea typeface="楷体_GB2312" pitchFamily="49" charset="-122"/>
              </a:rPr>
              <a:t>个月内达到新的公司标准。</a:t>
            </a:r>
            <a:endParaRPr lang="en-US" altLang="zh-CN" sz="1200" dirty="0">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这个标准规定了每台台式机的最低配置要求：处理器型号，内存大小，硬盘容量，网络接口类型，装载软件等。</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楷体_GB2312" pitchFamily="49" charset="-122"/>
              <a:ea typeface="楷体_GB2312" pitchFamily="49" charset="-122"/>
            </a:endParaRPr>
          </a:p>
          <a:p>
            <a:pPr eaLnBrk="1" hangingPunct="1">
              <a:spcBef>
                <a:spcPct val="20000"/>
              </a:spcBef>
              <a:buClr>
                <a:schemeClr val="tx1"/>
              </a:buClr>
              <a:buSzPct val="75000"/>
              <a:buFont typeface="Wingdings" panose="05000000000000000000" pitchFamily="2" charset="2"/>
              <a:buNone/>
            </a:pPr>
            <a:r>
              <a:rPr lang="zh-CN" altLang="en-US" b="1" dirty="0">
                <a:latin typeface="Arial" panose="020B0604020202020204" pitchFamily="34" charset="0"/>
              </a:rPr>
              <a:t>进展情况</a:t>
            </a:r>
          </a:p>
          <a:p>
            <a:pPr eaLnBrk="1" hangingPunct="1"/>
            <a:r>
              <a:rPr lang="zh-CN" altLang="en-US" sz="1200" dirty="0">
                <a:latin typeface="楷体_GB2312" pitchFamily="49" charset="-122"/>
                <a:ea typeface="楷体_GB2312" pitchFamily="49" charset="-122"/>
              </a:rPr>
              <a:t>  项目经理</a:t>
            </a:r>
            <a:r>
              <a:rPr lang="en-US" altLang="zh-CN" sz="1200" dirty="0">
                <a:latin typeface="楷体_GB2312" pitchFamily="49" charset="-122"/>
                <a:ea typeface="楷体_GB2312" pitchFamily="49" charset="-122"/>
              </a:rPr>
              <a:t>Kim</a:t>
            </a:r>
            <a:r>
              <a:rPr lang="zh-CN" altLang="en-US" sz="1200" dirty="0">
                <a:latin typeface="楷体_GB2312" pitchFamily="49" charset="-122"/>
                <a:ea typeface="楷体_GB2312" pitchFamily="49" charset="-122"/>
              </a:rPr>
              <a:t>用项目章程描述了主要目标和项目干系人的角色和责任，</a:t>
            </a:r>
          </a:p>
          <a:p>
            <a:pPr eaLnBrk="1" hangingPunct="1"/>
            <a:r>
              <a:rPr lang="zh-CN" altLang="en-US" sz="1200" dirty="0">
                <a:latin typeface="楷体_GB2312" pitchFamily="49" charset="-122"/>
                <a:ea typeface="楷体_GB2312" pitchFamily="49" charset="-122"/>
              </a:rPr>
              <a:t>  章程还包括一个粗略的成本和进度估算。</a:t>
            </a:r>
          </a:p>
          <a:p>
            <a:pPr eaLnBrk="1" hangingPunct="1"/>
            <a:r>
              <a:rPr lang="zh-CN" altLang="en-US" sz="1200" dirty="0">
                <a:latin typeface="楷体_GB2312" pitchFamily="49" charset="-122"/>
                <a:ea typeface="楷体_GB2312" pitchFamily="49" charset="-122"/>
              </a:rPr>
              <a:t>  </a:t>
            </a:r>
            <a:r>
              <a:rPr lang="en-US" altLang="zh-CN" sz="1200" dirty="0">
                <a:latin typeface="楷体_GB2312" pitchFamily="49" charset="-122"/>
                <a:ea typeface="楷体_GB2312" pitchFamily="49" charset="-122"/>
              </a:rPr>
              <a:t>Kim</a:t>
            </a:r>
            <a:r>
              <a:rPr lang="zh-CN" altLang="en-US" sz="1200" dirty="0">
                <a:latin typeface="楷体_GB2312" pitchFamily="49" charset="-122"/>
                <a:ea typeface="楷体_GB2312" pitchFamily="49" charset="-122"/>
              </a:rPr>
              <a:t>正在召集一个项目组会议，讨论项目的范围确定的问题。</a:t>
            </a:r>
          </a:p>
          <a:p>
            <a:pPr eaLnBrk="1" hangingPunct="1">
              <a:spcBef>
                <a:spcPct val="20000"/>
              </a:spcBef>
              <a:buClr>
                <a:schemeClr val="tx1"/>
              </a:buClr>
              <a:buSzPct val="75000"/>
              <a:buFont typeface="Wingdings" panose="05000000000000000000" pitchFamily="2" charset="2"/>
              <a:buNone/>
            </a:pPr>
            <a:r>
              <a:rPr lang="zh-CN" altLang="en-US" b="1" dirty="0">
                <a:latin typeface="宋体" panose="02010600030101010101" pitchFamily="2" charset="-122"/>
              </a:rPr>
              <a:t>问题</a:t>
            </a:r>
          </a:p>
          <a:p>
            <a:pPr eaLnBrk="1" hangingPunct="1">
              <a:spcBef>
                <a:spcPct val="20000"/>
              </a:spcBef>
              <a:buClr>
                <a:schemeClr val="tx1"/>
              </a:buClr>
              <a:buSzPct val="75000"/>
              <a:buFont typeface="Wingdings" panose="05000000000000000000" pitchFamily="2" charset="2"/>
              <a:buNone/>
            </a:pPr>
            <a:r>
              <a:rPr lang="zh-CN" altLang="en-US" sz="1200" dirty="0">
                <a:latin typeface="楷体_GB2312" pitchFamily="49" charset="-122"/>
                <a:ea typeface="楷体_GB2312" pitchFamily="49" charset="-122"/>
              </a:rPr>
              <a:t>  项目会涉及到哪些工作？如何避免可能的范围蔓延？</a:t>
            </a:r>
            <a:endParaRPr lang="en-US" altLang="zh-CN" sz="1200" dirty="0">
              <a:latin typeface="楷体_GB2312" pitchFamily="49" charset="-122"/>
              <a:ea typeface="楷体_GB2312" pitchFamily="49" charset="-122"/>
            </a:endParaRPr>
          </a:p>
          <a:p>
            <a:pPr eaLnBrk="1" hangingPunct="1">
              <a:spcBef>
                <a:spcPct val="20000"/>
              </a:spcBef>
              <a:buClr>
                <a:schemeClr val="tx1"/>
              </a:buClr>
              <a:buSzPct val="75000"/>
              <a:buFont typeface="Wingdings" panose="05000000000000000000" pitchFamily="2" charset="2"/>
              <a:buNone/>
            </a:pPr>
            <a:endParaRPr lang="zh-CN" altLang="en-US" sz="1200" dirty="0">
              <a:latin typeface="楷体_GB2312" pitchFamily="49" charset="-122"/>
              <a:ea typeface="楷体_GB2312" pitchFamily="49" charset="-122"/>
            </a:endParaRPr>
          </a:p>
          <a:p>
            <a:pPr>
              <a:spcBef>
                <a:spcPct val="20000"/>
              </a:spcBef>
              <a:buClr>
                <a:schemeClr val="tx1"/>
              </a:buClr>
              <a:buSzPct val="75000"/>
              <a:buFont typeface="Wingdings" pitchFamily="2" charset="2"/>
              <a:buNone/>
              <a:defRPr/>
            </a:pPr>
            <a:r>
              <a:rPr lang="en-US" altLang="zh-CN" sz="1200" b="1" dirty="0">
                <a:solidFill>
                  <a:schemeClr val="bg1"/>
                </a:solidFill>
                <a:latin typeface="Arial" pitchFamily="34" charset="0"/>
              </a:rPr>
              <a:t>Kim</a:t>
            </a:r>
            <a:r>
              <a:rPr lang="zh-CN" altLang="en-US" sz="1200" b="1" dirty="0">
                <a:solidFill>
                  <a:schemeClr val="bg1"/>
                </a:solidFill>
                <a:latin typeface="Arial" pitchFamily="34" charset="0"/>
              </a:rPr>
              <a:t>的老板的建议：</a:t>
            </a:r>
          </a:p>
          <a:p>
            <a:pPr>
              <a:spcBef>
                <a:spcPct val="20000"/>
              </a:spcBef>
              <a:buClr>
                <a:schemeClr val="tx1"/>
              </a:buClr>
              <a:buSzPct val="75000"/>
              <a:buFont typeface="Wingdings" pitchFamily="2" charset="2"/>
              <a:buNone/>
              <a:defRPr/>
            </a:pPr>
            <a:r>
              <a:rPr lang="zh-CN" altLang="en-US" sz="1200" b="1" dirty="0">
                <a:solidFill>
                  <a:schemeClr val="bg1"/>
                </a:solidFill>
                <a:latin typeface="Arial" pitchFamily="34" charset="0"/>
              </a:rPr>
              <a:t>    第一步工作应该是建立一个</a:t>
            </a:r>
            <a:r>
              <a:rPr lang="en-US" altLang="zh-CN" sz="1200" b="1" dirty="0">
                <a:solidFill>
                  <a:schemeClr val="bg1"/>
                </a:solidFill>
                <a:latin typeface="Arial" pitchFamily="34" charset="0"/>
              </a:rPr>
              <a:t>WBS</a:t>
            </a:r>
            <a:r>
              <a:rPr lang="zh-CN" altLang="en-US" sz="1200" b="1" dirty="0">
                <a:solidFill>
                  <a:schemeClr val="bg1"/>
                </a:solidFill>
                <a:latin typeface="Arial" pitchFamily="34" charset="0"/>
              </a:rPr>
              <a:t>以清晰地定义更新项目会涉及的所有工作。</a:t>
            </a:r>
            <a:endParaRPr lang="en-US" altLang="zh-CN" sz="1200" b="1" dirty="0">
              <a:solidFill>
                <a:schemeClr val="bg1"/>
              </a:solidFill>
              <a:latin typeface="Arial" pitchFamily="34" charset="0"/>
            </a:endParaRPr>
          </a:p>
          <a:p>
            <a:pPr marL="0" marR="0" lvl="0" indent="0" algn="l" defTabSz="914400" rtl="0" eaLnBrk="1" fontAlgn="auto" latinLnBrk="0" hangingPunct="1">
              <a:lnSpc>
                <a:spcPct val="100000"/>
              </a:lnSpc>
              <a:spcBef>
                <a:spcPct val="20000"/>
              </a:spcBef>
              <a:spcAft>
                <a:spcPts val="0"/>
              </a:spcAft>
              <a:buClr>
                <a:schemeClr val="tx1"/>
              </a:buClr>
              <a:buSzPct val="75000"/>
              <a:buFont typeface="Wingdings" pitchFamily="2" charset="2"/>
              <a:buNone/>
              <a:tabLst/>
              <a:defRPr/>
            </a:pPr>
            <a:r>
              <a:rPr lang="zh-CN" altLang="en-US" dirty="0"/>
              <a:t>但是，</a:t>
            </a:r>
            <a:r>
              <a:rPr lang="en-US" altLang="zh-CN" dirty="0"/>
              <a:t>KIM</a:t>
            </a:r>
            <a:r>
              <a:rPr lang="zh-CN" altLang="en-US" dirty="0"/>
              <a:t>不清楚怎样着手建立</a:t>
            </a:r>
            <a:r>
              <a:rPr lang="en-US" altLang="zh-CN" dirty="0"/>
              <a:t>WBS</a:t>
            </a:r>
            <a:r>
              <a:rPr lang="zh-CN" altLang="en-US" dirty="0"/>
              <a:t>，她是第一次领导项目组来建立</a:t>
            </a:r>
            <a:r>
              <a:rPr lang="en-US" altLang="zh-CN" dirty="0"/>
              <a:t>WBS</a:t>
            </a:r>
            <a:r>
              <a:rPr lang="zh-CN" altLang="en-US" dirty="0"/>
              <a:t>。</a:t>
            </a:r>
          </a:p>
          <a:p>
            <a:pPr>
              <a:spcBef>
                <a:spcPct val="20000"/>
              </a:spcBef>
              <a:buClr>
                <a:schemeClr val="tx1"/>
              </a:buClr>
              <a:buSzPct val="75000"/>
              <a:buFont typeface="Wingdings" pitchFamily="2" charset="2"/>
              <a:buNone/>
              <a:defRPr/>
            </a:pPr>
            <a:endParaRPr lang="zh-CN" altLang="en-US" sz="1200" b="1" dirty="0">
              <a:solidFill>
                <a:schemeClr val="bg1"/>
              </a:solidFill>
              <a:latin typeface="Arial" pitchFamily="34"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25884442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r>
              <a:rPr lang="zh-CN" altLang="en-US" dirty="0"/>
              <a:t>客户频繁的需求变更－</a:t>
            </a:r>
            <a:r>
              <a:rPr lang="en-US" altLang="zh-CN" dirty="0"/>
              <a:t>&gt;</a:t>
            </a:r>
            <a:r>
              <a:rPr lang="zh-CN" altLang="en-US" dirty="0"/>
              <a:t>直接找程序员变更</a:t>
            </a:r>
            <a:r>
              <a:rPr lang="en-US" altLang="zh-CN" dirty="0"/>
              <a:t>-&gt;</a:t>
            </a:r>
            <a:r>
              <a:rPr lang="zh-CN" altLang="en-US" dirty="0"/>
              <a:t>程序员忙乱，不作记录，也不修改文档</a:t>
            </a:r>
            <a:r>
              <a:rPr lang="en-US" altLang="zh-CN" dirty="0"/>
              <a:t>-&gt;</a:t>
            </a:r>
            <a:r>
              <a:rPr lang="zh-CN" altLang="en-US" dirty="0"/>
              <a:t>程序员违反配置管理规定</a:t>
            </a:r>
            <a:r>
              <a:rPr lang="en-US" altLang="zh-CN" dirty="0"/>
              <a:t>-&gt;</a:t>
            </a:r>
            <a:r>
              <a:rPr lang="zh-CN" altLang="en-US" dirty="0"/>
              <a:t>系统出错－</a:t>
            </a:r>
            <a:r>
              <a:rPr lang="en-US" altLang="zh-CN" dirty="0"/>
              <a:t>&gt;</a:t>
            </a:r>
            <a:r>
              <a:rPr lang="zh-CN" altLang="en-US" dirty="0"/>
              <a:t>失去客户高层信任</a:t>
            </a:r>
            <a:endParaRPr lang="en-US" altLang="zh-CN" dirty="0"/>
          </a:p>
          <a:p>
            <a:r>
              <a:rPr lang="zh-CN" altLang="en-US" dirty="0"/>
              <a:t>客户决定调整所有界面</a:t>
            </a:r>
            <a:r>
              <a:rPr lang="en-US" altLang="zh-CN" dirty="0"/>
              <a:t>-&gt;</a:t>
            </a:r>
            <a:r>
              <a:rPr lang="zh-CN" altLang="en-US" dirty="0"/>
              <a:t>项目延期－</a:t>
            </a:r>
            <a:r>
              <a:rPr lang="en-US" altLang="zh-CN" dirty="0"/>
              <a:t>&gt;</a:t>
            </a:r>
            <a:r>
              <a:rPr lang="zh-CN" altLang="en-US" dirty="0"/>
              <a:t>客户不满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32399775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23056649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200" dirty="0"/>
              <a:t>产品范围：一个产品或一项服务应该包含哪些特征和功能。 </a:t>
            </a:r>
            <a:r>
              <a:rPr lang="en-US" altLang="zh-CN" sz="1200" dirty="0">
                <a:sym typeface="Wingdings" panose="05000000000000000000" pitchFamily="2" charset="2"/>
              </a:rPr>
              <a:t></a:t>
            </a:r>
            <a:r>
              <a:rPr lang="zh-CN" altLang="en-US" sz="1200" dirty="0"/>
              <a:t>目的，作一个什么样的东西？</a:t>
            </a:r>
          </a:p>
          <a:p>
            <a:pPr eaLnBrk="1" hangingPunct="1"/>
            <a:r>
              <a:rPr lang="zh-CN" altLang="en-US" sz="1200" dirty="0"/>
              <a:t>项目范围：为了交付具有所指特征和功能的产品所必须要做的工作。</a:t>
            </a:r>
            <a:r>
              <a:rPr lang="en-US" altLang="zh-CN" sz="1200" dirty="0">
                <a:sym typeface="Wingdings" panose="05000000000000000000" pitchFamily="2" charset="2"/>
              </a:rPr>
              <a:t></a:t>
            </a:r>
            <a:r>
              <a:rPr lang="zh-CN" altLang="en-US" sz="1200" dirty="0"/>
              <a:t>做哪些工作、如何做、才能交付该产品。</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333333"/>
                </a:solidFill>
                <a:latin typeface="" charset="0"/>
              </a:rPr>
              <a:t>要注意的是，产品范围的特性的描述必须清晰，以认可的形式表达出来，比如，文字、图表或某种标准，要能被项目干系人理解，绝不能含含糊糊、模棱两可，在此基础之上才能进一步明确需要做什么工作才能产生所需要的产品。也就是说，产品范围决定项目范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26149269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知道了项目范围，那么，如何进行项目范围管理呢？我们很容易得出项目范围管理的概念。</a:t>
            </a:r>
          </a:p>
          <a:p>
            <a:pPr eaLnBrk="1" hangingPunct="1"/>
            <a:endParaRPr lang="zh-CN" altLang="en-US" dirty="0"/>
          </a:p>
          <a:p>
            <a:pPr eaLnBrk="1" hangingPunct="1"/>
            <a:r>
              <a:rPr lang="zh-CN" altLang="en-US" dirty="0"/>
              <a:t>项目范围管理是指对项目包括什么与不包括什么的定义与控制过程。</a:t>
            </a:r>
          </a:p>
          <a:p>
            <a:pPr eaLnBrk="1" hangingPunct="1"/>
            <a:r>
              <a:rPr lang="zh-CN" altLang="en-US" dirty="0"/>
              <a:t>这个过程用于确保项目组和项目干系人对作为项目结果的项目产品以及生产这些产品所用到的过程有一个</a:t>
            </a:r>
            <a:r>
              <a:rPr lang="zh-CN" altLang="en-US" b="1" dirty="0"/>
              <a:t>共同的理解</a:t>
            </a:r>
            <a:r>
              <a:rPr lang="zh-CN" altLang="en-US" dirty="0"/>
              <a:t>。</a:t>
            </a:r>
          </a:p>
          <a:p>
            <a:pPr eaLnBrk="1" hangingPunct="1"/>
            <a:endParaRPr lang="zh-CN" altLang="en-US" dirty="0"/>
          </a:p>
          <a:p>
            <a:pPr eaLnBrk="1" hangingPunct="1"/>
            <a:r>
              <a:rPr lang="zh-CN" altLang="en-US" dirty="0"/>
              <a:t>在这个定义中一定要强调“包含且只包含”的思想，这也是</a:t>
            </a:r>
            <a:r>
              <a:rPr lang="en-US" altLang="zh-CN" dirty="0"/>
              <a:t>PMI</a:t>
            </a:r>
            <a:r>
              <a:rPr lang="zh-CN" altLang="en-US" dirty="0"/>
              <a:t>的政策，“不做额外工作“，或，”不要镀金膜“。</a:t>
            </a:r>
          </a:p>
          <a:p>
            <a:pPr eaLnBrk="1" hangingPunct="1"/>
            <a:r>
              <a:rPr lang="zh-CN" altLang="en-US" dirty="0">
                <a:latin typeface="宋体" panose="02010600030101010101" pitchFamily="2" charset="-122"/>
              </a:rPr>
              <a:t>范围管理保证项目包含了所有要做的工作而且只包含要求的工作，它主要涉及定义并控制哪些是项目范畴内的，哪些不是</a:t>
            </a:r>
            <a:r>
              <a:rPr lang="zh-CN" altLang="en-US" dirty="0"/>
              <a:t> 。</a:t>
            </a:r>
          </a:p>
          <a:p>
            <a:pPr eaLnBrk="1" hangingPunct="1"/>
            <a:r>
              <a:rPr lang="zh-CN" altLang="en-US" dirty="0"/>
              <a:t>项目成功的影响因素有很多</a:t>
            </a:r>
            <a:r>
              <a:rPr lang="en-US" altLang="zh-CN" dirty="0"/>
              <a:t>,</a:t>
            </a:r>
            <a:r>
              <a:rPr lang="zh-CN" altLang="en-US" dirty="0"/>
              <a:t>如</a:t>
            </a:r>
            <a:r>
              <a:rPr lang="en-US" altLang="zh-CN" dirty="0"/>
              <a:t>:</a:t>
            </a:r>
          </a:p>
          <a:p>
            <a:pPr eaLnBrk="1" hangingPunct="1"/>
            <a:r>
              <a:rPr lang="zh-CN" altLang="en-US" dirty="0"/>
              <a:t>用户的参与</a:t>
            </a:r>
            <a:r>
              <a:rPr lang="en-US" altLang="zh-CN" dirty="0"/>
              <a:t>,</a:t>
            </a:r>
            <a:r>
              <a:rPr lang="zh-CN" altLang="en-US" dirty="0"/>
              <a:t>清晰的项目任务</a:t>
            </a:r>
            <a:r>
              <a:rPr lang="en-US" altLang="zh-CN" dirty="0"/>
              <a:t>,</a:t>
            </a:r>
            <a:r>
              <a:rPr lang="zh-CN" altLang="en-US" dirty="0"/>
              <a:t>明确的需求说明</a:t>
            </a:r>
            <a:r>
              <a:rPr lang="en-US" altLang="zh-CN" dirty="0"/>
              <a:t>,</a:t>
            </a:r>
            <a:r>
              <a:rPr lang="zh-CN" altLang="en-US" dirty="0"/>
              <a:t>以及正确的计划工作等</a:t>
            </a:r>
            <a:r>
              <a:rPr lang="en-US" altLang="zh-CN" dirty="0"/>
              <a:t>,</a:t>
            </a:r>
            <a:r>
              <a:rPr lang="zh-CN" altLang="en-US" dirty="0"/>
              <a:t>都是项目范围管理的组成要素。</a:t>
            </a:r>
          </a:p>
          <a:p>
            <a:pPr eaLnBrk="1" hangingPunct="1"/>
            <a:endParaRPr lang="zh-CN" altLang="en-US" dirty="0"/>
          </a:p>
          <a:p>
            <a:pPr eaLnBrk="1" hangingPunct="1"/>
            <a:r>
              <a:rPr lang="zh-CN" altLang="en-US" dirty="0"/>
              <a:t>美国凯勒管理研究生院的项目经理威廉认为</a:t>
            </a:r>
            <a:r>
              <a:rPr lang="en-US" altLang="zh-CN" dirty="0"/>
              <a:t>:</a:t>
            </a:r>
          </a:p>
          <a:p>
            <a:pPr eaLnBrk="1" hangingPunct="1"/>
            <a:r>
              <a:rPr lang="zh-CN" altLang="en-US" dirty="0"/>
              <a:t>缺少正确的项目定义和范围核实是导致项目失败的主要原因</a:t>
            </a:r>
            <a:r>
              <a:rPr lang="en-US" altLang="zh-CN" dirty="0"/>
              <a:t>.</a:t>
            </a:r>
          </a:p>
          <a:p>
            <a:pPr eaLnBrk="1" hangingPunct="1"/>
            <a:r>
              <a:rPr lang="zh-CN" altLang="en-US" dirty="0"/>
              <a:t>因此</a:t>
            </a:r>
            <a:r>
              <a:rPr lang="en-US" altLang="zh-CN" dirty="0"/>
              <a:t>,</a:t>
            </a:r>
            <a:r>
              <a:rPr lang="zh-CN" altLang="en-US" dirty="0"/>
              <a:t>项目管理最重要的</a:t>
            </a:r>
            <a:r>
              <a:rPr lang="en-US" altLang="zh-CN" dirty="0"/>
              <a:t>,</a:t>
            </a:r>
            <a:r>
              <a:rPr lang="zh-CN" altLang="en-US" dirty="0"/>
              <a:t>也是最难做的一项工作就是确定项目的范围</a:t>
            </a:r>
            <a:r>
              <a:rPr lang="en-US" altLang="zh-CN" dirty="0"/>
              <a:t>.</a:t>
            </a:r>
            <a:r>
              <a:rPr lang="zh-CN" altLang="en-US" dirty="0"/>
              <a:t>因此，项目范围管理排在项目管理九大要素之首。</a:t>
            </a:r>
            <a:endParaRPr lang="en-US" altLang="zh-CN" dirty="0"/>
          </a:p>
          <a:p>
            <a:pPr eaLnBrk="1" hangingPunct="1"/>
            <a:endParaRPr lang="en-US" altLang="zh-CN" dirty="0"/>
          </a:p>
          <a:p>
            <a:pPr eaLnBrk="1" hangingPunct="1"/>
            <a:r>
              <a:rPr lang="zh-CN" altLang="en-US" dirty="0"/>
              <a:t>那么，下面我们来看一看项目范围管理的主要过程。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16321555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itchFamily="2" charset="2"/>
              <a:buNone/>
              <a:defRPr/>
            </a:pPr>
            <a:r>
              <a:rPr lang="zh-CN" altLang="en-US" sz="1200" b="1" dirty="0">
                <a:latin typeface="微软雅黑" panose="020B0503020204020204" pitchFamily="34" charset="-122"/>
                <a:ea typeface="微软雅黑" panose="020B0503020204020204" pitchFamily="34" charset="-122"/>
                <a:cs typeface="Times New Roman" pitchFamily="18" charset="0"/>
              </a:rPr>
              <a:t>项目范围管理的内容</a:t>
            </a:r>
            <a:endParaRPr lang="en-US" altLang="zh-CN" sz="1200" b="1"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过程主要包括规划项目范围、收集项目需求、界定项目范围、创建</a:t>
            </a:r>
            <a:r>
              <a:rPr lang="en-US" altLang="en-US"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、核实项目范围和控制项目范围变更六方面的内容</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以前还包括“项目起始决策”，现在“项目起始决策”不再作为项目管理的子过程，是项目启动前的过程。项目管理界定为从项目启动开始。</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en-US" altLang="zh-CN"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：工作分解结构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16647204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下列哪个因素对客户满意影响最大？</a:t>
            </a:r>
          </a:p>
          <a:p>
            <a:r>
              <a:rPr lang="en-US" altLang="zh-CN" dirty="0"/>
              <a:t>D.</a:t>
            </a:r>
            <a:r>
              <a:rPr lang="zh-CN" altLang="en-US" dirty="0"/>
              <a:t>与项目需求一致，成果适用</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29210668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项目输入在下页介绍</a:t>
            </a:r>
            <a:endParaRPr lang="en-US" altLang="zh-CN" dirty="0"/>
          </a:p>
          <a:p>
            <a:pPr>
              <a:defRPr/>
            </a:pPr>
            <a:endParaRPr lang="en-US" altLang="zh-CN" dirty="0"/>
          </a:p>
          <a:p>
            <a:pPr>
              <a:defRPr/>
            </a:pPr>
            <a:r>
              <a:rPr lang="zh-CN" altLang="en-US" dirty="0"/>
              <a:t>重点输出：</a:t>
            </a:r>
            <a:endParaRPr lang="en-US" altLang="zh-CN" dirty="0"/>
          </a:p>
          <a:p>
            <a:pPr>
              <a:defRPr/>
            </a:pPr>
            <a:r>
              <a:rPr lang="en-US" altLang="zh-CN" dirty="0"/>
              <a:t>   </a:t>
            </a:r>
            <a:r>
              <a:rPr lang="zh-CN" altLang="zh-CN" dirty="0"/>
              <a:t>范围管理计划：描述如何定义、制定、监督、控制、确认项目范围。</a:t>
            </a:r>
          </a:p>
          <a:p>
            <a:pPr>
              <a:defRPr/>
            </a:pPr>
            <a:r>
              <a:rPr lang="en-US" altLang="zh-CN" dirty="0"/>
              <a:t>    </a:t>
            </a:r>
            <a:r>
              <a:rPr lang="zh-CN" altLang="zh-CN" dirty="0"/>
              <a:t>包括：指定详细项目范围说明书、根据详细项目范围说明书创建</a:t>
            </a:r>
            <a:r>
              <a:rPr lang="en-US" altLang="zh-CN" dirty="0"/>
              <a:t>WBS</a:t>
            </a:r>
            <a:r>
              <a:rPr lang="zh-CN" altLang="en-US" dirty="0"/>
              <a:t>（工作分解结构）</a:t>
            </a:r>
            <a:r>
              <a:rPr lang="zh-CN" altLang="zh-CN" dirty="0"/>
              <a:t>、维护和批准</a:t>
            </a:r>
            <a:r>
              <a:rPr lang="en-US" altLang="zh-CN" dirty="0"/>
              <a:t>WBS</a:t>
            </a:r>
            <a:r>
              <a:rPr lang="zh-CN" altLang="zh-CN" dirty="0"/>
              <a:t>、正式验收已完成的项目可交付成果、处理对详细项目范围说明书的变更。</a:t>
            </a:r>
            <a:endParaRPr lang="en-US" altLang="zh-CN" dirty="0"/>
          </a:p>
          <a:p>
            <a:pPr>
              <a:defRPr/>
            </a:pPr>
            <a:endParaRPr lang="en-US" altLang="zh-CN" dirty="0"/>
          </a:p>
          <a:p>
            <a:pPr>
              <a:defRPr/>
            </a:pPr>
            <a:r>
              <a:rPr lang="zh-CN" altLang="zh-CN" dirty="0"/>
              <a:t>需求管理计划：描述如何分析、记录、管理需求。</a:t>
            </a:r>
          </a:p>
          <a:p>
            <a:pPr>
              <a:defRPr/>
            </a:pPr>
            <a:r>
              <a:rPr lang="en-US" altLang="zh-CN" dirty="0"/>
              <a:t>   </a:t>
            </a:r>
            <a:r>
              <a:rPr lang="zh-CN" altLang="zh-CN" dirty="0"/>
              <a:t>包括：</a:t>
            </a:r>
            <a:endParaRPr lang="en-US" altLang="zh-CN" dirty="0"/>
          </a:p>
          <a:p>
            <a:pPr>
              <a:defRPr/>
            </a:pPr>
            <a:r>
              <a:rPr lang="zh-CN" altLang="zh-CN" dirty="0"/>
              <a:t>如何规划、跟踪、报告各种需求活动；</a:t>
            </a:r>
            <a:endParaRPr lang="en-US" altLang="zh-CN" dirty="0"/>
          </a:p>
          <a:p>
            <a:pPr>
              <a:defRPr/>
            </a:pPr>
            <a:r>
              <a:rPr lang="zh-CN" altLang="zh-CN" dirty="0"/>
              <a:t>配置管理活动（如何启动产品变更，如何分析影响，如何进行追溯、跟踪和报告，以及变更审批权限）；</a:t>
            </a:r>
            <a:endParaRPr lang="en-US" altLang="zh-CN" dirty="0"/>
          </a:p>
          <a:p>
            <a:pPr>
              <a:defRPr/>
            </a:pPr>
            <a:r>
              <a:rPr lang="zh-CN" altLang="zh-CN" dirty="0"/>
              <a:t>需求优先级排序；</a:t>
            </a:r>
            <a:endParaRPr lang="en-US" altLang="zh-CN" dirty="0"/>
          </a:p>
          <a:p>
            <a:pPr>
              <a:defRPr/>
            </a:pPr>
            <a:r>
              <a:rPr lang="zh-CN" altLang="zh-CN" dirty="0"/>
              <a:t>产品测量指标及使用这些指标的理由；</a:t>
            </a:r>
            <a:endParaRPr lang="en-US" altLang="zh-CN" dirty="0"/>
          </a:p>
          <a:p>
            <a:pPr>
              <a:defRPr/>
            </a:pPr>
            <a:r>
              <a:rPr lang="zh-CN" altLang="zh-CN" dirty="0"/>
              <a:t>用来反映那些需求属性将被记录</a:t>
            </a:r>
            <a:r>
              <a:rPr lang="zh-CN" altLang="en-US" i="1" dirty="0"/>
              <a:t>，</a:t>
            </a:r>
            <a:r>
              <a:rPr lang="zh-CN" altLang="zh-CN" i="1" dirty="0"/>
              <a:t>跟踪矩阵的跟踪结构</a:t>
            </a:r>
            <a:r>
              <a:rPr lang="zh-CN" altLang="zh-CN" dirty="0"/>
              <a:t>。</a:t>
            </a:r>
          </a:p>
          <a:p>
            <a:pPr>
              <a:defRPr/>
            </a:pPr>
            <a:endParaRPr lang="zh-CN"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13056716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27536661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根据项目需要，范围管理计划可以是正式或非正式的，非常详细或高度概括的。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42010840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42421448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SourceHanSansCN-Regular"/>
              </a:rPr>
              <a:t>V7:</a:t>
            </a:r>
            <a:r>
              <a:rPr lang="zh-CN" altLang="en-US" sz="1800" b="0" i="0" u="none" strike="noStrike" baseline="0" dirty="0">
                <a:latin typeface="SourceHanSansCN-Regular"/>
              </a:rPr>
              <a:t> 需求（无论是明确的还是隐含的）可能源自干系人、合同、组织政策、标准或监管机构，也可能源自这些的组合</a:t>
            </a:r>
            <a:r>
              <a:rPr lang="en-US" altLang="zh-CN" sz="1800" b="0" i="0" u="none" strike="noStrike" baseline="0" dirty="0">
                <a:latin typeface="SourceHanSansCN-Regular"/>
              </a:rPr>
              <a:t>.</a:t>
            </a:r>
          </a:p>
          <a:p>
            <a:pPr algn="l"/>
            <a:endParaRPr lang="zh-CN" altLang="en-US" sz="2800" b="0" i="0" dirty="0">
              <a:solidFill>
                <a:srgbClr val="222222"/>
              </a:solidFill>
              <a:effectLst/>
              <a:latin typeface="arial" panose="020B0604020202020204" pitchFamily="34" charset="0"/>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extLst>
      <p:ext uri="{BB962C8B-B14F-4D97-AF65-F5344CB8AC3E}">
        <p14:creationId xmlns:p14="http://schemas.microsoft.com/office/powerpoint/2010/main" val="13743768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38468596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即：收集需求</a:t>
            </a:r>
            <a:endParaRPr lang="en-US" altLang="zh-CN" sz="1800" b="0" i="0" u="none" strike="noStrike" baseline="0" dirty="0">
              <a:latin typeface="SourceHanSansSC-Regular"/>
            </a:endParaRPr>
          </a:p>
          <a:p>
            <a:endParaRPr lang="en-US" altLang="zh-CN" sz="1800" b="0" i="0" u="none" strike="noStrike" baseline="0" dirty="0">
              <a:latin typeface="SourceHanSansSC-Regular"/>
            </a:endParaRPr>
          </a:p>
          <a:p>
            <a:r>
              <a:rPr lang="en-US" altLang="zh-CN" sz="1800" b="0" i="0" u="none" strike="noStrike" baseline="0" dirty="0">
                <a:latin typeface="SourceHanSansSC-Regular"/>
              </a:rPr>
              <a:t>《</a:t>
            </a:r>
            <a:r>
              <a:rPr lang="en-US" altLang="zh-CN" sz="1800" b="0" i="0" u="none" strike="noStrike" baseline="0" dirty="0">
                <a:latin typeface="HelveticaNeue-Condensed"/>
              </a:rPr>
              <a:t>PMBOK</a:t>
            </a:r>
            <a:r>
              <a:rPr lang="zh-CN" altLang="en-US" sz="1800" b="0" i="0" u="none" strike="noStrike" baseline="0" dirty="0">
                <a:latin typeface="SourceHanSansSC-Regular"/>
              </a:rPr>
              <a:t>指南</a:t>
            </a:r>
            <a:r>
              <a:rPr lang="en-US" altLang="zh-CN" sz="1800" b="0" i="0" u="none" strike="noStrike" baseline="0" dirty="0">
                <a:latin typeface="SourceHanSansSC-Regular"/>
              </a:rPr>
              <a:t>》</a:t>
            </a:r>
            <a:r>
              <a:rPr lang="zh-CN" altLang="en-US" sz="1800" b="0" i="0" u="none" strike="noStrike" baseline="0" dirty="0">
                <a:latin typeface="SourceHanSansSC-Regular"/>
              </a:rPr>
              <a:t>并没有专门讨论产品需求，因为产品需求因行业而异。</a:t>
            </a:r>
            <a:endParaRPr lang="en-US" altLang="zh-CN" sz="1800" b="0" i="0" u="none" strike="noStrike" baseline="0" dirty="0">
              <a:latin typeface="SourceHanSansSC-Regular"/>
            </a:endParaRPr>
          </a:p>
          <a:p>
            <a:endParaRPr lang="en-US" altLang="zh-CN" sz="1800" b="0" i="0" u="none" strike="noStrike" baseline="0" dirty="0">
              <a:latin typeface="SourceHanSansSC-Regular"/>
            </a:endParaRPr>
          </a:p>
          <a:p>
            <a:r>
              <a:rPr lang="zh-CN" altLang="en-US" sz="1800" b="0" i="0" u="none" strike="noStrike" baseline="0" dirty="0">
                <a:latin typeface="SourceHanSansSC-Regular"/>
              </a:rPr>
              <a:t>为什么</a:t>
            </a:r>
            <a:r>
              <a:rPr lang="en-US" altLang="zh-CN" sz="1800" b="0" i="0" u="none" strike="noStrike" baseline="0" dirty="0">
                <a:latin typeface="SourceHanSansSC-Regular"/>
              </a:rPr>
              <a:t>88%</a:t>
            </a:r>
            <a:r>
              <a:rPr lang="zh-CN" altLang="en-US" sz="1800" b="0" i="0" u="none" strike="noStrike" baseline="0" dirty="0">
                <a:latin typeface="SourceHanSansSC-Regular"/>
              </a:rPr>
              <a:t>的软件项目是增强现有产品而不是开发新项目？</a:t>
            </a:r>
            <a:r>
              <a:rPr lang="en-US" altLang="zh-CN" sz="1800" b="0" i="0" u="none" strike="noStrike" baseline="0" dirty="0">
                <a:latin typeface="SourceHanSansSC-Regular"/>
              </a:rPr>
              <a:t>//</a:t>
            </a:r>
            <a:r>
              <a:rPr lang="zh-CN" altLang="en-US" sz="1800" b="0" i="0" u="none" strike="noStrike" baseline="0" dirty="0">
                <a:latin typeface="SourceHanSansSC-Regular"/>
              </a:rPr>
              <a:t>需求开始不明确、没有收集全、需求变化</a:t>
            </a:r>
            <a:endParaRPr lang="en-US" altLang="zh-CN" sz="1800" b="0" i="0" u="none" strike="noStrike" baseline="0" dirty="0">
              <a:latin typeface="SourceHanSansSC-Regular"/>
            </a:endParaRPr>
          </a:p>
          <a:p>
            <a:r>
              <a:rPr lang="zh-CN" altLang="en-US" sz="1800" b="0" i="0" u="none" strike="noStrike" baseline="0" dirty="0">
                <a:latin typeface="SourceHanSansSC-Regular"/>
              </a:rPr>
              <a:t>需求从哪里来？</a:t>
            </a:r>
            <a:r>
              <a:rPr lang="en-US" altLang="zh-CN" sz="1800" b="0" i="0" u="none" strike="noStrike" baseline="0" dirty="0">
                <a:latin typeface="SourceHanSansSC-Regular"/>
              </a:rPr>
              <a:t>82%</a:t>
            </a:r>
            <a:r>
              <a:rPr lang="zh-CN" altLang="en-US" sz="1800" b="0" i="0" u="none" strike="noStrike" baseline="0" dirty="0">
                <a:latin typeface="SourceHanSansSC-Regular"/>
              </a:rPr>
              <a:t>的受访者认为客户和合作伙伴是产品创意和需求的主要来源。</a:t>
            </a:r>
            <a:endParaRPr lang="en-US" altLang="zh-CN" sz="1800" b="0" i="0" u="none" strike="noStrike" baseline="0" dirty="0">
              <a:latin typeface="SourceHanSansSC-Regular"/>
            </a:endParaRPr>
          </a:p>
          <a:p>
            <a:endParaRPr lang="en-US" altLang="zh-CN" sz="1800" b="0" i="0" u="none" strike="noStrike" baseline="0" dirty="0">
              <a:latin typeface="SourceHanSansSC-Regular"/>
            </a:endParaRPr>
          </a:p>
          <a:p>
            <a:r>
              <a:rPr lang="zh-CN" altLang="en-US" sz="1800" dirty="0">
                <a:latin typeface="Times New Roman" panose="02020603050405020304" pitchFamily="18" charset="0"/>
              </a:rPr>
              <a:t>要花费多大的精力去收集需求，取决于项目的规模、复杂程度、重要性和其他因素。</a:t>
            </a:r>
            <a:endParaRPr lang="en-US" altLang="zh-CN" sz="1800" dirty="0">
              <a:latin typeface="Times New Roman" panose="02020603050405020304" pitchFamily="18" charset="0"/>
            </a:endParaRPr>
          </a:p>
          <a:p>
            <a:r>
              <a:rPr lang="zh-CN" altLang="en-US" sz="1800" dirty="0">
                <a:latin typeface="Times New Roman" panose="02020603050405020304" pitchFamily="18" charset="0"/>
              </a:rPr>
              <a:t>例如，如果一个团队正在为一个拥有</a:t>
            </a:r>
            <a:r>
              <a:rPr lang="en-US" altLang="zh-CN" sz="1800" dirty="0">
                <a:latin typeface="Times New Roman" panose="02020603050405020304" pitchFamily="18" charset="0"/>
              </a:rPr>
              <a:t>50</a:t>
            </a:r>
            <a:r>
              <a:rPr lang="zh-CN" altLang="en-US" sz="1800" dirty="0">
                <a:latin typeface="Times New Roman" panose="02020603050405020304" pitchFamily="18" charset="0"/>
              </a:rPr>
              <a:t>多个地区分公司、数十亿美元资产的企业去更新整个公司的会计系统，那么该团队应该花相当多的时间来收集需求。与之相反的情况是，对于为一个只有</a:t>
            </a:r>
            <a:r>
              <a:rPr lang="en-US" altLang="zh-CN" sz="1800" dirty="0">
                <a:latin typeface="Times New Roman" panose="02020603050405020304" pitchFamily="18" charset="0"/>
              </a:rPr>
              <a:t>5</a:t>
            </a:r>
            <a:r>
              <a:rPr lang="zh-CN" altLang="en-US" sz="1800" dirty="0">
                <a:latin typeface="Times New Roman" panose="02020603050405020304" pitchFamily="18" charset="0"/>
              </a:rPr>
              <a:t>名员工的小型会计公司而做的软件和硬件升级项目而言，就只需要花很少的精力收集需求。无论如何，对一个项目团队来说，为其承担的项目收集和管理需求是非常重要的。</a:t>
            </a:r>
            <a:endParaRPr lang="en-US" altLang="zh-CN" sz="1800" dirty="0">
              <a:latin typeface="Times New Roman" panose="02020603050405020304" pitchFamily="18" charset="0"/>
            </a:endParaRPr>
          </a:p>
          <a:p>
            <a:endParaRPr lang="en-US" altLang="zh-CN" sz="1800" dirty="0">
              <a:latin typeface="Times New Roman" panose="02020603050405020304" pitchFamily="18" charset="0"/>
            </a:endParaRPr>
          </a:p>
          <a:p>
            <a:r>
              <a:rPr lang="zh-CN" altLang="en-US" sz="1800" b="1" dirty="0">
                <a:latin typeface="Times New Roman" panose="02020603050405020304" pitchFamily="18" charset="0"/>
              </a:rPr>
              <a:t>输入</a:t>
            </a:r>
            <a:endParaRPr lang="en-US" altLang="zh-CN" sz="1800" b="1" dirty="0">
              <a:latin typeface="Times New Roman" panose="02020603050405020304" pitchFamily="18" charset="0"/>
            </a:endParaRPr>
          </a:p>
          <a:p>
            <a:pPr algn="l"/>
            <a:r>
              <a:rPr lang="en-US" altLang="zh-CN" sz="1200" b="0" i="0" u="none" strike="noStrike" baseline="0" dirty="0">
                <a:solidFill>
                  <a:srgbClr val="000000"/>
                </a:solidFill>
                <a:latin typeface="HelveticaNeue-MediumCond"/>
              </a:rPr>
              <a:t>5.2.1.1 </a:t>
            </a:r>
            <a:r>
              <a:rPr lang="zh-CN" altLang="en-US" sz="1200" b="0" i="0" u="none" strike="noStrike" baseline="0" dirty="0">
                <a:solidFill>
                  <a:srgbClr val="000000"/>
                </a:solidFill>
                <a:latin typeface="SourceHanSansSC-Medium"/>
              </a:rPr>
              <a:t>项目章程</a:t>
            </a:r>
          </a:p>
          <a:p>
            <a:pPr algn="l"/>
            <a:r>
              <a:rPr lang="zh-CN" altLang="en-US" sz="1200" b="0" i="0" u="none" strike="noStrike" baseline="0" dirty="0">
                <a:solidFill>
                  <a:srgbClr val="000000"/>
                </a:solidFill>
                <a:latin typeface="SourceHanSansSC-Regular"/>
              </a:rPr>
              <a:t>项目章程记录了项目概述以及将用于制定详细需求的高层级需求。</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5.2.1.2 </a:t>
            </a:r>
            <a:r>
              <a:rPr lang="zh-CN" altLang="en-US" sz="1200" b="0" i="0" u="none" strike="noStrike" baseline="0" dirty="0">
                <a:solidFill>
                  <a:srgbClr val="000000"/>
                </a:solidFill>
                <a:latin typeface="SourceHanSansSC-Medium"/>
              </a:rPr>
              <a:t>项目管理计划</a:t>
            </a:r>
          </a:p>
          <a:p>
            <a:pPr algn="l"/>
            <a:r>
              <a:rPr lang="zh-CN" altLang="en-US" sz="1200" b="0" i="0" u="none" strike="noStrike" baseline="0" dirty="0">
                <a:solidFill>
                  <a:srgbClr val="000000"/>
                </a:solidFill>
                <a:latin typeface="SourceHanSansSC-Regular"/>
              </a:rPr>
              <a:t>项目管理计划组件包括（但不限于）：</a:t>
            </a:r>
          </a:p>
          <a:p>
            <a:pPr algn="l"/>
            <a:r>
              <a:rPr lang="zh-CN" altLang="en-US" sz="1200" b="1" i="0" u="none" strike="noStrike" baseline="0" dirty="0">
                <a:solidFill>
                  <a:srgbClr val="000000"/>
                </a:solidFill>
                <a:latin typeface="SourceHanSansSC-Bold"/>
              </a:rPr>
              <a:t>范围管理计划。</a:t>
            </a:r>
            <a:r>
              <a:rPr lang="zh-CN" altLang="en-US" sz="1200" b="0" i="0" u="none" strike="noStrike" baseline="0" dirty="0">
                <a:solidFill>
                  <a:srgbClr val="000000"/>
                </a:solidFill>
                <a:latin typeface="SourceHanSansSC-Regular"/>
              </a:rPr>
              <a:t>范围管理计划包含如何定义和制定项目范围的信息。</a:t>
            </a:r>
          </a:p>
          <a:p>
            <a:pPr algn="l"/>
            <a:r>
              <a:rPr lang="zh-CN" altLang="en-US" sz="1200" b="1" i="0" u="none" strike="noStrike" baseline="0" dirty="0">
                <a:solidFill>
                  <a:srgbClr val="000000"/>
                </a:solidFill>
                <a:latin typeface="SourceHanSansSC-Bold"/>
              </a:rPr>
              <a:t>需求管理计划。</a:t>
            </a:r>
            <a:r>
              <a:rPr lang="zh-CN" altLang="en-US" sz="1200" b="0" i="0" u="none" strike="noStrike" baseline="0" dirty="0">
                <a:solidFill>
                  <a:srgbClr val="000000"/>
                </a:solidFill>
                <a:latin typeface="SourceHanSansSC-Regular"/>
              </a:rPr>
              <a:t>需求管理计划包含如何收集、分析和记录项目需求的信息。</a:t>
            </a:r>
          </a:p>
          <a:p>
            <a:pPr algn="l"/>
            <a:r>
              <a:rPr lang="zh-CN" altLang="en-US" sz="1200" b="1" i="0" u="none" strike="noStrike" baseline="0" dirty="0">
                <a:solidFill>
                  <a:srgbClr val="000000"/>
                </a:solidFill>
                <a:latin typeface="SourceHanSansSC-Bold"/>
              </a:rPr>
              <a:t>相关方参与计划。</a:t>
            </a:r>
            <a:r>
              <a:rPr lang="zh-CN" altLang="en-US" sz="1200" b="0" i="0" u="none" strike="noStrike" baseline="0" dirty="0">
                <a:solidFill>
                  <a:srgbClr val="000000"/>
                </a:solidFill>
                <a:latin typeface="SourceHanSansSC-Regular"/>
              </a:rPr>
              <a:t>从相关方参与计划中了解相关方的沟通需求和参与程度，以便评估并适应相关方对需求活动的参与程度。</a:t>
            </a:r>
          </a:p>
          <a:p>
            <a:pPr algn="l"/>
            <a:endParaRPr lang="en-US" altLang="zh-CN" sz="1200" b="0" i="0" u="none" strike="noStrike" baseline="0" dirty="0">
              <a:solidFill>
                <a:srgbClr val="000000"/>
              </a:solidFill>
              <a:latin typeface="HelveticaNeue-MediumCond"/>
            </a:endParaRPr>
          </a:p>
          <a:p>
            <a:pPr algn="l"/>
            <a:r>
              <a:rPr lang="en-US" altLang="zh-CN" sz="1200" b="0" i="0" u="none" strike="noStrike" baseline="0" dirty="0">
                <a:solidFill>
                  <a:srgbClr val="000000"/>
                </a:solidFill>
                <a:latin typeface="HelveticaNeue-MediumCond"/>
              </a:rPr>
              <a:t>5.2.1.3 </a:t>
            </a:r>
            <a:r>
              <a:rPr lang="zh-CN" altLang="en-US" sz="1200" b="0" i="0" u="none" strike="noStrike" baseline="0" dirty="0">
                <a:solidFill>
                  <a:srgbClr val="000000"/>
                </a:solidFill>
                <a:latin typeface="SourceHanSansSC-Medium"/>
              </a:rPr>
              <a:t>项目文件</a:t>
            </a:r>
          </a:p>
          <a:p>
            <a:pPr algn="l"/>
            <a:r>
              <a:rPr lang="zh-CN" altLang="en-US" sz="1200" b="0" i="0" u="none" strike="noStrike" baseline="0" dirty="0">
                <a:solidFill>
                  <a:srgbClr val="000000"/>
                </a:solidFill>
                <a:latin typeface="SourceHanSansSC-Regular"/>
              </a:rPr>
              <a:t>可作为本过程输入的项目文件包括（但不限于）：</a:t>
            </a:r>
          </a:p>
          <a:p>
            <a:pPr algn="l"/>
            <a:r>
              <a:rPr lang="zh-CN" altLang="en-US" sz="1200" b="1" i="0" u="none" strike="noStrike" baseline="0" dirty="0">
                <a:solidFill>
                  <a:srgbClr val="000000"/>
                </a:solidFill>
                <a:latin typeface="SourceHanSansSC-Bold"/>
              </a:rPr>
              <a:t>假设日志。</a:t>
            </a:r>
            <a:r>
              <a:rPr lang="zh-CN" altLang="en-US" sz="1200" b="0" i="0" u="none" strike="noStrike" baseline="0" dirty="0">
                <a:solidFill>
                  <a:srgbClr val="000000"/>
                </a:solidFill>
                <a:latin typeface="SourceHanSansSC-Regular"/>
              </a:rPr>
              <a:t>假设日志识别了有关产品、项目、环境、相关方以及会影响需求的其他因素的假设条件。</a:t>
            </a:r>
          </a:p>
          <a:p>
            <a:pPr algn="l"/>
            <a:r>
              <a:rPr lang="zh-CN" altLang="en-US" sz="1200" b="1" i="0" u="none" strike="noStrike" baseline="0" dirty="0">
                <a:solidFill>
                  <a:srgbClr val="000000"/>
                </a:solidFill>
                <a:latin typeface="SourceHanSansSC-Bold"/>
              </a:rPr>
              <a:t>经验教训登记册。</a:t>
            </a:r>
            <a:r>
              <a:rPr lang="zh-CN" altLang="en-US" sz="1200" b="0" i="0" u="none" strike="noStrike" baseline="0" dirty="0">
                <a:solidFill>
                  <a:srgbClr val="000000"/>
                </a:solidFill>
                <a:latin typeface="SourceHanSansSC-Regular"/>
              </a:rPr>
              <a:t>经验教训登记册提供了有效的需求收集技术，尤其针对使用迭代型或适应型产品开发方法的项目。</a:t>
            </a:r>
          </a:p>
          <a:p>
            <a:pPr algn="l"/>
            <a:r>
              <a:rPr lang="zh-CN" altLang="en-US" sz="1200" b="1" i="0" u="none" strike="noStrike" baseline="0" dirty="0">
                <a:solidFill>
                  <a:srgbClr val="000000"/>
                </a:solidFill>
                <a:latin typeface="SourceHanSansSC-Bold"/>
              </a:rPr>
              <a:t>相关方登记册。</a:t>
            </a:r>
            <a:r>
              <a:rPr lang="zh-CN" altLang="en-US" sz="1200" b="0" i="0" u="none" strike="noStrike" baseline="0" dirty="0">
                <a:solidFill>
                  <a:srgbClr val="000000"/>
                </a:solidFill>
                <a:latin typeface="SourceHanSansSC-Regular"/>
              </a:rPr>
              <a:t>相关方登记册用于了解哪些相关方能够提供需求方面的信息，及记录相关方对项目的需求和期望。</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5.2.1.4 </a:t>
            </a:r>
            <a:r>
              <a:rPr lang="zh-CN" altLang="en-US" sz="1200" b="0" i="0" u="none" strike="noStrike" baseline="0" dirty="0">
                <a:solidFill>
                  <a:srgbClr val="000000"/>
                </a:solidFill>
                <a:latin typeface="SourceHanSansSC-Medium"/>
              </a:rPr>
              <a:t>商业文件</a:t>
            </a:r>
          </a:p>
          <a:p>
            <a:pPr algn="l"/>
            <a:r>
              <a:rPr lang="zh-CN" altLang="en-US" sz="1200" b="0" i="0" u="none" strike="noStrike" baseline="0" dirty="0">
                <a:solidFill>
                  <a:srgbClr val="000000"/>
                </a:solidFill>
                <a:latin typeface="SourceHanSansSC-Regular"/>
              </a:rPr>
              <a:t>会影响收集需求过程的商业文件是商业论证，它描述了为满足业务需要而应该达到的必要、期望及可选标准。</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5.2.1.5 </a:t>
            </a:r>
            <a:r>
              <a:rPr lang="zh-CN" altLang="en-US" sz="1200" b="0" i="0" u="none" strike="noStrike" baseline="0" dirty="0">
                <a:solidFill>
                  <a:srgbClr val="000000"/>
                </a:solidFill>
                <a:latin typeface="SourceHanSansSC-Medium"/>
              </a:rPr>
              <a:t>协议</a:t>
            </a:r>
          </a:p>
          <a:p>
            <a:pPr algn="l"/>
            <a:r>
              <a:rPr lang="zh-CN" altLang="en-US" sz="1200" b="0" i="0" u="none" strike="noStrike" baseline="0" dirty="0">
                <a:solidFill>
                  <a:srgbClr val="000000"/>
                </a:solidFill>
                <a:latin typeface="SourceHanSansSC-Regular"/>
              </a:rPr>
              <a:t>协议会包含项目和产品需求。</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5.2.1.6 </a:t>
            </a:r>
            <a:r>
              <a:rPr lang="zh-CN" altLang="en-US" sz="1200" b="0" i="0" u="none" strike="noStrike" baseline="0" dirty="0">
                <a:solidFill>
                  <a:srgbClr val="000000"/>
                </a:solidFill>
                <a:latin typeface="SourceHanSansSC-Regular"/>
              </a:rPr>
              <a:t>事业环境因素</a:t>
            </a:r>
          </a:p>
          <a:p>
            <a:pPr algn="l"/>
            <a:r>
              <a:rPr lang="zh-CN" altLang="en-US" sz="1200" b="0" i="0" u="none" strike="noStrike" baseline="0" dirty="0">
                <a:solidFill>
                  <a:srgbClr val="000000"/>
                </a:solidFill>
                <a:latin typeface="SourceHanSansSC-Regular"/>
              </a:rPr>
              <a:t>会影响收集需求过程的事业环境因素包括（但不限于）：</a:t>
            </a:r>
          </a:p>
          <a:p>
            <a:pPr algn="l"/>
            <a:r>
              <a:rPr lang="zh-CN" altLang="en-US" sz="1200" b="0" i="0" u="none" strike="noStrike" baseline="0" dirty="0">
                <a:solidFill>
                  <a:srgbClr val="000000"/>
                </a:solidFill>
                <a:latin typeface="SourceHanSansSC-Regular"/>
              </a:rPr>
              <a:t>组织文化；</a:t>
            </a:r>
          </a:p>
          <a:p>
            <a:pPr algn="l"/>
            <a:r>
              <a:rPr lang="zh-CN" altLang="en-US" sz="1200" b="0" i="0" u="none" strike="noStrike" baseline="0" dirty="0">
                <a:solidFill>
                  <a:srgbClr val="000000"/>
                </a:solidFill>
                <a:latin typeface="SourceHanSansSC-Regular"/>
              </a:rPr>
              <a:t>基础设施；</a:t>
            </a:r>
          </a:p>
          <a:p>
            <a:pPr algn="l"/>
            <a:r>
              <a:rPr lang="zh-CN" altLang="en-US" sz="1200" b="0" i="0" u="none" strike="noStrike" baseline="0" dirty="0">
                <a:solidFill>
                  <a:srgbClr val="000000"/>
                </a:solidFill>
                <a:latin typeface="SourceHanSansSC-Regular"/>
              </a:rPr>
              <a:t>人事管理制度；</a:t>
            </a:r>
          </a:p>
          <a:p>
            <a:pPr algn="l"/>
            <a:r>
              <a:rPr lang="zh-CN" altLang="en-US" sz="1200" b="0" i="0" u="none" strike="noStrike" baseline="0" dirty="0">
                <a:solidFill>
                  <a:srgbClr val="000000"/>
                </a:solidFill>
                <a:latin typeface="SourceHanSansSC-Regular"/>
              </a:rPr>
              <a:t>市场条件。</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5.2.1.7 </a:t>
            </a:r>
            <a:r>
              <a:rPr lang="zh-CN" altLang="en-US" sz="1200" b="0" i="0" u="none" strike="noStrike" baseline="0" dirty="0">
                <a:solidFill>
                  <a:srgbClr val="000000"/>
                </a:solidFill>
                <a:latin typeface="SourceHanSansSC-Medium"/>
              </a:rPr>
              <a:t>组织过程资产</a:t>
            </a:r>
          </a:p>
          <a:p>
            <a:pPr algn="l"/>
            <a:r>
              <a:rPr lang="zh-CN" altLang="en-US" sz="1200" b="0" i="0" u="none" strike="noStrike" baseline="0" dirty="0">
                <a:solidFill>
                  <a:srgbClr val="000000"/>
                </a:solidFill>
                <a:latin typeface="SourceHanSansSC-Regular"/>
              </a:rPr>
              <a:t>会影响收集需求过程的组织过程资产包括（但不限于）：</a:t>
            </a:r>
          </a:p>
          <a:p>
            <a:pPr algn="l"/>
            <a:r>
              <a:rPr lang="zh-CN" altLang="en-US" sz="1200" b="0" i="0" u="none" strike="noStrike" baseline="0" dirty="0">
                <a:solidFill>
                  <a:srgbClr val="000000"/>
                </a:solidFill>
                <a:latin typeface="SourceHanSansSC-Regular"/>
              </a:rPr>
              <a:t>政策和程序；</a:t>
            </a:r>
          </a:p>
          <a:p>
            <a:pPr algn="l"/>
            <a:r>
              <a:rPr lang="zh-CN" altLang="en-US" sz="1200" b="0" i="0" u="none" strike="noStrike" baseline="0" dirty="0">
                <a:solidFill>
                  <a:srgbClr val="000000"/>
                </a:solidFill>
                <a:latin typeface="SourceHanSansSC-Regular"/>
              </a:rPr>
              <a:t>包含以往项目信息的历史信息和经验教训知识库。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27087854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一开始可能只有高层级的需求，然后随着有关需求信息的增加而逐步细化。</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只有明确的（可测量和可测试的）、可跟踪的、完整的、相互协调的，且主要相关方愿意认可的需求，才能作为基准。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需求文件的格式多种多样，既可以是一份按相关方和优先级分类列出全部需求的简单文件，也可以是一份包括内容提要、细节描述和附件等的详细文件。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许多组织把需求分为不同的种类，如业务解决方案和技术解决方案。前者是相关方的需要，后者是指如何实现这些需要。把需求分成不同的类别，有利于对需求进行进一步完善和细化。</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需求的类别：</a:t>
            </a:r>
            <a:endParaRPr lang="en-US" altLang="zh-CN" sz="1800" b="0" i="0" u="none" strike="noStrike" baseline="0" dirty="0">
              <a:latin typeface="SourceHanSansSC-Regular"/>
            </a:endParaRPr>
          </a:p>
          <a:p>
            <a:pPr algn="l"/>
            <a:r>
              <a:rPr lang="zh-CN" altLang="en-US" sz="1800" b="1" i="0" u="none" strike="noStrike" baseline="0" dirty="0">
                <a:latin typeface="SourceHanSansSC-Bold"/>
              </a:rPr>
              <a:t>业务需求。</a:t>
            </a:r>
            <a:r>
              <a:rPr lang="zh-CN" altLang="en-US" sz="1800" b="0" i="0" u="none" strike="noStrike" baseline="0" dirty="0">
                <a:latin typeface="SourceHanSansSC-Regular"/>
              </a:rPr>
              <a:t>整个组织的高层级需要，例如，解决业务问题或抓住业务机会，以及实施项目的原因。</a:t>
            </a:r>
          </a:p>
          <a:p>
            <a:pPr algn="l"/>
            <a:r>
              <a:rPr lang="zh-CN" altLang="en-US" sz="1800" b="1" i="0" u="none" strike="noStrike" baseline="0" dirty="0">
                <a:latin typeface="SourceHanSansSC-Bold"/>
              </a:rPr>
              <a:t>相关方需求。</a:t>
            </a:r>
            <a:r>
              <a:rPr lang="zh-CN" altLang="en-US" sz="1800" b="0" i="0" u="none" strike="noStrike" baseline="0" dirty="0">
                <a:latin typeface="SourceHanSansSC-Regular"/>
              </a:rPr>
              <a:t>相关方或相关方群体的需要。</a:t>
            </a:r>
          </a:p>
          <a:p>
            <a:pPr algn="l"/>
            <a:r>
              <a:rPr lang="zh-CN" altLang="en-US" sz="1800" b="1" i="0" u="none" strike="noStrike" baseline="0" dirty="0">
                <a:latin typeface="SourceHanSansSC-Bold"/>
              </a:rPr>
              <a:t>解决方案需求。</a:t>
            </a:r>
            <a:r>
              <a:rPr lang="zh-CN" altLang="en-US" sz="1800" b="0" i="0" u="none" strike="noStrike" baseline="0" dirty="0">
                <a:latin typeface="SourceHanSansSC-Regular"/>
              </a:rPr>
              <a:t>为满足业务需求和相关方需求，产品、服务或成果必须具备的特性、功能和特征。解决方案需求又进一步分为功能需求和非功能需求：</a:t>
            </a:r>
          </a:p>
          <a:p>
            <a:pPr algn="l"/>
            <a:r>
              <a:rPr lang="zh-CN" altLang="en-US" sz="1800" b="1" i="0" u="none" strike="noStrike" baseline="0" dirty="0">
                <a:latin typeface="SourceHanSansSC-Bold"/>
              </a:rPr>
              <a:t>功能需求。</a:t>
            </a:r>
            <a:r>
              <a:rPr lang="zh-CN" altLang="en-US" sz="1800" b="0" i="0" u="none" strike="noStrike" baseline="0" dirty="0">
                <a:latin typeface="SourceHanSansSC-Regular"/>
              </a:rPr>
              <a:t>功能需求描述产品应具备的功能，例如，产品应该执行的行动、流程、数据和交互。</a:t>
            </a:r>
          </a:p>
          <a:p>
            <a:pPr algn="l"/>
            <a:r>
              <a:rPr lang="zh-CN" altLang="en-US" sz="1800" b="1" i="0" u="none" strike="noStrike" baseline="0" dirty="0">
                <a:latin typeface="SourceHanSansSC-Bold"/>
              </a:rPr>
              <a:t>非功能需求。</a:t>
            </a:r>
            <a:r>
              <a:rPr lang="zh-CN" altLang="en-US" sz="1800" b="0" i="0" u="none" strike="noStrike" baseline="0" dirty="0">
                <a:latin typeface="SourceHanSansSC-Regular"/>
              </a:rPr>
              <a:t>非功能需求是对功能需求的补充，是产品正常运行所需的环境条件或质量要求，例如，可靠性、保密性、性能、安全性、服务水平、可支持性、保留或清除等。</a:t>
            </a:r>
          </a:p>
          <a:p>
            <a:pPr algn="l"/>
            <a:r>
              <a:rPr lang="zh-CN" altLang="en-US" sz="1800" b="1" i="0" u="none" strike="noStrike" baseline="0" dirty="0">
                <a:latin typeface="SourceHanSansSC-Bold"/>
              </a:rPr>
              <a:t>过渡和就绪需求。</a:t>
            </a:r>
            <a:r>
              <a:rPr lang="zh-CN" altLang="en-US" sz="1800" b="0" i="0" u="none" strike="noStrike" baseline="0" dirty="0">
                <a:latin typeface="SourceHanSansSC-Regular"/>
              </a:rPr>
              <a:t>这些需求描述了从“当前状态”过渡到“将来状态”所需的临时能力，如数据转换和培训需求。</a:t>
            </a:r>
          </a:p>
          <a:p>
            <a:pPr algn="l"/>
            <a:r>
              <a:rPr lang="zh-CN" altLang="en-US" sz="1800" b="1" i="0" u="none" strike="noStrike" baseline="0" dirty="0">
                <a:latin typeface="SourceHanSansSC-Bold"/>
              </a:rPr>
              <a:t>项目需求。</a:t>
            </a:r>
            <a:r>
              <a:rPr lang="zh-CN" altLang="en-US" sz="1800" b="0" i="0" u="none" strike="noStrike" baseline="0" dirty="0">
                <a:latin typeface="SourceHanSansSC-Regular"/>
              </a:rPr>
              <a:t>项目需要满足的行动、过程或其他条件，例如里程碑日期、合同责任、制约因素等。</a:t>
            </a:r>
          </a:p>
          <a:p>
            <a:pPr algn="l"/>
            <a:r>
              <a:rPr lang="zh-CN" altLang="en-US" sz="1800" b="1" i="0" u="none" strike="noStrike" baseline="0" dirty="0">
                <a:latin typeface="SourceHanSansSC-Bold"/>
              </a:rPr>
              <a:t>质量需求。</a:t>
            </a:r>
            <a:r>
              <a:rPr lang="zh-CN" altLang="en-US" sz="1800" b="0" i="0" u="none" strike="noStrike" baseline="0" dirty="0">
                <a:latin typeface="SourceHanSansSC-Regular"/>
              </a:rPr>
              <a:t>用于确认项目可交付成果的成功完成或其他项目需求的实现的任何条件或标准，例如测试、认证、确认等。</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22060229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使用需求跟踪矩阵，把每个需求与业务目标或项目目标联系起来，有助于确保每个需求都具有商业价值。</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需求跟踪矩阵提供了在整个项目生命周期中跟踪需求的一种方法，有助于确保需求文件中被批准的每项需求在项目结束的时候都能交付。</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最后，需求跟踪矩阵还为管理产品范围变更提供了框架。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16360142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左边：</a:t>
            </a:r>
            <a:r>
              <a:rPr lang="en-US" altLang="zh-CN" dirty="0"/>
              <a:t>PMBOK</a:t>
            </a:r>
            <a:r>
              <a:rPr lang="zh-CN" altLang="en-US" dirty="0"/>
              <a:t>指南提供的</a:t>
            </a:r>
            <a:r>
              <a:rPr kumimoji="0" lang="zh-CN" altLang="en-US" sz="1200" b="1" i="0" u="none" strike="noStrike" kern="1200" cap="none" spc="0" normalizeH="0" baseline="0" noProof="0" dirty="0">
                <a:ln>
                  <a:noFill/>
                </a:ln>
                <a:solidFill>
                  <a:srgbClr val="FF6600"/>
                </a:solidFill>
                <a:effectLst/>
                <a:uLnTx/>
                <a:uFillTx/>
                <a:latin typeface="Arial"/>
                <a:cs typeface="+mj-cs"/>
              </a:rPr>
              <a:t>需求跟踪</a:t>
            </a:r>
            <a:r>
              <a:rPr lang="zh-CN" altLang="en-US" dirty="0"/>
              <a:t>矩阵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右下角：另一种</a:t>
            </a: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简单的</a:t>
            </a:r>
            <a:r>
              <a:rPr kumimoji="0" lang="zh-CN" altLang="en-US" sz="1200" b="1" i="0" u="none" strike="noStrike" kern="1200" cap="none" spc="0" normalizeH="0" baseline="0" noProof="0" dirty="0">
                <a:ln>
                  <a:noFill/>
                </a:ln>
                <a:solidFill>
                  <a:srgbClr val="FF6600"/>
                </a:solidFill>
                <a:effectLst/>
                <a:uLnTx/>
                <a:uFillTx/>
                <a:latin typeface="Arial"/>
                <a:cs typeface="+mj-cs"/>
              </a:rPr>
              <a:t>需求跟踪矩阵</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23416236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示例：</a:t>
            </a:r>
            <a:r>
              <a:rPr lang="en-US" altLang="zh-CN" dirty="0" err="1"/>
              <a:t>Xx</a:t>
            </a:r>
            <a:r>
              <a:rPr lang="zh-CN" altLang="en-US" dirty="0"/>
              <a:t>软件项目的需求跟踪矩阵</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extLst>
      <p:ext uri="{BB962C8B-B14F-4D97-AF65-F5344CB8AC3E}">
        <p14:creationId xmlns:p14="http://schemas.microsoft.com/office/powerpoint/2010/main" val="1577220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1" dirty="0"/>
              <a:t>专家判断</a:t>
            </a:r>
            <a:r>
              <a:rPr lang="zh-CN" altLang="en-US" sz="1800" dirty="0"/>
              <a:t>的一种方法：德尔菲法</a:t>
            </a:r>
            <a:endParaRPr lang="en-US" altLang="zh-CN" sz="1800" dirty="0"/>
          </a:p>
          <a:p>
            <a:r>
              <a:rPr lang="zh-CN" altLang="en-US" sz="1800" dirty="0"/>
              <a:t>本质上是一种反馈匿名函询法。其大致流程是：在对所要预测的问题征得专家的意见之后，进行整理、归纳、统计，再匿名反馈给各专家，再次征求意见，再集中，再反馈，直至得到一致的意见。其过程可简单表示如下：</a:t>
            </a:r>
          </a:p>
          <a:p>
            <a:r>
              <a:rPr lang="zh-CN" altLang="en-US" sz="1800" dirty="0"/>
              <a:t>匿名征求专家意见</a:t>
            </a:r>
            <a:r>
              <a:rPr lang="en-US" altLang="zh-CN" sz="1800" dirty="0"/>
              <a:t>-</a:t>
            </a:r>
            <a:r>
              <a:rPr lang="zh-CN" altLang="en-US" sz="1800" dirty="0"/>
              <a:t>归纳、统计</a:t>
            </a:r>
            <a:r>
              <a:rPr lang="en-US" altLang="zh-CN" sz="1800" dirty="0"/>
              <a:t>-</a:t>
            </a:r>
            <a:r>
              <a:rPr lang="zh-CN" altLang="en-US" sz="1800" dirty="0"/>
              <a:t>匿名反馈</a:t>
            </a:r>
            <a:r>
              <a:rPr lang="en-US" altLang="zh-CN" sz="1800" dirty="0"/>
              <a:t>-</a:t>
            </a:r>
            <a:r>
              <a:rPr lang="zh-CN" altLang="en-US" sz="1800" dirty="0"/>
              <a:t>归纳、统计</a:t>
            </a:r>
            <a:r>
              <a:rPr lang="en-US" altLang="zh-CN" sz="1800" dirty="0"/>
              <a:t>……</a:t>
            </a:r>
            <a:r>
              <a:rPr lang="zh-CN" altLang="en-US" sz="1800" dirty="0"/>
              <a:t>若干轮后停止。</a:t>
            </a:r>
          </a:p>
          <a:p>
            <a:r>
              <a:rPr lang="zh-CN" altLang="en-US" sz="1800" dirty="0"/>
              <a:t>可见，德尔菲法是一种利用函询形式进行的集体匿名思想交流过程。它有三个明显区别于其他专家预测方法的特点，即</a:t>
            </a:r>
            <a:r>
              <a:rPr lang="zh-CN" altLang="en-US" sz="1800" b="1" dirty="0"/>
              <a:t>匿名性、多次反馈、小组的统计回答</a:t>
            </a:r>
            <a:r>
              <a:rPr lang="zh-CN" altLang="en-US" sz="1800" dirty="0"/>
              <a:t>。</a:t>
            </a:r>
          </a:p>
          <a:p>
            <a:endParaRPr lang="en-US" altLang="zh-CN" sz="1800" dirty="0"/>
          </a:p>
          <a:p>
            <a:r>
              <a:rPr lang="zh-CN" altLang="en-US" sz="1800" dirty="0"/>
              <a:t>首先应注意的是德尔菲法中的调查表与通常的</a:t>
            </a:r>
            <a:r>
              <a:rPr lang="zh-CN" altLang="en-US" sz="1800" dirty="0">
                <a:hlinkClick r:id="rId3"/>
              </a:rPr>
              <a:t>调查表</a:t>
            </a:r>
            <a:r>
              <a:rPr lang="zh-CN" altLang="en-US" sz="1800" dirty="0"/>
              <a:t>有所不同，它除了有通常调查表向被调查者提出问题并要求回答的内容外，还兼有向被调查者提供信息的责任，它是专家们交流思想的工具。德尔菲法的工作流程大致可以分为四个步骤，在每一步中，组织者与专家都有各自不同的任务。</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1" i="0" u="none" strike="noStrike" baseline="0" dirty="0">
              <a:latin typeface="SourceHanSansSC-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1" i="0" u="none" strike="noStrike" baseline="0" dirty="0">
              <a:latin typeface="SourceHanSansSC-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i="0" u="none" strike="noStrike" baseline="0" dirty="0">
                <a:latin typeface="SourceHanSansSC-Bold"/>
              </a:rPr>
              <a:t>头脑风暴。</a:t>
            </a:r>
            <a:r>
              <a:rPr lang="zh-CN" altLang="en-US" sz="1800" b="0" i="0" u="none" strike="noStrike" baseline="0" dirty="0">
                <a:latin typeface="SourceHanSansSC-Regular"/>
              </a:rPr>
              <a:t>头脑风暴是一种用来产生和收集对项目需求与产品需求的多种创意的技术。</a:t>
            </a:r>
            <a:r>
              <a:rPr lang="zh-CN" altLang="en-US" sz="1800" dirty="0"/>
              <a:t>在没有讨论和批判的情况下想法和念头得到收集。这些想法只有在会议结束才过滤和组织</a:t>
            </a:r>
          </a:p>
          <a:p>
            <a:pPr algn="l"/>
            <a:endParaRPr lang="zh-CN" altLang="en-US" sz="1800" b="0" i="0" u="none" strike="noStrike" baseline="0" dirty="0">
              <a:latin typeface="SourceHanSansSC-Regular"/>
            </a:endParaRPr>
          </a:p>
          <a:p>
            <a:pPr algn="l"/>
            <a:r>
              <a:rPr lang="zh-CN" altLang="en-US" sz="1800" b="1" i="0" u="none" strike="noStrike" baseline="0" dirty="0">
                <a:latin typeface="SourceHanSansSC-Bold"/>
              </a:rPr>
              <a:t>访谈。</a:t>
            </a:r>
            <a:r>
              <a:rPr lang="zh-CN" altLang="en-US" sz="1800" b="0" i="0" u="none" strike="noStrike" baseline="0" dirty="0">
                <a:latin typeface="SourceHanSansSC-Regular"/>
              </a:rPr>
              <a:t>访谈是通过与相关方直接交谈，来获取信息的正式或非正式的方法。访谈的典型做法是向被访者提出预设和即兴的问题，并记录他们的回答。</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访谈经常是一个访谈者和一个被访者之间的“一对一”谈话，但也可以包括多个访谈者和</a:t>
            </a:r>
            <a:r>
              <a:rPr lang="en-US" altLang="zh-CN" sz="1800" b="0" i="0" u="none" strike="noStrike" baseline="0" dirty="0">
                <a:latin typeface="SourceHanSansSC-Regular"/>
              </a:rPr>
              <a:t>/</a:t>
            </a:r>
            <a:r>
              <a:rPr lang="zh-CN" altLang="en-US" sz="1800" b="0" i="0" u="none" strike="noStrike" baseline="0" dirty="0">
                <a:latin typeface="SourceHanSansSC-Regular"/>
              </a:rPr>
              <a:t>或多个被访者。访谈有经验的项目参与者、发起人和其他高管，以及主题专家，有助于识别和定义所需产品可交付成果的特征和功能。访谈也可用于获取机密信息。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1" i="0" u="none" strike="noStrike" baseline="0" dirty="0">
                <a:latin typeface="SourceHanSansSC-Bold"/>
              </a:rPr>
              <a:t>焦点小组。</a:t>
            </a:r>
            <a:r>
              <a:rPr lang="zh-CN" altLang="en-US" sz="1800" b="0" i="0" u="none" strike="noStrike" baseline="0" dirty="0">
                <a:latin typeface="SourceHanSansSC-Regular"/>
              </a:rPr>
              <a:t>焦点小组是召集预定的相关方和主题专家，了解他们对所讨论的产品、服务或成果的期望和态度。由一位受过训练的主持人引导大家进行互动式讨论。焦点小组往往比“一对一”的访谈更热烈。</a:t>
            </a:r>
            <a:endParaRPr lang="en-US" altLang="zh-CN" sz="1800" b="0" i="0" u="none" strike="noStrike" baseline="0" dirty="0">
              <a:latin typeface="SourceHanSansSC-Regular"/>
            </a:endParaRPr>
          </a:p>
          <a:p>
            <a:pPr algn="l"/>
            <a:r>
              <a:rPr lang="zh-CN" altLang="en-US" sz="1800" b="1" i="0" u="none" strike="noStrike" baseline="0" dirty="0">
                <a:latin typeface="SourceHanSansSC-Bold"/>
              </a:rPr>
              <a:t>问卷调查。</a:t>
            </a:r>
            <a:r>
              <a:rPr lang="zh-CN" altLang="en-US" sz="1800" b="0" i="0" u="none" strike="noStrike" baseline="0" dirty="0">
                <a:latin typeface="SourceHanSansSC-Regular"/>
              </a:rPr>
              <a:t>问卷调查是指设计一系列书面问题，向众多受访者快速收集信息。问卷调查方法非常适用于以下情况：受众多样化，需要快速完成调查，受访者地理位置分散，并且适合开展统计分析。</a:t>
            </a:r>
          </a:p>
          <a:p>
            <a:pPr algn="l"/>
            <a:r>
              <a:rPr lang="zh-CN" altLang="en-US" sz="1800" b="1" i="0" u="none" strike="noStrike" baseline="0" dirty="0">
                <a:latin typeface="SourceHanSansSC-Bold"/>
              </a:rPr>
              <a:t>标杆对照见 。 </a:t>
            </a:r>
            <a:r>
              <a:rPr lang="zh-CN" altLang="en-US" sz="1800" b="0" i="0" u="none" strike="noStrike" baseline="0" dirty="0">
                <a:latin typeface="SourceHanSansSC-Regular"/>
              </a:rPr>
              <a:t>标杆对照将实际或计划的产品、过程和实践，与其他可比组织的实践进行比较，以便识别最佳实践，形成改进意见，并为绩效考核提供依据。标杆对照所采用的可比组织可以是内部的，也可以是外部的。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27175517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320778745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Regular"/>
              </a:rPr>
              <a:t>投票</a:t>
            </a:r>
            <a:r>
              <a:rPr lang="zh-CN" altLang="en-US" sz="1800" b="0" i="0" u="none" strike="noStrike" baseline="0" dirty="0">
                <a:latin typeface="SourceHanSansSC-Regular"/>
              </a:rPr>
              <a:t>技术示例包括：</a:t>
            </a:r>
          </a:p>
          <a:p>
            <a:pPr algn="l"/>
            <a:r>
              <a:rPr lang="zh-CN" altLang="en-US" sz="1800" b="0" i="0" u="none" strike="noStrike" baseline="0" dirty="0">
                <a:latin typeface="SourceHanSansSC-Regular"/>
              </a:rPr>
              <a:t>一致同意。每个人都同意某个行动方案。</a:t>
            </a:r>
          </a:p>
          <a:p>
            <a:pPr algn="l"/>
            <a:r>
              <a:rPr lang="zh-CN" altLang="en-US" sz="1800" b="0" i="0" u="none" strike="noStrike" baseline="0" dirty="0">
                <a:latin typeface="SourceHanSansSC-Regular"/>
              </a:rPr>
              <a:t>大多数同意。获得群体中超过 </a:t>
            </a:r>
            <a:r>
              <a:rPr lang="en-US" altLang="zh-CN" sz="1800" b="0" i="0" u="none" strike="noStrike" baseline="0" dirty="0">
                <a:latin typeface="HelveticaNeue-Condensed"/>
              </a:rPr>
              <a:t>50% </a:t>
            </a:r>
            <a:r>
              <a:rPr lang="zh-CN" altLang="en-US" sz="1800" b="0" i="0" u="none" strike="noStrike" baseline="0" dirty="0">
                <a:latin typeface="SourceHanSansSC-Regular"/>
              </a:rPr>
              <a:t>人员的支持，就能做出决策。把参与决策的小组人数定为奇数，可防止因平局而无法达成决策。</a:t>
            </a:r>
          </a:p>
          <a:p>
            <a:pPr algn="l"/>
            <a:r>
              <a:rPr lang="zh-CN" altLang="en-US" sz="1800" b="0" i="0" u="none" strike="noStrike" baseline="0" dirty="0">
                <a:latin typeface="SourceHanSansSC-Regular"/>
              </a:rPr>
              <a:t>相对多数同意。根据群体中相对多数人的意见做出决策，即便未能获得大多数人的支持。通常在候选项超过两个时使用。</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Bold"/>
              </a:rPr>
              <a:t>独裁型决策制定。</a:t>
            </a:r>
            <a:r>
              <a:rPr lang="zh-CN" altLang="en-US" sz="1800" b="0" i="0" u="none" strike="noStrike" baseline="0" dirty="0">
                <a:latin typeface="SourceHanSansSC-Regular"/>
              </a:rPr>
              <a:t>采用这种方法，将由一个人负责为整个集体制定决策。</a:t>
            </a:r>
          </a:p>
          <a:p>
            <a:pPr algn="l"/>
            <a:r>
              <a:rPr lang="zh-CN" altLang="en-US" sz="1800" b="1" i="0" u="none" strike="noStrike" baseline="0" dirty="0">
                <a:latin typeface="SourceHanSansSC-Bold"/>
              </a:rPr>
              <a:t>多标准决策分析。</a:t>
            </a:r>
            <a:r>
              <a:rPr lang="zh-CN" altLang="en-US" sz="1800" b="0" i="0" u="none" strike="noStrike" baseline="0" dirty="0">
                <a:latin typeface="SourceHanSansSC-Regular"/>
              </a:rPr>
              <a:t>该技术借助决策矩阵，用系统分析方法建立诸如风险水平、不确定性和价值收益等多种标准，以对众多创意进行评估和排序。</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2021176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777777"/>
                </a:solidFill>
                <a:effectLst/>
                <a:latin typeface="Open Sans" panose="020B0606030504020204" pitchFamily="34" charset="0"/>
              </a:rPr>
              <a:t>亲和图</a:t>
            </a:r>
            <a:r>
              <a:rPr lang="zh-CN" altLang="en-US" b="0" i="0" dirty="0">
                <a:solidFill>
                  <a:srgbClr val="777777"/>
                </a:solidFill>
                <a:effectLst/>
                <a:latin typeface="Open Sans" panose="020B0606030504020204" pitchFamily="34" charset="0"/>
              </a:rPr>
              <a:t>又称</a:t>
            </a:r>
            <a:r>
              <a:rPr lang="en-US" altLang="zh-CN" b="0" i="0" dirty="0">
                <a:solidFill>
                  <a:srgbClr val="777777"/>
                </a:solidFill>
                <a:effectLst/>
                <a:latin typeface="Open Sans" panose="020B0606030504020204" pitchFamily="34" charset="0"/>
              </a:rPr>
              <a:t>KJ</a:t>
            </a:r>
            <a:r>
              <a:rPr lang="zh-CN" altLang="en-US" b="0" i="0" dirty="0">
                <a:solidFill>
                  <a:srgbClr val="777777"/>
                </a:solidFill>
                <a:effectLst/>
                <a:latin typeface="Open Sans" panose="020B0606030504020204" pitchFamily="34" charset="0"/>
              </a:rPr>
              <a:t>法，是一种通过将某件事的数据资料间的相互关系，对其进行归纳、分类整理，然后再进行分析讨论，找出能够解决问题的方法。亲和图面对的数据多是文字和语言，这便十分的困难，所以亲和图将这些文字语言进行分类归纳，具有同一性质或者相同点的归类成合并图，这样便可以从杂乱的文字中找到思路，解决问题。亲和图的特点是数据繁多，正是因为数据繁多，所以当大量的数据整理到一起便会有不同表面的叙述，从而得到不一样的信息。</a:t>
            </a:r>
            <a:endParaRPr lang="zh-CN" altLang="en-US" dirty="0"/>
          </a:p>
          <a:p>
            <a:endParaRPr lang="en-US" altLang="zh-CN" sz="1800" b="0" i="0" u="none" strike="noStrike" baseline="0" dirty="0">
              <a:latin typeface="SourceHanSansSC-Regular"/>
            </a:endParaRPr>
          </a:p>
          <a:p>
            <a:r>
              <a:rPr lang="zh-CN" altLang="en-US" sz="1800" b="0" i="0" u="none" strike="noStrike" baseline="0" dirty="0">
                <a:latin typeface="SourceHanSansSC-Regular"/>
              </a:rPr>
              <a:t>用来对大量创意进行分组的技术，以便进一步审查和分析。</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39006025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思维导图 示例</a:t>
            </a:r>
            <a:endParaRPr lang="en-US" altLang="zh-CN" sz="1200"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143284790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把从头脑风暴中获得的创意整合成一张图，用以反映创意之间的共性与差异，激发新创意。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28583069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名义小组技术。</a:t>
            </a:r>
            <a:r>
              <a:rPr lang="zh-CN" altLang="en-US" sz="1800" b="0" i="0" u="none" strike="noStrike" baseline="0" dirty="0">
                <a:latin typeface="SourceHanSansSC-Regular"/>
              </a:rPr>
              <a:t>名义小组技术是用于促进头脑风暴的一种技术，通过投票排列最有用的创意，以便进一步开展头脑风暴或优先排序。</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名义小组技术是一种结构化的头脑风暴形式，由四个步骤组成：</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a:t>
            </a:r>
            <a:r>
              <a:rPr lang="en-US" altLang="zh-CN" sz="1800" b="0" i="0" u="none" strike="noStrike" baseline="0" dirty="0">
                <a:latin typeface="SourceHanSansSC-Regular"/>
              </a:rPr>
              <a:t>1</a:t>
            </a:r>
            <a:r>
              <a:rPr lang="zh-CN" altLang="en-US" sz="1800" b="0" i="0" u="none" strike="noStrike" baseline="0" dirty="0">
                <a:latin typeface="SourceHanSansSC-Regular"/>
              </a:rPr>
              <a:t>）向集体提出一个问题或难题。每个人在沉思后写出自己的想法。</a:t>
            </a:r>
          </a:p>
          <a:p>
            <a:pPr algn="l"/>
            <a:r>
              <a:rPr lang="zh-CN" altLang="en-US" sz="1800" b="0" i="0" u="none" strike="noStrike" baseline="0" dirty="0">
                <a:latin typeface="SourceHanSansSC-Regular"/>
              </a:rPr>
              <a:t>（</a:t>
            </a:r>
            <a:r>
              <a:rPr lang="en-US" altLang="zh-CN" sz="1800" b="0" i="0" u="none" strike="noStrike" baseline="0" dirty="0">
                <a:latin typeface="SourceHanSansSC-Regular"/>
              </a:rPr>
              <a:t>2</a:t>
            </a:r>
            <a:r>
              <a:rPr lang="zh-CN" altLang="en-US" sz="1800" b="0" i="0" u="none" strike="noStrike" baseline="0" dirty="0">
                <a:latin typeface="SourceHanSansSC-Regular"/>
              </a:rPr>
              <a:t>）主持人在活动挂图上记录所有人的想法。</a:t>
            </a:r>
          </a:p>
          <a:p>
            <a:pPr algn="l"/>
            <a:r>
              <a:rPr lang="zh-CN" altLang="en-US" sz="1800" b="0" i="0" u="none" strike="noStrike" baseline="0" dirty="0">
                <a:latin typeface="SourceHanSansSC-Regular"/>
              </a:rPr>
              <a:t>（</a:t>
            </a:r>
            <a:r>
              <a:rPr lang="en-US" altLang="zh-CN" sz="1800" b="0" i="0" u="none" strike="noStrike" baseline="0" dirty="0">
                <a:latin typeface="SourceHanSansSC-Regular"/>
              </a:rPr>
              <a:t>3</a:t>
            </a:r>
            <a:r>
              <a:rPr lang="zh-CN" altLang="en-US" sz="1800" b="0" i="0" u="none" strike="noStrike" baseline="0" dirty="0">
                <a:latin typeface="SourceHanSansSC-Regular"/>
              </a:rPr>
              <a:t>）集体讨论各个想法，直到全体成员达成一个明确的共识。</a:t>
            </a:r>
          </a:p>
          <a:p>
            <a:pPr algn="l"/>
            <a:r>
              <a:rPr lang="zh-CN" altLang="en-US" sz="1800" b="0" i="0" u="none" strike="noStrike" baseline="0" dirty="0">
                <a:latin typeface="SourceHanSansSC-Regular"/>
              </a:rPr>
              <a:t>（</a:t>
            </a:r>
            <a:r>
              <a:rPr lang="en-US" altLang="zh-CN" sz="1800" b="0" i="0" u="none" strike="noStrike" baseline="0" dirty="0">
                <a:latin typeface="SourceHanSansSC-Regular"/>
              </a:rPr>
              <a:t>4</a:t>
            </a:r>
            <a:r>
              <a:rPr lang="zh-CN" altLang="en-US" sz="1800" b="0" i="0" u="none" strike="noStrike" baseline="0" dirty="0">
                <a:latin typeface="SourceHanSansSC-Regular"/>
              </a:rPr>
              <a:t>）个人私下投票决出各种想法的优先排序，通常采用 </a:t>
            </a:r>
            <a:r>
              <a:rPr lang="en-US" altLang="zh-CN" sz="1800" b="0" i="0" u="none" strike="noStrike" baseline="0" dirty="0">
                <a:latin typeface="HelveticaNeue-Condensed"/>
              </a:rPr>
              <a:t>5 </a:t>
            </a:r>
            <a:r>
              <a:rPr lang="zh-CN" altLang="en-US" sz="1800" b="0" i="0" u="none" strike="noStrike" baseline="0" dirty="0">
                <a:latin typeface="SourceHanSansSC-Regular"/>
              </a:rPr>
              <a:t>分制，</a:t>
            </a:r>
            <a:r>
              <a:rPr lang="en-US" altLang="zh-CN" sz="1800" b="0" i="0" u="none" strike="noStrike" baseline="0" dirty="0">
                <a:latin typeface="HelveticaNeue-Condensed"/>
              </a:rPr>
              <a:t>1 </a:t>
            </a:r>
            <a:r>
              <a:rPr lang="zh-CN" altLang="en-US" sz="1800" b="0" i="0" u="none" strike="noStrike" baseline="0" dirty="0">
                <a:latin typeface="SourceHanSansSC-Regular"/>
              </a:rPr>
              <a:t>分最低，</a:t>
            </a:r>
            <a:r>
              <a:rPr lang="en-US" altLang="zh-CN" sz="1800" b="0" i="0" u="none" strike="noStrike" baseline="0" dirty="0">
                <a:latin typeface="HelveticaNeue-Condensed"/>
              </a:rPr>
              <a:t>5 </a:t>
            </a:r>
            <a:r>
              <a:rPr lang="zh-CN" altLang="en-US" sz="1800" b="0" i="0" u="none" strike="noStrike" baseline="0" dirty="0">
                <a:latin typeface="SourceHanSansSC-Regular"/>
              </a:rPr>
              <a:t>分最高。为减少想法数量、集中关注想法，可进行数轮投票。每轮投票后，都将清点选票，得分最高者被选出。</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Bold"/>
              </a:rPr>
              <a:t>观察和交谈。</a:t>
            </a:r>
            <a:r>
              <a:rPr lang="zh-CN" altLang="en-US" sz="1800" b="0" i="0" u="none" strike="noStrike" baseline="0" dirty="0">
                <a:latin typeface="SourceHanSansSC-Regular"/>
              </a:rPr>
              <a:t>观察和交谈是指直接察看个人在各自的环境中如何执行工作（或任务）和实施流程。当产品使用者难以或不愿清晰说明他们的需求时，就特别需要通过观察来了解他们的工作细节。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观察，也称为“工作跟随”，通常由旁站观察者观察业务专家如何执行工作，但也可以由“参与观察者”来观察，通过实际执行一个流程或程序，来体验该流程或程序是如何实施的，以便挖掘隐藏的需求。</a:t>
            </a:r>
          </a:p>
          <a:p>
            <a:pPr algn="l"/>
            <a:r>
              <a:rPr lang="zh-CN" altLang="en-US" sz="1800" b="1" i="0" u="none" strike="noStrike" baseline="0" dirty="0">
                <a:latin typeface="SourceHanSansSC-Bold"/>
              </a:rPr>
              <a:t>引导。</a:t>
            </a:r>
            <a:r>
              <a:rPr lang="zh-CN" altLang="en-US" sz="1800" b="0" i="0" u="none" strike="noStrike" baseline="0" dirty="0">
                <a:latin typeface="SourceHanSansSC-Regular"/>
              </a:rPr>
              <a:t>引导与主题研讨会结合使用，把主要相关方召集在一起定义产品需求。研讨会可用于快速定义跨职能需求并协调相关方的需求差异。因为具有群体互动的特点，有效引导的研讨会有助于参与者之间建立信任、改进关系、改善沟通，从而有利于相关方达成一致意见。此外，与分别召开会议相比，研讨会能够更早发现并解决问题。</a:t>
            </a:r>
          </a:p>
          <a:p>
            <a:pPr algn="l"/>
            <a:r>
              <a:rPr lang="zh-CN" altLang="en-US" sz="1800" b="0" i="0" u="none" strike="noStrike" baseline="0" dirty="0">
                <a:latin typeface="SourceHanSansSC-Regular"/>
              </a:rPr>
              <a:t>适合采用引导技能的情境包括（但不限于）：</a:t>
            </a:r>
          </a:p>
          <a:p>
            <a:pPr algn="l"/>
            <a:r>
              <a:rPr lang="zh-CN" altLang="en-US" sz="1800" b="1" i="0" u="none" strike="noStrike" baseline="0" dirty="0">
                <a:latin typeface="SourceHanSansSC-Bold"/>
              </a:rPr>
              <a:t>    联合应用设计或开发 </a:t>
            </a:r>
            <a:r>
              <a:rPr lang="en-US" altLang="zh-CN" sz="1800" b="1" i="1" u="none" strike="noStrike" baseline="0" dirty="0">
                <a:latin typeface="HelveticaNeue-BoldCondObl"/>
              </a:rPr>
              <a:t>(JAD)</a:t>
            </a:r>
            <a:r>
              <a:rPr lang="zh-CN" altLang="en-US" sz="1800" b="1" i="0" u="none" strike="noStrike" baseline="0" dirty="0">
                <a:latin typeface="SourceHanSansSC-Bold"/>
              </a:rPr>
              <a:t>。</a:t>
            </a:r>
            <a:r>
              <a:rPr lang="en-US" altLang="zh-CN" sz="1800" b="0" i="0" u="none" strike="noStrike" baseline="0" dirty="0">
                <a:latin typeface="HelveticaNeue-Condensed"/>
              </a:rPr>
              <a:t>JAD </a:t>
            </a:r>
            <a:r>
              <a:rPr lang="zh-CN" altLang="en-US" sz="1800" b="0" i="0" u="none" strike="noStrike" baseline="0" dirty="0">
                <a:latin typeface="SourceHanSansSC-Regular"/>
              </a:rPr>
              <a:t>会议适用于软件开发行业。这种研讨会注重把业务主题专家和开发团队集中在一起，以收集需求和改进软件开发过程。</a:t>
            </a:r>
          </a:p>
          <a:p>
            <a:pPr algn="l"/>
            <a:r>
              <a:rPr lang="en-US" altLang="zh-CN" sz="1800" b="0" i="0" u="none" strike="noStrike" baseline="0" dirty="0">
                <a:latin typeface="Wingdings-Regular"/>
              </a:rPr>
              <a:t>    </a:t>
            </a:r>
            <a:r>
              <a:rPr lang="zh-CN" altLang="en-US" sz="1800" b="1" i="0" u="none" strike="noStrike" baseline="0" dirty="0">
                <a:latin typeface="SourceHanSansSC-Bold"/>
              </a:rPr>
              <a:t>质量功能展开 </a:t>
            </a:r>
            <a:r>
              <a:rPr lang="en-US" altLang="zh-CN" sz="1800" b="1" i="1" u="none" strike="noStrike" baseline="0" dirty="0">
                <a:latin typeface="HelveticaNeue-BoldCondObl"/>
              </a:rPr>
              <a:t>(QFD)</a:t>
            </a:r>
            <a:r>
              <a:rPr lang="zh-CN" altLang="en-US" sz="1800" b="1" i="0" u="none" strike="noStrike" baseline="0" dirty="0">
                <a:latin typeface="SourceHanSansSC-Bold"/>
              </a:rPr>
              <a:t>。</a:t>
            </a:r>
            <a:r>
              <a:rPr lang="zh-CN" altLang="en-US" sz="1800" b="0" i="0" u="none" strike="noStrike" baseline="0" dirty="0">
                <a:latin typeface="SourceHanSansSC-Regular"/>
              </a:rPr>
              <a:t>制造行业则采用 </a:t>
            </a:r>
            <a:r>
              <a:rPr lang="en-US" altLang="zh-CN" sz="1800" b="0" i="0" u="none" strike="noStrike" baseline="0" dirty="0">
                <a:latin typeface="HelveticaNeue-Condensed"/>
              </a:rPr>
              <a:t>QFD </a:t>
            </a:r>
            <a:r>
              <a:rPr lang="zh-CN" altLang="en-US" sz="1800" b="0" i="0" u="none" strike="noStrike" baseline="0" dirty="0">
                <a:latin typeface="SourceHanSansSC-Regular"/>
              </a:rPr>
              <a:t>这种引导技能来帮助确定新产品的关键特征。</a:t>
            </a:r>
            <a:r>
              <a:rPr lang="en-US" altLang="zh-CN" sz="1800" b="0" i="0" u="none" strike="noStrike" baseline="0" dirty="0">
                <a:latin typeface="HelveticaNeue-Condensed"/>
              </a:rPr>
              <a:t>QFD</a:t>
            </a:r>
            <a:r>
              <a:rPr lang="zh-CN" altLang="en-US" sz="1800" b="0" i="0" u="none" strike="noStrike" baseline="0" dirty="0">
                <a:latin typeface="SourceHanSansSC-Regular"/>
              </a:rPr>
              <a:t>从收集客户需要（又称“客户声音”）开始，然后客观地对这些需要进行分类和排序，并为实现这些需要而设定目标。</a:t>
            </a:r>
          </a:p>
          <a:p>
            <a:pPr algn="l"/>
            <a:r>
              <a:rPr lang="zh-CN" altLang="en-US" sz="1800" b="1" i="0" u="none" strike="noStrike" baseline="0" dirty="0">
                <a:latin typeface="SourceHanSansSC-Bold"/>
              </a:rPr>
              <a:t>    用户故事。</a:t>
            </a:r>
            <a:r>
              <a:rPr lang="zh-CN" altLang="en-US" sz="1800" b="0" i="0" u="none" strike="noStrike" baseline="0" dirty="0">
                <a:latin typeface="SourceHanSansSC-Regular"/>
              </a:rPr>
              <a:t>用户故事是对所需功能的简短文字描述，经常产生于需求研讨会。用户故事描述哪个相关方将从功能中受益（角色），他需要实现什么（目标），以及他期望获得什么利益（动机）。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40659075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系统交互图显示了业务系统的输入、输入提供者、业务系统的输出和输出接收者。</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原型法</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原型包括微缩产品、计算机生成的二维和三维模型</a:t>
            </a:r>
            <a:r>
              <a:rPr lang="en-US" altLang="zh-CN" sz="1800" b="0" i="0" u="none" strike="noStrike" baseline="0" dirty="0">
                <a:latin typeface="SourceHanSansSC-Regular"/>
              </a:rPr>
              <a:t>(</a:t>
            </a:r>
            <a:r>
              <a:rPr lang="zh-CN" altLang="en-US" sz="1800" b="0" i="0" u="none" strike="noStrike" baseline="0" dirty="0">
                <a:latin typeface="SourceHanSansSC-Regular"/>
              </a:rPr>
              <a:t>数字孪生，电子沙盘</a:t>
            </a:r>
            <a:r>
              <a:rPr lang="en-US" altLang="zh-CN" sz="1800" b="0" i="0" u="none" strike="noStrike" baseline="0" dirty="0">
                <a:latin typeface="SourceHanSansSC-Regular"/>
              </a:rPr>
              <a:t>)</a:t>
            </a:r>
            <a:r>
              <a:rPr lang="zh-CN" altLang="en-US" sz="1800" b="0" i="0" u="none" strike="noStrike" baseline="0" dirty="0">
                <a:latin typeface="SourceHanSansSC-Regular"/>
              </a:rPr>
              <a:t>、实体模型或模拟（沙盘）。因为原型是有形的实物，它使得相关方可以体验最终产品的模型，而不是仅限于讨论抽象的需求描述。原型法支持渐进明细的理念，需要经历从模型创建、用户体验、反馈收集到原型修改的反复循环过程。在经过足够的反馈循环之后，就可以通过原型获得足够的需求信息，从而进入设计或制造阶段。</a:t>
            </a:r>
          </a:p>
          <a:p>
            <a:pPr algn="l"/>
            <a:r>
              <a:rPr lang="zh-CN" altLang="en-US" sz="1800" b="0" i="0" u="none" strike="noStrike" baseline="0" dirty="0">
                <a:latin typeface="SourceHanSansSC-Regular"/>
              </a:rPr>
              <a:t>   </a:t>
            </a:r>
            <a:r>
              <a:rPr lang="zh-CN" altLang="en-US" sz="1800" b="1" i="0" u="none" strike="noStrike" baseline="0" dirty="0">
                <a:latin typeface="SourceHanSansSC-Regular"/>
              </a:rPr>
              <a:t>故事板</a:t>
            </a:r>
            <a:r>
              <a:rPr lang="zh-CN" altLang="en-US" sz="1800" b="0" i="0" u="none" strike="noStrike" baseline="0" dirty="0">
                <a:latin typeface="SourceHanSansSC-Regular"/>
              </a:rPr>
              <a:t>是一种原型技术，通过一系列的图像或图示来展示顺序或导航路径。故事板用于各种行业的各种项目中，如电影、广告、教学设计，以及敏捷和其他软件开发项目。在软件开发中，故事板使用实体模型来展示网页、屏幕或其他用户界面的导航路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78</a:t>
            </a:fld>
            <a:endParaRPr lang="zh-CN" altLang="en-US"/>
          </a:p>
        </p:txBody>
      </p:sp>
    </p:spTree>
    <p:extLst>
      <p:ext uri="{BB962C8B-B14F-4D97-AF65-F5344CB8AC3E}">
        <p14:creationId xmlns:p14="http://schemas.microsoft.com/office/powerpoint/2010/main" val="12231327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项目范围管理的下一步是要进一步定义项目所需开展的工作。</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合理的范围定义对项目的成功非常重要，因为项目范围定义有助于提高时间、成本及资源估计的精确度，定义绩效测量及项目控制的基线，帮助理清和明确工作职责。</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在范围定义中，使用的主要工具及技术包括专家判断、产品分析、数据分析、决策和引导式研讨会等。</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范围定义的主要输出是项目范围说明书，同时对</a:t>
            </a:r>
            <a:r>
              <a:rPr lang="zh-CN" altLang="en-US" sz="1800" b="1" dirty="0">
                <a:latin typeface="Times New Roman" panose="02020603050405020304" pitchFamily="18" charset="0"/>
              </a:rPr>
              <a:t>项目文件进行更新</a:t>
            </a:r>
            <a:r>
              <a:rPr lang="zh-CN" altLang="en-US" sz="1800" dirty="0">
                <a:latin typeface="Times New Roman" panose="02020603050405020304" pitchFamily="18" charset="0"/>
              </a:rPr>
              <a:t>。</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latin typeface="Times New Roman" panose="02020603050405020304" pitchFamily="18" charset="0"/>
            </a:endParaRPr>
          </a:p>
          <a:p>
            <a:pPr algn="l"/>
            <a:r>
              <a:rPr lang="zh-CN" altLang="en-US" sz="1800" b="0" i="0" u="none" strike="noStrike" baseline="0" dirty="0">
                <a:latin typeface="SourceHanSansSC-Regular"/>
              </a:rPr>
              <a:t>由于在收集需求过程中识别出的所有需求未必都包含在项目中，所以定义范围过程就要从</a:t>
            </a:r>
            <a:r>
              <a:rPr lang="zh-CN" altLang="en-US" sz="1800" b="1" i="0" u="none" strike="noStrike" baseline="0" dirty="0">
                <a:latin typeface="SourceHanSansSC-Regular"/>
              </a:rPr>
              <a:t>需求文件（收集需求过程的输出）中选取最终的项目需求</a:t>
            </a:r>
            <a:r>
              <a:rPr lang="zh-CN" altLang="en-US" sz="1800" b="0" i="0" u="none" strike="noStrike" baseline="0" dirty="0">
                <a:latin typeface="SourceHanSansSC-Regular"/>
              </a:rPr>
              <a:t>，然后制定出关于项目及其产品、服务或成果的详细描述。准备好详细的项目范围说明书，对项目成功至关重要。</a:t>
            </a:r>
            <a:endParaRPr lang="zh-CN" altLang="en-US" sz="1800" dirty="0">
              <a:latin typeface="Times New Roman" panose="02020603050405020304" pitchFamily="18" charset="0"/>
            </a:endParaRPr>
          </a:p>
          <a:p>
            <a:endParaRPr lang="en-US" altLang="zh-CN" dirty="0"/>
          </a:p>
          <a:p>
            <a:r>
              <a:rPr lang="zh-CN" altLang="en-US" dirty="0"/>
              <a:t>与收集需求的过程相比，由于需求管理计划、相关方参与计划、商业文件、协议等，已用于完成需求收集工作或整理后写入需求文件了，不再用为本过程的输入，本过程的输入中最主要的是需求文件。</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79</a:t>
            </a:fld>
            <a:endParaRPr lang="zh-CN" altLang="en-US"/>
          </a:p>
        </p:txBody>
      </p:sp>
    </p:spTree>
    <p:extLst>
      <p:ext uri="{BB962C8B-B14F-4D97-AF65-F5344CB8AC3E}">
        <p14:creationId xmlns:p14="http://schemas.microsoft.com/office/powerpoint/2010/main" val="32852731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zh-CN" sz="1800" dirty="0">
                <a:latin typeface="微软雅黑" panose="020B0503020204020204" pitchFamily="34" charset="-122"/>
                <a:ea typeface="微软雅黑" panose="020B0503020204020204" pitchFamily="34" charset="-122"/>
                <a:cs typeface="Times New Roman" pitchFamily="18" charset="0"/>
              </a:rPr>
              <a:t>编制依据</a:t>
            </a:r>
            <a:r>
              <a:rPr lang="zh-CN" altLang="en-US" sz="1800" dirty="0">
                <a:latin typeface="微软雅黑" panose="020B0503020204020204" pitchFamily="34" charset="-122"/>
                <a:ea typeface="微软雅黑" panose="020B0503020204020204" pitchFamily="34" charset="-122"/>
                <a:cs typeface="Times New Roman" pitchFamily="18" charset="0"/>
              </a:rPr>
              <a:t>（</a:t>
            </a:r>
            <a:r>
              <a:rPr lang="zh-CN" altLang="en-US" sz="1800" dirty="0">
                <a:latin typeface="Times New Roman" panose="02020603050405020304" pitchFamily="18" charset="0"/>
              </a:rPr>
              <a:t>输入）：</a:t>
            </a:r>
            <a:endParaRPr lang="en-US" altLang="zh-CN" sz="1800" dirty="0">
              <a:latin typeface="Times New Roman" panose="02020603050405020304" pitchFamily="18" charset="0"/>
            </a:endParaRPr>
          </a:p>
          <a:p>
            <a:pPr algn="just"/>
            <a:r>
              <a:rPr lang="en-US" altLang="zh-CN" sz="1800" dirty="0">
                <a:latin typeface="Times New Roman" panose="02020603050405020304" pitchFamily="18" charset="0"/>
              </a:rPr>
              <a:t>.1</a:t>
            </a:r>
            <a:r>
              <a:rPr lang="zh-CN" altLang="en-US" sz="1800" dirty="0">
                <a:latin typeface="Times New Roman" panose="02020603050405020304" pitchFamily="18" charset="0"/>
              </a:rPr>
              <a:t>项目章程</a:t>
            </a:r>
            <a:endParaRPr lang="en-US" altLang="zh-CN" sz="1800" dirty="0">
              <a:latin typeface="Times New Roman" panose="02020603050405020304" pitchFamily="18" charset="0"/>
            </a:endParaRPr>
          </a:p>
          <a:p>
            <a:pPr algn="just"/>
            <a:r>
              <a:rPr lang="zh-CN" altLang="en-US" sz="1800" b="0" i="0" u="none" strike="noStrike" baseline="0" dirty="0">
                <a:latin typeface="SourceHanSansSC-Regular"/>
              </a:rPr>
              <a:t>     项目章程中包含对项目的高层级描述、产品特征和审批要求。</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.2</a:t>
            </a:r>
            <a:r>
              <a:rPr lang="zh-CN" altLang="en-US" sz="1800" dirty="0">
                <a:latin typeface="Times New Roman" panose="02020603050405020304" pitchFamily="18" charset="0"/>
              </a:rPr>
              <a:t>项目管理计划</a:t>
            </a:r>
          </a:p>
          <a:p>
            <a:pPr algn="l"/>
            <a:r>
              <a:rPr lang="en-US" altLang="zh-CN" sz="1800" dirty="0">
                <a:latin typeface="Times New Roman" panose="02020603050405020304" pitchFamily="18" charset="0"/>
              </a:rPr>
              <a:t>   ·</a:t>
            </a:r>
            <a:r>
              <a:rPr lang="zh-CN" altLang="en-US" sz="1800" dirty="0">
                <a:latin typeface="Times New Roman" panose="02020603050405020304" pitchFamily="18" charset="0"/>
              </a:rPr>
              <a:t>范围管理计划</a:t>
            </a:r>
            <a:r>
              <a:rPr lang="en-US" altLang="zh-CN" sz="1800" dirty="0">
                <a:latin typeface="Times New Roman" panose="02020603050405020304" pitchFamily="18" charset="0"/>
              </a:rPr>
              <a:t>, </a:t>
            </a:r>
            <a:r>
              <a:rPr lang="zh-CN" altLang="en-US" sz="1800" b="0" i="0" u="none" strike="noStrike" baseline="0" dirty="0">
                <a:latin typeface="SourceHanSansSC-Regular"/>
              </a:rPr>
              <a:t>其中记录了如何定义、确认和控制项目范围。</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.3</a:t>
            </a:r>
            <a:r>
              <a:rPr lang="zh-CN" altLang="en-US" sz="1800" dirty="0">
                <a:latin typeface="Times New Roman" panose="02020603050405020304" pitchFamily="18" charset="0"/>
              </a:rPr>
              <a:t>项目文件</a:t>
            </a:r>
          </a:p>
          <a:p>
            <a:pPr algn="l"/>
            <a:r>
              <a:rPr lang="en-US" altLang="zh-CN" sz="1800" dirty="0">
                <a:latin typeface="Times New Roman" panose="02020603050405020304" pitchFamily="18" charset="0"/>
              </a:rPr>
              <a:t>   ·</a:t>
            </a:r>
            <a:r>
              <a:rPr lang="zh-CN" altLang="en-US" sz="1800" dirty="0">
                <a:latin typeface="Times New Roman" panose="02020603050405020304" pitchFamily="18" charset="0"/>
              </a:rPr>
              <a:t>假设日志</a:t>
            </a:r>
            <a:r>
              <a:rPr lang="en-US" altLang="zh-CN" sz="1800" dirty="0">
                <a:latin typeface="Times New Roman" panose="02020603050405020304" pitchFamily="18" charset="0"/>
              </a:rPr>
              <a:t>, </a:t>
            </a:r>
            <a:r>
              <a:rPr lang="zh-CN" altLang="en-US" sz="1800" b="0" i="0" u="none" strike="noStrike" baseline="0" dirty="0">
                <a:latin typeface="SourceHanSansSC-Regular"/>
              </a:rPr>
              <a:t>假设日志识别了有关产品、项目、环境、相关方以及会影响项目和产品范围的假设条件和制约因素。</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dirty="0">
                <a:latin typeface="Times New Roman" panose="02020603050405020304" pitchFamily="18" charset="0"/>
              </a:rPr>
              <a:t>需求文件</a:t>
            </a:r>
            <a:r>
              <a:rPr lang="en-US" altLang="zh-CN" sz="1800" dirty="0">
                <a:latin typeface="Times New Roman" panose="02020603050405020304" pitchFamily="18" charset="0"/>
              </a:rPr>
              <a:t>, </a:t>
            </a:r>
            <a:r>
              <a:rPr lang="zh-CN" altLang="en-US" sz="1800" b="0" i="0" u="none" strike="noStrike" baseline="0" dirty="0">
                <a:latin typeface="SourceHanSansSC-Regular"/>
              </a:rPr>
              <a:t>需求文件识别了应纳入范围的需求。</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dirty="0">
                <a:latin typeface="Times New Roman" panose="02020603050405020304" pitchFamily="18" charset="0"/>
              </a:rPr>
              <a:t>风险登记册</a:t>
            </a:r>
            <a:r>
              <a:rPr lang="en-US" altLang="zh-CN" sz="1800" dirty="0">
                <a:latin typeface="Times New Roman" panose="02020603050405020304" pitchFamily="18" charset="0"/>
              </a:rPr>
              <a:t>, </a:t>
            </a:r>
            <a:r>
              <a:rPr lang="zh-CN" altLang="en-US" sz="1800" dirty="0">
                <a:latin typeface="Times New Roman" panose="02020603050405020304" pitchFamily="18" charset="0"/>
              </a:rPr>
              <a:t>风险登记册包含了可能影响项目范围的应对策略，例如缩小或改变项目和产品范围，以规避或缓解风险。</a:t>
            </a:r>
          </a:p>
          <a:p>
            <a:pPr algn="just"/>
            <a:r>
              <a:rPr lang="en-US" altLang="zh-CN" sz="1800" dirty="0">
                <a:latin typeface="Times New Roman" panose="02020603050405020304" pitchFamily="18" charset="0"/>
              </a:rPr>
              <a:t>.4</a:t>
            </a:r>
            <a:r>
              <a:rPr lang="zh-CN" altLang="en-US" sz="1800" dirty="0">
                <a:latin typeface="Times New Roman" panose="02020603050405020304" pitchFamily="18" charset="0"/>
              </a:rPr>
              <a:t>事业环境因素</a:t>
            </a:r>
            <a:endParaRPr lang="en-US" altLang="zh-CN" sz="1800" dirty="0">
              <a:latin typeface="Times New Roman" panose="02020603050405020304" pitchFamily="18" charset="0"/>
            </a:endParaRPr>
          </a:p>
          <a:p>
            <a:pPr algn="just"/>
            <a:r>
              <a:rPr lang="zh-CN" altLang="en-US" sz="1800" b="0" i="0" u="none" strike="noStrike" baseline="0" dirty="0">
                <a:latin typeface="SourceHanSansSC-Regular"/>
              </a:rPr>
              <a:t>   考虑会影响定义范围过程的事业环境因素</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.5</a:t>
            </a:r>
            <a:r>
              <a:rPr lang="zh-CN" altLang="en-US" sz="1800" dirty="0">
                <a:latin typeface="Times New Roman" panose="02020603050405020304" pitchFamily="18" charset="0"/>
              </a:rPr>
              <a:t>组织过程资产</a:t>
            </a:r>
            <a:endParaRPr lang="en-US" altLang="zh-CN" sz="1800" dirty="0">
              <a:latin typeface="Times New Roman" panose="02020603050405020304" pitchFamily="18" charset="0"/>
            </a:endParaRPr>
          </a:p>
          <a:p>
            <a:pPr algn="just"/>
            <a:r>
              <a:rPr lang="zh-CN" altLang="en-US" sz="1800" b="0" i="0" u="none" strike="noStrike" baseline="0" dirty="0">
                <a:latin typeface="SourceHanSansSC-Regular"/>
              </a:rPr>
              <a:t>   能够影响定义范围过程的组织过程资产包括：</a:t>
            </a:r>
            <a:endParaRPr lang="en-US" altLang="zh-CN" sz="1800" b="0" i="0" u="none" strike="noStrike" baseline="0" dirty="0">
              <a:latin typeface="SourceHanSansSC-Regular"/>
            </a:endParaRPr>
          </a:p>
          <a:p>
            <a:pPr algn="l"/>
            <a:r>
              <a:rPr lang="en-US" altLang="zh-CN" sz="1800" b="0" i="0" u="none" strike="noStrike" baseline="0" dirty="0">
                <a:latin typeface="SourceHanSansSC-Regular"/>
              </a:rPr>
              <a:t>      </a:t>
            </a:r>
            <a:r>
              <a:rPr lang="zh-CN" altLang="en-US" sz="1800" b="0" i="0" u="none" strike="noStrike" baseline="0" dirty="0">
                <a:latin typeface="SourceHanSansSC-Regular"/>
              </a:rPr>
              <a:t>用于制定项目范围说明书的政策、程序和模板；以往项目的项目档案；以往阶段或项目的经验教训。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22500844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项目范围说明书描述要做和不要做的工作的详细程度，决定着项目管理团队控制整个项目范围的有效程度。详细的项目范围说明书包括以下内容（可能直接列出或参引其他文件）：</a:t>
            </a:r>
          </a:p>
          <a:p>
            <a:pPr algn="l"/>
            <a:r>
              <a:rPr lang="zh-CN" altLang="en-US" sz="1800" b="1" i="0" u="none" strike="noStrike" baseline="0" dirty="0">
                <a:latin typeface="SourceHanSansSC-Bold"/>
              </a:rPr>
              <a:t>产品范围描述。</a:t>
            </a:r>
            <a:r>
              <a:rPr lang="zh-CN" altLang="en-US" sz="1800" b="0" i="0" u="none" strike="noStrike" baseline="0" dirty="0">
                <a:latin typeface="SourceHanSansSC-Regular"/>
              </a:rPr>
              <a:t>逐步细化在项目章程和需求文件中所述的产品、服务或成果的特征。</a:t>
            </a:r>
          </a:p>
          <a:p>
            <a:pPr algn="l"/>
            <a:r>
              <a:rPr lang="zh-CN" altLang="en-US" sz="1800" b="1" i="0" u="none" strike="noStrike" baseline="0" dirty="0">
                <a:latin typeface="SourceHanSansSC-Bold"/>
              </a:rPr>
              <a:t>可交付成果。</a:t>
            </a:r>
            <a:r>
              <a:rPr lang="zh-CN" altLang="en-US" sz="1800" b="0" i="0" u="none" strike="noStrike" baseline="0" dirty="0">
                <a:latin typeface="SourceHanSansSC-Regular"/>
              </a:rPr>
              <a:t>为完成某一过程、阶段或项目而必须产出的任何独特并可核实的产品、成果或服务能力，可交付成果也包括各种辅助成果，如项目管理报告和文件。对可交付成果的描述可略可详。</a:t>
            </a:r>
          </a:p>
          <a:p>
            <a:pPr algn="l"/>
            <a:r>
              <a:rPr lang="zh-CN" altLang="en-US" sz="1800" b="1" i="0" u="none" strike="noStrike" baseline="0" dirty="0">
                <a:latin typeface="SourceHanSansSC-Bold"/>
              </a:rPr>
              <a:t>验收标准。</a:t>
            </a:r>
            <a:r>
              <a:rPr lang="zh-CN" altLang="en-US" sz="1800" b="0" i="0" u="none" strike="noStrike" baseline="0" dirty="0">
                <a:latin typeface="SourceHanSansSC-Regular"/>
              </a:rPr>
              <a:t>可交付成果通过验收前必须满足的一系列条件。</a:t>
            </a:r>
          </a:p>
          <a:p>
            <a:pPr algn="l"/>
            <a:r>
              <a:rPr lang="zh-CN" altLang="en-US" sz="1800" b="1" i="0" u="none" strike="noStrike" baseline="0" dirty="0">
                <a:latin typeface="SourceHanSansSC-Bold"/>
              </a:rPr>
              <a:t>项目的除外责任。</a:t>
            </a:r>
            <a:r>
              <a:rPr lang="zh-CN" altLang="en-US" sz="1800" b="0" i="0" u="none" strike="noStrike" baseline="0" dirty="0">
                <a:latin typeface="SourceHanSansSC-Regular"/>
              </a:rPr>
              <a:t>识别排除在项目之外的内容。明确说明哪些内容不属于项目范围，有助于管理相关方的期望及减少范围蔓延。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SourceHanSansSC-Regular"/>
              </a:rPr>
              <a:t>此外，范围可涉及 </a:t>
            </a:r>
            <a:r>
              <a:rPr lang="zh-CN" altLang="en-US" sz="1200" dirty="0">
                <a:solidFill>
                  <a:schemeClr val="tx1">
                    <a:lumMod val="75000"/>
                    <a:lumOff val="25000"/>
                  </a:schemeClr>
                </a:solidFill>
              </a:rPr>
              <a:t>制约因素</a:t>
            </a:r>
            <a:r>
              <a:rPr lang="zh-CN" altLang="en-US" dirty="0"/>
              <a:t>和</a:t>
            </a:r>
            <a:r>
              <a:rPr lang="zh-CN" altLang="en-US" sz="1200" dirty="0">
                <a:solidFill>
                  <a:schemeClr val="tx1">
                    <a:lumMod val="75000"/>
                    <a:lumOff val="25000"/>
                  </a:schemeClr>
                </a:solidFill>
              </a:rPr>
              <a:t>假设前提，可能会因为某些条件而改变</a:t>
            </a:r>
            <a:endParaRPr lang="en-US" altLang="zh-CN" sz="1200" dirty="0">
              <a:solidFill>
                <a:schemeClr val="tx1">
                  <a:lumMod val="75000"/>
                  <a:lumOff val="2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chemeClr val="tx1">
                  <a:lumMod val="75000"/>
                  <a:lumOff val="25000"/>
                </a:schemeClr>
              </a:solidFill>
            </a:endParaRPr>
          </a:p>
          <a:p>
            <a:pPr algn="l"/>
            <a:r>
              <a:rPr lang="zh-CN" altLang="en-US" sz="1800" b="0" i="0" u="none" strike="noStrike" baseline="0" dirty="0">
                <a:latin typeface="SourceHanSansSC-Regular"/>
              </a:rPr>
              <a:t>虽然项目章程和项目范围说明书的内容存在一定程度的重叠，但它们的详细程度完全不同。项目章程包含高层级的信息，而项目范围说明书则是对范围组成部分的详细描述，这些组成部分需要在项目过程中渐进明细。</a:t>
            </a:r>
            <a:endParaRPr lang="zh-CN" altLang="en-US" sz="1200" dirty="0">
              <a:solidFill>
                <a:schemeClr val="tx1">
                  <a:lumMod val="75000"/>
                  <a:lumOff val="25000"/>
                </a:schemeClr>
              </a:solidFill>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81</a:t>
            </a:fld>
            <a:endParaRPr lang="zh-CN" altLang="en-US"/>
          </a:p>
        </p:txBody>
      </p:sp>
    </p:spTree>
    <p:extLst>
      <p:ext uri="{BB962C8B-B14F-4D97-AF65-F5344CB8AC3E}">
        <p14:creationId xmlns:p14="http://schemas.microsoft.com/office/powerpoint/2010/main" val="305881856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dirty="0"/>
              <a:t>右边为二个</a:t>
            </a:r>
            <a:r>
              <a:rPr lang="zh-CN" altLang="en-US" sz="1200" b="1" dirty="0"/>
              <a:t>项目范围说明书的模板</a:t>
            </a:r>
            <a:endParaRPr lang="en-US" altLang="zh-CN" sz="1200" b="1" dirty="0"/>
          </a:p>
          <a:p>
            <a:pPr algn="just"/>
            <a:endParaRPr lang="en-US" altLang="zh-CN" dirty="0"/>
          </a:p>
          <a:p>
            <a:pPr algn="just"/>
            <a:r>
              <a:rPr lang="zh-CN" altLang="en-US" dirty="0"/>
              <a:t>可见项目范围定义过程与前面的需求收集过程的工具和技术基本相同，只是侧重点和目的不同，因此，对于不是很复杂的项目，实际操作时，这二个过程作为紧接着的过程，有些过程可以紧密结合地进行，从而减小工作量，提高效率。</a:t>
            </a:r>
            <a:endParaRPr lang="en-US" altLang="zh-CN" dirty="0"/>
          </a:p>
          <a:p>
            <a:pPr algn="just"/>
            <a:r>
              <a:rPr lang="zh-CN" altLang="en-US" dirty="0"/>
              <a:t>实际上，项目管理的</a:t>
            </a:r>
            <a:r>
              <a:rPr lang="en-US" altLang="zh-CN" dirty="0"/>
              <a:t>49</a:t>
            </a:r>
            <a:r>
              <a:rPr lang="zh-CN" altLang="en-US" dirty="0"/>
              <a:t>个过程，都是可以根据实际项目裁剪的。</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ACE964-20FD-4E02-AD78-D23A92B56B1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2664738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r>
              <a:rPr lang="zh-CN" altLang="en-US" dirty="0"/>
              <a:t>为提高企业经济效益的目标，我们提出了三个备选方案：</a:t>
            </a:r>
            <a:endParaRPr lang="en-US" altLang="zh-CN" dirty="0"/>
          </a:p>
          <a:p>
            <a:pPr marL="228600" indent="-228600"/>
            <a:r>
              <a:rPr lang="en-US" altLang="zh-CN" dirty="0"/>
              <a:t>1</a:t>
            </a:r>
            <a:r>
              <a:rPr lang="zh-CN" altLang="en-US" dirty="0"/>
              <a:t>）提高价格；</a:t>
            </a:r>
            <a:r>
              <a:rPr lang="en-US" altLang="zh-CN" dirty="0"/>
              <a:t>2</a:t>
            </a:r>
            <a:r>
              <a:rPr lang="zh-CN" altLang="en-US" dirty="0"/>
              <a:t>）增加产量；</a:t>
            </a:r>
            <a:r>
              <a:rPr lang="en-US" altLang="zh-CN" dirty="0"/>
              <a:t>3</a:t>
            </a:r>
            <a:r>
              <a:rPr lang="zh-CN" altLang="en-US" dirty="0"/>
              <a:t>）降低成本。</a:t>
            </a:r>
            <a:endParaRPr lang="en-US" altLang="zh-CN" dirty="0"/>
          </a:p>
          <a:p>
            <a:pPr marL="228600" indent="-228600"/>
            <a:r>
              <a:rPr lang="zh-CN" altLang="en-US" dirty="0"/>
              <a:t>经过利弊分析，认为提价方案有可能造成客户大量流失，弊大于利；增产方案会导致市场销售戀本和库存成本增加，风险大于效益。最后选定第三方案：降低成本相对可行。</a:t>
            </a:r>
            <a:endParaRPr lang="en-US" altLang="zh-CN" dirty="0"/>
          </a:p>
          <a:p>
            <a:pPr marL="228600" indent="-228600"/>
            <a:endParaRPr lang="en-US" altLang="zh-CN" dirty="0"/>
          </a:p>
          <a:p>
            <a:pPr marL="228600" indent="-228600"/>
            <a:r>
              <a:rPr lang="zh-CN" altLang="en-US" dirty="0"/>
              <a:t>然而，为达到降低成本的分目标，又可提出六个选择方案：</a:t>
            </a:r>
          </a:p>
          <a:p>
            <a:pPr marL="228600" indent="-228600"/>
            <a:r>
              <a:rPr lang="zh-CN" altLang="en-US" dirty="0"/>
              <a:t>可以把一些本项目团队非核心竞争力的零部件外包给专业公司去做，这样可以降低这部分零部件的单位制造成本。（但有可能造成交易成本上升。）</a:t>
            </a:r>
          </a:p>
          <a:p>
            <a:pPr marL="228600" indent="-228600"/>
            <a:r>
              <a:rPr lang="zh-CN" altLang="en-US" dirty="0"/>
              <a:t>对现有的设备进行技术改造，降低能耗并提高劳动生产率，可降低单位产品的制造成本。（虽然可降低经营成本，但需要首先增加投资成本。）</a:t>
            </a:r>
          </a:p>
          <a:p>
            <a:pPr marL="228600" indent="-228600"/>
            <a:r>
              <a:rPr lang="zh-CN" altLang="en-US" dirty="0"/>
              <a:t>裁减多余冗员，或者普遍降低员工工资，直接降低劳动力成本。（有可能挫伤员工的士气，反而使劳动生产率降低。）</a:t>
            </a:r>
          </a:p>
          <a:p>
            <a:pPr marL="228600" indent="-228600"/>
            <a:r>
              <a:rPr lang="zh-CN" altLang="en-US" dirty="0"/>
              <a:t>通过技术培训提高员工的工作效率，降低单位产品中所含的劳动力成本。（首先需要追加培训成本，同时培训可能占用工作时间。）</a:t>
            </a:r>
          </a:p>
          <a:p>
            <a:pPr marL="228600" indent="-228600"/>
            <a:r>
              <a:rPr lang="zh-CN" altLang="en-US" dirty="0"/>
              <a:t>增加原材料订购批量，从供应商处获得批量采购折扣价格，以降低整个原材料的采购成本。（但会增加库存成本和流动资金占用成本。）</a:t>
            </a:r>
          </a:p>
          <a:p>
            <a:pPr marL="228600" indent="-228600"/>
            <a:r>
              <a:rPr lang="zh-CN" altLang="en-US" dirty="0"/>
              <a:t>原材料采用成本较低或者性价比更优化的替代产品，以降低单位产品中的原材料成本。（新产品的应用可能会影响质量的稳定性。）</a:t>
            </a:r>
          </a:p>
          <a:p>
            <a:pPr marL="228600" indent="-228600"/>
            <a:r>
              <a:rPr lang="zh-CN" altLang="en-US" dirty="0"/>
              <a:t>    对于降低成本这个分目标，上述六个选择方案都可能在不同程度上产生积极作用，但同时也都会附带产生括号里的消极副作用。根据公司实际情况，经过投入产出的综合效益评估，最后选定的该项目的最佳方案是第六方案，为上策；第一方案次之，为中策；第四方案为下策。在这个案例中，三个方案并不互相排斥，上中下三策是可以同时实施的。</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127469253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40652733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例如：</a:t>
            </a:r>
          </a:p>
          <a:p>
            <a:pPr algn="l"/>
            <a:r>
              <a:rPr lang="zh-CN" altLang="en-US" sz="1200" b="0" i="0" u="none" strike="noStrike" baseline="0" dirty="0">
                <a:latin typeface="SourceHanSansSC-Regular"/>
              </a:rPr>
              <a:t>以主要可交付成果作为分解的第二层，如图 所示；</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zh-CN" altLang="en-US" sz="1200" b="0" i="0" u="none" strike="noStrike" baseline="0" dirty="0">
                <a:latin typeface="SourceHanSansSC-Regular"/>
              </a:rPr>
              <a:t>另外，纳入由项目团队以外的组织开发的各种较低层次组件（如外包工作）。随后，作为外包工作的一部分，卖方须制定相应的合同 </a:t>
            </a:r>
            <a:r>
              <a:rPr lang="en-US" altLang="zh-CN" sz="1200" b="0" i="0" u="none" strike="noStrike" baseline="0" dirty="0">
                <a:latin typeface="HelveticaNeue-Condensed"/>
              </a:rPr>
              <a:t>WBS</a:t>
            </a:r>
            <a:r>
              <a:rPr lang="zh-CN" altLang="en-US" sz="1200" b="0" i="0" u="none" strike="noStrike" baseline="0" dirty="0">
                <a:latin typeface="SourceHanSansSC-Regular"/>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32051082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306949767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WBS</a:t>
            </a:r>
            <a:r>
              <a:rPr lang="zh-CN" altLang="en-US" dirty="0"/>
              <a:t>在各个知识领域的过程中都有应用</a:t>
            </a:r>
            <a:endParaRPr lang="en-US" altLang="zh-CN" dirty="0"/>
          </a:p>
          <a:p>
            <a:r>
              <a:rPr lang="en-US" altLang="zh-CN" dirty="0"/>
              <a:t>CPM </a:t>
            </a:r>
            <a:r>
              <a:rPr lang="zh-CN" altLang="en-US" dirty="0"/>
              <a:t>关键路径法；</a:t>
            </a:r>
            <a:r>
              <a:rPr lang="en-US" altLang="zh-CN" dirty="0"/>
              <a:t>PERT</a:t>
            </a:r>
            <a:r>
              <a:rPr lang="zh-CN" altLang="en-US" dirty="0"/>
              <a:t>计划评审技术。</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20786288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88</a:t>
            </a:fld>
            <a:endParaRPr lang="zh-CN" altLang="en-US"/>
          </a:p>
        </p:txBody>
      </p:sp>
    </p:spTree>
    <p:extLst>
      <p:ext uri="{BB962C8B-B14F-4D97-AF65-F5344CB8AC3E}">
        <p14:creationId xmlns:p14="http://schemas.microsoft.com/office/powerpoint/2010/main" val="15248381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范围基准是经过批准的范围说明书、</a:t>
            </a:r>
            <a:r>
              <a:rPr lang="en-US" altLang="zh-CN" sz="1800" b="0" i="0" u="none" strike="noStrike" baseline="0" dirty="0">
                <a:latin typeface="HelveticaNeue-Condensed"/>
              </a:rPr>
              <a:t>WBS </a:t>
            </a:r>
            <a:r>
              <a:rPr lang="zh-CN" altLang="en-US" sz="1800" b="0" i="0" u="none" strike="noStrike" baseline="0" dirty="0">
                <a:latin typeface="SourceHanSansSC-Regular"/>
              </a:rPr>
              <a:t>和相应的 </a:t>
            </a:r>
            <a:r>
              <a:rPr lang="en-US" altLang="zh-CN" sz="1800" b="0" i="0" u="none" strike="noStrike" baseline="0" dirty="0">
                <a:latin typeface="HelveticaNeue-Condensed"/>
              </a:rPr>
              <a:t>WBS </a:t>
            </a:r>
            <a:r>
              <a:rPr lang="zh-CN" altLang="en-US" sz="1800" b="0" i="0" u="none" strike="noStrike" baseline="0" dirty="0">
                <a:latin typeface="SourceHanSansSC-Regular"/>
              </a:rPr>
              <a:t>词典，只有通过正式的变更控制程序才能进行变更，它被用作比较的基础。范围基准是项目管理计划的组成部分。</a:t>
            </a:r>
            <a:endParaRPr lang="en-US" altLang="zh-CN" sz="1800" b="0" i="0" u="none" strike="noStrike" baseline="0" dirty="0">
              <a:latin typeface="SourceHanSansSC-Regular"/>
            </a:endParaRPr>
          </a:p>
          <a:p>
            <a:pPr algn="l"/>
            <a:endParaRPr lang="en-US" altLang="zh-CN" sz="1800" b="0" i="0" u="none" strike="noStrike" baseline="0" dirty="0">
              <a:latin typeface="Wingdings-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dirty="0">
                <a:latin typeface="微软雅黑" panose="020B0503020204020204" pitchFamily="34" charset="-122"/>
                <a:ea typeface="微软雅黑" panose="020B0503020204020204" pitchFamily="34" charset="-122"/>
                <a:cs typeface="Times New Roman" pitchFamily="18" charset="0"/>
              </a:rPr>
              <a:t>范围基准包括</a:t>
            </a:r>
            <a:r>
              <a:rPr lang="zh-CN" altLang="en-US" sz="2800" b="0" i="0" u="none" strike="noStrike" baseline="0" dirty="0">
                <a:latin typeface="微软雅黑" panose="020B0503020204020204" pitchFamily="34" charset="-122"/>
                <a:ea typeface="微软雅黑" panose="020B0503020204020204" pitchFamily="34" charset="-122"/>
                <a:cs typeface="Times New Roman" pitchFamily="18" charset="0"/>
              </a:rPr>
              <a:t>：</a:t>
            </a:r>
            <a:endParaRPr lang="en-US" altLang="zh-CN" sz="1800" b="0" i="0" u="none" strike="noStrike" baseline="0" dirty="0">
              <a:latin typeface="Wingdings-Regular"/>
            </a:endParaRPr>
          </a:p>
          <a:p>
            <a:pPr algn="l"/>
            <a:r>
              <a:rPr lang="zh-CN" altLang="en-US" sz="1800" b="1" i="0" u="none" strike="noStrike" baseline="0" dirty="0">
                <a:latin typeface="SourceHanSansSC-Bold"/>
              </a:rPr>
              <a:t>项目范围说明书。</a:t>
            </a:r>
            <a:r>
              <a:rPr lang="zh-CN" altLang="en-US" sz="1800" b="0" i="0" u="none" strike="noStrike" baseline="0" dirty="0">
                <a:latin typeface="SourceHanSansSC-Regular"/>
              </a:rPr>
              <a:t>项目范围说明书包括对项目范围、主要可交付成果、假设条件和制约因素的描述。在范围定义输出的基础上修订，并经过批准。</a:t>
            </a:r>
          </a:p>
          <a:p>
            <a:pPr algn="l"/>
            <a:r>
              <a:rPr lang="en-US" altLang="zh-CN" sz="1800" b="1" i="0" u="none" strike="noStrike" baseline="0" dirty="0">
                <a:latin typeface="HelveticaNeue-BoldCond"/>
              </a:rPr>
              <a:t>WBS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是对项目团队为实现项目目标、创建所需可交付成果而需要实施的全部工作范围的层级分解。工作分解结构每向下分解一层，代表对项目工作更详细的定义。</a:t>
            </a:r>
          </a:p>
          <a:p>
            <a:pPr algn="l"/>
            <a:r>
              <a:rPr lang="zh-CN" altLang="en-US" sz="1800" b="1" i="0" u="none" strike="noStrike" baseline="0" dirty="0">
                <a:latin typeface="SourceHanSansSC-Bold"/>
              </a:rPr>
              <a:t>工作包。</a:t>
            </a:r>
            <a:r>
              <a:rPr lang="en-US" altLang="zh-CN" sz="1800" b="0" i="0" u="none" strike="noStrike" baseline="0" dirty="0">
                <a:latin typeface="HelveticaNeue-Condensed"/>
              </a:rPr>
              <a:t>WBS </a:t>
            </a:r>
            <a:r>
              <a:rPr lang="zh-CN" altLang="en-US" sz="1800" b="0" i="0" u="none" strike="noStrike" baseline="0" dirty="0">
                <a:latin typeface="SourceHanSansSC-Regular"/>
              </a:rPr>
              <a:t>的最低层级是带有独特标识号的工作包。这些标识号为进行成本、进度和资源信息的逐层汇总提供了层级结构，构成账户编码。每个工作包都是控制账户的一部分，而控制账户则是一个管理控制点。在该控制点上，把范围、预算和进度加以整合，并与挣值相比较，以测量绩效。控制账户拥有两个或更多工作包，但每个工作包只与一个控制账户关联。</a:t>
            </a:r>
          </a:p>
          <a:p>
            <a:pPr algn="l"/>
            <a:r>
              <a:rPr lang="zh-CN" altLang="en-US" sz="1800" b="1" i="0" u="none" strike="noStrike" baseline="0" dirty="0">
                <a:latin typeface="SourceHanSansSC-Bold"/>
              </a:rPr>
              <a:t>规划包。</a:t>
            </a:r>
            <a:r>
              <a:rPr lang="zh-CN" altLang="en-US" sz="1800" b="0" i="0" u="none" strike="noStrike" baseline="0" dirty="0">
                <a:latin typeface="SourceHanSansSC-Regular"/>
              </a:rPr>
              <a:t>一个控制账户可以包含一个或多个规划包，其是一种低于控制账户而高于工作包的工作分解结构组件，工作内容已知，但详细的进度活动未知。</a:t>
            </a:r>
            <a:endParaRPr lang="en-US" altLang="zh-CN" sz="1800" b="0" i="0" u="none" strike="noStrike" baseline="0" dirty="0">
              <a:latin typeface="SourceHanSansSC-Regular"/>
            </a:endParaRPr>
          </a:p>
          <a:p>
            <a:pPr algn="l"/>
            <a:r>
              <a:rPr lang="en-US" altLang="zh-CN" sz="1800" b="1" i="0" u="none" strike="noStrike" baseline="0" dirty="0">
                <a:latin typeface="HelveticaNeue-BoldCond"/>
              </a:rPr>
              <a:t>WBS </a:t>
            </a:r>
            <a:r>
              <a:rPr lang="zh-CN" altLang="en-US" sz="1800" b="1" i="0" u="none" strike="noStrike" baseline="0" dirty="0">
                <a:latin typeface="SourceHanSansSC-Bold"/>
              </a:rPr>
              <a:t>词典。</a:t>
            </a:r>
            <a:r>
              <a:rPr lang="en-US" altLang="zh-CN" sz="1800" b="0" i="0" u="none" strike="noStrike" baseline="0" dirty="0">
                <a:latin typeface="HelveticaNeue-Condensed"/>
              </a:rPr>
              <a:t>WBS </a:t>
            </a:r>
            <a:r>
              <a:rPr lang="zh-CN" altLang="en-US" sz="1800" b="0" i="0" u="none" strike="noStrike" baseline="0" dirty="0">
                <a:latin typeface="SourceHanSansSC-Regular"/>
              </a:rPr>
              <a:t>词典是针对 </a:t>
            </a:r>
            <a:r>
              <a:rPr lang="en-US" altLang="zh-CN" sz="1800" b="0" i="0" u="none" strike="noStrike" baseline="0" dirty="0">
                <a:latin typeface="HelveticaNeue-Condensed"/>
              </a:rPr>
              <a:t>WBS </a:t>
            </a:r>
            <a:r>
              <a:rPr lang="zh-CN" altLang="en-US" sz="1800" b="0" i="0" u="none" strike="noStrike" baseline="0" dirty="0">
                <a:latin typeface="SourceHanSansSC-Regular"/>
              </a:rPr>
              <a:t>中的每个组件，详细描述可交付成果、活动和进度信息的文件。</a:t>
            </a:r>
            <a:r>
              <a:rPr lang="en-US" altLang="zh-CN" sz="1800" b="0" i="0" u="none" strike="noStrike" baseline="0" dirty="0">
                <a:latin typeface="HelveticaNeue-Condensed"/>
              </a:rPr>
              <a:t>WBS </a:t>
            </a:r>
            <a:r>
              <a:rPr lang="zh-CN" altLang="en-US" sz="1800" b="0" i="0" u="none" strike="noStrike" baseline="0" dirty="0">
                <a:latin typeface="SourceHanSansSC-Regular"/>
              </a:rPr>
              <a:t>词典对 </a:t>
            </a:r>
            <a:r>
              <a:rPr lang="en-US" altLang="zh-CN" sz="1800" b="0" i="0" u="none" strike="noStrike" baseline="0" dirty="0">
                <a:latin typeface="HelveticaNeue-Condensed"/>
              </a:rPr>
              <a:t>WBS </a:t>
            </a:r>
            <a:r>
              <a:rPr lang="zh-CN" altLang="en-US" sz="1800" b="0" i="0" u="none" strike="noStrike" baseline="0" dirty="0">
                <a:latin typeface="SourceHanSansSC-Regular"/>
              </a:rPr>
              <a:t>提供支持，其中大部分信息由其他过程创建，然后在后期添加到词典中</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zh-CN" altLang="en-US" sz="1800" b="1" i="0" u="none" strike="noStrike" baseline="0" dirty="0">
                <a:latin typeface="SourceHanSansSC-Bold"/>
              </a:rPr>
              <a:t>假设日志。</a:t>
            </a:r>
            <a:r>
              <a:rPr lang="zh-CN" altLang="en-US" sz="1800" b="0" i="0" u="none" strike="noStrike" baseline="0" dirty="0">
                <a:latin typeface="SourceHanSansSC-Regular"/>
              </a:rPr>
              <a:t>随同本过程识别出更多的假设条件或制约因素而更新假设日志。</a:t>
            </a:r>
          </a:p>
          <a:p>
            <a:pPr algn="l"/>
            <a:r>
              <a:rPr lang="zh-CN" altLang="en-US" sz="1800" b="1" i="0" u="none" strike="noStrike" baseline="0" dirty="0">
                <a:latin typeface="SourceHanSansSC-Bold"/>
              </a:rPr>
              <a:t>需求文件。</a:t>
            </a:r>
            <a:r>
              <a:rPr lang="zh-CN" altLang="en-US" sz="1800" b="0" i="0" u="none" strike="noStrike" baseline="0" dirty="0">
                <a:latin typeface="SourceHanSansSC-Regular"/>
              </a:rPr>
              <a:t>可以更新需求文件，以反映在本过程提出并已被批准的变更。</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extLst>
      <p:ext uri="{BB962C8B-B14F-4D97-AF65-F5344CB8AC3E}">
        <p14:creationId xmlns:p14="http://schemas.microsoft.com/office/powerpoint/2010/main" val="340419379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itchFamily="18" charset="0"/>
              </a:rPr>
              <a:t>分解：是一种把项目范围和项目可交付成果逐步划分为更小、更便于管理的组成部分的技术</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itchFamily="18" charset="0"/>
            </a:endParaRPr>
          </a:p>
          <a:p>
            <a:pPr algn="l"/>
            <a:endParaRPr lang="en-US" altLang="zh-CN" sz="1200" b="0" i="0" u="none" strike="noStrike" baseline="0" dirty="0">
              <a:latin typeface="SourceHanSansSC-Regular"/>
            </a:endParaRPr>
          </a:p>
          <a:p>
            <a:pPr algn="l"/>
            <a:r>
              <a:rPr lang="zh-CN" altLang="en-US" sz="1200" b="0" i="0" u="none" strike="noStrike" baseline="0" dirty="0">
                <a:latin typeface="SourceHanSansSC-Regular"/>
              </a:rPr>
              <a:t>创建 </a:t>
            </a:r>
            <a:r>
              <a:rPr lang="en-US" altLang="zh-CN" sz="1200" b="0" i="0" u="none" strike="noStrike" baseline="0" dirty="0">
                <a:latin typeface="HelveticaNeue-Condensed"/>
              </a:rPr>
              <a:t>WBS </a:t>
            </a:r>
            <a:r>
              <a:rPr lang="zh-CN" altLang="en-US" sz="1200" b="0" i="0" u="none" strike="noStrike" baseline="0" dirty="0">
                <a:latin typeface="SourceHanSansSC-Regular"/>
              </a:rPr>
              <a:t>的方法多种多样，常用的方法包括自上而下的方法、使用组织特定的指南和使用 </a:t>
            </a:r>
            <a:r>
              <a:rPr lang="en-US" altLang="zh-CN" sz="1200" b="0" i="0" u="none" strike="noStrike" baseline="0" dirty="0">
                <a:latin typeface="HelveticaNeue-Condensed"/>
              </a:rPr>
              <a:t>WBS</a:t>
            </a:r>
            <a:r>
              <a:rPr lang="zh-CN" altLang="en-US" sz="1200" b="0" i="0" u="none" strike="noStrike" baseline="0" dirty="0">
                <a:latin typeface="SourceHanSansSC-Regular"/>
              </a:rPr>
              <a:t>模板。自下而上的方法可用于归并较低层次组件。</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Condensed"/>
              </a:rPr>
              <a:t>WBS </a:t>
            </a:r>
            <a:r>
              <a:rPr lang="zh-CN" altLang="en-US" sz="1200" b="0" i="0" u="none" strike="noStrike" baseline="0" dirty="0">
                <a:latin typeface="SourceHanSansSC-Regular"/>
              </a:rPr>
              <a:t>的结构可以采用多种形式，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extLst>
      <p:ext uri="{BB962C8B-B14F-4D97-AF65-F5344CB8AC3E}">
        <p14:creationId xmlns:p14="http://schemas.microsoft.com/office/powerpoint/2010/main" val="399169982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  某些可交付成果只需分解到下一层，即可到达工作包的层次，而另一些则须分解更多层。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工作分解得越细致，对工作的规划、管理和控制就越有力。但是，过细的分解会造成管理努力的无效耗费、资源使用效率低下、工作实施效率降低，同时造成 </a:t>
            </a:r>
            <a:r>
              <a:rPr lang="en-US" altLang="zh-CN" sz="1800" b="0" i="0" u="none" strike="noStrike" baseline="0" dirty="0">
                <a:latin typeface="HelveticaNeue-Condensed"/>
              </a:rPr>
              <a:t>WBS </a:t>
            </a:r>
            <a:r>
              <a:rPr lang="zh-CN" altLang="en-US" sz="1800" b="0" i="0" u="none" strike="noStrike" baseline="0" dirty="0">
                <a:latin typeface="SourceHanSansSC-Regular"/>
              </a:rPr>
              <a:t>各层级的数据汇总困难。</a:t>
            </a:r>
          </a:p>
          <a:p>
            <a:pPr algn="l"/>
            <a:r>
              <a:rPr lang="zh-CN" altLang="en-US" sz="1800" b="0" i="0" u="none" strike="noStrike" baseline="0" dirty="0">
                <a:latin typeface="SourceHanSansSC-Regular"/>
              </a:rPr>
              <a:t>  要在未来远期才完成的可交付成果或组件，当前可能无法分解。项目管理团队因而通常需要等待对该可交付成果或组成部分达成一致意见，才能够制定出 </a:t>
            </a:r>
            <a:r>
              <a:rPr lang="en-US" altLang="zh-CN" sz="1800" b="0" i="0" u="none" strike="noStrike" baseline="0" dirty="0">
                <a:latin typeface="HelveticaNeue-Condensed"/>
              </a:rPr>
              <a:t>WBS </a:t>
            </a:r>
            <a:r>
              <a:rPr lang="zh-CN" altLang="en-US" sz="1800" b="0" i="0" u="none" strike="noStrike" baseline="0" dirty="0">
                <a:latin typeface="SourceHanSansSC-Regular"/>
              </a:rPr>
              <a:t>中的相应细节。这种技术有时称做滚动式规划。</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392885205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extLst>
      <p:ext uri="{BB962C8B-B14F-4D97-AF65-F5344CB8AC3E}">
        <p14:creationId xmlns:p14="http://schemas.microsoft.com/office/powerpoint/2010/main" val="23248040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97</a:t>
            </a:fld>
            <a:endParaRPr lang="zh-CN" altLang="en-US"/>
          </a:p>
        </p:txBody>
      </p:sp>
    </p:spTree>
    <p:extLst>
      <p:ext uri="{BB962C8B-B14F-4D97-AF65-F5344CB8AC3E}">
        <p14:creationId xmlns:p14="http://schemas.microsoft.com/office/powerpoint/2010/main" val="355031116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Condensed"/>
              </a:rPr>
              <a:t>WBS </a:t>
            </a:r>
            <a:r>
              <a:rPr lang="zh-CN" altLang="en-US" sz="1200" b="0" i="0" u="none" strike="noStrike" baseline="0" dirty="0">
                <a:latin typeface="SourceHanSansSC-Regular"/>
              </a:rPr>
              <a:t>词典对 </a:t>
            </a:r>
            <a:r>
              <a:rPr lang="en-US" altLang="zh-CN" sz="1200" b="0" i="0" u="none" strike="noStrike" baseline="0" dirty="0">
                <a:latin typeface="HelveticaNeue-Condensed"/>
              </a:rPr>
              <a:t>WBS </a:t>
            </a:r>
            <a:r>
              <a:rPr lang="zh-CN" altLang="en-US" sz="1200" b="0" i="0" u="none" strike="noStrike" baseline="0" dirty="0">
                <a:latin typeface="SourceHanSansSC-Regular"/>
              </a:rPr>
              <a:t>提供支持，其中大部分信息由其他过程创建，然后在后期添加到词典中。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extLst>
      <p:ext uri="{BB962C8B-B14F-4D97-AF65-F5344CB8AC3E}">
        <p14:creationId xmlns:p14="http://schemas.microsoft.com/office/powerpoint/2010/main" val="4591047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385931272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字典包括 工作包的详细描述：进度活动、成本、质量、资源等等。</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100</a:t>
            </a:fld>
            <a:endParaRPr lang="zh-CN" altLang="en-US"/>
          </a:p>
        </p:txBody>
      </p:sp>
    </p:spTree>
    <p:extLst>
      <p:ext uri="{BB962C8B-B14F-4D97-AF65-F5344CB8AC3E}">
        <p14:creationId xmlns:p14="http://schemas.microsoft.com/office/powerpoint/2010/main" val="290286841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a:ea typeface="黑体"/>
                <a:cs typeface="+mn-cs"/>
              </a:rPr>
              <a:t>D.</a:t>
            </a:r>
            <a:r>
              <a:rPr kumimoji="0" lang="zh-CN" altLang="en-US" sz="1200" b="0" i="0" u="none" strike="noStrike" kern="1200" cap="none" spc="0" normalizeH="0" baseline="0" noProof="0" dirty="0">
                <a:ln>
                  <a:noFill/>
                </a:ln>
                <a:solidFill>
                  <a:srgbClr val="000000"/>
                </a:solidFill>
                <a:effectLst/>
                <a:uLnTx/>
                <a:uFillTx/>
                <a:latin typeface="Arial"/>
                <a:ea typeface="黑体"/>
                <a:cs typeface="+mn-cs"/>
              </a:rPr>
              <a:t>定义范围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267910630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dirty="0"/>
              <a:t>本过程在</a:t>
            </a:r>
            <a:r>
              <a:rPr lang="zh-CN" altLang="zh-CN" sz="1800" b="1" kern="0" dirty="0">
                <a:solidFill>
                  <a:srgbClr val="000000"/>
                </a:solidFill>
                <a:latin typeface="Arial" panose="020B0604020202020204" pitchFamily="34" charset="0"/>
                <a:cs typeface="Arial" panose="020B0604020202020204" pitchFamily="34" charset="0"/>
              </a:rPr>
              <a:t>监控过程组</a:t>
            </a:r>
            <a:endParaRPr lang="en-US" altLang="zh-CN" sz="1800" b="1" kern="0" dirty="0">
              <a:solidFill>
                <a:srgbClr val="000000"/>
              </a:solidFill>
              <a:latin typeface="Arial" panose="020B0604020202020204" pitchFamily="34" charset="0"/>
              <a:cs typeface="Arial" panose="020B0604020202020204" pitchFamily="34" charset="0"/>
            </a:endParaRPr>
          </a:p>
          <a:p>
            <a:pPr>
              <a:defRPr/>
            </a:pPr>
            <a:endParaRPr lang="en-US" altLang="zh-CN" dirty="0"/>
          </a:p>
          <a:p>
            <a:pPr>
              <a:defRPr/>
            </a:pPr>
            <a:r>
              <a:rPr lang="zh-CN" altLang="en-US" dirty="0"/>
              <a:t>本过程对可交付成果的确认和最终验收，需要依据：从项目范围管理知识领域的各规划过程获得的输出（如需求文件或范围基准），以及从其他知识领域的各执行过程获得的工作绩效数据。</a:t>
            </a:r>
          </a:p>
          <a:p>
            <a:pPr>
              <a:defRPr/>
            </a:pPr>
            <a:endParaRPr lang="en-US" altLang="zh-CN" dirty="0"/>
          </a:p>
          <a:p>
            <a:pPr>
              <a:defRPr/>
            </a:pPr>
            <a:r>
              <a:rPr lang="zh-CN" altLang="en-US" b="1" dirty="0"/>
              <a:t>确认范围过程 </a:t>
            </a:r>
            <a:r>
              <a:rPr lang="zh-CN" altLang="en-US" dirty="0"/>
              <a:t>与 </a:t>
            </a:r>
            <a:r>
              <a:rPr lang="zh-CN" altLang="en-US" b="1" dirty="0"/>
              <a:t>控制质量过程</a:t>
            </a:r>
            <a:r>
              <a:rPr lang="zh-CN" altLang="en-US" dirty="0"/>
              <a:t>的不同之处在于，前者关注可交付成果的验收，而后者关注可交付成果的正确性及是否满足质量要求。控制质量过程通常先于确认范围过程，但二者也可同时进行。</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54395704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sz="1200" dirty="0">
                <a:latin typeface="SourceHanSansSC-Regular"/>
              </a:rPr>
              <a:t>项目管理计划组件包括（但不限于）：</a:t>
            </a:r>
          </a:p>
          <a:p>
            <a:pPr>
              <a:defRPr/>
            </a:pPr>
            <a:r>
              <a:rPr lang="zh-CN" altLang="en-US" sz="1200" b="1" dirty="0">
                <a:latin typeface="SourceHanSansSC-Bold"/>
              </a:rPr>
              <a:t>范围管理计划。</a:t>
            </a:r>
            <a:r>
              <a:rPr lang="zh-CN" altLang="en-US" sz="1200" dirty="0">
                <a:latin typeface="SourceHanSansSC-Regular"/>
              </a:rPr>
              <a:t>项目管理计划定义了如何正式验收已经完成的可交付成果。</a:t>
            </a:r>
          </a:p>
          <a:p>
            <a:pPr>
              <a:defRPr/>
            </a:pPr>
            <a:r>
              <a:rPr lang="zh-CN" altLang="en-US" sz="1200" b="1" dirty="0">
                <a:latin typeface="SourceHanSansSC-Bold"/>
              </a:rPr>
              <a:t>需求管理计划。</a:t>
            </a:r>
            <a:r>
              <a:rPr lang="zh-CN" altLang="en-US" sz="1200" dirty="0">
                <a:latin typeface="SourceHanSansSC-Regular"/>
              </a:rPr>
              <a:t>需求管理计划描述了如何确认项目需求。</a:t>
            </a:r>
          </a:p>
          <a:p>
            <a:pPr>
              <a:defRPr/>
            </a:pPr>
            <a:r>
              <a:rPr lang="zh-CN" altLang="en-US" sz="1200" b="1" dirty="0">
                <a:latin typeface="SourceHanSansSC-Bold"/>
              </a:rPr>
              <a:t>范围基准。</a:t>
            </a:r>
            <a:r>
              <a:rPr lang="zh-CN" altLang="en-US" sz="1200" dirty="0">
                <a:latin typeface="SourceHanSansSC-Regular"/>
              </a:rPr>
              <a:t>用范围基准与实际结果比较，以决定是否有必要进行变更、采取纠正措施或预防措施。</a:t>
            </a:r>
          </a:p>
          <a:p>
            <a:pPr>
              <a:defRPr/>
            </a:pPr>
            <a:r>
              <a:rPr lang="en-US" altLang="zh-CN" sz="1200" dirty="0">
                <a:latin typeface="HelveticaNeue-MediumCond"/>
              </a:rPr>
              <a:t>5.5.1.2 </a:t>
            </a:r>
            <a:r>
              <a:rPr lang="zh-CN" altLang="en-US" sz="1200" dirty="0">
                <a:latin typeface="SourceHanSansSC-Medium"/>
              </a:rPr>
              <a:t>项目文件</a:t>
            </a:r>
          </a:p>
          <a:p>
            <a:pPr>
              <a:defRPr/>
            </a:pPr>
            <a:r>
              <a:rPr lang="zh-CN" altLang="en-US" sz="1200" dirty="0">
                <a:latin typeface="SourceHanSansSC-Regular"/>
              </a:rPr>
              <a:t>可作为本过程输入的项目文件包括（但不限于）：</a:t>
            </a:r>
          </a:p>
          <a:p>
            <a:pPr>
              <a:defRPr/>
            </a:pPr>
            <a:r>
              <a:rPr lang="en-US" altLang="zh-CN" sz="1200" dirty="0">
                <a:latin typeface="Wingdings-Regular"/>
              </a:rPr>
              <a:t>  </a:t>
            </a:r>
            <a:r>
              <a:rPr lang="zh-CN" altLang="en-US" sz="1200" b="1" dirty="0">
                <a:latin typeface="SourceHanSansSC-Bold"/>
              </a:rPr>
              <a:t>经验教训登记册。</a:t>
            </a:r>
            <a:r>
              <a:rPr lang="zh-CN" altLang="en-US" sz="1200" dirty="0">
                <a:latin typeface="SourceHanSansSC-Regular"/>
              </a:rPr>
              <a:t>在项目早期获得的经验教训可以运用到后期阶段，以提高验收可交付成果的效率与效果。</a:t>
            </a:r>
          </a:p>
          <a:p>
            <a:pPr>
              <a:defRPr/>
            </a:pPr>
            <a:r>
              <a:rPr lang="en-US" altLang="zh-CN" sz="1200" dirty="0">
                <a:latin typeface="Wingdings-Regular"/>
              </a:rPr>
              <a:t>  </a:t>
            </a:r>
            <a:r>
              <a:rPr lang="zh-CN" altLang="en-US" sz="1200" b="1" dirty="0">
                <a:latin typeface="SourceHanSansSC-Bold"/>
              </a:rPr>
              <a:t>质量报告。</a:t>
            </a:r>
            <a:r>
              <a:rPr lang="zh-CN" altLang="en-US" sz="1200" dirty="0">
                <a:latin typeface="SourceHanSansSC-Regular"/>
              </a:rPr>
              <a:t>质量报告的内容可包括由团队管理或需上报的全部质量保证事项、改进建议，以及在控制质量过程中发现的情况的概述。在验收产品之前，需要查看所有这些内容。</a:t>
            </a:r>
          </a:p>
          <a:p>
            <a:pPr>
              <a:defRPr/>
            </a:pPr>
            <a:r>
              <a:rPr lang="en-US" altLang="zh-CN" sz="1200" dirty="0">
                <a:latin typeface="Wingdings-Regular"/>
              </a:rPr>
              <a:t>  </a:t>
            </a:r>
            <a:r>
              <a:rPr lang="zh-CN" altLang="en-US" sz="1200" b="1" dirty="0">
                <a:latin typeface="SourceHanSansSC-Bold"/>
              </a:rPr>
              <a:t>需求文件。</a:t>
            </a:r>
            <a:r>
              <a:rPr lang="zh-CN" altLang="en-US" sz="1200" dirty="0">
                <a:latin typeface="SourceHanSansSC-Regular"/>
              </a:rPr>
              <a:t>将需求与实际结果比较，以决定是否有必要进行变更、采取纠正措施或预防措施。</a:t>
            </a:r>
          </a:p>
          <a:p>
            <a:pPr>
              <a:defRPr/>
            </a:pPr>
            <a:r>
              <a:rPr lang="en-US" altLang="zh-CN" sz="1200" dirty="0">
                <a:latin typeface="Wingdings-Regular"/>
              </a:rPr>
              <a:t>  </a:t>
            </a:r>
            <a:r>
              <a:rPr lang="zh-CN" altLang="en-US" sz="1200" b="1" dirty="0">
                <a:latin typeface="SourceHanSansSC-Bold"/>
              </a:rPr>
              <a:t>需求跟踪矩阵。</a:t>
            </a:r>
            <a:r>
              <a:rPr lang="zh-CN" altLang="en-US" sz="1200" dirty="0">
                <a:latin typeface="SourceHanSansSC-Regular"/>
              </a:rPr>
              <a:t>需求跟踪矩阵含有与需求相关的信息，包括如何确认需求。</a:t>
            </a:r>
          </a:p>
          <a:p>
            <a:pPr>
              <a:defRPr/>
            </a:pPr>
            <a:r>
              <a:rPr lang="en-US" altLang="zh-CN" sz="1200" dirty="0">
                <a:latin typeface="HelveticaNeue-MediumCond"/>
              </a:rPr>
              <a:t>5.5.1.3 </a:t>
            </a:r>
            <a:r>
              <a:rPr lang="zh-CN" altLang="en-US" sz="1200" dirty="0">
                <a:latin typeface="SourceHanSansSC-Medium"/>
              </a:rPr>
              <a:t>核实的可交付成果</a:t>
            </a:r>
          </a:p>
          <a:p>
            <a:pPr>
              <a:defRPr/>
            </a:pPr>
            <a:r>
              <a:rPr lang="zh-CN" altLang="en-US" sz="1200" dirty="0">
                <a:latin typeface="SourceHanSansSC-Regular"/>
              </a:rPr>
              <a:t>核实的可交付成果是指已经完成，并被控制质量过程检查为正确的可交付成果。</a:t>
            </a:r>
          </a:p>
          <a:p>
            <a:pPr>
              <a:defRPr/>
            </a:pPr>
            <a:r>
              <a:rPr lang="en-US" altLang="zh-CN" sz="1200" dirty="0">
                <a:latin typeface="HelveticaNeue-MediumCond"/>
              </a:rPr>
              <a:t>5.5.1.4 </a:t>
            </a:r>
            <a:r>
              <a:rPr lang="zh-CN" altLang="en-US" sz="1200" dirty="0">
                <a:latin typeface="SourceHanSansSC-Medium"/>
              </a:rPr>
              <a:t>工作绩效数据</a:t>
            </a:r>
          </a:p>
          <a:p>
            <a:pPr>
              <a:defRPr/>
            </a:pPr>
            <a:r>
              <a:rPr lang="zh-CN" altLang="en-US" sz="1200" dirty="0">
                <a:latin typeface="SourceHanSansSC-Regular"/>
              </a:rPr>
              <a:t>工作绩效数据可能包括符合需求的程度、不一致的数量、不一致的严重性或在某时间段内开展确认的次数。</a:t>
            </a:r>
            <a:endParaRPr lang="en-US" altLang="zh-CN" sz="1200" dirty="0">
              <a:latin typeface="SourceHanSansSC-Regular"/>
            </a:endParaRPr>
          </a:p>
          <a:p>
            <a:pPr>
              <a:defRPr/>
            </a:pPr>
            <a:endParaRPr lang="en-US" altLang="zh-CN" sz="1200" b="1" dirty="0">
              <a:latin typeface="SourceHanSansSC-Regular"/>
            </a:endParaRPr>
          </a:p>
          <a:p>
            <a:pPr>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103</a:t>
            </a:fld>
            <a:endParaRPr lang="zh-CN" altLang="en-US"/>
          </a:p>
        </p:txBody>
      </p:sp>
    </p:spTree>
    <p:extLst>
      <p:ext uri="{BB962C8B-B14F-4D97-AF65-F5344CB8AC3E}">
        <p14:creationId xmlns:p14="http://schemas.microsoft.com/office/powerpoint/2010/main" val="73510021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1800" dirty="0">
                <a:latin typeface="Times New Roman" panose="02020603050405020304" pitchFamily="18" charset="0"/>
              </a:rPr>
              <a:t>    为一个项目制定出好的项目范围说明书及</a:t>
            </a:r>
            <a:r>
              <a:rPr lang="en-US" altLang="zh-CN" sz="1800" dirty="0">
                <a:latin typeface="Times New Roman" panose="02020603050405020304" pitchFamily="18" charset="0"/>
              </a:rPr>
              <a:t>WBS</a:t>
            </a:r>
            <a:r>
              <a:rPr lang="zh-CN" altLang="en-US" sz="1800" dirty="0">
                <a:latin typeface="Times New Roman" panose="02020603050405020304" pitchFamily="18" charset="0"/>
              </a:rPr>
              <a:t>是很难的。特别是对</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项目而言，要核实范围并将范围变更最小化则更难了。</a:t>
            </a:r>
            <a:endParaRPr lang="en-US" altLang="zh-CN"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dirty="0">
                <a:latin typeface="Times New Roman" panose="02020603050405020304" pitchFamily="18" charset="0"/>
              </a:rPr>
              <a:t>一些项目团队一开始就知道，范围非常不明确，并且他们必须与项目客户密切合作，共同设计并产出各种可交付成果。在这种情况下，项目团队必须为满足特殊项目需求的范围验证建立一个流程；必须设立详细的步骤确保客户得其所需，并且项目团队有足够的时间和资金来产出所需的产品和服务。</a:t>
            </a:r>
          </a:p>
          <a:p>
            <a:pPr algn="just"/>
            <a:r>
              <a:rPr lang="zh-CN" altLang="en-US" sz="1800" dirty="0">
                <a:latin typeface="Times New Roman" panose="02020603050405020304" pitchFamily="18" charset="0"/>
              </a:rPr>
              <a:t>    就算界定了项目范围，许多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项目还是会遭遇范围蔓延</a:t>
            </a:r>
            <a:r>
              <a:rPr lang="en-US" altLang="zh-CN" sz="1800" dirty="0">
                <a:latin typeface="Times New Roman" panose="02020603050405020304" pitchFamily="18" charset="0"/>
              </a:rPr>
              <a:t>——</a:t>
            </a:r>
            <a:r>
              <a:rPr lang="zh-CN" altLang="en-US" sz="1800" dirty="0">
                <a:latin typeface="Times New Roman" panose="02020603050405020304" pitchFamily="18" charset="0"/>
              </a:rPr>
              <a:t>项目范围越来越大的趋势。有很多由于范围问题，如范围蔓延（</a:t>
            </a:r>
            <a:r>
              <a:rPr lang="en-US" altLang="zh-CN" sz="1800" dirty="0">
                <a:latin typeface="Times New Roman" panose="02020603050405020304" pitchFamily="18" charset="0"/>
              </a:rPr>
              <a:t>scope creep</a:t>
            </a:r>
            <a:r>
              <a:rPr lang="zh-CN" altLang="en-US" sz="1800" dirty="0">
                <a:latin typeface="Times New Roman" panose="02020603050405020304" pitchFamily="18" charset="0"/>
              </a:rPr>
              <a:t>），导致</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项目失败的可怕的事例，因此在贯穿项目生命周期的整个过程中与用户一起更新项目范围并为控制范围变化设立流程是非常必要的。</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104</a:t>
            </a:fld>
            <a:endParaRPr lang="zh-CN" altLang="en-US"/>
          </a:p>
        </p:txBody>
      </p:sp>
    </p:spTree>
    <p:extLst>
      <p:ext uri="{BB962C8B-B14F-4D97-AF65-F5344CB8AC3E}">
        <p14:creationId xmlns:p14="http://schemas.microsoft.com/office/powerpoint/2010/main" val="56357977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endParaRPr lang="en-US" altLang="zh-CN" sz="1200" b="1" dirty="0">
              <a:latin typeface="SourceHanSansSC-Regular"/>
            </a:endParaRPr>
          </a:p>
          <a:p>
            <a:pPr>
              <a:defRPr/>
            </a:pPr>
            <a:endParaRPr lang="en-US" altLang="zh-CN" sz="1200" b="1" dirty="0">
              <a:latin typeface="SourceHanSansSC-Regular"/>
            </a:endParaRPr>
          </a:p>
          <a:p>
            <a:pPr>
              <a:defRPr/>
            </a:pPr>
            <a:r>
              <a:rPr lang="zh-CN" altLang="en-US" b="1" dirty="0"/>
              <a:t>工具与技术</a:t>
            </a:r>
            <a:endParaRPr lang="en-US" altLang="zh-CN" b="1" dirty="0"/>
          </a:p>
          <a:p>
            <a:pPr>
              <a:defRPr/>
            </a:pPr>
            <a:r>
              <a:rPr lang="zh-CN" altLang="en-US" dirty="0"/>
              <a:t>检查：是指开展测量、审查与确认等活动，来判断工作和可交付成果是否符合需求和产品验收标准。检查有时也被称为审查、产品审查和巡检等。也可由第三方检测机构完成。</a:t>
            </a:r>
            <a:endParaRPr lang="en-US" altLang="zh-CN" dirty="0"/>
          </a:p>
          <a:p>
            <a:pPr>
              <a:defRPr/>
            </a:pPr>
            <a:r>
              <a:rPr lang="zh-CN" altLang="en-US" dirty="0"/>
              <a:t>决策：可用于本过程的决策技术包括（但不限于）投票。当由项目团队和其他相关方进行验收时，使用投票来形成结论。</a:t>
            </a:r>
            <a:endParaRPr lang="en-US" altLang="zh-CN" dirty="0"/>
          </a:p>
          <a:p>
            <a:pPr>
              <a:defRPr/>
            </a:pPr>
            <a:endParaRPr lang="en-US" altLang="zh-CN" dirty="0"/>
          </a:p>
          <a:p>
            <a:pPr>
              <a:defRPr/>
            </a:pPr>
            <a:r>
              <a:rPr lang="zh-CN" altLang="en-US" sz="1200" b="1" dirty="0">
                <a:latin typeface="SourceHanSansSC-Medium"/>
              </a:rPr>
              <a:t>确认范围：输出</a:t>
            </a:r>
          </a:p>
          <a:p>
            <a:pPr>
              <a:defRPr/>
            </a:pPr>
            <a:r>
              <a:rPr lang="en-US" altLang="zh-CN" sz="1200" dirty="0">
                <a:latin typeface="HelveticaNeue-MediumCond"/>
              </a:rPr>
              <a:t>5.5.3.1 </a:t>
            </a:r>
            <a:r>
              <a:rPr lang="zh-CN" altLang="en-US" sz="1200" dirty="0">
                <a:latin typeface="SourceHanSansSC-Medium"/>
              </a:rPr>
              <a:t>验收的可交付成果</a:t>
            </a:r>
          </a:p>
          <a:p>
            <a:pPr>
              <a:defRPr/>
            </a:pPr>
            <a:r>
              <a:rPr lang="zh-CN" altLang="en-US" sz="1200" dirty="0">
                <a:latin typeface="SourceHanSansSC-Regular"/>
              </a:rPr>
              <a:t>符合验收标准的可交付成果应该由客户或发起人正式签字批准。应该从客户或发起人那里获得正式文件，证明相关方对项目可交付成果的正式验收。这些文件将提交给结束项目或阶段过</a:t>
            </a:r>
          </a:p>
          <a:p>
            <a:pPr>
              <a:defRPr/>
            </a:pPr>
            <a:r>
              <a:rPr lang="zh-CN" altLang="en-US" sz="1200" dirty="0">
                <a:latin typeface="SourceHanSansSC-Regular"/>
              </a:rPr>
              <a:t>程（见 </a:t>
            </a:r>
            <a:r>
              <a:rPr lang="en-US" altLang="zh-CN" sz="1200" dirty="0">
                <a:latin typeface="HelveticaNeue-Condensed"/>
              </a:rPr>
              <a:t>4.7 </a:t>
            </a:r>
            <a:r>
              <a:rPr lang="zh-CN" altLang="en-US" sz="1200" dirty="0">
                <a:latin typeface="SourceHanSansSC-Regular"/>
              </a:rPr>
              <a:t>节）。如产品试用报告。</a:t>
            </a:r>
          </a:p>
          <a:p>
            <a:pPr>
              <a:defRPr/>
            </a:pPr>
            <a:r>
              <a:rPr lang="en-US" altLang="zh-CN" sz="1200" dirty="0">
                <a:latin typeface="HelveticaNeue-MediumCond"/>
              </a:rPr>
              <a:t>5.5.3.2 </a:t>
            </a:r>
            <a:r>
              <a:rPr lang="zh-CN" altLang="en-US" sz="1200" dirty="0">
                <a:latin typeface="SourceHanSansSC-Medium"/>
              </a:rPr>
              <a:t>工作绩效信息</a:t>
            </a:r>
          </a:p>
          <a:p>
            <a:pPr>
              <a:defRPr/>
            </a:pPr>
            <a:r>
              <a:rPr lang="zh-CN" altLang="en-US" sz="1200" dirty="0">
                <a:latin typeface="SourceHanSansSC-Regular"/>
              </a:rPr>
              <a:t>工作绩效信息包括项目进展信息，例如，哪些可交付成果已经被验收，哪些未通过验收以及原因。这些信息应该被记录下来（见 </a:t>
            </a:r>
            <a:r>
              <a:rPr lang="en-US" altLang="zh-CN" sz="1200" dirty="0">
                <a:latin typeface="HelveticaNeue-Condensed"/>
              </a:rPr>
              <a:t>10.3.3.1 </a:t>
            </a:r>
            <a:r>
              <a:rPr lang="zh-CN" altLang="en-US" sz="1200" dirty="0">
                <a:latin typeface="SourceHanSansSC-Regular"/>
              </a:rPr>
              <a:t>节）并传递给相关方。</a:t>
            </a:r>
          </a:p>
          <a:p>
            <a:pPr>
              <a:defRPr/>
            </a:pPr>
            <a:r>
              <a:rPr lang="en-US" altLang="zh-CN" sz="1200" dirty="0">
                <a:latin typeface="HelveticaNeue-MediumCond"/>
              </a:rPr>
              <a:t>5.5.3.3 </a:t>
            </a:r>
            <a:r>
              <a:rPr lang="zh-CN" altLang="en-US" sz="1200" dirty="0">
                <a:latin typeface="SourceHanSansSC-Medium"/>
              </a:rPr>
              <a:t>变更请求</a:t>
            </a:r>
          </a:p>
          <a:p>
            <a:pPr>
              <a:defRPr/>
            </a:pPr>
            <a:r>
              <a:rPr lang="zh-CN" altLang="en-US" sz="1200" dirty="0">
                <a:latin typeface="SourceHanSansSC-Regular"/>
              </a:rPr>
              <a:t>对已经完成但未通过正式验收的可交付成果及其未通过验收的原因，应该记录在案。可能需要针对这些可交付成果提出变更请求，开展缺陷补救。变更请求（见 </a:t>
            </a:r>
            <a:r>
              <a:rPr lang="en-US" altLang="zh-CN" sz="1200" dirty="0">
                <a:latin typeface="HelveticaNeue-Condensed"/>
              </a:rPr>
              <a:t>4.3.3.4 </a:t>
            </a:r>
            <a:r>
              <a:rPr lang="zh-CN" altLang="en-US" sz="1200" dirty="0">
                <a:latin typeface="SourceHanSansSC-Regular"/>
              </a:rPr>
              <a:t>节）应该由实施整体变更控制过程（见 </a:t>
            </a:r>
            <a:r>
              <a:rPr lang="en-US" altLang="zh-CN" sz="1200" dirty="0">
                <a:latin typeface="HelveticaNeue-Condensed"/>
              </a:rPr>
              <a:t>4.6 </a:t>
            </a:r>
            <a:r>
              <a:rPr lang="zh-CN" altLang="en-US" sz="1200" dirty="0">
                <a:latin typeface="SourceHanSansSC-Regular"/>
              </a:rPr>
              <a:t>节）进行审查与处理。</a:t>
            </a:r>
            <a:endParaRPr lang="en-US" altLang="zh-CN" sz="1200" dirty="0">
              <a:solidFill>
                <a:srgbClr val="333333"/>
              </a:solidFill>
              <a:latin typeface="HelveticaNeue-MediumCond"/>
            </a:endParaRPr>
          </a:p>
          <a:p>
            <a:pPr>
              <a:defRPr/>
            </a:pPr>
            <a:r>
              <a:rPr lang="en-US" altLang="zh-CN" sz="1200" dirty="0">
                <a:solidFill>
                  <a:srgbClr val="000000"/>
                </a:solidFill>
                <a:latin typeface="HelveticaNeue-MediumCond"/>
              </a:rPr>
              <a:t>5.5.3.4 </a:t>
            </a:r>
            <a:r>
              <a:rPr lang="zh-CN" altLang="en-US" sz="1200" dirty="0">
                <a:solidFill>
                  <a:srgbClr val="000000"/>
                </a:solidFill>
                <a:latin typeface="SourceHanSansSC-Medium"/>
              </a:rPr>
              <a:t>项目文件更新</a:t>
            </a:r>
          </a:p>
          <a:p>
            <a:pPr>
              <a:defRPr/>
            </a:pPr>
            <a:r>
              <a:rPr lang="zh-CN" altLang="en-US" sz="1200" dirty="0">
                <a:solidFill>
                  <a:srgbClr val="000000"/>
                </a:solidFill>
                <a:latin typeface="SourceHanSansSC-Regular"/>
              </a:rPr>
              <a:t>可在本过程更新的项目文件包括（但不限于）：</a:t>
            </a:r>
          </a:p>
          <a:p>
            <a:pPr>
              <a:defRPr/>
            </a:pPr>
            <a:r>
              <a:rPr lang="en-US" altLang="zh-CN" sz="1200" dirty="0">
                <a:solidFill>
                  <a:srgbClr val="000000"/>
                </a:solidFill>
                <a:latin typeface="Wingdings-Regular"/>
              </a:rPr>
              <a:t>  </a:t>
            </a:r>
            <a:r>
              <a:rPr lang="zh-CN" altLang="en-US" sz="1200" b="1" dirty="0">
                <a:solidFill>
                  <a:srgbClr val="000000"/>
                </a:solidFill>
                <a:latin typeface="SourceHanSansSC-Bold"/>
              </a:rPr>
              <a:t>经验教训登记册。</a:t>
            </a:r>
            <a:r>
              <a:rPr lang="zh-CN" altLang="en-US" sz="1200" dirty="0">
                <a:solidFill>
                  <a:srgbClr val="000000"/>
                </a:solidFill>
                <a:latin typeface="SourceHanSansSC-Regular"/>
              </a:rPr>
              <a:t>见 </a:t>
            </a:r>
            <a:r>
              <a:rPr lang="en-US" altLang="zh-CN" sz="1200" dirty="0">
                <a:solidFill>
                  <a:srgbClr val="000000"/>
                </a:solidFill>
                <a:latin typeface="HelveticaNeue-Condensed"/>
              </a:rPr>
              <a:t>4.4.3.1 </a:t>
            </a:r>
            <a:r>
              <a:rPr lang="zh-CN" altLang="en-US" sz="1200" dirty="0">
                <a:solidFill>
                  <a:srgbClr val="000000"/>
                </a:solidFill>
                <a:latin typeface="SourceHanSansSC-Regular"/>
              </a:rPr>
              <a:t>节。更新经验教训登记册，以记录所遇到的挑战、本应如何避免该挑战，以及良好的可交付成果验收方法。</a:t>
            </a:r>
          </a:p>
          <a:p>
            <a:pPr>
              <a:defRPr/>
            </a:pPr>
            <a:r>
              <a:rPr lang="en-US" altLang="zh-CN" sz="1200" dirty="0">
                <a:solidFill>
                  <a:srgbClr val="000000"/>
                </a:solidFill>
                <a:latin typeface="Wingdings-Regular"/>
              </a:rPr>
              <a:t>  </a:t>
            </a:r>
            <a:r>
              <a:rPr lang="zh-CN" altLang="en-US" sz="1200" b="1" dirty="0">
                <a:solidFill>
                  <a:srgbClr val="000000"/>
                </a:solidFill>
                <a:latin typeface="SourceHanSansSC-Bold"/>
              </a:rPr>
              <a:t>需求文件。</a:t>
            </a:r>
            <a:r>
              <a:rPr lang="zh-CN" altLang="en-US" sz="1200" dirty="0">
                <a:solidFill>
                  <a:srgbClr val="000000"/>
                </a:solidFill>
                <a:latin typeface="SourceHanSansSC-Regular"/>
              </a:rPr>
              <a:t>见 </a:t>
            </a:r>
            <a:r>
              <a:rPr lang="en-US" altLang="zh-CN" sz="1200" dirty="0">
                <a:solidFill>
                  <a:srgbClr val="000000"/>
                </a:solidFill>
                <a:latin typeface="HelveticaNeue-Condensed"/>
              </a:rPr>
              <a:t>5.2.3.1 </a:t>
            </a:r>
            <a:r>
              <a:rPr lang="zh-CN" altLang="en-US" sz="1200" dirty="0">
                <a:solidFill>
                  <a:srgbClr val="000000"/>
                </a:solidFill>
                <a:latin typeface="SourceHanSansSC-Regular"/>
              </a:rPr>
              <a:t>节。记录实际的验收结果，更新需求文件。需要特别注意实际结果比原定需求更好的情况，或者原定需求已经被放弃的情况。</a:t>
            </a:r>
          </a:p>
          <a:p>
            <a:pPr>
              <a:defRPr/>
            </a:pPr>
            <a:r>
              <a:rPr lang="en-US" altLang="zh-CN" sz="1200" dirty="0">
                <a:solidFill>
                  <a:srgbClr val="000000"/>
                </a:solidFill>
                <a:latin typeface="Wingdings-Regular"/>
              </a:rPr>
              <a:t>  </a:t>
            </a:r>
            <a:r>
              <a:rPr lang="zh-CN" altLang="en-US" sz="1200" b="1" dirty="0">
                <a:solidFill>
                  <a:srgbClr val="000000"/>
                </a:solidFill>
                <a:latin typeface="SourceHanSansSC-Bold"/>
              </a:rPr>
              <a:t>需求跟踪矩阵。</a:t>
            </a:r>
            <a:r>
              <a:rPr lang="zh-CN" altLang="en-US" sz="1200" dirty="0">
                <a:solidFill>
                  <a:srgbClr val="000000"/>
                </a:solidFill>
                <a:latin typeface="SourceHanSansSC-Regular"/>
              </a:rPr>
              <a:t>见 </a:t>
            </a:r>
            <a:r>
              <a:rPr lang="en-US" altLang="zh-CN" sz="1200" dirty="0">
                <a:solidFill>
                  <a:srgbClr val="000000"/>
                </a:solidFill>
                <a:latin typeface="HelveticaNeue-Condensed"/>
              </a:rPr>
              <a:t>5.2.3.2 </a:t>
            </a:r>
            <a:r>
              <a:rPr lang="zh-CN" altLang="en-US" sz="1200" dirty="0">
                <a:solidFill>
                  <a:srgbClr val="000000"/>
                </a:solidFill>
                <a:latin typeface="SourceHanSansSC-Regular"/>
              </a:rPr>
              <a:t>节。根据验收结果更新需求跟踪矩阵，包括所采用的验收方法及其使用结果。</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105</a:t>
            </a:fld>
            <a:endParaRPr lang="zh-CN" altLang="en-US"/>
          </a:p>
        </p:txBody>
      </p:sp>
    </p:spTree>
    <p:extLst>
      <p:ext uri="{BB962C8B-B14F-4D97-AF65-F5344CB8AC3E}">
        <p14:creationId xmlns:p14="http://schemas.microsoft.com/office/powerpoint/2010/main" val="17672498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检查</a:t>
            </a:r>
            <a:endParaRPr lang="en-US" altLang="zh-CN" dirty="0"/>
          </a:p>
          <a:p>
            <a:r>
              <a:rPr lang="zh-CN" altLang="en-US" dirty="0"/>
              <a:t>因为是产品能否被接受，需要通过检查来判断，工作和可交付成果是否符合需求和产品验收标准。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106</a:t>
            </a:fld>
            <a:endParaRPr lang="zh-CN" altLang="en-US"/>
          </a:p>
        </p:txBody>
      </p:sp>
    </p:spTree>
    <p:extLst>
      <p:ext uri="{BB962C8B-B14F-4D97-AF65-F5344CB8AC3E}">
        <p14:creationId xmlns:p14="http://schemas.microsoft.com/office/powerpoint/2010/main" val="227515655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1" dirty="0">
                <a:latin typeface="微软雅黑" panose="020B0503020204020204" pitchFamily="34" charset="-122"/>
                <a:ea typeface="微软雅黑" panose="020B0503020204020204" pitchFamily="34" charset="-122"/>
              </a:rPr>
              <a:t>控制</a:t>
            </a:r>
            <a:r>
              <a:rPr lang="zh-CN" altLang="en-US" sz="1800" b="1" dirty="0">
                <a:latin typeface="微软雅黑" panose="020B0503020204020204" pitchFamily="34" charset="-122"/>
                <a:ea typeface="微软雅黑" panose="020B0503020204020204" pitchFamily="34" charset="-122"/>
              </a:rPr>
              <a:t>项目</a:t>
            </a:r>
            <a:r>
              <a:rPr lang="zh-CN" altLang="zh-CN" sz="1800" b="1" dirty="0">
                <a:latin typeface="微软雅黑" panose="020B0503020204020204" pitchFamily="34" charset="-122"/>
                <a:ea typeface="微软雅黑" panose="020B0503020204020204" pitchFamily="34" charset="-122"/>
              </a:rPr>
              <a:t>范围</a:t>
            </a:r>
            <a:r>
              <a:rPr lang="zh-CN" altLang="en-US" sz="1800" b="0" i="0" u="none" strike="noStrike" baseline="0" dirty="0">
                <a:latin typeface="SourceHanSansSC-Regular"/>
              </a:rPr>
              <a:t>也属于监控过程组</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本过程的主要作用是，在整个项目期间保持对范围基准的维护，且需要在整个项目期间开展。</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107</a:t>
            </a:fld>
            <a:endParaRPr lang="zh-CN" altLang="en-US"/>
          </a:p>
        </p:txBody>
      </p:sp>
    </p:spTree>
    <p:extLst>
      <p:ext uri="{BB962C8B-B14F-4D97-AF65-F5344CB8AC3E}">
        <p14:creationId xmlns:p14="http://schemas.microsoft.com/office/powerpoint/2010/main" val="261941520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108</a:t>
            </a:fld>
            <a:endParaRPr lang="zh-CN" altLang="en-US"/>
          </a:p>
        </p:txBody>
      </p:sp>
    </p:spTree>
    <p:extLst>
      <p:ext uri="{BB962C8B-B14F-4D97-AF65-F5344CB8AC3E}">
        <p14:creationId xmlns:p14="http://schemas.microsoft.com/office/powerpoint/2010/main" val="21376847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5.6.1 </a:t>
            </a:r>
            <a:r>
              <a:rPr lang="zh-CN" altLang="en-US" sz="1800" b="0" i="0" u="none" strike="noStrike" baseline="0" dirty="0">
                <a:latin typeface="SourceHanSansSC-Medium"/>
              </a:rPr>
              <a:t>控制范围：输入</a:t>
            </a:r>
          </a:p>
          <a:p>
            <a:pPr algn="l"/>
            <a:r>
              <a:rPr lang="en-US" altLang="zh-CN" sz="1800" b="0" i="0" u="none" strike="noStrike" baseline="0" dirty="0">
                <a:latin typeface="HelveticaNeue-MediumCond"/>
              </a:rPr>
              <a:t>5.6.1.1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节。范围管理计划记录了如何控制项目和产品范围。</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节。成本管理计划记录了如何管理项目需求。</a:t>
            </a:r>
          </a:p>
          <a:p>
            <a:pPr algn="l"/>
            <a:r>
              <a:rPr lang="en-US" altLang="zh-CN" sz="1800" b="0" i="0" u="none" strike="noStrike" baseline="0" dirty="0">
                <a:latin typeface="Wingdings-Regular"/>
              </a:rPr>
              <a:t>  </a:t>
            </a:r>
            <a:r>
              <a:rPr lang="zh-CN" altLang="en-US" sz="1800" b="1" i="0" u="none" strike="noStrike" baseline="0" dirty="0">
                <a:latin typeface="SourceHanSansSC-Bold"/>
              </a:rPr>
              <a:t>变更管理计划。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节。变更管理计划定义了管理项目变更的过程。</a:t>
            </a:r>
          </a:p>
          <a:p>
            <a:pPr algn="l"/>
            <a:r>
              <a:rPr lang="en-US" altLang="zh-CN" sz="1800" b="0" i="0" u="none" strike="noStrike" baseline="0" dirty="0">
                <a:latin typeface="Wingdings-Regular"/>
              </a:rPr>
              <a:t>  </a:t>
            </a:r>
            <a:r>
              <a:rPr lang="zh-CN" altLang="en-US" sz="1800" b="1" i="0" u="none" strike="noStrike" baseline="0" dirty="0">
                <a:latin typeface="SourceHanSansSC-Bold"/>
              </a:rPr>
              <a:t>配置管理计划。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节。配置管理计划定义了哪些是配置项，哪些配置项需要正式变更控制，以及针对这些配置项的变更控制过程。</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节。用范围基准与实际结果比较，以决定是否有必要进行变更、采取纠正措施或预防措施。</a:t>
            </a:r>
          </a:p>
          <a:p>
            <a:pPr algn="l"/>
            <a:r>
              <a:rPr lang="en-US" altLang="zh-CN" sz="1800" b="0" i="0" u="none" strike="noStrike" baseline="0" dirty="0">
                <a:latin typeface="Wingdings-Regular"/>
              </a:rPr>
              <a:t>  </a:t>
            </a:r>
            <a:r>
              <a:rPr lang="zh-CN" altLang="en-US" sz="1800" b="1" i="0" u="none" strike="noStrike" baseline="0" dirty="0">
                <a:latin typeface="SourceHanSansSC-Bold"/>
              </a:rPr>
              <a:t>绩效测量基准。</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节。使用挣值分析时，将绩效测量基准与实际结果比较，以决定是否有必要进行变更、采取纠正措施或预防措施。</a:t>
            </a:r>
          </a:p>
          <a:p>
            <a:pPr algn="l"/>
            <a:r>
              <a:rPr lang="en-US" altLang="zh-CN" sz="1800" b="0" i="0" u="none" strike="noStrike" baseline="0" dirty="0">
                <a:latin typeface="HelveticaNeue-MediumCond"/>
              </a:rPr>
              <a:t>5.6.1.2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节。在项目早期获得的经验教训可以运用到后期阶段，以改进范围控制。</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节。需求文件用于发现任何对商定的项目或产品范围的偏离。</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节。需求跟踪矩阵有助于探查任何变更或对范围基准的任何偏离对项目目标的影响，它还可以提供受控需求的状态。</a:t>
            </a:r>
          </a:p>
          <a:p>
            <a:pPr algn="l"/>
            <a:r>
              <a:rPr lang="en-US" altLang="zh-CN" sz="1800" b="0" i="0" u="none" strike="noStrike" baseline="0" dirty="0">
                <a:latin typeface="HelveticaNeue-MediumCond"/>
              </a:rPr>
              <a:t>5.6.1.3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工作绩效数据可能包括收到的变更请求的数量、接受的变更请求的数量，或者核实、确认和完成的可交付成果的数量。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110</a:t>
            </a:fld>
            <a:endParaRPr lang="zh-CN" altLang="en-US"/>
          </a:p>
        </p:txBody>
      </p:sp>
    </p:spTree>
    <p:extLst>
      <p:ext uri="{BB962C8B-B14F-4D97-AF65-F5344CB8AC3E}">
        <p14:creationId xmlns:p14="http://schemas.microsoft.com/office/powerpoint/2010/main" val="251139264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5.6.2.1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可用于控制范围过程的数据分析技术包括（但不限于）：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偏差分析。</a:t>
            </a:r>
            <a:r>
              <a:rPr lang="zh-CN" altLang="en-US" sz="1200" b="0" i="0" u="none" strike="noStrike" baseline="0" dirty="0">
                <a:latin typeface="SourceHanSansSC-Regular"/>
              </a:rPr>
              <a:t>见 </a:t>
            </a:r>
            <a:r>
              <a:rPr lang="en-US" altLang="zh-CN" sz="1200" b="0" i="0" u="none" strike="noStrike" baseline="0" dirty="0">
                <a:latin typeface="HelveticaNeue-Condensed"/>
              </a:rPr>
              <a:t>4.5.2.2 </a:t>
            </a:r>
            <a:r>
              <a:rPr lang="zh-CN" altLang="en-US" sz="1200" b="0" i="0" u="none" strike="noStrike" baseline="0" dirty="0">
                <a:latin typeface="SourceHanSansSC-Regular"/>
              </a:rPr>
              <a:t>节。偏差分析用于将基准与实际结果进行比较，以确定偏差是否处于临界值区间内或是否有必要采取纠正或预防措施。</a:t>
            </a:r>
          </a:p>
          <a:p>
            <a:pPr algn="l"/>
            <a:r>
              <a:rPr lang="en-US" altLang="zh-CN" sz="1200" b="0" i="0" u="none" strike="noStrike" baseline="0" dirty="0">
                <a:latin typeface="Wingdings-Regular"/>
              </a:rPr>
              <a:t>  </a:t>
            </a:r>
            <a:r>
              <a:rPr lang="zh-CN" altLang="en-US" sz="1200" b="1" i="0" u="none" strike="noStrike" baseline="0" dirty="0">
                <a:latin typeface="SourceHanSansSC-Bold"/>
              </a:rPr>
              <a:t>趋势分析。</a:t>
            </a:r>
            <a:r>
              <a:rPr lang="zh-CN" altLang="en-US" sz="1200" b="0" i="0" u="none" strike="noStrike" baseline="0" dirty="0">
                <a:latin typeface="SourceHanSansSC-Regular"/>
              </a:rPr>
              <a:t>见 </a:t>
            </a:r>
            <a:r>
              <a:rPr lang="en-US" altLang="zh-CN" sz="1200" b="0" i="0" u="none" strike="noStrike" baseline="0" dirty="0">
                <a:latin typeface="HelveticaNeue-Condensed"/>
              </a:rPr>
              <a:t>4.5.2.2 </a:t>
            </a:r>
            <a:r>
              <a:rPr lang="zh-CN" altLang="en-US" sz="1200" b="0" i="0" u="none" strike="noStrike" baseline="0" dirty="0">
                <a:latin typeface="SourceHanSansSC-Regular"/>
              </a:rPr>
              <a:t>节。趋势分析旨在审查项目绩效随时间的变化情况，以判断绩效是正在改善还是正在恶化。</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111</a:t>
            </a:fld>
            <a:endParaRPr lang="zh-CN" altLang="en-US"/>
          </a:p>
        </p:txBody>
      </p:sp>
    </p:spTree>
    <p:extLst>
      <p:ext uri="{BB962C8B-B14F-4D97-AF65-F5344CB8AC3E}">
        <p14:creationId xmlns:p14="http://schemas.microsoft.com/office/powerpoint/2010/main" val="329948485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sz="1200" dirty="0">
                <a:latin typeface="楷体" panose="02010609060101010101" pitchFamily="49" charset="-122"/>
                <a:ea typeface="楷体" panose="02010609060101010101" pitchFamily="49" charset="-122"/>
                <a:cs typeface="Times New Roman" pitchFamily="18" charset="0"/>
              </a:rPr>
              <a:t>CCB</a:t>
            </a:r>
            <a:r>
              <a:rPr lang="zh-CN" altLang="en-US" sz="1200" dirty="0">
                <a:latin typeface="楷体" panose="02010609060101010101" pitchFamily="49" charset="-122"/>
                <a:ea typeface="楷体" panose="02010609060101010101" pitchFamily="49" charset="-122"/>
                <a:cs typeface="Times New Roman" pitchFamily="18" charset="0"/>
              </a:rPr>
              <a:t>：项目变更委员会</a:t>
            </a:r>
            <a:endParaRPr lang="en-US" altLang="zh-CN" sz="1200" dirty="0">
              <a:latin typeface="楷体" panose="02010609060101010101" pitchFamily="49" charset="-122"/>
              <a:ea typeface="楷体" panose="02010609060101010101" pitchFamily="49" charset="-122"/>
              <a:cs typeface="Times New Roman" pitchFamily="18" charset="0"/>
            </a:endParaRPr>
          </a:p>
          <a:p>
            <a:endParaRPr lang="en-US" altLang="zh-CN" sz="1200" dirty="0">
              <a:latin typeface="楷体" panose="02010609060101010101" pitchFamily="49" charset="-122"/>
              <a:ea typeface="楷体" panose="02010609060101010101" pitchFamily="49" charset="-122"/>
              <a:cs typeface="Times New Roman" pitchFamily="18"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112</a:t>
            </a:fld>
            <a:endParaRPr lang="zh-CN" altLang="en-US"/>
          </a:p>
        </p:txBody>
      </p:sp>
    </p:spTree>
    <p:extLst>
      <p:ext uri="{BB962C8B-B14F-4D97-AF65-F5344CB8AC3E}">
        <p14:creationId xmlns:p14="http://schemas.microsoft.com/office/powerpoint/2010/main" val="136279848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5.6.3 </a:t>
            </a:r>
            <a:r>
              <a:rPr lang="zh-CN" altLang="en-US" sz="1800" b="0" i="0" u="none" strike="noStrike" baseline="0" dirty="0">
                <a:latin typeface="SourceHanSansSC-Medium"/>
              </a:rPr>
              <a:t>控制范围：输出</a:t>
            </a:r>
          </a:p>
          <a:p>
            <a:pPr algn="l"/>
            <a:r>
              <a:rPr lang="en-US" altLang="zh-CN" sz="1800" b="0" i="0" u="none" strike="noStrike" baseline="0" dirty="0">
                <a:latin typeface="HelveticaNeue-MediumCond"/>
              </a:rPr>
              <a:t>5.6.3.1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本过程产生的工作绩效信息是有关项目和产品范围实施情况（对照范围基准）的、相互关联且与各种背景相结合的信息，包括收到的变更的分类、识别的范围偏差和原因、偏差对进度和成本的影响，以及对将来范围绩效的预测。</a:t>
            </a:r>
          </a:p>
          <a:p>
            <a:pPr algn="l"/>
            <a:r>
              <a:rPr lang="en-US" altLang="zh-CN" sz="1800" b="0" i="0" u="none" strike="noStrike" baseline="0" dirty="0">
                <a:latin typeface="HelveticaNeue-MediumCond"/>
              </a:rPr>
              <a:t>5.6.3.2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节。分析项目绩效后，可能会就范围基准和进度基准，或项目管理计划的其他组成部分提出变更请求。变更请求需要经过实施整体变更控制过程（见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节）的审查和处理。</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5.6.3.3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节。可以更新范围管理计划，以反映范围管理方式的变更。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节。在针对范围、范围说明书、</a:t>
            </a:r>
            <a:r>
              <a:rPr lang="en-US" altLang="zh-CN" sz="1800" b="0" i="0" u="none" strike="noStrike" baseline="0" dirty="0">
                <a:latin typeface="HelveticaNeue-Condensed"/>
              </a:rPr>
              <a:t>WBS </a:t>
            </a:r>
            <a:r>
              <a:rPr lang="zh-CN" altLang="en-US" sz="1800" b="0" i="0" u="none" strike="noStrike" baseline="0" dirty="0">
                <a:latin typeface="SourceHanSansSC-Regular"/>
              </a:rPr>
              <a:t>或 </a:t>
            </a:r>
            <a:r>
              <a:rPr lang="en-US" altLang="zh-CN" sz="1800" b="0" i="0" u="none" strike="noStrike" baseline="0" dirty="0">
                <a:latin typeface="HelveticaNeue-Condensed"/>
              </a:rPr>
              <a:t>WBS </a:t>
            </a:r>
            <a:r>
              <a:rPr lang="zh-CN" altLang="en-US" sz="1800" b="0" i="0" u="none" strike="noStrike" baseline="0" dirty="0">
                <a:latin typeface="SourceHanSansSC-Regular"/>
              </a:rPr>
              <a:t>词典的变更获得批准后，需要对范围基准做出相应的变更。有时范围偏差太过严重，以至于需要修订范围基准，以便为绩效测量提供现实可行的依据。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节。在针对范围、资源或进度估算的变更获得批准后，需要对进度基准做出相应的变更。有时进度偏差太过严重，以至于需要修订进度基准，以便为绩效测量提供现实可行的依据。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节。在针对范围、资源或成本估算的变更获得批准后，需要对成本基准做出相应的变更。有时成本偏差太过严重，以至于需要修订成本基准，以便为绩效测量提供现实可行的依据。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绩效测量基准。</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节。在针对范围、进度绩效或成本估算的变更获得批准后，需要对绩效测量基准做出相应的变更。有时绩效偏差太过严重，需要提出变更请求来修订绩效测量基准，以便为绩效测量提供现实可行的依据。</a:t>
            </a:r>
          </a:p>
          <a:p>
            <a:pPr algn="l"/>
            <a:r>
              <a:rPr lang="en-US" altLang="zh-CN" sz="1800" b="0" i="0" u="none" strike="noStrike" baseline="0" dirty="0">
                <a:latin typeface="HelveticaNeue-MediumCond"/>
              </a:rPr>
              <a:t>5.6.3.4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节。更新经验教训登记册，以记录控制范围的有效技术，以及造成偏差的原因和选择的纠正措施。</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节。可以通过增加或修改需求而更新需求文件。</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节。应该随同需求文件的更新而更新需求跟踪矩阵。</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114</a:t>
            </a:fld>
            <a:endParaRPr lang="zh-CN" altLang="en-US"/>
          </a:p>
        </p:txBody>
      </p:sp>
    </p:spTree>
    <p:extLst>
      <p:ext uri="{BB962C8B-B14F-4D97-AF65-F5344CB8AC3E}">
        <p14:creationId xmlns:p14="http://schemas.microsoft.com/office/powerpoint/2010/main" val="4603514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r>
              <a:rPr lang="en-US" altLang="zh-CN" dirty="0"/>
              <a:t>B. </a:t>
            </a:r>
            <a:r>
              <a:rPr lang="zh-CN" altLang="en-US" dirty="0"/>
              <a:t>完成整体变更控制  </a:t>
            </a:r>
            <a:endParaRPr lang="en-US" altLang="zh-CN" dirty="0"/>
          </a:p>
          <a:p>
            <a:pPr lvl="1" eaLnBrk="1" hangingPunct="1"/>
            <a:r>
              <a:rPr lang="zh-CN" altLang="en-US" dirty="0"/>
              <a:t>包括变更的评审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115</a:t>
            </a:fld>
            <a:endParaRPr lang="zh-CN" altLang="en-US"/>
          </a:p>
        </p:txBody>
      </p:sp>
    </p:spTree>
    <p:extLst>
      <p:ext uri="{BB962C8B-B14F-4D97-AF65-F5344CB8AC3E}">
        <p14:creationId xmlns:p14="http://schemas.microsoft.com/office/powerpoint/2010/main" val="400400183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117</a:t>
            </a:fld>
            <a:endParaRPr lang="zh-CN" altLang="en-US"/>
          </a:p>
        </p:txBody>
      </p:sp>
    </p:spTree>
    <p:extLst>
      <p:ext uri="{BB962C8B-B14F-4D97-AF65-F5344CB8AC3E}">
        <p14:creationId xmlns:p14="http://schemas.microsoft.com/office/powerpoint/2010/main" val="89458426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118</a:t>
            </a:fld>
            <a:endParaRPr lang="zh-CN" altLang="en-US"/>
          </a:p>
        </p:txBody>
      </p:sp>
    </p:spTree>
    <p:extLst>
      <p:ext uri="{BB962C8B-B14F-4D97-AF65-F5344CB8AC3E}">
        <p14:creationId xmlns:p14="http://schemas.microsoft.com/office/powerpoint/2010/main" val="1091967400"/>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r>
              <a:rPr lang="zh-CN" altLang="en-US" dirty="0"/>
              <a:t>客户频繁的需求变更－</a:t>
            </a:r>
            <a:r>
              <a:rPr lang="en-US" altLang="zh-CN" dirty="0"/>
              <a:t>&gt;</a:t>
            </a:r>
            <a:r>
              <a:rPr lang="zh-CN" altLang="en-US" dirty="0"/>
              <a:t>直接找程序员变更</a:t>
            </a:r>
            <a:r>
              <a:rPr lang="en-US" altLang="zh-CN" dirty="0"/>
              <a:t>-&gt;</a:t>
            </a:r>
            <a:r>
              <a:rPr lang="zh-CN" altLang="en-US" dirty="0"/>
              <a:t>程序员忙乱，不作记录，也不修改文档</a:t>
            </a:r>
            <a:r>
              <a:rPr lang="en-US" altLang="zh-CN" dirty="0"/>
              <a:t>-&gt;</a:t>
            </a:r>
            <a:r>
              <a:rPr lang="zh-CN" altLang="en-US" dirty="0"/>
              <a:t>程序员违反配置管理规定</a:t>
            </a:r>
            <a:r>
              <a:rPr lang="en-US" altLang="zh-CN" dirty="0"/>
              <a:t>-&gt;</a:t>
            </a:r>
            <a:r>
              <a:rPr lang="zh-CN" altLang="en-US" dirty="0"/>
              <a:t>系统出错－</a:t>
            </a:r>
            <a:r>
              <a:rPr lang="en-US" altLang="zh-CN" dirty="0"/>
              <a:t>&gt;</a:t>
            </a:r>
            <a:r>
              <a:rPr lang="zh-CN" altLang="en-US" dirty="0"/>
              <a:t>失去客户高层信任</a:t>
            </a:r>
            <a:endParaRPr lang="en-US" altLang="zh-CN" dirty="0"/>
          </a:p>
          <a:p>
            <a:r>
              <a:rPr lang="zh-CN" altLang="en-US" dirty="0"/>
              <a:t>客户决定调整所有界面</a:t>
            </a:r>
            <a:r>
              <a:rPr lang="en-US" altLang="zh-CN" dirty="0"/>
              <a:t>-&gt;</a:t>
            </a:r>
            <a:r>
              <a:rPr lang="zh-CN" altLang="en-US" dirty="0"/>
              <a:t>项目延期－</a:t>
            </a:r>
            <a:r>
              <a:rPr lang="en-US" altLang="zh-CN" dirty="0"/>
              <a:t>&gt;</a:t>
            </a:r>
            <a:r>
              <a:rPr lang="zh-CN" altLang="en-US" dirty="0"/>
              <a:t>客户不满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3239977549"/>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例如：</a:t>
            </a:r>
          </a:p>
          <a:p>
            <a:pPr algn="l"/>
            <a:r>
              <a:rPr lang="zh-CN" altLang="en-US" sz="1200" b="0" i="0" u="none" strike="noStrike" baseline="0" dirty="0">
                <a:latin typeface="SourceHanSansSC-Regular"/>
              </a:rPr>
              <a:t>以主要可交付成果作为分解的第二层，如图 所示；</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zh-CN" altLang="en-US" sz="1200" b="0" i="0" u="none" strike="noStrike" baseline="0" dirty="0">
                <a:latin typeface="SourceHanSansSC-Regular"/>
              </a:rPr>
              <a:t>另外，纳入由项目团队以外的组织开发的各种较低层次组件（如外包工作）。随后，作为外包工作的一部分，卖方须制定相应的合同 </a:t>
            </a:r>
            <a:r>
              <a:rPr lang="en-US" altLang="zh-CN" sz="1200" b="0" i="0" u="none" strike="noStrike" baseline="0" dirty="0">
                <a:latin typeface="HelveticaNeue-Condensed"/>
              </a:rPr>
              <a:t>WBS</a:t>
            </a:r>
            <a:r>
              <a:rPr lang="zh-CN" altLang="en-US" sz="1200" b="0" i="0" u="none" strike="noStrike" baseline="0" dirty="0">
                <a:latin typeface="SourceHanSansSC-Regular"/>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3205108216"/>
      </p:ext>
    </p:extLst>
  </p:cSld>
  <p:clrMapOvr>
    <a:masterClrMapping/>
  </p:clrMapOvr>
</p:notes>
</file>

<file path=ppt/notesSlides/notesSlide5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20A49E0B-1825-41A6-A38F-ACAA452305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CBF2EDCC-DBCA-4323-8594-3A0E34202F2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我们将学习</a:t>
            </a:r>
            <a:r>
              <a:rPr lang="zh-CN" altLang="zh-CN" b="1" dirty="0"/>
              <a:t>PMBOK第六版</a:t>
            </a:r>
            <a:r>
              <a:rPr lang="zh-CN" altLang="en-US" b="1" dirty="0"/>
              <a:t>的</a:t>
            </a:r>
            <a:r>
              <a:rPr lang="zh-CN" altLang="zh-CN" b="1" dirty="0"/>
              <a:t>十大知识领域</a:t>
            </a:r>
            <a:r>
              <a:rPr lang="zh-CN" altLang="en-US" b="1" dirty="0"/>
              <a:t>，包括分别在</a:t>
            </a:r>
            <a:r>
              <a:rPr lang="zh-CN" altLang="zh-CN" b="1" dirty="0"/>
              <a:t>五大过程组</a:t>
            </a:r>
            <a:r>
              <a:rPr lang="zh-CN" altLang="en-US" b="1" dirty="0"/>
              <a:t>中的</a:t>
            </a:r>
            <a:r>
              <a:rPr lang="zh-CN" altLang="zh-CN" b="1" dirty="0"/>
              <a:t>49个子过程</a:t>
            </a:r>
            <a:endParaRPr lang="en-US" altLang="zh-CN" b="1" dirty="0"/>
          </a:p>
          <a:p>
            <a:r>
              <a:rPr lang="zh-CN" altLang="en-US" b="1" dirty="0"/>
              <a:t>这个表是，</a:t>
            </a:r>
            <a:r>
              <a:rPr lang="zh-CN" altLang="zh-CN" b="1" dirty="0"/>
              <a:t>五大过程组</a:t>
            </a:r>
            <a:r>
              <a:rPr lang="zh-CN" altLang="en-US" b="1" dirty="0"/>
              <a:t>中分属于</a:t>
            </a:r>
            <a:r>
              <a:rPr lang="zh-CN" altLang="zh-CN" b="1" dirty="0"/>
              <a:t>十大知识领域49个子过程</a:t>
            </a:r>
            <a:r>
              <a:rPr lang="zh-CN" altLang="en-US" b="1" dirty="0"/>
              <a:t>，它们间的相互关系</a:t>
            </a:r>
            <a:endParaRPr lang="en-US" altLang="zh-CN" b="1" dirty="0"/>
          </a:p>
          <a:p>
            <a:endParaRPr lang="en-US" altLang="zh-CN" b="1" dirty="0"/>
          </a:p>
          <a:p>
            <a:r>
              <a:rPr lang="zh-CN" altLang="en-US" b="1" dirty="0"/>
              <a:t>项目管理分为</a:t>
            </a:r>
            <a:r>
              <a:rPr lang="en-US" altLang="zh-CN" b="1" dirty="0"/>
              <a:t>9</a:t>
            </a:r>
            <a:r>
              <a:rPr lang="zh-CN" altLang="en-US" b="1" dirty="0"/>
              <a:t>个方面（九大要素），加整合管理，共</a:t>
            </a:r>
            <a:r>
              <a:rPr lang="en-US" altLang="zh-CN" b="1" dirty="0"/>
              <a:t>10</a:t>
            </a:r>
            <a:r>
              <a:rPr lang="zh-CN" altLang="en-US" b="1" dirty="0"/>
              <a:t>个管理方面；</a:t>
            </a:r>
            <a:endParaRPr lang="en-US" altLang="zh-CN" b="1" dirty="0"/>
          </a:p>
          <a:p>
            <a:r>
              <a:rPr lang="zh-CN" altLang="en-US" b="1" dirty="0"/>
              <a:t>每个方面的管理都需要规划，然后明确相关管理内容及其要求和制约</a:t>
            </a:r>
            <a:r>
              <a:rPr lang="en-US" altLang="zh-CN" b="1" dirty="0"/>
              <a:t>,</a:t>
            </a:r>
            <a:r>
              <a:rPr lang="zh-CN" altLang="en-US" b="1" dirty="0"/>
              <a:t>构成了规划过程组；</a:t>
            </a:r>
            <a:endParaRPr lang="en-US" altLang="zh-CN" b="1" dirty="0"/>
          </a:p>
          <a:p>
            <a:r>
              <a:rPr lang="zh-CN" altLang="en-US" b="1" dirty="0"/>
              <a:t>执行过程中需要对具体事务进行管理，避免偏差。</a:t>
            </a:r>
            <a:endParaRPr lang="en-US" altLang="zh-CN" b="1" dirty="0"/>
          </a:p>
          <a:p>
            <a:r>
              <a:rPr lang="zh-CN" altLang="en-US" b="1" dirty="0"/>
              <a:t>监控主要是监控偏差，</a:t>
            </a:r>
            <a:r>
              <a:rPr lang="en-US" altLang="zh-CN" b="1" dirty="0"/>
              <a:t>9</a:t>
            </a:r>
            <a:r>
              <a:rPr lang="zh-CN" altLang="en-US" b="1" dirty="0"/>
              <a:t>个方面都需要监控，对整个过程中监测到偏差时，及时处置。</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需要注意：</a:t>
            </a:r>
            <a:r>
              <a:rPr lang="en-US" altLang="zh-CN" b="1" dirty="0"/>
              <a:t>4</a:t>
            </a:r>
            <a:r>
              <a:rPr lang="zh-CN" altLang="en-US" b="1" dirty="0"/>
              <a:t>大过程在时间有先后（可有部分重叠），但监控过程组是贯穿在</a:t>
            </a:r>
            <a:r>
              <a:rPr lang="en-US" altLang="zh-CN" b="1" dirty="0"/>
              <a:t>4</a:t>
            </a:r>
            <a:r>
              <a:rPr lang="zh-CN" altLang="en-US" b="1" dirty="0"/>
              <a:t>大过程组中的，全程监控，确保项目总是在可控状态。</a:t>
            </a:r>
            <a:endParaRPr lang="en-US" altLang="zh-CN" b="1" dirty="0"/>
          </a:p>
          <a:p>
            <a:endParaRPr lang="zh-CN" altLang="en-US" dirty="0"/>
          </a:p>
        </p:txBody>
      </p:sp>
      <p:sp>
        <p:nvSpPr>
          <p:cNvPr id="119812" name="灯片编号占位符 3">
            <a:extLst>
              <a:ext uri="{FF2B5EF4-FFF2-40B4-BE49-F238E27FC236}">
                <a16:creationId xmlns:a16="http://schemas.microsoft.com/office/drawing/2014/main" id="{9456BD81-2A44-4933-9DD6-4E287CF315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BF5B41F-5F26-4B3E-ADEC-712B55B9CADF}" type="slidenum">
              <a:rPr lang="zh-CN" altLang="en-US" smtClean="0"/>
              <a:pPr/>
              <a:t>53</a:t>
            </a:fld>
            <a:endParaRPr lang="zh-CN" altLang="en-US"/>
          </a:p>
        </p:txBody>
      </p:sp>
    </p:spTree>
    <p:extLst>
      <p:ext uri="{BB962C8B-B14F-4D97-AF65-F5344CB8AC3E}">
        <p14:creationId xmlns:p14="http://schemas.microsoft.com/office/powerpoint/2010/main" val="670398559"/>
      </p:ext>
    </p:extLst>
  </p:cSld>
  <p:clrMapOvr>
    <a:masterClrMapping/>
  </p:clrMapOvr>
</p:notes>
</file>

<file path=ppt/notesSlides/notesSlide7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itchFamily="2" charset="2"/>
              <a:buNone/>
              <a:defRPr/>
            </a:pPr>
            <a:r>
              <a:rPr lang="zh-CN" altLang="en-US" sz="1200" b="1" dirty="0">
                <a:latin typeface="微软雅黑" panose="020B0503020204020204" pitchFamily="34" charset="-122"/>
                <a:ea typeface="微软雅黑" panose="020B0503020204020204" pitchFamily="34" charset="-122"/>
                <a:cs typeface="Times New Roman" pitchFamily="18" charset="0"/>
              </a:rPr>
              <a:t>项目范围管理的内容</a:t>
            </a:r>
            <a:endParaRPr lang="en-US" altLang="zh-CN" sz="1200" b="1"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过程主要包括规划项目范围、收集项目需求、界定项目范围、创建</a:t>
            </a:r>
            <a:r>
              <a:rPr lang="en-US" altLang="en-US"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、核实项目范围和控制项目范围变更六方面的内容</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以前还包括“项目起始决策”，现在“项目起始决策”不再作为项目管理的子过程，是项目启动前的过程。项目管理界定为从项目启动开始。</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en-US" altLang="zh-CN"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：工作分解结构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1664720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IT</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anose="02010609060101010101"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anose="02010609060101010101" pitchFamily="2" charset="-122"/>
              </a:rPr>
              <a:t>2024年5月28日星期二</a:t>
            </a:fld>
            <a:endParaRPr lang="en-US" altLang="zh-CN" sz="1800" dirty="0">
              <a:solidFill>
                <a:srgbClr val="333333"/>
              </a:solidFill>
              <a:effectLst>
                <a:outerShdw blurRad="38100" dist="38100" dir="2700000" algn="tl">
                  <a:srgbClr val="C0C0C0"/>
                </a:outerShdw>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609600" y="1433016"/>
            <a:ext cx="10972800" cy="4831306"/>
          </a:xfrm>
          <a:prstGeom prst="rect">
            <a:avLst/>
          </a:prstGeom>
        </p:spPr>
        <p:txBody>
          <a:bodyPr/>
          <a:lstStyle>
            <a:lvl1pPr marL="266700" indent="-266700">
              <a:lnSpc>
                <a:spcPct val="150000"/>
              </a:lnSpc>
              <a:spcBef>
                <a:spcPts val="720"/>
              </a:spcBef>
              <a:spcAft>
                <a:spcPts val="240"/>
              </a:spcAft>
              <a:buFont typeface="Wingdings" panose="05000000000000000000" pitchFamily="2" charset="2"/>
              <a:buChar char=""/>
              <a:defRPr sz="2000" b="1" baseline="0">
                <a:solidFill>
                  <a:srgbClr val="333333"/>
                </a:solidFill>
                <a:latin typeface="Georgia" panose="02040502050405020303" pitchFamily="18" charset="0"/>
                <a:ea typeface="微软雅黑" panose="020B0503020204020204" pitchFamily="34" charset="-122"/>
              </a:defRPr>
            </a:lvl1pPr>
            <a:lvl2pPr marL="713105" indent="-269875">
              <a:lnSpc>
                <a:spcPct val="150000"/>
              </a:lnSpc>
              <a:spcBef>
                <a:spcPts val="35"/>
              </a:spcBef>
              <a:spcAft>
                <a:spcPts val="10"/>
              </a:spcAft>
              <a:defRPr sz="1800" b="1" baseline="0">
                <a:solidFill>
                  <a:srgbClr val="333333"/>
                </a:solidFill>
                <a:latin typeface="Georgia" panose="02040502050405020303" pitchFamily="18" charset="0"/>
                <a:ea typeface="微软雅黑" panose="020B0503020204020204" pitchFamily="34" charset="-122"/>
              </a:defRPr>
            </a:lvl2pPr>
            <a:lvl3pPr marL="1072515" indent="-176530">
              <a:lnSpc>
                <a:spcPct val="150000"/>
              </a:lnSpc>
              <a:spcBef>
                <a:spcPts val="35"/>
              </a:spcBef>
              <a:spcAft>
                <a:spcPts val="10"/>
              </a:spcAft>
              <a:defRPr sz="1600" b="1" baseline="0">
                <a:solidFill>
                  <a:srgbClr val="333333"/>
                </a:solidFill>
                <a:latin typeface="Georgia" panose="02040502050405020303" pitchFamily="18" charset="0"/>
                <a:ea typeface="微软雅黑" panose="020B0503020204020204" pitchFamily="34" charset="-122"/>
              </a:defRPr>
            </a:lvl3pPr>
            <a:lvl4pPr marL="1440180" indent="-187325">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4pPr>
            <a:lvl5pPr>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endParaRPr lang="en-US" altLang="zh-CN" dirty="0"/>
          </a:p>
          <a:p>
            <a:pPr lvl="2"/>
            <a:endParaRPr lang="en-US" altLang="zh-CN" dirty="0"/>
          </a:p>
          <a:p>
            <a:pPr lvl="3"/>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08000" y="1"/>
            <a:ext cx="55880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762000"/>
            <a:ext cx="10972800" cy="5410200"/>
          </a:xfrm>
        </p:spPr>
        <p:txBody>
          <a:bodyPr/>
          <a:lstStyle/>
          <a:p>
            <a:pPr lvl="0"/>
            <a:endParaRPr lang="zh-CN" altLang="en-US" noProof="0"/>
          </a:p>
        </p:txBody>
      </p:sp>
      <p:sp>
        <p:nvSpPr>
          <p:cNvPr id="4" name="Rectangle 4">
            <a:extLst>
              <a:ext uri="{FF2B5EF4-FFF2-40B4-BE49-F238E27FC236}">
                <a16:creationId xmlns:a16="http://schemas.microsoft.com/office/drawing/2014/main" id="{3EB1A548-586E-41A6-9BB4-69A483EA1C32}"/>
              </a:ext>
            </a:extLst>
          </p:cNvPr>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a:extLst>
              <a:ext uri="{FF2B5EF4-FFF2-40B4-BE49-F238E27FC236}">
                <a16:creationId xmlns:a16="http://schemas.microsoft.com/office/drawing/2014/main" id="{3B3D6D6B-9F27-4C7A-BD83-11725AD89456}"/>
              </a:ext>
            </a:extLst>
          </p:cNvPr>
          <p:cNvSpPr>
            <a:spLocks noGrp="1" noChangeArrowheads="1"/>
          </p:cNvSpPr>
          <p:nvPr>
            <p:ph type="ftr" sz="quarter" idx="11"/>
          </p:nvPr>
        </p:nvSpPr>
        <p:spPr>
          <a:ln/>
        </p:spPr>
        <p:txBody>
          <a:bodyPr/>
          <a:lstStyle>
            <a:lvl1pPr>
              <a:defRPr/>
            </a:lvl1pPr>
          </a:lstStyle>
          <a:p>
            <a:pPr>
              <a:defRPr/>
            </a:pPr>
            <a:r>
              <a:rPr lang="zh-CN" altLang="en-US"/>
              <a:t>吴永达</a:t>
            </a:r>
          </a:p>
        </p:txBody>
      </p:sp>
      <p:sp>
        <p:nvSpPr>
          <p:cNvPr id="6" name="Rectangle 6">
            <a:extLst>
              <a:ext uri="{FF2B5EF4-FFF2-40B4-BE49-F238E27FC236}">
                <a16:creationId xmlns:a16="http://schemas.microsoft.com/office/drawing/2014/main" id="{B242B5D0-EBB8-4E6E-8025-A7657396572B}"/>
              </a:ext>
            </a:extLst>
          </p:cNvPr>
          <p:cNvSpPr>
            <a:spLocks noGrp="1" noChangeArrowheads="1"/>
          </p:cNvSpPr>
          <p:nvPr>
            <p:ph type="sldNum" sz="quarter" idx="12"/>
          </p:nvPr>
        </p:nvSpPr>
        <p:spPr>
          <a:ln/>
        </p:spPr>
        <p:txBody>
          <a:bodyPr/>
          <a:lstStyle>
            <a:lvl1pPr>
              <a:defRPr/>
            </a:lvl1pPr>
          </a:lstStyle>
          <a:p>
            <a:pPr>
              <a:defRPr/>
            </a:pPr>
            <a:fld id="{4DE6BCAE-332D-4E41-A23A-BC5514096C65}" type="slidenum">
              <a:rPr lang="en-US" altLang="zh-CN"/>
              <a:pPr>
                <a:defRPr/>
              </a:pPr>
              <a:t>‹#›</a:t>
            </a:fld>
            <a:endParaRPr lang="en-US" altLang="zh-CN"/>
          </a:p>
        </p:txBody>
      </p:sp>
    </p:spTree>
    <p:extLst>
      <p:ext uri="{BB962C8B-B14F-4D97-AF65-F5344CB8AC3E}">
        <p14:creationId xmlns:p14="http://schemas.microsoft.com/office/powerpoint/2010/main" val="2121632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tanghm@zju.edu.cn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2022年5月29日星期日</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2165980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1.GIF"/><Relationship Id="rId2" Type="http://schemas.openxmlformats.org/officeDocument/2006/relationships/slideLayout" Target="../slideLayouts/slideLayout20.xml"/><Relationship Id="rId1" Type="http://schemas.openxmlformats.org/officeDocument/2006/relationships/slideLayout" Target="../slideLayouts/slideLayout10.xml"/><Relationship Id="rId6" Type="http://schemas.openxmlformats.org/officeDocument/2006/relationships/theme" Target="../theme/theme10.xml"/><Relationship Id="rId5" Type="http://schemas.openxmlformats.org/officeDocument/2006/relationships/slideLayout" Target="../slideLayouts/slideLayout5.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anose="020B0503020204020204" pitchFamily="34" charset="-122"/>
                <a:ea typeface="微软雅黑" panose="020B0503020204020204" pitchFamily="34" charset="-122"/>
                <a:cs typeface="+mn-cs"/>
              </a:rPr>
              <a:t>85120190  IT</a:t>
            </a:r>
            <a:r>
              <a:rPr lang="zh-CN" altLang="en-US" sz="1200" kern="1200" dirty="0">
                <a:solidFill>
                  <a:schemeClr val="accent1">
                    <a:lumMod val="50000"/>
                  </a:schemeClr>
                </a:solidFill>
                <a:latin typeface="微软雅黑" panose="020B0503020204020204" pitchFamily="34" charset="-122"/>
                <a:ea typeface="微软雅黑" panose="020B0503020204020204" pitchFamily="34" charset="-122"/>
                <a:cs typeface="+mn-cs"/>
              </a:rPr>
              <a:t>工程伦理和项目管理</a:t>
            </a:r>
            <a:endParaRPr lang="zh-CN" altLang="en-US" sz="12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ln>
          <a:effec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anose="03060802040406070304" pitchFamily="66" charset="0"/>
                <a:ea typeface="黑体" panose="02010609060101010101" pitchFamily="2" charset="-122"/>
              </a:rPr>
              <a:t>‹#›</a:t>
            </a:fld>
            <a:endParaRPr lang="en-US" altLang="zh-CN" sz="1600" b="0" dirty="0">
              <a:solidFill>
                <a:schemeClr val="accent1">
                  <a:lumMod val="50000"/>
                </a:schemeClr>
              </a:solidFill>
              <a:latin typeface="Brush Script MT" panose="03060802040406070304" pitchFamily="66" charset="0"/>
              <a:ea typeface="黑体" panose="02010609060101010101"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6" cstate="print"/>
          <a:stretch>
            <a:fillRect/>
          </a:stretch>
        </p:blipFill>
        <p:spPr>
          <a:xfrm>
            <a:off x="730855" y="266758"/>
            <a:ext cx="1271641" cy="304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itchFamily="34" charset="-122"/>
                <a:ea typeface="微软雅黑" pitchFamily="34" charset="-122"/>
                <a:cs typeface="+mn-cs"/>
              </a:rPr>
              <a:t>85120190  IT</a:t>
            </a:r>
            <a:r>
              <a:rPr lang="zh-CN" altLang="en-US" sz="1200" kern="1200" dirty="0">
                <a:solidFill>
                  <a:schemeClr val="accent1">
                    <a:lumMod val="50000"/>
                  </a:schemeClr>
                </a:solidFill>
                <a:latin typeface="微软雅黑" pitchFamily="34" charset="-122"/>
                <a:ea typeface="微软雅黑" pitchFamily="34" charset="-122"/>
                <a:cs typeface="+mn-cs"/>
              </a:rPr>
              <a:t>工程伦理和项目管理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itchFamily="66" charset="0"/>
                <a:ea typeface="黑体" pitchFamily="2" charset="-122"/>
              </a:rP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66758"/>
            <a:ext cx="1271641" cy="304800"/>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5" r:id="rId4"/>
    <p:sldLayoutId id="2147483658"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4.jpe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slide" Target="slide530.xml"/></Relationships>
</file>

<file path=ppt/slides/_rels/slide31.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4.jpeg"/><Relationship Id="rId7"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8.jpeg"/><Relationship Id="rId5" Type="http://schemas.openxmlformats.org/officeDocument/2006/relationships/image" Target="../media/image2.jpeg"/><Relationship Id="rId10" Type="http://schemas.openxmlformats.org/officeDocument/2006/relationships/image" Target="../media/image10.jpeg"/><Relationship Id="rId4" Type="http://schemas.openxmlformats.org/officeDocument/2006/relationships/image" Target="../media/image3.jpeg"/><Relationship Id="rId9" Type="http://schemas.openxmlformats.org/officeDocument/2006/relationships/image" Target="../media/image9.jpe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28.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oleObject" Target="../embeddings/oleObject4.bin"/><Relationship Id="rId4" Type="http://schemas.openxmlformats.org/officeDocument/2006/relationships/image" Target="../media/image38.wmf"/></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45.emf"/><Relationship Id="rId4" Type="http://schemas.openxmlformats.org/officeDocument/2006/relationships/oleObject" Target="../embeddings/oleObject6.bin"/></Relationships>
</file>

<file path=ppt/slides/_rels/slide94.xml.rels><?xml version="1.0" encoding="UTF-8" standalone="yes"?>
<Relationships xmlns="http://schemas.openxmlformats.org/package/2006/relationships"><Relationship Id="rId8" Type="http://schemas.openxmlformats.org/officeDocument/2006/relationships/slide" Target="slide390.xml"/><Relationship Id="rId3" Type="http://schemas.openxmlformats.org/officeDocument/2006/relationships/image" Target="../media/image46.e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emf"/><Relationship Id="rId4" Type="http://schemas.openxmlformats.org/officeDocument/2006/relationships/oleObject" Target="../embeddings/oleObject8.bin"/><Relationship Id="rId9" Type="http://schemas.openxmlformats.org/officeDocument/2006/relationships/image" Target="../media/image28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microsoft.com/office/2007/relationships/hdphoto" Target="../media/hdphoto1.wdp"/></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310.png"/><Relationship Id="rId4" Type="http://schemas.openxmlformats.org/officeDocument/2006/relationships/slide" Target="slide910.xml"/></Relationships>
</file>

<file path=ppt/slides/_rels/slide10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slide" Target="slide510.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55.emf"/><Relationship Id="rId1" Type="http://schemas.openxmlformats.org/officeDocument/2006/relationships/slideLayout" Target="../slideLayouts/slideLayout2.xml"/><Relationship Id="rId4" Type="http://schemas.openxmlformats.org/officeDocument/2006/relationships/image" Target="../media/image56.emf"/></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www.enet.com.cn/article/2008/1024/A20081024378049.shtml" TargetMode="External"/><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0.xml"/><Relationship Id="rId1" Type="http://schemas.openxmlformats.org/officeDocument/2006/relationships/slideLayout" Target="../slideLayouts/slideLayout20.xml"/></Relationships>
</file>

<file path=ppt/slides/_rels/slide510.xml.rels><?xml version="1.0" encoding="UTF-8" standalone="yes"?>
<Relationships xmlns="http://schemas.openxmlformats.org/package/2006/relationships"><Relationship Id="rId2" Type="http://schemas.openxmlformats.org/officeDocument/2006/relationships/notesSlide" Target="../notesSlides/notesSlide310.xml"/><Relationship Id="rId1" Type="http://schemas.openxmlformats.org/officeDocument/2006/relationships/slideLayout" Target="../slideLayouts/slideLayout20.xml"/></Relationships>
</file>

<file path=ppt/slides/_rels/slide530.xml.rels><?xml version="1.0" encoding="UTF-8" standalone="yes"?>
<Relationships xmlns="http://schemas.openxmlformats.org/package/2006/relationships"><Relationship Id="rId2" Type="http://schemas.openxmlformats.org/officeDocument/2006/relationships/notesSlide" Target="../notesSlides/notesSlide520.xml"/><Relationship Id="rId1" Type="http://schemas.openxmlformats.org/officeDocument/2006/relationships/slideLayout" Target="../slideLayouts/slideLayout3.xml"/></Relationships>
</file>

<file path=ppt/slides/_rels/slide9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1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 </a:t>
            </a:r>
            <a:r>
              <a:rPr lang="zh-CN" altLang="en-US" dirty="0"/>
              <a:t>工程伦理和项目管理</a:t>
            </a:r>
          </a:p>
        </p:txBody>
      </p:sp>
      <p:sp>
        <p:nvSpPr>
          <p:cNvPr id="6" name="副标题 5"/>
          <p:cNvSpPr>
            <a:spLocks noGrp="1"/>
          </p:cNvSpPr>
          <p:nvPr>
            <p:ph type="subTitle" idx="1"/>
          </p:nvPr>
        </p:nvSpPr>
        <p:spPr/>
        <p:txBody>
          <a:bodyPr>
            <a:normAutofit/>
          </a:bodyPr>
          <a:lstStyle/>
          <a:p>
            <a:r>
              <a:rPr lang="en-US" altLang="zh-CN" sz="2800" dirty="0"/>
              <a:t>-- IT</a:t>
            </a:r>
            <a:r>
              <a:rPr lang="zh-CN" altLang="en-US" sz="2800" dirty="0"/>
              <a:t>项目管理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283678" y="1718072"/>
            <a:ext cx="296007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10</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0" name="内容占位符 2">
            <a:extLst>
              <a:ext uri="{FF2B5EF4-FFF2-40B4-BE49-F238E27FC236}">
                <a16:creationId xmlns:a16="http://schemas.microsoft.com/office/drawing/2014/main" id="{500B68C3-FD4E-4235-9A45-F1C5DEA27540}"/>
              </a:ext>
            </a:extLst>
          </p:cNvPr>
          <p:cNvSpPr txBox="1">
            <a:spLocks/>
          </p:cNvSpPr>
          <p:nvPr/>
        </p:nvSpPr>
        <p:spPr>
          <a:xfrm>
            <a:off x="6271687" y="524106"/>
            <a:ext cx="4636636" cy="61913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solidFill>
                  <a:srgbClr val="00B0F0"/>
                </a:solidFill>
                <a:latin typeface="Impact" panose="020B0806030902050204" pitchFamily="34" charset="0"/>
                <a:sym typeface="Impact" panose="020B0806030902050204" pitchFamily="34" charset="0"/>
              </a:rPr>
              <a:t>10 </a:t>
            </a:r>
            <a:r>
              <a:rPr lang="zh-CN" altLang="en-US" sz="2800" dirty="0">
                <a:solidFill>
                  <a:srgbClr val="00B0F0"/>
                </a:solidFill>
                <a:latin typeface="Impact" panose="020B0806030902050204" pitchFamily="34" charset="0"/>
                <a:sym typeface="Impact" panose="020B0806030902050204" pitchFamily="34" charset="0"/>
              </a:rPr>
              <a:t>项目整合管理</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latin typeface="Impact" panose="020B0806030902050204" pitchFamily="34" charset="0"/>
                <a:sym typeface="微软雅黑" panose="020B0503020204020204" pitchFamily="34" charset="-122"/>
              </a:rPr>
              <a:t>10.1   </a:t>
            </a:r>
            <a:r>
              <a:rPr lang="zh-CN" altLang="en-US" sz="2400" dirty="0">
                <a:latin typeface="Impact" panose="020B0806030902050204" pitchFamily="34" charset="0"/>
                <a:sym typeface="微软雅黑" panose="020B0503020204020204" pitchFamily="34" charset="-122"/>
              </a:rPr>
              <a:t>什么是项目整合管理</a:t>
            </a:r>
            <a:endParaRPr lang="en-US" altLang="zh-CN" sz="2400" dirty="0">
              <a:latin typeface="Impact" panose="020B0806030902050204" pitchFamily="34" charset="0"/>
              <a:sym typeface="微软雅黑" panose="020B0503020204020204" pitchFamily="34" charset="-122"/>
            </a:endParaRPr>
          </a:p>
          <a:p>
            <a:pPr marL="400050" lvl="1" indent="0">
              <a:buNone/>
            </a:pPr>
            <a:r>
              <a:rPr lang="en-US" altLang="zh-CN" sz="2400" dirty="0">
                <a:latin typeface="Impact" panose="020B0806030902050204" pitchFamily="34" charset="0"/>
                <a:sym typeface="微软雅黑" panose="020B0503020204020204" pitchFamily="34" charset="-122"/>
              </a:rPr>
              <a:t>10.2  </a:t>
            </a:r>
            <a:r>
              <a:rPr lang="zh-CN" altLang="en-US" sz="2400" dirty="0">
                <a:latin typeface="Impact" panose="020B0806030902050204" pitchFamily="34" charset="0"/>
                <a:sym typeface="微软雅黑" panose="020B0503020204020204" pitchFamily="34" charset="-122"/>
              </a:rPr>
              <a:t>制定项目章程</a:t>
            </a: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10.3  </a:t>
            </a:r>
            <a:r>
              <a:rPr lang="zh-CN" altLang="en-US" sz="2400" dirty="0">
                <a:solidFill>
                  <a:srgbClr val="00B0F0"/>
                </a:solidFill>
                <a:latin typeface="Impact" panose="020B0806030902050204" pitchFamily="34" charset="0"/>
                <a:sym typeface="微软雅黑" panose="020B0503020204020204" pitchFamily="34" charset="-122"/>
              </a:rPr>
              <a:t>制定项目管理计划</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10.4  </a:t>
            </a:r>
            <a:r>
              <a:rPr lang="zh-CN" altLang="en-US" sz="2400" dirty="0">
                <a:solidFill>
                  <a:srgbClr val="00B0F0"/>
                </a:solidFill>
                <a:latin typeface="Impact" panose="020B0806030902050204" pitchFamily="34" charset="0"/>
                <a:sym typeface="微软雅黑" panose="020B0503020204020204" pitchFamily="34" charset="-122"/>
              </a:rPr>
              <a:t>指导与管理项目工作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10.5  </a:t>
            </a:r>
            <a:r>
              <a:rPr lang="zh-CN" altLang="en-US" sz="2400" dirty="0">
                <a:solidFill>
                  <a:srgbClr val="00B0F0"/>
                </a:solidFill>
                <a:latin typeface="Impact" panose="020B0806030902050204" pitchFamily="34" charset="0"/>
                <a:sym typeface="微软雅黑" panose="020B0503020204020204" pitchFamily="34" charset="-122"/>
              </a:rPr>
              <a:t>管理项目知识</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10.6  </a:t>
            </a:r>
            <a:r>
              <a:rPr lang="zh-CN" altLang="en-US" sz="2400" dirty="0">
                <a:solidFill>
                  <a:srgbClr val="00B0F0"/>
                </a:solidFill>
                <a:latin typeface="Impact" panose="020B0806030902050204" pitchFamily="34" charset="0"/>
                <a:sym typeface="微软雅黑" panose="020B0503020204020204" pitchFamily="34" charset="-122"/>
              </a:rPr>
              <a:t>监控项目工作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10.7  </a:t>
            </a:r>
            <a:r>
              <a:rPr lang="zh-CN" altLang="en-US" sz="2400" dirty="0">
                <a:solidFill>
                  <a:srgbClr val="00B0F0"/>
                </a:solidFill>
                <a:latin typeface="Impact" panose="020B0806030902050204" pitchFamily="34" charset="0"/>
                <a:sym typeface="微软雅黑" panose="020B0503020204020204" pitchFamily="34" charset="-122"/>
              </a:rPr>
              <a:t>实施整体变更控制</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10.8  </a:t>
            </a:r>
            <a:r>
              <a:rPr lang="zh-CN" altLang="en-US" sz="2400" dirty="0">
                <a:solidFill>
                  <a:srgbClr val="00B0F0"/>
                </a:solidFill>
                <a:latin typeface="Impact" panose="020B0806030902050204" pitchFamily="34" charset="0"/>
                <a:sym typeface="微软雅黑" panose="020B0503020204020204" pitchFamily="34" charset="-122"/>
              </a:rPr>
              <a:t>结束项目或阶段</a:t>
            </a:r>
            <a:endParaRPr lang="zh-CN" altLang="zh-CN" sz="2400" dirty="0">
              <a:solidFill>
                <a:srgbClr val="00B0F0"/>
              </a:solidFill>
              <a:latin typeface="Impact" panose="020B0806030902050204" pitchFamily="34" charset="0"/>
              <a:sym typeface="微软雅黑" panose="020B0503020204020204" pitchFamily="34" charset="-122"/>
            </a:endParaRPr>
          </a:p>
          <a:p>
            <a:pPr marL="0" indent="0">
              <a:buNone/>
            </a:pPr>
            <a:r>
              <a:rPr lang="en-US" altLang="zh-CN" sz="2800" dirty="0">
                <a:latin typeface="Impact" pitchFamily="34" charset="0"/>
                <a:ea typeface="微软雅黑" pitchFamily="34" charset="-122"/>
                <a:sym typeface="Impact" pitchFamily="34" charset="0"/>
              </a:rPr>
              <a:t>11   </a:t>
            </a:r>
            <a:r>
              <a:rPr lang="zh-CN" altLang="en-US" sz="2800" dirty="0">
                <a:latin typeface="Impact" pitchFamily="34" charset="0"/>
                <a:ea typeface="微软雅黑" pitchFamily="34" charset="-122"/>
                <a:sym typeface="Impact" pitchFamily="34" charset="0"/>
              </a:rPr>
              <a:t>项目范围管理</a:t>
            </a:r>
          </a:p>
          <a:p>
            <a:pPr marL="0" indent="0">
              <a:buNone/>
            </a:pPr>
            <a:r>
              <a:rPr lang="en-US" altLang="zh-CN" sz="2800" dirty="0">
                <a:solidFill>
                  <a:srgbClr val="3E3D4F"/>
                </a:solidFill>
                <a:latin typeface="Impact" panose="020B0806030902050204" pitchFamily="34" charset="0"/>
                <a:sym typeface="Impact" panose="020B0806030902050204" pitchFamily="34" charset="0"/>
              </a:rPr>
              <a:t>■■</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扩展阅读</a:t>
            </a:r>
            <a:r>
              <a:rPr lang="zh-CN" altLang="en-US" sz="2800" dirty="0">
                <a:solidFill>
                  <a:srgbClr val="3E3D4F"/>
                </a:solidFill>
                <a:latin typeface="Impact" panose="020B0806030902050204" pitchFamily="34" charset="0"/>
              </a:rPr>
              <a:t> </a:t>
            </a:r>
            <a:endParaRPr lang="en-US" sz="2800" dirty="0">
              <a:solidFill>
                <a:srgbClr val="3E3D4F"/>
              </a:solidFill>
              <a:latin typeface="Impact" panose="020B0806030902050204" pitchFamily="34" charset="0"/>
            </a:endParaRPr>
          </a:p>
          <a:p>
            <a:endParaRPr kumimoji="1" lang="zh-CN" altLang="en-US" sz="3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p:cNvSpPr txBox="1"/>
          <p:nvPr/>
        </p:nvSpPr>
        <p:spPr>
          <a:xfrm>
            <a:off x="375174" y="2112895"/>
            <a:ext cx="11133426" cy="452449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r>
              <a:rPr lang="zh-CN" altLang="en-US" sz="2400" b="1" dirty="0">
                <a:latin typeface="SourceHanSansSC-Regular"/>
              </a:rPr>
              <a:t>项目管理计划</a:t>
            </a:r>
            <a:endParaRPr lang="en-US" altLang="zh-CN" sz="2400" b="1" dirty="0">
              <a:latin typeface="SourceHanSansSC-Regular"/>
            </a:endParaRPr>
          </a:p>
          <a:p>
            <a:pPr lvl="1"/>
            <a:r>
              <a:rPr lang="zh-CN" altLang="en-US" sz="2000" b="1" kern="0" dirty="0">
                <a:latin typeface="微软雅黑" panose="020B0503020204020204" pitchFamily="34" charset="-122"/>
                <a:ea typeface="微软雅黑" panose="020B0503020204020204" pitchFamily="34" charset="-122"/>
              </a:rPr>
              <a:t>根据项目各种限制因素与假设条件和各项目干系人要求以及项目各专项计划的限制编制的，用于管理所有项目计划文档，并帮助指导和控制的一种文件</a:t>
            </a:r>
            <a:endParaRPr lang="en-US" altLang="zh-CN" sz="2000" b="1" kern="0" dirty="0">
              <a:latin typeface="微软雅黑" panose="020B0503020204020204" pitchFamily="34" charset="-122"/>
              <a:ea typeface="微软雅黑" panose="020B0503020204020204" pitchFamily="34" charset="-122"/>
            </a:endParaRPr>
          </a:p>
          <a:p>
            <a:pPr lvl="1"/>
            <a:r>
              <a:rPr lang="zh-CN" altLang="en-US" sz="2000" b="1" kern="0" dirty="0">
                <a:latin typeface="微软雅黑" panose="020B0503020204020204" pitchFamily="34" charset="-122"/>
                <a:ea typeface="微软雅黑" panose="020B0503020204020204" pitchFamily="34" charset="-122"/>
              </a:rPr>
              <a:t>其它知识领域所创建的计划可以认为是整个项目管理计划的补充部分</a:t>
            </a:r>
            <a:endParaRPr lang="en-US" altLang="zh-CN" sz="2000" b="1" kern="0" dirty="0">
              <a:latin typeface="微软雅黑" panose="020B0503020204020204" pitchFamily="34" charset="-122"/>
              <a:ea typeface="微软雅黑" panose="020B0503020204020204" pitchFamily="34" charset="-122"/>
            </a:endParaRPr>
          </a:p>
          <a:p>
            <a:r>
              <a:rPr lang="zh-CN" altLang="en-US" sz="2400" b="1" dirty="0">
                <a:latin typeface="SourceHanSansSC-Regular"/>
              </a:rPr>
              <a:t>编制要点</a:t>
            </a:r>
            <a:endParaRPr lang="en-US" altLang="zh-CN" sz="2400" b="1" dirty="0">
              <a:latin typeface="SourceHanSansSC-Regular"/>
            </a:endParaRP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要汇总、协调所有其他分项计划，是指导项目执行的重要内容</a:t>
            </a: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具有动态性、灵活性、严肃性</a:t>
            </a:r>
            <a:endParaRPr lang="en-US" altLang="zh-CN" sz="2000" b="1"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 客户的参与、上级的参与</a:t>
            </a:r>
          </a:p>
          <a:p>
            <a:pPr>
              <a:lnSpc>
                <a:spcPct val="100000"/>
              </a:lnSpc>
              <a:spcBef>
                <a:spcPts val="600"/>
              </a:spcBef>
              <a:spcAft>
                <a:spcPts val="600"/>
              </a:spcAft>
            </a:pPr>
            <a:r>
              <a:rPr lang="zh-CN" altLang="en-US" sz="2400" b="1" dirty="0">
                <a:latin typeface="SourceHanSansSC-Regular"/>
              </a:rPr>
              <a:t>项目计划书的拟制、批准</a:t>
            </a: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 总体描述、任务目标、关键技术、实施路线、人员组织与分工、进度计划、质量计划、成本预算、风险管理、提交成果</a:t>
            </a:r>
          </a:p>
          <a:p>
            <a:pPr marL="0" lvl="2" indent="-67945" defTabSz="449580">
              <a:lnSpc>
                <a:spcPct val="120000"/>
              </a:lnSpc>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
        <p:nvSpPr>
          <p:cNvPr id="4" name="Rectangle 3"/>
          <p:cNvSpPr txBox="1">
            <a:spLocks noChangeArrowheads="1"/>
          </p:cNvSpPr>
          <p:nvPr/>
        </p:nvSpPr>
        <p:spPr>
          <a:xfrm>
            <a:off x="853311" y="6859132"/>
            <a:ext cx="10177153" cy="261432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pPr>
            <a:endParaRPr lang="zh-CN" altLang="en-US" sz="2000" kern="0" dirty="0">
              <a:latin typeface="微软雅黑" panose="020B0503020204020204" pitchFamily="34" charset="-122"/>
              <a:ea typeface="微软雅黑" panose="020B0503020204020204" pitchFamily="34" charset="-122"/>
            </a:endParaRPr>
          </a:p>
        </p:txBody>
      </p:sp>
      <p:sp>
        <p:nvSpPr>
          <p:cNvPr id="5" name="内容占位符 2">
            <a:extLst>
              <a:ext uri="{FF2B5EF4-FFF2-40B4-BE49-F238E27FC236}">
                <a16:creationId xmlns:a16="http://schemas.microsoft.com/office/drawing/2014/main" id="{47F6C61D-8338-407B-9F06-D555145B83BF}"/>
              </a:ext>
            </a:extLst>
          </p:cNvPr>
          <p:cNvSpPr txBox="1">
            <a:spLocks noChangeArrowheads="1"/>
          </p:cNvSpPr>
          <p:nvPr/>
        </p:nvSpPr>
        <p:spPr>
          <a:xfrm>
            <a:off x="533572" y="1304316"/>
            <a:ext cx="10972800" cy="95488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制定项目管理计划：</a:t>
            </a:r>
            <a:r>
              <a:rPr lang="zh-CN" altLang="en-US" kern="0" dirty="0">
                <a:latin typeface="微软雅黑" panose="020B0503020204020204" pitchFamily="34" charset="-122"/>
                <a:ea typeface="微软雅黑" panose="020B0503020204020204" pitchFamily="34" charset="-122"/>
              </a:rPr>
              <a:t>是定义、准备和协调项目计划的所有组成部分，并把它们整合为一份综合项目管理计划的过程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p:cNvSpPr txBox="1"/>
          <p:nvPr/>
        </p:nvSpPr>
        <p:spPr>
          <a:xfrm>
            <a:off x="588772" y="1248348"/>
            <a:ext cx="11133426" cy="374819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457200" lvl="3" indent="-457200" defTabSz="1252855">
              <a:lnSpc>
                <a:spcPct val="120000"/>
              </a:lnSpc>
              <a:defRPr/>
            </a:pPr>
            <a:r>
              <a:rPr lang="zh-CN" altLang="en-US" sz="2800" b="1" dirty="0">
                <a:latin typeface="SourceHanSansSC-Regular"/>
              </a:rPr>
              <a:t>项目管理计划的主要作用</a:t>
            </a:r>
            <a:endParaRPr lang="en-US" altLang="zh-CN" sz="2800" b="1" dirty="0">
              <a:latin typeface="SourceHanSansSC-Regular"/>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①</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指导项目的实施</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②</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开展项目的管理</a:t>
            </a:r>
            <a:r>
              <a:rPr lang="zh-CN" altLang="en-US" sz="2000" dirty="0">
                <a:latin typeface="微软雅黑" panose="020B0503020204020204" pitchFamily="34" charset="-122"/>
                <a:ea typeface="微软雅黑" panose="020B0503020204020204" pitchFamily="34" charset="-122"/>
              </a:rPr>
              <a:t>（明确项目目标与基本要求）</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③</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进行项目的监控</a:t>
            </a:r>
            <a:r>
              <a:rPr lang="zh-CN" altLang="en-US" sz="2000" dirty="0">
                <a:latin typeface="微软雅黑" panose="020B0503020204020204" pitchFamily="34" charset="-122"/>
                <a:ea typeface="微软雅黑" panose="020B0503020204020204" pitchFamily="34" charset="-122"/>
              </a:rPr>
              <a:t>（为管理者对进度、费用、质量目标评审提供依据）</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④</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干系人沟通的基础</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⑤</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记录项目决策和项目假设</a:t>
            </a:r>
            <a:r>
              <a:rPr lang="zh-CN" altLang="en-US" sz="2000" dirty="0">
                <a:latin typeface="微软雅黑" panose="020B0503020204020204" pitchFamily="34" charset="-122"/>
                <a:ea typeface="微软雅黑" panose="020B0503020204020204" pitchFamily="34" charset="-122"/>
              </a:rPr>
              <a:t>（为对项目进行控制、评估项目绩效提供标准）</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⑥</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激励项目团队士气的武器</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389255" lvl="3" indent="0" defTabSz="449580">
              <a:lnSpc>
                <a:spcPct val="120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8DD0283-4463-4D55-BC0E-CE24313C56C2}"/>
              </a:ext>
            </a:extLst>
          </p:cNvPr>
          <p:cNvGrpSpPr/>
          <p:nvPr/>
        </p:nvGrpSpPr>
        <p:grpSpPr>
          <a:xfrm>
            <a:off x="798286" y="508000"/>
            <a:ext cx="10638971" cy="6201002"/>
            <a:chOff x="1519238" y="0"/>
            <a:chExt cx="8996362" cy="6897688"/>
          </a:xfrm>
        </p:grpSpPr>
        <p:sp>
          <p:nvSpPr>
            <p:cNvPr id="146434" name="Oval 21">
              <a:extLst>
                <a:ext uri="{FF2B5EF4-FFF2-40B4-BE49-F238E27FC236}">
                  <a16:creationId xmlns:a16="http://schemas.microsoft.com/office/drawing/2014/main" id="{D9DB7019-4894-447C-8DEF-2C7B0C594C26}"/>
                </a:ext>
              </a:extLst>
            </p:cNvPr>
            <p:cNvSpPr>
              <a:spLocks noChangeArrowheads="1"/>
            </p:cNvSpPr>
            <p:nvPr/>
          </p:nvSpPr>
          <p:spPr bwMode="auto">
            <a:xfrm>
              <a:off x="4847107" y="2362200"/>
              <a:ext cx="2315693" cy="1881188"/>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35" name="AutoShape 19">
              <a:extLst>
                <a:ext uri="{FF2B5EF4-FFF2-40B4-BE49-F238E27FC236}">
                  <a16:creationId xmlns:a16="http://schemas.microsoft.com/office/drawing/2014/main" id="{EC714D7C-4B58-4CE4-BAC2-0E6EAD6C7A48}"/>
                </a:ext>
              </a:extLst>
            </p:cNvPr>
            <p:cNvSpPr>
              <a:spLocks noChangeArrowheads="1"/>
            </p:cNvSpPr>
            <p:nvPr/>
          </p:nvSpPr>
          <p:spPr bwMode="auto">
            <a:xfrm>
              <a:off x="4038600" y="0"/>
              <a:ext cx="3962400" cy="22860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36" name="AutoShape 12">
              <a:extLst>
                <a:ext uri="{FF2B5EF4-FFF2-40B4-BE49-F238E27FC236}">
                  <a16:creationId xmlns:a16="http://schemas.microsoft.com/office/drawing/2014/main" id="{97B084DC-6770-4FB6-A652-B77EA7E326CB}"/>
                </a:ext>
              </a:extLst>
            </p:cNvPr>
            <p:cNvSpPr>
              <a:spLocks noChangeArrowheads="1"/>
            </p:cNvSpPr>
            <p:nvPr/>
          </p:nvSpPr>
          <p:spPr bwMode="auto">
            <a:xfrm>
              <a:off x="1676400" y="457200"/>
              <a:ext cx="1524000" cy="2362200"/>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37" name="AutoShape 5">
              <a:extLst>
                <a:ext uri="{FF2B5EF4-FFF2-40B4-BE49-F238E27FC236}">
                  <a16:creationId xmlns:a16="http://schemas.microsoft.com/office/drawing/2014/main" id="{3E0C587C-A7B7-4754-B34A-C62910E3B29D}"/>
                </a:ext>
              </a:extLst>
            </p:cNvPr>
            <p:cNvSpPr>
              <a:spLocks noChangeArrowheads="1"/>
            </p:cNvSpPr>
            <p:nvPr/>
          </p:nvSpPr>
          <p:spPr bwMode="auto">
            <a:xfrm>
              <a:off x="5029200" y="2666999"/>
              <a:ext cx="1981200" cy="1219200"/>
            </a:xfrm>
            <a:prstGeom prst="roundRect">
              <a:avLst>
                <a:gd name="adj"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1200">
                <a:solidFill>
                  <a:srgbClr val="FF6600"/>
                </a:solidFill>
              </a:endParaRPr>
            </a:p>
          </p:txBody>
        </p:sp>
        <p:sp>
          <p:nvSpPr>
            <p:cNvPr id="9" name="Rectangle 2">
              <a:extLst>
                <a:ext uri="{FF2B5EF4-FFF2-40B4-BE49-F238E27FC236}">
                  <a16:creationId xmlns:a16="http://schemas.microsoft.com/office/drawing/2014/main" id="{C985B66C-7503-43B5-938E-84F3E7CDD129}"/>
                </a:ext>
              </a:extLst>
            </p:cNvPr>
            <p:cNvSpPr txBox="1">
              <a:spLocks noChangeArrowheads="1"/>
            </p:cNvSpPr>
            <p:nvPr/>
          </p:nvSpPr>
          <p:spPr bwMode="auto">
            <a:xfrm>
              <a:off x="1920875" y="68641"/>
              <a:ext cx="1774346" cy="381000"/>
            </a:xfrm>
            <a:prstGeom prst="rect">
              <a:avLst/>
            </a:prstGeom>
            <a:noFill/>
            <a:ln>
              <a:noFill/>
            </a:ln>
          </p:spPr>
          <p:txBody>
            <a:bodyPr anchor="ct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a:defRPr/>
              </a:pPr>
              <a:r>
                <a:rPr lang="zh-CN" altLang="en-US" sz="2000" kern="0" dirty="0">
                  <a:solidFill>
                    <a:srgbClr val="FF0000"/>
                  </a:solidFill>
                  <a:latin typeface="微软雅黑" panose="020B0503020204020204" pitchFamily="34" charset="-122"/>
                  <a:ea typeface="微软雅黑" panose="020B0503020204020204" pitchFamily="34" charset="-122"/>
                </a:rPr>
                <a:t>规划过程组</a:t>
              </a:r>
            </a:p>
          </p:txBody>
        </p:sp>
        <p:sp>
          <p:nvSpPr>
            <p:cNvPr id="146439" name="AutoShape 4">
              <a:extLst>
                <a:ext uri="{FF2B5EF4-FFF2-40B4-BE49-F238E27FC236}">
                  <a16:creationId xmlns:a16="http://schemas.microsoft.com/office/drawing/2014/main" id="{87897DE3-00AA-41BA-9CF5-0EB84BEB3E9D}"/>
                </a:ext>
              </a:extLst>
            </p:cNvPr>
            <p:cNvSpPr>
              <a:spLocks noChangeArrowheads="1"/>
            </p:cNvSpPr>
            <p:nvPr/>
          </p:nvSpPr>
          <p:spPr bwMode="auto">
            <a:xfrm>
              <a:off x="5181600" y="2971800"/>
              <a:ext cx="1676400" cy="6858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dirty="0">
                  <a:ea typeface="幼圆" charset="-122"/>
                </a:rPr>
                <a:t>4.2</a:t>
              </a:r>
            </a:p>
            <a:p>
              <a:pPr algn="ctr">
                <a:spcBef>
                  <a:spcPct val="0"/>
                </a:spcBef>
                <a:buFontTx/>
                <a:buNone/>
              </a:pPr>
              <a:r>
                <a:rPr lang="zh-CN" altLang="en-US" sz="1400" dirty="0">
                  <a:ea typeface="幼圆" charset="-122"/>
                </a:rPr>
                <a:t>制定项目管理计划</a:t>
              </a:r>
            </a:p>
          </p:txBody>
        </p:sp>
        <p:sp>
          <p:nvSpPr>
            <p:cNvPr id="146440" name="Text Box 6">
              <a:extLst>
                <a:ext uri="{FF2B5EF4-FFF2-40B4-BE49-F238E27FC236}">
                  <a16:creationId xmlns:a16="http://schemas.microsoft.com/office/drawing/2014/main" id="{0CCC794E-2EB8-4C09-BAB9-90DFB4324A00}"/>
                </a:ext>
              </a:extLst>
            </p:cNvPr>
            <p:cNvSpPr txBox="1">
              <a:spLocks noChangeArrowheads="1"/>
            </p:cNvSpPr>
            <p:nvPr/>
          </p:nvSpPr>
          <p:spPr bwMode="auto">
            <a:xfrm>
              <a:off x="5334000" y="263525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solidFill>
                    <a:schemeClr val="bg1"/>
                  </a:solidFill>
                </a:rPr>
                <a:t>项目整体管理</a:t>
              </a:r>
            </a:p>
          </p:txBody>
        </p:sp>
        <p:sp>
          <p:nvSpPr>
            <p:cNvPr id="12" name="AutoShape 7">
              <a:extLst>
                <a:ext uri="{FF2B5EF4-FFF2-40B4-BE49-F238E27FC236}">
                  <a16:creationId xmlns:a16="http://schemas.microsoft.com/office/drawing/2014/main" id="{D539FD7C-2809-49ED-9763-F218616BFE90}"/>
                </a:ext>
              </a:extLst>
            </p:cNvPr>
            <p:cNvSpPr>
              <a:spLocks noChangeArrowheads="1"/>
            </p:cNvSpPr>
            <p:nvPr/>
          </p:nvSpPr>
          <p:spPr bwMode="auto">
            <a:xfrm>
              <a:off x="1905000" y="731838"/>
              <a:ext cx="1066800" cy="374650"/>
            </a:xfrm>
            <a:prstGeom prst="flowChartPredefinedProcess">
              <a:avLst/>
            </a:prstGeom>
            <a:solidFill>
              <a:schemeClr val="bg1"/>
            </a:solidFill>
            <a:ln w="12700" algn="ctr">
              <a:solidFill>
                <a:schemeClr val="tx1"/>
              </a:solidFill>
              <a:miter lim="800000"/>
              <a:headEnd/>
              <a:tailEnd/>
            </a:ln>
            <a:effectLst/>
          </p:spPr>
          <p:txBody>
            <a:bodyPr wrap="none" anchor="ctr"/>
            <a:lstStyle/>
            <a:p>
              <a:pPr algn="ctr">
                <a:defRPr/>
              </a:pPr>
              <a:r>
                <a:rPr lang="en-US" altLang="zh-CN" sz="1400" dirty="0">
                  <a:ea typeface="幼圆" panose="02010509060101010101" pitchFamily="49" charset="-122"/>
                </a:rPr>
                <a:t>5.1</a:t>
              </a:r>
              <a:r>
                <a:rPr lang="zh-CN" altLang="zh-CN" sz="1400" kern="0" dirty="0">
                  <a:solidFill>
                    <a:srgbClr val="000000"/>
                  </a:solidFill>
                  <a:cs typeface="Arial" panose="020B0604020202020204" pitchFamily="34" charset="0"/>
                </a:rPr>
                <a:t>规划</a:t>
              </a:r>
              <a:endParaRPr lang="en-US" altLang="zh-CN" sz="1400" dirty="0">
                <a:ea typeface="幼圆" panose="02010509060101010101" pitchFamily="49" charset="-122"/>
              </a:endParaRPr>
            </a:p>
            <a:p>
              <a:pPr algn="ctr">
                <a:defRPr/>
              </a:pPr>
              <a:r>
                <a:rPr lang="zh-CN" altLang="zh-CN" sz="1600" kern="0" dirty="0">
                  <a:solidFill>
                    <a:srgbClr val="000000"/>
                  </a:solidFill>
                  <a:cs typeface="Arial" panose="020B0604020202020204" pitchFamily="34" charset="0"/>
                </a:rPr>
                <a:t>范围管理</a:t>
              </a:r>
              <a:endParaRPr lang="zh-CN" altLang="en-US" sz="1200" dirty="0">
                <a:ea typeface="幼圆" panose="02010509060101010101" pitchFamily="49" charset="-122"/>
              </a:endParaRPr>
            </a:p>
          </p:txBody>
        </p:sp>
        <p:sp>
          <p:nvSpPr>
            <p:cNvPr id="146442" name="AutoShape 8">
              <a:extLst>
                <a:ext uri="{FF2B5EF4-FFF2-40B4-BE49-F238E27FC236}">
                  <a16:creationId xmlns:a16="http://schemas.microsoft.com/office/drawing/2014/main" id="{B2C4829A-6C07-45EA-9FED-47878AB62824}"/>
                </a:ext>
              </a:extLst>
            </p:cNvPr>
            <p:cNvSpPr>
              <a:spLocks noChangeArrowheads="1"/>
            </p:cNvSpPr>
            <p:nvPr/>
          </p:nvSpPr>
          <p:spPr bwMode="auto">
            <a:xfrm>
              <a:off x="1905000" y="1816100"/>
              <a:ext cx="1066800" cy="406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5.3</a:t>
              </a:r>
            </a:p>
            <a:p>
              <a:pPr algn="ctr">
                <a:spcBef>
                  <a:spcPct val="0"/>
                </a:spcBef>
                <a:buFontTx/>
                <a:buNone/>
              </a:pPr>
              <a:r>
                <a:rPr lang="zh-CN" altLang="en-US" sz="1400">
                  <a:ea typeface="幼圆" charset="-122"/>
                </a:rPr>
                <a:t>定义范围</a:t>
              </a:r>
            </a:p>
          </p:txBody>
        </p:sp>
        <p:sp>
          <p:nvSpPr>
            <p:cNvPr id="146443" name="AutoShape 9">
              <a:extLst>
                <a:ext uri="{FF2B5EF4-FFF2-40B4-BE49-F238E27FC236}">
                  <a16:creationId xmlns:a16="http://schemas.microsoft.com/office/drawing/2014/main" id="{F031272B-8D2A-4071-8C5E-9B96C6E88898}"/>
                </a:ext>
              </a:extLst>
            </p:cNvPr>
            <p:cNvSpPr>
              <a:spLocks noChangeArrowheads="1"/>
            </p:cNvSpPr>
            <p:nvPr/>
          </p:nvSpPr>
          <p:spPr bwMode="auto">
            <a:xfrm>
              <a:off x="1920875" y="2397125"/>
              <a:ext cx="1066800" cy="37465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5.4</a:t>
              </a:r>
            </a:p>
            <a:p>
              <a:pPr algn="ctr">
                <a:spcBef>
                  <a:spcPct val="0"/>
                </a:spcBef>
                <a:buFontTx/>
                <a:buNone/>
              </a:pPr>
              <a:r>
                <a:rPr lang="zh-CN" altLang="en-US" sz="1400">
                  <a:ea typeface="幼圆" charset="-122"/>
                </a:rPr>
                <a:t>创建</a:t>
              </a:r>
              <a:r>
                <a:rPr lang="en-US" altLang="zh-CN" sz="1400">
                  <a:ea typeface="幼圆" charset="-122"/>
                </a:rPr>
                <a:t>WBS</a:t>
              </a:r>
            </a:p>
          </p:txBody>
        </p:sp>
        <p:sp>
          <p:nvSpPr>
            <p:cNvPr id="146444" name="Line 10">
              <a:extLst>
                <a:ext uri="{FF2B5EF4-FFF2-40B4-BE49-F238E27FC236}">
                  <a16:creationId xmlns:a16="http://schemas.microsoft.com/office/drawing/2014/main" id="{38138331-CF1E-4632-BC9B-739A4AF6B710}"/>
                </a:ext>
              </a:extLst>
            </p:cNvPr>
            <p:cNvSpPr>
              <a:spLocks noChangeShapeType="1"/>
            </p:cNvSpPr>
            <p:nvPr/>
          </p:nvSpPr>
          <p:spPr bwMode="auto">
            <a:xfrm>
              <a:off x="2438400" y="2220913"/>
              <a:ext cx="0" cy="18415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45" name="Line 11">
              <a:extLst>
                <a:ext uri="{FF2B5EF4-FFF2-40B4-BE49-F238E27FC236}">
                  <a16:creationId xmlns:a16="http://schemas.microsoft.com/office/drawing/2014/main" id="{23940818-29E0-4F2E-804C-6DB7AF8811BD}"/>
                </a:ext>
              </a:extLst>
            </p:cNvPr>
            <p:cNvSpPr>
              <a:spLocks noChangeShapeType="1"/>
            </p:cNvSpPr>
            <p:nvPr/>
          </p:nvSpPr>
          <p:spPr bwMode="auto">
            <a:xfrm>
              <a:off x="2428875" y="1663700"/>
              <a:ext cx="0" cy="1651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46" name="Text Box 13">
              <a:extLst>
                <a:ext uri="{FF2B5EF4-FFF2-40B4-BE49-F238E27FC236}">
                  <a16:creationId xmlns:a16="http://schemas.microsoft.com/office/drawing/2014/main" id="{32750F71-6EBC-43EC-B803-8F2D5296760E}"/>
                </a:ext>
              </a:extLst>
            </p:cNvPr>
            <p:cNvSpPr txBox="1">
              <a:spLocks noChangeArrowheads="1"/>
            </p:cNvSpPr>
            <p:nvPr/>
          </p:nvSpPr>
          <p:spPr bwMode="auto">
            <a:xfrm>
              <a:off x="1752600" y="417513"/>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solidFill>
                    <a:schemeClr val="bg1"/>
                  </a:solidFill>
                </a:rPr>
                <a:t>项目范围管理</a:t>
              </a:r>
            </a:p>
          </p:txBody>
        </p:sp>
        <p:sp>
          <p:nvSpPr>
            <p:cNvPr id="146447" name="AutoShape 14">
              <a:extLst>
                <a:ext uri="{FF2B5EF4-FFF2-40B4-BE49-F238E27FC236}">
                  <a16:creationId xmlns:a16="http://schemas.microsoft.com/office/drawing/2014/main" id="{25E76B83-9E99-4D3C-A065-16B142C9FFB4}"/>
                </a:ext>
              </a:extLst>
            </p:cNvPr>
            <p:cNvSpPr>
              <a:spLocks noChangeArrowheads="1"/>
            </p:cNvSpPr>
            <p:nvPr/>
          </p:nvSpPr>
          <p:spPr bwMode="auto">
            <a:xfrm>
              <a:off x="4267200" y="4572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6.1</a:t>
              </a:r>
            </a:p>
            <a:p>
              <a:pPr algn="ctr">
                <a:spcBef>
                  <a:spcPct val="0"/>
                </a:spcBef>
                <a:buFontTx/>
                <a:buNone/>
              </a:pPr>
              <a:r>
                <a:rPr lang="zh-CN" altLang="en-US" sz="1400">
                  <a:ea typeface="幼圆" charset="-122"/>
                </a:rPr>
                <a:t>规划进度管理</a:t>
              </a:r>
            </a:p>
          </p:txBody>
        </p:sp>
        <p:sp>
          <p:nvSpPr>
            <p:cNvPr id="146448" name="AutoShape 15">
              <a:extLst>
                <a:ext uri="{FF2B5EF4-FFF2-40B4-BE49-F238E27FC236}">
                  <a16:creationId xmlns:a16="http://schemas.microsoft.com/office/drawing/2014/main" id="{FFBDC412-8AAB-4FD7-BEE7-2235F65DD4C3}"/>
                </a:ext>
              </a:extLst>
            </p:cNvPr>
            <p:cNvSpPr>
              <a:spLocks noChangeArrowheads="1"/>
            </p:cNvSpPr>
            <p:nvPr/>
          </p:nvSpPr>
          <p:spPr bwMode="auto">
            <a:xfrm>
              <a:off x="6248400" y="4572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6.3</a:t>
              </a:r>
            </a:p>
            <a:p>
              <a:pPr algn="ctr">
                <a:spcBef>
                  <a:spcPct val="0"/>
                </a:spcBef>
                <a:buFontTx/>
                <a:buNone/>
              </a:pPr>
              <a:r>
                <a:rPr lang="zh-CN" altLang="en-US" sz="1400">
                  <a:ea typeface="幼圆" charset="-122"/>
                </a:rPr>
                <a:t>定义活动</a:t>
              </a:r>
            </a:p>
          </p:txBody>
        </p:sp>
        <p:sp>
          <p:nvSpPr>
            <p:cNvPr id="146449" name="AutoShape 16">
              <a:extLst>
                <a:ext uri="{FF2B5EF4-FFF2-40B4-BE49-F238E27FC236}">
                  <a16:creationId xmlns:a16="http://schemas.microsoft.com/office/drawing/2014/main" id="{F67F6F64-A494-4F72-9D62-69B6A0B2541F}"/>
                </a:ext>
              </a:extLst>
            </p:cNvPr>
            <p:cNvSpPr>
              <a:spLocks noChangeArrowheads="1"/>
            </p:cNvSpPr>
            <p:nvPr/>
          </p:nvSpPr>
          <p:spPr bwMode="auto">
            <a:xfrm>
              <a:off x="6248400" y="10668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dirty="0">
                  <a:ea typeface="幼圆" charset="-122"/>
                </a:rPr>
                <a:t>6.4</a:t>
              </a:r>
            </a:p>
            <a:p>
              <a:pPr algn="ctr">
                <a:spcBef>
                  <a:spcPct val="0"/>
                </a:spcBef>
                <a:buFontTx/>
                <a:buNone/>
              </a:pPr>
              <a:r>
                <a:rPr lang="zh-CN" altLang="en-US" sz="1400" dirty="0">
                  <a:ea typeface="幼圆" charset="-122"/>
                </a:rPr>
                <a:t>估算活动历时</a:t>
              </a:r>
            </a:p>
          </p:txBody>
        </p:sp>
        <p:sp>
          <p:nvSpPr>
            <p:cNvPr id="146450" name="AutoShape 17">
              <a:extLst>
                <a:ext uri="{FF2B5EF4-FFF2-40B4-BE49-F238E27FC236}">
                  <a16:creationId xmlns:a16="http://schemas.microsoft.com/office/drawing/2014/main" id="{8696D31C-C9D0-4CDB-942C-0D267590627E}"/>
                </a:ext>
              </a:extLst>
            </p:cNvPr>
            <p:cNvSpPr>
              <a:spLocks noChangeArrowheads="1"/>
            </p:cNvSpPr>
            <p:nvPr/>
          </p:nvSpPr>
          <p:spPr bwMode="auto">
            <a:xfrm>
              <a:off x="4267200" y="10668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6.3</a:t>
              </a:r>
            </a:p>
            <a:p>
              <a:pPr algn="ctr">
                <a:spcBef>
                  <a:spcPct val="0"/>
                </a:spcBef>
                <a:buFontTx/>
                <a:buNone/>
              </a:pPr>
              <a:r>
                <a:rPr lang="zh-CN" altLang="en-US" sz="1400">
                  <a:ea typeface="幼圆" charset="-122"/>
                </a:rPr>
                <a:t>排列活动顺序</a:t>
              </a:r>
            </a:p>
          </p:txBody>
        </p:sp>
        <p:sp>
          <p:nvSpPr>
            <p:cNvPr id="146451" name="AutoShape 18">
              <a:extLst>
                <a:ext uri="{FF2B5EF4-FFF2-40B4-BE49-F238E27FC236}">
                  <a16:creationId xmlns:a16="http://schemas.microsoft.com/office/drawing/2014/main" id="{BCB50678-D1EA-4E5F-9D2A-203DC9361D30}"/>
                </a:ext>
              </a:extLst>
            </p:cNvPr>
            <p:cNvSpPr>
              <a:spLocks noChangeArrowheads="1"/>
            </p:cNvSpPr>
            <p:nvPr/>
          </p:nvSpPr>
          <p:spPr bwMode="auto">
            <a:xfrm>
              <a:off x="5334000" y="16002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6.5</a:t>
              </a:r>
            </a:p>
            <a:p>
              <a:pPr algn="ctr">
                <a:spcBef>
                  <a:spcPct val="0"/>
                </a:spcBef>
                <a:buFontTx/>
                <a:buNone/>
              </a:pPr>
              <a:r>
                <a:rPr lang="zh-CN" altLang="en-US" sz="1400">
                  <a:ea typeface="幼圆" charset="-122"/>
                </a:rPr>
                <a:t>制定进度计划</a:t>
              </a:r>
            </a:p>
          </p:txBody>
        </p:sp>
        <p:sp>
          <p:nvSpPr>
            <p:cNvPr id="146452" name="Text Box 20">
              <a:extLst>
                <a:ext uri="{FF2B5EF4-FFF2-40B4-BE49-F238E27FC236}">
                  <a16:creationId xmlns:a16="http://schemas.microsoft.com/office/drawing/2014/main" id="{85B7D406-9E4F-4396-A73E-6063F41D71FB}"/>
                </a:ext>
              </a:extLst>
            </p:cNvPr>
            <p:cNvSpPr txBox="1">
              <a:spLocks noChangeArrowheads="1"/>
            </p:cNvSpPr>
            <p:nvPr/>
          </p:nvSpPr>
          <p:spPr bwMode="auto">
            <a:xfrm>
              <a:off x="5257800" y="444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t>项目进度管理</a:t>
              </a:r>
            </a:p>
          </p:txBody>
        </p:sp>
        <p:sp>
          <p:nvSpPr>
            <p:cNvPr id="146453" name="Line 22">
              <a:extLst>
                <a:ext uri="{FF2B5EF4-FFF2-40B4-BE49-F238E27FC236}">
                  <a16:creationId xmlns:a16="http://schemas.microsoft.com/office/drawing/2014/main" id="{0B8595A7-3986-4E12-815B-1EA75A296DF3}"/>
                </a:ext>
              </a:extLst>
            </p:cNvPr>
            <p:cNvSpPr>
              <a:spLocks noChangeShapeType="1"/>
            </p:cNvSpPr>
            <p:nvPr/>
          </p:nvSpPr>
          <p:spPr bwMode="auto">
            <a:xfrm>
              <a:off x="4876800" y="914400"/>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4" name="Line 23">
              <a:extLst>
                <a:ext uri="{FF2B5EF4-FFF2-40B4-BE49-F238E27FC236}">
                  <a16:creationId xmlns:a16="http://schemas.microsoft.com/office/drawing/2014/main" id="{5EF5E0F5-5031-48BC-9423-AB7E577BD0AF}"/>
                </a:ext>
              </a:extLst>
            </p:cNvPr>
            <p:cNvSpPr>
              <a:spLocks noChangeShapeType="1"/>
            </p:cNvSpPr>
            <p:nvPr/>
          </p:nvSpPr>
          <p:spPr bwMode="auto">
            <a:xfrm>
              <a:off x="4876800" y="1524000"/>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5" name="Line 24">
              <a:extLst>
                <a:ext uri="{FF2B5EF4-FFF2-40B4-BE49-F238E27FC236}">
                  <a16:creationId xmlns:a16="http://schemas.microsoft.com/office/drawing/2014/main" id="{C4F66DE8-6561-4EF7-9A1C-3F5EC5F5E578}"/>
                </a:ext>
              </a:extLst>
            </p:cNvPr>
            <p:cNvSpPr>
              <a:spLocks noChangeShapeType="1"/>
            </p:cNvSpPr>
            <p:nvPr/>
          </p:nvSpPr>
          <p:spPr bwMode="auto">
            <a:xfrm>
              <a:off x="7162800" y="914400"/>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6" name="Line 25">
              <a:extLst>
                <a:ext uri="{FF2B5EF4-FFF2-40B4-BE49-F238E27FC236}">
                  <a16:creationId xmlns:a16="http://schemas.microsoft.com/office/drawing/2014/main" id="{7F0DD6D2-F565-41E7-9980-F637352A0D14}"/>
                </a:ext>
              </a:extLst>
            </p:cNvPr>
            <p:cNvSpPr>
              <a:spLocks noChangeShapeType="1"/>
            </p:cNvSpPr>
            <p:nvPr/>
          </p:nvSpPr>
          <p:spPr bwMode="auto">
            <a:xfrm flipH="1">
              <a:off x="6705600" y="1524000"/>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7" name="Line 26">
              <a:extLst>
                <a:ext uri="{FF2B5EF4-FFF2-40B4-BE49-F238E27FC236}">
                  <a16:creationId xmlns:a16="http://schemas.microsoft.com/office/drawing/2014/main" id="{F5A06891-A9F5-4319-88EC-3C9B768A508F}"/>
                </a:ext>
              </a:extLst>
            </p:cNvPr>
            <p:cNvSpPr>
              <a:spLocks noChangeShapeType="1"/>
            </p:cNvSpPr>
            <p:nvPr/>
          </p:nvSpPr>
          <p:spPr bwMode="auto">
            <a:xfrm>
              <a:off x="5638800" y="685800"/>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8" name="Line 27">
              <a:extLst>
                <a:ext uri="{FF2B5EF4-FFF2-40B4-BE49-F238E27FC236}">
                  <a16:creationId xmlns:a16="http://schemas.microsoft.com/office/drawing/2014/main" id="{09428212-95BB-448D-9EB1-9153BE36A824}"/>
                </a:ext>
              </a:extLst>
            </p:cNvPr>
            <p:cNvSpPr>
              <a:spLocks noChangeShapeType="1"/>
            </p:cNvSpPr>
            <p:nvPr/>
          </p:nvSpPr>
          <p:spPr bwMode="auto">
            <a:xfrm>
              <a:off x="5638800" y="1295400"/>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9" name="Line 28">
              <a:extLst>
                <a:ext uri="{FF2B5EF4-FFF2-40B4-BE49-F238E27FC236}">
                  <a16:creationId xmlns:a16="http://schemas.microsoft.com/office/drawing/2014/main" id="{0A214F37-8144-4FE3-8EBB-15A626D59F46}"/>
                </a:ext>
              </a:extLst>
            </p:cNvPr>
            <p:cNvSpPr>
              <a:spLocks noChangeShapeType="1"/>
            </p:cNvSpPr>
            <p:nvPr/>
          </p:nvSpPr>
          <p:spPr bwMode="auto">
            <a:xfrm flipV="1">
              <a:off x="5638800" y="762000"/>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0" name="Line 29">
              <a:extLst>
                <a:ext uri="{FF2B5EF4-FFF2-40B4-BE49-F238E27FC236}">
                  <a16:creationId xmlns:a16="http://schemas.microsoft.com/office/drawing/2014/main" id="{1FBA0B03-51CC-4838-AC80-F67F658A37F1}"/>
                </a:ext>
              </a:extLst>
            </p:cNvPr>
            <p:cNvSpPr>
              <a:spLocks noChangeShapeType="1"/>
            </p:cNvSpPr>
            <p:nvPr/>
          </p:nvSpPr>
          <p:spPr bwMode="auto">
            <a:xfrm>
              <a:off x="5638800" y="762000"/>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1" name="Line 30">
              <a:extLst>
                <a:ext uri="{FF2B5EF4-FFF2-40B4-BE49-F238E27FC236}">
                  <a16:creationId xmlns:a16="http://schemas.microsoft.com/office/drawing/2014/main" id="{B7BAF56B-A3F6-46BE-A625-AE1AB06DC947}"/>
                </a:ext>
              </a:extLst>
            </p:cNvPr>
            <p:cNvSpPr>
              <a:spLocks noChangeShapeType="1"/>
            </p:cNvSpPr>
            <p:nvPr/>
          </p:nvSpPr>
          <p:spPr bwMode="auto">
            <a:xfrm flipV="1">
              <a:off x="5943600" y="762000"/>
              <a:ext cx="304800" cy="838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2" name="Line 31">
              <a:extLst>
                <a:ext uri="{FF2B5EF4-FFF2-40B4-BE49-F238E27FC236}">
                  <a16:creationId xmlns:a16="http://schemas.microsoft.com/office/drawing/2014/main" id="{51552420-95D6-4359-A0FB-BB4CB11B4144}"/>
                </a:ext>
              </a:extLst>
            </p:cNvPr>
            <p:cNvSpPr>
              <a:spLocks noChangeShapeType="1"/>
            </p:cNvSpPr>
            <p:nvPr/>
          </p:nvSpPr>
          <p:spPr bwMode="auto">
            <a:xfrm flipH="1" flipV="1">
              <a:off x="5638800" y="762000"/>
              <a:ext cx="304800" cy="914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3" name="AutoShape 32">
              <a:extLst>
                <a:ext uri="{FF2B5EF4-FFF2-40B4-BE49-F238E27FC236}">
                  <a16:creationId xmlns:a16="http://schemas.microsoft.com/office/drawing/2014/main" id="{5A308FFA-1A5E-4C94-A688-9EFA93695A74}"/>
                </a:ext>
              </a:extLst>
            </p:cNvPr>
            <p:cNvSpPr>
              <a:spLocks noChangeArrowheads="1"/>
            </p:cNvSpPr>
            <p:nvPr/>
          </p:nvSpPr>
          <p:spPr bwMode="auto">
            <a:xfrm>
              <a:off x="8915400" y="333376"/>
              <a:ext cx="1524000" cy="2257425"/>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64" name="AutoShape 33">
              <a:extLst>
                <a:ext uri="{FF2B5EF4-FFF2-40B4-BE49-F238E27FC236}">
                  <a16:creationId xmlns:a16="http://schemas.microsoft.com/office/drawing/2014/main" id="{F328E5A3-DFA6-4AE6-B889-AAAAFC4ABE00}"/>
                </a:ext>
              </a:extLst>
            </p:cNvPr>
            <p:cNvSpPr>
              <a:spLocks noChangeArrowheads="1"/>
            </p:cNvSpPr>
            <p:nvPr/>
          </p:nvSpPr>
          <p:spPr bwMode="auto">
            <a:xfrm>
              <a:off x="9182100" y="1422400"/>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7.2</a:t>
              </a:r>
            </a:p>
            <a:p>
              <a:pPr algn="ctr">
                <a:spcBef>
                  <a:spcPct val="0"/>
                </a:spcBef>
                <a:buFontTx/>
                <a:buNone/>
              </a:pPr>
              <a:r>
                <a:rPr lang="zh-CN" altLang="en-US" sz="1400">
                  <a:ea typeface="幼圆" charset="-122"/>
                </a:rPr>
                <a:t>估算成本</a:t>
              </a:r>
            </a:p>
          </p:txBody>
        </p:sp>
        <p:sp>
          <p:nvSpPr>
            <p:cNvPr id="146465" name="AutoShape 34">
              <a:extLst>
                <a:ext uri="{FF2B5EF4-FFF2-40B4-BE49-F238E27FC236}">
                  <a16:creationId xmlns:a16="http://schemas.microsoft.com/office/drawing/2014/main" id="{E1D27D4F-F7DE-4CAA-BC8F-C1D26F228687}"/>
                </a:ext>
              </a:extLst>
            </p:cNvPr>
            <p:cNvSpPr>
              <a:spLocks noChangeArrowheads="1"/>
            </p:cNvSpPr>
            <p:nvPr/>
          </p:nvSpPr>
          <p:spPr bwMode="auto">
            <a:xfrm>
              <a:off x="9191625" y="2081213"/>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7.2</a:t>
              </a:r>
            </a:p>
            <a:p>
              <a:pPr algn="ctr">
                <a:spcBef>
                  <a:spcPct val="0"/>
                </a:spcBef>
                <a:buFontTx/>
                <a:buNone/>
              </a:pPr>
              <a:r>
                <a:rPr lang="zh-CN" altLang="en-US" sz="1400">
                  <a:ea typeface="幼圆" charset="-122"/>
                </a:rPr>
                <a:t>制定预算</a:t>
              </a:r>
            </a:p>
          </p:txBody>
        </p:sp>
        <p:sp>
          <p:nvSpPr>
            <p:cNvPr id="146466" name="Line 35">
              <a:extLst>
                <a:ext uri="{FF2B5EF4-FFF2-40B4-BE49-F238E27FC236}">
                  <a16:creationId xmlns:a16="http://schemas.microsoft.com/office/drawing/2014/main" id="{34026233-ABB1-4BE8-9D8F-7C81988AE19C}"/>
                </a:ext>
              </a:extLst>
            </p:cNvPr>
            <p:cNvSpPr>
              <a:spLocks noChangeShapeType="1"/>
            </p:cNvSpPr>
            <p:nvPr/>
          </p:nvSpPr>
          <p:spPr bwMode="auto">
            <a:xfrm>
              <a:off x="9715500" y="1879600"/>
              <a:ext cx="0" cy="2286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7" name="Text Box 36">
              <a:extLst>
                <a:ext uri="{FF2B5EF4-FFF2-40B4-BE49-F238E27FC236}">
                  <a16:creationId xmlns:a16="http://schemas.microsoft.com/office/drawing/2014/main" id="{43AC32AC-6069-4ABD-BDA0-921FCC30686E}"/>
                </a:ext>
              </a:extLst>
            </p:cNvPr>
            <p:cNvSpPr txBox="1">
              <a:spLocks noChangeArrowheads="1"/>
            </p:cNvSpPr>
            <p:nvPr/>
          </p:nvSpPr>
          <p:spPr bwMode="auto">
            <a:xfrm>
              <a:off x="8991600" y="45720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项目成本管理</a:t>
              </a:r>
            </a:p>
          </p:txBody>
        </p:sp>
        <p:sp>
          <p:nvSpPr>
            <p:cNvPr id="146468" name="AutoShape 38">
              <a:extLst>
                <a:ext uri="{FF2B5EF4-FFF2-40B4-BE49-F238E27FC236}">
                  <a16:creationId xmlns:a16="http://schemas.microsoft.com/office/drawing/2014/main" id="{6616B7C9-AFB6-4B70-8144-D73DDD0735D9}"/>
                </a:ext>
              </a:extLst>
            </p:cNvPr>
            <p:cNvSpPr>
              <a:spLocks noChangeArrowheads="1"/>
            </p:cNvSpPr>
            <p:nvPr/>
          </p:nvSpPr>
          <p:spPr bwMode="auto">
            <a:xfrm>
              <a:off x="8915400" y="2819400"/>
              <a:ext cx="1524000"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69" name="AutoShape 39">
              <a:extLst>
                <a:ext uri="{FF2B5EF4-FFF2-40B4-BE49-F238E27FC236}">
                  <a16:creationId xmlns:a16="http://schemas.microsoft.com/office/drawing/2014/main" id="{FBAD9D88-5608-431C-A15D-AAEE13F4EBC7}"/>
                </a:ext>
              </a:extLst>
            </p:cNvPr>
            <p:cNvSpPr>
              <a:spLocks noChangeArrowheads="1"/>
            </p:cNvSpPr>
            <p:nvPr/>
          </p:nvSpPr>
          <p:spPr bwMode="auto">
            <a:xfrm>
              <a:off x="9144000" y="3200400"/>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8.1</a:t>
              </a:r>
            </a:p>
            <a:p>
              <a:pPr algn="ctr">
                <a:spcBef>
                  <a:spcPct val="0"/>
                </a:spcBef>
                <a:buFontTx/>
                <a:buNone/>
              </a:pPr>
              <a:r>
                <a:rPr lang="zh-CN" altLang="en-US" sz="1400">
                  <a:ea typeface="幼圆" charset="-122"/>
                </a:rPr>
                <a:t>规划质量管理</a:t>
              </a:r>
            </a:p>
          </p:txBody>
        </p:sp>
        <p:sp>
          <p:nvSpPr>
            <p:cNvPr id="146470" name="Text Box 42">
              <a:extLst>
                <a:ext uri="{FF2B5EF4-FFF2-40B4-BE49-F238E27FC236}">
                  <a16:creationId xmlns:a16="http://schemas.microsoft.com/office/drawing/2014/main" id="{BF92432C-24F1-4458-ACD0-346AD5E45B24}"/>
                </a:ext>
              </a:extLst>
            </p:cNvPr>
            <p:cNvSpPr txBox="1">
              <a:spLocks noChangeArrowheads="1"/>
            </p:cNvSpPr>
            <p:nvPr/>
          </p:nvSpPr>
          <p:spPr bwMode="auto">
            <a:xfrm>
              <a:off x="8991600" y="281940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项目质量管理</a:t>
              </a:r>
            </a:p>
          </p:txBody>
        </p:sp>
        <p:sp>
          <p:nvSpPr>
            <p:cNvPr id="146471" name="AutoShape 43">
              <a:extLst>
                <a:ext uri="{FF2B5EF4-FFF2-40B4-BE49-F238E27FC236}">
                  <a16:creationId xmlns:a16="http://schemas.microsoft.com/office/drawing/2014/main" id="{4C37BA2E-D213-455E-8238-DD712801B5FF}"/>
                </a:ext>
              </a:extLst>
            </p:cNvPr>
            <p:cNvSpPr>
              <a:spLocks noChangeArrowheads="1"/>
            </p:cNvSpPr>
            <p:nvPr/>
          </p:nvSpPr>
          <p:spPr bwMode="auto">
            <a:xfrm>
              <a:off x="8886825" y="4178301"/>
              <a:ext cx="1524000" cy="1533525"/>
            </a:xfrm>
            <a:prstGeom prst="roundRect">
              <a:avLst>
                <a:gd name="adj" fmla="val 16667"/>
              </a:avLst>
            </a:prstGeom>
            <a:blipFill dpi="0" rotWithShape="1">
              <a:blip r:embed="rId8"/>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72" name="AutoShape 44">
              <a:extLst>
                <a:ext uri="{FF2B5EF4-FFF2-40B4-BE49-F238E27FC236}">
                  <a16:creationId xmlns:a16="http://schemas.microsoft.com/office/drawing/2014/main" id="{05DE889E-6B18-403F-9B05-FD98A6042043}"/>
                </a:ext>
              </a:extLst>
            </p:cNvPr>
            <p:cNvSpPr>
              <a:spLocks noChangeArrowheads="1"/>
            </p:cNvSpPr>
            <p:nvPr/>
          </p:nvSpPr>
          <p:spPr bwMode="auto">
            <a:xfrm>
              <a:off x="9015413" y="4524375"/>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9.1</a:t>
              </a:r>
            </a:p>
            <a:p>
              <a:pPr algn="ctr">
                <a:spcBef>
                  <a:spcPct val="0"/>
                </a:spcBef>
                <a:buFontTx/>
                <a:buNone/>
              </a:pPr>
              <a:r>
                <a:rPr lang="zh-CN" altLang="en-US" sz="1400">
                  <a:ea typeface="幼圆" charset="-122"/>
                </a:rPr>
                <a:t>规划资源管理</a:t>
              </a:r>
            </a:p>
          </p:txBody>
        </p:sp>
        <p:sp>
          <p:nvSpPr>
            <p:cNvPr id="146473" name="Text Box 45">
              <a:extLst>
                <a:ext uri="{FF2B5EF4-FFF2-40B4-BE49-F238E27FC236}">
                  <a16:creationId xmlns:a16="http://schemas.microsoft.com/office/drawing/2014/main" id="{42AD61E6-1DE8-4E01-81AB-2DBFA7F5F408}"/>
                </a:ext>
              </a:extLst>
            </p:cNvPr>
            <p:cNvSpPr txBox="1">
              <a:spLocks noChangeArrowheads="1"/>
            </p:cNvSpPr>
            <p:nvPr/>
          </p:nvSpPr>
          <p:spPr bwMode="auto">
            <a:xfrm>
              <a:off x="8991600" y="419100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项目资源管理</a:t>
              </a:r>
            </a:p>
          </p:txBody>
        </p:sp>
        <p:sp>
          <p:nvSpPr>
            <p:cNvPr id="146474" name="AutoShape 46">
              <a:extLst>
                <a:ext uri="{FF2B5EF4-FFF2-40B4-BE49-F238E27FC236}">
                  <a16:creationId xmlns:a16="http://schemas.microsoft.com/office/drawing/2014/main" id="{E6F12011-4A53-4A05-894E-3A9652B1993A}"/>
                </a:ext>
              </a:extLst>
            </p:cNvPr>
            <p:cNvSpPr>
              <a:spLocks noChangeArrowheads="1"/>
            </p:cNvSpPr>
            <p:nvPr/>
          </p:nvSpPr>
          <p:spPr bwMode="auto">
            <a:xfrm>
              <a:off x="7126288" y="4656138"/>
              <a:ext cx="1524000" cy="1143000"/>
            </a:xfrm>
            <a:prstGeom prst="roundRect">
              <a:avLst>
                <a:gd name="adj" fmla="val 16667"/>
              </a:avLst>
            </a:prstGeom>
            <a:blipFill dpi="0" rotWithShape="1">
              <a:blip r:embed="rId9"/>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75" name="AutoShape 47">
              <a:extLst>
                <a:ext uri="{FF2B5EF4-FFF2-40B4-BE49-F238E27FC236}">
                  <a16:creationId xmlns:a16="http://schemas.microsoft.com/office/drawing/2014/main" id="{3F6F1CFA-3397-43CF-BAE0-E2B068749624}"/>
                </a:ext>
              </a:extLst>
            </p:cNvPr>
            <p:cNvSpPr>
              <a:spLocks noChangeArrowheads="1"/>
            </p:cNvSpPr>
            <p:nvPr/>
          </p:nvSpPr>
          <p:spPr bwMode="auto">
            <a:xfrm>
              <a:off x="7354888" y="5037138"/>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10.1</a:t>
              </a:r>
            </a:p>
            <a:p>
              <a:pPr algn="ctr">
                <a:spcBef>
                  <a:spcPct val="0"/>
                </a:spcBef>
                <a:buFontTx/>
                <a:buNone/>
              </a:pPr>
              <a:r>
                <a:rPr lang="zh-CN" altLang="en-US" sz="1400">
                  <a:ea typeface="幼圆" charset="-122"/>
                </a:rPr>
                <a:t>规划沟通管理</a:t>
              </a:r>
            </a:p>
          </p:txBody>
        </p:sp>
        <p:sp>
          <p:nvSpPr>
            <p:cNvPr id="146476" name="Text Box 48">
              <a:extLst>
                <a:ext uri="{FF2B5EF4-FFF2-40B4-BE49-F238E27FC236}">
                  <a16:creationId xmlns:a16="http://schemas.microsoft.com/office/drawing/2014/main" id="{82C76CCF-8726-49D9-A22B-3612061FF1E3}"/>
                </a:ext>
              </a:extLst>
            </p:cNvPr>
            <p:cNvSpPr txBox="1">
              <a:spLocks noChangeArrowheads="1"/>
            </p:cNvSpPr>
            <p:nvPr/>
          </p:nvSpPr>
          <p:spPr bwMode="auto">
            <a:xfrm>
              <a:off x="7202488" y="4656138"/>
              <a:ext cx="1524000"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项目沟通管理</a:t>
              </a:r>
            </a:p>
          </p:txBody>
        </p:sp>
        <p:sp>
          <p:nvSpPr>
            <p:cNvPr id="146477" name="AutoShape 49">
              <a:extLst>
                <a:ext uri="{FF2B5EF4-FFF2-40B4-BE49-F238E27FC236}">
                  <a16:creationId xmlns:a16="http://schemas.microsoft.com/office/drawing/2014/main" id="{AEAF8855-A214-430B-8975-266A0E25B81E}"/>
                </a:ext>
              </a:extLst>
            </p:cNvPr>
            <p:cNvSpPr>
              <a:spLocks noChangeArrowheads="1"/>
            </p:cNvSpPr>
            <p:nvPr/>
          </p:nvSpPr>
          <p:spPr bwMode="auto">
            <a:xfrm>
              <a:off x="3082925" y="4611688"/>
              <a:ext cx="3962400" cy="2286000"/>
            </a:xfrm>
            <a:prstGeom prst="roundRect">
              <a:avLst>
                <a:gd name="adj"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78" name="AutoShape 50">
              <a:extLst>
                <a:ext uri="{FF2B5EF4-FFF2-40B4-BE49-F238E27FC236}">
                  <a16:creationId xmlns:a16="http://schemas.microsoft.com/office/drawing/2014/main" id="{6B42799D-3297-4853-ABBC-D77EECA13DD3}"/>
                </a:ext>
              </a:extLst>
            </p:cNvPr>
            <p:cNvSpPr>
              <a:spLocks noChangeArrowheads="1"/>
            </p:cNvSpPr>
            <p:nvPr/>
          </p:nvSpPr>
          <p:spPr bwMode="auto">
            <a:xfrm>
              <a:off x="3311525" y="50688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11.1</a:t>
              </a:r>
            </a:p>
            <a:p>
              <a:pPr algn="ctr">
                <a:spcBef>
                  <a:spcPct val="0"/>
                </a:spcBef>
                <a:buFontTx/>
                <a:buNone/>
              </a:pPr>
              <a:r>
                <a:rPr lang="zh-CN" altLang="en-US" sz="1400">
                  <a:ea typeface="幼圆" charset="-122"/>
                </a:rPr>
                <a:t>规划风险管理</a:t>
              </a:r>
            </a:p>
          </p:txBody>
        </p:sp>
        <p:sp>
          <p:nvSpPr>
            <p:cNvPr id="146479" name="AutoShape 51">
              <a:extLst>
                <a:ext uri="{FF2B5EF4-FFF2-40B4-BE49-F238E27FC236}">
                  <a16:creationId xmlns:a16="http://schemas.microsoft.com/office/drawing/2014/main" id="{A59362B0-0113-4EED-A15E-312DB222A5B3}"/>
                </a:ext>
              </a:extLst>
            </p:cNvPr>
            <p:cNvSpPr>
              <a:spLocks noChangeArrowheads="1"/>
            </p:cNvSpPr>
            <p:nvPr/>
          </p:nvSpPr>
          <p:spPr bwMode="auto">
            <a:xfrm>
              <a:off x="5292725" y="50688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11.3</a:t>
              </a:r>
            </a:p>
            <a:p>
              <a:pPr algn="ctr">
                <a:spcBef>
                  <a:spcPct val="0"/>
                </a:spcBef>
                <a:buFontTx/>
                <a:buNone/>
              </a:pPr>
              <a:r>
                <a:rPr lang="zh-CN" altLang="en-US" sz="1400">
                  <a:ea typeface="幼圆" charset="-122"/>
                </a:rPr>
                <a:t>实施风险定性分析</a:t>
              </a:r>
            </a:p>
          </p:txBody>
        </p:sp>
        <p:sp>
          <p:nvSpPr>
            <p:cNvPr id="146480" name="AutoShape 52">
              <a:extLst>
                <a:ext uri="{FF2B5EF4-FFF2-40B4-BE49-F238E27FC236}">
                  <a16:creationId xmlns:a16="http://schemas.microsoft.com/office/drawing/2014/main" id="{2517F163-6A36-4333-A9BD-75EA1F35B891}"/>
                </a:ext>
              </a:extLst>
            </p:cNvPr>
            <p:cNvSpPr>
              <a:spLocks noChangeArrowheads="1"/>
            </p:cNvSpPr>
            <p:nvPr/>
          </p:nvSpPr>
          <p:spPr bwMode="auto">
            <a:xfrm>
              <a:off x="5292725" y="56784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11.4</a:t>
              </a:r>
            </a:p>
            <a:p>
              <a:pPr algn="ctr">
                <a:spcBef>
                  <a:spcPct val="0"/>
                </a:spcBef>
                <a:buFontTx/>
                <a:buNone/>
              </a:pPr>
              <a:r>
                <a:rPr lang="zh-CN" altLang="en-US" sz="1400">
                  <a:ea typeface="幼圆" charset="-122"/>
                </a:rPr>
                <a:t>实施风险定量分析</a:t>
              </a:r>
            </a:p>
          </p:txBody>
        </p:sp>
        <p:sp>
          <p:nvSpPr>
            <p:cNvPr id="146481" name="AutoShape 53">
              <a:extLst>
                <a:ext uri="{FF2B5EF4-FFF2-40B4-BE49-F238E27FC236}">
                  <a16:creationId xmlns:a16="http://schemas.microsoft.com/office/drawing/2014/main" id="{82965432-87E9-4E41-B0AA-862959049145}"/>
                </a:ext>
              </a:extLst>
            </p:cNvPr>
            <p:cNvSpPr>
              <a:spLocks noChangeArrowheads="1"/>
            </p:cNvSpPr>
            <p:nvPr/>
          </p:nvSpPr>
          <p:spPr bwMode="auto">
            <a:xfrm>
              <a:off x="3311525" y="56784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11.2</a:t>
              </a:r>
            </a:p>
            <a:p>
              <a:pPr algn="ctr">
                <a:spcBef>
                  <a:spcPct val="0"/>
                </a:spcBef>
                <a:buFontTx/>
                <a:buNone/>
              </a:pPr>
              <a:r>
                <a:rPr lang="zh-CN" altLang="en-US" sz="1400">
                  <a:ea typeface="幼圆" charset="-122"/>
                </a:rPr>
                <a:t>识别风险</a:t>
              </a:r>
            </a:p>
          </p:txBody>
        </p:sp>
        <p:sp>
          <p:nvSpPr>
            <p:cNvPr id="146482" name="AutoShape 54">
              <a:extLst>
                <a:ext uri="{FF2B5EF4-FFF2-40B4-BE49-F238E27FC236}">
                  <a16:creationId xmlns:a16="http://schemas.microsoft.com/office/drawing/2014/main" id="{8734040C-5D25-448A-AC93-33D4470D6A1B}"/>
                </a:ext>
              </a:extLst>
            </p:cNvPr>
            <p:cNvSpPr>
              <a:spLocks noChangeArrowheads="1"/>
            </p:cNvSpPr>
            <p:nvPr/>
          </p:nvSpPr>
          <p:spPr bwMode="auto">
            <a:xfrm>
              <a:off x="4378325" y="62118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11.5</a:t>
              </a:r>
            </a:p>
            <a:p>
              <a:pPr algn="ctr">
                <a:spcBef>
                  <a:spcPct val="0"/>
                </a:spcBef>
                <a:buFontTx/>
                <a:buNone/>
              </a:pPr>
              <a:r>
                <a:rPr lang="zh-CN" altLang="en-US" sz="1400">
                  <a:ea typeface="幼圆" charset="-122"/>
                </a:rPr>
                <a:t>规划风险应对</a:t>
              </a:r>
            </a:p>
          </p:txBody>
        </p:sp>
        <p:sp>
          <p:nvSpPr>
            <p:cNvPr id="146483" name="Text Box 55">
              <a:extLst>
                <a:ext uri="{FF2B5EF4-FFF2-40B4-BE49-F238E27FC236}">
                  <a16:creationId xmlns:a16="http://schemas.microsoft.com/office/drawing/2014/main" id="{EFD0C010-D152-46DC-BB98-6B181980F393}"/>
                </a:ext>
              </a:extLst>
            </p:cNvPr>
            <p:cNvSpPr txBox="1">
              <a:spLocks noChangeArrowheads="1"/>
            </p:cNvSpPr>
            <p:nvPr/>
          </p:nvSpPr>
          <p:spPr bwMode="auto">
            <a:xfrm>
              <a:off x="4302125" y="4656138"/>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solidFill>
                    <a:schemeClr val="bg1"/>
                  </a:solidFill>
                </a:rPr>
                <a:t>项目风险管理</a:t>
              </a:r>
            </a:p>
          </p:txBody>
        </p:sp>
        <p:sp>
          <p:nvSpPr>
            <p:cNvPr id="146484" name="Line 56">
              <a:extLst>
                <a:ext uri="{FF2B5EF4-FFF2-40B4-BE49-F238E27FC236}">
                  <a16:creationId xmlns:a16="http://schemas.microsoft.com/office/drawing/2014/main" id="{3B373737-D6FE-487A-A79A-40BA4651DAFA}"/>
                </a:ext>
              </a:extLst>
            </p:cNvPr>
            <p:cNvSpPr>
              <a:spLocks noChangeShapeType="1"/>
            </p:cNvSpPr>
            <p:nvPr/>
          </p:nvSpPr>
          <p:spPr bwMode="auto">
            <a:xfrm>
              <a:off x="3921125" y="5526088"/>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5" name="Line 57">
              <a:extLst>
                <a:ext uri="{FF2B5EF4-FFF2-40B4-BE49-F238E27FC236}">
                  <a16:creationId xmlns:a16="http://schemas.microsoft.com/office/drawing/2014/main" id="{19C4A0BB-5090-40C2-9A69-420295A4EDAE}"/>
                </a:ext>
              </a:extLst>
            </p:cNvPr>
            <p:cNvSpPr>
              <a:spLocks noChangeShapeType="1"/>
            </p:cNvSpPr>
            <p:nvPr/>
          </p:nvSpPr>
          <p:spPr bwMode="auto">
            <a:xfrm>
              <a:off x="3921125" y="6135688"/>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6" name="Line 58">
              <a:extLst>
                <a:ext uri="{FF2B5EF4-FFF2-40B4-BE49-F238E27FC236}">
                  <a16:creationId xmlns:a16="http://schemas.microsoft.com/office/drawing/2014/main" id="{B38FD9E0-6ED5-4770-8B52-FF44884DE3CF}"/>
                </a:ext>
              </a:extLst>
            </p:cNvPr>
            <p:cNvSpPr>
              <a:spLocks noChangeShapeType="1"/>
            </p:cNvSpPr>
            <p:nvPr/>
          </p:nvSpPr>
          <p:spPr bwMode="auto">
            <a:xfrm>
              <a:off x="6207125" y="5526088"/>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7" name="Line 59">
              <a:extLst>
                <a:ext uri="{FF2B5EF4-FFF2-40B4-BE49-F238E27FC236}">
                  <a16:creationId xmlns:a16="http://schemas.microsoft.com/office/drawing/2014/main" id="{3E6630FD-0F1C-4185-93D1-D6110E125CBE}"/>
                </a:ext>
              </a:extLst>
            </p:cNvPr>
            <p:cNvSpPr>
              <a:spLocks noChangeShapeType="1"/>
            </p:cNvSpPr>
            <p:nvPr/>
          </p:nvSpPr>
          <p:spPr bwMode="auto">
            <a:xfrm flipH="1">
              <a:off x="5749925" y="6135688"/>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8" name="Line 60">
              <a:extLst>
                <a:ext uri="{FF2B5EF4-FFF2-40B4-BE49-F238E27FC236}">
                  <a16:creationId xmlns:a16="http://schemas.microsoft.com/office/drawing/2014/main" id="{3FFFA266-FCC8-4468-92D6-5CA6DB68FB14}"/>
                </a:ext>
              </a:extLst>
            </p:cNvPr>
            <p:cNvSpPr>
              <a:spLocks noChangeShapeType="1"/>
            </p:cNvSpPr>
            <p:nvPr/>
          </p:nvSpPr>
          <p:spPr bwMode="auto">
            <a:xfrm>
              <a:off x="4683125" y="5297488"/>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9" name="Line 61">
              <a:extLst>
                <a:ext uri="{FF2B5EF4-FFF2-40B4-BE49-F238E27FC236}">
                  <a16:creationId xmlns:a16="http://schemas.microsoft.com/office/drawing/2014/main" id="{433C4851-FBEE-49C0-9491-AA730C0397BA}"/>
                </a:ext>
              </a:extLst>
            </p:cNvPr>
            <p:cNvSpPr>
              <a:spLocks noChangeShapeType="1"/>
            </p:cNvSpPr>
            <p:nvPr/>
          </p:nvSpPr>
          <p:spPr bwMode="auto">
            <a:xfrm>
              <a:off x="4683125" y="5907088"/>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0" name="Line 62">
              <a:extLst>
                <a:ext uri="{FF2B5EF4-FFF2-40B4-BE49-F238E27FC236}">
                  <a16:creationId xmlns:a16="http://schemas.microsoft.com/office/drawing/2014/main" id="{A57BA487-2324-4FCC-8E69-99E851077DF1}"/>
                </a:ext>
              </a:extLst>
            </p:cNvPr>
            <p:cNvSpPr>
              <a:spLocks noChangeShapeType="1"/>
            </p:cNvSpPr>
            <p:nvPr/>
          </p:nvSpPr>
          <p:spPr bwMode="auto">
            <a:xfrm flipV="1">
              <a:off x="4683125" y="5373688"/>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1" name="Line 63">
              <a:extLst>
                <a:ext uri="{FF2B5EF4-FFF2-40B4-BE49-F238E27FC236}">
                  <a16:creationId xmlns:a16="http://schemas.microsoft.com/office/drawing/2014/main" id="{60BE3041-0C3E-4D01-BD8C-7DEEC9180579}"/>
                </a:ext>
              </a:extLst>
            </p:cNvPr>
            <p:cNvSpPr>
              <a:spLocks noChangeShapeType="1"/>
            </p:cNvSpPr>
            <p:nvPr/>
          </p:nvSpPr>
          <p:spPr bwMode="auto">
            <a:xfrm>
              <a:off x="4683125" y="5373688"/>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2" name="Line 64">
              <a:extLst>
                <a:ext uri="{FF2B5EF4-FFF2-40B4-BE49-F238E27FC236}">
                  <a16:creationId xmlns:a16="http://schemas.microsoft.com/office/drawing/2014/main" id="{C05B40B9-6D08-495D-AEAC-BF9A5C4FC99F}"/>
                </a:ext>
              </a:extLst>
            </p:cNvPr>
            <p:cNvSpPr>
              <a:spLocks noChangeShapeType="1"/>
            </p:cNvSpPr>
            <p:nvPr/>
          </p:nvSpPr>
          <p:spPr bwMode="auto">
            <a:xfrm flipV="1">
              <a:off x="4987925" y="5373688"/>
              <a:ext cx="304800" cy="838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3" name="Line 65">
              <a:extLst>
                <a:ext uri="{FF2B5EF4-FFF2-40B4-BE49-F238E27FC236}">
                  <a16:creationId xmlns:a16="http://schemas.microsoft.com/office/drawing/2014/main" id="{0D53D1C1-B785-462C-98C3-68395E782837}"/>
                </a:ext>
              </a:extLst>
            </p:cNvPr>
            <p:cNvSpPr>
              <a:spLocks noChangeShapeType="1"/>
            </p:cNvSpPr>
            <p:nvPr/>
          </p:nvSpPr>
          <p:spPr bwMode="auto">
            <a:xfrm flipH="1" flipV="1">
              <a:off x="4683125" y="5373688"/>
              <a:ext cx="304800" cy="914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4" name="AutoShape 66">
              <a:extLst>
                <a:ext uri="{FF2B5EF4-FFF2-40B4-BE49-F238E27FC236}">
                  <a16:creationId xmlns:a16="http://schemas.microsoft.com/office/drawing/2014/main" id="{5BD7A9F8-A8B4-4C1E-94B0-AB8823002619}"/>
                </a:ext>
              </a:extLst>
            </p:cNvPr>
            <p:cNvSpPr>
              <a:spLocks noChangeArrowheads="1"/>
            </p:cNvSpPr>
            <p:nvPr/>
          </p:nvSpPr>
          <p:spPr bwMode="auto">
            <a:xfrm>
              <a:off x="1520825" y="4344988"/>
              <a:ext cx="1524000" cy="1143000"/>
            </a:xfrm>
            <a:prstGeom prst="roundRect">
              <a:avLst>
                <a:gd name="adj" fmla="val 16667"/>
              </a:avLst>
            </a:prstGeom>
            <a:blipFill dpi="0" rotWithShape="1">
              <a:blip r:embed="rId11"/>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95" name="AutoShape 67">
              <a:extLst>
                <a:ext uri="{FF2B5EF4-FFF2-40B4-BE49-F238E27FC236}">
                  <a16:creationId xmlns:a16="http://schemas.microsoft.com/office/drawing/2014/main" id="{44072ACD-F2B1-42A3-8D8A-E2BCD5C0328D}"/>
                </a:ext>
              </a:extLst>
            </p:cNvPr>
            <p:cNvSpPr>
              <a:spLocks noChangeArrowheads="1"/>
            </p:cNvSpPr>
            <p:nvPr/>
          </p:nvSpPr>
          <p:spPr bwMode="auto">
            <a:xfrm>
              <a:off x="1749425" y="4725988"/>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12.1</a:t>
              </a:r>
            </a:p>
            <a:p>
              <a:pPr algn="ctr">
                <a:spcBef>
                  <a:spcPct val="0"/>
                </a:spcBef>
                <a:buFontTx/>
                <a:buNone/>
              </a:pPr>
              <a:r>
                <a:rPr lang="zh-CN" altLang="en-US" sz="1400">
                  <a:ea typeface="幼圆" charset="-122"/>
                </a:rPr>
                <a:t>规划采购管理</a:t>
              </a:r>
            </a:p>
          </p:txBody>
        </p:sp>
        <p:sp>
          <p:nvSpPr>
            <p:cNvPr id="146496" name="Text Box 68">
              <a:extLst>
                <a:ext uri="{FF2B5EF4-FFF2-40B4-BE49-F238E27FC236}">
                  <a16:creationId xmlns:a16="http://schemas.microsoft.com/office/drawing/2014/main" id="{E1A93E1D-B92C-4D98-8ACF-F71769F6D7EF}"/>
                </a:ext>
              </a:extLst>
            </p:cNvPr>
            <p:cNvSpPr txBox="1">
              <a:spLocks noChangeArrowheads="1"/>
            </p:cNvSpPr>
            <p:nvPr/>
          </p:nvSpPr>
          <p:spPr bwMode="auto">
            <a:xfrm>
              <a:off x="1597025" y="4344988"/>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t>项目采购管理</a:t>
              </a:r>
            </a:p>
          </p:txBody>
        </p:sp>
        <p:sp>
          <p:nvSpPr>
            <p:cNvPr id="146497" name="AutoShape 70">
              <a:extLst>
                <a:ext uri="{FF2B5EF4-FFF2-40B4-BE49-F238E27FC236}">
                  <a16:creationId xmlns:a16="http://schemas.microsoft.com/office/drawing/2014/main" id="{6A443546-FF3A-4D86-94E5-676DA821DB2E}"/>
                </a:ext>
              </a:extLst>
            </p:cNvPr>
            <p:cNvSpPr>
              <a:spLocks noChangeArrowheads="1"/>
            </p:cNvSpPr>
            <p:nvPr/>
          </p:nvSpPr>
          <p:spPr bwMode="auto">
            <a:xfrm>
              <a:off x="7162800" y="3177978"/>
              <a:ext cx="1828800" cy="270397"/>
            </a:xfrm>
            <a:prstGeom prst="leftRightArrow">
              <a:avLst>
                <a:gd name="adj1" fmla="val 36611"/>
                <a:gd name="adj2" fmla="val 63236"/>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98" name="AutoShape 71">
              <a:extLst>
                <a:ext uri="{FF2B5EF4-FFF2-40B4-BE49-F238E27FC236}">
                  <a16:creationId xmlns:a16="http://schemas.microsoft.com/office/drawing/2014/main" id="{73E981F8-A799-4055-9081-1B48AA0B52FE}"/>
                </a:ext>
              </a:extLst>
            </p:cNvPr>
            <p:cNvSpPr>
              <a:spLocks noChangeArrowheads="1"/>
            </p:cNvSpPr>
            <p:nvPr/>
          </p:nvSpPr>
          <p:spPr bwMode="auto">
            <a:xfrm rot="1377827">
              <a:off x="7070776" y="4028719"/>
              <a:ext cx="1828800" cy="270412"/>
            </a:xfrm>
            <a:prstGeom prst="leftRightArrow">
              <a:avLst>
                <a:gd name="adj1" fmla="val 36611"/>
                <a:gd name="adj2" fmla="val 63236"/>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99" name="AutoShape 72">
              <a:extLst>
                <a:ext uri="{FF2B5EF4-FFF2-40B4-BE49-F238E27FC236}">
                  <a16:creationId xmlns:a16="http://schemas.microsoft.com/office/drawing/2014/main" id="{9BFEF4E5-E981-4350-AD01-AED2DDFB7A8F}"/>
                </a:ext>
              </a:extLst>
            </p:cNvPr>
            <p:cNvSpPr>
              <a:spLocks noChangeArrowheads="1"/>
            </p:cNvSpPr>
            <p:nvPr/>
          </p:nvSpPr>
          <p:spPr bwMode="auto">
            <a:xfrm rot="2727846">
              <a:off x="6520510" y="4161994"/>
              <a:ext cx="1046162" cy="243695"/>
            </a:xfrm>
            <a:prstGeom prst="leftRightArrow">
              <a:avLst>
                <a:gd name="adj1" fmla="val 36611"/>
                <a:gd name="adj2" fmla="val 31614"/>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00" name="AutoShape 73">
              <a:extLst>
                <a:ext uri="{FF2B5EF4-FFF2-40B4-BE49-F238E27FC236}">
                  <a16:creationId xmlns:a16="http://schemas.microsoft.com/office/drawing/2014/main" id="{97B64645-EC5F-4EFF-8AA6-D69229C0960E}"/>
                </a:ext>
              </a:extLst>
            </p:cNvPr>
            <p:cNvSpPr>
              <a:spLocks noChangeArrowheads="1"/>
            </p:cNvSpPr>
            <p:nvPr/>
          </p:nvSpPr>
          <p:spPr bwMode="auto">
            <a:xfrm rot="20245551">
              <a:off x="6945574" y="2327012"/>
              <a:ext cx="2133600" cy="257652"/>
            </a:xfrm>
            <a:prstGeom prst="leftRightArrow">
              <a:avLst>
                <a:gd name="adj1" fmla="val 36611"/>
                <a:gd name="adj2" fmla="val 7377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01" name="AutoShape 74">
              <a:extLst>
                <a:ext uri="{FF2B5EF4-FFF2-40B4-BE49-F238E27FC236}">
                  <a16:creationId xmlns:a16="http://schemas.microsoft.com/office/drawing/2014/main" id="{8B8E2FE4-D47F-485F-A289-D1ED00662299}"/>
                </a:ext>
              </a:extLst>
            </p:cNvPr>
            <p:cNvSpPr>
              <a:spLocks noChangeArrowheads="1"/>
            </p:cNvSpPr>
            <p:nvPr/>
          </p:nvSpPr>
          <p:spPr bwMode="auto">
            <a:xfrm rot="7961610">
              <a:off x="4135072" y="4072271"/>
              <a:ext cx="1143000" cy="243411"/>
            </a:xfrm>
            <a:prstGeom prst="leftRightArrow">
              <a:avLst>
                <a:gd name="adj1" fmla="val 36611"/>
                <a:gd name="adj2" fmla="val 39523"/>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502" name="AutoShape 75">
              <a:extLst>
                <a:ext uri="{FF2B5EF4-FFF2-40B4-BE49-F238E27FC236}">
                  <a16:creationId xmlns:a16="http://schemas.microsoft.com/office/drawing/2014/main" id="{EBA1EAA2-A309-473F-A832-8D3A333D63C5}"/>
                </a:ext>
              </a:extLst>
            </p:cNvPr>
            <p:cNvSpPr>
              <a:spLocks noChangeArrowheads="1"/>
            </p:cNvSpPr>
            <p:nvPr/>
          </p:nvSpPr>
          <p:spPr bwMode="auto">
            <a:xfrm rot="9405049">
              <a:off x="2943513" y="3882524"/>
              <a:ext cx="1970088" cy="258659"/>
            </a:xfrm>
            <a:prstGeom prst="leftRightArrow">
              <a:avLst>
                <a:gd name="adj1" fmla="val 36611"/>
                <a:gd name="adj2" fmla="val 57903"/>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503" name="AutoShape 76">
              <a:extLst>
                <a:ext uri="{FF2B5EF4-FFF2-40B4-BE49-F238E27FC236}">
                  <a16:creationId xmlns:a16="http://schemas.microsoft.com/office/drawing/2014/main" id="{DAD7BA59-0FAF-4817-9795-74D9D630C96F}"/>
                </a:ext>
              </a:extLst>
            </p:cNvPr>
            <p:cNvSpPr>
              <a:spLocks noChangeArrowheads="1"/>
            </p:cNvSpPr>
            <p:nvPr/>
          </p:nvSpPr>
          <p:spPr bwMode="auto">
            <a:xfrm rot="11842668">
              <a:off x="3223901" y="2379408"/>
              <a:ext cx="1827213" cy="286812"/>
            </a:xfrm>
            <a:prstGeom prst="leftRightArrow">
              <a:avLst>
                <a:gd name="adj1" fmla="val 36611"/>
                <a:gd name="adj2" fmla="val 63181"/>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504" name="AutoShape 77">
              <a:extLst>
                <a:ext uri="{FF2B5EF4-FFF2-40B4-BE49-F238E27FC236}">
                  <a16:creationId xmlns:a16="http://schemas.microsoft.com/office/drawing/2014/main" id="{C82ECEFD-B01F-4BE2-8025-1121E7B1A9E1}"/>
                </a:ext>
              </a:extLst>
            </p:cNvPr>
            <p:cNvSpPr>
              <a:spLocks noChangeArrowheads="1"/>
            </p:cNvSpPr>
            <p:nvPr/>
          </p:nvSpPr>
          <p:spPr bwMode="auto">
            <a:xfrm rot="5400000">
              <a:off x="5674903" y="2230029"/>
              <a:ext cx="517528" cy="172269"/>
            </a:xfrm>
            <a:prstGeom prst="leftRightArrow">
              <a:avLst>
                <a:gd name="adj1" fmla="val 36611"/>
                <a:gd name="adj2" fmla="val 23714"/>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05" name="AutoShape 8">
              <a:extLst>
                <a:ext uri="{FF2B5EF4-FFF2-40B4-BE49-F238E27FC236}">
                  <a16:creationId xmlns:a16="http://schemas.microsoft.com/office/drawing/2014/main" id="{8AF96E4E-4D8D-4AAF-923C-DD06A8C10887}"/>
                </a:ext>
              </a:extLst>
            </p:cNvPr>
            <p:cNvSpPr>
              <a:spLocks noChangeArrowheads="1"/>
            </p:cNvSpPr>
            <p:nvPr/>
          </p:nvSpPr>
          <p:spPr bwMode="auto">
            <a:xfrm>
              <a:off x="1905000" y="1270000"/>
              <a:ext cx="1066800" cy="406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5.2</a:t>
              </a:r>
            </a:p>
            <a:p>
              <a:pPr algn="ctr">
                <a:spcBef>
                  <a:spcPct val="0"/>
                </a:spcBef>
                <a:buFontTx/>
                <a:buNone/>
              </a:pPr>
              <a:r>
                <a:rPr lang="zh-CN" altLang="en-US" sz="1400">
                  <a:ea typeface="幼圆" charset="-122"/>
                </a:rPr>
                <a:t>收集需求</a:t>
              </a:r>
            </a:p>
          </p:txBody>
        </p:sp>
        <p:sp>
          <p:nvSpPr>
            <p:cNvPr id="146506" name="Line 11">
              <a:extLst>
                <a:ext uri="{FF2B5EF4-FFF2-40B4-BE49-F238E27FC236}">
                  <a16:creationId xmlns:a16="http://schemas.microsoft.com/office/drawing/2014/main" id="{B6D15259-233E-4F51-90CD-9BFA34142FE8}"/>
                </a:ext>
              </a:extLst>
            </p:cNvPr>
            <p:cNvSpPr>
              <a:spLocks noChangeShapeType="1"/>
            </p:cNvSpPr>
            <p:nvPr/>
          </p:nvSpPr>
          <p:spPr bwMode="auto">
            <a:xfrm>
              <a:off x="2428875" y="1103314"/>
              <a:ext cx="0" cy="166687"/>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507" name="AutoShape 33">
              <a:extLst>
                <a:ext uri="{FF2B5EF4-FFF2-40B4-BE49-F238E27FC236}">
                  <a16:creationId xmlns:a16="http://schemas.microsoft.com/office/drawing/2014/main" id="{E75B17D7-4FC9-4D9F-B017-F39DBDE0534E}"/>
                </a:ext>
              </a:extLst>
            </p:cNvPr>
            <p:cNvSpPr>
              <a:spLocks noChangeArrowheads="1"/>
            </p:cNvSpPr>
            <p:nvPr/>
          </p:nvSpPr>
          <p:spPr bwMode="auto">
            <a:xfrm>
              <a:off x="9191625" y="742950"/>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7.1</a:t>
              </a:r>
            </a:p>
            <a:p>
              <a:pPr algn="ctr">
                <a:spcBef>
                  <a:spcPct val="0"/>
                </a:spcBef>
                <a:buFontTx/>
                <a:buNone/>
              </a:pPr>
              <a:r>
                <a:rPr lang="zh-CN" altLang="en-US" sz="1400">
                  <a:ea typeface="幼圆" charset="-122"/>
                </a:rPr>
                <a:t>规划成本管理</a:t>
              </a:r>
            </a:p>
          </p:txBody>
        </p:sp>
        <p:sp>
          <p:nvSpPr>
            <p:cNvPr id="146508" name="Line 35">
              <a:extLst>
                <a:ext uri="{FF2B5EF4-FFF2-40B4-BE49-F238E27FC236}">
                  <a16:creationId xmlns:a16="http://schemas.microsoft.com/office/drawing/2014/main" id="{697CB781-F440-4418-8EC9-B8F3CA44C900}"/>
                </a:ext>
              </a:extLst>
            </p:cNvPr>
            <p:cNvSpPr>
              <a:spLocks noChangeShapeType="1"/>
            </p:cNvSpPr>
            <p:nvPr/>
          </p:nvSpPr>
          <p:spPr bwMode="auto">
            <a:xfrm>
              <a:off x="9725025" y="1181100"/>
              <a:ext cx="0" cy="2286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509" name="AutoShape 44">
              <a:extLst>
                <a:ext uri="{FF2B5EF4-FFF2-40B4-BE49-F238E27FC236}">
                  <a16:creationId xmlns:a16="http://schemas.microsoft.com/office/drawing/2014/main" id="{3D8F51BD-CF73-431C-9F79-4989DD1A07EF}"/>
                </a:ext>
              </a:extLst>
            </p:cNvPr>
            <p:cNvSpPr>
              <a:spLocks noChangeArrowheads="1"/>
            </p:cNvSpPr>
            <p:nvPr/>
          </p:nvSpPr>
          <p:spPr bwMode="auto">
            <a:xfrm>
              <a:off x="9029700" y="5178425"/>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9.2</a:t>
              </a:r>
            </a:p>
            <a:p>
              <a:pPr algn="ctr">
                <a:spcBef>
                  <a:spcPct val="0"/>
                </a:spcBef>
                <a:buFontTx/>
                <a:buNone/>
              </a:pPr>
              <a:r>
                <a:rPr lang="zh-CN" altLang="en-US" sz="1400">
                  <a:ea typeface="幼圆" charset="-122"/>
                </a:rPr>
                <a:t>估算活动资源</a:t>
              </a:r>
            </a:p>
          </p:txBody>
        </p:sp>
        <p:sp>
          <p:nvSpPr>
            <p:cNvPr id="146510" name="AutoShape 38">
              <a:extLst>
                <a:ext uri="{FF2B5EF4-FFF2-40B4-BE49-F238E27FC236}">
                  <a16:creationId xmlns:a16="http://schemas.microsoft.com/office/drawing/2014/main" id="{1FA8DECC-7D63-4A67-A8D0-EB56A7CED315}"/>
                </a:ext>
              </a:extLst>
            </p:cNvPr>
            <p:cNvSpPr>
              <a:spLocks noChangeArrowheads="1"/>
            </p:cNvSpPr>
            <p:nvPr/>
          </p:nvSpPr>
          <p:spPr bwMode="auto">
            <a:xfrm>
              <a:off x="1519238" y="3025775"/>
              <a:ext cx="1524001"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11" name="AutoShape 39">
              <a:extLst>
                <a:ext uri="{FF2B5EF4-FFF2-40B4-BE49-F238E27FC236}">
                  <a16:creationId xmlns:a16="http://schemas.microsoft.com/office/drawing/2014/main" id="{26DA22F8-629A-4068-AFDE-D810BFB8EFC7}"/>
                </a:ext>
              </a:extLst>
            </p:cNvPr>
            <p:cNvSpPr>
              <a:spLocks noChangeArrowheads="1"/>
            </p:cNvSpPr>
            <p:nvPr/>
          </p:nvSpPr>
          <p:spPr bwMode="auto">
            <a:xfrm>
              <a:off x="1747838" y="3406775"/>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dirty="0">
                  <a:ea typeface="幼圆" charset="-122"/>
                </a:rPr>
                <a:t>13.2</a:t>
              </a:r>
            </a:p>
            <a:p>
              <a:pPr algn="ctr">
                <a:spcBef>
                  <a:spcPct val="0"/>
                </a:spcBef>
                <a:buFontTx/>
                <a:buNone/>
              </a:pPr>
              <a:r>
                <a:rPr lang="zh-CN" altLang="en-US" sz="1400" dirty="0">
                  <a:ea typeface="幼圆" charset="-122"/>
                </a:rPr>
                <a:t>规划相关方管理</a:t>
              </a:r>
            </a:p>
          </p:txBody>
        </p:sp>
        <p:sp>
          <p:nvSpPr>
            <p:cNvPr id="146512" name="Text Box 42">
              <a:extLst>
                <a:ext uri="{FF2B5EF4-FFF2-40B4-BE49-F238E27FC236}">
                  <a16:creationId xmlns:a16="http://schemas.microsoft.com/office/drawing/2014/main" id="{4DD19C0C-53D9-47A8-8D30-33C638BC8FB2}"/>
                </a:ext>
              </a:extLst>
            </p:cNvPr>
            <p:cNvSpPr txBox="1">
              <a:spLocks noChangeArrowheads="1"/>
            </p:cNvSpPr>
            <p:nvPr/>
          </p:nvSpPr>
          <p:spPr bwMode="auto">
            <a:xfrm>
              <a:off x="1595438" y="3025776"/>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项目干系人管理</a:t>
              </a:r>
            </a:p>
          </p:txBody>
        </p:sp>
        <p:sp>
          <p:nvSpPr>
            <p:cNvPr id="146513" name="AutoShape 72">
              <a:extLst>
                <a:ext uri="{FF2B5EF4-FFF2-40B4-BE49-F238E27FC236}">
                  <a16:creationId xmlns:a16="http://schemas.microsoft.com/office/drawing/2014/main" id="{5CB080D9-7B81-4A34-AC4B-BBFFFAF10192}"/>
                </a:ext>
              </a:extLst>
            </p:cNvPr>
            <p:cNvSpPr>
              <a:spLocks noChangeArrowheads="1"/>
            </p:cNvSpPr>
            <p:nvPr/>
          </p:nvSpPr>
          <p:spPr bwMode="auto">
            <a:xfrm rot="21150546">
              <a:off x="3077869" y="3186345"/>
              <a:ext cx="1760538" cy="327175"/>
            </a:xfrm>
            <a:prstGeom prst="leftRightArrow">
              <a:avLst>
                <a:gd name="adj1" fmla="val 36611"/>
                <a:gd name="adj2" fmla="val 31608"/>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pic>
        <p:nvPicPr>
          <p:cNvPr id="3"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6000" y="2420125"/>
            <a:ext cx="9540000" cy="3395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EA686E97-36E5-40FA-90E1-BF33CBED2B58}"/>
              </a:ext>
            </a:extLst>
          </p:cNvPr>
          <p:cNvSpPr txBox="1"/>
          <p:nvPr/>
        </p:nvSpPr>
        <p:spPr>
          <a:xfrm>
            <a:off x="588772" y="1248349"/>
            <a:ext cx="11133426" cy="83730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457200" lvl="3" indent="-457200" defTabSz="1252855">
              <a:lnSpc>
                <a:spcPct val="120000"/>
              </a:lnSpc>
              <a:defRPr/>
            </a:pPr>
            <a:r>
              <a:rPr lang="zh-CN" altLang="en-US" sz="2800" b="1" dirty="0">
                <a:latin typeface="SourceHanSansSC-Regular"/>
              </a:rPr>
              <a:t>制定项目管理计划的过程</a:t>
            </a:r>
            <a:endParaRPr lang="en-US" altLang="zh-CN" sz="2800" b="1" dirty="0">
              <a:latin typeface="SourceHanSansSC-Regular"/>
            </a:endParaRPr>
          </a:p>
          <a:p>
            <a:pPr marL="389255" lvl="3" indent="0" defTabSz="449580">
              <a:lnSpc>
                <a:spcPct val="120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8083" name="Group 3">
            <a:extLst>
              <a:ext uri="{FF2B5EF4-FFF2-40B4-BE49-F238E27FC236}">
                <a16:creationId xmlns:a16="http://schemas.microsoft.com/office/drawing/2014/main" id="{63C23B21-C995-4EB3-82B8-72DBAB09D8A8}"/>
              </a:ext>
            </a:extLst>
          </p:cNvPr>
          <p:cNvGrpSpPr>
            <a:grpSpLocks/>
          </p:cNvGrpSpPr>
          <p:nvPr/>
        </p:nvGrpSpPr>
        <p:grpSpPr bwMode="auto">
          <a:xfrm>
            <a:off x="1992314" y="2144713"/>
            <a:ext cx="7862887" cy="4092575"/>
            <a:chOff x="642" y="1162"/>
            <a:chExt cx="4953" cy="2578"/>
          </a:xfrm>
        </p:grpSpPr>
        <p:sp>
          <p:nvSpPr>
            <p:cNvPr id="558084" name="Text Box 4">
              <a:extLst>
                <a:ext uri="{FF2B5EF4-FFF2-40B4-BE49-F238E27FC236}">
                  <a16:creationId xmlns:a16="http://schemas.microsoft.com/office/drawing/2014/main" id="{9EBA1F0C-F2F1-4A58-936B-C7BB54BD5276}"/>
                </a:ext>
              </a:extLst>
            </p:cNvPr>
            <p:cNvSpPr txBox="1">
              <a:spLocks noChangeArrowheads="1"/>
            </p:cNvSpPr>
            <p:nvPr/>
          </p:nvSpPr>
          <p:spPr bwMode="auto">
            <a:xfrm>
              <a:off x="1345" y="2157"/>
              <a:ext cx="602" cy="23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solidFill>
                    <a:srgbClr val="0B02BE"/>
                  </a:solidFill>
                  <a:latin typeface="Tahoma" panose="020B0604030504040204" pitchFamily="34" charset="0"/>
                </a:rPr>
                <a:t>范围</a:t>
              </a:r>
            </a:p>
          </p:txBody>
        </p:sp>
        <p:sp>
          <p:nvSpPr>
            <p:cNvPr id="558085" name="Text Box 5">
              <a:extLst>
                <a:ext uri="{FF2B5EF4-FFF2-40B4-BE49-F238E27FC236}">
                  <a16:creationId xmlns:a16="http://schemas.microsoft.com/office/drawing/2014/main" id="{96BF65B5-E54C-491F-8FCB-2E0F0360BB82}"/>
                </a:ext>
              </a:extLst>
            </p:cNvPr>
            <p:cNvSpPr txBox="1">
              <a:spLocks noChangeArrowheads="1"/>
            </p:cNvSpPr>
            <p:nvPr/>
          </p:nvSpPr>
          <p:spPr bwMode="auto">
            <a:xfrm>
              <a:off x="2204" y="2157"/>
              <a:ext cx="602" cy="23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b="1">
                  <a:solidFill>
                    <a:srgbClr val="0B02BE"/>
                  </a:solidFill>
                  <a:latin typeface="Tahoma" panose="020B0604030504040204" pitchFamily="34" charset="0"/>
                </a:rPr>
                <a:t>WBS</a:t>
              </a:r>
            </a:p>
          </p:txBody>
        </p:sp>
        <p:sp>
          <p:nvSpPr>
            <p:cNvPr id="558086" name="Text Box 6">
              <a:extLst>
                <a:ext uri="{FF2B5EF4-FFF2-40B4-BE49-F238E27FC236}">
                  <a16:creationId xmlns:a16="http://schemas.microsoft.com/office/drawing/2014/main" id="{0529CD0E-5A9E-4573-B050-8A635FC8B5ED}"/>
                </a:ext>
              </a:extLst>
            </p:cNvPr>
            <p:cNvSpPr txBox="1">
              <a:spLocks noChangeArrowheads="1"/>
            </p:cNvSpPr>
            <p:nvPr/>
          </p:nvSpPr>
          <p:spPr bwMode="auto">
            <a:xfrm>
              <a:off x="3135" y="2157"/>
              <a:ext cx="768" cy="23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a:solidFill>
                    <a:srgbClr val="0B02BE"/>
                  </a:solidFill>
                  <a:latin typeface="Tahoma" panose="020B0604030504040204" pitchFamily="34" charset="0"/>
                </a:rPr>
                <a:t>进度计划</a:t>
              </a:r>
            </a:p>
          </p:txBody>
        </p:sp>
        <p:sp>
          <p:nvSpPr>
            <p:cNvPr id="558087" name="Text Box 7">
              <a:extLst>
                <a:ext uri="{FF2B5EF4-FFF2-40B4-BE49-F238E27FC236}">
                  <a16:creationId xmlns:a16="http://schemas.microsoft.com/office/drawing/2014/main" id="{5601D439-7B5F-46A9-A276-8B78E50864A8}"/>
                </a:ext>
              </a:extLst>
            </p:cNvPr>
            <p:cNvSpPr txBox="1">
              <a:spLocks noChangeArrowheads="1"/>
            </p:cNvSpPr>
            <p:nvPr/>
          </p:nvSpPr>
          <p:spPr bwMode="auto">
            <a:xfrm>
              <a:off x="4172" y="2157"/>
              <a:ext cx="768" cy="23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dirty="0">
                  <a:solidFill>
                    <a:srgbClr val="0B02BE"/>
                  </a:solidFill>
                  <a:latin typeface="Tahoma" panose="020B0604030504040204" pitchFamily="34" charset="0"/>
                </a:rPr>
                <a:t>集成计划</a:t>
              </a:r>
            </a:p>
          </p:txBody>
        </p:sp>
        <p:sp>
          <p:nvSpPr>
            <p:cNvPr id="558088" name="Line 8">
              <a:extLst>
                <a:ext uri="{FF2B5EF4-FFF2-40B4-BE49-F238E27FC236}">
                  <a16:creationId xmlns:a16="http://schemas.microsoft.com/office/drawing/2014/main" id="{68FD1D8C-C2BF-4EC9-8C53-3D5FDACD49AF}"/>
                </a:ext>
              </a:extLst>
            </p:cNvPr>
            <p:cNvSpPr>
              <a:spLocks noChangeShapeType="1"/>
            </p:cNvSpPr>
            <p:nvPr/>
          </p:nvSpPr>
          <p:spPr bwMode="auto">
            <a:xfrm>
              <a:off x="1392" y="1677"/>
              <a:ext cx="265"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89" name="Line 9">
              <a:extLst>
                <a:ext uri="{FF2B5EF4-FFF2-40B4-BE49-F238E27FC236}">
                  <a16:creationId xmlns:a16="http://schemas.microsoft.com/office/drawing/2014/main" id="{1B844E28-2BB2-4443-B056-867D89D1C0D5}"/>
                </a:ext>
              </a:extLst>
            </p:cNvPr>
            <p:cNvSpPr>
              <a:spLocks noChangeShapeType="1"/>
            </p:cNvSpPr>
            <p:nvPr/>
          </p:nvSpPr>
          <p:spPr bwMode="auto">
            <a:xfrm>
              <a:off x="2780" y="1725"/>
              <a:ext cx="324"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0" name="Line 10">
              <a:extLst>
                <a:ext uri="{FF2B5EF4-FFF2-40B4-BE49-F238E27FC236}">
                  <a16:creationId xmlns:a16="http://schemas.microsoft.com/office/drawing/2014/main" id="{78494974-151E-418E-BF56-1D714453E064}"/>
                </a:ext>
              </a:extLst>
            </p:cNvPr>
            <p:cNvSpPr>
              <a:spLocks noChangeShapeType="1"/>
            </p:cNvSpPr>
            <p:nvPr/>
          </p:nvSpPr>
          <p:spPr bwMode="auto">
            <a:xfrm>
              <a:off x="3692" y="1725"/>
              <a:ext cx="372"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1" name="Line 11">
              <a:extLst>
                <a:ext uri="{FF2B5EF4-FFF2-40B4-BE49-F238E27FC236}">
                  <a16:creationId xmlns:a16="http://schemas.microsoft.com/office/drawing/2014/main" id="{BCFA3186-0146-4932-A27C-C99830124716}"/>
                </a:ext>
              </a:extLst>
            </p:cNvPr>
            <p:cNvSpPr>
              <a:spLocks noChangeShapeType="1"/>
            </p:cNvSpPr>
            <p:nvPr/>
          </p:nvSpPr>
          <p:spPr bwMode="auto">
            <a:xfrm flipV="1">
              <a:off x="1392" y="2360"/>
              <a:ext cx="226" cy="51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2" name="Line 12">
              <a:extLst>
                <a:ext uri="{FF2B5EF4-FFF2-40B4-BE49-F238E27FC236}">
                  <a16:creationId xmlns:a16="http://schemas.microsoft.com/office/drawing/2014/main" id="{280F8157-40AF-4797-A043-C9C111EEC027}"/>
                </a:ext>
              </a:extLst>
            </p:cNvPr>
            <p:cNvSpPr>
              <a:spLocks noChangeShapeType="1"/>
            </p:cNvSpPr>
            <p:nvPr/>
          </p:nvSpPr>
          <p:spPr bwMode="auto">
            <a:xfrm flipV="1">
              <a:off x="2734" y="2397"/>
              <a:ext cx="37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3" name="Line 13">
              <a:extLst>
                <a:ext uri="{FF2B5EF4-FFF2-40B4-BE49-F238E27FC236}">
                  <a16:creationId xmlns:a16="http://schemas.microsoft.com/office/drawing/2014/main" id="{172147F8-7D79-45FC-BE69-C14958E99D60}"/>
                </a:ext>
              </a:extLst>
            </p:cNvPr>
            <p:cNvSpPr>
              <a:spLocks noChangeShapeType="1"/>
            </p:cNvSpPr>
            <p:nvPr/>
          </p:nvSpPr>
          <p:spPr bwMode="auto">
            <a:xfrm flipV="1">
              <a:off x="3740" y="2445"/>
              <a:ext cx="371"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4" name="Line 14">
              <a:extLst>
                <a:ext uri="{FF2B5EF4-FFF2-40B4-BE49-F238E27FC236}">
                  <a16:creationId xmlns:a16="http://schemas.microsoft.com/office/drawing/2014/main" id="{DE2821F0-5285-4AEB-A67D-8DF59A5DAF73}"/>
                </a:ext>
              </a:extLst>
            </p:cNvPr>
            <p:cNvSpPr>
              <a:spLocks noChangeShapeType="1"/>
            </p:cNvSpPr>
            <p:nvPr/>
          </p:nvSpPr>
          <p:spPr bwMode="auto">
            <a:xfrm>
              <a:off x="1068" y="2253"/>
              <a:ext cx="27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5" name="Line 15">
              <a:extLst>
                <a:ext uri="{FF2B5EF4-FFF2-40B4-BE49-F238E27FC236}">
                  <a16:creationId xmlns:a16="http://schemas.microsoft.com/office/drawing/2014/main" id="{36BECA2F-05E0-4205-AB47-D4D306A61CC9}"/>
                </a:ext>
              </a:extLst>
            </p:cNvPr>
            <p:cNvSpPr>
              <a:spLocks noChangeShapeType="1"/>
            </p:cNvSpPr>
            <p:nvPr/>
          </p:nvSpPr>
          <p:spPr bwMode="auto">
            <a:xfrm>
              <a:off x="1901" y="2253"/>
              <a:ext cx="30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6" name="Line 16">
              <a:extLst>
                <a:ext uri="{FF2B5EF4-FFF2-40B4-BE49-F238E27FC236}">
                  <a16:creationId xmlns:a16="http://schemas.microsoft.com/office/drawing/2014/main" id="{A184E2CE-3963-47D7-80B5-22E5336C22CE}"/>
                </a:ext>
              </a:extLst>
            </p:cNvPr>
            <p:cNvSpPr>
              <a:spLocks noChangeShapeType="1"/>
            </p:cNvSpPr>
            <p:nvPr/>
          </p:nvSpPr>
          <p:spPr bwMode="auto">
            <a:xfrm>
              <a:off x="2806" y="2248"/>
              <a:ext cx="329" cy="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7" name="Line 17">
              <a:extLst>
                <a:ext uri="{FF2B5EF4-FFF2-40B4-BE49-F238E27FC236}">
                  <a16:creationId xmlns:a16="http://schemas.microsoft.com/office/drawing/2014/main" id="{6528B18F-4F36-46C0-BE85-C3C731CA9480}"/>
                </a:ext>
              </a:extLst>
            </p:cNvPr>
            <p:cNvSpPr>
              <a:spLocks noChangeShapeType="1"/>
            </p:cNvSpPr>
            <p:nvPr/>
          </p:nvSpPr>
          <p:spPr bwMode="auto">
            <a:xfrm>
              <a:off x="3903" y="2272"/>
              <a:ext cx="269" cy="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8" name="Text Box 18">
              <a:extLst>
                <a:ext uri="{FF2B5EF4-FFF2-40B4-BE49-F238E27FC236}">
                  <a16:creationId xmlns:a16="http://schemas.microsoft.com/office/drawing/2014/main" id="{4D593B9A-6083-47CB-BD5A-4CDEA6F226DB}"/>
                </a:ext>
              </a:extLst>
            </p:cNvPr>
            <p:cNvSpPr txBox="1">
              <a:spLocks noChangeArrowheads="1"/>
            </p:cNvSpPr>
            <p:nvPr/>
          </p:nvSpPr>
          <p:spPr bwMode="auto">
            <a:xfrm>
              <a:off x="1012" y="2939"/>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限制条件</a:t>
              </a:r>
            </a:p>
          </p:txBody>
        </p:sp>
        <p:sp>
          <p:nvSpPr>
            <p:cNvPr id="558099" name="Text Box 19">
              <a:extLst>
                <a:ext uri="{FF2B5EF4-FFF2-40B4-BE49-F238E27FC236}">
                  <a16:creationId xmlns:a16="http://schemas.microsoft.com/office/drawing/2014/main" id="{665DBEAF-F39C-4761-B645-045FEF7BB440}"/>
                </a:ext>
              </a:extLst>
            </p:cNvPr>
            <p:cNvSpPr txBox="1">
              <a:spLocks noChangeArrowheads="1"/>
            </p:cNvSpPr>
            <p:nvPr/>
          </p:nvSpPr>
          <p:spPr bwMode="auto">
            <a:xfrm>
              <a:off x="1868" y="2934"/>
              <a:ext cx="14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资源条件、采购计划</a:t>
              </a:r>
            </a:p>
          </p:txBody>
        </p:sp>
        <p:sp>
          <p:nvSpPr>
            <p:cNvPr id="558100" name="Text Box 20">
              <a:extLst>
                <a:ext uri="{FF2B5EF4-FFF2-40B4-BE49-F238E27FC236}">
                  <a16:creationId xmlns:a16="http://schemas.microsoft.com/office/drawing/2014/main" id="{543D32D2-94A9-4CE1-A29C-8F5216F6231D}"/>
                </a:ext>
              </a:extLst>
            </p:cNvPr>
            <p:cNvSpPr txBox="1">
              <a:spLocks noChangeArrowheads="1"/>
            </p:cNvSpPr>
            <p:nvPr/>
          </p:nvSpPr>
          <p:spPr bwMode="auto">
            <a:xfrm>
              <a:off x="3512" y="2939"/>
              <a:ext cx="15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质量要求、标准、规范</a:t>
              </a:r>
            </a:p>
          </p:txBody>
        </p:sp>
        <p:sp>
          <p:nvSpPr>
            <p:cNvPr id="558101" name="Text Box 21">
              <a:extLst>
                <a:ext uri="{FF2B5EF4-FFF2-40B4-BE49-F238E27FC236}">
                  <a16:creationId xmlns:a16="http://schemas.microsoft.com/office/drawing/2014/main" id="{99A437D2-9188-4033-86AB-B10546FC0246}"/>
                </a:ext>
              </a:extLst>
            </p:cNvPr>
            <p:cNvSpPr txBox="1">
              <a:spLocks noChangeArrowheads="1"/>
            </p:cNvSpPr>
            <p:nvPr/>
          </p:nvSpPr>
          <p:spPr bwMode="auto">
            <a:xfrm>
              <a:off x="1012" y="1499"/>
              <a:ext cx="84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项目干系人</a:t>
              </a:r>
            </a:p>
          </p:txBody>
        </p:sp>
        <p:sp>
          <p:nvSpPr>
            <p:cNvPr id="558102" name="Text Box 22">
              <a:extLst>
                <a:ext uri="{FF2B5EF4-FFF2-40B4-BE49-F238E27FC236}">
                  <a16:creationId xmlns:a16="http://schemas.microsoft.com/office/drawing/2014/main" id="{0B0C3EC3-A775-4F7D-9B9D-562ACEF58512}"/>
                </a:ext>
              </a:extLst>
            </p:cNvPr>
            <p:cNvSpPr txBox="1">
              <a:spLocks noChangeArrowheads="1"/>
            </p:cNvSpPr>
            <p:nvPr/>
          </p:nvSpPr>
          <p:spPr bwMode="auto">
            <a:xfrm>
              <a:off x="2363" y="1533"/>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成本估算</a:t>
              </a:r>
            </a:p>
          </p:txBody>
        </p:sp>
        <p:sp>
          <p:nvSpPr>
            <p:cNvPr id="558103" name="Text Box 23">
              <a:extLst>
                <a:ext uri="{FF2B5EF4-FFF2-40B4-BE49-F238E27FC236}">
                  <a16:creationId xmlns:a16="http://schemas.microsoft.com/office/drawing/2014/main" id="{74DC8142-352B-4D31-ACA7-F4EE6F2DF981}"/>
                </a:ext>
              </a:extLst>
            </p:cNvPr>
            <p:cNvSpPr txBox="1">
              <a:spLocks noChangeArrowheads="1"/>
            </p:cNvSpPr>
            <p:nvPr/>
          </p:nvSpPr>
          <p:spPr bwMode="auto">
            <a:xfrm>
              <a:off x="3308" y="1542"/>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风险</a:t>
              </a:r>
            </a:p>
          </p:txBody>
        </p:sp>
        <p:sp>
          <p:nvSpPr>
            <p:cNvPr id="558104" name="Text Box 24">
              <a:extLst>
                <a:ext uri="{FF2B5EF4-FFF2-40B4-BE49-F238E27FC236}">
                  <a16:creationId xmlns:a16="http://schemas.microsoft.com/office/drawing/2014/main" id="{02D0229D-3C25-4A28-B7DE-6E065A5B7811}"/>
                </a:ext>
              </a:extLst>
            </p:cNvPr>
            <p:cNvSpPr txBox="1">
              <a:spLocks noChangeArrowheads="1"/>
            </p:cNvSpPr>
            <p:nvPr/>
          </p:nvSpPr>
          <p:spPr bwMode="auto">
            <a:xfrm>
              <a:off x="642" y="2123"/>
              <a:ext cx="410" cy="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目标</a:t>
              </a:r>
            </a:p>
          </p:txBody>
        </p:sp>
        <p:sp>
          <p:nvSpPr>
            <p:cNvPr id="558105" name="Text Box 25">
              <a:extLst>
                <a:ext uri="{FF2B5EF4-FFF2-40B4-BE49-F238E27FC236}">
                  <a16:creationId xmlns:a16="http://schemas.microsoft.com/office/drawing/2014/main" id="{8D2406BC-0E42-441C-A06E-BD825422A441}"/>
                </a:ext>
              </a:extLst>
            </p:cNvPr>
            <p:cNvSpPr txBox="1">
              <a:spLocks noChangeArrowheads="1"/>
            </p:cNvSpPr>
            <p:nvPr/>
          </p:nvSpPr>
          <p:spPr bwMode="auto">
            <a:xfrm>
              <a:off x="5185" y="2123"/>
              <a:ext cx="410" cy="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评审</a:t>
              </a:r>
            </a:p>
          </p:txBody>
        </p:sp>
        <p:sp>
          <p:nvSpPr>
            <p:cNvPr id="558106" name="Line 26">
              <a:extLst>
                <a:ext uri="{FF2B5EF4-FFF2-40B4-BE49-F238E27FC236}">
                  <a16:creationId xmlns:a16="http://schemas.microsoft.com/office/drawing/2014/main" id="{0AA0C20E-F615-48BF-9F6D-663BD2595880}"/>
                </a:ext>
              </a:extLst>
            </p:cNvPr>
            <p:cNvSpPr>
              <a:spLocks noChangeShapeType="1"/>
            </p:cNvSpPr>
            <p:nvPr/>
          </p:nvSpPr>
          <p:spPr bwMode="auto">
            <a:xfrm>
              <a:off x="5381" y="2349"/>
              <a:ext cx="0" cy="1056"/>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07" name="Line 27">
              <a:extLst>
                <a:ext uri="{FF2B5EF4-FFF2-40B4-BE49-F238E27FC236}">
                  <a16:creationId xmlns:a16="http://schemas.microsoft.com/office/drawing/2014/main" id="{E4BB68F7-3682-4541-9F29-7CFC473EAAE1}"/>
                </a:ext>
              </a:extLst>
            </p:cNvPr>
            <p:cNvSpPr>
              <a:spLocks noChangeShapeType="1"/>
            </p:cNvSpPr>
            <p:nvPr/>
          </p:nvSpPr>
          <p:spPr bwMode="auto">
            <a:xfrm>
              <a:off x="1679" y="3405"/>
              <a:ext cx="3702" cy="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08" name="Line 28">
              <a:extLst>
                <a:ext uri="{FF2B5EF4-FFF2-40B4-BE49-F238E27FC236}">
                  <a16:creationId xmlns:a16="http://schemas.microsoft.com/office/drawing/2014/main" id="{69FA1BE2-C427-4294-B1BB-A1F51F1E0744}"/>
                </a:ext>
              </a:extLst>
            </p:cNvPr>
            <p:cNvSpPr>
              <a:spLocks noChangeShapeType="1"/>
            </p:cNvSpPr>
            <p:nvPr/>
          </p:nvSpPr>
          <p:spPr bwMode="auto">
            <a:xfrm flipV="1">
              <a:off x="1679" y="2733"/>
              <a:ext cx="0" cy="672"/>
            </a:xfrm>
            <a:prstGeom prst="line">
              <a:avLst/>
            </a:prstGeom>
            <a:noFill/>
            <a:ln w="571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09" name="Line 29">
              <a:extLst>
                <a:ext uri="{FF2B5EF4-FFF2-40B4-BE49-F238E27FC236}">
                  <a16:creationId xmlns:a16="http://schemas.microsoft.com/office/drawing/2014/main" id="{FE472660-D772-473A-AAD2-FA179E24F6FD}"/>
                </a:ext>
              </a:extLst>
            </p:cNvPr>
            <p:cNvSpPr>
              <a:spLocks noChangeShapeType="1"/>
            </p:cNvSpPr>
            <p:nvPr/>
          </p:nvSpPr>
          <p:spPr bwMode="auto">
            <a:xfrm>
              <a:off x="4964" y="2253"/>
              <a:ext cx="2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10" name="Line 30">
              <a:extLst>
                <a:ext uri="{FF2B5EF4-FFF2-40B4-BE49-F238E27FC236}">
                  <a16:creationId xmlns:a16="http://schemas.microsoft.com/office/drawing/2014/main" id="{941612A7-7EB9-4D81-BE13-7E580451E007}"/>
                </a:ext>
              </a:extLst>
            </p:cNvPr>
            <p:cNvSpPr>
              <a:spLocks noChangeShapeType="1"/>
            </p:cNvSpPr>
            <p:nvPr/>
          </p:nvSpPr>
          <p:spPr bwMode="auto">
            <a:xfrm flipV="1">
              <a:off x="2776" y="1279"/>
              <a:ext cx="62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11" name="Text Box 31">
              <a:extLst>
                <a:ext uri="{FF2B5EF4-FFF2-40B4-BE49-F238E27FC236}">
                  <a16:creationId xmlns:a16="http://schemas.microsoft.com/office/drawing/2014/main" id="{FD32A69F-8CB4-4A4B-9D8B-28C6EBBBD786}"/>
                </a:ext>
              </a:extLst>
            </p:cNvPr>
            <p:cNvSpPr txBox="1">
              <a:spLocks noChangeArrowheads="1"/>
            </p:cNvSpPr>
            <p:nvPr/>
          </p:nvSpPr>
          <p:spPr bwMode="auto">
            <a:xfrm>
              <a:off x="3424" y="1162"/>
              <a:ext cx="1417" cy="23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a:solidFill>
                    <a:srgbClr val="0B02BE"/>
                  </a:solidFill>
                  <a:latin typeface="Tahoma" panose="020B0604030504040204" pitchFamily="34" charset="0"/>
                </a:rPr>
                <a:t>软件项目成本估算</a:t>
              </a:r>
            </a:p>
          </p:txBody>
        </p:sp>
        <p:sp>
          <p:nvSpPr>
            <p:cNvPr id="558112" name="Line 32">
              <a:extLst>
                <a:ext uri="{FF2B5EF4-FFF2-40B4-BE49-F238E27FC236}">
                  <a16:creationId xmlns:a16="http://schemas.microsoft.com/office/drawing/2014/main" id="{DAA62759-677D-4F9B-A160-13EA06AA4603}"/>
                </a:ext>
              </a:extLst>
            </p:cNvPr>
            <p:cNvSpPr>
              <a:spLocks noChangeShapeType="1"/>
            </p:cNvSpPr>
            <p:nvPr/>
          </p:nvSpPr>
          <p:spPr bwMode="auto">
            <a:xfrm>
              <a:off x="1240" y="3151"/>
              <a:ext cx="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13" name="Text Box 33">
              <a:extLst>
                <a:ext uri="{FF2B5EF4-FFF2-40B4-BE49-F238E27FC236}">
                  <a16:creationId xmlns:a16="http://schemas.microsoft.com/office/drawing/2014/main" id="{B222FF70-9F18-4E55-AF4B-A00118657DD0}"/>
                </a:ext>
              </a:extLst>
            </p:cNvPr>
            <p:cNvSpPr txBox="1">
              <a:spLocks noChangeArrowheads="1"/>
            </p:cNvSpPr>
            <p:nvPr/>
          </p:nvSpPr>
          <p:spPr bwMode="auto">
            <a:xfrm>
              <a:off x="894" y="3507"/>
              <a:ext cx="2710" cy="2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latin typeface="Tahoma" panose="020B0604030504040204" pitchFamily="34" charset="0"/>
                </a:rPr>
                <a:t>系统正式运行时间不晚于</a:t>
              </a:r>
              <a:r>
                <a:rPr lang="en-US" altLang="zh-CN" b="1" dirty="0">
                  <a:latin typeface="Tahoma" panose="020B0604030504040204" pitchFamily="34" charset="0"/>
                </a:rPr>
                <a:t>2022</a:t>
              </a:r>
              <a:r>
                <a:rPr lang="zh-CN" altLang="en-US" b="1" dirty="0">
                  <a:latin typeface="Tahoma" panose="020B0604030504040204" pitchFamily="34" charset="0"/>
                </a:rPr>
                <a:t>年</a:t>
              </a:r>
              <a:r>
                <a:rPr lang="en-US" altLang="zh-CN" b="1" dirty="0">
                  <a:latin typeface="Tahoma" panose="020B0604030504040204" pitchFamily="34" charset="0"/>
                </a:rPr>
                <a:t>2</a:t>
              </a:r>
              <a:r>
                <a:rPr lang="zh-CN" altLang="en-US" b="1" dirty="0">
                  <a:latin typeface="Tahoma" panose="020B0604030504040204" pitchFamily="34" charset="0"/>
                </a:rPr>
                <a:t>月</a:t>
              </a:r>
              <a:r>
                <a:rPr lang="en-US" altLang="zh-CN" b="1" dirty="0">
                  <a:latin typeface="Tahoma" panose="020B0604030504040204" pitchFamily="34" charset="0"/>
                </a:rPr>
                <a:t>1</a:t>
              </a:r>
              <a:r>
                <a:rPr lang="zh-CN" altLang="en-US" b="1" dirty="0">
                  <a:latin typeface="Tahoma" panose="020B0604030504040204" pitchFamily="34" charset="0"/>
                </a:rPr>
                <a:t>日</a:t>
              </a:r>
            </a:p>
          </p:txBody>
        </p:sp>
        <p:sp>
          <p:nvSpPr>
            <p:cNvPr id="558114" name="Text Box 34">
              <a:extLst>
                <a:ext uri="{FF2B5EF4-FFF2-40B4-BE49-F238E27FC236}">
                  <a16:creationId xmlns:a16="http://schemas.microsoft.com/office/drawing/2014/main" id="{1975DE07-562D-419C-99D1-E26C012CBAAB}"/>
                </a:ext>
              </a:extLst>
            </p:cNvPr>
            <p:cNvSpPr txBox="1">
              <a:spLocks noChangeArrowheads="1"/>
            </p:cNvSpPr>
            <p:nvPr/>
          </p:nvSpPr>
          <p:spPr bwMode="auto">
            <a:xfrm>
              <a:off x="3717" y="1500"/>
              <a:ext cx="1873" cy="2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latin typeface="Tahoma" panose="020B0604030504040204" pitchFamily="34" charset="0"/>
                </a:rPr>
                <a:t>如何考虑风险？识别风险？</a:t>
              </a:r>
            </a:p>
          </p:txBody>
        </p:sp>
      </p:grpSp>
      <p:sp>
        <p:nvSpPr>
          <p:cNvPr id="558115" name="Rectangle 35">
            <a:extLst>
              <a:ext uri="{FF2B5EF4-FFF2-40B4-BE49-F238E27FC236}">
                <a16:creationId xmlns:a16="http://schemas.microsoft.com/office/drawing/2014/main" id="{98CB124C-3726-46E1-B74B-4154532BAB27}"/>
              </a:ext>
            </a:extLst>
          </p:cNvPr>
          <p:cNvSpPr>
            <a:spLocks noChangeArrowheads="1"/>
          </p:cNvSpPr>
          <p:nvPr/>
        </p:nvSpPr>
        <p:spPr bwMode="auto">
          <a:xfrm>
            <a:off x="1547814" y="1405732"/>
            <a:ext cx="6048375"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pPr>
              <a:spcBef>
                <a:spcPct val="20000"/>
              </a:spcBef>
              <a:buClr>
                <a:schemeClr val="tx1"/>
              </a:buClr>
              <a:buSzPct val="75000"/>
              <a:buFont typeface="Wingdings" panose="05000000000000000000" pitchFamily="2" charset="2"/>
              <a:buNone/>
            </a:pPr>
            <a:r>
              <a:rPr lang="zh-CN" altLang="en-US" sz="2800" b="1" dirty="0">
                <a:latin typeface="Arial" panose="020B0604020202020204" pitchFamily="34" charset="0"/>
              </a:rPr>
              <a:t>项目整体管理计划的主要编制过程</a:t>
            </a:r>
          </a:p>
        </p:txBody>
      </p:sp>
      <p:sp>
        <p:nvSpPr>
          <p:cNvPr id="3" name="标题 2">
            <a:extLst>
              <a:ext uri="{FF2B5EF4-FFF2-40B4-BE49-F238E27FC236}">
                <a16:creationId xmlns:a16="http://schemas.microsoft.com/office/drawing/2014/main" id="{6185ECF4-5766-44BB-80B5-611DEAB66B93}"/>
              </a:ext>
            </a:extLst>
          </p:cNvPr>
          <p:cNvSpPr>
            <a:spLocks noGrp="1"/>
          </p:cNvSpPr>
          <p:nvPr>
            <p:ph type="title"/>
          </p:nvPr>
        </p:nvSpPr>
        <p:spPr/>
        <p:txBody>
          <a:body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42" name="Rectangle 2">
            <a:extLst>
              <a:ext uri="{FF2B5EF4-FFF2-40B4-BE49-F238E27FC236}">
                <a16:creationId xmlns:a16="http://schemas.microsoft.com/office/drawing/2014/main" id="{AE597C12-B3F5-4C35-852A-BD8011557CAA}"/>
              </a:ext>
            </a:extLst>
          </p:cNvPr>
          <p:cNvSpPr>
            <a:spLocks noGrp="1" noChangeArrowheads="1"/>
          </p:cNvSpPr>
          <p:nvPr>
            <p:ph type="title"/>
          </p:nvPr>
        </p:nvSpPr>
        <p:spPr>
          <a:xfrm>
            <a:off x="1874838" y="1309688"/>
            <a:ext cx="8229600" cy="519112"/>
          </a:xfrm>
        </p:spPr>
        <p:txBody>
          <a:bodyPr/>
          <a:lstStyle/>
          <a:p>
            <a:pPr algn="l"/>
            <a:r>
              <a:rPr lang="zh-CN" altLang="en-US" sz="2800">
                <a:solidFill>
                  <a:schemeClr val="tx1"/>
                </a:solidFill>
                <a:ea typeface="华文中宋" panose="02010600040101010101" pitchFamily="2" charset="-122"/>
              </a:rPr>
              <a:t>分析历史信息、约束和假设条件</a:t>
            </a:r>
          </a:p>
        </p:txBody>
      </p:sp>
      <p:sp>
        <p:nvSpPr>
          <p:cNvPr id="624644" name="Rectangle 4">
            <a:extLst>
              <a:ext uri="{FF2B5EF4-FFF2-40B4-BE49-F238E27FC236}">
                <a16:creationId xmlns:a16="http://schemas.microsoft.com/office/drawing/2014/main" id="{7299BF1F-C970-4305-A593-E961B6C0AF02}"/>
              </a:ext>
            </a:extLst>
          </p:cNvPr>
          <p:cNvSpPr>
            <a:spLocks noChangeArrowheads="1"/>
          </p:cNvSpPr>
          <p:nvPr/>
        </p:nvSpPr>
        <p:spPr bwMode="auto">
          <a:xfrm>
            <a:off x="2090738" y="2076450"/>
            <a:ext cx="8305800" cy="424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SzPct val="85000"/>
              <a:buBlip>
                <a:blip r:embed="rId3"/>
              </a:buBlip>
              <a:defRPr kumimoji="1"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9pPr>
          </a:lstStyle>
          <a:p>
            <a:r>
              <a:rPr lang="zh-CN" altLang="en-US" sz="2400" b="1" dirty="0"/>
              <a:t>借鉴历史信息：</a:t>
            </a:r>
          </a:p>
          <a:p>
            <a:pPr lvl="1"/>
            <a:r>
              <a:rPr lang="zh-CN" altLang="en-US" sz="2000" b="1" dirty="0">
                <a:ea typeface="楷体_GB2312" pitchFamily="49" charset="-122"/>
              </a:rPr>
              <a:t>估算数据库、过去项目的执行情况的记录；</a:t>
            </a:r>
          </a:p>
          <a:p>
            <a:pPr lvl="1"/>
            <a:r>
              <a:rPr lang="zh-CN" altLang="en-US" sz="2000" b="1" dirty="0">
                <a:ea typeface="楷体_GB2312" pitchFamily="49" charset="-122"/>
              </a:rPr>
              <a:t>本项目前些阶段的成果，对下一阶段项目执行的影响</a:t>
            </a:r>
          </a:p>
          <a:p>
            <a:r>
              <a:rPr lang="zh-CN" altLang="en-US" sz="2400" b="1" dirty="0"/>
              <a:t>考虑约束条件：</a:t>
            </a:r>
          </a:p>
          <a:p>
            <a:pPr lvl="1"/>
            <a:r>
              <a:rPr lang="zh-CN" altLang="en-US" sz="2000" b="1" dirty="0">
                <a:ea typeface="楷体_GB2312" pitchFamily="49" charset="-122"/>
              </a:rPr>
              <a:t>时间约束；</a:t>
            </a:r>
          </a:p>
          <a:p>
            <a:pPr lvl="1"/>
            <a:r>
              <a:rPr lang="zh-CN" altLang="en-US" sz="2000" b="1" dirty="0">
                <a:ea typeface="楷体_GB2312" pitchFamily="49" charset="-122"/>
              </a:rPr>
              <a:t>资源约束</a:t>
            </a:r>
          </a:p>
          <a:p>
            <a:pPr lvl="1"/>
            <a:r>
              <a:rPr lang="zh-CN" altLang="en-US" sz="2000" b="1" dirty="0">
                <a:ea typeface="楷体_GB2312" pitchFamily="49" charset="-122"/>
              </a:rPr>
              <a:t>预先规定的项目预算；</a:t>
            </a:r>
          </a:p>
          <a:p>
            <a:pPr lvl="1"/>
            <a:r>
              <a:rPr lang="zh-CN" altLang="en-US" sz="2000" b="1" dirty="0">
                <a:ea typeface="楷体_GB2312" pitchFamily="49" charset="-122"/>
              </a:rPr>
              <a:t>组织的战略、文化、政策、规定等</a:t>
            </a:r>
          </a:p>
          <a:p>
            <a:r>
              <a:rPr lang="zh-CN" altLang="en-US" sz="2400" b="1" dirty="0"/>
              <a:t>分析假设条件：</a:t>
            </a:r>
          </a:p>
          <a:p>
            <a:pPr lvl="1"/>
            <a:r>
              <a:rPr lang="zh-CN" altLang="en-US" sz="2000" b="1" dirty="0">
                <a:ea typeface="楷体_GB2312" pitchFamily="49" charset="-122"/>
              </a:rPr>
              <a:t>那些被认为是</a:t>
            </a:r>
            <a:r>
              <a:rPr lang="zh-CN" altLang="en-US" sz="2000" b="1" dirty="0">
                <a:solidFill>
                  <a:srgbClr val="0B02BE"/>
                </a:solidFill>
                <a:ea typeface="楷体_GB2312" pitchFamily="49" charset="-122"/>
              </a:rPr>
              <a:t>真实和确定</a:t>
            </a:r>
            <a:r>
              <a:rPr lang="zh-CN" altLang="en-US" sz="2000" b="1" dirty="0">
                <a:ea typeface="楷体_GB2312" pitchFamily="49" charset="-122"/>
              </a:rPr>
              <a:t>的因素都可能含有风险的成分，因此需要纳入风险管理的范畴。</a:t>
            </a:r>
          </a:p>
        </p:txBody>
      </p:sp>
      <p:sp>
        <p:nvSpPr>
          <p:cNvPr id="6" name="标题 2">
            <a:extLst>
              <a:ext uri="{FF2B5EF4-FFF2-40B4-BE49-F238E27FC236}">
                <a16:creationId xmlns:a16="http://schemas.microsoft.com/office/drawing/2014/main" id="{7B2CD643-EB8B-44F5-A956-3F1E31F1BBC5}"/>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42"/>
                                        </p:tgtEl>
                                        <p:attrNameLst>
                                          <p:attrName>style.visibility</p:attrName>
                                        </p:attrNameLst>
                                      </p:cBhvr>
                                      <p:to>
                                        <p:strVal val="visible"/>
                                      </p:to>
                                    </p:set>
                                    <p:anim calcmode="lin" valueType="num">
                                      <p:cBhvr additive="base">
                                        <p:cTn id="7" dur="500" fill="hold"/>
                                        <p:tgtEl>
                                          <p:spTgt spid="624642"/>
                                        </p:tgtEl>
                                        <p:attrNameLst>
                                          <p:attrName>ppt_x</p:attrName>
                                        </p:attrNameLst>
                                      </p:cBhvr>
                                      <p:tavLst>
                                        <p:tav tm="0">
                                          <p:val>
                                            <p:strVal val="0-#ppt_w/2"/>
                                          </p:val>
                                        </p:tav>
                                        <p:tav tm="100000">
                                          <p:val>
                                            <p:strVal val="#ppt_x"/>
                                          </p:val>
                                        </p:tav>
                                      </p:tavLst>
                                    </p:anim>
                                    <p:anim calcmode="lin" valueType="num">
                                      <p:cBhvr additive="base">
                                        <p:cTn id="8" dur="500" fill="hold"/>
                                        <p:tgtEl>
                                          <p:spTgt spid="6246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4644"/>
                                        </p:tgtEl>
                                        <p:attrNameLst>
                                          <p:attrName>style.visibility</p:attrName>
                                        </p:attrNameLst>
                                      </p:cBhvr>
                                      <p:to>
                                        <p:strVal val="visible"/>
                                      </p:to>
                                    </p:set>
                                    <p:anim calcmode="lin" valueType="num">
                                      <p:cBhvr additive="base">
                                        <p:cTn id="13" dur="500" fill="hold"/>
                                        <p:tgtEl>
                                          <p:spTgt spid="624644"/>
                                        </p:tgtEl>
                                        <p:attrNameLst>
                                          <p:attrName>ppt_x</p:attrName>
                                        </p:attrNameLst>
                                      </p:cBhvr>
                                      <p:tavLst>
                                        <p:tav tm="0">
                                          <p:val>
                                            <p:strVal val="0-#ppt_w/2"/>
                                          </p:val>
                                        </p:tav>
                                        <p:tav tm="100000">
                                          <p:val>
                                            <p:strVal val="#ppt_x"/>
                                          </p:val>
                                        </p:tav>
                                      </p:tavLst>
                                    </p:anim>
                                    <p:anim calcmode="lin" valueType="num">
                                      <p:cBhvr additive="base">
                                        <p:cTn id="14" dur="500" fill="hold"/>
                                        <p:tgtEl>
                                          <p:spTgt spid="6246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2" grpId="0" autoUpdateAnimBg="0"/>
      <p:bldP spid="62464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a:extLst>
              <a:ext uri="{FF2B5EF4-FFF2-40B4-BE49-F238E27FC236}">
                <a16:creationId xmlns:a16="http://schemas.microsoft.com/office/drawing/2014/main" id="{BBFEF2C1-B261-42FD-B8E7-521CB970D56B}"/>
              </a:ext>
            </a:extLst>
          </p:cNvPr>
          <p:cNvSpPr>
            <a:spLocks noGrp="1" noChangeArrowheads="1"/>
          </p:cNvSpPr>
          <p:nvPr>
            <p:ph type="title"/>
          </p:nvPr>
        </p:nvSpPr>
        <p:spPr>
          <a:xfrm>
            <a:off x="1847850" y="1460332"/>
            <a:ext cx="8229600" cy="519113"/>
          </a:xfrm>
        </p:spPr>
        <p:txBody>
          <a:bodyPr/>
          <a:lstStyle/>
          <a:p>
            <a:pPr algn="l"/>
            <a:r>
              <a:rPr lang="zh-CN" altLang="en-US" sz="2800" dirty="0">
                <a:solidFill>
                  <a:schemeClr val="tx1"/>
                </a:solidFill>
                <a:ea typeface="华文中宋" panose="02010600040101010101" pitchFamily="2" charset="-122"/>
              </a:rPr>
              <a:t>历史记录</a:t>
            </a:r>
            <a:r>
              <a:rPr lang="en-US" altLang="zh-CN" sz="2800" dirty="0">
                <a:solidFill>
                  <a:schemeClr val="tx1"/>
                </a:solidFill>
                <a:latin typeface="Times New Roman" panose="02020603050405020304" pitchFamily="18" charset="0"/>
                <a:ea typeface="华文中宋" panose="02010600040101010101" pitchFamily="2" charset="-122"/>
              </a:rPr>
              <a:t>——</a:t>
            </a:r>
            <a:r>
              <a:rPr lang="zh-CN" altLang="en-US" sz="2800" dirty="0">
                <a:solidFill>
                  <a:schemeClr val="tx1"/>
                </a:solidFill>
                <a:ea typeface="华文中宋" panose="02010600040101010101" pitchFamily="2" charset="-122"/>
              </a:rPr>
              <a:t>成熟企业的标志</a:t>
            </a:r>
          </a:p>
        </p:txBody>
      </p:sp>
      <p:sp>
        <p:nvSpPr>
          <p:cNvPr id="625668" name="Text Box 4">
            <a:extLst>
              <a:ext uri="{FF2B5EF4-FFF2-40B4-BE49-F238E27FC236}">
                <a16:creationId xmlns:a16="http://schemas.microsoft.com/office/drawing/2014/main" id="{60D6B728-C2CA-405A-86E5-62D10B150D99}"/>
              </a:ext>
            </a:extLst>
          </p:cNvPr>
          <p:cNvSpPr txBox="1">
            <a:spLocks noChangeArrowheads="1"/>
          </p:cNvSpPr>
          <p:nvPr/>
        </p:nvSpPr>
        <p:spPr bwMode="auto">
          <a:xfrm>
            <a:off x="2063750" y="2138195"/>
            <a:ext cx="5609228" cy="3336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历史记录（知识与经验库）对于项目性企业具</a:t>
            </a:r>
          </a:p>
          <a:p>
            <a:r>
              <a:rPr lang="zh-CN" altLang="en-US" dirty="0">
                <a:latin typeface="华文中宋" panose="02010600040101010101" pitchFamily="2" charset="-122"/>
                <a:ea typeface="华文中宋" panose="02010600040101010101" pitchFamily="2" charset="-122"/>
              </a:rPr>
              <a:t>有非常的意义，历史记录可以多种方式存在，包括：</a:t>
            </a:r>
          </a:p>
          <a:p>
            <a:pPr lvl="1">
              <a:lnSpc>
                <a:spcPct val="120000"/>
              </a:lnSpc>
              <a:buClr>
                <a:srgbClr val="FFFF00"/>
              </a:buClr>
              <a:buSzPct val="75000"/>
              <a:buFont typeface="Wingdings" panose="05000000000000000000" pitchFamily="2" charset="2"/>
              <a:buChar char="Ø"/>
            </a:pPr>
            <a:r>
              <a:rPr lang="zh-CN" altLang="en-US" dirty="0">
                <a:latin typeface="宋体" panose="02010600030101010101" pitchFamily="2" charset="-122"/>
              </a:rPr>
              <a:t>  </a:t>
            </a:r>
            <a:r>
              <a:rPr lang="zh-CN" altLang="en-US" sz="2000" dirty="0">
                <a:latin typeface="宋体" panose="02010600030101010101" pitchFamily="2" charset="-122"/>
              </a:rPr>
              <a:t>各种文件</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项目估算、预算与实际成本</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时间估算</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a:t>
            </a:r>
            <a:r>
              <a:rPr lang="en-US" altLang="zh-CN" sz="2000" dirty="0">
                <a:latin typeface="宋体" panose="02010600030101010101" pitchFamily="2" charset="-122"/>
              </a:rPr>
              <a:t>WBS</a:t>
            </a:r>
            <a:r>
              <a:rPr lang="zh-CN" altLang="en-US" sz="2000" dirty="0">
                <a:latin typeface="宋体" panose="02010600030101010101" pitchFamily="2" charset="-122"/>
              </a:rPr>
              <a:t>模板</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基准</a:t>
            </a:r>
            <a:endParaRPr lang="en-US" altLang="zh-CN" sz="2000" dirty="0">
              <a:latin typeface="宋体" panose="02010600030101010101" pitchFamily="2" charset="-122"/>
            </a:endParaRPr>
          </a:p>
          <a:p>
            <a:pPr lvl="1">
              <a:lnSpc>
                <a:spcPct val="120000"/>
              </a:lnSpc>
              <a:buClr>
                <a:srgbClr val="FFFF00"/>
              </a:buClr>
              <a:buSzPct val="75000"/>
              <a:buFont typeface="Wingdings" panose="05000000000000000000" pitchFamily="2" charset="2"/>
              <a:buChar char="Ø"/>
            </a:pPr>
            <a:r>
              <a:rPr lang="en-US" altLang="zh-CN" sz="2000" dirty="0">
                <a:latin typeface="宋体" panose="02010600030101010101" pitchFamily="2" charset="-122"/>
              </a:rPr>
              <a:t>  </a:t>
            </a:r>
            <a:r>
              <a:rPr lang="zh-CN" altLang="en-US" sz="2000" dirty="0">
                <a:latin typeface="宋体" panose="02010600030101010101" pitchFamily="2" charset="-122"/>
              </a:rPr>
              <a:t>风险</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经验教训</a:t>
            </a:r>
          </a:p>
        </p:txBody>
      </p:sp>
      <p:sp>
        <p:nvSpPr>
          <p:cNvPr id="625673" name="Rectangle 9">
            <a:extLst>
              <a:ext uri="{FF2B5EF4-FFF2-40B4-BE49-F238E27FC236}">
                <a16:creationId xmlns:a16="http://schemas.microsoft.com/office/drawing/2014/main" id="{3C775F4F-2663-41F4-9C80-EAF71B3D015C}"/>
              </a:ext>
            </a:extLst>
          </p:cNvPr>
          <p:cNvSpPr>
            <a:spLocks noChangeArrowheads="1"/>
          </p:cNvSpPr>
          <p:nvPr/>
        </p:nvSpPr>
        <p:spPr bwMode="auto">
          <a:xfrm>
            <a:off x="6886236" y="5812321"/>
            <a:ext cx="4176713" cy="549275"/>
          </a:xfrm>
          <a:prstGeom prst="rect">
            <a:avLst/>
          </a:prstGeom>
          <a:solidFill>
            <a:srgbClr val="FFFF99"/>
          </a:solidFill>
          <a:ln>
            <a:noFill/>
          </a:ln>
          <a:effectLst/>
        </p:spPr>
        <p:txBody>
          <a:bodyPr wrap="none" anchor="ctr"/>
          <a:lstStyle/>
          <a:p>
            <a:pPr algn="ctr"/>
            <a:r>
              <a:rPr lang="zh-CN" altLang="en-US" dirty="0"/>
              <a:t>知识与经验库是持续改进的基础</a:t>
            </a:r>
          </a:p>
        </p:txBody>
      </p:sp>
      <p:sp>
        <p:nvSpPr>
          <p:cNvPr id="7" name="标题 2">
            <a:extLst>
              <a:ext uri="{FF2B5EF4-FFF2-40B4-BE49-F238E27FC236}">
                <a16:creationId xmlns:a16="http://schemas.microsoft.com/office/drawing/2014/main" id="{1DFCD640-CE12-4E35-8413-D649BC12F8EE}"/>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5" name="卷形: 水平 4">
            <a:extLst>
              <a:ext uri="{FF2B5EF4-FFF2-40B4-BE49-F238E27FC236}">
                <a16:creationId xmlns:a16="http://schemas.microsoft.com/office/drawing/2014/main" id="{3E25A724-6A16-474C-9FE7-F30C71B8BFE4}"/>
              </a:ext>
            </a:extLst>
          </p:cNvPr>
          <p:cNvSpPr/>
          <p:nvPr/>
        </p:nvSpPr>
        <p:spPr>
          <a:xfrm>
            <a:off x="7825839" y="1741105"/>
            <a:ext cx="3598223" cy="3937336"/>
          </a:xfrm>
          <a:prstGeom prst="horizont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0000"/>
                </a:solidFill>
              </a:rPr>
              <a:t>很多公司没有积累资料和经验的习惯或机制，即使有些积累也没有去整理和挖掘，出现新项目时，项目经理只能从零开始重新进行估算、排进度和总体计划，不但花费时间和资金，而且丧失了许多市场机会。</a:t>
            </a:r>
            <a:endParaRPr lang="zh-CN" altLang="en-US" sz="2000" dirty="0"/>
          </a:p>
          <a:p>
            <a:pPr algn="ct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a:extLst>
              <a:ext uri="{FF2B5EF4-FFF2-40B4-BE49-F238E27FC236}">
                <a16:creationId xmlns:a16="http://schemas.microsoft.com/office/drawing/2014/main" id="{B39749CA-A375-49BE-AA57-BDC448D38F06}"/>
              </a:ext>
            </a:extLst>
          </p:cNvPr>
          <p:cNvSpPr>
            <a:spLocks noGrp="1" noChangeArrowheads="1"/>
          </p:cNvSpPr>
          <p:nvPr>
            <p:ph type="title"/>
          </p:nvPr>
        </p:nvSpPr>
        <p:spPr>
          <a:xfrm>
            <a:off x="1107071" y="1457627"/>
            <a:ext cx="7772400" cy="519112"/>
          </a:xfrm>
        </p:spPr>
        <p:txBody>
          <a:bodyPr/>
          <a:lstStyle/>
          <a:p>
            <a:pPr algn="l"/>
            <a:r>
              <a:rPr lang="zh-CN" altLang="en-US" sz="2800" dirty="0">
                <a:solidFill>
                  <a:schemeClr val="tx1"/>
                </a:solidFill>
                <a:ea typeface="华文中宋" panose="02010600040101010101" pitchFamily="2" charset="-122"/>
              </a:rPr>
              <a:t>模板化的项目计划方法</a:t>
            </a:r>
          </a:p>
        </p:txBody>
      </p:sp>
      <p:sp>
        <p:nvSpPr>
          <p:cNvPr id="629763" name="Rectangle 3">
            <a:extLst>
              <a:ext uri="{FF2B5EF4-FFF2-40B4-BE49-F238E27FC236}">
                <a16:creationId xmlns:a16="http://schemas.microsoft.com/office/drawing/2014/main" id="{E13B1BB6-A3C0-48AB-BAC7-A99725C84087}"/>
              </a:ext>
            </a:extLst>
          </p:cNvPr>
          <p:cNvSpPr>
            <a:spLocks noGrp="1" noChangeArrowheads="1"/>
          </p:cNvSpPr>
          <p:nvPr>
            <p:ph type="body" idx="1"/>
          </p:nvPr>
        </p:nvSpPr>
        <p:spPr>
          <a:xfrm>
            <a:off x="1992314" y="2060576"/>
            <a:ext cx="7772400" cy="3744911"/>
          </a:xfrm>
          <a:solidFill>
            <a:schemeClr val="accent3">
              <a:lumMod val="20000"/>
              <a:lumOff val="80000"/>
            </a:schemeClr>
          </a:solidFill>
        </p:spPr>
        <p:txBody>
          <a:bodyPr/>
          <a:lstStyle/>
          <a:p>
            <a:pPr>
              <a:buFontTx/>
              <a:buNone/>
            </a:pPr>
            <a:r>
              <a:rPr lang="zh-CN" altLang="en-US" sz="2400" dirty="0"/>
              <a:t>结构化的计划编制方法</a:t>
            </a:r>
          </a:p>
          <a:p>
            <a:pPr lvl="1">
              <a:buClr>
                <a:srgbClr val="FFFF00"/>
              </a:buClr>
              <a:buSzPct val="75000"/>
              <a:buFont typeface="Wingdings" panose="05000000000000000000" pitchFamily="2" charset="2"/>
              <a:buChar char="Ø"/>
            </a:pPr>
            <a:r>
              <a:rPr lang="zh-CN" altLang="en-US" sz="2000" dirty="0"/>
              <a:t>完整、具体的计划编制工作流程；</a:t>
            </a:r>
          </a:p>
          <a:p>
            <a:pPr lvl="1">
              <a:buClr>
                <a:srgbClr val="FFFF00"/>
              </a:buClr>
              <a:buSzPct val="75000"/>
              <a:buFont typeface="Wingdings" panose="05000000000000000000" pitchFamily="2" charset="2"/>
              <a:buChar char="Ø"/>
            </a:pPr>
            <a:r>
              <a:rPr lang="zh-CN" altLang="en-US" sz="2000" dirty="0"/>
              <a:t>工作人员选择及其工作任务的划分；</a:t>
            </a:r>
          </a:p>
          <a:p>
            <a:pPr lvl="1">
              <a:buClr>
                <a:srgbClr val="FFFF00"/>
              </a:buClr>
              <a:buSzPct val="75000"/>
              <a:buFont typeface="Wingdings" panose="05000000000000000000" pitchFamily="2" charset="2"/>
              <a:buChar char="Ø"/>
            </a:pPr>
            <a:r>
              <a:rPr lang="zh-CN" altLang="en-US" sz="2000" dirty="0"/>
              <a:t>完整的资料收集与准备；</a:t>
            </a:r>
          </a:p>
          <a:p>
            <a:pPr lvl="1">
              <a:buClr>
                <a:srgbClr val="FFFF00"/>
              </a:buClr>
              <a:buSzPct val="75000"/>
              <a:buFont typeface="Wingdings" panose="05000000000000000000" pitchFamily="2" charset="2"/>
              <a:buChar char="Ø"/>
            </a:pPr>
            <a:r>
              <a:rPr lang="zh-CN" altLang="en-US" sz="2000" dirty="0"/>
              <a:t>周密的工作环境、工作方法与时间安排；</a:t>
            </a:r>
          </a:p>
          <a:p>
            <a:pPr lvl="1">
              <a:buClr>
                <a:srgbClr val="FFFF00"/>
              </a:buClr>
              <a:buSzPct val="75000"/>
              <a:buFont typeface="Wingdings" panose="05000000000000000000" pitchFamily="2" charset="2"/>
              <a:buChar char="Ø"/>
            </a:pPr>
            <a:r>
              <a:rPr lang="zh-CN" altLang="en-US" sz="2000" dirty="0"/>
              <a:t>选用标准格式的表格或模板；</a:t>
            </a:r>
          </a:p>
          <a:p>
            <a:pPr lvl="1">
              <a:buClr>
                <a:srgbClr val="FFFF00"/>
              </a:buClr>
              <a:buSzPct val="75000"/>
              <a:buFont typeface="Wingdings" panose="05000000000000000000" pitchFamily="2" charset="2"/>
              <a:buChar char="Ø"/>
            </a:pPr>
            <a:r>
              <a:rPr lang="zh-CN" altLang="en-US" sz="2000" dirty="0"/>
              <a:t>充分的信息共享与快速准确的沟通渠道。</a:t>
            </a:r>
          </a:p>
        </p:txBody>
      </p:sp>
      <p:sp>
        <p:nvSpPr>
          <p:cNvPr id="5" name="标题 2">
            <a:extLst>
              <a:ext uri="{FF2B5EF4-FFF2-40B4-BE49-F238E27FC236}">
                <a16:creationId xmlns:a16="http://schemas.microsoft.com/office/drawing/2014/main" id="{A822D1EA-B5A2-422E-A2FD-19A01F2B2C80}"/>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a:extLst>
              <a:ext uri="{FF2B5EF4-FFF2-40B4-BE49-F238E27FC236}">
                <a16:creationId xmlns:a16="http://schemas.microsoft.com/office/drawing/2014/main" id="{FDB378FC-ECFD-4ADB-9938-FE2760BFAEC8}"/>
              </a:ext>
            </a:extLst>
          </p:cNvPr>
          <p:cNvSpPr>
            <a:spLocks noGrp="1" noChangeArrowheads="1"/>
          </p:cNvSpPr>
          <p:nvPr>
            <p:ph type="title"/>
          </p:nvPr>
        </p:nvSpPr>
        <p:spPr>
          <a:xfrm>
            <a:off x="1085911" y="1227132"/>
            <a:ext cx="8229600" cy="519113"/>
          </a:xfrm>
        </p:spPr>
        <p:txBody>
          <a:bodyPr/>
          <a:lstStyle/>
          <a:p>
            <a:pPr algn="l"/>
            <a:r>
              <a:rPr lang="zh-CN" altLang="en-US" sz="2800" dirty="0">
                <a:solidFill>
                  <a:schemeClr val="tx1"/>
                </a:solidFill>
                <a:ea typeface="华文中宋" panose="02010600040101010101" pitchFamily="2" charset="-122"/>
              </a:rPr>
              <a:t>项目干系人的技能与知识</a:t>
            </a:r>
          </a:p>
        </p:txBody>
      </p:sp>
      <p:sp>
        <p:nvSpPr>
          <p:cNvPr id="630787" name="Rectangle 3">
            <a:extLst>
              <a:ext uri="{FF2B5EF4-FFF2-40B4-BE49-F238E27FC236}">
                <a16:creationId xmlns:a16="http://schemas.microsoft.com/office/drawing/2014/main" id="{842BBCB1-C99F-441E-ADD0-365A61D38444}"/>
              </a:ext>
            </a:extLst>
          </p:cNvPr>
          <p:cNvSpPr>
            <a:spLocks noGrp="1" noChangeArrowheads="1"/>
          </p:cNvSpPr>
          <p:nvPr>
            <p:ph type="body" idx="1"/>
          </p:nvPr>
        </p:nvSpPr>
        <p:spPr>
          <a:xfrm>
            <a:off x="1307939" y="1666184"/>
            <a:ext cx="8840949" cy="1762816"/>
          </a:xfrm>
        </p:spPr>
        <p:txBody>
          <a:bodyPr/>
          <a:lstStyle/>
          <a:p>
            <a:pPr>
              <a:lnSpc>
                <a:spcPct val="120000"/>
              </a:lnSpc>
              <a:buFontTx/>
              <a:buNone/>
            </a:pPr>
            <a:r>
              <a:rPr lang="en-US" altLang="zh-CN" sz="2800" dirty="0"/>
              <a:t>          </a:t>
            </a:r>
            <a:r>
              <a:rPr lang="zh-CN" altLang="en-US" dirty="0">
                <a:latin typeface="宋体" panose="02010600030101010101" pitchFamily="2" charset="-122"/>
              </a:rPr>
              <a:t>项目经理在编制集成计划时，要创造一个开放的环境和氛围，充分利用项目干系人的才智与力量，使得项目的集成计划更全面、更经济、更具有操作性，尽量减少对计划的变更。由于计划的严肃性，集成计划的形成过程，也是各有关项目干系人对项目的承诺过程</a:t>
            </a:r>
            <a:r>
              <a:rPr lang="zh-CN" altLang="en-US" dirty="0">
                <a:latin typeface="华文中宋" panose="02010600040101010101" pitchFamily="2" charset="-122"/>
                <a:ea typeface="华文中宋" panose="02010600040101010101" pitchFamily="2" charset="-122"/>
              </a:rPr>
              <a:t>。</a:t>
            </a:r>
            <a:endParaRPr lang="zh-CN" altLang="en-US" sz="2400" dirty="0">
              <a:latin typeface="华文中宋" panose="02010600040101010101" pitchFamily="2" charset="-122"/>
              <a:ea typeface="华文中宋" panose="02010600040101010101" pitchFamily="2" charset="-122"/>
            </a:endParaRPr>
          </a:p>
        </p:txBody>
      </p:sp>
      <p:sp>
        <p:nvSpPr>
          <p:cNvPr id="6" name="标题 2">
            <a:extLst>
              <a:ext uri="{FF2B5EF4-FFF2-40B4-BE49-F238E27FC236}">
                <a16:creationId xmlns:a16="http://schemas.microsoft.com/office/drawing/2014/main" id="{1F763826-2EF1-4F81-80C3-8CD7A69DB6E3}"/>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5" name="卷形: 水平 4">
            <a:extLst>
              <a:ext uri="{FF2B5EF4-FFF2-40B4-BE49-F238E27FC236}">
                <a16:creationId xmlns:a16="http://schemas.microsoft.com/office/drawing/2014/main" id="{6403E17A-87B4-4932-B053-D634DD473A15}"/>
              </a:ext>
            </a:extLst>
          </p:cNvPr>
          <p:cNvSpPr/>
          <p:nvPr/>
        </p:nvSpPr>
        <p:spPr>
          <a:xfrm>
            <a:off x="3553428" y="3429000"/>
            <a:ext cx="7211455" cy="3022811"/>
          </a:xfrm>
          <a:prstGeom prst="horizont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0070C0"/>
                </a:solidFill>
              </a:rPr>
              <a:t>案例研究</a:t>
            </a:r>
            <a:r>
              <a:rPr lang="en-US" altLang="zh-CN" b="1" dirty="0">
                <a:solidFill>
                  <a:srgbClr val="0070C0"/>
                </a:solidFill>
              </a:rPr>
              <a:t>:</a:t>
            </a:r>
          </a:p>
          <a:p>
            <a:r>
              <a:rPr lang="zh-CN" altLang="en-US" b="1" dirty="0">
                <a:solidFill>
                  <a:srgbClr val="0070C0"/>
                </a:solidFill>
              </a:rPr>
              <a:t>如果你是一个即将开始的新项目的项目经理，项目的干系人之一在他过去参与的项目中提出了很多变更，那么在这种情况下，你应该做什么</a:t>
            </a:r>
            <a:r>
              <a:rPr lang="en-US" altLang="zh-CN" b="1" dirty="0">
                <a:solidFill>
                  <a:srgbClr val="0070C0"/>
                </a:solidFill>
              </a:rPr>
              <a:t>?</a:t>
            </a:r>
          </a:p>
          <a:p>
            <a:r>
              <a:rPr lang="en-US" altLang="zh-CN" b="1" dirty="0">
                <a:solidFill>
                  <a:srgbClr val="0070C0"/>
                </a:solidFill>
              </a:rPr>
              <a:t>a.</a:t>
            </a:r>
            <a:r>
              <a:rPr lang="zh-CN" altLang="en-US" b="1" dirty="0">
                <a:solidFill>
                  <a:srgbClr val="0070C0"/>
                </a:solidFill>
              </a:rPr>
              <a:t>不允许这个干系人做出改变</a:t>
            </a:r>
            <a:endParaRPr lang="en-US" altLang="zh-CN" b="1" dirty="0">
              <a:solidFill>
                <a:srgbClr val="0070C0"/>
              </a:solidFill>
            </a:endParaRPr>
          </a:p>
          <a:p>
            <a:r>
              <a:rPr lang="en-US" altLang="zh-CN" b="1" dirty="0">
                <a:solidFill>
                  <a:srgbClr val="0070C0"/>
                </a:solidFill>
              </a:rPr>
              <a:t>b.</a:t>
            </a:r>
            <a:r>
              <a:rPr lang="zh-CN" altLang="en-US" b="1" dirty="0">
                <a:solidFill>
                  <a:srgbClr val="0070C0"/>
                </a:solidFill>
              </a:rPr>
              <a:t>和干系人的老板谈话</a:t>
            </a:r>
            <a:endParaRPr lang="en-US" altLang="zh-CN" b="1" dirty="0">
              <a:solidFill>
                <a:srgbClr val="0070C0"/>
              </a:solidFill>
            </a:endParaRPr>
          </a:p>
          <a:p>
            <a:r>
              <a:rPr lang="en-US" altLang="zh-CN" b="1" dirty="0">
                <a:solidFill>
                  <a:srgbClr val="0070C0"/>
                </a:solidFill>
              </a:rPr>
              <a:t>c.</a:t>
            </a:r>
            <a:r>
              <a:rPr lang="zh-CN" altLang="en-US" b="1" dirty="0">
                <a:solidFill>
                  <a:srgbClr val="0070C0"/>
                </a:solidFill>
              </a:rPr>
              <a:t>让他参与制定项目计划</a:t>
            </a:r>
            <a:endParaRPr lang="en-US" altLang="zh-CN" b="1" dirty="0">
              <a:solidFill>
                <a:srgbClr val="0070C0"/>
              </a:solidFill>
            </a:endParaRPr>
          </a:p>
          <a:p>
            <a:r>
              <a:rPr lang="en-US" altLang="zh-CN" b="1" dirty="0">
                <a:solidFill>
                  <a:srgbClr val="0070C0"/>
                </a:solidFill>
              </a:rPr>
              <a:t>d.</a:t>
            </a:r>
            <a:r>
              <a:rPr lang="zh-CN" altLang="en-US" b="1" dirty="0">
                <a:solidFill>
                  <a:srgbClr val="0070C0"/>
                </a:solidFill>
              </a:rPr>
              <a:t>向管理层抱怨他过去的活动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 calcmode="lin" valueType="num">
                                      <p:cBhvr additive="base">
                                        <p:cTn id="7" dur="500" fill="hold"/>
                                        <p:tgtEl>
                                          <p:spTgt spid="6307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078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3" name="Rectangle 2"/>
          <p:cNvSpPr txBox="1">
            <a:spLocks noChangeArrowheads="1"/>
          </p:cNvSpPr>
          <p:nvPr/>
        </p:nvSpPr>
        <p:spPr>
          <a:xfrm>
            <a:off x="819149" y="1941474"/>
            <a:ext cx="10610850" cy="4319587"/>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r>
              <a:rPr lang="en-US" altLang="zh-CN" sz="2400" kern="0" dirty="0">
                <a:latin typeface="微软雅黑" panose="020B0503020204020204" pitchFamily="34" charset="-122"/>
                <a:ea typeface="微软雅黑" panose="020B0503020204020204" pitchFamily="34" charset="-122"/>
              </a:rPr>
              <a:t>What-</a:t>
            </a:r>
            <a:r>
              <a:rPr lang="zh-CN" altLang="en-US" sz="2400" kern="0" dirty="0">
                <a:latin typeface="微软雅黑" panose="020B0503020204020204" pitchFamily="34" charset="-122"/>
                <a:ea typeface="微软雅黑" panose="020B0503020204020204" pitchFamily="34" charset="-122"/>
              </a:rPr>
              <a:t>做什么项目？目标是什么？</a:t>
            </a:r>
          </a:p>
          <a:p>
            <a:r>
              <a:rPr lang="en-US" altLang="zh-CN" sz="2400" kern="0" dirty="0">
                <a:latin typeface="微软雅黑" panose="020B0503020204020204" pitchFamily="34" charset="-122"/>
                <a:ea typeface="微软雅黑" panose="020B0503020204020204" pitchFamily="34" charset="-122"/>
              </a:rPr>
              <a:t>Whom-</a:t>
            </a:r>
            <a:r>
              <a:rPr lang="zh-CN" altLang="en-US" sz="2400" kern="0" dirty="0">
                <a:latin typeface="微软雅黑" panose="020B0503020204020204" pitchFamily="34" charset="-122"/>
                <a:ea typeface="微软雅黑" panose="020B0503020204020204" pitchFamily="34" charset="-122"/>
              </a:rPr>
              <a:t>项目是为谁而作？发起人是谁？最终用户是谁？</a:t>
            </a:r>
          </a:p>
          <a:p>
            <a:r>
              <a:rPr lang="en-US" altLang="zh-CN" sz="2400" kern="0" dirty="0">
                <a:latin typeface="微软雅黑" panose="020B0503020204020204" pitchFamily="34" charset="-122"/>
                <a:ea typeface="微软雅黑" panose="020B0503020204020204" pitchFamily="34" charset="-122"/>
              </a:rPr>
              <a:t>Who-</a:t>
            </a:r>
            <a:r>
              <a:rPr lang="zh-CN" altLang="en-US" sz="2400" kern="0" dirty="0">
                <a:latin typeface="微软雅黑" panose="020B0503020204020204" pitchFamily="34" charset="-122"/>
                <a:ea typeface="微软雅黑" panose="020B0503020204020204" pitchFamily="34" charset="-122"/>
              </a:rPr>
              <a:t>谁是项目经理？项目小组成员有哪些人？</a:t>
            </a:r>
          </a:p>
          <a:p>
            <a:r>
              <a:rPr lang="en-US" altLang="zh-CN" sz="2400" kern="0" dirty="0">
                <a:latin typeface="微软雅黑" panose="020B0503020204020204" pitchFamily="34" charset="-122"/>
                <a:ea typeface="微软雅黑" panose="020B0503020204020204" pitchFamily="34" charset="-122"/>
              </a:rPr>
              <a:t>When-</a:t>
            </a:r>
            <a:r>
              <a:rPr lang="zh-CN" altLang="en-US" sz="2400" kern="0" dirty="0">
                <a:latin typeface="微软雅黑" panose="020B0503020204020204" pitchFamily="34" charset="-122"/>
                <a:ea typeface="微软雅黑" panose="020B0503020204020204" pitchFamily="34" charset="-122"/>
              </a:rPr>
              <a:t>何时可以开始项目活动？项目的主要里程碑在何处？何时作评审？何时需要作汇报？何时提交产品或服务？</a:t>
            </a:r>
          </a:p>
          <a:p>
            <a:r>
              <a:rPr lang="en-US" altLang="zh-CN" sz="2400" kern="0" dirty="0">
                <a:latin typeface="微软雅黑" panose="020B0503020204020204" pitchFamily="34" charset="-122"/>
                <a:ea typeface="微软雅黑" panose="020B0503020204020204" pitchFamily="34" charset="-122"/>
              </a:rPr>
              <a:t>Where-</a:t>
            </a:r>
            <a:r>
              <a:rPr lang="zh-CN" altLang="en-US" sz="2400" kern="0" dirty="0">
                <a:latin typeface="微软雅黑" panose="020B0503020204020204" pitchFamily="34" charset="-122"/>
                <a:ea typeface="微软雅黑" panose="020B0503020204020204" pitchFamily="34" charset="-122"/>
              </a:rPr>
              <a:t>在哪里实施？最终产品提交到哪里？</a:t>
            </a:r>
          </a:p>
          <a:p>
            <a:r>
              <a:rPr lang="en-US" altLang="zh-CN" sz="2400" kern="0" dirty="0">
                <a:latin typeface="微软雅黑" panose="020B0503020204020204" pitchFamily="34" charset="-122"/>
                <a:ea typeface="微软雅黑" panose="020B0503020204020204" pitchFamily="34" charset="-122"/>
              </a:rPr>
              <a:t>Why-</a:t>
            </a:r>
            <a:r>
              <a:rPr lang="zh-CN" altLang="en-US" sz="2400" kern="0" dirty="0">
                <a:latin typeface="微软雅黑" panose="020B0503020204020204" pitchFamily="34" charset="-122"/>
                <a:ea typeface="微软雅黑" panose="020B0503020204020204" pitchFamily="34" charset="-122"/>
              </a:rPr>
              <a:t>组织为何要实施该项目？要达到什么样的目的？</a:t>
            </a:r>
          </a:p>
          <a:p>
            <a:r>
              <a:rPr lang="en-US" altLang="zh-CN" sz="2400" kern="0" dirty="0">
                <a:latin typeface="微软雅黑" panose="020B0503020204020204" pitchFamily="34" charset="-122"/>
                <a:ea typeface="微软雅黑" panose="020B0503020204020204" pitchFamily="34" charset="-122"/>
              </a:rPr>
              <a:t>How much-</a:t>
            </a:r>
            <a:r>
              <a:rPr lang="zh-CN" altLang="en-US" sz="2400" kern="0" dirty="0">
                <a:latin typeface="微软雅黑" panose="020B0503020204020204" pitchFamily="34" charset="-122"/>
                <a:ea typeface="微软雅黑" panose="020B0503020204020204" pitchFamily="34" charset="-122"/>
              </a:rPr>
              <a:t>预算是多少？项目经理有多大的审批权限？</a:t>
            </a:r>
          </a:p>
          <a:p>
            <a:r>
              <a:rPr lang="en-US" altLang="zh-CN" sz="2400" kern="0" dirty="0">
                <a:latin typeface="微软雅黑" panose="020B0503020204020204" pitchFamily="34" charset="-122"/>
                <a:ea typeface="微软雅黑" panose="020B0503020204020204" pitchFamily="34" charset="-122"/>
              </a:rPr>
              <a:t>How to do-</a:t>
            </a:r>
            <a:r>
              <a:rPr lang="zh-CN" altLang="en-US" sz="2400" kern="0" dirty="0">
                <a:latin typeface="微软雅黑" panose="020B0503020204020204" pitchFamily="34" charset="-122"/>
                <a:ea typeface="微软雅黑" panose="020B0503020204020204" pitchFamily="34" charset="-122"/>
              </a:rPr>
              <a:t>如何实施项目？要用到哪些技术和工具？应遵循怎样的程序？</a:t>
            </a:r>
          </a:p>
        </p:txBody>
      </p:sp>
      <p:sp>
        <p:nvSpPr>
          <p:cNvPr id="4" name="Rectangle 3"/>
          <p:cNvSpPr>
            <a:spLocks noChangeArrowheads="1"/>
          </p:cNvSpPr>
          <p:nvPr/>
        </p:nvSpPr>
        <p:spPr bwMode="auto">
          <a:xfrm>
            <a:off x="521381" y="1340644"/>
            <a:ext cx="64087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微软雅黑" panose="020B0503020204020204" pitchFamily="34" charset="-122"/>
                <a:ea typeface="微软雅黑" panose="020B0503020204020204" pitchFamily="34" charset="-122"/>
              </a:rPr>
              <a:t>针对制定计划的</a:t>
            </a:r>
            <a:r>
              <a:rPr lang="en-US" altLang="zh-CN" sz="2400" b="1" dirty="0">
                <a:latin typeface="微软雅黑" panose="020B0503020204020204" pitchFamily="34" charset="-122"/>
                <a:ea typeface="微软雅黑" panose="020B0503020204020204" pitchFamily="34" charset="-122"/>
              </a:rPr>
              <a:t>6W2H</a:t>
            </a:r>
            <a:r>
              <a:rPr lang="zh-CN" altLang="en-US" sz="2400" b="1" dirty="0">
                <a:latin typeface="微软雅黑" panose="020B0503020204020204" pitchFamily="34" charset="-122"/>
                <a:ea typeface="微软雅黑" panose="020B0503020204020204" pitchFamily="34" charset="-122"/>
              </a:rPr>
              <a:t>问题</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52E5A5-6B1B-4487-B029-709514CC917D}"/>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a:extLst>
              <a:ext uri="{FF2B5EF4-FFF2-40B4-BE49-F238E27FC236}">
                <a16:creationId xmlns:a16="http://schemas.microsoft.com/office/drawing/2014/main" id="{81428321-C043-427A-BD29-1F8483C7957B}"/>
              </a:ext>
            </a:extLst>
          </p:cNvPr>
          <p:cNvSpPr txBox="1"/>
          <p:nvPr/>
        </p:nvSpPr>
        <p:spPr>
          <a:xfrm>
            <a:off x="588772" y="1248348"/>
            <a:ext cx="11133426" cy="516272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gn="l"/>
            <a:r>
              <a:rPr lang="zh-CN" altLang="en-US" b="1" i="0" u="none" strike="noStrike" baseline="0" dirty="0">
                <a:latin typeface="SourceHanSansSC-Regular"/>
              </a:rPr>
              <a:t>项目管理计划</a:t>
            </a:r>
            <a:endParaRPr lang="en-US" altLang="zh-CN" b="1" i="0" u="none" strike="noStrike" baseline="0" dirty="0">
              <a:latin typeface="SourceHanSansSC-Regular"/>
            </a:endParaRPr>
          </a:p>
          <a:p>
            <a:pPr lvl="1"/>
            <a:r>
              <a:rPr lang="zh-CN" altLang="en-US" sz="2000" b="1" i="0" u="none" strike="noStrike" baseline="0" dirty="0">
                <a:latin typeface="SourceHanSansSC-Regular"/>
              </a:rPr>
              <a:t>是说明项目执行、监控和收尾方式的一份文件，它</a:t>
            </a:r>
            <a:r>
              <a:rPr lang="zh-CN" altLang="en-US" sz="2000" b="1" i="0" u="none" strike="noStrike" baseline="0" dirty="0">
                <a:solidFill>
                  <a:srgbClr val="0B02BE"/>
                </a:solidFill>
                <a:latin typeface="SourceHanSansSC-Regular"/>
              </a:rPr>
              <a:t>整合并综合了所有子管理计划和基准，以及管理项目所需的其他信息</a:t>
            </a:r>
            <a:r>
              <a:rPr lang="zh-CN" altLang="en-US" sz="2000" b="1" i="0" u="none" strike="noStrike" baseline="0" dirty="0">
                <a:latin typeface="SourceHanSansSC-Regular"/>
              </a:rPr>
              <a:t>。</a:t>
            </a:r>
            <a:endParaRPr lang="en-US" altLang="zh-CN" sz="2000" b="1" i="0" u="none" strike="noStrike" baseline="0" dirty="0">
              <a:latin typeface="SourceHanSansSC-Regular"/>
            </a:endParaRPr>
          </a:p>
          <a:p>
            <a:pPr lvl="1"/>
            <a:r>
              <a:rPr lang="zh-CN" altLang="en-US" sz="2000" b="1" i="0" u="none" strike="noStrike" baseline="0" dirty="0">
                <a:solidFill>
                  <a:srgbClr val="C00000"/>
                </a:solidFill>
                <a:latin typeface="SourceHanSansSC-Regular"/>
              </a:rPr>
              <a:t>究竟需要哪些项目管理计划组件，取决于具体项目的需求</a:t>
            </a:r>
            <a:r>
              <a:rPr lang="zh-CN" altLang="en-US" sz="2000" b="1" i="0" u="none" strike="noStrike" baseline="0" dirty="0">
                <a:latin typeface="SourceHanSansSC-Regular"/>
              </a:rPr>
              <a:t>。</a:t>
            </a:r>
            <a:endParaRPr lang="en-US" altLang="zh-CN" sz="2000" b="1" i="0" u="none" strike="noStrike" baseline="0" dirty="0">
              <a:latin typeface="SourceHanSansSC-Regular"/>
            </a:endParaRPr>
          </a:p>
          <a:p>
            <a:pPr lvl="1"/>
            <a:r>
              <a:rPr lang="en-US" altLang="zh-CN" b="1" dirty="0">
                <a:latin typeface="SourceHanSansSC-Regular"/>
              </a:rPr>
              <a:t>1</a:t>
            </a:r>
            <a:r>
              <a:rPr lang="zh-CN" altLang="en-US" b="1" dirty="0">
                <a:latin typeface="SourceHanSansSC-Regular"/>
              </a:rPr>
              <a:t>）子管理计划：</a:t>
            </a:r>
          </a:p>
          <a:p>
            <a:pPr lvl="2"/>
            <a:r>
              <a:rPr lang="zh-CN" altLang="en-US" b="1" i="0" u="none" strike="noStrike" baseline="0" dirty="0">
                <a:solidFill>
                  <a:srgbClr val="0B02BE"/>
                </a:solidFill>
                <a:latin typeface="SourceHanSansSC-Regular"/>
              </a:rPr>
              <a:t>范围管理计划</a:t>
            </a:r>
            <a:r>
              <a:rPr lang="zh-CN" altLang="en-US" b="1" i="0" u="none" strike="noStrike" baseline="0" dirty="0">
                <a:latin typeface="SourceHanSansSC-Regular"/>
              </a:rPr>
              <a:t>。确立如何定义、制定、监督、控制和确认项目范围。</a:t>
            </a:r>
          </a:p>
          <a:p>
            <a:pPr lvl="2"/>
            <a:r>
              <a:rPr lang="zh-CN" altLang="en-US" b="1" i="0" u="none" strike="noStrike" baseline="0" dirty="0">
                <a:solidFill>
                  <a:srgbClr val="0B02BE"/>
                </a:solidFill>
                <a:latin typeface="SourceHanSansSC-Regular"/>
              </a:rPr>
              <a:t>需求管理计划</a:t>
            </a:r>
            <a:r>
              <a:rPr lang="zh-CN" altLang="en-US" b="1" i="0" u="none" strike="noStrike" baseline="0" dirty="0">
                <a:latin typeface="SourceHanSansSC-Regular"/>
              </a:rPr>
              <a:t>。确定如何分析、记录和管理需求。</a:t>
            </a:r>
          </a:p>
          <a:p>
            <a:pPr lvl="2"/>
            <a:r>
              <a:rPr lang="zh-CN" altLang="en-US" b="1" i="0" u="none" strike="noStrike" baseline="0" dirty="0">
                <a:solidFill>
                  <a:srgbClr val="0B02BE"/>
                </a:solidFill>
                <a:latin typeface="SourceHanSansSC-Regular"/>
              </a:rPr>
              <a:t>进度管理计划</a:t>
            </a:r>
            <a:r>
              <a:rPr lang="zh-CN" altLang="en-US" b="1" i="0" u="none" strike="noStrike" baseline="0" dirty="0">
                <a:latin typeface="SourceHanSansSC-Regular"/>
              </a:rPr>
              <a:t>。为编制、监督和控制项目进度建立准则并确定活动。</a:t>
            </a:r>
          </a:p>
          <a:p>
            <a:pPr lvl="2"/>
            <a:r>
              <a:rPr lang="zh-CN" altLang="en-US" b="1" i="0" u="none" strike="noStrike" baseline="0" dirty="0">
                <a:solidFill>
                  <a:srgbClr val="0B02BE"/>
                </a:solidFill>
                <a:latin typeface="SourceHanSansSC-Regular"/>
              </a:rPr>
              <a:t>成本管理计划</a:t>
            </a:r>
            <a:r>
              <a:rPr lang="zh-CN" altLang="en-US" b="1" i="0" u="none" strike="noStrike" baseline="0" dirty="0">
                <a:latin typeface="SourceHanSansSC-Regular"/>
              </a:rPr>
              <a:t>。确定如何规划、安排和控制成本。</a:t>
            </a:r>
          </a:p>
          <a:p>
            <a:pPr lvl="2"/>
            <a:r>
              <a:rPr lang="zh-CN" altLang="en-US" b="1" i="0" u="none" strike="noStrike" baseline="0" dirty="0">
                <a:solidFill>
                  <a:srgbClr val="0B02BE"/>
                </a:solidFill>
                <a:latin typeface="SourceHanSansSC-Regular"/>
              </a:rPr>
              <a:t>质量管理计划</a:t>
            </a:r>
            <a:r>
              <a:rPr lang="zh-CN" altLang="en-US" b="1" i="0" u="none" strike="noStrike" baseline="0" dirty="0">
                <a:latin typeface="SourceHanSansSC-Regular"/>
              </a:rPr>
              <a:t>。确定在项目中如何实施组织的质量政策、方法和标准。</a:t>
            </a:r>
          </a:p>
          <a:p>
            <a:pPr lvl="2"/>
            <a:r>
              <a:rPr lang="zh-CN" altLang="en-US" b="1" i="0" u="none" strike="noStrike" baseline="0" dirty="0">
                <a:solidFill>
                  <a:srgbClr val="0B02BE"/>
                </a:solidFill>
                <a:latin typeface="SourceHanSansSC-Regular"/>
              </a:rPr>
              <a:t>资源管理计划</a:t>
            </a:r>
            <a:r>
              <a:rPr lang="zh-CN" altLang="en-US" b="1" i="0" u="none" strike="noStrike" baseline="0" dirty="0">
                <a:latin typeface="SourceHanSansSC-Regular"/>
              </a:rPr>
              <a:t>。指导如何对项目资源进行分类、分配、管理和释放。</a:t>
            </a:r>
          </a:p>
          <a:p>
            <a:pPr lvl="2"/>
            <a:r>
              <a:rPr lang="zh-CN" altLang="en-US" b="1" i="0" u="none" strike="noStrike" baseline="0" dirty="0">
                <a:solidFill>
                  <a:srgbClr val="0B02BE"/>
                </a:solidFill>
                <a:latin typeface="SourceHanSansSC-Regular"/>
              </a:rPr>
              <a:t>沟通管理计划</a:t>
            </a:r>
            <a:r>
              <a:rPr lang="zh-CN" altLang="en-US" b="1" i="0" u="none" strike="noStrike" baseline="0" dirty="0">
                <a:latin typeface="SourceHanSansSC-Regular"/>
              </a:rPr>
              <a:t>。确定项目信息将如何、何时、由谁来进行管理和传播。</a:t>
            </a:r>
          </a:p>
          <a:p>
            <a:pPr lvl="2"/>
            <a:r>
              <a:rPr lang="zh-CN" altLang="en-US" b="1" i="0" u="none" strike="noStrike" baseline="0" dirty="0">
                <a:solidFill>
                  <a:srgbClr val="0B02BE"/>
                </a:solidFill>
                <a:latin typeface="SourceHanSansSC-Regular"/>
              </a:rPr>
              <a:t>风险管理计划</a:t>
            </a:r>
            <a:r>
              <a:rPr lang="zh-CN" altLang="en-US" b="1" i="0" u="none" strike="noStrike" baseline="0" dirty="0">
                <a:latin typeface="SourceHanSansSC-Regular"/>
              </a:rPr>
              <a:t>。确定如何安排与实施风险管理活动。</a:t>
            </a:r>
          </a:p>
          <a:p>
            <a:pPr lvl="2"/>
            <a:r>
              <a:rPr lang="zh-CN" altLang="en-US" b="1" i="0" u="none" strike="noStrike" baseline="0" dirty="0">
                <a:solidFill>
                  <a:srgbClr val="0B02BE"/>
                </a:solidFill>
                <a:latin typeface="SourceHanSansSC-Regular"/>
              </a:rPr>
              <a:t>采购管理计划</a:t>
            </a:r>
            <a:r>
              <a:rPr lang="zh-CN" altLang="en-US" b="1" i="0" u="none" strike="noStrike" baseline="0" dirty="0">
                <a:latin typeface="SourceHanSansSC-Regular"/>
              </a:rPr>
              <a:t>。确定项目团队将如何从执行组织外部获取货物和服务。</a:t>
            </a:r>
          </a:p>
          <a:p>
            <a:pPr lvl="2"/>
            <a:r>
              <a:rPr lang="zh-CN" altLang="en-US" b="1" i="0" u="none" strike="noStrike" baseline="0" dirty="0">
                <a:solidFill>
                  <a:srgbClr val="0B02BE"/>
                </a:solidFill>
                <a:latin typeface="SourceHanSansSC-Regular"/>
              </a:rPr>
              <a:t>相关方参与计划</a:t>
            </a:r>
            <a:r>
              <a:rPr lang="zh-CN" altLang="en-US" b="1" i="0" u="none" strike="noStrike" baseline="0" dirty="0">
                <a:latin typeface="SourceHanSansSC-Regular"/>
              </a:rPr>
              <a:t>。确定如何根据相关方的需求、利益和影响让他们参与项目决策和执行。</a:t>
            </a:r>
            <a:endParaRPr lang="zh-CN" altLang="zh-CN" sz="4800" b="1" dirty="0">
              <a:latin typeface="Times New Roman" panose="02020603050405020304" pitchFamily="18" charset="0"/>
              <a:ea typeface="黑体" panose="02010609060101010101" pitchFamily="2" charset="-122"/>
              <a:cs typeface="Times New Roman" panose="02020603050405020304" pitchFamily="18" charset="0"/>
            </a:endParaRPr>
          </a:p>
        </p:txBody>
      </p:sp>
    </p:spTree>
    <p:extLst>
      <p:ext uri="{BB962C8B-B14F-4D97-AF65-F5344CB8AC3E}">
        <p14:creationId xmlns:p14="http://schemas.microsoft.com/office/powerpoint/2010/main" val="2093331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52E5A5-6B1B-4487-B029-709514CC917D}"/>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a:extLst>
              <a:ext uri="{FF2B5EF4-FFF2-40B4-BE49-F238E27FC236}">
                <a16:creationId xmlns:a16="http://schemas.microsoft.com/office/drawing/2014/main" id="{81428321-C043-427A-BD29-1F8483C7957B}"/>
              </a:ext>
            </a:extLst>
          </p:cNvPr>
          <p:cNvSpPr txBox="1"/>
          <p:nvPr/>
        </p:nvSpPr>
        <p:spPr>
          <a:xfrm>
            <a:off x="588772" y="1248348"/>
            <a:ext cx="11133426" cy="516272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lvl="1"/>
            <a:r>
              <a:rPr lang="en-US" altLang="zh-CN" sz="2800" b="1" i="0" u="none" strike="noStrike" baseline="0" dirty="0">
                <a:latin typeface="SourceHanSansSC-Bold"/>
              </a:rPr>
              <a:t>2</a:t>
            </a:r>
            <a:r>
              <a:rPr lang="zh-CN" altLang="en-US" sz="2800" b="1" i="0" u="none" strike="noStrike" baseline="0" dirty="0">
                <a:latin typeface="SourceHanSansSC-Bold"/>
              </a:rPr>
              <a:t>）基准：</a:t>
            </a:r>
          </a:p>
          <a:p>
            <a:pPr lvl="2"/>
            <a:r>
              <a:rPr lang="zh-CN" altLang="en-US" b="1" i="0" u="none" strike="noStrike" baseline="0" dirty="0">
                <a:solidFill>
                  <a:srgbClr val="0B02BE"/>
                </a:solidFill>
                <a:latin typeface="SourceHanSansSC-Regular"/>
              </a:rPr>
              <a:t>范围基准</a:t>
            </a:r>
            <a:r>
              <a:rPr lang="zh-CN" altLang="en-US" b="1" i="0" u="none" strike="noStrike" baseline="0" dirty="0">
                <a:latin typeface="SourceHanSansSC-Regular"/>
              </a:rPr>
              <a:t>。经过批准的范围说明书、工作分解结构 </a:t>
            </a:r>
            <a:r>
              <a:rPr lang="en-US" altLang="zh-CN" b="1" i="0" u="none" strike="noStrike" baseline="0" dirty="0">
                <a:latin typeface="HelveticaNeue-Condensed"/>
              </a:rPr>
              <a:t>(WBS) </a:t>
            </a:r>
            <a:r>
              <a:rPr lang="zh-CN" altLang="en-US" b="1" i="0" u="none" strike="noStrike" baseline="0" dirty="0">
                <a:latin typeface="SourceHanSansSC-Regular"/>
              </a:rPr>
              <a:t>和相应的 </a:t>
            </a:r>
            <a:r>
              <a:rPr lang="en-US" altLang="zh-CN" b="1" i="0" u="none" strike="noStrike" baseline="0" dirty="0">
                <a:latin typeface="HelveticaNeue-Condensed"/>
              </a:rPr>
              <a:t>WBS </a:t>
            </a:r>
            <a:r>
              <a:rPr lang="zh-CN" altLang="en-US" b="1" i="0" u="none" strike="noStrike" baseline="0" dirty="0">
                <a:latin typeface="SourceHanSansSC-Regular"/>
              </a:rPr>
              <a:t>词典，用作比较依据。</a:t>
            </a:r>
          </a:p>
          <a:p>
            <a:pPr lvl="2"/>
            <a:r>
              <a:rPr lang="zh-CN" altLang="en-US" b="1" i="0" u="none" strike="noStrike" baseline="0" dirty="0">
                <a:solidFill>
                  <a:srgbClr val="0B02BE"/>
                </a:solidFill>
                <a:latin typeface="SourceHanSansSC-Regular"/>
              </a:rPr>
              <a:t>进度基准</a:t>
            </a:r>
            <a:r>
              <a:rPr lang="zh-CN" altLang="en-US" b="1" i="0" u="none" strike="noStrike" baseline="0" dirty="0">
                <a:latin typeface="SourceHanSansSC-Regular"/>
              </a:rPr>
              <a:t>。经过批准的进度模型，用作与实际结果进行比较的依据。</a:t>
            </a:r>
          </a:p>
          <a:p>
            <a:pPr lvl="2"/>
            <a:r>
              <a:rPr lang="zh-CN" altLang="en-US" b="1" i="0" u="none" strike="noStrike" baseline="0" dirty="0">
                <a:solidFill>
                  <a:srgbClr val="0B02BE"/>
                </a:solidFill>
                <a:latin typeface="SourceHanSansSC-Regular"/>
              </a:rPr>
              <a:t>成本基准</a:t>
            </a:r>
            <a:r>
              <a:rPr lang="zh-CN" altLang="en-US" b="1" i="0" u="none" strike="noStrike" baseline="0" dirty="0">
                <a:latin typeface="SourceHanSansSC-Regular"/>
              </a:rPr>
              <a:t>。经过批准的、按时间段分配的项目预算，用作与实际结果进行比较的依据。</a:t>
            </a:r>
            <a:endParaRPr lang="en-US" altLang="zh-CN" b="1" i="0" u="none" strike="noStrike" baseline="0" dirty="0">
              <a:latin typeface="SourceHanSansSC-Regular"/>
            </a:endParaRPr>
          </a:p>
          <a:p>
            <a:pPr lvl="1"/>
            <a:r>
              <a:rPr lang="en-US" altLang="zh-CN" sz="2800" b="1" dirty="0">
                <a:latin typeface="SourceHanSansSC-Bold"/>
              </a:rPr>
              <a:t>3</a:t>
            </a:r>
            <a:r>
              <a:rPr lang="zh-CN" altLang="en-US" sz="2800" b="1" dirty="0">
                <a:latin typeface="SourceHanSansSC-Bold"/>
              </a:rPr>
              <a:t>）其他组件：</a:t>
            </a:r>
            <a:endParaRPr lang="en-US" altLang="zh-CN" sz="2800" b="1" dirty="0">
              <a:latin typeface="SourceHanSansSC-Bold"/>
            </a:endParaRPr>
          </a:p>
          <a:p>
            <a:pPr lvl="2"/>
            <a:r>
              <a:rPr lang="zh-CN" altLang="en-US" b="1" dirty="0">
                <a:latin typeface="SourceHanSansSC-Regular"/>
              </a:rPr>
              <a:t>本过程生成的组件会因项目而异，通常包括（但不限于）：</a:t>
            </a:r>
          </a:p>
          <a:p>
            <a:pPr lvl="3"/>
            <a:r>
              <a:rPr lang="zh-CN" altLang="en-US" b="1" i="0" u="none" strike="noStrike" baseline="0" dirty="0">
                <a:solidFill>
                  <a:srgbClr val="0B02BE"/>
                </a:solidFill>
                <a:latin typeface="SourceHanSansSC-Regular"/>
              </a:rPr>
              <a:t>变更管理计划</a:t>
            </a:r>
            <a:r>
              <a:rPr lang="zh-CN" altLang="en-US" b="1" i="0" u="none" strike="noStrike" baseline="0" dirty="0">
                <a:latin typeface="SourceHanSansSC-Regular"/>
              </a:rPr>
              <a:t>。描述在整个项目期间如何正式审批和采纳变更请求。</a:t>
            </a:r>
          </a:p>
          <a:p>
            <a:pPr lvl="3"/>
            <a:r>
              <a:rPr lang="zh-CN" altLang="en-US" b="1" i="0" u="none" strike="noStrike" baseline="0" dirty="0">
                <a:solidFill>
                  <a:srgbClr val="0B02BE"/>
                </a:solidFill>
                <a:latin typeface="SourceHanSansSC-Regular"/>
              </a:rPr>
              <a:t>配置管理计划</a:t>
            </a:r>
            <a:r>
              <a:rPr lang="zh-CN" altLang="en-US" b="1" i="0" u="none" strike="noStrike" baseline="0" dirty="0">
                <a:latin typeface="SourceHanSansSC-Regular"/>
              </a:rPr>
              <a:t>。描述如何记录和更新项目的特定信息，以及该记录和更新哪些信息，以保持产品、服务或成果的一致性和（或）有效性。</a:t>
            </a:r>
          </a:p>
          <a:p>
            <a:pPr lvl="3"/>
            <a:r>
              <a:rPr lang="zh-CN" altLang="en-US" b="1" i="0" u="none" strike="noStrike" baseline="0" dirty="0">
                <a:solidFill>
                  <a:srgbClr val="0B02BE"/>
                </a:solidFill>
                <a:latin typeface="SourceHanSansSC-Regular"/>
              </a:rPr>
              <a:t>绩效测量基准</a:t>
            </a:r>
            <a:r>
              <a:rPr lang="zh-CN" altLang="en-US" b="1" i="0" u="none" strike="noStrike" baseline="0" dirty="0">
                <a:latin typeface="SourceHanSansSC-Regular"/>
              </a:rPr>
              <a:t>。经过整合的项目范围、进度和成本计划，用作项目执行的比较依据，以测量和管理项目绩效。</a:t>
            </a:r>
          </a:p>
          <a:p>
            <a:pPr lvl="3"/>
            <a:r>
              <a:rPr lang="zh-CN" altLang="en-US" b="1" i="0" u="none" strike="noStrike" baseline="0" dirty="0">
                <a:solidFill>
                  <a:srgbClr val="0B02BE"/>
                </a:solidFill>
                <a:latin typeface="SourceHanSansSC-Regular"/>
              </a:rPr>
              <a:t>项目生命周期</a:t>
            </a:r>
            <a:r>
              <a:rPr lang="zh-CN" altLang="en-US" b="1" i="0" u="none" strike="noStrike" baseline="0" dirty="0">
                <a:latin typeface="SourceHanSansSC-Regular"/>
              </a:rPr>
              <a:t>。描述项目从开始到结束所经历的一系列阶段。</a:t>
            </a:r>
          </a:p>
          <a:p>
            <a:pPr lvl="3"/>
            <a:r>
              <a:rPr lang="zh-CN" altLang="en-US" b="1" i="0" u="none" strike="noStrike" baseline="0" dirty="0">
                <a:solidFill>
                  <a:srgbClr val="0070C0"/>
                </a:solidFill>
                <a:latin typeface="SourceHanSansSC-Regular"/>
              </a:rPr>
              <a:t>开发方法</a:t>
            </a:r>
            <a:r>
              <a:rPr lang="zh-CN" altLang="en-US" b="1" i="0" u="none" strike="noStrike" baseline="0" dirty="0">
                <a:latin typeface="SourceHanSansSC-Regular"/>
              </a:rPr>
              <a:t>。描述产品、服务或成果的开发方法，例如预测、迭代、敏捷或混合型模式。</a:t>
            </a:r>
          </a:p>
          <a:p>
            <a:pPr lvl="3"/>
            <a:r>
              <a:rPr lang="zh-CN" altLang="en-US" b="1" i="0" u="none" strike="noStrike" baseline="0" dirty="0">
                <a:solidFill>
                  <a:srgbClr val="0B02BE"/>
                </a:solidFill>
                <a:latin typeface="SourceHanSansSC-Regular"/>
              </a:rPr>
              <a:t>管理审查</a:t>
            </a:r>
            <a:r>
              <a:rPr lang="zh-CN" altLang="en-US" b="1" i="0" u="none" strike="noStrike" baseline="0" dirty="0">
                <a:latin typeface="SourceHanSansSC-Regular"/>
              </a:rPr>
              <a:t>。确定项目经理和有关相关方审查项目进展的时间点，以考核绩效是否符合预期，或者确定是否有必要采取预防或纠正措施。</a:t>
            </a:r>
            <a:endParaRPr lang="zh-CN" altLang="en-US" sz="4400" b="1" dirty="0"/>
          </a:p>
        </p:txBody>
      </p:sp>
    </p:spTree>
    <p:extLst>
      <p:ext uri="{BB962C8B-B14F-4D97-AF65-F5344CB8AC3E}">
        <p14:creationId xmlns:p14="http://schemas.microsoft.com/office/powerpoint/2010/main" val="124151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Rectangle 2"/>
          <p:cNvSpPr txBox="1">
            <a:spLocks noChangeArrowheads="1"/>
          </p:cNvSpPr>
          <p:nvPr/>
        </p:nvSpPr>
        <p:spPr>
          <a:xfrm>
            <a:off x="492744" y="1326480"/>
            <a:ext cx="7944675" cy="488728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项目管理计划书应包含的主要内容</a:t>
            </a:r>
          </a:p>
          <a:p>
            <a:r>
              <a:rPr lang="zh-CN" altLang="en-US" dirty="0"/>
              <a:t>项目整体介绍</a:t>
            </a:r>
            <a:endParaRPr lang="en-US" altLang="zh-CN" dirty="0"/>
          </a:p>
          <a:p>
            <a:r>
              <a:rPr lang="zh-CN" altLang="en-US" dirty="0"/>
              <a:t>如何组织开展项目的描述</a:t>
            </a:r>
            <a:endParaRPr lang="en-US" altLang="zh-CN" dirty="0"/>
          </a:p>
          <a:p>
            <a:r>
              <a:rPr lang="zh-CN" altLang="en-US" dirty="0"/>
              <a:t>项目运用的管理和技术方法</a:t>
            </a:r>
            <a:endParaRPr lang="en-US" altLang="zh-CN" dirty="0"/>
          </a:p>
          <a:p>
            <a:r>
              <a:rPr lang="zh-CN" altLang="en-US" dirty="0"/>
              <a:t>时间进度表</a:t>
            </a:r>
            <a:endParaRPr lang="en-US" altLang="zh-CN" dirty="0"/>
          </a:p>
          <a:p>
            <a:r>
              <a:rPr lang="zh-CN" altLang="en-US" dirty="0"/>
              <a:t>预算</a:t>
            </a:r>
            <a:endParaRPr lang="en-US" altLang="zh-CN" dirty="0"/>
          </a:p>
          <a:p>
            <a:r>
              <a:rPr lang="en-US" altLang="zh-CN" kern="0" dirty="0">
                <a:latin typeface="微软雅黑" panose="020B0503020204020204" pitchFamily="34" charset="-122"/>
                <a:ea typeface="微软雅黑" panose="020B0503020204020204" pitchFamily="34" charset="-122"/>
              </a:rPr>
              <a:t>……</a:t>
            </a:r>
            <a:endParaRPr lang="zh-CN" altLang="en-US"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D286D9-18F0-4BFE-9E62-1018C2274805}"/>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6" name="文本框 5">
            <a:extLst>
              <a:ext uri="{FF2B5EF4-FFF2-40B4-BE49-F238E27FC236}">
                <a16:creationId xmlns:a16="http://schemas.microsoft.com/office/drawing/2014/main" id="{FB752D6C-5126-4C3F-A255-90284A59D6D1}"/>
              </a:ext>
            </a:extLst>
          </p:cNvPr>
          <p:cNvSpPr txBox="1"/>
          <p:nvPr/>
        </p:nvSpPr>
        <p:spPr>
          <a:xfrm>
            <a:off x="912687" y="1969501"/>
            <a:ext cx="10366625" cy="4462760"/>
          </a:xfrm>
          <a:prstGeom prst="rect">
            <a:avLst/>
          </a:prstGeom>
          <a:noFill/>
        </p:spPr>
        <p:txBody>
          <a:bodyPr wrap="square">
            <a:spAutoFit/>
          </a:bodyPr>
          <a:lstStyle/>
          <a:p>
            <a:pPr algn="l"/>
            <a:r>
              <a:rPr lang="zh-CN" altLang="en-US" sz="2400" b="1" i="0" u="none" strike="noStrike" baseline="0" dirty="0">
                <a:solidFill>
                  <a:srgbClr val="1D1D1D"/>
                </a:solidFill>
                <a:latin typeface="HiddenHorzOCR"/>
              </a:rPr>
              <a:t>项目的整体介绍至少应包括：</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项目名称</a:t>
            </a:r>
            <a:r>
              <a:rPr lang="en-US" altLang="zh-CN" sz="2000" b="1" i="0" u="none" strike="noStrike" baseline="0" dirty="0">
                <a:solidFill>
                  <a:srgbClr val="1D1D1D"/>
                </a:solidFill>
                <a:latin typeface="HiddenHorzOCR"/>
              </a:rPr>
              <a:t>.</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项目的简要描述及要满足的需求</a:t>
            </a:r>
            <a:endParaRPr lang="en-US" altLang="zh-CN" sz="2000" b="1" i="0" u="none" strike="noStrike" baseline="0" dirty="0">
              <a:solidFill>
                <a:srgbClr val="1D1D1D"/>
              </a:solidFill>
              <a:latin typeface="HiddenHorzOCR"/>
            </a:endParaRP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项目发起人名称</a:t>
            </a:r>
            <a:endParaRPr lang="en-US" altLang="zh-CN" sz="2000" b="1" i="0" u="none" strike="noStrike" baseline="0" dirty="0">
              <a:solidFill>
                <a:srgbClr val="1D1D1D"/>
              </a:solidFill>
              <a:latin typeface="HiddenHorzOCR"/>
            </a:endParaRP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2C2C2C"/>
                </a:solidFill>
                <a:latin typeface="HiddenHorzOCR"/>
              </a:rPr>
              <a:t>项目经理和关键团队成员的名单</a:t>
            </a:r>
            <a:endParaRPr lang="en-US" altLang="zh-CN" sz="2000" b="1" i="0" u="none" strike="noStrike" baseline="0" dirty="0">
              <a:solidFill>
                <a:srgbClr val="2C2C2C"/>
              </a:solidFill>
              <a:latin typeface="HiddenHorzOCR"/>
            </a:endParaRP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项目可交付成果</a:t>
            </a:r>
            <a:endParaRPr lang="en-US" altLang="zh-CN" sz="2000" b="1" i="0" u="none" strike="noStrike" baseline="0" dirty="0">
              <a:solidFill>
                <a:srgbClr val="1D1D1D"/>
              </a:solidFill>
              <a:latin typeface="HiddenHorzOCR"/>
            </a:endParaRPr>
          </a:p>
          <a:p>
            <a:pPr lvl="1"/>
            <a:r>
              <a:rPr lang="en-US" altLang="zh-CN" b="1" dirty="0">
                <a:solidFill>
                  <a:srgbClr val="0B02BE"/>
                </a:solidFill>
                <a:latin typeface="HiddenHorzOCR"/>
              </a:rPr>
              <a:t>	</a:t>
            </a:r>
            <a:r>
              <a:rPr lang="zh-CN" altLang="en-US" b="1" i="0" u="none" strike="noStrike" baseline="0" dirty="0">
                <a:solidFill>
                  <a:srgbClr val="0B02BE"/>
                </a:solidFill>
                <a:latin typeface="HiddenHorzOCR"/>
              </a:rPr>
              <a:t>这个环节需要简要地列出和介绍项目要产生的成果。软件包、硬件、技术报告和培训资料等都属于可交付成果。</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相关的重要资料清单</a:t>
            </a:r>
            <a:endParaRPr lang="en-US" altLang="zh-CN" sz="2000" b="1" i="0" u="none" strike="noStrike" baseline="0" dirty="0">
              <a:solidFill>
                <a:srgbClr val="1D1D1D"/>
              </a:solidFill>
              <a:latin typeface="HiddenHorzOCR"/>
            </a:endParaRPr>
          </a:p>
          <a:p>
            <a:pPr lvl="1"/>
            <a:r>
              <a:rPr lang="en-US" altLang="zh-CN" sz="2000" b="1" dirty="0">
                <a:solidFill>
                  <a:srgbClr val="0B02BE"/>
                </a:solidFill>
                <a:latin typeface="HiddenHorzOCR"/>
              </a:rPr>
              <a:t>	</a:t>
            </a:r>
            <a:r>
              <a:rPr lang="zh-CN" altLang="en-US" b="1" i="0" u="none" strike="noStrike" baseline="0" dirty="0">
                <a:solidFill>
                  <a:srgbClr val="0B02BE"/>
                </a:solidFill>
                <a:latin typeface="HiddenHorzOCR"/>
              </a:rPr>
              <a:t>多数项目有过往的历史，所以应列出能够帮助项目利益相关者更好地了</a:t>
            </a:r>
            <a:r>
              <a:rPr lang="en-US" altLang="zh-CN" b="1" i="0" u="none" strike="noStrike" baseline="0" dirty="0">
                <a:solidFill>
                  <a:srgbClr val="0B02BE"/>
                </a:solidFill>
                <a:latin typeface="HiddenHorzOCR"/>
              </a:rPr>
              <a:t> </a:t>
            </a:r>
            <a:r>
              <a:rPr lang="zh-CN" altLang="en-US" b="1" i="0" u="none" strike="noStrike" baseline="0" dirty="0">
                <a:solidFill>
                  <a:srgbClr val="0B02BE"/>
                </a:solidFill>
                <a:latin typeface="HiddenHorzOCR"/>
              </a:rPr>
              <a:t>解历史的相关重要文件或者会议记录。</a:t>
            </a:r>
            <a:endParaRPr lang="en-US" altLang="zh-CN" b="1" i="0" u="none" strike="noStrike" baseline="0" dirty="0">
              <a:solidFill>
                <a:srgbClr val="0B02BE"/>
              </a:solidFill>
              <a:latin typeface="HiddenHorzOCR"/>
            </a:endParaRPr>
          </a:p>
          <a:p>
            <a:pPr lvl="1"/>
            <a:r>
              <a:rPr lang="en-US" altLang="zh-CN" b="1" dirty="0">
                <a:solidFill>
                  <a:srgbClr val="0B02BE"/>
                </a:solidFill>
                <a:latin typeface="HiddenHorzOCR"/>
              </a:rPr>
              <a:t>	</a:t>
            </a:r>
            <a:r>
              <a:rPr lang="zh-CN" altLang="en-US" b="1" i="0" u="none" strike="noStrike" baseline="0" dirty="0">
                <a:solidFill>
                  <a:srgbClr val="0B02BE"/>
                </a:solidFill>
                <a:latin typeface="HiddenHorzOCR"/>
              </a:rPr>
              <a:t>项目管理计划应该提及和汇总范围管理、进度管理、成本管理、质量管理、资源管理、沟通管理、风险管理和采购管理计划等的</a:t>
            </a:r>
            <a:r>
              <a:rPr lang="zh-CN" altLang="en-US" b="1" i="1" u="none" strike="noStrike" baseline="0" dirty="0">
                <a:solidFill>
                  <a:srgbClr val="0B02BE"/>
                </a:solidFill>
                <a:latin typeface="HiddenHorzOCR"/>
              </a:rPr>
              <a:t>重要部分</a:t>
            </a:r>
            <a:r>
              <a:rPr lang="zh-CN" altLang="en-US" b="1" i="0" u="none" strike="noStrike" baseline="0" dirty="0">
                <a:solidFill>
                  <a:srgbClr val="0B02BE"/>
                </a:solidFill>
                <a:latin typeface="HiddenHorzOCR"/>
              </a:rPr>
              <a:t>。</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准确的术语表及其解释</a:t>
            </a:r>
            <a:endParaRPr lang="en-US" altLang="zh-CN" sz="2000" b="1" i="0" u="none" strike="noStrike" baseline="0" dirty="0">
              <a:solidFill>
                <a:srgbClr val="1D1D1D"/>
              </a:solidFill>
              <a:latin typeface="HiddenHorzOCR"/>
            </a:endParaRPr>
          </a:p>
        </p:txBody>
      </p:sp>
      <p:sp>
        <p:nvSpPr>
          <p:cNvPr id="3" name="矩形 2">
            <a:extLst>
              <a:ext uri="{FF2B5EF4-FFF2-40B4-BE49-F238E27FC236}">
                <a16:creationId xmlns:a16="http://schemas.microsoft.com/office/drawing/2014/main" id="{09C4FC4F-BC1E-48D2-B99E-D0006AF04306}"/>
              </a:ext>
            </a:extLst>
          </p:cNvPr>
          <p:cNvSpPr/>
          <p:nvPr/>
        </p:nvSpPr>
        <p:spPr>
          <a:xfrm>
            <a:off x="753720" y="1354657"/>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84165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83B61-344F-4F96-88CA-9C5D57E4E872}"/>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矩形 2">
            <a:extLst>
              <a:ext uri="{FF2B5EF4-FFF2-40B4-BE49-F238E27FC236}">
                <a16:creationId xmlns:a16="http://schemas.microsoft.com/office/drawing/2014/main" id="{29C4131C-9150-48A6-9CDD-87CE6FF4D90A}"/>
              </a:ext>
            </a:extLst>
          </p:cNvPr>
          <p:cNvSpPr/>
          <p:nvPr/>
        </p:nvSpPr>
        <p:spPr>
          <a:xfrm>
            <a:off x="753720" y="1354657"/>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2CC4429A-9F62-48F0-82B8-B2007E8D4935}"/>
              </a:ext>
            </a:extLst>
          </p:cNvPr>
          <p:cNvSpPr txBox="1"/>
          <p:nvPr/>
        </p:nvSpPr>
        <p:spPr>
          <a:xfrm>
            <a:off x="912687" y="1969501"/>
            <a:ext cx="10366625" cy="2616101"/>
          </a:xfrm>
          <a:prstGeom prst="rect">
            <a:avLst/>
          </a:prstGeom>
          <a:noFill/>
        </p:spPr>
        <p:txBody>
          <a:bodyPr wrap="square">
            <a:spAutoFit/>
          </a:bodyPr>
          <a:lstStyle/>
          <a:p>
            <a:r>
              <a:rPr lang="zh-CN" altLang="en-US" sz="2400" b="1" dirty="0">
                <a:solidFill>
                  <a:srgbClr val="1D1D1D"/>
                </a:solidFill>
                <a:latin typeface="HiddenHorzOCR"/>
              </a:rPr>
              <a:t>如何组织和开展项目的描述应该包括</a:t>
            </a:r>
            <a:r>
              <a:rPr lang="en-US" altLang="zh-CN" sz="2400" b="1" dirty="0">
                <a:solidFill>
                  <a:srgbClr val="1D1D1D"/>
                </a:solidFill>
                <a:latin typeface="HiddenHorzOCR"/>
              </a:rPr>
              <a:t>: </a:t>
            </a:r>
            <a:endParaRPr lang="zh-CN" altLang="en-US" sz="2400" b="1" dirty="0">
              <a:solidFill>
                <a:srgbClr val="1D1D1D"/>
              </a:solidFill>
              <a:latin typeface="HiddenHorzOCR"/>
            </a:endParaRPr>
          </a:p>
          <a:p>
            <a:pPr marL="342900" indent="-342900">
              <a:buFont typeface="Wingdings" panose="05000000000000000000" pitchFamily="2" charset="2"/>
              <a:buChar char="l"/>
            </a:pPr>
            <a:r>
              <a:rPr lang="zh-CN" altLang="en-US" sz="2000" b="1" dirty="0">
                <a:solidFill>
                  <a:srgbClr val="0B02BE"/>
                </a:solidFill>
              </a:rPr>
              <a:t>组织结构图：</a:t>
            </a:r>
            <a:endParaRPr lang="zh-CN" altLang="en-US" sz="3200" b="1" dirty="0">
              <a:solidFill>
                <a:srgbClr val="0B02BE"/>
              </a:solidFill>
            </a:endParaRPr>
          </a:p>
          <a:p>
            <a:pPr lvl="1"/>
            <a:r>
              <a:rPr lang="zh-CN" altLang="en-US" sz="2000" b="1" dirty="0"/>
              <a:t>说明项目的职权、责任和沟通之间的关系</a:t>
            </a:r>
            <a:r>
              <a:rPr lang="en-US" altLang="zh-CN" sz="2000" b="1" dirty="0"/>
              <a:t>	</a:t>
            </a:r>
          </a:p>
          <a:p>
            <a:pPr marL="342900" indent="-342900">
              <a:buFont typeface="Wingdings" panose="05000000000000000000" pitchFamily="2" charset="2"/>
              <a:buChar char="l"/>
            </a:pPr>
            <a:r>
              <a:rPr lang="zh-CN" altLang="en-US" sz="2000" b="1" dirty="0">
                <a:solidFill>
                  <a:srgbClr val="0B02BE"/>
                </a:solidFill>
              </a:rPr>
              <a:t>项目责任：</a:t>
            </a:r>
            <a:endParaRPr lang="en-US" altLang="zh-CN" sz="3200" b="1" dirty="0">
              <a:solidFill>
                <a:srgbClr val="0B02BE"/>
              </a:solidFill>
            </a:endParaRPr>
          </a:p>
          <a:p>
            <a:pPr lvl="1"/>
            <a:r>
              <a:rPr lang="zh-CN" altLang="en-US" sz="2000" b="1" dirty="0"/>
              <a:t>说明项目主要的职责和活动，以及确认谁负责这些活动。</a:t>
            </a:r>
            <a:endParaRPr lang="en-US" altLang="zh-CN" sz="2000" b="1" dirty="0"/>
          </a:p>
          <a:p>
            <a:pPr lvl="1"/>
            <a:r>
              <a:rPr lang="zh-CN" altLang="en-US" sz="2000" b="1" dirty="0"/>
              <a:t>责任分配矩阵是一个常用的显示这一信息的工具。 </a:t>
            </a:r>
            <a:endParaRPr lang="zh-CN" altLang="en-US" sz="3200" b="1" dirty="0"/>
          </a:p>
          <a:p>
            <a:pPr marL="342900" indent="-342900">
              <a:buFont typeface="Wingdings" panose="05000000000000000000" pitchFamily="2" charset="2"/>
              <a:buChar char="l"/>
            </a:pPr>
            <a:r>
              <a:rPr lang="zh-CN" altLang="en-US" sz="2000" b="1" dirty="0">
                <a:solidFill>
                  <a:srgbClr val="0B02BE"/>
                </a:solidFill>
              </a:rPr>
              <a:t>其他与组织或者过程相关的信息： </a:t>
            </a:r>
            <a:endParaRPr lang="en-US" altLang="zh-CN" sz="3200" b="1" dirty="0">
              <a:solidFill>
                <a:srgbClr val="0B02BE"/>
              </a:solidFill>
            </a:endParaRPr>
          </a:p>
          <a:p>
            <a:pPr lvl="1"/>
            <a:r>
              <a:rPr lang="zh-CN" altLang="en-US" sz="2000" b="1" dirty="0"/>
              <a:t>根据项目的性质，可能需要记录项目遵循的主要过程。 </a:t>
            </a:r>
            <a:endParaRPr lang="zh-CN" altLang="en-US" sz="3200" b="1" dirty="0"/>
          </a:p>
        </p:txBody>
      </p:sp>
    </p:spTree>
    <p:extLst>
      <p:ext uri="{BB962C8B-B14F-4D97-AF65-F5344CB8AC3E}">
        <p14:creationId xmlns:p14="http://schemas.microsoft.com/office/powerpoint/2010/main" val="2593640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211C7-E2AC-4755-9E2B-E9572EAAE4A9}"/>
              </a:ext>
            </a:extLst>
          </p:cNvPr>
          <p:cNvSpPr>
            <a:spLocks noGrp="1"/>
          </p:cNvSpPr>
          <p:nvPr>
            <p:ph type="title"/>
          </p:nvPr>
        </p:nvSpPr>
        <p:spPr/>
        <p:txBody>
          <a:bodyPr/>
          <a:lstStyle/>
          <a:p>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3" name="矩形 2">
            <a:extLst>
              <a:ext uri="{FF2B5EF4-FFF2-40B4-BE49-F238E27FC236}">
                <a16:creationId xmlns:a16="http://schemas.microsoft.com/office/drawing/2014/main" id="{47C82679-9B24-42C6-81EB-CF3F6069CEFE}"/>
              </a:ext>
            </a:extLst>
          </p:cNvPr>
          <p:cNvSpPr/>
          <p:nvPr/>
        </p:nvSpPr>
        <p:spPr>
          <a:xfrm>
            <a:off x="741528" y="1201479"/>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B9430E53-EA5F-440C-B1CF-638B3292131F}"/>
              </a:ext>
            </a:extLst>
          </p:cNvPr>
          <p:cNvSpPr/>
          <p:nvPr/>
        </p:nvSpPr>
        <p:spPr>
          <a:xfrm>
            <a:off x="967412" y="1754057"/>
            <a:ext cx="10257175" cy="4339650"/>
          </a:xfrm>
          <a:prstGeom prst="rect">
            <a:avLst/>
          </a:prstGeom>
        </p:spPr>
        <p:txBody>
          <a:bodyPr wrap="square">
            <a:spAutoFit/>
          </a:bodyPr>
          <a:lstStyle/>
          <a:p>
            <a:r>
              <a:rPr lang="zh-CN" altLang="en-US" sz="2400" b="1" dirty="0">
                <a:solidFill>
                  <a:srgbClr val="1D1D1D"/>
                </a:solidFill>
                <a:latin typeface="HiddenHorzOCR"/>
              </a:rPr>
              <a:t>项目运用的管理和技术方法包括的内容有 </a:t>
            </a:r>
          </a:p>
          <a:p>
            <a:pPr marL="285750" indent="-285750">
              <a:buFont typeface="Arial" panose="020B0604020202020204" pitchFamily="34" charset="0"/>
              <a:buChar char="•"/>
            </a:pPr>
            <a:r>
              <a:rPr lang="zh-CN" altLang="en-US" b="1" dirty="0">
                <a:solidFill>
                  <a:srgbClr val="0B02BE"/>
                </a:solidFill>
              </a:rPr>
              <a:t>管理目标： </a:t>
            </a:r>
          </a:p>
          <a:p>
            <a:pPr lvl="1"/>
            <a:r>
              <a:rPr lang="zh-CN" altLang="en-US" b="1" dirty="0"/>
              <a:t>了解高层管理者对于项目的看法、项目的优先权和项目所有假设和限制条件至关重要 </a:t>
            </a:r>
          </a:p>
          <a:p>
            <a:pPr marL="285750" indent="-285750">
              <a:buFont typeface="Arial" panose="020B0604020202020204" pitchFamily="34" charset="0"/>
              <a:buChar char="•"/>
            </a:pPr>
            <a:r>
              <a:rPr lang="zh-CN" altLang="en-US" b="1" dirty="0">
                <a:solidFill>
                  <a:srgbClr val="0B02BE"/>
                </a:solidFill>
              </a:rPr>
              <a:t>项目控制：</a:t>
            </a:r>
            <a:endParaRPr lang="en-US" altLang="zh-CN" b="1" dirty="0">
              <a:solidFill>
                <a:srgbClr val="0B02BE"/>
              </a:solidFill>
            </a:endParaRPr>
          </a:p>
          <a:p>
            <a:pPr lvl="1"/>
            <a:r>
              <a:rPr lang="zh-CN" altLang="en-US" b="1" dirty="0"/>
              <a:t>这部分阐述怎样监控项目过程和处理变更。</a:t>
            </a:r>
            <a:r>
              <a:rPr lang="zh-CN" altLang="en-US" sz="1800" kern="1200" dirty="0">
                <a:solidFill>
                  <a:schemeClr val="tx1"/>
                </a:solidFill>
                <a:effectLst/>
                <a:latin typeface="+mn-lt"/>
                <a:ea typeface="+mn-ea"/>
                <a:cs typeface="+mn-cs"/>
              </a:rPr>
              <a:t>有没有进行月度情况检查和季度进度检查</a:t>
            </a:r>
            <a:r>
              <a:rPr lang="en-US" altLang="zh-CN" sz="1800" kern="1200" dirty="0">
                <a:solidFill>
                  <a:schemeClr val="tx1"/>
                </a:solidFill>
                <a:effectLst/>
                <a:latin typeface="+mn-lt"/>
                <a:ea typeface="+mn-ea"/>
                <a:cs typeface="+mn-cs"/>
              </a:rPr>
              <a:t>?</a:t>
            </a:r>
            <a:r>
              <a:rPr lang="zh-CN" altLang="en-US" sz="1800" kern="1200" dirty="0">
                <a:solidFill>
                  <a:schemeClr val="tx1"/>
                </a:solidFill>
                <a:effectLst/>
                <a:latin typeface="+mn-lt"/>
                <a:ea typeface="+mn-ea"/>
                <a:cs typeface="+mn-cs"/>
              </a:rPr>
              <a:t>有没有专门的表格或章程去监控进度？项目是否用挣值管理来评估和追踪绩效？ 变更控制的过程是什么</a:t>
            </a:r>
            <a:r>
              <a:rPr lang="en-US" altLang="zh-CN" sz="1800" kern="1200" dirty="0">
                <a:solidFill>
                  <a:schemeClr val="tx1"/>
                </a:solidFill>
                <a:effectLst/>
                <a:latin typeface="+mn-lt"/>
                <a:ea typeface="+mn-ea"/>
                <a:cs typeface="+mn-cs"/>
              </a:rPr>
              <a:t>?</a:t>
            </a:r>
            <a:r>
              <a:rPr lang="zh-CN" altLang="en-US" sz="1800" kern="1200" dirty="0">
                <a:solidFill>
                  <a:schemeClr val="tx1"/>
                </a:solidFill>
                <a:effectLst/>
                <a:latin typeface="+mn-lt"/>
                <a:ea typeface="+mn-ea"/>
                <a:cs typeface="+mn-cs"/>
              </a:rPr>
              <a:t>需要在哪个管理层次批准哪类变更请求？</a:t>
            </a:r>
            <a:endParaRPr lang="en-US" altLang="zh-CN" b="1" dirty="0"/>
          </a:p>
          <a:p>
            <a:pPr marL="285750" indent="-285750">
              <a:buFont typeface="Arial" panose="020B0604020202020204" pitchFamily="34" charset="0"/>
              <a:buChar char="•"/>
            </a:pPr>
            <a:r>
              <a:rPr lang="zh-CN" altLang="en-US" b="1" dirty="0">
                <a:solidFill>
                  <a:srgbClr val="0B02BE"/>
                </a:solidFill>
              </a:rPr>
              <a:t>风险管理： </a:t>
            </a:r>
          </a:p>
          <a:p>
            <a:pPr lvl="1"/>
            <a:r>
              <a:rPr lang="zh-CN" altLang="en-US" b="1" dirty="0"/>
              <a:t>这里简要地介绍项目团队怎样识别、管理和控制风险。如果有需要，制定一个风险管理计划。</a:t>
            </a:r>
            <a:endParaRPr lang="en-US" altLang="zh-CN" b="1" dirty="0"/>
          </a:p>
          <a:p>
            <a:pPr marL="285750" indent="-285750">
              <a:buFont typeface="Arial" panose="020B0604020202020204" pitchFamily="34" charset="0"/>
              <a:buChar char="•"/>
            </a:pPr>
            <a:r>
              <a:rPr lang="zh-CN" altLang="en-US" b="1" dirty="0">
                <a:solidFill>
                  <a:srgbClr val="0B02BE"/>
                </a:solidFill>
              </a:rPr>
              <a:t>项目人员配置：</a:t>
            </a:r>
            <a:endParaRPr lang="en-US" altLang="zh-CN" b="1" dirty="0">
              <a:solidFill>
                <a:srgbClr val="0B02BE"/>
              </a:solidFill>
            </a:endParaRPr>
          </a:p>
          <a:p>
            <a:pPr lvl="1"/>
            <a:r>
              <a:rPr lang="zh-CN" altLang="en-US" b="1" dirty="0"/>
              <a:t>这个环节要列明项目所需要的员工人数和类型 。如有需要，可制定一个人员配置管理计划。 </a:t>
            </a:r>
          </a:p>
          <a:p>
            <a:pPr marL="285750" indent="-285750">
              <a:buFont typeface="Arial" panose="020B0604020202020204" pitchFamily="34" charset="0"/>
              <a:buChar char="•"/>
            </a:pPr>
            <a:r>
              <a:rPr lang="zh-CN" altLang="en-US" b="1" dirty="0">
                <a:solidFill>
                  <a:srgbClr val="0B02BE"/>
                </a:solidFill>
              </a:rPr>
              <a:t>技术过程</a:t>
            </a:r>
            <a:r>
              <a:rPr lang="en-US" altLang="zh-CN" b="1" dirty="0">
                <a:solidFill>
                  <a:srgbClr val="0B02BE"/>
                </a:solidFill>
              </a:rPr>
              <a:t>:</a:t>
            </a:r>
          </a:p>
          <a:p>
            <a:pPr lvl="1"/>
            <a:r>
              <a:rPr lang="zh-CN" altLang="en-US" b="1" dirty="0"/>
              <a:t>描述了项目可能用到的特定的方法论，以及解释怎样记录信息。例如，多数</a:t>
            </a:r>
            <a:r>
              <a:rPr lang="en-US" altLang="zh-CN" b="1" dirty="0"/>
              <a:t>IT</a:t>
            </a:r>
            <a:r>
              <a:rPr lang="zh-CN" altLang="en-US" b="1" dirty="0"/>
              <a:t>项目使用特定的软件开发方法，或者使用特定的计算机软件工具。很多公司也会用特定信息记录格式。清晰地阐述这些在项目管理计划中应用到的技术过程是至关重要的</a:t>
            </a:r>
          </a:p>
        </p:txBody>
      </p:sp>
    </p:spTree>
    <p:extLst>
      <p:ext uri="{BB962C8B-B14F-4D97-AF65-F5344CB8AC3E}">
        <p14:creationId xmlns:p14="http://schemas.microsoft.com/office/powerpoint/2010/main" val="1103505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CBACA-1D11-4EF7-A764-989E9216EB0F}"/>
              </a:ext>
            </a:extLst>
          </p:cNvPr>
          <p:cNvSpPr>
            <a:spLocks noGrp="1"/>
          </p:cNvSpPr>
          <p:nvPr>
            <p:ph type="title"/>
          </p:nvPr>
        </p:nvSpPr>
        <p:spPr/>
        <p:txBody>
          <a:bodyPr/>
          <a:lstStyle/>
          <a:p>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4" name="矩形 3">
            <a:extLst>
              <a:ext uri="{FF2B5EF4-FFF2-40B4-BE49-F238E27FC236}">
                <a16:creationId xmlns:a16="http://schemas.microsoft.com/office/drawing/2014/main" id="{AB9CA5A0-0444-4787-B170-F0A4D2B2CEEF}"/>
              </a:ext>
            </a:extLst>
          </p:cNvPr>
          <p:cNvSpPr/>
          <p:nvPr/>
        </p:nvSpPr>
        <p:spPr>
          <a:xfrm>
            <a:off x="1107311" y="1776656"/>
            <a:ext cx="9977377" cy="4524315"/>
          </a:xfrm>
          <a:prstGeom prst="rect">
            <a:avLst/>
          </a:prstGeom>
        </p:spPr>
        <p:txBody>
          <a:bodyPr wrap="square">
            <a:spAutoFit/>
          </a:bodyPr>
          <a:lstStyle/>
          <a:p>
            <a:r>
              <a:rPr lang="zh-CN" altLang="en-US" sz="2400" b="1" dirty="0">
                <a:latin typeface="黑体" panose="02010609060101010101" pitchFamily="49" charset="-122"/>
                <a:ea typeface="黑体" panose="02010609060101010101" pitchFamily="49" charset="-122"/>
              </a:rPr>
              <a:t>项目工作和参考范围管理包括的内容：</a:t>
            </a:r>
          </a:p>
          <a:p>
            <a:r>
              <a:rPr lang="zh-CN" altLang="en-US" b="1" dirty="0">
                <a:solidFill>
                  <a:srgbClr val="0B02BE"/>
                </a:solidFill>
              </a:rPr>
              <a:t>主要的工作包</a:t>
            </a:r>
            <a:endParaRPr lang="en-US" altLang="zh-CN" b="1" dirty="0">
              <a:solidFill>
                <a:srgbClr val="0B02BE"/>
              </a:solidFill>
            </a:endParaRPr>
          </a:p>
          <a:p>
            <a:r>
              <a:rPr lang="zh-CN" altLang="en-US" b="1" dirty="0">
                <a:solidFill>
                  <a:srgbClr val="0B02BE"/>
                </a:solidFill>
              </a:rPr>
              <a:t>关键的可支付成果</a:t>
            </a:r>
            <a:endParaRPr lang="en-US" altLang="zh-CN" b="1" dirty="0">
              <a:solidFill>
                <a:srgbClr val="0B02BE"/>
              </a:solidFill>
            </a:endParaRPr>
          </a:p>
          <a:p>
            <a:r>
              <a:rPr lang="zh-CN" altLang="en-US" b="1" dirty="0">
                <a:solidFill>
                  <a:srgbClr val="0B02BE"/>
                </a:solidFill>
              </a:rPr>
              <a:t>其他与工作相关的信息</a:t>
            </a:r>
            <a:r>
              <a:rPr lang="zh-CN" altLang="en-US" dirty="0"/>
              <a:t>：要强调与项目工作绩效相关的关键信息</a:t>
            </a:r>
          </a:p>
          <a:p>
            <a:endParaRPr lang="en-US" altLang="zh-CN" dirty="0"/>
          </a:p>
          <a:p>
            <a:r>
              <a:rPr lang="zh-CN" altLang="en-US" sz="2400" b="1" dirty="0">
                <a:latin typeface="黑体" panose="02010609060101010101" pitchFamily="49" charset="-122"/>
                <a:ea typeface="黑体" panose="02010609060101010101" pitchFamily="49" charset="-122"/>
              </a:rPr>
              <a:t>项目进度信息部分应当包括以下内容： </a:t>
            </a:r>
          </a:p>
          <a:p>
            <a:r>
              <a:rPr lang="zh-CN" altLang="en-US" b="1" dirty="0">
                <a:solidFill>
                  <a:srgbClr val="0B02BE"/>
                </a:solidFill>
              </a:rPr>
              <a:t>概要进度表</a:t>
            </a:r>
            <a:endParaRPr lang="en-US" altLang="zh-CN" b="1" dirty="0">
              <a:solidFill>
                <a:srgbClr val="0B02BE"/>
              </a:solidFill>
            </a:endParaRPr>
          </a:p>
          <a:p>
            <a:r>
              <a:rPr lang="zh-CN" altLang="en-US" b="1" dirty="0">
                <a:solidFill>
                  <a:srgbClr val="0B02BE"/>
                </a:solidFill>
              </a:rPr>
              <a:t>细节进度表</a:t>
            </a:r>
            <a:endParaRPr lang="en-US" altLang="zh-CN" b="1" dirty="0">
              <a:solidFill>
                <a:srgbClr val="0B02BE"/>
              </a:solidFill>
            </a:endParaRPr>
          </a:p>
          <a:p>
            <a:r>
              <a:rPr lang="zh-CN" altLang="en-US" b="1" dirty="0">
                <a:solidFill>
                  <a:srgbClr val="0B02BE"/>
                </a:solidFill>
              </a:rPr>
              <a:t>其他与进度相关的信息</a:t>
            </a:r>
            <a:r>
              <a:rPr lang="zh-CN" altLang="en-US" dirty="0"/>
              <a:t>：很多假设都是在制定项目进度的过程中产生的，这里要记录主要的假设，并强调其他与项目进度相关的重要馆息。 </a:t>
            </a:r>
            <a:endParaRPr lang="en-US" altLang="zh-CN" dirty="0"/>
          </a:p>
          <a:p>
            <a:endParaRPr lang="en-US" altLang="zh-CN" dirty="0"/>
          </a:p>
          <a:p>
            <a:r>
              <a:rPr lang="zh-CN" altLang="en-US" sz="2400" b="1" dirty="0">
                <a:latin typeface="黑体" panose="02010609060101010101" pitchFamily="49" charset="-122"/>
                <a:ea typeface="黑体" panose="02010609060101010101" pitchFamily="49" charset="-122"/>
              </a:rPr>
              <a:t>项目管理计划中的预算部分应该包含的内容有： </a:t>
            </a:r>
          </a:p>
          <a:p>
            <a:r>
              <a:rPr lang="zh-CN" altLang="en-US" b="1" dirty="0">
                <a:solidFill>
                  <a:srgbClr val="0B02BE"/>
                </a:solidFill>
              </a:rPr>
              <a:t>预算概况</a:t>
            </a:r>
          </a:p>
          <a:p>
            <a:r>
              <a:rPr lang="zh-CN" altLang="en-US" b="1" dirty="0">
                <a:solidFill>
                  <a:srgbClr val="0B02BE"/>
                </a:solidFill>
              </a:rPr>
              <a:t>预算细节</a:t>
            </a:r>
            <a:endParaRPr lang="en-US" altLang="zh-CN" b="1" dirty="0">
              <a:solidFill>
                <a:srgbClr val="0B02BE"/>
              </a:solidFill>
            </a:endParaRPr>
          </a:p>
          <a:p>
            <a:r>
              <a:rPr lang="zh-CN" altLang="en-US" b="1" dirty="0">
                <a:solidFill>
                  <a:srgbClr val="0B02BE"/>
                </a:solidFill>
              </a:rPr>
              <a:t>其他与预算相关的信息</a:t>
            </a:r>
            <a:r>
              <a:rPr lang="zh-CN" altLang="en-US" dirty="0"/>
              <a:t>：记录主要的假设，并强调其他与项目财务方面有关的重要信息。</a:t>
            </a:r>
          </a:p>
        </p:txBody>
      </p:sp>
      <p:sp>
        <p:nvSpPr>
          <p:cNvPr id="5" name="矩形 4">
            <a:extLst>
              <a:ext uri="{FF2B5EF4-FFF2-40B4-BE49-F238E27FC236}">
                <a16:creationId xmlns:a16="http://schemas.microsoft.com/office/drawing/2014/main" id="{F559554E-6BC6-4F9C-8493-4200B3E56C2B}"/>
              </a:ext>
            </a:extLst>
          </p:cNvPr>
          <p:cNvSpPr/>
          <p:nvPr/>
        </p:nvSpPr>
        <p:spPr>
          <a:xfrm>
            <a:off x="741528" y="1201479"/>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20022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10.4 </a:t>
            </a:r>
            <a:r>
              <a:rPr lang="zh-CN" altLang="en-US" dirty="0"/>
              <a:t>指导和管理项目工作</a:t>
            </a:r>
          </a:p>
        </p:txBody>
      </p:sp>
      <p:graphicFrame>
        <p:nvGraphicFramePr>
          <p:cNvPr id="5" name="对象 4"/>
          <p:cNvGraphicFramePr>
            <a:graphicFrameLocks noChangeAspect="1"/>
          </p:cNvGraphicFramePr>
          <p:nvPr>
            <p:extLst>
              <p:ext uri="{D42A27DB-BD31-4B8C-83A1-F6EECF244321}">
                <p14:modId xmlns:p14="http://schemas.microsoft.com/office/powerpoint/2010/main" val="810738026"/>
              </p:ext>
            </p:extLst>
          </p:nvPr>
        </p:nvGraphicFramePr>
        <p:xfrm>
          <a:off x="6938485" y="1544334"/>
          <a:ext cx="4648200" cy="4658724"/>
        </p:xfrm>
        <a:graphic>
          <a:graphicData uri="http://schemas.openxmlformats.org/presentationml/2006/ole">
            <mc:AlternateContent xmlns:mc="http://schemas.openxmlformats.org/markup-compatibility/2006">
              <mc:Choice xmlns:v="urn:schemas-microsoft-com:vml" Requires="v">
                <p:oleObj name="Visio" r:id="rId3" imgW="3009900" imgH="4356100" progId="Visio.Drawing.11">
                  <p:embed/>
                </p:oleObj>
              </mc:Choice>
              <mc:Fallback>
                <p:oleObj name="Visio" r:id="rId3" imgW="3009900" imgH="4356100" progId="Visio.Drawing.11">
                  <p:embed/>
                  <p:pic>
                    <p:nvPicPr>
                      <p:cNvPr id="0"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8485" y="1544334"/>
                        <a:ext cx="4648200" cy="4658724"/>
                      </a:xfrm>
                      <a:prstGeom prst="rect">
                        <a:avLst/>
                      </a:prstGeom>
                      <a:noFill/>
                      <a:ln>
                        <a:noFill/>
                      </a:ln>
                    </p:spPr>
                  </p:pic>
                </p:oleObj>
              </mc:Fallback>
            </mc:AlternateContent>
          </a:graphicData>
        </a:graphic>
      </p:graphicFrame>
      <p:sp>
        <p:nvSpPr>
          <p:cNvPr id="2" name="矩形 1">
            <a:extLst>
              <a:ext uri="{FF2B5EF4-FFF2-40B4-BE49-F238E27FC236}">
                <a16:creationId xmlns:a16="http://schemas.microsoft.com/office/drawing/2014/main" id="{83BAC595-3738-490C-9DE3-265995FE397E}"/>
              </a:ext>
            </a:extLst>
          </p:cNvPr>
          <p:cNvSpPr/>
          <p:nvPr/>
        </p:nvSpPr>
        <p:spPr>
          <a:xfrm>
            <a:off x="524875" y="3429000"/>
            <a:ext cx="6385367" cy="1738938"/>
          </a:xfrm>
          <a:prstGeom prst="rect">
            <a:avLst/>
          </a:prstGeom>
        </p:spPr>
        <p:txBody>
          <a:bodyPr wrap="square">
            <a:spAutoFit/>
          </a:bodyPr>
          <a:lstStyle/>
          <a:p>
            <a:pPr>
              <a:buFontTx/>
              <a:buNone/>
            </a:pPr>
            <a:r>
              <a:rPr lang="zh-CN" altLang="en-US" sz="2800" b="1" dirty="0"/>
              <a:t>什么是项目整体管理计划的执行？</a:t>
            </a:r>
          </a:p>
          <a:p>
            <a:pPr>
              <a:buFontTx/>
              <a:buNone/>
            </a:pPr>
            <a:endParaRPr lang="zh-CN" altLang="en-US" sz="700" b="1" dirty="0"/>
          </a:p>
          <a:p>
            <a:pPr>
              <a:buFontTx/>
              <a:buNone/>
            </a:pPr>
            <a:r>
              <a:rPr lang="zh-CN" altLang="en-US" sz="2400" b="1" dirty="0">
                <a:solidFill>
                  <a:srgbClr val="FF0000"/>
                </a:solidFill>
              </a:rPr>
              <a:t>    </a:t>
            </a:r>
            <a:r>
              <a:rPr lang="en-US" altLang="zh-CN" sz="2400" b="1" dirty="0"/>
              <a:t>——</a:t>
            </a:r>
            <a:r>
              <a:rPr lang="zh-CN" altLang="en-US" sz="2400" b="1" dirty="0"/>
              <a:t>是指</a:t>
            </a:r>
            <a:r>
              <a:rPr lang="zh-CN" altLang="en-US" sz="2400" b="1" dirty="0">
                <a:solidFill>
                  <a:srgbClr val="FF0000"/>
                </a:solidFill>
              </a:rPr>
              <a:t>管理</a:t>
            </a:r>
            <a:r>
              <a:rPr lang="zh-CN" altLang="en-US" sz="2400" b="1" dirty="0"/>
              <a:t>和</a:t>
            </a:r>
            <a:r>
              <a:rPr lang="zh-CN" altLang="en-US" sz="2400" b="1" dirty="0">
                <a:solidFill>
                  <a:srgbClr val="FF0000"/>
                </a:solidFill>
              </a:rPr>
              <a:t>执行</a:t>
            </a:r>
            <a:r>
              <a:rPr lang="zh-CN" altLang="en-US" sz="2400" b="1" dirty="0"/>
              <a:t>项目计划中所规定的工作。</a:t>
            </a:r>
            <a:endParaRPr lang="en-US" altLang="zh-CN" sz="2400" b="1" dirty="0"/>
          </a:p>
          <a:p>
            <a:pPr>
              <a:buFontTx/>
              <a:buNone/>
            </a:pPr>
            <a:endParaRPr lang="zh-CN" altLang="en-US" sz="2400" b="1" dirty="0"/>
          </a:p>
        </p:txBody>
      </p:sp>
      <p:sp>
        <p:nvSpPr>
          <p:cNvPr id="6" name="文本框 5">
            <a:extLst>
              <a:ext uri="{FF2B5EF4-FFF2-40B4-BE49-F238E27FC236}">
                <a16:creationId xmlns:a16="http://schemas.microsoft.com/office/drawing/2014/main" id="{BEB1CEDE-9AC1-4466-A159-1ECECC4A3030}"/>
              </a:ext>
            </a:extLst>
          </p:cNvPr>
          <p:cNvSpPr txBox="1"/>
          <p:nvPr/>
        </p:nvSpPr>
        <p:spPr>
          <a:xfrm>
            <a:off x="7620000" y="6199003"/>
            <a:ext cx="2279904" cy="369332"/>
          </a:xfrm>
          <a:prstGeom prst="rect">
            <a:avLst/>
          </a:prstGeom>
          <a:noFill/>
        </p:spPr>
        <p:txBody>
          <a:bodyPr wrap="square">
            <a:spAutoFit/>
          </a:bodyPr>
          <a:lstStyle/>
          <a:p>
            <a:r>
              <a:rPr lang="zh-CN" altLang="en-US" b="1" dirty="0"/>
              <a:t>项目整合计划的实施</a:t>
            </a:r>
          </a:p>
        </p:txBody>
      </p:sp>
      <p:sp>
        <p:nvSpPr>
          <p:cNvPr id="7" name="内容占位符 2">
            <a:extLst>
              <a:ext uri="{FF2B5EF4-FFF2-40B4-BE49-F238E27FC236}">
                <a16:creationId xmlns:a16="http://schemas.microsoft.com/office/drawing/2014/main" id="{B4EA577C-7AF7-43EE-B458-E1CD82A06FE6}"/>
              </a:ext>
            </a:extLst>
          </p:cNvPr>
          <p:cNvSpPr txBox="1">
            <a:spLocks noChangeArrowheads="1"/>
          </p:cNvSpPr>
          <p:nvPr/>
        </p:nvSpPr>
        <p:spPr>
          <a:xfrm>
            <a:off x="524875" y="1721545"/>
            <a:ext cx="6494051" cy="112631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指导和管理项目工作：</a:t>
            </a:r>
            <a:r>
              <a:rPr lang="zh-CN" altLang="en-US" kern="0" dirty="0">
                <a:latin typeface="微软雅黑" panose="020B0503020204020204" pitchFamily="34" charset="-122"/>
                <a:ea typeface="微软雅黑" panose="020B0503020204020204" pitchFamily="34" charset="-122"/>
              </a:rPr>
              <a:t>为实现项目目标而领导和执行项目管理计划中所确定的工作，并实施已批准变更的过程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22">
            <a:extLst>
              <a:ext uri="{FF2B5EF4-FFF2-40B4-BE49-F238E27FC236}">
                <a16:creationId xmlns:a16="http://schemas.microsoft.com/office/drawing/2014/main" id="{716DE5FD-AD26-4EAC-9732-720F4643BC23}"/>
              </a:ext>
            </a:extLst>
          </p:cNvPr>
          <p:cNvSpPr>
            <a:spLocks noChangeArrowheads="1"/>
          </p:cNvSpPr>
          <p:nvPr/>
        </p:nvSpPr>
        <p:spPr bwMode="auto">
          <a:xfrm>
            <a:off x="2202628" y="3346328"/>
            <a:ext cx="1524000" cy="12954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187" name="Rectangle 2">
            <a:extLst>
              <a:ext uri="{FF2B5EF4-FFF2-40B4-BE49-F238E27FC236}">
                <a16:creationId xmlns:a16="http://schemas.microsoft.com/office/drawing/2014/main" id="{24FEBFED-9124-47D4-912A-FF8773B84268}"/>
              </a:ext>
            </a:extLst>
          </p:cNvPr>
          <p:cNvSpPr>
            <a:spLocks noGrp="1" noChangeArrowheads="1"/>
          </p:cNvSpPr>
          <p:nvPr>
            <p:ph type="title"/>
          </p:nvPr>
        </p:nvSpPr>
        <p:spPr>
          <a:xfrm>
            <a:off x="613885" y="1215397"/>
            <a:ext cx="10972800" cy="437186"/>
          </a:xfrm>
        </p:spPr>
        <p:txBody>
          <a:bodyPr/>
          <a:lstStyle/>
          <a:p>
            <a:pPr eaLnBrk="1" hangingPunct="1"/>
            <a:r>
              <a:rPr lang="zh-CN" altLang="en-US" dirty="0"/>
              <a:t>执行过程组</a:t>
            </a:r>
          </a:p>
        </p:txBody>
      </p:sp>
      <p:sp>
        <p:nvSpPr>
          <p:cNvPr id="93188" name="Oval 4">
            <a:extLst>
              <a:ext uri="{FF2B5EF4-FFF2-40B4-BE49-F238E27FC236}">
                <a16:creationId xmlns:a16="http://schemas.microsoft.com/office/drawing/2014/main" id="{161CA04C-3A43-4C7D-B0C5-3D8848ECDC49}"/>
              </a:ext>
            </a:extLst>
          </p:cNvPr>
          <p:cNvSpPr>
            <a:spLocks noChangeArrowheads="1"/>
          </p:cNvSpPr>
          <p:nvPr/>
        </p:nvSpPr>
        <p:spPr bwMode="auto">
          <a:xfrm>
            <a:off x="4867656" y="3257844"/>
            <a:ext cx="2209800" cy="2139742"/>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189" name="AutoShape 5">
            <a:extLst>
              <a:ext uri="{FF2B5EF4-FFF2-40B4-BE49-F238E27FC236}">
                <a16:creationId xmlns:a16="http://schemas.microsoft.com/office/drawing/2014/main" id="{181CED34-6BE6-4F8A-B580-7A2475770E26}"/>
              </a:ext>
            </a:extLst>
          </p:cNvPr>
          <p:cNvSpPr>
            <a:spLocks noChangeArrowheads="1"/>
          </p:cNvSpPr>
          <p:nvPr/>
        </p:nvSpPr>
        <p:spPr bwMode="auto">
          <a:xfrm>
            <a:off x="4943856" y="3562644"/>
            <a:ext cx="1981200" cy="1466088"/>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endParaRPr lang="zh-CN" altLang="zh-CN" sz="1600">
              <a:solidFill>
                <a:srgbClr val="FF6600"/>
              </a:solidFill>
            </a:endParaRPr>
          </a:p>
        </p:txBody>
      </p:sp>
      <p:sp>
        <p:nvSpPr>
          <p:cNvPr id="93190" name="AutoShape 6">
            <a:extLst>
              <a:ext uri="{FF2B5EF4-FFF2-40B4-BE49-F238E27FC236}">
                <a16:creationId xmlns:a16="http://schemas.microsoft.com/office/drawing/2014/main" id="{A23F408F-1806-4126-9C6F-6E9DD779881D}"/>
              </a:ext>
            </a:extLst>
          </p:cNvPr>
          <p:cNvSpPr>
            <a:spLocks noChangeArrowheads="1"/>
          </p:cNvSpPr>
          <p:nvPr/>
        </p:nvSpPr>
        <p:spPr bwMode="auto">
          <a:xfrm>
            <a:off x="5096256" y="3867444"/>
            <a:ext cx="1903412"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4.3</a:t>
            </a:r>
          </a:p>
          <a:p>
            <a:pPr algn="ctr" eaLnBrk="1" hangingPunct="1">
              <a:lnSpc>
                <a:spcPct val="100000"/>
              </a:lnSpc>
              <a:spcBef>
                <a:spcPct val="0"/>
              </a:spcBef>
              <a:buFontTx/>
              <a:buNone/>
            </a:pPr>
            <a:r>
              <a:rPr lang="zh-CN" altLang="en-US" sz="1200" dirty="0">
                <a:ea typeface="幼圆" panose="02010509060101010101" charset="-122"/>
              </a:rPr>
              <a:t>指导与管理项目实施</a:t>
            </a:r>
          </a:p>
        </p:txBody>
      </p:sp>
      <p:sp>
        <p:nvSpPr>
          <p:cNvPr id="93191" name="Text Box 7">
            <a:extLst>
              <a:ext uri="{FF2B5EF4-FFF2-40B4-BE49-F238E27FC236}">
                <a16:creationId xmlns:a16="http://schemas.microsoft.com/office/drawing/2014/main" id="{C399C018-7117-4C10-97C8-29147FC43D74}"/>
              </a:ext>
            </a:extLst>
          </p:cNvPr>
          <p:cNvSpPr txBox="1">
            <a:spLocks noChangeArrowheads="1"/>
          </p:cNvSpPr>
          <p:nvPr/>
        </p:nvSpPr>
        <p:spPr bwMode="auto">
          <a:xfrm>
            <a:off x="5248656" y="3530894"/>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solidFill>
                  <a:schemeClr val="bg1"/>
                </a:solidFill>
              </a:rPr>
              <a:t>项目整体管理</a:t>
            </a:r>
          </a:p>
        </p:txBody>
      </p:sp>
      <p:sp>
        <p:nvSpPr>
          <p:cNvPr id="93192" name="AutoShape 8">
            <a:extLst>
              <a:ext uri="{FF2B5EF4-FFF2-40B4-BE49-F238E27FC236}">
                <a16:creationId xmlns:a16="http://schemas.microsoft.com/office/drawing/2014/main" id="{41954E0D-59A3-48C1-91C7-17343B4F102A}"/>
              </a:ext>
            </a:extLst>
          </p:cNvPr>
          <p:cNvSpPr>
            <a:spLocks noChangeArrowheads="1"/>
          </p:cNvSpPr>
          <p:nvPr/>
        </p:nvSpPr>
        <p:spPr bwMode="auto">
          <a:xfrm>
            <a:off x="4410456" y="1389379"/>
            <a:ext cx="5029200" cy="1143000"/>
          </a:xfrm>
          <a:prstGeom prst="roundRect">
            <a:avLst>
              <a:gd name="adj"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193" name="AutoShape 9">
            <a:extLst>
              <a:ext uri="{FF2B5EF4-FFF2-40B4-BE49-F238E27FC236}">
                <a16:creationId xmlns:a16="http://schemas.microsoft.com/office/drawing/2014/main" id="{45720B8D-D2C6-442C-AEE9-651C5D8CBAD3}"/>
              </a:ext>
            </a:extLst>
          </p:cNvPr>
          <p:cNvSpPr>
            <a:spLocks noChangeArrowheads="1"/>
          </p:cNvSpPr>
          <p:nvPr/>
        </p:nvSpPr>
        <p:spPr bwMode="auto">
          <a:xfrm>
            <a:off x="4562856" y="1770379"/>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9.3</a:t>
            </a:r>
          </a:p>
          <a:p>
            <a:pPr algn="ctr" eaLnBrk="1" hangingPunct="1">
              <a:lnSpc>
                <a:spcPct val="100000"/>
              </a:lnSpc>
              <a:spcBef>
                <a:spcPct val="0"/>
              </a:spcBef>
              <a:buFontTx/>
              <a:buNone/>
            </a:pPr>
            <a:r>
              <a:rPr lang="zh-CN" altLang="en-US" sz="1200" dirty="0">
                <a:ea typeface="幼圆" panose="02010509060101010101" charset="-122"/>
              </a:rPr>
              <a:t>获取资源</a:t>
            </a:r>
          </a:p>
        </p:txBody>
      </p:sp>
      <p:sp>
        <p:nvSpPr>
          <p:cNvPr id="93194" name="Text Box 10">
            <a:extLst>
              <a:ext uri="{FF2B5EF4-FFF2-40B4-BE49-F238E27FC236}">
                <a16:creationId xmlns:a16="http://schemas.microsoft.com/office/drawing/2014/main" id="{A6EA096F-4B5A-44A5-B02A-8AEA2F804065}"/>
              </a:ext>
            </a:extLst>
          </p:cNvPr>
          <p:cNvSpPr txBox="1">
            <a:spLocks noChangeArrowheads="1"/>
          </p:cNvSpPr>
          <p:nvPr/>
        </p:nvSpPr>
        <p:spPr bwMode="auto">
          <a:xfrm>
            <a:off x="4486656" y="1389379"/>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项目资源管理</a:t>
            </a:r>
          </a:p>
        </p:txBody>
      </p:sp>
      <p:sp>
        <p:nvSpPr>
          <p:cNvPr id="93195" name="AutoShape 11">
            <a:extLst>
              <a:ext uri="{FF2B5EF4-FFF2-40B4-BE49-F238E27FC236}">
                <a16:creationId xmlns:a16="http://schemas.microsoft.com/office/drawing/2014/main" id="{C080490E-F227-4939-8329-6C18AAE44056}"/>
              </a:ext>
            </a:extLst>
          </p:cNvPr>
          <p:cNvSpPr>
            <a:spLocks noChangeArrowheads="1"/>
          </p:cNvSpPr>
          <p:nvPr/>
        </p:nvSpPr>
        <p:spPr bwMode="auto">
          <a:xfrm>
            <a:off x="6163056" y="1770379"/>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9.4</a:t>
            </a:r>
          </a:p>
          <a:p>
            <a:pPr algn="ctr" eaLnBrk="1" hangingPunct="1">
              <a:lnSpc>
                <a:spcPct val="100000"/>
              </a:lnSpc>
              <a:spcBef>
                <a:spcPct val="0"/>
              </a:spcBef>
              <a:buFontTx/>
              <a:buNone/>
            </a:pPr>
            <a:r>
              <a:rPr lang="zh-CN" altLang="en-US" sz="1200" dirty="0">
                <a:ea typeface="幼圆" panose="02010509060101010101" charset="-122"/>
              </a:rPr>
              <a:t>建设团队</a:t>
            </a:r>
          </a:p>
        </p:txBody>
      </p:sp>
      <p:sp>
        <p:nvSpPr>
          <p:cNvPr id="93196" name="AutoShape 12">
            <a:extLst>
              <a:ext uri="{FF2B5EF4-FFF2-40B4-BE49-F238E27FC236}">
                <a16:creationId xmlns:a16="http://schemas.microsoft.com/office/drawing/2014/main" id="{604BDDB0-79E7-4986-8856-AB4D64F48383}"/>
              </a:ext>
            </a:extLst>
          </p:cNvPr>
          <p:cNvSpPr>
            <a:spLocks noChangeArrowheads="1"/>
          </p:cNvSpPr>
          <p:nvPr/>
        </p:nvSpPr>
        <p:spPr bwMode="auto">
          <a:xfrm>
            <a:off x="7763256" y="1770379"/>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9.5</a:t>
            </a:r>
          </a:p>
          <a:p>
            <a:pPr algn="ctr" eaLnBrk="1" hangingPunct="1">
              <a:lnSpc>
                <a:spcPct val="100000"/>
              </a:lnSpc>
              <a:spcBef>
                <a:spcPct val="0"/>
              </a:spcBef>
              <a:buFontTx/>
              <a:buNone/>
            </a:pPr>
            <a:r>
              <a:rPr lang="zh-CN" altLang="en-US" sz="1200" dirty="0">
                <a:ea typeface="幼圆" panose="02010509060101010101" charset="-122"/>
              </a:rPr>
              <a:t>管理项目团队</a:t>
            </a:r>
          </a:p>
        </p:txBody>
      </p:sp>
      <p:sp>
        <p:nvSpPr>
          <p:cNvPr id="93197" name="Line 13">
            <a:extLst>
              <a:ext uri="{FF2B5EF4-FFF2-40B4-BE49-F238E27FC236}">
                <a16:creationId xmlns:a16="http://schemas.microsoft.com/office/drawing/2014/main" id="{052C9BFC-C098-444A-AF8D-F04C56A93C2C}"/>
              </a:ext>
            </a:extLst>
          </p:cNvPr>
          <p:cNvSpPr>
            <a:spLocks noChangeShapeType="1"/>
          </p:cNvSpPr>
          <p:nvPr/>
        </p:nvSpPr>
        <p:spPr bwMode="auto">
          <a:xfrm>
            <a:off x="5858256" y="1998979"/>
            <a:ext cx="3048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3198" name="Line 14">
            <a:extLst>
              <a:ext uri="{FF2B5EF4-FFF2-40B4-BE49-F238E27FC236}">
                <a16:creationId xmlns:a16="http://schemas.microsoft.com/office/drawing/2014/main" id="{6279A436-A8C8-41CA-BCA3-DDB52D79F566}"/>
              </a:ext>
            </a:extLst>
          </p:cNvPr>
          <p:cNvSpPr>
            <a:spLocks noChangeShapeType="1"/>
          </p:cNvSpPr>
          <p:nvPr/>
        </p:nvSpPr>
        <p:spPr bwMode="auto">
          <a:xfrm>
            <a:off x="7458456" y="1998979"/>
            <a:ext cx="3048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3199" name="AutoShape 15">
            <a:extLst>
              <a:ext uri="{FF2B5EF4-FFF2-40B4-BE49-F238E27FC236}">
                <a16:creationId xmlns:a16="http://schemas.microsoft.com/office/drawing/2014/main" id="{638C4B43-D026-45FD-B1E3-E497A7DCCE4C}"/>
              </a:ext>
            </a:extLst>
          </p:cNvPr>
          <p:cNvSpPr>
            <a:spLocks noChangeArrowheads="1"/>
          </p:cNvSpPr>
          <p:nvPr/>
        </p:nvSpPr>
        <p:spPr bwMode="auto">
          <a:xfrm>
            <a:off x="8372856" y="2791078"/>
            <a:ext cx="1524000" cy="1103255"/>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00" name="AutoShape 16">
            <a:extLst>
              <a:ext uri="{FF2B5EF4-FFF2-40B4-BE49-F238E27FC236}">
                <a16:creationId xmlns:a16="http://schemas.microsoft.com/office/drawing/2014/main" id="{A26C57D9-396C-4E4F-9720-4FAC3BAFF6DE}"/>
              </a:ext>
            </a:extLst>
          </p:cNvPr>
          <p:cNvSpPr>
            <a:spLocks noChangeArrowheads="1"/>
          </p:cNvSpPr>
          <p:nvPr/>
        </p:nvSpPr>
        <p:spPr bwMode="auto">
          <a:xfrm>
            <a:off x="8601456" y="3172078"/>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10.2</a:t>
            </a:r>
          </a:p>
          <a:p>
            <a:pPr algn="ctr" eaLnBrk="1" hangingPunct="1">
              <a:lnSpc>
                <a:spcPct val="100000"/>
              </a:lnSpc>
              <a:spcBef>
                <a:spcPct val="0"/>
              </a:spcBef>
              <a:buFontTx/>
              <a:buNone/>
            </a:pPr>
            <a:r>
              <a:rPr lang="zh-CN" altLang="en-US" sz="1200" dirty="0">
                <a:ea typeface="幼圆" panose="02010509060101010101" charset="-122"/>
              </a:rPr>
              <a:t>管理沟通</a:t>
            </a:r>
          </a:p>
        </p:txBody>
      </p:sp>
      <p:sp>
        <p:nvSpPr>
          <p:cNvPr id="93201" name="Text Box 17">
            <a:extLst>
              <a:ext uri="{FF2B5EF4-FFF2-40B4-BE49-F238E27FC236}">
                <a16:creationId xmlns:a16="http://schemas.microsoft.com/office/drawing/2014/main" id="{1B3D6600-611E-4426-8222-AB19D5087B73}"/>
              </a:ext>
            </a:extLst>
          </p:cNvPr>
          <p:cNvSpPr txBox="1">
            <a:spLocks noChangeArrowheads="1"/>
          </p:cNvSpPr>
          <p:nvPr/>
        </p:nvSpPr>
        <p:spPr bwMode="auto">
          <a:xfrm>
            <a:off x="8449056" y="2791078"/>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项目沟通管理</a:t>
            </a:r>
          </a:p>
        </p:txBody>
      </p:sp>
      <p:sp>
        <p:nvSpPr>
          <p:cNvPr id="93202" name="AutoShape 18">
            <a:extLst>
              <a:ext uri="{FF2B5EF4-FFF2-40B4-BE49-F238E27FC236}">
                <a16:creationId xmlns:a16="http://schemas.microsoft.com/office/drawing/2014/main" id="{33ACCA0C-EB0B-422C-BAD4-1314B8F5038C}"/>
              </a:ext>
            </a:extLst>
          </p:cNvPr>
          <p:cNvSpPr>
            <a:spLocks noChangeArrowheads="1"/>
          </p:cNvSpPr>
          <p:nvPr/>
        </p:nvSpPr>
        <p:spPr bwMode="auto">
          <a:xfrm>
            <a:off x="2388907" y="3925571"/>
            <a:ext cx="1183349" cy="457498"/>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13.3</a:t>
            </a:r>
          </a:p>
          <a:p>
            <a:pPr algn="ctr" eaLnBrk="1" hangingPunct="1">
              <a:lnSpc>
                <a:spcPct val="100000"/>
              </a:lnSpc>
              <a:spcBef>
                <a:spcPct val="0"/>
              </a:spcBef>
              <a:buFontTx/>
              <a:buNone/>
            </a:pPr>
            <a:r>
              <a:rPr lang="zh-CN" altLang="en-US" sz="1200" dirty="0">
                <a:ea typeface="幼圆" panose="02010509060101010101" charset="-122"/>
              </a:rPr>
              <a:t>管理相关方参与</a:t>
            </a:r>
          </a:p>
        </p:txBody>
      </p:sp>
      <p:sp>
        <p:nvSpPr>
          <p:cNvPr id="93203" name="AutoShape 19">
            <a:extLst>
              <a:ext uri="{FF2B5EF4-FFF2-40B4-BE49-F238E27FC236}">
                <a16:creationId xmlns:a16="http://schemas.microsoft.com/office/drawing/2014/main" id="{8FBD2B59-4111-4F31-9D70-BFBA647D757F}"/>
              </a:ext>
            </a:extLst>
          </p:cNvPr>
          <p:cNvSpPr>
            <a:spLocks noChangeArrowheads="1"/>
          </p:cNvSpPr>
          <p:nvPr/>
        </p:nvSpPr>
        <p:spPr bwMode="auto">
          <a:xfrm>
            <a:off x="2261265" y="4922277"/>
            <a:ext cx="1524000"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04" name="AutoShape 20">
            <a:extLst>
              <a:ext uri="{FF2B5EF4-FFF2-40B4-BE49-F238E27FC236}">
                <a16:creationId xmlns:a16="http://schemas.microsoft.com/office/drawing/2014/main" id="{50E5B5D1-02CE-4A5B-B1C2-D889DA0BAA3F}"/>
              </a:ext>
            </a:extLst>
          </p:cNvPr>
          <p:cNvSpPr>
            <a:spLocks noChangeArrowheads="1"/>
          </p:cNvSpPr>
          <p:nvPr/>
        </p:nvSpPr>
        <p:spPr bwMode="auto">
          <a:xfrm>
            <a:off x="2489865" y="5303277"/>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a:ea typeface="幼圆" panose="02010509060101010101" charset="-122"/>
              </a:rPr>
              <a:t>12.2</a:t>
            </a:r>
          </a:p>
          <a:p>
            <a:pPr algn="ctr" eaLnBrk="1" hangingPunct="1">
              <a:lnSpc>
                <a:spcPct val="100000"/>
              </a:lnSpc>
              <a:spcBef>
                <a:spcPct val="0"/>
              </a:spcBef>
              <a:buFontTx/>
              <a:buNone/>
            </a:pPr>
            <a:r>
              <a:rPr lang="zh-CN" altLang="en-US" sz="1200">
                <a:ea typeface="幼圆" panose="02010509060101010101" charset="-122"/>
              </a:rPr>
              <a:t>实施采购</a:t>
            </a:r>
          </a:p>
        </p:txBody>
      </p:sp>
      <p:sp>
        <p:nvSpPr>
          <p:cNvPr id="93205" name="Text Box 21">
            <a:extLst>
              <a:ext uri="{FF2B5EF4-FFF2-40B4-BE49-F238E27FC236}">
                <a16:creationId xmlns:a16="http://schemas.microsoft.com/office/drawing/2014/main" id="{C9C2968C-0C2B-4AB0-851B-3DDAF6A50D2B}"/>
              </a:ext>
            </a:extLst>
          </p:cNvPr>
          <p:cNvSpPr txBox="1">
            <a:spLocks noChangeArrowheads="1"/>
          </p:cNvSpPr>
          <p:nvPr/>
        </p:nvSpPr>
        <p:spPr bwMode="auto">
          <a:xfrm>
            <a:off x="2337465" y="4922277"/>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项目采购管理</a:t>
            </a:r>
          </a:p>
        </p:txBody>
      </p:sp>
      <p:sp>
        <p:nvSpPr>
          <p:cNvPr id="93206" name="AutoShape 22">
            <a:extLst>
              <a:ext uri="{FF2B5EF4-FFF2-40B4-BE49-F238E27FC236}">
                <a16:creationId xmlns:a16="http://schemas.microsoft.com/office/drawing/2014/main" id="{8B3781D1-22DB-4B9B-B1AB-91C159B8275E}"/>
              </a:ext>
            </a:extLst>
          </p:cNvPr>
          <p:cNvSpPr>
            <a:spLocks noChangeArrowheads="1"/>
          </p:cNvSpPr>
          <p:nvPr/>
        </p:nvSpPr>
        <p:spPr bwMode="auto">
          <a:xfrm>
            <a:off x="2202628" y="1770379"/>
            <a:ext cx="1524000" cy="12954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07" name="AutoShape 23">
            <a:extLst>
              <a:ext uri="{FF2B5EF4-FFF2-40B4-BE49-F238E27FC236}">
                <a16:creationId xmlns:a16="http://schemas.microsoft.com/office/drawing/2014/main" id="{EF5AD169-CC9A-465C-962F-AD97E4D400BE}"/>
              </a:ext>
            </a:extLst>
          </p:cNvPr>
          <p:cNvSpPr>
            <a:spLocks noChangeArrowheads="1"/>
          </p:cNvSpPr>
          <p:nvPr/>
        </p:nvSpPr>
        <p:spPr bwMode="auto">
          <a:xfrm>
            <a:off x="2431228" y="2151379"/>
            <a:ext cx="1066800" cy="6858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8.2</a:t>
            </a:r>
          </a:p>
          <a:p>
            <a:pPr algn="ctr" eaLnBrk="1" hangingPunct="1">
              <a:lnSpc>
                <a:spcPct val="100000"/>
              </a:lnSpc>
              <a:spcBef>
                <a:spcPct val="0"/>
              </a:spcBef>
              <a:buFontTx/>
              <a:buNone/>
            </a:pPr>
            <a:r>
              <a:rPr lang="zh-CN" altLang="en-US" sz="1200" dirty="0">
                <a:ea typeface="幼圆" panose="02010509060101010101" charset="-122"/>
              </a:rPr>
              <a:t>质量管理</a:t>
            </a:r>
          </a:p>
        </p:txBody>
      </p:sp>
      <p:sp>
        <p:nvSpPr>
          <p:cNvPr id="93208" name="Text Box 24">
            <a:extLst>
              <a:ext uri="{FF2B5EF4-FFF2-40B4-BE49-F238E27FC236}">
                <a16:creationId xmlns:a16="http://schemas.microsoft.com/office/drawing/2014/main" id="{60D62614-811A-489A-843D-9A6762645714}"/>
              </a:ext>
            </a:extLst>
          </p:cNvPr>
          <p:cNvSpPr txBox="1">
            <a:spLocks noChangeArrowheads="1"/>
          </p:cNvSpPr>
          <p:nvPr/>
        </p:nvSpPr>
        <p:spPr bwMode="auto">
          <a:xfrm>
            <a:off x="2278828" y="1770379"/>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项目质量管理</a:t>
            </a:r>
          </a:p>
        </p:txBody>
      </p:sp>
      <p:sp>
        <p:nvSpPr>
          <p:cNvPr id="93209" name="AutoShape 25">
            <a:extLst>
              <a:ext uri="{FF2B5EF4-FFF2-40B4-BE49-F238E27FC236}">
                <a16:creationId xmlns:a16="http://schemas.microsoft.com/office/drawing/2014/main" id="{2A95E59F-A934-4F74-863F-0A1BB72BF3AD}"/>
              </a:ext>
            </a:extLst>
          </p:cNvPr>
          <p:cNvSpPr>
            <a:spLocks noChangeArrowheads="1"/>
          </p:cNvSpPr>
          <p:nvPr/>
        </p:nvSpPr>
        <p:spPr bwMode="auto">
          <a:xfrm rot="11258781">
            <a:off x="3813422" y="3667701"/>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dirty="0">
              <a:latin typeface="黑体" panose="02010609060101010101" pitchFamily="49" charset="-122"/>
            </a:endParaRPr>
          </a:p>
        </p:txBody>
      </p:sp>
      <p:sp>
        <p:nvSpPr>
          <p:cNvPr id="93210" name="AutoShape 26">
            <a:extLst>
              <a:ext uri="{FF2B5EF4-FFF2-40B4-BE49-F238E27FC236}">
                <a16:creationId xmlns:a16="http://schemas.microsoft.com/office/drawing/2014/main" id="{A3A5326A-E8F7-49D3-BFC5-712819BC43F4}"/>
              </a:ext>
            </a:extLst>
          </p:cNvPr>
          <p:cNvSpPr>
            <a:spLocks noChangeArrowheads="1"/>
          </p:cNvSpPr>
          <p:nvPr/>
        </p:nvSpPr>
        <p:spPr bwMode="auto">
          <a:xfrm rot="9685529">
            <a:off x="3798362" y="4850138"/>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11" name="AutoShape 27">
            <a:extLst>
              <a:ext uri="{FF2B5EF4-FFF2-40B4-BE49-F238E27FC236}">
                <a16:creationId xmlns:a16="http://schemas.microsoft.com/office/drawing/2014/main" id="{B32762E3-03ED-404B-9A87-D648C6CA6E83}"/>
              </a:ext>
            </a:extLst>
          </p:cNvPr>
          <p:cNvSpPr>
            <a:spLocks noChangeArrowheads="1"/>
          </p:cNvSpPr>
          <p:nvPr/>
        </p:nvSpPr>
        <p:spPr bwMode="auto">
          <a:xfrm rot="10151345">
            <a:off x="7100121" y="3275366"/>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12" name="AutoShape 28">
            <a:extLst>
              <a:ext uri="{FF2B5EF4-FFF2-40B4-BE49-F238E27FC236}">
                <a16:creationId xmlns:a16="http://schemas.microsoft.com/office/drawing/2014/main" id="{9DB4F5DD-C091-429F-92C8-71F1E7AC5A88}"/>
              </a:ext>
            </a:extLst>
          </p:cNvPr>
          <p:cNvSpPr>
            <a:spLocks noChangeArrowheads="1"/>
          </p:cNvSpPr>
          <p:nvPr/>
        </p:nvSpPr>
        <p:spPr bwMode="auto">
          <a:xfrm rot="17077062">
            <a:off x="6077210" y="2666103"/>
            <a:ext cx="691942" cy="357188"/>
          </a:xfrm>
          <a:prstGeom prst="leftRightArrow">
            <a:avLst>
              <a:gd name="adj1" fmla="val 36611"/>
              <a:gd name="adj2" fmla="val 5405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14" name="Text Box 30">
            <a:extLst>
              <a:ext uri="{FF2B5EF4-FFF2-40B4-BE49-F238E27FC236}">
                <a16:creationId xmlns:a16="http://schemas.microsoft.com/office/drawing/2014/main" id="{90E3E524-BF3C-4FEB-ACB0-9A48D2AB6F72}"/>
              </a:ext>
            </a:extLst>
          </p:cNvPr>
          <p:cNvSpPr txBox="1">
            <a:spLocks noChangeArrowheads="1"/>
          </p:cNvSpPr>
          <p:nvPr/>
        </p:nvSpPr>
        <p:spPr bwMode="auto">
          <a:xfrm>
            <a:off x="7267669" y="5952837"/>
            <a:ext cx="4319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环形线内的过程是整合管理知识领域的一部分，该知识领域协调与统一其他各知识领域的过程。</a:t>
            </a:r>
          </a:p>
        </p:txBody>
      </p:sp>
      <p:sp>
        <p:nvSpPr>
          <p:cNvPr id="32" name="AutoShape 6">
            <a:extLst>
              <a:ext uri="{FF2B5EF4-FFF2-40B4-BE49-F238E27FC236}">
                <a16:creationId xmlns:a16="http://schemas.microsoft.com/office/drawing/2014/main" id="{8B178F06-11F7-4B71-B33B-E4F679FF01ED}"/>
              </a:ext>
            </a:extLst>
          </p:cNvPr>
          <p:cNvSpPr>
            <a:spLocks noChangeArrowheads="1"/>
          </p:cNvSpPr>
          <p:nvPr/>
        </p:nvSpPr>
        <p:spPr bwMode="auto">
          <a:xfrm>
            <a:off x="5096256" y="4477044"/>
            <a:ext cx="1903412"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4.4</a:t>
            </a:r>
          </a:p>
          <a:p>
            <a:pPr algn="ctr" eaLnBrk="1" hangingPunct="1">
              <a:lnSpc>
                <a:spcPct val="100000"/>
              </a:lnSpc>
              <a:spcBef>
                <a:spcPct val="0"/>
              </a:spcBef>
              <a:buFontTx/>
              <a:buNone/>
            </a:pPr>
            <a:r>
              <a:rPr lang="zh-CN" altLang="en-US" sz="1200" dirty="0">
                <a:ea typeface="幼圆" panose="02010509060101010101" charset="-122"/>
              </a:rPr>
              <a:t>管理项目知识</a:t>
            </a:r>
          </a:p>
        </p:txBody>
      </p:sp>
      <p:sp>
        <p:nvSpPr>
          <p:cNvPr id="33" name="Line 13">
            <a:extLst>
              <a:ext uri="{FF2B5EF4-FFF2-40B4-BE49-F238E27FC236}">
                <a16:creationId xmlns:a16="http://schemas.microsoft.com/office/drawing/2014/main" id="{26B3C0CC-A96D-42DF-9283-60AC099FFB91}"/>
              </a:ext>
            </a:extLst>
          </p:cNvPr>
          <p:cNvSpPr>
            <a:spLocks noChangeShapeType="1"/>
          </p:cNvSpPr>
          <p:nvPr/>
        </p:nvSpPr>
        <p:spPr bwMode="auto">
          <a:xfrm flipH="1" flipV="1">
            <a:off x="6010656" y="4295176"/>
            <a:ext cx="0" cy="238768"/>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4" name="AutoShape 15">
            <a:extLst>
              <a:ext uri="{FF2B5EF4-FFF2-40B4-BE49-F238E27FC236}">
                <a16:creationId xmlns:a16="http://schemas.microsoft.com/office/drawing/2014/main" id="{E13703FF-4D9E-44F9-87E9-75D0360E2A3A}"/>
              </a:ext>
            </a:extLst>
          </p:cNvPr>
          <p:cNvSpPr>
            <a:spLocks noChangeArrowheads="1"/>
          </p:cNvSpPr>
          <p:nvPr/>
        </p:nvSpPr>
        <p:spPr bwMode="auto">
          <a:xfrm>
            <a:off x="8330535" y="4124117"/>
            <a:ext cx="1524000" cy="1103255"/>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35" name="Text Box 17">
            <a:extLst>
              <a:ext uri="{FF2B5EF4-FFF2-40B4-BE49-F238E27FC236}">
                <a16:creationId xmlns:a16="http://schemas.microsoft.com/office/drawing/2014/main" id="{F901C017-65C3-4DB3-9D2B-9EFD18F6C3CD}"/>
              </a:ext>
            </a:extLst>
          </p:cNvPr>
          <p:cNvSpPr txBox="1">
            <a:spLocks noChangeArrowheads="1"/>
          </p:cNvSpPr>
          <p:nvPr/>
        </p:nvSpPr>
        <p:spPr bwMode="auto">
          <a:xfrm>
            <a:off x="8449056" y="4196504"/>
            <a:ext cx="1524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项目风险管理</a:t>
            </a:r>
          </a:p>
        </p:txBody>
      </p:sp>
      <p:sp>
        <p:nvSpPr>
          <p:cNvPr id="36" name="AutoShape 16">
            <a:extLst>
              <a:ext uri="{FF2B5EF4-FFF2-40B4-BE49-F238E27FC236}">
                <a16:creationId xmlns:a16="http://schemas.microsoft.com/office/drawing/2014/main" id="{241CC94F-C31E-4FF5-A1EC-0D7194C5C790}"/>
              </a:ext>
            </a:extLst>
          </p:cNvPr>
          <p:cNvSpPr>
            <a:spLocks noChangeArrowheads="1"/>
          </p:cNvSpPr>
          <p:nvPr/>
        </p:nvSpPr>
        <p:spPr bwMode="auto">
          <a:xfrm>
            <a:off x="8601456" y="4592015"/>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11.6</a:t>
            </a:r>
          </a:p>
          <a:p>
            <a:pPr algn="ctr" eaLnBrk="1" hangingPunct="1">
              <a:lnSpc>
                <a:spcPct val="100000"/>
              </a:lnSpc>
              <a:spcBef>
                <a:spcPct val="0"/>
              </a:spcBef>
              <a:buFontTx/>
              <a:buNone/>
            </a:pPr>
            <a:r>
              <a:rPr lang="zh-CN" altLang="en-US" sz="1200" dirty="0">
                <a:solidFill>
                  <a:schemeClr val="tx1"/>
                </a:solidFill>
                <a:effectLst/>
              </a:rPr>
              <a:t>实施风险应对</a:t>
            </a:r>
            <a:endParaRPr lang="zh-CN" altLang="en-US" sz="1200" dirty="0">
              <a:ea typeface="幼圆" panose="02010509060101010101" charset="-122"/>
            </a:endParaRPr>
          </a:p>
        </p:txBody>
      </p:sp>
      <p:sp>
        <p:nvSpPr>
          <p:cNvPr id="38" name="Text Box 21">
            <a:extLst>
              <a:ext uri="{FF2B5EF4-FFF2-40B4-BE49-F238E27FC236}">
                <a16:creationId xmlns:a16="http://schemas.microsoft.com/office/drawing/2014/main" id="{CF89D2B5-8C5C-4DFC-8818-F9FF9CFA1047}"/>
              </a:ext>
            </a:extLst>
          </p:cNvPr>
          <p:cNvSpPr txBox="1">
            <a:spLocks noChangeArrowheads="1"/>
          </p:cNvSpPr>
          <p:nvPr/>
        </p:nvSpPr>
        <p:spPr bwMode="auto">
          <a:xfrm>
            <a:off x="2151786" y="3400678"/>
            <a:ext cx="163408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项目相关方管理</a:t>
            </a:r>
          </a:p>
        </p:txBody>
      </p:sp>
      <p:sp>
        <p:nvSpPr>
          <p:cNvPr id="39" name="AutoShape 25">
            <a:extLst>
              <a:ext uri="{FF2B5EF4-FFF2-40B4-BE49-F238E27FC236}">
                <a16:creationId xmlns:a16="http://schemas.microsoft.com/office/drawing/2014/main" id="{C4A9867D-ED27-4FA2-AB32-AB229FA5AF32}"/>
              </a:ext>
            </a:extLst>
          </p:cNvPr>
          <p:cNvSpPr>
            <a:spLocks noChangeArrowheads="1"/>
          </p:cNvSpPr>
          <p:nvPr/>
        </p:nvSpPr>
        <p:spPr bwMode="auto">
          <a:xfrm rot="12392848">
            <a:off x="3697823" y="2856947"/>
            <a:ext cx="1453093"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dirty="0">
              <a:latin typeface="黑体" panose="02010609060101010101" pitchFamily="49" charset="-122"/>
            </a:endParaRPr>
          </a:p>
        </p:txBody>
      </p:sp>
      <p:sp>
        <p:nvSpPr>
          <p:cNvPr id="40" name="AutoShape 27">
            <a:extLst>
              <a:ext uri="{FF2B5EF4-FFF2-40B4-BE49-F238E27FC236}">
                <a16:creationId xmlns:a16="http://schemas.microsoft.com/office/drawing/2014/main" id="{BDD30AF8-9B85-415B-99B2-005347E1089F}"/>
              </a:ext>
            </a:extLst>
          </p:cNvPr>
          <p:cNvSpPr>
            <a:spLocks noChangeArrowheads="1"/>
          </p:cNvSpPr>
          <p:nvPr/>
        </p:nvSpPr>
        <p:spPr bwMode="auto">
          <a:xfrm rot="11284991">
            <a:off x="7149960" y="4527050"/>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827936-7805-4E48-9E35-692B82BFD17F}"/>
              </a:ext>
            </a:extLst>
          </p:cNvPr>
          <p:cNvSpPr>
            <a:spLocks noGrp="1"/>
          </p:cNvSpPr>
          <p:nvPr>
            <p:ph type="title"/>
          </p:nvPr>
        </p:nvSpPr>
        <p:spPr/>
        <p:txBody>
          <a:bodyPr/>
          <a:lstStyle/>
          <a:p>
            <a:r>
              <a:rPr lang="en-US" altLang="zh-CN" dirty="0"/>
              <a:t>10.4 </a:t>
            </a:r>
            <a:r>
              <a:rPr lang="zh-CN" altLang="en-US" dirty="0"/>
              <a:t>指导和管理项目工作</a:t>
            </a:r>
          </a:p>
        </p:txBody>
      </p:sp>
      <p:sp>
        <p:nvSpPr>
          <p:cNvPr id="3" name="内容占位符 2">
            <a:extLst>
              <a:ext uri="{FF2B5EF4-FFF2-40B4-BE49-F238E27FC236}">
                <a16:creationId xmlns:a16="http://schemas.microsoft.com/office/drawing/2014/main" id="{14AC5D30-997A-4CA0-93CF-E10E84CA6F95}"/>
              </a:ext>
            </a:extLst>
          </p:cNvPr>
          <p:cNvSpPr txBox="1"/>
          <p:nvPr/>
        </p:nvSpPr>
        <p:spPr>
          <a:xfrm>
            <a:off x="729632" y="1388962"/>
            <a:ext cx="10279744" cy="74463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b="1" dirty="0">
                <a:latin typeface="黑体" panose="02010609060101010101" pitchFamily="49" charset="-122"/>
                <a:ea typeface="黑体" panose="02010609060101010101" pitchFamily="49" charset="-122"/>
              </a:rPr>
              <a:t>指导和管理项目实施的过程</a:t>
            </a:r>
            <a:endParaRPr lang="en-US" b="1" dirty="0">
              <a:latin typeface="黑体" panose="02010609060101010101" pitchFamily="49" charset="-122"/>
              <a:ea typeface="黑体" panose="02010609060101010101" pitchFamily="49" charset="-122"/>
            </a:endParaRP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7EF68283-1505-45FD-9243-438E86982DE0}"/>
              </a:ext>
            </a:extLst>
          </p:cNvPr>
          <p:cNvPicPr>
            <a:picLocks noChangeAspect="1"/>
          </p:cNvPicPr>
          <p:nvPr/>
        </p:nvPicPr>
        <p:blipFill>
          <a:blip r:embed="rId3"/>
          <a:stretch>
            <a:fillRect/>
          </a:stretch>
        </p:blipFill>
        <p:spPr>
          <a:xfrm>
            <a:off x="2315858" y="2323270"/>
            <a:ext cx="7560284" cy="3900668"/>
          </a:xfrm>
          <a:prstGeom prst="rect">
            <a:avLst/>
          </a:prstGeom>
        </p:spPr>
      </p:pic>
    </p:spTree>
    <p:extLst>
      <p:ext uri="{BB962C8B-B14F-4D97-AF65-F5344CB8AC3E}">
        <p14:creationId xmlns:p14="http://schemas.microsoft.com/office/powerpoint/2010/main" val="308298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4D65BB-8405-4FC1-A0E6-B5766EAFEAF6}"/>
              </a:ext>
            </a:extLst>
          </p:cNvPr>
          <p:cNvSpPr>
            <a:spLocks noGrp="1"/>
          </p:cNvSpPr>
          <p:nvPr>
            <p:ph type="title"/>
          </p:nvPr>
        </p:nvSpPr>
        <p:spPr/>
        <p:txBody>
          <a:bodyPr/>
          <a:lstStyle/>
          <a:p>
            <a:r>
              <a:rPr lang="en-US" altLang="zh-CN" dirty="0"/>
              <a:t>10.4 </a:t>
            </a:r>
            <a:r>
              <a:rPr lang="zh-CN" altLang="en-US" dirty="0"/>
              <a:t>指导和管理项目工作</a:t>
            </a:r>
          </a:p>
        </p:txBody>
      </p:sp>
      <p:sp>
        <p:nvSpPr>
          <p:cNvPr id="4" name="文本框 3">
            <a:extLst>
              <a:ext uri="{FF2B5EF4-FFF2-40B4-BE49-F238E27FC236}">
                <a16:creationId xmlns:a16="http://schemas.microsoft.com/office/drawing/2014/main" id="{9237393D-196B-4585-867A-C4D472FCE2F9}"/>
              </a:ext>
            </a:extLst>
          </p:cNvPr>
          <p:cNvSpPr txBox="1"/>
          <p:nvPr/>
        </p:nvSpPr>
        <p:spPr>
          <a:xfrm>
            <a:off x="963168" y="1201479"/>
            <a:ext cx="9958832" cy="5004512"/>
          </a:xfrm>
          <a:prstGeom prst="rect">
            <a:avLst/>
          </a:prstGeom>
          <a:noFill/>
        </p:spPr>
        <p:txBody>
          <a:bodyPr wrap="square">
            <a:spAutoFit/>
          </a:bodyPr>
          <a:lstStyle/>
          <a:p>
            <a:pPr lvl="1">
              <a:lnSpc>
                <a:spcPct val="150000"/>
              </a:lnSpc>
              <a:buFont typeface="Wingdings" panose="05000000000000000000" pitchFamily="2" charset="2"/>
              <a:buChar char="Ø"/>
            </a:pPr>
            <a:r>
              <a:rPr lang="zh-CN" altLang="en-US" sz="2800" b="1" dirty="0"/>
              <a:t>项目的大部分时间和预算通常是花在项目执行阶段，项目的产品主要是在项目执行期生产出来的</a:t>
            </a:r>
            <a:endParaRPr lang="en-US" altLang="zh-CN" sz="2800" b="1" dirty="0"/>
          </a:p>
          <a:p>
            <a:pPr lvl="2">
              <a:lnSpc>
                <a:spcPct val="150000"/>
              </a:lnSpc>
              <a:buFont typeface="Wingdings" panose="05000000000000000000" pitchFamily="2" charset="2"/>
              <a:buChar char="Ø"/>
            </a:pPr>
            <a:r>
              <a:rPr lang="zh-CN" altLang="en-US" sz="2400" b="1" dirty="0">
                <a:solidFill>
                  <a:srgbClr val="0070C0"/>
                </a:solidFill>
              </a:rPr>
              <a:t>项目的应用领域直接影响了项目的执行</a:t>
            </a:r>
            <a:endParaRPr lang="en-US" altLang="zh-CN" sz="2400" b="1" dirty="0">
              <a:solidFill>
                <a:srgbClr val="0070C0"/>
              </a:solidFill>
            </a:endParaRPr>
          </a:p>
          <a:p>
            <a:pPr lvl="2">
              <a:lnSpc>
                <a:spcPct val="150000"/>
              </a:lnSpc>
              <a:buFont typeface="Wingdings" panose="05000000000000000000" pitchFamily="2" charset="2"/>
              <a:buChar char="Ø"/>
            </a:pPr>
            <a:r>
              <a:rPr lang="zh-CN" altLang="en-US" sz="2400" b="1" dirty="0">
                <a:solidFill>
                  <a:srgbClr val="0070C0"/>
                </a:solidFill>
              </a:rPr>
              <a:t>利用产品、业务相应用领域的知识</a:t>
            </a:r>
          </a:p>
          <a:p>
            <a:pPr lvl="1">
              <a:lnSpc>
                <a:spcPct val="150000"/>
              </a:lnSpc>
              <a:buFont typeface="Wingdings" panose="05000000000000000000" pitchFamily="2" charset="2"/>
              <a:buChar char="Ø"/>
            </a:pPr>
            <a:r>
              <a:rPr lang="zh-CN" altLang="en-US" sz="2800" b="1" dirty="0"/>
              <a:t>项目计划和项目执行是相互渗透、密不可分的活动。</a:t>
            </a:r>
          </a:p>
          <a:p>
            <a:pPr lvl="1">
              <a:lnSpc>
                <a:spcPct val="150000"/>
              </a:lnSpc>
              <a:buFont typeface="Wingdings" panose="05000000000000000000" pitchFamily="2" charset="2"/>
              <a:buChar char="Ø"/>
            </a:pPr>
            <a:r>
              <a:rPr lang="zh-CN" altLang="en-US" sz="2800" b="1" dirty="0"/>
              <a:t>遵循</a:t>
            </a:r>
            <a:r>
              <a:rPr lang="zh-CN" altLang="en-US" sz="2800" b="1" dirty="0">
                <a:latin typeface="Times New Roman" panose="02020603050405020304" pitchFamily="18" charset="0"/>
              </a:rPr>
              <a:t>“</a:t>
            </a:r>
            <a:r>
              <a:rPr lang="zh-CN" altLang="en-US" sz="2800" b="1" dirty="0"/>
              <a:t>谁负责做这件事，就由谁制定计划</a:t>
            </a:r>
            <a:r>
              <a:rPr lang="zh-CN" altLang="en-US" sz="2800" b="1" dirty="0">
                <a:latin typeface="Times New Roman" panose="02020603050405020304" pitchFamily="18" charset="0"/>
              </a:rPr>
              <a:t>”</a:t>
            </a:r>
            <a:r>
              <a:rPr lang="zh-CN" altLang="en-US" sz="2800" b="1" dirty="0"/>
              <a:t>的简单原则。</a:t>
            </a:r>
          </a:p>
          <a:p>
            <a:pPr lvl="1">
              <a:lnSpc>
                <a:spcPct val="150000"/>
              </a:lnSpc>
              <a:buFont typeface="Wingdings" panose="05000000000000000000" pitchFamily="2" charset="2"/>
              <a:buChar char="Ø"/>
            </a:pPr>
            <a:r>
              <a:rPr lang="zh-CN" altLang="en-US" sz="2800" b="1" dirty="0"/>
              <a:t>项目经理必须亲自表率，体现执行阶段很好地遵循计划的重要性。</a:t>
            </a:r>
          </a:p>
        </p:txBody>
      </p:sp>
    </p:spTree>
    <p:extLst>
      <p:ext uri="{BB962C8B-B14F-4D97-AF65-F5344CB8AC3E}">
        <p14:creationId xmlns:p14="http://schemas.microsoft.com/office/powerpoint/2010/main" val="3937244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10.4 </a:t>
            </a:r>
            <a:r>
              <a:rPr lang="zh-CN" altLang="en-US" dirty="0"/>
              <a:t>指导和管理项目工作</a:t>
            </a:r>
          </a:p>
        </p:txBody>
      </p:sp>
      <p:sp>
        <p:nvSpPr>
          <p:cNvPr id="3" name="内容占位符 2"/>
          <p:cNvSpPr txBox="1"/>
          <p:nvPr/>
        </p:nvSpPr>
        <p:spPr>
          <a:xfrm>
            <a:off x="516765" y="1293816"/>
            <a:ext cx="10925607" cy="514869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x-none" sz="2400" b="1" dirty="0">
                <a:latin typeface="微软雅黑" panose="020B0503020204020204" pitchFamily="34" charset="-122"/>
                <a:ea typeface="微软雅黑" panose="020B0503020204020204" pitchFamily="34" charset="-122"/>
              </a:rPr>
              <a:t>项目整合计划实施的指导和管理</a:t>
            </a:r>
            <a:endParaRPr lang="en-US" altLang="zh-CN" sz="2400" b="1" dirty="0">
              <a:latin typeface="微软雅黑" panose="020B0503020204020204" pitchFamily="34" charset="-122"/>
              <a:ea typeface="微软雅黑" panose="020B0503020204020204" pitchFamily="34" charset="-122"/>
            </a:endParaRPr>
          </a:p>
          <a:p>
            <a:pPr marL="439420" lvl="3" indent="0" defTabSz="449580">
              <a:lnSpc>
                <a:spcPts val="2800"/>
              </a:lnSpc>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rPr>
              <a:t>指导和管理项目实施</a:t>
            </a:r>
            <a:r>
              <a:rPr lang="zh-CN" sz="2400" dirty="0">
                <a:latin typeface="微软雅黑" panose="020B0503020204020204" pitchFamily="34" charset="-122"/>
                <a:ea typeface="微软雅黑" panose="020B0503020204020204" pitchFamily="34" charset="-122"/>
              </a:rPr>
              <a:t>的主要内容 </a:t>
            </a:r>
            <a:endParaRPr lang="en-US" altLang="zh-CN" sz="2000"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(1) </a:t>
            </a:r>
            <a:r>
              <a:rPr lang="zh-CN" dirty="0">
                <a:latin typeface="微软雅黑" panose="020B0503020204020204" pitchFamily="34" charset="-122"/>
                <a:ea typeface="微软雅黑" panose="020B0503020204020204" pitchFamily="34" charset="-122"/>
              </a:rPr>
              <a:t>指导和管理好</a:t>
            </a:r>
            <a:r>
              <a:rPr lang="zh-CN" b="1" dirty="0">
                <a:solidFill>
                  <a:srgbClr val="0B02BE"/>
                </a:solidFill>
                <a:latin typeface="微软雅黑" panose="020B0503020204020204" pitchFamily="34" charset="-122"/>
                <a:ea typeface="微软雅黑" panose="020B0503020204020204" pitchFamily="34" charset="-122"/>
              </a:rPr>
              <a:t>项目资源的配备</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(2) </a:t>
            </a:r>
            <a:r>
              <a:rPr lang="zh-CN" dirty="0">
                <a:latin typeface="微软雅黑" panose="020B0503020204020204" pitchFamily="34" charset="-122"/>
                <a:ea typeface="微软雅黑" panose="020B0503020204020204" pitchFamily="34" charset="-122"/>
              </a:rPr>
              <a:t>指导和管理好</a:t>
            </a:r>
            <a:r>
              <a:rPr lang="zh-CN" b="1" dirty="0">
                <a:solidFill>
                  <a:srgbClr val="0B02BE"/>
                </a:solidFill>
                <a:latin typeface="微软雅黑" panose="020B0503020204020204" pitchFamily="34" charset="-122"/>
                <a:ea typeface="微软雅黑" panose="020B0503020204020204" pitchFamily="34" charset="-122"/>
              </a:rPr>
              <a:t>项目的全面实施</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(3) </a:t>
            </a:r>
            <a:r>
              <a:rPr lang="zh-CN" dirty="0">
                <a:latin typeface="微软雅黑" panose="020B0503020204020204" pitchFamily="34" charset="-122"/>
                <a:ea typeface="微软雅黑" panose="020B0503020204020204" pitchFamily="34" charset="-122"/>
              </a:rPr>
              <a:t>指导和管理好项目</a:t>
            </a:r>
            <a:r>
              <a:rPr lang="zh-CN" b="1" dirty="0">
                <a:solidFill>
                  <a:srgbClr val="0B02BE"/>
                </a:solidFill>
                <a:latin typeface="微软雅黑" panose="020B0503020204020204" pitchFamily="34" charset="-122"/>
                <a:ea typeface="微软雅黑" panose="020B0503020204020204" pitchFamily="34" charset="-122"/>
              </a:rPr>
              <a:t>风险管理和应对</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(4) </a:t>
            </a:r>
            <a:r>
              <a:rPr lang="zh-CN" dirty="0">
                <a:latin typeface="微软雅黑" panose="020B0503020204020204" pitchFamily="34" charset="-122"/>
                <a:ea typeface="微软雅黑" panose="020B0503020204020204" pitchFamily="34" charset="-122"/>
              </a:rPr>
              <a:t>指导和管理好项目的</a:t>
            </a:r>
            <a:r>
              <a:rPr lang="zh-CN" b="1" dirty="0">
                <a:solidFill>
                  <a:srgbClr val="0B02BE"/>
                </a:solidFill>
                <a:latin typeface="微软雅黑" panose="020B0503020204020204" pitchFamily="34" charset="-122"/>
                <a:ea typeface="微软雅黑" panose="020B0503020204020204" pitchFamily="34" charset="-122"/>
              </a:rPr>
              <a:t>预防与纠偏</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439420" lvl="3" indent="0" defTabSz="449580">
              <a:lnSpc>
                <a:spcPts val="2800"/>
              </a:lnSpc>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rPr>
              <a:t>指导和管理项目实施</a:t>
            </a:r>
            <a:r>
              <a:rPr lang="zh-CN" sz="2400" dirty="0">
                <a:latin typeface="微软雅黑" panose="020B0503020204020204" pitchFamily="34" charset="-122"/>
                <a:ea typeface="微软雅黑" panose="020B0503020204020204" pitchFamily="34" charset="-122"/>
              </a:rPr>
              <a:t>的依据</a:t>
            </a:r>
            <a:r>
              <a:rPr lang="zh-CN" altLang="en-US" sz="2400" dirty="0">
                <a:latin typeface="微软雅黑" panose="020B0503020204020204" pitchFamily="34" charset="-122"/>
                <a:ea typeface="微软雅黑" panose="020B0503020204020204" pitchFamily="34" charset="-122"/>
              </a:rPr>
              <a:t>（输入）</a:t>
            </a:r>
            <a:endParaRPr lang="en-US" altLang="zh-CN" sz="2400" dirty="0">
              <a:solidFill>
                <a:srgbClr val="00B050"/>
              </a:solidFill>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项目管理计划</a:t>
            </a:r>
            <a:endParaRPr lang="en-US"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 </a:t>
            </a:r>
            <a:r>
              <a:rPr lang="zh-CN" dirty="0">
                <a:latin typeface="微软雅黑" panose="020B0503020204020204" pitchFamily="34" charset="-122"/>
                <a:ea typeface="微软雅黑" panose="020B0503020204020204" pitchFamily="34" charset="-122"/>
              </a:rPr>
              <a:t>项目的文件</a:t>
            </a:r>
            <a:r>
              <a:rPr lang="zh-CN" altLang="en-US" dirty="0">
                <a:solidFill>
                  <a:srgbClr val="0070C0"/>
                </a:solidFill>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变更日志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经验教训登记册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里程碑清单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项目沟通记录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项目进度计划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需求跟踪矩阵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风险登记册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风险报告）</a:t>
            </a:r>
            <a:endParaRPr lang="en-US" altLang="zh-CN" dirty="0">
              <a:solidFill>
                <a:srgbClr val="0070C0"/>
              </a:solidFill>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批准的</a:t>
            </a:r>
            <a:r>
              <a:rPr lang="zh-CN" altLang="zh-CN" dirty="0">
                <a:latin typeface="微软雅黑" panose="020B0503020204020204" pitchFamily="34" charset="-122"/>
                <a:ea typeface="微软雅黑" panose="020B0503020204020204" pitchFamily="34" charset="-122"/>
              </a:rPr>
              <a:t>项目变更</a:t>
            </a:r>
            <a:r>
              <a:rPr lang="zh-CN" altLang="en-US" dirty="0">
                <a:latin typeface="微软雅黑" panose="020B0503020204020204" pitchFamily="34" charset="-122"/>
                <a:ea typeface="微软雅黑" panose="020B0503020204020204" pitchFamily="34" charset="-122"/>
              </a:rPr>
              <a:t>请求</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事业环境因素和组织过程资产</a:t>
            </a:r>
            <a:endParaRPr lang="en-US" altLang="zh-CN" dirty="0">
              <a:latin typeface="黑体" panose="02010609060101010101" pitchFamily="2" charset="-122"/>
              <a:ea typeface="黑体" panose="02010609060101010101" pitchFamily="2" charset="-122"/>
            </a:endParaRPr>
          </a:p>
          <a:p>
            <a:pPr marL="835025" lvl="3" indent="0" defTabSz="449580">
              <a:lnSpc>
                <a:spcPts val="2800"/>
              </a:lnSpc>
              <a:buFont typeface="Wingdings" panose="05000000000000000000" pitchFamily="2" charset="2"/>
              <a:buNone/>
              <a:defRPr/>
            </a:pPr>
            <a:endParaRPr lang="en-US" altLang="zh-CN" dirty="0">
              <a:latin typeface="黑体" panose="02010609060101010101" pitchFamily="2" charset="-122"/>
              <a:ea typeface="黑体" panose="02010609060101010101" pitchFamily="2" charset="-122"/>
            </a:endParaRPr>
          </a:p>
          <a:p>
            <a:pPr marL="439420" lvl="3" indent="0" defTabSz="449580">
              <a:lnSpc>
                <a:spcPts val="2800"/>
              </a:lnSpc>
              <a:buFont typeface="Wingdings" panose="05000000000000000000" pitchFamily="2" charset="2"/>
              <a:buNone/>
              <a:defRPr/>
            </a:pPr>
            <a:endParaRPr lang="zh-CN" altLang="zh-CN" dirty="0">
              <a:latin typeface="黑体" panose="02010609060101010101" pitchFamily="2" charset="-122"/>
              <a:ea typeface="黑体" panose="02010609060101010101" pitchFamily="2" charset="-122"/>
              <a:cs typeface="Times New Roman" panose="02020603050405020304" pitchFamily="18" charset="0"/>
            </a:endParaRPr>
          </a:p>
          <a:p>
            <a:pPr marL="0" lvl="3" indent="0" defTabSz="449580">
              <a:lnSpc>
                <a:spcPts val="2800"/>
              </a:lnSpc>
              <a:buFont typeface="Wingdings" panose="05000000000000000000" pitchFamily="2" charset="2"/>
              <a:buNone/>
              <a:defRPr/>
            </a:pPr>
            <a:endParaRPr lang="en-US" sz="2800" dirty="0">
              <a:latin typeface="黑体" panose="02010609060101010101" pitchFamily="2" charset="-122"/>
              <a:ea typeface="黑体" panose="02010609060101010101" pitchFamily="2" charset="-122"/>
            </a:endParaRPr>
          </a:p>
          <a:p>
            <a:pPr marL="0" lvl="3" indent="0" defTabSz="449580">
              <a:lnSpc>
                <a:spcPts val="2800"/>
              </a:lnSpc>
              <a:buFont typeface="Wingdings" panose="05000000000000000000" pitchFamily="2" charset="2"/>
              <a:buNone/>
              <a:defRPr/>
            </a:pPr>
            <a:endParaRPr lang="en-US" altLang="zh-CN" sz="3200" dirty="0">
              <a:latin typeface="黑体" panose="02010609060101010101" pitchFamily="2" charset="-122"/>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0"/>
              </a:lnSpc>
              <a:buFont typeface="Wingdings" panose="05000000000000000000" pitchFamily="2" charset="2"/>
              <a:buNone/>
              <a:defRPr/>
            </a:pPr>
            <a:endParaRPr lang="zh-CN" altLang="zh-CN" sz="2800"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
        <p:nvSpPr>
          <p:cNvPr id="4" name="矩形 3"/>
          <p:cNvSpPr/>
          <p:nvPr/>
        </p:nvSpPr>
        <p:spPr>
          <a:xfrm>
            <a:off x="6695195" y="1970856"/>
            <a:ext cx="4891490" cy="1200329"/>
          </a:xfrm>
          <a:prstGeom prst="rect">
            <a:avLst/>
          </a:prstGeom>
        </p:spPr>
        <p:txBody>
          <a:bodyPr wrap="square">
            <a:spAutoFit/>
          </a:bodyPr>
          <a:lstStyle/>
          <a:p>
            <a:pPr marL="342900" indent="-342900">
              <a:buFont typeface="Wingdings" panose="05000000000000000000" pitchFamily="2" charset="2"/>
              <a:buChar char="Ø"/>
            </a:pPr>
            <a:r>
              <a:rPr lang="zh-CN" altLang="en-US" sz="2400" dirty="0">
                <a:latin typeface="华文行楷" panose="02010800040101010101" pitchFamily="2" charset="-122"/>
                <a:ea typeface="华文行楷" panose="02010800040101010101" pitchFamily="2" charset="-122"/>
              </a:rPr>
              <a:t>组织、指挥、控制、激励、沟通</a:t>
            </a:r>
          </a:p>
          <a:p>
            <a:pPr marL="342900" indent="-342900">
              <a:buFont typeface="Wingdings" panose="05000000000000000000" pitchFamily="2" charset="2"/>
              <a:buChar char="Ø"/>
            </a:pPr>
            <a:r>
              <a:rPr lang="zh-CN" altLang="en-US" sz="2400" dirty="0">
                <a:latin typeface="华文行楷" panose="02010800040101010101" pitchFamily="2" charset="-122"/>
                <a:ea typeface="华文行楷" panose="02010800040101010101" pitchFamily="2" charset="-122"/>
              </a:rPr>
              <a:t>状态审查、动态管理</a:t>
            </a:r>
          </a:p>
          <a:p>
            <a:pPr marL="342900" indent="-342900">
              <a:buFont typeface="Wingdings" panose="05000000000000000000" pitchFamily="2" charset="2"/>
              <a:buChar char="Ø"/>
            </a:pPr>
            <a:r>
              <a:rPr lang="zh-CN" altLang="en-US" sz="2400" dirty="0">
                <a:latin typeface="华文行楷" panose="02010800040101010101" pitchFamily="2" charset="-122"/>
                <a:ea typeface="华文行楷" panose="02010800040101010101" pitchFamily="2" charset="-122"/>
              </a:rPr>
              <a:t>项目管理软件</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D6F20-7909-4E3C-9646-C0DD949D7857}"/>
              </a:ext>
            </a:extLst>
          </p:cNvPr>
          <p:cNvSpPr>
            <a:spLocks noGrp="1"/>
          </p:cNvSpPr>
          <p:nvPr>
            <p:ph type="title"/>
          </p:nvPr>
        </p:nvSpPr>
        <p:spPr/>
        <p:txBody>
          <a:bodyPr/>
          <a:lstStyle/>
          <a:p>
            <a:r>
              <a:rPr lang="en-US" altLang="zh-CN" dirty="0"/>
              <a:t>10.4 </a:t>
            </a:r>
            <a:r>
              <a:rPr lang="zh-CN" altLang="en-US" dirty="0"/>
              <a:t>指导和管理项目工作</a:t>
            </a:r>
          </a:p>
        </p:txBody>
      </p:sp>
      <p:sp>
        <p:nvSpPr>
          <p:cNvPr id="5" name="内容占位符 2">
            <a:extLst>
              <a:ext uri="{FF2B5EF4-FFF2-40B4-BE49-F238E27FC236}">
                <a16:creationId xmlns:a16="http://schemas.microsoft.com/office/drawing/2014/main" id="{E699EDD9-C44A-4491-8562-CD322BF65DBF}"/>
              </a:ext>
            </a:extLst>
          </p:cNvPr>
          <p:cNvSpPr txBox="1"/>
          <p:nvPr/>
        </p:nvSpPr>
        <p:spPr>
          <a:xfrm>
            <a:off x="797181" y="1544255"/>
            <a:ext cx="10925607" cy="514869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x-none" sz="2400" b="1" dirty="0">
                <a:latin typeface="微软雅黑" panose="020B0503020204020204" pitchFamily="34" charset="-122"/>
                <a:ea typeface="微软雅黑" panose="020B0503020204020204" pitchFamily="34" charset="-122"/>
              </a:rPr>
              <a:t>项目整合计划实施的指导和管理</a:t>
            </a:r>
            <a:endParaRPr lang="en-US" altLang="zh-CN" sz="2400" b="1" dirty="0">
              <a:latin typeface="微软雅黑" panose="020B0503020204020204" pitchFamily="34" charset="-122"/>
              <a:ea typeface="微软雅黑" panose="020B0503020204020204" pitchFamily="34" charset="-122"/>
            </a:endParaRPr>
          </a:p>
          <a:p>
            <a:pPr marL="439420" lvl="3" indent="0" defTabSz="449580">
              <a:lnSpc>
                <a:spcPts val="2800"/>
              </a:lnSpc>
              <a:defRPr/>
            </a:pPr>
            <a:r>
              <a:rPr lang="zh-CN" altLang="en-US" sz="2400" dirty="0">
                <a:latin typeface="微软雅黑" panose="020B0503020204020204" pitchFamily="34" charset="-122"/>
                <a:ea typeface="微软雅黑" panose="020B0503020204020204" pitchFamily="34" charset="-122"/>
              </a:rPr>
              <a:t>项目实施工具和技术</a:t>
            </a:r>
            <a:r>
              <a:rPr lang="zh-CN" sz="24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sz="2400" dirty="0">
                <a:latin typeface="+mn-ea"/>
              </a:rPr>
              <a:t>(1)</a:t>
            </a:r>
            <a:r>
              <a:rPr lang="zh-CN" altLang="en-US" sz="2400" dirty="0">
                <a:latin typeface="+mn-ea"/>
              </a:rPr>
              <a:t>专家评审法</a:t>
            </a:r>
            <a:endParaRPr lang="en-US" altLang="zh-CN" sz="2400" dirty="0">
              <a:latin typeface="+mn-ea"/>
            </a:endParaRPr>
          </a:p>
          <a:p>
            <a:pPr marL="835025" lvl="3" indent="0" defTabSz="449580">
              <a:lnSpc>
                <a:spcPts val="2800"/>
              </a:lnSpc>
              <a:buNone/>
              <a:defRPr/>
            </a:pPr>
            <a:r>
              <a:rPr lang="en-US" altLang="zh-CN" sz="2400" dirty="0">
                <a:latin typeface="+mn-ea"/>
              </a:rPr>
              <a:t>(2)</a:t>
            </a:r>
            <a:r>
              <a:rPr lang="zh-CN" altLang="en-US" sz="2400" dirty="0">
                <a:latin typeface="+mn-ea"/>
              </a:rPr>
              <a:t>项目管理信息系统</a:t>
            </a:r>
            <a:endParaRPr lang="en-US" altLang="zh-CN" sz="2400" dirty="0">
              <a:latin typeface="+mn-ea"/>
            </a:endParaRPr>
          </a:p>
          <a:p>
            <a:pPr marL="835025" lvl="3" indent="0" defTabSz="449580">
              <a:lnSpc>
                <a:spcPts val="2800"/>
              </a:lnSpc>
              <a:buNone/>
              <a:defRPr/>
            </a:pPr>
            <a:r>
              <a:rPr lang="en-US" altLang="zh-CN" sz="2400" dirty="0">
                <a:latin typeface="+mn-ea"/>
              </a:rPr>
              <a:t>(3)</a:t>
            </a:r>
            <a:r>
              <a:rPr lang="zh-CN" altLang="en-US" sz="2400" dirty="0">
                <a:latin typeface="+mn-ea"/>
              </a:rPr>
              <a:t>会议</a:t>
            </a:r>
            <a:endParaRPr lang="en-US" altLang="zh-CN" sz="2400" dirty="0">
              <a:latin typeface="+mn-ea"/>
            </a:endParaRPr>
          </a:p>
          <a:p>
            <a:pPr marL="439420" lvl="3" indent="0" defTabSz="449580">
              <a:lnSpc>
                <a:spcPts val="2800"/>
              </a:lnSpc>
              <a:buFont typeface="Wingdings" panose="05000000000000000000" pitchFamily="2" charset="2"/>
              <a:buNone/>
              <a:defRPr/>
            </a:pPr>
            <a:endParaRPr lang="zh-CN" altLang="zh-CN" dirty="0">
              <a:latin typeface="黑体" panose="02010609060101010101" pitchFamily="2" charset="-122"/>
              <a:ea typeface="黑体" panose="02010609060101010101" pitchFamily="2" charset="-122"/>
              <a:cs typeface="Times New Roman" panose="02020603050405020304" pitchFamily="18" charset="0"/>
            </a:endParaRPr>
          </a:p>
          <a:p>
            <a:pPr marL="0" lvl="3" indent="0" defTabSz="449580">
              <a:lnSpc>
                <a:spcPts val="2800"/>
              </a:lnSpc>
              <a:buFont typeface="Wingdings" panose="05000000000000000000" pitchFamily="2" charset="2"/>
              <a:buNone/>
              <a:defRPr/>
            </a:pPr>
            <a:endParaRPr lang="en-US" sz="2800" dirty="0">
              <a:latin typeface="黑体" panose="02010609060101010101" pitchFamily="2" charset="-122"/>
              <a:ea typeface="黑体" panose="02010609060101010101" pitchFamily="2" charset="-122"/>
            </a:endParaRPr>
          </a:p>
          <a:p>
            <a:pPr marL="0" lvl="3" indent="0" defTabSz="449580">
              <a:lnSpc>
                <a:spcPts val="2800"/>
              </a:lnSpc>
              <a:buFont typeface="Wingdings" panose="05000000000000000000" pitchFamily="2" charset="2"/>
              <a:buNone/>
              <a:defRPr/>
            </a:pPr>
            <a:endParaRPr lang="en-US" altLang="zh-CN" sz="3200" dirty="0">
              <a:latin typeface="黑体" panose="02010609060101010101" pitchFamily="2" charset="-122"/>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0"/>
              </a:lnSpc>
              <a:buFont typeface="Wingdings" panose="05000000000000000000" pitchFamily="2" charset="2"/>
              <a:buNone/>
              <a:defRPr/>
            </a:pPr>
            <a:endParaRPr lang="zh-CN" altLang="zh-CN" sz="2800"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Tree>
    <p:extLst>
      <p:ext uri="{BB962C8B-B14F-4D97-AF65-F5344CB8AC3E}">
        <p14:creationId xmlns:p14="http://schemas.microsoft.com/office/powerpoint/2010/main" val="188226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365A-E8CA-49D3-A156-E0DCA9D397AA}"/>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A941D2A-9F18-4B72-A884-5DD331E82A76}"/>
              </a:ext>
            </a:extLst>
          </p:cNvPr>
          <p:cNvSpPr txBox="1"/>
          <p:nvPr/>
        </p:nvSpPr>
        <p:spPr>
          <a:xfrm>
            <a:off x="1011936" y="2324051"/>
            <a:ext cx="10034016" cy="1015663"/>
          </a:xfrm>
          <a:prstGeom prst="rect">
            <a:avLst/>
          </a:prstGeom>
          <a:noFill/>
        </p:spPr>
        <p:txBody>
          <a:bodyPr wrap="square">
            <a:spAutoFit/>
          </a:bodyPr>
          <a:lstStyle/>
          <a:p>
            <a:r>
              <a:rPr lang="zh-CN" altLang="en-US" sz="2000" b="1" i="0" u="none" strike="noStrike" baseline="0" dirty="0">
                <a:latin typeface="SourceHanSansSC-Regular"/>
              </a:rPr>
              <a:t>主要作用：</a:t>
            </a:r>
            <a:endParaRPr lang="en-US" altLang="zh-CN" sz="2000" b="1" i="0" u="none" strike="noStrike" baseline="0" dirty="0">
              <a:latin typeface="SourceHanSansSC-Regular"/>
            </a:endParaRPr>
          </a:p>
          <a:p>
            <a:pPr algn="l"/>
            <a:r>
              <a:rPr lang="zh-CN" altLang="en-US" sz="2000" b="1" i="0" u="none" strike="noStrike" baseline="0" dirty="0">
                <a:latin typeface="SourceHanSansSC-Regular"/>
              </a:rPr>
              <a:t>利用已有的组织知识来创造或改进项目成果，并且使当前项目创造的知识可用于支持组织运营和未来的项目或阶段</a:t>
            </a:r>
            <a:endParaRPr lang="zh-CN" altLang="en-US" sz="2000" b="1" dirty="0"/>
          </a:p>
        </p:txBody>
      </p:sp>
      <p:sp>
        <p:nvSpPr>
          <p:cNvPr id="5" name="内容占位符 2">
            <a:extLst>
              <a:ext uri="{FF2B5EF4-FFF2-40B4-BE49-F238E27FC236}">
                <a16:creationId xmlns:a16="http://schemas.microsoft.com/office/drawing/2014/main" id="{C2E868BE-BE6B-4CA3-9FB2-FDA2FE907A8B}"/>
              </a:ext>
            </a:extLst>
          </p:cNvPr>
          <p:cNvSpPr txBox="1">
            <a:spLocks noChangeArrowheads="1"/>
          </p:cNvSpPr>
          <p:nvPr/>
        </p:nvSpPr>
        <p:spPr>
          <a:xfrm>
            <a:off x="859343" y="1592025"/>
            <a:ext cx="10320721" cy="80314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管理项目知识：</a:t>
            </a:r>
            <a:r>
              <a:rPr lang="zh-CN" altLang="en-US" kern="0" dirty="0">
                <a:latin typeface="微软雅黑" panose="020B0503020204020204" pitchFamily="34" charset="-122"/>
                <a:ea typeface="微软雅黑" panose="020B0503020204020204" pitchFamily="34" charset="-122"/>
              </a:rPr>
              <a:t>管理项目知识是使用现有知识并生成新知识，以实现项目目标，并且帮助组织学习的过程</a:t>
            </a:r>
          </a:p>
        </p:txBody>
      </p:sp>
      <p:pic>
        <p:nvPicPr>
          <p:cNvPr id="7" name="图片 6">
            <a:extLst>
              <a:ext uri="{FF2B5EF4-FFF2-40B4-BE49-F238E27FC236}">
                <a16:creationId xmlns:a16="http://schemas.microsoft.com/office/drawing/2014/main" id="{2652E644-D1BE-4455-940B-8DB0E2BE704C}"/>
              </a:ext>
            </a:extLst>
          </p:cNvPr>
          <p:cNvPicPr>
            <a:picLocks noChangeAspect="1"/>
          </p:cNvPicPr>
          <p:nvPr/>
        </p:nvPicPr>
        <p:blipFill>
          <a:blip r:embed="rId3"/>
          <a:stretch>
            <a:fillRect/>
          </a:stretch>
        </p:blipFill>
        <p:spPr>
          <a:xfrm>
            <a:off x="2255520" y="3234891"/>
            <a:ext cx="8294370" cy="3468555"/>
          </a:xfrm>
          <a:prstGeom prst="rect">
            <a:avLst/>
          </a:prstGeom>
        </p:spPr>
      </p:pic>
    </p:spTree>
    <p:extLst>
      <p:ext uri="{BB962C8B-B14F-4D97-AF65-F5344CB8AC3E}">
        <p14:creationId xmlns:p14="http://schemas.microsoft.com/office/powerpoint/2010/main" val="899102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DC17C-DEC2-4C9B-8085-A6DB04766E9D}"/>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C2DFE5C-2F98-45BA-92F2-EADBFDC1C848}"/>
              </a:ext>
            </a:extLst>
          </p:cNvPr>
          <p:cNvSpPr txBox="1"/>
          <p:nvPr/>
        </p:nvSpPr>
        <p:spPr>
          <a:xfrm>
            <a:off x="975360" y="1490008"/>
            <a:ext cx="8168640" cy="3785652"/>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项目知识管理的输入：</a:t>
            </a:r>
            <a:endParaRPr lang="en-US" altLang="zh-CN" sz="2400" dirty="0">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项目管理计划</a:t>
            </a:r>
            <a:endParaRPr lang="en-US" altLang="zh-CN" sz="2400" dirty="0">
              <a:solidFill>
                <a:srgbClr val="C00000"/>
              </a:solidFill>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项目文件</a:t>
            </a:r>
          </a:p>
          <a:p>
            <a:pPr marL="800100" lvl="1" indent="-342900">
              <a:buFont typeface="Wingdings" panose="05000000000000000000" pitchFamily="2" charset="2"/>
              <a:buChar char="l"/>
            </a:pPr>
            <a:r>
              <a:rPr lang="zh-CN" altLang="en-US" sz="2400" dirty="0"/>
              <a:t>经验教训登记册</a:t>
            </a:r>
            <a:endParaRPr lang="en-US" altLang="zh-CN" sz="2400" dirty="0"/>
          </a:p>
          <a:p>
            <a:pPr marL="800100" lvl="1" indent="-342900">
              <a:buFont typeface="Wingdings" panose="05000000000000000000" pitchFamily="2" charset="2"/>
              <a:buChar char="l"/>
            </a:pPr>
            <a:r>
              <a:rPr lang="zh-CN" altLang="en-US" sz="2400" dirty="0"/>
              <a:t>项目团队派工单</a:t>
            </a:r>
            <a:endParaRPr lang="en-US" altLang="zh-CN" sz="2400" dirty="0"/>
          </a:p>
          <a:p>
            <a:pPr marL="800100" lvl="1" indent="-342900">
              <a:buFont typeface="Wingdings" panose="05000000000000000000" pitchFamily="2" charset="2"/>
              <a:buChar char="l"/>
            </a:pPr>
            <a:r>
              <a:rPr lang="zh-CN" altLang="en-US" sz="2400" dirty="0"/>
              <a:t>资源分解结构</a:t>
            </a:r>
            <a:endParaRPr lang="en-US" altLang="zh-CN" sz="2400" dirty="0"/>
          </a:p>
          <a:p>
            <a:pPr marL="800100" lvl="1" indent="-342900">
              <a:buFont typeface="Wingdings" panose="05000000000000000000" pitchFamily="2" charset="2"/>
              <a:buChar char="l"/>
            </a:pPr>
            <a:r>
              <a:rPr lang="zh-CN" altLang="en-US" sz="2400" dirty="0"/>
              <a:t>相关方登记册</a:t>
            </a:r>
            <a:endParaRPr lang="en-US" altLang="zh-CN" sz="2400" dirty="0"/>
          </a:p>
          <a:p>
            <a:r>
              <a:rPr lang="zh-CN" altLang="en-US" sz="2400" dirty="0">
                <a:solidFill>
                  <a:srgbClr val="C00000"/>
                </a:solidFill>
                <a:latin typeface="黑体" panose="02010609060101010101" pitchFamily="49" charset="-122"/>
                <a:ea typeface="黑体" panose="02010609060101010101" pitchFamily="49" charset="-122"/>
              </a:rPr>
              <a:t>可交付成果</a:t>
            </a:r>
            <a:endParaRPr lang="en-US" altLang="zh-CN" sz="2400" dirty="0">
              <a:solidFill>
                <a:srgbClr val="C00000"/>
              </a:solidFill>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事业环境因素</a:t>
            </a:r>
            <a:endParaRPr lang="en-US" altLang="zh-CN" sz="2400" dirty="0">
              <a:solidFill>
                <a:srgbClr val="C00000"/>
              </a:solidFill>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组织过程资产</a:t>
            </a:r>
            <a:endParaRPr lang="en-US" altLang="zh-CN" sz="2400"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4713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DC17C-DEC2-4C9B-8085-A6DB04766E9D}"/>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C2DFE5C-2F98-45BA-92F2-EADBFDC1C848}"/>
              </a:ext>
            </a:extLst>
          </p:cNvPr>
          <p:cNvSpPr txBox="1"/>
          <p:nvPr/>
        </p:nvSpPr>
        <p:spPr>
          <a:xfrm>
            <a:off x="804672" y="1201479"/>
            <a:ext cx="10619232" cy="5386090"/>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工具与技术：</a:t>
            </a:r>
            <a:endParaRPr lang="en-US" altLang="zh-CN" sz="2400" dirty="0">
              <a:latin typeface="黑体" panose="02010609060101010101" pitchFamily="49" charset="-122"/>
              <a:ea typeface="黑体" panose="02010609060101010101" pitchFamily="49" charset="-122"/>
            </a:endParaRPr>
          </a:p>
          <a:p>
            <a:r>
              <a:rPr lang="zh-CN" altLang="en-US" sz="2400" dirty="0">
                <a:solidFill>
                  <a:srgbClr val="0B02BE"/>
                </a:solidFill>
                <a:latin typeface="黑体" panose="02010609060101010101" pitchFamily="49" charset="-122"/>
                <a:ea typeface="黑体" panose="02010609060101010101" pitchFamily="49" charset="-122"/>
              </a:rPr>
              <a:t>专家判断</a:t>
            </a:r>
            <a:endParaRPr lang="en-US" altLang="zh-CN" sz="2400" dirty="0">
              <a:solidFill>
                <a:srgbClr val="0B02BE"/>
              </a:solidFill>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  </a:t>
            </a:r>
            <a:r>
              <a:rPr lang="zh-CN" altLang="en-US" sz="2000" b="1" dirty="0">
                <a:latin typeface="+mn-ea"/>
              </a:rPr>
              <a:t>征求有相关知识或接受过相关培训的专家的意见</a:t>
            </a:r>
            <a:endParaRPr lang="en-US" altLang="zh-CN" sz="2000" b="1" dirty="0">
              <a:latin typeface="+mn-ea"/>
            </a:endParaRPr>
          </a:p>
          <a:p>
            <a:r>
              <a:rPr lang="zh-CN" altLang="en-US" sz="2400" dirty="0">
                <a:solidFill>
                  <a:srgbClr val="0B02BE"/>
                </a:solidFill>
                <a:latin typeface="黑体" panose="02010609060101010101" pitchFamily="49" charset="-122"/>
                <a:ea typeface="黑体" panose="02010609060101010101" pitchFamily="49" charset="-122"/>
              </a:rPr>
              <a:t>知识管理</a:t>
            </a:r>
          </a:p>
          <a:p>
            <a:r>
              <a:rPr lang="zh-CN" altLang="en-US" sz="2400" dirty="0">
                <a:latin typeface="+mn-ea"/>
              </a:rPr>
              <a:t>  </a:t>
            </a:r>
            <a:r>
              <a:rPr lang="zh-CN" altLang="en-US" sz="2000" b="1" dirty="0">
                <a:latin typeface="+mn-ea"/>
              </a:rPr>
              <a:t>知识管理工具和技术将员工联系起来，使他们能够合作生成新知识、分享隐性知识，以及集成不同团队成员所拥有的知识，包括</a:t>
            </a:r>
            <a:endParaRPr lang="en-US" altLang="zh-CN" sz="2000" b="1" dirty="0">
              <a:latin typeface="+mn-ea"/>
            </a:endParaRPr>
          </a:p>
          <a:p>
            <a:r>
              <a:rPr lang="zh-CN" altLang="en-US" sz="2000" b="1" dirty="0">
                <a:latin typeface="+mn-ea"/>
              </a:rPr>
              <a:t>  </a:t>
            </a:r>
            <a:r>
              <a:rPr lang="zh-CN" altLang="en-US" sz="2000" b="1" dirty="0">
                <a:solidFill>
                  <a:srgbClr val="C00000"/>
                </a:solidFill>
                <a:latin typeface="+mn-ea"/>
              </a:rPr>
              <a:t>人际交往，实践社区，会议，工作跟随和跟随指导，讨论论坛，知识分享活动，研讨会，讲故事，创造力和创意管理技术，知识展会和茶座，交互式培训</a:t>
            </a:r>
            <a:r>
              <a:rPr lang="en-US" altLang="zh-CN" sz="2000" b="1" dirty="0">
                <a:solidFill>
                  <a:srgbClr val="C00000"/>
                </a:solidFill>
                <a:latin typeface="+mn-ea"/>
              </a:rPr>
              <a:t>……</a:t>
            </a:r>
          </a:p>
          <a:p>
            <a:r>
              <a:rPr lang="zh-CN" altLang="en-US" sz="2400" dirty="0">
                <a:solidFill>
                  <a:srgbClr val="0B02BE"/>
                </a:solidFill>
                <a:latin typeface="黑体" panose="02010609060101010101" pitchFamily="49" charset="-122"/>
                <a:ea typeface="黑体" panose="02010609060101010101" pitchFamily="49" charset="-122"/>
              </a:rPr>
              <a:t>信息管理</a:t>
            </a:r>
            <a:endParaRPr lang="en-US" altLang="zh-CN" sz="2400" dirty="0">
              <a:solidFill>
                <a:srgbClr val="0B02BE"/>
              </a:solidFill>
              <a:latin typeface="黑体" panose="02010609060101010101" pitchFamily="49" charset="-122"/>
              <a:ea typeface="黑体" panose="02010609060101010101" pitchFamily="49" charset="-122"/>
            </a:endParaRPr>
          </a:p>
          <a:p>
            <a:r>
              <a:rPr lang="zh-CN" altLang="en-US" sz="2000" b="1" dirty="0">
                <a:latin typeface="+mn-ea"/>
              </a:rPr>
              <a:t>  信息管理工具和技术用于创建人们与知识之间的联系，可以有效促进简单、明确的显性知识的分享，包括：</a:t>
            </a:r>
            <a:endParaRPr lang="en-US" altLang="zh-CN" sz="2000" b="1" dirty="0">
              <a:latin typeface="+mn-ea"/>
            </a:endParaRPr>
          </a:p>
          <a:p>
            <a:r>
              <a:rPr lang="zh-CN" altLang="en-US" sz="2000" b="1" dirty="0">
                <a:latin typeface="+mn-ea"/>
              </a:rPr>
              <a:t>   </a:t>
            </a:r>
            <a:r>
              <a:rPr lang="zh-CN" altLang="en-US" sz="2000" b="1" dirty="0">
                <a:solidFill>
                  <a:srgbClr val="C00000"/>
                </a:solidFill>
                <a:latin typeface="+mn-ea"/>
              </a:rPr>
              <a:t>编撰显性知识的方法，经验教训登记册，图书馆服务，信息收集，项目管理信息系统 </a:t>
            </a:r>
            <a:r>
              <a:rPr lang="en-US" altLang="zh-CN" sz="2000" b="1" dirty="0">
                <a:solidFill>
                  <a:srgbClr val="C00000"/>
                </a:solidFill>
                <a:latin typeface="+mn-ea"/>
              </a:rPr>
              <a:t>(PMIS)……</a:t>
            </a:r>
          </a:p>
          <a:p>
            <a:r>
              <a:rPr lang="zh-CN" altLang="en-US" sz="2400" dirty="0">
                <a:solidFill>
                  <a:srgbClr val="0B02BE"/>
                </a:solidFill>
                <a:latin typeface="黑体" panose="02010609060101010101" pitchFamily="49" charset="-122"/>
                <a:ea typeface="黑体" panose="02010609060101010101" pitchFamily="49" charset="-122"/>
              </a:rPr>
              <a:t>人际关系与团队技能</a:t>
            </a:r>
            <a:endParaRPr lang="en-US" altLang="zh-CN" sz="2400" dirty="0">
              <a:solidFill>
                <a:srgbClr val="0B02BE"/>
              </a:solidFill>
              <a:latin typeface="黑体" panose="02010609060101010101" pitchFamily="49" charset="-122"/>
              <a:ea typeface="黑体" panose="02010609060101010101" pitchFamily="49" charset="-122"/>
            </a:endParaRPr>
          </a:p>
          <a:p>
            <a:r>
              <a:rPr lang="zh-CN" altLang="en-US" sz="2000" b="1" dirty="0">
                <a:latin typeface="+mn-ea"/>
              </a:rPr>
              <a:t>   可用于本过程的人际关系与团队技能，包括</a:t>
            </a:r>
            <a:endParaRPr lang="en-US" altLang="zh-CN" sz="2000" b="1" dirty="0">
              <a:latin typeface="+mn-ea"/>
            </a:endParaRPr>
          </a:p>
          <a:p>
            <a:r>
              <a:rPr lang="zh-CN" altLang="en-US" sz="2000" b="1" i="0" u="none" strike="noStrike" baseline="0" dirty="0">
                <a:latin typeface="SourceHanSansSC-Bold"/>
              </a:rPr>
              <a:t>      </a:t>
            </a:r>
            <a:r>
              <a:rPr lang="zh-CN" altLang="en-US" sz="2000" b="1" i="0" u="none" strike="noStrike" baseline="0" dirty="0">
                <a:solidFill>
                  <a:srgbClr val="C00000"/>
                </a:solidFill>
                <a:latin typeface="SourceHanSansSC-Bold"/>
              </a:rPr>
              <a:t>极倾听</a:t>
            </a:r>
            <a:r>
              <a:rPr lang="zh-CN" altLang="en-US" sz="2000" dirty="0">
                <a:solidFill>
                  <a:srgbClr val="C00000"/>
                </a:solidFill>
                <a:latin typeface="SourceHanSansSC-Regular"/>
              </a:rPr>
              <a:t>，</a:t>
            </a:r>
            <a:r>
              <a:rPr lang="zh-CN" altLang="en-US" sz="2000" b="1" i="0" u="none" strike="noStrike" baseline="0" dirty="0">
                <a:solidFill>
                  <a:srgbClr val="C00000"/>
                </a:solidFill>
                <a:latin typeface="SourceHanSansSC-Bold"/>
              </a:rPr>
              <a:t>引导，领导力，人际交往，政治意识，</a:t>
            </a:r>
            <a:r>
              <a:rPr lang="en-US" altLang="zh-CN" sz="2000" b="1" i="0" u="none" strike="noStrike" baseline="0" dirty="0">
                <a:solidFill>
                  <a:srgbClr val="C00000"/>
                </a:solidFill>
                <a:latin typeface="SourceHanSansSC-Bold"/>
              </a:rPr>
              <a:t>……</a:t>
            </a:r>
            <a:endParaRPr lang="en-US" altLang="zh-CN" sz="2000" b="1" dirty="0">
              <a:solidFill>
                <a:srgbClr val="C00000"/>
              </a:solidFill>
              <a:latin typeface="+mn-ea"/>
            </a:endParaRPr>
          </a:p>
        </p:txBody>
      </p:sp>
    </p:spTree>
    <p:extLst>
      <p:ext uri="{BB962C8B-B14F-4D97-AF65-F5344CB8AC3E}">
        <p14:creationId xmlns:p14="http://schemas.microsoft.com/office/powerpoint/2010/main" val="166519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DC17C-DEC2-4C9B-8085-A6DB04766E9D}"/>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C2DFE5C-2F98-45BA-92F2-EADBFDC1C848}"/>
              </a:ext>
            </a:extLst>
          </p:cNvPr>
          <p:cNvSpPr txBox="1"/>
          <p:nvPr/>
        </p:nvSpPr>
        <p:spPr>
          <a:xfrm>
            <a:off x="804672" y="1201479"/>
            <a:ext cx="10619232" cy="2185214"/>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管理项目知识的输出：</a:t>
            </a:r>
            <a:endParaRPr lang="en-US" altLang="zh-CN" sz="2400" dirty="0">
              <a:latin typeface="黑体" panose="02010609060101010101" pitchFamily="49" charset="-122"/>
              <a:ea typeface="黑体" panose="02010609060101010101" pitchFamily="49" charset="-122"/>
            </a:endParaRPr>
          </a:p>
          <a:p>
            <a:r>
              <a:rPr lang="zh-CN" altLang="en-US" sz="2400" dirty="0">
                <a:solidFill>
                  <a:srgbClr val="0B02BE"/>
                </a:solidFill>
                <a:latin typeface="黑体" panose="02010609060101010101" pitchFamily="49" charset="-122"/>
                <a:ea typeface="黑体" panose="02010609060101010101" pitchFamily="49" charset="-122"/>
              </a:rPr>
              <a:t>经验教训登记册</a:t>
            </a:r>
            <a:endParaRPr lang="en-US" altLang="zh-CN" sz="2400" dirty="0">
              <a:solidFill>
                <a:srgbClr val="0B02BE"/>
              </a:solidFill>
              <a:latin typeface="黑体" panose="02010609060101010101" pitchFamily="49" charset="-122"/>
              <a:ea typeface="黑体" panose="02010609060101010101" pitchFamily="49" charset="-122"/>
            </a:endParaRPr>
          </a:p>
          <a:p>
            <a:r>
              <a:rPr lang="zh-CN" altLang="en-US" sz="2000" b="1" dirty="0">
                <a:latin typeface="+mn-ea"/>
              </a:rPr>
              <a:t>  包含情况的类别和描述，经验教训登记册还可包括与情况相关的影响、建议和行动方案。</a:t>
            </a:r>
            <a:endParaRPr lang="en-US" altLang="zh-CN" sz="2000" b="1" dirty="0">
              <a:latin typeface="+mn-ea"/>
            </a:endParaRPr>
          </a:p>
          <a:p>
            <a:r>
              <a:rPr lang="zh-CN" altLang="en-US" sz="2000" b="1" dirty="0">
                <a:latin typeface="+mn-ea"/>
              </a:rPr>
              <a:t>  经验教训登记册可以记录遇到的挑战、问题、意识到的风险和机会，或其他适用的内容。</a:t>
            </a:r>
            <a:endParaRPr lang="en-US" altLang="zh-CN" sz="2000" b="1" dirty="0">
              <a:latin typeface="+mn-ea"/>
            </a:endParaRPr>
          </a:p>
          <a:p>
            <a:r>
              <a:rPr lang="zh-CN" altLang="en-US" sz="2400" dirty="0">
                <a:solidFill>
                  <a:srgbClr val="0B02BE"/>
                </a:solidFill>
                <a:latin typeface="黑体" panose="02010609060101010101" pitchFamily="49" charset="-122"/>
                <a:ea typeface="黑体" panose="02010609060101010101" pitchFamily="49" charset="-122"/>
              </a:rPr>
              <a:t>项目管理计划更新</a:t>
            </a:r>
          </a:p>
          <a:p>
            <a:r>
              <a:rPr lang="zh-CN" altLang="en-US" sz="2400" dirty="0">
                <a:solidFill>
                  <a:srgbClr val="0B02BE"/>
                </a:solidFill>
                <a:latin typeface="黑体" panose="02010609060101010101" pitchFamily="49" charset="-122"/>
                <a:ea typeface="黑体" panose="02010609060101010101" pitchFamily="49" charset="-122"/>
              </a:rPr>
              <a:t>组织过程资产更新</a:t>
            </a:r>
            <a:endParaRPr lang="en-US" altLang="zh-CN" sz="2400" dirty="0">
              <a:solidFill>
                <a:srgbClr val="0B02BE"/>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705719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10.6 </a:t>
            </a:r>
            <a:r>
              <a:rPr lang="zh-CN" altLang="en-US" dirty="0"/>
              <a:t>监控项目工作</a:t>
            </a:r>
          </a:p>
        </p:txBody>
      </p:sp>
      <p:sp>
        <p:nvSpPr>
          <p:cNvPr id="3" name="内容占位符 2"/>
          <p:cNvSpPr txBox="1"/>
          <p:nvPr/>
        </p:nvSpPr>
        <p:spPr>
          <a:xfrm>
            <a:off x="494139" y="1337916"/>
            <a:ext cx="10977562" cy="395341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x-none" altLang="zh-CN" sz="2400" b="1" dirty="0">
                <a:latin typeface="微软雅黑" panose="020B0503020204020204" pitchFamily="34" charset="-122"/>
                <a:ea typeface="微软雅黑" panose="020B0503020204020204" pitchFamily="34" charset="-122"/>
                <a:cs typeface="Times New Roman" panose="02020603050405020304" pitchFamily="18" charset="0"/>
              </a:rPr>
              <a:t>项目整合计划的监督与控制工作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876300" indent="-342900">
              <a:lnSpc>
                <a:spcPct val="100000"/>
              </a:lnSpc>
              <a:spcBef>
                <a:spcPts val="600"/>
              </a:spcBef>
              <a:spcAft>
                <a:spcPts val="600"/>
              </a:spcAft>
              <a:buFont typeface="Wingdings" panose="05000000000000000000" pitchFamily="2" charset="2"/>
              <a:buChar char="u"/>
              <a:defRPr/>
            </a:pPr>
            <a:r>
              <a:rPr lang="zh-CN" altLang="en-US" sz="2400" kern="0" dirty="0">
                <a:latin typeface="微软雅黑" panose="020B0503020204020204" pitchFamily="34" charset="-122"/>
                <a:ea typeface="微软雅黑" panose="020B0503020204020204" pitchFamily="34" charset="-122"/>
              </a:rPr>
              <a:t>监控项目工作是跟踪、审查和调整项目进展，以实现项目管理计划中确定的</a:t>
            </a:r>
            <a:r>
              <a:rPr lang="zh-CN" altLang="en-US" sz="2400" kern="0" dirty="0">
                <a:solidFill>
                  <a:srgbClr val="0B02BE"/>
                </a:solidFill>
                <a:latin typeface="微软雅黑" panose="020B0503020204020204" pitchFamily="34" charset="-122"/>
                <a:ea typeface="微软雅黑" panose="020B0503020204020204" pitchFamily="34" charset="-122"/>
              </a:rPr>
              <a:t>绩效目标</a:t>
            </a:r>
            <a:r>
              <a:rPr lang="zh-CN" altLang="en-US" sz="2400" kern="0" dirty="0">
                <a:latin typeface="微软雅黑" panose="020B0503020204020204" pitchFamily="34" charset="-122"/>
                <a:ea typeface="微软雅黑" panose="020B0503020204020204" pitchFamily="34" charset="-122"/>
              </a:rPr>
              <a:t>的过程。</a:t>
            </a:r>
            <a:endParaRPr lang="en-US" altLang="zh-CN" sz="2400" kern="0" dirty="0">
              <a:latin typeface="微软雅黑" panose="020B0503020204020204" pitchFamily="34" charset="-122"/>
              <a:ea typeface="微软雅黑" panose="020B0503020204020204" pitchFamily="34" charset="-122"/>
            </a:endParaRPr>
          </a:p>
          <a:p>
            <a:pPr marL="1333500" lvl="1" indent="-342900">
              <a:lnSpc>
                <a:spcPct val="100000"/>
              </a:lnSpc>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监督包括</a:t>
            </a:r>
            <a:r>
              <a:rPr lang="zh-CN" altLang="en-US" kern="0" dirty="0">
                <a:solidFill>
                  <a:srgbClr val="0B02BE"/>
                </a:solidFill>
                <a:latin typeface="微软雅黑" panose="020B0503020204020204" pitchFamily="34" charset="-122"/>
                <a:ea typeface="微软雅黑" panose="020B0503020204020204" pitchFamily="34" charset="-122"/>
              </a:rPr>
              <a:t>收集、衡量和发布绩效信息，分析测量结果和预测趋势</a:t>
            </a:r>
            <a:r>
              <a:rPr lang="zh-CN" altLang="en-US" kern="0" dirty="0">
                <a:latin typeface="微软雅黑" panose="020B0503020204020204" pitchFamily="34" charset="-122"/>
                <a:ea typeface="微软雅黑" panose="020B0503020204020204" pitchFamily="34" charset="-122"/>
              </a:rPr>
              <a:t>，以便推动过程改进。</a:t>
            </a:r>
            <a:endParaRPr lang="en-US" altLang="zh-CN" kern="0" dirty="0">
              <a:latin typeface="微软雅黑" panose="020B0503020204020204" pitchFamily="34" charset="-122"/>
              <a:ea typeface="微软雅黑" panose="020B0503020204020204" pitchFamily="34" charset="-122"/>
            </a:endParaRPr>
          </a:p>
          <a:p>
            <a:pPr marL="1790700" lvl="2" indent="-342900">
              <a:lnSpc>
                <a:spcPct val="100000"/>
              </a:lnSpc>
              <a:spcBef>
                <a:spcPts val="600"/>
              </a:spcBef>
              <a:spcAft>
                <a:spcPts val="600"/>
              </a:spcAft>
              <a:buFont typeface="Wingdings" panose="05000000000000000000" pitchFamily="2" charset="2"/>
              <a:buChar char="u"/>
              <a:defRPr/>
            </a:pPr>
            <a:r>
              <a:rPr lang="zh-CN" altLang="en-US" b="1" kern="0" dirty="0">
                <a:latin typeface="微软雅黑" panose="020B0503020204020204" pitchFamily="34" charset="-122"/>
                <a:ea typeface="微软雅黑" panose="020B0503020204020204" pitchFamily="34" charset="-122"/>
              </a:rPr>
              <a:t>持续的监督使项目管理团队能洞察项目的健康状况，并识别需特别关注的任何方面。</a:t>
            </a:r>
            <a:endParaRPr lang="en-US" altLang="zh-CN" b="1" kern="0" dirty="0">
              <a:latin typeface="微软雅黑" panose="020B0503020204020204" pitchFamily="34" charset="-122"/>
              <a:ea typeface="微软雅黑" panose="020B0503020204020204" pitchFamily="34" charset="-122"/>
            </a:endParaRPr>
          </a:p>
          <a:p>
            <a:pPr marL="1333500" lvl="1" indent="-342900">
              <a:lnSpc>
                <a:spcPct val="100000"/>
              </a:lnSpc>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控制包括</a:t>
            </a:r>
            <a:r>
              <a:rPr lang="zh-CN" altLang="en-US" kern="0" dirty="0">
                <a:solidFill>
                  <a:srgbClr val="0B02BE"/>
                </a:solidFill>
                <a:latin typeface="微软雅黑" panose="020B0503020204020204" pitchFamily="34" charset="-122"/>
                <a:ea typeface="微软雅黑" panose="020B0503020204020204" pitchFamily="34" charset="-122"/>
              </a:rPr>
              <a:t>制定纠正或预防措施或进行重新规划，并跟踪行动计划的实施过程</a:t>
            </a:r>
            <a:r>
              <a:rPr lang="zh-CN" altLang="en-US" kern="0" dirty="0">
                <a:latin typeface="微软雅黑" panose="020B0503020204020204" pitchFamily="34" charset="-122"/>
                <a:ea typeface="微软雅黑" panose="020B0503020204020204" pitchFamily="34" charset="-122"/>
              </a:rPr>
              <a:t>，以确保它们能有效解决问题。 </a:t>
            </a: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mc:AlternateContent xmlns:mc="http://schemas.openxmlformats.org/markup-compatibility/2006" xmlns:pslz="http://schemas.microsoft.com/office/powerpoint/2016/slidezoom">
        <mc:Choice Requires="pslz">
          <p:graphicFrame>
            <p:nvGraphicFramePr>
              <p:cNvPr id="4" name="幻灯片缩放定位 3">
                <a:extLst>
                  <a:ext uri="{FF2B5EF4-FFF2-40B4-BE49-F238E27FC236}">
                    <a16:creationId xmlns:a16="http://schemas.microsoft.com/office/drawing/2014/main" id="{BC5E0167-D19D-4FB2-B9AE-BBB6A6B01106}"/>
                  </a:ext>
                </a:extLst>
              </p:cNvPr>
              <p:cNvGraphicFramePr>
                <a:graphicFrameLocks noChangeAspect="1"/>
              </p:cNvGraphicFramePr>
              <p:nvPr>
                <p:extLst>
                  <p:ext uri="{D42A27DB-BD31-4B8C-83A1-F6EECF244321}">
                    <p14:modId xmlns:p14="http://schemas.microsoft.com/office/powerpoint/2010/main" val="3029847735"/>
                  </p:ext>
                </p:extLst>
              </p:nvPr>
            </p:nvGraphicFramePr>
            <p:xfrm>
              <a:off x="8649861" y="4806898"/>
              <a:ext cx="3048000" cy="1714500"/>
            </p:xfrm>
            <a:graphic>
              <a:graphicData uri="http://schemas.microsoft.com/office/powerpoint/2016/slidezoom">
                <pslz:sldZm>
                  <pslz:sldZmObj sldId="447" cId="3828965667">
                    <pslz:zmPr id="{5A7D6ACC-4F32-41AC-9331-73B78877EE1F}"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4" name="幻灯片缩放定位 3">
                <a:hlinkClick r:id="rId4" action="ppaction://hlinksldjump"/>
                <a:extLst>
                  <a:ext uri="{FF2B5EF4-FFF2-40B4-BE49-F238E27FC236}">
                    <a16:creationId xmlns:a16="http://schemas.microsoft.com/office/drawing/2014/main" id="{BC5E0167-D19D-4FB2-B9AE-BBB6A6B01106}"/>
                  </a:ext>
                </a:extLst>
              </p:cNvPr>
              <p:cNvPicPr>
                <a:picLocks noGrp="1" noRot="1" noChangeAspect="1" noMove="1" noResize="1" noEditPoints="1" noAdjustHandles="1" noChangeArrowheads="1" noChangeShapeType="1"/>
              </p:cNvPicPr>
              <p:nvPr/>
            </p:nvPicPr>
            <p:blipFill>
              <a:blip r:embed="rId5"/>
              <a:stretch>
                <a:fillRect/>
              </a:stretch>
            </p:blipFill>
            <p:spPr>
              <a:xfrm>
                <a:off x="8649861" y="4806898"/>
                <a:ext cx="3048000" cy="1714500"/>
              </a:xfrm>
              <a:prstGeom prst="rect">
                <a:avLst/>
              </a:prstGeom>
              <a:ln w="3175">
                <a:solidFill>
                  <a:prstClr val="ltGray"/>
                </a:solidFill>
              </a:ln>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1402A-8AD8-44E5-B905-C6DD4D1B1EED}"/>
              </a:ext>
            </a:extLst>
          </p:cNvPr>
          <p:cNvSpPr>
            <a:spLocks noGrp="1"/>
          </p:cNvSpPr>
          <p:nvPr>
            <p:ph type="title"/>
          </p:nvPr>
        </p:nvSpPr>
        <p:spPr>
          <a:xfrm>
            <a:off x="555218" y="579296"/>
            <a:ext cx="10972800" cy="437186"/>
          </a:xfrm>
        </p:spPr>
        <p:txBody>
          <a:bodyPr/>
          <a:lstStyle/>
          <a:p>
            <a:r>
              <a:rPr lang="en-US" altLang="zh-CN" dirty="0"/>
              <a:t>10.6 </a:t>
            </a:r>
            <a:r>
              <a:rPr lang="zh-CN" altLang="en-US" dirty="0"/>
              <a:t>监控项目工作</a:t>
            </a:r>
          </a:p>
        </p:txBody>
      </p:sp>
      <p:sp>
        <p:nvSpPr>
          <p:cNvPr id="49" name="Rectangle 2">
            <a:extLst>
              <a:ext uri="{FF2B5EF4-FFF2-40B4-BE49-F238E27FC236}">
                <a16:creationId xmlns:a16="http://schemas.microsoft.com/office/drawing/2014/main" id="{CED85BC3-3C19-410A-B951-EAB3FC48B796}"/>
              </a:ext>
            </a:extLst>
          </p:cNvPr>
          <p:cNvSpPr txBox="1">
            <a:spLocks noChangeArrowheads="1"/>
          </p:cNvSpPr>
          <p:nvPr/>
        </p:nvSpPr>
        <p:spPr bwMode="auto">
          <a:xfrm>
            <a:off x="794417" y="587642"/>
            <a:ext cx="3180175"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FF0000"/>
                </a:solidFill>
                <a:latin typeface="微软雅黑" panose="020B0503020204020204" pitchFamily="34" charset="-122"/>
                <a:ea typeface="微软雅黑" panose="020B0503020204020204" pitchFamily="34" charset="-122"/>
              </a:rPr>
              <a:t>监控过程组</a:t>
            </a:r>
          </a:p>
        </p:txBody>
      </p:sp>
      <p:sp>
        <p:nvSpPr>
          <p:cNvPr id="50" name="Oval 4">
            <a:extLst>
              <a:ext uri="{FF2B5EF4-FFF2-40B4-BE49-F238E27FC236}">
                <a16:creationId xmlns:a16="http://schemas.microsoft.com/office/drawing/2014/main" id="{542FB3DB-3694-45D0-8F13-0898862DFDB6}"/>
              </a:ext>
            </a:extLst>
          </p:cNvPr>
          <p:cNvSpPr>
            <a:spLocks noChangeArrowheads="1"/>
          </p:cNvSpPr>
          <p:nvPr/>
        </p:nvSpPr>
        <p:spPr bwMode="auto">
          <a:xfrm>
            <a:off x="4302001" y="2384425"/>
            <a:ext cx="2274123" cy="3536950"/>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51" name="AutoShape 7">
            <a:extLst>
              <a:ext uri="{FF2B5EF4-FFF2-40B4-BE49-F238E27FC236}">
                <a16:creationId xmlns:a16="http://schemas.microsoft.com/office/drawing/2014/main" id="{1A1B52E9-009C-46D6-86D3-DF4E67B104EB}"/>
              </a:ext>
            </a:extLst>
          </p:cNvPr>
          <p:cNvSpPr>
            <a:spLocks noChangeArrowheads="1"/>
          </p:cNvSpPr>
          <p:nvPr/>
        </p:nvSpPr>
        <p:spPr bwMode="auto">
          <a:xfrm>
            <a:off x="4442524" y="2949575"/>
            <a:ext cx="1981200" cy="24384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600" b="1">
              <a:solidFill>
                <a:srgbClr val="FF6600"/>
              </a:solidFill>
              <a:ea typeface="黑体" panose="02010609060101010101" pitchFamily="49" charset="-122"/>
            </a:endParaRPr>
          </a:p>
        </p:txBody>
      </p:sp>
      <p:sp>
        <p:nvSpPr>
          <p:cNvPr id="52" name="AutoShape 5">
            <a:extLst>
              <a:ext uri="{FF2B5EF4-FFF2-40B4-BE49-F238E27FC236}">
                <a16:creationId xmlns:a16="http://schemas.microsoft.com/office/drawing/2014/main" id="{D210D5F2-F1ED-4EB1-9A1F-BFEC2445A87F}"/>
              </a:ext>
            </a:extLst>
          </p:cNvPr>
          <p:cNvSpPr>
            <a:spLocks noChangeArrowheads="1"/>
          </p:cNvSpPr>
          <p:nvPr/>
        </p:nvSpPr>
        <p:spPr bwMode="auto">
          <a:xfrm>
            <a:off x="4594924" y="3254375"/>
            <a:ext cx="1676400" cy="6858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4.5</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监控项目工作</a:t>
            </a:r>
          </a:p>
        </p:txBody>
      </p:sp>
      <p:sp>
        <p:nvSpPr>
          <p:cNvPr id="53" name="Text Box 6">
            <a:extLst>
              <a:ext uri="{FF2B5EF4-FFF2-40B4-BE49-F238E27FC236}">
                <a16:creationId xmlns:a16="http://schemas.microsoft.com/office/drawing/2014/main" id="{C51D6D34-08EC-4F1C-A4B3-C1AE8A649CDE}"/>
              </a:ext>
            </a:extLst>
          </p:cNvPr>
          <p:cNvSpPr txBox="1">
            <a:spLocks noChangeArrowheads="1"/>
          </p:cNvSpPr>
          <p:nvPr/>
        </p:nvSpPr>
        <p:spPr bwMode="auto">
          <a:xfrm>
            <a:off x="4747324" y="2917825"/>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FFFF"/>
                </a:solidFill>
                <a:ea typeface="黑体" panose="02010609060101010101" pitchFamily="49" charset="-122"/>
              </a:rPr>
              <a:t>项目整体管理</a:t>
            </a:r>
          </a:p>
        </p:txBody>
      </p:sp>
      <p:sp>
        <p:nvSpPr>
          <p:cNvPr id="54" name="AutoShape 8">
            <a:extLst>
              <a:ext uri="{FF2B5EF4-FFF2-40B4-BE49-F238E27FC236}">
                <a16:creationId xmlns:a16="http://schemas.microsoft.com/office/drawing/2014/main" id="{EED726AE-337E-4BDE-A71E-EB7C21179B67}"/>
              </a:ext>
            </a:extLst>
          </p:cNvPr>
          <p:cNvSpPr>
            <a:spLocks noChangeArrowheads="1"/>
          </p:cNvSpPr>
          <p:nvPr/>
        </p:nvSpPr>
        <p:spPr bwMode="auto">
          <a:xfrm>
            <a:off x="4594924" y="4397375"/>
            <a:ext cx="1676400" cy="6858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4.6</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实施整体变更控制</a:t>
            </a:r>
          </a:p>
        </p:txBody>
      </p:sp>
      <p:sp>
        <p:nvSpPr>
          <p:cNvPr id="55" name="AutoShape 9">
            <a:extLst>
              <a:ext uri="{FF2B5EF4-FFF2-40B4-BE49-F238E27FC236}">
                <a16:creationId xmlns:a16="http://schemas.microsoft.com/office/drawing/2014/main" id="{D6BEF4FD-124D-491A-8007-F695F113FEAC}"/>
              </a:ext>
            </a:extLst>
          </p:cNvPr>
          <p:cNvSpPr>
            <a:spLocks noChangeArrowheads="1"/>
          </p:cNvSpPr>
          <p:nvPr/>
        </p:nvSpPr>
        <p:spPr bwMode="auto">
          <a:xfrm>
            <a:off x="1242124" y="1196975"/>
            <a:ext cx="1524000" cy="1882775"/>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56" name="AutoShape 10">
            <a:extLst>
              <a:ext uri="{FF2B5EF4-FFF2-40B4-BE49-F238E27FC236}">
                <a16:creationId xmlns:a16="http://schemas.microsoft.com/office/drawing/2014/main" id="{CCA64632-8ED6-4E6F-A4E1-70FA109E6EA1}"/>
              </a:ext>
            </a:extLst>
          </p:cNvPr>
          <p:cNvSpPr>
            <a:spLocks noChangeArrowheads="1"/>
          </p:cNvSpPr>
          <p:nvPr/>
        </p:nvSpPr>
        <p:spPr bwMode="auto">
          <a:xfrm>
            <a:off x="1470724" y="1577975"/>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5.5</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确认范围</a:t>
            </a:r>
          </a:p>
        </p:txBody>
      </p:sp>
      <p:sp>
        <p:nvSpPr>
          <p:cNvPr id="57" name="AutoShape 11">
            <a:extLst>
              <a:ext uri="{FF2B5EF4-FFF2-40B4-BE49-F238E27FC236}">
                <a16:creationId xmlns:a16="http://schemas.microsoft.com/office/drawing/2014/main" id="{9BEB2969-9BFD-4C5A-A1B3-DA19867C916F}"/>
              </a:ext>
            </a:extLst>
          </p:cNvPr>
          <p:cNvSpPr>
            <a:spLocks noChangeArrowheads="1"/>
          </p:cNvSpPr>
          <p:nvPr/>
        </p:nvSpPr>
        <p:spPr bwMode="auto">
          <a:xfrm>
            <a:off x="1470724" y="2263775"/>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5.6</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控制范围</a:t>
            </a:r>
          </a:p>
        </p:txBody>
      </p:sp>
      <p:sp>
        <p:nvSpPr>
          <p:cNvPr id="58" name="Line 12">
            <a:extLst>
              <a:ext uri="{FF2B5EF4-FFF2-40B4-BE49-F238E27FC236}">
                <a16:creationId xmlns:a16="http://schemas.microsoft.com/office/drawing/2014/main" id="{4DC2FECD-2B2C-4CCE-911F-EADB7C9796C9}"/>
              </a:ext>
            </a:extLst>
          </p:cNvPr>
          <p:cNvSpPr>
            <a:spLocks noChangeShapeType="1"/>
          </p:cNvSpPr>
          <p:nvPr/>
        </p:nvSpPr>
        <p:spPr bwMode="auto">
          <a:xfrm>
            <a:off x="2004124" y="2035175"/>
            <a:ext cx="0" cy="2286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9" name="Text Box 13">
            <a:extLst>
              <a:ext uri="{FF2B5EF4-FFF2-40B4-BE49-F238E27FC236}">
                <a16:creationId xmlns:a16="http://schemas.microsoft.com/office/drawing/2014/main" id="{8E96A135-BAD3-44B4-B922-0A08031D6E7C}"/>
              </a:ext>
            </a:extLst>
          </p:cNvPr>
          <p:cNvSpPr txBox="1">
            <a:spLocks noChangeArrowheads="1"/>
          </p:cNvSpPr>
          <p:nvPr/>
        </p:nvSpPr>
        <p:spPr bwMode="auto">
          <a:xfrm>
            <a:off x="1318324" y="1196975"/>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FFFF"/>
                </a:solidFill>
                <a:ea typeface="黑体" panose="02010609060101010101" pitchFamily="49" charset="-122"/>
              </a:rPr>
              <a:t>项目范围管理</a:t>
            </a:r>
          </a:p>
        </p:txBody>
      </p:sp>
      <p:sp>
        <p:nvSpPr>
          <p:cNvPr id="60" name="AutoShape 14">
            <a:extLst>
              <a:ext uri="{FF2B5EF4-FFF2-40B4-BE49-F238E27FC236}">
                <a16:creationId xmlns:a16="http://schemas.microsoft.com/office/drawing/2014/main" id="{686AC55F-4CDA-4E86-BE94-59213394EE62}"/>
              </a:ext>
            </a:extLst>
          </p:cNvPr>
          <p:cNvSpPr>
            <a:spLocks noChangeArrowheads="1"/>
          </p:cNvSpPr>
          <p:nvPr/>
        </p:nvSpPr>
        <p:spPr bwMode="auto">
          <a:xfrm>
            <a:off x="3098372" y="1153814"/>
            <a:ext cx="1828800" cy="1219200"/>
          </a:xfrm>
          <a:prstGeom prst="roundRect">
            <a:avLst>
              <a:gd name="adj"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61" name="AutoShape 15">
            <a:extLst>
              <a:ext uri="{FF2B5EF4-FFF2-40B4-BE49-F238E27FC236}">
                <a16:creationId xmlns:a16="http://schemas.microsoft.com/office/drawing/2014/main" id="{C2F721C0-4F21-4D58-9AEE-208E06624B21}"/>
              </a:ext>
            </a:extLst>
          </p:cNvPr>
          <p:cNvSpPr>
            <a:spLocks noChangeArrowheads="1"/>
          </p:cNvSpPr>
          <p:nvPr/>
        </p:nvSpPr>
        <p:spPr bwMode="auto">
          <a:xfrm>
            <a:off x="3326972" y="1611014"/>
            <a:ext cx="1447800" cy="5334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a:solidFill>
                  <a:srgbClr val="000000"/>
                </a:solidFill>
                <a:ea typeface="幼圆" panose="02010509060101010101" pitchFamily="49" charset="-122"/>
              </a:rPr>
              <a:t>6.6</a:t>
            </a:r>
          </a:p>
          <a:p>
            <a:pPr algn="ctr" eaLnBrk="1" fontAlgn="auto" hangingPunct="1">
              <a:spcBef>
                <a:spcPts val="0"/>
              </a:spcBef>
              <a:spcAft>
                <a:spcPts val="0"/>
              </a:spcAft>
              <a:defRPr/>
            </a:pPr>
            <a:r>
              <a:rPr lang="zh-CN" altLang="en-US" sz="1200" kern="0">
                <a:solidFill>
                  <a:srgbClr val="000000"/>
                </a:solidFill>
                <a:ea typeface="幼圆" panose="02010509060101010101" pitchFamily="49" charset="-122"/>
              </a:rPr>
              <a:t>控制进度</a:t>
            </a:r>
          </a:p>
        </p:txBody>
      </p:sp>
      <p:sp>
        <p:nvSpPr>
          <p:cNvPr id="62" name="Text Box 16">
            <a:extLst>
              <a:ext uri="{FF2B5EF4-FFF2-40B4-BE49-F238E27FC236}">
                <a16:creationId xmlns:a16="http://schemas.microsoft.com/office/drawing/2014/main" id="{8A8B4B3C-A500-4575-AF30-7560F6B2A6F0}"/>
              </a:ext>
            </a:extLst>
          </p:cNvPr>
          <p:cNvSpPr txBox="1">
            <a:spLocks noChangeArrowheads="1"/>
          </p:cNvSpPr>
          <p:nvPr/>
        </p:nvSpPr>
        <p:spPr bwMode="auto">
          <a:xfrm>
            <a:off x="3326972" y="1230014"/>
            <a:ext cx="160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项目进度管理</a:t>
            </a:r>
          </a:p>
        </p:txBody>
      </p:sp>
      <p:sp>
        <p:nvSpPr>
          <p:cNvPr id="63" name="AutoShape 17">
            <a:extLst>
              <a:ext uri="{FF2B5EF4-FFF2-40B4-BE49-F238E27FC236}">
                <a16:creationId xmlns:a16="http://schemas.microsoft.com/office/drawing/2014/main" id="{CC716517-B766-4B7A-A872-50D3BF9158D1}"/>
              </a:ext>
            </a:extLst>
          </p:cNvPr>
          <p:cNvSpPr>
            <a:spLocks noChangeArrowheads="1"/>
          </p:cNvSpPr>
          <p:nvPr/>
        </p:nvSpPr>
        <p:spPr bwMode="auto">
          <a:xfrm>
            <a:off x="6075666" y="1213231"/>
            <a:ext cx="1600200" cy="1219200"/>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64" name="AutoShape 18">
            <a:extLst>
              <a:ext uri="{FF2B5EF4-FFF2-40B4-BE49-F238E27FC236}">
                <a16:creationId xmlns:a16="http://schemas.microsoft.com/office/drawing/2014/main" id="{AC2DA9D4-C666-475B-8C6D-858F3FF51743}"/>
              </a:ext>
            </a:extLst>
          </p:cNvPr>
          <p:cNvSpPr>
            <a:spLocks noChangeArrowheads="1"/>
          </p:cNvSpPr>
          <p:nvPr/>
        </p:nvSpPr>
        <p:spPr bwMode="auto">
          <a:xfrm>
            <a:off x="6304266" y="1670431"/>
            <a:ext cx="1219200" cy="5334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7.4</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控制成本</a:t>
            </a:r>
          </a:p>
        </p:txBody>
      </p:sp>
      <p:sp>
        <p:nvSpPr>
          <p:cNvPr id="65" name="Text Box 19">
            <a:extLst>
              <a:ext uri="{FF2B5EF4-FFF2-40B4-BE49-F238E27FC236}">
                <a16:creationId xmlns:a16="http://schemas.microsoft.com/office/drawing/2014/main" id="{A90C1A3D-2B3A-48C1-B2B7-7B2C965517EB}"/>
              </a:ext>
            </a:extLst>
          </p:cNvPr>
          <p:cNvSpPr txBox="1">
            <a:spLocks noChangeArrowheads="1"/>
          </p:cNvSpPr>
          <p:nvPr/>
        </p:nvSpPr>
        <p:spPr bwMode="auto">
          <a:xfrm>
            <a:off x="6151866" y="1213231"/>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项目成本管理</a:t>
            </a:r>
          </a:p>
        </p:txBody>
      </p:sp>
      <p:sp>
        <p:nvSpPr>
          <p:cNvPr id="66" name="AutoShape 20">
            <a:extLst>
              <a:ext uri="{FF2B5EF4-FFF2-40B4-BE49-F238E27FC236}">
                <a16:creationId xmlns:a16="http://schemas.microsoft.com/office/drawing/2014/main" id="{150484F4-5B33-4604-A3FC-70B41EEEAEDC}"/>
              </a:ext>
            </a:extLst>
          </p:cNvPr>
          <p:cNvSpPr>
            <a:spLocks noChangeArrowheads="1"/>
          </p:cNvSpPr>
          <p:nvPr/>
        </p:nvSpPr>
        <p:spPr bwMode="auto">
          <a:xfrm>
            <a:off x="8277924" y="1365250"/>
            <a:ext cx="1524000"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67" name="AutoShape 21">
            <a:extLst>
              <a:ext uri="{FF2B5EF4-FFF2-40B4-BE49-F238E27FC236}">
                <a16:creationId xmlns:a16="http://schemas.microsoft.com/office/drawing/2014/main" id="{4753D39C-C284-4402-9D80-C8171284C21F}"/>
              </a:ext>
            </a:extLst>
          </p:cNvPr>
          <p:cNvSpPr>
            <a:spLocks noChangeArrowheads="1"/>
          </p:cNvSpPr>
          <p:nvPr/>
        </p:nvSpPr>
        <p:spPr bwMode="auto">
          <a:xfrm>
            <a:off x="8506524" y="1746250"/>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a:solidFill>
                  <a:srgbClr val="000000"/>
                </a:solidFill>
                <a:ea typeface="幼圆" panose="02010509060101010101" pitchFamily="49" charset="-122"/>
              </a:rPr>
              <a:t>8.3</a:t>
            </a:r>
          </a:p>
          <a:p>
            <a:pPr algn="ctr" eaLnBrk="1" fontAlgn="auto" hangingPunct="1">
              <a:spcBef>
                <a:spcPts val="0"/>
              </a:spcBef>
              <a:spcAft>
                <a:spcPts val="0"/>
              </a:spcAft>
              <a:defRPr/>
            </a:pPr>
            <a:r>
              <a:rPr lang="zh-CN" altLang="en-US" sz="1200" kern="0">
                <a:solidFill>
                  <a:srgbClr val="000000"/>
                </a:solidFill>
                <a:ea typeface="幼圆" panose="02010509060101010101" pitchFamily="49" charset="-122"/>
              </a:rPr>
              <a:t>控制质量</a:t>
            </a:r>
          </a:p>
        </p:txBody>
      </p:sp>
      <p:sp>
        <p:nvSpPr>
          <p:cNvPr id="68" name="Text Box 22">
            <a:extLst>
              <a:ext uri="{FF2B5EF4-FFF2-40B4-BE49-F238E27FC236}">
                <a16:creationId xmlns:a16="http://schemas.microsoft.com/office/drawing/2014/main" id="{0232CCAF-D68E-42C4-93C4-529B3A2B3731}"/>
              </a:ext>
            </a:extLst>
          </p:cNvPr>
          <p:cNvSpPr txBox="1">
            <a:spLocks noChangeArrowheads="1"/>
          </p:cNvSpPr>
          <p:nvPr/>
        </p:nvSpPr>
        <p:spPr bwMode="auto">
          <a:xfrm>
            <a:off x="8354124" y="13652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项目质量管理</a:t>
            </a:r>
          </a:p>
        </p:txBody>
      </p:sp>
      <p:sp>
        <p:nvSpPr>
          <p:cNvPr id="69" name="AutoShape 23">
            <a:extLst>
              <a:ext uri="{FF2B5EF4-FFF2-40B4-BE49-F238E27FC236}">
                <a16:creationId xmlns:a16="http://schemas.microsoft.com/office/drawing/2014/main" id="{773450FB-2B4B-44DB-AC33-226397D3A6A0}"/>
              </a:ext>
            </a:extLst>
          </p:cNvPr>
          <p:cNvSpPr>
            <a:spLocks noChangeArrowheads="1"/>
          </p:cNvSpPr>
          <p:nvPr/>
        </p:nvSpPr>
        <p:spPr bwMode="auto">
          <a:xfrm>
            <a:off x="8343011" y="4062412"/>
            <a:ext cx="1524000" cy="1143000"/>
          </a:xfrm>
          <a:prstGeom prst="roundRect">
            <a:avLst>
              <a:gd name="adj" fmla="val 16667"/>
            </a:avLst>
          </a:prstGeom>
          <a:blipFill dpi="0" rotWithShape="1">
            <a:blip r:embed="rId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0" name="AutoShape 24">
            <a:extLst>
              <a:ext uri="{FF2B5EF4-FFF2-40B4-BE49-F238E27FC236}">
                <a16:creationId xmlns:a16="http://schemas.microsoft.com/office/drawing/2014/main" id="{9CDFB4A6-F0D1-444E-8B6D-68DB8B664E4E}"/>
              </a:ext>
            </a:extLst>
          </p:cNvPr>
          <p:cNvSpPr>
            <a:spLocks noChangeArrowheads="1"/>
          </p:cNvSpPr>
          <p:nvPr/>
        </p:nvSpPr>
        <p:spPr bwMode="auto">
          <a:xfrm>
            <a:off x="8571611" y="4443412"/>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10.3</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监督沟通</a:t>
            </a:r>
          </a:p>
        </p:txBody>
      </p:sp>
      <p:sp>
        <p:nvSpPr>
          <p:cNvPr id="71" name="Text Box 25">
            <a:extLst>
              <a:ext uri="{FF2B5EF4-FFF2-40B4-BE49-F238E27FC236}">
                <a16:creationId xmlns:a16="http://schemas.microsoft.com/office/drawing/2014/main" id="{3F40403B-9805-42CE-86D4-478880553BEB}"/>
              </a:ext>
            </a:extLst>
          </p:cNvPr>
          <p:cNvSpPr txBox="1">
            <a:spLocks noChangeArrowheads="1"/>
          </p:cNvSpPr>
          <p:nvPr/>
        </p:nvSpPr>
        <p:spPr bwMode="auto">
          <a:xfrm>
            <a:off x="8419211" y="4062412"/>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项目沟通管理</a:t>
            </a:r>
          </a:p>
        </p:txBody>
      </p:sp>
      <p:sp>
        <p:nvSpPr>
          <p:cNvPr id="72" name="AutoShape 26">
            <a:extLst>
              <a:ext uri="{FF2B5EF4-FFF2-40B4-BE49-F238E27FC236}">
                <a16:creationId xmlns:a16="http://schemas.microsoft.com/office/drawing/2014/main" id="{07768402-4780-44B6-AFE3-C5F4DA0CCCC6}"/>
              </a:ext>
            </a:extLst>
          </p:cNvPr>
          <p:cNvSpPr>
            <a:spLocks noChangeArrowheads="1"/>
          </p:cNvSpPr>
          <p:nvPr/>
        </p:nvSpPr>
        <p:spPr bwMode="auto">
          <a:xfrm>
            <a:off x="8311483" y="5294571"/>
            <a:ext cx="1752600" cy="1219200"/>
          </a:xfrm>
          <a:prstGeom prst="roundRect">
            <a:avLst>
              <a:gd name="adj" fmla="val 16667"/>
            </a:avLst>
          </a:prstGeom>
          <a:blipFill dpi="0" rotWithShape="1">
            <a:blip r:embed="rId9"/>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3" name="AutoShape 27">
            <a:extLst>
              <a:ext uri="{FF2B5EF4-FFF2-40B4-BE49-F238E27FC236}">
                <a16:creationId xmlns:a16="http://schemas.microsoft.com/office/drawing/2014/main" id="{EB6B8BC1-2EF5-4851-8CFC-5BE9DD8F452B}"/>
              </a:ext>
            </a:extLst>
          </p:cNvPr>
          <p:cNvSpPr>
            <a:spLocks noChangeArrowheads="1"/>
          </p:cNvSpPr>
          <p:nvPr/>
        </p:nvSpPr>
        <p:spPr bwMode="auto">
          <a:xfrm>
            <a:off x="8540083" y="5751771"/>
            <a:ext cx="1266825"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11.7</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监督风险</a:t>
            </a:r>
          </a:p>
        </p:txBody>
      </p:sp>
      <p:sp>
        <p:nvSpPr>
          <p:cNvPr id="74" name="Text Box 28">
            <a:extLst>
              <a:ext uri="{FF2B5EF4-FFF2-40B4-BE49-F238E27FC236}">
                <a16:creationId xmlns:a16="http://schemas.microsoft.com/office/drawing/2014/main" id="{C0E3CBC3-E838-45FF-8A5C-434F035335B7}"/>
              </a:ext>
            </a:extLst>
          </p:cNvPr>
          <p:cNvSpPr txBox="1">
            <a:spLocks noChangeArrowheads="1"/>
          </p:cNvSpPr>
          <p:nvPr/>
        </p:nvSpPr>
        <p:spPr bwMode="auto">
          <a:xfrm>
            <a:off x="8428958" y="5339021"/>
            <a:ext cx="1508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FFFF"/>
                </a:solidFill>
                <a:ea typeface="黑体" panose="02010609060101010101" pitchFamily="49" charset="-122"/>
              </a:rPr>
              <a:t>项目风险管理</a:t>
            </a:r>
          </a:p>
        </p:txBody>
      </p:sp>
      <p:sp>
        <p:nvSpPr>
          <p:cNvPr id="75" name="AutoShape 29">
            <a:extLst>
              <a:ext uri="{FF2B5EF4-FFF2-40B4-BE49-F238E27FC236}">
                <a16:creationId xmlns:a16="http://schemas.microsoft.com/office/drawing/2014/main" id="{0A3E914F-2810-442A-AAB7-26EB883891C4}"/>
              </a:ext>
            </a:extLst>
          </p:cNvPr>
          <p:cNvSpPr>
            <a:spLocks noChangeArrowheads="1"/>
          </p:cNvSpPr>
          <p:nvPr/>
        </p:nvSpPr>
        <p:spPr bwMode="auto">
          <a:xfrm>
            <a:off x="1179402" y="3812461"/>
            <a:ext cx="1524000" cy="1143000"/>
          </a:xfrm>
          <a:prstGeom prst="roundRect">
            <a:avLst>
              <a:gd name="adj"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6" name="AutoShape 30">
            <a:extLst>
              <a:ext uri="{FF2B5EF4-FFF2-40B4-BE49-F238E27FC236}">
                <a16:creationId xmlns:a16="http://schemas.microsoft.com/office/drawing/2014/main" id="{FC7CFF2B-53D4-457D-8BD6-0BC6098AFB8D}"/>
              </a:ext>
            </a:extLst>
          </p:cNvPr>
          <p:cNvSpPr>
            <a:spLocks noChangeArrowheads="1"/>
          </p:cNvSpPr>
          <p:nvPr/>
        </p:nvSpPr>
        <p:spPr bwMode="auto">
          <a:xfrm>
            <a:off x="1408002" y="4193461"/>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13.4</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监督相关方参与</a:t>
            </a:r>
          </a:p>
        </p:txBody>
      </p:sp>
      <p:sp>
        <p:nvSpPr>
          <p:cNvPr id="77" name="Text Box 31">
            <a:extLst>
              <a:ext uri="{FF2B5EF4-FFF2-40B4-BE49-F238E27FC236}">
                <a16:creationId xmlns:a16="http://schemas.microsoft.com/office/drawing/2014/main" id="{44A56CA8-CE6A-4EA9-80B2-7FC15F4698B0}"/>
              </a:ext>
            </a:extLst>
          </p:cNvPr>
          <p:cNvSpPr txBox="1">
            <a:spLocks noChangeArrowheads="1"/>
          </p:cNvSpPr>
          <p:nvPr/>
        </p:nvSpPr>
        <p:spPr bwMode="auto">
          <a:xfrm>
            <a:off x="1128602" y="3812461"/>
            <a:ext cx="1651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项目干系人管理</a:t>
            </a:r>
          </a:p>
        </p:txBody>
      </p:sp>
      <p:sp>
        <p:nvSpPr>
          <p:cNvPr id="78" name="AutoShape 32">
            <a:extLst>
              <a:ext uri="{FF2B5EF4-FFF2-40B4-BE49-F238E27FC236}">
                <a16:creationId xmlns:a16="http://schemas.microsoft.com/office/drawing/2014/main" id="{CEF72C70-1625-4133-B4B4-1282E21D8FFB}"/>
              </a:ext>
            </a:extLst>
          </p:cNvPr>
          <p:cNvSpPr>
            <a:spLocks noChangeArrowheads="1"/>
          </p:cNvSpPr>
          <p:nvPr/>
        </p:nvSpPr>
        <p:spPr bwMode="auto">
          <a:xfrm rot="18291324">
            <a:off x="6044206" y="2490895"/>
            <a:ext cx="671966" cy="357187"/>
          </a:xfrm>
          <a:prstGeom prst="leftRightArrow">
            <a:avLst>
              <a:gd name="adj1" fmla="val 36611"/>
              <a:gd name="adj2" fmla="val 5405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9" name="AutoShape 33">
            <a:extLst>
              <a:ext uri="{FF2B5EF4-FFF2-40B4-BE49-F238E27FC236}">
                <a16:creationId xmlns:a16="http://schemas.microsoft.com/office/drawing/2014/main" id="{69286AF3-0B0A-4BEC-8D83-E551DFBF341E}"/>
              </a:ext>
            </a:extLst>
          </p:cNvPr>
          <p:cNvSpPr>
            <a:spLocks noChangeArrowheads="1"/>
          </p:cNvSpPr>
          <p:nvPr/>
        </p:nvSpPr>
        <p:spPr bwMode="auto">
          <a:xfrm rot="13707030">
            <a:off x="4135349" y="2446848"/>
            <a:ext cx="766132" cy="357187"/>
          </a:xfrm>
          <a:prstGeom prst="leftRightArrow">
            <a:avLst>
              <a:gd name="adj1" fmla="val 36611"/>
              <a:gd name="adj2" fmla="val 5405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0" name="AutoShape 34">
            <a:extLst>
              <a:ext uri="{FF2B5EF4-FFF2-40B4-BE49-F238E27FC236}">
                <a16:creationId xmlns:a16="http://schemas.microsoft.com/office/drawing/2014/main" id="{5D60D867-0088-47EE-81CC-18263A712285}"/>
              </a:ext>
            </a:extLst>
          </p:cNvPr>
          <p:cNvSpPr>
            <a:spLocks noChangeArrowheads="1"/>
          </p:cNvSpPr>
          <p:nvPr/>
        </p:nvSpPr>
        <p:spPr bwMode="auto">
          <a:xfrm rot="19783749">
            <a:off x="6535265" y="2670193"/>
            <a:ext cx="1665287" cy="357187"/>
          </a:xfrm>
          <a:prstGeom prst="leftRightArrow">
            <a:avLst>
              <a:gd name="adj1" fmla="val 36611"/>
              <a:gd name="adj2" fmla="val 97431"/>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1" name="AutoShape 35">
            <a:extLst>
              <a:ext uri="{FF2B5EF4-FFF2-40B4-BE49-F238E27FC236}">
                <a16:creationId xmlns:a16="http://schemas.microsoft.com/office/drawing/2014/main" id="{350A8BEE-5F84-4009-B18D-3E264304189F}"/>
              </a:ext>
            </a:extLst>
          </p:cNvPr>
          <p:cNvSpPr>
            <a:spLocks noChangeArrowheads="1"/>
          </p:cNvSpPr>
          <p:nvPr/>
        </p:nvSpPr>
        <p:spPr bwMode="auto">
          <a:xfrm rot="20837079">
            <a:off x="6783219" y="3440341"/>
            <a:ext cx="1498600" cy="357187"/>
          </a:xfrm>
          <a:prstGeom prst="leftRightArrow">
            <a:avLst>
              <a:gd name="adj1" fmla="val 36611"/>
              <a:gd name="adj2" fmla="val 88437"/>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2" name="AutoShape 36">
            <a:extLst>
              <a:ext uri="{FF2B5EF4-FFF2-40B4-BE49-F238E27FC236}">
                <a16:creationId xmlns:a16="http://schemas.microsoft.com/office/drawing/2014/main" id="{56C8EE6A-0DE9-45DB-B63A-C96CF7F61910}"/>
              </a:ext>
            </a:extLst>
          </p:cNvPr>
          <p:cNvSpPr>
            <a:spLocks noChangeArrowheads="1"/>
          </p:cNvSpPr>
          <p:nvPr/>
        </p:nvSpPr>
        <p:spPr bwMode="auto">
          <a:xfrm rot="12628121">
            <a:off x="2689924" y="3025775"/>
            <a:ext cx="1677987" cy="357187"/>
          </a:xfrm>
          <a:prstGeom prst="leftRightArrow">
            <a:avLst>
              <a:gd name="adj1" fmla="val 36611"/>
              <a:gd name="adj2" fmla="val 99023"/>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3" name="AutoShape 37">
            <a:extLst>
              <a:ext uri="{FF2B5EF4-FFF2-40B4-BE49-F238E27FC236}">
                <a16:creationId xmlns:a16="http://schemas.microsoft.com/office/drawing/2014/main" id="{3D02697D-D7EF-4B97-B432-348C051D453D}"/>
              </a:ext>
            </a:extLst>
          </p:cNvPr>
          <p:cNvSpPr>
            <a:spLocks noChangeArrowheads="1"/>
          </p:cNvSpPr>
          <p:nvPr/>
        </p:nvSpPr>
        <p:spPr bwMode="auto">
          <a:xfrm rot="20993918">
            <a:off x="2783517" y="3937919"/>
            <a:ext cx="1464462" cy="357188"/>
          </a:xfrm>
          <a:prstGeom prst="leftRightArrow">
            <a:avLst>
              <a:gd name="adj1" fmla="val 36611"/>
              <a:gd name="adj2" fmla="val 97430"/>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4" name="AutoShape 38">
            <a:extLst>
              <a:ext uri="{FF2B5EF4-FFF2-40B4-BE49-F238E27FC236}">
                <a16:creationId xmlns:a16="http://schemas.microsoft.com/office/drawing/2014/main" id="{ADF6B728-2757-45D1-8523-BC6886565C4A}"/>
              </a:ext>
            </a:extLst>
          </p:cNvPr>
          <p:cNvSpPr>
            <a:spLocks noChangeArrowheads="1"/>
          </p:cNvSpPr>
          <p:nvPr/>
        </p:nvSpPr>
        <p:spPr bwMode="auto">
          <a:xfrm rot="11230931">
            <a:off x="6778999" y="4443587"/>
            <a:ext cx="1431436" cy="357188"/>
          </a:xfrm>
          <a:prstGeom prst="leftRightArrow">
            <a:avLst>
              <a:gd name="adj1" fmla="val 36611"/>
              <a:gd name="adj2" fmla="val 97378"/>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5" name="Line 39">
            <a:extLst>
              <a:ext uri="{FF2B5EF4-FFF2-40B4-BE49-F238E27FC236}">
                <a16:creationId xmlns:a16="http://schemas.microsoft.com/office/drawing/2014/main" id="{7C6D488D-DA8E-4A85-B328-A279FCA129EE}"/>
              </a:ext>
            </a:extLst>
          </p:cNvPr>
          <p:cNvSpPr>
            <a:spLocks noChangeShapeType="1"/>
          </p:cNvSpPr>
          <p:nvPr/>
        </p:nvSpPr>
        <p:spPr bwMode="auto">
          <a:xfrm>
            <a:off x="5509324" y="3940175"/>
            <a:ext cx="0" cy="457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86" name="AutoShape 23">
            <a:extLst>
              <a:ext uri="{FF2B5EF4-FFF2-40B4-BE49-F238E27FC236}">
                <a16:creationId xmlns:a16="http://schemas.microsoft.com/office/drawing/2014/main" id="{90C340EE-1E02-46D2-BC6F-E53A101949CA}"/>
              </a:ext>
            </a:extLst>
          </p:cNvPr>
          <p:cNvSpPr>
            <a:spLocks noChangeArrowheads="1"/>
          </p:cNvSpPr>
          <p:nvPr/>
        </p:nvSpPr>
        <p:spPr bwMode="auto">
          <a:xfrm>
            <a:off x="8343011" y="2698750"/>
            <a:ext cx="1524000" cy="1143000"/>
          </a:xfrm>
          <a:prstGeom prst="roundRect">
            <a:avLst>
              <a:gd name="adj" fmla="val 16667"/>
            </a:avLst>
          </a:prstGeom>
          <a:blipFill dpi="0" rotWithShape="1">
            <a:blip r:embed="rId11"/>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7" name="AutoShape 24">
            <a:extLst>
              <a:ext uri="{FF2B5EF4-FFF2-40B4-BE49-F238E27FC236}">
                <a16:creationId xmlns:a16="http://schemas.microsoft.com/office/drawing/2014/main" id="{14F9D9DB-0A54-4265-BF69-121FEE85E3F0}"/>
              </a:ext>
            </a:extLst>
          </p:cNvPr>
          <p:cNvSpPr>
            <a:spLocks noChangeArrowheads="1"/>
          </p:cNvSpPr>
          <p:nvPr/>
        </p:nvSpPr>
        <p:spPr bwMode="auto">
          <a:xfrm>
            <a:off x="8571611" y="3079750"/>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9.6</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控制资源</a:t>
            </a:r>
          </a:p>
        </p:txBody>
      </p:sp>
      <p:sp>
        <p:nvSpPr>
          <p:cNvPr id="88" name="Text Box 25">
            <a:extLst>
              <a:ext uri="{FF2B5EF4-FFF2-40B4-BE49-F238E27FC236}">
                <a16:creationId xmlns:a16="http://schemas.microsoft.com/office/drawing/2014/main" id="{B5D04F3E-FD5B-4BBD-B53E-5126DF84F1FB}"/>
              </a:ext>
            </a:extLst>
          </p:cNvPr>
          <p:cNvSpPr txBox="1">
            <a:spLocks noChangeArrowheads="1"/>
          </p:cNvSpPr>
          <p:nvPr/>
        </p:nvSpPr>
        <p:spPr bwMode="auto">
          <a:xfrm>
            <a:off x="8419211" y="26987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项目资源管理</a:t>
            </a:r>
          </a:p>
        </p:txBody>
      </p:sp>
      <p:sp>
        <p:nvSpPr>
          <p:cNvPr id="89" name="AutoShape 35">
            <a:extLst>
              <a:ext uri="{FF2B5EF4-FFF2-40B4-BE49-F238E27FC236}">
                <a16:creationId xmlns:a16="http://schemas.microsoft.com/office/drawing/2014/main" id="{909C65C9-5B2A-45FF-AB18-463FA907E0C5}"/>
              </a:ext>
            </a:extLst>
          </p:cNvPr>
          <p:cNvSpPr>
            <a:spLocks noChangeArrowheads="1"/>
          </p:cNvSpPr>
          <p:nvPr/>
        </p:nvSpPr>
        <p:spPr bwMode="auto">
          <a:xfrm rot="928236">
            <a:off x="6423613" y="5484276"/>
            <a:ext cx="1666101" cy="357187"/>
          </a:xfrm>
          <a:prstGeom prst="leftRightArrow">
            <a:avLst>
              <a:gd name="adj1" fmla="val 36611"/>
              <a:gd name="adj2" fmla="val 88448"/>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90" name="AutoShape 29">
            <a:extLst>
              <a:ext uri="{FF2B5EF4-FFF2-40B4-BE49-F238E27FC236}">
                <a16:creationId xmlns:a16="http://schemas.microsoft.com/office/drawing/2014/main" id="{BA5EF852-E090-42EF-B79E-3B6778971CC2}"/>
              </a:ext>
            </a:extLst>
          </p:cNvPr>
          <p:cNvSpPr>
            <a:spLocks noChangeArrowheads="1"/>
          </p:cNvSpPr>
          <p:nvPr/>
        </p:nvSpPr>
        <p:spPr bwMode="auto">
          <a:xfrm>
            <a:off x="1289717" y="5219700"/>
            <a:ext cx="1524000" cy="1143000"/>
          </a:xfrm>
          <a:prstGeom prst="roundRect">
            <a:avLst>
              <a:gd name="adj"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91" name="AutoShape 30">
            <a:extLst>
              <a:ext uri="{FF2B5EF4-FFF2-40B4-BE49-F238E27FC236}">
                <a16:creationId xmlns:a16="http://schemas.microsoft.com/office/drawing/2014/main" id="{A9B82FF6-5A3B-4A7F-8B8A-878BF9F0581E}"/>
              </a:ext>
            </a:extLst>
          </p:cNvPr>
          <p:cNvSpPr>
            <a:spLocks noChangeArrowheads="1"/>
          </p:cNvSpPr>
          <p:nvPr/>
        </p:nvSpPr>
        <p:spPr bwMode="auto">
          <a:xfrm>
            <a:off x="1518317" y="5600700"/>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12.3</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控制采购</a:t>
            </a:r>
          </a:p>
        </p:txBody>
      </p:sp>
      <p:sp>
        <p:nvSpPr>
          <p:cNvPr id="92" name="Text Box 31">
            <a:extLst>
              <a:ext uri="{FF2B5EF4-FFF2-40B4-BE49-F238E27FC236}">
                <a16:creationId xmlns:a16="http://schemas.microsoft.com/office/drawing/2014/main" id="{85FC48FB-0518-48B6-A239-2462486637A4}"/>
              </a:ext>
            </a:extLst>
          </p:cNvPr>
          <p:cNvSpPr txBox="1">
            <a:spLocks noChangeArrowheads="1"/>
          </p:cNvSpPr>
          <p:nvPr/>
        </p:nvSpPr>
        <p:spPr bwMode="auto">
          <a:xfrm>
            <a:off x="1365917" y="521970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项目采购管理</a:t>
            </a:r>
          </a:p>
        </p:txBody>
      </p:sp>
      <p:sp>
        <p:nvSpPr>
          <p:cNvPr id="93" name="AutoShape 37">
            <a:extLst>
              <a:ext uri="{FF2B5EF4-FFF2-40B4-BE49-F238E27FC236}">
                <a16:creationId xmlns:a16="http://schemas.microsoft.com/office/drawing/2014/main" id="{E6F74158-4C5F-4E58-B741-88F63DFEEA72}"/>
              </a:ext>
            </a:extLst>
          </p:cNvPr>
          <p:cNvSpPr>
            <a:spLocks noChangeArrowheads="1"/>
          </p:cNvSpPr>
          <p:nvPr/>
        </p:nvSpPr>
        <p:spPr bwMode="auto">
          <a:xfrm rot="20083459">
            <a:off x="2714901" y="4658208"/>
            <a:ext cx="1618100" cy="357188"/>
          </a:xfrm>
          <a:prstGeom prst="leftRightArrow">
            <a:avLst>
              <a:gd name="adj1" fmla="val 36611"/>
              <a:gd name="adj2" fmla="val 97459"/>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1543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EFDA97-6847-4E03-83AA-DB164CB055D1}"/>
              </a:ext>
            </a:extLst>
          </p:cNvPr>
          <p:cNvSpPr>
            <a:spLocks noGrp="1"/>
          </p:cNvSpPr>
          <p:nvPr>
            <p:ph type="title"/>
          </p:nvPr>
        </p:nvSpPr>
        <p:spPr/>
        <p:txBody>
          <a:bodyPr/>
          <a:lstStyle/>
          <a:p>
            <a:r>
              <a:rPr lang="en-US" altLang="zh-CN" dirty="0"/>
              <a:t>10.6 </a:t>
            </a:r>
            <a:r>
              <a:rPr lang="zh-CN" altLang="en-US" dirty="0"/>
              <a:t>监控项目工作</a:t>
            </a:r>
          </a:p>
        </p:txBody>
      </p:sp>
      <p:pic>
        <p:nvPicPr>
          <p:cNvPr id="4" name="图片 3">
            <a:extLst>
              <a:ext uri="{FF2B5EF4-FFF2-40B4-BE49-F238E27FC236}">
                <a16:creationId xmlns:a16="http://schemas.microsoft.com/office/drawing/2014/main" id="{2B72835A-0058-4261-80E3-3D0C51670AC8}"/>
              </a:ext>
            </a:extLst>
          </p:cNvPr>
          <p:cNvPicPr>
            <a:picLocks noChangeAspect="1"/>
          </p:cNvPicPr>
          <p:nvPr/>
        </p:nvPicPr>
        <p:blipFill>
          <a:blip r:embed="rId3"/>
          <a:stretch>
            <a:fillRect/>
          </a:stretch>
        </p:blipFill>
        <p:spPr>
          <a:xfrm>
            <a:off x="1475232" y="1201479"/>
            <a:ext cx="9420131" cy="5287530"/>
          </a:xfrm>
          <a:prstGeom prst="rect">
            <a:avLst/>
          </a:prstGeom>
        </p:spPr>
      </p:pic>
    </p:spTree>
    <p:extLst>
      <p:ext uri="{BB962C8B-B14F-4D97-AF65-F5344CB8AC3E}">
        <p14:creationId xmlns:p14="http://schemas.microsoft.com/office/powerpoint/2010/main" val="865860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294B2-1E2D-453E-A849-DDCA58A4D101}"/>
              </a:ext>
            </a:extLst>
          </p:cNvPr>
          <p:cNvSpPr>
            <a:spLocks noGrp="1"/>
          </p:cNvSpPr>
          <p:nvPr>
            <p:ph type="title"/>
          </p:nvPr>
        </p:nvSpPr>
        <p:spPr/>
        <p:txBody>
          <a:bodyPr/>
          <a:lstStyle/>
          <a:p>
            <a:r>
              <a:rPr lang="en-US" altLang="zh-CN" dirty="0"/>
              <a:t>10.6 </a:t>
            </a:r>
            <a:r>
              <a:rPr lang="zh-CN" altLang="en-US" dirty="0"/>
              <a:t>监控项目工作</a:t>
            </a:r>
          </a:p>
        </p:txBody>
      </p:sp>
      <p:sp>
        <p:nvSpPr>
          <p:cNvPr id="4" name="文本框 3">
            <a:extLst>
              <a:ext uri="{FF2B5EF4-FFF2-40B4-BE49-F238E27FC236}">
                <a16:creationId xmlns:a16="http://schemas.microsoft.com/office/drawing/2014/main" id="{4EF5EFCF-2B24-4DC8-BABD-E9BC65F7523B}"/>
              </a:ext>
            </a:extLst>
          </p:cNvPr>
          <p:cNvSpPr txBox="1"/>
          <p:nvPr/>
        </p:nvSpPr>
        <p:spPr>
          <a:xfrm>
            <a:off x="963168" y="1301924"/>
            <a:ext cx="10204704" cy="4524315"/>
          </a:xfrm>
          <a:prstGeom prst="rect">
            <a:avLst/>
          </a:prstGeom>
          <a:noFill/>
        </p:spPr>
        <p:txBody>
          <a:bodyPr wrap="square">
            <a:spAutoFit/>
          </a:bodyPr>
          <a:lstStyle/>
          <a:p>
            <a:pPr algn="l"/>
            <a:r>
              <a:rPr lang="zh-CN" altLang="en-US" sz="2400" b="1" i="0" u="none" strike="noStrike" baseline="0" dirty="0">
                <a:latin typeface="黑体" panose="02010609060101010101" pitchFamily="49" charset="-122"/>
                <a:ea typeface="黑体" panose="02010609060101010101" pitchFamily="49" charset="-122"/>
              </a:rPr>
              <a:t>监控项目工作过程关注：</a:t>
            </a:r>
          </a:p>
          <a:p>
            <a:pPr marL="342900" indent="-342900" algn="l">
              <a:buFont typeface="Arial" panose="020B0604020202020204" pitchFamily="34" charset="0"/>
              <a:buChar char="•"/>
            </a:pPr>
            <a:r>
              <a:rPr lang="zh-CN" altLang="en-US" sz="2400" b="1" i="0" u="none" strike="noStrike" baseline="0" dirty="0">
                <a:latin typeface="SourceHanSansSC-Regular"/>
              </a:rPr>
              <a:t>把项目的实际绩效与</a:t>
            </a:r>
            <a:r>
              <a:rPr lang="zh-CN" altLang="en-US" sz="2400" b="1" i="0" u="none" strike="noStrike" baseline="0" dirty="0">
                <a:solidFill>
                  <a:srgbClr val="0070C0"/>
                </a:solidFill>
                <a:latin typeface="SourceHanSansSC-Regular"/>
              </a:rPr>
              <a:t>项目管理计划</a:t>
            </a:r>
            <a:r>
              <a:rPr lang="zh-CN" altLang="en-US" sz="2400" b="1" i="0" u="none" strike="noStrike" baseline="0" dirty="0">
                <a:latin typeface="SourceHanSansSC-Regular"/>
              </a:rPr>
              <a:t>进行比较；</a:t>
            </a:r>
          </a:p>
          <a:p>
            <a:pPr marL="342900" indent="-342900" algn="l">
              <a:buFont typeface="Arial" panose="020B0604020202020204" pitchFamily="34" charset="0"/>
              <a:buChar char="•"/>
            </a:pPr>
            <a:r>
              <a:rPr lang="zh-CN" altLang="en-US" sz="2400" b="1" i="0" u="none" strike="noStrike" baseline="0" dirty="0">
                <a:latin typeface="SourceHanSansSC-Regular"/>
              </a:rPr>
              <a:t>定期评估项目绩效（</a:t>
            </a:r>
            <a:r>
              <a:rPr lang="zh-CN" altLang="en-US" sz="2400" b="1" i="0" u="none" strike="noStrike" baseline="0" dirty="0">
                <a:solidFill>
                  <a:srgbClr val="0070C0"/>
                </a:solidFill>
                <a:latin typeface="SourceHanSansSC-Regular"/>
              </a:rPr>
              <a:t>绩效报告</a:t>
            </a:r>
            <a:r>
              <a:rPr lang="zh-CN" altLang="en-US" sz="2400" b="1" i="0" u="none" strike="noStrike" baseline="0" dirty="0">
                <a:latin typeface="SourceHanSansSC-Regular"/>
              </a:rPr>
              <a:t>），决定是否需要采取纠正或预防措施，并推荐必要的措施；</a:t>
            </a:r>
          </a:p>
          <a:p>
            <a:pPr marL="342900" indent="-342900" algn="l">
              <a:buFont typeface="Arial" panose="020B0604020202020204" pitchFamily="34" charset="0"/>
              <a:buChar char="•"/>
            </a:pPr>
            <a:r>
              <a:rPr lang="zh-CN" altLang="en-US" sz="2400" b="1" i="0" u="none" strike="noStrike" baseline="0" dirty="0">
                <a:latin typeface="SourceHanSansSC-Regular"/>
              </a:rPr>
              <a:t>检查单个项目风险的状态；</a:t>
            </a:r>
          </a:p>
          <a:p>
            <a:pPr marL="342900" indent="-342900" algn="l">
              <a:buFont typeface="Arial" panose="020B0604020202020204" pitchFamily="34" charset="0"/>
              <a:buChar char="•"/>
            </a:pPr>
            <a:r>
              <a:rPr lang="zh-CN" altLang="en-US" sz="2400" b="1" i="0" u="none" strike="noStrike" baseline="0" dirty="0">
                <a:latin typeface="SourceHanSansSC-Regular"/>
              </a:rPr>
              <a:t>在整个项目期间，维护一个准确且及时更新的信息库，以反映项目产品及相关文件的情况；</a:t>
            </a:r>
          </a:p>
          <a:p>
            <a:pPr marL="342900" indent="-342900" algn="l">
              <a:buFont typeface="Arial" panose="020B0604020202020204" pitchFamily="34" charset="0"/>
              <a:buChar char="•"/>
            </a:pPr>
            <a:r>
              <a:rPr lang="zh-CN" altLang="en-US" sz="2400" b="1" i="0" u="none" strike="noStrike" baseline="0" dirty="0">
                <a:latin typeface="SourceHanSansSC-Regular"/>
              </a:rPr>
              <a:t>为状态报告、进展测量和预测提供信息；</a:t>
            </a:r>
          </a:p>
          <a:p>
            <a:pPr marL="342900" indent="-342900" algn="l">
              <a:buFont typeface="Arial" panose="020B0604020202020204" pitchFamily="34" charset="0"/>
              <a:buChar char="•"/>
            </a:pPr>
            <a:r>
              <a:rPr lang="zh-CN" altLang="en-US" sz="2400" b="1" i="0" u="none" strike="noStrike" baseline="0" dirty="0">
                <a:latin typeface="SourceHanSansSC-Regular"/>
              </a:rPr>
              <a:t>做出预测，以更新当前的成本与进度信息；</a:t>
            </a:r>
          </a:p>
          <a:p>
            <a:pPr marL="342900" indent="-342900" algn="l">
              <a:buFont typeface="Arial" panose="020B0604020202020204" pitchFamily="34" charset="0"/>
              <a:buChar char="•"/>
            </a:pPr>
            <a:r>
              <a:rPr lang="zh-CN" altLang="en-US" sz="2400" b="1" i="0" u="none" strike="noStrike" baseline="0" dirty="0">
                <a:latin typeface="SourceHanSansSC-Regular"/>
              </a:rPr>
              <a:t>监督已批准变更的实施情况；</a:t>
            </a:r>
          </a:p>
          <a:p>
            <a:pPr marL="342900" indent="-342900" algn="l">
              <a:buFont typeface="Arial" panose="020B0604020202020204" pitchFamily="34" charset="0"/>
              <a:buChar char="•"/>
            </a:pPr>
            <a:r>
              <a:rPr lang="zh-CN" altLang="en-US" sz="2400" b="1" i="0" u="none" strike="noStrike" baseline="0" dirty="0">
                <a:latin typeface="SourceHanSansSC-Regular"/>
              </a:rPr>
              <a:t>如果项目是项目集的一部分，还应向项目集管理层报告项目进展和状态；</a:t>
            </a:r>
          </a:p>
          <a:p>
            <a:pPr marL="342900" indent="-342900" algn="l">
              <a:buFont typeface="Arial" panose="020B0604020202020204" pitchFamily="34" charset="0"/>
              <a:buChar char="•"/>
            </a:pPr>
            <a:r>
              <a:rPr lang="zh-CN" altLang="en-US" sz="2400" b="1" i="0" u="none" strike="noStrike" baseline="0" dirty="0">
                <a:latin typeface="SourceHanSansSC-Regular"/>
              </a:rPr>
              <a:t>确保项目与商业需求保持一致。</a:t>
            </a:r>
            <a:endParaRPr lang="zh-CN" altLang="en-US" sz="2400" b="1" dirty="0"/>
          </a:p>
        </p:txBody>
      </p:sp>
    </p:spTree>
    <p:extLst>
      <p:ext uri="{BB962C8B-B14F-4D97-AF65-F5344CB8AC3E}">
        <p14:creationId xmlns:p14="http://schemas.microsoft.com/office/powerpoint/2010/main" val="243962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10.6 </a:t>
            </a:r>
            <a:r>
              <a:rPr lang="zh-CN" altLang="en-US" dirty="0"/>
              <a:t>监控项目工作</a:t>
            </a:r>
          </a:p>
        </p:txBody>
      </p:sp>
      <p:sp>
        <p:nvSpPr>
          <p:cNvPr id="3" name="内容占位符 2"/>
          <p:cNvSpPr txBox="1"/>
          <p:nvPr/>
        </p:nvSpPr>
        <p:spPr>
          <a:xfrm>
            <a:off x="495653" y="1201479"/>
            <a:ext cx="5190928" cy="445560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监控项目工作的输出</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marL="0" lvl="3" indent="533400" defTabSz="449580">
              <a:lnSpc>
                <a:spcPts val="2800"/>
              </a:lnSpc>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rPr>
              <a:t>监控项目工作的重要输出是</a:t>
            </a:r>
            <a:r>
              <a:rPr lang="zh-CN" altLang="en-US" sz="2000" dirty="0">
                <a:solidFill>
                  <a:srgbClr val="0B02BE"/>
                </a:solidFill>
                <a:latin typeface="微软雅黑" panose="020B0503020204020204" pitchFamily="34" charset="-122"/>
                <a:ea typeface="微软雅黑" panose="020B0503020204020204" pitchFamily="34" charset="-122"/>
              </a:rPr>
              <a:t>变更请求</a:t>
            </a:r>
            <a:r>
              <a:rPr lang="zh-CN" altLang="en-US" sz="2000" dirty="0">
                <a:latin typeface="微软雅黑" panose="020B0503020204020204" pitchFamily="34" charset="-122"/>
                <a:ea typeface="微软雅黑" panose="020B0503020204020204" pitchFamily="34" charset="-122"/>
              </a:rPr>
              <a:t>，包括推荐的</a:t>
            </a:r>
            <a:r>
              <a:rPr lang="zh-CN" altLang="en-US" sz="2000" b="1" dirty="0">
                <a:latin typeface="微软雅黑" panose="020B0503020204020204" pitchFamily="34" charset="-122"/>
                <a:ea typeface="微软雅黑" panose="020B0503020204020204" pitchFamily="34" charset="-122"/>
              </a:rPr>
              <a:t>纠正措施、预防措施和缺陷补救措施</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742950" lvl="4" indent="-285750" defTabSz="449580">
              <a:lnSpc>
                <a:spcPts val="2800"/>
              </a:lnSpc>
              <a:buFont typeface="Wingdings" panose="05000000000000000000" pitchFamily="2" charset="2"/>
              <a:buChar char="l"/>
              <a:defRPr/>
            </a:pPr>
            <a:r>
              <a:rPr lang="zh-CN" altLang="en-US" sz="1600" b="1" i="0" u="none" strike="noStrike" baseline="0" dirty="0">
                <a:solidFill>
                  <a:srgbClr val="C00000"/>
                </a:solidFill>
                <a:latin typeface="HiddenHorzOCR"/>
              </a:rPr>
              <a:t>纠正措施  </a:t>
            </a:r>
            <a:r>
              <a:rPr lang="zh-CN" altLang="en-US" sz="1600" b="1" i="0" u="none" strike="noStrike" baseline="0" dirty="0">
                <a:solidFill>
                  <a:srgbClr val="262626"/>
                </a:solidFill>
                <a:latin typeface="HiddenHorzOCR"/>
              </a:rPr>
              <a:t>可以改进项目绩效</a:t>
            </a:r>
            <a:endParaRPr lang="en-US" altLang="zh-CN" sz="1600" b="1" i="0" u="none" strike="noStrike" baseline="0" dirty="0">
              <a:solidFill>
                <a:srgbClr val="262626"/>
              </a:solidFill>
              <a:latin typeface="HiddenHorzOCR"/>
            </a:endParaRPr>
          </a:p>
          <a:p>
            <a:pPr marL="742950" lvl="4" indent="-285750" defTabSz="449580">
              <a:lnSpc>
                <a:spcPts val="2800"/>
              </a:lnSpc>
              <a:buFont typeface="Wingdings" panose="05000000000000000000" pitchFamily="2" charset="2"/>
              <a:buChar char="l"/>
              <a:defRPr/>
            </a:pPr>
            <a:r>
              <a:rPr lang="zh-CN" altLang="en-US" sz="1600" b="1" i="0" u="none" strike="noStrike" baseline="0" dirty="0">
                <a:solidFill>
                  <a:srgbClr val="C00000"/>
                </a:solidFill>
                <a:latin typeface="HiddenHorzOCR"/>
              </a:rPr>
              <a:t>预防措施  </a:t>
            </a:r>
            <a:r>
              <a:rPr lang="zh-CN" altLang="en-US" sz="1600" b="1" i="0" u="none" strike="noStrike" baseline="0" dirty="0">
                <a:solidFill>
                  <a:srgbClr val="262626"/>
                </a:solidFill>
                <a:latin typeface="HiddenHorzOCR"/>
              </a:rPr>
              <a:t>可以减少与项目风险相关的负面影响</a:t>
            </a:r>
            <a:endParaRPr lang="en-US" altLang="zh-CN" sz="1600" b="1" i="0" u="none" strike="noStrike" baseline="0" dirty="0">
              <a:solidFill>
                <a:srgbClr val="262626"/>
              </a:solidFill>
              <a:latin typeface="HiddenHorzOCR"/>
            </a:endParaRPr>
          </a:p>
          <a:p>
            <a:pPr marL="742950" lvl="4" indent="-285750" defTabSz="449580">
              <a:lnSpc>
                <a:spcPts val="2800"/>
              </a:lnSpc>
              <a:buFont typeface="Wingdings" panose="05000000000000000000" pitchFamily="2" charset="2"/>
              <a:buChar char="l"/>
              <a:defRPr/>
            </a:pPr>
            <a:r>
              <a:rPr lang="zh-CN" altLang="en-US" sz="1600" b="1" i="0" u="none" strike="noStrike" baseline="0" dirty="0">
                <a:solidFill>
                  <a:srgbClr val="C00000"/>
                </a:solidFill>
                <a:latin typeface="HiddenHorzOCR"/>
              </a:rPr>
              <a:t>缺陷补救措施  </a:t>
            </a:r>
            <a:r>
              <a:rPr lang="zh-CN" altLang="en-US" sz="1600" b="1" i="0" u="none" strike="noStrike" baseline="0" dirty="0">
                <a:solidFill>
                  <a:srgbClr val="262626"/>
                </a:solidFill>
                <a:latin typeface="HiddenHorzOCR"/>
              </a:rPr>
              <a:t>指对有缺陷的可交付物进行补救，使其与要求一致</a:t>
            </a:r>
            <a:endParaRPr lang="en-US" altLang="zh-CN" sz="1600" b="1" i="0" u="none" strike="noStrike" baseline="0" dirty="0">
              <a:solidFill>
                <a:srgbClr val="5D5D5D"/>
              </a:solidFill>
              <a:latin typeface="HiddenHorzOCR"/>
            </a:endParaRPr>
          </a:p>
          <a:p>
            <a:pPr marL="0" lvl="3" indent="533400" defTabSz="449580">
              <a:lnSpc>
                <a:spcPts val="2800"/>
              </a:lnSpc>
              <a:buFont typeface="Wingdings" panose="05000000000000000000" pitchFamily="2" charset="2"/>
              <a:buNone/>
              <a:defRPr/>
            </a:pPr>
            <a:endParaRPr lang="zh-CN" altLang="zh-CN" sz="1600" dirty="0">
              <a:latin typeface="Times New Roman" panose="02020603050405020304" pitchFamily="18" charset="0"/>
              <a:ea typeface="黑体" panose="02010609060101010101" pitchFamily="2"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20700052"/>
              </p:ext>
            </p:extLst>
          </p:nvPr>
        </p:nvGraphicFramePr>
        <p:xfrm>
          <a:off x="1550360" y="4037403"/>
          <a:ext cx="4545640" cy="3013884"/>
        </p:xfrm>
        <a:graphic>
          <a:graphicData uri="http://schemas.openxmlformats.org/presentationml/2006/ole">
            <mc:AlternateContent xmlns:mc="http://schemas.openxmlformats.org/markup-compatibility/2006">
              <mc:Choice xmlns:v="urn:schemas-microsoft-com:vml" Requires="v">
                <p:oleObj name="Visio" r:id="rId3" imgW="3759200" imgH="2844800" progId="Visio.Drawing.11">
                  <p:embed/>
                </p:oleObj>
              </mc:Choice>
              <mc:Fallback>
                <p:oleObj name="Visio" r:id="rId3" imgW="3759200" imgH="2844800" progId="Visio.Drawing.11">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360" y="4037403"/>
                        <a:ext cx="4545640" cy="3013884"/>
                      </a:xfrm>
                      <a:prstGeom prst="rect">
                        <a:avLst/>
                      </a:prstGeom>
                      <a:noFill/>
                      <a:ln>
                        <a:noFill/>
                      </a:ln>
                    </p:spPr>
                  </p:pic>
                </p:oleObj>
              </mc:Fallback>
            </mc:AlternateContent>
          </a:graphicData>
        </a:graphic>
      </p:graphicFrame>
      <p:sp>
        <p:nvSpPr>
          <p:cNvPr id="6" name="文本框 5">
            <a:extLst>
              <a:ext uri="{FF2B5EF4-FFF2-40B4-BE49-F238E27FC236}">
                <a16:creationId xmlns:a16="http://schemas.microsoft.com/office/drawing/2014/main" id="{70DF7C96-40AC-47D9-87CB-B08BDC40F2A2}"/>
              </a:ext>
            </a:extLst>
          </p:cNvPr>
          <p:cNvSpPr txBox="1"/>
          <p:nvPr/>
        </p:nvSpPr>
        <p:spPr>
          <a:xfrm>
            <a:off x="7593640" y="1792346"/>
            <a:ext cx="3734760" cy="3477875"/>
          </a:xfrm>
          <a:prstGeom prst="rect">
            <a:avLst/>
          </a:prstGeom>
          <a:noFill/>
        </p:spPr>
        <p:txBody>
          <a:bodyPr wrap="square">
            <a:spAutoFit/>
          </a:bodyPr>
          <a:lstStyle/>
          <a:p>
            <a:pPr algn="just"/>
            <a:r>
              <a:rPr lang="en-US" altLang="zh-CN" sz="2400" b="1" dirty="0">
                <a:latin typeface="Times New Roman" panose="02020603050405020304" pitchFamily="18" charset="0"/>
              </a:rPr>
              <a:t>1</a:t>
            </a:r>
            <a:r>
              <a:rPr lang="zh-CN" altLang="en-US" sz="2400" b="1" dirty="0">
                <a:solidFill>
                  <a:srgbClr val="0070C0"/>
                </a:solidFill>
                <a:latin typeface="Times New Roman" panose="02020603050405020304" pitchFamily="18" charset="0"/>
              </a:rPr>
              <a:t>工作绩效报告</a:t>
            </a:r>
          </a:p>
          <a:p>
            <a:pPr algn="just"/>
            <a:r>
              <a:rPr lang="en-US" altLang="zh-CN" sz="2400" b="1" dirty="0">
                <a:latin typeface="Times New Roman" panose="02020603050405020304" pitchFamily="18" charset="0"/>
              </a:rPr>
              <a:t>2</a:t>
            </a:r>
            <a:r>
              <a:rPr lang="zh-CN" altLang="en-US" sz="2400" b="1" dirty="0">
                <a:latin typeface="Times New Roman" panose="02020603050405020304" pitchFamily="18" charset="0"/>
              </a:rPr>
              <a:t>变更请求</a:t>
            </a:r>
          </a:p>
          <a:p>
            <a:pPr algn="just"/>
            <a:r>
              <a:rPr lang="en-US" altLang="zh-CN" sz="2400" b="1" dirty="0">
                <a:latin typeface="Times New Roman" panose="02020603050405020304" pitchFamily="18" charset="0"/>
              </a:rPr>
              <a:t>3</a:t>
            </a:r>
            <a:r>
              <a:rPr lang="zh-CN" altLang="en-US" sz="2400" b="1" dirty="0">
                <a:latin typeface="Times New Roman" panose="02020603050405020304" pitchFamily="18" charset="0"/>
              </a:rPr>
              <a:t>项目管理计划更新</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任何组件</a:t>
            </a:r>
          </a:p>
          <a:p>
            <a:pPr algn="just"/>
            <a:r>
              <a:rPr lang="en-US" altLang="zh-CN" sz="2400" b="1" dirty="0">
                <a:latin typeface="Times New Roman" panose="02020603050405020304" pitchFamily="18" charset="0"/>
              </a:rPr>
              <a:t>4</a:t>
            </a:r>
            <a:r>
              <a:rPr lang="zh-CN" altLang="en-US" sz="2400" b="1" dirty="0">
                <a:latin typeface="Times New Roman" panose="02020603050405020304" pitchFamily="18" charset="0"/>
              </a:rPr>
              <a:t>项目文件更新</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成本预测</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问题日志</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经验教训登记册</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风险登记册</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进度预测</a:t>
            </a:r>
            <a:endParaRPr lang="zh-CN" altLang="en-US" sz="2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10.7 </a:t>
            </a:r>
            <a:r>
              <a:rPr lang="zh-CN" altLang="en-US" dirty="0"/>
              <a:t>实施整体变更控制</a:t>
            </a:r>
          </a:p>
        </p:txBody>
      </p:sp>
      <p:sp>
        <p:nvSpPr>
          <p:cNvPr id="11" name="Rectangle 3"/>
          <p:cNvSpPr txBox="1">
            <a:spLocks noChangeArrowheads="1"/>
          </p:cNvSpPr>
          <p:nvPr/>
        </p:nvSpPr>
        <p:spPr>
          <a:xfrm>
            <a:off x="505025" y="1330550"/>
            <a:ext cx="10130010" cy="492394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整体变更控制（</a:t>
            </a:r>
            <a:r>
              <a:rPr lang="en-US" altLang="zh-CN" sz="2400" b="1" kern="0" dirty="0">
                <a:latin typeface="微软雅黑" panose="020B0503020204020204" pitchFamily="34" charset="-122"/>
                <a:ea typeface="微软雅黑" panose="020B0503020204020204" pitchFamily="34" charset="-122"/>
              </a:rPr>
              <a:t>Integrated change control</a:t>
            </a:r>
            <a:r>
              <a:rPr lang="zh-CN" altLang="en-US" sz="2400" b="1" kern="0" dirty="0">
                <a:latin typeface="微软雅黑" panose="020B0503020204020204" pitchFamily="34" charset="-122"/>
                <a:ea typeface="微软雅黑" panose="020B0503020204020204" pitchFamily="34" charset="-122"/>
              </a:rPr>
              <a:t>）</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是指对在项目生命周期的整个过程中的变更进行识别、评价和管理</a:t>
            </a:r>
            <a:endParaRPr lang="en-US" altLang="zh-CN"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pPr>
            <a:r>
              <a:rPr lang="zh-CN" altLang="en-US" kern="0" dirty="0">
                <a:solidFill>
                  <a:srgbClr val="0070C0"/>
                </a:solidFill>
                <a:latin typeface="微软雅黑" panose="020B0503020204020204" pitchFamily="34" charset="-122"/>
                <a:ea typeface="微软雅黑" panose="020B0503020204020204" pitchFamily="34" charset="-122"/>
              </a:rPr>
              <a:t>实施整体变更控制</a:t>
            </a:r>
            <a:r>
              <a:rPr lang="zh-CN" altLang="en-US" kern="0" dirty="0">
                <a:latin typeface="微软雅黑" panose="020B0503020204020204" pitchFamily="34" charset="-122"/>
                <a:ea typeface="微软雅黑" panose="020B0503020204020204" pitchFamily="34" charset="-122"/>
              </a:rPr>
              <a:t>是审查所有变更请求、批准变更，管理对可交付成果、项目文件和项目管理计划的变更，并对变更处理结果进行沟通的过程</a:t>
            </a:r>
          </a:p>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整体变更控制的三个主要工作</a:t>
            </a: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识别变更的发生</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影响促使变更形成的因素，确保变更对项目成功来说是有利的，权衡范围、质量、进度、成本等关键目标之间的矛盾</a:t>
            </a: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决定变更的发生</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审批流程、评审委员会</a:t>
            </a: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管理变更的发生</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配置管理、版本管理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标题 1">
            <a:extLst>
              <a:ext uri="{FF2B5EF4-FFF2-40B4-BE49-F238E27FC236}">
                <a16:creationId xmlns:a16="http://schemas.microsoft.com/office/drawing/2014/main" id="{180AEE29-CCD9-48E9-B40E-4CACC0499385}"/>
              </a:ext>
            </a:extLst>
          </p:cNvPr>
          <p:cNvSpPr>
            <a:spLocks noGrp="1" noChangeArrowheads="1"/>
          </p:cNvSpPr>
          <p:nvPr>
            <p:ph type="title"/>
          </p:nvPr>
        </p:nvSpPr>
        <p:spPr/>
        <p:txBody>
          <a:bodyPr/>
          <a:lstStyle/>
          <a:p>
            <a:pPr algn="ctr"/>
            <a:r>
              <a:rPr lang="en-US" altLang="zh-CN" dirty="0"/>
              <a:t>10.7 </a:t>
            </a:r>
            <a:r>
              <a:rPr lang="zh-CN" altLang="en-US" dirty="0"/>
              <a:t>实施整体变更控制</a:t>
            </a:r>
          </a:p>
        </p:txBody>
      </p:sp>
      <p:sp>
        <p:nvSpPr>
          <p:cNvPr id="162819" name="内容占位符 2">
            <a:extLst>
              <a:ext uri="{FF2B5EF4-FFF2-40B4-BE49-F238E27FC236}">
                <a16:creationId xmlns:a16="http://schemas.microsoft.com/office/drawing/2014/main" id="{3C8BD9B9-393E-4521-8F31-27A9CB682DAD}"/>
              </a:ext>
            </a:extLst>
          </p:cNvPr>
          <p:cNvSpPr>
            <a:spLocks noGrp="1" noChangeArrowheads="1"/>
          </p:cNvSpPr>
          <p:nvPr>
            <p:ph idx="1"/>
          </p:nvPr>
        </p:nvSpPr>
        <p:spPr>
          <a:xfrm>
            <a:off x="1249680" y="1375439"/>
            <a:ext cx="8229600" cy="604838"/>
          </a:xfrm>
        </p:spPr>
        <p:txBody>
          <a:bodyPr/>
          <a:lstStyle/>
          <a:p>
            <a:r>
              <a:rPr lang="zh-CN" altLang="en-US" dirty="0"/>
              <a:t>常见引发变更请求的原因</a:t>
            </a:r>
          </a:p>
        </p:txBody>
      </p:sp>
      <p:graphicFrame>
        <p:nvGraphicFramePr>
          <p:cNvPr id="4" name="Group 28">
            <a:extLst>
              <a:ext uri="{FF2B5EF4-FFF2-40B4-BE49-F238E27FC236}">
                <a16:creationId xmlns:a16="http://schemas.microsoft.com/office/drawing/2014/main" id="{DE9B2BED-BE43-4770-AFF0-C25773571AA9}"/>
              </a:ext>
            </a:extLst>
          </p:cNvPr>
          <p:cNvGraphicFramePr>
            <a:graphicFrameLocks/>
          </p:cNvGraphicFramePr>
          <p:nvPr>
            <p:extLst>
              <p:ext uri="{D42A27DB-BD31-4B8C-83A1-F6EECF244321}">
                <p14:modId xmlns:p14="http://schemas.microsoft.com/office/powerpoint/2010/main" val="116071339"/>
              </p:ext>
            </p:extLst>
          </p:nvPr>
        </p:nvGraphicFramePr>
        <p:xfrm>
          <a:off x="1905000" y="1980277"/>
          <a:ext cx="8382000" cy="4335467"/>
        </p:xfrm>
        <a:graphic>
          <a:graphicData uri="http://schemas.openxmlformats.org/drawingml/2006/table">
            <a:tbl>
              <a:tblPr/>
              <a:tblGrid>
                <a:gridCol w="4078502">
                  <a:extLst>
                    <a:ext uri="{9D8B030D-6E8A-4147-A177-3AD203B41FA5}">
                      <a16:colId xmlns:a16="http://schemas.microsoft.com/office/drawing/2014/main" val="20000"/>
                    </a:ext>
                  </a:extLst>
                </a:gridCol>
                <a:gridCol w="4303498">
                  <a:extLst>
                    <a:ext uri="{9D8B030D-6E8A-4147-A177-3AD203B41FA5}">
                      <a16:colId xmlns:a16="http://schemas.microsoft.com/office/drawing/2014/main" val="20001"/>
                    </a:ext>
                  </a:extLst>
                </a:gridCol>
              </a:tblGrid>
              <a:tr h="39998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rPr>
                        <a:t>含义</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rgbClr val="FF6600"/>
                          </a:solidFill>
                          <a:effectLst/>
                          <a:latin typeface="黑体" panose="02010609060101010101" pitchFamily="49" charset="-122"/>
                          <a:ea typeface="黑体" panose="02010609060101010101" pitchFamily="49" charset="-122"/>
                        </a:rPr>
                        <a:t>举例</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一个外部事件 </a:t>
                      </a: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An external event</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市场环境变化，因为竞争对手举动引发的变更</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产品范围</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Product scope) </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定义的一个过失或者疏忽</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error/omission</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软件需求分析时，对某个模块定义不清楚</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项目范围</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Project scope) </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定义的过失或者疏忽</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error/omission</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原来考虑的项目实施方法，遇到了技术问题，不能如期执行</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一个有增加值</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Value-adding change) </a:t>
                      </a: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的变更</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市场研发出了新的材料，可以替代原来材料，而且成本低</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72498">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应对风险的紧急计划或回避计划</a:t>
                      </a: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sym typeface="Wingdings" panose="05000000000000000000" pitchFamily="2" charset="2"/>
                        </a:rPr>
                        <a:t>contingency plan or workaround plan)</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由于发生特定风险，需要调整项目计划</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10.7 </a:t>
            </a:r>
            <a:r>
              <a:rPr lang="zh-CN" altLang="en-US" dirty="0"/>
              <a:t>实施整体变更控制</a:t>
            </a:r>
          </a:p>
        </p:txBody>
      </p:sp>
      <p:pic>
        <p:nvPicPr>
          <p:cNvPr id="4" name="图片 3">
            <a:extLst>
              <a:ext uri="{FF2B5EF4-FFF2-40B4-BE49-F238E27FC236}">
                <a16:creationId xmlns:a16="http://schemas.microsoft.com/office/drawing/2014/main" id="{042F6D4B-03A6-4818-BF1F-505036163B43}"/>
              </a:ext>
            </a:extLst>
          </p:cNvPr>
          <p:cNvPicPr>
            <a:picLocks noChangeAspect="1"/>
          </p:cNvPicPr>
          <p:nvPr/>
        </p:nvPicPr>
        <p:blipFill>
          <a:blip r:embed="rId3"/>
          <a:stretch>
            <a:fillRect/>
          </a:stretch>
        </p:blipFill>
        <p:spPr>
          <a:xfrm>
            <a:off x="1182624" y="1299477"/>
            <a:ext cx="10231374" cy="52440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90E976-7AD6-462B-ACFF-AFF678AA3FEB}"/>
              </a:ext>
            </a:extLst>
          </p:cNvPr>
          <p:cNvSpPr>
            <a:spLocks noGrp="1"/>
          </p:cNvSpPr>
          <p:nvPr>
            <p:ph type="title"/>
          </p:nvPr>
        </p:nvSpPr>
        <p:spPr/>
        <p:txBody>
          <a:bodyPr/>
          <a:lstStyle/>
          <a:p>
            <a:r>
              <a:rPr lang="en-US" altLang="zh-CN" dirty="0"/>
              <a:t>10.7 </a:t>
            </a:r>
            <a:r>
              <a:rPr lang="zh-CN" altLang="en-US" dirty="0"/>
              <a:t>实施整体变更控制</a:t>
            </a:r>
          </a:p>
        </p:txBody>
      </p:sp>
      <p:sp>
        <p:nvSpPr>
          <p:cNvPr id="4" name="文本框 3">
            <a:extLst>
              <a:ext uri="{FF2B5EF4-FFF2-40B4-BE49-F238E27FC236}">
                <a16:creationId xmlns:a16="http://schemas.microsoft.com/office/drawing/2014/main" id="{F35E3349-72AE-43D6-A302-A9D71938294C}"/>
              </a:ext>
            </a:extLst>
          </p:cNvPr>
          <p:cNvSpPr txBox="1"/>
          <p:nvPr/>
        </p:nvSpPr>
        <p:spPr>
          <a:xfrm>
            <a:off x="1036320" y="1077558"/>
            <a:ext cx="10107168" cy="5355312"/>
          </a:xfrm>
          <a:prstGeom prst="rect">
            <a:avLst/>
          </a:prstGeom>
          <a:noFill/>
        </p:spPr>
        <p:txBody>
          <a:bodyPr wrap="square">
            <a:spAutoFit/>
          </a:bodyPr>
          <a:lstStyle/>
          <a:p>
            <a:pPr algn="l"/>
            <a:r>
              <a:rPr lang="zh-CN" altLang="en-US" sz="2000" dirty="0">
                <a:latin typeface="黑体" panose="02010609060101010101" pitchFamily="49" charset="-122"/>
                <a:ea typeface="黑体" panose="02010609060101010101" pitchFamily="49" charset="-122"/>
              </a:rPr>
              <a:t>整体变更控制主要目的</a:t>
            </a:r>
            <a:endParaRPr lang="en-US" altLang="zh-CN" sz="2000" dirty="0">
              <a:latin typeface="黑体" panose="02010609060101010101" pitchFamily="49" charset="-122"/>
              <a:ea typeface="黑体" panose="02010609060101010101" pitchFamily="49" charset="-122"/>
            </a:endParaRPr>
          </a:p>
          <a:p>
            <a:pPr marL="342900" indent="-342900" algn="l">
              <a:buFont typeface="Wingdings" panose="05000000000000000000" pitchFamily="2" charset="2"/>
              <a:buChar char="l"/>
            </a:pPr>
            <a:r>
              <a:rPr lang="zh-CN" altLang="en-US" sz="2000" b="1" i="0" u="none" strike="noStrike" baseline="0" dirty="0">
                <a:solidFill>
                  <a:srgbClr val="0B02BE"/>
                </a:solidFill>
                <a:latin typeface="+mn-ea"/>
              </a:rPr>
              <a:t>控制可能造成变更的因素，以确保变更都是有益的</a:t>
            </a:r>
            <a:endParaRPr lang="en-US" altLang="zh-CN" sz="2000" b="1" i="0" u="none" strike="noStrike" baseline="0" dirty="0">
              <a:solidFill>
                <a:srgbClr val="0B02BE"/>
              </a:solidFill>
              <a:latin typeface="+mn-ea"/>
            </a:endParaRPr>
          </a:p>
          <a:p>
            <a:pPr marL="342900" indent="-342900" algn="l">
              <a:buFont typeface="Wingdings" panose="05000000000000000000" pitchFamily="2" charset="2"/>
              <a:buChar char="l"/>
            </a:pPr>
            <a:r>
              <a:rPr lang="zh-CN" altLang="en-US" sz="2000" b="1" i="0" u="none" strike="noStrike" baseline="0" dirty="0">
                <a:solidFill>
                  <a:srgbClr val="0B02BE"/>
                </a:solidFill>
                <a:latin typeface="+mn-ea"/>
              </a:rPr>
              <a:t>确认变更已经发生</a:t>
            </a:r>
          </a:p>
          <a:p>
            <a:pPr marL="342900" indent="-342900" algn="l">
              <a:buFont typeface="Wingdings" panose="05000000000000000000" pitchFamily="2" charset="2"/>
              <a:buChar char="l"/>
            </a:pPr>
            <a:r>
              <a:rPr lang="zh-CN" altLang="en-US" sz="2000" b="1" i="0" u="none" strike="noStrike" baseline="0" dirty="0">
                <a:solidFill>
                  <a:srgbClr val="0B02BE"/>
                </a:solidFill>
                <a:latin typeface="+mn-ea"/>
              </a:rPr>
              <a:t>管理发生的变更</a:t>
            </a:r>
            <a:endParaRPr lang="en-US" altLang="zh-CN" sz="2000" b="1" i="0" u="none" strike="noStrike" baseline="0" dirty="0">
              <a:solidFill>
                <a:srgbClr val="0B02BE"/>
              </a:solidFill>
              <a:latin typeface="+mn-ea"/>
            </a:endParaRPr>
          </a:p>
          <a:p>
            <a:pPr marL="342900" indent="-342900" algn="l">
              <a:buFont typeface="Wingdings" panose="05000000000000000000" pitchFamily="2" charset="2"/>
              <a:buChar char="l"/>
            </a:pPr>
            <a:endParaRPr lang="en-US" altLang="zh-CN" sz="2000" b="1" dirty="0">
              <a:solidFill>
                <a:srgbClr val="262626"/>
              </a:solidFill>
              <a:latin typeface="+mn-ea"/>
            </a:endParaRPr>
          </a:p>
          <a:p>
            <a:r>
              <a:rPr lang="en-US" altLang="zh-CN" sz="2000" dirty="0">
                <a:solidFill>
                  <a:srgbClr val="0B02BE"/>
                </a:solidFill>
                <a:latin typeface="黑体" panose="02010609060101010101" pitchFamily="49" charset="-122"/>
                <a:ea typeface="黑体" panose="02010609060101010101" pitchFamily="49" charset="-122"/>
              </a:rPr>
              <a:t>IT </a:t>
            </a:r>
            <a:r>
              <a:rPr lang="zh-CN" altLang="en-US" sz="2000" dirty="0">
                <a:solidFill>
                  <a:srgbClr val="0B02BE"/>
                </a:solidFill>
                <a:latin typeface="黑体" panose="02010609060101010101" pitchFamily="49" charset="-122"/>
                <a:ea typeface="黑体" panose="02010609060101010101" pitchFamily="49" charset="-122"/>
              </a:rPr>
              <a:t>项目的变更控制</a:t>
            </a:r>
            <a:endParaRPr lang="en-US" altLang="zh-CN" sz="2000" dirty="0">
              <a:solidFill>
                <a:srgbClr val="0B02BE"/>
              </a:solidFill>
              <a:latin typeface="黑体" panose="02010609060101010101" pitchFamily="49" charset="-122"/>
              <a:ea typeface="黑体" panose="02010609060101010101" pitchFamily="49" charset="-122"/>
            </a:endParaRPr>
          </a:p>
          <a:p>
            <a:pPr marL="800100" lvl="1" indent="-342900">
              <a:buFont typeface="Wingdings" panose="05000000000000000000" pitchFamily="2" charset="2"/>
              <a:buChar char="l"/>
            </a:pPr>
            <a:r>
              <a:rPr lang="zh-CN" altLang="en-US" sz="2000" b="1" dirty="0">
                <a:solidFill>
                  <a:srgbClr val="262626"/>
                </a:solidFill>
                <a:latin typeface="+mn-ea"/>
              </a:rPr>
              <a:t>需求变化</a:t>
            </a:r>
            <a:endParaRPr lang="en-US" altLang="zh-CN" sz="2000" b="1" dirty="0">
              <a:solidFill>
                <a:srgbClr val="262626"/>
              </a:solidFill>
              <a:latin typeface="+mn-ea"/>
            </a:endParaRPr>
          </a:p>
          <a:p>
            <a:pPr marL="800100" lvl="1" indent="-342900">
              <a:buFont typeface="Wingdings" panose="05000000000000000000" pitchFamily="2" charset="2"/>
              <a:buChar char="l"/>
            </a:pPr>
            <a:r>
              <a:rPr lang="zh-CN" altLang="en-US" sz="2000" b="1" dirty="0">
                <a:solidFill>
                  <a:srgbClr val="262626"/>
                </a:solidFill>
                <a:latin typeface="+mn-ea"/>
              </a:rPr>
              <a:t>技术变化，如</a:t>
            </a:r>
            <a:endParaRPr lang="en-US" altLang="zh-CN" sz="2000" b="1" dirty="0">
              <a:solidFill>
                <a:srgbClr val="262626"/>
              </a:solidFill>
              <a:latin typeface="+mn-ea"/>
            </a:endParaRPr>
          </a:p>
          <a:p>
            <a:pPr marL="1257300" lvl="2" indent="-342900">
              <a:buFont typeface="Wingdings" panose="05000000000000000000" pitchFamily="2" charset="2"/>
              <a:buChar char="l"/>
            </a:pPr>
            <a:r>
              <a:rPr lang="zh-CN" altLang="en-US" b="0" i="0" u="none" strike="noStrike" baseline="0" dirty="0">
                <a:solidFill>
                  <a:srgbClr val="3A3A3A"/>
                </a:solidFill>
                <a:latin typeface="HiddenHorzOCR"/>
              </a:rPr>
              <a:t>发现</a:t>
            </a:r>
            <a:r>
              <a:rPr lang="zh-CN" altLang="en-US" b="0" i="0" u="none" strike="noStrike" baseline="0" dirty="0">
                <a:solidFill>
                  <a:srgbClr val="7A7A7A"/>
                </a:solidFill>
                <a:latin typeface="HiddenHorzOCR"/>
              </a:rPr>
              <a:t>一</a:t>
            </a:r>
            <a:r>
              <a:rPr lang="zh-CN" altLang="en-US" b="0" i="0" u="none" strike="noStrike" baseline="0" dirty="0">
                <a:solidFill>
                  <a:srgbClr val="262626"/>
                </a:solidFill>
                <a:latin typeface="HiddenHorzOCR"/>
              </a:rPr>
              <a:t>种新的硬件或软件技术</a:t>
            </a:r>
            <a:endParaRPr lang="en-US" altLang="zh-CN" b="0" i="0" u="none" strike="noStrike" baseline="0" dirty="0">
              <a:solidFill>
                <a:srgbClr val="262626"/>
              </a:solidFill>
              <a:latin typeface="HiddenHorzOCR"/>
            </a:endParaRPr>
          </a:p>
          <a:p>
            <a:pPr marL="1257300" lvl="2" indent="-342900">
              <a:buFont typeface="Wingdings" panose="05000000000000000000" pitchFamily="2" charset="2"/>
              <a:buChar char="l"/>
            </a:pPr>
            <a:r>
              <a:rPr lang="zh-CN" altLang="en-US" sz="2000" b="1" dirty="0">
                <a:solidFill>
                  <a:srgbClr val="262626"/>
                </a:solidFill>
                <a:latin typeface="+mn-ea"/>
              </a:rPr>
              <a:t>计算机、服务器在项目制定计划时是最先进的，但现在被淘汰了，买不到了</a:t>
            </a:r>
            <a:endParaRPr lang="en-US" altLang="zh-CN" sz="2000" b="1" dirty="0">
              <a:solidFill>
                <a:srgbClr val="262626"/>
              </a:solidFill>
              <a:latin typeface="+mn-ea"/>
            </a:endParaRPr>
          </a:p>
          <a:p>
            <a:endParaRPr lang="zh-CN" altLang="en-US" sz="1400" dirty="0"/>
          </a:p>
          <a:p>
            <a:pPr algn="l"/>
            <a:r>
              <a:rPr lang="zh-CN" altLang="en-US" sz="2000" dirty="0">
                <a:latin typeface="黑体" panose="02010609060101010101" pitchFamily="49" charset="-122"/>
                <a:ea typeface="黑体" panose="02010609060101010101" pitchFamily="49" charset="-122"/>
              </a:rPr>
              <a:t>变更控制系统</a:t>
            </a:r>
            <a:endParaRPr lang="en-US" altLang="zh-CN" sz="2000" dirty="0">
              <a:latin typeface="黑体" panose="02010609060101010101" pitchFamily="49" charset="-122"/>
              <a:ea typeface="黑体" panose="02010609060101010101" pitchFamily="49" charset="-122"/>
            </a:endParaRPr>
          </a:p>
          <a:p>
            <a:pPr marL="800100" lvl="1" indent="-342900">
              <a:buFont typeface="Wingdings" panose="05000000000000000000" pitchFamily="2" charset="2"/>
              <a:buChar char="l"/>
            </a:pPr>
            <a:r>
              <a:rPr lang="zh-CN" altLang="en-US" b="1" i="0" u="none" strike="noStrike" baseline="0" dirty="0">
                <a:solidFill>
                  <a:srgbClr val="0B02BE"/>
                </a:solidFill>
                <a:latin typeface="HiddenHorzOCR"/>
              </a:rPr>
              <a:t>变</a:t>
            </a:r>
            <a:r>
              <a:rPr lang="zh-CN" altLang="en-US" sz="1800" b="1" i="0" u="none" strike="noStrike" baseline="0" dirty="0">
                <a:solidFill>
                  <a:srgbClr val="0B02BE"/>
                </a:solidFill>
                <a:latin typeface="HiddenHorzOCR"/>
              </a:rPr>
              <a:t>更控制</a:t>
            </a:r>
            <a:r>
              <a:rPr lang="zh-CN" altLang="en-US" b="1" i="0" u="none" strike="noStrike" baseline="0" dirty="0">
                <a:solidFill>
                  <a:srgbClr val="0B02BE"/>
                </a:solidFill>
                <a:latin typeface="HiddenHorzOCR"/>
              </a:rPr>
              <a:t>系统</a:t>
            </a:r>
            <a:r>
              <a:rPr lang="zh-CN" altLang="en-US" b="0" i="0" u="none" strike="noStrike" baseline="0" dirty="0">
                <a:solidFill>
                  <a:srgbClr val="1C1C1C"/>
                </a:solidFill>
                <a:latin typeface="HiddenHorzOCR"/>
              </a:rPr>
              <a:t>：一个正式的、文档式的过程，描述了正式的项目文件可能改变的时间和方式。它还说明了有权做出变更的人、变更所需的文档等要求的跟踪系统</a:t>
            </a:r>
            <a:endParaRPr lang="en-US" altLang="zh-CN" b="0" i="0" u="none" strike="noStrike" baseline="0" dirty="0">
              <a:solidFill>
                <a:srgbClr val="1C1C1C"/>
              </a:solidFill>
              <a:latin typeface="HiddenHorzOCR"/>
            </a:endParaRPr>
          </a:p>
          <a:p>
            <a:pPr marL="800100" lvl="1" indent="-342900">
              <a:buFont typeface="Wingdings" panose="05000000000000000000" pitchFamily="2" charset="2"/>
              <a:buChar char="l"/>
            </a:pPr>
            <a:r>
              <a:rPr lang="zh-CN" altLang="en-US" sz="2000" b="1" dirty="0">
                <a:solidFill>
                  <a:srgbClr val="0B02BE"/>
                </a:solidFill>
                <a:latin typeface="HiddenHorzOCR"/>
              </a:rPr>
              <a:t>变更控制委员会</a:t>
            </a:r>
            <a:r>
              <a:rPr lang="en-US" altLang="zh-CN" sz="2000" dirty="0">
                <a:solidFill>
                  <a:srgbClr val="1C1C1C"/>
                </a:solidFill>
                <a:latin typeface="HiddenHorzOCR"/>
              </a:rPr>
              <a:t>(CCB)</a:t>
            </a:r>
            <a:r>
              <a:rPr lang="zh-CN" altLang="en-US" sz="2000" dirty="0">
                <a:solidFill>
                  <a:srgbClr val="1C1C1C"/>
                </a:solidFill>
                <a:latin typeface="HiddenHorzOCR"/>
              </a:rPr>
              <a:t>：</a:t>
            </a:r>
            <a:r>
              <a:rPr lang="zh-CN" altLang="en-US" sz="1800" b="0" i="0" u="none" strike="noStrike" baseline="0" dirty="0">
                <a:solidFill>
                  <a:srgbClr val="2C2C2C"/>
                </a:solidFill>
                <a:latin typeface="HiddenHorzOCR"/>
              </a:rPr>
              <a:t>是</a:t>
            </a:r>
            <a:r>
              <a:rPr lang="zh-CN" altLang="en-US" sz="1800" b="0" i="0" u="none" strike="noStrike" baseline="0" dirty="0">
                <a:solidFill>
                  <a:srgbClr val="6C6C6C"/>
                </a:solidFill>
                <a:latin typeface="HiddenHorzOCR"/>
              </a:rPr>
              <a:t>一</a:t>
            </a:r>
            <a:r>
              <a:rPr lang="zh-CN" altLang="en-US" sz="1800" b="0" i="0" u="none" strike="noStrike" baseline="0" dirty="0">
                <a:solidFill>
                  <a:srgbClr val="2C2C2C"/>
                </a:solidFill>
                <a:latin typeface="HiddenHorzOCR"/>
              </a:rPr>
              <a:t>个有权批准或拒绝项目变更的正式的组织机构，</a:t>
            </a:r>
            <a:r>
              <a:rPr lang="zh-CN" altLang="en-US" dirty="0">
                <a:solidFill>
                  <a:srgbClr val="2C2C2C"/>
                </a:solidFill>
                <a:latin typeface="HiddenHorzOCR"/>
              </a:rPr>
              <a:t>这个</a:t>
            </a:r>
            <a:r>
              <a:rPr lang="zh-CN" altLang="en-US" sz="1800" b="0" i="0" u="none" strike="noStrike" baseline="0" dirty="0">
                <a:solidFill>
                  <a:srgbClr val="2C2C2C"/>
                </a:solidFill>
                <a:latin typeface="HiddenHorzOCR"/>
              </a:rPr>
              <a:t>机构不一定有</a:t>
            </a:r>
            <a:endParaRPr lang="en-US" altLang="zh-CN" sz="1800" b="0" i="0" u="none" strike="noStrike" baseline="0" dirty="0">
              <a:solidFill>
                <a:srgbClr val="2C2C2C"/>
              </a:solidFill>
              <a:latin typeface="HiddenHorzOCR"/>
            </a:endParaRPr>
          </a:p>
          <a:p>
            <a:pPr marL="800100" lvl="1" indent="-342900">
              <a:buFont typeface="Wingdings" panose="05000000000000000000" pitchFamily="2" charset="2"/>
              <a:buChar char="l"/>
            </a:pPr>
            <a:r>
              <a:rPr lang="zh-CN" altLang="en-US" sz="1800" b="1" i="0" u="none" strike="noStrike" baseline="0" dirty="0">
                <a:solidFill>
                  <a:srgbClr val="0B02BE"/>
                </a:solidFill>
                <a:latin typeface="HiddenHorzOCR"/>
              </a:rPr>
              <a:t>配置管理</a:t>
            </a:r>
            <a:r>
              <a:rPr lang="zh-CN" altLang="en-US" dirty="0">
                <a:solidFill>
                  <a:srgbClr val="2C2C2C"/>
                </a:solidFill>
                <a:latin typeface="HiddenHorzOCR"/>
              </a:rPr>
              <a:t>：用于确保项目产品的描述是正确而且完备的。包括识别和控制产品和其支持性文挡在功能和物理上的设计特性。</a:t>
            </a:r>
            <a:endParaRPr lang="en-US" altLang="zh-CN" sz="2000" b="1" i="0" u="none" strike="noStrike" baseline="0" dirty="0">
              <a:solidFill>
                <a:srgbClr val="262626"/>
              </a:solidFill>
              <a:latin typeface="+mn-ea"/>
            </a:endParaRPr>
          </a:p>
        </p:txBody>
      </p:sp>
    </p:spTree>
    <p:extLst>
      <p:ext uri="{BB962C8B-B14F-4D97-AF65-F5344CB8AC3E}">
        <p14:creationId xmlns:p14="http://schemas.microsoft.com/office/powerpoint/2010/main" val="162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a:extLst>
              <a:ext uri="{FF2B5EF4-FFF2-40B4-BE49-F238E27FC236}">
                <a16:creationId xmlns:a16="http://schemas.microsoft.com/office/drawing/2014/main" id="{3F7B7F83-BBCD-4BF6-AEB6-474C72D2A821}"/>
              </a:ext>
            </a:extLst>
          </p:cNvPr>
          <p:cNvSpPr>
            <a:spLocks noGrp="1" noChangeArrowheads="1"/>
          </p:cNvSpPr>
          <p:nvPr>
            <p:ph type="title"/>
          </p:nvPr>
        </p:nvSpPr>
        <p:spPr/>
        <p:txBody>
          <a:bodyPr/>
          <a:lstStyle/>
          <a:p>
            <a:pPr algn="ctr"/>
            <a:r>
              <a:rPr lang="en-US" altLang="zh-CN" dirty="0"/>
              <a:t>10.7 </a:t>
            </a:r>
            <a:r>
              <a:rPr lang="zh-CN" altLang="en-US" dirty="0"/>
              <a:t>实施整体变更控制</a:t>
            </a:r>
          </a:p>
        </p:txBody>
      </p:sp>
      <p:sp>
        <p:nvSpPr>
          <p:cNvPr id="163843" name="内容占位符 2">
            <a:extLst>
              <a:ext uri="{FF2B5EF4-FFF2-40B4-BE49-F238E27FC236}">
                <a16:creationId xmlns:a16="http://schemas.microsoft.com/office/drawing/2014/main" id="{DBC13DDA-8132-4015-8111-A183F5D2E01F}"/>
              </a:ext>
            </a:extLst>
          </p:cNvPr>
          <p:cNvSpPr>
            <a:spLocks noGrp="1" noChangeArrowheads="1"/>
          </p:cNvSpPr>
          <p:nvPr>
            <p:ph idx="1"/>
          </p:nvPr>
        </p:nvSpPr>
        <p:spPr>
          <a:xfrm>
            <a:off x="1335088" y="1325245"/>
            <a:ext cx="8229600" cy="819150"/>
          </a:xfrm>
        </p:spPr>
        <p:txBody>
          <a:bodyPr/>
          <a:lstStyle/>
          <a:p>
            <a:r>
              <a:rPr lang="zh-CN" altLang="en-US" dirty="0"/>
              <a:t>变更控制流程图</a:t>
            </a:r>
          </a:p>
        </p:txBody>
      </p:sp>
      <p:sp>
        <p:nvSpPr>
          <p:cNvPr id="4" name="Rectangle 3">
            <a:extLst>
              <a:ext uri="{FF2B5EF4-FFF2-40B4-BE49-F238E27FC236}">
                <a16:creationId xmlns:a16="http://schemas.microsoft.com/office/drawing/2014/main" id="{529E45B9-006B-456F-B3A3-A79B33A119D4}"/>
              </a:ext>
            </a:extLst>
          </p:cNvPr>
          <p:cNvSpPr>
            <a:spLocks noChangeArrowheads="1"/>
          </p:cNvSpPr>
          <p:nvPr/>
        </p:nvSpPr>
        <p:spPr bwMode="auto">
          <a:xfrm>
            <a:off x="2495551" y="28143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1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产生变更想法</a:t>
            </a:r>
          </a:p>
        </p:txBody>
      </p:sp>
      <p:sp>
        <p:nvSpPr>
          <p:cNvPr id="5" name="Rectangle 4">
            <a:extLst>
              <a:ext uri="{FF2B5EF4-FFF2-40B4-BE49-F238E27FC236}">
                <a16:creationId xmlns:a16="http://schemas.microsoft.com/office/drawing/2014/main" id="{699852F5-27D9-4E0A-9232-7CD0495CC99C}"/>
              </a:ext>
            </a:extLst>
          </p:cNvPr>
          <p:cNvSpPr>
            <a:spLocks noChangeArrowheads="1"/>
          </p:cNvSpPr>
          <p:nvPr/>
        </p:nvSpPr>
        <p:spPr bwMode="auto">
          <a:xfrm>
            <a:off x="4511676" y="28143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2 PM</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和团队分析影响</a:t>
            </a:r>
          </a:p>
        </p:txBody>
      </p:sp>
      <p:sp>
        <p:nvSpPr>
          <p:cNvPr id="6" name="Rectangle 5">
            <a:extLst>
              <a:ext uri="{FF2B5EF4-FFF2-40B4-BE49-F238E27FC236}">
                <a16:creationId xmlns:a16="http://schemas.microsoft.com/office/drawing/2014/main" id="{8202C0EB-F358-430C-99B6-707CD7BFF554}"/>
              </a:ext>
            </a:extLst>
          </p:cNvPr>
          <p:cNvSpPr>
            <a:spLocks noChangeArrowheads="1"/>
          </p:cNvSpPr>
          <p:nvPr/>
        </p:nvSpPr>
        <p:spPr bwMode="auto">
          <a:xfrm>
            <a:off x="6599239" y="47574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5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执行变更</a:t>
            </a:r>
          </a:p>
        </p:txBody>
      </p:sp>
      <p:sp>
        <p:nvSpPr>
          <p:cNvPr id="7" name="Rectangle 6">
            <a:extLst>
              <a:ext uri="{FF2B5EF4-FFF2-40B4-BE49-F238E27FC236}">
                <a16:creationId xmlns:a16="http://schemas.microsoft.com/office/drawing/2014/main" id="{38EAA50B-7709-4D0B-8950-BAB31B9186E1}"/>
              </a:ext>
            </a:extLst>
          </p:cNvPr>
          <p:cNvSpPr>
            <a:spLocks noChangeArrowheads="1"/>
          </p:cNvSpPr>
          <p:nvPr/>
        </p:nvSpPr>
        <p:spPr bwMode="auto">
          <a:xfrm>
            <a:off x="6527801" y="28143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3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将评估结果通知变更发起人（客户）</a:t>
            </a:r>
          </a:p>
        </p:txBody>
      </p:sp>
      <p:sp>
        <p:nvSpPr>
          <p:cNvPr id="8" name="Rectangle 7">
            <a:extLst>
              <a:ext uri="{FF2B5EF4-FFF2-40B4-BE49-F238E27FC236}">
                <a16:creationId xmlns:a16="http://schemas.microsoft.com/office/drawing/2014/main" id="{4794FC25-9F4B-4333-897B-4A484DC65105}"/>
              </a:ext>
            </a:extLst>
          </p:cNvPr>
          <p:cNvSpPr>
            <a:spLocks noChangeArrowheads="1"/>
          </p:cNvSpPr>
          <p:nvPr/>
        </p:nvSpPr>
        <p:spPr bwMode="auto">
          <a:xfrm>
            <a:off x="8472489" y="2093595"/>
            <a:ext cx="1366837" cy="431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取消</a:t>
            </a:r>
          </a:p>
        </p:txBody>
      </p:sp>
      <p:sp>
        <p:nvSpPr>
          <p:cNvPr id="9" name="Rectangle 8">
            <a:extLst>
              <a:ext uri="{FF2B5EF4-FFF2-40B4-BE49-F238E27FC236}">
                <a16:creationId xmlns:a16="http://schemas.microsoft.com/office/drawing/2014/main" id="{2A8803CA-3A27-4F1D-B030-4A69AF21C33F}"/>
              </a:ext>
            </a:extLst>
          </p:cNvPr>
          <p:cNvSpPr>
            <a:spLocks noChangeArrowheads="1"/>
          </p:cNvSpPr>
          <p:nvPr/>
        </p:nvSpPr>
        <p:spPr bwMode="auto">
          <a:xfrm>
            <a:off x="4511676" y="47574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6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记录变更</a:t>
            </a:r>
          </a:p>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实施情况</a:t>
            </a:r>
          </a:p>
        </p:txBody>
      </p:sp>
      <p:sp>
        <p:nvSpPr>
          <p:cNvPr id="10" name="Rectangle 9">
            <a:extLst>
              <a:ext uri="{FF2B5EF4-FFF2-40B4-BE49-F238E27FC236}">
                <a16:creationId xmlns:a16="http://schemas.microsoft.com/office/drawing/2014/main" id="{AC7E8073-6253-491A-8DFF-E494BD15E682}"/>
              </a:ext>
            </a:extLst>
          </p:cNvPr>
          <p:cNvSpPr>
            <a:spLocks noChangeArrowheads="1"/>
          </p:cNvSpPr>
          <p:nvPr/>
        </p:nvSpPr>
        <p:spPr bwMode="auto">
          <a:xfrm>
            <a:off x="2566989" y="47574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7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分发新文档</a:t>
            </a:r>
          </a:p>
        </p:txBody>
      </p:sp>
      <p:sp>
        <p:nvSpPr>
          <p:cNvPr id="11" name="Rectangle 10">
            <a:extLst>
              <a:ext uri="{FF2B5EF4-FFF2-40B4-BE49-F238E27FC236}">
                <a16:creationId xmlns:a16="http://schemas.microsoft.com/office/drawing/2014/main" id="{9CD99FFA-07F0-4307-BF85-A9C8DA130D4B}"/>
              </a:ext>
            </a:extLst>
          </p:cNvPr>
          <p:cNvSpPr>
            <a:spLocks noChangeArrowheads="1"/>
          </p:cNvSpPr>
          <p:nvPr/>
        </p:nvSpPr>
        <p:spPr bwMode="auto">
          <a:xfrm>
            <a:off x="2566989" y="6054408"/>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结束</a:t>
            </a:r>
          </a:p>
        </p:txBody>
      </p:sp>
      <p:sp>
        <p:nvSpPr>
          <p:cNvPr id="163852" name="Line 11">
            <a:extLst>
              <a:ext uri="{FF2B5EF4-FFF2-40B4-BE49-F238E27FC236}">
                <a16:creationId xmlns:a16="http://schemas.microsoft.com/office/drawing/2014/main" id="{86AA49F3-B19A-4205-BFE8-222B172E8EB0}"/>
              </a:ext>
            </a:extLst>
          </p:cNvPr>
          <p:cNvSpPr>
            <a:spLocks noChangeShapeType="1"/>
          </p:cNvSpPr>
          <p:nvPr/>
        </p:nvSpPr>
        <p:spPr bwMode="auto">
          <a:xfrm>
            <a:off x="4079875" y="3246120"/>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3" name="Line 12">
            <a:extLst>
              <a:ext uri="{FF2B5EF4-FFF2-40B4-BE49-F238E27FC236}">
                <a16:creationId xmlns:a16="http://schemas.microsoft.com/office/drawing/2014/main" id="{E4ECA931-3071-42C8-AA5E-A2B68F8CD222}"/>
              </a:ext>
            </a:extLst>
          </p:cNvPr>
          <p:cNvSpPr>
            <a:spLocks noChangeShapeType="1"/>
          </p:cNvSpPr>
          <p:nvPr/>
        </p:nvSpPr>
        <p:spPr bwMode="auto">
          <a:xfrm>
            <a:off x="6096000" y="3246120"/>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4" name="Line 13">
            <a:extLst>
              <a:ext uri="{FF2B5EF4-FFF2-40B4-BE49-F238E27FC236}">
                <a16:creationId xmlns:a16="http://schemas.microsoft.com/office/drawing/2014/main" id="{B6A7C554-054D-4246-871D-F37A60A6B462}"/>
              </a:ext>
            </a:extLst>
          </p:cNvPr>
          <p:cNvSpPr>
            <a:spLocks noChangeShapeType="1"/>
          </p:cNvSpPr>
          <p:nvPr/>
        </p:nvSpPr>
        <p:spPr bwMode="auto">
          <a:xfrm>
            <a:off x="7319963" y="3677921"/>
            <a:ext cx="0" cy="57626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5" name="Line 14">
            <a:extLst>
              <a:ext uri="{FF2B5EF4-FFF2-40B4-BE49-F238E27FC236}">
                <a16:creationId xmlns:a16="http://schemas.microsoft.com/office/drawing/2014/main" id="{C443894A-0816-4B07-9483-5D690BE71A7E}"/>
              </a:ext>
            </a:extLst>
          </p:cNvPr>
          <p:cNvSpPr>
            <a:spLocks noChangeShapeType="1"/>
          </p:cNvSpPr>
          <p:nvPr/>
        </p:nvSpPr>
        <p:spPr bwMode="auto">
          <a:xfrm>
            <a:off x="7319963" y="4254183"/>
            <a:ext cx="10795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6" name="Line 15">
            <a:extLst>
              <a:ext uri="{FF2B5EF4-FFF2-40B4-BE49-F238E27FC236}">
                <a16:creationId xmlns:a16="http://schemas.microsoft.com/office/drawing/2014/main" id="{2A9B20EB-EF08-4E4E-9668-8740642E030C}"/>
              </a:ext>
            </a:extLst>
          </p:cNvPr>
          <p:cNvSpPr>
            <a:spLocks noChangeShapeType="1"/>
          </p:cNvSpPr>
          <p:nvPr/>
        </p:nvSpPr>
        <p:spPr bwMode="auto">
          <a:xfrm flipH="1">
            <a:off x="8183564" y="5190808"/>
            <a:ext cx="93662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7" name="Line 16">
            <a:extLst>
              <a:ext uri="{FF2B5EF4-FFF2-40B4-BE49-F238E27FC236}">
                <a16:creationId xmlns:a16="http://schemas.microsoft.com/office/drawing/2014/main" id="{3CE2A821-C771-48ED-87D0-6F60D89E5939}"/>
              </a:ext>
            </a:extLst>
          </p:cNvPr>
          <p:cNvSpPr>
            <a:spLocks noChangeShapeType="1"/>
          </p:cNvSpPr>
          <p:nvPr/>
        </p:nvSpPr>
        <p:spPr bwMode="auto">
          <a:xfrm flipH="1">
            <a:off x="6096000" y="5190808"/>
            <a:ext cx="50323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8" name="Line 17">
            <a:extLst>
              <a:ext uri="{FF2B5EF4-FFF2-40B4-BE49-F238E27FC236}">
                <a16:creationId xmlns:a16="http://schemas.microsoft.com/office/drawing/2014/main" id="{CB8690A0-F542-4FE4-89C1-14A49C2CDE79}"/>
              </a:ext>
            </a:extLst>
          </p:cNvPr>
          <p:cNvSpPr>
            <a:spLocks noChangeShapeType="1"/>
          </p:cNvSpPr>
          <p:nvPr/>
        </p:nvSpPr>
        <p:spPr bwMode="auto">
          <a:xfrm flipH="1">
            <a:off x="4151313" y="5190808"/>
            <a:ext cx="36036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9" name="Line 18">
            <a:extLst>
              <a:ext uri="{FF2B5EF4-FFF2-40B4-BE49-F238E27FC236}">
                <a16:creationId xmlns:a16="http://schemas.microsoft.com/office/drawing/2014/main" id="{83983583-5462-4304-9F54-550619547DC8}"/>
              </a:ext>
            </a:extLst>
          </p:cNvPr>
          <p:cNvSpPr>
            <a:spLocks noChangeShapeType="1"/>
          </p:cNvSpPr>
          <p:nvPr/>
        </p:nvSpPr>
        <p:spPr bwMode="auto">
          <a:xfrm>
            <a:off x="3287713" y="5622608"/>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0" name="Text Box 19">
            <a:extLst>
              <a:ext uri="{FF2B5EF4-FFF2-40B4-BE49-F238E27FC236}">
                <a16:creationId xmlns:a16="http://schemas.microsoft.com/office/drawing/2014/main" id="{E4CEC8F0-D2BB-4D62-A4A7-575732CA13D3}"/>
              </a:ext>
            </a:extLst>
          </p:cNvPr>
          <p:cNvSpPr txBox="1">
            <a:spLocks noChangeArrowheads="1"/>
          </p:cNvSpPr>
          <p:nvPr/>
        </p:nvSpPr>
        <p:spPr bwMode="auto">
          <a:xfrm>
            <a:off x="9315451" y="2761933"/>
            <a:ext cx="498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solidFill>
                  <a:srgbClr val="000000"/>
                </a:solidFill>
                <a:latin typeface="Tahoma" panose="020B0604030504040204" pitchFamily="34" charset="0"/>
                <a:cs typeface="Arial" panose="020B0604020202020204" pitchFamily="34" charset="0"/>
              </a:rPr>
              <a:t>NO</a:t>
            </a:r>
          </a:p>
        </p:txBody>
      </p:sp>
      <p:sp>
        <p:nvSpPr>
          <p:cNvPr id="163861" name="Text Box 20">
            <a:extLst>
              <a:ext uri="{FF2B5EF4-FFF2-40B4-BE49-F238E27FC236}">
                <a16:creationId xmlns:a16="http://schemas.microsoft.com/office/drawing/2014/main" id="{5ED8F39A-B203-46C7-B7D2-1BF15DBE8344}"/>
              </a:ext>
            </a:extLst>
          </p:cNvPr>
          <p:cNvSpPr txBox="1">
            <a:spLocks noChangeArrowheads="1"/>
          </p:cNvSpPr>
          <p:nvPr/>
        </p:nvSpPr>
        <p:spPr bwMode="auto">
          <a:xfrm>
            <a:off x="8596313" y="5209858"/>
            <a:ext cx="571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solidFill>
                  <a:srgbClr val="000000"/>
                </a:solidFill>
                <a:latin typeface="Tahoma" panose="020B0604030504040204" pitchFamily="34" charset="0"/>
                <a:cs typeface="Arial" panose="020B0604020202020204" pitchFamily="34" charset="0"/>
              </a:rPr>
              <a:t>YES</a:t>
            </a:r>
          </a:p>
        </p:txBody>
      </p:sp>
      <p:sp>
        <p:nvSpPr>
          <p:cNvPr id="22" name="AutoShape 21">
            <a:extLst>
              <a:ext uri="{FF2B5EF4-FFF2-40B4-BE49-F238E27FC236}">
                <a16:creationId xmlns:a16="http://schemas.microsoft.com/office/drawing/2014/main" id="{69DBDB42-1232-4A86-A00D-E92661DD26CE}"/>
              </a:ext>
            </a:extLst>
          </p:cNvPr>
          <p:cNvSpPr>
            <a:spLocks noChangeArrowheads="1"/>
          </p:cNvSpPr>
          <p:nvPr/>
        </p:nvSpPr>
        <p:spPr bwMode="auto">
          <a:xfrm>
            <a:off x="8328026" y="3317558"/>
            <a:ext cx="1584325" cy="1871662"/>
          </a:xfrm>
          <a:prstGeom prst="diamond">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4 CCB</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审批</a:t>
            </a:r>
          </a:p>
        </p:txBody>
      </p:sp>
      <p:sp>
        <p:nvSpPr>
          <p:cNvPr id="163863" name="Line 22">
            <a:extLst>
              <a:ext uri="{FF2B5EF4-FFF2-40B4-BE49-F238E27FC236}">
                <a16:creationId xmlns:a16="http://schemas.microsoft.com/office/drawing/2014/main" id="{FADB9B0A-8710-483B-8C90-640439542FAA}"/>
              </a:ext>
            </a:extLst>
          </p:cNvPr>
          <p:cNvSpPr>
            <a:spLocks noChangeShapeType="1"/>
          </p:cNvSpPr>
          <p:nvPr/>
        </p:nvSpPr>
        <p:spPr bwMode="auto">
          <a:xfrm flipV="1">
            <a:off x="9120188" y="2525396"/>
            <a:ext cx="0" cy="79216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Rectangle 23">
            <a:extLst>
              <a:ext uri="{FF2B5EF4-FFF2-40B4-BE49-F238E27FC236}">
                <a16:creationId xmlns:a16="http://schemas.microsoft.com/office/drawing/2014/main" id="{A314A583-C8B9-496A-95FC-E63525EB32B7}"/>
              </a:ext>
            </a:extLst>
          </p:cNvPr>
          <p:cNvSpPr>
            <a:spLocks noChangeArrowheads="1"/>
          </p:cNvSpPr>
          <p:nvPr/>
        </p:nvSpPr>
        <p:spPr bwMode="auto">
          <a:xfrm>
            <a:off x="2509839" y="2017395"/>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开始</a:t>
            </a:r>
          </a:p>
        </p:txBody>
      </p:sp>
      <p:sp>
        <p:nvSpPr>
          <p:cNvPr id="163865" name="Line 24">
            <a:extLst>
              <a:ext uri="{FF2B5EF4-FFF2-40B4-BE49-F238E27FC236}">
                <a16:creationId xmlns:a16="http://schemas.microsoft.com/office/drawing/2014/main" id="{BE00A467-8439-4B88-8510-010F07BBEE66}"/>
              </a:ext>
            </a:extLst>
          </p:cNvPr>
          <p:cNvSpPr>
            <a:spLocks noChangeShapeType="1"/>
          </p:cNvSpPr>
          <p:nvPr/>
        </p:nvSpPr>
        <p:spPr bwMode="auto">
          <a:xfrm>
            <a:off x="3271838" y="2398395"/>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0F666-9953-4ECA-A50B-8C74E595DE39}"/>
              </a:ext>
            </a:extLst>
          </p:cNvPr>
          <p:cNvSpPr>
            <a:spLocks noGrp="1"/>
          </p:cNvSpPr>
          <p:nvPr>
            <p:ph type="title"/>
          </p:nvPr>
        </p:nvSpPr>
        <p:spPr/>
        <p:txBody>
          <a:bodyPr/>
          <a:lstStyle/>
          <a:p>
            <a:r>
              <a:rPr lang="en-US" altLang="zh-CN" dirty="0"/>
              <a:t>10.7 </a:t>
            </a:r>
            <a:r>
              <a:rPr lang="zh-CN" altLang="en-US" dirty="0"/>
              <a:t>实施整体变更控制</a:t>
            </a:r>
          </a:p>
        </p:txBody>
      </p:sp>
      <p:sp>
        <p:nvSpPr>
          <p:cNvPr id="3" name="内容占位符 2">
            <a:extLst>
              <a:ext uri="{FF2B5EF4-FFF2-40B4-BE49-F238E27FC236}">
                <a16:creationId xmlns:a16="http://schemas.microsoft.com/office/drawing/2014/main" id="{BF250AD8-31A5-4B4D-9358-5CA5E940539B}"/>
              </a:ext>
            </a:extLst>
          </p:cNvPr>
          <p:cNvSpPr txBox="1">
            <a:spLocks noChangeArrowheads="1"/>
          </p:cNvSpPr>
          <p:nvPr/>
        </p:nvSpPr>
        <p:spPr>
          <a:xfrm>
            <a:off x="1578864" y="1417320"/>
            <a:ext cx="8942832" cy="452596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dirty="0"/>
              <a:t>问题</a:t>
            </a:r>
            <a:endParaRPr lang="en-US" altLang="zh-CN" sz="2400" dirty="0"/>
          </a:p>
          <a:p>
            <a:pPr lvl="1"/>
            <a:r>
              <a:rPr lang="zh-CN" altLang="en-US" sz="2000" dirty="0"/>
              <a:t>你在管理一个电信项目， 由于最近政府出台了一项新的规定， 应客户要求你不得不改变原定的项目范围，对于项目目标作了几项变更。 你更新了项目中使用的技术和计划文件。 你的下一步是</a:t>
            </a:r>
          </a:p>
          <a:p>
            <a:pPr lvl="2"/>
            <a:r>
              <a:rPr lang="en-US" altLang="zh-CN" sz="2000" dirty="0"/>
              <a:t>A</a:t>
            </a:r>
            <a:r>
              <a:rPr lang="zh-CN" altLang="en-US" sz="2000" dirty="0"/>
              <a:t>． 正式通知干系人</a:t>
            </a:r>
          </a:p>
          <a:p>
            <a:pPr lvl="2"/>
            <a:r>
              <a:rPr lang="en-US" altLang="zh-CN" sz="2000" dirty="0"/>
              <a:t>B</a:t>
            </a:r>
            <a:r>
              <a:rPr lang="zh-CN" altLang="en-US" sz="2000" dirty="0"/>
              <a:t>． 修改公司的知识管理系统</a:t>
            </a:r>
          </a:p>
          <a:p>
            <a:pPr lvl="2"/>
            <a:r>
              <a:rPr lang="en-US" altLang="zh-CN" sz="2000" dirty="0"/>
              <a:t>C</a:t>
            </a:r>
            <a:r>
              <a:rPr lang="zh-CN" altLang="en-US" sz="2000" dirty="0"/>
              <a:t>． 从项目发起人和客户那里获得对范围变更的正式承认</a:t>
            </a:r>
          </a:p>
          <a:p>
            <a:pPr lvl="2"/>
            <a:r>
              <a:rPr lang="en-US" altLang="zh-CN" sz="2000" dirty="0"/>
              <a:t>D</a:t>
            </a:r>
            <a:r>
              <a:rPr lang="zh-CN" altLang="en-US" sz="2000" dirty="0"/>
              <a:t>． 准备一个业绩报告</a:t>
            </a:r>
          </a:p>
          <a:p>
            <a:endParaRPr lang="zh-CN" altLang="en-US" dirty="0"/>
          </a:p>
        </p:txBody>
      </p:sp>
    </p:spTree>
    <p:extLst>
      <p:ext uri="{BB962C8B-B14F-4D97-AF65-F5344CB8AC3E}">
        <p14:creationId xmlns:p14="http://schemas.microsoft.com/office/powerpoint/2010/main" val="22112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7DBC82-A7CA-4077-9460-ED47ACCF8A44}"/>
              </a:ext>
            </a:extLst>
          </p:cNvPr>
          <p:cNvSpPr>
            <a:spLocks noGrp="1"/>
          </p:cNvSpPr>
          <p:nvPr>
            <p:ph type="title"/>
          </p:nvPr>
        </p:nvSpPr>
        <p:spPr/>
        <p:txBody>
          <a:bodyPr/>
          <a:lstStyle/>
          <a:p>
            <a:r>
              <a:rPr lang="en-US" altLang="zh-CN" dirty="0"/>
              <a:t>10.7 </a:t>
            </a:r>
            <a:r>
              <a:rPr lang="zh-CN" altLang="en-US" dirty="0"/>
              <a:t>实施整体变更控制</a:t>
            </a:r>
          </a:p>
        </p:txBody>
      </p:sp>
      <p:sp>
        <p:nvSpPr>
          <p:cNvPr id="3" name="内容占位符 2">
            <a:extLst>
              <a:ext uri="{FF2B5EF4-FFF2-40B4-BE49-F238E27FC236}">
                <a16:creationId xmlns:a16="http://schemas.microsoft.com/office/drawing/2014/main" id="{3B8197A8-272B-47A7-BE8E-309562C448B6}"/>
              </a:ext>
            </a:extLst>
          </p:cNvPr>
          <p:cNvSpPr txBox="1">
            <a:spLocks noChangeArrowheads="1"/>
          </p:cNvSpPr>
          <p:nvPr/>
        </p:nvSpPr>
        <p:spPr>
          <a:xfrm>
            <a:off x="1330643" y="1383983"/>
            <a:ext cx="8229600" cy="74771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800" dirty="0"/>
              <a:t>变更应对分析</a:t>
            </a:r>
          </a:p>
        </p:txBody>
      </p:sp>
      <p:grpSp>
        <p:nvGrpSpPr>
          <p:cNvPr id="34" name="组合 33">
            <a:extLst>
              <a:ext uri="{FF2B5EF4-FFF2-40B4-BE49-F238E27FC236}">
                <a16:creationId xmlns:a16="http://schemas.microsoft.com/office/drawing/2014/main" id="{A091567A-2B3A-424E-9232-5C9D11CD0EFD}"/>
              </a:ext>
            </a:extLst>
          </p:cNvPr>
          <p:cNvGrpSpPr/>
          <p:nvPr/>
        </p:nvGrpSpPr>
        <p:grpSpPr>
          <a:xfrm>
            <a:off x="2031206" y="2131695"/>
            <a:ext cx="8129588" cy="4169664"/>
            <a:chOff x="1786890" y="1706881"/>
            <a:chExt cx="8129588" cy="4169664"/>
          </a:xfrm>
        </p:grpSpPr>
        <p:graphicFrame>
          <p:nvGraphicFramePr>
            <p:cNvPr id="5" name="Group 3">
              <a:extLst>
                <a:ext uri="{FF2B5EF4-FFF2-40B4-BE49-F238E27FC236}">
                  <a16:creationId xmlns:a16="http://schemas.microsoft.com/office/drawing/2014/main" id="{7CB8F1D0-88B1-49C5-8BD9-F85B6DA3F732}"/>
                </a:ext>
              </a:extLst>
            </p:cNvPr>
            <p:cNvGraphicFramePr>
              <a:graphicFrameLocks/>
            </p:cNvGraphicFramePr>
            <p:nvPr>
              <p:extLst>
                <p:ext uri="{D42A27DB-BD31-4B8C-83A1-F6EECF244321}">
                  <p14:modId xmlns:p14="http://schemas.microsoft.com/office/powerpoint/2010/main" val="666696605"/>
                </p:ext>
              </p:extLst>
            </p:nvPr>
          </p:nvGraphicFramePr>
          <p:xfrm>
            <a:off x="1786890" y="1706881"/>
            <a:ext cx="8129588" cy="4169664"/>
          </p:xfrm>
          <a:graphic>
            <a:graphicData uri="http://schemas.openxmlformats.org/drawingml/2006/table">
              <a:tbl>
                <a:tblPr/>
                <a:tblGrid>
                  <a:gridCol w="1687830">
                    <a:extLst>
                      <a:ext uri="{9D8B030D-6E8A-4147-A177-3AD203B41FA5}">
                        <a16:colId xmlns:a16="http://schemas.microsoft.com/office/drawing/2014/main" val="20000"/>
                      </a:ext>
                    </a:extLst>
                  </a:gridCol>
                  <a:gridCol w="2316480">
                    <a:extLst>
                      <a:ext uri="{9D8B030D-6E8A-4147-A177-3AD203B41FA5}">
                        <a16:colId xmlns:a16="http://schemas.microsoft.com/office/drawing/2014/main" val="20001"/>
                      </a:ext>
                    </a:extLst>
                  </a:gridCol>
                  <a:gridCol w="2469251">
                    <a:extLst>
                      <a:ext uri="{9D8B030D-6E8A-4147-A177-3AD203B41FA5}">
                        <a16:colId xmlns:a16="http://schemas.microsoft.com/office/drawing/2014/main" val="20002"/>
                      </a:ext>
                    </a:extLst>
                  </a:gridCol>
                  <a:gridCol w="1656027">
                    <a:extLst>
                      <a:ext uri="{9D8B030D-6E8A-4147-A177-3AD203B41FA5}">
                        <a16:colId xmlns:a16="http://schemas.microsoft.com/office/drawing/2014/main" val="20003"/>
                      </a:ext>
                    </a:extLst>
                  </a:gridCol>
                </a:tblGrid>
                <a:tr h="444480">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Arial" panose="020B0604020202020204" pitchFamily="34" charset="0"/>
                            <a:ea typeface="黑体" panose="02010609060101010101" pitchFamily="49" charset="-122"/>
                          </a:rPr>
                          <a:t>变更申请</a:t>
                        </a:r>
                      </a:p>
                    </a:txBody>
                    <a:tcPr marL="91428" marR="9142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Arial" panose="020B0604020202020204" pitchFamily="34" charset="0"/>
                            <a:ea typeface="黑体" panose="02010609060101010101" pitchFamily="49" charset="-122"/>
                          </a:rPr>
                          <a:t>项目阶段</a:t>
                        </a: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变更影响大小</a:t>
                        </a: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Arial" panose="020B0604020202020204" pitchFamily="34" charset="0"/>
                            <a:ea typeface="黑体" panose="02010609060101010101" pitchFamily="49" charset="-122"/>
                          </a:rPr>
                          <a:t>应对策略</a:t>
                        </a:r>
                      </a:p>
                    </a:txBody>
                    <a:tcPr marL="91428" marR="9142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3725184">
                  <a:tc gridSpan="4">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800" b="0"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a:txBody>
                    <a:tcPr marL="91428" marR="91428"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6" name="Line 17">
              <a:extLst>
                <a:ext uri="{FF2B5EF4-FFF2-40B4-BE49-F238E27FC236}">
                  <a16:creationId xmlns:a16="http://schemas.microsoft.com/office/drawing/2014/main" id="{756D164D-2112-48E8-AAA6-2CB92780681D}"/>
                </a:ext>
              </a:extLst>
            </p:cNvPr>
            <p:cNvSpPr>
              <a:spLocks noChangeShapeType="1"/>
            </p:cNvSpPr>
            <p:nvPr/>
          </p:nvSpPr>
          <p:spPr bwMode="auto">
            <a:xfrm>
              <a:off x="2701290" y="4516247"/>
              <a:ext cx="37623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 name="Rectangle 18">
              <a:extLst>
                <a:ext uri="{FF2B5EF4-FFF2-40B4-BE49-F238E27FC236}">
                  <a16:creationId xmlns:a16="http://schemas.microsoft.com/office/drawing/2014/main" id="{DABC2529-A337-4748-A46F-316D62076F28}"/>
                </a:ext>
              </a:extLst>
            </p:cNvPr>
            <p:cNvSpPr>
              <a:spLocks noChangeArrowheads="1"/>
            </p:cNvSpPr>
            <p:nvPr/>
          </p:nvSpPr>
          <p:spPr bwMode="auto">
            <a:xfrm>
              <a:off x="1935924" y="3872227"/>
              <a:ext cx="1204913" cy="685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提交变更申请</a:t>
              </a:r>
            </a:p>
          </p:txBody>
        </p:sp>
        <p:sp>
          <p:nvSpPr>
            <p:cNvPr id="8" name="Line 19">
              <a:extLst>
                <a:ext uri="{FF2B5EF4-FFF2-40B4-BE49-F238E27FC236}">
                  <a16:creationId xmlns:a16="http://schemas.microsoft.com/office/drawing/2014/main" id="{6E6DD904-AF3F-43AF-A042-301E245715A6}"/>
                </a:ext>
              </a:extLst>
            </p:cNvPr>
            <p:cNvSpPr>
              <a:spLocks noChangeShapeType="1"/>
            </p:cNvSpPr>
            <p:nvPr/>
          </p:nvSpPr>
          <p:spPr bwMode="auto">
            <a:xfrm>
              <a:off x="3539490" y="3525647"/>
              <a:ext cx="0" cy="156666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 name="Line 20">
              <a:extLst>
                <a:ext uri="{FF2B5EF4-FFF2-40B4-BE49-F238E27FC236}">
                  <a16:creationId xmlns:a16="http://schemas.microsoft.com/office/drawing/2014/main" id="{D3C5DB39-0BA8-45E6-AA96-E30998B9C910}"/>
                </a:ext>
              </a:extLst>
            </p:cNvPr>
            <p:cNvSpPr>
              <a:spLocks noChangeShapeType="1"/>
            </p:cNvSpPr>
            <p:nvPr/>
          </p:nvSpPr>
          <p:spPr bwMode="auto">
            <a:xfrm>
              <a:off x="3539490" y="5092319"/>
              <a:ext cx="75247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0" name="Line 21">
              <a:extLst>
                <a:ext uri="{FF2B5EF4-FFF2-40B4-BE49-F238E27FC236}">
                  <a16:creationId xmlns:a16="http://schemas.microsoft.com/office/drawing/2014/main" id="{303ECDC9-F2FE-4C84-AD96-E2343EF92CEF}"/>
                </a:ext>
              </a:extLst>
            </p:cNvPr>
            <p:cNvSpPr>
              <a:spLocks noChangeShapeType="1"/>
            </p:cNvSpPr>
            <p:nvPr/>
          </p:nvSpPr>
          <p:spPr bwMode="auto">
            <a:xfrm>
              <a:off x="3539490" y="3525647"/>
              <a:ext cx="75247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 name="Rectangle 22">
              <a:extLst>
                <a:ext uri="{FF2B5EF4-FFF2-40B4-BE49-F238E27FC236}">
                  <a16:creationId xmlns:a16="http://schemas.microsoft.com/office/drawing/2014/main" id="{15089718-3127-44EA-9F8B-64A72EE3A297}"/>
                </a:ext>
              </a:extLst>
            </p:cNvPr>
            <p:cNvSpPr>
              <a:spLocks noChangeArrowheads="1"/>
            </p:cNvSpPr>
            <p:nvPr/>
          </p:nvSpPr>
          <p:spPr bwMode="auto">
            <a:xfrm>
              <a:off x="4145280" y="3144647"/>
              <a:ext cx="1361123" cy="685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dirty="0">
                  <a:solidFill>
                    <a:srgbClr val="000000"/>
                  </a:solidFill>
                  <a:ea typeface="黑体" panose="02010609060101010101" pitchFamily="49" charset="-122"/>
                </a:rPr>
                <a:t>计划、执行期</a:t>
              </a:r>
            </a:p>
          </p:txBody>
        </p:sp>
        <p:sp>
          <p:nvSpPr>
            <p:cNvPr id="12" name="Rectangle 23">
              <a:extLst>
                <a:ext uri="{FF2B5EF4-FFF2-40B4-BE49-F238E27FC236}">
                  <a16:creationId xmlns:a16="http://schemas.microsoft.com/office/drawing/2014/main" id="{979A68A8-9BD0-42C2-BE24-52559EC31809}"/>
                </a:ext>
              </a:extLst>
            </p:cNvPr>
            <p:cNvSpPr>
              <a:spLocks noChangeArrowheads="1"/>
            </p:cNvSpPr>
            <p:nvPr/>
          </p:nvSpPr>
          <p:spPr bwMode="auto">
            <a:xfrm>
              <a:off x="4145280" y="4744847"/>
              <a:ext cx="1361123" cy="685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dirty="0">
                  <a:solidFill>
                    <a:srgbClr val="000000"/>
                  </a:solidFill>
                  <a:ea typeface="黑体" panose="02010609060101010101" pitchFamily="49" charset="-122"/>
                </a:rPr>
                <a:t>后期或收尾</a:t>
              </a:r>
            </a:p>
          </p:txBody>
        </p:sp>
        <p:sp>
          <p:nvSpPr>
            <p:cNvPr id="13" name="Line 24">
              <a:extLst>
                <a:ext uri="{FF2B5EF4-FFF2-40B4-BE49-F238E27FC236}">
                  <a16:creationId xmlns:a16="http://schemas.microsoft.com/office/drawing/2014/main" id="{04C230D9-18F2-42C6-B6B3-701F814183AC}"/>
                </a:ext>
              </a:extLst>
            </p:cNvPr>
            <p:cNvSpPr>
              <a:spLocks noChangeShapeType="1"/>
            </p:cNvSpPr>
            <p:nvPr/>
          </p:nvSpPr>
          <p:spPr bwMode="auto">
            <a:xfrm>
              <a:off x="5904862" y="2957323"/>
              <a:ext cx="0" cy="82137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 name="Line 25">
              <a:extLst>
                <a:ext uri="{FF2B5EF4-FFF2-40B4-BE49-F238E27FC236}">
                  <a16:creationId xmlns:a16="http://schemas.microsoft.com/office/drawing/2014/main" id="{24F1D8BF-696F-4C43-943C-8565D69F1897}"/>
                </a:ext>
              </a:extLst>
            </p:cNvPr>
            <p:cNvSpPr>
              <a:spLocks noChangeShapeType="1"/>
            </p:cNvSpPr>
            <p:nvPr/>
          </p:nvSpPr>
          <p:spPr bwMode="auto">
            <a:xfrm>
              <a:off x="5520690" y="3525647"/>
              <a:ext cx="376238"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5" name="Line 26">
              <a:extLst>
                <a:ext uri="{FF2B5EF4-FFF2-40B4-BE49-F238E27FC236}">
                  <a16:creationId xmlns:a16="http://schemas.microsoft.com/office/drawing/2014/main" id="{43B7BE32-969E-426A-BFB3-0ADA3702D5DC}"/>
                </a:ext>
              </a:extLst>
            </p:cNvPr>
            <p:cNvSpPr>
              <a:spLocks noChangeShapeType="1"/>
            </p:cNvSpPr>
            <p:nvPr/>
          </p:nvSpPr>
          <p:spPr bwMode="auto">
            <a:xfrm>
              <a:off x="5919150" y="2957323"/>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6" name="Line 27">
              <a:extLst>
                <a:ext uri="{FF2B5EF4-FFF2-40B4-BE49-F238E27FC236}">
                  <a16:creationId xmlns:a16="http://schemas.microsoft.com/office/drawing/2014/main" id="{9604D422-618E-4B44-ADC0-B2778A1F7E14}"/>
                </a:ext>
              </a:extLst>
            </p:cNvPr>
            <p:cNvSpPr>
              <a:spLocks noChangeShapeType="1"/>
            </p:cNvSpPr>
            <p:nvPr/>
          </p:nvSpPr>
          <p:spPr bwMode="auto">
            <a:xfrm>
              <a:off x="5917819" y="3778695"/>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7" name="Rectangle 28">
              <a:extLst>
                <a:ext uri="{FF2B5EF4-FFF2-40B4-BE49-F238E27FC236}">
                  <a16:creationId xmlns:a16="http://schemas.microsoft.com/office/drawing/2014/main" id="{3420FB84-5C92-4120-8AD3-B6DDC8010672}"/>
                </a:ext>
              </a:extLst>
            </p:cNvPr>
            <p:cNvSpPr>
              <a:spLocks noChangeArrowheads="1"/>
            </p:cNvSpPr>
            <p:nvPr/>
          </p:nvSpPr>
          <p:spPr bwMode="auto">
            <a:xfrm>
              <a:off x="6144577" y="2728723"/>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大</a:t>
              </a:r>
            </a:p>
          </p:txBody>
        </p:sp>
        <p:sp>
          <p:nvSpPr>
            <p:cNvPr id="18" name="Rectangle 29">
              <a:extLst>
                <a:ext uri="{FF2B5EF4-FFF2-40B4-BE49-F238E27FC236}">
                  <a16:creationId xmlns:a16="http://schemas.microsoft.com/office/drawing/2014/main" id="{CED13DA8-50AA-4DB4-B7A5-5794700A69CA}"/>
                </a:ext>
              </a:extLst>
            </p:cNvPr>
            <p:cNvSpPr>
              <a:spLocks noChangeArrowheads="1"/>
            </p:cNvSpPr>
            <p:nvPr/>
          </p:nvSpPr>
          <p:spPr bwMode="auto">
            <a:xfrm>
              <a:off x="6144576" y="3550095"/>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小</a:t>
              </a:r>
            </a:p>
          </p:txBody>
        </p:sp>
        <p:sp>
          <p:nvSpPr>
            <p:cNvPr id="19" name="Line 30">
              <a:extLst>
                <a:ext uri="{FF2B5EF4-FFF2-40B4-BE49-F238E27FC236}">
                  <a16:creationId xmlns:a16="http://schemas.microsoft.com/office/drawing/2014/main" id="{FA2F0FFD-2D61-4E7F-981E-859B75D3DC0B}"/>
                </a:ext>
              </a:extLst>
            </p:cNvPr>
            <p:cNvSpPr>
              <a:spLocks noChangeShapeType="1"/>
            </p:cNvSpPr>
            <p:nvPr/>
          </p:nvSpPr>
          <p:spPr bwMode="auto">
            <a:xfrm>
              <a:off x="7360349" y="2929002"/>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0" name="Line 31">
              <a:extLst>
                <a:ext uri="{FF2B5EF4-FFF2-40B4-BE49-F238E27FC236}">
                  <a16:creationId xmlns:a16="http://schemas.microsoft.com/office/drawing/2014/main" id="{B050F265-E28E-47C3-B5F6-FEE0D3E78FEF}"/>
                </a:ext>
              </a:extLst>
            </p:cNvPr>
            <p:cNvSpPr>
              <a:spLocks noChangeShapeType="1"/>
            </p:cNvSpPr>
            <p:nvPr/>
          </p:nvSpPr>
          <p:spPr bwMode="auto">
            <a:xfrm>
              <a:off x="7360349" y="3778695"/>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1" name="Line 32">
              <a:extLst>
                <a:ext uri="{FF2B5EF4-FFF2-40B4-BE49-F238E27FC236}">
                  <a16:creationId xmlns:a16="http://schemas.microsoft.com/office/drawing/2014/main" id="{B7B70758-F30D-4D44-B307-6A3FD5E5A9A8}"/>
                </a:ext>
              </a:extLst>
            </p:cNvPr>
            <p:cNvSpPr>
              <a:spLocks noChangeShapeType="1"/>
            </p:cNvSpPr>
            <p:nvPr/>
          </p:nvSpPr>
          <p:spPr bwMode="auto">
            <a:xfrm>
              <a:off x="5901690" y="4744847"/>
              <a:ext cx="14796" cy="80295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2" name="Line 33">
              <a:extLst>
                <a:ext uri="{FF2B5EF4-FFF2-40B4-BE49-F238E27FC236}">
                  <a16:creationId xmlns:a16="http://schemas.microsoft.com/office/drawing/2014/main" id="{BFE1DB00-A7D0-45A5-85BC-7EEA97BC476E}"/>
                </a:ext>
              </a:extLst>
            </p:cNvPr>
            <p:cNvSpPr>
              <a:spLocks noChangeShapeType="1"/>
            </p:cNvSpPr>
            <p:nvPr/>
          </p:nvSpPr>
          <p:spPr bwMode="auto">
            <a:xfrm>
              <a:off x="5506403" y="5092319"/>
              <a:ext cx="376238"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3" name="Line 34">
              <a:extLst>
                <a:ext uri="{FF2B5EF4-FFF2-40B4-BE49-F238E27FC236}">
                  <a16:creationId xmlns:a16="http://schemas.microsoft.com/office/drawing/2014/main" id="{E151CEE2-F051-4CF5-92E3-29FAE559FD04}"/>
                </a:ext>
              </a:extLst>
            </p:cNvPr>
            <p:cNvSpPr>
              <a:spLocks noChangeShapeType="1"/>
            </p:cNvSpPr>
            <p:nvPr/>
          </p:nvSpPr>
          <p:spPr bwMode="auto">
            <a:xfrm>
              <a:off x="5901690" y="4744847"/>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4" name="Line 35">
              <a:extLst>
                <a:ext uri="{FF2B5EF4-FFF2-40B4-BE49-F238E27FC236}">
                  <a16:creationId xmlns:a16="http://schemas.microsoft.com/office/drawing/2014/main" id="{B6675620-4A13-4BA9-B9CF-7D93EB728B33}"/>
                </a:ext>
              </a:extLst>
            </p:cNvPr>
            <p:cNvSpPr>
              <a:spLocks noChangeShapeType="1"/>
            </p:cNvSpPr>
            <p:nvPr/>
          </p:nvSpPr>
          <p:spPr bwMode="auto">
            <a:xfrm>
              <a:off x="5917818" y="5547804"/>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5" name="Rectangle 36">
              <a:extLst>
                <a:ext uri="{FF2B5EF4-FFF2-40B4-BE49-F238E27FC236}">
                  <a16:creationId xmlns:a16="http://schemas.microsoft.com/office/drawing/2014/main" id="{CBAD6990-2301-4378-8320-A083D1E4F120}"/>
                </a:ext>
              </a:extLst>
            </p:cNvPr>
            <p:cNvSpPr>
              <a:spLocks noChangeArrowheads="1"/>
            </p:cNvSpPr>
            <p:nvPr/>
          </p:nvSpPr>
          <p:spPr bwMode="auto">
            <a:xfrm>
              <a:off x="6155436" y="4481322"/>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大</a:t>
              </a:r>
            </a:p>
          </p:txBody>
        </p:sp>
        <p:sp>
          <p:nvSpPr>
            <p:cNvPr id="26" name="Rectangle 37">
              <a:extLst>
                <a:ext uri="{FF2B5EF4-FFF2-40B4-BE49-F238E27FC236}">
                  <a16:creationId xmlns:a16="http://schemas.microsoft.com/office/drawing/2014/main" id="{FDF8BA7C-165B-48C5-9C85-1D3289540FC6}"/>
                </a:ext>
              </a:extLst>
            </p:cNvPr>
            <p:cNvSpPr>
              <a:spLocks noChangeArrowheads="1"/>
            </p:cNvSpPr>
            <p:nvPr/>
          </p:nvSpPr>
          <p:spPr bwMode="auto">
            <a:xfrm>
              <a:off x="6144575" y="5289613"/>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dirty="0">
                  <a:solidFill>
                    <a:srgbClr val="000000"/>
                  </a:solidFill>
                  <a:ea typeface="黑体" panose="02010609060101010101" pitchFamily="49" charset="-122"/>
                </a:rPr>
                <a:t>小</a:t>
              </a:r>
            </a:p>
          </p:txBody>
        </p:sp>
        <p:sp>
          <p:nvSpPr>
            <p:cNvPr id="27" name="Line 38">
              <a:extLst>
                <a:ext uri="{FF2B5EF4-FFF2-40B4-BE49-F238E27FC236}">
                  <a16:creationId xmlns:a16="http://schemas.microsoft.com/office/drawing/2014/main" id="{AD1DAA63-4BDD-42BD-BF9D-92903D721E90}"/>
                </a:ext>
              </a:extLst>
            </p:cNvPr>
            <p:cNvSpPr>
              <a:spLocks noChangeShapeType="1"/>
            </p:cNvSpPr>
            <p:nvPr/>
          </p:nvSpPr>
          <p:spPr bwMode="auto">
            <a:xfrm>
              <a:off x="7349490" y="4709922"/>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8" name="Line 39">
              <a:extLst>
                <a:ext uri="{FF2B5EF4-FFF2-40B4-BE49-F238E27FC236}">
                  <a16:creationId xmlns:a16="http://schemas.microsoft.com/office/drawing/2014/main" id="{30E0405E-9028-47FC-95FE-F432DC5E72D7}"/>
                </a:ext>
              </a:extLst>
            </p:cNvPr>
            <p:cNvSpPr>
              <a:spLocks noChangeShapeType="1"/>
            </p:cNvSpPr>
            <p:nvPr/>
          </p:nvSpPr>
          <p:spPr bwMode="auto">
            <a:xfrm>
              <a:off x="7349490" y="5547804"/>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 name="Text Box 40">
              <a:extLst>
                <a:ext uri="{FF2B5EF4-FFF2-40B4-BE49-F238E27FC236}">
                  <a16:creationId xmlns:a16="http://schemas.microsoft.com/office/drawing/2014/main" id="{72908997-674F-41BE-8C86-EC6FDDCD8FED}"/>
                </a:ext>
              </a:extLst>
            </p:cNvPr>
            <p:cNvSpPr txBox="1">
              <a:spLocks noChangeArrowheads="1"/>
            </p:cNvSpPr>
            <p:nvPr/>
          </p:nvSpPr>
          <p:spPr bwMode="auto">
            <a:xfrm>
              <a:off x="8274496" y="2666810"/>
              <a:ext cx="12795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遵循变更控制程序</a:t>
              </a:r>
              <a:r>
                <a:rPr lang="zh-CN" altLang="en-US" sz="1600" b="1" dirty="0">
                  <a:solidFill>
                    <a:srgbClr val="FF6600"/>
                  </a:solidFill>
                  <a:ea typeface="黑体" panose="02010609060101010101" pitchFamily="49" charset="-122"/>
                </a:rPr>
                <a:t> </a:t>
              </a:r>
            </a:p>
          </p:txBody>
        </p:sp>
        <p:sp>
          <p:nvSpPr>
            <p:cNvPr id="30" name="Text Box 41">
              <a:extLst>
                <a:ext uri="{FF2B5EF4-FFF2-40B4-BE49-F238E27FC236}">
                  <a16:creationId xmlns:a16="http://schemas.microsoft.com/office/drawing/2014/main" id="{4FCF76FF-6A8D-414B-B10F-11ADE0B66581}"/>
                </a:ext>
              </a:extLst>
            </p:cNvPr>
            <p:cNvSpPr txBox="1">
              <a:spLocks noChangeArrowheads="1"/>
            </p:cNvSpPr>
            <p:nvPr/>
          </p:nvSpPr>
          <p:spPr bwMode="auto">
            <a:xfrm>
              <a:off x="8252778" y="3521138"/>
              <a:ext cx="12795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遵循变更控制程序</a:t>
              </a:r>
              <a:r>
                <a:rPr lang="zh-CN" altLang="en-US" sz="1600" b="1" dirty="0">
                  <a:solidFill>
                    <a:srgbClr val="FF6600"/>
                  </a:solidFill>
                  <a:ea typeface="黑体" panose="02010609060101010101" pitchFamily="49" charset="-122"/>
                </a:rPr>
                <a:t> </a:t>
              </a:r>
            </a:p>
          </p:txBody>
        </p:sp>
        <p:sp>
          <p:nvSpPr>
            <p:cNvPr id="31" name="Text Box 42">
              <a:extLst>
                <a:ext uri="{FF2B5EF4-FFF2-40B4-BE49-F238E27FC236}">
                  <a16:creationId xmlns:a16="http://schemas.microsoft.com/office/drawing/2014/main" id="{692515D8-AE93-4C57-A7FE-14475200E040}"/>
                </a:ext>
              </a:extLst>
            </p:cNvPr>
            <p:cNvSpPr txBox="1">
              <a:spLocks noChangeArrowheads="1"/>
            </p:cNvSpPr>
            <p:nvPr/>
          </p:nvSpPr>
          <p:spPr bwMode="auto">
            <a:xfrm>
              <a:off x="8302246" y="4377694"/>
              <a:ext cx="12049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签订新合同</a:t>
              </a:r>
              <a:r>
                <a:rPr lang="zh-CN" altLang="en-US" sz="1600" b="1" dirty="0">
                  <a:solidFill>
                    <a:srgbClr val="FF6600"/>
                  </a:solidFill>
                  <a:ea typeface="黑体" panose="02010609060101010101" pitchFamily="49" charset="-122"/>
                </a:rPr>
                <a:t> </a:t>
              </a:r>
            </a:p>
          </p:txBody>
        </p:sp>
        <p:sp>
          <p:nvSpPr>
            <p:cNvPr id="32" name="Text Box 43">
              <a:extLst>
                <a:ext uri="{FF2B5EF4-FFF2-40B4-BE49-F238E27FC236}">
                  <a16:creationId xmlns:a16="http://schemas.microsoft.com/office/drawing/2014/main" id="{8ACD6226-4131-4C69-9FFC-A66E0A2DFAF7}"/>
                </a:ext>
              </a:extLst>
            </p:cNvPr>
            <p:cNvSpPr txBox="1">
              <a:spLocks noChangeArrowheads="1"/>
            </p:cNvSpPr>
            <p:nvPr/>
          </p:nvSpPr>
          <p:spPr bwMode="auto">
            <a:xfrm>
              <a:off x="8180802" y="5340730"/>
              <a:ext cx="14478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6600"/>
                  </a:solidFill>
                  <a:ea typeface="黑体" panose="02010609060101010101" pitchFamily="49" charset="-122"/>
                </a:rPr>
                <a:t>说服客户取消</a:t>
              </a:r>
            </a:p>
          </p:txBody>
        </p:sp>
        <p:sp>
          <p:nvSpPr>
            <p:cNvPr id="33" name="Line 25">
              <a:extLst>
                <a:ext uri="{FF2B5EF4-FFF2-40B4-BE49-F238E27FC236}">
                  <a16:creationId xmlns:a16="http://schemas.microsoft.com/office/drawing/2014/main" id="{FF91AEA6-6AB4-4A74-9F53-B30889039444}"/>
                </a:ext>
              </a:extLst>
            </p:cNvPr>
            <p:cNvSpPr>
              <a:spLocks noChangeShapeType="1"/>
            </p:cNvSpPr>
            <p:nvPr/>
          </p:nvSpPr>
          <p:spPr bwMode="auto">
            <a:xfrm>
              <a:off x="3140836" y="4229478"/>
              <a:ext cx="39864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Tree>
    <p:extLst>
      <p:ext uri="{BB962C8B-B14F-4D97-AF65-F5344CB8AC3E}">
        <p14:creationId xmlns:p14="http://schemas.microsoft.com/office/powerpoint/2010/main" val="1642557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标题 1">
            <a:extLst>
              <a:ext uri="{FF2B5EF4-FFF2-40B4-BE49-F238E27FC236}">
                <a16:creationId xmlns:a16="http://schemas.microsoft.com/office/drawing/2014/main" id="{2DC743E8-E8CD-4058-8164-FC4669E02667}"/>
              </a:ext>
            </a:extLst>
          </p:cNvPr>
          <p:cNvSpPr>
            <a:spLocks noGrp="1" noChangeArrowheads="1"/>
          </p:cNvSpPr>
          <p:nvPr>
            <p:ph type="title"/>
          </p:nvPr>
        </p:nvSpPr>
        <p:spPr/>
        <p:txBody>
          <a:bodyPr/>
          <a:lstStyle/>
          <a:p>
            <a:pPr algn="ctr"/>
            <a:r>
              <a:rPr lang="en-US" altLang="zh-CN" dirty="0"/>
              <a:t>10.7 </a:t>
            </a:r>
            <a:r>
              <a:rPr lang="zh-CN" altLang="en-US" dirty="0"/>
              <a:t>实施整体变更控制</a:t>
            </a:r>
          </a:p>
        </p:txBody>
      </p:sp>
      <p:sp>
        <p:nvSpPr>
          <p:cNvPr id="3" name="内容占位符 2">
            <a:extLst>
              <a:ext uri="{FF2B5EF4-FFF2-40B4-BE49-F238E27FC236}">
                <a16:creationId xmlns:a16="http://schemas.microsoft.com/office/drawing/2014/main" id="{7998B87D-290D-4DC7-9948-1CDBC8036BCB}"/>
              </a:ext>
            </a:extLst>
          </p:cNvPr>
          <p:cNvSpPr>
            <a:spLocks noGrp="1"/>
          </p:cNvSpPr>
          <p:nvPr>
            <p:ph idx="1"/>
          </p:nvPr>
        </p:nvSpPr>
        <p:spPr/>
        <p:txBody>
          <a:bodyPr/>
          <a:lstStyle/>
          <a:p>
            <a:pPr>
              <a:defRPr/>
            </a:pPr>
            <a:r>
              <a:rPr lang="zh-CN" altLang="en-US" dirty="0"/>
              <a:t>问题</a:t>
            </a:r>
            <a:endParaRPr lang="en-US" altLang="zh-CN" dirty="0"/>
          </a:p>
          <a:p>
            <a:pPr lvl="1" indent="-342900">
              <a:buFont typeface="Wingdings" panose="05000000000000000000" pitchFamily="2" charset="2"/>
              <a:buChar char="n"/>
              <a:defRPr/>
            </a:pPr>
            <a:r>
              <a:rPr lang="zh-CN" altLang="en-US" sz="2000" b="0" dirty="0">
                <a:solidFill>
                  <a:srgbClr val="000000"/>
                </a:solidFill>
                <a:ea typeface="黑体"/>
              </a:rPr>
              <a:t>您的项目班子刚完成某项目。尽管成果符合合同规定的义务，但顾客希望在最后验收前做若干小的改动。令双方满意地解决这一问题的最佳方式是：</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A</a:t>
            </a:r>
            <a:r>
              <a:rPr lang="zh-CN" altLang="en-US" sz="2000" b="0" dirty="0">
                <a:solidFill>
                  <a:srgbClr val="000000"/>
                </a:solidFill>
                <a:ea typeface="黑体"/>
              </a:rPr>
              <a:t>、 利用项目备用金来进行项目调整和修改</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B</a:t>
            </a:r>
            <a:r>
              <a:rPr lang="zh-CN" altLang="en-US" sz="2000" b="0" dirty="0">
                <a:solidFill>
                  <a:srgbClr val="000000"/>
                </a:solidFill>
                <a:ea typeface="黑体"/>
              </a:rPr>
              <a:t>、 向顾客强调已经按合同协议完成项目</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C</a:t>
            </a:r>
            <a:r>
              <a:rPr lang="zh-CN" altLang="en-US" sz="2000" b="0" dirty="0">
                <a:solidFill>
                  <a:srgbClr val="000000"/>
                </a:solidFill>
                <a:ea typeface="黑体"/>
              </a:rPr>
              <a:t>、 请顾客提交涉及范围外的项目变更申请</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D</a:t>
            </a:r>
            <a:r>
              <a:rPr lang="zh-CN" altLang="en-US" sz="2000" b="0" dirty="0">
                <a:solidFill>
                  <a:srgbClr val="000000"/>
                </a:solidFill>
                <a:ea typeface="黑体"/>
              </a:rPr>
              <a:t>、 进行磋商，说服顾客实际上无需变更</a:t>
            </a:r>
          </a:p>
          <a:p>
            <a:pPr lvl="1">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AutoShape 3">
            <a:extLst>
              <a:ext uri="{FF2B5EF4-FFF2-40B4-BE49-F238E27FC236}">
                <a16:creationId xmlns:a16="http://schemas.microsoft.com/office/drawing/2014/main" id="{83FD5631-D22E-4E80-82B1-C24F3EB1F410}"/>
              </a:ext>
            </a:extLst>
          </p:cNvPr>
          <p:cNvSpPr>
            <a:spLocks noChangeArrowheads="1"/>
          </p:cNvSpPr>
          <p:nvPr/>
        </p:nvSpPr>
        <p:spPr bwMode="auto">
          <a:xfrm>
            <a:off x="2990088" y="2467857"/>
            <a:ext cx="2819400" cy="25908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endParaRPr lang="zh-CN" altLang="zh-CN" sz="1600">
              <a:solidFill>
                <a:srgbClr val="FF6600"/>
              </a:solidFill>
            </a:endParaRPr>
          </a:p>
        </p:txBody>
      </p:sp>
      <p:sp>
        <p:nvSpPr>
          <p:cNvPr id="95237" name="Rectangle 4">
            <a:extLst>
              <a:ext uri="{FF2B5EF4-FFF2-40B4-BE49-F238E27FC236}">
                <a16:creationId xmlns:a16="http://schemas.microsoft.com/office/drawing/2014/main" id="{07F07F9F-07D5-44F2-98C4-155F2CFFB2D8}"/>
              </a:ext>
            </a:extLst>
          </p:cNvPr>
          <p:cNvSpPr>
            <a:spLocks noGrp="1" noChangeArrowheads="1"/>
          </p:cNvSpPr>
          <p:nvPr>
            <p:ph type="title"/>
          </p:nvPr>
        </p:nvSpPr>
        <p:spPr>
          <a:xfrm>
            <a:off x="780288" y="1145293"/>
            <a:ext cx="10972800" cy="437186"/>
          </a:xfrm>
        </p:spPr>
        <p:txBody>
          <a:bodyPr/>
          <a:lstStyle/>
          <a:p>
            <a:pPr eaLnBrk="1" hangingPunct="1"/>
            <a:r>
              <a:rPr lang="zh-CN" altLang="en-US" dirty="0"/>
              <a:t>收尾过程组</a:t>
            </a:r>
          </a:p>
        </p:txBody>
      </p:sp>
      <p:sp>
        <p:nvSpPr>
          <p:cNvPr id="95238" name="AutoShape 5">
            <a:extLst>
              <a:ext uri="{FF2B5EF4-FFF2-40B4-BE49-F238E27FC236}">
                <a16:creationId xmlns:a16="http://schemas.microsoft.com/office/drawing/2014/main" id="{5F78ABFF-F6C2-4CBD-931F-54F0E3BF9C51}"/>
              </a:ext>
            </a:extLst>
          </p:cNvPr>
          <p:cNvSpPr>
            <a:spLocks noChangeArrowheads="1"/>
          </p:cNvSpPr>
          <p:nvPr/>
        </p:nvSpPr>
        <p:spPr bwMode="auto">
          <a:xfrm>
            <a:off x="3371088" y="3382257"/>
            <a:ext cx="1981200" cy="914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800"/>
              <a:t>4.6</a:t>
            </a:r>
          </a:p>
          <a:p>
            <a:pPr algn="ctr" eaLnBrk="1" hangingPunct="1">
              <a:lnSpc>
                <a:spcPct val="100000"/>
              </a:lnSpc>
              <a:spcBef>
                <a:spcPct val="0"/>
              </a:spcBef>
              <a:buFontTx/>
              <a:buNone/>
            </a:pPr>
            <a:r>
              <a:rPr lang="zh-CN" altLang="en-US" sz="1800"/>
              <a:t>结束项目</a:t>
            </a:r>
          </a:p>
          <a:p>
            <a:pPr algn="ctr" eaLnBrk="1" hangingPunct="1">
              <a:lnSpc>
                <a:spcPct val="100000"/>
              </a:lnSpc>
              <a:spcBef>
                <a:spcPct val="0"/>
              </a:spcBef>
              <a:buFontTx/>
              <a:buNone/>
            </a:pPr>
            <a:r>
              <a:rPr lang="zh-CN" altLang="en-US" sz="1800"/>
              <a:t>或阶段</a:t>
            </a:r>
          </a:p>
        </p:txBody>
      </p:sp>
      <p:sp>
        <p:nvSpPr>
          <p:cNvPr id="95240" name="Text Box 7">
            <a:extLst>
              <a:ext uri="{FF2B5EF4-FFF2-40B4-BE49-F238E27FC236}">
                <a16:creationId xmlns:a16="http://schemas.microsoft.com/office/drawing/2014/main" id="{E687DB1D-DD00-4D0E-8C9D-3ACF8FFB1C8E}"/>
              </a:ext>
            </a:extLst>
          </p:cNvPr>
          <p:cNvSpPr txBox="1">
            <a:spLocks noChangeArrowheads="1"/>
          </p:cNvSpPr>
          <p:nvPr/>
        </p:nvSpPr>
        <p:spPr bwMode="auto">
          <a:xfrm>
            <a:off x="3675888" y="2620257"/>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solidFill>
                  <a:schemeClr val="bg1"/>
                </a:solidFill>
              </a:rPr>
              <a:t>项目整体管理</a:t>
            </a:r>
          </a:p>
        </p:txBody>
      </p:sp>
      <p:sp>
        <p:nvSpPr>
          <p:cNvPr id="95242" name="Oval 9">
            <a:extLst>
              <a:ext uri="{FF2B5EF4-FFF2-40B4-BE49-F238E27FC236}">
                <a16:creationId xmlns:a16="http://schemas.microsoft.com/office/drawing/2014/main" id="{6AA20104-097D-4FCC-A852-802314C58F4B}"/>
              </a:ext>
            </a:extLst>
          </p:cNvPr>
          <p:cNvSpPr>
            <a:spLocks noChangeArrowheads="1"/>
          </p:cNvSpPr>
          <p:nvPr/>
        </p:nvSpPr>
        <p:spPr bwMode="auto">
          <a:xfrm>
            <a:off x="2532888" y="1858257"/>
            <a:ext cx="3733800" cy="3733800"/>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4" name="标题 1">
            <a:extLst>
              <a:ext uri="{FF2B5EF4-FFF2-40B4-BE49-F238E27FC236}">
                <a16:creationId xmlns:a16="http://schemas.microsoft.com/office/drawing/2014/main" id="{24D7067C-0C7E-480B-ACC7-0A33ACDECDAA}"/>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10.8 </a:t>
            </a:r>
            <a:r>
              <a:rPr lang="zh-CN" altLang="en-US" dirty="0"/>
              <a:t>结束项目或阶段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0F50A-12BC-48E9-93D4-B040DC9FEBEE}"/>
              </a:ext>
            </a:extLst>
          </p:cNvPr>
          <p:cNvSpPr>
            <a:spLocks noGrp="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70891F60-4356-4AD9-B70D-115A3959974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18D25364-6E6D-4172-96B3-FCACBC2981BB}"/>
              </a:ext>
            </a:extLst>
          </p:cNvPr>
          <p:cNvPicPr>
            <a:picLocks noChangeAspect="1"/>
          </p:cNvPicPr>
          <p:nvPr/>
        </p:nvPicPr>
        <p:blipFill rotWithShape="1">
          <a:blip r:embed="rId3"/>
          <a:srcRect t="10425"/>
          <a:stretch/>
        </p:blipFill>
        <p:spPr>
          <a:xfrm>
            <a:off x="2011843" y="1437092"/>
            <a:ext cx="7759997" cy="4827229"/>
          </a:xfrm>
          <a:prstGeom prst="rect">
            <a:avLst/>
          </a:prstGeom>
        </p:spPr>
      </p:pic>
    </p:spTree>
    <p:extLst>
      <p:ext uri="{BB962C8B-B14F-4D97-AF65-F5344CB8AC3E}">
        <p14:creationId xmlns:p14="http://schemas.microsoft.com/office/powerpoint/2010/main" val="387399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6797E-6019-4509-A971-EDEDD2490934}"/>
              </a:ext>
            </a:extLst>
          </p:cNvPr>
          <p:cNvSpPr>
            <a:spLocks noGrp="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8C7C6AF6-CA9B-4B3F-A206-B245ED9D4C6B}"/>
              </a:ext>
            </a:extLst>
          </p:cNvPr>
          <p:cNvSpPr>
            <a:spLocks noGrp="1"/>
          </p:cNvSpPr>
          <p:nvPr>
            <p:ph idx="1"/>
          </p:nvPr>
        </p:nvSpPr>
        <p:spPr/>
        <p:txBody>
          <a:bodyPr/>
          <a:lstStyle/>
          <a:p>
            <a:r>
              <a:rPr lang="zh-CN" altLang="en-US" sz="1800" i="0" u="none" strike="noStrike" baseline="0" dirty="0">
                <a:latin typeface="SourceHanSansSC-Regular"/>
              </a:rPr>
              <a:t>结束项目或阶段</a:t>
            </a:r>
            <a:r>
              <a:rPr lang="zh-CN" altLang="en-US" sz="1800" dirty="0">
                <a:latin typeface="SourceHanSansSC-Regular"/>
              </a:rPr>
              <a:t>：</a:t>
            </a:r>
            <a:r>
              <a:rPr lang="zh-CN" altLang="en-US" sz="1800" i="0" u="none" strike="noStrike" baseline="0" dirty="0">
                <a:latin typeface="SourceHanSansSC-Regular"/>
              </a:rPr>
              <a:t>是终结项目、阶段或合同的所有活动的过程</a:t>
            </a:r>
            <a:endParaRPr lang="en-US" altLang="zh-CN" sz="1800" i="0" u="none" strike="noStrike" baseline="0" dirty="0">
              <a:latin typeface="SourceHanSansSC-Regular"/>
            </a:endParaRPr>
          </a:p>
          <a:p>
            <a:pPr lvl="1"/>
            <a:r>
              <a:rPr lang="zh-CN" altLang="en-US" sz="1600" i="0" u="none" strike="noStrike" baseline="0" dirty="0">
                <a:latin typeface="SourceHanSansSC-Regular"/>
              </a:rPr>
              <a:t>主要作用是：存档项目或</a:t>
            </a:r>
            <a:r>
              <a:rPr lang="zh-CN" altLang="en-US" sz="1800" i="0" u="none" strike="noStrike" baseline="0" dirty="0">
                <a:latin typeface="SourceHanSansSC-Regular"/>
              </a:rPr>
              <a:t>阶段信息，完成计划的工作，释放组织团队资源以展开新的工作</a:t>
            </a:r>
            <a:endParaRPr lang="en-US" altLang="zh-CN" sz="1800" i="0" u="none" strike="noStrike" baseline="0" dirty="0">
              <a:latin typeface="SourceHanSansSC-Regular"/>
            </a:endParaRPr>
          </a:p>
          <a:p>
            <a:r>
              <a:rPr lang="zh-CN" altLang="en-US" i="0" u="none" strike="noStrike" baseline="0" dirty="0">
                <a:latin typeface="SourceHanSansSC-Regular"/>
              </a:rPr>
              <a:t>为达到阶段或项目的完工或退出标准所需的必要活动包括：</a:t>
            </a:r>
            <a:endParaRPr lang="en-US" altLang="zh-CN" i="0" u="none" strike="noStrike" baseline="0" dirty="0">
              <a:latin typeface="SourceHanSansSC-Regular"/>
            </a:endParaRPr>
          </a:p>
          <a:p>
            <a:pPr lvl="1"/>
            <a:r>
              <a:rPr lang="zh-CN" altLang="en-US" sz="1600" i="0" u="none" strike="noStrike" baseline="0" dirty="0">
                <a:latin typeface="SourceHanSansSC-Regular"/>
              </a:rPr>
              <a:t>为达到阶段或项目的完工或退出标准所必须的行动和活动，例如：</a:t>
            </a:r>
          </a:p>
          <a:p>
            <a:pPr lvl="2"/>
            <a:r>
              <a:rPr lang="zh-CN" altLang="en-US" sz="1400" i="0" u="none" strike="noStrike" baseline="0" dirty="0">
                <a:latin typeface="SourceHanSansSC-Regular"/>
              </a:rPr>
              <a:t>确保所有文件和可交付成果都已是最新版本，且所有问题都已得到解决；</a:t>
            </a:r>
          </a:p>
          <a:p>
            <a:pPr lvl="2"/>
            <a:r>
              <a:rPr lang="zh-CN" altLang="en-US" sz="1400" i="0" u="none" strike="noStrike" baseline="0" dirty="0">
                <a:latin typeface="SourceHanSansSC-Regular"/>
              </a:rPr>
              <a:t>确认可交付成果已交付给客户并已获得客户的正式验收；</a:t>
            </a:r>
          </a:p>
          <a:p>
            <a:pPr lvl="2"/>
            <a:r>
              <a:rPr lang="zh-CN" altLang="en-US" sz="1400" i="0" u="none" strike="noStrike" baseline="0" dirty="0">
                <a:latin typeface="SourceHanSansSC-Regular"/>
              </a:rPr>
              <a:t>确保所有成本都已记入项目成本账；</a:t>
            </a:r>
          </a:p>
          <a:p>
            <a:pPr lvl="2"/>
            <a:r>
              <a:rPr lang="zh-CN" altLang="en-US" sz="1400" i="0" u="none" strike="noStrike" baseline="0" dirty="0">
                <a:latin typeface="SourceHanSansSC-Regular"/>
              </a:rPr>
              <a:t>关闭项目账户；</a:t>
            </a:r>
          </a:p>
          <a:p>
            <a:pPr lvl="2"/>
            <a:r>
              <a:rPr lang="zh-CN" altLang="en-US" sz="1400" i="0" u="none" strike="noStrike" baseline="0" dirty="0">
                <a:latin typeface="SourceHanSansSC-Regular"/>
              </a:rPr>
              <a:t>重新分配人员；</a:t>
            </a:r>
          </a:p>
          <a:p>
            <a:pPr lvl="2"/>
            <a:r>
              <a:rPr lang="zh-CN" altLang="en-US" sz="1400" i="0" u="none" strike="noStrike" baseline="0" dirty="0">
                <a:latin typeface="SourceHanSansSC-Regular"/>
              </a:rPr>
              <a:t>处理多余的项目材料；</a:t>
            </a:r>
          </a:p>
          <a:p>
            <a:pPr lvl="2"/>
            <a:r>
              <a:rPr lang="zh-CN" altLang="en-US" sz="1400" i="0" u="none" strike="noStrike" baseline="0" dirty="0">
                <a:latin typeface="SourceHanSansSC-Regular"/>
              </a:rPr>
              <a:t>重新分配项目设施、设备和其他资源；</a:t>
            </a:r>
          </a:p>
          <a:p>
            <a:pPr lvl="2"/>
            <a:r>
              <a:rPr lang="zh-CN" altLang="en-US" sz="1400" i="0" u="none" strike="noStrike" baseline="0" dirty="0">
                <a:latin typeface="SourceHanSansSC-Regular"/>
              </a:rPr>
              <a:t>根据组织政策编制详尽的最终项目报告。</a:t>
            </a:r>
            <a:endParaRPr lang="zh-CN" altLang="en-US" dirty="0"/>
          </a:p>
        </p:txBody>
      </p:sp>
    </p:spTree>
    <p:extLst>
      <p:ext uri="{BB962C8B-B14F-4D97-AF65-F5344CB8AC3E}">
        <p14:creationId xmlns:p14="http://schemas.microsoft.com/office/powerpoint/2010/main" val="107140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EF4DD-C61E-4155-80E4-AA1096182AA4}"/>
              </a:ext>
            </a:extLst>
          </p:cNvPr>
          <p:cNvSpPr>
            <a:spLocks noGrp="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044941CD-3B9C-48EC-989F-0F7B8807D1A6}"/>
              </a:ext>
            </a:extLst>
          </p:cNvPr>
          <p:cNvSpPr>
            <a:spLocks noGrp="1"/>
          </p:cNvSpPr>
          <p:nvPr>
            <p:ph idx="1"/>
          </p:nvPr>
        </p:nvSpPr>
        <p:spPr/>
        <p:txBody>
          <a:bodyPr/>
          <a:lstStyle/>
          <a:p>
            <a:pPr algn="l">
              <a:lnSpc>
                <a:spcPts val="2200"/>
              </a:lnSpc>
            </a:pPr>
            <a:r>
              <a:rPr lang="zh-CN" altLang="en-US" sz="1800" i="0" u="none" strike="noStrike" baseline="0" dirty="0">
                <a:latin typeface="SourceHanSansSC-Regular"/>
              </a:rPr>
              <a:t>为关闭项目合同协议或项目阶段合同协议所必须开展的活动，例如</a:t>
            </a:r>
          </a:p>
          <a:p>
            <a:pPr lvl="1">
              <a:lnSpc>
                <a:spcPts val="2200"/>
              </a:lnSpc>
            </a:pPr>
            <a:r>
              <a:rPr lang="zh-CN" altLang="en-US" sz="1600" i="0" u="none" strike="noStrike" baseline="0" dirty="0">
                <a:latin typeface="SourceHanSansSC-Regular"/>
              </a:rPr>
              <a:t>确认卖方的工作已通过正式验收；</a:t>
            </a:r>
          </a:p>
          <a:p>
            <a:pPr lvl="1">
              <a:lnSpc>
                <a:spcPts val="2200"/>
              </a:lnSpc>
            </a:pPr>
            <a:r>
              <a:rPr lang="zh-CN" altLang="en-US" sz="1600" i="0" u="none" strike="noStrike" baseline="0" dirty="0">
                <a:latin typeface="SourceHanSansSC-Regular"/>
              </a:rPr>
              <a:t>最终处置未决索赔；</a:t>
            </a:r>
          </a:p>
          <a:p>
            <a:pPr lvl="1">
              <a:lnSpc>
                <a:spcPts val="2200"/>
              </a:lnSpc>
            </a:pPr>
            <a:r>
              <a:rPr lang="zh-CN" altLang="en-US" sz="1600" i="0" u="none" strike="noStrike" baseline="0" dirty="0">
                <a:latin typeface="SourceHanSansSC-Regular"/>
              </a:rPr>
              <a:t>更新记录以反映最后的结果；</a:t>
            </a:r>
          </a:p>
          <a:p>
            <a:pPr lvl="1">
              <a:lnSpc>
                <a:spcPts val="2200"/>
              </a:lnSpc>
            </a:pPr>
            <a:r>
              <a:rPr lang="zh-CN" altLang="en-US" sz="1600" i="0" u="none" strike="noStrike" baseline="0" dirty="0">
                <a:latin typeface="SourceHanSansSC-Regular"/>
              </a:rPr>
              <a:t>存档相关信息供未来使用。</a:t>
            </a:r>
          </a:p>
          <a:p>
            <a:pPr algn="l">
              <a:lnSpc>
                <a:spcPts val="2200"/>
              </a:lnSpc>
            </a:pPr>
            <a:r>
              <a:rPr lang="zh-CN" altLang="en-US" sz="1800" i="0" u="none" strike="noStrike" baseline="0" dirty="0">
                <a:latin typeface="SourceHanSansSC-Regular"/>
              </a:rPr>
              <a:t>为完成项目工作所必须开展的活动，如</a:t>
            </a:r>
          </a:p>
          <a:p>
            <a:pPr lvl="1">
              <a:lnSpc>
                <a:spcPts val="2200"/>
              </a:lnSpc>
            </a:pPr>
            <a:r>
              <a:rPr lang="zh-CN" altLang="en-US" sz="1600" i="0" u="none" strike="noStrike" baseline="0" dirty="0">
                <a:latin typeface="SourceHanSansSC-Regular"/>
              </a:rPr>
              <a:t>收集项目或阶段记录；</a:t>
            </a:r>
          </a:p>
          <a:p>
            <a:pPr lvl="1">
              <a:lnSpc>
                <a:spcPts val="2200"/>
              </a:lnSpc>
            </a:pPr>
            <a:r>
              <a:rPr lang="zh-CN" altLang="en-US" sz="1600" i="0" u="none" strike="noStrike" baseline="0" dirty="0">
                <a:latin typeface="SourceHanSansSC-Regular"/>
              </a:rPr>
              <a:t>审计项目成败；</a:t>
            </a:r>
          </a:p>
          <a:p>
            <a:pPr lvl="1">
              <a:lnSpc>
                <a:spcPts val="2200"/>
              </a:lnSpc>
            </a:pPr>
            <a:r>
              <a:rPr lang="zh-CN" altLang="en-US" sz="1600" i="0" u="none" strike="noStrike" baseline="0" dirty="0">
                <a:latin typeface="SourceHanSansSC-Regular"/>
              </a:rPr>
              <a:t>管理知识分享和传递；</a:t>
            </a:r>
          </a:p>
          <a:p>
            <a:pPr lvl="1">
              <a:lnSpc>
                <a:spcPts val="2200"/>
              </a:lnSpc>
            </a:pPr>
            <a:r>
              <a:rPr lang="zh-CN" altLang="en-US" sz="1600" i="0" u="none" strike="noStrike" baseline="0" dirty="0">
                <a:latin typeface="SourceHanSansSC-Regular"/>
              </a:rPr>
              <a:t>总结经验教训；</a:t>
            </a:r>
          </a:p>
          <a:p>
            <a:pPr lvl="1">
              <a:lnSpc>
                <a:spcPts val="2200"/>
              </a:lnSpc>
            </a:pPr>
            <a:r>
              <a:rPr lang="zh-CN" altLang="en-US" sz="1600" i="0" u="none" strike="noStrike" baseline="0" dirty="0">
                <a:latin typeface="SourceHanSansSC-Regular"/>
              </a:rPr>
              <a:t>存档项目信息以供组织未来使用。</a:t>
            </a:r>
          </a:p>
          <a:p>
            <a:pPr algn="l">
              <a:lnSpc>
                <a:spcPts val="2200"/>
              </a:lnSpc>
            </a:pPr>
            <a:r>
              <a:rPr lang="zh-CN" altLang="en-US" sz="1800" i="0" u="none" strike="noStrike" baseline="0" dirty="0">
                <a:latin typeface="SourceHanSansSC-Regular"/>
              </a:rPr>
              <a:t>为向下一个阶段，或者向生产和（或）运营部门移交项目的产品、服务或成果所必须开展的行动和活动</a:t>
            </a:r>
          </a:p>
          <a:p>
            <a:pPr lvl="1">
              <a:lnSpc>
                <a:spcPts val="2200"/>
              </a:lnSpc>
            </a:pPr>
            <a:r>
              <a:rPr lang="zh-CN" altLang="en-US" sz="1600" i="0" u="none" strike="noStrike" baseline="0" dirty="0">
                <a:latin typeface="SourceHanSansSC-Regular"/>
              </a:rPr>
              <a:t>收集关于改进或更新组织政策和程序的建议，并将它们发送给相应的组织部门。</a:t>
            </a:r>
          </a:p>
          <a:p>
            <a:pPr lvl="1">
              <a:lnSpc>
                <a:spcPts val="2200"/>
              </a:lnSpc>
            </a:pPr>
            <a:r>
              <a:rPr lang="zh-CN" altLang="en-US" sz="1600" i="0" u="none" strike="noStrike" baseline="0" dirty="0">
                <a:latin typeface="SourceHanSansSC-Regular"/>
              </a:rPr>
              <a:t>测量相关方的满意程度。</a:t>
            </a:r>
            <a:endParaRPr lang="zh-CN" altLang="en-US" dirty="0"/>
          </a:p>
        </p:txBody>
      </p:sp>
    </p:spTree>
    <p:extLst>
      <p:ext uri="{BB962C8B-B14F-4D97-AF65-F5344CB8AC3E}">
        <p14:creationId xmlns:p14="http://schemas.microsoft.com/office/powerpoint/2010/main" val="4204848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内容占位符 2">
            <a:extLst>
              <a:ext uri="{FF2B5EF4-FFF2-40B4-BE49-F238E27FC236}">
                <a16:creationId xmlns:a16="http://schemas.microsoft.com/office/drawing/2014/main" id="{7A8C368E-63F7-4E78-9E55-2A3ECC727BC9}"/>
              </a:ext>
            </a:extLst>
          </p:cNvPr>
          <p:cNvSpPr>
            <a:spLocks noGrp="1" noChangeArrowheads="1"/>
          </p:cNvSpPr>
          <p:nvPr>
            <p:ph idx="1"/>
          </p:nvPr>
        </p:nvSpPr>
        <p:spPr>
          <a:xfrm>
            <a:off x="1981200" y="1008063"/>
            <a:ext cx="8229600" cy="819150"/>
          </a:xfrm>
        </p:spPr>
        <p:txBody>
          <a:bodyPr/>
          <a:lstStyle/>
          <a:p>
            <a:r>
              <a:rPr lang="zh-CN" altLang="en-US"/>
              <a:t>收尾步骤</a:t>
            </a:r>
          </a:p>
        </p:txBody>
      </p:sp>
      <p:sp>
        <p:nvSpPr>
          <p:cNvPr id="4" name="Rectangle 3">
            <a:extLst>
              <a:ext uri="{FF2B5EF4-FFF2-40B4-BE49-F238E27FC236}">
                <a16:creationId xmlns:a16="http://schemas.microsoft.com/office/drawing/2014/main" id="{1E1CB407-B359-490E-A710-0AE084C8774B}"/>
              </a:ext>
            </a:extLst>
          </p:cNvPr>
          <p:cNvSpPr>
            <a:spLocks noChangeArrowheads="1"/>
          </p:cNvSpPr>
          <p:nvPr/>
        </p:nvSpPr>
        <p:spPr bwMode="auto">
          <a:xfrm>
            <a:off x="3035111" y="25107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1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确定收尾程序</a:t>
            </a:r>
          </a:p>
        </p:txBody>
      </p:sp>
      <p:sp>
        <p:nvSpPr>
          <p:cNvPr id="5" name="Rectangle 4">
            <a:extLst>
              <a:ext uri="{FF2B5EF4-FFF2-40B4-BE49-F238E27FC236}">
                <a16:creationId xmlns:a16="http://schemas.microsoft.com/office/drawing/2014/main" id="{75103967-087C-453C-AF2B-691DDA7AE466}"/>
              </a:ext>
            </a:extLst>
          </p:cNvPr>
          <p:cNvSpPr>
            <a:spLocks noChangeArrowheads="1"/>
          </p:cNvSpPr>
          <p:nvPr/>
        </p:nvSpPr>
        <p:spPr bwMode="auto">
          <a:xfrm>
            <a:off x="5051235" y="2510727"/>
            <a:ext cx="2341562"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2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移交项目成果</a:t>
            </a:r>
          </a:p>
        </p:txBody>
      </p:sp>
      <p:sp>
        <p:nvSpPr>
          <p:cNvPr id="6" name="Rectangle 5">
            <a:extLst>
              <a:ext uri="{FF2B5EF4-FFF2-40B4-BE49-F238E27FC236}">
                <a16:creationId xmlns:a16="http://schemas.microsoft.com/office/drawing/2014/main" id="{FD3D502E-435F-4E46-B5D2-694D48B4BCCB}"/>
              </a:ext>
            </a:extLst>
          </p:cNvPr>
          <p:cNvSpPr>
            <a:spLocks noChangeArrowheads="1"/>
          </p:cNvSpPr>
          <p:nvPr/>
        </p:nvSpPr>
        <p:spPr bwMode="auto">
          <a:xfrm>
            <a:off x="7138797" y="4453827"/>
            <a:ext cx="2387600"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4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完成经验总结</a:t>
            </a:r>
          </a:p>
        </p:txBody>
      </p:sp>
      <p:sp>
        <p:nvSpPr>
          <p:cNvPr id="7" name="Rectangle 6">
            <a:extLst>
              <a:ext uri="{FF2B5EF4-FFF2-40B4-BE49-F238E27FC236}">
                <a16:creationId xmlns:a16="http://schemas.microsoft.com/office/drawing/2014/main" id="{1CB38A01-10BE-4596-8BEE-3974C2EED9D0}"/>
              </a:ext>
            </a:extLst>
          </p:cNvPr>
          <p:cNvSpPr>
            <a:spLocks noChangeArrowheads="1"/>
          </p:cNvSpPr>
          <p:nvPr/>
        </p:nvSpPr>
        <p:spPr bwMode="auto">
          <a:xfrm>
            <a:off x="7865873" y="25107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3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执行内部收尾程序</a:t>
            </a:r>
          </a:p>
        </p:txBody>
      </p:sp>
      <p:sp>
        <p:nvSpPr>
          <p:cNvPr id="8" name="Rectangle 7">
            <a:extLst>
              <a:ext uri="{FF2B5EF4-FFF2-40B4-BE49-F238E27FC236}">
                <a16:creationId xmlns:a16="http://schemas.microsoft.com/office/drawing/2014/main" id="{9888F327-A758-4F18-95BF-B948EEE078D7}"/>
              </a:ext>
            </a:extLst>
          </p:cNvPr>
          <p:cNvSpPr>
            <a:spLocks noChangeArrowheads="1"/>
          </p:cNvSpPr>
          <p:nvPr/>
        </p:nvSpPr>
        <p:spPr bwMode="auto">
          <a:xfrm>
            <a:off x="5051236" y="44538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5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项目归档</a:t>
            </a:r>
          </a:p>
        </p:txBody>
      </p:sp>
      <p:sp>
        <p:nvSpPr>
          <p:cNvPr id="9" name="Rectangle 8">
            <a:extLst>
              <a:ext uri="{FF2B5EF4-FFF2-40B4-BE49-F238E27FC236}">
                <a16:creationId xmlns:a16="http://schemas.microsoft.com/office/drawing/2014/main" id="{C752DC8B-D425-4856-99CD-DD87A0976FF4}"/>
              </a:ext>
            </a:extLst>
          </p:cNvPr>
          <p:cNvSpPr>
            <a:spLocks noChangeArrowheads="1"/>
          </p:cNvSpPr>
          <p:nvPr/>
        </p:nvSpPr>
        <p:spPr bwMode="auto">
          <a:xfrm>
            <a:off x="3106548" y="44538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6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资源遣散</a:t>
            </a:r>
          </a:p>
        </p:txBody>
      </p:sp>
      <p:sp>
        <p:nvSpPr>
          <p:cNvPr id="10" name="Rectangle 9">
            <a:extLst>
              <a:ext uri="{FF2B5EF4-FFF2-40B4-BE49-F238E27FC236}">
                <a16:creationId xmlns:a16="http://schemas.microsoft.com/office/drawing/2014/main" id="{936FD90A-C120-4DA4-8A72-B832A57EE979}"/>
              </a:ext>
            </a:extLst>
          </p:cNvPr>
          <p:cNvSpPr>
            <a:spLocks noChangeArrowheads="1"/>
          </p:cNvSpPr>
          <p:nvPr/>
        </p:nvSpPr>
        <p:spPr bwMode="auto">
          <a:xfrm>
            <a:off x="3106548" y="5750814"/>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结束</a:t>
            </a:r>
          </a:p>
        </p:txBody>
      </p:sp>
      <p:sp>
        <p:nvSpPr>
          <p:cNvPr id="176138" name="Line 10">
            <a:extLst>
              <a:ext uri="{FF2B5EF4-FFF2-40B4-BE49-F238E27FC236}">
                <a16:creationId xmlns:a16="http://schemas.microsoft.com/office/drawing/2014/main" id="{AA445FC4-F19D-4D53-A2F1-8C5B963CB894}"/>
              </a:ext>
            </a:extLst>
          </p:cNvPr>
          <p:cNvSpPr>
            <a:spLocks noChangeShapeType="1"/>
          </p:cNvSpPr>
          <p:nvPr/>
        </p:nvSpPr>
        <p:spPr bwMode="auto">
          <a:xfrm>
            <a:off x="4619435" y="2942527"/>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39" name="Line 11">
            <a:extLst>
              <a:ext uri="{FF2B5EF4-FFF2-40B4-BE49-F238E27FC236}">
                <a16:creationId xmlns:a16="http://schemas.microsoft.com/office/drawing/2014/main" id="{F30F2C9F-A022-4EC1-BE0D-87D2185761F7}"/>
              </a:ext>
            </a:extLst>
          </p:cNvPr>
          <p:cNvSpPr>
            <a:spLocks noChangeShapeType="1"/>
          </p:cNvSpPr>
          <p:nvPr/>
        </p:nvSpPr>
        <p:spPr bwMode="auto">
          <a:xfrm>
            <a:off x="7418197" y="2942527"/>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0" name="Line 12">
            <a:extLst>
              <a:ext uri="{FF2B5EF4-FFF2-40B4-BE49-F238E27FC236}">
                <a16:creationId xmlns:a16="http://schemas.microsoft.com/office/drawing/2014/main" id="{D7612E8C-C6C5-4DB1-B0B1-9A502445F4C5}"/>
              </a:ext>
            </a:extLst>
          </p:cNvPr>
          <p:cNvSpPr>
            <a:spLocks noChangeShapeType="1"/>
          </p:cNvSpPr>
          <p:nvPr/>
        </p:nvSpPr>
        <p:spPr bwMode="auto">
          <a:xfrm>
            <a:off x="8535797" y="3463227"/>
            <a:ext cx="0" cy="990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1" name="Line 13">
            <a:extLst>
              <a:ext uri="{FF2B5EF4-FFF2-40B4-BE49-F238E27FC236}">
                <a16:creationId xmlns:a16="http://schemas.microsoft.com/office/drawing/2014/main" id="{346AC971-5119-4374-932C-73341E356F90}"/>
              </a:ext>
            </a:extLst>
          </p:cNvPr>
          <p:cNvSpPr>
            <a:spLocks noChangeShapeType="1"/>
          </p:cNvSpPr>
          <p:nvPr/>
        </p:nvSpPr>
        <p:spPr bwMode="auto">
          <a:xfrm flipH="1">
            <a:off x="6635561" y="4887214"/>
            <a:ext cx="503237"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2" name="Line 14">
            <a:extLst>
              <a:ext uri="{FF2B5EF4-FFF2-40B4-BE49-F238E27FC236}">
                <a16:creationId xmlns:a16="http://schemas.microsoft.com/office/drawing/2014/main" id="{7245E16E-3E8A-4055-A968-9763EC9E2AD4}"/>
              </a:ext>
            </a:extLst>
          </p:cNvPr>
          <p:cNvSpPr>
            <a:spLocks noChangeShapeType="1"/>
          </p:cNvSpPr>
          <p:nvPr/>
        </p:nvSpPr>
        <p:spPr bwMode="auto">
          <a:xfrm flipH="1">
            <a:off x="4690873" y="4887214"/>
            <a:ext cx="360363"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3" name="Line 15">
            <a:extLst>
              <a:ext uri="{FF2B5EF4-FFF2-40B4-BE49-F238E27FC236}">
                <a16:creationId xmlns:a16="http://schemas.microsoft.com/office/drawing/2014/main" id="{238C8E59-E4A3-4E92-84C6-2DCB4F71FFD7}"/>
              </a:ext>
            </a:extLst>
          </p:cNvPr>
          <p:cNvSpPr>
            <a:spLocks noChangeShapeType="1"/>
          </p:cNvSpPr>
          <p:nvPr/>
        </p:nvSpPr>
        <p:spPr bwMode="auto">
          <a:xfrm>
            <a:off x="3827272" y="5319014"/>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Rectangle 16">
            <a:extLst>
              <a:ext uri="{FF2B5EF4-FFF2-40B4-BE49-F238E27FC236}">
                <a16:creationId xmlns:a16="http://schemas.microsoft.com/office/drawing/2014/main" id="{E9CC4053-C457-43E6-83D8-96A8742DF5BA}"/>
              </a:ext>
            </a:extLst>
          </p:cNvPr>
          <p:cNvSpPr>
            <a:spLocks noChangeArrowheads="1"/>
          </p:cNvSpPr>
          <p:nvPr/>
        </p:nvSpPr>
        <p:spPr bwMode="auto">
          <a:xfrm>
            <a:off x="3049398" y="1713802"/>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开始</a:t>
            </a:r>
          </a:p>
        </p:txBody>
      </p:sp>
      <p:sp>
        <p:nvSpPr>
          <p:cNvPr id="176145" name="Line 17">
            <a:extLst>
              <a:ext uri="{FF2B5EF4-FFF2-40B4-BE49-F238E27FC236}">
                <a16:creationId xmlns:a16="http://schemas.microsoft.com/office/drawing/2014/main" id="{A08218A0-E3BA-4B7D-BE56-07280EFFA2FF}"/>
              </a:ext>
            </a:extLst>
          </p:cNvPr>
          <p:cNvSpPr>
            <a:spLocks noChangeShapeType="1"/>
          </p:cNvSpPr>
          <p:nvPr/>
        </p:nvSpPr>
        <p:spPr bwMode="auto">
          <a:xfrm>
            <a:off x="3811397" y="2094802"/>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标题 1">
            <a:extLst>
              <a:ext uri="{FF2B5EF4-FFF2-40B4-BE49-F238E27FC236}">
                <a16:creationId xmlns:a16="http://schemas.microsoft.com/office/drawing/2014/main" id="{782FF8E5-08E0-4130-BCF0-C82042AF6C6A}"/>
              </a:ext>
            </a:extLst>
          </p:cNvPr>
          <p:cNvSpPr>
            <a:spLocks noGrp="1" noChangeArrowheads="1"/>
          </p:cNvSpPr>
          <p:nvPr>
            <p:ph type="title"/>
          </p:nvPr>
        </p:nvSpPr>
        <p:spPr>
          <a:xfrm>
            <a:off x="613885" y="764293"/>
            <a:ext cx="10972800" cy="437186"/>
          </a:xfrm>
        </p:spPr>
        <p:txBody>
          <a:bodyPr/>
          <a:lstStyle/>
          <a:p>
            <a:pPr algn="ctr"/>
            <a:r>
              <a:rPr lang="en-US" altLang="zh-CN" dirty="0"/>
              <a:t>10.8 </a:t>
            </a:r>
            <a:r>
              <a:rPr lang="zh-CN" altLang="en-US" dirty="0"/>
              <a:t>结束项目或阶段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a:extLst>
              <a:ext uri="{FF2B5EF4-FFF2-40B4-BE49-F238E27FC236}">
                <a16:creationId xmlns:a16="http://schemas.microsoft.com/office/drawing/2014/main" id="{CD64EF95-DBE0-4E49-9BA0-60F1CC13FF7B}"/>
              </a:ext>
            </a:extLst>
          </p:cNvPr>
          <p:cNvSpPr>
            <a:spLocks noGrp="1" noChangeArrowheads="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4D2611E5-98CF-4E34-90BA-8C24D4ADE433}"/>
              </a:ext>
            </a:extLst>
          </p:cNvPr>
          <p:cNvSpPr>
            <a:spLocks noGrp="1"/>
          </p:cNvSpPr>
          <p:nvPr>
            <p:ph idx="1"/>
          </p:nvPr>
        </p:nvSpPr>
        <p:spPr/>
        <p:txBody>
          <a:bodyPr/>
          <a:lstStyle/>
          <a:p>
            <a:pPr eaLnBrk="1" hangingPunct="1">
              <a:lnSpc>
                <a:spcPct val="150000"/>
              </a:lnSpc>
              <a:buFont typeface="Wingdings" panose="05000000000000000000" pitchFamily="2" charset="2"/>
              <a:buChar char="n"/>
              <a:defRPr/>
            </a:pPr>
            <a:r>
              <a:rPr lang="zh-CN" altLang="en-US" b="0" dirty="0">
                <a:solidFill>
                  <a:srgbClr val="000000"/>
                </a:solidFill>
                <a:ea typeface="黑体"/>
              </a:rPr>
              <a:t>问题</a:t>
            </a:r>
            <a:endParaRPr lang="en-US" altLang="zh-CN" b="0" dirty="0">
              <a:solidFill>
                <a:srgbClr val="000000"/>
              </a:solidFill>
              <a:ea typeface="黑体"/>
            </a:endParaRPr>
          </a:p>
          <a:p>
            <a:pPr lvl="1" indent="-342900">
              <a:buFont typeface="Wingdings" panose="05000000000000000000" pitchFamily="2" charset="2"/>
              <a:buChar char="n"/>
              <a:defRPr/>
            </a:pPr>
            <a:r>
              <a:rPr lang="zh-CN" altLang="en-US" sz="1600" b="0" dirty="0">
                <a:solidFill>
                  <a:srgbClr val="000000"/>
                </a:solidFill>
                <a:ea typeface="黑体"/>
              </a:rPr>
              <a:t>在项目收尾时最后应该做的是：</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A</a:t>
            </a:r>
            <a:r>
              <a:rPr lang="zh-CN" altLang="en-US" sz="1400" b="0" dirty="0">
                <a:solidFill>
                  <a:srgbClr val="000000"/>
                </a:solidFill>
                <a:ea typeface="黑体"/>
              </a:rPr>
              <a:t>．完成经验总结</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B</a:t>
            </a:r>
            <a:r>
              <a:rPr lang="zh-CN" altLang="en-US" sz="1400" b="0" dirty="0">
                <a:solidFill>
                  <a:srgbClr val="000000"/>
                </a:solidFill>
                <a:ea typeface="黑体"/>
              </a:rPr>
              <a:t>．提供给客户所有相关的文档</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C</a:t>
            </a:r>
            <a:r>
              <a:rPr lang="zh-CN" altLang="en-US" sz="1400" b="0" dirty="0">
                <a:solidFill>
                  <a:srgbClr val="000000"/>
                </a:solidFill>
                <a:ea typeface="黑体"/>
              </a:rPr>
              <a:t>．更新档案</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D</a:t>
            </a:r>
            <a:r>
              <a:rPr lang="zh-CN" altLang="en-US" sz="1400" b="0" dirty="0">
                <a:solidFill>
                  <a:srgbClr val="000000"/>
                </a:solidFill>
                <a:ea typeface="黑体"/>
              </a:rPr>
              <a:t>．解散团队</a:t>
            </a:r>
          </a:p>
          <a:p>
            <a:pPr>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CADFC15-8ED4-4CC7-A06F-1167126CA7F6}"/>
              </a:ext>
            </a:extLst>
          </p:cNvPr>
          <p:cNvSpPr>
            <a:spLocks noGrp="1"/>
          </p:cNvSpPr>
          <p:nvPr>
            <p:ph idx="1"/>
          </p:nvPr>
        </p:nvSpPr>
        <p:spPr>
          <a:xfrm>
            <a:off x="609600" y="982663"/>
            <a:ext cx="10972800" cy="5369750"/>
          </a:xfrm>
        </p:spPr>
        <p:txBody>
          <a:bodyPr/>
          <a:lstStyle/>
          <a:p>
            <a:r>
              <a:rPr lang="zh-CN" altLang="en-US" dirty="0"/>
              <a:t>案例结局</a:t>
            </a:r>
            <a:endParaRPr lang="en-US" altLang="zh-CN" dirty="0"/>
          </a:p>
          <a:p>
            <a:pPr marL="443230" lvl="1" indent="0">
              <a:buNone/>
            </a:pPr>
            <a:r>
              <a:rPr lang="en-US" altLang="zh-CN" dirty="0">
                <a:latin typeface="+mn-ea"/>
                <a:ea typeface="+mn-ea"/>
              </a:rPr>
              <a:t>   Nick</a:t>
            </a:r>
            <a:r>
              <a:rPr lang="zh-CN" altLang="en-US" dirty="0">
                <a:latin typeface="+mn-ea"/>
                <a:ea typeface="+mn-ea"/>
              </a:rPr>
              <a:t>的</a:t>
            </a:r>
            <a:r>
              <a:rPr lang="en-US" altLang="zh-CN" dirty="0">
                <a:latin typeface="+mn-ea"/>
                <a:ea typeface="+mn-ea"/>
              </a:rPr>
              <a:t>CEO</a:t>
            </a:r>
            <a:r>
              <a:rPr lang="zh-CN" altLang="en-US" dirty="0">
                <a:latin typeface="+mn-ea"/>
                <a:ea typeface="+mn-ea"/>
              </a:rPr>
              <a:t>未与</a:t>
            </a:r>
            <a:r>
              <a:rPr lang="en-US" altLang="zh-CN" dirty="0">
                <a:latin typeface="+mn-ea"/>
                <a:ea typeface="+mn-ea"/>
              </a:rPr>
              <a:t>Nick</a:t>
            </a:r>
            <a:r>
              <a:rPr lang="zh-CN" altLang="en-US" dirty="0">
                <a:latin typeface="+mn-ea"/>
                <a:ea typeface="+mn-ea"/>
              </a:rPr>
              <a:t>和其团队协商，聘请了一位新人</a:t>
            </a:r>
            <a:r>
              <a:rPr lang="en-US" altLang="zh-CN" dirty="0">
                <a:latin typeface="+mn-ea"/>
                <a:ea typeface="+mn-ea"/>
              </a:rPr>
              <a:t>Jim</a:t>
            </a:r>
            <a:r>
              <a:rPr lang="zh-CN" altLang="en-US" dirty="0">
                <a:latin typeface="+mn-ea"/>
                <a:ea typeface="+mn-ea"/>
              </a:rPr>
              <a:t>，作为自己与</a:t>
            </a:r>
            <a:r>
              <a:rPr lang="en-US" altLang="zh-CN" dirty="0">
                <a:latin typeface="+mn-ea"/>
                <a:ea typeface="+mn-ea"/>
              </a:rPr>
              <a:t>Nick </a:t>
            </a:r>
            <a:r>
              <a:rPr lang="zh-CN" altLang="en-US" dirty="0">
                <a:latin typeface="+mn-ea"/>
                <a:ea typeface="+mn-ea"/>
              </a:rPr>
              <a:t>部门的人员之间的一个沟通中间人。公司首席执行官和其他高层经理都对这位新任的中层经理</a:t>
            </a:r>
            <a:r>
              <a:rPr lang="en-US" altLang="zh-CN" dirty="0">
                <a:latin typeface="+mn-ea"/>
                <a:ea typeface="+mn-ea"/>
              </a:rPr>
              <a:t>Jim</a:t>
            </a:r>
            <a:r>
              <a:rPr lang="zh-CN" altLang="en-US" dirty="0">
                <a:latin typeface="+mn-ea"/>
                <a:ea typeface="+mn-ea"/>
              </a:rPr>
              <a:t>很满意。他经常与他们会面交流想法并富有幽默感。他开始着手制定一项公司可在未来使用的、帮助管理项目的标准。例如，他开始为制定规划和进度报告制作样板，并将它们发布在公司的局域网上。</a:t>
            </a:r>
            <a:r>
              <a:rPr lang="en-US" altLang="zh-CN" dirty="0">
                <a:latin typeface="+mn-ea"/>
                <a:ea typeface="+mn-ea"/>
              </a:rPr>
              <a:t> </a:t>
            </a:r>
            <a:r>
              <a:rPr lang="zh-CN" altLang="en-US" dirty="0">
                <a:latin typeface="+mn-ea"/>
                <a:ea typeface="+mn-ea"/>
              </a:rPr>
              <a:t>然而，</a:t>
            </a:r>
            <a:r>
              <a:rPr lang="en-US" altLang="zh-CN" dirty="0">
                <a:latin typeface="+mn-ea"/>
                <a:ea typeface="+mn-ea"/>
              </a:rPr>
              <a:t>Jim </a:t>
            </a:r>
            <a:r>
              <a:rPr lang="zh-CN" altLang="en-US" dirty="0">
                <a:latin typeface="+mn-ea"/>
                <a:ea typeface="+mn-ea"/>
              </a:rPr>
              <a:t>与</a:t>
            </a:r>
            <a:r>
              <a:rPr lang="en-US" altLang="zh-CN" dirty="0">
                <a:latin typeface="+mn-ea"/>
                <a:ea typeface="+mn-ea"/>
              </a:rPr>
              <a:t>Nick</a:t>
            </a:r>
            <a:r>
              <a:rPr lang="zh-CN" altLang="en-US" dirty="0">
                <a:latin typeface="+mn-ea"/>
                <a:ea typeface="+mn-ea"/>
              </a:rPr>
              <a:t>相处得并不好。</a:t>
            </a:r>
            <a:r>
              <a:rPr lang="en-US" altLang="zh-CN" dirty="0">
                <a:latin typeface="+mn-ea"/>
                <a:ea typeface="+mn-ea"/>
              </a:rPr>
              <a:t>Jim </a:t>
            </a:r>
            <a:r>
              <a:rPr lang="zh-CN" altLang="en-US" dirty="0">
                <a:latin typeface="+mn-ea"/>
                <a:ea typeface="+mn-ea"/>
              </a:rPr>
              <a:t>意外地将一封本来要发给公司</a:t>
            </a:r>
            <a:r>
              <a:rPr lang="en-US" altLang="zh-CN" dirty="0">
                <a:latin typeface="+mn-ea"/>
                <a:ea typeface="+mn-ea"/>
              </a:rPr>
              <a:t>CEO</a:t>
            </a:r>
            <a:r>
              <a:rPr lang="zh-CN" altLang="en-US" dirty="0">
                <a:latin typeface="+mn-ea"/>
                <a:ea typeface="+mn-ea"/>
              </a:rPr>
              <a:t>的电子邮件发给了</a:t>
            </a:r>
            <a:r>
              <a:rPr lang="en-US" altLang="zh-CN" dirty="0">
                <a:latin typeface="+mn-ea"/>
                <a:ea typeface="+mn-ea"/>
              </a:rPr>
              <a:t>Nick</a:t>
            </a:r>
            <a:r>
              <a:rPr lang="zh-CN" altLang="en-US" dirty="0">
                <a:latin typeface="+mn-ea"/>
                <a:ea typeface="+mn-ea"/>
              </a:rPr>
              <a:t>。在这封邮件里</a:t>
            </a:r>
            <a:r>
              <a:rPr lang="en-US" altLang="zh-CN" dirty="0">
                <a:latin typeface="+mn-ea"/>
                <a:ea typeface="+mn-ea"/>
              </a:rPr>
              <a:t>Jim</a:t>
            </a:r>
            <a:r>
              <a:rPr lang="zh-CN" altLang="en-US" dirty="0">
                <a:latin typeface="+mn-ea"/>
                <a:ea typeface="+mn-ea"/>
              </a:rPr>
              <a:t>说，</a:t>
            </a:r>
            <a:r>
              <a:rPr lang="en-US" altLang="zh-CN" dirty="0">
                <a:latin typeface="+mn-ea"/>
                <a:ea typeface="+mn-ea"/>
              </a:rPr>
              <a:t>Nick </a:t>
            </a:r>
            <a:r>
              <a:rPr lang="zh-CN" altLang="en-US" dirty="0">
                <a:latin typeface="+mn-ea"/>
                <a:ea typeface="+mn-ea"/>
              </a:rPr>
              <a:t>正忙于他儿子的诞生。</a:t>
            </a:r>
            <a:endParaRPr lang="en-US" altLang="zh-CN" dirty="0">
              <a:latin typeface="+mn-ea"/>
              <a:ea typeface="+mn-ea"/>
            </a:endParaRPr>
          </a:p>
          <a:p>
            <a:pPr marL="443230" lvl="1" indent="0">
              <a:buNone/>
            </a:pPr>
            <a:r>
              <a:rPr lang="en-US" altLang="zh-CN" dirty="0">
                <a:latin typeface="+mn-ea"/>
                <a:ea typeface="+mn-ea"/>
              </a:rPr>
              <a:t>   Nick </a:t>
            </a:r>
            <a:r>
              <a:rPr lang="zh-CN" altLang="en-US" dirty="0">
                <a:latin typeface="+mn-ea"/>
                <a:ea typeface="+mn-ea"/>
              </a:rPr>
              <a:t>看到电子邮件后很气愤，他冲进</a:t>
            </a:r>
            <a:r>
              <a:rPr lang="en-US" altLang="zh-CN" dirty="0">
                <a:latin typeface="+mn-ea"/>
                <a:ea typeface="+mn-ea"/>
              </a:rPr>
              <a:t>CEO</a:t>
            </a:r>
            <a:r>
              <a:rPr lang="zh-CN" altLang="en-US" dirty="0">
                <a:latin typeface="+mn-ea"/>
                <a:ea typeface="+mn-ea"/>
              </a:rPr>
              <a:t>的办公室。随后行政总裁建议将</a:t>
            </a:r>
            <a:r>
              <a:rPr lang="en-US" altLang="zh-CN" dirty="0">
                <a:latin typeface="+mn-ea"/>
                <a:ea typeface="+mn-ea"/>
              </a:rPr>
              <a:t>Nick</a:t>
            </a:r>
            <a:r>
              <a:rPr lang="zh-CN" altLang="en-US" dirty="0">
                <a:latin typeface="+mn-ea"/>
                <a:ea typeface="+mn-ea"/>
              </a:rPr>
              <a:t>调往另一部门，</a:t>
            </a:r>
            <a:r>
              <a:rPr lang="en-US" altLang="zh-CN" dirty="0">
                <a:latin typeface="+mn-ea"/>
                <a:ea typeface="+mn-ea"/>
              </a:rPr>
              <a:t>Nick</a:t>
            </a:r>
            <a:r>
              <a:rPr lang="zh-CN" altLang="en-US" dirty="0">
                <a:latin typeface="+mn-ea"/>
                <a:ea typeface="+mn-ea"/>
              </a:rPr>
              <a:t>不同意。没有过多考虑后果，</a:t>
            </a:r>
            <a:r>
              <a:rPr lang="en-US" altLang="zh-CN" dirty="0">
                <a:latin typeface="+mn-ea"/>
                <a:ea typeface="+mn-ea"/>
              </a:rPr>
              <a:t>CEO</a:t>
            </a:r>
            <a:r>
              <a:rPr lang="zh-CN" altLang="en-US" dirty="0">
                <a:latin typeface="+mn-ea"/>
                <a:ea typeface="+mn-ea"/>
              </a:rPr>
              <a:t>向</a:t>
            </a:r>
            <a:r>
              <a:rPr lang="en-US" altLang="zh-CN" dirty="0">
                <a:latin typeface="+mn-ea"/>
                <a:ea typeface="+mn-ea"/>
              </a:rPr>
              <a:t>Nick</a:t>
            </a:r>
            <a:r>
              <a:rPr lang="zh-CN" altLang="en-US" dirty="0">
                <a:latin typeface="+mn-ea"/>
                <a:ea typeface="+mn-ea"/>
              </a:rPr>
              <a:t>提出让他离开公司，并支付给他一笔遣散费。由于计划中的企业并购，</a:t>
            </a:r>
            <a:r>
              <a:rPr lang="en-US" altLang="zh-CN" dirty="0">
                <a:latin typeface="+mn-ea"/>
                <a:ea typeface="+mn-ea"/>
              </a:rPr>
              <a:t>CEO</a:t>
            </a:r>
            <a:r>
              <a:rPr lang="zh-CN" altLang="en-US" dirty="0">
                <a:latin typeface="+mn-ea"/>
                <a:ea typeface="+mn-ea"/>
              </a:rPr>
              <a:t>知道他们免不了裁掉一些人。</a:t>
            </a:r>
            <a:r>
              <a:rPr lang="en-US" altLang="zh-CN" dirty="0">
                <a:latin typeface="+mn-ea"/>
                <a:ea typeface="+mn-ea"/>
              </a:rPr>
              <a:t>Nick </a:t>
            </a:r>
            <a:r>
              <a:rPr lang="zh-CN" altLang="en-US" dirty="0">
                <a:latin typeface="+mn-ea"/>
                <a:ea typeface="+mn-ea"/>
              </a:rPr>
              <a:t>向</a:t>
            </a:r>
            <a:r>
              <a:rPr lang="en-US" altLang="zh-CN" dirty="0">
                <a:latin typeface="+mn-ea"/>
                <a:ea typeface="+mn-ea"/>
              </a:rPr>
              <a:t>CEO</a:t>
            </a:r>
            <a:r>
              <a:rPr lang="zh-CN" altLang="en-US" dirty="0">
                <a:latin typeface="+mn-ea"/>
                <a:ea typeface="+mn-ea"/>
              </a:rPr>
              <a:t>提出他还有没有休完的两个月假期以及较高比例的股票期权。如果辞职他将会得到</a:t>
            </a:r>
            <a:r>
              <a:rPr lang="en-US" altLang="zh-CN" dirty="0">
                <a:latin typeface="+mn-ea"/>
                <a:ea typeface="+mn-ea"/>
              </a:rPr>
              <a:t>7</a:t>
            </a:r>
            <a:r>
              <a:rPr lang="zh-CN" altLang="en-US" dirty="0">
                <a:latin typeface="+mn-ea"/>
                <a:ea typeface="+mn-ea"/>
              </a:rPr>
              <a:t>万多美元，在与妻子商议后，</a:t>
            </a:r>
            <a:r>
              <a:rPr lang="en-US" altLang="zh-CN" dirty="0">
                <a:latin typeface="+mn-ea"/>
                <a:ea typeface="+mn-ea"/>
              </a:rPr>
              <a:t>Nick</a:t>
            </a:r>
            <a:r>
              <a:rPr lang="zh-CN" altLang="en-US" dirty="0">
                <a:latin typeface="+mn-ea"/>
                <a:ea typeface="+mn-ea"/>
              </a:rPr>
              <a:t>接受了遣散方案。有了这将一次失败的作为项目经理的经验之后，他觉得还是适合做一名技术专家。而</a:t>
            </a:r>
            <a:r>
              <a:rPr lang="en-US" altLang="zh-CN" dirty="0">
                <a:latin typeface="+mn-ea"/>
                <a:ea typeface="+mn-ea"/>
              </a:rPr>
              <a:t>Jim</a:t>
            </a:r>
            <a:r>
              <a:rPr lang="zh-CN" altLang="en-US" dirty="0">
                <a:latin typeface="+mn-ea"/>
                <a:ea typeface="+mn-ea"/>
              </a:rPr>
              <a:t>呢，在他的位置上干得很起劲，帮助公司改善了项目管理的做法，确保公司在高度竞争的市场中取得了成功。</a:t>
            </a:r>
          </a:p>
        </p:txBody>
      </p:sp>
      <p:sp>
        <p:nvSpPr>
          <p:cNvPr id="4" name="标题 1">
            <a:extLst>
              <a:ext uri="{FF2B5EF4-FFF2-40B4-BE49-F238E27FC236}">
                <a16:creationId xmlns:a16="http://schemas.microsoft.com/office/drawing/2014/main" id="{05D7A1E6-4D25-4B53-A48E-FD7CDD6613F8}"/>
              </a:ext>
            </a:extLst>
          </p:cNvPr>
          <p:cNvSpPr>
            <a:spLocks noGrp="1"/>
          </p:cNvSpPr>
          <p:nvPr>
            <p:ph type="title"/>
          </p:nvPr>
        </p:nvSpPr>
        <p:spPr>
          <a:xfrm>
            <a:off x="614363" y="763588"/>
            <a:ext cx="10972800" cy="438150"/>
          </a:xfrm>
        </p:spPr>
        <p:txBody>
          <a:bodyPr/>
          <a:lstStyle/>
          <a:p>
            <a:pPr algn="ctr"/>
            <a:r>
              <a:rPr lang="en-US" altLang="zh-CN" dirty="0"/>
              <a:t>10.8 </a:t>
            </a:r>
            <a:r>
              <a:rPr lang="zh-CN" altLang="en-US" dirty="0"/>
              <a:t>结束项目或阶段</a:t>
            </a:r>
          </a:p>
        </p:txBody>
      </p:sp>
    </p:spTree>
    <p:extLst>
      <p:ext uri="{BB962C8B-B14F-4D97-AF65-F5344CB8AC3E}">
        <p14:creationId xmlns:p14="http://schemas.microsoft.com/office/powerpoint/2010/main" val="45106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283677" y="1736660"/>
            <a:ext cx="294249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10</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7" name="TextBox 5"/>
          <p:cNvSpPr>
            <a:spLocks noChangeArrowheads="1"/>
          </p:cNvSpPr>
          <p:nvPr/>
        </p:nvSpPr>
        <p:spPr bwMode="auto">
          <a:xfrm>
            <a:off x="5564638" y="1217690"/>
            <a:ext cx="38322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800" dirty="0">
                <a:solidFill>
                  <a:srgbClr val="3E3D4F"/>
                </a:solidFill>
                <a:latin typeface="Impact" panose="020B0806030902050204" pitchFamily="34" charset="0"/>
                <a:ea typeface="微软雅黑" panose="020B0503020204020204" pitchFamily="34" charset="-122"/>
                <a:sym typeface="Impact" panose="020B0806030902050204" pitchFamily="34" charset="0"/>
              </a:rPr>
              <a:t>10</a:t>
            </a:r>
            <a:r>
              <a:rPr lang="zh-CN" altLang="zh-CN" sz="2800" dirty="0">
                <a:solidFill>
                  <a:srgbClr val="3E3D4F"/>
                </a:solidFill>
                <a:latin typeface="Impact" panose="020B0806030902050204" pitchFamily="34" charset="0"/>
                <a:ea typeface="微软雅黑" panose="020B0503020204020204" pitchFamily="34" charset="-122"/>
                <a:sym typeface="Impact" panose="020B0806030902050204" pitchFamily="34" charset="0"/>
              </a:rPr>
              <a:t>   </a:t>
            </a:r>
            <a:r>
              <a:rPr lang="zh-CN" altLang="en-US" sz="2800" dirty="0">
                <a:solidFill>
                  <a:srgbClr val="3E3D4F"/>
                </a:solidFill>
                <a:latin typeface="Impact" panose="020B0806030902050204" pitchFamily="34" charset="0"/>
                <a:ea typeface="微软雅黑" panose="020B0503020204020204" pitchFamily="34" charset="-122"/>
                <a:sym typeface="Impact" panose="020B0806030902050204" pitchFamily="34" charset="0"/>
              </a:rPr>
              <a:t>项目整合管理</a:t>
            </a:r>
            <a:endParaRPr lang="zh-CN" sz="2800" dirty="0">
              <a:solidFill>
                <a:srgbClr val="3E3D4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TextBox 10">
            <a:extLst>
              <a:ext uri="{FF2B5EF4-FFF2-40B4-BE49-F238E27FC236}">
                <a16:creationId xmlns:a16="http://schemas.microsoft.com/office/drawing/2014/main" id="{84AB1426-CBE1-CCE4-587E-4564529532BB}"/>
              </a:ext>
            </a:extLst>
          </p:cNvPr>
          <p:cNvSpPr>
            <a:spLocks noChangeArrowheads="1"/>
          </p:cNvSpPr>
          <p:nvPr/>
        </p:nvSpPr>
        <p:spPr bwMode="auto">
          <a:xfrm>
            <a:off x="5564638" y="1648577"/>
            <a:ext cx="38322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800" dirty="0">
                <a:solidFill>
                  <a:schemeClr val="accent1"/>
                </a:solidFill>
                <a:latin typeface="Impact" pitchFamily="34" charset="0"/>
                <a:ea typeface="微软雅黑" pitchFamily="34" charset="-122"/>
                <a:sym typeface="Impact" pitchFamily="34" charset="0"/>
              </a:rPr>
              <a:t>11</a:t>
            </a:r>
            <a:r>
              <a:rPr lang="zh-CN" altLang="zh-CN" sz="2800" dirty="0">
                <a:solidFill>
                  <a:schemeClr val="accent1"/>
                </a:solidFill>
                <a:latin typeface="Impact" pitchFamily="34" charset="0"/>
                <a:ea typeface="微软雅黑" pitchFamily="34" charset="-122"/>
                <a:sym typeface="Impact" pitchFamily="34" charset="0"/>
              </a:rPr>
              <a:t>    </a:t>
            </a:r>
            <a:r>
              <a:rPr lang="zh-CN" altLang="en-US" sz="2800" dirty="0">
                <a:solidFill>
                  <a:schemeClr val="accent1"/>
                </a:solidFill>
                <a:latin typeface="Impact" pitchFamily="34" charset="0"/>
                <a:ea typeface="微软雅黑" pitchFamily="34" charset="-122"/>
                <a:sym typeface="Impact" pitchFamily="34" charset="0"/>
              </a:rPr>
              <a:t>项目范围管理</a:t>
            </a:r>
            <a:endParaRPr lang="zh-CN" sz="2800" dirty="0">
              <a:solidFill>
                <a:schemeClr val="accent1"/>
              </a:solidFill>
              <a:latin typeface="微软雅黑" pitchFamily="34" charset="-122"/>
              <a:ea typeface="微软雅黑" pitchFamily="34" charset="-122"/>
              <a:sym typeface="微软雅黑" pitchFamily="34" charset="-122"/>
            </a:endParaRPr>
          </a:p>
        </p:txBody>
      </p:sp>
      <p:sp>
        <p:nvSpPr>
          <p:cNvPr id="5" name="TextBox 5">
            <a:extLst>
              <a:ext uri="{FF2B5EF4-FFF2-40B4-BE49-F238E27FC236}">
                <a16:creationId xmlns:a16="http://schemas.microsoft.com/office/drawing/2014/main" id="{71FF9137-34D1-D231-0AD9-5072D7E3FC5E}"/>
              </a:ext>
            </a:extLst>
          </p:cNvPr>
          <p:cNvSpPr>
            <a:spLocks noChangeArrowheads="1"/>
          </p:cNvSpPr>
          <p:nvPr/>
        </p:nvSpPr>
        <p:spPr bwMode="auto">
          <a:xfrm>
            <a:off x="5736089" y="315450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11.3</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项目需求收集</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6" name="TextBox 10">
            <a:extLst>
              <a:ext uri="{FF2B5EF4-FFF2-40B4-BE49-F238E27FC236}">
                <a16:creationId xmlns:a16="http://schemas.microsoft.com/office/drawing/2014/main" id="{4267AF94-F525-1B13-6B5C-1427523C903D}"/>
              </a:ext>
            </a:extLst>
          </p:cNvPr>
          <p:cNvSpPr>
            <a:spLocks noChangeArrowheads="1"/>
          </p:cNvSpPr>
          <p:nvPr/>
        </p:nvSpPr>
        <p:spPr bwMode="auto">
          <a:xfrm>
            <a:off x="5736089" y="219149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11.1     </a:t>
            </a:r>
            <a:r>
              <a:rPr lang="zh-CN" altLang="en-US" sz="2400" dirty="0">
                <a:solidFill>
                  <a:schemeClr val="accent1"/>
                </a:solidFill>
                <a:latin typeface="Impact" pitchFamily="34" charset="0"/>
                <a:ea typeface="微软雅黑" pitchFamily="34" charset="-122"/>
                <a:sym typeface="Impact" pitchFamily="34" charset="0"/>
              </a:rPr>
              <a:t>项目范围管理概述</a:t>
            </a:r>
          </a:p>
        </p:txBody>
      </p:sp>
      <p:sp>
        <p:nvSpPr>
          <p:cNvPr id="7" name="TextBox 11">
            <a:extLst>
              <a:ext uri="{FF2B5EF4-FFF2-40B4-BE49-F238E27FC236}">
                <a16:creationId xmlns:a16="http://schemas.microsoft.com/office/drawing/2014/main" id="{7ED1FFE2-4940-85D0-43D3-03568E0DD430}"/>
              </a:ext>
            </a:extLst>
          </p:cNvPr>
          <p:cNvSpPr>
            <a:spLocks noChangeArrowheads="1"/>
          </p:cNvSpPr>
          <p:nvPr/>
        </p:nvSpPr>
        <p:spPr bwMode="auto">
          <a:xfrm>
            <a:off x="5736089" y="2672586"/>
            <a:ext cx="3832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11.2</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项目范围规划</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8" name="TextBox 5">
            <a:extLst>
              <a:ext uri="{FF2B5EF4-FFF2-40B4-BE49-F238E27FC236}">
                <a16:creationId xmlns:a16="http://schemas.microsoft.com/office/drawing/2014/main" id="{BEEBE6BC-2879-683C-A62B-FFAF9C4CD8CB}"/>
              </a:ext>
            </a:extLst>
          </p:cNvPr>
          <p:cNvSpPr>
            <a:spLocks noChangeArrowheads="1"/>
          </p:cNvSpPr>
          <p:nvPr/>
        </p:nvSpPr>
        <p:spPr bwMode="auto">
          <a:xfrm>
            <a:off x="5736089" y="3635873"/>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11.4</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项目范围定义（界定）</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9" name="TextBox 5">
            <a:extLst>
              <a:ext uri="{FF2B5EF4-FFF2-40B4-BE49-F238E27FC236}">
                <a16:creationId xmlns:a16="http://schemas.microsoft.com/office/drawing/2014/main" id="{EA50903E-CE50-8BC6-5006-D43DD16F4C79}"/>
              </a:ext>
            </a:extLst>
          </p:cNvPr>
          <p:cNvSpPr>
            <a:spLocks noChangeArrowheads="1"/>
          </p:cNvSpPr>
          <p:nvPr/>
        </p:nvSpPr>
        <p:spPr bwMode="auto">
          <a:xfrm>
            <a:off x="5736089" y="4116961"/>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11.5</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工作分解结构 </a:t>
            </a:r>
            <a:r>
              <a:rPr lang="en-US" altLang="zh-CN" sz="2400" dirty="0">
                <a:solidFill>
                  <a:schemeClr val="accent1"/>
                </a:solidFill>
                <a:latin typeface="Impact" pitchFamily="34" charset="0"/>
                <a:ea typeface="微软雅黑" pitchFamily="34" charset="-122"/>
                <a:sym typeface="Impact" pitchFamily="34" charset="0"/>
              </a:rPr>
              <a:t>- WBS</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10" name="TextBox 5">
            <a:extLst>
              <a:ext uri="{FF2B5EF4-FFF2-40B4-BE49-F238E27FC236}">
                <a16:creationId xmlns:a16="http://schemas.microsoft.com/office/drawing/2014/main" id="{65A1111C-F453-1F0C-EA36-BCB0FF8AB58A}"/>
              </a:ext>
            </a:extLst>
          </p:cNvPr>
          <p:cNvSpPr>
            <a:spLocks noChangeArrowheads="1"/>
          </p:cNvSpPr>
          <p:nvPr/>
        </p:nvSpPr>
        <p:spPr bwMode="auto">
          <a:xfrm>
            <a:off x="5736089" y="4598049"/>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11.6</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项目范围确认（核实）</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11" name="TextBox 5">
            <a:extLst>
              <a:ext uri="{FF2B5EF4-FFF2-40B4-BE49-F238E27FC236}">
                <a16:creationId xmlns:a16="http://schemas.microsoft.com/office/drawing/2014/main" id="{DF1D90C1-5CDA-4B16-6D81-2FBA3448D20D}"/>
              </a:ext>
            </a:extLst>
          </p:cNvPr>
          <p:cNvSpPr>
            <a:spLocks noChangeArrowheads="1"/>
          </p:cNvSpPr>
          <p:nvPr/>
        </p:nvSpPr>
        <p:spPr bwMode="auto">
          <a:xfrm>
            <a:off x="5736089" y="5079137"/>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11.7 </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项目范围控制</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13" name="TextBox 5">
            <a:extLst>
              <a:ext uri="{FF2B5EF4-FFF2-40B4-BE49-F238E27FC236}">
                <a16:creationId xmlns:a16="http://schemas.microsoft.com/office/drawing/2014/main" id="{7BF7E7D9-3050-51C5-1988-1D90F2973B72}"/>
              </a:ext>
            </a:extLst>
          </p:cNvPr>
          <p:cNvSpPr>
            <a:spLocks noChangeArrowheads="1"/>
          </p:cNvSpPr>
          <p:nvPr/>
        </p:nvSpPr>
        <p:spPr bwMode="auto">
          <a:xfrm>
            <a:off x="5564638" y="5560225"/>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F825B0-B2DA-45C1-B461-0DF14F51C250}"/>
              </a:ext>
            </a:extLst>
          </p:cNvPr>
          <p:cNvSpPr>
            <a:spLocks noGrp="1"/>
          </p:cNvSpPr>
          <p:nvPr>
            <p:ph type="title"/>
          </p:nvPr>
        </p:nvSpPr>
        <p:spPr/>
        <p:txBody>
          <a:bodyPr/>
          <a:lstStyle/>
          <a:p>
            <a:pPr algn="l"/>
            <a:r>
              <a:rPr lang="zh-CN" altLang="en-US" dirty="0"/>
              <a:t>案例</a:t>
            </a:r>
          </a:p>
        </p:txBody>
      </p:sp>
      <p:sp>
        <p:nvSpPr>
          <p:cNvPr id="4" name="文本框 3">
            <a:extLst>
              <a:ext uri="{FF2B5EF4-FFF2-40B4-BE49-F238E27FC236}">
                <a16:creationId xmlns:a16="http://schemas.microsoft.com/office/drawing/2014/main" id="{82AF44F9-BEEF-4C2D-BAFA-D55B4FF1004F}"/>
              </a:ext>
            </a:extLst>
          </p:cNvPr>
          <p:cNvSpPr txBox="1"/>
          <p:nvPr/>
        </p:nvSpPr>
        <p:spPr>
          <a:xfrm>
            <a:off x="613885" y="1425013"/>
            <a:ext cx="10741191" cy="5293757"/>
          </a:xfrm>
          <a:prstGeom prst="rect">
            <a:avLst/>
          </a:prstGeom>
          <a:noFill/>
        </p:spPr>
        <p:txBody>
          <a:bodyPr wrap="square">
            <a:spAutoFit/>
          </a:bodyPr>
          <a:lstStyle/>
          <a:p>
            <a:pPr algn="just"/>
            <a:r>
              <a:rPr lang="en-US" altLang="zh-CN" sz="1800" dirty="0">
                <a:latin typeface="Times New Roman" panose="02020603050405020304" pitchFamily="18" charset="0"/>
              </a:rPr>
              <a:t>     </a:t>
            </a:r>
            <a:r>
              <a:rPr lang="en-US" altLang="zh-CN" sz="2000" dirty="0">
                <a:latin typeface="Times New Roman" panose="02020603050405020304" pitchFamily="18" charset="0"/>
              </a:rPr>
              <a:t> </a:t>
            </a:r>
            <a:r>
              <a:rPr lang="en-US" altLang="zh-CN" sz="2000" dirty="0">
                <a:latin typeface="微软雅黑" panose="020B0503020204020204" pitchFamily="34" charset="-122"/>
                <a:ea typeface="微软雅黑" panose="020B0503020204020204" pitchFamily="34" charset="-122"/>
              </a:rPr>
              <a:t>Kim Nguyen </a:t>
            </a:r>
            <a:r>
              <a:rPr lang="zh-CN" altLang="en-US" sz="2000" dirty="0">
                <a:latin typeface="微软雅黑" panose="020B0503020204020204" pitchFamily="34" charset="-122"/>
                <a:ea typeface="微软雅黑" panose="020B0503020204020204" pitchFamily="34" charset="-122"/>
              </a:rPr>
              <a:t>主持了首次项目团队会议，意在为</a:t>
            </a:r>
            <a:r>
              <a:rPr lang="en-US" altLang="zh-CN" sz="2000" dirty="0">
                <a:latin typeface="微软雅黑" panose="020B0503020204020204" pitchFamily="34" charset="-122"/>
                <a:ea typeface="微软雅黑" panose="020B0503020204020204" pitchFamily="34" charset="-122"/>
              </a:rPr>
              <a:t>IT</a:t>
            </a:r>
            <a:r>
              <a:rPr lang="zh-CN" altLang="en-US" sz="2000" dirty="0">
                <a:latin typeface="微软雅黑" panose="020B0503020204020204" pitchFamily="34" charset="-122"/>
                <a:ea typeface="微软雅黑" panose="020B0503020204020204" pitchFamily="34" charset="-122"/>
              </a:rPr>
              <a:t>升级项目构建工作分解结构。这个项目对于公司正在开发的几项高度优先的并且以互联网为基础的应用软件来说非常有必要。这个</a:t>
            </a:r>
            <a:r>
              <a:rPr lang="en-US" altLang="zh-CN" sz="2000" dirty="0">
                <a:latin typeface="微软雅黑" panose="020B0503020204020204" pitchFamily="34" charset="-122"/>
                <a:ea typeface="微软雅黑" panose="020B0503020204020204" pitchFamily="34" charset="-122"/>
              </a:rPr>
              <a:t>IT</a:t>
            </a:r>
            <a:r>
              <a:rPr lang="zh-CN" altLang="en-US" sz="2000" dirty="0">
                <a:latin typeface="微软雅黑" panose="020B0503020204020204" pitchFamily="34" charset="-122"/>
                <a:ea typeface="微软雅黑" panose="020B0503020204020204" pitchFamily="34" charset="-122"/>
              </a:rPr>
              <a:t>升级项目要在</a:t>
            </a:r>
            <a:r>
              <a:rPr lang="en-US" altLang="zh-CN" sz="2000" dirty="0">
                <a:latin typeface="微软雅黑" panose="020B0503020204020204" pitchFamily="34" charset="-122"/>
                <a:ea typeface="微软雅黑" panose="020B0503020204020204" pitchFamily="34" charset="-122"/>
              </a:rPr>
              <a:t>9</a:t>
            </a:r>
            <a:r>
              <a:rPr lang="zh-CN" altLang="en-US" sz="2000" dirty="0">
                <a:latin typeface="微软雅黑" panose="020B0503020204020204" pitchFamily="34" charset="-122"/>
                <a:ea typeface="微软雅黑" panose="020B0503020204020204" pitchFamily="34" charset="-122"/>
              </a:rPr>
              <a:t>个月内创建并</a:t>
            </a:r>
            <a:r>
              <a:rPr lang="zh-CN" altLang="en-US" sz="2000" dirty="0">
                <a:solidFill>
                  <a:srgbClr val="0070C0"/>
                </a:solidFill>
                <a:latin typeface="微软雅黑" panose="020B0503020204020204" pitchFamily="34" charset="-122"/>
                <a:ea typeface="微软雅黑" panose="020B0503020204020204" pitchFamily="34" charset="-122"/>
              </a:rPr>
              <a:t>实施一项电脑升级计划</a:t>
            </a:r>
            <a:r>
              <a:rPr lang="zh-CN" altLang="en-US" sz="2000" dirty="0">
                <a:latin typeface="微软雅黑" panose="020B0503020204020204" pitchFamily="34" charset="-122"/>
                <a:ea typeface="微软雅黑" panose="020B0503020204020204" pitchFamily="34" charset="-122"/>
              </a:rPr>
              <a:t>，以发挥所有员工的信息技术技能，来满足公司新的标准。这些标准详细说明了每台台式电脑或笔记本电脑所需要的最少设备，包括处理器类型、存储量、硬盘大小、网络连接类型以及软件。</a:t>
            </a:r>
            <a:r>
              <a:rPr lang="en-US" altLang="zh-CN" sz="2000" dirty="0">
                <a:latin typeface="微软雅黑" panose="020B0503020204020204" pitchFamily="34" charset="-122"/>
                <a:ea typeface="微软雅黑" panose="020B0503020204020204" pitchFamily="34" charset="-122"/>
              </a:rPr>
              <a:t>Kim</a:t>
            </a:r>
            <a:r>
              <a:rPr lang="zh-CN" altLang="en-US" sz="2000" dirty="0">
                <a:latin typeface="微软雅黑" panose="020B0503020204020204" pitchFamily="34" charset="-122"/>
                <a:ea typeface="微软雅黑" panose="020B0503020204020204" pitchFamily="34" charset="-122"/>
              </a:rPr>
              <a:t>知道要实施升级项目，必须首先掌握整个公司内</a:t>
            </a: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名员工当前所有的硬件、网络及软件的详细清单。</a:t>
            </a:r>
            <a:endParaRPr lang="en-US" altLang="zh-CN" sz="2000" dirty="0">
              <a:latin typeface="微软雅黑" panose="020B0503020204020204" pitchFamily="34" charset="-122"/>
              <a:ea typeface="微软雅黑" panose="020B0503020204020204" pitchFamily="34" charset="-122"/>
            </a:endParaRPr>
          </a:p>
          <a:p>
            <a:pPr algn="just"/>
            <a:r>
              <a:rPr lang="en-US" altLang="zh-CN" sz="2000" dirty="0">
                <a:latin typeface="微软雅黑" panose="020B0503020204020204" pitchFamily="34" charset="-122"/>
                <a:ea typeface="微软雅黑" panose="020B0503020204020204" pitchFamily="34" charset="-122"/>
              </a:rPr>
              <a:t>    Kim</a:t>
            </a:r>
            <a:r>
              <a:rPr lang="zh-CN" altLang="en-US" sz="2000" dirty="0">
                <a:latin typeface="微软雅黑" panose="020B0503020204020204" pitchFamily="34" charset="-122"/>
                <a:ea typeface="微软雅黑" panose="020B0503020204020204" pitchFamily="34" charset="-122"/>
              </a:rPr>
              <a:t>已经同其他利益相关者一起制定了项目章程以及初步范围说明书。这个项目章程包括项目的大致费用及时间进度估计，还有关键的利益相关者的签名；初步范围说明书除提供了与项目范围相关的信息外，还在界定硬件、软件及网络需求方面开了一个好头。</a:t>
            </a:r>
          </a:p>
          <a:p>
            <a:pPr algn="just"/>
            <a:r>
              <a:rPr lang="en-US" altLang="zh-CN" sz="2000" dirty="0">
                <a:latin typeface="微软雅黑" panose="020B0503020204020204" pitchFamily="34" charset="-122"/>
                <a:ea typeface="微软雅黑" panose="020B0503020204020204" pitchFamily="34" charset="-122"/>
              </a:rPr>
              <a:t>     Kim</a:t>
            </a:r>
            <a:r>
              <a:rPr lang="zh-CN" altLang="en-US" sz="2000" dirty="0">
                <a:latin typeface="微软雅黑" panose="020B0503020204020204" pitchFamily="34" charset="-122"/>
                <a:ea typeface="微软雅黑" panose="020B0503020204020204" pitchFamily="34" charset="-122"/>
              </a:rPr>
              <a:t>及其团队和其他利益相关者召开了电话会议，以进一步界定项目范围，包括项目涉及内容、谁将做些什么以及如何避免潜在的范围蔓延。她想获取每个人对上述各个方面的意见。公司新上任的</a:t>
            </a:r>
            <a:r>
              <a:rPr lang="en-US" altLang="zh-CN" sz="2000" dirty="0">
                <a:latin typeface="微软雅黑" panose="020B0503020204020204" pitchFamily="34" charset="-122"/>
                <a:ea typeface="微软雅黑" panose="020B0503020204020204" pitchFamily="34" charset="-122"/>
              </a:rPr>
              <a:t>CEO</a:t>
            </a:r>
            <a:r>
              <a:rPr lang="zh-CN" altLang="en-US" sz="2000" dirty="0">
                <a:latin typeface="微软雅黑" panose="020B0503020204020204" pitchFamily="34" charset="-122"/>
                <a:ea typeface="微软雅黑" panose="020B0503020204020204" pitchFamily="34" charset="-122"/>
              </a:rPr>
              <a:t>，沃尔特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施米茨，一直以来都密切关注如此重要的项目。公司已经开始使用一种新型的项目管理信息系统。这一系统能使每个人都能详尽、高水平地了解项目实施的状态。</a:t>
            </a:r>
            <a:r>
              <a:rPr lang="en-US" altLang="zh-CN" sz="2000" dirty="0">
                <a:latin typeface="微软雅黑" panose="020B0503020204020204" pitchFamily="34" charset="-122"/>
                <a:ea typeface="微软雅黑" panose="020B0503020204020204" pitchFamily="34" charset="-122"/>
              </a:rPr>
              <a:t>Kim</a:t>
            </a:r>
            <a:r>
              <a:rPr lang="zh-CN" altLang="en-US" sz="2000" dirty="0">
                <a:latin typeface="微软雅黑" panose="020B0503020204020204" pitchFamily="34" charset="-122"/>
                <a:ea typeface="微软雅黑" panose="020B0503020204020204" pitchFamily="34" charset="-122"/>
              </a:rPr>
              <a:t>知道，</a:t>
            </a:r>
            <a:r>
              <a:rPr lang="zh-CN" altLang="en-US" sz="2000" dirty="0">
                <a:solidFill>
                  <a:srgbClr val="0070C0"/>
                </a:solidFill>
                <a:latin typeface="微软雅黑" panose="020B0503020204020204" pitchFamily="34" charset="-122"/>
                <a:ea typeface="微软雅黑" panose="020B0503020204020204" pitchFamily="34" charset="-122"/>
              </a:rPr>
              <a:t>建立一个好的工作分解结构是项目范围管理、时间管理和成本管理取得成功的基础，但是她从未领导过项目团队去构建工作分解结构，或者是根据工作分解结构来分摊费用，</a:t>
            </a:r>
            <a:r>
              <a:rPr lang="en-US" altLang="zh-CN" sz="2000" dirty="0">
                <a:solidFill>
                  <a:srgbClr val="0070C0"/>
                </a:solidFill>
                <a:latin typeface="微软雅黑" panose="020B0503020204020204" pitchFamily="34" charset="-122"/>
                <a:ea typeface="微软雅黑" panose="020B0503020204020204" pitchFamily="34" charset="-122"/>
              </a:rPr>
              <a:t>Kim</a:t>
            </a:r>
            <a:r>
              <a:rPr lang="zh-CN" altLang="en-US" sz="2000" dirty="0">
                <a:solidFill>
                  <a:srgbClr val="0070C0"/>
                </a:solidFill>
                <a:latin typeface="微软雅黑" panose="020B0503020204020204" pitchFamily="34" charset="-122"/>
                <a:ea typeface="微软雅黑" panose="020B0503020204020204" pitchFamily="34" charset="-122"/>
              </a:rPr>
              <a:t>应该从哪里入手呢？</a:t>
            </a:r>
          </a:p>
          <a:p>
            <a:pPr algn="just"/>
            <a:r>
              <a:rPr lang="zh-CN" altLang="en-US" sz="1800" dirty="0">
                <a:latin typeface="Times New Roman" panose="02020603050405020304" pitchFamily="18" charset="0"/>
              </a:rPr>
              <a:t> </a:t>
            </a:r>
          </a:p>
        </p:txBody>
      </p:sp>
    </p:spTree>
    <p:extLst>
      <p:ext uri="{BB962C8B-B14F-4D97-AF65-F5344CB8AC3E}">
        <p14:creationId xmlns:p14="http://schemas.microsoft.com/office/powerpoint/2010/main" val="325059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65CC45-5FA7-4B38-A9B6-074C8DA9D1B7}"/>
              </a:ext>
            </a:extLst>
          </p:cNvPr>
          <p:cNvSpPr>
            <a:spLocks noGrp="1"/>
          </p:cNvSpPr>
          <p:nvPr>
            <p:ph type="title"/>
          </p:nvPr>
        </p:nvSpPr>
        <p:spPr/>
        <p:txBody>
          <a:bodyPr/>
          <a:lstStyle/>
          <a:p>
            <a:pPr algn="l"/>
            <a:r>
              <a:rPr lang="zh-CN" altLang="en-US" b="1" dirty="0">
                <a:solidFill>
                  <a:srgbClr val="FF0000"/>
                </a:solidFill>
              </a:rPr>
              <a:t>一个变更失控的项目管理案例</a:t>
            </a:r>
            <a:br>
              <a:rPr lang="zh-CN" altLang="en-US" b="1" dirty="0">
                <a:solidFill>
                  <a:srgbClr val="FF0000"/>
                </a:solidFill>
              </a:rPr>
            </a:br>
            <a:endParaRPr lang="zh-CN" altLang="en-US" dirty="0"/>
          </a:p>
        </p:txBody>
      </p:sp>
      <p:sp>
        <p:nvSpPr>
          <p:cNvPr id="4" name="文本框 3">
            <a:extLst>
              <a:ext uri="{FF2B5EF4-FFF2-40B4-BE49-F238E27FC236}">
                <a16:creationId xmlns:a16="http://schemas.microsoft.com/office/drawing/2014/main" id="{1C5FA5CE-56F2-4ED8-B479-CC025C48B394}"/>
              </a:ext>
            </a:extLst>
          </p:cNvPr>
          <p:cNvSpPr txBox="1"/>
          <p:nvPr/>
        </p:nvSpPr>
        <p:spPr>
          <a:xfrm>
            <a:off x="609600" y="1225689"/>
            <a:ext cx="10972799" cy="5355312"/>
          </a:xfrm>
          <a:prstGeom prst="rect">
            <a:avLst/>
          </a:prstGeom>
          <a:noFill/>
        </p:spPr>
        <p:txBody>
          <a:bodyPr wrap="square">
            <a:spAutoFit/>
          </a:bodyPr>
          <a:lstStyle/>
          <a:p>
            <a:r>
              <a:rPr lang="zh-CN" altLang="en-US" sz="1900" dirty="0"/>
              <a:t>    </a:t>
            </a:r>
            <a:r>
              <a:rPr lang="zh-CN" altLang="en-US" sz="1900" dirty="0">
                <a:latin typeface="微软雅黑" panose="020B0503020204020204" pitchFamily="34" charset="-122"/>
                <a:ea typeface="微软雅黑" panose="020B0503020204020204" pitchFamily="34" charset="-122"/>
              </a:rPr>
              <a:t>王先生刚出任项目经理，并承接了一个中型软件项目。上任时公司高层再三叮咛他一定要尊重客户，充分满足客户需求。项目开始比较顺利，但进入到后期，客户频繁的需求变更带来很多额外工作。王先生动员大家加班，保持了项目的正常进度，客户相当满意。 </a:t>
            </a:r>
          </a:p>
          <a:p>
            <a:r>
              <a:rPr lang="zh-CN" altLang="en-US" sz="1900" dirty="0">
                <a:latin typeface="微软雅黑" panose="020B0503020204020204" pitchFamily="34" charset="-122"/>
                <a:ea typeface="微软雅黑" panose="020B0503020204020204" pitchFamily="34" charset="-122"/>
              </a:rPr>
              <a:t>    但需求变更却越来越多。为了节省时间，客户的业务人员不再向王先生申请变更，而是直接找程序员商量。程序员疲于应付，往往直接改程序而不作任何记录，很多相关文档也忘记修改。很快王先生就发现：需求、设计和代码无法保持一致，甚至没有人能说清楚现在系统“到底该成什么样了”。版本管理也出现了混乱，很多人违反配置管理规定，直接在测试环境中修改和编译程序。但在进度压力下，他也只能佯装不知此事。但因频繁出现“改好的错误又重新出现”的问题，客户已明确表示“失去了耐心”。</a:t>
            </a:r>
          </a:p>
          <a:p>
            <a:r>
              <a:rPr lang="zh-CN" altLang="en-US" sz="1900" dirty="0">
                <a:latin typeface="微软雅黑" panose="020B0503020204020204" pitchFamily="34" charset="-122"/>
                <a:ea typeface="微软雅黑" panose="020B0503020204020204" pitchFamily="34" charset="-122"/>
              </a:rPr>
              <a:t>    而这还只是噩梦的开始。一个程序员未经许可擅自修改了核心模块，造成系统运行异常缓慢，大量应用程序超时退出。虽然最终花费了整整</a:t>
            </a:r>
            <a:r>
              <a:rPr lang="en-US" altLang="zh-CN" sz="1900" dirty="0">
                <a:latin typeface="微软雅黑" panose="020B0503020204020204" pitchFamily="34" charset="-122"/>
                <a:ea typeface="微软雅黑" panose="020B0503020204020204" pitchFamily="34" charset="-122"/>
              </a:rPr>
              <a:t>3</a:t>
            </a:r>
            <a:r>
              <a:rPr lang="zh-CN" altLang="en-US" sz="1900" dirty="0">
                <a:latin typeface="微软雅黑" panose="020B0503020204020204" pitchFamily="34" charset="-122"/>
                <a:ea typeface="微软雅黑" panose="020B0503020204020204" pitchFamily="34" charset="-122"/>
              </a:rPr>
              <a:t>天时间解决了这个问题，但客户却投诉了，表示“无法容忍这种低下的项目管理水平”。</a:t>
            </a:r>
          </a:p>
          <a:p>
            <a:r>
              <a:rPr lang="zh-CN" altLang="en-US" sz="1900" dirty="0">
                <a:latin typeface="微软雅黑" panose="020B0503020204020204" pitchFamily="34" charset="-122"/>
                <a:ea typeface="微软雅黑" panose="020B0503020204020204" pitchFamily="34" charset="-122"/>
              </a:rPr>
              <a:t>    更糟糕的是，因为担心系统中还隐含着其他类似的错误，客户高层对项目的质量也疑虑重重。</a:t>
            </a:r>
          </a:p>
          <a:p>
            <a:r>
              <a:rPr lang="zh-CN" altLang="en-US" sz="1900" dirty="0">
                <a:latin typeface="微软雅黑" panose="020B0503020204020204" pitchFamily="34" charset="-122"/>
                <a:ea typeface="微软雅黑" panose="020B0503020204020204" pitchFamily="34" charset="-122"/>
              </a:rPr>
              <a:t>    随后发生的事情让王先生更加为难：客户的两个负责人对界面风格的看法不一致，并为此发生了激烈的争执。王先生知道如果发表意见可能会得罪其中一方，于是保持了沉默。最终客户决定调整所有界面，王先生只好动员大家抓紧时间修改。可后来当听说因修改界面而造成了项目一周的延误后，客户方原来发生争执的两人这次却非常一致，同时质问王先生：“为什么你不早点告诉我们要延期！早知这样才不会让你改呢！”王先生委屈极了，疑惑自己到底错在哪里了。 </a:t>
            </a:r>
          </a:p>
        </p:txBody>
      </p:sp>
    </p:spTree>
    <p:extLst>
      <p:ext uri="{BB962C8B-B14F-4D97-AF65-F5344CB8AC3E}">
        <p14:creationId xmlns:p14="http://schemas.microsoft.com/office/powerpoint/2010/main" val="180293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11.0 </a:t>
            </a:r>
            <a:r>
              <a:rPr lang="zh-CN" altLang="en-US" dirty="0"/>
              <a:t>学习要点</a:t>
            </a:r>
          </a:p>
        </p:txBody>
      </p:sp>
      <p:sp>
        <p:nvSpPr>
          <p:cNvPr id="4" name="矩形 3">
            <a:extLst>
              <a:ext uri="{FF2B5EF4-FFF2-40B4-BE49-F238E27FC236}">
                <a16:creationId xmlns:a16="http://schemas.microsoft.com/office/drawing/2014/main" id="{7B5FCC0C-ED2B-46D9-8F57-A282C69075AC}"/>
              </a:ext>
            </a:extLst>
          </p:cNvPr>
          <p:cNvSpPr/>
          <p:nvPr/>
        </p:nvSpPr>
        <p:spPr>
          <a:xfrm>
            <a:off x="526094" y="1686115"/>
            <a:ext cx="10874734" cy="3600986"/>
          </a:xfrm>
          <a:prstGeom prst="rect">
            <a:avLst/>
          </a:prstGeom>
        </p:spPr>
        <p:txBody>
          <a:bodyPr wrap="square">
            <a:spAutoFit/>
          </a:bodyPr>
          <a:lstStyle/>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理解并掌握项目范围管理的概念</a:t>
            </a:r>
          </a:p>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掌握项目范围管理的内容</a:t>
            </a:r>
          </a:p>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理解项目范围管理</a:t>
            </a:r>
            <a:r>
              <a:rPr lang="zh-CN" altLang="en-US" sz="2400" dirty="0">
                <a:latin typeface="微软雅黑" panose="020B0503020204020204" pitchFamily="34" charset="-122"/>
                <a:ea typeface="微软雅黑" panose="020B0503020204020204" pitchFamily="34" charset="-122"/>
              </a:rPr>
              <a:t>、范围控制</a:t>
            </a:r>
            <a:r>
              <a:rPr lang="zh-CN" altLang="zh-CN" sz="2400" dirty="0">
                <a:latin typeface="微软雅黑" panose="020B0503020204020204" pitchFamily="34" charset="-122"/>
                <a:ea typeface="微软雅黑" panose="020B0503020204020204" pitchFamily="34" charset="-122"/>
              </a:rPr>
              <a:t>的</a:t>
            </a:r>
            <a:r>
              <a:rPr lang="zh-CN" altLang="en-US" sz="2400" dirty="0">
                <a:latin typeface="微软雅黑" panose="020B0503020204020204" pitchFamily="34" charset="-122"/>
                <a:ea typeface="微软雅黑" panose="020B0503020204020204" pitchFamily="34" charset="-122"/>
              </a:rPr>
              <a:t>重要性</a:t>
            </a:r>
            <a:endParaRPr lang="zh-CN"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 掌握项目范围规划的依据</a:t>
            </a:r>
            <a:endParaRPr lang="en-US"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 了解项目需求收集的技术和工具、工作分解结构（</a:t>
            </a:r>
            <a:r>
              <a:rPr lang="en-US" altLang="zh-CN" sz="2400" dirty="0">
                <a:latin typeface="微软雅黑" panose="020B0503020204020204" pitchFamily="34" charset="-122"/>
                <a:ea typeface="微软雅黑" panose="020B0503020204020204" pitchFamily="34" charset="-122"/>
              </a:rPr>
              <a:t>WBS</a:t>
            </a:r>
            <a:r>
              <a:rPr lang="zh-CN" altLang="en-US" sz="2400" dirty="0">
                <a:latin typeface="微软雅黑" panose="020B0503020204020204" pitchFamily="34" charset="-122"/>
                <a:ea typeface="微软雅黑" panose="020B0503020204020204" pitchFamily="34" charset="-122"/>
              </a:rPr>
              <a:t>）的过程</a:t>
            </a:r>
            <a:endParaRPr lang="en-US"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了解范围确认</a:t>
            </a:r>
            <a:endParaRPr lang="en-US"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了解范围控制和变更流程</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8535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11.1 </a:t>
            </a:r>
            <a:r>
              <a:rPr lang="zh-CN" altLang="en-US" dirty="0"/>
              <a:t>项目范围管理概述</a:t>
            </a:r>
          </a:p>
        </p:txBody>
      </p:sp>
      <p:sp>
        <p:nvSpPr>
          <p:cNvPr id="4" name="内容占位符 2">
            <a:extLst>
              <a:ext uri="{FF2B5EF4-FFF2-40B4-BE49-F238E27FC236}">
                <a16:creationId xmlns:a16="http://schemas.microsoft.com/office/drawing/2014/main" id="{B25580FD-BDB8-4323-8D9C-F401845B2CC5}"/>
              </a:ext>
            </a:extLst>
          </p:cNvPr>
          <p:cNvSpPr txBox="1">
            <a:spLocks/>
          </p:cNvSpPr>
          <p:nvPr/>
        </p:nvSpPr>
        <p:spPr>
          <a:xfrm>
            <a:off x="613885" y="1423894"/>
            <a:ext cx="10894435" cy="4189671"/>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lvl="1" indent="0">
              <a:buNone/>
            </a:pPr>
            <a:r>
              <a:rPr lang="en-US" altLang="zh-CN" dirty="0">
                <a:latin typeface="微软雅黑" panose="020B0503020204020204" pitchFamily="34" charset="-122"/>
                <a:ea typeface="微软雅黑" panose="020B0503020204020204" pitchFamily="34" charset="-122"/>
                <a:cs typeface="Times New Roman" pitchFamily="18" charset="0"/>
              </a:rPr>
              <a:t>(1) </a:t>
            </a:r>
            <a:r>
              <a:rPr lang="zh-CN" altLang="en-US" dirty="0">
                <a:latin typeface="微软雅黑" panose="020B0503020204020204" pitchFamily="34" charset="-122"/>
                <a:ea typeface="微软雅黑" panose="020B0503020204020204" pitchFamily="34" charset="-122"/>
                <a:cs typeface="Times New Roman" pitchFamily="18" charset="0"/>
              </a:rPr>
              <a:t>项目范围的定义</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44500"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rPr>
              <a:t>确保项目做且只做所需的全部工作，以及成功完成项目的各个过程</a:t>
            </a:r>
            <a:endParaRPr lang="en-US" altLang="zh-CN" dirty="0">
              <a:latin typeface="微软雅黑" panose="020B0503020204020204" pitchFamily="34" charset="-122"/>
              <a:ea typeface="微软雅黑" panose="020B0503020204020204" pitchFamily="34" charset="-122"/>
            </a:endParaRPr>
          </a:p>
          <a:p>
            <a:pPr marL="444500"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rPr>
              <a:t>项目范围包括产品范围和为生成项目产品而必须开展的项目工作范围：</a:t>
            </a:r>
            <a:endParaRPr lang="en-US" altLang="zh-CN" dirty="0">
              <a:latin typeface="微软雅黑" panose="020B0503020204020204" pitchFamily="34" charset="-122"/>
              <a:ea typeface="微软雅黑" panose="020B0503020204020204" pitchFamily="34" charset="-122"/>
            </a:endParaRPr>
          </a:p>
          <a:p>
            <a:pPr marL="444500" lvl="2" indent="0">
              <a:lnSpc>
                <a:spcPts val="2800"/>
              </a:lnSpc>
              <a:buNone/>
            </a:pPr>
            <a:r>
              <a:rPr lang="zh-CN" altLang="zh-CN" sz="2400" dirty="0">
                <a:solidFill>
                  <a:srgbClr val="0070C0"/>
                </a:solidFill>
                <a:latin typeface="楷体" panose="02010609060101010101" pitchFamily="49" charset="-122"/>
                <a:ea typeface="楷体" panose="02010609060101010101" pitchFamily="49" charset="-122"/>
              </a:rPr>
              <a:t>产品</a:t>
            </a:r>
            <a:r>
              <a:rPr lang="en-US" altLang="zh-CN" sz="2400" dirty="0">
                <a:solidFill>
                  <a:srgbClr val="0070C0"/>
                </a:solidFill>
                <a:latin typeface="楷体" panose="02010609060101010101" pitchFamily="49" charset="-122"/>
                <a:ea typeface="楷体" panose="02010609060101010101" pitchFamily="49" charset="-122"/>
              </a:rPr>
              <a:t>(</a:t>
            </a:r>
            <a:r>
              <a:rPr lang="zh-CN" altLang="en-US" sz="2400" dirty="0">
                <a:solidFill>
                  <a:srgbClr val="0070C0"/>
                </a:solidFill>
                <a:latin typeface="楷体" panose="02010609060101010101" pitchFamily="49" charset="-122"/>
                <a:ea typeface="楷体" panose="02010609060101010101" pitchFamily="49" charset="-122"/>
              </a:rPr>
              <a:t>服务</a:t>
            </a:r>
            <a:r>
              <a:rPr lang="en-US" altLang="zh-CN" sz="2400" dirty="0">
                <a:solidFill>
                  <a:srgbClr val="0070C0"/>
                </a:solidFill>
                <a:latin typeface="楷体" panose="02010609060101010101" pitchFamily="49" charset="-122"/>
                <a:ea typeface="楷体" panose="02010609060101010101" pitchFamily="49" charset="-122"/>
              </a:rPr>
              <a:t>)</a:t>
            </a:r>
            <a:r>
              <a:rPr lang="zh-CN" altLang="zh-CN" sz="2400" dirty="0">
                <a:solidFill>
                  <a:srgbClr val="0070C0"/>
                </a:solidFill>
                <a:latin typeface="楷体" panose="02010609060101010101" pitchFamily="49" charset="-122"/>
                <a:ea typeface="楷体" panose="02010609060101010101" pitchFamily="49" charset="-122"/>
              </a:rPr>
              <a:t>范围</a:t>
            </a:r>
            <a:r>
              <a:rPr lang="zh-CN" altLang="zh-CN" sz="2400" dirty="0">
                <a:latin typeface="楷体" panose="02010609060101010101" pitchFamily="49" charset="-122"/>
                <a:ea typeface="楷体" panose="02010609060101010101" pitchFamily="49" charset="-122"/>
              </a:rPr>
              <a:t>：是具体产品、服务或成果具有的特性和功能</a:t>
            </a:r>
            <a:endParaRPr lang="en-US" altLang="zh-CN" sz="2400" dirty="0">
              <a:latin typeface="楷体" panose="02010609060101010101" pitchFamily="49" charset="-122"/>
              <a:ea typeface="楷体" panose="02010609060101010101" pitchFamily="49" charset="-122"/>
            </a:endParaRPr>
          </a:p>
          <a:p>
            <a:pPr lvl="4">
              <a:defRPr/>
            </a:pPr>
            <a:r>
              <a:rPr lang="zh-CN" altLang="zh-CN" sz="2400" dirty="0">
                <a:latin typeface="楷体" panose="02010609060101010101" pitchFamily="49" charset="-122"/>
                <a:ea typeface="楷体" panose="02010609060101010101" pitchFamily="49" charset="-122"/>
              </a:rPr>
              <a:t>是物体本身的属性</a:t>
            </a:r>
          </a:p>
          <a:p>
            <a:pPr lvl="4">
              <a:defRPr/>
            </a:pPr>
            <a:r>
              <a:rPr lang="zh-CN" altLang="zh-CN" sz="2400" dirty="0">
                <a:latin typeface="楷体" panose="02010609060101010101" pitchFamily="49" charset="-122"/>
                <a:ea typeface="楷体" panose="02010609060101010101" pitchFamily="49" charset="-122"/>
              </a:rPr>
              <a:t>用产品需求衡量产品范围的完成情况</a:t>
            </a:r>
            <a:endParaRPr lang="en-US" altLang="zh-CN" sz="2400" dirty="0">
              <a:latin typeface="楷体" panose="02010609060101010101" pitchFamily="49" charset="-122"/>
              <a:ea typeface="楷体" panose="02010609060101010101" pitchFamily="49" charset="-122"/>
            </a:endParaRPr>
          </a:p>
          <a:p>
            <a:pPr marL="444500" lvl="4" indent="-84138">
              <a:buNone/>
              <a:defRPr/>
            </a:pPr>
            <a:r>
              <a:rPr lang="zh-CN" altLang="zh-CN" sz="2400" dirty="0">
                <a:solidFill>
                  <a:srgbClr val="0070C0"/>
                </a:solidFill>
                <a:latin typeface="楷体" panose="02010609060101010101" pitchFamily="49" charset="-122"/>
                <a:ea typeface="楷体" panose="02010609060101010101" pitchFamily="49" charset="-122"/>
              </a:rPr>
              <a:t>项目范围：</a:t>
            </a:r>
            <a:r>
              <a:rPr lang="zh-CN" altLang="zh-CN" sz="2400" dirty="0">
                <a:latin typeface="楷体" panose="02010609060101010101" pitchFamily="49" charset="-122"/>
                <a:ea typeface="楷体" panose="02010609060101010101" pitchFamily="49" charset="-122"/>
              </a:rPr>
              <a:t>为交付具有规定特性与功能的产品服务或成果而必须完成的工作</a:t>
            </a:r>
            <a:endParaRPr lang="en-US" altLang="zh-CN" sz="2400" dirty="0">
              <a:latin typeface="楷体" panose="02010609060101010101" pitchFamily="49" charset="-122"/>
              <a:ea typeface="楷体" panose="02010609060101010101" pitchFamily="49" charset="-122"/>
            </a:endParaRPr>
          </a:p>
          <a:p>
            <a:pPr lvl="4">
              <a:defRPr/>
            </a:pPr>
            <a:r>
              <a:rPr lang="zh-CN" altLang="zh-CN" sz="2400" dirty="0">
                <a:latin typeface="楷体" panose="02010609060101010101" pitchFamily="49" charset="-122"/>
                <a:ea typeface="楷体" panose="02010609060101010101" pitchFamily="49" charset="-122"/>
              </a:rPr>
              <a:t>强调的是工作</a:t>
            </a:r>
          </a:p>
          <a:p>
            <a:pPr lvl="4">
              <a:defRPr/>
            </a:pPr>
            <a:r>
              <a:rPr lang="zh-CN" altLang="zh-CN" sz="2400" dirty="0">
                <a:latin typeface="楷体" panose="02010609060101010101" pitchFamily="49" charset="-122"/>
                <a:ea typeface="楷体" panose="02010609060101010101" pitchFamily="49" charset="-122"/>
              </a:rPr>
              <a:t>用项目管理计划来核实项目范围完成情况</a:t>
            </a:r>
            <a:endParaRPr lang="en-US" altLang="zh-CN" sz="2400" dirty="0">
              <a:latin typeface="楷体" panose="02010609060101010101" pitchFamily="49" charset="-122"/>
              <a:ea typeface="楷体" panose="02010609060101010101" pitchFamily="49" charset="-122"/>
            </a:endParaRPr>
          </a:p>
          <a:p>
            <a:pPr lvl="4">
              <a:defRPr/>
            </a:pPr>
            <a:r>
              <a:rPr lang="zh-CN" altLang="en-US" sz="2400" dirty="0">
                <a:latin typeface="楷体" panose="02010609060101010101" pitchFamily="49" charset="-122"/>
                <a:ea typeface="楷体" panose="02010609060101010101" pitchFamily="49" charset="-122"/>
              </a:rPr>
              <a:t>产品范围决定项目范围</a:t>
            </a:r>
            <a:r>
              <a:rPr lang="en-US" altLang="zh-CN"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项目范围有时候包括产品范围</a:t>
            </a:r>
            <a:endParaRPr lang="zh-CN" altLang="en-US" sz="2400" dirty="0">
              <a:latin typeface="微软雅黑" panose="020B0503020204020204" pitchFamily="34" charset="-122"/>
              <a:ea typeface="微软雅黑" panose="020B0503020204020204" pitchFamily="34" charset="-122"/>
            </a:endParaRPr>
          </a:p>
          <a:p>
            <a:pPr marL="835025" lvl="2" indent="0">
              <a:lnSpc>
                <a:spcPts val="2800"/>
              </a:lnSpc>
              <a:buNone/>
            </a:pPr>
            <a:endParaRPr lang="en-US" altLang="zh-CN" dirty="0">
              <a:latin typeface="黑体" pitchFamily="2" charset="-122"/>
              <a:ea typeface="黑体" pitchFamily="2" charset="-122"/>
            </a:endParaRPr>
          </a:p>
        </p:txBody>
      </p:sp>
      <p:sp>
        <p:nvSpPr>
          <p:cNvPr id="5" name="Oval 3">
            <a:extLst>
              <a:ext uri="{FF2B5EF4-FFF2-40B4-BE49-F238E27FC236}">
                <a16:creationId xmlns:a16="http://schemas.microsoft.com/office/drawing/2014/main" id="{92C7F8B0-031B-4D35-AACD-66027D0FC804}"/>
              </a:ext>
            </a:extLst>
          </p:cNvPr>
          <p:cNvSpPr>
            <a:spLocks noChangeArrowheads="1"/>
          </p:cNvSpPr>
          <p:nvPr/>
        </p:nvSpPr>
        <p:spPr bwMode="auto">
          <a:xfrm>
            <a:off x="6202363" y="5842165"/>
            <a:ext cx="1447800" cy="685800"/>
          </a:xfrm>
          <a:prstGeom prst="ellipse">
            <a:avLst/>
          </a:prstGeom>
          <a:solidFill>
            <a:srgbClr val="CCECFF"/>
          </a:solidFill>
          <a:ln w="19050">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rgbClr val="000066"/>
                </a:solidFill>
                <a:effectLst/>
                <a:uLnTx/>
                <a:uFillTx/>
                <a:latin typeface="Arial" panose="020B0604020202020204" pitchFamily="34" charset="0"/>
                <a:ea typeface="宋体" panose="02010600030101010101" pitchFamily="2" charset="-122"/>
              </a:rPr>
              <a:t>产品范围</a:t>
            </a:r>
          </a:p>
        </p:txBody>
      </p:sp>
      <p:sp>
        <p:nvSpPr>
          <p:cNvPr id="6" name="Oval 4">
            <a:extLst>
              <a:ext uri="{FF2B5EF4-FFF2-40B4-BE49-F238E27FC236}">
                <a16:creationId xmlns:a16="http://schemas.microsoft.com/office/drawing/2014/main" id="{71F6C305-39B0-4255-ACD2-F5FE278BA204}"/>
              </a:ext>
            </a:extLst>
          </p:cNvPr>
          <p:cNvSpPr>
            <a:spLocks noChangeArrowheads="1"/>
          </p:cNvSpPr>
          <p:nvPr/>
        </p:nvSpPr>
        <p:spPr bwMode="auto">
          <a:xfrm>
            <a:off x="8716963" y="5842165"/>
            <a:ext cx="1447800" cy="685800"/>
          </a:xfrm>
          <a:prstGeom prst="ellipse">
            <a:avLst/>
          </a:prstGeom>
          <a:solidFill>
            <a:srgbClr val="CCECFF"/>
          </a:solidFill>
          <a:ln w="19050">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rgbClr val="000066"/>
                </a:solidFill>
                <a:effectLst/>
                <a:uLnTx/>
                <a:uFillTx/>
                <a:latin typeface="Arial" panose="020B0604020202020204" pitchFamily="34" charset="0"/>
                <a:ea typeface="宋体" panose="02010600030101010101" pitchFamily="2" charset="-122"/>
              </a:rPr>
              <a:t>项目范围</a:t>
            </a:r>
          </a:p>
        </p:txBody>
      </p:sp>
      <p:sp>
        <p:nvSpPr>
          <p:cNvPr id="7" name="AutoShape 11">
            <a:extLst>
              <a:ext uri="{FF2B5EF4-FFF2-40B4-BE49-F238E27FC236}">
                <a16:creationId xmlns:a16="http://schemas.microsoft.com/office/drawing/2014/main" id="{BA00DB56-D2D3-415B-A0D5-E4C64B033871}"/>
              </a:ext>
            </a:extLst>
          </p:cNvPr>
          <p:cNvSpPr>
            <a:spLocks noChangeArrowheads="1"/>
          </p:cNvSpPr>
          <p:nvPr/>
        </p:nvSpPr>
        <p:spPr bwMode="auto">
          <a:xfrm>
            <a:off x="7650163" y="6070765"/>
            <a:ext cx="1066800" cy="228600"/>
          </a:xfrm>
          <a:prstGeom prst="leftRightArrow">
            <a:avLst>
              <a:gd name="adj1" fmla="val 50000"/>
              <a:gd name="adj2" fmla="val 93333"/>
            </a:avLst>
          </a:prstGeom>
          <a:solidFill>
            <a:srgbClr val="CCFFFF"/>
          </a:solidFill>
          <a:ln w="19050">
            <a:solidFill>
              <a:srgbClr val="FFFF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31051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E8BE6-91DF-4AC2-8117-D51F914B7E26}"/>
              </a:ext>
            </a:extLst>
          </p:cNvPr>
          <p:cNvSpPr>
            <a:spLocks noGrp="1"/>
          </p:cNvSpPr>
          <p:nvPr>
            <p:ph type="title"/>
          </p:nvPr>
        </p:nvSpPr>
        <p:spPr/>
        <p:txBody>
          <a:bodyPr/>
          <a:lstStyle/>
          <a:p>
            <a:r>
              <a:rPr lang="en-US" altLang="zh-CN" dirty="0"/>
              <a:t>11.1 </a:t>
            </a:r>
            <a:r>
              <a:rPr lang="zh-CN" altLang="en-US" dirty="0"/>
              <a:t>项目范围管理概述</a:t>
            </a:r>
          </a:p>
        </p:txBody>
      </p:sp>
      <p:sp>
        <p:nvSpPr>
          <p:cNvPr id="5" name="内容占位符 2">
            <a:extLst>
              <a:ext uri="{FF2B5EF4-FFF2-40B4-BE49-F238E27FC236}">
                <a16:creationId xmlns:a16="http://schemas.microsoft.com/office/drawing/2014/main" id="{5F13A565-0A67-40A9-B79A-596DF7902694}"/>
              </a:ext>
            </a:extLst>
          </p:cNvPr>
          <p:cNvSpPr txBox="1">
            <a:spLocks/>
          </p:cNvSpPr>
          <p:nvPr/>
        </p:nvSpPr>
        <p:spPr>
          <a:xfrm>
            <a:off x="613885" y="1423894"/>
            <a:ext cx="10894435" cy="2886849"/>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lvl="1" indent="0">
              <a:buNone/>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项目范围管理的定义</a:t>
            </a:r>
            <a:endParaRPr lang="en-US" altLang="zh-CN" dirty="0">
              <a:latin typeface="微软雅黑" panose="020B0503020204020204" pitchFamily="34" charset="-122"/>
              <a:ea typeface="微软雅黑" panose="020B0503020204020204" pitchFamily="34" charset="-122"/>
            </a:endParaRPr>
          </a:p>
          <a:p>
            <a:pPr marL="457200" lvl="3" indent="0">
              <a:lnSpc>
                <a:spcPts val="2800"/>
              </a:lnSpc>
              <a:buFont typeface="Wingdings" pitchFamily="2" charset="2"/>
              <a:buChar char="Ø"/>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项目范围管理就是指根据项目目标对项目产品范围和项目工作范围的全面计划、确认和控制等方面的项目管理工作</a:t>
            </a:r>
            <a:endParaRPr lang="en-US" altLang="zh-CN" dirty="0">
              <a:latin typeface="微软雅黑" panose="020B0503020204020204" pitchFamily="34" charset="-122"/>
              <a:ea typeface="微软雅黑" panose="020B0503020204020204" pitchFamily="34" charset="-122"/>
            </a:endParaRPr>
          </a:p>
          <a:p>
            <a:pPr marL="457200" lvl="3"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rPr>
              <a:t>项目范围管理包括确保项目</a:t>
            </a:r>
            <a:r>
              <a:rPr lang="zh-CN" altLang="en-US" dirty="0">
                <a:solidFill>
                  <a:srgbClr val="0070C0"/>
                </a:solidFill>
                <a:latin typeface="微软雅黑" panose="020B0503020204020204" pitchFamily="34" charset="-122"/>
                <a:ea typeface="微软雅黑" panose="020B0503020204020204" pitchFamily="34" charset="-122"/>
              </a:rPr>
              <a:t>做且只做所需的全部工作</a:t>
            </a:r>
            <a:r>
              <a:rPr lang="zh-CN" altLang="en-US" dirty="0">
                <a:latin typeface="微软雅黑" panose="020B0503020204020204" pitchFamily="34" charset="-122"/>
                <a:ea typeface="微软雅黑" panose="020B0503020204020204" pitchFamily="34" charset="-122"/>
              </a:rPr>
              <a:t>，以成功完成项目的各个过程</a:t>
            </a:r>
            <a:endParaRPr lang="en-US" altLang="zh-CN" dirty="0">
              <a:latin typeface="微软雅黑" panose="020B0503020204020204" pitchFamily="34" charset="-122"/>
              <a:ea typeface="微软雅黑" panose="020B0503020204020204" pitchFamily="34" charset="-122"/>
            </a:endParaRPr>
          </a:p>
          <a:p>
            <a:pPr marL="0" lvl="1" indent="0">
              <a:lnSpc>
                <a:spcPts val="2800"/>
              </a:lnSpc>
              <a:buNone/>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管理项目范围</a:t>
            </a:r>
            <a:endParaRPr lang="en-US" altLang="zh-CN" dirty="0">
              <a:latin typeface="微软雅黑" panose="020B0503020204020204" pitchFamily="34" charset="-122"/>
              <a:ea typeface="微软雅黑" panose="020B0503020204020204" pitchFamily="34" charset="-122"/>
            </a:endParaRPr>
          </a:p>
          <a:p>
            <a:pPr marL="457200" lvl="3" indent="0">
              <a:lnSpc>
                <a:spcPts val="2800"/>
              </a:lnSpc>
              <a:buFont typeface="Wingdings" pitchFamily="2" charset="2"/>
              <a:buChar char="Ø"/>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定义和控制哪些工作应该包括在项目内，哪些不应该包括在项目内</a:t>
            </a:r>
            <a:endParaRPr lang="en-US" altLang="zh-CN" dirty="0">
              <a:latin typeface="微软雅黑" panose="020B0503020204020204" pitchFamily="34" charset="-122"/>
              <a:ea typeface="微软雅黑" panose="020B0503020204020204" pitchFamily="34" charset="-122"/>
            </a:endParaRPr>
          </a:p>
          <a:p>
            <a:pPr marL="1749425" lvl="4" indent="0">
              <a:lnSpc>
                <a:spcPts val="2800"/>
              </a:lnSpc>
              <a:buNone/>
            </a:pPr>
            <a:endParaRPr lang="en-US" altLang="zh-CN" dirty="0">
              <a:latin typeface="黑体" pitchFamily="2" charset="-122"/>
              <a:ea typeface="黑体" pitchFamily="2" charset="-122"/>
            </a:endParaRPr>
          </a:p>
        </p:txBody>
      </p:sp>
    </p:spTree>
    <p:extLst>
      <p:ext uri="{BB962C8B-B14F-4D97-AF65-F5344CB8AC3E}">
        <p14:creationId xmlns:p14="http://schemas.microsoft.com/office/powerpoint/2010/main" val="1026798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42C2C2-4D55-468C-B676-CA4C57868ABD}"/>
              </a:ext>
            </a:extLst>
          </p:cNvPr>
          <p:cNvSpPr>
            <a:spLocks noGrp="1"/>
          </p:cNvSpPr>
          <p:nvPr>
            <p:ph type="title"/>
          </p:nvPr>
        </p:nvSpPr>
        <p:spPr/>
        <p:txBody>
          <a:bodyPr/>
          <a:lstStyle/>
          <a:p>
            <a:r>
              <a:rPr lang="en-US" altLang="zh-CN" dirty="0"/>
              <a:t>11.1 </a:t>
            </a:r>
            <a:r>
              <a:rPr lang="zh-CN" altLang="en-US" dirty="0"/>
              <a:t>项目范围管理概述</a:t>
            </a:r>
          </a:p>
        </p:txBody>
      </p:sp>
      <p:sp>
        <p:nvSpPr>
          <p:cNvPr id="3" name="AutoShape 4">
            <a:extLst>
              <a:ext uri="{FF2B5EF4-FFF2-40B4-BE49-F238E27FC236}">
                <a16:creationId xmlns:a16="http://schemas.microsoft.com/office/drawing/2014/main" id="{0EBE4C2B-D508-4279-91E1-61292C3EE0F7}"/>
              </a:ext>
            </a:extLst>
          </p:cNvPr>
          <p:cNvSpPr>
            <a:spLocks noChangeArrowheads="1"/>
          </p:cNvSpPr>
          <p:nvPr/>
        </p:nvSpPr>
        <p:spPr bwMode="auto">
          <a:xfrm>
            <a:off x="7610893" y="2173899"/>
            <a:ext cx="306967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4" name="AutoShape 5">
            <a:extLst>
              <a:ext uri="{FF2B5EF4-FFF2-40B4-BE49-F238E27FC236}">
                <a16:creationId xmlns:a16="http://schemas.microsoft.com/office/drawing/2014/main" id="{E150FEDE-5937-47B8-9F4C-C8BE475E96DF}"/>
              </a:ext>
            </a:extLst>
          </p:cNvPr>
          <p:cNvSpPr>
            <a:spLocks noChangeArrowheads="1"/>
          </p:cNvSpPr>
          <p:nvPr/>
        </p:nvSpPr>
        <p:spPr bwMode="auto">
          <a:xfrm>
            <a:off x="1313977" y="2158818"/>
            <a:ext cx="568201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5" name="AutoShape 6">
            <a:extLst>
              <a:ext uri="{FF2B5EF4-FFF2-40B4-BE49-F238E27FC236}">
                <a16:creationId xmlns:a16="http://schemas.microsoft.com/office/drawing/2014/main" id="{FB339B86-D149-45B4-8E1F-6302CF49D763}"/>
              </a:ext>
            </a:extLst>
          </p:cNvPr>
          <p:cNvSpPr>
            <a:spLocks noChangeArrowheads="1"/>
          </p:cNvSpPr>
          <p:nvPr/>
        </p:nvSpPr>
        <p:spPr bwMode="auto">
          <a:xfrm>
            <a:off x="1466377"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范围管理</a:t>
            </a:r>
            <a:endParaRPr lang="zh-CN" altLang="en-US" sz="1600" b="1" dirty="0">
              <a:solidFill>
                <a:srgbClr val="000066"/>
              </a:solidFill>
              <a:latin typeface="Times New Roman" panose="02020603050405020304" pitchFamily="18" charset="0"/>
            </a:endParaRPr>
          </a:p>
        </p:txBody>
      </p:sp>
      <p:sp>
        <p:nvSpPr>
          <p:cNvPr id="6" name="AutoShape 7">
            <a:extLst>
              <a:ext uri="{FF2B5EF4-FFF2-40B4-BE49-F238E27FC236}">
                <a16:creationId xmlns:a16="http://schemas.microsoft.com/office/drawing/2014/main" id="{7AEDF725-4FBA-4C22-9B6F-6CBDB7251575}"/>
              </a:ext>
            </a:extLst>
          </p:cNvPr>
          <p:cNvSpPr>
            <a:spLocks noChangeArrowheads="1"/>
          </p:cNvSpPr>
          <p:nvPr/>
        </p:nvSpPr>
        <p:spPr bwMode="auto">
          <a:xfrm>
            <a:off x="295110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收集需求</a:t>
            </a:r>
            <a:endParaRPr lang="zh-CN" altLang="en-US" sz="1600" b="1" dirty="0">
              <a:solidFill>
                <a:srgbClr val="000066"/>
              </a:solidFill>
              <a:latin typeface="Times New Roman" panose="02020603050405020304" pitchFamily="18" charset="0"/>
            </a:endParaRPr>
          </a:p>
        </p:txBody>
      </p:sp>
      <p:sp>
        <p:nvSpPr>
          <p:cNvPr id="7" name="AutoShape 8">
            <a:extLst>
              <a:ext uri="{FF2B5EF4-FFF2-40B4-BE49-F238E27FC236}">
                <a16:creationId xmlns:a16="http://schemas.microsoft.com/office/drawing/2014/main" id="{5FEC0633-4312-4DCD-A67D-5E046774673C}"/>
              </a:ext>
            </a:extLst>
          </p:cNvPr>
          <p:cNvSpPr>
            <a:spLocks noChangeArrowheads="1"/>
          </p:cNvSpPr>
          <p:nvPr/>
        </p:nvSpPr>
        <p:spPr bwMode="auto">
          <a:xfrm>
            <a:off x="441697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范围定义</a:t>
            </a:r>
          </a:p>
        </p:txBody>
      </p:sp>
      <p:sp>
        <p:nvSpPr>
          <p:cNvPr id="8" name="AutoShape 9">
            <a:extLst>
              <a:ext uri="{FF2B5EF4-FFF2-40B4-BE49-F238E27FC236}">
                <a16:creationId xmlns:a16="http://schemas.microsoft.com/office/drawing/2014/main" id="{1D98E0DD-E46F-4C42-BE08-26A979A33515}"/>
              </a:ext>
            </a:extLst>
          </p:cNvPr>
          <p:cNvSpPr>
            <a:spLocks noChangeArrowheads="1"/>
          </p:cNvSpPr>
          <p:nvPr/>
        </p:nvSpPr>
        <p:spPr bwMode="auto">
          <a:xfrm>
            <a:off x="7819267" y="2382655"/>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确认范围</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B9D1590A-DBF9-4ECC-A9CE-DBC690D49BCA}"/>
              </a:ext>
            </a:extLst>
          </p:cNvPr>
          <p:cNvSpPr>
            <a:spLocks noChangeArrowheads="1"/>
          </p:cNvSpPr>
          <p:nvPr/>
        </p:nvSpPr>
        <p:spPr bwMode="auto">
          <a:xfrm>
            <a:off x="9351125" y="2382655"/>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范围控制</a:t>
            </a:r>
          </a:p>
        </p:txBody>
      </p:sp>
      <p:sp>
        <p:nvSpPr>
          <p:cNvPr id="10" name="AutoShape 11">
            <a:extLst>
              <a:ext uri="{FF2B5EF4-FFF2-40B4-BE49-F238E27FC236}">
                <a16:creationId xmlns:a16="http://schemas.microsoft.com/office/drawing/2014/main" id="{6CC39E5C-4261-4EA4-A78D-5C97BD118BB3}"/>
              </a:ext>
            </a:extLst>
          </p:cNvPr>
          <p:cNvSpPr>
            <a:spLocks noChangeArrowheads="1"/>
          </p:cNvSpPr>
          <p:nvPr/>
        </p:nvSpPr>
        <p:spPr bwMode="auto">
          <a:xfrm>
            <a:off x="2504112"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059497E0-642B-42AF-B226-570000940DD5}"/>
              </a:ext>
            </a:extLst>
          </p:cNvPr>
          <p:cNvSpPr>
            <a:spLocks noChangeArrowheads="1"/>
          </p:cNvSpPr>
          <p:nvPr/>
        </p:nvSpPr>
        <p:spPr bwMode="auto">
          <a:xfrm>
            <a:off x="3998263"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2" name="AutoShape 13">
            <a:extLst>
              <a:ext uri="{FF2B5EF4-FFF2-40B4-BE49-F238E27FC236}">
                <a16:creationId xmlns:a16="http://schemas.microsoft.com/office/drawing/2014/main" id="{C66A3579-B352-4C49-B326-78FB85EF0C32}"/>
              </a:ext>
            </a:extLst>
          </p:cNvPr>
          <p:cNvSpPr>
            <a:spLocks noChangeArrowheads="1"/>
          </p:cNvSpPr>
          <p:nvPr/>
        </p:nvSpPr>
        <p:spPr bwMode="auto">
          <a:xfrm>
            <a:off x="5473560"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3" name="AutoShape 14">
            <a:extLst>
              <a:ext uri="{FF2B5EF4-FFF2-40B4-BE49-F238E27FC236}">
                <a16:creationId xmlns:a16="http://schemas.microsoft.com/office/drawing/2014/main" id="{7BE1EE5F-0089-4982-B999-F94093DAAB2F}"/>
              </a:ext>
            </a:extLst>
          </p:cNvPr>
          <p:cNvSpPr>
            <a:spLocks noChangeArrowheads="1"/>
          </p:cNvSpPr>
          <p:nvPr/>
        </p:nvSpPr>
        <p:spPr bwMode="auto">
          <a:xfrm>
            <a:off x="8905117"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4" name="Group 15">
            <a:extLst>
              <a:ext uri="{FF2B5EF4-FFF2-40B4-BE49-F238E27FC236}">
                <a16:creationId xmlns:a16="http://schemas.microsoft.com/office/drawing/2014/main" id="{D5D031D9-0F28-4DB8-9469-35AE71AD1415}"/>
              </a:ext>
            </a:extLst>
          </p:cNvPr>
          <p:cNvGrpSpPr>
            <a:grpSpLocks/>
          </p:cNvGrpSpPr>
          <p:nvPr/>
        </p:nvGrpSpPr>
        <p:grpSpPr bwMode="auto">
          <a:xfrm>
            <a:off x="1390177" y="3225618"/>
            <a:ext cx="1219200" cy="2209800"/>
            <a:chOff x="816" y="3120"/>
            <a:chExt cx="1344" cy="960"/>
          </a:xfrm>
        </p:grpSpPr>
        <p:sp>
          <p:nvSpPr>
            <p:cNvPr id="15" name="Rectangle 16">
              <a:extLst>
                <a:ext uri="{FF2B5EF4-FFF2-40B4-BE49-F238E27FC236}">
                  <a16:creationId xmlns:a16="http://schemas.microsoft.com/office/drawing/2014/main" id="{DEE95910-C9EB-44E5-BCB0-A3B3A7A6540A}"/>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范围管理计划</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需求管理计划</a:t>
              </a:r>
            </a:p>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6" name="AutoShape 17">
              <a:extLst>
                <a:ext uri="{FF2B5EF4-FFF2-40B4-BE49-F238E27FC236}">
                  <a16:creationId xmlns:a16="http://schemas.microsoft.com/office/drawing/2014/main" id="{570BAFAE-0C5A-4CF5-9FCC-73E52B01F2E9}"/>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17" name="Group 18">
            <a:extLst>
              <a:ext uri="{FF2B5EF4-FFF2-40B4-BE49-F238E27FC236}">
                <a16:creationId xmlns:a16="http://schemas.microsoft.com/office/drawing/2014/main" id="{571D4ABF-DABB-40EB-9506-4822E4B1C319}"/>
              </a:ext>
            </a:extLst>
          </p:cNvPr>
          <p:cNvGrpSpPr>
            <a:grpSpLocks/>
          </p:cNvGrpSpPr>
          <p:nvPr/>
        </p:nvGrpSpPr>
        <p:grpSpPr bwMode="auto">
          <a:xfrm>
            <a:off x="2798701" y="3225618"/>
            <a:ext cx="1371600" cy="2209800"/>
            <a:chOff x="816" y="3120"/>
            <a:chExt cx="1344" cy="960"/>
          </a:xfrm>
        </p:grpSpPr>
        <p:sp>
          <p:nvSpPr>
            <p:cNvPr id="18" name="Rectangle 19">
              <a:extLst>
                <a:ext uri="{FF2B5EF4-FFF2-40B4-BE49-F238E27FC236}">
                  <a16:creationId xmlns:a16="http://schemas.microsoft.com/office/drawing/2014/main" id="{53EB99D0-893B-4D7C-8AF3-4BBC8AD3AC1D}"/>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需求文件</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需求跟踪矩阵</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9" name="AutoShape 20">
              <a:extLst>
                <a:ext uri="{FF2B5EF4-FFF2-40B4-BE49-F238E27FC236}">
                  <a16:creationId xmlns:a16="http://schemas.microsoft.com/office/drawing/2014/main" id="{81B2A8EE-7DA5-41A2-B345-6F11B27ED88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0" name="Group 21">
            <a:extLst>
              <a:ext uri="{FF2B5EF4-FFF2-40B4-BE49-F238E27FC236}">
                <a16:creationId xmlns:a16="http://schemas.microsoft.com/office/drawing/2014/main" id="{215A3173-70A6-4CEA-84B4-5272522A91DC}"/>
              </a:ext>
            </a:extLst>
          </p:cNvPr>
          <p:cNvGrpSpPr>
            <a:grpSpLocks/>
          </p:cNvGrpSpPr>
          <p:nvPr/>
        </p:nvGrpSpPr>
        <p:grpSpPr bwMode="auto">
          <a:xfrm>
            <a:off x="4340771" y="3225618"/>
            <a:ext cx="1219200" cy="2209800"/>
            <a:chOff x="816" y="3120"/>
            <a:chExt cx="1344" cy="960"/>
          </a:xfrm>
        </p:grpSpPr>
        <p:sp>
          <p:nvSpPr>
            <p:cNvPr id="21" name="Rectangle 22">
              <a:extLst>
                <a:ext uri="{FF2B5EF4-FFF2-40B4-BE49-F238E27FC236}">
                  <a16:creationId xmlns:a16="http://schemas.microsoft.com/office/drawing/2014/main" id="{45F00A9F-FC89-4105-930A-B58E92C2C580}"/>
                </a:ext>
              </a:extLst>
            </p:cNvPr>
            <p:cNvSpPr>
              <a:spLocks noChangeArrowheads="1"/>
            </p:cNvSpPr>
            <p:nvPr/>
          </p:nvSpPr>
          <p:spPr bwMode="auto">
            <a:xfrm>
              <a:off x="816" y="3360"/>
              <a:ext cx="1344"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项目范围说明</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书</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en-US" altLang="ja-JP"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2" name="AutoShape 23">
              <a:extLst>
                <a:ext uri="{FF2B5EF4-FFF2-40B4-BE49-F238E27FC236}">
                  <a16:creationId xmlns:a16="http://schemas.microsoft.com/office/drawing/2014/main" id="{B3FEB53E-4B63-46AB-A943-AA7147B37FB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3" name="Group 24">
            <a:extLst>
              <a:ext uri="{FF2B5EF4-FFF2-40B4-BE49-F238E27FC236}">
                <a16:creationId xmlns:a16="http://schemas.microsoft.com/office/drawing/2014/main" id="{D15C308E-2A1A-4C48-BC79-8AE8565A758B}"/>
              </a:ext>
            </a:extLst>
          </p:cNvPr>
          <p:cNvGrpSpPr>
            <a:grpSpLocks/>
          </p:cNvGrpSpPr>
          <p:nvPr/>
        </p:nvGrpSpPr>
        <p:grpSpPr bwMode="auto">
          <a:xfrm>
            <a:off x="5730441" y="3225618"/>
            <a:ext cx="1295400" cy="2209800"/>
            <a:chOff x="816" y="3120"/>
            <a:chExt cx="1344" cy="960"/>
          </a:xfrm>
        </p:grpSpPr>
        <p:sp>
          <p:nvSpPr>
            <p:cNvPr id="24" name="Rectangle 25">
              <a:extLst>
                <a:ext uri="{FF2B5EF4-FFF2-40B4-BE49-F238E27FC236}">
                  <a16:creationId xmlns:a16="http://schemas.microsoft.com/office/drawing/2014/main" id="{97D3F46A-FB93-4830-8164-7D570CE0BA51}"/>
                </a:ext>
              </a:extLst>
            </p:cNvPr>
            <p:cNvSpPr>
              <a:spLocks noChangeArrowheads="1"/>
            </p:cNvSpPr>
            <p:nvPr/>
          </p:nvSpPr>
          <p:spPr bwMode="auto">
            <a:xfrm>
              <a:off x="816" y="3360"/>
              <a:ext cx="1344" cy="720"/>
            </a:xfrm>
            <a:prstGeom prst="rect">
              <a:avLst/>
            </a:prstGeom>
            <a:solidFill>
              <a:schemeClr val="accent4">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范围基准</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b="1" kern="0" dirty="0">
                <a:solidFill>
                  <a:schemeClr val="tx2">
                    <a:lumMod val="50000"/>
                  </a:schemeClr>
                </a:solidFill>
              </a:endParaRPr>
            </a:p>
          </p:txBody>
        </p:sp>
        <p:sp>
          <p:nvSpPr>
            <p:cNvPr id="25" name="AutoShape 26">
              <a:extLst>
                <a:ext uri="{FF2B5EF4-FFF2-40B4-BE49-F238E27FC236}">
                  <a16:creationId xmlns:a16="http://schemas.microsoft.com/office/drawing/2014/main" id="{F3F27DCB-0B6C-4257-BF30-E70631DB71D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6" name="Group 27">
            <a:extLst>
              <a:ext uri="{FF2B5EF4-FFF2-40B4-BE49-F238E27FC236}">
                <a16:creationId xmlns:a16="http://schemas.microsoft.com/office/drawing/2014/main" id="{6E9D37D2-9588-4156-B9AD-BBC45F7D6C0D}"/>
              </a:ext>
            </a:extLst>
          </p:cNvPr>
          <p:cNvGrpSpPr>
            <a:grpSpLocks/>
          </p:cNvGrpSpPr>
          <p:nvPr/>
        </p:nvGrpSpPr>
        <p:grpSpPr bwMode="auto">
          <a:xfrm>
            <a:off x="7743067" y="3225618"/>
            <a:ext cx="1295400" cy="2209800"/>
            <a:chOff x="816" y="3120"/>
            <a:chExt cx="1344" cy="960"/>
          </a:xfrm>
        </p:grpSpPr>
        <p:sp>
          <p:nvSpPr>
            <p:cNvPr id="27" name="Rectangle 28">
              <a:extLst>
                <a:ext uri="{FF2B5EF4-FFF2-40B4-BE49-F238E27FC236}">
                  <a16:creationId xmlns:a16="http://schemas.microsoft.com/office/drawing/2014/main" id="{2F6DADA3-584F-4F3A-98CE-65626D79D1D2}"/>
                </a:ext>
              </a:extLst>
            </p:cNvPr>
            <p:cNvSpPr>
              <a:spLocks noChangeArrowheads="1"/>
            </p:cNvSpPr>
            <p:nvPr/>
          </p:nvSpPr>
          <p:spPr bwMode="auto">
            <a:xfrm>
              <a:off x="816" y="3360"/>
              <a:ext cx="1344" cy="720"/>
            </a:xfrm>
            <a:prstGeom prst="rect">
              <a:avLst/>
            </a:prstGeom>
            <a:solidFill>
              <a:schemeClr val="accent6">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8" name="AutoShape 29">
              <a:extLst>
                <a:ext uri="{FF2B5EF4-FFF2-40B4-BE49-F238E27FC236}">
                  <a16:creationId xmlns:a16="http://schemas.microsoft.com/office/drawing/2014/main" id="{3FBA064B-5B9F-409E-B64B-249DF6A63F5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sp>
        <p:nvSpPr>
          <p:cNvPr id="30" name="AutoShape 9">
            <a:extLst>
              <a:ext uri="{FF2B5EF4-FFF2-40B4-BE49-F238E27FC236}">
                <a16:creationId xmlns:a16="http://schemas.microsoft.com/office/drawing/2014/main" id="{D2C15EAE-F45F-45FA-B1A2-A39EF36602CE}"/>
              </a:ext>
            </a:extLst>
          </p:cNvPr>
          <p:cNvSpPr>
            <a:spLocks noChangeArrowheads="1"/>
          </p:cNvSpPr>
          <p:nvPr/>
        </p:nvSpPr>
        <p:spPr bwMode="auto">
          <a:xfrm>
            <a:off x="5882841" y="2405934"/>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创建 </a:t>
            </a:r>
            <a:r>
              <a:rPr lang="en-US" altLang="zh-CN" sz="1600" b="1" dirty="0">
                <a:latin typeface="Times New Roman" panose="02020603050405020304" pitchFamily="18" charset="0"/>
              </a:rPr>
              <a:t>WBS</a:t>
            </a:r>
            <a:endParaRPr lang="zh-CN" altLang="en-US" sz="1600" b="1" dirty="0">
              <a:solidFill>
                <a:srgbClr val="000066"/>
              </a:solidFill>
              <a:latin typeface="Times New Roman" panose="02020603050405020304" pitchFamily="18" charset="0"/>
            </a:endParaRPr>
          </a:p>
        </p:txBody>
      </p:sp>
      <p:sp>
        <p:nvSpPr>
          <p:cNvPr id="31" name="AutoShape 14">
            <a:extLst>
              <a:ext uri="{FF2B5EF4-FFF2-40B4-BE49-F238E27FC236}">
                <a16:creationId xmlns:a16="http://schemas.microsoft.com/office/drawing/2014/main" id="{B25F90E8-93CA-4A25-992F-32343AC4DD2A}"/>
              </a:ext>
            </a:extLst>
          </p:cNvPr>
          <p:cNvSpPr>
            <a:spLocks noChangeArrowheads="1"/>
          </p:cNvSpPr>
          <p:nvPr/>
        </p:nvSpPr>
        <p:spPr bwMode="auto">
          <a:xfrm>
            <a:off x="7119524"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32" name="Rectangle 28">
            <a:extLst>
              <a:ext uri="{FF2B5EF4-FFF2-40B4-BE49-F238E27FC236}">
                <a16:creationId xmlns:a16="http://schemas.microsoft.com/office/drawing/2014/main" id="{44997A1E-F169-4DA9-B91E-086FD5B279E8}"/>
              </a:ext>
            </a:extLst>
          </p:cNvPr>
          <p:cNvSpPr>
            <a:spLocks noChangeArrowheads="1"/>
          </p:cNvSpPr>
          <p:nvPr/>
        </p:nvSpPr>
        <p:spPr bwMode="auto">
          <a:xfrm>
            <a:off x="9263649" y="3778068"/>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33" name="AutoShape 29">
            <a:extLst>
              <a:ext uri="{FF2B5EF4-FFF2-40B4-BE49-F238E27FC236}">
                <a16:creationId xmlns:a16="http://schemas.microsoft.com/office/drawing/2014/main" id="{C97BFCE0-E02E-421F-8799-2246D53FEB27}"/>
              </a:ext>
            </a:extLst>
          </p:cNvPr>
          <p:cNvSpPr>
            <a:spLocks noChangeArrowheads="1"/>
          </p:cNvSpPr>
          <p:nvPr/>
        </p:nvSpPr>
        <p:spPr bwMode="auto">
          <a:xfrm>
            <a:off x="9865085" y="3225618"/>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sp>
        <p:nvSpPr>
          <p:cNvPr id="34" name="矩形 33">
            <a:extLst>
              <a:ext uri="{FF2B5EF4-FFF2-40B4-BE49-F238E27FC236}">
                <a16:creationId xmlns:a16="http://schemas.microsoft.com/office/drawing/2014/main" id="{2C7565BF-2CEE-4B37-B5C0-00AAABA33EE7}"/>
              </a:ext>
            </a:extLst>
          </p:cNvPr>
          <p:cNvSpPr/>
          <p:nvPr/>
        </p:nvSpPr>
        <p:spPr>
          <a:xfrm>
            <a:off x="3260721" y="1789485"/>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35" name="矩形 34">
            <a:extLst>
              <a:ext uri="{FF2B5EF4-FFF2-40B4-BE49-F238E27FC236}">
                <a16:creationId xmlns:a16="http://schemas.microsoft.com/office/drawing/2014/main" id="{4DD289D5-2036-4534-B6C6-81579A0B9727}"/>
              </a:ext>
            </a:extLst>
          </p:cNvPr>
          <p:cNvSpPr/>
          <p:nvPr/>
        </p:nvSpPr>
        <p:spPr>
          <a:xfrm>
            <a:off x="7401269" y="1804973"/>
            <a:ext cx="2398413" cy="400110"/>
          </a:xfrm>
          <a:prstGeom prst="rect">
            <a:avLst/>
          </a:prstGeom>
        </p:spPr>
        <p:txBody>
          <a:bodyPr wrap="none">
            <a:spAutoFit/>
          </a:bodyPr>
          <a:lstStyle/>
          <a:p>
            <a:pPr lvl="2" algn="just"/>
            <a:r>
              <a:rPr lang="zh-CN" altLang="en-US" sz="2000" b="1" dirty="0">
                <a:solidFill>
                  <a:srgbClr val="FF0000"/>
                </a:solidFill>
                <a:latin typeface="Times New Roman" panose="02020603050405020304" pitchFamily="18" charset="0"/>
              </a:rPr>
              <a:t>监控过程组</a:t>
            </a:r>
          </a:p>
        </p:txBody>
      </p:sp>
      <p:sp>
        <p:nvSpPr>
          <p:cNvPr id="36" name="矩形 35">
            <a:extLst>
              <a:ext uri="{FF2B5EF4-FFF2-40B4-BE49-F238E27FC236}">
                <a16:creationId xmlns:a16="http://schemas.microsoft.com/office/drawing/2014/main" id="{E27F2387-28DD-4409-B784-623399286B56}"/>
              </a:ext>
            </a:extLst>
          </p:cNvPr>
          <p:cNvSpPr/>
          <p:nvPr/>
        </p:nvSpPr>
        <p:spPr>
          <a:xfrm>
            <a:off x="688732" y="1201866"/>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项目范围管理主要过程</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923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07049534-93B6-44C3-AF26-98ED09CF11A8}"/>
              </a:ext>
            </a:extLst>
          </p:cNvPr>
          <p:cNvSpPr txBox="1">
            <a:spLocks/>
          </p:cNvSpPr>
          <p:nvPr/>
        </p:nvSpPr>
        <p:spPr>
          <a:xfrm>
            <a:off x="566738" y="1314449"/>
            <a:ext cx="10998344" cy="459649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项目范围管理的意义</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pPr>
            <a:r>
              <a:rPr lang="zh-CN" altLang="zh-CN" sz="2000" dirty="0">
                <a:latin typeface="微软雅黑" panose="020B0503020204020204" pitchFamily="34" charset="-122"/>
                <a:ea typeface="微软雅黑" panose="020B0503020204020204" pitchFamily="34" charset="-122"/>
                <a:cs typeface="Times New Roman" pitchFamily="18" charset="0"/>
              </a:rPr>
              <a:t>确定了项目范围也就界定了项目的工作边界，明确了项目的目标和主要的项目可交付成果。</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为项目实施提供任务范围的框架</a:t>
            </a: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对项目实施进行有效的控制</a:t>
            </a: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为项目绩效度量提供基线</a:t>
            </a: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为项目最终交付提供依据</a:t>
            </a:r>
          </a:p>
          <a:p>
            <a:pPr marL="0" indent="0">
              <a:lnSpc>
                <a:spcPts val="3600"/>
              </a:lnSpc>
              <a:buFont typeface="Wingdings" pitchFamily="2" charset="2"/>
              <a:buNone/>
            </a:pPr>
            <a:endParaRPr lang="zh-CN" altLang="en-US" dirty="0">
              <a:latin typeface="Times New Roman" pitchFamily="18" charset="0"/>
              <a:ea typeface="黑体" pitchFamily="2" charset="-122"/>
              <a:cs typeface="Times New Roman" pitchFamily="18" charset="0"/>
            </a:endParaRPr>
          </a:p>
          <a:p>
            <a:pPr marL="0" indent="0">
              <a:lnSpc>
                <a:spcPts val="3600"/>
              </a:lnSpc>
              <a:buFont typeface="Wingdings" pitchFamily="2" charset="2"/>
              <a:buNone/>
            </a:pPr>
            <a:r>
              <a:rPr lang="zh-CN" altLang="zh-CN" sz="2400" dirty="0">
                <a:latin typeface="黑体" pitchFamily="2" charset="-122"/>
                <a:ea typeface="黑体" pitchFamily="2" charset="-122"/>
                <a:cs typeface="Times New Roman" pitchFamily="18" charset="0"/>
              </a:rPr>
              <a:t> </a:t>
            </a:r>
            <a:r>
              <a:rPr lang="en-US" altLang="zh-CN" dirty="0">
                <a:latin typeface="Times New Roman" pitchFamily="18" charset="0"/>
                <a:ea typeface="黑体" pitchFamily="2" charset="-122"/>
                <a:cs typeface="Times New Roman" pitchFamily="18" charset="0"/>
              </a:rPr>
              <a:t>	</a:t>
            </a:r>
            <a:endParaRPr lang="zh-CN" altLang="en-US" dirty="0">
              <a:latin typeface="Times New Roman" pitchFamily="18" charset="0"/>
              <a:ea typeface="黑体" pitchFamily="2" charset="-122"/>
              <a:cs typeface="Times New Roman" pitchFamily="18" charset="0"/>
            </a:endParaRPr>
          </a:p>
        </p:txBody>
      </p:sp>
      <p:sp>
        <p:nvSpPr>
          <p:cNvPr id="9" name="标题 1">
            <a:extLst>
              <a:ext uri="{FF2B5EF4-FFF2-40B4-BE49-F238E27FC236}">
                <a16:creationId xmlns:a16="http://schemas.microsoft.com/office/drawing/2014/main" id="{10A490F1-7D82-4244-8A21-60A890169304}"/>
              </a:ext>
            </a:extLst>
          </p:cNvPr>
          <p:cNvSpPr>
            <a:spLocks noGrp="1"/>
          </p:cNvSpPr>
          <p:nvPr>
            <p:ph type="title"/>
          </p:nvPr>
        </p:nvSpPr>
        <p:spPr>
          <a:xfrm>
            <a:off x="613885" y="764293"/>
            <a:ext cx="10972800" cy="437186"/>
          </a:xfrm>
          <a:prstGeom prst="rect">
            <a:avLst/>
          </a:prstGeom>
        </p:spPr>
        <p:txBody>
          <a:bodyPr/>
          <a:lstStyle/>
          <a:p>
            <a:r>
              <a:rPr lang="en-US" altLang="zh-CN" dirty="0"/>
              <a:t>11.1 </a:t>
            </a:r>
            <a:r>
              <a:rPr lang="zh-CN" altLang="en-US" dirty="0"/>
              <a:t>项目范围管理概述</a:t>
            </a:r>
          </a:p>
        </p:txBody>
      </p:sp>
    </p:spTree>
    <p:extLst>
      <p:ext uri="{BB962C8B-B14F-4D97-AF65-F5344CB8AC3E}">
        <p14:creationId xmlns:p14="http://schemas.microsoft.com/office/powerpoint/2010/main" val="3275176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C1302-A07C-4F15-986D-5CA2FEDDDD3F}"/>
              </a:ext>
            </a:extLst>
          </p:cNvPr>
          <p:cNvSpPr>
            <a:spLocks noGrp="1"/>
          </p:cNvSpPr>
          <p:nvPr>
            <p:ph type="title"/>
          </p:nvPr>
        </p:nvSpPr>
        <p:spPr/>
        <p:txBody>
          <a:bodyPr/>
          <a:lstStyle/>
          <a:p>
            <a:r>
              <a:rPr lang="en-US" altLang="zh-CN" dirty="0"/>
              <a:t>11.1 </a:t>
            </a:r>
            <a:r>
              <a:rPr lang="zh-CN" altLang="en-US" dirty="0"/>
              <a:t>项目范围管理概述</a:t>
            </a:r>
          </a:p>
        </p:txBody>
      </p:sp>
      <p:sp>
        <p:nvSpPr>
          <p:cNvPr id="4" name="文本框 3">
            <a:extLst>
              <a:ext uri="{FF2B5EF4-FFF2-40B4-BE49-F238E27FC236}">
                <a16:creationId xmlns:a16="http://schemas.microsoft.com/office/drawing/2014/main" id="{3C409F23-61AC-4424-9AD2-4C06848B4502}"/>
              </a:ext>
            </a:extLst>
          </p:cNvPr>
          <p:cNvSpPr txBox="1"/>
          <p:nvPr/>
        </p:nvSpPr>
        <p:spPr>
          <a:xfrm>
            <a:off x="1068427" y="1648720"/>
            <a:ext cx="6800850" cy="2000548"/>
          </a:xfrm>
          <a:prstGeom prst="rect">
            <a:avLst/>
          </a:prstGeom>
          <a:noFill/>
        </p:spPr>
        <p:txBody>
          <a:bodyPr wrap="square">
            <a:spAutoFit/>
          </a:bodyPr>
          <a:lstStyle/>
          <a:p>
            <a:pPr>
              <a:defRPr/>
            </a:pPr>
            <a:r>
              <a:rPr lang="zh-CN" altLang="en-US" sz="2400" dirty="0">
                <a:latin typeface="微软雅黑" panose="020B0503020204020204" pitchFamily="34" charset="-122"/>
                <a:ea typeface="微软雅黑" panose="020B0503020204020204" pitchFamily="34" charset="-122"/>
              </a:rPr>
              <a:t>下列哪个因素对客户的满意度影响最大？</a:t>
            </a:r>
          </a:p>
          <a:p>
            <a:pPr lvl="1">
              <a:defRPr/>
            </a:pPr>
            <a:r>
              <a:rPr lang="en-US" altLang="zh-CN" sz="2400" dirty="0">
                <a:latin typeface="微软雅黑" panose="020B0503020204020204" pitchFamily="34" charset="-122"/>
                <a:ea typeface="微软雅黑" panose="020B0503020204020204" pitchFamily="34" charset="-122"/>
              </a:rPr>
              <a:t>A. </a:t>
            </a:r>
            <a:r>
              <a:rPr lang="zh-CN" altLang="en-US" sz="2400" dirty="0">
                <a:latin typeface="微软雅黑" panose="020B0503020204020204" pitchFamily="34" charset="-122"/>
                <a:ea typeface="微软雅黑" panose="020B0503020204020204" pitchFamily="34" charset="-122"/>
              </a:rPr>
              <a:t>有吸引力的项目价格，低运营成本的产品</a:t>
            </a:r>
          </a:p>
          <a:p>
            <a:pPr lvl="1">
              <a:defRPr/>
            </a:pPr>
            <a:r>
              <a:rPr lang="en-US" altLang="zh-CN" sz="2400" dirty="0">
                <a:latin typeface="微软雅黑" panose="020B0503020204020204" pitchFamily="34" charset="-122"/>
                <a:ea typeface="微软雅黑" panose="020B0503020204020204" pitchFamily="34" charset="-122"/>
              </a:rPr>
              <a:t>B. </a:t>
            </a:r>
            <a:r>
              <a:rPr lang="zh-CN" altLang="en-US" sz="2400" dirty="0">
                <a:latin typeface="微软雅黑" panose="020B0503020204020204" pitchFamily="34" charset="-122"/>
                <a:ea typeface="微软雅黑" panose="020B0503020204020204" pitchFamily="34" charset="-122"/>
              </a:rPr>
              <a:t>友好的项目经理和有效的项目后服务</a:t>
            </a:r>
          </a:p>
          <a:p>
            <a:pPr lvl="1">
              <a:defRPr/>
            </a:pPr>
            <a:r>
              <a:rPr lang="en-US" altLang="zh-CN" sz="2400" dirty="0">
                <a:latin typeface="微软雅黑" panose="020B0503020204020204" pitchFamily="34" charset="-122"/>
                <a:ea typeface="微软雅黑" panose="020B0503020204020204" pitchFamily="34" charset="-122"/>
              </a:rPr>
              <a:t>C. </a:t>
            </a:r>
            <a:r>
              <a:rPr lang="zh-CN" altLang="en-US" sz="2400" dirty="0">
                <a:latin typeface="微软雅黑" panose="020B0503020204020204" pitchFamily="34" charset="-122"/>
                <a:ea typeface="微软雅黑" panose="020B0503020204020204" pitchFamily="34" charset="-122"/>
              </a:rPr>
              <a:t>项目效率，项目经理的能力</a:t>
            </a:r>
          </a:p>
          <a:p>
            <a:pPr lvl="1">
              <a:defRPr/>
            </a:pPr>
            <a:r>
              <a:rPr lang="en-US" altLang="zh-CN" sz="2400" dirty="0">
                <a:latin typeface="微软雅黑" panose="020B0503020204020204" pitchFamily="34" charset="-122"/>
                <a:ea typeface="微软雅黑" panose="020B0503020204020204" pitchFamily="34" charset="-122"/>
              </a:rPr>
              <a:t>D. </a:t>
            </a:r>
            <a:r>
              <a:rPr lang="zh-CN" altLang="en-US" sz="2400" dirty="0">
                <a:latin typeface="微软雅黑" panose="020B0503020204020204" pitchFamily="34" charset="-122"/>
                <a:ea typeface="微软雅黑" panose="020B0503020204020204" pitchFamily="34" charset="-122"/>
              </a:rPr>
              <a:t>与项目需求一致，成果适用</a:t>
            </a:r>
          </a:p>
        </p:txBody>
      </p:sp>
    </p:spTree>
    <p:extLst>
      <p:ext uri="{BB962C8B-B14F-4D97-AF65-F5344CB8AC3E}">
        <p14:creationId xmlns:p14="http://schemas.microsoft.com/office/powerpoint/2010/main" val="191284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11.2 </a:t>
            </a:r>
            <a:r>
              <a:rPr lang="zh-CN" altLang="en-US" dirty="0"/>
              <a:t>规划范围管理</a:t>
            </a:r>
          </a:p>
        </p:txBody>
      </p:sp>
      <p:sp>
        <p:nvSpPr>
          <p:cNvPr id="6" name="内容占位符 2">
            <a:extLst>
              <a:ext uri="{FF2B5EF4-FFF2-40B4-BE49-F238E27FC236}">
                <a16:creationId xmlns:a16="http://schemas.microsoft.com/office/drawing/2014/main" id="{4344DB7C-D013-499D-A7C3-8176E253BA6D}"/>
              </a:ext>
            </a:extLst>
          </p:cNvPr>
          <p:cNvSpPr txBox="1">
            <a:spLocks/>
          </p:cNvSpPr>
          <p:nvPr/>
        </p:nvSpPr>
        <p:spPr>
          <a:xfrm>
            <a:off x="613885" y="1224272"/>
            <a:ext cx="11187545" cy="51105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a:lnSpc>
                <a:spcPct val="100000"/>
              </a:lnSpc>
              <a:spcBef>
                <a:spcPts val="600"/>
              </a:spcBef>
              <a:spcAft>
                <a:spcPts val="600"/>
              </a:spcAft>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规划（计划）项目范围</a:t>
            </a:r>
            <a:r>
              <a:rPr lang="en-US" altLang="zh-CN" sz="2400"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a:lnSpc>
                <a:spcPct val="100000"/>
              </a:lnSpc>
              <a:spcBef>
                <a:spcPts val="600"/>
              </a:spcBef>
              <a:spcAft>
                <a:spcPts val="600"/>
              </a:spcAft>
              <a:buFont typeface="Wingdings" pitchFamily="2" charset="2"/>
              <a:buNone/>
              <a:defRPr/>
            </a:pPr>
            <a:r>
              <a:rPr lang="zh-CN" altLang="zh-CN" sz="2400" dirty="0">
                <a:latin typeface="微软雅黑" panose="020B0503020204020204" pitchFamily="34" charset="-122"/>
                <a:ea typeface="微软雅黑" panose="020B0503020204020204" pitchFamily="34" charset="-122"/>
              </a:rPr>
              <a:t>项目范围规划是在项目启动结束后，项目团队根据收集的项目发起人对项目产出物的要求</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编制项目初步范围说明书及项目范围管理计划的过程。</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本过程的主要作用是，在整个项目期间对如何管理范围提供指南和方向。</a:t>
            </a:r>
            <a:endParaRPr lang="en-US" altLang="zh-CN" sz="2000" dirty="0">
              <a:latin typeface="微软雅黑" panose="020B0503020204020204" pitchFamily="34" charset="-122"/>
              <a:ea typeface="微软雅黑" panose="020B0503020204020204" pitchFamily="34" charset="-122"/>
            </a:endParaRPr>
          </a:p>
          <a:p>
            <a:pPr>
              <a:lnSpc>
                <a:spcPct val="100000"/>
              </a:lnSpc>
              <a:spcBef>
                <a:spcPts val="600"/>
              </a:spcBef>
              <a:spcAft>
                <a:spcPts val="600"/>
              </a:spcAft>
              <a:buFont typeface="Wingdings" pitchFamily="2" charset="2"/>
              <a:buNone/>
              <a:defRPr/>
            </a:pPr>
            <a:endParaRPr lang="zh-CN" altLang="en-US" sz="2400" dirty="0">
              <a:latin typeface="微软雅黑" panose="020B0503020204020204" pitchFamily="34" charset="-122"/>
              <a:ea typeface="微软雅黑" panose="020B0503020204020204" pitchFamily="34" charset="-122"/>
              <a:cs typeface="Times New Roman" pitchFamily="18" charset="0"/>
            </a:endParaRPr>
          </a:p>
          <a:p>
            <a:pPr>
              <a:buFont typeface="Wingdings" pitchFamily="2" charset="2"/>
              <a:buNone/>
              <a:defRPr/>
            </a:pPr>
            <a:endParaRPr lang="zh-CN" altLang="en-US" dirty="0"/>
          </a:p>
        </p:txBody>
      </p:sp>
      <p:pic>
        <p:nvPicPr>
          <p:cNvPr id="7" name="图片 3">
            <a:extLst>
              <a:ext uri="{FF2B5EF4-FFF2-40B4-BE49-F238E27FC236}">
                <a16:creationId xmlns:a16="http://schemas.microsoft.com/office/drawing/2014/main" id="{996F416C-BC0E-407A-A8DF-8A36F5760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558" y="3162274"/>
            <a:ext cx="9494571" cy="3195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5127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C3369F-AAA2-4A25-B342-D4B190BEE4FB}"/>
              </a:ext>
            </a:extLst>
          </p:cNvPr>
          <p:cNvSpPr>
            <a:spLocks noGrp="1"/>
          </p:cNvSpPr>
          <p:nvPr>
            <p:ph type="title"/>
          </p:nvPr>
        </p:nvSpPr>
        <p:spPr/>
        <p:txBody>
          <a:bodyPr/>
          <a:lstStyle/>
          <a:p>
            <a:r>
              <a:rPr lang="en-US" altLang="zh-CN" dirty="0"/>
              <a:t>11.2 </a:t>
            </a:r>
            <a:r>
              <a:rPr lang="zh-CN" altLang="en-US" dirty="0"/>
              <a:t>规划范围管理</a:t>
            </a:r>
          </a:p>
        </p:txBody>
      </p:sp>
      <p:sp>
        <p:nvSpPr>
          <p:cNvPr id="4" name="文本框 3">
            <a:extLst>
              <a:ext uri="{FF2B5EF4-FFF2-40B4-BE49-F238E27FC236}">
                <a16:creationId xmlns:a16="http://schemas.microsoft.com/office/drawing/2014/main" id="{4F56AADB-65CF-4255-A220-094BDF98E652}"/>
              </a:ext>
            </a:extLst>
          </p:cNvPr>
          <p:cNvSpPr txBox="1"/>
          <p:nvPr/>
        </p:nvSpPr>
        <p:spPr>
          <a:xfrm>
            <a:off x="770022" y="1685816"/>
            <a:ext cx="10816664" cy="4493538"/>
          </a:xfrm>
          <a:prstGeom prst="rect">
            <a:avLst/>
          </a:prstGeom>
          <a:noFill/>
        </p:spPr>
        <p:txBody>
          <a:bodyPr wrap="square">
            <a:spAutoFit/>
          </a:bodyPr>
          <a:lstStyle/>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项目章程 ：</a:t>
            </a:r>
            <a:endParaRPr lang="en-US" altLang="zh-CN" sz="2200" dirty="0">
              <a:solidFill>
                <a:srgbClr val="C00000"/>
              </a:solidFill>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项目章程记录项目目的、项目概述、假设条件、制约因素，以及项目意图实现的高 层级需求</a:t>
            </a:r>
          </a:p>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项目管理计划： </a:t>
            </a:r>
            <a:endParaRPr lang="en-US" altLang="zh-CN" sz="2200" dirty="0">
              <a:solidFill>
                <a:srgbClr val="C00000"/>
              </a:solidFill>
              <a:latin typeface="微软雅黑" panose="020B0503020204020204" pitchFamily="34" charset="-122"/>
              <a:ea typeface="微软雅黑" panose="020B0503020204020204" pitchFamily="34" charset="-122"/>
            </a:endParaRPr>
          </a:p>
          <a:p>
            <a:pPr lvl="1"/>
            <a:r>
              <a:rPr lang="zh-CN" altLang="en-US" sz="2200" dirty="0">
                <a:solidFill>
                  <a:schemeClr val="tx2"/>
                </a:solidFill>
                <a:latin typeface="微软雅黑" panose="020B0503020204020204" pitchFamily="34" charset="-122"/>
                <a:ea typeface="微软雅黑" panose="020B0503020204020204" pitchFamily="34" charset="-122"/>
              </a:rPr>
              <a:t>   质量管理计划。</a:t>
            </a:r>
            <a:r>
              <a:rPr lang="zh-CN" altLang="en-US" sz="2200" dirty="0">
                <a:latin typeface="微软雅黑" panose="020B0503020204020204" pitchFamily="34" charset="-122"/>
                <a:ea typeface="微软雅黑" panose="020B0503020204020204" pitchFamily="34" charset="-122"/>
              </a:rPr>
              <a:t>在项目中实施组织的质量政策、方法和标准的方式会影响管理项目和产品范围的方式。 </a:t>
            </a:r>
          </a:p>
          <a:p>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 </a:t>
            </a:r>
            <a:r>
              <a:rPr lang="zh-CN" altLang="en-US" sz="2200" dirty="0">
                <a:solidFill>
                  <a:schemeClr val="tx2"/>
                </a:solidFill>
                <a:latin typeface="微软雅黑" panose="020B0503020204020204" pitchFamily="34" charset="-122"/>
                <a:ea typeface="微软雅黑" panose="020B0503020204020204" pitchFamily="34" charset="-122"/>
              </a:rPr>
              <a:t>项目生命周期描述。</a:t>
            </a:r>
            <a:r>
              <a:rPr lang="zh-CN" altLang="en-US" sz="2200" dirty="0">
                <a:latin typeface="微软雅黑" panose="020B0503020204020204" pitchFamily="34" charset="-122"/>
                <a:ea typeface="微软雅黑" panose="020B0503020204020204" pitchFamily="34" charset="-122"/>
              </a:rPr>
              <a:t>项目生命周期定义了项目从开始到完成所经历的一系列阶段。 </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solidFill>
                  <a:schemeClr val="tx2"/>
                </a:solidFill>
                <a:latin typeface="微软雅黑" panose="020B0503020204020204" pitchFamily="34" charset="-122"/>
                <a:ea typeface="微软雅黑" panose="020B0503020204020204" pitchFamily="34" charset="-122"/>
              </a:rPr>
              <a:t>开发方法。</a:t>
            </a:r>
            <a:r>
              <a:rPr lang="zh-CN" altLang="en-US" sz="2200" dirty="0">
                <a:latin typeface="微软雅黑" panose="020B0503020204020204" pitchFamily="34" charset="-122"/>
                <a:ea typeface="微软雅黑" panose="020B0503020204020204" pitchFamily="34" charset="-122"/>
              </a:rPr>
              <a:t>开发方法定义了项目是采用瀑布式、迭代型、适应型、敏捷型还是混合型开发方法。</a:t>
            </a:r>
          </a:p>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事业环境因素：</a:t>
            </a:r>
            <a:endParaRPr lang="en-US" altLang="zh-CN" sz="2200" dirty="0">
              <a:solidFill>
                <a:srgbClr val="C00000"/>
              </a:solidFill>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组织文化、基础设施、人事管理制度、市场条件</a:t>
            </a:r>
          </a:p>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组织过程资产：</a:t>
            </a:r>
            <a:endParaRPr lang="en-US" altLang="zh-CN" sz="2200" dirty="0">
              <a:solidFill>
                <a:srgbClr val="C00000"/>
              </a:solidFill>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         政策和程序；历史信息和经验教训知识库。</a:t>
            </a:r>
          </a:p>
        </p:txBody>
      </p:sp>
      <p:sp>
        <p:nvSpPr>
          <p:cNvPr id="5" name="矩形 4">
            <a:extLst>
              <a:ext uri="{FF2B5EF4-FFF2-40B4-BE49-F238E27FC236}">
                <a16:creationId xmlns:a16="http://schemas.microsoft.com/office/drawing/2014/main" id="{8E4E698B-4E59-430D-BE25-0FD09BE4E282}"/>
              </a:ext>
            </a:extLst>
          </p:cNvPr>
          <p:cNvSpPr/>
          <p:nvPr/>
        </p:nvSpPr>
        <p:spPr>
          <a:xfrm>
            <a:off x="568412" y="1201866"/>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规划范围管理过程输入</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476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11.2 </a:t>
            </a:r>
            <a:r>
              <a:rPr lang="zh-CN" altLang="en-US" dirty="0"/>
              <a:t>规划范围管理</a:t>
            </a:r>
          </a:p>
        </p:txBody>
      </p:sp>
      <p:sp>
        <p:nvSpPr>
          <p:cNvPr id="8" name="内容占位符 2">
            <a:extLst>
              <a:ext uri="{FF2B5EF4-FFF2-40B4-BE49-F238E27FC236}">
                <a16:creationId xmlns:a16="http://schemas.microsoft.com/office/drawing/2014/main" id="{17113B56-A7F2-440B-9A57-6FB4331860F9}"/>
              </a:ext>
            </a:extLst>
          </p:cNvPr>
          <p:cNvSpPr txBox="1">
            <a:spLocks/>
          </p:cNvSpPr>
          <p:nvPr/>
        </p:nvSpPr>
        <p:spPr>
          <a:xfrm>
            <a:off x="566738" y="1257299"/>
            <a:ext cx="11091862" cy="520584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500"/>
              </a:spcBef>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范围管理计划的编制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buNone/>
            </a:pPr>
            <a:r>
              <a:rPr lang="zh-CN" altLang="en-US" dirty="0">
                <a:latin typeface="微软雅黑" panose="020B0503020204020204" pitchFamily="34" charset="-122"/>
                <a:ea typeface="微软雅黑" panose="020B0503020204020204" pitchFamily="34" charset="-122"/>
                <a:cs typeface="Times New Roman" pitchFamily="18" charset="0"/>
              </a:rPr>
              <a:t>范围管理计划是项目管理计划的组成部分，描述将如何定义、制定、监督、控制和确认项目范围。</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buNone/>
            </a:pPr>
            <a:r>
              <a:rPr lang="zh-CN" altLang="zh-CN" dirty="0">
                <a:latin typeface="微软雅黑" panose="020B0503020204020204" pitchFamily="34" charset="-122"/>
                <a:ea typeface="微软雅黑" panose="020B0503020204020204" pitchFamily="34" charset="-122"/>
                <a:cs typeface="Times New Roman" pitchFamily="18" charset="0"/>
              </a:rPr>
              <a:t>项目范围管理计划的</a:t>
            </a:r>
            <a:r>
              <a:rPr lang="zh-CN" altLang="en-US" dirty="0">
                <a:latin typeface="微软雅黑" panose="020B0503020204020204" pitchFamily="34" charset="-122"/>
                <a:ea typeface="微软雅黑" panose="020B0503020204020204" pitchFamily="34" charset="-122"/>
                <a:cs typeface="Times New Roman" pitchFamily="18" charset="0"/>
              </a:rPr>
              <a:t>主要</a:t>
            </a:r>
            <a:r>
              <a:rPr lang="zh-CN" altLang="zh-CN" dirty="0">
                <a:latin typeface="微软雅黑" panose="020B0503020204020204" pitchFamily="34" charset="-122"/>
                <a:ea typeface="微软雅黑" panose="020B0503020204020204" pitchFamily="34" charset="-122"/>
                <a:cs typeface="Times New Roman" pitchFamily="18" charset="0"/>
              </a:rPr>
              <a:t>内容</a:t>
            </a:r>
            <a:r>
              <a:rPr lang="zh-CN" altLang="en-US" dirty="0">
                <a:latin typeface="微软雅黑" panose="020B0503020204020204" pitchFamily="34" charset="-122"/>
                <a:ea typeface="微软雅黑" panose="020B0503020204020204" pitchFamily="34" charset="-122"/>
                <a:cs typeface="Times New Roman" pitchFamily="18" charset="0"/>
              </a:rPr>
              <a:t>：</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制定项目范围说明书：采用什么方法界定项目范围，并制定详细项目范围说明书。</a:t>
            </a: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根据详细项目范围说明书创建 </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：采用什么方法和标准来创建工作分解结构（</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a:t>
            </a: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确定如何审批和维护范围基准：确定项目可交付结果的核实标准。</a:t>
            </a: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正式验收已完成的项目可交付成果：如何定义项目的范围变更，采取何种流程和方式来控制变更。</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buFont typeface="Wingdings" pitchFamily="2" charset="2"/>
              <a:buChar char="Ø"/>
            </a:pPr>
            <a:endParaRPr lang="zh-CN" altLang="en-US" dirty="0"/>
          </a:p>
        </p:txBody>
      </p:sp>
    </p:spTree>
    <p:extLst>
      <p:ext uri="{BB962C8B-B14F-4D97-AF65-F5344CB8AC3E}">
        <p14:creationId xmlns:p14="http://schemas.microsoft.com/office/powerpoint/2010/main" val="1970572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11.2 </a:t>
            </a:r>
            <a:r>
              <a:rPr lang="zh-CN" altLang="en-US" dirty="0"/>
              <a:t>规划范围管理</a:t>
            </a:r>
          </a:p>
        </p:txBody>
      </p:sp>
      <p:sp>
        <p:nvSpPr>
          <p:cNvPr id="8" name="内容占位符 2">
            <a:extLst>
              <a:ext uri="{FF2B5EF4-FFF2-40B4-BE49-F238E27FC236}">
                <a16:creationId xmlns:a16="http://schemas.microsoft.com/office/drawing/2014/main" id="{9D6DD01D-6921-41C9-A9FD-491A4AD635DF}"/>
              </a:ext>
            </a:extLst>
          </p:cNvPr>
          <p:cNvSpPr txBox="1">
            <a:spLocks/>
          </p:cNvSpPr>
          <p:nvPr/>
        </p:nvSpPr>
        <p:spPr>
          <a:xfrm>
            <a:off x="566738" y="1314449"/>
            <a:ext cx="11091862" cy="511752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300"/>
              </a:spcBef>
              <a:buFont typeface="Wingdings" pitchFamily="2" charset="2"/>
              <a:buNone/>
            </a:pPr>
            <a:r>
              <a:rPr lang="zh-CN" altLang="zh-CN" sz="2400" b="1" dirty="0">
                <a:latin typeface="微软雅黑" panose="020B0503020204020204" pitchFamily="34" charset="-122"/>
                <a:ea typeface="微软雅黑" panose="020B0503020204020204" pitchFamily="34" charset="-122"/>
                <a:cs typeface="Times New Roman" pitchFamily="18" charset="0"/>
              </a:rPr>
              <a:t>项目范围说明书编制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(1) </a:t>
            </a:r>
            <a:r>
              <a:rPr lang="zh-CN" altLang="zh-CN" sz="2000" dirty="0">
                <a:latin typeface="微软雅黑" panose="020B0503020204020204" pitchFamily="34" charset="-122"/>
                <a:ea typeface="微软雅黑" panose="020B0503020204020204" pitchFamily="34" charset="-122"/>
                <a:cs typeface="Times New Roman" pitchFamily="18" charset="0"/>
              </a:rPr>
              <a:t>项目初步范围说明书的定义</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300"/>
              </a:spcBef>
              <a:buFont typeface="Wingdings" pitchFamily="2" charset="2"/>
              <a:buChar char="Ø"/>
            </a:pPr>
            <a:r>
              <a:rPr lang="zh-CN" altLang="zh-CN" dirty="0">
                <a:latin typeface="微软雅黑" panose="020B0503020204020204" pitchFamily="34" charset="-122"/>
                <a:ea typeface="微软雅黑" panose="020B0503020204020204" pitchFamily="34" charset="-122"/>
                <a:cs typeface="Times New Roman" pitchFamily="18" charset="0"/>
              </a:rPr>
              <a:t>项目初步范围说明书是根据项目章程和项目相关利益主体的需求和期望，初步描述了项目、项目产品和项目工作的特征、边界、验收标准与控制方法等内容。</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(2) </a:t>
            </a:r>
            <a:r>
              <a:rPr lang="zh-CN" altLang="zh-CN" sz="2000" dirty="0">
                <a:latin typeface="微软雅黑" panose="020B0503020204020204" pitchFamily="34" charset="-122"/>
                <a:ea typeface="微软雅黑" panose="020B0503020204020204" pitchFamily="34" charset="-122"/>
                <a:cs typeface="Times New Roman" pitchFamily="18" charset="0"/>
              </a:rPr>
              <a:t>项目初步范围说明书编制依据</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项目章程</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项目的环境因素</a:t>
            </a: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组织过程资产</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需求分析报告</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(3) </a:t>
            </a:r>
            <a:r>
              <a:rPr lang="zh-CN" altLang="zh-CN" sz="2000" dirty="0">
                <a:latin typeface="微软雅黑" panose="020B0503020204020204" pitchFamily="34" charset="-122"/>
                <a:ea typeface="微软雅黑" panose="020B0503020204020204" pitchFamily="34" charset="-122"/>
                <a:cs typeface="Times New Roman" pitchFamily="18" charset="0"/>
              </a:rPr>
              <a:t>项目范围初步范围说明书编制方法</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模板法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分解法</a:t>
            </a: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其他方法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endParaRPr lang="en-US" altLang="zh-CN" dirty="0">
              <a:latin typeface="Times New Roman" pitchFamily="18" charset="0"/>
              <a:ea typeface="黑体" pitchFamily="2" charset="-122"/>
              <a:cs typeface="Times New Roman" pitchFamily="18" charset="0"/>
            </a:endParaRPr>
          </a:p>
        </p:txBody>
      </p:sp>
    </p:spTree>
    <p:extLst>
      <p:ext uri="{BB962C8B-B14F-4D97-AF65-F5344CB8AC3E}">
        <p14:creationId xmlns:p14="http://schemas.microsoft.com/office/powerpoint/2010/main" val="1948265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4">
            <a:extLst>
              <a:ext uri="{FF2B5EF4-FFF2-40B4-BE49-F238E27FC236}">
                <a16:creationId xmlns:a16="http://schemas.microsoft.com/office/drawing/2014/main" id="{0D68FE47-70C2-4D1E-B07C-F1D56F8B34FA}"/>
              </a:ext>
            </a:extLst>
          </p:cNvPr>
          <p:cNvSpPr txBox="1">
            <a:spLocks/>
          </p:cNvSpPr>
          <p:nvPr/>
        </p:nvSpPr>
        <p:spPr>
          <a:xfrm>
            <a:off x="609600" y="668040"/>
            <a:ext cx="10972800" cy="437186"/>
          </a:xfrm>
          <a:prstGeom prst="rect">
            <a:avLst/>
          </a:prstGeom>
        </p:spPr>
        <p:txBody>
          <a:bodyPr>
            <a:noAutofit/>
          </a:bodyPr>
          <a:lstStyle>
            <a:lvl1pPr algn="ctr"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dirty="0"/>
              <a:t>11.2 </a:t>
            </a:r>
            <a:r>
              <a:rPr lang="zh-CN" altLang="en-US" dirty="0"/>
              <a:t>规划范围管理</a:t>
            </a:r>
          </a:p>
        </p:txBody>
      </p:sp>
      <p:sp>
        <p:nvSpPr>
          <p:cNvPr id="4" name="内容占位符 2">
            <a:extLst>
              <a:ext uri="{FF2B5EF4-FFF2-40B4-BE49-F238E27FC236}">
                <a16:creationId xmlns:a16="http://schemas.microsoft.com/office/drawing/2014/main" id="{CD31FAE1-C59F-41EE-94DF-B0FEB22E56CC}"/>
              </a:ext>
            </a:extLst>
          </p:cNvPr>
          <p:cNvSpPr txBox="1">
            <a:spLocks/>
          </p:cNvSpPr>
          <p:nvPr/>
        </p:nvSpPr>
        <p:spPr>
          <a:xfrm>
            <a:off x="609600" y="1245265"/>
            <a:ext cx="11091862" cy="520584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500"/>
              </a:spcBef>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需求</a:t>
            </a:r>
            <a:r>
              <a:rPr lang="en-US" altLang="zh-CN" sz="2400" b="1" dirty="0">
                <a:latin typeface="微软雅黑" panose="020B0503020204020204" pitchFamily="34" charset="-122"/>
                <a:ea typeface="微软雅黑" panose="020B0503020204020204" pitchFamily="34" charset="-122"/>
                <a:cs typeface="Times New Roman" pitchFamily="18" charset="0"/>
              </a:rPr>
              <a:t>(requirement)</a:t>
            </a:r>
            <a:r>
              <a:rPr lang="zh-CN" altLang="en-US" sz="2400" b="1" dirty="0">
                <a:latin typeface="微软雅黑" panose="020B0503020204020204" pitchFamily="34" charset="-122"/>
                <a:ea typeface="微软雅黑" panose="020B0503020204020204" pitchFamily="34" charset="-122"/>
                <a:cs typeface="Times New Roman" pitchFamily="18" charset="0"/>
              </a:rPr>
              <a:t>管理计划的编制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spcBef>
                <a:spcPts val="500"/>
              </a:spcBef>
              <a:buFont typeface="Wingdings" pitchFamily="2" charset="2"/>
              <a:buNone/>
            </a:pPr>
            <a:r>
              <a:rPr lang="zh-CN" altLang="en-US" sz="2000" b="1" dirty="0">
                <a:latin typeface="微软雅黑" panose="020B0503020204020204" pitchFamily="34" charset="-122"/>
                <a:ea typeface="微软雅黑" panose="020B0503020204020204" pitchFamily="34" charset="-122"/>
                <a:cs typeface="Times New Roman" pitchFamily="18" charset="0"/>
              </a:rPr>
              <a:t>    “需求”</a:t>
            </a:r>
            <a:r>
              <a:rPr lang="zh-CN" altLang="en-US" sz="2000" dirty="0">
                <a:latin typeface="微软雅黑" panose="020B0503020204020204" pitchFamily="34" charset="-122"/>
                <a:ea typeface="微软雅黑" panose="020B0503020204020204" pitchFamily="34" charset="-122"/>
                <a:cs typeface="Times New Roman" pitchFamily="18" charset="0"/>
              </a:rPr>
              <a:t>是项目或项目的当前产品、服务或结果必须满足的条件或能力，其结果是达到合同或其他正式实施规范的要求。包括各方的量化和文档化的需求和期望。</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spcBef>
                <a:spcPts val="500"/>
              </a:spcBef>
              <a:buFont typeface="Wingdings" pitchFamily="2" charset="2"/>
              <a:buNone/>
            </a:pP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zh-CN" altLang="en-US" sz="2000" b="1" dirty="0">
                <a:latin typeface="微软雅黑" panose="020B0503020204020204" pitchFamily="34" charset="-122"/>
                <a:ea typeface="微软雅黑" panose="020B0503020204020204" pitchFamily="34" charset="-122"/>
                <a:cs typeface="Times New Roman" pitchFamily="18" charset="0"/>
              </a:rPr>
              <a:t>需求管理计划是</a:t>
            </a:r>
            <a:r>
              <a:rPr lang="zh-CN" altLang="en-US" sz="2000" dirty="0">
                <a:latin typeface="微软雅黑" panose="020B0503020204020204" pitchFamily="34" charset="-122"/>
                <a:ea typeface="微软雅黑" panose="020B0503020204020204" pitchFamily="34" charset="-122"/>
                <a:cs typeface="Times New Roman" pitchFamily="18" charset="0"/>
              </a:rPr>
              <a:t>项目管理计划的组成部分，描述将如何分析、记录和管理项目和产品需求。</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buNone/>
            </a:pPr>
            <a:r>
              <a:rPr lang="zh-CN" altLang="en-US" sz="2000" b="1" dirty="0">
                <a:latin typeface="微软雅黑" panose="020B0503020204020204" pitchFamily="34" charset="-122"/>
                <a:ea typeface="微软雅黑" panose="020B0503020204020204" pitchFamily="34" charset="-122"/>
                <a:cs typeface="Times New Roman" pitchFamily="18" charset="0"/>
              </a:rPr>
              <a:t>需求管理计划</a:t>
            </a:r>
            <a:r>
              <a:rPr lang="zh-CN" altLang="zh-CN" sz="2000" b="1" dirty="0">
                <a:latin typeface="微软雅黑" panose="020B0503020204020204" pitchFamily="34" charset="-122"/>
                <a:ea typeface="微软雅黑" panose="020B0503020204020204" pitchFamily="34" charset="-122"/>
                <a:cs typeface="Times New Roman" pitchFamily="18" charset="0"/>
              </a:rPr>
              <a:t>的</a:t>
            </a:r>
            <a:r>
              <a:rPr lang="zh-CN" altLang="en-US" sz="2000" b="1" dirty="0">
                <a:latin typeface="微软雅黑" panose="020B0503020204020204" pitchFamily="34" charset="-122"/>
                <a:ea typeface="微软雅黑" panose="020B0503020204020204" pitchFamily="34" charset="-122"/>
                <a:cs typeface="Times New Roman" pitchFamily="18" charset="0"/>
              </a:rPr>
              <a:t>主要</a:t>
            </a:r>
            <a:r>
              <a:rPr lang="zh-CN" altLang="zh-CN" sz="2000" b="1" dirty="0">
                <a:latin typeface="微软雅黑" panose="020B0503020204020204" pitchFamily="34" charset="-122"/>
                <a:ea typeface="微软雅黑" panose="020B0503020204020204" pitchFamily="34" charset="-122"/>
                <a:cs typeface="Times New Roman" pitchFamily="18" charset="0"/>
              </a:rPr>
              <a:t>内容</a:t>
            </a:r>
            <a:r>
              <a:rPr lang="zh-CN" altLang="en-US" sz="2000" b="1" dirty="0">
                <a:latin typeface="微软雅黑" panose="020B0503020204020204" pitchFamily="34" charset="-122"/>
                <a:ea typeface="微软雅黑" panose="020B0503020204020204" pitchFamily="34" charset="-122"/>
                <a:cs typeface="Times New Roman" pitchFamily="18" charset="0"/>
              </a:rPr>
              <a:t>：</a:t>
            </a:r>
            <a:endParaRPr lang="en-US" altLang="zh-CN" sz="2000" b="1"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如何规划、跟踪和报告各种需求活动；</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配置管理活动，例如，如何启动变更，如何分析其影响，如何进行追溯、跟踪和报告，以及变更审批权限；</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需求优先级排序过程；</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测量指标及使用这些指标的理由；</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反映哪些需求属性将被列入跟踪矩阵的跟踪结构。</a:t>
            </a:r>
          </a:p>
        </p:txBody>
      </p:sp>
    </p:spTree>
    <p:extLst>
      <p:ext uri="{BB962C8B-B14F-4D97-AF65-F5344CB8AC3E}">
        <p14:creationId xmlns:p14="http://schemas.microsoft.com/office/powerpoint/2010/main" val="2203218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AF2639-C16C-46FB-ADD5-0DD7FD966493}"/>
              </a:ext>
            </a:extLst>
          </p:cNvPr>
          <p:cNvSpPr>
            <a:spLocks noGrp="1"/>
          </p:cNvSpPr>
          <p:nvPr>
            <p:ph type="title"/>
          </p:nvPr>
        </p:nvSpPr>
        <p:spPr>
          <a:xfrm>
            <a:off x="609600" y="643976"/>
            <a:ext cx="10972800" cy="437186"/>
          </a:xfrm>
        </p:spPr>
        <p:txBody>
          <a:bodyPr/>
          <a:lstStyle/>
          <a:p>
            <a:r>
              <a:rPr lang="en-US" altLang="zh-CN" dirty="0"/>
              <a:t>11.2 </a:t>
            </a:r>
            <a:r>
              <a:rPr lang="zh-CN" altLang="en-US" dirty="0"/>
              <a:t>规划范围管理</a:t>
            </a:r>
          </a:p>
        </p:txBody>
      </p:sp>
      <p:sp>
        <p:nvSpPr>
          <p:cNvPr id="4" name="文本框 3">
            <a:extLst>
              <a:ext uri="{FF2B5EF4-FFF2-40B4-BE49-F238E27FC236}">
                <a16:creationId xmlns:a16="http://schemas.microsoft.com/office/drawing/2014/main" id="{7738B64E-C90B-40C8-A213-4AE93E0A8684}"/>
              </a:ext>
            </a:extLst>
          </p:cNvPr>
          <p:cNvSpPr txBox="1"/>
          <p:nvPr/>
        </p:nvSpPr>
        <p:spPr>
          <a:xfrm>
            <a:off x="609601" y="1204814"/>
            <a:ext cx="10972799" cy="5187126"/>
          </a:xfrm>
          <a:prstGeom prst="rect">
            <a:avLst/>
          </a:prstGeom>
          <a:noFill/>
        </p:spPr>
        <p:txBody>
          <a:bodyPr wrap="square">
            <a:spAutoFit/>
          </a:bodyPr>
          <a:lstStyle/>
          <a:p>
            <a:pPr marL="88900" lvl="1">
              <a:lnSpc>
                <a:spcPts val="3600"/>
              </a:lnSpc>
              <a:buNone/>
            </a:pP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规划范围管理的工具和技术：</a:t>
            </a:r>
            <a:r>
              <a:rPr lang="zh-CN" altLang="zh-CN" sz="2400" dirty="0">
                <a:solidFill>
                  <a:srgbClr val="000000"/>
                </a:solidFill>
                <a:latin typeface="微软雅黑" panose="020B0503020204020204" pitchFamily="34" charset="-122"/>
                <a:ea typeface="微软雅黑" panose="020B0503020204020204" pitchFamily="34" charset="-122"/>
                <a:cs typeface="Times New Roman" pitchFamily="18" charset="0"/>
              </a:rPr>
              <a:t>编制方法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285750">
              <a:lnSpc>
                <a:spcPts val="2800"/>
              </a:lnSpc>
              <a:buFont typeface="Wingdings" pitchFamily="2" charset="2"/>
              <a:buChar char="Ø"/>
            </a:pPr>
            <a:r>
              <a:rPr lang="zh-CN" altLang="zh-CN" sz="2000" b="1" dirty="0">
                <a:solidFill>
                  <a:srgbClr val="C00000"/>
                </a:solidFill>
                <a:latin typeface="微软雅黑" panose="020B0503020204020204" pitchFamily="34" charset="-122"/>
                <a:ea typeface="微软雅黑" panose="020B0503020204020204" pitchFamily="34" charset="-122"/>
              </a:rPr>
              <a:t>专家</a:t>
            </a:r>
            <a:r>
              <a:rPr lang="zh-CN" altLang="en-US" sz="2000" b="1" dirty="0">
                <a:solidFill>
                  <a:srgbClr val="C00000"/>
                </a:solidFill>
                <a:latin typeface="微软雅黑" panose="020B0503020204020204" pitchFamily="34" charset="-122"/>
                <a:ea typeface="微软雅黑" panose="020B0503020204020204" pitchFamily="34" charset="-122"/>
              </a:rPr>
              <a:t>判断</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577975" lvl="3" indent="-285750">
              <a:lnSpc>
                <a:spcPts val="2800"/>
              </a:lnSpc>
              <a:buFont typeface="Wingdings" panose="05000000000000000000" pitchFamily="2" charset="2"/>
              <a:buChar char="u"/>
            </a:pPr>
            <a:r>
              <a:rPr lang="zh-CN" altLang="en-US" sz="2000" b="1" i="0" u="none" strike="noStrike" baseline="0" dirty="0">
                <a:latin typeface="SourceHanSansSC-Regular"/>
              </a:rPr>
              <a:t>就以下主题，考虑具备相关专业知识或接受过相关培训的个人或小组的意见：</a:t>
            </a:r>
            <a:endParaRPr lang="en-US" altLang="zh-CN" sz="2000" b="1" dirty="0">
              <a:latin typeface="SourceHanSansSC-Regular"/>
            </a:endParaRPr>
          </a:p>
          <a:p>
            <a:pPr marL="1749425" lvl="4">
              <a:lnSpc>
                <a:spcPts val="2800"/>
              </a:lnSpc>
              <a:buFont typeface="Wingdings" pitchFamily="2" charset="2"/>
              <a:buChar char="Ø"/>
            </a:pPr>
            <a:r>
              <a:rPr lang="zh-CN" altLang="en-US" sz="2000" b="1" i="0" u="none" strike="noStrike" baseline="0" dirty="0">
                <a:latin typeface="SourceHanSansSC-Regular"/>
              </a:rPr>
              <a:t>以往类似项目；</a:t>
            </a:r>
            <a:endParaRPr lang="en-US" altLang="zh-CN" sz="2000" b="1" i="0" u="none" strike="noStrike" baseline="0" dirty="0">
              <a:latin typeface="SourceHanSansSC-Regular"/>
            </a:endParaRPr>
          </a:p>
          <a:p>
            <a:pPr marL="1749425" lvl="4">
              <a:lnSpc>
                <a:spcPts val="2800"/>
              </a:lnSpc>
              <a:buFont typeface="Wingdings" pitchFamily="2" charset="2"/>
              <a:buChar char="Ø"/>
            </a:pPr>
            <a:r>
              <a:rPr lang="zh-CN" altLang="en-US" sz="2000" b="1" i="0" u="none" strike="noStrike" baseline="0" dirty="0">
                <a:latin typeface="SourceHanSansSC-Regular"/>
              </a:rPr>
              <a:t>特定行业、学科和应用领域的信息。</a:t>
            </a:r>
            <a:endParaRPr lang="en-US" altLang="zh-CN" sz="2000" b="1" dirty="0">
              <a:latin typeface="微软雅黑" panose="020B0503020204020204" pitchFamily="34" charset="-122"/>
              <a:ea typeface="微软雅黑" panose="020B0503020204020204" pitchFamily="34" charset="-122"/>
            </a:endParaRPr>
          </a:p>
          <a:p>
            <a:pPr marL="835025" lvl="2" indent="-285750">
              <a:lnSpc>
                <a:spcPts val="2800"/>
              </a:lnSpc>
              <a:buFont typeface="Wingdings" pitchFamily="2" charset="2"/>
              <a:buChar char="Ø"/>
            </a:pPr>
            <a:r>
              <a:rPr lang="zh-CN" altLang="en-US" sz="2000" b="1" dirty="0">
                <a:solidFill>
                  <a:srgbClr val="C00000"/>
                </a:solidFill>
                <a:latin typeface="微软雅黑" panose="020B0503020204020204" pitchFamily="34" charset="-122"/>
                <a:ea typeface="微软雅黑" panose="020B0503020204020204" pitchFamily="34" charset="-122"/>
              </a:rPr>
              <a:t>数据分析</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577975" lvl="3" indent="-285750">
              <a:lnSpc>
                <a:spcPts val="2800"/>
              </a:lnSpc>
              <a:buFont typeface="Wingdings" panose="05000000000000000000" pitchFamily="2" charset="2"/>
              <a:buChar char="u"/>
            </a:pPr>
            <a:r>
              <a:rPr lang="zh-CN" altLang="en-US" sz="2000" b="1" i="0" u="none" strike="noStrike" baseline="0" dirty="0">
                <a:latin typeface="SourceHanSansSC-Regular"/>
              </a:rPr>
              <a:t>用于评估收集需求、详述项目和产品范围、创造产品、确认范围和控制范围的各种数据分析方法</a:t>
            </a:r>
            <a:endParaRPr lang="en-US" altLang="zh-CN" sz="2000" b="1" i="0" u="none" strike="noStrike" baseline="0" dirty="0">
              <a:latin typeface="SourceHanSansSC-Regular"/>
            </a:endParaRPr>
          </a:p>
          <a:p>
            <a:pPr marL="1292225" lvl="3">
              <a:lnSpc>
                <a:spcPts val="2800"/>
              </a:lnSpc>
            </a:pP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en-US" sz="2000" b="1" dirty="0">
                <a:solidFill>
                  <a:srgbClr val="000000"/>
                </a:solidFill>
                <a:latin typeface="微软雅黑" panose="020B0503020204020204" pitchFamily="34" charset="-122"/>
                <a:ea typeface="微软雅黑" panose="020B0503020204020204" pitchFamily="34" charset="-122"/>
                <a:cs typeface="Times New Roman" pitchFamily="18" charset="0"/>
              </a:rPr>
              <a:t>如：</a:t>
            </a:r>
            <a:r>
              <a:rPr lang="zh-CN" altLang="en-US" sz="2000" b="1" i="0" u="none" strike="noStrike" baseline="0" dirty="0">
                <a:latin typeface="SourceHanSansSC-Regular"/>
              </a:rPr>
              <a:t>备选方案分析</a:t>
            </a:r>
            <a:endParaRPr lang="zh-CN" altLang="en-US" sz="2000" b="1"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285750">
              <a:lnSpc>
                <a:spcPts val="2800"/>
              </a:lnSpc>
              <a:buFont typeface="Wingdings" pitchFamily="2" charset="2"/>
              <a:buChar char="Ø"/>
            </a:pPr>
            <a:r>
              <a:rPr lang="zh-CN" altLang="en-US" sz="2000" b="1" dirty="0">
                <a:solidFill>
                  <a:srgbClr val="C00000"/>
                </a:solidFill>
                <a:latin typeface="微软雅黑" panose="020B0503020204020204" pitchFamily="34" charset="-122"/>
                <a:ea typeface="微软雅黑" panose="020B0503020204020204" pitchFamily="34" charset="-122"/>
              </a:rPr>
              <a:t>会议</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577975" lvl="3" indent="-285750">
              <a:lnSpc>
                <a:spcPts val="2800"/>
              </a:lnSpc>
              <a:buFont typeface="Wingdings" panose="05000000000000000000" pitchFamily="2" charset="2"/>
              <a:buChar char="u"/>
            </a:pPr>
            <a:r>
              <a:rPr lang="zh-CN" altLang="en-US" sz="2000" b="1" i="0" u="none" strike="noStrike" baseline="0" dirty="0">
                <a:latin typeface="SourceHanSansSC-Regular"/>
              </a:rPr>
              <a:t>项目团队可以参加项目会议来制定范围管理计划。</a:t>
            </a:r>
            <a:endParaRPr lang="en-US" altLang="zh-CN" sz="2000" b="1" i="0" u="none" strike="noStrike" baseline="0" dirty="0">
              <a:latin typeface="SourceHanSansSC-Regular"/>
            </a:endParaRPr>
          </a:p>
          <a:p>
            <a:pPr marL="1749425" lvl="4">
              <a:lnSpc>
                <a:spcPts val="2800"/>
              </a:lnSpc>
              <a:buFont typeface="Wingdings" pitchFamily="2" charset="2"/>
              <a:buChar char="Ø"/>
            </a:pPr>
            <a:r>
              <a:rPr lang="zh-CN" altLang="en-US" sz="2000" b="1" i="0" u="none" strike="noStrike" baseline="0" dirty="0">
                <a:latin typeface="SourceHanSansSC-Regular"/>
              </a:rPr>
              <a:t>参会者可能包括项目经理、项目发起人、选定的项目团队成员、选定的相关方、范围管理各过程的负责人，以及其他必要人员。</a:t>
            </a:r>
            <a:endParaRPr lang="zh-CN" altLang="en-US" sz="2000" b="1" dirty="0"/>
          </a:p>
          <a:p>
            <a:pPr marL="835025" lvl="2" indent="0">
              <a:lnSpc>
                <a:spcPts val="2800"/>
              </a:lnSpc>
              <a:buFont typeface="Wingdings" pitchFamily="2" charset="2"/>
              <a:buChar char="Ø"/>
            </a:pPr>
            <a:endParaRPr lang="zh-CN"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5024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11.3 </a:t>
            </a:r>
            <a:r>
              <a:rPr lang="zh-CN" altLang="en-US" dirty="0"/>
              <a:t>项目需求收集</a:t>
            </a:r>
          </a:p>
        </p:txBody>
      </p:sp>
      <p:sp>
        <p:nvSpPr>
          <p:cNvPr id="8" name="内容占位符 2">
            <a:extLst>
              <a:ext uri="{FF2B5EF4-FFF2-40B4-BE49-F238E27FC236}">
                <a16:creationId xmlns:a16="http://schemas.microsoft.com/office/drawing/2014/main" id="{4F780DA0-6E21-4006-857A-E8C13219340D}"/>
              </a:ext>
            </a:extLst>
          </p:cNvPr>
          <p:cNvSpPr txBox="1">
            <a:spLocks/>
          </p:cNvSpPr>
          <p:nvPr/>
        </p:nvSpPr>
        <p:spPr>
          <a:xfrm>
            <a:off x="566738" y="1314450"/>
            <a:ext cx="2916692" cy="357323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zh-CN" sz="2400" b="1" dirty="0">
                <a:latin typeface="微软雅黑" panose="020B0503020204020204" pitchFamily="34" charset="-122"/>
                <a:ea typeface="微软雅黑" panose="020B0503020204020204" pitchFamily="34" charset="-122"/>
                <a:cs typeface="Times New Roman" pitchFamily="18" charset="0"/>
              </a:rPr>
              <a:t>项目</a:t>
            </a:r>
            <a:r>
              <a:rPr lang="zh-CN" altLang="en-US" sz="2400" b="1" dirty="0">
                <a:latin typeface="微软雅黑" panose="020B0503020204020204" pitchFamily="34" charset="-122"/>
                <a:ea typeface="微软雅黑" panose="020B0503020204020204" pitchFamily="34" charset="-122"/>
                <a:cs typeface="Times New Roman" pitchFamily="18" charset="0"/>
              </a:rPr>
              <a:t>需求收集</a:t>
            </a:r>
            <a:endParaRPr lang="zh-CN"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项目需求收集是为实现项目目标而确定，记录并管理干系人的需求和需要的过程。</a:t>
            </a: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itchFamily="2" charset="2"/>
              <a:buNone/>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项目需求收集的主要作用是为定义和管理项目范围奠定基础。</a:t>
            </a:r>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zh-CN" altLang="en-US"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pic>
        <p:nvPicPr>
          <p:cNvPr id="9" name="图片 3">
            <a:extLst>
              <a:ext uri="{FF2B5EF4-FFF2-40B4-BE49-F238E27FC236}">
                <a16:creationId xmlns:a16="http://schemas.microsoft.com/office/drawing/2014/main" id="{CE64C3A3-0A1C-4940-9AC7-17CE55DA18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085" y="1306567"/>
            <a:ext cx="8229600" cy="513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D33A182C-05E5-4477-8FD2-0C5D26704F0A}"/>
              </a:ext>
            </a:extLst>
          </p:cNvPr>
          <p:cNvSpPr/>
          <p:nvPr/>
        </p:nvSpPr>
        <p:spPr>
          <a:xfrm>
            <a:off x="8559459" y="3505810"/>
            <a:ext cx="2262158" cy="369332"/>
          </a:xfrm>
          <a:prstGeom prst="rect">
            <a:avLst/>
          </a:prstGeom>
        </p:spPr>
        <p:txBody>
          <a:bodyPr wrap="none">
            <a:spAutoFit/>
          </a:bodyPr>
          <a:lstStyle/>
          <a:p>
            <a:pPr>
              <a:spcBef>
                <a:spcPts val="600"/>
              </a:spcBef>
              <a:spcAft>
                <a:spcPts val="600"/>
              </a:spcAft>
            </a:pPr>
            <a:r>
              <a:rPr lang="zh-CN" altLang="zh-CN" dirty="0">
                <a:solidFill>
                  <a:schemeClr val="tx2"/>
                </a:solidFill>
                <a:latin typeface="微软雅黑" panose="020B0503020204020204" pitchFamily="34" charset="-122"/>
                <a:ea typeface="微软雅黑" panose="020B0503020204020204" pitchFamily="34" charset="-122"/>
                <a:cs typeface="Times New Roman" pitchFamily="18" charset="0"/>
              </a:rPr>
              <a:t>项目需求收集的</a:t>
            </a:r>
            <a:r>
              <a:rPr lang="zh-CN" altLang="en-US" dirty="0">
                <a:solidFill>
                  <a:schemeClr val="tx2"/>
                </a:solidFill>
                <a:latin typeface="微软雅黑" panose="020B0503020204020204" pitchFamily="34" charset="-122"/>
                <a:ea typeface="微软雅黑" panose="020B0503020204020204" pitchFamily="34" charset="-122"/>
                <a:cs typeface="Times New Roman" pitchFamily="18" charset="0"/>
              </a:rPr>
              <a:t>成果</a:t>
            </a:r>
            <a:endParaRPr lang="en-US" altLang="zh-CN" dirty="0">
              <a:solidFill>
                <a:schemeClr val="tx2"/>
              </a:solidFill>
              <a:latin typeface="微软雅黑" panose="020B0503020204020204" pitchFamily="34" charset="-122"/>
              <a:ea typeface="微软雅黑" panose="020B0503020204020204" pitchFamily="34" charset="-122"/>
              <a:cs typeface="Times New Roman" pitchFamily="18" charset="0"/>
            </a:endParaRPr>
          </a:p>
        </p:txBody>
      </p:sp>
      <p:sp>
        <p:nvSpPr>
          <p:cNvPr id="7" name="矩形 6">
            <a:extLst>
              <a:ext uri="{FF2B5EF4-FFF2-40B4-BE49-F238E27FC236}">
                <a16:creationId xmlns:a16="http://schemas.microsoft.com/office/drawing/2014/main" id="{637BADFA-DB5F-4A7C-26E8-ABFFBA04057D}"/>
              </a:ext>
            </a:extLst>
          </p:cNvPr>
          <p:cNvSpPr/>
          <p:nvPr/>
        </p:nvSpPr>
        <p:spPr>
          <a:xfrm>
            <a:off x="8419779" y="5893652"/>
            <a:ext cx="3283201" cy="400110"/>
          </a:xfrm>
          <a:prstGeom prst="rect">
            <a:avLst/>
          </a:prstGeom>
        </p:spPr>
        <p:txBody>
          <a:bodyPr wrap="square">
            <a:spAutoFit/>
          </a:bodyPr>
          <a:lstStyle/>
          <a:p>
            <a:pPr>
              <a:spcBef>
                <a:spcPts val="600"/>
              </a:spcBef>
              <a:spcAft>
                <a:spcPts val="600"/>
              </a:spcAft>
            </a:pPr>
            <a:r>
              <a:rPr lang="zh-CN" altLang="zh-CN" sz="2000" dirty="0">
                <a:solidFill>
                  <a:schemeClr val="tx2"/>
                </a:solidFill>
                <a:latin typeface="微软雅黑" panose="020B0503020204020204" pitchFamily="34" charset="-122"/>
                <a:ea typeface="微软雅黑" panose="020B0503020204020204" pitchFamily="34" charset="-122"/>
                <a:cs typeface="Times New Roman" pitchFamily="18" charset="0"/>
              </a:rPr>
              <a:t>项目需求收集的工具和技术</a:t>
            </a:r>
            <a:endParaRPr lang="en-US" altLang="zh-CN" sz="2000" dirty="0">
              <a:solidFill>
                <a:schemeClr val="tx2"/>
              </a:solidFill>
              <a:latin typeface="微软雅黑" panose="020B0503020204020204" pitchFamily="34" charset="-122"/>
              <a:ea typeface="微软雅黑" panose="020B0503020204020204" pitchFamily="34" charset="-122"/>
              <a:cs typeface="Times New Roman" pitchFamily="18" charset="0"/>
            </a:endParaRPr>
          </a:p>
        </p:txBody>
      </p:sp>
      <p:sp>
        <p:nvSpPr>
          <p:cNvPr id="10" name="矩形 9">
            <a:extLst>
              <a:ext uri="{FF2B5EF4-FFF2-40B4-BE49-F238E27FC236}">
                <a16:creationId xmlns:a16="http://schemas.microsoft.com/office/drawing/2014/main" id="{59CBBBE0-2351-1BD4-5FB5-78273C7FE4DE}"/>
              </a:ext>
            </a:extLst>
          </p:cNvPr>
          <p:cNvSpPr/>
          <p:nvPr/>
        </p:nvSpPr>
        <p:spPr>
          <a:xfrm>
            <a:off x="3483430" y="5296369"/>
            <a:ext cx="2262158" cy="369332"/>
          </a:xfrm>
          <a:prstGeom prst="rect">
            <a:avLst/>
          </a:prstGeom>
        </p:spPr>
        <p:txBody>
          <a:bodyPr wrap="none">
            <a:spAutoFit/>
          </a:bodyPr>
          <a:lstStyle/>
          <a:p>
            <a:pPr>
              <a:spcBef>
                <a:spcPts val="600"/>
              </a:spcBef>
              <a:spcAft>
                <a:spcPts val="600"/>
              </a:spcAft>
            </a:pPr>
            <a:r>
              <a:rPr lang="zh-CN" altLang="zh-CN" dirty="0">
                <a:solidFill>
                  <a:schemeClr val="tx2"/>
                </a:solidFill>
                <a:latin typeface="微软雅黑" panose="020B0503020204020204" pitchFamily="34" charset="-122"/>
                <a:ea typeface="微软雅黑" panose="020B0503020204020204" pitchFamily="34" charset="-122"/>
                <a:cs typeface="Times New Roman" pitchFamily="18" charset="0"/>
              </a:rPr>
              <a:t>项目需求收集的依据</a:t>
            </a:r>
            <a:endParaRPr lang="en-US" altLang="zh-CN" dirty="0">
              <a:solidFill>
                <a:schemeClr val="tx2"/>
              </a:solidFill>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404238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736CB-40D2-491A-A57A-B2C340A611AB}"/>
              </a:ext>
            </a:extLst>
          </p:cNvPr>
          <p:cNvSpPr>
            <a:spLocks noGrp="1"/>
          </p:cNvSpPr>
          <p:nvPr>
            <p:ph type="title"/>
          </p:nvPr>
        </p:nvSpPr>
        <p:spPr/>
        <p:txBody>
          <a:bodyPr/>
          <a:lstStyle/>
          <a:p>
            <a:r>
              <a:rPr lang="en-US" altLang="zh-CN" dirty="0"/>
              <a:t>11.3 </a:t>
            </a:r>
            <a:r>
              <a:rPr lang="zh-CN" altLang="en-US" dirty="0"/>
              <a:t>项目需求收集</a:t>
            </a:r>
          </a:p>
        </p:txBody>
      </p:sp>
      <p:sp>
        <p:nvSpPr>
          <p:cNvPr id="7" name="文本框 6">
            <a:extLst>
              <a:ext uri="{FF2B5EF4-FFF2-40B4-BE49-F238E27FC236}">
                <a16:creationId xmlns:a16="http://schemas.microsoft.com/office/drawing/2014/main" id="{08ABAB96-C684-4836-8675-381D12852A40}"/>
              </a:ext>
            </a:extLst>
          </p:cNvPr>
          <p:cNvSpPr txBox="1"/>
          <p:nvPr/>
        </p:nvSpPr>
        <p:spPr>
          <a:xfrm>
            <a:off x="544419" y="1201479"/>
            <a:ext cx="6093994" cy="1037592"/>
          </a:xfrm>
          <a:prstGeom prst="rect">
            <a:avLst/>
          </a:prstGeom>
          <a:noFill/>
        </p:spPr>
        <p:txBody>
          <a:bodyPr wrap="square">
            <a:spAutoFit/>
          </a:bodyPr>
          <a:lstStyle/>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需求文件的编写</a:t>
            </a:r>
          </a:p>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9" name="文本框 8">
            <a:extLst>
              <a:ext uri="{FF2B5EF4-FFF2-40B4-BE49-F238E27FC236}">
                <a16:creationId xmlns:a16="http://schemas.microsoft.com/office/drawing/2014/main" id="{9E40B7C8-2966-4E6A-B0FA-08B1A18DC786}"/>
              </a:ext>
            </a:extLst>
          </p:cNvPr>
          <p:cNvSpPr txBox="1"/>
          <p:nvPr/>
        </p:nvSpPr>
        <p:spPr>
          <a:xfrm>
            <a:off x="962527" y="1713286"/>
            <a:ext cx="10106526" cy="769441"/>
          </a:xfrm>
          <a:prstGeom prst="rect">
            <a:avLst/>
          </a:prstGeom>
          <a:noFill/>
        </p:spPr>
        <p:txBody>
          <a:bodyPr wrap="square">
            <a:spAutoFit/>
          </a:bodyPr>
          <a:lstStyle/>
          <a:p>
            <a:r>
              <a:rPr lang="zh-CN" altLang="en-US" sz="2400" b="1" i="0" u="none" strike="noStrike" baseline="0" dirty="0">
                <a:latin typeface="微软雅黑" panose="020B0503020204020204" pitchFamily="34" charset="-122"/>
                <a:ea typeface="微软雅黑" panose="020B0503020204020204" pitchFamily="34" charset="-122"/>
              </a:rPr>
              <a:t>需求文件</a:t>
            </a:r>
            <a:r>
              <a:rPr lang="zh-CN" altLang="en-US" sz="2400" b="1" dirty="0">
                <a:latin typeface="微软雅黑" panose="020B0503020204020204" pitchFamily="34" charset="-122"/>
                <a:ea typeface="微软雅黑" panose="020B0503020204020204" pitchFamily="34" charset="-122"/>
              </a:rPr>
              <a:t>：</a:t>
            </a:r>
            <a:r>
              <a:rPr lang="zh-CN" altLang="en-US" sz="2400" b="1" i="0" u="none" strike="noStrike" baseline="0" dirty="0">
                <a:latin typeface="微软雅黑" panose="020B0503020204020204" pitchFamily="34" charset="-122"/>
                <a:ea typeface="微软雅黑" panose="020B0503020204020204" pitchFamily="34" charset="-122"/>
              </a:rPr>
              <a:t>描述各种单一需求将如何满足与项目相关的业务需求</a:t>
            </a:r>
            <a:endParaRPr lang="en-US" altLang="zh-CN" sz="2400" b="1" i="0" u="none" strike="noStrike" baseline="0" dirty="0">
              <a:latin typeface="微软雅黑" panose="020B0503020204020204" pitchFamily="34" charset="-122"/>
              <a:ea typeface="微软雅黑" panose="020B0503020204020204" pitchFamily="34" charset="-122"/>
            </a:endParaRPr>
          </a:p>
          <a:p>
            <a:pPr marL="800100" lvl="1" indent="-342900">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需求种类：业务解决方案和技术解决方案</a:t>
            </a:r>
            <a:endParaRPr lang="zh-CN" altLang="en-US" sz="20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BB81471-BC5C-4310-AEF6-25277A2575FB}"/>
              </a:ext>
            </a:extLst>
          </p:cNvPr>
          <p:cNvSpPr txBox="1"/>
          <p:nvPr/>
        </p:nvSpPr>
        <p:spPr>
          <a:xfrm>
            <a:off x="833187" y="2569099"/>
            <a:ext cx="10624158" cy="3816429"/>
          </a:xfrm>
          <a:prstGeom prst="rect">
            <a:avLst/>
          </a:prstGeom>
          <a:noFill/>
        </p:spPr>
        <p:txBody>
          <a:bodyPr wrap="square">
            <a:spAutoFit/>
          </a:bodyPr>
          <a:lstStyle/>
          <a:p>
            <a:pPr marL="342900" indent="-342900">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需求的类别：</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业务需求。整个组织的高层级需要</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相关方需求。相关方或相关方群体的需要。</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解决方案需求。为满足业务需求和相关方需求，产品、服务或成果必须具备的特性、功能和特征。</a:t>
            </a:r>
            <a:endParaRPr lang="en-US" altLang="zh-CN" sz="2200" dirty="0">
              <a:latin typeface="微软雅黑" panose="020B0503020204020204" pitchFamily="34" charset="-122"/>
              <a:ea typeface="微软雅黑" panose="020B0503020204020204" pitchFamily="34" charset="-122"/>
            </a:endParaRPr>
          </a:p>
          <a:p>
            <a:pPr marL="1257300" lvl="2" indent="-342900">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功能需求。功能需求描述产品应具备的功能。</a:t>
            </a:r>
            <a:endParaRPr lang="en-US" altLang="zh-CN" sz="2200" dirty="0">
              <a:latin typeface="微软雅黑" panose="020B0503020204020204" pitchFamily="34" charset="-122"/>
              <a:ea typeface="微软雅黑" panose="020B0503020204020204" pitchFamily="34" charset="-122"/>
            </a:endParaRPr>
          </a:p>
          <a:p>
            <a:pPr marL="1257300" lvl="2" indent="-342900">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非功能需求。</a:t>
            </a:r>
            <a:r>
              <a:rPr lang="zh-CN" altLang="en-US" sz="2200" i="0" u="none" strike="noStrike" baseline="0" dirty="0">
                <a:latin typeface="微软雅黑" panose="020B0503020204020204" pitchFamily="34" charset="-122"/>
                <a:ea typeface="微软雅黑" panose="020B0503020204020204" pitchFamily="34" charset="-122"/>
              </a:rPr>
              <a:t>例如，可靠性、保密性、性能、安全性、服务水平、可支持性、保留或清除等</a:t>
            </a:r>
            <a:r>
              <a:rPr lang="zh-CN" altLang="en-US" sz="2200" dirty="0">
                <a:latin typeface="微软雅黑" panose="020B0503020204020204" pitchFamily="34" charset="-122"/>
                <a:ea typeface="微软雅黑" panose="020B0503020204020204" pitchFamily="34" charset="-122"/>
              </a:rPr>
              <a:t>。</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过渡和就绪需求。</a:t>
            </a:r>
            <a:r>
              <a:rPr lang="zh-CN" altLang="en-US" sz="2200" i="0" u="none" strike="noStrike" baseline="0" dirty="0">
                <a:latin typeface="微软雅黑" panose="020B0503020204020204" pitchFamily="34" charset="-122"/>
                <a:ea typeface="微软雅黑" panose="020B0503020204020204" pitchFamily="34" charset="-122"/>
              </a:rPr>
              <a:t>如数据转换和培训需求。</a:t>
            </a:r>
            <a:endParaRPr lang="zh-CN" altLang="en-US" sz="2200" dirty="0">
              <a:latin typeface="微软雅黑" panose="020B0503020204020204" pitchFamily="34" charset="-122"/>
              <a:ea typeface="微软雅黑" panose="020B0503020204020204" pitchFamily="34" charset="-122"/>
            </a:endParaRP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项目需求。</a:t>
            </a:r>
            <a:r>
              <a:rPr lang="zh-CN" altLang="en-US" sz="2200" i="0" u="none" strike="noStrike" baseline="0" dirty="0">
                <a:latin typeface="微软雅黑" panose="020B0503020204020204" pitchFamily="34" charset="-122"/>
                <a:ea typeface="微软雅黑" panose="020B0503020204020204" pitchFamily="34" charset="-122"/>
              </a:rPr>
              <a:t>例如里程碑日期、合同责任、制约因素等</a:t>
            </a:r>
            <a:r>
              <a:rPr lang="zh-CN" altLang="en-US" sz="2200" dirty="0">
                <a:latin typeface="微软雅黑" panose="020B0503020204020204" pitchFamily="34" charset="-122"/>
                <a:ea typeface="微软雅黑" panose="020B0503020204020204" pitchFamily="34" charset="-122"/>
              </a:rPr>
              <a:t>。</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质量需求。例如测试、认证、确认等。</a:t>
            </a:r>
          </a:p>
        </p:txBody>
      </p:sp>
    </p:spTree>
    <p:extLst>
      <p:ext uri="{BB962C8B-B14F-4D97-AF65-F5344CB8AC3E}">
        <p14:creationId xmlns:p14="http://schemas.microsoft.com/office/powerpoint/2010/main" val="3756615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736CB-40D2-491A-A57A-B2C340A611AB}"/>
              </a:ext>
            </a:extLst>
          </p:cNvPr>
          <p:cNvSpPr>
            <a:spLocks noGrp="1"/>
          </p:cNvSpPr>
          <p:nvPr>
            <p:ph type="title"/>
          </p:nvPr>
        </p:nvSpPr>
        <p:spPr/>
        <p:txBody>
          <a:bodyPr/>
          <a:lstStyle/>
          <a:p>
            <a:r>
              <a:rPr lang="en-US" altLang="zh-CN" dirty="0"/>
              <a:t>11.3 </a:t>
            </a:r>
            <a:r>
              <a:rPr lang="zh-CN" altLang="en-US" dirty="0"/>
              <a:t>项目需求收集</a:t>
            </a:r>
          </a:p>
        </p:txBody>
      </p:sp>
      <p:sp>
        <p:nvSpPr>
          <p:cNvPr id="7" name="文本框 6">
            <a:extLst>
              <a:ext uri="{FF2B5EF4-FFF2-40B4-BE49-F238E27FC236}">
                <a16:creationId xmlns:a16="http://schemas.microsoft.com/office/drawing/2014/main" id="{08ABAB96-C684-4836-8675-381D12852A40}"/>
              </a:ext>
            </a:extLst>
          </p:cNvPr>
          <p:cNvSpPr txBox="1"/>
          <p:nvPr/>
        </p:nvSpPr>
        <p:spPr>
          <a:xfrm>
            <a:off x="605315" y="1235895"/>
            <a:ext cx="6093994" cy="1037592"/>
          </a:xfrm>
          <a:prstGeom prst="rect">
            <a:avLst/>
          </a:prstGeom>
          <a:noFill/>
        </p:spPr>
        <p:txBody>
          <a:bodyPr wrap="square">
            <a:spAutoFit/>
          </a:bodyPr>
          <a:lstStyle/>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需求跟踪矩阵的编写</a:t>
            </a:r>
          </a:p>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9" name="文本框 8">
            <a:extLst>
              <a:ext uri="{FF2B5EF4-FFF2-40B4-BE49-F238E27FC236}">
                <a16:creationId xmlns:a16="http://schemas.microsoft.com/office/drawing/2014/main" id="{9E40B7C8-2966-4E6A-B0FA-08B1A18DC786}"/>
              </a:ext>
            </a:extLst>
          </p:cNvPr>
          <p:cNvSpPr txBox="1"/>
          <p:nvPr/>
        </p:nvSpPr>
        <p:spPr>
          <a:xfrm>
            <a:off x="962526" y="1713286"/>
            <a:ext cx="10299031" cy="830997"/>
          </a:xfrm>
          <a:prstGeom prst="rect">
            <a:avLst/>
          </a:prstGeom>
          <a:noFill/>
        </p:spPr>
        <p:txBody>
          <a:bodyPr wrap="square">
            <a:spAutoFit/>
          </a:bodyPr>
          <a:lstStyle/>
          <a:p>
            <a:r>
              <a:rPr lang="zh-CN" altLang="en-US" sz="2400" b="1" i="0" u="none" strike="noStrike" baseline="0" dirty="0">
                <a:latin typeface="微软雅黑" panose="020B0503020204020204" pitchFamily="34" charset="-122"/>
                <a:ea typeface="微软雅黑" panose="020B0503020204020204" pitchFamily="34" charset="-122"/>
              </a:rPr>
              <a:t>需求跟踪矩阵（</a:t>
            </a:r>
            <a:r>
              <a:rPr lang="en-US" altLang="zh-CN" sz="2400" b="1" dirty="0">
                <a:latin typeface="微软雅黑" panose="020B0503020204020204" pitchFamily="34" charset="-122"/>
                <a:ea typeface="微软雅黑" panose="020B0503020204020204" pitchFamily="34" charset="-122"/>
              </a:rPr>
              <a:t>requirements traceability matrix, RTM</a:t>
            </a:r>
            <a:r>
              <a:rPr lang="zh-CN" altLang="en-US" sz="2400" b="1" dirty="0">
                <a:latin typeface="微软雅黑" panose="020B0503020204020204" pitchFamily="34" charset="-122"/>
                <a:ea typeface="微软雅黑" panose="020B0503020204020204" pitchFamily="34" charset="-122"/>
              </a:rPr>
              <a:t>）</a:t>
            </a:r>
            <a:r>
              <a:rPr lang="zh-CN" altLang="en-US" sz="2400" b="1" i="0" u="none" strike="noStrike" baseline="0" dirty="0">
                <a:latin typeface="微软雅黑" panose="020B0503020204020204" pitchFamily="34" charset="-122"/>
                <a:ea typeface="微软雅黑" panose="020B0503020204020204" pitchFamily="34" charset="-122"/>
              </a:rPr>
              <a:t>：</a:t>
            </a:r>
            <a:r>
              <a:rPr lang="zh-CN" altLang="en-US" sz="2400" i="0" u="none" strike="noStrike" baseline="0" dirty="0">
                <a:latin typeface="微软雅黑" panose="020B0503020204020204" pitchFamily="34" charset="-122"/>
                <a:ea typeface="微软雅黑" panose="020B0503020204020204" pitchFamily="34" charset="-122"/>
              </a:rPr>
              <a:t>是把产品需求从其来源连接到能满足需求的可交付成果的一种表格</a:t>
            </a:r>
            <a:endParaRPr lang="zh-CN" altLang="en-US" sz="20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BB81471-BC5C-4310-AEF6-25277A2575FB}"/>
              </a:ext>
            </a:extLst>
          </p:cNvPr>
          <p:cNvSpPr txBox="1"/>
          <p:nvPr/>
        </p:nvSpPr>
        <p:spPr>
          <a:xfrm>
            <a:off x="833187" y="2677387"/>
            <a:ext cx="10624158" cy="2800767"/>
          </a:xfrm>
          <a:prstGeom prst="rect">
            <a:avLst/>
          </a:prstGeom>
          <a:noFill/>
        </p:spPr>
        <p:txBody>
          <a:bodyPr wrap="square">
            <a:spAutoFit/>
          </a:bodyPr>
          <a:lstStyle/>
          <a:p>
            <a:pPr marL="342900" indent="-342900">
              <a:buFont typeface="Wingdings" panose="05000000000000000000" pitchFamily="2" charset="2"/>
              <a:buChar char="Ø"/>
            </a:pPr>
            <a:r>
              <a:rPr lang="zh-CN" altLang="en-US" sz="2200" b="1" dirty="0">
                <a:latin typeface="微软雅黑" panose="020B0503020204020204" pitchFamily="34" charset="-122"/>
                <a:ea typeface="微软雅黑" panose="020B0503020204020204" pitchFamily="34" charset="-122"/>
              </a:rPr>
              <a:t>需求跟踪矩阵主要内容：</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业务需要、机会、目的和目标；</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项目目标；</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项目范围和 </a:t>
            </a:r>
            <a:r>
              <a:rPr lang="en-US" altLang="zh-CN" sz="2200" dirty="0">
                <a:latin typeface="微软雅黑" panose="020B0503020204020204" pitchFamily="34" charset="-122"/>
                <a:ea typeface="微软雅黑" panose="020B0503020204020204" pitchFamily="34" charset="-122"/>
              </a:rPr>
              <a:t>WBS </a:t>
            </a:r>
            <a:r>
              <a:rPr lang="zh-CN" altLang="en-US" sz="2200" dirty="0">
                <a:latin typeface="微软雅黑" panose="020B0503020204020204" pitchFamily="34" charset="-122"/>
                <a:ea typeface="微软雅黑" panose="020B0503020204020204" pitchFamily="34" charset="-122"/>
              </a:rPr>
              <a:t>可交付成果；</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产品设计；</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产品开发；</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测试策略和测试场景；</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高层级需求到详细需求。</a:t>
            </a:r>
          </a:p>
        </p:txBody>
      </p:sp>
    </p:spTree>
    <p:extLst>
      <p:ext uri="{BB962C8B-B14F-4D97-AF65-F5344CB8AC3E}">
        <p14:creationId xmlns:p14="http://schemas.microsoft.com/office/powerpoint/2010/main" val="335171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11.3 </a:t>
            </a:r>
            <a:r>
              <a:rPr lang="zh-CN" altLang="en-US" dirty="0"/>
              <a:t>项目需求收集</a:t>
            </a:r>
          </a:p>
        </p:txBody>
      </p:sp>
      <p:pic>
        <p:nvPicPr>
          <p:cNvPr id="6" name="Picture 1077747">
            <a:extLst>
              <a:ext uri="{FF2B5EF4-FFF2-40B4-BE49-F238E27FC236}">
                <a16:creationId xmlns:a16="http://schemas.microsoft.com/office/drawing/2014/main" id="{0E37A15D-1006-4B1A-B71F-53756BA15FE8}"/>
              </a:ext>
            </a:extLst>
          </p:cNvPr>
          <p:cNvPicPr/>
          <p:nvPr/>
        </p:nvPicPr>
        <p:blipFill>
          <a:blip r:embed="rId3"/>
          <a:stretch>
            <a:fillRect/>
          </a:stretch>
        </p:blipFill>
        <p:spPr>
          <a:xfrm>
            <a:off x="475247" y="1305136"/>
            <a:ext cx="7706226" cy="5068390"/>
          </a:xfrm>
          <a:prstGeom prst="rect">
            <a:avLst/>
          </a:prstGeom>
        </p:spPr>
      </p:pic>
      <p:graphicFrame>
        <p:nvGraphicFramePr>
          <p:cNvPr id="4" name="Group 213">
            <a:extLst>
              <a:ext uri="{FF2B5EF4-FFF2-40B4-BE49-F238E27FC236}">
                <a16:creationId xmlns:a16="http://schemas.microsoft.com/office/drawing/2014/main" id="{C981016A-02C6-4D50-A82C-926E4FBA75FC}"/>
              </a:ext>
            </a:extLst>
          </p:cNvPr>
          <p:cNvGraphicFramePr>
            <a:graphicFrameLocks/>
          </p:cNvGraphicFramePr>
          <p:nvPr/>
        </p:nvGraphicFramePr>
        <p:xfrm>
          <a:off x="6254416" y="3109254"/>
          <a:ext cx="5462337" cy="3311649"/>
        </p:xfrm>
        <a:graphic>
          <a:graphicData uri="http://schemas.openxmlformats.org/drawingml/2006/table">
            <a:tbl>
              <a:tblPr/>
              <a:tblGrid>
                <a:gridCol w="455195">
                  <a:extLst>
                    <a:ext uri="{9D8B030D-6E8A-4147-A177-3AD203B41FA5}">
                      <a16:colId xmlns:a16="http://schemas.microsoft.com/office/drawing/2014/main" val="20000"/>
                    </a:ext>
                  </a:extLst>
                </a:gridCol>
                <a:gridCol w="1416161">
                  <a:extLst>
                    <a:ext uri="{9D8B030D-6E8A-4147-A177-3AD203B41FA5}">
                      <a16:colId xmlns:a16="http://schemas.microsoft.com/office/drawing/2014/main" val="20001"/>
                    </a:ext>
                  </a:extLst>
                </a:gridCol>
                <a:gridCol w="960967">
                  <a:extLst>
                    <a:ext uri="{9D8B030D-6E8A-4147-A177-3AD203B41FA5}">
                      <a16:colId xmlns:a16="http://schemas.microsoft.com/office/drawing/2014/main" val="20002"/>
                    </a:ext>
                  </a:extLst>
                </a:gridCol>
                <a:gridCol w="960967">
                  <a:extLst>
                    <a:ext uri="{9D8B030D-6E8A-4147-A177-3AD203B41FA5}">
                      <a16:colId xmlns:a16="http://schemas.microsoft.com/office/drawing/2014/main" val="20003"/>
                    </a:ext>
                  </a:extLst>
                </a:gridCol>
                <a:gridCol w="1011544">
                  <a:extLst>
                    <a:ext uri="{9D8B030D-6E8A-4147-A177-3AD203B41FA5}">
                      <a16:colId xmlns:a16="http://schemas.microsoft.com/office/drawing/2014/main" val="20004"/>
                    </a:ext>
                  </a:extLst>
                </a:gridCol>
                <a:gridCol w="657503">
                  <a:extLst>
                    <a:ext uri="{9D8B030D-6E8A-4147-A177-3AD203B41FA5}">
                      <a16:colId xmlns:a16="http://schemas.microsoft.com/office/drawing/2014/main" val="20005"/>
                    </a:ext>
                  </a:extLst>
                </a:gridCol>
              </a:tblGrid>
              <a:tr h="306051">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ID</a:t>
                      </a: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需求描述</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理由</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所有者</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优先级</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状态</a:t>
                      </a: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extLst>
                  <a:ext uri="{0D108BD9-81ED-4DB2-BD59-A6C34878D82A}">
                    <a16:rowId xmlns:a16="http://schemas.microsoft.com/office/drawing/2014/main" val="10000"/>
                  </a:ext>
                </a:extLst>
              </a:tr>
              <a:tr h="495456">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1"/>
                  </a:ext>
                </a:extLst>
              </a:tr>
              <a:tr h="50007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2"/>
                  </a:ext>
                </a:extLst>
              </a:tr>
              <a:tr h="49661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3"/>
                  </a:ext>
                </a:extLst>
              </a:tr>
              <a:tr h="49892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4"/>
                  </a:ext>
                </a:extLst>
              </a:tr>
              <a:tr h="49661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5"/>
                  </a:ext>
                </a:extLst>
              </a:tr>
              <a:tr h="49892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6"/>
                  </a:ext>
                </a:extLst>
              </a:tr>
            </a:tbl>
          </a:graphicData>
        </a:graphic>
      </p:graphicFrame>
      <p:sp>
        <p:nvSpPr>
          <p:cNvPr id="7" name="Rectangle 2">
            <a:extLst>
              <a:ext uri="{FF2B5EF4-FFF2-40B4-BE49-F238E27FC236}">
                <a16:creationId xmlns:a16="http://schemas.microsoft.com/office/drawing/2014/main" id="{9468B108-ECB5-4F5D-B32C-BB98EE72D408}"/>
              </a:ext>
            </a:extLst>
          </p:cNvPr>
          <p:cNvSpPr txBox="1">
            <a:spLocks noChangeArrowheads="1"/>
          </p:cNvSpPr>
          <p:nvPr/>
        </p:nvSpPr>
        <p:spPr bwMode="auto">
          <a:xfrm>
            <a:off x="8673317" y="2545691"/>
            <a:ext cx="2913368"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b="1" kern="1200">
                <a:solidFill>
                  <a:srgbClr val="FF6600"/>
                </a:solidFill>
                <a:latin typeface="+mj-lt"/>
                <a:ea typeface="+mj-ea"/>
                <a:cs typeface="+mj-cs"/>
              </a:defRPr>
            </a:lvl1pPr>
            <a:lvl2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2pPr>
            <a:lvl3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3pPr>
            <a:lvl4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4pPr>
            <a:lvl5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5pPr>
            <a:lvl6pPr marL="4572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6pPr>
            <a:lvl7pPr marL="9144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7pPr>
            <a:lvl8pPr marL="13716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8pPr>
            <a:lvl9pPr marL="18288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简单的需求跟踪矩阵</a:t>
            </a:r>
          </a:p>
        </p:txBody>
      </p:sp>
    </p:spTree>
    <p:extLst>
      <p:ext uri="{BB962C8B-B14F-4D97-AF65-F5344CB8AC3E}">
        <p14:creationId xmlns:p14="http://schemas.microsoft.com/office/powerpoint/2010/main" val="522042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3D0BFE-6E61-4ACE-88B0-B890A952F84B}"/>
              </a:ext>
            </a:extLst>
          </p:cNvPr>
          <p:cNvSpPr>
            <a:spLocks noGrp="1"/>
          </p:cNvSpPr>
          <p:nvPr>
            <p:ph type="title"/>
          </p:nvPr>
        </p:nvSpPr>
        <p:spPr/>
        <p:txBody>
          <a:bodyPr/>
          <a:lstStyle/>
          <a:p>
            <a:r>
              <a:rPr lang="en-US" altLang="zh-CN" dirty="0"/>
              <a:t>11.3 </a:t>
            </a:r>
            <a:r>
              <a:rPr lang="zh-CN" altLang="en-US" dirty="0"/>
              <a:t>项目需求收集</a:t>
            </a:r>
          </a:p>
        </p:txBody>
      </p:sp>
      <p:pic>
        <p:nvPicPr>
          <p:cNvPr id="4" name="图片 3">
            <a:extLst>
              <a:ext uri="{FF2B5EF4-FFF2-40B4-BE49-F238E27FC236}">
                <a16:creationId xmlns:a16="http://schemas.microsoft.com/office/drawing/2014/main" id="{DADDD8C6-72F1-440E-A3B7-B136E250D81A}"/>
              </a:ext>
            </a:extLst>
          </p:cNvPr>
          <p:cNvPicPr>
            <a:picLocks noChangeAspect="1"/>
          </p:cNvPicPr>
          <p:nvPr/>
        </p:nvPicPr>
        <p:blipFill rotWithShape="1">
          <a:blip r:embed="rId3"/>
          <a:srcRect r="6388"/>
          <a:stretch/>
        </p:blipFill>
        <p:spPr>
          <a:xfrm>
            <a:off x="613885" y="1201479"/>
            <a:ext cx="10539389" cy="5219700"/>
          </a:xfrm>
          <a:prstGeom prst="rect">
            <a:avLst/>
          </a:prstGeom>
        </p:spPr>
      </p:pic>
    </p:spTree>
    <p:extLst>
      <p:ext uri="{BB962C8B-B14F-4D97-AF65-F5344CB8AC3E}">
        <p14:creationId xmlns:p14="http://schemas.microsoft.com/office/powerpoint/2010/main" val="161402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47EF0-8633-452D-B4E1-78FAFE289267}"/>
              </a:ext>
            </a:extLst>
          </p:cNvPr>
          <p:cNvSpPr>
            <a:spLocks noGrp="1"/>
          </p:cNvSpPr>
          <p:nvPr>
            <p:ph type="title"/>
          </p:nvPr>
        </p:nvSpPr>
        <p:spPr/>
        <p:txBody>
          <a:bodyPr/>
          <a:lstStyle/>
          <a:p>
            <a:r>
              <a:rPr lang="en-US" altLang="zh-CN" dirty="0"/>
              <a:t>11.3 </a:t>
            </a:r>
            <a:r>
              <a:rPr lang="zh-CN" altLang="en-US" dirty="0"/>
              <a:t>项目需求收集</a:t>
            </a:r>
          </a:p>
        </p:txBody>
      </p:sp>
      <p:sp>
        <p:nvSpPr>
          <p:cNvPr id="3" name="文本框 2">
            <a:extLst>
              <a:ext uri="{FF2B5EF4-FFF2-40B4-BE49-F238E27FC236}">
                <a16:creationId xmlns:a16="http://schemas.microsoft.com/office/drawing/2014/main" id="{13EB6363-BBF0-4463-B57E-3921AABFBB34}"/>
              </a:ext>
            </a:extLst>
          </p:cNvPr>
          <p:cNvSpPr txBox="1"/>
          <p:nvPr/>
        </p:nvSpPr>
        <p:spPr>
          <a:xfrm>
            <a:off x="605315" y="1201479"/>
            <a:ext cx="10744928" cy="4565352"/>
          </a:xfrm>
          <a:prstGeom prst="rect">
            <a:avLst/>
          </a:prstGeom>
          <a:noFill/>
        </p:spPr>
        <p:txBody>
          <a:bodyPr wrap="square">
            <a:spAutoFit/>
          </a:bodyPr>
          <a:lstStyle/>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收集需求：工具与技术</a:t>
            </a:r>
            <a:endParaRPr lang="en-US" altLang="zh-CN" sz="24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342900" indent="-342900">
              <a:lnSpc>
                <a:spcPts val="3600"/>
              </a:lnSpc>
              <a:spcBef>
                <a:spcPts val="500"/>
              </a:spcBef>
              <a:buFont typeface="Wingdings" panose="05000000000000000000" pitchFamily="2" charset="2"/>
              <a:buChar char="Ø"/>
              <a:defRPr/>
            </a:pPr>
            <a:r>
              <a:rPr lang="zh-CN" altLang="en-US" sz="2400" b="1" i="0" u="none" strike="noStrike" baseline="0" dirty="0">
                <a:solidFill>
                  <a:srgbClr val="FF0000"/>
                </a:solidFill>
                <a:latin typeface="微软雅黑" panose="020B0503020204020204" pitchFamily="34" charset="-122"/>
                <a:ea typeface="微软雅黑" panose="020B0503020204020204" pitchFamily="34" charset="-122"/>
              </a:rPr>
              <a:t>专家判断</a:t>
            </a:r>
            <a:endParaRPr lang="en-US" altLang="zh-CN" sz="2400" b="1" i="0" u="none" strike="noStrike" baseline="0" dirty="0">
              <a:solidFill>
                <a:srgbClr val="FF0000"/>
              </a:solidFill>
              <a:latin typeface="微软雅黑" panose="020B0503020204020204" pitchFamily="34" charset="-122"/>
              <a:ea typeface="微软雅黑" panose="020B0503020204020204" pitchFamily="34" charset="-122"/>
            </a:endParaRPr>
          </a:p>
          <a:p>
            <a:pPr marL="800100" lvl="1" indent="-342900">
              <a:spcBef>
                <a:spcPts val="500"/>
              </a:spcBef>
              <a:buFont typeface="Wingdings" panose="05000000000000000000" pitchFamily="2" charset="2"/>
              <a:buChar char="u"/>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专家：具备相关专业知识或接受过相关培训的个人或小组</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800100" lvl="1" indent="-342900">
              <a:spcBef>
                <a:spcPts val="500"/>
              </a:spcBef>
              <a:buFont typeface="Wingdings" panose="05000000000000000000" pitchFamily="2" charset="2"/>
              <a:buChar char="u"/>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rPr>
              <a:t>主题：商业分析；需求获取；需求分析；需求文件；以往类似项目的项目需求；图解技术；引导；冲突管理。</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a:p>
            <a:pPr marL="342900" indent="-342900">
              <a:lnSpc>
                <a:spcPts val="3600"/>
              </a:lnSpc>
              <a:spcBef>
                <a:spcPts val="500"/>
              </a:spcBef>
              <a:buFont typeface="Wingdings" panose="05000000000000000000" pitchFamily="2" charset="2"/>
              <a:buChar char="Ø"/>
              <a:defRPr/>
            </a:pPr>
            <a:r>
              <a:rPr lang="zh-CN" altLang="en-US" sz="2400" b="1" dirty="0">
                <a:solidFill>
                  <a:srgbClr val="FF0000"/>
                </a:solidFill>
                <a:latin typeface="微软雅黑" panose="020B0503020204020204" pitchFamily="34" charset="-122"/>
                <a:ea typeface="微软雅黑" panose="020B0503020204020204" pitchFamily="34" charset="-122"/>
              </a:rPr>
              <a:t>主要数据收集技术</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头脑风暴</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访谈</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焦点小组</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问卷调查</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标杆对照</a:t>
            </a:r>
          </a:p>
          <a:p>
            <a:pPr algn="just"/>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4" name="AutoShape 3">
            <a:extLst>
              <a:ext uri="{FF2B5EF4-FFF2-40B4-BE49-F238E27FC236}">
                <a16:creationId xmlns:a16="http://schemas.microsoft.com/office/drawing/2014/main" id="{894CF807-1CFD-4D6C-8FF0-70980E4E2900}"/>
              </a:ext>
            </a:extLst>
          </p:cNvPr>
          <p:cNvSpPr>
            <a:spLocks noChangeArrowheads="1"/>
          </p:cNvSpPr>
          <p:nvPr/>
        </p:nvSpPr>
        <p:spPr bwMode="auto">
          <a:xfrm>
            <a:off x="5263267" y="3297474"/>
            <a:ext cx="3124200" cy="671513"/>
          </a:xfrm>
          <a:prstGeom prst="wedgeRectCallout">
            <a:avLst>
              <a:gd name="adj1" fmla="val 75052"/>
              <a:gd name="adj2" fmla="val -7960"/>
            </a:avLst>
          </a:prstGeom>
          <a:gradFill rotWithShape="1">
            <a:gsLst>
              <a:gs pos="0">
                <a:srgbClr val="BBD4F3"/>
              </a:gs>
              <a:gs pos="50000">
                <a:srgbClr val="FFFFFF"/>
              </a:gs>
              <a:gs pos="100000">
                <a:srgbClr val="BBD4F3"/>
              </a:gs>
            </a:gsLst>
            <a:lin ang="5400000" scaled="1"/>
          </a:gradFill>
          <a:ln w="254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头脑风暴法（集思广益会）</a:t>
            </a:r>
          </a:p>
        </p:txBody>
      </p:sp>
      <p:sp>
        <p:nvSpPr>
          <p:cNvPr id="5" name="AutoShape 4">
            <a:extLst>
              <a:ext uri="{FF2B5EF4-FFF2-40B4-BE49-F238E27FC236}">
                <a16:creationId xmlns:a16="http://schemas.microsoft.com/office/drawing/2014/main" id="{30190D3F-DA05-4B42-AD1E-58662FC17EF0}"/>
              </a:ext>
            </a:extLst>
          </p:cNvPr>
          <p:cNvSpPr>
            <a:spLocks noChangeArrowheads="1"/>
          </p:cNvSpPr>
          <p:nvPr/>
        </p:nvSpPr>
        <p:spPr bwMode="auto">
          <a:xfrm>
            <a:off x="5221088" y="4313649"/>
            <a:ext cx="1520120" cy="665719"/>
          </a:xfrm>
          <a:prstGeom prst="wedgeRectCallout">
            <a:avLst>
              <a:gd name="adj1" fmla="val 98029"/>
              <a:gd name="adj2" fmla="val 28692"/>
            </a:avLst>
          </a:prstGeom>
          <a:gradFill rotWithShape="1">
            <a:gsLst>
              <a:gs pos="0">
                <a:srgbClr val="BBD4F3"/>
              </a:gs>
              <a:gs pos="50000">
                <a:srgbClr val="FFFFFF"/>
              </a:gs>
              <a:gs pos="100000">
                <a:srgbClr val="BBD4F3"/>
              </a:gs>
            </a:gsLst>
            <a:lin ang="5400000" scaled="1"/>
          </a:gradFill>
          <a:ln w="254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德尔斐技术</a:t>
            </a:r>
          </a:p>
        </p:txBody>
      </p:sp>
      <p:pic>
        <p:nvPicPr>
          <p:cNvPr id="6" name="Picture 5">
            <a:extLst>
              <a:ext uri="{FF2B5EF4-FFF2-40B4-BE49-F238E27FC236}">
                <a16:creationId xmlns:a16="http://schemas.microsoft.com/office/drawing/2014/main" id="{76ECA647-304F-46F1-A00E-27581CE41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7374" y="3046940"/>
            <a:ext cx="2860175" cy="245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AB60F308-96EF-4995-91EE-3D470594D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9661" y="4438813"/>
            <a:ext cx="2017713"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280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38B6E-D659-4891-8C9F-B30087E0C2DD}"/>
              </a:ext>
            </a:extLst>
          </p:cNvPr>
          <p:cNvSpPr>
            <a:spLocks noGrp="1"/>
          </p:cNvSpPr>
          <p:nvPr>
            <p:ph type="title"/>
          </p:nvPr>
        </p:nvSpPr>
        <p:spPr/>
        <p:txBody>
          <a:bodyPr/>
          <a:lstStyle/>
          <a:p>
            <a:r>
              <a:rPr lang="en-US" altLang="zh-CN" dirty="0"/>
              <a:t>11.3 </a:t>
            </a:r>
            <a:r>
              <a:rPr lang="zh-CN" altLang="en-US" dirty="0"/>
              <a:t>项目需求收集</a:t>
            </a:r>
          </a:p>
        </p:txBody>
      </p:sp>
      <p:sp>
        <p:nvSpPr>
          <p:cNvPr id="3" name="Rectangle 3">
            <a:extLst>
              <a:ext uri="{FF2B5EF4-FFF2-40B4-BE49-F238E27FC236}">
                <a16:creationId xmlns:a16="http://schemas.microsoft.com/office/drawing/2014/main" id="{526DB662-AE2F-476F-9E05-A35BC9CD298E}"/>
              </a:ext>
            </a:extLst>
          </p:cNvPr>
          <p:cNvSpPr>
            <a:spLocks noChangeArrowheads="1"/>
          </p:cNvSpPr>
          <p:nvPr/>
        </p:nvSpPr>
        <p:spPr bwMode="auto">
          <a:xfrm>
            <a:off x="4092575" y="1729859"/>
            <a:ext cx="5280025"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微软雅黑" panose="020B0503020204020204" pitchFamily="34" charset="-122"/>
                <a:ea typeface="微软雅黑" panose="020B0503020204020204" pitchFamily="34" charset="-122"/>
              </a:rPr>
              <a:t>开始前：做好准备，写出访谈提纲</a:t>
            </a:r>
          </a:p>
        </p:txBody>
      </p:sp>
      <p:sp>
        <p:nvSpPr>
          <p:cNvPr id="4" name="Rectangle 4">
            <a:extLst>
              <a:ext uri="{FF2B5EF4-FFF2-40B4-BE49-F238E27FC236}">
                <a16:creationId xmlns:a16="http://schemas.microsoft.com/office/drawing/2014/main" id="{D3C9CC97-F604-4E05-B6F2-2F634243F8A4}"/>
              </a:ext>
            </a:extLst>
          </p:cNvPr>
          <p:cNvSpPr>
            <a:spLocks noChangeArrowheads="1"/>
          </p:cNvSpPr>
          <p:nvPr/>
        </p:nvSpPr>
        <p:spPr bwMode="auto">
          <a:xfrm>
            <a:off x="3736975" y="2605087"/>
            <a:ext cx="3505200"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微软雅黑" panose="020B0503020204020204" pitchFamily="34" charset="-122"/>
                <a:ea typeface="微软雅黑" panose="020B0503020204020204" pitchFamily="34" charset="-122"/>
              </a:rPr>
              <a:t>进行中：要注意聆听和引导</a:t>
            </a:r>
          </a:p>
        </p:txBody>
      </p:sp>
      <p:sp>
        <p:nvSpPr>
          <p:cNvPr id="5" name="Rectangle 5">
            <a:extLst>
              <a:ext uri="{FF2B5EF4-FFF2-40B4-BE49-F238E27FC236}">
                <a16:creationId xmlns:a16="http://schemas.microsoft.com/office/drawing/2014/main" id="{3F93DF0F-437F-4B61-A981-F5E2440ABFC6}"/>
              </a:ext>
            </a:extLst>
          </p:cNvPr>
          <p:cNvSpPr>
            <a:spLocks noChangeArrowheads="1"/>
          </p:cNvSpPr>
          <p:nvPr/>
        </p:nvSpPr>
        <p:spPr bwMode="auto">
          <a:xfrm>
            <a:off x="4092575" y="6011863"/>
            <a:ext cx="5280024"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微软雅黑" panose="020B0503020204020204" pitchFamily="34" charset="-122"/>
                <a:ea typeface="微软雅黑" panose="020B0503020204020204" pitchFamily="34" charset="-122"/>
              </a:rPr>
              <a:t>结束后：要写感谢信</a:t>
            </a:r>
          </a:p>
        </p:txBody>
      </p:sp>
      <p:sp>
        <p:nvSpPr>
          <p:cNvPr id="6" name="Line 6">
            <a:extLst>
              <a:ext uri="{FF2B5EF4-FFF2-40B4-BE49-F238E27FC236}">
                <a16:creationId xmlns:a16="http://schemas.microsoft.com/office/drawing/2014/main" id="{25B41DC1-6F24-45C8-80A4-3A8A6E606FBF}"/>
              </a:ext>
            </a:extLst>
          </p:cNvPr>
          <p:cNvSpPr>
            <a:spLocks noChangeShapeType="1"/>
          </p:cNvSpPr>
          <p:nvPr/>
        </p:nvSpPr>
        <p:spPr bwMode="auto">
          <a:xfrm>
            <a:off x="6718300" y="2177533"/>
            <a:ext cx="6350" cy="45720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7" name="Line 7">
            <a:extLst>
              <a:ext uri="{FF2B5EF4-FFF2-40B4-BE49-F238E27FC236}">
                <a16:creationId xmlns:a16="http://schemas.microsoft.com/office/drawing/2014/main" id="{27C5BC4C-5653-416F-A48F-C4DA8A8844BA}"/>
              </a:ext>
            </a:extLst>
          </p:cNvPr>
          <p:cNvSpPr>
            <a:spLocks noChangeShapeType="1"/>
          </p:cNvSpPr>
          <p:nvPr/>
        </p:nvSpPr>
        <p:spPr bwMode="auto">
          <a:xfrm>
            <a:off x="4495807" y="3062287"/>
            <a:ext cx="0" cy="2949576"/>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8" name="Line 8">
            <a:extLst>
              <a:ext uri="{FF2B5EF4-FFF2-40B4-BE49-F238E27FC236}">
                <a16:creationId xmlns:a16="http://schemas.microsoft.com/office/drawing/2014/main" id="{9162F927-922A-441B-8DBD-827F4089843C}"/>
              </a:ext>
            </a:extLst>
          </p:cNvPr>
          <p:cNvSpPr>
            <a:spLocks noChangeShapeType="1"/>
          </p:cNvSpPr>
          <p:nvPr/>
        </p:nvSpPr>
        <p:spPr bwMode="auto">
          <a:xfrm>
            <a:off x="5794375" y="3040063"/>
            <a:ext cx="0" cy="25908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9" name="Line 9">
            <a:extLst>
              <a:ext uri="{FF2B5EF4-FFF2-40B4-BE49-F238E27FC236}">
                <a16:creationId xmlns:a16="http://schemas.microsoft.com/office/drawing/2014/main" id="{42E9012B-1CA7-4ED4-86A1-654D6A9E60BC}"/>
              </a:ext>
            </a:extLst>
          </p:cNvPr>
          <p:cNvSpPr>
            <a:spLocks noChangeShapeType="1"/>
          </p:cNvSpPr>
          <p:nvPr/>
        </p:nvSpPr>
        <p:spPr bwMode="auto">
          <a:xfrm>
            <a:off x="5794375" y="50974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0" name="Rectangle 10">
            <a:extLst>
              <a:ext uri="{FF2B5EF4-FFF2-40B4-BE49-F238E27FC236}">
                <a16:creationId xmlns:a16="http://schemas.microsoft.com/office/drawing/2014/main" id="{C6CADF03-7ED2-4D3C-9657-FD3A80886668}"/>
              </a:ext>
            </a:extLst>
          </p:cNvPr>
          <p:cNvSpPr>
            <a:spLocks noChangeArrowheads="1"/>
          </p:cNvSpPr>
          <p:nvPr/>
        </p:nvSpPr>
        <p:spPr bwMode="auto">
          <a:xfrm>
            <a:off x="7394575" y="48942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旁敲侧击的方式</a:t>
            </a:r>
          </a:p>
        </p:txBody>
      </p:sp>
      <p:sp>
        <p:nvSpPr>
          <p:cNvPr id="11" name="Line 11">
            <a:extLst>
              <a:ext uri="{FF2B5EF4-FFF2-40B4-BE49-F238E27FC236}">
                <a16:creationId xmlns:a16="http://schemas.microsoft.com/office/drawing/2014/main" id="{4F00A2AD-4EF5-4238-94DE-4AD7B3F7DDD4}"/>
              </a:ext>
            </a:extLst>
          </p:cNvPr>
          <p:cNvSpPr>
            <a:spLocks noChangeShapeType="1"/>
          </p:cNvSpPr>
          <p:nvPr/>
        </p:nvSpPr>
        <p:spPr bwMode="auto">
          <a:xfrm>
            <a:off x="5794375" y="44878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2" name="Rectangle 12">
            <a:extLst>
              <a:ext uri="{FF2B5EF4-FFF2-40B4-BE49-F238E27FC236}">
                <a16:creationId xmlns:a16="http://schemas.microsoft.com/office/drawing/2014/main" id="{D701639B-89FB-42B8-B21A-929A5EFCF7A6}"/>
              </a:ext>
            </a:extLst>
          </p:cNvPr>
          <p:cNvSpPr>
            <a:spLocks noChangeArrowheads="1"/>
          </p:cNvSpPr>
          <p:nvPr/>
        </p:nvSpPr>
        <p:spPr bwMode="auto">
          <a:xfrm>
            <a:off x="7394575" y="43354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Arial" panose="020B0604020202020204" pitchFamily="34" charset="0"/>
                <a:ea typeface="黑体" panose="02010609060101010101" pitchFamily="49" charset="-122"/>
              </a:rPr>
              <a:t>复述，复述，复述</a:t>
            </a:r>
          </a:p>
        </p:txBody>
      </p:sp>
      <p:sp>
        <p:nvSpPr>
          <p:cNvPr id="13" name="Line 13">
            <a:extLst>
              <a:ext uri="{FF2B5EF4-FFF2-40B4-BE49-F238E27FC236}">
                <a16:creationId xmlns:a16="http://schemas.microsoft.com/office/drawing/2014/main" id="{60E681B3-CBF7-496B-A878-901B2087C797}"/>
              </a:ext>
            </a:extLst>
          </p:cNvPr>
          <p:cNvSpPr>
            <a:spLocks noChangeShapeType="1"/>
          </p:cNvSpPr>
          <p:nvPr/>
        </p:nvSpPr>
        <p:spPr bwMode="auto">
          <a:xfrm>
            <a:off x="5794375" y="39544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4" name="Rectangle 14">
            <a:extLst>
              <a:ext uri="{FF2B5EF4-FFF2-40B4-BE49-F238E27FC236}">
                <a16:creationId xmlns:a16="http://schemas.microsoft.com/office/drawing/2014/main" id="{3B24B608-0C36-4362-9314-ED74D055F07E}"/>
              </a:ext>
            </a:extLst>
          </p:cNvPr>
          <p:cNvSpPr>
            <a:spLocks noChangeArrowheads="1"/>
          </p:cNvSpPr>
          <p:nvPr/>
        </p:nvSpPr>
        <p:spPr bwMode="auto">
          <a:xfrm>
            <a:off x="7394575" y="38020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聆听不要指导</a:t>
            </a:r>
          </a:p>
        </p:txBody>
      </p:sp>
      <p:sp>
        <p:nvSpPr>
          <p:cNvPr id="15" name="Line 15">
            <a:extLst>
              <a:ext uri="{FF2B5EF4-FFF2-40B4-BE49-F238E27FC236}">
                <a16:creationId xmlns:a16="http://schemas.microsoft.com/office/drawing/2014/main" id="{8A08681E-052E-4103-A487-C90EB849B97D}"/>
              </a:ext>
            </a:extLst>
          </p:cNvPr>
          <p:cNvSpPr>
            <a:spLocks noChangeShapeType="1"/>
          </p:cNvSpPr>
          <p:nvPr/>
        </p:nvSpPr>
        <p:spPr bwMode="auto">
          <a:xfrm>
            <a:off x="5794375" y="34210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6" name="Rectangle 16">
            <a:extLst>
              <a:ext uri="{FF2B5EF4-FFF2-40B4-BE49-F238E27FC236}">
                <a16:creationId xmlns:a16="http://schemas.microsoft.com/office/drawing/2014/main" id="{4AB068D8-0B2D-4BAD-BF7F-9ECD745EC3B5}"/>
              </a:ext>
            </a:extLst>
          </p:cNvPr>
          <p:cNvSpPr>
            <a:spLocks noChangeArrowheads="1"/>
          </p:cNvSpPr>
          <p:nvPr/>
        </p:nvSpPr>
        <p:spPr bwMode="auto">
          <a:xfrm>
            <a:off x="7394575" y="32686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两个人去访谈</a:t>
            </a:r>
          </a:p>
        </p:txBody>
      </p:sp>
      <p:sp>
        <p:nvSpPr>
          <p:cNvPr id="17" name="Line 17">
            <a:extLst>
              <a:ext uri="{FF2B5EF4-FFF2-40B4-BE49-F238E27FC236}">
                <a16:creationId xmlns:a16="http://schemas.microsoft.com/office/drawing/2014/main" id="{99F32A62-68AE-497A-B013-EC707560CA77}"/>
              </a:ext>
            </a:extLst>
          </p:cNvPr>
          <p:cNvSpPr>
            <a:spLocks noChangeShapeType="1"/>
          </p:cNvSpPr>
          <p:nvPr/>
        </p:nvSpPr>
        <p:spPr bwMode="auto">
          <a:xfrm>
            <a:off x="7242175" y="2811463"/>
            <a:ext cx="1524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8" name="Rectangle 18">
            <a:extLst>
              <a:ext uri="{FF2B5EF4-FFF2-40B4-BE49-F238E27FC236}">
                <a16:creationId xmlns:a16="http://schemas.microsoft.com/office/drawing/2014/main" id="{07D2A864-7184-4048-A0E9-7254DE76E859}"/>
              </a:ext>
            </a:extLst>
          </p:cNvPr>
          <p:cNvSpPr>
            <a:spLocks noChangeArrowheads="1"/>
          </p:cNvSpPr>
          <p:nvPr/>
        </p:nvSpPr>
        <p:spPr bwMode="auto">
          <a:xfrm>
            <a:off x="7394575" y="2616200"/>
            <a:ext cx="2362200"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Arial" panose="020B0604020202020204" pitchFamily="34" charset="0"/>
                <a:ea typeface="黑体" panose="02010609060101010101" pitchFamily="49" charset="-122"/>
              </a:rPr>
              <a:t>让被访者上司安排</a:t>
            </a:r>
          </a:p>
        </p:txBody>
      </p:sp>
      <p:sp>
        <p:nvSpPr>
          <p:cNvPr id="19" name="Line 19">
            <a:extLst>
              <a:ext uri="{FF2B5EF4-FFF2-40B4-BE49-F238E27FC236}">
                <a16:creationId xmlns:a16="http://schemas.microsoft.com/office/drawing/2014/main" id="{31AC7CA2-0124-4594-9EF6-E911BC36F995}"/>
              </a:ext>
            </a:extLst>
          </p:cNvPr>
          <p:cNvSpPr>
            <a:spLocks noChangeShapeType="1"/>
          </p:cNvSpPr>
          <p:nvPr/>
        </p:nvSpPr>
        <p:spPr bwMode="auto">
          <a:xfrm>
            <a:off x="5794375" y="56308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20" name="Rectangle 20">
            <a:extLst>
              <a:ext uri="{FF2B5EF4-FFF2-40B4-BE49-F238E27FC236}">
                <a16:creationId xmlns:a16="http://schemas.microsoft.com/office/drawing/2014/main" id="{C0FBB05A-902E-435A-82C5-07CB798323AD}"/>
              </a:ext>
            </a:extLst>
          </p:cNvPr>
          <p:cNvSpPr>
            <a:spLocks noChangeArrowheads="1"/>
          </p:cNvSpPr>
          <p:nvPr/>
        </p:nvSpPr>
        <p:spPr bwMode="auto">
          <a:xfrm>
            <a:off x="7394575" y="54403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不要问太多</a:t>
            </a:r>
          </a:p>
        </p:txBody>
      </p:sp>
      <p:sp>
        <p:nvSpPr>
          <p:cNvPr id="21" name="内容占位符 2">
            <a:extLst>
              <a:ext uri="{FF2B5EF4-FFF2-40B4-BE49-F238E27FC236}">
                <a16:creationId xmlns:a16="http://schemas.microsoft.com/office/drawing/2014/main" id="{C4369FE1-F709-420D-85C2-59EBB115E012}"/>
              </a:ext>
            </a:extLst>
          </p:cNvPr>
          <p:cNvSpPr txBox="1">
            <a:spLocks noChangeArrowheads="1"/>
          </p:cNvSpPr>
          <p:nvPr/>
        </p:nvSpPr>
        <p:spPr bwMode="auto">
          <a:xfrm>
            <a:off x="701675" y="1334571"/>
            <a:ext cx="3390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R="0" lvl="0" algn="l" defTabSz="914400" rtl="0" eaLnBrk="0" fontAlgn="base" latinLnBrk="0" hangingPunct="0">
              <a:lnSpc>
                <a:spcPct val="100000"/>
              </a:lnSpc>
              <a:spcBef>
                <a:spcPct val="20000"/>
              </a:spcBef>
              <a:spcAft>
                <a:spcPct val="0"/>
              </a:spcAft>
              <a:buClrTx/>
              <a:buSzTx/>
              <a:buFont typeface="Wingdings" panose="05000000000000000000" pitchFamily="2" charset="2"/>
              <a:buChar char="l"/>
              <a:tabLst/>
              <a:defRPr/>
            </a:pPr>
            <a:r>
              <a:rPr kumimoji="0" lang="zh-CN" altLang="en-US" sz="2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访谈</a:t>
            </a:r>
            <a:r>
              <a:rPr kumimoji="0" lang="en-US" altLang="zh-CN" sz="2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0" lang="zh-CN" altLang="en-US" sz="2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麦肯锡方法</a:t>
            </a:r>
          </a:p>
        </p:txBody>
      </p:sp>
    </p:spTree>
    <p:extLst>
      <p:ext uri="{BB962C8B-B14F-4D97-AF65-F5344CB8AC3E}">
        <p14:creationId xmlns:p14="http://schemas.microsoft.com/office/powerpoint/2010/main" val="3572539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4AF6D0-AA66-4839-AB02-63DAE9810E5F}"/>
              </a:ext>
            </a:extLst>
          </p:cNvPr>
          <p:cNvSpPr>
            <a:spLocks noGrp="1"/>
          </p:cNvSpPr>
          <p:nvPr>
            <p:ph type="title"/>
          </p:nvPr>
        </p:nvSpPr>
        <p:spPr/>
        <p:txBody>
          <a:bodyPr/>
          <a:lstStyle/>
          <a:p>
            <a:r>
              <a:rPr lang="en-US" altLang="zh-CN" dirty="0"/>
              <a:t>11.3 </a:t>
            </a:r>
            <a:r>
              <a:rPr lang="zh-CN" altLang="en-US" dirty="0"/>
              <a:t>项目需求收集</a:t>
            </a:r>
          </a:p>
        </p:txBody>
      </p:sp>
      <p:sp>
        <p:nvSpPr>
          <p:cNvPr id="4" name="文本框 3">
            <a:extLst>
              <a:ext uri="{FF2B5EF4-FFF2-40B4-BE49-F238E27FC236}">
                <a16:creationId xmlns:a16="http://schemas.microsoft.com/office/drawing/2014/main" id="{98CD529C-EC9A-4476-8C3A-7C4787A6F851}"/>
              </a:ext>
            </a:extLst>
          </p:cNvPr>
          <p:cNvSpPr txBox="1"/>
          <p:nvPr/>
        </p:nvSpPr>
        <p:spPr>
          <a:xfrm>
            <a:off x="613885" y="1748337"/>
            <a:ext cx="11153942" cy="2592505"/>
          </a:xfrm>
          <a:prstGeom prst="rect">
            <a:avLst/>
          </a:prstGeom>
          <a:noFill/>
        </p:spPr>
        <p:txBody>
          <a:bodyPr wrap="square">
            <a:spAutoFit/>
          </a:bodyPr>
          <a:lstStyle/>
          <a:p>
            <a:pPr marR="0" lvl="0" algn="l" defTabSz="914400" rtl="0" eaLnBrk="1" fontAlgn="base" latinLnBrk="0" hangingPunct="1">
              <a:lnSpc>
                <a:spcPct val="150000"/>
              </a:lnSpc>
              <a:spcBef>
                <a:spcPct val="20000"/>
              </a:spcBef>
              <a:spcAft>
                <a:spcPct val="0"/>
              </a:spcAft>
              <a:buClrTx/>
              <a:buSzTx/>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下列哪个最好地描述了头脑风暴会的特点？</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在会议上，团队成员的主意会根据优势、劣势、机会、威胁来组织</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在没有讨论和批判的情况下想法和念头得到收集。这些想法只有在会议结束才过滤和组织</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团队成员戴不同色彩的帽子，每个代表一种思考方式，他们从自己的观点来讨论某个主题</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D.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项目经理会议期间要根除偏离的主题和概念，这样整个团队都将遵循项目经理的原则</a:t>
            </a:r>
          </a:p>
        </p:txBody>
      </p:sp>
    </p:spTree>
    <p:extLst>
      <p:ext uri="{BB962C8B-B14F-4D97-AF65-F5344CB8AC3E}">
        <p14:creationId xmlns:p14="http://schemas.microsoft.com/office/powerpoint/2010/main" val="266033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3BD484-8596-4F00-9A95-19EDDFD37CFA}"/>
              </a:ext>
            </a:extLst>
          </p:cNvPr>
          <p:cNvSpPr>
            <a:spLocks noGrp="1"/>
          </p:cNvSpPr>
          <p:nvPr>
            <p:ph type="title"/>
          </p:nvPr>
        </p:nvSpPr>
        <p:spPr/>
        <p:txBody>
          <a:bodyPr/>
          <a:lstStyle/>
          <a:p>
            <a:r>
              <a:rPr lang="en-US" altLang="zh-CN" dirty="0"/>
              <a:t>11.3 </a:t>
            </a:r>
            <a:r>
              <a:rPr lang="zh-CN" altLang="en-US" dirty="0"/>
              <a:t>项目需求收集</a:t>
            </a:r>
          </a:p>
        </p:txBody>
      </p:sp>
      <p:sp>
        <p:nvSpPr>
          <p:cNvPr id="6" name="文本框 5">
            <a:extLst>
              <a:ext uri="{FF2B5EF4-FFF2-40B4-BE49-F238E27FC236}">
                <a16:creationId xmlns:a16="http://schemas.microsoft.com/office/drawing/2014/main" id="{C14B32BC-7391-4D5E-98E3-298A36209E02}"/>
              </a:ext>
            </a:extLst>
          </p:cNvPr>
          <p:cNvSpPr txBox="1"/>
          <p:nvPr/>
        </p:nvSpPr>
        <p:spPr>
          <a:xfrm>
            <a:off x="613885" y="1600256"/>
            <a:ext cx="10972800" cy="3970318"/>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数据分析</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文件分析：</a:t>
            </a: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审核和评估任何相关的文件信息，通过分析现有文件，识别与需求相关的信息来获取需求。</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lvl="1"/>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主要文件：</a:t>
            </a: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协议；商业计划；业务流程或接口文档；业务规则库；现行流程；市场文献；问题日志；政策和程序；法规文件，如法律、准则、法令等；建议邀请书；用例。</a:t>
            </a:r>
          </a:p>
          <a:p>
            <a:pPr marL="342900" indent="-342900" algn="just">
              <a:buFont typeface="Wingdings" panose="05000000000000000000" pitchFamily="2" charset="2"/>
              <a:buChar char="Ø"/>
              <a:defRPr/>
            </a:pPr>
            <a:r>
              <a:rPr lang="zh-CN" altLang="en-US" sz="2400" b="1" dirty="0">
                <a:solidFill>
                  <a:srgbClr val="FF0000"/>
                </a:solidFill>
                <a:latin typeface="微软雅黑" panose="020B0503020204020204" pitchFamily="34" charset="-122"/>
                <a:ea typeface="微软雅黑" panose="020B0503020204020204" pitchFamily="34" charset="-122"/>
              </a:rPr>
              <a:t>主要决策技术</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投票：</a:t>
            </a:r>
            <a:r>
              <a:rPr lang="zh-CN" altLang="en-US" sz="2000" b="0" i="0" u="none" strike="noStrike" baseline="0" dirty="0">
                <a:latin typeface="SourceHanSansSC-Regular"/>
              </a:rPr>
              <a:t>一致同意</a:t>
            </a:r>
            <a:r>
              <a:rPr lang="en-US" altLang="zh-CN" sz="2000" b="0" i="0" u="none" strike="noStrike" baseline="0" dirty="0">
                <a:latin typeface="SourceHanSansSC-Regular"/>
              </a:rPr>
              <a:t>/</a:t>
            </a:r>
            <a:r>
              <a:rPr lang="zh-CN" altLang="en-US" sz="2000" b="0" i="0" u="none" strike="noStrike" baseline="0" dirty="0">
                <a:latin typeface="SourceHanSansSC-Regular"/>
              </a:rPr>
              <a:t>大多数同意</a:t>
            </a:r>
            <a:r>
              <a:rPr lang="en-US" altLang="zh-CN" sz="2000" b="0" i="0" u="none" strike="noStrike" baseline="0" dirty="0">
                <a:latin typeface="SourceHanSansSC-Regular"/>
              </a:rPr>
              <a:t>/</a:t>
            </a:r>
            <a:r>
              <a:rPr lang="zh-CN" altLang="en-US" sz="2000" b="0" i="0" u="none" strike="noStrike" baseline="0" dirty="0">
                <a:latin typeface="SourceHanSansSC-Regular"/>
              </a:rPr>
              <a:t>相对多数同意</a:t>
            </a:r>
            <a:endParaRPr lang="en-US" altLang="zh-CN" sz="2000" b="0" i="0" u="none" strike="noStrike" baseline="0" dirty="0">
              <a:latin typeface="SourceHanSansSC-Regular"/>
            </a:endParaRP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独裁型决策制定</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多标准决策分析</a:t>
            </a:r>
          </a:p>
          <a:p>
            <a:pPr marL="342900" marR="0" lvl="0" indent="-342900" algn="just" fontAlgn="auto">
              <a:lnSpc>
                <a:spcPct val="100000"/>
              </a:lnSpc>
              <a:spcBef>
                <a:spcPts val="0"/>
              </a:spcBef>
              <a:spcAft>
                <a:spcPts val="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主要数据表现方法</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亲和图</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思维导图</a:t>
            </a:r>
          </a:p>
        </p:txBody>
      </p:sp>
    </p:spTree>
    <p:extLst>
      <p:ext uri="{BB962C8B-B14F-4D97-AF65-F5344CB8AC3E}">
        <p14:creationId xmlns:p14="http://schemas.microsoft.com/office/powerpoint/2010/main" val="4229107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AEF875-F8E3-42B8-AA82-B0B160864247}"/>
              </a:ext>
            </a:extLst>
          </p:cNvPr>
          <p:cNvSpPr>
            <a:spLocks noGrp="1"/>
          </p:cNvSpPr>
          <p:nvPr>
            <p:ph type="title"/>
          </p:nvPr>
        </p:nvSpPr>
        <p:spPr/>
        <p:txBody>
          <a:bodyPr/>
          <a:lstStyle/>
          <a:p>
            <a:r>
              <a:rPr lang="en-US" altLang="zh-CN" dirty="0"/>
              <a:t>11.3 </a:t>
            </a:r>
            <a:r>
              <a:rPr lang="zh-CN" altLang="en-US" dirty="0"/>
              <a:t>项目需求收集</a:t>
            </a:r>
          </a:p>
        </p:txBody>
      </p:sp>
      <p:sp>
        <p:nvSpPr>
          <p:cNvPr id="5" name="文本框 4">
            <a:extLst>
              <a:ext uri="{FF2B5EF4-FFF2-40B4-BE49-F238E27FC236}">
                <a16:creationId xmlns:a16="http://schemas.microsoft.com/office/drawing/2014/main" id="{484065DA-0E15-47A2-95F3-A9BA237AD732}"/>
              </a:ext>
            </a:extLst>
          </p:cNvPr>
          <p:cNvSpPr txBox="1"/>
          <p:nvPr/>
        </p:nvSpPr>
        <p:spPr>
          <a:xfrm>
            <a:off x="613885" y="1410704"/>
            <a:ext cx="3524978" cy="46166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2400" b="1" dirty="0">
                <a:latin typeface="微软雅黑" panose="020B0503020204020204" pitchFamily="34" charset="-122"/>
                <a:ea typeface="微软雅黑" panose="020B0503020204020204" pitchFamily="34" charset="-122"/>
                <a:cs typeface="Times New Roman" pitchFamily="18" charset="0"/>
              </a:rPr>
              <a:t>亲和图 示例</a:t>
            </a:r>
          </a:p>
        </p:txBody>
      </p:sp>
      <p:sp>
        <p:nvSpPr>
          <p:cNvPr id="7" name="文本框 6">
            <a:extLst>
              <a:ext uri="{FF2B5EF4-FFF2-40B4-BE49-F238E27FC236}">
                <a16:creationId xmlns:a16="http://schemas.microsoft.com/office/drawing/2014/main" id="{B68A302A-B7EA-4E68-8EAD-7125C441E9D8}"/>
              </a:ext>
            </a:extLst>
          </p:cNvPr>
          <p:cNvSpPr txBox="1"/>
          <p:nvPr/>
        </p:nvSpPr>
        <p:spPr>
          <a:xfrm>
            <a:off x="613885" y="2096000"/>
            <a:ext cx="4740167" cy="2785378"/>
          </a:xfrm>
          <a:prstGeom prst="rect">
            <a:avLst/>
          </a:prstGeom>
          <a:noFill/>
        </p:spPr>
        <p:txBody>
          <a:bodyPr wrap="square">
            <a:spAutoFit/>
          </a:bodyPr>
          <a:lstStyle/>
          <a:p>
            <a:pPr>
              <a:spcAft>
                <a:spcPts val="600"/>
              </a:spcAft>
            </a:pPr>
            <a:r>
              <a:rPr lang="en-US" altLang="zh-CN" sz="2000" dirty="0"/>
              <a:t>· </a:t>
            </a:r>
            <a:r>
              <a:rPr lang="zh-CN" altLang="en-US" sz="2000" b="1" dirty="0">
                <a:solidFill>
                  <a:srgbClr val="0070C0"/>
                </a:solidFill>
              </a:rPr>
              <a:t>主题</a:t>
            </a:r>
            <a:r>
              <a:rPr lang="zh-CN" altLang="en-US" sz="2000" dirty="0"/>
              <a:t>：</a:t>
            </a:r>
            <a:r>
              <a:rPr lang="zh-CN" altLang="en-US" sz="2000" b="1" dirty="0"/>
              <a:t>针对非洲市场开发一种护具产品</a:t>
            </a:r>
          </a:p>
          <a:p>
            <a:pPr>
              <a:spcAft>
                <a:spcPts val="600"/>
              </a:spcAft>
            </a:pPr>
            <a:r>
              <a:rPr lang="en-US" altLang="zh-CN" sz="2000" b="1" dirty="0"/>
              <a:t>· </a:t>
            </a:r>
            <a:r>
              <a:rPr lang="zh-CN" altLang="en-US" sz="2000" b="1" dirty="0">
                <a:solidFill>
                  <a:srgbClr val="0070C0"/>
                </a:solidFill>
              </a:rPr>
              <a:t>头脑风暴，收集资料</a:t>
            </a:r>
            <a:endParaRPr lang="en-US" altLang="zh-CN" sz="2000" b="1" dirty="0">
              <a:solidFill>
                <a:srgbClr val="0070C0"/>
              </a:solidFill>
            </a:endParaRPr>
          </a:p>
          <a:p>
            <a:pPr>
              <a:spcAft>
                <a:spcPts val="600"/>
              </a:spcAft>
            </a:pPr>
            <a:r>
              <a:rPr lang="en-US" altLang="zh-CN" sz="2000" b="1" dirty="0"/>
              <a:t>1</a:t>
            </a:r>
            <a:r>
              <a:rPr lang="zh-CN" altLang="en-US" sz="2000" b="1" dirty="0"/>
              <a:t>保健功能；</a:t>
            </a:r>
            <a:r>
              <a:rPr lang="en-US" altLang="zh-CN" sz="2000" b="1" dirty="0"/>
              <a:t>2</a:t>
            </a:r>
            <a:r>
              <a:rPr lang="zh-CN" altLang="en-US" sz="2000" b="1" dirty="0"/>
              <a:t>不要涂点；</a:t>
            </a:r>
            <a:r>
              <a:rPr lang="en-US" altLang="zh-CN" sz="2000" b="1" dirty="0"/>
              <a:t>3</a:t>
            </a:r>
            <a:r>
              <a:rPr lang="zh-CN" altLang="en-US" sz="2000" b="1" dirty="0"/>
              <a:t>透气性要好，适应非洲；</a:t>
            </a:r>
            <a:r>
              <a:rPr lang="en-US" altLang="zh-CN" sz="2000" b="1" dirty="0"/>
              <a:t>4</a:t>
            </a:r>
            <a:r>
              <a:rPr lang="zh-CN" altLang="en-US" sz="2000" b="1" dirty="0"/>
              <a:t>尺码；</a:t>
            </a:r>
            <a:r>
              <a:rPr lang="en-US" altLang="zh-CN" sz="2000" b="1" dirty="0"/>
              <a:t>5</a:t>
            </a:r>
            <a:r>
              <a:rPr lang="zh-CN" altLang="en-US" sz="2000" b="1" dirty="0"/>
              <a:t>款式新的；</a:t>
            </a:r>
            <a:r>
              <a:rPr lang="en-US" altLang="zh-CN" sz="2000" b="1" dirty="0"/>
              <a:t>6</a:t>
            </a:r>
            <a:r>
              <a:rPr lang="zh-CN" altLang="en-US" sz="2000" b="1" dirty="0"/>
              <a:t>舒适性好；</a:t>
            </a:r>
            <a:r>
              <a:rPr lang="en-US" altLang="zh-CN" sz="2000" b="1" dirty="0"/>
              <a:t>7</a:t>
            </a:r>
            <a:r>
              <a:rPr lang="zh-CN" altLang="en-US" sz="2000" b="1" dirty="0"/>
              <a:t>植物蛋白；</a:t>
            </a:r>
            <a:r>
              <a:rPr lang="en-US" altLang="zh-CN" sz="2000" b="1" dirty="0"/>
              <a:t>8</a:t>
            </a:r>
            <a:r>
              <a:rPr lang="zh-CN" altLang="en-US" sz="2000" b="1" dirty="0"/>
              <a:t>专利；</a:t>
            </a:r>
            <a:r>
              <a:rPr lang="en-US" altLang="zh-CN" sz="2000" b="1" dirty="0"/>
              <a:t>9</a:t>
            </a:r>
            <a:r>
              <a:rPr lang="zh-CN" altLang="en-US" sz="2000" b="1" dirty="0"/>
              <a:t>磁功能护具；</a:t>
            </a:r>
            <a:r>
              <a:rPr lang="en-US" altLang="zh-CN" sz="2000" b="1" dirty="0"/>
              <a:t>10</a:t>
            </a:r>
            <a:r>
              <a:rPr lang="zh-CN" altLang="en-US" sz="2000" b="1" dirty="0"/>
              <a:t>竹炭护具；</a:t>
            </a:r>
            <a:r>
              <a:rPr lang="en-US" altLang="zh-CN" sz="2000" b="1" dirty="0"/>
              <a:t>11</a:t>
            </a:r>
            <a:r>
              <a:rPr lang="zh-CN" altLang="en-US" sz="2000" b="1" dirty="0"/>
              <a:t>不能是后处理；</a:t>
            </a:r>
            <a:r>
              <a:rPr lang="en-US" altLang="zh-CN" sz="2000" b="1" dirty="0"/>
              <a:t>12</a:t>
            </a:r>
            <a:r>
              <a:rPr lang="zh-CN" altLang="en-US" sz="2000" b="1" dirty="0"/>
              <a:t>不要市场上的同类产品；</a:t>
            </a:r>
            <a:r>
              <a:rPr lang="en-US" altLang="zh-CN" sz="2000" b="1" dirty="0"/>
              <a:t>13</a:t>
            </a:r>
            <a:r>
              <a:rPr lang="zh-CN" altLang="en-US" sz="2000" b="1" dirty="0"/>
              <a:t>宣传理论；</a:t>
            </a:r>
          </a:p>
          <a:p>
            <a:pPr>
              <a:spcAft>
                <a:spcPts val="600"/>
              </a:spcAft>
            </a:pPr>
            <a:r>
              <a:rPr lang="en-US" altLang="zh-CN" sz="2000" b="1" dirty="0"/>
              <a:t>· </a:t>
            </a:r>
            <a:r>
              <a:rPr lang="zh-CN" altLang="en-US" sz="2000" b="1" dirty="0">
                <a:solidFill>
                  <a:srgbClr val="0070C0"/>
                </a:solidFill>
              </a:rPr>
              <a:t>分类</a:t>
            </a:r>
            <a:r>
              <a:rPr lang="en-US" altLang="zh-CN" sz="2000" b="1" dirty="0">
                <a:solidFill>
                  <a:srgbClr val="0070C0"/>
                </a:solidFill>
              </a:rPr>
              <a:t>——</a:t>
            </a:r>
            <a:r>
              <a:rPr lang="zh-CN" altLang="en-US" sz="2000" b="1" dirty="0">
                <a:solidFill>
                  <a:srgbClr val="0070C0"/>
                </a:solidFill>
              </a:rPr>
              <a:t>归纳</a:t>
            </a:r>
            <a:r>
              <a:rPr lang="en-US" altLang="zh-CN" sz="2000" b="1" dirty="0">
                <a:solidFill>
                  <a:srgbClr val="0070C0"/>
                </a:solidFill>
              </a:rPr>
              <a:t>——</a:t>
            </a:r>
            <a:r>
              <a:rPr lang="zh-CN" altLang="en-US" sz="2000" b="1" dirty="0">
                <a:solidFill>
                  <a:srgbClr val="0070C0"/>
                </a:solidFill>
              </a:rPr>
              <a:t>整理</a:t>
            </a:r>
          </a:p>
        </p:txBody>
      </p:sp>
      <p:pic>
        <p:nvPicPr>
          <p:cNvPr id="8" name="图片 7">
            <a:extLst>
              <a:ext uri="{FF2B5EF4-FFF2-40B4-BE49-F238E27FC236}">
                <a16:creationId xmlns:a16="http://schemas.microsoft.com/office/drawing/2014/main" id="{4EC0BBA7-620F-4F76-80A1-2FDD1CB95B70}"/>
              </a:ext>
            </a:extLst>
          </p:cNvPr>
          <p:cNvPicPr>
            <a:picLocks noChangeAspect="1"/>
          </p:cNvPicPr>
          <p:nvPr/>
        </p:nvPicPr>
        <p:blipFill rotWithShape="1">
          <a:blip r:embed="rId3"/>
          <a:srcRect l="1462" t="14561" r="8509" b="1766"/>
          <a:stretch/>
        </p:blipFill>
        <p:spPr>
          <a:xfrm>
            <a:off x="5354052" y="1648740"/>
            <a:ext cx="6376738" cy="4444967"/>
          </a:xfrm>
          <a:prstGeom prst="rect">
            <a:avLst/>
          </a:prstGeom>
        </p:spPr>
      </p:pic>
    </p:spTree>
    <p:extLst>
      <p:ext uri="{BB962C8B-B14F-4D97-AF65-F5344CB8AC3E}">
        <p14:creationId xmlns:p14="http://schemas.microsoft.com/office/powerpoint/2010/main" val="2198212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477AC7-17A4-4931-A54D-094ACB6BF950}"/>
              </a:ext>
            </a:extLst>
          </p:cNvPr>
          <p:cNvSpPr>
            <a:spLocks noGrp="1"/>
          </p:cNvSpPr>
          <p:nvPr>
            <p:ph type="title"/>
          </p:nvPr>
        </p:nvSpPr>
        <p:spPr>
          <a:xfrm>
            <a:off x="609599" y="652742"/>
            <a:ext cx="10972800" cy="437186"/>
          </a:xfrm>
        </p:spPr>
        <p:txBody>
          <a:bodyPr/>
          <a:lstStyle/>
          <a:p>
            <a:r>
              <a:rPr lang="en-US" altLang="zh-CN" sz="2400" dirty="0"/>
              <a:t>PMBOK</a:t>
            </a:r>
            <a:r>
              <a:rPr lang="zh-CN" altLang="en-US" sz="2400" dirty="0"/>
              <a:t>（第</a:t>
            </a:r>
            <a:r>
              <a:rPr lang="en-US" altLang="zh-CN" sz="2400" dirty="0"/>
              <a:t>6</a:t>
            </a:r>
            <a:r>
              <a:rPr lang="zh-CN" altLang="en-US" sz="2400" dirty="0"/>
              <a:t>版）十大知识领域思维导图（总览图）</a:t>
            </a:r>
            <a:endParaRPr lang="zh-CN" altLang="en-US" dirty="0"/>
          </a:p>
        </p:txBody>
      </p:sp>
      <p:pic>
        <p:nvPicPr>
          <p:cNvPr id="4" name="图片 3">
            <a:extLst>
              <a:ext uri="{FF2B5EF4-FFF2-40B4-BE49-F238E27FC236}">
                <a16:creationId xmlns:a16="http://schemas.microsoft.com/office/drawing/2014/main" id="{3BB2F591-027F-41D7-A354-B4FBC89726D1}"/>
              </a:ext>
            </a:extLst>
          </p:cNvPr>
          <p:cNvPicPr>
            <a:picLocks noChangeAspect="1"/>
          </p:cNvPicPr>
          <p:nvPr/>
        </p:nvPicPr>
        <p:blipFill>
          <a:blip r:embed="rId3"/>
          <a:stretch>
            <a:fillRect/>
          </a:stretch>
        </p:blipFill>
        <p:spPr>
          <a:xfrm>
            <a:off x="1465686" y="1089928"/>
            <a:ext cx="9260627" cy="5541744"/>
          </a:xfrm>
          <a:prstGeom prst="rect">
            <a:avLst/>
          </a:prstGeom>
        </p:spPr>
      </p:pic>
    </p:spTree>
    <p:extLst>
      <p:ext uri="{BB962C8B-B14F-4D97-AF65-F5344CB8AC3E}">
        <p14:creationId xmlns:p14="http://schemas.microsoft.com/office/powerpoint/2010/main" val="219872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FB4681-CAAB-4C69-94D7-AECB1D5254BE}"/>
              </a:ext>
            </a:extLst>
          </p:cNvPr>
          <p:cNvSpPr>
            <a:spLocks noGrp="1"/>
          </p:cNvSpPr>
          <p:nvPr>
            <p:ph type="title"/>
          </p:nvPr>
        </p:nvSpPr>
        <p:spPr/>
        <p:txBody>
          <a:bodyPr/>
          <a:lstStyle/>
          <a:p>
            <a:pPr algn="l"/>
            <a:r>
              <a:rPr lang="zh-CN" altLang="en-US" b="1" i="0" dirty="0">
                <a:solidFill>
                  <a:srgbClr val="222226"/>
                </a:solidFill>
                <a:effectLst/>
                <a:latin typeface="PingFang SC"/>
              </a:rPr>
              <a:t>思维导图示例：需求设计</a:t>
            </a:r>
            <a:br>
              <a:rPr lang="zh-CN" altLang="en-US" b="1" i="0" dirty="0">
                <a:solidFill>
                  <a:srgbClr val="222226"/>
                </a:solidFill>
                <a:effectLst/>
                <a:latin typeface="PingFang SC"/>
              </a:rPr>
            </a:br>
            <a:endParaRPr lang="zh-CN" altLang="en-US" dirty="0"/>
          </a:p>
        </p:txBody>
      </p:sp>
      <p:grpSp>
        <p:nvGrpSpPr>
          <p:cNvPr id="19" name="组合 18">
            <a:extLst>
              <a:ext uri="{FF2B5EF4-FFF2-40B4-BE49-F238E27FC236}">
                <a16:creationId xmlns:a16="http://schemas.microsoft.com/office/drawing/2014/main" id="{AE44B222-C6EB-4560-972C-05E81A1A90CD}"/>
              </a:ext>
            </a:extLst>
          </p:cNvPr>
          <p:cNvGrpSpPr/>
          <p:nvPr/>
        </p:nvGrpSpPr>
        <p:grpSpPr>
          <a:xfrm>
            <a:off x="4506355" y="426118"/>
            <a:ext cx="4470958" cy="5940508"/>
            <a:chOff x="4506355" y="426118"/>
            <a:chExt cx="4470958" cy="5940508"/>
          </a:xfrm>
        </p:grpSpPr>
        <p:pic>
          <p:nvPicPr>
            <p:cNvPr id="8" name="图片 7">
              <a:extLst>
                <a:ext uri="{FF2B5EF4-FFF2-40B4-BE49-F238E27FC236}">
                  <a16:creationId xmlns:a16="http://schemas.microsoft.com/office/drawing/2014/main" id="{CBA47924-482C-4E7D-84F7-DB5F2062121C}"/>
                </a:ext>
              </a:extLst>
            </p:cNvPr>
            <p:cNvPicPr>
              <a:picLocks noChangeAspect="1"/>
            </p:cNvPicPr>
            <p:nvPr/>
          </p:nvPicPr>
          <p:blipFill>
            <a:blip r:embed="rId3"/>
            <a:stretch>
              <a:fillRect/>
            </a:stretch>
          </p:blipFill>
          <p:spPr>
            <a:xfrm>
              <a:off x="4552699" y="426118"/>
              <a:ext cx="2800601" cy="1865087"/>
            </a:xfrm>
            <a:prstGeom prst="rect">
              <a:avLst/>
            </a:prstGeom>
          </p:spPr>
        </p:pic>
        <p:pic>
          <p:nvPicPr>
            <p:cNvPr id="10" name="图片 9">
              <a:extLst>
                <a:ext uri="{FF2B5EF4-FFF2-40B4-BE49-F238E27FC236}">
                  <a16:creationId xmlns:a16="http://schemas.microsoft.com/office/drawing/2014/main" id="{2FD1B2B1-29B3-4097-B3B3-F548F373B0CA}"/>
                </a:ext>
              </a:extLst>
            </p:cNvPr>
            <p:cNvPicPr>
              <a:picLocks noChangeAspect="1"/>
            </p:cNvPicPr>
            <p:nvPr/>
          </p:nvPicPr>
          <p:blipFill>
            <a:blip r:embed="rId4"/>
            <a:stretch>
              <a:fillRect/>
            </a:stretch>
          </p:blipFill>
          <p:spPr>
            <a:xfrm>
              <a:off x="4506355" y="2291205"/>
              <a:ext cx="3090349" cy="1865087"/>
            </a:xfrm>
            <a:prstGeom prst="rect">
              <a:avLst/>
            </a:prstGeom>
          </p:spPr>
        </p:pic>
        <p:pic>
          <p:nvPicPr>
            <p:cNvPr id="14" name="图片 13">
              <a:extLst>
                <a:ext uri="{FF2B5EF4-FFF2-40B4-BE49-F238E27FC236}">
                  <a16:creationId xmlns:a16="http://schemas.microsoft.com/office/drawing/2014/main" id="{A789FC6C-57A4-4E9D-A9F8-B91CE0A19DDD}"/>
                </a:ext>
              </a:extLst>
            </p:cNvPr>
            <p:cNvPicPr>
              <a:picLocks noChangeAspect="1"/>
            </p:cNvPicPr>
            <p:nvPr/>
          </p:nvPicPr>
          <p:blipFill>
            <a:blip r:embed="rId5"/>
            <a:stretch>
              <a:fillRect/>
            </a:stretch>
          </p:blipFill>
          <p:spPr>
            <a:xfrm>
              <a:off x="4760687" y="4125409"/>
              <a:ext cx="3185418" cy="2241217"/>
            </a:xfrm>
            <a:prstGeom prst="rect">
              <a:avLst/>
            </a:prstGeom>
          </p:spPr>
        </p:pic>
        <p:pic>
          <p:nvPicPr>
            <p:cNvPr id="16" name="图片 15">
              <a:extLst>
                <a:ext uri="{FF2B5EF4-FFF2-40B4-BE49-F238E27FC236}">
                  <a16:creationId xmlns:a16="http://schemas.microsoft.com/office/drawing/2014/main" id="{E9F6F1E3-89B0-4A14-B61A-8EFCA0201C76}"/>
                </a:ext>
              </a:extLst>
            </p:cNvPr>
            <p:cNvPicPr>
              <a:picLocks noChangeAspect="1"/>
            </p:cNvPicPr>
            <p:nvPr/>
          </p:nvPicPr>
          <p:blipFill>
            <a:blip r:embed="rId6"/>
            <a:stretch>
              <a:fillRect/>
            </a:stretch>
          </p:blipFill>
          <p:spPr>
            <a:xfrm>
              <a:off x="7558602" y="2433642"/>
              <a:ext cx="1418711" cy="1611733"/>
            </a:xfrm>
            <a:prstGeom prst="rect">
              <a:avLst/>
            </a:prstGeom>
          </p:spPr>
        </p:pic>
        <p:pic>
          <p:nvPicPr>
            <p:cNvPr id="18" name="图片 17">
              <a:extLst>
                <a:ext uri="{FF2B5EF4-FFF2-40B4-BE49-F238E27FC236}">
                  <a16:creationId xmlns:a16="http://schemas.microsoft.com/office/drawing/2014/main" id="{DB57FCC1-3D32-477A-BEE3-F5504CA95220}"/>
                </a:ext>
              </a:extLst>
            </p:cNvPr>
            <p:cNvPicPr>
              <a:picLocks noChangeAspect="1"/>
            </p:cNvPicPr>
            <p:nvPr/>
          </p:nvPicPr>
          <p:blipFill>
            <a:blip r:embed="rId7"/>
            <a:stretch>
              <a:fillRect/>
            </a:stretch>
          </p:blipFill>
          <p:spPr>
            <a:xfrm>
              <a:off x="7939167" y="5419725"/>
              <a:ext cx="547162" cy="82794"/>
            </a:xfrm>
            <a:prstGeom prst="rect">
              <a:avLst/>
            </a:prstGeom>
          </p:spPr>
        </p:pic>
      </p:grpSp>
    </p:spTree>
    <p:extLst>
      <p:ext uri="{BB962C8B-B14F-4D97-AF65-F5344CB8AC3E}">
        <p14:creationId xmlns:p14="http://schemas.microsoft.com/office/powerpoint/2010/main" val="814016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3BD484-8596-4F00-9A95-19EDDFD37CFA}"/>
              </a:ext>
            </a:extLst>
          </p:cNvPr>
          <p:cNvSpPr>
            <a:spLocks noGrp="1"/>
          </p:cNvSpPr>
          <p:nvPr>
            <p:ph type="title"/>
          </p:nvPr>
        </p:nvSpPr>
        <p:spPr/>
        <p:txBody>
          <a:bodyPr/>
          <a:lstStyle/>
          <a:p>
            <a:r>
              <a:rPr lang="en-US" altLang="zh-CN" dirty="0"/>
              <a:t>11.3 </a:t>
            </a:r>
            <a:r>
              <a:rPr lang="zh-CN" altLang="en-US" dirty="0"/>
              <a:t>项目需求收集</a:t>
            </a:r>
          </a:p>
        </p:txBody>
      </p:sp>
      <p:sp>
        <p:nvSpPr>
          <p:cNvPr id="6" name="文本框 5">
            <a:extLst>
              <a:ext uri="{FF2B5EF4-FFF2-40B4-BE49-F238E27FC236}">
                <a16:creationId xmlns:a16="http://schemas.microsoft.com/office/drawing/2014/main" id="{C14B32BC-7391-4D5E-98E3-298A36209E02}"/>
              </a:ext>
            </a:extLst>
          </p:cNvPr>
          <p:cNvSpPr txBox="1"/>
          <p:nvPr/>
        </p:nvSpPr>
        <p:spPr>
          <a:xfrm>
            <a:off x="830179" y="1479940"/>
            <a:ext cx="10287000" cy="3924151"/>
          </a:xfrm>
          <a:prstGeom prst="rect">
            <a:avLst/>
          </a:prstGeom>
          <a:noFill/>
        </p:spPr>
        <p:txBody>
          <a:bodyPr wrap="square">
            <a:spAutoFit/>
          </a:bodyPr>
          <a:lstStyle/>
          <a:p>
            <a:pPr indent="-342900" algn="just">
              <a:spcAft>
                <a:spcPts val="600"/>
              </a:spcAft>
              <a:buFont typeface="Wingdings" panose="05000000000000000000" pitchFamily="2" charset="2"/>
              <a:buChar char="Ø"/>
              <a:defRPr/>
            </a:pPr>
            <a:r>
              <a:rPr lang="zh-CN" altLang="en-US" sz="2400" b="1" dirty="0">
                <a:solidFill>
                  <a:srgbClr val="FF0000"/>
                </a:solidFill>
                <a:latin typeface="微软雅黑" panose="020B0503020204020204" pitchFamily="34" charset="-122"/>
                <a:ea typeface="微软雅黑" panose="020B0503020204020204" pitchFamily="34" charset="-122"/>
              </a:rPr>
              <a:t>人际关系与团队技能</a:t>
            </a: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名义小组技术</a:t>
            </a:r>
            <a:endPar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      </a:t>
            </a:r>
            <a:r>
              <a:rPr lang="zh-CN" altLang="en-US" sz="2000" b="1" dirty="0">
                <a:latin typeface="微软雅黑" panose="020B0503020204020204" pitchFamily="34" charset="-122"/>
                <a:ea typeface="微软雅黑" panose="020B0503020204020204" pitchFamily="34" charset="-122"/>
              </a:rPr>
              <a:t>通过投票排列最有用的创意，以便进一步开展头脑风暴或优先排序。</a:t>
            </a: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观察</a:t>
            </a: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交谈</a:t>
            </a:r>
            <a:endPar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i="0" u="none" strike="noStrike" baseline="0" dirty="0">
                <a:solidFill>
                  <a:srgbClr val="0070C0"/>
                </a:solidFill>
                <a:latin typeface="微软雅黑" panose="020B0503020204020204" pitchFamily="34" charset="-122"/>
                <a:ea typeface="微软雅黑" panose="020B0503020204020204" pitchFamily="34" charset="-122"/>
                <a:cs typeface="Times New Roman" pitchFamily="18" charset="0"/>
              </a:rPr>
              <a:t>      </a:t>
            </a:r>
            <a:r>
              <a:rPr lang="zh-CN" altLang="en-US" sz="2000" b="1" i="0" u="none" strike="noStrike" baseline="0" dirty="0">
                <a:latin typeface="微软雅黑" panose="020B0503020204020204" pitchFamily="34" charset="-122"/>
                <a:ea typeface="微软雅黑" panose="020B0503020204020204" pitchFamily="34" charset="-122"/>
              </a:rPr>
              <a:t>观察和交谈是指直接察看个人在各自的环境中如何执行工作（或任务）和实施流程。</a:t>
            </a:r>
            <a:endPar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引导</a:t>
            </a:r>
            <a:endPar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      </a:t>
            </a:r>
            <a:r>
              <a:rPr lang="zh-CN" altLang="en-US" sz="2000" b="1" dirty="0">
                <a:latin typeface="微软雅黑" panose="020B0503020204020204" pitchFamily="34" charset="-122"/>
                <a:ea typeface="微软雅黑" panose="020B0503020204020204" pitchFamily="34" charset="-122"/>
              </a:rPr>
              <a:t>引导与主题研讨会结合使用，把主要相关方召集在一起定义产品需求。</a:t>
            </a:r>
            <a:endParaRPr lang="en-US" altLang="zh-CN" sz="2000" b="1" dirty="0">
              <a:latin typeface="微软雅黑" panose="020B0503020204020204" pitchFamily="34" charset="-122"/>
              <a:ea typeface="微软雅黑" panose="020B0503020204020204" pitchFamily="34" charset="-122"/>
            </a:endParaRPr>
          </a:p>
          <a:p>
            <a:pPr marR="0" lvl="0" indent="0" algn="just" defTabSz="914400" rtl="0" eaLnBrk="1" fontAlgn="auto" latinLnBrk="0" hangingPunct="1">
              <a:spcAft>
                <a:spcPts val="600"/>
              </a:spcAft>
              <a:buClrTx/>
              <a:buSzTx/>
              <a:buFontTx/>
              <a:buNone/>
              <a:tabLst/>
              <a:defRPr/>
            </a:pP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sz="2000" b="1" i="0" u="none" strike="noStrike" baseline="0" dirty="0">
                <a:solidFill>
                  <a:srgbClr val="0070C0"/>
                </a:solidFill>
                <a:latin typeface="微软雅黑" panose="020B0503020204020204" pitchFamily="34" charset="-122"/>
                <a:ea typeface="微软雅黑" panose="020B0503020204020204" pitchFamily="34" charset="-122"/>
              </a:rPr>
              <a:t>联合应用设计或开发 </a:t>
            </a:r>
            <a:r>
              <a:rPr lang="en-US" altLang="zh-CN" sz="2000" b="1" i="1" u="none" strike="noStrike" baseline="0" dirty="0">
                <a:solidFill>
                  <a:srgbClr val="0070C0"/>
                </a:solidFill>
                <a:latin typeface="微软雅黑" panose="020B0503020204020204" pitchFamily="34" charset="-122"/>
                <a:ea typeface="微软雅黑" panose="020B0503020204020204" pitchFamily="34" charset="-122"/>
              </a:rPr>
              <a:t>(JAD),</a:t>
            </a:r>
            <a:r>
              <a:rPr lang="zh-CN" altLang="en-US" sz="2000" b="0" i="0" u="none" strike="noStrike" baseline="0" dirty="0">
                <a:latin typeface="微软雅黑" panose="020B0503020204020204" pitchFamily="34" charset="-122"/>
                <a:ea typeface="微软雅黑" panose="020B0503020204020204" pitchFamily="34" charset="-122"/>
              </a:rPr>
              <a:t>适用于软件开发行业收集需求和改进软件开发过程</a:t>
            </a:r>
            <a:endParaRPr lang="en-US" altLang="zh-CN" sz="2000" b="1" i="1" u="none" strike="noStrike" baseline="0" dirty="0">
              <a:solidFill>
                <a:srgbClr val="0070C0"/>
              </a:solidFill>
              <a:latin typeface="微软雅黑" panose="020B0503020204020204" pitchFamily="34" charset="-122"/>
              <a:ea typeface="微软雅黑" panose="020B0503020204020204" pitchFamily="34" charset="-122"/>
            </a:endParaRPr>
          </a:p>
          <a:p>
            <a:pPr marR="0" lvl="0" indent="0" algn="just" defTabSz="914400" rtl="0" eaLnBrk="1" fontAlgn="auto" latinLnBrk="0" hangingPunct="1">
              <a:spcAft>
                <a:spcPts val="600"/>
              </a:spcAft>
              <a:buClrTx/>
              <a:buSzTx/>
              <a:buFontTx/>
              <a:buNone/>
              <a:tabLst/>
              <a:defRPr/>
            </a:pPr>
            <a:r>
              <a:rPr lang="en-US" altLang="zh-CN" sz="2000" b="1" i="1" dirty="0">
                <a:solidFill>
                  <a:srgbClr val="0070C0"/>
                </a:solidFill>
                <a:latin typeface="微软雅黑" panose="020B0503020204020204" pitchFamily="34" charset="-122"/>
                <a:ea typeface="微软雅黑" panose="020B0503020204020204" pitchFamily="34" charset="-122"/>
              </a:rPr>
              <a:t>	</a:t>
            </a:r>
            <a:r>
              <a:rPr lang="zh-CN" altLang="en-US" sz="2000" b="1" i="0" u="none" strike="noStrike" baseline="0" dirty="0">
                <a:solidFill>
                  <a:srgbClr val="0070C0"/>
                </a:solidFill>
                <a:latin typeface="微软雅黑" panose="020B0503020204020204" pitchFamily="34" charset="-122"/>
                <a:ea typeface="微软雅黑" panose="020B0503020204020204" pitchFamily="34" charset="-122"/>
              </a:rPr>
              <a:t>质量功能展开 </a:t>
            </a:r>
            <a:r>
              <a:rPr lang="en-US" altLang="zh-CN" sz="2000" b="1" i="1" u="none" strike="noStrike" baseline="0" dirty="0">
                <a:solidFill>
                  <a:srgbClr val="0070C0"/>
                </a:solidFill>
                <a:latin typeface="微软雅黑" panose="020B0503020204020204" pitchFamily="34" charset="-122"/>
                <a:ea typeface="微软雅黑" panose="020B0503020204020204" pitchFamily="34" charset="-122"/>
              </a:rPr>
              <a:t>(QFD),</a:t>
            </a:r>
            <a:r>
              <a:rPr lang="zh-CN" altLang="en-US" sz="2000" b="0" i="0" u="none" strike="noStrike" baseline="0" dirty="0">
                <a:latin typeface="微软雅黑" panose="020B0503020204020204" pitchFamily="34" charset="-122"/>
                <a:ea typeface="微软雅黑" panose="020B0503020204020204" pitchFamily="34" charset="-122"/>
              </a:rPr>
              <a:t>制造行业则采用 </a:t>
            </a:r>
            <a:r>
              <a:rPr lang="en-US" altLang="zh-CN" sz="2000" b="0" i="0" u="none" strike="noStrike" baseline="0" dirty="0">
                <a:latin typeface="微软雅黑" panose="020B0503020204020204" pitchFamily="34" charset="-122"/>
                <a:ea typeface="微软雅黑" panose="020B0503020204020204" pitchFamily="34" charset="-122"/>
              </a:rPr>
              <a:t>QFD </a:t>
            </a:r>
            <a:r>
              <a:rPr lang="zh-CN" altLang="en-US" sz="2000" b="0" i="0" u="none" strike="noStrike" baseline="0" dirty="0">
                <a:latin typeface="微软雅黑" panose="020B0503020204020204" pitchFamily="34" charset="-122"/>
                <a:ea typeface="微软雅黑" panose="020B0503020204020204" pitchFamily="34" charset="-122"/>
              </a:rPr>
              <a:t>来帮助确定新产品的关键特征</a:t>
            </a:r>
            <a:endParaRPr lang="en-US" altLang="zh-CN" sz="2000" b="1" i="1" u="none" strike="noStrike" baseline="0" dirty="0">
              <a:solidFill>
                <a:srgbClr val="0070C0"/>
              </a:solidFill>
              <a:latin typeface="微软雅黑" panose="020B0503020204020204" pitchFamily="34" charset="-122"/>
              <a:ea typeface="微软雅黑" panose="020B0503020204020204" pitchFamily="34" charset="-122"/>
            </a:endParaRPr>
          </a:p>
          <a:p>
            <a:pPr marR="0" lvl="0" indent="0" algn="just" defTabSz="914400" rtl="0" eaLnBrk="1" fontAlgn="auto" latinLnBrk="0" hangingPunct="1">
              <a:spcAft>
                <a:spcPts val="600"/>
              </a:spcAft>
              <a:buClrTx/>
              <a:buSzTx/>
              <a:buFontTx/>
              <a:buNone/>
              <a:tabLst/>
              <a:defRPr/>
            </a:pPr>
            <a:r>
              <a:rPr lang="en-US" altLang="zh-CN" sz="2000" b="1" i="0" u="none" strike="noStrike" baseline="0" dirty="0">
                <a:solidFill>
                  <a:srgbClr val="0070C0"/>
                </a:solidFill>
                <a:latin typeface="微软雅黑" panose="020B0503020204020204" pitchFamily="34" charset="-122"/>
                <a:ea typeface="微软雅黑" panose="020B0503020204020204" pitchFamily="34" charset="-122"/>
              </a:rPr>
              <a:t>	</a:t>
            </a:r>
            <a:r>
              <a:rPr lang="zh-CN" altLang="en-US" sz="2000" b="1" i="0" u="none" strike="noStrike" baseline="0" dirty="0">
                <a:solidFill>
                  <a:srgbClr val="0070C0"/>
                </a:solidFill>
                <a:latin typeface="微软雅黑" panose="020B0503020204020204" pitchFamily="34" charset="-122"/>
                <a:ea typeface="微软雅黑" panose="020B0503020204020204" pitchFamily="34" charset="-122"/>
              </a:rPr>
              <a:t>用户故事</a:t>
            </a:r>
            <a:r>
              <a:rPr lang="en-US" altLang="zh-CN" sz="2000" b="1" i="0" u="none" strike="noStrike" baseline="0" dirty="0">
                <a:solidFill>
                  <a:srgbClr val="0070C0"/>
                </a:solidFill>
                <a:latin typeface="微软雅黑" panose="020B0503020204020204" pitchFamily="34" charset="-122"/>
                <a:ea typeface="微软雅黑" panose="020B0503020204020204" pitchFamily="34" charset="-122"/>
              </a:rPr>
              <a:t>,</a:t>
            </a:r>
            <a:r>
              <a:rPr lang="zh-CN" altLang="en-US" sz="2000" b="0" i="0" u="none" strike="noStrike" baseline="0" dirty="0">
                <a:latin typeface="微软雅黑" panose="020B0503020204020204" pitchFamily="34" charset="-122"/>
                <a:ea typeface="微软雅黑" panose="020B0503020204020204" pitchFamily="34" charset="-122"/>
              </a:rPr>
              <a:t>是对所需功能的简短文字描述，经常产生于需求研讨会</a:t>
            </a:r>
            <a:endParaRPr lang="zh-CN" altLang="en-US" sz="20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0685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A4703A-3FBA-44C3-A0C7-F476D22DA2C1}"/>
              </a:ext>
            </a:extLst>
          </p:cNvPr>
          <p:cNvSpPr>
            <a:spLocks noGrp="1"/>
          </p:cNvSpPr>
          <p:nvPr>
            <p:ph type="title"/>
          </p:nvPr>
        </p:nvSpPr>
        <p:spPr/>
        <p:txBody>
          <a:bodyPr/>
          <a:lstStyle/>
          <a:p>
            <a:r>
              <a:rPr lang="en-US" altLang="zh-CN" dirty="0"/>
              <a:t>11.3 </a:t>
            </a:r>
            <a:r>
              <a:rPr lang="zh-CN" altLang="en-US" dirty="0"/>
              <a:t>项目需求收集</a:t>
            </a:r>
          </a:p>
        </p:txBody>
      </p:sp>
      <p:sp>
        <p:nvSpPr>
          <p:cNvPr id="3" name="文本框 2">
            <a:extLst>
              <a:ext uri="{FF2B5EF4-FFF2-40B4-BE49-F238E27FC236}">
                <a16:creationId xmlns:a16="http://schemas.microsoft.com/office/drawing/2014/main" id="{B8ADFAC5-60F8-4642-8AFD-E261DA453861}"/>
              </a:ext>
            </a:extLst>
          </p:cNvPr>
          <p:cNvSpPr txBox="1"/>
          <p:nvPr/>
        </p:nvSpPr>
        <p:spPr>
          <a:xfrm>
            <a:off x="644190" y="1624319"/>
            <a:ext cx="4908884" cy="4031873"/>
          </a:xfrm>
          <a:prstGeom prst="rect">
            <a:avLst/>
          </a:prstGeom>
          <a:noFill/>
        </p:spPr>
        <p:txBody>
          <a:bodyPr wrap="square">
            <a:spAutoFit/>
          </a:bodyPr>
          <a:lstStyle/>
          <a:p>
            <a:pPr marR="0" lvl="0" indent="-342900" algn="just" fontAlgn="auto">
              <a:spcAft>
                <a:spcPts val="60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系统交互图</a:t>
            </a:r>
            <a:endParaRPr lang="en-US" altLang="zh-CN" sz="2400" b="1" dirty="0">
              <a:solidFill>
                <a:srgbClr val="FF0000"/>
              </a:solidFill>
              <a:latin typeface="微软雅黑" panose="020B0503020204020204" pitchFamily="34" charset="-122"/>
              <a:ea typeface="微软雅黑" panose="020B0503020204020204" pitchFamily="34" charset="-122"/>
            </a:endParaRPr>
          </a:p>
          <a:p>
            <a:pPr algn="l">
              <a:spcAft>
                <a:spcPts val="600"/>
              </a:spcAft>
            </a:pPr>
            <a:r>
              <a:rPr lang="en-US" altLang="zh-CN" sz="2800" b="1" i="0" u="none" strike="noStrike" baseline="0" dirty="0">
                <a:solidFill>
                  <a:srgbClr val="FF0000"/>
                </a:solidFill>
                <a:latin typeface="微软雅黑" panose="020B0503020204020204" pitchFamily="34" charset="-122"/>
                <a:ea typeface="微软雅黑" panose="020B0503020204020204" pitchFamily="34" charset="-122"/>
              </a:rPr>
              <a:t>    </a:t>
            </a:r>
            <a:r>
              <a:rPr lang="zh-CN" altLang="en-US" sz="2000" i="0" u="none" strike="noStrike" baseline="0" dirty="0">
                <a:latin typeface="微软雅黑" panose="020B0503020204020204" pitchFamily="34" charset="-122"/>
                <a:ea typeface="微软雅黑" panose="020B0503020204020204" pitchFamily="34" charset="-122"/>
              </a:rPr>
              <a:t>是范围模型的一个例子，它是对产品范围的可视化描绘，显示业务系统（过程、设备、计算机系统等）及其与人和其他系统（行动者）之间的交互方式</a:t>
            </a:r>
            <a:endParaRPr lang="zh-CN" altLang="en-US" sz="2800" dirty="0">
              <a:solidFill>
                <a:srgbClr val="FF0000"/>
              </a:solidFill>
              <a:latin typeface="微软雅黑" panose="020B0503020204020204" pitchFamily="34" charset="-122"/>
              <a:ea typeface="微软雅黑" panose="020B0503020204020204" pitchFamily="34" charset="-122"/>
            </a:endParaRPr>
          </a:p>
          <a:p>
            <a:pPr marR="0" lvl="0" indent="-342900" algn="just" fontAlgn="auto">
              <a:spcAft>
                <a:spcPts val="60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原型法</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R="0" lvl="0" indent="0" algn="just" fontAlgn="auto">
              <a:spcAft>
                <a:spcPts val="600"/>
              </a:spcAft>
              <a:buClrTx/>
              <a:buSzTx/>
              <a:buFontTx/>
              <a:buNone/>
              <a:tabLst/>
              <a:defRPr/>
            </a:pPr>
            <a:r>
              <a:rPr lang="zh-CN" altLang="en-US"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原型法是指在实际制造预期产品之前，先造出该产品的模型，并据此征求对需求的早期反馈</a:t>
            </a:r>
            <a:endParaRPr lang="en-US" altLang="zh-CN" sz="2000" dirty="0">
              <a:latin typeface="微软雅黑" panose="020B0503020204020204" pitchFamily="34" charset="-122"/>
              <a:ea typeface="微软雅黑" panose="020B0503020204020204" pitchFamily="34" charset="-122"/>
            </a:endParaRPr>
          </a:p>
          <a:p>
            <a:pPr marR="0" lvl="0" indent="0" algn="just" fontAlgn="auto">
              <a:spcAft>
                <a:spcPts val="600"/>
              </a:spcAft>
              <a:buClrTx/>
              <a:buSzTx/>
              <a:buFontTx/>
              <a:buNone/>
              <a:tabLst/>
              <a:defRPr/>
            </a:pPr>
            <a:r>
              <a:rPr lang="zh-CN" altLang="en-US" sz="2000" b="1" i="0" u="none" strike="noStrike" baseline="0" dirty="0">
                <a:latin typeface="SourceHanSansSC-Regular"/>
              </a:rPr>
              <a:t>     故事板</a:t>
            </a:r>
            <a:r>
              <a:rPr lang="zh-CN" altLang="en-US" sz="2000" b="0" i="0" u="none" strike="noStrike" baseline="0" dirty="0">
                <a:latin typeface="SourceHanSansSC-Regular"/>
              </a:rPr>
              <a:t>是一种原型技术，通过一系列的图像或图示来展示顺序或导航路径</a:t>
            </a:r>
            <a:endParaRPr lang="zh-CN" altLang="en-US" sz="200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C785E597-7A29-488C-939B-922C010AAB7D}"/>
              </a:ext>
            </a:extLst>
          </p:cNvPr>
          <p:cNvPicPr>
            <a:picLocks noChangeAspect="1"/>
          </p:cNvPicPr>
          <p:nvPr/>
        </p:nvPicPr>
        <p:blipFill>
          <a:blip r:embed="rId3"/>
          <a:stretch>
            <a:fillRect/>
          </a:stretch>
        </p:blipFill>
        <p:spPr>
          <a:xfrm>
            <a:off x="6096000" y="1264462"/>
            <a:ext cx="5451810" cy="4829245"/>
          </a:xfrm>
          <a:prstGeom prst="rect">
            <a:avLst/>
          </a:prstGeom>
        </p:spPr>
      </p:pic>
    </p:spTree>
    <p:extLst>
      <p:ext uri="{BB962C8B-B14F-4D97-AF65-F5344CB8AC3E}">
        <p14:creationId xmlns:p14="http://schemas.microsoft.com/office/powerpoint/2010/main" val="324175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3" name="内容占位符 2">
            <a:extLst>
              <a:ext uri="{FF2B5EF4-FFF2-40B4-BE49-F238E27FC236}">
                <a16:creationId xmlns:a16="http://schemas.microsoft.com/office/drawing/2014/main" id="{345E77B5-4AC2-4C59-B29A-62CB05F7C5AC}"/>
              </a:ext>
            </a:extLst>
          </p:cNvPr>
          <p:cNvSpPr txBox="1">
            <a:spLocks/>
          </p:cNvSpPr>
          <p:nvPr/>
        </p:nvSpPr>
        <p:spPr>
          <a:xfrm>
            <a:off x="566738" y="1314450"/>
            <a:ext cx="11133426" cy="5179868"/>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项目范围定义</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界定</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的概念</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项目范围</a:t>
            </a:r>
            <a:r>
              <a:rPr lang="zh-CN" altLang="en-US" sz="2400" dirty="0">
                <a:latin typeface="微软雅黑" panose="020B0503020204020204" pitchFamily="34" charset="-122"/>
                <a:ea typeface="微软雅黑" panose="020B0503020204020204" pitchFamily="34" charset="-122"/>
              </a:rPr>
              <a:t>定义</a:t>
            </a:r>
            <a:r>
              <a:rPr lang="zh-CN" altLang="zh-CN" sz="2400" dirty="0">
                <a:solidFill>
                  <a:schemeClr val="accent1"/>
                </a:solidFill>
                <a:latin typeface="微软雅黑" panose="020B0503020204020204" pitchFamily="34" charset="-122"/>
                <a:ea typeface="微软雅黑" panose="020B0503020204020204" pitchFamily="34" charset="-122"/>
              </a:rPr>
              <a:t>是项目范围管理的核心</a:t>
            </a:r>
            <a:r>
              <a:rPr lang="zh-CN" altLang="zh-CN" sz="2400" dirty="0">
                <a:latin typeface="微软雅黑" panose="020B0503020204020204" pitchFamily="34" charset="-122"/>
                <a:ea typeface="微软雅黑" panose="020B0503020204020204" pitchFamily="34" charset="-122"/>
              </a:rPr>
              <a:t>，以项目范围规划的成果为依据，是把项目的主要可交付成果进一步分解为更小、更容易管理的单元。</a:t>
            </a:r>
            <a:endParaRPr lang="en-US" altLang="zh-CN" sz="2400"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定义范围的依据（输入）</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定义范围的工具与技术</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定义范围的成果（输出）</a:t>
            </a:r>
          </a:p>
          <a:p>
            <a:pPr marL="0" indent="0">
              <a:lnSpc>
                <a:spcPts val="3600"/>
              </a:lnSpc>
              <a:buFont typeface="Wingdings" pitchFamily="2" charset="2"/>
              <a:buNone/>
              <a:defRPr/>
            </a:pPr>
            <a:endParaRPr lang="zh-CN" altLang="en-US"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sz="2400" dirty="0">
              <a:latin typeface="Times New Roman" pitchFamily="18" charset="0"/>
              <a:ea typeface="黑体" pitchFamily="49" charset="-122"/>
              <a:cs typeface="Times New Roman" pitchFamily="18" charset="0"/>
            </a:endParaRPr>
          </a:p>
        </p:txBody>
      </p:sp>
      <p:pic>
        <p:nvPicPr>
          <p:cNvPr id="4" name="图片 3">
            <a:extLst>
              <a:ext uri="{FF2B5EF4-FFF2-40B4-BE49-F238E27FC236}">
                <a16:creationId xmlns:a16="http://schemas.microsoft.com/office/drawing/2014/main" id="{8BD113D3-3829-4633-842A-658CB4E23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0518" y="3189175"/>
            <a:ext cx="867727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95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8" name="内容占位符 2">
            <a:extLst>
              <a:ext uri="{FF2B5EF4-FFF2-40B4-BE49-F238E27FC236}">
                <a16:creationId xmlns:a16="http://schemas.microsoft.com/office/drawing/2014/main" id="{9D6DD01D-6921-41C9-A9FD-491A4AD635DF}"/>
              </a:ext>
            </a:extLst>
          </p:cNvPr>
          <p:cNvSpPr txBox="1">
            <a:spLocks/>
          </p:cNvSpPr>
          <p:nvPr/>
        </p:nvSpPr>
        <p:spPr>
          <a:xfrm>
            <a:off x="566738" y="1314449"/>
            <a:ext cx="11091862" cy="511752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300"/>
              </a:spcBef>
              <a:buFont typeface="Wingdings" pitchFamily="2" charset="2"/>
              <a:buNone/>
            </a:pPr>
            <a:r>
              <a:rPr lang="zh-CN" altLang="zh-CN" sz="2400" b="1" dirty="0">
                <a:latin typeface="微软雅黑" panose="020B0503020204020204" pitchFamily="34" charset="-122"/>
                <a:ea typeface="微软雅黑" panose="020B0503020204020204" pitchFamily="34" charset="-122"/>
                <a:cs typeface="Times New Roman" pitchFamily="18" charset="0"/>
              </a:rPr>
              <a:t>项目范围说明书编制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(1) </a:t>
            </a:r>
            <a:r>
              <a:rPr lang="zh-CN" altLang="zh-CN" sz="2000" dirty="0">
                <a:latin typeface="微软雅黑" panose="020B0503020204020204" pitchFamily="34" charset="-122"/>
                <a:ea typeface="微软雅黑" panose="020B0503020204020204" pitchFamily="34" charset="-122"/>
                <a:cs typeface="Times New Roman" pitchFamily="18" charset="0"/>
              </a:rPr>
              <a:t>项目初步范围说明书</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300"/>
              </a:spcBef>
              <a:buFont typeface="Wingdings" pitchFamily="2" charset="2"/>
              <a:buChar char="Ø"/>
            </a:pPr>
            <a:r>
              <a:rPr lang="zh-CN" altLang="zh-CN" dirty="0">
                <a:latin typeface="微软雅黑" panose="020B0503020204020204" pitchFamily="34" charset="-122"/>
                <a:ea typeface="微软雅黑" panose="020B0503020204020204" pitchFamily="34" charset="-122"/>
                <a:cs typeface="Times New Roman" pitchFamily="18" charset="0"/>
              </a:rPr>
              <a:t>项目范围说明书是根据项目章程和项目相关利益主体的需求和期望，描述了项目、项目产品和项目工作的特征、边界、验收标准与控制方法等内容。</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(2) </a:t>
            </a:r>
            <a:r>
              <a:rPr lang="zh-CN" altLang="zh-CN" sz="2000" dirty="0">
                <a:latin typeface="微软雅黑" panose="020B0503020204020204" pitchFamily="34" charset="-122"/>
                <a:ea typeface="微软雅黑" panose="020B0503020204020204" pitchFamily="34" charset="-122"/>
                <a:cs typeface="Times New Roman" pitchFamily="18" charset="0"/>
              </a:rPr>
              <a:t>项目范围说明书编制依据</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项目章程</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项目管理计划</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577975" lvl="3" indent="-285750">
              <a:lnSpc>
                <a:spcPts val="2800"/>
              </a:lnSpc>
              <a:spcBef>
                <a:spcPts val="0"/>
              </a:spcBef>
            </a:pPr>
            <a:r>
              <a:rPr lang="zh-CN" altLang="en-US" sz="1800" dirty="0">
                <a:latin typeface="Times New Roman" panose="02020603050405020304" pitchFamily="18" charset="0"/>
              </a:rPr>
              <a:t>范围管理计划</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项目文件</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577975" lvl="3" indent="-285750">
              <a:lnSpc>
                <a:spcPts val="2800"/>
              </a:lnSpc>
              <a:spcBef>
                <a:spcPts val="0"/>
              </a:spcBef>
            </a:pPr>
            <a:r>
              <a:rPr lang="zh-CN" altLang="en-US" sz="1800" dirty="0">
                <a:latin typeface="Times New Roman" panose="02020603050405020304" pitchFamily="18" charset="0"/>
              </a:rPr>
              <a:t>假设日志</a:t>
            </a:r>
            <a:r>
              <a:rPr lang="en-US" altLang="zh-CN" sz="1800" dirty="0">
                <a:latin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需求文件</a:t>
            </a:r>
            <a:r>
              <a:rPr lang="en-US" altLang="zh-CN" dirty="0">
                <a:latin typeface="微软雅黑" panose="020B0503020204020204" pitchFamily="34" charset="-122"/>
                <a:ea typeface="微软雅黑" panose="020B0503020204020204" pitchFamily="34" charset="-122"/>
                <a:cs typeface="Times New Roman" pitchFamily="18" charset="0"/>
              </a:rPr>
              <a:t>(</a:t>
            </a:r>
            <a:r>
              <a:rPr lang="zh-CN" altLang="en-US" dirty="0">
                <a:latin typeface="微软雅黑" panose="020B0503020204020204" pitchFamily="34" charset="-122"/>
                <a:ea typeface="微软雅黑" panose="020B0503020204020204" pitchFamily="34" charset="-122"/>
                <a:cs typeface="Times New Roman" pitchFamily="18" charset="0"/>
              </a:rPr>
              <a:t>需求分析报告</a:t>
            </a:r>
            <a:r>
              <a:rPr lang="en-US" altLang="zh-CN" dirty="0">
                <a:latin typeface="微软雅黑" panose="020B0503020204020204" pitchFamily="34" charset="-122"/>
                <a:ea typeface="微软雅黑" panose="020B0503020204020204" pitchFamily="34" charset="-122"/>
                <a:cs typeface="Times New Roman" pitchFamily="18" charset="0"/>
              </a:rPr>
              <a:t>),</a:t>
            </a:r>
            <a:r>
              <a:rPr lang="zh-CN" altLang="en-US" sz="1800" dirty="0">
                <a:latin typeface="Times New Roman" panose="02020603050405020304" pitchFamily="18" charset="0"/>
              </a:rPr>
              <a:t>风险登记册</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项目的环境因素</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577975" lvl="3" indent="-285750">
              <a:lnSpc>
                <a:spcPts val="2800"/>
              </a:lnSpc>
              <a:spcBef>
                <a:spcPts val="0"/>
              </a:spcBef>
            </a:pPr>
            <a:r>
              <a:rPr lang="zh-CN" altLang="en-US" sz="1800" b="0" i="0" u="none" strike="noStrike" baseline="0" dirty="0">
                <a:latin typeface="SourceHanSansSC-Regular"/>
              </a:rPr>
              <a:t>组织文化</a:t>
            </a:r>
            <a:r>
              <a:rPr lang="en-US" altLang="zh-CN" sz="1800" b="0" i="0" u="none" strike="noStrike" baseline="0" dirty="0">
                <a:latin typeface="SourceHanSansSC-Regular"/>
              </a:rPr>
              <a:t>, </a:t>
            </a:r>
            <a:r>
              <a:rPr lang="zh-CN" altLang="en-US" sz="1800" b="0" i="0" u="none" strike="noStrike" baseline="0" dirty="0">
                <a:latin typeface="SourceHanSansSC-Regular"/>
              </a:rPr>
              <a:t>基础设施</a:t>
            </a:r>
            <a:r>
              <a:rPr lang="en-US" altLang="zh-CN" sz="1800" b="0" i="0" u="none" strike="noStrike" baseline="0" dirty="0">
                <a:latin typeface="SourceHanSansSC-Regular"/>
              </a:rPr>
              <a:t>,</a:t>
            </a:r>
            <a:r>
              <a:rPr lang="zh-CN" altLang="en-US" sz="1800" b="0" i="0" u="none" strike="noStrike" baseline="0" dirty="0">
                <a:latin typeface="SourceHanSansSC-Regular"/>
              </a:rPr>
              <a:t>人事管理制度</a:t>
            </a:r>
            <a:r>
              <a:rPr lang="en-US" altLang="zh-CN" sz="1800" b="0" i="0" u="none" strike="noStrike" baseline="0" dirty="0">
                <a:latin typeface="SourceHanSansSC-Regular"/>
              </a:rPr>
              <a:t>,</a:t>
            </a:r>
            <a:r>
              <a:rPr lang="zh-CN" altLang="en-US" sz="1800" b="0" i="0" u="none" strike="noStrike" baseline="0" dirty="0">
                <a:latin typeface="SourceHanSansSC-Regular"/>
              </a:rPr>
              <a:t>市场条件</a:t>
            </a:r>
            <a:endParaRPr lang="zh-CN" altLang="en-US"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组织过程资产</a:t>
            </a:r>
            <a:endParaRPr lang="en-US" altLang="zh-CN" dirty="0">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406167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3" name="Rectangle 2">
            <a:extLst>
              <a:ext uri="{FF2B5EF4-FFF2-40B4-BE49-F238E27FC236}">
                <a16:creationId xmlns:a16="http://schemas.microsoft.com/office/drawing/2014/main" id="{045A0377-2A98-4E36-8D14-38276D51880E}"/>
              </a:ext>
            </a:extLst>
          </p:cNvPr>
          <p:cNvSpPr txBox="1">
            <a:spLocks noChangeArrowheads="1"/>
          </p:cNvSpPr>
          <p:nvPr/>
        </p:nvSpPr>
        <p:spPr>
          <a:xfrm>
            <a:off x="467870" y="1301755"/>
            <a:ext cx="11451987" cy="468244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项目范围说明书的作用</a:t>
            </a:r>
            <a:endParaRPr lang="en-US" altLang="zh-CN" sz="2400" b="1" dirty="0"/>
          </a:p>
          <a:p>
            <a:pPr lvl="1"/>
            <a:r>
              <a:rPr lang="zh-CN" altLang="zh-CN" sz="2000" dirty="0"/>
              <a:t>对项目范围、主要可交付成果、假设条件和制约因素的描述。</a:t>
            </a:r>
          </a:p>
          <a:p>
            <a:pPr lvl="1"/>
            <a:r>
              <a:rPr lang="zh-CN" altLang="zh-CN" sz="2000" dirty="0"/>
              <a:t>记录了整个范围包括项目和产品范围。</a:t>
            </a:r>
          </a:p>
          <a:p>
            <a:pPr lvl="1"/>
            <a:r>
              <a:rPr lang="zh-CN" altLang="zh-CN" sz="2000" dirty="0"/>
              <a:t>详细描述项目的可交付成果，以及为创建这些可交付成果而必须开展的工作。</a:t>
            </a:r>
            <a:r>
              <a:rPr lang="en-US" altLang="zh-CN" sz="2000" dirty="0"/>
              <a:t> </a:t>
            </a:r>
            <a:endParaRPr lang="zh-CN" altLang="zh-CN" sz="2000" dirty="0"/>
          </a:p>
          <a:p>
            <a:pPr lvl="1"/>
            <a:r>
              <a:rPr lang="zh-CN" altLang="zh-CN" sz="2000" dirty="0"/>
              <a:t>可明确指出那些不属于本项目范围。</a:t>
            </a:r>
            <a:endParaRPr lang="en-US" altLang="zh-CN" sz="2000" dirty="0"/>
          </a:p>
          <a:p>
            <a:pPr lvl="1"/>
            <a:r>
              <a:rPr lang="zh-CN" altLang="en-US" sz="2000" b="0" i="0" u="none" strike="noStrike" baseline="0" dirty="0">
                <a:latin typeface="SourceHanSansSC-Regular"/>
              </a:rPr>
              <a:t>使项目团队能进行更详细的规划，在执行过程中指导项目团队的工作，并为评价变更请求或额外工作是否超过项目边界提供基准</a:t>
            </a:r>
            <a:endParaRPr lang="en-US" altLang="zh-CN" sz="2000" dirty="0"/>
          </a:p>
          <a:p>
            <a:pPr marL="0" indent="0">
              <a:buNone/>
              <a:defRPr/>
            </a:pPr>
            <a:r>
              <a:rPr lang="zh-CN" altLang="en-US" sz="2400" b="1" dirty="0"/>
              <a:t>项目范围说明书应包括的内容</a:t>
            </a:r>
          </a:p>
          <a:p>
            <a:pPr lvl="1">
              <a:defRPr/>
            </a:pPr>
            <a:r>
              <a:rPr lang="zh-CN" altLang="zh-CN" sz="2000" dirty="0"/>
              <a:t>产品范围描述</a:t>
            </a:r>
            <a:endParaRPr lang="en-US" altLang="zh-CN" sz="2000" dirty="0"/>
          </a:p>
          <a:p>
            <a:pPr lvl="1">
              <a:defRPr/>
            </a:pPr>
            <a:r>
              <a:rPr lang="zh-CN" altLang="zh-CN" sz="2000" dirty="0"/>
              <a:t>可交付成果</a:t>
            </a:r>
            <a:endParaRPr lang="en-US" altLang="zh-CN" sz="2000" dirty="0"/>
          </a:p>
          <a:p>
            <a:pPr lvl="1">
              <a:defRPr/>
            </a:pPr>
            <a:r>
              <a:rPr lang="zh-CN" altLang="zh-CN" sz="2000" dirty="0"/>
              <a:t>验收标准</a:t>
            </a:r>
            <a:endParaRPr lang="en-US" altLang="zh-CN" sz="2000" dirty="0"/>
          </a:p>
          <a:p>
            <a:pPr lvl="1">
              <a:defRPr/>
            </a:pPr>
            <a:r>
              <a:rPr lang="zh-CN" altLang="zh-CN" sz="2000" dirty="0"/>
              <a:t>项目的除外责任</a:t>
            </a:r>
            <a:endParaRPr lang="en-US" altLang="zh-CN" sz="2000" dirty="0"/>
          </a:p>
          <a:p>
            <a:pPr lvl="1">
              <a:defRPr/>
            </a:pPr>
            <a:r>
              <a:rPr lang="zh-CN" altLang="en-US" sz="2000" dirty="0">
                <a:solidFill>
                  <a:schemeClr val="tx1">
                    <a:lumMod val="75000"/>
                    <a:lumOff val="25000"/>
                  </a:schemeClr>
                </a:solidFill>
              </a:rPr>
              <a:t>制约因素</a:t>
            </a:r>
          </a:p>
          <a:p>
            <a:pPr lvl="1">
              <a:defRPr/>
            </a:pPr>
            <a:r>
              <a:rPr lang="zh-CN" altLang="en-US" sz="2000" dirty="0">
                <a:solidFill>
                  <a:schemeClr val="tx1">
                    <a:lumMod val="75000"/>
                    <a:lumOff val="25000"/>
                  </a:schemeClr>
                </a:solidFill>
              </a:rPr>
              <a:t>假设前提</a:t>
            </a:r>
          </a:p>
          <a:p>
            <a:pPr marL="0" lvl="1" indent="0">
              <a:buNone/>
            </a:pPr>
            <a:endParaRPr lang="zh-CN" altLang="en-US" b="1" dirty="0">
              <a:latin typeface="幼圆" panose="02010509060101010101" pitchFamily="49" charset="-122"/>
              <a:ea typeface="幼圆" panose="02010509060101010101" pitchFamily="49" charset="-122"/>
            </a:endParaRPr>
          </a:p>
          <a:p>
            <a:pPr>
              <a:buFontTx/>
              <a:buNone/>
            </a:pPr>
            <a:r>
              <a:rPr lang="zh-CN" altLang="en-US" b="1" dirty="0">
                <a:latin typeface="幼圆" panose="02010509060101010101" pitchFamily="49" charset="-122"/>
                <a:ea typeface="幼圆" panose="02010509060101010101" pitchFamily="49" charset="-122"/>
              </a:rPr>
              <a:t>     </a:t>
            </a:r>
          </a:p>
        </p:txBody>
      </p:sp>
    </p:spTree>
    <p:extLst>
      <p:ext uri="{BB962C8B-B14F-4D97-AF65-F5344CB8AC3E}">
        <p14:creationId xmlns:p14="http://schemas.microsoft.com/office/powerpoint/2010/main" val="1527354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8" name="内容占位符 2">
            <a:extLst>
              <a:ext uri="{FF2B5EF4-FFF2-40B4-BE49-F238E27FC236}">
                <a16:creationId xmlns:a16="http://schemas.microsoft.com/office/drawing/2014/main" id="{9D6DD01D-6921-41C9-A9FD-491A4AD635DF}"/>
              </a:ext>
            </a:extLst>
          </p:cNvPr>
          <p:cNvSpPr txBox="1">
            <a:spLocks/>
          </p:cNvSpPr>
          <p:nvPr/>
        </p:nvSpPr>
        <p:spPr>
          <a:xfrm>
            <a:off x="566738" y="1314449"/>
            <a:ext cx="11091862" cy="511752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marR="0" lvl="1" indent="0" algn="l" defTabSz="914400" rtl="0" eaLnBrk="1" fontAlgn="base" latinLnBrk="0" hangingPunct="1">
              <a:lnSpc>
                <a:spcPts val="3600"/>
              </a:lnSpc>
              <a:spcBef>
                <a:spcPts val="300"/>
              </a:spcBef>
              <a:spcAft>
                <a:spcPct val="0"/>
              </a:spcAft>
              <a:buClrTx/>
              <a:buSzTx/>
              <a:buFont typeface="Arial" pitchFamily="34" charset="0"/>
              <a:buNone/>
              <a:tabLst/>
              <a:defRPr/>
            </a:pPr>
            <a:r>
              <a:rPr kumimoji="0" lang="zh-CN"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项目范围初步范围说明书编制方法</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endParaRPr>
          </a:p>
          <a:p>
            <a:pPr marL="0"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 模板法</a:t>
            </a:r>
            <a:endParaRPr kumimoji="0" lang="en-US" altLang="zh-CN"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endParaRPr>
          </a:p>
          <a:p>
            <a:pPr marL="0"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 分解法</a:t>
            </a:r>
          </a:p>
          <a:p>
            <a:pPr marL="0"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 其他方法</a:t>
            </a:r>
            <a:endParaRPr lang="en-US" altLang="zh-CN"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0" marR="0" lvl="2" indent="0" algn="l" defTabSz="914400" rtl="0" eaLnBrk="1" fontAlgn="base" latinLnBrk="0" hangingPunct="1">
              <a:lnSpc>
                <a:spcPts val="2800"/>
              </a:lnSpc>
              <a:spcBef>
                <a:spcPts val="0"/>
              </a:spcBef>
              <a:spcAft>
                <a:spcPct val="0"/>
              </a:spcAft>
              <a:buClrTx/>
              <a:buSzTx/>
              <a:buNone/>
              <a:tabLst/>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定义范围的工具与技术</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914400" lvl="2" indent="0" algn="just">
              <a:buNone/>
            </a:pPr>
            <a:r>
              <a:rPr lang="en-US" altLang="zh-CN" b="1" dirty="0">
                <a:latin typeface="Times New Roman" panose="02020603050405020304" pitchFamily="18" charset="0"/>
              </a:rPr>
              <a:t>1</a:t>
            </a:r>
            <a:r>
              <a:rPr lang="zh-CN" altLang="en-US" b="1" dirty="0">
                <a:latin typeface="Times New Roman" panose="02020603050405020304" pitchFamily="18" charset="0"/>
              </a:rPr>
              <a:t>专家判断</a:t>
            </a:r>
          </a:p>
          <a:p>
            <a:pPr marL="914400" lvl="2" indent="0" algn="just">
              <a:buNone/>
            </a:pPr>
            <a:r>
              <a:rPr lang="en-US" altLang="zh-CN" b="1" dirty="0">
                <a:latin typeface="Times New Roman" panose="02020603050405020304" pitchFamily="18" charset="0"/>
              </a:rPr>
              <a:t>2 </a:t>
            </a:r>
            <a:r>
              <a:rPr lang="zh-CN" altLang="en-US" b="1" dirty="0">
                <a:latin typeface="Times New Roman" panose="02020603050405020304" pitchFamily="18" charset="0"/>
              </a:rPr>
              <a:t>数据分析</a:t>
            </a:r>
          </a:p>
          <a:p>
            <a:pPr marL="914400" lvl="2" indent="0" algn="just">
              <a:buNone/>
            </a:pPr>
            <a:r>
              <a:rPr lang="en-US" altLang="zh-CN" b="1" dirty="0">
                <a:latin typeface="Times New Roman" panose="02020603050405020304" pitchFamily="18" charset="0"/>
              </a:rPr>
              <a:t> </a:t>
            </a:r>
            <a:r>
              <a:rPr lang="en-US" altLang="zh-CN" b="1" dirty="0">
                <a:solidFill>
                  <a:srgbClr val="0070C0"/>
                </a:solidFill>
                <a:latin typeface="Times New Roman" panose="02020603050405020304" pitchFamily="18" charset="0"/>
              </a:rPr>
              <a:t> ·</a:t>
            </a:r>
            <a:r>
              <a:rPr lang="zh-CN" altLang="en-US" b="1" dirty="0">
                <a:solidFill>
                  <a:srgbClr val="0070C0"/>
                </a:solidFill>
                <a:latin typeface="Times New Roman" panose="02020603050405020304" pitchFamily="18" charset="0"/>
              </a:rPr>
              <a:t>备选方案分析</a:t>
            </a:r>
          </a:p>
          <a:p>
            <a:pPr marL="914400" lvl="2" indent="0" algn="just">
              <a:buNone/>
            </a:pPr>
            <a:r>
              <a:rPr lang="en-US" altLang="zh-CN" b="1" dirty="0">
                <a:latin typeface="Times New Roman" panose="02020603050405020304" pitchFamily="18" charset="0"/>
              </a:rPr>
              <a:t>3 </a:t>
            </a:r>
            <a:r>
              <a:rPr lang="zh-CN" altLang="en-US" b="1" dirty="0">
                <a:latin typeface="Times New Roman" panose="02020603050405020304" pitchFamily="18" charset="0"/>
              </a:rPr>
              <a:t>决策</a:t>
            </a:r>
          </a:p>
          <a:p>
            <a:pPr marL="914400" lvl="2" indent="0" algn="just">
              <a:buNone/>
            </a:pPr>
            <a:r>
              <a:rPr lang="en-US" altLang="zh-CN" b="1" dirty="0">
                <a:latin typeface="Times New Roman" panose="02020603050405020304" pitchFamily="18" charset="0"/>
              </a:rPr>
              <a:t>  </a:t>
            </a:r>
            <a:r>
              <a:rPr lang="en-US" altLang="zh-CN" b="1" dirty="0">
                <a:solidFill>
                  <a:srgbClr val="0070C0"/>
                </a:solidFill>
                <a:latin typeface="Times New Roman" panose="02020603050405020304" pitchFamily="18" charset="0"/>
              </a:rPr>
              <a:t>·</a:t>
            </a:r>
            <a:r>
              <a:rPr lang="zh-CN" altLang="en-US" b="1" dirty="0">
                <a:solidFill>
                  <a:srgbClr val="0070C0"/>
                </a:solidFill>
                <a:latin typeface="Times New Roman" panose="02020603050405020304" pitchFamily="18" charset="0"/>
              </a:rPr>
              <a:t>多标准决策分析</a:t>
            </a:r>
          </a:p>
          <a:p>
            <a:pPr marL="914400" lvl="2" indent="0" algn="just">
              <a:buNone/>
            </a:pPr>
            <a:r>
              <a:rPr lang="en-US" altLang="zh-CN" b="1" dirty="0">
                <a:latin typeface="Times New Roman" panose="02020603050405020304" pitchFamily="18" charset="0"/>
              </a:rPr>
              <a:t>4 </a:t>
            </a:r>
            <a:r>
              <a:rPr lang="zh-CN" altLang="en-US" b="1" dirty="0">
                <a:latin typeface="Times New Roman" panose="02020603050405020304" pitchFamily="18" charset="0"/>
              </a:rPr>
              <a:t>人际关系与团队技能</a:t>
            </a:r>
          </a:p>
          <a:p>
            <a:pPr marL="914400" lvl="2" indent="0" algn="just">
              <a:buNone/>
            </a:pPr>
            <a:r>
              <a:rPr lang="en-US" altLang="zh-CN" b="1" dirty="0">
                <a:solidFill>
                  <a:srgbClr val="0070C0"/>
                </a:solidFill>
                <a:latin typeface="Times New Roman" panose="02020603050405020304" pitchFamily="18" charset="0"/>
              </a:rPr>
              <a:t>  ·</a:t>
            </a:r>
            <a:r>
              <a:rPr lang="zh-CN" altLang="en-US" b="1" dirty="0">
                <a:solidFill>
                  <a:srgbClr val="0070C0"/>
                </a:solidFill>
                <a:latin typeface="Times New Roman" panose="02020603050405020304" pitchFamily="18" charset="0"/>
              </a:rPr>
              <a:t>引导</a:t>
            </a:r>
          </a:p>
          <a:p>
            <a:pPr marL="914400" lvl="2" indent="0" algn="just">
              <a:buNone/>
            </a:pPr>
            <a:r>
              <a:rPr lang="en-US" altLang="zh-CN" b="1" dirty="0">
                <a:latin typeface="Times New Roman" panose="02020603050405020304" pitchFamily="18" charset="0"/>
              </a:rPr>
              <a:t>5 </a:t>
            </a:r>
            <a:r>
              <a:rPr lang="zh-CN" altLang="en-US" b="1" dirty="0">
                <a:latin typeface="Times New Roman" panose="02020603050405020304" pitchFamily="18" charset="0"/>
              </a:rPr>
              <a:t>产品分析</a:t>
            </a:r>
            <a:endParaRPr lang="en-US" altLang="zh-CN" b="1" dirty="0">
              <a:latin typeface="Times New Roman" panose="02020603050405020304" pitchFamily="18" charset="0"/>
            </a:endParaRPr>
          </a:p>
          <a:p>
            <a:pPr marL="0" indent="0" algn="l">
              <a:buNone/>
            </a:pPr>
            <a:r>
              <a:rPr lang="en-US" altLang="zh-CN" sz="2000" b="1" i="0" u="none" strike="noStrike" baseline="0" dirty="0">
                <a:solidFill>
                  <a:prstClr val="black"/>
                </a:solidFill>
                <a:latin typeface="Times New Roman" panose="02020603050405020304" pitchFamily="18" charset="0"/>
                <a:ea typeface="微软雅黑" panose="020B0503020204020204" pitchFamily="34" charset="-122"/>
                <a:cs typeface="Times New Roman" pitchFamily="18" charset="0"/>
              </a:rPr>
              <a:t>	</a:t>
            </a:r>
            <a:r>
              <a:rPr lang="en-US" altLang="zh-CN" sz="2000" b="1" dirty="0">
                <a:solidFill>
                  <a:prstClr val="black"/>
                </a:solidFill>
                <a:latin typeface="Times New Roman" panose="02020603050405020304" pitchFamily="18" charset="0"/>
                <a:ea typeface="微软雅黑" panose="020B0503020204020204" pitchFamily="34" charset="-122"/>
                <a:cs typeface="Times New Roman" pitchFamily="18" charset="0"/>
              </a:rPr>
              <a:t> </a:t>
            </a:r>
            <a:r>
              <a:rPr lang="en-US" altLang="zh-CN" sz="2000" b="1" dirty="0">
                <a:solidFill>
                  <a:srgbClr val="0070C0"/>
                </a:solidFill>
                <a:latin typeface="Times New Roman" panose="02020603050405020304" pitchFamily="18" charset="0"/>
              </a:rPr>
              <a:t>·</a:t>
            </a:r>
            <a:r>
              <a:rPr lang="zh-CN" altLang="en-US" sz="2000" b="1" dirty="0">
                <a:solidFill>
                  <a:srgbClr val="0070C0"/>
                </a:solidFill>
                <a:latin typeface="Times New Roman" panose="02020603050405020304" pitchFamily="18" charset="0"/>
              </a:rPr>
              <a:t>产品分解；需求分析；系统分析；系统工程；价值分析；价值工程</a:t>
            </a:r>
            <a:r>
              <a:rPr lang="zh-CN" altLang="en-US" sz="1800" b="1" dirty="0">
                <a:solidFill>
                  <a:srgbClr val="0070C0"/>
                </a:solidFill>
                <a:latin typeface="Times New Roman" panose="02020603050405020304" pitchFamily="18" charset="0"/>
              </a:rPr>
              <a:t>。</a:t>
            </a:r>
            <a:endParaRPr lang="en-US" altLang="zh-CN" sz="1800" b="1" dirty="0">
              <a:solidFill>
                <a:srgbClr val="0070C0"/>
              </a:solidFill>
              <a:latin typeface="Times New Roman" panose="02020603050405020304" pitchFamily="18" charset="0"/>
            </a:endParaRPr>
          </a:p>
          <a:p>
            <a:pPr marL="377825" lvl="1" indent="0">
              <a:lnSpc>
                <a:spcPts val="2800"/>
              </a:lnSpc>
              <a:spcBef>
                <a:spcPts val="0"/>
              </a:spcBef>
              <a:buNone/>
            </a:pP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835025"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endParaRPr kumimoji="0" lang="en-US" altLang="zh-CN" sz="2000" b="1" i="0" u="none" strike="noStrike" kern="1200" cap="none" spc="0" normalizeH="0" baseline="0" noProof="0" dirty="0">
              <a:ln>
                <a:noFill/>
              </a:ln>
              <a:solidFill>
                <a:prstClr val="black"/>
              </a:solidFill>
              <a:effectLst/>
              <a:uLnTx/>
              <a:uFillTx/>
              <a:latin typeface="Times New Roman" pitchFamily="18" charset="0"/>
              <a:ea typeface="黑体" pitchFamily="2" charset="-122"/>
              <a:cs typeface="Times New Roman" pitchFamily="18" charset="0"/>
              <a:sym typeface="Calibri" pitchFamily="34" charset="0"/>
            </a:endParaRPr>
          </a:p>
        </p:txBody>
      </p:sp>
      <p:graphicFrame>
        <p:nvGraphicFramePr>
          <p:cNvPr id="7" name="对象 6">
            <a:extLst>
              <a:ext uri="{FF2B5EF4-FFF2-40B4-BE49-F238E27FC236}">
                <a16:creationId xmlns:a16="http://schemas.microsoft.com/office/drawing/2014/main" id="{028C0B03-8958-4FA0-AF6C-B1173F74729F}"/>
              </a:ext>
            </a:extLst>
          </p:cNvPr>
          <p:cNvGraphicFramePr>
            <a:graphicFrameLocks noChangeAspect="1"/>
          </p:cNvGraphicFramePr>
          <p:nvPr/>
        </p:nvGraphicFramePr>
        <p:xfrm>
          <a:off x="5219700" y="1139653"/>
          <a:ext cx="3033299" cy="4954055"/>
        </p:xfrm>
        <a:graphic>
          <a:graphicData uri="http://schemas.openxmlformats.org/presentationml/2006/ole">
            <mc:AlternateContent xmlns:mc="http://schemas.openxmlformats.org/markup-compatibility/2006">
              <mc:Choice xmlns:v="urn:schemas-microsoft-com:vml" Requires="v">
                <p:oleObj name="Document" r:id="rId3" imgW="5430600" imgH="8871120" progId="Word.Document.8">
                  <p:embed/>
                </p:oleObj>
              </mc:Choice>
              <mc:Fallback>
                <p:oleObj name="Document" r:id="rId3" imgW="5430600" imgH="8871120" progId="Word.Document.8">
                  <p:embed/>
                  <p:pic>
                    <p:nvPicPr>
                      <p:cNvPr id="7" name="对象 6">
                        <a:extLst>
                          <a:ext uri="{FF2B5EF4-FFF2-40B4-BE49-F238E27FC236}">
                            <a16:creationId xmlns:a16="http://schemas.microsoft.com/office/drawing/2014/main" id="{028C0B03-8958-4FA0-AF6C-B1173F74729F}"/>
                          </a:ext>
                        </a:extLst>
                      </p:cNvPr>
                      <p:cNvPicPr/>
                      <p:nvPr/>
                    </p:nvPicPr>
                    <p:blipFill>
                      <a:blip r:embed="rId4"/>
                      <a:stretch>
                        <a:fillRect/>
                      </a:stretch>
                    </p:blipFill>
                    <p:spPr>
                      <a:xfrm>
                        <a:off x="5219700" y="1139653"/>
                        <a:ext cx="3033299" cy="495405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08ACE3A-0D17-4031-A47A-49B840C6C697}"/>
              </a:ext>
            </a:extLst>
          </p:cNvPr>
          <p:cNvGraphicFramePr>
            <a:graphicFrameLocks noChangeAspect="1"/>
          </p:cNvGraphicFramePr>
          <p:nvPr/>
        </p:nvGraphicFramePr>
        <p:xfrm>
          <a:off x="8339473" y="1398143"/>
          <a:ext cx="3232653" cy="4520055"/>
        </p:xfrm>
        <a:graphic>
          <a:graphicData uri="http://schemas.openxmlformats.org/presentationml/2006/ole">
            <mc:AlternateContent xmlns:mc="http://schemas.openxmlformats.org/markup-compatibility/2006">
              <mc:Choice xmlns:v="urn:schemas-microsoft-com:vml" Requires="v">
                <p:oleObj name="Document" r:id="rId5" imgW="6271326" imgH="8750731" progId="Word.Document.8">
                  <p:embed/>
                </p:oleObj>
              </mc:Choice>
              <mc:Fallback>
                <p:oleObj name="Document" r:id="rId5" imgW="6271326" imgH="8750731" progId="Word.Document.8">
                  <p:embed/>
                  <p:pic>
                    <p:nvPicPr>
                      <p:cNvPr id="9" name="对象 8">
                        <a:extLst>
                          <a:ext uri="{FF2B5EF4-FFF2-40B4-BE49-F238E27FC236}">
                            <a16:creationId xmlns:a16="http://schemas.microsoft.com/office/drawing/2014/main" id="{F08ACE3A-0D17-4031-A47A-49B840C6C697}"/>
                          </a:ext>
                        </a:extLst>
                      </p:cNvPr>
                      <p:cNvPicPr/>
                      <p:nvPr/>
                    </p:nvPicPr>
                    <p:blipFill>
                      <a:blip r:embed="rId6"/>
                      <a:stretch>
                        <a:fillRect/>
                      </a:stretch>
                    </p:blipFill>
                    <p:spPr>
                      <a:xfrm>
                        <a:off x="8339473" y="1398143"/>
                        <a:ext cx="3232653" cy="4520055"/>
                      </a:xfrm>
                      <a:prstGeom prst="rect">
                        <a:avLst/>
                      </a:prstGeom>
                    </p:spPr>
                  </p:pic>
                </p:oleObj>
              </mc:Fallback>
            </mc:AlternateContent>
          </a:graphicData>
        </a:graphic>
      </p:graphicFrame>
    </p:spTree>
    <p:extLst>
      <p:ext uri="{BB962C8B-B14F-4D97-AF65-F5344CB8AC3E}">
        <p14:creationId xmlns:p14="http://schemas.microsoft.com/office/powerpoint/2010/main" val="1920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64D175-3FBE-4D43-B426-32807793E6B2}"/>
              </a:ext>
            </a:extLst>
          </p:cNvPr>
          <p:cNvSpPr>
            <a:spLocks noGrp="1"/>
          </p:cNvSpPr>
          <p:nvPr>
            <p:ph type="title"/>
          </p:nvPr>
        </p:nvSpPr>
        <p:spPr/>
        <p:txBody>
          <a:bodyPr/>
          <a:lstStyle/>
          <a:p>
            <a:r>
              <a:rPr lang="en-US" altLang="zh-CN" dirty="0"/>
              <a:t>11.4 </a:t>
            </a:r>
            <a:r>
              <a:rPr lang="zh-CN" altLang="en-US" dirty="0"/>
              <a:t>项目范围定义</a:t>
            </a:r>
          </a:p>
        </p:txBody>
      </p:sp>
      <p:sp>
        <p:nvSpPr>
          <p:cNvPr id="3" name="Rectangle 3">
            <a:extLst>
              <a:ext uri="{FF2B5EF4-FFF2-40B4-BE49-F238E27FC236}">
                <a16:creationId xmlns:a16="http://schemas.microsoft.com/office/drawing/2014/main" id="{804D1084-23DB-4C7A-AFF7-2CC09178B0BF}"/>
              </a:ext>
            </a:extLst>
          </p:cNvPr>
          <p:cNvSpPr>
            <a:spLocks noChangeArrowheads="1"/>
          </p:cNvSpPr>
          <p:nvPr/>
        </p:nvSpPr>
        <p:spPr bwMode="auto">
          <a:xfrm>
            <a:off x="3149600" y="1635125"/>
            <a:ext cx="2667000" cy="533400"/>
          </a:xfrm>
          <a:prstGeom prst="rect">
            <a:avLst/>
          </a:prstGeom>
          <a:gradFill rotWithShape="1">
            <a:gsLst>
              <a:gs pos="0">
                <a:srgbClr val="07AD99"/>
              </a:gs>
              <a:gs pos="100000">
                <a:srgbClr val="07AD99">
                  <a:gamma/>
                  <a:tint val="0"/>
                  <a:invGamma/>
                </a:srgbClr>
              </a:gs>
            </a:gsLst>
            <a:lin ang="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目标：提高经营效益</a:t>
            </a:r>
          </a:p>
        </p:txBody>
      </p:sp>
      <p:sp>
        <p:nvSpPr>
          <p:cNvPr id="4" name="Line 4">
            <a:extLst>
              <a:ext uri="{FF2B5EF4-FFF2-40B4-BE49-F238E27FC236}">
                <a16:creationId xmlns:a16="http://schemas.microsoft.com/office/drawing/2014/main" id="{C1BA43EA-903B-4523-AD08-3EA7B53A3103}"/>
              </a:ext>
            </a:extLst>
          </p:cNvPr>
          <p:cNvSpPr>
            <a:spLocks noChangeShapeType="1"/>
          </p:cNvSpPr>
          <p:nvPr/>
        </p:nvSpPr>
        <p:spPr bwMode="auto">
          <a:xfrm>
            <a:off x="3606800" y="2168525"/>
            <a:ext cx="0" cy="1295400"/>
          </a:xfrm>
          <a:prstGeom prst="line">
            <a:avLst/>
          </a:prstGeom>
          <a:noFill/>
          <a:ln w="9525">
            <a:solidFill>
              <a:srgbClr val="000000"/>
            </a:solidFill>
            <a:round/>
            <a:headEnd/>
            <a:tailEn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 name="Line 5">
            <a:extLst>
              <a:ext uri="{FF2B5EF4-FFF2-40B4-BE49-F238E27FC236}">
                <a16:creationId xmlns:a16="http://schemas.microsoft.com/office/drawing/2014/main" id="{2EB4C947-B57B-41F5-B41D-FD79C01D61CA}"/>
              </a:ext>
            </a:extLst>
          </p:cNvPr>
          <p:cNvSpPr>
            <a:spLocks noChangeShapeType="1"/>
          </p:cNvSpPr>
          <p:nvPr/>
        </p:nvSpPr>
        <p:spPr bwMode="auto">
          <a:xfrm>
            <a:off x="3606800" y="34639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6" name="Line 6">
            <a:extLst>
              <a:ext uri="{FF2B5EF4-FFF2-40B4-BE49-F238E27FC236}">
                <a16:creationId xmlns:a16="http://schemas.microsoft.com/office/drawing/2014/main" id="{46DC671D-0620-4632-ADFD-FD02FB7C6462}"/>
              </a:ext>
            </a:extLst>
          </p:cNvPr>
          <p:cNvSpPr>
            <a:spLocks noChangeShapeType="1"/>
          </p:cNvSpPr>
          <p:nvPr/>
        </p:nvSpPr>
        <p:spPr bwMode="auto">
          <a:xfrm>
            <a:off x="3606800" y="30067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7" name="Line 7">
            <a:extLst>
              <a:ext uri="{FF2B5EF4-FFF2-40B4-BE49-F238E27FC236}">
                <a16:creationId xmlns:a16="http://schemas.microsoft.com/office/drawing/2014/main" id="{207DCA1C-71E0-410A-93E6-2ECF14807030}"/>
              </a:ext>
            </a:extLst>
          </p:cNvPr>
          <p:cNvSpPr>
            <a:spLocks noChangeShapeType="1"/>
          </p:cNvSpPr>
          <p:nvPr/>
        </p:nvSpPr>
        <p:spPr bwMode="auto">
          <a:xfrm>
            <a:off x="3606800" y="25495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 name="Rectangle 8">
            <a:extLst>
              <a:ext uri="{FF2B5EF4-FFF2-40B4-BE49-F238E27FC236}">
                <a16:creationId xmlns:a16="http://schemas.microsoft.com/office/drawing/2014/main" id="{CE0A14C2-DBEF-4DBB-991F-E6232C3CA067}"/>
              </a:ext>
            </a:extLst>
          </p:cNvPr>
          <p:cNvSpPr>
            <a:spLocks noChangeArrowheads="1"/>
          </p:cNvSpPr>
          <p:nvPr/>
        </p:nvSpPr>
        <p:spPr bwMode="auto">
          <a:xfrm>
            <a:off x="4368800" y="2320925"/>
            <a:ext cx="1524000" cy="457200"/>
          </a:xfrm>
          <a:prstGeom prst="rect">
            <a:avLst/>
          </a:prstGeom>
          <a:gradFill rotWithShape="1">
            <a:gsLst>
              <a:gs pos="0">
                <a:srgbClr val="EC45F9"/>
              </a:gs>
              <a:gs pos="50000">
                <a:srgbClr val="EC45F9">
                  <a:gamma/>
                  <a:tint val="0"/>
                  <a:invGamma/>
                </a:srgbClr>
              </a:gs>
              <a:gs pos="100000">
                <a:srgbClr val="EC45F9"/>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1 </a:t>
            </a:r>
            <a:r>
              <a:rPr kumimoji="0" lang="zh-CN" altLang="en-US"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增加产量</a:t>
            </a:r>
          </a:p>
        </p:txBody>
      </p:sp>
      <p:sp>
        <p:nvSpPr>
          <p:cNvPr id="9" name="Rectangle 9">
            <a:extLst>
              <a:ext uri="{FF2B5EF4-FFF2-40B4-BE49-F238E27FC236}">
                <a16:creationId xmlns:a16="http://schemas.microsoft.com/office/drawing/2014/main" id="{7516B3AE-4B9F-4273-A5EB-FAC69D04181A}"/>
              </a:ext>
            </a:extLst>
          </p:cNvPr>
          <p:cNvSpPr>
            <a:spLocks noChangeArrowheads="1"/>
          </p:cNvSpPr>
          <p:nvPr/>
        </p:nvSpPr>
        <p:spPr bwMode="auto">
          <a:xfrm>
            <a:off x="4368800" y="2854325"/>
            <a:ext cx="1524000" cy="457200"/>
          </a:xfrm>
          <a:prstGeom prst="rect">
            <a:avLst/>
          </a:prstGeom>
          <a:gradFill rotWithShape="1">
            <a:gsLst>
              <a:gs pos="0">
                <a:srgbClr val="EC45F9"/>
              </a:gs>
              <a:gs pos="50000">
                <a:srgbClr val="EC45F9">
                  <a:gamma/>
                  <a:tint val="0"/>
                  <a:invGamma/>
                </a:srgbClr>
              </a:gs>
              <a:gs pos="100000">
                <a:srgbClr val="EC45F9"/>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2 </a:t>
            </a:r>
            <a:r>
              <a:rPr kumimoji="0" lang="zh-CN" altLang="en-US"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降低成本</a:t>
            </a:r>
          </a:p>
        </p:txBody>
      </p:sp>
      <p:sp>
        <p:nvSpPr>
          <p:cNvPr id="10" name="Rectangle 10">
            <a:extLst>
              <a:ext uri="{FF2B5EF4-FFF2-40B4-BE49-F238E27FC236}">
                <a16:creationId xmlns:a16="http://schemas.microsoft.com/office/drawing/2014/main" id="{C81D2E88-E7BE-4B20-A82B-241848F1314E}"/>
              </a:ext>
            </a:extLst>
          </p:cNvPr>
          <p:cNvSpPr>
            <a:spLocks noChangeArrowheads="1"/>
          </p:cNvSpPr>
          <p:nvPr/>
        </p:nvSpPr>
        <p:spPr bwMode="auto">
          <a:xfrm>
            <a:off x="4368800" y="3387725"/>
            <a:ext cx="1524000" cy="457200"/>
          </a:xfrm>
          <a:prstGeom prst="rect">
            <a:avLst/>
          </a:prstGeom>
          <a:gradFill rotWithShape="1">
            <a:gsLst>
              <a:gs pos="0">
                <a:srgbClr val="EC45F9"/>
              </a:gs>
              <a:gs pos="50000">
                <a:srgbClr val="EC45F9">
                  <a:gamma/>
                  <a:tint val="0"/>
                  <a:invGamma/>
                </a:srgbClr>
              </a:gs>
              <a:gs pos="100000">
                <a:srgbClr val="EC45F9"/>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3 </a:t>
            </a:r>
            <a:r>
              <a:rPr kumimoji="0" lang="zh-CN" altLang="en-US"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提高价格</a:t>
            </a:r>
          </a:p>
        </p:txBody>
      </p:sp>
      <p:sp>
        <p:nvSpPr>
          <p:cNvPr id="11" name="Line 11">
            <a:extLst>
              <a:ext uri="{FF2B5EF4-FFF2-40B4-BE49-F238E27FC236}">
                <a16:creationId xmlns:a16="http://schemas.microsoft.com/office/drawing/2014/main" id="{26EB2124-7ABB-4F92-811D-985DC52BC82A}"/>
              </a:ext>
            </a:extLst>
          </p:cNvPr>
          <p:cNvSpPr>
            <a:spLocks noChangeShapeType="1"/>
          </p:cNvSpPr>
          <p:nvPr/>
        </p:nvSpPr>
        <p:spPr bwMode="auto">
          <a:xfrm>
            <a:off x="5892800" y="3006725"/>
            <a:ext cx="381000" cy="0"/>
          </a:xfrm>
          <a:prstGeom prst="line">
            <a:avLst/>
          </a:prstGeom>
          <a:noFill/>
          <a:ln w="9525">
            <a:solidFill>
              <a:srgbClr val="000000"/>
            </a:solidFill>
            <a:round/>
            <a:headEnd/>
            <a:tailEn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 name="Line 12">
            <a:extLst>
              <a:ext uri="{FF2B5EF4-FFF2-40B4-BE49-F238E27FC236}">
                <a16:creationId xmlns:a16="http://schemas.microsoft.com/office/drawing/2014/main" id="{70752D36-F8AB-4E1F-8531-11CA169756B5}"/>
              </a:ext>
            </a:extLst>
          </p:cNvPr>
          <p:cNvSpPr>
            <a:spLocks noChangeShapeType="1"/>
          </p:cNvSpPr>
          <p:nvPr/>
        </p:nvSpPr>
        <p:spPr bwMode="auto">
          <a:xfrm>
            <a:off x="6273800" y="3006725"/>
            <a:ext cx="0" cy="3124200"/>
          </a:xfrm>
          <a:prstGeom prst="line">
            <a:avLst/>
          </a:prstGeom>
          <a:noFill/>
          <a:ln w="9525">
            <a:solidFill>
              <a:srgbClr val="000000"/>
            </a:solidFill>
            <a:round/>
            <a:headEnd/>
            <a:tailEn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 name="Line 13">
            <a:extLst>
              <a:ext uri="{FF2B5EF4-FFF2-40B4-BE49-F238E27FC236}">
                <a16:creationId xmlns:a16="http://schemas.microsoft.com/office/drawing/2014/main" id="{B703024C-7003-473A-98A5-9FFF7E8BAC06}"/>
              </a:ext>
            </a:extLst>
          </p:cNvPr>
          <p:cNvSpPr>
            <a:spLocks noChangeShapeType="1"/>
          </p:cNvSpPr>
          <p:nvPr/>
        </p:nvSpPr>
        <p:spPr bwMode="auto">
          <a:xfrm>
            <a:off x="6273800" y="61309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4" name="Rectangle 14">
            <a:extLst>
              <a:ext uri="{FF2B5EF4-FFF2-40B4-BE49-F238E27FC236}">
                <a16:creationId xmlns:a16="http://schemas.microsoft.com/office/drawing/2014/main" id="{226DA5B9-8444-4547-836A-E45553BC4950}"/>
              </a:ext>
            </a:extLst>
          </p:cNvPr>
          <p:cNvSpPr>
            <a:spLocks noChangeArrowheads="1"/>
          </p:cNvSpPr>
          <p:nvPr/>
        </p:nvSpPr>
        <p:spPr bwMode="auto">
          <a:xfrm>
            <a:off x="7035800" y="58261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6</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）改用可以降低成本的原料</a:t>
            </a:r>
          </a:p>
        </p:txBody>
      </p:sp>
      <p:sp>
        <p:nvSpPr>
          <p:cNvPr id="15" name="Rectangle 15">
            <a:extLst>
              <a:ext uri="{FF2B5EF4-FFF2-40B4-BE49-F238E27FC236}">
                <a16:creationId xmlns:a16="http://schemas.microsoft.com/office/drawing/2014/main" id="{184E0443-95CE-4136-BD30-C621EF5677B6}"/>
              </a:ext>
            </a:extLst>
          </p:cNvPr>
          <p:cNvSpPr>
            <a:spLocks noChangeArrowheads="1"/>
          </p:cNvSpPr>
          <p:nvPr/>
        </p:nvSpPr>
        <p:spPr bwMode="auto">
          <a:xfrm>
            <a:off x="7035800" y="52165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5</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）批量定购原料，降低单价</a:t>
            </a:r>
          </a:p>
        </p:txBody>
      </p:sp>
      <p:sp>
        <p:nvSpPr>
          <p:cNvPr id="16" name="Rectangle 16">
            <a:extLst>
              <a:ext uri="{FF2B5EF4-FFF2-40B4-BE49-F238E27FC236}">
                <a16:creationId xmlns:a16="http://schemas.microsoft.com/office/drawing/2014/main" id="{A44ED833-AC2D-419A-B437-C2EAE2BED411}"/>
              </a:ext>
            </a:extLst>
          </p:cNvPr>
          <p:cNvSpPr>
            <a:spLocks noChangeArrowheads="1"/>
          </p:cNvSpPr>
          <p:nvPr/>
        </p:nvSpPr>
        <p:spPr bwMode="auto">
          <a:xfrm>
            <a:off x="7035800" y="46069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4</a:t>
            </a:r>
            <a:r>
              <a:rPr kumimoji="0" lang="zh-CN" altLang="en-US" sz="16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）培训员工，提高工作效率</a:t>
            </a:r>
          </a:p>
        </p:txBody>
      </p:sp>
      <p:sp>
        <p:nvSpPr>
          <p:cNvPr id="17" name="Rectangle 17">
            <a:extLst>
              <a:ext uri="{FF2B5EF4-FFF2-40B4-BE49-F238E27FC236}">
                <a16:creationId xmlns:a16="http://schemas.microsoft.com/office/drawing/2014/main" id="{F5DE41FC-E43E-4E86-BC7D-33BB1124F2AB}"/>
              </a:ext>
            </a:extLst>
          </p:cNvPr>
          <p:cNvSpPr>
            <a:spLocks noChangeArrowheads="1"/>
          </p:cNvSpPr>
          <p:nvPr/>
        </p:nvSpPr>
        <p:spPr bwMode="auto">
          <a:xfrm>
            <a:off x="7035800" y="39973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3</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）裁减员工或降低员工工资</a:t>
            </a:r>
          </a:p>
        </p:txBody>
      </p:sp>
      <p:sp>
        <p:nvSpPr>
          <p:cNvPr id="18" name="Rectangle 18">
            <a:extLst>
              <a:ext uri="{FF2B5EF4-FFF2-40B4-BE49-F238E27FC236}">
                <a16:creationId xmlns:a16="http://schemas.microsoft.com/office/drawing/2014/main" id="{07168F9F-AAEF-45A0-A7AF-700BD61EB6AB}"/>
              </a:ext>
            </a:extLst>
          </p:cNvPr>
          <p:cNvSpPr>
            <a:spLocks noChangeArrowheads="1"/>
          </p:cNvSpPr>
          <p:nvPr/>
        </p:nvSpPr>
        <p:spPr bwMode="auto">
          <a:xfrm>
            <a:off x="7035800" y="33877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2</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）设备技术改造，降低消耗</a:t>
            </a:r>
          </a:p>
        </p:txBody>
      </p:sp>
      <p:sp>
        <p:nvSpPr>
          <p:cNvPr id="19" name="Rectangle 19">
            <a:extLst>
              <a:ext uri="{FF2B5EF4-FFF2-40B4-BE49-F238E27FC236}">
                <a16:creationId xmlns:a16="http://schemas.microsoft.com/office/drawing/2014/main" id="{4F60E037-5E67-44F2-8352-2F307BC2C8C1}"/>
              </a:ext>
            </a:extLst>
          </p:cNvPr>
          <p:cNvSpPr>
            <a:spLocks noChangeArrowheads="1"/>
          </p:cNvSpPr>
          <p:nvPr/>
        </p:nvSpPr>
        <p:spPr bwMode="auto">
          <a:xfrm>
            <a:off x="7035800" y="27019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1</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）外包非核心竞争性的部件</a:t>
            </a:r>
          </a:p>
        </p:txBody>
      </p:sp>
      <p:sp>
        <p:nvSpPr>
          <p:cNvPr id="20" name="Line 20">
            <a:extLst>
              <a:ext uri="{FF2B5EF4-FFF2-40B4-BE49-F238E27FC236}">
                <a16:creationId xmlns:a16="http://schemas.microsoft.com/office/drawing/2014/main" id="{B2A09368-A532-472D-9BC7-6BA5AFBD5335}"/>
              </a:ext>
            </a:extLst>
          </p:cNvPr>
          <p:cNvSpPr>
            <a:spLocks noChangeShapeType="1"/>
          </p:cNvSpPr>
          <p:nvPr/>
        </p:nvSpPr>
        <p:spPr bwMode="auto">
          <a:xfrm>
            <a:off x="6273800" y="55213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 name="Line 21">
            <a:extLst>
              <a:ext uri="{FF2B5EF4-FFF2-40B4-BE49-F238E27FC236}">
                <a16:creationId xmlns:a16="http://schemas.microsoft.com/office/drawing/2014/main" id="{39449E52-AC92-4DBA-9511-EF1B8FD3BC42}"/>
              </a:ext>
            </a:extLst>
          </p:cNvPr>
          <p:cNvSpPr>
            <a:spLocks noChangeShapeType="1"/>
          </p:cNvSpPr>
          <p:nvPr/>
        </p:nvSpPr>
        <p:spPr bwMode="auto">
          <a:xfrm>
            <a:off x="6273800" y="48355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 name="Line 22">
            <a:extLst>
              <a:ext uri="{FF2B5EF4-FFF2-40B4-BE49-F238E27FC236}">
                <a16:creationId xmlns:a16="http://schemas.microsoft.com/office/drawing/2014/main" id="{8F3B3208-70AE-4BB5-85E3-E2D763511C41}"/>
              </a:ext>
            </a:extLst>
          </p:cNvPr>
          <p:cNvSpPr>
            <a:spLocks noChangeShapeType="1"/>
          </p:cNvSpPr>
          <p:nvPr/>
        </p:nvSpPr>
        <p:spPr bwMode="auto">
          <a:xfrm>
            <a:off x="6273800" y="43021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Line 23">
            <a:extLst>
              <a:ext uri="{FF2B5EF4-FFF2-40B4-BE49-F238E27FC236}">
                <a16:creationId xmlns:a16="http://schemas.microsoft.com/office/drawing/2014/main" id="{D466F05D-8416-4F33-8894-7976457DE85C}"/>
              </a:ext>
            </a:extLst>
          </p:cNvPr>
          <p:cNvSpPr>
            <a:spLocks noChangeShapeType="1"/>
          </p:cNvSpPr>
          <p:nvPr/>
        </p:nvSpPr>
        <p:spPr bwMode="auto">
          <a:xfrm>
            <a:off x="6273800" y="36925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4" name="Line 24">
            <a:extLst>
              <a:ext uri="{FF2B5EF4-FFF2-40B4-BE49-F238E27FC236}">
                <a16:creationId xmlns:a16="http://schemas.microsoft.com/office/drawing/2014/main" id="{8AB4DD26-6B63-466C-84D3-5841990C443C}"/>
              </a:ext>
            </a:extLst>
          </p:cNvPr>
          <p:cNvSpPr>
            <a:spLocks noChangeShapeType="1"/>
          </p:cNvSpPr>
          <p:nvPr/>
        </p:nvSpPr>
        <p:spPr bwMode="auto">
          <a:xfrm>
            <a:off x="6273800" y="30067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 name="Rectangle 2">
            <a:extLst>
              <a:ext uri="{FF2B5EF4-FFF2-40B4-BE49-F238E27FC236}">
                <a16:creationId xmlns:a16="http://schemas.microsoft.com/office/drawing/2014/main" id="{7D70BD28-9163-41D6-94D8-C758D4FE9189}"/>
              </a:ext>
            </a:extLst>
          </p:cNvPr>
          <p:cNvSpPr txBox="1">
            <a:spLocks noChangeArrowheads="1"/>
          </p:cNvSpPr>
          <p:nvPr/>
        </p:nvSpPr>
        <p:spPr bwMode="auto">
          <a:xfrm>
            <a:off x="526842" y="1408364"/>
            <a:ext cx="2204323" cy="695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备选方案示例</a:t>
            </a:r>
          </a:p>
        </p:txBody>
      </p:sp>
    </p:spTree>
    <p:extLst>
      <p:ext uri="{BB962C8B-B14F-4D97-AF65-F5344CB8AC3E}">
        <p14:creationId xmlns:p14="http://schemas.microsoft.com/office/powerpoint/2010/main" val="355861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pic>
        <p:nvPicPr>
          <p:cNvPr id="4" name="图片 2">
            <a:extLst>
              <a:ext uri="{FF2B5EF4-FFF2-40B4-BE49-F238E27FC236}">
                <a16:creationId xmlns:a16="http://schemas.microsoft.com/office/drawing/2014/main" id="{BCE3165D-FEE6-4DA4-B569-7E3F5103F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667" y="3429000"/>
            <a:ext cx="884872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80DDA6FA-9356-4F3C-9869-850F9AB97B61}"/>
              </a:ext>
            </a:extLst>
          </p:cNvPr>
          <p:cNvSpPr txBox="1">
            <a:spLocks noChangeArrowheads="1"/>
          </p:cNvSpPr>
          <p:nvPr/>
        </p:nvSpPr>
        <p:spPr>
          <a:xfrm>
            <a:off x="503643" y="1303990"/>
            <a:ext cx="11083042" cy="470262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600"/>
              </a:spcBef>
              <a:spcAft>
                <a:spcPts val="600"/>
              </a:spcAft>
              <a:buNone/>
            </a:pPr>
            <a:r>
              <a:rPr lang="zh-CN" altLang="en-US" sz="2400" b="1" dirty="0"/>
              <a:t>项目工作分解结构</a:t>
            </a:r>
            <a:r>
              <a:rPr lang="zh-CN" altLang="en-US" sz="2400" dirty="0"/>
              <a:t>（</a:t>
            </a:r>
            <a:r>
              <a:rPr lang="en-US" altLang="zh-CN" sz="2400" dirty="0"/>
              <a:t>Work Breakdown Structure</a:t>
            </a:r>
            <a:r>
              <a:rPr lang="zh-CN" altLang="en-US" sz="2400" dirty="0"/>
              <a:t>）</a:t>
            </a:r>
            <a:endParaRPr lang="en-US" altLang="zh-CN" sz="2400" b="1" dirty="0"/>
          </a:p>
          <a:p>
            <a:pPr marL="342900" lvl="1" indent="-342900">
              <a:spcBef>
                <a:spcPts val="600"/>
              </a:spcBef>
              <a:spcAft>
                <a:spcPts val="600"/>
              </a:spcAft>
              <a:buFont typeface="Wingdings" panose="05000000000000000000" pitchFamily="2" charset="2"/>
              <a:buChar char="Ø"/>
            </a:pPr>
            <a:r>
              <a:rPr lang="zh-CN" altLang="zh-CN" sz="2000" dirty="0"/>
              <a:t>将项目可交付成果和项目工作，分解成较小且易管理的组件。</a:t>
            </a:r>
            <a:endParaRPr lang="en-US" altLang="zh-CN" sz="2000" dirty="0"/>
          </a:p>
          <a:p>
            <a:pPr marL="342900" lvl="1" indent="-342900">
              <a:spcBef>
                <a:spcPts val="600"/>
              </a:spcBef>
              <a:spcAft>
                <a:spcPts val="600"/>
              </a:spcAft>
              <a:buFont typeface="Wingdings" panose="05000000000000000000" pitchFamily="2" charset="2"/>
              <a:buChar char="Ø"/>
            </a:pPr>
            <a:r>
              <a:rPr lang="en-US" altLang="zh-CN" sz="2000" dirty="0"/>
              <a:t>WBS</a:t>
            </a:r>
            <a:r>
              <a:rPr lang="zh-CN" altLang="zh-CN" sz="2000" dirty="0"/>
              <a:t>是对项目团队为实现项目目标、创建可交付成果而需要实施的</a:t>
            </a:r>
            <a:r>
              <a:rPr lang="zh-CN" altLang="zh-CN" sz="2000" b="1" dirty="0"/>
              <a:t>全部工作范围的层级分解</a:t>
            </a:r>
            <a:r>
              <a:rPr lang="zh-CN" altLang="zh-CN" sz="2000" dirty="0"/>
              <a:t>。</a:t>
            </a:r>
            <a:endParaRPr lang="en-US" altLang="zh-CN" sz="2000" dirty="0"/>
          </a:p>
          <a:p>
            <a:pPr marL="342900" lvl="1" indent="-342900">
              <a:spcBef>
                <a:spcPts val="600"/>
              </a:spcBef>
              <a:spcAft>
                <a:spcPts val="600"/>
              </a:spcAft>
              <a:buFont typeface="Wingdings" panose="05000000000000000000" pitchFamily="2" charset="2"/>
              <a:buChar char="Ø"/>
            </a:pPr>
            <a:r>
              <a:rPr lang="en-US" altLang="zh-CN" sz="2000" dirty="0"/>
              <a:t>WBS</a:t>
            </a:r>
            <a:r>
              <a:rPr lang="zh-CN" altLang="zh-CN" sz="2000" dirty="0"/>
              <a:t>组织并定义了项目的总范围，代表经批准的当前项目范围说明书中所规定的全部工作。</a:t>
            </a:r>
            <a:r>
              <a:rPr lang="en-US" altLang="zh-CN" sz="2000" dirty="0"/>
              <a:t>WBS</a:t>
            </a:r>
            <a:r>
              <a:rPr lang="zh-CN" altLang="zh-CN" sz="2000" dirty="0"/>
              <a:t>最低层的组件</a:t>
            </a:r>
            <a:r>
              <a:rPr lang="zh-CN" altLang="en-US" sz="2000" dirty="0"/>
              <a:t>称之</a:t>
            </a:r>
            <a:r>
              <a:rPr lang="zh-CN" altLang="zh-CN" sz="2000" dirty="0"/>
              <a:t>为</a:t>
            </a:r>
            <a:r>
              <a:rPr lang="zh-CN" altLang="zh-CN" sz="2000" b="1" dirty="0">
                <a:solidFill>
                  <a:srgbClr val="FF0000"/>
                </a:solidFill>
              </a:rPr>
              <a:t>工作包</a:t>
            </a:r>
            <a:r>
              <a:rPr lang="zh-CN" altLang="zh-CN" sz="2000" dirty="0"/>
              <a:t>，其中包括计划的工作。</a:t>
            </a:r>
          </a:p>
          <a:p>
            <a:pPr lvl="1">
              <a:lnSpc>
                <a:spcPct val="90000"/>
              </a:lnSpc>
              <a:buFont typeface="Wingdings" panose="05000000000000000000" pitchFamily="2" charset="2"/>
              <a:buNone/>
            </a:pPr>
            <a:endParaRPr lang="en-US" altLang="zh-CN" sz="200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412152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E119F-E2BF-946C-2664-4E54415F04B7}"/>
              </a:ext>
            </a:extLst>
          </p:cNvPr>
          <p:cNvSpPr>
            <a:spLocks noGrp="1"/>
          </p:cNvSpPr>
          <p:nvPr>
            <p:ph type="title"/>
          </p:nvPr>
        </p:nvSpPr>
        <p:spPr>
          <a:xfrm>
            <a:off x="623200" y="1240543"/>
            <a:ext cx="1738790" cy="437186"/>
          </a:xfrm>
        </p:spPr>
        <p:txBody>
          <a:bodyPr/>
          <a:lstStyle/>
          <a:p>
            <a:r>
              <a:rPr lang="en-US" altLang="zh-CN" dirty="0"/>
              <a:t>WBS</a:t>
            </a:r>
            <a:r>
              <a:rPr lang="zh-CN" altLang="en-US" dirty="0"/>
              <a:t>示例</a:t>
            </a:r>
          </a:p>
        </p:txBody>
      </p:sp>
      <p:pic>
        <p:nvPicPr>
          <p:cNvPr id="3" name="图片 2">
            <a:extLst>
              <a:ext uri="{FF2B5EF4-FFF2-40B4-BE49-F238E27FC236}">
                <a16:creationId xmlns:a16="http://schemas.microsoft.com/office/drawing/2014/main" id="{E82D45D6-DDA7-9BAD-CF24-1C7D00CDC106}"/>
              </a:ext>
            </a:extLst>
          </p:cNvPr>
          <p:cNvPicPr>
            <a:picLocks noChangeAspect="1"/>
          </p:cNvPicPr>
          <p:nvPr/>
        </p:nvPicPr>
        <p:blipFill>
          <a:blip r:embed="rId3"/>
          <a:stretch>
            <a:fillRect/>
          </a:stretch>
        </p:blipFill>
        <p:spPr>
          <a:xfrm>
            <a:off x="2483374" y="764293"/>
            <a:ext cx="8425402" cy="5389331"/>
          </a:xfrm>
          <a:prstGeom prst="rect">
            <a:avLst/>
          </a:prstGeom>
        </p:spPr>
      </p:pic>
      <p:sp>
        <p:nvSpPr>
          <p:cNvPr id="4" name="文本框 3">
            <a:extLst>
              <a:ext uri="{FF2B5EF4-FFF2-40B4-BE49-F238E27FC236}">
                <a16:creationId xmlns:a16="http://schemas.microsoft.com/office/drawing/2014/main" id="{69AA8308-CEDB-B971-CA07-86709025C15C}"/>
              </a:ext>
            </a:extLst>
          </p:cNvPr>
          <p:cNvSpPr txBox="1"/>
          <p:nvPr/>
        </p:nvSpPr>
        <p:spPr>
          <a:xfrm>
            <a:off x="501816" y="4952317"/>
            <a:ext cx="2186741" cy="1015663"/>
          </a:xfrm>
          <a:prstGeom prst="rect">
            <a:avLst/>
          </a:prstGeom>
          <a:noFill/>
        </p:spPr>
        <p:txBody>
          <a:bodyPr wrap="square">
            <a:spAutoFit/>
          </a:bodyPr>
          <a:lstStyle/>
          <a:p>
            <a:r>
              <a:rPr lang="zh-CN" altLang="en-US" sz="2000" b="0" i="0" u="none" strike="noStrike" baseline="0" dirty="0">
                <a:latin typeface="SourceHanSansSC-Regular"/>
              </a:rPr>
              <a:t>以主要可交付成果作为分解的第二层</a:t>
            </a:r>
            <a:endParaRPr lang="zh-CN" altLang="en-US" sz="2000" dirty="0"/>
          </a:p>
        </p:txBody>
      </p:sp>
    </p:spTree>
    <p:extLst>
      <p:ext uri="{BB962C8B-B14F-4D97-AF65-F5344CB8AC3E}">
        <p14:creationId xmlns:p14="http://schemas.microsoft.com/office/powerpoint/2010/main" val="64785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6" name="内容占位符 2">
            <a:extLst>
              <a:ext uri="{FF2B5EF4-FFF2-40B4-BE49-F238E27FC236}">
                <a16:creationId xmlns:a16="http://schemas.microsoft.com/office/drawing/2014/main" id="{D188FE19-4F7F-4F9E-A18B-429C262869F3}"/>
              </a:ext>
            </a:extLst>
          </p:cNvPr>
          <p:cNvSpPr txBox="1">
            <a:spLocks/>
          </p:cNvSpPr>
          <p:nvPr/>
        </p:nvSpPr>
        <p:spPr>
          <a:xfrm>
            <a:off x="566737" y="1236518"/>
            <a:ext cx="10946389" cy="5238992"/>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0"/>
              </a:spcBef>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工作分解结构概述</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cs typeface="Times New Roman" pitchFamily="18" charset="0"/>
              </a:rPr>
              <a:t>（</a:t>
            </a:r>
            <a:r>
              <a:rPr lang="en-US" altLang="zh-CN" sz="2000" dirty="0">
                <a:latin typeface="微软雅黑" panose="020B0503020204020204" pitchFamily="34" charset="-122"/>
                <a:ea typeface="微软雅黑" panose="020B0503020204020204" pitchFamily="34" charset="-122"/>
                <a:cs typeface="Times New Roman" pitchFamily="18" charset="0"/>
              </a:rPr>
              <a:t>1</a:t>
            </a:r>
            <a:r>
              <a:rPr lang="zh-CN" altLang="en-US" sz="2000" dirty="0">
                <a:latin typeface="微软雅黑" panose="020B0503020204020204" pitchFamily="34" charset="-122"/>
                <a:ea typeface="微软雅黑" panose="020B0503020204020204" pitchFamily="34" charset="-122"/>
                <a:cs typeface="Times New Roman" pitchFamily="18" charset="0"/>
              </a:rPr>
              <a:t>）工作分解结构简介</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defRPr/>
            </a:pPr>
            <a:r>
              <a:rPr lang="zh-CN" altLang="zh-CN" dirty="0">
                <a:latin typeface="微软雅黑" panose="020B0503020204020204" pitchFamily="34" charset="-122"/>
                <a:ea typeface="微软雅黑" panose="020B0503020204020204" pitchFamily="34" charset="-122"/>
              </a:rPr>
              <a:t>工作分解结构是一个以项目的可交付结果为中心，为完成项目的目标和生成项目的可交付成果，由项目团队进行的一种对项目工作有层次的分解。</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cs typeface="Times New Roman" pitchFamily="18" charset="0"/>
              </a:rPr>
              <a:t>（</a:t>
            </a:r>
            <a:r>
              <a:rPr lang="en-US" altLang="zh-CN" sz="2000" dirty="0">
                <a:latin typeface="微软雅黑" panose="020B0503020204020204" pitchFamily="34" charset="-122"/>
                <a:ea typeface="微软雅黑" panose="020B0503020204020204" pitchFamily="34" charset="-122"/>
                <a:cs typeface="Times New Roman" pitchFamily="18" charset="0"/>
              </a:rPr>
              <a:t>2</a:t>
            </a:r>
            <a:r>
              <a:rPr lang="zh-CN" altLang="en-US" sz="2000" dirty="0">
                <a:latin typeface="微软雅黑" panose="020B0503020204020204" pitchFamily="34" charset="-122"/>
                <a:ea typeface="微软雅黑" panose="020B0503020204020204" pitchFamily="34" charset="-122"/>
                <a:cs typeface="Times New Roman" pitchFamily="18" charset="0"/>
              </a:rPr>
              <a:t>）工作分解结构的种类</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defRPr/>
            </a:pP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纲要性工作分解结构（</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SWBS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err="1">
                <a:solidFill>
                  <a:srgbClr val="000000"/>
                </a:solidFill>
                <a:latin typeface="微软雅黑" panose="020B0503020204020204" pitchFamily="34" charset="-122"/>
                <a:ea typeface="微软雅黑" panose="020B0503020204020204" pitchFamily="34" charset="-122"/>
                <a:cs typeface="Times New Roman" pitchFamily="18" charset="0"/>
              </a:rPr>
              <a:t>SMnunary</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defRPr/>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项目纲要性工作分解结构</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PSWBS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err="1">
                <a:solidFill>
                  <a:srgbClr val="000000"/>
                </a:solidFill>
                <a:latin typeface="微软雅黑" panose="020B0503020204020204" pitchFamily="34" charset="-122"/>
                <a:ea typeface="微软雅黑" panose="020B0503020204020204" pitchFamily="34" charset="-122"/>
                <a:cs typeface="Times New Roman" pitchFamily="18" charset="0"/>
              </a:rPr>
              <a:t>ProJect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SWBS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defRPr/>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合同工作分解结构</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CWBS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err="1">
                <a:solidFill>
                  <a:srgbClr val="000000"/>
                </a:solidFill>
                <a:latin typeface="微软雅黑" panose="020B0503020204020204" pitchFamily="34" charset="-122"/>
                <a:ea typeface="微软雅黑" panose="020B0503020204020204" pitchFamily="34" charset="-122"/>
                <a:cs typeface="Times New Roman" pitchFamily="18" charset="0"/>
              </a:rPr>
              <a:t>Conbact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WBS</a:t>
            </a:r>
            <a:r>
              <a:rPr lang="zh-CN" altLang="zh-CN" dirty="0">
                <a:latin typeface="微软雅黑" panose="020B0503020204020204" pitchFamily="34" charset="-122"/>
                <a:ea typeface="微软雅黑" panose="020B0503020204020204" pitchFamily="34" charset="-122"/>
                <a:cs typeface="Times New Roman" pitchFamily="18" charset="0"/>
              </a:rPr>
              <a:t>）</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spcBef>
                <a:spcPts val="0"/>
              </a:spcBef>
              <a:buClr>
                <a:srgbClr val="CC0000"/>
              </a:buClr>
              <a:buNone/>
            </a:pPr>
            <a:r>
              <a:rPr lang="zh-CN" altLang="en-US" sz="20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3</a:t>
            </a:r>
            <a:r>
              <a:rPr lang="zh-CN" altLang="en-US" sz="2000" dirty="0">
                <a:solidFill>
                  <a:srgbClr val="000000"/>
                </a:solidFill>
                <a:latin typeface="微软雅黑" panose="020B0503020204020204" pitchFamily="34" charset="-122"/>
                <a:ea typeface="微软雅黑" panose="020B0503020204020204" pitchFamily="34" charset="-122"/>
                <a:cs typeface="Times New Roman" pitchFamily="18" charset="0"/>
              </a:rPr>
              <a:t>）工作分解结构的作用</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zh-CN" sz="1800">
                <a:solidFill>
                  <a:srgbClr val="000000"/>
                </a:solidFill>
                <a:latin typeface="微软雅黑" panose="020B0503020204020204" pitchFamily="34" charset="-122"/>
                <a:ea typeface="微软雅黑" panose="020B0503020204020204" pitchFamily="34" charset="-122"/>
                <a:cs typeface="Times New Roman" pitchFamily="18" charset="0"/>
              </a:rPr>
              <a:t>反</a:t>
            </a:r>
            <a:r>
              <a:rPr lang="zh-CN" altLang="en-US" sz="1800">
                <a:solidFill>
                  <a:srgbClr val="000000"/>
                </a:solidFill>
                <a:latin typeface="微软雅黑" panose="020B0503020204020204" pitchFamily="34" charset="-122"/>
                <a:ea typeface="微软雅黑" panose="020B0503020204020204" pitchFamily="34" charset="-122"/>
                <a:cs typeface="Times New Roman" pitchFamily="18" charset="0"/>
              </a:rPr>
              <a:t>映</a:t>
            </a:r>
            <a:r>
              <a:rPr lang="zh-CN" altLang="zh-CN" sz="1800">
                <a:solidFill>
                  <a:srgbClr val="000000"/>
                </a:solidFill>
                <a:latin typeface="微软雅黑" panose="020B0503020204020204" pitchFamily="34" charset="-122"/>
                <a:ea typeface="微软雅黑" panose="020B0503020204020204" pitchFamily="34" charset="-122"/>
                <a:cs typeface="Times New Roman" pitchFamily="18" charset="0"/>
              </a:rPr>
              <a:t>项目</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目标</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项目的组织结构图</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为项目中每个部分的成本、进度以及绩效情况建立了标准</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可以用来提供项目的状态信息</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可以用来改善整个项目的信息交流</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说明了项目将会被如何控制</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Font typeface="Wingdings" pitchFamily="2" charset="2"/>
              <a:buChar char="Ø"/>
              <a:defRPr/>
            </a:pPr>
            <a:endParaRPr lang="zh-CN" altLang="en-US" dirty="0">
              <a:latin typeface="Times New Roman" pitchFamily="18" charset="0"/>
              <a:ea typeface="黑体" pitchFamily="2" charset="-122"/>
              <a:cs typeface="Times New Roman" pitchFamily="18" charset="0"/>
            </a:endParaRPr>
          </a:p>
        </p:txBody>
      </p:sp>
    </p:spTree>
    <p:extLst>
      <p:ext uri="{BB962C8B-B14F-4D97-AF65-F5344CB8AC3E}">
        <p14:creationId xmlns:p14="http://schemas.microsoft.com/office/powerpoint/2010/main" val="141799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20.5 </a:t>
            </a:r>
            <a:r>
              <a:rPr lang="zh-CN" altLang="en-US" dirty="0"/>
              <a:t>创建工作分解结构（</a:t>
            </a:r>
            <a:r>
              <a:rPr lang="en-US" altLang="zh-CN" dirty="0"/>
              <a:t>WBS</a:t>
            </a:r>
            <a:r>
              <a:rPr lang="zh-CN" altLang="en-US" dirty="0"/>
              <a:t>）</a:t>
            </a:r>
          </a:p>
        </p:txBody>
      </p:sp>
      <p:graphicFrame>
        <p:nvGraphicFramePr>
          <p:cNvPr id="6" name="对象 5">
            <a:extLst>
              <a:ext uri="{FF2B5EF4-FFF2-40B4-BE49-F238E27FC236}">
                <a16:creationId xmlns:a16="http://schemas.microsoft.com/office/drawing/2014/main" id="{34E19B2A-1601-4F55-8DFC-F9F52E6A60B3}"/>
              </a:ext>
            </a:extLst>
          </p:cNvPr>
          <p:cNvGraphicFramePr>
            <a:graphicFrameLocks noChangeAspect="1"/>
          </p:cNvGraphicFramePr>
          <p:nvPr/>
        </p:nvGraphicFramePr>
        <p:xfrm>
          <a:off x="1167194" y="1439634"/>
          <a:ext cx="9857612" cy="4753841"/>
        </p:xfrm>
        <a:graphic>
          <a:graphicData uri="http://schemas.openxmlformats.org/presentationml/2006/ole">
            <mc:AlternateContent xmlns:mc="http://schemas.openxmlformats.org/markup-compatibility/2006">
              <mc:Choice xmlns:v="urn:schemas-microsoft-com:vml" Requires="v">
                <p:oleObj name="Visio" r:id="rId3" imgW="4942885" imgH="2367604" progId="Visio.Drawing.11">
                  <p:embed/>
                </p:oleObj>
              </mc:Choice>
              <mc:Fallback>
                <p:oleObj name="Visio" r:id="rId3" imgW="4942885" imgH="2367604" progId="Visio.Drawing.11">
                  <p:embed/>
                  <p:pic>
                    <p:nvPicPr>
                      <p:cNvPr id="6" name="对象 5">
                        <a:extLst>
                          <a:ext uri="{FF2B5EF4-FFF2-40B4-BE49-F238E27FC236}">
                            <a16:creationId xmlns:a16="http://schemas.microsoft.com/office/drawing/2014/main" id="{34E19B2A-1601-4F55-8DFC-F9F52E6A60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7194" y="1439634"/>
                        <a:ext cx="9857612" cy="475384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035040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6" name="内容占位符 2">
            <a:extLst>
              <a:ext uri="{FF2B5EF4-FFF2-40B4-BE49-F238E27FC236}">
                <a16:creationId xmlns:a16="http://schemas.microsoft.com/office/drawing/2014/main" id="{D188FE19-4F7F-4F9E-A18B-429C262869F3}"/>
              </a:ext>
            </a:extLst>
          </p:cNvPr>
          <p:cNvSpPr txBox="1">
            <a:spLocks/>
          </p:cNvSpPr>
          <p:nvPr/>
        </p:nvSpPr>
        <p:spPr>
          <a:xfrm>
            <a:off x="566737" y="1236518"/>
            <a:ext cx="10946389" cy="5238992"/>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0"/>
              </a:spcBef>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创建工作分解结构的依据</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输入</a:t>
            </a:r>
            <a:r>
              <a:rPr lang="en-US" altLang="zh-CN" sz="2400" b="1" dirty="0">
                <a:latin typeface="微软雅黑" panose="020B0503020204020204" pitchFamily="34" charset="-122"/>
                <a:ea typeface="微软雅黑" panose="020B0503020204020204" pitchFamily="34" charset="-122"/>
                <a:cs typeface="Times New Roman" pitchFamily="18" charset="0"/>
              </a:rPr>
              <a:t>)</a:t>
            </a:r>
          </a:p>
          <a:p>
            <a:pPr marL="438150" lvl="1" indent="0">
              <a:spcBef>
                <a:spcPts val="0"/>
              </a:spcBef>
              <a:buNone/>
              <a:defRPr/>
            </a:pP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项目管理计划</a:t>
            </a:r>
            <a:endParaRPr lang="en-US" altLang="zh-CN" b="1" dirty="0">
              <a:latin typeface="微软雅黑" panose="020B0503020204020204" pitchFamily="34" charset="-122"/>
              <a:ea typeface="微软雅黑" panose="020B0503020204020204" pitchFamily="34" charset="-122"/>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rPr>
              <a:t>项目管理计划组件包括（但不限于）范围管理计划。</a:t>
            </a:r>
            <a:endParaRPr lang="en-US" altLang="zh-CN" sz="2000" dirty="0">
              <a:latin typeface="微软雅黑" panose="020B0503020204020204" pitchFamily="34" charset="-122"/>
              <a:ea typeface="微软雅黑" panose="020B0503020204020204" pitchFamily="34" charset="-122"/>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rPr>
              <a:t>范围管理计划定义了如何根据项目范围说明书创建 </a:t>
            </a:r>
            <a:r>
              <a:rPr lang="en-US" altLang="zh-CN" sz="2000" dirty="0">
                <a:latin typeface="微软雅黑" panose="020B0503020204020204" pitchFamily="34" charset="-122"/>
                <a:ea typeface="微软雅黑" panose="020B0503020204020204" pitchFamily="34" charset="-122"/>
              </a:rPr>
              <a:t>WBS</a:t>
            </a:r>
          </a:p>
          <a:p>
            <a:pPr marL="0" indent="0">
              <a:buNone/>
            </a:pPr>
            <a:r>
              <a:rPr lang="en-US" altLang="zh-CN" sz="2400" b="1" dirty="0">
                <a:latin typeface="微软雅黑" panose="020B0503020204020204" pitchFamily="34" charset="-122"/>
                <a:ea typeface="微软雅黑" panose="020B0503020204020204" pitchFamily="34" charset="-122"/>
              </a:rPr>
              <a:t>      2. </a:t>
            </a:r>
            <a:r>
              <a:rPr lang="zh-CN" altLang="en-US" sz="2400" b="1" dirty="0">
                <a:latin typeface="微软雅黑" panose="020B0503020204020204" pitchFamily="34" charset="-122"/>
                <a:ea typeface="微软雅黑" panose="020B0503020204020204" pitchFamily="34" charset="-122"/>
              </a:rPr>
              <a:t>项目文件</a:t>
            </a:r>
            <a:endParaRPr lang="en-US" altLang="zh-CN" sz="2400" b="1" dirty="0">
              <a:latin typeface="微软雅黑" panose="020B0503020204020204" pitchFamily="34" charset="-122"/>
              <a:ea typeface="微软雅黑" panose="020B0503020204020204" pitchFamily="34" charset="-122"/>
            </a:endParaRPr>
          </a:p>
          <a:p>
            <a:pPr lvl="1"/>
            <a:r>
              <a:rPr lang="zh-CN" altLang="en-US" sz="2000" b="1" dirty="0">
                <a:latin typeface="微软雅黑" panose="020B0503020204020204" pitchFamily="34" charset="-122"/>
                <a:ea typeface="微软雅黑" panose="020B0503020204020204" pitchFamily="34" charset="-122"/>
              </a:rPr>
              <a:t>项目范围说明书。</a:t>
            </a:r>
            <a:r>
              <a:rPr lang="zh-CN" altLang="en-US" sz="2000" dirty="0">
                <a:latin typeface="微软雅黑" panose="020B0503020204020204" pitchFamily="34" charset="-122"/>
                <a:ea typeface="微软雅黑" panose="020B0503020204020204" pitchFamily="34" charset="-122"/>
              </a:rPr>
              <a:t>项目范围说明书描述了需要实施的工作及不包含在项目中的工作。</a:t>
            </a:r>
          </a:p>
          <a:p>
            <a:pPr lvl="1"/>
            <a:r>
              <a:rPr lang="zh-CN" altLang="en-US" sz="2000" b="1" dirty="0">
                <a:latin typeface="微软雅黑" panose="020B0503020204020204" pitchFamily="34" charset="-122"/>
                <a:ea typeface="微软雅黑" panose="020B0503020204020204" pitchFamily="34" charset="-122"/>
              </a:rPr>
              <a:t>需求文件。</a:t>
            </a:r>
            <a:r>
              <a:rPr lang="zh-CN" altLang="en-US" sz="2000" dirty="0">
                <a:latin typeface="微软雅黑" panose="020B0503020204020204" pitchFamily="34" charset="-122"/>
                <a:ea typeface="微软雅黑" panose="020B0503020204020204" pitchFamily="34" charset="-122"/>
              </a:rPr>
              <a:t>需求文件详细描述了各种单一需求如何满足项目的业务需要。</a:t>
            </a:r>
            <a:endParaRPr lang="en-US" altLang="zh-CN" sz="2000" dirty="0">
              <a:latin typeface="微软雅黑" panose="020B0503020204020204" pitchFamily="34" charset="-122"/>
              <a:ea typeface="微软雅黑" panose="020B0503020204020204" pitchFamily="34" charset="-122"/>
            </a:endParaRPr>
          </a:p>
          <a:p>
            <a:pPr marL="0" indent="0">
              <a:buNone/>
            </a:pPr>
            <a:r>
              <a:rPr lang="en-US" altLang="zh-CN" sz="2400" b="1" dirty="0">
                <a:latin typeface="微软雅黑" panose="020B0503020204020204" pitchFamily="34" charset="-122"/>
                <a:ea typeface="微软雅黑" panose="020B0503020204020204" pitchFamily="34" charset="-122"/>
              </a:rPr>
              <a:t>      3. </a:t>
            </a:r>
            <a:r>
              <a:rPr lang="zh-CN" altLang="en-US" sz="2400" b="1" dirty="0">
                <a:latin typeface="微软雅黑" panose="020B0503020204020204" pitchFamily="34" charset="-122"/>
                <a:ea typeface="微软雅黑" panose="020B0503020204020204" pitchFamily="34" charset="-122"/>
              </a:rPr>
              <a:t>事业环境因素：</a:t>
            </a:r>
          </a:p>
          <a:p>
            <a:pPr lvl="1"/>
            <a:r>
              <a:rPr lang="zh-CN" altLang="en-US" sz="2000" dirty="0">
                <a:latin typeface="微软雅黑" panose="020B0503020204020204" pitchFamily="34" charset="-122"/>
                <a:ea typeface="微软雅黑" panose="020B0503020204020204" pitchFamily="34" charset="-122"/>
              </a:rPr>
              <a:t>会影响创建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过程的事业环境因素包括（但不限于）项目所在行业的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标准，这些标准可以作为创建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的外部参考资料。</a:t>
            </a:r>
            <a:endParaRPr lang="en-US" altLang="zh-CN" sz="2000" dirty="0">
              <a:latin typeface="微软雅黑" panose="020B0503020204020204" pitchFamily="34" charset="-122"/>
              <a:ea typeface="微软雅黑" panose="020B0503020204020204" pitchFamily="34" charset="-122"/>
            </a:endParaRPr>
          </a:p>
          <a:p>
            <a:pPr marL="0" indent="0">
              <a:buNone/>
            </a:pPr>
            <a:r>
              <a:rPr lang="en-US" altLang="zh-CN" sz="2400" b="1" dirty="0">
                <a:latin typeface="微软雅黑" panose="020B0503020204020204" pitchFamily="34" charset="-122"/>
                <a:ea typeface="微软雅黑" panose="020B0503020204020204" pitchFamily="34" charset="-122"/>
              </a:rPr>
              <a:t>      4. </a:t>
            </a:r>
            <a:r>
              <a:rPr lang="zh-CN" altLang="en-US" sz="2400" b="1" dirty="0">
                <a:latin typeface="微软雅黑" panose="020B0503020204020204" pitchFamily="34" charset="-122"/>
                <a:ea typeface="微软雅黑" panose="020B0503020204020204" pitchFamily="34" charset="-122"/>
              </a:rPr>
              <a:t>组织过程资产：</a:t>
            </a:r>
            <a:r>
              <a:rPr lang="zh-CN" altLang="en-US" sz="1800" dirty="0">
                <a:latin typeface="微软雅黑" panose="020B0503020204020204" pitchFamily="34" charset="-122"/>
                <a:ea typeface="微软雅黑" panose="020B0503020204020204" pitchFamily="34" charset="-122"/>
              </a:rPr>
              <a:t>能够影响创建 </a:t>
            </a:r>
            <a:r>
              <a:rPr lang="en-US" altLang="zh-CN" sz="1800" dirty="0">
                <a:latin typeface="微软雅黑" panose="020B0503020204020204" pitchFamily="34" charset="-122"/>
                <a:ea typeface="微软雅黑" panose="020B0503020204020204" pitchFamily="34" charset="-122"/>
              </a:rPr>
              <a:t>WBS </a:t>
            </a:r>
            <a:r>
              <a:rPr lang="zh-CN" altLang="en-US" sz="1800" dirty="0">
                <a:latin typeface="微软雅黑" panose="020B0503020204020204" pitchFamily="34" charset="-122"/>
                <a:ea typeface="微软雅黑" panose="020B0503020204020204" pitchFamily="34" charset="-122"/>
              </a:rPr>
              <a:t>过程的组织过程资产，包括（但不限于）：</a:t>
            </a:r>
          </a:p>
          <a:p>
            <a:pPr lvl="1"/>
            <a:r>
              <a:rPr lang="zh-CN" altLang="en-US" sz="2000" dirty="0">
                <a:latin typeface="微软雅黑" panose="020B0503020204020204" pitchFamily="34" charset="-122"/>
                <a:ea typeface="微软雅黑" panose="020B0503020204020204" pitchFamily="34" charset="-122"/>
              </a:rPr>
              <a:t>用于创建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的政策、程序和模板；</a:t>
            </a:r>
          </a:p>
          <a:p>
            <a:pPr lvl="1"/>
            <a:r>
              <a:rPr lang="zh-CN" altLang="en-US" sz="2000" dirty="0">
                <a:latin typeface="微软雅黑" panose="020B0503020204020204" pitchFamily="34" charset="-122"/>
                <a:ea typeface="微软雅黑" panose="020B0503020204020204" pitchFamily="34" charset="-122"/>
              </a:rPr>
              <a:t>以往项目的项目档案；</a:t>
            </a:r>
          </a:p>
          <a:p>
            <a:pPr lvl="1"/>
            <a:r>
              <a:rPr lang="zh-CN" altLang="en-US" sz="2000" dirty="0">
                <a:latin typeface="微软雅黑" panose="020B0503020204020204" pitchFamily="34" charset="-122"/>
                <a:ea typeface="微软雅黑" panose="020B0503020204020204" pitchFamily="34" charset="-122"/>
              </a:rPr>
              <a:t>以往项目的经验教训。</a:t>
            </a:r>
            <a:endParaRPr lang="en-US" altLang="zh-CN" sz="2000" dirty="0">
              <a:latin typeface="微软雅黑" panose="020B0503020204020204" pitchFamily="34" charset="-122"/>
              <a:ea typeface="微软雅黑" panose="020B0503020204020204" pitchFamily="34" charset="-122"/>
            </a:endParaRPr>
          </a:p>
          <a:p>
            <a:pPr marL="835025" lvl="2" indent="0">
              <a:buFont typeface="Wingdings" pitchFamily="2" charset="2"/>
              <a:buChar char="Ø"/>
              <a:defRPr/>
            </a:pPr>
            <a:endParaRPr lang="zh-CN" altLang="en-US" dirty="0">
              <a:latin typeface="Times New Roman" pitchFamily="18" charset="0"/>
              <a:ea typeface="黑体" pitchFamily="2" charset="-122"/>
              <a:cs typeface="Times New Roman" pitchFamily="18" charset="0"/>
            </a:endParaRPr>
          </a:p>
        </p:txBody>
      </p:sp>
    </p:spTree>
    <p:extLst>
      <p:ext uri="{BB962C8B-B14F-4D97-AF65-F5344CB8AC3E}">
        <p14:creationId xmlns:p14="http://schemas.microsoft.com/office/powerpoint/2010/main" val="255360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2A1D8814-0D78-4C3C-981E-0259DC39EE0E}"/>
              </a:ext>
            </a:extLst>
          </p:cNvPr>
          <p:cNvSpPr txBox="1">
            <a:spLocks/>
          </p:cNvSpPr>
          <p:nvPr/>
        </p:nvSpPr>
        <p:spPr>
          <a:xfrm>
            <a:off x="566737" y="1314450"/>
            <a:ext cx="6987002" cy="492259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500"/>
              </a:spcBef>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创建工作分解结构的成果（输出）</a:t>
            </a:r>
          </a:p>
          <a:p>
            <a:pPr marL="781050" lvl="1" indent="-342900">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Times New Roman" pitchFamily="18" charset="0"/>
              </a:rPr>
              <a:t>范围基准</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Font typeface="Wingdings" pitchFamily="2" charset="2"/>
              <a:buChar char="Ø"/>
            </a:pPr>
            <a:r>
              <a:rPr lang="zh-CN" altLang="en-US" b="1" dirty="0">
                <a:latin typeface="微软雅黑" panose="020B0503020204020204" pitchFamily="34" charset="-122"/>
                <a:ea typeface="微软雅黑" panose="020B0503020204020204" pitchFamily="34" charset="-122"/>
                <a:cs typeface="Times New Roman" pitchFamily="18" charset="0"/>
              </a:rPr>
              <a:t>项目范围说明书</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Font typeface="Wingdings" pitchFamily="2" charset="2"/>
              <a:buChar char="Ø"/>
            </a:pPr>
            <a:r>
              <a:rPr lang="en-US" altLang="zh-CN" b="1" dirty="0">
                <a:latin typeface="微软雅黑" panose="020B0503020204020204" pitchFamily="34" charset="-122"/>
                <a:ea typeface="微软雅黑" panose="020B0503020204020204" pitchFamily="34" charset="-122"/>
                <a:cs typeface="Times New Roman" pitchFamily="18" charset="0"/>
              </a:rPr>
              <a:t>WBS</a:t>
            </a:r>
          </a:p>
          <a:p>
            <a:pPr marL="835025" lvl="2" indent="0">
              <a:lnSpc>
                <a:spcPct val="100000"/>
              </a:lnSpc>
              <a:buFont typeface="Wingdings" pitchFamily="2" charset="2"/>
              <a:buChar char="Ø"/>
            </a:pPr>
            <a:r>
              <a:rPr lang="zh-CN" altLang="en-US" b="1" dirty="0">
                <a:latin typeface="微软雅黑" panose="020B0503020204020204" pitchFamily="34" charset="-122"/>
                <a:ea typeface="微软雅黑" panose="020B0503020204020204" pitchFamily="34" charset="-122"/>
                <a:cs typeface="Times New Roman" pitchFamily="18" charset="0"/>
              </a:rPr>
              <a:t>工作包：</a:t>
            </a:r>
            <a:r>
              <a:rPr lang="zh-CN" altLang="en-US" sz="2000" b="1" i="0" u="none" strike="noStrike" baseline="0" dirty="0">
                <a:latin typeface="SourceHanSansSC-Regular"/>
              </a:rPr>
              <a:t>带有独特标识号</a:t>
            </a:r>
            <a:endParaRPr lang="en-US" altLang="zh-CN" sz="2000" b="1" i="0" u="none" strike="noStrike" baseline="0" dirty="0">
              <a:latin typeface="SourceHanSansSC-Regular"/>
            </a:endParaRPr>
          </a:p>
          <a:p>
            <a:pPr marL="835025" lvl="2" indent="0">
              <a:lnSpc>
                <a:spcPct val="100000"/>
              </a:lnSpc>
              <a:buFont typeface="Wingdings" pitchFamily="2" charset="2"/>
              <a:buChar char="Ø"/>
            </a:pPr>
            <a:r>
              <a:rPr lang="zh-CN" altLang="en-US" b="1" dirty="0">
                <a:latin typeface="微软雅黑" panose="020B0503020204020204" pitchFamily="34" charset="-122"/>
                <a:ea typeface="微软雅黑" panose="020B0503020204020204" pitchFamily="34" charset="-122"/>
                <a:cs typeface="Times New Roman" pitchFamily="18" charset="0"/>
              </a:rPr>
              <a:t>规划包</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Font typeface="Wingdings" pitchFamily="2" charset="2"/>
              <a:buChar char="Ø"/>
            </a:pPr>
            <a:r>
              <a:rPr lang="en-US" altLang="zh-CN" b="1" dirty="0">
                <a:latin typeface="微软雅黑" panose="020B0503020204020204" pitchFamily="34" charset="-122"/>
                <a:ea typeface="微软雅黑" panose="020B0503020204020204" pitchFamily="34" charset="-122"/>
                <a:cs typeface="Times New Roman" pitchFamily="18" charset="0"/>
              </a:rPr>
              <a:t>WBS </a:t>
            </a:r>
            <a:r>
              <a:rPr lang="zh-CN" altLang="en-US" b="1" dirty="0">
                <a:latin typeface="微软雅黑" panose="020B0503020204020204" pitchFamily="34" charset="-122"/>
                <a:ea typeface="微软雅黑" panose="020B0503020204020204" pitchFamily="34" charset="-122"/>
                <a:cs typeface="Times New Roman" pitchFamily="18" charset="0"/>
              </a:rPr>
              <a:t>词典：</a:t>
            </a:r>
            <a:r>
              <a:rPr lang="zh-CN" altLang="en-US" b="1" dirty="0">
                <a:latin typeface="SourceHanSansSC-Regular"/>
              </a:rPr>
              <a:t>是针对 </a:t>
            </a:r>
            <a:r>
              <a:rPr lang="en-US" altLang="zh-CN" b="1" dirty="0">
                <a:latin typeface="SourceHanSansSC-Regular"/>
              </a:rPr>
              <a:t>WBS </a:t>
            </a:r>
            <a:r>
              <a:rPr lang="zh-CN" altLang="en-US" b="1" dirty="0">
                <a:latin typeface="SourceHanSansSC-Regular"/>
              </a:rPr>
              <a:t>中的每个组件，详细描述可交付成果、活动和进度信息的文件</a:t>
            </a:r>
            <a:endParaRPr lang="en-US" altLang="zh-CN" b="1" dirty="0">
              <a:latin typeface="SourceHanSansSC-Regular"/>
            </a:endParaRPr>
          </a:p>
          <a:p>
            <a:pPr marL="720725" lvl="1" indent="-342900">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Times New Roman" pitchFamily="18" charset="0"/>
              </a:rPr>
              <a:t>项目文件更新</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None/>
            </a:pPr>
            <a:r>
              <a:rPr lang="zh-CN" altLang="en-US" b="1" dirty="0">
                <a:latin typeface="微软雅黑" panose="020B0503020204020204" pitchFamily="34" charset="-122"/>
                <a:ea typeface="微软雅黑" panose="020B0503020204020204" pitchFamily="34" charset="-122"/>
                <a:cs typeface="Times New Roman" pitchFamily="18" charset="0"/>
              </a:rPr>
              <a:t>假设日志</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None/>
            </a:pPr>
            <a:r>
              <a:rPr lang="zh-CN" altLang="en-US" b="1" dirty="0">
                <a:latin typeface="微软雅黑" panose="020B0503020204020204" pitchFamily="34" charset="-122"/>
                <a:ea typeface="微软雅黑" panose="020B0503020204020204" pitchFamily="34" charset="-122"/>
                <a:cs typeface="Times New Roman" pitchFamily="18" charset="0"/>
              </a:rPr>
              <a:t>需求文件</a:t>
            </a:r>
            <a:endParaRPr lang="en-US" altLang="zh-CN" b="1" dirty="0">
              <a:latin typeface="微软雅黑" panose="020B0503020204020204" pitchFamily="34" charset="-122"/>
              <a:ea typeface="微软雅黑" panose="020B0503020204020204" pitchFamily="34" charset="-122"/>
              <a:cs typeface="Times New Roman" pitchFamily="18" charset="0"/>
            </a:endParaRPr>
          </a:p>
        </p:txBody>
      </p:sp>
      <p:sp>
        <p:nvSpPr>
          <p:cNvPr id="7" name="卷形: 垂直 6">
            <a:extLst>
              <a:ext uri="{FF2B5EF4-FFF2-40B4-BE49-F238E27FC236}">
                <a16:creationId xmlns:a16="http://schemas.microsoft.com/office/drawing/2014/main" id="{CAF6A00B-D9EC-433C-9CB2-412FCD4FC49A}"/>
              </a:ext>
            </a:extLst>
          </p:cNvPr>
          <p:cNvSpPr/>
          <p:nvPr/>
        </p:nvSpPr>
        <p:spPr>
          <a:xfrm>
            <a:off x="7183127" y="1457786"/>
            <a:ext cx="4403558" cy="4779257"/>
          </a:xfrm>
          <a:prstGeom prst="vertic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ltLang="zh-CN"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endParaRPr>
          </a:p>
          <a:p>
            <a:pPr algn="l"/>
            <a:r>
              <a:rPr lang="en-US" altLang="zh-CN"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WBS </a:t>
            </a:r>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词典中的可能条目：</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账户编码标识；</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工作描述；</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假设条件和制约因素；</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负责的组织；</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进度里程碑；</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相关的进度活动；</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所需资源；</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成本估算；</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质量要求；</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验收标准；</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技术参考文献；</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协议信息。</a:t>
            </a:r>
            <a:endParaRPr lang="zh-CN" altLang="en-US" sz="2000" b="1" dirty="0">
              <a:solidFill>
                <a:schemeClr val="accent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82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3F744D0-DFEA-CABE-A3D1-FF1D5D0FF2E0}"/>
              </a:ext>
            </a:extLst>
          </p:cNvPr>
          <p:cNvPicPr>
            <a:picLocks noChangeAspect="1"/>
          </p:cNvPicPr>
          <p:nvPr/>
        </p:nvPicPr>
        <p:blipFill>
          <a:blip r:embed="rId3"/>
          <a:stretch>
            <a:fillRect/>
          </a:stretch>
        </p:blipFill>
        <p:spPr>
          <a:xfrm>
            <a:off x="4031988" y="1557964"/>
            <a:ext cx="7406290" cy="4535743"/>
          </a:xfrm>
          <a:prstGeom prst="rect">
            <a:avLst/>
          </a:prstGeom>
        </p:spPr>
      </p:pic>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490536" y="1314450"/>
            <a:ext cx="11050298" cy="3912458"/>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None/>
            </a:pP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的设计要素</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 WBS</a:t>
            </a:r>
            <a:r>
              <a:rPr lang="zh-CN" altLang="zh-CN" dirty="0">
                <a:solidFill>
                  <a:srgbClr val="000000"/>
                </a:solidFill>
                <a:latin typeface="微软雅黑" panose="020B0503020204020204" pitchFamily="34" charset="-122"/>
                <a:ea typeface="微软雅黑" panose="020B0503020204020204" pitchFamily="34" charset="-122"/>
                <a:cs typeface="Times New Roman" pitchFamily="18" charset="0"/>
              </a:rPr>
              <a:t>的结构</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代码设计 </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报告设计 </a:t>
            </a:r>
          </a:p>
          <a:p>
            <a:pPr marL="438150" lvl="1" indent="0">
              <a:buNone/>
            </a:pP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的分解方法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类比法</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自上而下法</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自下而上法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思维导图法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p:txBody>
      </p:sp>
      <p:sp>
        <p:nvSpPr>
          <p:cNvPr id="9" name="文本框 8">
            <a:extLst>
              <a:ext uri="{FF2B5EF4-FFF2-40B4-BE49-F238E27FC236}">
                <a16:creationId xmlns:a16="http://schemas.microsoft.com/office/drawing/2014/main" id="{88A02641-72B0-483D-8E88-D317B0CD3787}"/>
              </a:ext>
            </a:extLst>
          </p:cNvPr>
          <p:cNvSpPr txBox="1"/>
          <p:nvPr/>
        </p:nvSpPr>
        <p:spPr>
          <a:xfrm>
            <a:off x="9662362" y="4502029"/>
            <a:ext cx="2120064" cy="646331"/>
          </a:xfrm>
          <a:prstGeom prst="rect">
            <a:avLst/>
          </a:prstGeom>
          <a:noFill/>
        </p:spPr>
        <p:txBody>
          <a:bodyPr wrap="square">
            <a:spAutoFit/>
          </a:bodyPr>
          <a:lstStyle/>
          <a:p>
            <a:r>
              <a:rPr lang="zh-CN" altLang="en-US" sz="1800" b="1" i="0" u="none" strike="noStrike" baseline="0" dirty="0">
                <a:latin typeface="SourceHanSansSC-Bold"/>
              </a:rPr>
              <a:t>分解到工作包的 </a:t>
            </a:r>
            <a:r>
              <a:rPr lang="en-US" altLang="zh-CN" sz="1800" b="1" i="0" u="none" strike="noStrike" baseline="0" dirty="0">
                <a:latin typeface="HelveticaNeue-BoldCond"/>
              </a:rPr>
              <a:t>WBS </a:t>
            </a:r>
            <a:r>
              <a:rPr lang="zh-CN" altLang="en-US" sz="1800" b="1" i="0" u="none" strike="noStrike" baseline="0" dirty="0">
                <a:latin typeface="SourceHanSansSC-Bold"/>
              </a:rPr>
              <a:t>示例</a:t>
            </a:r>
            <a:endParaRPr lang="zh-CN" altLang="en-US" dirty="0"/>
          </a:p>
        </p:txBody>
      </p:sp>
    </p:spTree>
    <p:extLst>
      <p:ext uri="{BB962C8B-B14F-4D97-AF65-F5344CB8AC3E}">
        <p14:creationId xmlns:p14="http://schemas.microsoft.com/office/powerpoint/2010/main" val="4058251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4650FC24-A0AF-43B0-9D16-2AD6F8CBB636}"/>
              </a:ext>
            </a:extLst>
          </p:cNvPr>
          <p:cNvSpPr txBox="1">
            <a:spLocks/>
          </p:cNvSpPr>
          <p:nvPr/>
        </p:nvSpPr>
        <p:spPr>
          <a:xfrm>
            <a:off x="490535" y="1314449"/>
            <a:ext cx="10967171" cy="5169477"/>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20000"/>
              </a:lnSpc>
              <a:buFont typeface="Wingdings" pitchFamily="2" charset="2"/>
              <a:buNone/>
              <a:defRPr/>
            </a:pPr>
            <a:r>
              <a:rPr lang="zh-CN" altLang="zh-CN" sz="2400" b="1" dirty="0">
                <a:latin typeface="微软雅黑" panose="020B0503020204020204" pitchFamily="34" charset="-122"/>
                <a:ea typeface="微软雅黑" panose="020B0503020204020204" pitchFamily="34" charset="-122"/>
                <a:cs typeface="Times New Roman" pitchFamily="18" charset="0"/>
              </a:rPr>
              <a:t>创建工作分解结构的过程</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ct val="120000"/>
              </a:lnSpc>
              <a:buNone/>
              <a:defRPr/>
            </a:pPr>
            <a:r>
              <a:rPr lang="zh-CN" altLang="en-US" dirty="0">
                <a:latin typeface="微软雅黑" panose="020B0503020204020204" pitchFamily="34" charset="-122"/>
                <a:ea typeface="微软雅黑" panose="020B0503020204020204" pitchFamily="34" charset="-122"/>
                <a:cs typeface="Times New Roman" pitchFamily="18" charset="0"/>
              </a:rPr>
              <a:t>创建</a:t>
            </a:r>
            <a:r>
              <a:rPr lang="en-US" altLang="zh-CN" dirty="0">
                <a:latin typeface="微软雅黑" panose="020B0503020204020204" pitchFamily="34" charset="-122"/>
                <a:ea typeface="微软雅黑" panose="020B0503020204020204" pitchFamily="34" charset="-122"/>
                <a:cs typeface="Times New Roman" pitchFamily="18" charset="0"/>
              </a:rPr>
              <a:t>WBS </a:t>
            </a:r>
            <a:r>
              <a:rPr lang="zh-CN" altLang="en-US" dirty="0">
                <a:latin typeface="微软雅黑" panose="020B0503020204020204" pitchFamily="34" charset="-122"/>
                <a:ea typeface="微软雅黑" panose="020B0503020204020204" pitchFamily="34" charset="-122"/>
                <a:cs typeface="Times New Roman" pitchFamily="18" charset="0"/>
              </a:rPr>
              <a:t>的基本原则</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一个单位工作任务只能在</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中出现在一个地方；</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一个</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项的工作内容是其下一级各项工作之和；</a:t>
            </a:r>
          </a:p>
          <a:p>
            <a:pPr marL="835025" lvl="2" indent="0">
              <a:lnSpc>
                <a:spcPct val="120000"/>
              </a:lnSpc>
              <a:buFont typeface="Wingdings" pitchFamily="2" charset="2"/>
              <a:buChar char="Ø"/>
              <a:defRPr/>
            </a:pPr>
            <a:r>
              <a:rPr lang="en-US" altLang="zh-CN" dirty="0">
                <a:latin typeface="微软雅黑" panose="020B0503020204020204" pitchFamily="34" charset="-122"/>
                <a:ea typeface="微软雅黑" panose="020B0503020204020204" pitchFamily="34" charset="-122"/>
                <a:cs typeface="Times New Roman" pitchFamily="18" charset="0"/>
              </a:rPr>
              <a:t> WBS</a:t>
            </a:r>
            <a:r>
              <a:rPr lang="zh-CN" altLang="en-US" dirty="0">
                <a:latin typeface="微软雅黑" panose="020B0503020204020204" pitchFamily="34" charset="-122"/>
                <a:ea typeface="微软雅黑" panose="020B0503020204020204" pitchFamily="34" charset="-122"/>
                <a:cs typeface="Times New Roman" pitchFamily="18" charset="0"/>
              </a:rPr>
              <a:t>中的每一项工作都只能由一个人负责，即使这项工作要多人来做也是如此；</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必须与工作任务的实际执行过程相一致，首先应当服务于项目团队，可行的话 ，再考虑其他目的。</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项目团队成员应尽可能参与</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的制定，以确保一致性和全员参与；</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每一个</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项都必须归档，以确保准确理解该项工作范围；</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20000"/>
              </a:lnSpc>
              <a:buFont typeface="Wingdings" pitchFamily="2" charset="2"/>
              <a:buChar char="Ø"/>
              <a:defRPr/>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在根据范围说明书对项目工作内容进行控制的同时，还必须让</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具有一定的灵活性以适应无法避免的变更需要。</a:t>
            </a:r>
            <a:endParaRPr lang="zh-CN" altLang="en-US" dirty="0">
              <a:latin typeface="微软雅黑" panose="020B0503020204020204" pitchFamily="34" charset="-122"/>
              <a:ea typeface="微软雅黑" panose="020B0503020204020204" pitchFamily="34" charset="-122"/>
              <a:cs typeface="Times New Roman" pitchFamily="18" charset="0"/>
            </a:endParaRPr>
          </a:p>
          <a:p>
            <a:pPr>
              <a:buFont typeface="Wingdings" pitchFamily="2" charset="2"/>
              <a:buNone/>
              <a:defRPr/>
            </a:pPr>
            <a:endParaRPr lang="zh-CN" altLang="en-US" dirty="0"/>
          </a:p>
        </p:txBody>
      </p:sp>
    </p:spTree>
    <p:extLst>
      <p:ext uri="{BB962C8B-B14F-4D97-AF65-F5344CB8AC3E}">
        <p14:creationId xmlns:p14="http://schemas.microsoft.com/office/powerpoint/2010/main" val="2291346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C18E0D77-27B0-4F57-BBE1-5F6E61ED8EFD}"/>
              </a:ext>
            </a:extLst>
          </p:cNvPr>
          <p:cNvSpPr txBox="1">
            <a:spLocks/>
          </p:cNvSpPr>
          <p:nvPr/>
        </p:nvSpPr>
        <p:spPr>
          <a:xfrm>
            <a:off x="566738" y="1314450"/>
            <a:ext cx="10904826" cy="515908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lvl="1" indent="0">
              <a:lnSpc>
                <a:spcPct val="150000"/>
              </a:lnSpc>
              <a:buNone/>
            </a:pPr>
            <a:r>
              <a:rPr lang="zh-CN" altLang="zh-CN" b="1" dirty="0">
                <a:latin typeface="微软雅黑" panose="020B0503020204020204" pitchFamily="34" charset="-122"/>
                <a:ea typeface="微软雅黑" panose="020B0503020204020204" pitchFamily="34" charset="-122"/>
                <a:cs typeface="Times New Roman" pitchFamily="18" charset="0"/>
              </a:rPr>
              <a:t>创建工作分解结构的过程</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lnSpc>
                <a:spcPct val="100000"/>
              </a:lnSpc>
              <a:spcBef>
                <a:spcPts val="600"/>
              </a:spcBef>
              <a:spcAft>
                <a:spcPts val="600"/>
              </a:spcAft>
              <a:buNone/>
            </a:pPr>
            <a:r>
              <a:rPr lang="zh-CN" altLang="en-US" dirty="0">
                <a:latin typeface="微软雅黑" panose="020B0503020204020204" pitchFamily="34" charset="-122"/>
                <a:ea typeface="微软雅黑" panose="020B0503020204020204" pitchFamily="34" charset="-122"/>
                <a:cs typeface="Times New Roman" pitchFamily="18" charset="0"/>
              </a:rPr>
              <a:t>创建</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的步骤</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了解项目环境，明确项目的目标</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明确项目的主要可交付成果及相关工作</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根据项目的可交付成果选择构建</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的方法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292225" lvl="3"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可以采用提纲式、组织结构图或能说明层级结构的其他形式</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自上而下逐层细化分解，核实工作分解的正确性</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292225" lvl="3"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通过确认 </a:t>
            </a:r>
            <a:r>
              <a:rPr lang="en-US" altLang="zh-CN" dirty="0">
                <a:latin typeface="微软雅黑" panose="020B0503020204020204" pitchFamily="34" charset="-122"/>
                <a:ea typeface="微软雅黑" panose="020B0503020204020204" pitchFamily="34" charset="-122"/>
                <a:cs typeface="Times New Roman" pitchFamily="18" charset="0"/>
              </a:rPr>
              <a:t>WBS </a:t>
            </a:r>
            <a:r>
              <a:rPr lang="zh-CN" altLang="en-US" dirty="0">
                <a:latin typeface="微软雅黑" panose="020B0503020204020204" pitchFamily="34" charset="-122"/>
                <a:ea typeface="微软雅黑" panose="020B0503020204020204" pitchFamily="34" charset="-122"/>
                <a:cs typeface="Times New Roman" pitchFamily="18" charset="0"/>
              </a:rPr>
              <a:t>较低层组件是完成上层相应可交付成果的必要且充分的工作，来核实分解的正确性。不同的可交付成果可以分解到不同的层次。</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制定</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词典，进行工作单元编码</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核实可交付成果分解的程度是否恰当</a:t>
            </a:r>
            <a:endParaRPr lang="zh-CN" altLang="en-US" dirty="0"/>
          </a:p>
        </p:txBody>
      </p:sp>
    </p:spTree>
    <p:extLst>
      <p:ext uri="{BB962C8B-B14F-4D97-AF65-F5344CB8AC3E}">
        <p14:creationId xmlns:p14="http://schemas.microsoft.com/office/powerpoint/2010/main" val="365707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570851" y="1201479"/>
            <a:ext cx="11050298" cy="51486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Clr>
                <a:srgbClr val="CC0000"/>
              </a:buClr>
              <a:buNone/>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en-US" altLang="zh-CN" sz="24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按项目的专业分工分解</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按照项目生命周期的不同阶段分解</a:t>
            </a:r>
          </a:p>
          <a:p>
            <a:pPr marL="835025" lvl="2" indent="0">
              <a:buClr>
                <a:srgbClr val="CC0000"/>
              </a:buClr>
              <a:buNone/>
            </a:pPr>
            <a:endParaRPr lang="zh-CN" altLang="en-US" dirty="0">
              <a:latin typeface="微软雅黑" panose="020B0503020204020204" pitchFamily="34" charset="-122"/>
              <a:ea typeface="微软雅黑" panose="020B0503020204020204" pitchFamily="34" charset="-122"/>
              <a:cs typeface="Times New Roman" pitchFamily="18" charset="0"/>
            </a:endParaRPr>
          </a:p>
        </p:txBody>
      </p:sp>
      <p:pic>
        <p:nvPicPr>
          <p:cNvPr id="6" name="图片 5">
            <a:extLst>
              <a:ext uri="{FF2B5EF4-FFF2-40B4-BE49-F238E27FC236}">
                <a16:creationId xmlns:a16="http://schemas.microsoft.com/office/drawing/2014/main" id="{81CD57F4-DA3E-552D-F3BC-6A9567191CF0}"/>
              </a:ext>
            </a:extLst>
          </p:cNvPr>
          <p:cNvPicPr>
            <a:picLocks noChangeAspect="1"/>
          </p:cNvPicPr>
          <p:nvPr/>
        </p:nvPicPr>
        <p:blipFill>
          <a:blip r:embed="rId3"/>
          <a:stretch>
            <a:fillRect/>
          </a:stretch>
        </p:blipFill>
        <p:spPr>
          <a:xfrm>
            <a:off x="613885" y="2934208"/>
            <a:ext cx="6250594" cy="3415966"/>
          </a:xfrm>
          <a:prstGeom prst="rect">
            <a:avLst/>
          </a:prstGeom>
        </p:spPr>
      </p:pic>
      <p:graphicFrame>
        <p:nvGraphicFramePr>
          <p:cNvPr id="8" name="Object 3">
            <a:extLst>
              <a:ext uri="{FF2B5EF4-FFF2-40B4-BE49-F238E27FC236}">
                <a16:creationId xmlns:a16="http://schemas.microsoft.com/office/drawing/2014/main" id="{5512F8DC-8BD4-5760-2E85-03E4AEEB8B25}"/>
              </a:ext>
            </a:extLst>
          </p:cNvPr>
          <p:cNvGraphicFramePr>
            <a:graphicFrameLocks noChangeAspect="1"/>
          </p:cNvGraphicFramePr>
          <p:nvPr/>
        </p:nvGraphicFramePr>
        <p:xfrm>
          <a:off x="6144696" y="1376447"/>
          <a:ext cx="5277109" cy="1557761"/>
        </p:xfrm>
        <a:graphic>
          <a:graphicData uri="http://schemas.openxmlformats.org/presentationml/2006/ole">
            <mc:AlternateContent xmlns:mc="http://schemas.openxmlformats.org/markup-compatibility/2006">
              <mc:Choice xmlns:v="urn:schemas-microsoft-com:vml" Requires="v">
                <p:oleObj r:id="rId4" imgW="8686800" imgH="1804680" progId="Visio.Drawing.6">
                  <p:embed/>
                </p:oleObj>
              </mc:Choice>
              <mc:Fallback>
                <p:oleObj r:id="rId4" imgW="8686800" imgH="1804680" progId="Visio.Drawing.6">
                  <p:embed/>
                  <p:pic>
                    <p:nvPicPr>
                      <p:cNvPr id="8" name="Object 3">
                        <a:extLst>
                          <a:ext uri="{FF2B5EF4-FFF2-40B4-BE49-F238E27FC236}">
                            <a16:creationId xmlns:a16="http://schemas.microsoft.com/office/drawing/2014/main" id="{5512F8DC-8BD4-5760-2E85-03E4AEEB8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4696" y="1376447"/>
                        <a:ext cx="5277109" cy="1557761"/>
                      </a:xfrm>
                      <a:prstGeom prst="rect">
                        <a:avLst/>
                      </a:prstGeom>
                      <a:noFill/>
                      <a:ln>
                        <a:noFill/>
                      </a:ln>
                      <a:effectLst/>
                    </p:spPr>
                  </p:pic>
                </p:oleObj>
              </mc:Fallback>
            </mc:AlternateContent>
          </a:graphicData>
        </a:graphic>
      </p:graphicFrame>
      <p:sp>
        <p:nvSpPr>
          <p:cNvPr id="13" name="文本框 12">
            <a:extLst>
              <a:ext uri="{FF2B5EF4-FFF2-40B4-BE49-F238E27FC236}">
                <a16:creationId xmlns:a16="http://schemas.microsoft.com/office/drawing/2014/main" id="{45C411BF-9E60-7B44-F760-EA0D23AC934E}"/>
              </a:ext>
            </a:extLst>
          </p:cNvPr>
          <p:cNvSpPr txBox="1"/>
          <p:nvPr/>
        </p:nvSpPr>
        <p:spPr>
          <a:xfrm>
            <a:off x="7605326" y="2676925"/>
            <a:ext cx="3816479" cy="369332"/>
          </a:xfrm>
          <a:prstGeom prst="rect">
            <a:avLst/>
          </a:prstGeom>
          <a:noFill/>
        </p:spPr>
        <p:txBody>
          <a:bodyPr wrap="square">
            <a:spAutoFit/>
          </a:bodyPr>
          <a:lstStyle/>
          <a:p>
            <a:r>
              <a:rPr lang="zh-CN" altLang="en-US" dirty="0"/>
              <a:t>按项目的专业分工分解</a:t>
            </a:r>
          </a:p>
        </p:txBody>
      </p:sp>
      <p:sp>
        <p:nvSpPr>
          <p:cNvPr id="15" name="文本框 14">
            <a:extLst>
              <a:ext uri="{FF2B5EF4-FFF2-40B4-BE49-F238E27FC236}">
                <a16:creationId xmlns:a16="http://schemas.microsoft.com/office/drawing/2014/main" id="{84157D1E-6B43-E26B-0078-6744C6B5CEF3}"/>
              </a:ext>
            </a:extLst>
          </p:cNvPr>
          <p:cNvSpPr txBox="1"/>
          <p:nvPr/>
        </p:nvSpPr>
        <p:spPr>
          <a:xfrm>
            <a:off x="6864479" y="5158387"/>
            <a:ext cx="2098546" cy="646331"/>
          </a:xfrm>
          <a:prstGeom prst="rect">
            <a:avLst/>
          </a:prstGeom>
          <a:noFill/>
        </p:spPr>
        <p:txBody>
          <a:bodyPr wrap="square">
            <a:spAutoFit/>
          </a:bodyPr>
          <a:lstStyle/>
          <a:p>
            <a:r>
              <a:rPr lang="zh-CN" altLang="en-US" dirty="0"/>
              <a:t>按照项目生命周期的不同阶段分解</a:t>
            </a:r>
          </a:p>
        </p:txBody>
      </p:sp>
    </p:spTree>
    <p:extLst>
      <p:ext uri="{BB962C8B-B14F-4D97-AF65-F5344CB8AC3E}">
        <p14:creationId xmlns:p14="http://schemas.microsoft.com/office/powerpoint/2010/main" val="1161717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568593" y="1314449"/>
            <a:ext cx="11050298" cy="51486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Clr>
                <a:srgbClr val="CC0000"/>
              </a:buClr>
              <a:buNone/>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按照项目的子系统、子工程分解</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按照项目的可交付成果分解</a:t>
            </a:r>
            <a:endParaRPr lang="zh-CN" altLang="en-US" dirty="0">
              <a:latin typeface="微软雅黑" panose="020B0503020204020204" pitchFamily="34" charset="-122"/>
              <a:ea typeface="微软雅黑" panose="020B0503020204020204" pitchFamily="34" charset="-122"/>
              <a:cs typeface="Times New Roman" pitchFamily="18" charset="0"/>
            </a:endParaRPr>
          </a:p>
        </p:txBody>
      </p:sp>
      <p:graphicFrame>
        <p:nvGraphicFramePr>
          <p:cNvPr id="7" name="Object 3">
            <a:extLst>
              <a:ext uri="{FF2B5EF4-FFF2-40B4-BE49-F238E27FC236}">
                <a16:creationId xmlns:a16="http://schemas.microsoft.com/office/drawing/2014/main" id="{2026ED0D-B2EB-4B3E-AFA6-B935D4D434A3}"/>
              </a:ext>
            </a:extLst>
          </p:cNvPr>
          <p:cNvGraphicFramePr>
            <a:graphicFrameLocks noChangeAspect="1"/>
          </p:cNvGraphicFramePr>
          <p:nvPr/>
        </p:nvGraphicFramePr>
        <p:xfrm>
          <a:off x="5682608" y="1849381"/>
          <a:ext cx="5936283" cy="1352738"/>
        </p:xfrm>
        <a:graphic>
          <a:graphicData uri="http://schemas.openxmlformats.org/presentationml/2006/ole">
            <mc:AlternateContent xmlns:mc="http://schemas.openxmlformats.org/markup-compatibility/2006">
              <mc:Choice xmlns:v="urn:schemas-microsoft-com:vml" Requires="v">
                <p:oleObj r:id="rId2" imgW="8641800" imgH="1495800" progId="Visio.Drawing.6">
                  <p:embed/>
                </p:oleObj>
              </mc:Choice>
              <mc:Fallback>
                <p:oleObj r:id="rId2" imgW="8641800" imgH="1495800" progId="Visio.Drawing.6">
                  <p:embed/>
                  <p:pic>
                    <p:nvPicPr>
                      <p:cNvPr id="7" name="Object 3">
                        <a:extLst>
                          <a:ext uri="{FF2B5EF4-FFF2-40B4-BE49-F238E27FC236}">
                            <a16:creationId xmlns:a16="http://schemas.microsoft.com/office/drawing/2014/main" id="{2026ED0D-B2EB-4B3E-AFA6-B935D4D43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2608" y="1849381"/>
                        <a:ext cx="5936283" cy="1352738"/>
                      </a:xfrm>
                      <a:prstGeom prst="rect">
                        <a:avLst/>
                      </a:prstGeom>
                      <a:noFill/>
                      <a:ln>
                        <a:noFill/>
                      </a:ln>
                      <a:effectLst/>
                    </p:spPr>
                  </p:pic>
                </p:oleObj>
              </mc:Fallback>
            </mc:AlternateContent>
          </a:graphicData>
        </a:graphic>
      </p:graphicFrame>
      <p:graphicFrame>
        <p:nvGraphicFramePr>
          <p:cNvPr id="6" name="Object 3">
            <a:extLst>
              <a:ext uri="{FF2B5EF4-FFF2-40B4-BE49-F238E27FC236}">
                <a16:creationId xmlns:a16="http://schemas.microsoft.com/office/drawing/2014/main" id="{084DE4CE-FA00-0730-E436-FE789B2B4C49}"/>
              </a:ext>
            </a:extLst>
          </p:cNvPr>
          <p:cNvGraphicFramePr>
            <a:graphicFrameLocks noChangeAspect="1"/>
          </p:cNvGraphicFramePr>
          <p:nvPr/>
        </p:nvGraphicFramePr>
        <p:xfrm>
          <a:off x="1312948" y="4292044"/>
          <a:ext cx="6114305" cy="1801663"/>
        </p:xfrm>
        <a:graphic>
          <a:graphicData uri="http://schemas.openxmlformats.org/presentationml/2006/ole">
            <mc:AlternateContent xmlns:mc="http://schemas.openxmlformats.org/markup-compatibility/2006">
              <mc:Choice xmlns:v="urn:schemas-microsoft-com:vml" Requires="v">
                <p:oleObj name="Visio" r:id="rId4" imgW="6886769" imgH="1840860" progId="Visio.Drawing.11">
                  <p:embed/>
                </p:oleObj>
              </mc:Choice>
              <mc:Fallback>
                <p:oleObj name="Visio" r:id="rId4" imgW="6886769" imgH="1840860" progId="Visio.Drawing.11">
                  <p:embed/>
                  <p:pic>
                    <p:nvPicPr>
                      <p:cNvPr id="6" name="Object 3">
                        <a:extLst>
                          <a:ext uri="{FF2B5EF4-FFF2-40B4-BE49-F238E27FC236}">
                            <a16:creationId xmlns:a16="http://schemas.microsoft.com/office/drawing/2014/main" id="{084DE4CE-FA00-0730-E436-FE789B2B4C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948" y="4292044"/>
                        <a:ext cx="6114305" cy="1801663"/>
                      </a:xfrm>
                      <a:prstGeom prst="rect">
                        <a:avLst/>
                      </a:prstGeom>
                      <a:noFill/>
                      <a:ln>
                        <a:noFill/>
                      </a:ln>
                      <a:effectLst/>
                    </p:spPr>
                  </p:pic>
                </p:oleObj>
              </mc:Fallback>
            </mc:AlternateContent>
          </a:graphicData>
        </a:graphic>
      </p:graphicFrame>
      <mc:AlternateContent xmlns:mc="http://schemas.openxmlformats.org/markup-compatibility/2006" xmlns:pslz="http://schemas.microsoft.com/office/powerpoint/2016/slidezoom">
        <mc:Choice Requires="pslz">
          <p:graphicFrame>
            <p:nvGraphicFramePr>
              <p:cNvPr id="12" name="幻灯片缩放定位 11">
                <a:extLst>
                  <a:ext uri="{FF2B5EF4-FFF2-40B4-BE49-F238E27FC236}">
                    <a16:creationId xmlns:a16="http://schemas.microsoft.com/office/drawing/2014/main" id="{05094388-D7BC-0177-B730-D1377A649F15}"/>
                  </a:ext>
                </a:extLst>
              </p:cNvPr>
              <p:cNvGraphicFramePr>
                <a:graphicFrameLocks noChangeAspect="1"/>
              </p:cNvGraphicFramePr>
              <p:nvPr/>
            </p:nvGraphicFramePr>
            <p:xfrm>
              <a:off x="7623556" y="3962400"/>
              <a:ext cx="3963129" cy="2229260"/>
            </p:xfrm>
            <a:graphic>
              <a:graphicData uri="http://schemas.microsoft.com/office/powerpoint/2016/slidezoom">
                <pslz:sldZm>
                  <pslz:sldZmObj sldId="692" cId="647855839">
                    <pslz:zmPr id="{EEB56006-25D7-4B69-98FF-426BA765BA40}" returnToParent="0" transitionDur="1000">
                      <p166:blipFill xmlns:p166="http://schemas.microsoft.com/office/powerpoint/2016/6/main">
                        <a:blip r:embed="rId6"/>
                        <a:stretch>
                          <a:fillRect/>
                        </a:stretch>
                      </p166:blipFill>
                      <p166:spPr xmlns:p166="http://schemas.microsoft.com/office/powerpoint/2016/6/main">
                        <a:xfrm>
                          <a:off x="0" y="0"/>
                          <a:ext cx="3963129" cy="2229260"/>
                        </a:xfrm>
                        <a:prstGeom prst="rect">
                          <a:avLst/>
                        </a:prstGeom>
                        <a:ln w="3175">
                          <a:solidFill>
                            <a:prstClr val="ltGray"/>
                          </a:solidFill>
                        </a:ln>
                      </p166:spPr>
                    </pslz:zmPr>
                  </pslz:sldZmObj>
                </pslz:sldZm>
              </a:graphicData>
            </a:graphic>
          </p:graphicFrame>
        </mc:Choice>
        <mc:Fallback xmlns="">
          <p:pic>
            <p:nvPicPr>
              <p:cNvPr id="12" name="幻灯片缩放定位 11">
                <a:hlinkClick r:id="rId8" action="ppaction://hlinksldjump"/>
                <a:extLst>
                  <a:ext uri="{FF2B5EF4-FFF2-40B4-BE49-F238E27FC236}">
                    <a16:creationId xmlns:a16="http://schemas.microsoft.com/office/drawing/2014/main" id="{05094388-D7BC-0177-B730-D1377A649F15}"/>
                  </a:ext>
                </a:extLst>
              </p:cNvPr>
              <p:cNvPicPr>
                <a:picLocks noGrp="1" noRot="1" noChangeAspect="1" noMove="1" noResize="1" noEditPoints="1" noAdjustHandles="1" noChangeArrowheads="1" noChangeShapeType="1"/>
              </p:cNvPicPr>
              <p:nvPr/>
            </p:nvPicPr>
            <p:blipFill>
              <a:blip r:embed="rId9"/>
              <a:stretch>
                <a:fillRect/>
              </a:stretch>
            </p:blipFill>
            <p:spPr>
              <a:xfrm>
                <a:off x="7623556" y="3962400"/>
                <a:ext cx="3963129" cy="2229260"/>
              </a:xfrm>
              <a:prstGeom prst="rect">
                <a:avLst/>
              </a:prstGeom>
              <a:ln w="3175">
                <a:solidFill>
                  <a:prstClr val="ltGray"/>
                </a:solidFill>
              </a:ln>
            </p:spPr>
          </p:pic>
        </mc:Fallback>
      </mc:AlternateContent>
      <p:sp>
        <p:nvSpPr>
          <p:cNvPr id="15" name="文本框 14">
            <a:extLst>
              <a:ext uri="{FF2B5EF4-FFF2-40B4-BE49-F238E27FC236}">
                <a16:creationId xmlns:a16="http://schemas.microsoft.com/office/drawing/2014/main" id="{755C7B9F-E034-D3B8-82C5-2222AB2E0D63}"/>
              </a:ext>
            </a:extLst>
          </p:cNvPr>
          <p:cNvSpPr txBox="1"/>
          <p:nvPr/>
        </p:nvSpPr>
        <p:spPr>
          <a:xfrm>
            <a:off x="5162550" y="6058160"/>
            <a:ext cx="4219575" cy="369332"/>
          </a:xfrm>
          <a:prstGeom prst="rect">
            <a:avLst/>
          </a:prstGeom>
          <a:noFill/>
        </p:spPr>
        <p:txBody>
          <a:bodyPr wrap="square">
            <a:spAutoFit/>
          </a:bodyPr>
          <a:lstStyle/>
          <a:p>
            <a:r>
              <a:rPr lang="zh-CN" altLang="en-US" dirty="0"/>
              <a:t>按照项目的可交付成果分解</a:t>
            </a:r>
          </a:p>
        </p:txBody>
      </p:sp>
      <p:sp>
        <p:nvSpPr>
          <p:cNvPr id="17" name="文本框 16">
            <a:extLst>
              <a:ext uri="{FF2B5EF4-FFF2-40B4-BE49-F238E27FC236}">
                <a16:creationId xmlns:a16="http://schemas.microsoft.com/office/drawing/2014/main" id="{D452DCDC-BE9E-4E77-DFC0-273A0BDB8CC5}"/>
              </a:ext>
            </a:extLst>
          </p:cNvPr>
          <p:cNvSpPr txBox="1"/>
          <p:nvPr/>
        </p:nvSpPr>
        <p:spPr>
          <a:xfrm>
            <a:off x="6991350" y="3347604"/>
            <a:ext cx="3990975" cy="369332"/>
          </a:xfrm>
          <a:prstGeom prst="rect">
            <a:avLst/>
          </a:prstGeom>
          <a:noFill/>
        </p:spPr>
        <p:txBody>
          <a:bodyPr wrap="square">
            <a:spAutoFit/>
          </a:bodyPr>
          <a:lstStyle/>
          <a:p>
            <a:r>
              <a:rPr lang="zh-CN" altLang="en-US" dirty="0"/>
              <a:t>按照项目的子系统、子工程分解</a:t>
            </a:r>
          </a:p>
        </p:txBody>
      </p:sp>
    </p:spTree>
    <p:extLst>
      <p:ext uri="{BB962C8B-B14F-4D97-AF65-F5344CB8AC3E}">
        <p14:creationId xmlns:p14="http://schemas.microsoft.com/office/powerpoint/2010/main" val="2400927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490536" y="1314449"/>
            <a:ext cx="11050298" cy="51486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Clr>
                <a:srgbClr val="CC0000"/>
              </a:buClr>
              <a:buNone/>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思维导图法：从核心思想向外辐射出分支的技术，将思想和想法结构化。</a:t>
            </a:r>
          </a:p>
        </p:txBody>
      </p:sp>
      <p:grpSp>
        <p:nvGrpSpPr>
          <p:cNvPr id="61" name="组合 60">
            <a:extLst>
              <a:ext uri="{FF2B5EF4-FFF2-40B4-BE49-F238E27FC236}">
                <a16:creationId xmlns:a16="http://schemas.microsoft.com/office/drawing/2014/main" id="{623A688D-F250-F157-F71D-CD84EA74CA31}"/>
              </a:ext>
            </a:extLst>
          </p:cNvPr>
          <p:cNvGrpSpPr/>
          <p:nvPr/>
        </p:nvGrpSpPr>
        <p:grpSpPr>
          <a:xfrm>
            <a:off x="1054390" y="3071753"/>
            <a:ext cx="9412459" cy="2676449"/>
            <a:chOff x="978190" y="3401953"/>
            <a:chExt cx="9412459" cy="2676449"/>
          </a:xfrm>
        </p:grpSpPr>
        <p:sp>
          <p:nvSpPr>
            <p:cNvPr id="2" name="文本框 1">
              <a:extLst>
                <a:ext uri="{FF2B5EF4-FFF2-40B4-BE49-F238E27FC236}">
                  <a16:creationId xmlns:a16="http://schemas.microsoft.com/office/drawing/2014/main" id="{FCC7E5AF-29B4-E624-9734-5B5CF0497898}"/>
                </a:ext>
              </a:extLst>
            </p:cNvPr>
            <p:cNvSpPr txBox="1"/>
            <p:nvPr/>
          </p:nvSpPr>
          <p:spPr>
            <a:xfrm>
              <a:off x="3397898" y="4765186"/>
              <a:ext cx="1292341" cy="369332"/>
            </a:xfrm>
            <a:prstGeom prst="rect">
              <a:avLst/>
            </a:prstGeom>
            <a:solidFill>
              <a:schemeClr val="accent5">
                <a:lumMod val="40000"/>
                <a:lumOff val="60000"/>
              </a:schemeClr>
            </a:solidFill>
          </p:spPr>
          <p:txBody>
            <a:bodyPr wrap="none" rtlCol="0">
              <a:spAutoFit/>
            </a:bodyPr>
            <a:lstStyle/>
            <a:p>
              <a:r>
                <a:rPr lang="en-US" altLang="zh-CN" dirty="0"/>
                <a:t>IT</a:t>
              </a:r>
              <a:r>
                <a:rPr lang="zh-CN" altLang="en-US" dirty="0"/>
                <a:t>升级项目</a:t>
              </a:r>
            </a:p>
          </p:txBody>
        </p:sp>
        <p:sp>
          <p:nvSpPr>
            <p:cNvPr id="6" name="文本框 5">
              <a:extLst>
                <a:ext uri="{FF2B5EF4-FFF2-40B4-BE49-F238E27FC236}">
                  <a16:creationId xmlns:a16="http://schemas.microsoft.com/office/drawing/2014/main" id="{1F84ED98-D64F-EBA7-E0D8-742360574142}"/>
                </a:ext>
              </a:extLst>
            </p:cNvPr>
            <p:cNvSpPr txBox="1"/>
            <p:nvPr/>
          </p:nvSpPr>
          <p:spPr>
            <a:xfrm>
              <a:off x="1670687" y="4188586"/>
              <a:ext cx="1107996" cy="369332"/>
            </a:xfrm>
            <a:prstGeom prst="rect">
              <a:avLst/>
            </a:prstGeom>
            <a:solidFill>
              <a:schemeClr val="accent5">
                <a:lumMod val="40000"/>
                <a:lumOff val="60000"/>
              </a:schemeClr>
            </a:solidFill>
          </p:spPr>
          <p:txBody>
            <a:bodyPr wrap="none" rtlCol="0">
              <a:spAutoFit/>
            </a:bodyPr>
            <a:lstStyle/>
            <a:p>
              <a:r>
                <a:rPr lang="zh-CN" altLang="en-US" dirty="0"/>
                <a:t>项目管理</a:t>
              </a:r>
            </a:p>
          </p:txBody>
        </p:sp>
        <p:sp>
          <p:nvSpPr>
            <p:cNvPr id="7" name="文本框 6">
              <a:extLst>
                <a:ext uri="{FF2B5EF4-FFF2-40B4-BE49-F238E27FC236}">
                  <a16:creationId xmlns:a16="http://schemas.microsoft.com/office/drawing/2014/main" id="{EA8F9E2C-15DB-A50B-51DD-66E97D561371}"/>
                </a:ext>
              </a:extLst>
            </p:cNvPr>
            <p:cNvSpPr txBox="1"/>
            <p:nvPr/>
          </p:nvSpPr>
          <p:spPr>
            <a:xfrm>
              <a:off x="978190" y="5306299"/>
              <a:ext cx="1800493" cy="369332"/>
            </a:xfrm>
            <a:prstGeom prst="rect">
              <a:avLst/>
            </a:prstGeom>
            <a:solidFill>
              <a:schemeClr val="accent5">
                <a:lumMod val="40000"/>
                <a:lumOff val="60000"/>
              </a:schemeClr>
            </a:solidFill>
          </p:spPr>
          <p:txBody>
            <a:bodyPr wrap="none" rtlCol="0">
              <a:spAutoFit/>
            </a:bodyPr>
            <a:lstStyle/>
            <a:p>
              <a:r>
                <a:rPr lang="zh-CN" altLang="en-US" dirty="0"/>
                <a:t>安装硬件和软件</a:t>
              </a:r>
            </a:p>
          </p:txBody>
        </p:sp>
        <p:sp>
          <p:nvSpPr>
            <p:cNvPr id="8" name="文本框 7">
              <a:extLst>
                <a:ext uri="{FF2B5EF4-FFF2-40B4-BE49-F238E27FC236}">
                  <a16:creationId xmlns:a16="http://schemas.microsoft.com/office/drawing/2014/main" id="{307ECE72-E596-1D88-DEDC-1408836FD27C}"/>
                </a:ext>
              </a:extLst>
            </p:cNvPr>
            <p:cNvSpPr txBox="1"/>
            <p:nvPr/>
          </p:nvSpPr>
          <p:spPr>
            <a:xfrm>
              <a:off x="5242562" y="4217922"/>
              <a:ext cx="1107996" cy="369332"/>
            </a:xfrm>
            <a:prstGeom prst="rect">
              <a:avLst/>
            </a:prstGeom>
            <a:solidFill>
              <a:schemeClr val="accent5">
                <a:lumMod val="40000"/>
                <a:lumOff val="60000"/>
              </a:schemeClr>
            </a:solidFill>
          </p:spPr>
          <p:txBody>
            <a:bodyPr wrap="none" rtlCol="0">
              <a:spAutoFit/>
            </a:bodyPr>
            <a:lstStyle/>
            <a:p>
              <a:r>
                <a:rPr lang="zh-CN" altLang="en-US" dirty="0"/>
                <a:t>更新库存</a:t>
              </a:r>
            </a:p>
          </p:txBody>
        </p:sp>
        <p:sp>
          <p:nvSpPr>
            <p:cNvPr id="9" name="文本框 8">
              <a:extLst>
                <a:ext uri="{FF2B5EF4-FFF2-40B4-BE49-F238E27FC236}">
                  <a16:creationId xmlns:a16="http://schemas.microsoft.com/office/drawing/2014/main" id="{2E56ED73-FDD8-738C-CEB3-EADE79106C7B}"/>
                </a:ext>
              </a:extLst>
            </p:cNvPr>
            <p:cNvSpPr txBox="1"/>
            <p:nvPr/>
          </p:nvSpPr>
          <p:spPr>
            <a:xfrm>
              <a:off x="5242562" y="5320967"/>
              <a:ext cx="1800493" cy="369332"/>
            </a:xfrm>
            <a:prstGeom prst="rect">
              <a:avLst/>
            </a:prstGeom>
            <a:solidFill>
              <a:schemeClr val="accent5">
                <a:lumMod val="40000"/>
                <a:lumOff val="60000"/>
              </a:schemeClr>
            </a:solidFill>
          </p:spPr>
          <p:txBody>
            <a:bodyPr wrap="none" rtlCol="0">
              <a:spAutoFit/>
            </a:bodyPr>
            <a:lstStyle/>
            <a:p>
              <a:r>
                <a:rPr lang="zh-CN" altLang="en-US" dirty="0"/>
                <a:t>获得硬件和软件</a:t>
              </a:r>
            </a:p>
          </p:txBody>
        </p:sp>
        <p:sp>
          <p:nvSpPr>
            <p:cNvPr id="10" name="流程图: 接点 9">
              <a:extLst>
                <a:ext uri="{FF2B5EF4-FFF2-40B4-BE49-F238E27FC236}">
                  <a16:creationId xmlns:a16="http://schemas.microsoft.com/office/drawing/2014/main" id="{0EF756F7-0CB3-D765-EDC3-387DED2736A3}"/>
                </a:ext>
              </a:extLst>
            </p:cNvPr>
            <p:cNvSpPr/>
            <p:nvPr/>
          </p:nvSpPr>
          <p:spPr>
            <a:xfrm>
              <a:off x="6350558" y="4344677"/>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A65DF7CF-808B-72E2-AE6B-AAD31B09D3D4}"/>
                </a:ext>
              </a:extLst>
            </p:cNvPr>
            <p:cNvSpPr/>
            <p:nvPr/>
          </p:nvSpPr>
          <p:spPr>
            <a:xfrm>
              <a:off x="7043055" y="5436041"/>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16D19AF-8E89-D3BA-80E5-B2C5D55A0869}"/>
                </a:ext>
              </a:extLst>
            </p:cNvPr>
            <p:cNvSpPr txBox="1"/>
            <p:nvPr/>
          </p:nvSpPr>
          <p:spPr>
            <a:xfrm>
              <a:off x="7670800" y="3822700"/>
              <a:ext cx="1569660" cy="369332"/>
            </a:xfrm>
            <a:prstGeom prst="rect">
              <a:avLst/>
            </a:prstGeom>
            <a:noFill/>
          </p:spPr>
          <p:txBody>
            <a:bodyPr wrap="none" rtlCol="0">
              <a:spAutoFit/>
            </a:bodyPr>
            <a:lstStyle/>
            <a:p>
              <a:r>
                <a:rPr lang="zh-CN" altLang="en-US" dirty="0"/>
                <a:t>满足实物库存</a:t>
              </a:r>
            </a:p>
          </p:txBody>
        </p:sp>
        <p:sp>
          <p:nvSpPr>
            <p:cNvPr id="13" name="文本框 12">
              <a:extLst>
                <a:ext uri="{FF2B5EF4-FFF2-40B4-BE49-F238E27FC236}">
                  <a16:creationId xmlns:a16="http://schemas.microsoft.com/office/drawing/2014/main" id="{3AED8433-DB6E-DCE4-ACE8-BB3D4B8EA66C}"/>
                </a:ext>
              </a:extLst>
            </p:cNvPr>
            <p:cNvSpPr txBox="1"/>
            <p:nvPr/>
          </p:nvSpPr>
          <p:spPr>
            <a:xfrm>
              <a:off x="7690858" y="4365134"/>
              <a:ext cx="1338828" cy="369332"/>
            </a:xfrm>
            <a:prstGeom prst="rect">
              <a:avLst/>
            </a:prstGeom>
            <a:noFill/>
          </p:spPr>
          <p:txBody>
            <a:bodyPr wrap="none" rtlCol="0">
              <a:spAutoFit/>
            </a:bodyPr>
            <a:lstStyle/>
            <a:p>
              <a:r>
                <a:rPr lang="zh-CN" altLang="en-US" dirty="0"/>
                <a:t>数据库升级</a:t>
              </a:r>
            </a:p>
          </p:txBody>
        </p:sp>
        <p:sp>
          <p:nvSpPr>
            <p:cNvPr id="15" name="文本框 14">
              <a:extLst>
                <a:ext uri="{FF2B5EF4-FFF2-40B4-BE49-F238E27FC236}">
                  <a16:creationId xmlns:a16="http://schemas.microsoft.com/office/drawing/2014/main" id="{FE3AA3FE-F911-C4F8-B827-E5EA4EF0A8A6}"/>
                </a:ext>
              </a:extLst>
            </p:cNvPr>
            <p:cNvSpPr txBox="1"/>
            <p:nvPr/>
          </p:nvSpPr>
          <p:spPr>
            <a:xfrm>
              <a:off x="9610466" y="3401953"/>
              <a:ext cx="779381" cy="369332"/>
            </a:xfrm>
            <a:prstGeom prst="rect">
              <a:avLst/>
            </a:prstGeom>
            <a:noFill/>
          </p:spPr>
          <p:txBody>
            <a:bodyPr wrap="none" rtlCol="0">
              <a:spAutoFit/>
            </a:bodyPr>
            <a:lstStyle/>
            <a:p>
              <a:r>
                <a:rPr lang="zh-CN" altLang="en-US" dirty="0"/>
                <a:t>建筑</a:t>
              </a:r>
              <a:r>
                <a:rPr lang="en-US" altLang="zh-CN" dirty="0"/>
                <a:t>A</a:t>
              </a:r>
              <a:endParaRPr lang="zh-CN" altLang="en-US" dirty="0"/>
            </a:p>
          </p:txBody>
        </p:sp>
        <p:sp>
          <p:nvSpPr>
            <p:cNvPr id="16" name="文本框 15">
              <a:extLst>
                <a:ext uri="{FF2B5EF4-FFF2-40B4-BE49-F238E27FC236}">
                  <a16:creationId xmlns:a16="http://schemas.microsoft.com/office/drawing/2014/main" id="{851FA095-AC0F-40A8-03A5-E25552FFDBC3}"/>
                </a:ext>
              </a:extLst>
            </p:cNvPr>
            <p:cNvSpPr txBox="1"/>
            <p:nvPr/>
          </p:nvSpPr>
          <p:spPr>
            <a:xfrm>
              <a:off x="9619284" y="3792157"/>
              <a:ext cx="771365" cy="369332"/>
            </a:xfrm>
            <a:prstGeom prst="rect">
              <a:avLst/>
            </a:prstGeom>
            <a:noFill/>
          </p:spPr>
          <p:txBody>
            <a:bodyPr wrap="none" rtlCol="0">
              <a:spAutoFit/>
            </a:bodyPr>
            <a:lstStyle/>
            <a:p>
              <a:r>
                <a:rPr lang="zh-CN" altLang="en-US" dirty="0"/>
                <a:t>建筑</a:t>
              </a:r>
              <a:r>
                <a:rPr lang="en-US" altLang="zh-CN" dirty="0"/>
                <a:t>B</a:t>
              </a:r>
              <a:endParaRPr lang="zh-CN" altLang="en-US" dirty="0"/>
            </a:p>
          </p:txBody>
        </p:sp>
        <p:sp>
          <p:nvSpPr>
            <p:cNvPr id="17" name="文本框 16">
              <a:extLst>
                <a:ext uri="{FF2B5EF4-FFF2-40B4-BE49-F238E27FC236}">
                  <a16:creationId xmlns:a16="http://schemas.microsoft.com/office/drawing/2014/main" id="{B3A113A1-3CB1-06C3-97F8-893847C45DA8}"/>
                </a:ext>
              </a:extLst>
            </p:cNvPr>
            <p:cNvSpPr txBox="1"/>
            <p:nvPr/>
          </p:nvSpPr>
          <p:spPr>
            <a:xfrm>
              <a:off x="9620084" y="4190659"/>
              <a:ext cx="769763" cy="369332"/>
            </a:xfrm>
            <a:prstGeom prst="rect">
              <a:avLst/>
            </a:prstGeom>
            <a:noFill/>
          </p:spPr>
          <p:txBody>
            <a:bodyPr wrap="none" rtlCol="0">
              <a:spAutoFit/>
            </a:bodyPr>
            <a:lstStyle/>
            <a:p>
              <a:r>
                <a:rPr lang="zh-CN" altLang="en-US" dirty="0"/>
                <a:t>建筑</a:t>
              </a:r>
              <a:r>
                <a:rPr lang="en-US" altLang="zh-CN" dirty="0"/>
                <a:t>C</a:t>
              </a:r>
              <a:endParaRPr lang="zh-CN" altLang="en-US" dirty="0"/>
            </a:p>
          </p:txBody>
        </p:sp>
        <p:sp>
          <p:nvSpPr>
            <p:cNvPr id="18" name="流程图: 接点 17">
              <a:extLst>
                <a:ext uri="{FF2B5EF4-FFF2-40B4-BE49-F238E27FC236}">
                  <a16:creationId xmlns:a16="http://schemas.microsoft.com/office/drawing/2014/main" id="{A2BDA232-FF5C-1A87-755D-0949172488E5}"/>
                </a:ext>
              </a:extLst>
            </p:cNvPr>
            <p:cNvSpPr/>
            <p:nvPr/>
          </p:nvSpPr>
          <p:spPr>
            <a:xfrm>
              <a:off x="9374946" y="4089050"/>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连接符: 肘形 19">
              <a:extLst>
                <a:ext uri="{FF2B5EF4-FFF2-40B4-BE49-F238E27FC236}">
                  <a16:creationId xmlns:a16="http://schemas.microsoft.com/office/drawing/2014/main" id="{B20C03F2-8E72-A137-30C0-3B960F07A873}"/>
                </a:ext>
              </a:extLst>
            </p:cNvPr>
            <p:cNvCxnSpPr>
              <a:stCxn id="10" idx="0"/>
              <a:endCxn id="18" idx="2"/>
            </p:cNvCxnSpPr>
            <p:nvPr/>
          </p:nvCxnSpPr>
          <p:spPr>
            <a:xfrm rot="5400000" flipH="1" flipV="1">
              <a:off x="7789863" y="2759594"/>
              <a:ext cx="200703" cy="296946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9F3237EA-B9F9-D6C5-A2C8-EE058E2B09EE}"/>
                </a:ext>
              </a:extLst>
            </p:cNvPr>
            <p:cNvCxnSpPr>
              <a:cxnSpLocks/>
              <a:stCxn id="18" idx="0"/>
            </p:cNvCxnSpPr>
            <p:nvPr/>
          </p:nvCxnSpPr>
          <p:spPr>
            <a:xfrm rot="5400000" flipH="1" flipV="1">
              <a:off x="9723515" y="3422717"/>
              <a:ext cx="372689" cy="95997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EF582F56-389C-4306-D9D6-DCD5DFBABC88}"/>
                </a:ext>
              </a:extLst>
            </p:cNvPr>
            <p:cNvCxnSpPr>
              <a:cxnSpLocks/>
              <a:stCxn id="18" idx="4"/>
            </p:cNvCxnSpPr>
            <p:nvPr/>
          </p:nvCxnSpPr>
          <p:spPr>
            <a:xfrm rot="16200000" flipH="1">
              <a:off x="9710607" y="3918160"/>
              <a:ext cx="398504" cy="95997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521EDFC-B219-A0DD-1E36-AAD33112D032}"/>
                </a:ext>
              </a:extLst>
            </p:cNvPr>
            <p:cNvCxnSpPr>
              <a:stCxn id="18" idx="6"/>
            </p:cNvCxnSpPr>
            <p:nvPr/>
          </p:nvCxnSpPr>
          <p:spPr>
            <a:xfrm>
              <a:off x="9484794" y="4143974"/>
              <a:ext cx="9050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37C38FDB-CE0F-1621-55AA-C0E64A87D893}"/>
                </a:ext>
              </a:extLst>
            </p:cNvPr>
            <p:cNvCxnSpPr>
              <a:cxnSpLocks/>
              <a:stCxn id="10" idx="4"/>
            </p:cNvCxnSpPr>
            <p:nvPr/>
          </p:nvCxnSpPr>
          <p:spPr>
            <a:xfrm rot="16200000" flipH="1">
              <a:off x="7581782" y="3278224"/>
              <a:ext cx="238325" cy="259092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F3C48E5B-96C9-38A5-1907-E83082CB557C}"/>
                </a:ext>
              </a:extLst>
            </p:cNvPr>
            <p:cNvSpPr txBox="1"/>
            <p:nvPr/>
          </p:nvSpPr>
          <p:spPr>
            <a:xfrm>
              <a:off x="7530709" y="4923737"/>
              <a:ext cx="877163" cy="369332"/>
            </a:xfrm>
            <a:prstGeom prst="rect">
              <a:avLst/>
            </a:prstGeom>
            <a:noFill/>
          </p:spPr>
          <p:txBody>
            <a:bodyPr wrap="none" rtlCol="0">
              <a:spAutoFit/>
            </a:bodyPr>
            <a:lstStyle/>
            <a:p>
              <a:r>
                <a:rPr lang="zh-CN" altLang="en-US" dirty="0"/>
                <a:t>服务器</a:t>
              </a:r>
            </a:p>
          </p:txBody>
        </p:sp>
        <p:sp>
          <p:nvSpPr>
            <p:cNvPr id="35" name="文本框 34">
              <a:extLst>
                <a:ext uri="{FF2B5EF4-FFF2-40B4-BE49-F238E27FC236}">
                  <a16:creationId xmlns:a16="http://schemas.microsoft.com/office/drawing/2014/main" id="{65BCE36E-EF06-5DB1-7F79-11D986250B92}"/>
                </a:ext>
              </a:extLst>
            </p:cNvPr>
            <p:cNvSpPr txBox="1"/>
            <p:nvPr/>
          </p:nvSpPr>
          <p:spPr>
            <a:xfrm>
              <a:off x="7552423" y="5492751"/>
              <a:ext cx="1107996" cy="369332"/>
            </a:xfrm>
            <a:prstGeom prst="rect">
              <a:avLst/>
            </a:prstGeom>
            <a:noFill/>
          </p:spPr>
          <p:txBody>
            <a:bodyPr wrap="none" rtlCol="0">
              <a:spAutoFit/>
            </a:bodyPr>
            <a:lstStyle/>
            <a:p>
              <a:r>
                <a:rPr lang="zh-CN" altLang="en-US" dirty="0"/>
                <a:t>用户硬件</a:t>
              </a:r>
            </a:p>
          </p:txBody>
        </p:sp>
        <p:sp>
          <p:nvSpPr>
            <p:cNvPr id="36" name="文本框 35">
              <a:extLst>
                <a:ext uri="{FF2B5EF4-FFF2-40B4-BE49-F238E27FC236}">
                  <a16:creationId xmlns:a16="http://schemas.microsoft.com/office/drawing/2014/main" id="{D6D38D44-7491-D26C-DBF1-F12EA45530F7}"/>
                </a:ext>
              </a:extLst>
            </p:cNvPr>
            <p:cNvSpPr txBox="1"/>
            <p:nvPr/>
          </p:nvSpPr>
          <p:spPr>
            <a:xfrm>
              <a:off x="9300274" y="5279429"/>
              <a:ext cx="877163" cy="369332"/>
            </a:xfrm>
            <a:prstGeom prst="rect">
              <a:avLst/>
            </a:prstGeom>
            <a:noFill/>
          </p:spPr>
          <p:txBody>
            <a:bodyPr wrap="none" rtlCol="0">
              <a:spAutoFit/>
            </a:bodyPr>
            <a:lstStyle/>
            <a:p>
              <a:r>
                <a:rPr lang="zh-CN" altLang="en-US" dirty="0"/>
                <a:t>笔记本</a:t>
              </a:r>
            </a:p>
          </p:txBody>
        </p:sp>
        <p:sp>
          <p:nvSpPr>
            <p:cNvPr id="37" name="文本框 36">
              <a:extLst>
                <a:ext uri="{FF2B5EF4-FFF2-40B4-BE49-F238E27FC236}">
                  <a16:creationId xmlns:a16="http://schemas.microsoft.com/office/drawing/2014/main" id="{141278E8-33FA-F5FA-E781-F89F8733DF98}"/>
                </a:ext>
              </a:extLst>
            </p:cNvPr>
            <p:cNvSpPr txBox="1"/>
            <p:nvPr/>
          </p:nvSpPr>
          <p:spPr>
            <a:xfrm>
              <a:off x="9287471" y="5709070"/>
              <a:ext cx="877163" cy="369332"/>
            </a:xfrm>
            <a:prstGeom prst="rect">
              <a:avLst/>
            </a:prstGeom>
            <a:noFill/>
          </p:spPr>
          <p:txBody>
            <a:bodyPr wrap="none" rtlCol="0">
              <a:spAutoFit/>
            </a:bodyPr>
            <a:lstStyle/>
            <a:p>
              <a:r>
                <a:rPr lang="zh-CN" altLang="en-US" dirty="0"/>
                <a:t>台式机</a:t>
              </a:r>
            </a:p>
          </p:txBody>
        </p:sp>
        <p:sp>
          <p:nvSpPr>
            <p:cNvPr id="38" name="流程图: 接点 37">
              <a:extLst>
                <a:ext uri="{FF2B5EF4-FFF2-40B4-BE49-F238E27FC236}">
                  <a16:creationId xmlns:a16="http://schemas.microsoft.com/office/drawing/2014/main" id="{0523F213-48BD-9417-E04A-4930DBC5C6FF}"/>
                </a:ext>
              </a:extLst>
            </p:cNvPr>
            <p:cNvSpPr/>
            <p:nvPr/>
          </p:nvSpPr>
          <p:spPr>
            <a:xfrm>
              <a:off x="9105485" y="5756470"/>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连接符: 肘形 39">
              <a:extLst>
                <a:ext uri="{FF2B5EF4-FFF2-40B4-BE49-F238E27FC236}">
                  <a16:creationId xmlns:a16="http://schemas.microsoft.com/office/drawing/2014/main" id="{92AD34AD-22D2-B3E4-3173-3C39405570E0}"/>
                </a:ext>
              </a:extLst>
            </p:cNvPr>
            <p:cNvCxnSpPr>
              <a:stCxn id="11" idx="4"/>
              <a:endCxn id="38" idx="2"/>
            </p:cNvCxnSpPr>
            <p:nvPr/>
          </p:nvCxnSpPr>
          <p:spPr>
            <a:xfrm rot="16200000" flipH="1">
              <a:off x="7968980" y="4674888"/>
              <a:ext cx="265505" cy="20075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B953276D-CF9D-AB45-06CB-557352D10853}"/>
                </a:ext>
              </a:extLst>
            </p:cNvPr>
            <p:cNvCxnSpPr>
              <a:cxnSpLocks/>
              <a:stCxn id="11" idx="0"/>
            </p:cNvCxnSpPr>
            <p:nvPr/>
          </p:nvCxnSpPr>
          <p:spPr>
            <a:xfrm rot="5400000" flipH="1" flipV="1">
              <a:off x="7768561" y="4544183"/>
              <a:ext cx="221277" cy="15624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D991E7C5-C75D-99CF-C683-B5EFC2C1E1FD}"/>
                </a:ext>
              </a:extLst>
            </p:cNvPr>
            <p:cNvCxnSpPr>
              <a:cxnSpLocks/>
              <a:stCxn id="38" idx="4"/>
            </p:cNvCxnSpPr>
            <p:nvPr/>
          </p:nvCxnSpPr>
          <p:spPr>
            <a:xfrm rot="16200000" flipH="1">
              <a:off x="9658616" y="5368110"/>
              <a:ext cx="142876" cy="113929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9" name="连接符: 肘形 48">
              <a:extLst>
                <a:ext uri="{FF2B5EF4-FFF2-40B4-BE49-F238E27FC236}">
                  <a16:creationId xmlns:a16="http://schemas.microsoft.com/office/drawing/2014/main" id="{1573B7D9-6831-E741-7FB6-BEDE8627496F}"/>
                </a:ext>
              </a:extLst>
            </p:cNvPr>
            <p:cNvCxnSpPr>
              <a:stCxn id="38" idx="0"/>
            </p:cNvCxnSpPr>
            <p:nvPr/>
          </p:nvCxnSpPr>
          <p:spPr>
            <a:xfrm rot="5400000" flipH="1" flipV="1">
              <a:off x="9657164" y="5113935"/>
              <a:ext cx="145780" cy="113929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EE3A89A-8BBE-B9F3-9915-D778ECB935B3}"/>
                </a:ext>
              </a:extLst>
            </p:cNvPr>
            <p:cNvCxnSpPr>
              <a:endCxn id="9" idx="1"/>
            </p:cNvCxnSpPr>
            <p:nvPr/>
          </p:nvCxnSpPr>
          <p:spPr>
            <a:xfrm>
              <a:off x="4432300" y="5134518"/>
              <a:ext cx="810262" cy="3711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ADC3651D-0C53-3299-6E62-A82329CB3F4B}"/>
                </a:ext>
              </a:extLst>
            </p:cNvPr>
            <p:cNvCxnSpPr>
              <a:cxnSpLocks/>
              <a:endCxn id="8" idx="1"/>
            </p:cNvCxnSpPr>
            <p:nvPr/>
          </p:nvCxnSpPr>
          <p:spPr>
            <a:xfrm flipV="1">
              <a:off x="4450237" y="4402588"/>
              <a:ext cx="792325" cy="33187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950BD7AD-C3D3-6BEF-DEB1-A677DC479B9E}"/>
                </a:ext>
              </a:extLst>
            </p:cNvPr>
            <p:cNvCxnSpPr>
              <a:endCxn id="6" idx="3"/>
            </p:cNvCxnSpPr>
            <p:nvPr/>
          </p:nvCxnSpPr>
          <p:spPr>
            <a:xfrm flipH="1" flipV="1">
              <a:off x="2778683" y="4373252"/>
              <a:ext cx="896424" cy="39193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B7A943A-89E2-3D78-2F09-E1B6CB53B533}"/>
                </a:ext>
              </a:extLst>
            </p:cNvPr>
            <p:cNvCxnSpPr>
              <a:endCxn id="7" idx="3"/>
            </p:cNvCxnSpPr>
            <p:nvPr/>
          </p:nvCxnSpPr>
          <p:spPr>
            <a:xfrm flipH="1">
              <a:off x="2778683" y="5134518"/>
              <a:ext cx="863802" cy="356447"/>
            </a:xfrm>
            <a:prstGeom prst="line">
              <a:avLst/>
            </a:prstGeom>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BCA0C96C-CB04-6CB6-70A2-BD14A27012C9}"/>
              </a:ext>
            </a:extLst>
          </p:cNvPr>
          <p:cNvSpPr txBox="1"/>
          <p:nvPr/>
        </p:nvSpPr>
        <p:spPr>
          <a:xfrm>
            <a:off x="4099718" y="5651078"/>
            <a:ext cx="3546084"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思维导图法创建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的示例</a:t>
            </a:r>
            <a:endParaRPr lang="zh-CN" altLang="en-US" dirty="0"/>
          </a:p>
        </p:txBody>
      </p:sp>
    </p:spTree>
    <p:extLst>
      <p:ext uri="{BB962C8B-B14F-4D97-AF65-F5344CB8AC3E}">
        <p14:creationId xmlns:p14="http://schemas.microsoft.com/office/powerpoint/2010/main" val="255074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2A1D8814-0D78-4C3C-981E-0259DC39EE0E}"/>
              </a:ext>
            </a:extLst>
          </p:cNvPr>
          <p:cNvSpPr txBox="1">
            <a:spLocks/>
          </p:cNvSpPr>
          <p:nvPr/>
        </p:nvSpPr>
        <p:spPr>
          <a:xfrm>
            <a:off x="566737" y="1314450"/>
            <a:ext cx="11039907" cy="2615294"/>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20000"/>
              </a:lnSpc>
              <a:spcBef>
                <a:spcPts val="500"/>
              </a:spcBef>
              <a:buFont typeface="Wingdings" pitchFamily="2" charset="2"/>
              <a:buNone/>
            </a:pPr>
            <a:r>
              <a:rPr lang="zh-CN" altLang="en-US" b="1" dirty="0">
                <a:latin typeface="微软雅黑" panose="020B0503020204020204" pitchFamily="34" charset="-122"/>
                <a:ea typeface="微软雅黑" panose="020B0503020204020204" pitchFamily="34" charset="-122"/>
                <a:cs typeface="Times New Roman" pitchFamily="18" charset="0"/>
              </a:rPr>
              <a:t>创建工作分解结构的成果</a:t>
            </a:r>
          </a:p>
          <a:p>
            <a:pPr marL="781050" lvl="1" indent="-342900">
              <a:lnSpc>
                <a:spcPct val="12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工作分解结构图</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20000"/>
              </a:lnSpc>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树状图表现形式</a:t>
            </a:r>
          </a:p>
          <a:p>
            <a:pPr marL="835025" lvl="2" indent="0">
              <a:lnSpc>
                <a:spcPct val="120000"/>
              </a:lnSpc>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列表表现形式</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781050" lvl="1" indent="-342900">
              <a:lnSpc>
                <a:spcPct val="12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工作分解结构词典</a:t>
            </a:r>
            <a:endParaRPr lang="zh-CN" altLang="en-US"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B512C600-EA58-7FD9-0CF0-8E607C4E0CA3}"/>
              </a:ext>
            </a:extLst>
          </p:cNvPr>
          <p:cNvSpPr/>
          <p:nvPr/>
        </p:nvSpPr>
        <p:spPr>
          <a:xfrm>
            <a:off x="6071487" y="5723135"/>
            <a:ext cx="2513830" cy="369332"/>
          </a:xfrm>
          <a:prstGeom prst="rect">
            <a:avLst/>
          </a:prstGeom>
        </p:spPr>
        <p:txBody>
          <a:bodyPr wrap="none">
            <a:spAutoFit/>
          </a:bodyPr>
          <a:lstStyle/>
          <a:p>
            <a:r>
              <a:rPr lang="zh-CN" altLang="en-US" b="1" dirty="0">
                <a:latin typeface="Microsoft YaHei Light" panose="020B0502040204020203" pitchFamily="34" charset="-122"/>
                <a:ea typeface="Microsoft YaHei Light" panose="020B0502040204020203" pitchFamily="34" charset="-122"/>
              </a:rPr>
              <a:t>按产品组织的</a:t>
            </a:r>
            <a:r>
              <a:rPr lang="en-US" altLang="zh-CN" b="1" dirty="0">
                <a:latin typeface="Microsoft YaHei Light" panose="020B0502040204020203" pitchFamily="34" charset="-122"/>
                <a:ea typeface="Microsoft YaHei Light" panose="020B0502040204020203" pitchFamily="34" charset="-122"/>
              </a:rPr>
              <a:t>WBS</a:t>
            </a:r>
            <a:r>
              <a:rPr lang="zh-CN" altLang="en-US" b="1" dirty="0">
                <a:latin typeface="Microsoft YaHei Light" panose="020B0502040204020203" pitchFamily="34" charset="-122"/>
                <a:ea typeface="Microsoft YaHei Light" panose="020B0502040204020203" pitchFamily="34" charset="-122"/>
              </a:rPr>
              <a:t>示例</a:t>
            </a:r>
            <a:endParaRPr lang="zh-CN" altLang="en-US" dirty="0"/>
          </a:p>
        </p:txBody>
      </p:sp>
      <p:grpSp>
        <p:nvGrpSpPr>
          <p:cNvPr id="6" name="组合 5">
            <a:extLst>
              <a:ext uri="{FF2B5EF4-FFF2-40B4-BE49-F238E27FC236}">
                <a16:creationId xmlns:a16="http://schemas.microsoft.com/office/drawing/2014/main" id="{FF92650A-1B1A-3E6E-D4E8-238B23ED5F06}"/>
              </a:ext>
            </a:extLst>
          </p:cNvPr>
          <p:cNvGrpSpPr/>
          <p:nvPr/>
        </p:nvGrpSpPr>
        <p:grpSpPr>
          <a:xfrm>
            <a:off x="4026983" y="2176905"/>
            <a:ext cx="7598280" cy="3099906"/>
            <a:chOff x="1624732" y="2070855"/>
            <a:chExt cx="8548164" cy="3502039"/>
          </a:xfrm>
        </p:grpSpPr>
        <p:sp>
          <p:nvSpPr>
            <p:cNvPr id="7" name="文本框 6">
              <a:extLst>
                <a:ext uri="{FF2B5EF4-FFF2-40B4-BE49-F238E27FC236}">
                  <a16:creationId xmlns:a16="http://schemas.microsoft.com/office/drawing/2014/main" id="{CFC3E526-DFD0-71D1-65B3-F385C00FFF57}"/>
                </a:ext>
              </a:extLst>
            </p:cNvPr>
            <p:cNvSpPr txBox="1"/>
            <p:nvPr/>
          </p:nvSpPr>
          <p:spPr>
            <a:xfrm>
              <a:off x="4970294" y="2070855"/>
              <a:ext cx="1370944"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企业内部网</a:t>
              </a:r>
            </a:p>
          </p:txBody>
        </p:sp>
        <p:sp>
          <p:nvSpPr>
            <p:cNvPr id="8" name="文本框 7">
              <a:extLst>
                <a:ext uri="{FF2B5EF4-FFF2-40B4-BE49-F238E27FC236}">
                  <a16:creationId xmlns:a16="http://schemas.microsoft.com/office/drawing/2014/main" id="{EE3AEB60-7C57-F332-911F-4B59D14D8D06}"/>
                </a:ext>
              </a:extLst>
            </p:cNvPr>
            <p:cNvSpPr txBox="1"/>
            <p:nvPr/>
          </p:nvSpPr>
          <p:spPr>
            <a:xfrm>
              <a:off x="1624732" y="3059668"/>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网站设计</a:t>
              </a:r>
            </a:p>
          </p:txBody>
        </p:sp>
        <p:sp>
          <p:nvSpPr>
            <p:cNvPr id="9" name="文本框 8">
              <a:extLst>
                <a:ext uri="{FF2B5EF4-FFF2-40B4-BE49-F238E27FC236}">
                  <a16:creationId xmlns:a16="http://schemas.microsoft.com/office/drawing/2014/main" id="{A81127D1-8BF4-1E85-CB9A-79E33FD9CB04}"/>
                </a:ext>
              </a:extLst>
            </p:cNvPr>
            <p:cNvSpPr txBox="1"/>
            <p:nvPr/>
          </p:nvSpPr>
          <p:spPr>
            <a:xfrm>
              <a:off x="3874638" y="3059668"/>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主页设计</a:t>
              </a:r>
            </a:p>
          </p:txBody>
        </p:sp>
        <p:sp>
          <p:nvSpPr>
            <p:cNvPr id="10" name="文本框 9">
              <a:extLst>
                <a:ext uri="{FF2B5EF4-FFF2-40B4-BE49-F238E27FC236}">
                  <a16:creationId xmlns:a16="http://schemas.microsoft.com/office/drawing/2014/main" id="{DE5BD041-E995-D6AE-7CCA-7C717FE114D8}"/>
                </a:ext>
              </a:extLst>
            </p:cNvPr>
            <p:cNvSpPr txBox="1"/>
            <p:nvPr/>
          </p:nvSpPr>
          <p:spPr>
            <a:xfrm>
              <a:off x="6309122" y="3038683"/>
              <a:ext cx="1370944"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市场部网页</a:t>
              </a:r>
            </a:p>
          </p:txBody>
        </p:sp>
        <p:sp>
          <p:nvSpPr>
            <p:cNvPr id="11" name="文本框 10">
              <a:extLst>
                <a:ext uri="{FF2B5EF4-FFF2-40B4-BE49-F238E27FC236}">
                  <a16:creationId xmlns:a16="http://schemas.microsoft.com/office/drawing/2014/main" id="{340C7F8E-948C-0489-DB7F-F72956FBF0BA}"/>
                </a:ext>
              </a:extLst>
            </p:cNvPr>
            <p:cNvSpPr txBox="1"/>
            <p:nvPr/>
          </p:nvSpPr>
          <p:spPr>
            <a:xfrm>
              <a:off x="8583439" y="3059668"/>
              <a:ext cx="1370944"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销售部网页</a:t>
              </a:r>
            </a:p>
          </p:txBody>
        </p:sp>
        <p:sp>
          <p:nvSpPr>
            <p:cNvPr id="12" name="文本框 11">
              <a:extLst>
                <a:ext uri="{FF2B5EF4-FFF2-40B4-BE49-F238E27FC236}">
                  <a16:creationId xmlns:a16="http://schemas.microsoft.com/office/drawing/2014/main" id="{CA9F8F80-7312-E9E2-7F18-C869AA12D527}"/>
                </a:ext>
              </a:extLst>
            </p:cNvPr>
            <p:cNvSpPr txBox="1"/>
            <p:nvPr/>
          </p:nvSpPr>
          <p:spPr>
            <a:xfrm>
              <a:off x="2021779" y="3781563"/>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站点导航</a:t>
              </a:r>
            </a:p>
          </p:txBody>
        </p:sp>
        <p:sp>
          <p:nvSpPr>
            <p:cNvPr id="13" name="文本框 12">
              <a:extLst>
                <a:ext uri="{FF2B5EF4-FFF2-40B4-BE49-F238E27FC236}">
                  <a16:creationId xmlns:a16="http://schemas.microsoft.com/office/drawing/2014/main" id="{DC321587-36F8-D1AA-23E5-4762278DB8FD}"/>
                </a:ext>
              </a:extLst>
            </p:cNvPr>
            <p:cNvSpPr txBox="1"/>
            <p:nvPr/>
          </p:nvSpPr>
          <p:spPr>
            <a:xfrm>
              <a:off x="2021779" y="4483042"/>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图形设计</a:t>
              </a:r>
            </a:p>
          </p:txBody>
        </p:sp>
        <p:sp>
          <p:nvSpPr>
            <p:cNvPr id="14" name="文本框 13">
              <a:extLst>
                <a:ext uri="{FF2B5EF4-FFF2-40B4-BE49-F238E27FC236}">
                  <a16:creationId xmlns:a16="http://schemas.microsoft.com/office/drawing/2014/main" id="{B16CF39D-8698-33D9-FBC1-49273EFD1DDE}"/>
                </a:ext>
              </a:extLst>
            </p:cNvPr>
            <p:cNvSpPr txBox="1"/>
            <p:nvPr/>
          </p:nvSpPr>
          <p:spPr>
            <a:xfrm>
              <a:off x="2021779" y="5184521"/>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程序设计</a:t>
              </a:r>
            </a:p>
          </p:txBody>
        </p:sp>
        <p:sp>
          <p:nvSpPr>
            <p:cNvPr id="15" name="文本框 14">
              <a:extLst>
                <a:ext uri="{FF2B5EF4-FFF2-40B4-BE49-F238E27FC236}">
                  <a16:creationId xmlns:a16="http://schemas.microsoft.com/office/drawing/2014/main" id="{C7939142-3DB2-62F1-25B6-23E0547B7AB3}"/>
                </a:ext>
              </a:extLst>
            </p:cNvPr>
            <p:cNvSpPr txBox="1"/>
            <p:nvPr/>
          </p:nvSpPr>
          <p:spPr>
            <a:xfrm>
              <a:off x="4236421" y="3781563"/>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文本内容</a:t>
              </a:r>
            </a:p>
          </p:txBody>
        </p:sp>
        <p:sp>
          <p:nvSpPr>
            <p:cNvPr id="16" name="文本框 15">
              <a:extLst>
                <a:ext uri="{FF2B5EF4-FFF2-40B4-BE49-F238E27FC236}">
                  <a16:creationId xmlns:a16="http://schemas.microsoft.com/office/drawing/2014/main" id="{22FF79E4-3511-A255-F825-FE37730275F8}"/>
                </a:ext>
              </a:extLst>
            </p:cNvPr>
            <p:cNvSpPr txBox="1"/>
            <p:nvPr/>
          </p:nvSpPr>
          <p:spPr>
            <a:xfrm>
              <a:off x="4236421" y="4483041"/>
              <a:ext cx="1192408"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图      像 </a:t>
              </a:r>
            </a:p>
          </p:txBody>
        </p:sp>
        <p:sp>
          <p:nvSpPr>
            <p:cNvPr id="17" name="文本框 16">
              <a:extLst>
                <a:ext uri="{FF2B5EF4-FFF2-40B4-BE49-F238E27FC236}">
                  <a16:creationId xmlns:a16="http://schemas.microsoft.com/office/drawing/2014/main" id="{B1C7047A-4EA4-8291-7BF4-E6E1E70727FA}"/>
                </a:ext>
              </a:extLst>
            </p:cNvPr>
            <p:cNvSpPr txBox="1"/>
            <p:nvPr/>
          </p:nvSpPr>
          <p:spPr>
            <a:xfrm>
              <a:off x="4236421" y="5184521"/>
              <a:ext cx="1194211"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超 链 接 </a:t>
              </a:r>
            </a:p>
          </p:txBody>
        </p:sp>
        <p:sp>
          <p:nvSpPr>
            <p:cNvPr id="18" name="文本框 17">
              <a:extLst>
                <a:ext uri="{FF2B5EF4-FFF2-40B4-BE49-F238E27FC236}">
                  <a16:creationId xmlns:a16="http://schemas.microsoft.com/office/drawing/2014/main" id="{CF1A56AE-502F-B0FB-8FC1-39BDFA6D28BE}"/>
                </a:ext>
              </a:extLst>
            </p:cNvPr>
            <p:cNvSpPr txBox="1"/>
            <p:nvPr/>
          </p:nvSpPr>
          <p:spPr>
            <a:xfrm>
              <a:off x="6706170" y="3804231"/>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文本内容</a:t>
              </a:r>
            </a:p>
          </p:txBody>
        </p:sp>
        <p:sp>
          <p:nvSpPr>
            <p:cNvPr id="19" name="文本框 18">
              <a:extLst>
                <a:ext uri="{FF2B5EF4-FFF2-40B4-BE49-F238E27FC236}">
                  <a16:creationId xmlns:a16="http://schemas.microsoft.com/office/drawing/2014/main" id="{1A056D59-A925-4354-48F2-DF5C9D8B7DF6}"/>
                </a:ext>
              </a:extLst>
            </p:cNvPr>
            <p:cNvSpPr txBox="1"/>
            <p:nvPr/>
          </p:nvSpPr>
          <p:spPr>
            <a:xfrm>
              <a:off x="6706170" y="4505711"/>
              <a:ext cx="1192408"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图      像 </a:t>
              </a:r>
            </a:p>
          </p:txBody>
        </p:sp>
        <p:sp>
          <p:nvSpPr>
            <p:cNvPr id="20" name="文本框 19">
              <a:extLst>
                <a:ext uri="{FF2B5EF4-FFF2-40B4-BE49-F238E27FC236}">
                  <a16:creationId xmlns:a16="http://schemas.microsoft.com/office/drawing/2014/main" id="{5C21C1DE-4144-96F8-287D-C6800AFDC64B}"/>
                </a:ext>
              </a:extLst>
            </p:cNvPr>
            <p:cNvSpPr txBox="1"/>
            <p:nvPr/>
          </p:nvSpPr>
          <p:spPr>
            <a:xfrm>
              <a:off x="8980488" y="3780307"/>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文本内容</a:t>
              </a:r>
            </a:p>
          </p:txBody>
        </p:sp>
        <p:sp>
          <p:nvSpPr>
            <p:cNvPr id="21" name="文本框 20">
              <a:extLst>
                <a:ext uri="{FF2B5EF4-FFF2-40B4-BE49-F238E27FC236}">
                  <a16:creationId xmlns:a16="http://schemas.microsoft.com/office/drawing/2014/main" id="{6C29BE5D-F494-1C2F-6133-BEFE76D0FD72}"/>
                </a:ext>
              </a:extLst>
            </p:cNvPr>
            <p:cNvSpPr txBox="1"/>
            <p:nvPr/>
          </p:nvSpPr>
          <p:spPr>
            <a:xfrm>
              <a:off x="8980488" y="4481785"/>
              <a:ext cx="1192408"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图       像 </a:t>
              </a:r>
            </a:p>
          </p:txBody>
        </p:sp>
        <p:sp>
          <p:nvSpPr>
            <p:cNvPr id="22" name="文本框 21">
              <a:extLst>
                <a:ext uri="{FF2B5EF4-FFF2-40B4-BE49-F238E27FC236}">
                  <a16:creationId xmlns:a16="http://schemas.microsoft.com/office/drawing/2014/main" id="{CA4CF533-76B0-E8A5-2ABC-FE0BAA83D866}"/>
                </a:ext>
              </a:extLst>
            </p:cNvPr>
            <p:cNvSpPr txBox="1"/>
            <p:nvPr/>
          </p:nvSpPr>
          <p:spPr>
            <a:xfrm>
              <a:off x="6706169" y="5190421"/>
              <a:ext cx="1194211"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超 链 接 </a:t>
              </a:r>
            </a:p>
          </p:txBody>
        </p:sp>
        <p:sp>
          <p:nvSpPr>
            <p:cNvPr id="23" name="文本框 22">
              <a:extLst>
                <a:ext uri="{FF2B5EF4-FFF2-40B4-BE49-F238E27FC236}">
                  <a16:creationId xmlns:a16="http://schemas.microsoft.com/office/drawing/2014/main" id="{0DBEDEC6-3E5A-C745-937B-0E1EBA7B6A87}"/>
                </a:ext>
              </a:extLst>
            </p:cNvPr>
            <p:cNvSpPr txBox="1"/>
            <p:nvPr/>
          </p:nvSpPr>
          <p:spPr>
            <a:xfrm>
              <a:off x="8970068" y="5190421"/>
              <a:ext cx="1194211"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超 链 接 </a:t>
              </a:r>
            </a:p>
          </p:txBody>
        </p:sp>
        <p:cxnSp>
          <p:nvCxnSpPr>
            <p:cNvPr id="24" name="连接符: 肘形 23">
              <a:extLst>
                <a:ext uri="{FF2B5EF4-FFF2-40B4-BE49-F238E27FC236}">
                  <a16:creationId xmlns:a16="http://schemas.microsoft.com/office/drawing/2014/main" id="{A8E96C2A-91DF-945F-797C-A71C768D6BE3}"/>
                </a:ext>
              </a:extLst>
            </p:cNvPr>
            <p:cNvCxnSpPr>
              <a:stCxn id="7" idx="2"/>
              <a:endCxn id="9" idx="0"/>
            </p:cNvCxnSpPr>
            <p:nvPr/>
          </p:nvCxnSpPr>
          <p:spPr>
            <a:xfrm rot="5400000">
              <a:off x="4746610" y="2150510"/>
              <a:ext cx="606340" cy="121197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C715574F-7FA5-3DA5-3EC8-1C31EF2EC6E4}"/>
                </a:ext>
              </a:extLst>
            </p:cNvPr>
            <p:cNvCxnSpPr>
              <a:stCxn id="7" idx="2"/>
              <a:endCxn id="8" idx="0"/>
            </p:cNvCxnSpPr>
            <p:nvPr/>
          </p:nvCxnSpPr>
          <p:spPr>
            <a:xfrm rot="5400000">
              <a:off x="3621656" y="1025557"/>
              <a:ext cx="606340" cy="346188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83045847-3AB5-65C9-8B29-90A71C0E33CB}"/>
                </a:ext>
              </a:extLst>
            </p:cNvPr>
            <p:cNvCxnSpPr>
              <a:stCxn id="7" idx="2"/>
              <a:endCxn id="10" idx="0"/>
            </p:cNvCxnSpPr>
            <p:nvPr/>
          </p:nvCxnSpPr>
          <p:spPr>
            <a:xfrm rot="16200000" flipH="1">
              <a:off x="6032503" y="2076591"/>
              <a:ext cx="585356" cy="133882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D9118F0C-65B5-7E87-E54D-A852C8D22367}"/>
                </a:ext>
              </a:extLst>
            </p:cNvPr>
            <p:cNvCxnSpPr>
              <a:stCxn id="7" idx="2"/>
              <a:endCxn id="11" idx="0"/>
            </p:cNvCxnSpPr>
            <p:nvPr/>
          </p:nvCxnSpPr>
          <p:spPr>
            <a:xfrm rot="16200000" flipH="1">
              <a:off x="7159170" y="949924"/>
              <a:ext cx="606340" cy="3613146"/>
            </a:xfrm>
            <a:prstGeom prst="bentConnector3">
              <a:avLst/>
            </a:prstGeom>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D2F16995-36A0-ED55-0D19-52E083CD50FF}"/>
                </a:ext>
              </a:extLst>
            </p:cNvPr>
            <p:cNvGrpSpPr/>
            <p:nvPr/>
          </p:nvGrpSpPr>
          <p:grpSpPr>
            <a:xfrm>
              <a:off x="1780675" y="3428998"/>
              <a:ext cx="241105" cy="1946759"/>
              <a:chOff x="1780675" y="3428998"/>
              <a:chExt cx="241105" cy="1946759"/>
            </a:xfrm>
          </p:grpSpPr>
          <p:cxnSp>
            <p:nvCxnSpPr>
              <p:cNvPr id="41" name="连接符: 肘形 40">
                <a:extLst>
                  <a:ext uri="{FF2B5EF4-FFF2-40B4-BE49-F238E27FC236}">
                    <a16:creationId xmlns:a16="http://schemas.microsoft.com/office/drawing/2014/main" id="{3702373D-92CE-8E81-7EF0-B535ABC73468}"/>
                  </a:ext>
                </a:extLst>
              </p:cNvPr>
              <p:cNvCxnSpPr>
                <a:endCxn id="14" idx="1"/>
              </p:cNvCxnSpPr>
              <p:nvPr/>
            </p:nvCxnSpPr>
            <p:spPr>
              <a:xfrm rot="16200000" flipH="1">
                <a:off x="927848" y="4281825"/>
                <a:ext cx="1946759" cy="24110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257B39C8-265A-EBE8-CF9A-D8AA7BB0E563}"/>
                  </a:ext>
                </a:extLst>
              </p:cNvPr>
              <p:cNvCxnSpPr>
                <a:stCxn id="12" idx="1"/>
              </p:cNvCxnSpPr>
              <p:nvPr/>
            </p:nvCxnSpPr>
            <p:spPr>
              <a:xfrm flipH="1" flipV="1">
                <a:off x="1792705" y="3964972"/>
                <a:ext cx="229075" cy="78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CFD2A122-0E78-80DF-6F83-344B66CA5F2D}"/>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3232CC64-5B25-AC03-D11C-89B92BFF46E6}"/>
                </a:ext>
              </a:extLst>
            </p:cNvPr>
            <p:cNvGrpSpPr/>
            <p:nvPr/>
          </p:nvGrpSpPr>
          <p:grpSpPr>
            <a:xfrm>
              <a:off x="3977154" y="3420047"/>
              <a:ext cx="241106" cy="1940187"/>
              <a:chOff x="1780675" y="3428999"/>
              <a:chExt cx="241106" cy="1940187"/>
            </a:xfrm>
          </p:grpSpPr>
          <p:cxnSp>
            <p:nvCxnSpPr>
              <p:cNvPr id="38" name="连接符: 肘形 37">
                <a:extLst>
                  <a:ext uri="{FF2B5EF4-FFF2-40B4-BE49-F238E27FC236}">
                    <a16:creationId xmlns:a16="http://schemas.microsoft.com/office/drawing/2014/main" id="{DDD0F870-4330-2789-A338-529F7C7E8615}"/>
                  </a:ext>
                </a:extLst>
              </p:cNvPr>
              <p:cNvCxnSpPr/>
              <p:nvPr/>
            </p:nvCxnSpPr>
            <p:spPr>
              <a:xfrm rot="16200000" flipH="1">
                <a:off x="931134" y="4278540"/>
                <a:ext cx="1940187" cy="2411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A163053-658A-1D3A-C7D2-F9BD2C1E16D7}"/>
                  </a:ext>
                </a:extLst>
              </p:cNvPr>
              <p:cNvCxnSpPr/>
              <p:nvPr/>
            </p:nvCxnSpPr>
            <p:spPr>
              <a:xfrm flipH="1" flipV="1">
                <a:off x="1792705" y="3964972"/>
                <a:ext cx="229075" cy="1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6F7B6025-CF1D-BA8F-AF2E-727944096885}"/>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B1854518-CDE0-1868-555B-314BAFE6B8A1}"/>
                </a:ext>
              </a:extLst>
            </p:cNvPr>
            <p:cNvGrpSpPr/>
            <p:nvPr/>
          </p:nvGrpSpPr>
          <p:grpSpPr>
            <a:xfrm>
              <a:off x="6453203" y="3418789"/>
              <a:ext cx="241106" cy="1940187"/>
              <a:chOff x="1780675" y="3428999"/>
              <a:chExt cx="241106" cy="1940187"/>
            </a:xfrm>
          </p:grpSpPr>
          <p:cxnSp>
            <p:nvCxnSpPr>
              <p:cNvPr id="35" name="连接符: 肘形 34">
                <a:extLst>
                  <a:ext uri="{FF2B5EF4-FFF2-40B4-BE49-F238E27FC236}">
                    <a16:creationId xmlns:a16="http://schemas.microsoft.com/office/drawing/2014/main" id="{429429E6-1002-28C8-BFD4-5606E78D96C6}"/>
                  </a:ext>
                </a:extLst>
              </p:cNvPr>
              <p:cNvCxnSpPr/>
              <p:nvPr/>
            </p:nvCxnSpPr>
            <p:spPr>
              <a:xfrm rot="16200000" flipH="1">
                <a:off x="931134" y="4278540"/>
                <a:ext cx="1940187" cy="2411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4D695E23-41F3-EDC4-D872-E435B7E010E6}"/>
                  </a:ext>
                </a:extLst>
              </p:cNvPr>
              <p:cNvCxnSpPr/>
              <p:nvPr/>
            </p:nvCxnSpPr>
            <p:spPr>
              <a:xfrm flipH="1" flipV="1">
                <a:off x="1792705" y="3964972"/>
                <a:ext cx="229075" cy="1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B7EF08AE-FFB5-7211-BF70-AF27647FD736}"/>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72219ED2-903E-A646-F25C-4BC5461AA4A8}"/>
                </a:ext>
              </a:extLst>
            </p:cNvPr>
            <p:cNvGrpSpPr/>
            <p:nvPr/>
          </p:nvGrpSpPr>
          <p:grpSpPr>
            <a:xfrm>
              <a:off x="8758618" y="3430693"/>
              <a:ext cx="241106" cy="1940187"/>
              <a:chOff x="1780675" y="3428999"/>
              <a:chExt cx="241106" cy="1940187"/>
            </a:xfrm>
          </p:grpSpPr>
          <p:cxnSp>
            <p:nvCxnSpPr>
              <p:cNvPr id="32" name="连接符: 肘形 31">
                <a:extLst>
                  <a:ext uri="{FF2B5EF4-FFF2-40B4-BE49-F238E27FC236}">
                    <a16:creationId xmlns:a16="http://schemas.microsoft.com/office/drawing/2014/main" id="{2F19087E-7B75-6F5F-9ABE-8DA297AEF31C}"/>
                  </a:ext>
                </a:extLst>
              </p:cNvPr>
              <p:cNvCxnSpPr/>
              <p:nvPr/>
            </p:nvCxnSpPr>
            <p:spPr>
              <a:xfrm rot="16200000" flipH="1">
                <a:off x="931134" y="4278540"/>
                <a:ext cx="1940187" cy="2411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6254019-2D5E-7CDE-18FD-338E0E91F3D5}"/>
                  </a:ext>
                </a:extLst>
              </p:cNvPr>
              <p:cNvCxnSpPr/>
              <p:nvPr/>
            </p:nvCxnSpPr>
            <p:spPr>
              <a:xfrm flipH="1" flipV="1">
                <a:off x="1792705" y="3964972"/>
                <a:ext cx="229075" cy="1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C790634-2E9C-8957-81C9-16621A5A7CE7}"/>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73396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9A798-AE85-471A-AD74-67DBE37B7527}"/>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文本框 3">
            <a:extLst>
              <a:ext uri="{FF2B5EF4-FFF2-40B4-BE49-F238E27FC236}">
                <a16:creationId xmlns:a16="http://schemas.microsoft.com/office/drawing/2014/main" id="{5AA49CC1-A34B-4268-A760-D2D48B7D0BC8}"/>
              </a:ext>
            </a:extLst>
          </p:cNvPr>
          <p:cNvSpPr txBox="1"/>
          <p:nvPr/>
        </p:nvSpPr>
        <p:spPr>
          <a:xfrm>
            <a:off x="1002323" y="1938611"/>
            <a:ext cx="6096000" cy="4524315"/>
          </a:xfrm>
          <a:prstGeom prst="rect">
            <a:avLst/>
          </a:prstGeom>
          <a:noFill/>
        </p:spPr>
        <p:txBody>
          <a:bodyPr wrap="square">
            <a:spAutoFit/>
          </a:bodyPr>
          <a:lstStyle/>
          <a:p>
            <a:pPr algn="just"/>
            <a:r>
              <a:rPr lang="zh-CN" altLang="en-US" b="1" dirty="0">
                <a:latin typeface="Microsoft YaHei Light" panose="020B0502040204020203" pitchFamily="34" charset="-122"/>
                <a:ea typeface="Microsoft YaHei Light" panose="020B0502040204020203" pitchFamily="34" charset="-122"/>
              </a:rPr>
              <a:t>按阶段编制的</a:t>
            </a:r>
            <a:r>
              <a:rPr lang="en-US" altLang="zh-CN" b="1" dirty="0">
                <a:latin typeface="Microsoft YaHei Light" panose="020B0502040204020203" pitchFamily="34" charset="-122"/>
                <a:ea typeface="Microsoft YaHei Light" panose="020B0502040204020203" pitchFamily="34" charset="-122"/>
              </a:rPr>
              <a:t>WBS</a:t>
            </a:r>
            <a:r>
              <a:rPr lang="zh-CN" altLang="en-US" b="1" dirty="0">
                <a:latin typeface="Microsoft YaHei Light" panose="020B0502040204020203" pitchFamily="34" charset="-122"/>
                <a:ea typeface="Microsoft YaHei Light" panose="020B0502040204020203" pitchFamily="34" charset="-122"/>
              </a:rPr>
              <a:t>示例（</a:t>
            </a:r>
            <a:r>
              <a:rPr lang="zh-CN" altLang="en-US" sz="1800" b="1" dirty="0">
                <a:latin typeface="Times New Roman" panose="02020603050405020304" pitchFamily="18" charset="0"/>
              </a:rPr>
              <a:t>采用</a:t>
            </a:r>
            <a:r>
              <a:rPr lang="en-US" altLang="zh-CN" sz="1800" b="1" dirty="0">
                <a:latin typeface="Times New Roman" panose="02020603050405020304" pitchFamily="18" charset="0"/>
              </a:rPr>
              <a:t>PMI</a:t>
            </a:r>
            <a:r>
              <a:rPr lang="zh-CN" altLang="en-US" sz="1800" b="1" dirty="0">
                <a:latin typeface="Times New Roman" panose="02020603050405020304" pitchFamily="18" charset="0"/>
              </a:rPr>
              <a:t>标准编号系统的表格）</a:t>
            </a:r>
          </a:p>
          <a:p>
            <a:pPr algn="just"/>
            <a:r>
              <a:rPr lang="en-US" altLang="zh-CN" sz="1800" b="1" dirty="0">
                <a:latin typeface="Times New Roman" panose="02020603050405020304" pitchFamily="18" charset="0"/>
              </a:rPr>
              <a:t>1.1 </a:t>
            </a:r>
            <a:r>
              <a:rPr lang="zh-CN" altLang="en-US" sz="1800" b="1" dirty="0">
                <a:latin typeface="Times New Roman" panose="02020603050405020304" pitchFamily="18" charset="0"/>
              </a:rPr>
              <a:t>概念</a:t>
            </a:r>
          </a:p>
          <a:p>
            <a:pPr algn="just"/>
            <a:r>
              <a:rPr lang="en-US" altLang="zh-CN" sz="1800" b="1" dirty="0">
                <a:latin typeface="Times New Roman" panose="02020603050405020304" pitchFamily="18" charset="0"/>
              </a:rPr>
              <a:t>   1.1.1 </a:t>
            </a:r>
            <a:r>
              <a:rPr lang="zh-CN" altLang="en-US" sz="1800" b="1" dirty="0">
                <a:latin typeface="Times New Roman" panose="02020603050405020304" pitchFamily="18" charset="0"/>
              </a:rPr>
              <a:t>评价当前系统</a:t>
            </a:r>
          </a:p>
          <a:p>
            <a:pPr algn="just"/>
            <a:r>
              <a:rPr lang="en-US" altLang="zh-CN" sz="1800" b="1" dirty="0">
                <a:latin typeface="Times New Roman" panose="02020603050405020304" pitchFamily="18" charset="0"/>
              </a:rPr>
              <a:t>   1.1.2 </a:t>
            </a:r>
            <a:r>
              <a:rPr lang="zh-CN" altLang="en-US" sz="1800" b="1" dirty="0">
                <a:latin typeface="Times New Roman" panose="02020603050405020304" pitchFamily="18" charset="0"/>
              </a:rPr>
              <a:t>定义需求</a:t>
            </a:r>
          </a:p>
          <a:p>
            <a:pPr lvl="1" algn="just"/>
            <a:r>
              <a:rPr lang="en-US" altLang="zh-CN" b="1" dirty="0">
                <a:latin typeface="Times New Roman" panose="02020603050405020304" pitchFamily="18" charset="0"/>
              </a:rPr>
              <a:t>1.1.2.1 </a:t>
            </a:r>
            <a:r>
              <a:rPr lang="zh-CN" altLang="en-US" b="1" dirty="0">
                <a:latin typeface="Times New Roman" panose="02020603050405020304" pitchFamily="18" charset="0"/>
              </a:rPr>
              <a:t>定义用户需求</a:t>
            </a:r>
          </a:p>
          <a:p>
            <a:pPr lvl="1" algn="just"/>
            <a:r>
              <a:rPr lang="en-US" altLang="zh-CN" b="1" dirty="0">
                <a:latin typeface="Times New Roman" panose="02020603050405020304" pitchFamily="18" charset="0"/>
              </a:rPr>
              <a:t>1.1.2.2 </a:t>
            </a:r>
            <a:r>
              <a:rPr lang="zh-CN" altLang="en-US" b="1" dirty="0">
                <a:latin typeface="Times New Roman" panose="02020603050405020304" pitchFamily="18" charset="0"/>
              </a:rPr>
              <a:t>定义内容需求</a:t>
            </a:r>
          </a:p>
          <a:p>
            <a:pPr lvl="1" algn="just"/>
            <a:r>
              <a:rPr lang="en-US" altLang="zh-CN" b="1" dirty="0">
                <a:latin typeface="Times New Roman" panose="02020603050405020304" pitchFamily="18" charset="0"/>
              </a:rPr>
              <a:t>l.1.2.3 </a:t>
            </a:r>
            <a:r>
              <a:rPr lang="zh-CN" altLang="en-US" b="1" dirty="0">
                <a:latin typeface="Times New Roman" panose="02020603050405020304" pitchFamily="18" charset="0"/>
              </a:rPr>
              <a:t>定义系统需求</a:t>
            </a:r>
          </a:p>
          <a:p>
            <a:pPr lvl="1" algn="just"/>
            <a:r>
              <a:rPr lang="en-US" altLang="zh-CN" b="1" dirty="0">
                <a:latin typeface="Times New Roman" panose="02020603050405020304" pitchFamily="18" charset="0"/>
              </a:rPr>
              <a:t>1.1.2.4 </a:t>
            </a:r>
            <a:r>
              <a:rPr lang="zh-CN" altLang="en-US" b="1" dirty="0">
                <a:latin typeface="Times New Roman" panose="02020603050405020304" pitchFamily="18" charset="0"/>
              </a:rPr>
              <a:t>定义服务器业主需求</a:t>
            </a:r>
          </a:p>
          <a:p>
            <a:pPr algn="just"/>
            <a:r>
              <a:rPr lang="en-US" altLang="zh-CN" sz="1800" b="1" dirty="0">
                <a:latin typeface="Times New Roman" panose="02020603050405020304" pitchFamily="18" charset="0"/>
              </a:rPr>
              <a:t>   1.1.3 </a:t>
            </a:r>
            <a:r>
              <a:rPr lang="zh-CN" altLang="en-US" sz="1800" b="1" dirty="0">
                <a:latin typeface="Times New Roman" panose="02020603050405020304" pitchFamily="18" charset="0"/>
              </a:rPr>
              <a:t>定义具体功能</a:t>
            </a:r>
          </a:p>
          <a:p>
            <a:pPr lvl="1" algn="just"/>
            <a:r>
              <a:rPr lang="en-US" altLang="zh-CN" b="1" dirty="0">
                <a:latin typeface="Times New Roman" panose="02020603050405020304" pitchFamily="18" charset="0"/>
              </a:rPr>
              <a:t>1.1.4 </a:t>
            </a:r>
            <a:r>
              <a:rPr lang="zh-CN" altLang="en-US" b="1" dirty="0">
                <a:latin typeface="Times New Roman" panose="02020603050405020304" pitchFamily="18" charset="0"/>
              </a:rPr>
              <a:t>定义风险及风险管理方法</a:t>
            </a:r>
          </a:p>
          <a:p>
            <a:pPr lvl="1" algn="just"/>
            <a:r>
              <a:rPr lang="en-US" altLang="zh-CN" b="1" dirty="0">
                <a:latin typeface="Times New Roman" panose="02020603050405020304" pitchFamily="18" charset="0"/>
              </a:rPr>
              <a:t>1.1.5 </a:t>
            </a:r>
            <a:r>
              <a:rPr lang="zh-CN" altLang="en-US" b="1" dirty="0">
                <a:latin typeface="Times New Roman" panose="02020603050405020304" pitchFamily="18" charset="0"/>
              </a:rPr>
              <a:t>制定项目计划</a:t>
            </a:r>
          </a:p>
          <a:p>
            <a:pPr lvl="1" algn="just"/>
            <a:r>
              <a:rPr lang="en-US" altLang="zh-CN" b="1" dirty="0">
                <a:latin typeface="Times New Roman" panose="02020603050405020304" pitchFamily="18" charset="0"/>
              </a:rPr>
              <a:t>1.1.6 </a:t>
            </a:r>
            <a:r>
              <a:rPr lang="zh-CN" altLang="en-US" b="1" dirty="0">
                <a:latin typeface="Times New Roman" panose="02020603050405020304" pitchFamily="18" charset="0"/>
              </a:rPr>
              <a:t>简要介绍网站开发团队</a:t>
            </a:r>
          </a:p>
          <a:p>
            <a:pPr algn="just"/>
            <a:r>
              <a:rPr lang="en-US" altLang="zh-CN" sz="1800" b="1" dirty="0">
                <a:latin typeface="Times New Roman" panose="02020603050405020304" pitchFamily="18" charset="0"/>
              </a:rPr>
              <a:t>1.2 </a:t>
            </a:r>
            <a:r>
              <a:rPr lang="zh-CN" altLang="en-US" sz="1800" b="1" dirty="0">
                <a:latin typeface="Times New Roman" panose="02020603050405020304" pitchFamily="18" charset="0"/>
              </a:rPr>
              <a:t>网站设计</a:t>
            </a:r>
          </a:p>
          <a:p>
            <a:pPr algn="just"/>
            <a:r>
              <a:rPr lang="en-US" altLang="zh-CN" sz="1800" b="1" dirty="0">
                <a:latin typeface="Times New Roman" panose="02020603050405020304" pitchFamily="18" charset="0"/>
              </a:rPr>
              <a:t>1.3 </a:t>
            </a:r>
            <a:r>
              <a:rPr lang="zh-CN" altLang="en-US" sz="1800" b="1" dirty="0">
                <a:latin typeface="Times New Roman" panose="02020603050405020304" pitchFamily="18" charset="0"/>
              </a:rPr>
              <a:t>网站开发</a:t>
            </a:r>
          </a:p>
          <a:p>
            <a:pPr algn="just"/>
            <a:r>
              <a:rPr lang="en-US" altLang="zh-CN" sz="1800" b="1" dirty="0">
                <a:latin typeface="Times New Roman" panose="02020603050405020304" pitchFamily="18" charset="0"/>
              </a:rPr>
              <a:t>1.4 </a:t>
            </a:r>
            <a:r>
              <a:rPr lang="zh-CN" altLang="en-US" b="1" dirty="0">
                <a:latin typeface="Times New Roman" panose="02020603050405020304" pitchFamily="18" charset="0"/>
              </a:rPr>
              <a:t>正式上线</a:t>
            </a:r>
            <a:endParaRPr lang="zh-CN" altLang="en-US" sz="1800" b="1" dirty="0">
              <a:latin typeface="Times New Roman" panose="02020603050405020304" pitchFamily="18" charset="0"/>
            </a:endParaRPr>
          </a:p>
          <a:p>
            <a:pPr algn="just"/>
            <a:r>
              <a:rPr lang="en-US" altLang="zh-CN" sz="1800" b="1" dirty="0">
                <a:latin typeface="Times New Roman" panose="02020603050405020304" pitchFamily="18" charset="0"/>
              </a:rPr>
              <a:t>1.5 </a:t>
            </a:r>
            <a:r>
              <a:rPr lang="zh-CN" altLang="en-US" sz="1800" b="1" dirty="0">
                <a:latin typeface="Times New Roman" panose="02020603050405020304" pitchFamily="18" charset="0"/>
              </a:rPr>
              <a:t>技术支持</a:t>
            </a:r>
          </a:p>
        </p:txBody>
      </p:sp>
      <p:sp>
        <p:nvSpPr>
          <p:cNvPr id="5" name="文本框 4">
            <a:extLst>
              <a:ext uri="{FF2B5EF4-FFF2-40B4-BE49-F238E27FC236}">
                <a16:creationId xmlns:a16="http://schemas.microsoft.com/office/drawing/2014/main" id="{C6466F2E-AAE4-184C-DC83-9766CA4DE463}"/>
              </a:ext>
            </a:extLst>
          </p:cNvPr>
          <p:cNvSpPr txBox="1"/>
          <p:nvPr/>
        </p:nvSpPr>
        <p:spPr>
          <a:xfrm>
            <a:off x="1090245" y="1485874"/>
            <a:ext cx="2848709"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cs typeface="Times New Roman" pitchFamily="18" charset="0"/>
              </a:rPr>
              <a:t>列表表现形式</a:t>
            </a:r>
            <a:endParaRPr lang="zh-CN" altLang="en-US" b="1" dirty="0"/>
          </a:p>
        </p:txBody>
      </p:sp>
      <p:pic>
        <p:nvPicPr>
          <p:cNvPr id="6" name="图片 5">
            <a:extLst>
              <a:ext uri="{FF2B5EF4-FFF2-40B4-BE49-F238E27FC236}">
                <a16:creationId xmlns:a16="http://schemas.microsoft.com/office/drawing/2014/main" id="{9652A660-8FF8-2B9B-B197-EEE311F8C6EF}"/>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l="25120" t="7658" r="40258" b="4414"/>
          <a:stretch/>
        </p:blipFill>
        <p:spPr>
          <a:xfrm rot="16200000">
            <a:off x="6475659" y="701507"/>
            <a:ext cx="3612125" cy="6880182"/>
          </a:xfrm>
          <a:prstGeom prst="rect">
            <a:avLst/>
          </a:prstGeom>
        </p:spPr>
      </p:pic>
      <p:sp>
        <p:nvSpPr>
          <p:cNvPr id="7" name="文本框 6">
            <a:extLst>
              <a:ext uri="{FF2B5EF4-FFF2-40B4-BE49-F238E27FC236}">
                <a16:creationId xmlns:a16="http://schemas.microsoft.com/office/drawing/2014/main" id="{CA6E94DB-133D-956A-B2A2-5855E9A42C02}"/>
              </a:ext>
            </a:extLst>
          </p:cNvPr>
          <p:cNvSpPr txBox="1"/>
          <p:nvPr/>
        </p:nvSpPr>
        <p:spPr>
          <a:xfrm>
            <a:off x="5888892" y="5909041"/>
            <a:ext cx="6096000" cy="369332"/>
          </a:xfrm>
          <a:prstGeom prst="rect">
            <a:avLst/>
          </a:prstGeom>
          <a:noFill/>
        </p:spPr>
        <p:txBody>
          <a:bodyPr wrap="square">
            <a:spAutoFit/>
          </a:bodyPr>
          <a:lstStyle/>
          <a:p>
            <a:pPr algn="just"/>
            <a:r>
              <a:rPr lang="zh-CN" altLang="en-US" sz="1800" b="1" dirty="0">
                <a:latin typeface="Times New Roman" panose="02020603050405020304" pitchFamily="18" charset="0"/>
              </a:rPr>
              <a:t>使用微软</a:t>
            </a:r>
            <a:r>
              <a:rPr lang="en-US" altLang="zh-CN" sz="1800" b="1" dirty="0">
                <a:latin typeface="Times New Roman" panose="02020603050405020304" pitchFamily="18" charset="0"/>
              </a:rPr>
              <a:t>Project</a:t>
            </a:r>
            <a:r>
              <a:rPr lang="zh-CN" altLang="en-US" sz="1800" b="1" dirty="0">
                <a:latin typeface="Times New Roman" panose="02020603050405020304" pitchFamily="18" charset="0"/>
              </a:rPr>
              <a:t>制作的局域网项目甘特图</a:t>
            </a:r>
          </a:p>
        </p:txBody>
      </p:sp>
    </p:spTree>
    <p:extLst>
      <p:ext uri="{BB962C8B-B14F-4D97-AF65-F5344CB8AC3E}">
        <p14:creationId xmlns:p14="http://schemas.microsoft.com/office/powerpoint/2010/main" val="359263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2BC6A-AC85-4400-B588-CCA3469B5E2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文本框 3">
            <a:extLst>
              <a:ext uri="{FF2B5EF4-FFF2-40B4-BE49-F238E27FC236}">
                <a16:creationId xmlns:a16="http://schemas.microsoft.com/office/drawing/2014/main" id="{44D1C033-95B6-40F0-9C6E-697D1027DCE5}"/>
              </a:ext>
            </a:extLst>
          </p:cNvPr>
          <p:cNvSpPr txBox="1"/>
          <p:nvPr/>
        </p:nvSpPr>
        <p:spPr>
          <a:xfrm>
            <a:off x="1170070" y="1589856"/>
            <a:ext cx="10115551" cy="400110"/>
          </a:xfrm>
          <a:prstGeom prst="rect">
            <a:avLst/>
          </a:prstGeom>
          <a:noFill/>
        </p:spPr>
        <p:txBody>
          <a:bodyPr wrap="square">
            <a:spAutoFit/>
          </a:bodyPr>
          <a:lstStyle/>
          <a:p>
            <a:r>
              <a:rPr lang="en-US" altLang="zh-CN" sz="2000" b="1" i="0" u="none" strike="noStrike" baseline="0" dirty="0">
                <a:latin typeface="HelveticaNeue-Condensed"/>
              </a:rPr>
              <a:t>WBS </a:t>
            </a:r>
            <a:r>
              <a:rPr lang="zh-CN" altLang="en-US" sz="2000" b="1" i="0" u="none" strike="noStrike" baseline="0" dirty="0">
                <a:latin typeface="SourceHanSansSC-Regular"/>
              </a:rPr>
              <a:t>词典是针对 </a:t>
            </a:r>
            <a:r>
              <a:rPr lang="en-US" altLang="zh-CN" sz="2000" b="1" i="0" u="none" strike="noStrike" baseline="0" dirty="0">
                <a:latin typeface="HelveticaNeue-Condensed"/>
              </a:rPr>
              <a:t>WBS </a:t>
            </a:r>
            <a:r>
              <a:rPr lang="zh-CN" altLang="en-US" sz="2000" b="1" i="0" u="none" strike="noStrike" baseline="0" dirty="0">
                <a:latin typeface="SourceHanSansSC-Regular"/>
              </a:rPr>
              <a:t>中的每个组件，详细描述可交付成果、活动和进度信息的文件</a:t>
            </a:r>
            <a:endParaRPr lang="zh-CN" altLang="en-US" sz="2000" b="1" dirty="0"/>
          </a:p>
        </p:txBody>
      </p:sp>
      <p:sp>
        <p:nvSpPr>
          <p:cNvPr id="6" name="文本框 5">
            <a:extLst>
              <a:ext uri="{FF2B5EF4-FFF2-40B4-BE49-F238E27FC236}">
                <a16:creationId xmlns:a16="http://schemas.microsoft.com/office/drawing/2014/main" id="{8D6F5F9C-9B76-4269-942B-91C779424C27}"/>
              </a:ext>
            </a:extLst>
          </p:cNvPr>
          <p:cNvSpPr txBox="1"/>
          <p:nvPr/>
        </p:nvSpPr>
        <p:spPr>
          <a:xfrm>
            <a:off x="1170070" y="2135793"/>
            <a:ext cx="6093994" cy="3693319"/>
          </a:xfrm>
          <a:prstGeom prst="rect">
            <a:avLst/>
          </a:prstGeom>
          <a:noFill/>
        </p:spPr>
        <p:txBody>
          <a:bodyPr wrap="square">
            <a:spAutoFit/>
          </a:bodyPr>
          <a:lstStyle/>
          <a:p>
            <a:pPr algn="l"/>
            <a:r>
              <a:rPr lang="en-US" altLang="zh-CN" sz="1800" b="1" i="0" u="none" strike="noStrike" baseline="0" dirty="0">
                <a:latin typeface="HelveticaNeue-Condensed"/>
              </a:rPr>
              <a:t>WBS </a:t>
            </a:r>
            <a:r>
              <a:rPr lang="zh-CN" altLang="en-US" sz="1800" b="1" i="0" u="none" strike="noStrike" baseline="0" dirty="0">
                <a:latin typeface="SourceHanSansSC-Regular"/>
              </a:rPr>
              <a:t>词典中的内容可能包括（但不限于）：</a:t>
            </a:r>
          </a:p>
          <a:p>
            <a:pPr marL="742950" lvl="1" indent="-285750">
              <a:buFont typeface="Wingdings" panose="05000000000000000000" pitchFamily="2" charset="2"/>
              <a:buChar char="u"/>
            </a:pPr>
            <a:r>
              <a:rPr lang="zh-CN" altLang="en-US" b="0" i="0" u="none" strike="noStrike" baseline="0" dirty="0">
                <a:latin typeface="SourceHanSansSC-Regular"/>
              </a:rPr>
              <a:t>账户编码标识；</a:t>
            </a:r>
          </a:p>
          <a:p>
            <a:pPr marL="742950" lvl="1" indent="-285750">
              <a:buFont typeface="Wingdings" panose="05000000000000000000" pitchFamily="2" charset="2"/>
              <a:buChar char="u"/>
            </a:pPr>
            <a:r>
              <a:rPr lang="zh-CN" altLang="en-US" b="0" i="0" u="none" strike="noStrike" baseline="0" dirty="0">
                <a:latin typeface="SourceHanSansSC-Regular"/>
              </a:rPr>
              <a:t>工作描述；</a:t>
            </a:r>
          </a:p>
          <a:p>
            <a:pPr marL="742950" lvl="1" indent="-285750">
              <a:buFont typeface="Wingdings" panose="05000000000000000000" pitchFamily="2" charset="2"/>
              <a:buChar char="u"/>
            </a:pPr>
            <a:r>
              <a:rPr lang="zh-CN" altLang="en-US" b="0" i="0" u="none" strike="noStrike" baseline="0" dirty="0">
                <a:latin typeface="SourceHanSansSC-Regular"/>
              </a:rPr>
              <a:t>假设条件和制约因素；</a:t>
            </a:r>
          </a:p>
          <a:p>
            <a:pPr marL="742950" lvl="1" indent="-285750">
              <a:buFont typeface="Wingdings" panose="05000000000000000000" pitchFamily="2" charset="2"/>
              <a:buChar char="u"/>
            </a:pPr>
            <a:r>
              <a:rPr lang="zh-CN" altLang="en-US" b="0" i="0" u="none" strike="noStrike" baseline="0" dirty="0">
                <a:latin typeface="SourceHanSansSC-Regular"/>
              </a:rPr>
              <a:t>负责的组织；</a:t>
            </a:r>
          </a:p>
          <a:p>
            <a:pPr marL="742950" lvl="1" indent="-285750">
              <a:buFont typeface="Wingdings" panose="05000000000000000000" pitchFamily="2" charset="2"/>
              <a:buChar char="u"/>
            </a:pPr>
            <a:r>
              <a:rPr lang="zh-CN" altLang="en-US" b="0" i="0" u="none" strike="noStrike" baseline="0" dirty="0">
                <a:latin typeface="SourceHanSansSC-Regular"/>
              </a:rPr>
              <a:t>进度里程碑；</a:t>
            </a:r>
          </a:p>
          <a:p>
            <a:pPr marL="742950" lvl="1" indent="-285750">
              <a:buFont typeface="Wingdings" panose="05000000000000000000" pitchFamily="2" charset="2"/>
              <a:buChar char="u"/>
            </a:pPr>
            <a:r>
              <a:rPr lang="zh-CN" altLang="en-US" b="0" i="0" u="none" strike="noStrike" baseline="0" dirty="0">
                <a:latin typeface="SourceHanSansSC-Regular"/>
              </a:rPr>
              <a:t>相关的进度活动；</a:t>
            </a:r>
          </a:p>
          <a:p>
            <a:pPr marL="742950" lvl="1" indent="-285750">
              <a:buFont typeface="Wingdings" panose="05000000000000000000" pitchFamily="2" charset="2"/>
              <a:buChar char="u"/>
            </a:pPr>
            <a:r>
              <a:rPr lang="zh-CN" altLang="en-US" b="0" i="0" u="none" strike="noStrike" baseline="0" dirty="0">
                <a:latin typeface="SourceHanSansSC-Regular"/>
              </a:rPr>
              <a:t>所需资源；</a:t>
            </a:r>
          </a:p>
          <a:p>
            <a:pPr marL="742950" lvl="1" indent="-285750">
              <a:buFont typeface="Wingdings" panose="05000000000000000000" pitchFamily="2" charset="2"/>
              <a:buChar char="u"/>
            </a:pPr>
            <a:r>
              <a:rPr lang="zh-CN" altLang="en-US" b="0" i="0" u="none" strike="noStrike" baseline="0" dirty="0">
                <a:latin typeface="SourceHanSansSC-Regular"/>
              </a:rPr>
              <a:t>成本估算；</a:t>
            </a:r>
          </a:p>
          <a:p>
            <a:pPr marL="742950" lvl="1" indent="-285750">
              <a:buFont typeface="Wingdings" panose="05000000000000000000" pitchFamily="2" charset="2"/>
              <a:buChar char="u"/>
            </a:pPr>
            <a:r>
              <a:rPr lang="zh-CN" altLang="en-US" b="0" i="0" u="none" strike="noStrike" baseline="0" dirty="0">
                <a:latin typeface="SourceHanSansSC-Regular"/>
              </a:rPr>
              <a:t>质量要求；</a:t>
            </a:r>
          </a:p>
          <a:p>
            <a:pPr marL="742950" lvl="1" indent="-285750">
              <a:buFont typeface="Wingdings" panose="05000000000000000000" pitchFamily="2" charset="2"/>
              <a:buChar char="u"/>
            </a:pPr>
            <a:r>
              <a:rPr lang="zh-CN" altLang="en-US" b="0" i="0" u="none" strike="noStrike" baseline="0" dirty="0">
                <a:latin typeface="SourceHanSansSC-Regular"/>
              </a:rPr>
              <a:t>验收标准；</a:t>
            </a:r>
          </a:p>
          <a:p>
            <a:pPr marL="742950" lvl="1" indent="-285750">
              <a:buFont typeface="Wingdings" panose="05000000000000000000" pitchFamily="2" charset="2"/>
              <a:buChar char="u"/>
            </a:pPr>
            <a:r>
              <a:rPr lang="zh-CN" altLang="en-US" b="0" i="0" u="none" strike="noStrike" baseline="0" dirty="0">
                <a:latin typeface="SourceHanSansSC-Regular"/>
              </a:rPr>
              <a:t>技术参考文献；</a:t>
            </a:r>
          </a:p>
          <a:p>
            <a:pPr marL="742950" lvl="1" indent="-285750">
              <a:buFont typeface="Wingdings" panose="05000000000000000000" pitchFamily="2" charset="2"/>
              <a:buChar char="u"/>
            </a:pPr>
            <a:r>
              <a:rPr lang="zh-CN" altLang="en-US" b="0" i="0" u="none" strike="noStrike" baseline="0" dirty="0">
                <a:latin typeface="SourceHanSansSC-Regular"/>
              </a:rPr>
              <a:t>协议信息。</a:t>
            </a:r>
            <a:endParaRPr lang="zh-CN" altLang="en-US" dirty="0"/>
          </a:p>
        </p:txBody>
      </p:sp>
    </p:spTree>
    <p:extLst>
      <p:ext uri="{BB962C8B-B14F-4D97-AF65-F5344CB8AC3E}">
        <p14:creationId xmlns:p14="http://schemas.microsoft.com/office/powerpoint/2010/main" val="87563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2A1D8814-0D78-4C3C-981E-0259DC39EE0E}"/>
              </a:ext>
            </a:extLst>
          </p:cNvPr>
          <p:cNvSpPr txBox="1">
            <a:spLocks/>
          </p:cNvSpPr>
          <p:nvPr/>
        </p:nvSpPr>
        <p:spPr>
          <a:xfrm>
            <a:off x="546778" y="1358683"/>
            <a:ext cx="11039907" cy="63963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20000"/>
              </a:lnSpc>
              <a:spcBef>
                <a:spcPts val="500"/>
              </a:spcBef>
              <a:buFont typeface="Wingdings" pitchFamily="2" charset="2"/>
              <a:buNone/>
            </a:pPr>
            <a:r>
              <a:rPr lang="en-US" altLang="zh-CN" sz="2400" b="1" dirty="0">
                <a:latin typeface="微软雅黑" panose="020B0503020204020204" pitchFamily="34" charset="-122"/>
                <a:ea typeface="微软雅黑" panose="020B0503020204020204" pitchFamily="34" charset="-122"/>
                <a:cs typeface="Times New Roman" pitchFamily="18" charset="0"/>
              </a:rPr>
              <a:t>WBS</a:t>
            </a:r>
            <a:r>
              <a:rPr lang="zh-CN" altLang="en-US" sz="2400" b="1" dirty="0">
                <a:latin typeface="微软雅黑" panose="020B0503020204020204" pitchFamily="34" charset="-122"/>
                <a:ea typeface="微软雅黑" panose="020B0503020204020204" pitchFamily="34" charset="-122"/>
                <a:cs typeface="Times New Roman" pitchFamily="18" charset="0"/>
              </a:rPr>
              <a:t>字典条目示例</a:t>
            </a:r>
            <a:endParaRPr lang="zh-CN" altLang="en-US" sz="1600" dirty="0">
              <a:latin typeface="Times New Roman" panose="02020603050405020304" pitchFamily="18" charset="0"/>
            </a:endParaRPr>
          </a:p>
        </p:txBody>
      </p:sp>
      <p:sp>
        <p:nvSpPr>
          <p:cNvPr id="8" name="文本框 7">
            <a:extLst>
              <a:ext uri="{FF2B5EF4-FFF2-40B4-BE49-F238E27FC236}">
                <a16:creationId xmlns:a16="http://schemas.microsoft.com/office/drawing/2014/main" id="{3EC0547F-6E3A-4531-A6A5-B85133549601}"/>
              </a:ext>
            </a:extLst>
          </p:cNvPr>
          <p:cNvSpPr txBox="1"/>
          <p:nvPr/>
        </p:nvSpPr>
        <p:spPr>
          <a:xfrm>
            <a:off x="874643" y="1892300"/>
            <a:ext cx="10575235" cy="4401205"/>
          </a:xfrm>
          <a:prstGeom prst="rect">
            <a:avLst/>
          </a:prstGeom>
          <a:noFill/>
        </p:spPr>
        <p:txBody>
          <a:bodyPr wrap="square">
            <a:spAutoFit/>
          </a:bodyPr>
          <a:lstStyle/>
          <a:p>
            <a:pPr algn="ctr"/>
            <a:r>
              <a:rPr lang="en-US" altLang="zh-CN" sz="2000" dirty="0">
                <a:latin typeface="Times New Roman" panose="02020603050405020304" pitchFamily="18" charset="0"/>
              </a:rPr>
              <a:t>WBS</a:t>
            </a:r>
            <a:r>
              <a:rPr lang="zh-CN" altLang="en-US" sz="2000" dirty="0">
                <a:latin typeface="Times New Roman" panose="02020603050405020304" pitchFamily="18" charset="0"/>
              </a:rPr>
              <a:t>字典条目</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3</a:t>
            </a:r>
            <a:r>
              <a:rPr lang="zh-CN" altLang="en-US" sz="2000" dirty="0">
                <a:latin typeface="Times New Roman" panose="02020603050405020304" pitchFamily="18" charset="0"/>
              </a:rPr>
              <a:t>月</a:t>
            </a:r>
            <a:r>
              <a:rPr lang="en-US" altLang="zh-CN" sz="2000" dirty="0">
                <a:latin typeface="Times New Roman" panose="02020603050405020304" pitchFamily="18" charset="0"/>
              </a:rPr>
              <a:t>20</a:t>
            </a:r>
            <a:r>
              <a:rPr lang="zh-CN" altLang="en-US" sz="2000" dirty="0">
                <a:latin typeface="Times New Roman" panose="02020603050405020304" pitchFamily="18" charset="0"/>
              </a:rPr>
              <a:t>日</a:t>
            </a:r>
          </a:p>
          <a:p>
            <a:pPr algn="just"/>
            <a:r>
              <a:rPr lang="zh-CN" altLang="en-US" sz="2000" b="1" dirty="0">
                <a:latin typeface="Times New Roman" panose="02020603050405020304" pitchFamily="18" charset="0"/>
              </a:rPr>
              <a:t>项目标题：</a:t>
            </a:r>
            <a:r>
              <a:rPr lang="zh-CN" altLang="en-US" sz="2000" dirty="0">
                <a:latin typeface="Times New Roman" panose="02020603050405020304" pitchFamily="18" charset="0"/>
              </a:rPr>
              <a:t>信息技术（</a:t>
            </a:r>
            <a:r>
              <a:rPr lang="en-US" altLang="zh-CN" sz="2000" dirty="0">
                <a:latin typeface="Times New Roman" panose="02020603050405020304" pitchFamily="18" charset="0"/>
              </a:rPr>
              <a:t>IT</a:t>
            </a:r>
            <a:r>
              <a:rPr lang="zh-CN" altLang="en-US" sz="2000" dirty="0">
                <a:latin typeface="Times New Roman" panose="02020603050405020304" pitchFamily="18" charset="0"/>
              </a:rPr>
              <a:t>）升级项目</a:t>
            </a:r>
          </a:p>
          <a:p>
            <a:pPr algn="just"/>
            <a:r>
              <a:rPr lang="en-US" altLang="zh-CN" sz="2000" b="1" dirty="0">
                <a:latin typeface="Times New Roman" panose="02020603050405020304" pitchFamily="18" charset="0"/>
              </a:rPr>
              <a:t>WBS</a:t>
            </a:r>
            <a:r>
              <a:rPr lang="zh-CN" altLang="en-US" sz="2000" b="1" dirty="0">
                <a:latin typeface="Times New Roman" panose="02020603050405020304" pitchFamily="18" charset="0"/>
              </a:rPr>
              <a:t>条目号：</a:t>
            </a:r>
            <a:r>
              <a:rPr lang="en-US" altLang="zh-CN" sz="2000" dirty="0">
                <a:latin typeface="Times New Roman" panose="02020603050405020304" pitchFamily="18" charset="0"/>
              </a:rPr>
              <a:t>2.2</a:t>
            </a:r>
            <a:endParaRPr lang="zh-CN" altLang="en-US" sz="2000" dirty="0">
              <a:latin typeface="Times New Roman" panose="02020603050405020304" pitchFamily="18" charset="0"/>
            </a:endParaRPr>
          </a:p>
          <a:p>
            <a:pPr algn="just"/>
            <a:r>
              <a:rPr lang="en-US" altLang="zh-CN" sz="2000" b="1" dirty="0">
                <a:latin typeface="Times New Roman" panose="02020603050405020304" pitchFamily="18" charset="0"/>
              </a:rPr>
              <a:t>WBS</a:t>
            </a:r>
            <a:r>
              <a:rPr lang="zh-CN" altLang="en-US" sz="2000" b="1" dirty="0">
                <a:latin typeface="Times New Roman" panose="02020603050405020304" pitchFamily="18" charset="0"/>
              </a:rPr>
              <a:t>条目名称：</a:t>
            </a:r>
            <a:r>
              <a:rPr lang="zh-CN" altLang="en-US" sz="2000" dirty="0">
                <a:latin typeface="Times New Roman" panose="02020603050405020304" pitchFamily="18" charset="0"/>
              </a:rPr>
              <a:t>数据库升级</a:t>
            </a:r>
          </a:p>
          <a:p>
            <a:pPr algn="just"/>
            <a:r>
              <a:rPr lang="zh-CN" altLang="en-US" sz="2000" b="1" dirty="0">
                <a:latin typeface="Times New Roman" panose="02020603050405020304" pitchFamily="18" charset="0"/>
              </a:rPr>
              <a:t>描述：</a:t>
            </a:r>
            <a:r>
              <a:rPr lang="en-US" altLang="zh-CN" sz="2000" dirty="0">
                <a:latin typeface="Times New Roman" panose="02020603050405020304" pitchFamily="18" charset="0"/>
              </a:rPr>
              <a:t>IT</a:t>
            </a:r>
            <a:r>
              <a:rPr lang="zh-CN" altLang="en-US" sz="2000" dirty="0">
                <a:latin typeface="Times New Roman" panose="02020603050405020304" pitchFamily="18" charset="0"/>
              </a:rPr>
              <a:t>部门维护公司内部局域网硬件和软件的在线数据库。然而，在决定为此次升级定制之前，必须确保精确地了解员工当前正在使用的硬件配置和软件，以及他们是否有特殊要求。此任务包括再审读一下当前数据库的信息，写出罗列各部门员工及位置的报告，在进行实物盘点和获得来自各部门经理输入信息后，升级数据。我们的项目发起人将要求部门经理为他们有可能直接影响升级的任何特殊要求提供信息。此任务也包括为网络硬件和软件更新库存清单。在更新库存清单后，我们会发</a:t>
            </a:r>
            <a:r>
              <a:rPr lang="en-US" altLang="zh-CN" sz="2000" dirty="0">
                <a:latin typeface="Times New Roman" panose="02020603050405020304" pitchFamily="18" charset="0"/>
              </a:rPr>
              <a:t>email</a:t>
            </a:r>
            <a:r>
              <a:rPr lang="zh-CN" altLang="en-US" sz="2000" dirty="0">
                <a:latin typeface="Times New Roman" panose="02020603050405020304" pitchFamily="18" charset="0"/>
              </a:rPr>
              <a:t>给每个部门经理，以按需要修改信息及改变在线信息。部门经理在进行实物盘点期间负责确保级 足够的人员在场，并且他们能相互合作。完成此任务的语句是</a:t>
            </a:r>
            <a:r>
              <a:rPr lang="en-US" altLang="zh-CN" sz="2000" dirty="0">
                <a:latin typeface="Times New Roman" panose="02020603050405020304" pitchFamily="18" charset="0"/>
              </a:rPr>
              <a:t>WBS</a:t>
            </a:r>
            <a:r>
              <a:rPr lang="zh-CN" altLang="en-US" sz="2000" dirty="0">
                <a:latin typeface="Times New Roman" panose="02020603050405020304" pitchFamily="18" charset="0"/>
              </a:rPr>
              <a:t>条目号</a:t>
            </a:r>
            <a:r>
              <a:rPr lang="en-US" altLang="zh-CN" sz="2000" dirty="0">
                <a:latin typeface="Times New Roman" panose="02020603050405020304" pitchFamily="18" charset="0"/>
              </a:rPr>
              <a:t>2.1—</a:t>
            </a:r>
            <a:r>
              <a:rPr lang="zh-CN" altLang="en-US" sz="2000" dirty="0">
                <a:latin typeface="Times New Roman" panose="02020603050405020304" pitchFamily="18" charset="0"/>
              </a:rPr>
              <a:t>进行实物盘点，并且必须在</a:t>
            </a:r>
            <a:r>
              <a:rPr lang="en-US" altLang="zh-CN" sz="2000" dirty="0">
                <a:latin typeface="Times New Roman" panose="02020603050405020304" pitchFamily="18" charset="0"/>
              </a:rPr>
              <a:t>WBS</a:t>
            </a:r>
            <a:r>
              <a:rPr lang="zh-CN" altLang="en-US" sz="2000" dirty="0">
                <a:latin typeface="Times New Roman" panose="02020603050405020304" pitchFamily="18" charset="0"/>
              </a:rPr>
              <a:t>条目号</a:t>
            </a:r>
            <a:r>
              <a:rPr lang="en-US" altLang="zh-CN" sz="2000" dirty="0">
                <a:latin typeface="Times New Roman" panose="02020603050405020304" pitchFamily="18" charset="0"/>
              </a:rPr>
              <a:t>3.0——</a:t>
            </a:r>
            <a:r>
              <a:rPr lang="zh-CN" altLang="en-US" sz="2000" dirty="0">
                <a:latin typeface="Times New Roman" panose="02020603050405020304" pitchFamily="18" charset="0"/>
              </a:rPr>
              <a:t>获取硬件和软件之间进行。</a:t>
            </a:r>
            <a:endParaRPr lang="zh-CN" altLang="en-US" sz="2000" b="1" dirty="0">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16470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9A9748-552D-4EE7-B3F5-6DBF94D501AE}"/>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AutoShape 2">
            <a:extLst>
              <a:ext uri="{FF2B5EF4-FFF2-40B4-BE49-F238E27FC236}">
                <a16:creationId xmlns:a16="http://schemas.microsoft.com/office/drawing/2014/main" id="{012DA954-D748-4E1A-AB3B-62890883A770}"/>
              </a:ext>
            </a:extLst>
          </p:cNvPr>
          <p:cNvSpPr>
            <a:spLocks noChangeArrowheads="1"/>
          </p:cNvSpPr>
          <p:nvPr/>
        </p:nvSpPr>
        <p:spPr bwMode="auto">
          <a:xfrm>
            <a:off x="4178300" y="26670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4" name="AutoShape 3">
            <a:extLst>
              <a:ext uri="{FF2B5EF4-FFF2-40B4-BE49-F238E27FC236}">
                <a16:creationId xmlns:a16="http://schemas.microsoft.com/office/drawing/2014/main" id="{512EADE7-EFB5-4431-9819-FEC07053552F}"/>
              </a:ext>
            </a:extLst>
          </p:cNvPr>
          <p:cNvSpPr>
            <a:spLocks noChangeArrowheads="1"/>
          </p:cNvSpPr>
          <p:nvPr/>
        </p:nvSpPr>
        <p:spPr bwMode="auto">
          <a:xfrm>
            <a:off x="4025900" y="25146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5" name="AutoShape 4">
            <a:extLst>
              <a:ext uri="{FF2B5EF4-FFF2-40B4-BE49-F238E27FC236}">
                <a16:creationId xmlns:a16="http://schemas.microsoft.com/office/drawing/2014/main" id="{3B2D416A-EBB3-46A9-BB7C-9753E8C5CFEB}"/>
              </a:ext>
            </a:extLst>
          </p:cNvPr>
          <p:cNvSpPr>
            <a:spLocks noChangeArrowheads="1"/>
          </p:cNvSpPr>
          <p:nvPr/>
        </p:nvSpPr>
        <p:spPr bwMode="auto">
          <a:xfrm>
            <a:off x="3873500" y="23622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6" name="Rectangle 5">
            <a:extLst>
              <a:ext uri="{FF2B5EF4-FFF2-40B4-BE49-F238E27FC236}">
                <a16:creationId xmlns:a16="http://schemas.microsoft.com/office/drawing/2014/main" id="{9DD2A523-8959-400E-9106-7E7C169EDA43}"/>
              </a:ext>
            </a:extLst>
          </p:cNvPr>
          <p:cNvSpPr txBox="1">
            <a:spLocks noChangeArrowheads="1"/>
          </p:cNvSpPr>
          <p:nvPr/>
        </p:nvSpPr>
        <p:spPr bwMode="auto">
          <a:xfrm>
            <a:off x="613884" y="1294476"/>
            <a:ext cx="5611069"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b="1" kern="1200">
                <a:solidFill>
                  <a:srgbClr val="FF6600"/>
                </a:solidFill>
                <a:latin typeface="+mj-lt"/>
                <a:ea typeface="+mj-ea"/>
                <a:cs typeface="+mj-cs"/>
              </a:defRPr>
            </a:lvl1pPr>
            <a:lvl2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2pPr>
            <a:lvl3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3pPr>
            <a:lvl4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4pPr>
            <a:lvl5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5pPr>
            <a:lvl6pPr marL="4572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6pPr>
            <a:lvl7pPr marL="9144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7pPr>
            <a:lvl8pPr marL="13716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8pPr>
            <a:lvl9pPr marL="18288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工作分解结构词汇表</a:t>
            </a:r>
            <a:r>
              <a:rPr lang="zh-CN" altLang="en-US" dirty="0">
                <a:solidFill>
                  <a:schemeClr val="tx1"/>
                </a:solidFill>
                <a:latin typeface="微软雅黑" panose="020B0503020204020204" pitchFamily="34" charset="-122"/>
                <a:ea typeface="微软雅黑" panose="020B0503020204020204" pitchFamily="34" charset="-122"/>
              </a:rPr>
              <a:t>（字典）</a:t>
            </a:r>
            <a:r>
              <a:rPr lang="zh-CN" altLang="en-US" sz="2400" b="1" dirty="0">
                <a:latin typeface="微软雅黑" panose="020B0503020204020204" pitchFamily="34" charset="-122"/>
                <a:ea typeface="微软雅黑" panose="020B0503020204020204" pitchFamily="34" charset="-122"/>
                <a:cs typeface="Times New Roman" pitchFamily="18" charset="0"/>
              </a:rPr>
              <a:t>条目示例</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 name="AutoShape 6">
            <a:extLst>
              <a:ext uri="{FF2B5EF4-FFF2-40B4-BE49-F238E27FC236}">
                <a16:creationId xmlns:a16="http://schemas.microsoft.com/office/drawing/2014/main" id="{E3E6BE3A-9432-4E10-AF01-086F89EC538E}"/>
              </a:ext>
            </a:extLst>
          </p:cNvPr>
          <p:cNvSpPr>
            <a:spLocks noChangeArrowheads="1"/>
          </p:cNvSpPr>
          <p:nvPr/>
        </p:nvSpPr>
        <p:spPr bwMode="auto">
          <a:xfrm>
            <a:off x="3721100" y="22098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8" name="AutoShape 7">
            <a:extLst>
              <a:ext uri="{FF2B5EF4-FFF2-40B4-BE49-F238E27FC236}">
                <a16:creationId xmlns:a16="http://schemas.microsoft.com/office/drawing/2014/main" id="{FADED21C-46EF-4C37-85B5-CF94085A52D6}"/>
              </a:ext>
            </a:extLst>
          </p:cNvPr>
          <p:cNvSpPr>
            <a:spLocks noChangeArrowheads="1"/>
          </p:cNvSpPr>
          <p:nvPr/>
        </p:nvSpPr>
        <p:spPr bwMode="auto">
          <a:xfrm>
            <a:off x="3568700" y="20574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此任务工作内容包括</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负责人：张某，研发部</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2021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2021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dirty="0">
              <a:ln>
                <a:noFill/>
              </a:ln>
              <a:solidFill>
                <a:srgbClr val="FF6600"/>
              </a:solidFill>
              <a:effectLst/>
              <a:uLnTx/>
              <a:uFillTx/>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569865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7075E9-862B-4672-975D-6B6D8DA84766}"/>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文本框 3">
            <a:extLst>
              <a:ext uri="{FF2B5EF4-FFF2-40B4-BE49-F238E27FC236}">
                <a16:creationId xmlns:a16="http://schemas.microsoft.com/office/drawing/2014/main" id="{3A8BFEDF-5250-4883-8F47-0FB3E3CA96ED}"/>
              </a:ext>
            </a:extLst>
          </p:cNvPr>
          <p:cNvSpPr txBox="1"/>
          <p:nvPr/>
        </p:nvSpPr>
        <p:spPr>
          <a:xfrm>
            <a:off x="1290429" y="2091834"/>
            <a:ext cx="9872185" cy="3350341"/>
          </a:xfrm>
          <a:prstGeom prst="rect">
            <a:avLst/>
          </a:prstGeom>
          <a:noFill/>
        </p:spPr>
        <p:txBody>
          <a:bodyPr wrap="square">
            <a:spAutoFit/>
          </a:bodyPr>
          <a:lstStyle/>
          <a:p>
            <a:pPr marR="0" lvl="0" algn="l" defTabSz="914400" rtl="0" eaLnBrk="1" fontAlgn="base" latinLnBrk="0" hangingPunct="1">
              <a:lnSpc>
                <a:spcPct val="150000"/>
              </a:lnSpc>
              <a:spcBef>
                <a:spcPct val="20000"/>
              </a:spcBef>
              <a:spcAft>
                <a:spcPct val="0"/>
              </a:spcAft>
              <a:buClrTx/>
              <a:buSzTx/>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你在为大型的医院开发一个软件。在理解项目需求后，你感觉他们必须为这个工作选择不同的技术。理想状态下这个事情应该在哪个过程被考虑？</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创建</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WBS</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活动定义</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制定项目管理计划</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D.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定义范围</a:t>
            </a:r>
          </a:p>
        </p:txBody>
      </p:sp>
    </p:spTree>
    <p:extLst>
      <p:ext uri="{BB962C8B-B14F-4D97-AF65-F5344CB8AC3E}">
        <p14:creationId xmlns:p14="http://schemas.microsoft.com/office/powerpoint/2010/main" val="87844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6" name="幻灯片缩放定位 5">
                <a:extLst>
                  <a:ext uri="{FF2B5EF4-FFF2-40B4-BE49-F238E27FC236}">
                    <a16:creationId xmlns:a16="http://schemas.microsoft.com/office/drawing/2014/main" id="{9AA2B53B-B5FD-76FD-CD50-7CDBAB3CC70F}"/>
                  </a:ext>
                </a:extLst>
              </p:cNvPr>
              <p:cNvGraphicFramePr>
                <a:graphicFrameLocks noChangeAspect="1"/>
              </p:cNvGraphicFramePr>
              <p:nvPr/>
            </p:nvGraphicFramePr>
            <p:xfrm>
              <a:off x="9003322" y="5007394"/>
              <a:ext cx="2711940" cy="1525466"/>
            </p:xfrm>
            <a:graphic>
              <a:graphicData uri="http://schemas.microsoft.com/office/powerpoint/2016/slidezoom">
                <pslz:sldZm>
                  <pslz:sldZmObj sldId="543" cId="1089233783">
                    <pslz:zmPr id="{778BD313-C7B4-4B71-9263-C6AC3B89F449}" returnToParent="0" transitionDur="1000">
                      <p166:blipFill xmlns:p166="http://schemas.microsoft.com/office/powerpoint/2016/6/main">
                        <a:blip r:embed="rId3"/>
                        <a:stretch>
                          <a:fillRect/>
                        </a:stretch>
                      </p166:blipFill>
                      <p166:spPr xmlns:p166="http://schemas.microsoft.com/office/powerpoint/2016/6/main">
                        <a:xfrm>
                          <a:off x="0" y="0"/>
                          <a:ext cx="2711940" cy="1525466"/>
                        </a:xfrm>
                        <a:prstGeom prst="rect">
                          <a:avLst/>
                        </a:prstGeom>
                        <a:ln w="3175">
                          <a:solidFill>
                            <a:prstClr val="ltGray"/>
                          </a:solidFill>
                        </a:ln>
                      </p166:spPr>
                    </pslz:zmPr>
                  </pslz:sldZmObj>
                </pslz:sldZm>
              </a:graphicData>
            </a:graphic>
          </p:graphicFrame>
        </mc:Choice>
        <mc:Fallback xmlns="">
          <p:pic>
            <p:nvPicPr>
              <p:cNvPr id="6" name="幻灯片缩放定位 5">
                <a:hlinkClick r:id="rId4" action="ppaction://hlinksldjump"/>
                <a:extLst>
                  <a:ext uri="{FF2B5EF4-FFF2-40B4-BE49-F238E27FC236}">
                    <a16:creationId xmlns:a16="http://schemas.microsoft.com/office/drawing/2014/main" id="{9AA2B53B-B5FD-76FD-CD50-7CDBAB3CC70F}"/>
                  </a:ext>
                </a:extLst>
              </p:cNvPr>
              <p:cNvPicPr>
                <a:picLocks noGrp="1" noRot="1" noChangeAspect="1" noMove="1" noResize="1" noEditPoints="1" noAdjustHandles="1" noChangeArrowheads="1" noChangeShapeType="1"/>
              </p:cNvPicPr>
              <p:nvPr/>
            </p:nvPicPr>
            <p:blipFill>
              <a:blip r:embed="rId5"/>
              <a:stretch>
                <a:fillRect/>
              </a:stretch>
            </p:blipFill>
            <p:spPr>
              <a:xfrm>
                <a:off x="9003322" y="5007394"/>
                <a:ext cx="2711940" cy="1525466"/>
              </a:xfrm>
              <a:prstGeom prst="rect">
                <a:avLst/>
              </a:prstGeom>
              <a:ln w="3175">
                <a:solidFill>
                  <a:prstClr val="ltGray"/>
                </a:solidFill>
              </a:ln>
            </p:spPr>
          </p:pic>
        </mc:Fallback>
      </mc:AlternateContent>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6BADD8B9-AA5E-40AA-ADE1-FEF4F1C11F53}"/>
              </a:ext>
            </a:extLst>
          </p:cNvPr>
          <p:cNvSpPr txBox="1">
            <a:spLocks/>
          </p:cNvSpPr>
          <p:nvPr/>
        </p:nvSpPr>
        <p:spPr>
          <a:xfrm>
            <a:off x="567559" y="982885"/>
            <a:ext cx="11019126" cy="1934829"/>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项目范围确认</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spcBef>
                <a:spcPts val="0"/>
              </a:spcBef>
              <a:buFont typeface="Wingdings" pitchFamily="2" charset="2"/>
              <a:buNone/>
              <a:defRPr/>
            </a:pPr>
            <a:r>
              <a:rPr lang="zh-CN" altLang="en-US" sz="2200" b="1" dirty="0"/>
              <a:t>确认范围是正式验收已完成的项目可交付成果的过程</a:t>
            </a:r>
            <a:endParaRPr lang="en-US" altLang="zh-CN" sz="2200" b="1" dirty="0"/>
          </a:p>
          <a:p>
            <a:pPr lvl="1">
              <a:buFont typeface="Wingdings" panose="05000000000000000000" pitchFamily="2" charset="2"/>
              <a:buChar char="Ø"/>
            </a:pPr>
            <a:r>
              <a:rPr lang="zh-CN" altLang="en-US" sz="2200" b="1" dirty="0"/>
              <a:t>主要作用：使验收过程具有客观性；同时通过确认每个可交付成果，来提高最终产品、服务或成果获得验收的可能性。</a:t>
            </a:r>
            <a:endParaRPr lang="en-US" altLang="zh-CN" sz="2200" b="1" dirty="0"/>
          </a:p>
          <a:p>
            <a:pPr lvl="1">
              <a:buFont typeface="Wingdings" panose="05000000000000000000" pitchFamily="2" charset="2"/>
              <a:buChar char="Ø"/>
            </a:pPr>
            <a:r>
              <a:rPr lang="zh-CN" altLang="en-US" sz="2200" b="1" dirty="0"/>
              <a:t>本过程应根据需要在整个项目期间定期开展。</a:t>
            </a:r>
            <a:endParaRPr lang="en-US" altLang="zh-CN" sz="2200" b="1" dirty="0"/>
          </a:p>
          <a:p>
            <a:pPr lvl="1"/>
            <a:endParaRPr lang="zh-CN" altLang="zh-CN" sz="2000" dirty="0"/>
          </a:p>
          <a:p>
            <a:pPr>
              <a:buFont typeface="Wingdings" pitchFamily="2" charset="2"/>
              <a:buNone/>
              <a:defRPr/>
            </a:pPr>
            <a:endParaRPr lang="zh-CN" altLang="en-US" sz="2400" dirty="0"/>
          </a:p>
        </p:txBody>
      </p:sp>
      <p:pic>
        <p:nvPicPr>
          <p:cNvPr id="4" name="图片 2">
            <a:extLst>
              <a:ext uri="{FF2B5EF4-FFF2-40B4-BE49-F238E27FC236}">
                <a16:creationId xmlns:a16="http://schemas.microsoft.com/office/drawing/2014/main" id="{9E6C2E9C-7293-4A3B-B5CC-88A3F721C7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559" y="3124583"/>
            <a:ext cx="8563826" cy="34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2786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9B4E75-2BE7-4CFE-8C7E-2716754A4491}"/>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2B97B97E-2A93-47F2-897D-0F5111DBDB91}"/>
              </a:ext>
            </a:extLst>
          </p:cNvPr>
          <p:cNvSpPr txBox="1">
            <a:spLocks/>
          </p:cNvSpPr>
          <p:nvPr/>
        </p:nvSpPr>
        <p:spPr>
          <a:xfrm>
            <a:off x="613885" y="1201479"/>
            <a:ext cx="3314700" cy="4205544"/>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项目范围确认的依据</a:t>
            </a:r>
          </a:p>
          <a:p>
            <a:pPr marL="457200" lvl="1" indent="0">
              <a:buNone/>
            </a:pPr>
            <a:r>
              <a:rPr lang="zh-CN" altLang="en-US" sz="2000" b="1" dirty="0">
                <a:latin typeface="微软雅黑" panose="020B0503020204020204" pitchFamily="34" charset="-122"/>
                <a:ea typeface="微软雅黑" panose="020B0503020204020204" pitchFamily="34" charset="-122"/>
              </a:rPr>
              <a:t>项目管理计划</a:t>
            </a:r>
            <a:endParaRPr lang="en-US" altLang="zh-CN" sz="2000" b="1"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范围管理计划</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需求管理计划</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范围基准</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sz="2000" b="1" dirty="0">
                <a:latin typeface="微软雅黑" panose="020B0503020204020204" pitchFamily="34" charset="-122"/>
                <a:ea typeface="微软雅黑" panose="020B0503020204020204" pitchFamily="34" charset="-122"/>
              </a:rPr>
              <a:t>项目文件</a:t>
            </a:r>
          </a:p>
          <a:p>
            <a:pPr lvl="2"/>
            <a:r>
              <a:rPr lang="zh-CN" altLang="en-US" dirty="0">
                <a:latin typeface="微软雅黑" panose="020B0503020204020204" pitchFamily="34" charset="-122"/>
                <a:ea typeface="微软雅黑" panose="020B0503020204020204" pitchFamily="34" charset="-122"/>
              </a:rPr>
              <a:t>经验教训登记册</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质量报告</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需求文件</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需求跟踪矩阵</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sz="2000" b="1" dirty="0">
                <a:latin typeface="微软雅黑" panose="020B0503020204020204" pitchFamily="34" charset="-122"/>
                <a:ea typeface="微软雅黑" panose="020B0503020204020204" pitchFamily="34" charset="-122"/>
              </a:rPr>
              <a:t>核实的可交付成果</a:t>
            </a:r>
            <a:endParaRPr lang="en-US" altLang="zh-CN" sz="2000" b="1" dirty="0">
              <a:latin typeface="微软雅黑" panose="020B0503020204020204" pitchFamily="34" charset="-122"/>
              <a:ea typeface="微软雅黑" panose="020B0503020204020204" pitchFamily="34" charset="-122"/>
            </a:endParaRPr>
          </a:p>
          <a:p>
            <a:pPr marL="457200" lvl="1" indent="0">
              <a:buNone/>
            </a:pPr>
            <a:r>
              <a:rPr lang="zh-CN" altLang="en-US" sz="2000" b="1" dirty="0">
                <a:latin typeface="微软雅黑" panose="020B0503020204020204" pitchFamily="34" charset="-122"/>
                <a:ea typeface="微软雅黑" panose="020B0503020204020204" pitchFamily="34" charset="-122"/>
              </a:rPr>
              <a:t>工作绩效数据</a:t>
            </a:r>
            <a:endParaRPr lang="zh-CN" altLang="zh-CN" sz="2000" b="1" dirty="0">
              <a:latin typeface="微软雅黑" panose="020B0503020204020204" pitchFamily="34" charset="-122"/>
              <a:ea typeface="微软雅黑" panose="020B0503020204020204" pitchFamily="34" charset="-122"/>
            </a:endParaRPr>
          </a:p>
          <a:p>
            <a:pPr>
              <a:buFont typeface="Wingdings" pitchFamily="2" charset="2"/>
              <a:buNone/>
              <a:defRPr/>
            </a:pPr>
            <a:endParaRPr lang="zh-CN" altLang="en-US" sz="2400" dirty="0"/>
          </a:p>
        </p:txBody>
      </p:sp>
      <p:sp>
        <p:nvSpPr>
          <p:cNvPr id="5" name="文本框 4">
            <a:extLst>
              <a:ext uri="{FF2B5EF4-FFF2-40B4-BE49-F238E27FC236}">
                <a16:creationId xmlns:a16="http://schemas.microsoft.com/office/drawing/2014/main" id="{0CBD04A2-F745-4E90-893C-C8A250CA2058}"/>
              </a:ext>
            </a:extLst>
          </p:cNvPr>
          <p:cNvSpPr txBox="1"/>
          <p:nvPr/>
        </p:nvSpPr>
        <p:spPr>
          <a:xfrm>
            <a:off x="9501304" y="1435743"/>
            <a:ext cx="1739125"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本章开头的</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slz="http://schemas.microsoft.com/office/powerpoint/2016/slidezoom">
        <mc:Choice Requires="pslz">
          <p:graphicFrame>
            <p:nvGraphicFramePr>
              <p:cNvPr id="7" name="幻灯片缩放定位 6">
                <a:extLst>
                  <a:ext uri="{FF2B5EF4-FFF2-40B4-BE49-F238E27FC236}">
                    <a16:creationId xmlns:a16="http://schemas.microsoft.com/office/drawing/2014/main" id="{E07D0576-CD0C-42F5-B805-A02C32CD8214}"/>
                  </a:ext>
                </a:extLst>
              </p:cNvPr>
              <p:cNvGraphicFramePr>
                <a:graphicFrameLocks noChangeAspect="1"/>
              </p:cNvGraphicFramePr>
              <p:nvPr/>
            </p:nvGraphicFramePr>
            <p:xfrm>
              <a:off x="3757959" y="2014363"/>
              <a:ext cx="7862178" cy="4422475"/>
            </p:xfrm>
            <a:graphic>
              <a:graphicData uri="http://schemas.microsoft.com/office/powerpoint/2016/slidezoom">
                <pslz:sldZm>
                  <pslz:sldZmObj sldId="541" cId="1802935037">
                    <pslz:zmPr id="{1EEE1D23-7C5E-4C4D-8C72-7AF1E3E864BA}" returnToParent="0" transitionDur="1000">
                      <p166:blipFill xmlns:p166="http://schemas.microsoft.com/office/powerpoint/2016/6/main">
                        <a:blip r:embed="rId3"/>
                        <a:stretch>
                          <a:fillRect/>
                        </a:stretch>
                      </p166:blipFill>
                      <p166:spPr xmlns:p166="http://schemas.microsoft.com/office/powerpoint/2016/6/main">
                        <a:xfrm>
                          <a:off x="0" y="0"/>
                          <a:ext cx="7862178" cy="4422475"/>
                        </a:xfrm>
                        <a:prstGeom prst="rect">
                          <a:avLst/>
                        </a:prstGeom>
                        <a:ln w="3175">
                          <a:solidFill>
                            <a:prstClr val="ltGray"/>
                          </a:solidFill>
                        </a:ln>
                      </p166:spPr>
                    </pslz:zmPr>
                  </pslz:sldZmObj>
                </pslz:sldZm>
              </a:graphicData>
            </a:graphic>
          </p:graphicFrame>
        </mc:Choice>
        <mc:Fallback xmlns="">
          <p:pic>
            <p:nvPicPr>
              <p:cNvPr id="7" name="幻灯片缩放定位 6">
                <a:hlinkClick r:id="rId4" action="ppaction://hlinksldjump"/>
                <a:extLst>
                  <a:ext uri="{FF2B5EF4-FFF2-40B4-BE49-F238E27FC236}">
                    <a16:creationId xmlns:a16="http://schemas.microsoft.com/office/drawing/2014/main" id="{E07D0576-CD0C-42F5-B805-A02C32CD8214}"/>
                  </a:ext>
                </a:extLst>
              </p:cNvPr>
              <p:cNvPicPr>
                <a:picLocks noGrp="1" noRot="1" noChangeAspect="1" noMove="1" noResize="1" noEditPoints="1" noAdjustHandles="1" noChangeArrowheads="1" noChangeShapeType="1"/>
              </p:cNvPicPr>
              <p:nvPr/>
            </p:nvPicPr>
            <p:blipFill>
              <a:blip r:embed="rId5"/>
              <a:stretch>
                <a:fillRect/>
              </a:stretch>
            </p:blipFill>
            <p:spPr>
              <a:xfrm>
                <a:off x="3757959" y="2014363"/>
                <a:ext cx="7862178" cy="4422475"/>
              </a:xfrm>
              <a:prstGeom prst="rect">
                <a:avLst/>
              </a:prstGeom>
              <a:ln w="3175">
                <a:solidFill>
                  <a:prstClr val="ltGray"/>
                </a:solidFill>
              </a:ln>
            </p:spPr>
          </p:pic>
        </mc:Fallback>
      </mc:AlternateContent>
    </p:spTree>
    <p:extLst>
      <p:ext uri="{BB962C8B-B14F-4D97-AF65-F5344CB8AC3E}">
        <p14:creationId xmlns:p14="http://schemas.microsoft.com/office/powerpoint/2010/main" val="80810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7B7A2A-C0D0-44E2-A925-164CBCE95275}"/>
              </a:ext>
            </a:extLst>
          </p:cNvPr>
          <p:cNvSpPr>
            <a:spLocks noGrp="1"/>
          </p:cNvSpPr>
          <p:nvPr>
            <p:ph type="title"/>
          </p:nvPr>
        </p:nvSpPr>
        <p:spPr/>
        <p:txBody>
          <a:bodyPr/>
          <a:lstStyle/>
          <a:p>
            <a:r>
              <a:rPr lang="en-US" altLang="zh-CN" dirty="0"/>
              <a:t>11.6 </a:t>
            </a:r>
            <a:r>
              <a:rPr lang="zh-CN" altLang="en-US" dirty="0"/>
              <a:t>项目范围确认</a:t>
            </a:r>
          </a:p>
        </p:txBody>
      </p:sp>
      <p:sp>
        <p:nvSpPr>
          <p:cNvPr id="4" name="文本框 3">
            <a:extLst>
              <a:ext uri="{FF2B5EF4-FFF2-40B4-BE49-F238E27FC236}">
                <a16:creationId xmlns:a16="http://schemas.microsoft.com/office/drawing/2014/main" id="{4E9DD0D7-0EEE-414D-9E68-0D608AD9A262}"/>
              </a:ext>
            </a:extLst>
          </p:cNvPr>
          <p:cNvSpPr txBox="1"/>
          <p:nvPr/>
        </p:nvSpPr>
        <p:spPr>
          <a:xfrm>
            <a:off x="613884" y="1322726"/>
            <a:ext cx="10972800" cy="4840556"/>
          </a:xfrm>
          <a:prstGeom prst="rect">
            <a:avLst/>
          </a:prstGeom>
          <a:noFill/>
        </p:spPr>
        <p:txBody>
          <a:bodyPr wrap="square">
            <a:spAutoFit/>
          </a:bodyPr>
          <a:lstStyle/>
          <a:p>
            <a:pPr algn="just">
              <a:lnSpc>
                <a:spcPts val="3400"/>
              </a:lnSpc>
            </a:pPr>
            <a:r>
              <a:rPr lang="zh-CN" altLang="en-US" sz="2400" b="1" dirty="0">
                <a:solidFill>
                  <a:schemeClr val="accent2">
                    <a:lumMod val="75000"/>
                  </a:schemeClr>
                </a:solidFill>
                <a:latin typeface="微软雅黑" panose="020B0503020204020204" pitchFamily="34" charset="-122"/>
                <a:ea typeface="微软雅黑" panose="020B0503020204020204" pitchFamily="34" charset="-122"/>
              </a:rPr>
              <a:t>范围蔓延导致项目失败的案例：</a:t>
            </a:r>
            <a:endParaRPr lang="en-US" altLang="zh-CN" sz="2400" b="1" dirty="0">
              <a:solidFill>
                <a:schemeClr val="accent2">
                  <a:lumMod val="75000"/>
                </a:schemeClr>
              </a:solidFill>
              <a:latin typeface="微软雅黑" panose="020B0503020204020204" pitchFamily="34" charset="-122"/>
              <a:ea typeface="微软雅黑" panose="020B0503020204020204" pitchFamily="34" charset="-122"/>
            </a:endParaRPr>
          </a:p>
          <a:p>
            <a:pPr algn="just">
              <a:lnSpc>
                <a:spcPts val="3400"/>
              </a:lnSpc>
            </a:pPr>
            <a:r>
              <a:rPr lang="zh-CN" altLang="en-US" sz="2000" dirty="0">
                <a:latin typeface="微软雅黑" panose="020B0503020204020204" pitchFamily="34" charset="-122"/>
                <a:ea typeface="微软雅黑" panose="020B0503020204020204" pitchFamily="34" charset="-122"/>
              </a:rPr>
              <a:t>     一个项目的范围如果太宽泛、庞大将会引发许多问题。</a:t>
            </a:r>
            <a:endParaRPr lang="en-US" altLang="zh-CN" sz="2000" dirty="0">
              <a:latin typeface="微软雅黑" panose="020B0503020204020204" pitchFamily="34" charset="-122"/>
              <a:ea typeface="微软雅黑" panose="020B0503020204020204" pitchFamily="34" charset="-122"/>
            </a:endParaRPr>
          </a:p>
          <a:p>
            <a:pPr algn="just">
              <a:lnSpc>
                <a:spcPts val="3400"/>
              </a:lnSpc>
            </a:pPr>
            <a:r>
              <a:rPr lang="zh-CN" altLang="en-US" sz="2000" dirty="0">
                <a:latin typeface="微软雅黑" panose="020B0503020204020204" pitchFamily="34" charset="-122"/>
                <a:ea typeface="微软雅黑" panose="020B0503020204020204" pitchFamily="34" charset="-122"/>
              </a:rPr>
              <a:t>    范围蔓延以及出于技术考虑过分强调技术，导致了一个大制药公司</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总部设在德州的</a:t>
            </a:r>
            <a:r>
              <a:rPr lang="en-US" altLang="zh-CN" sz="2000" dirty="0">
                <a:latin typeface="微软雅黑" panose="020B0503020204020204" pitchFamily="34" charset="-122"/>
                <a:ea typeface="微软雅黑" panose="020B0503020204020204" pitchFamily="34" charset="-122"/>
              </a:rPr>
              <a:t>FoxMeyer</a:t>
            </a:r>
            <a:r>
              <a:rPr lang="zh-CN" altLang="en-US" sz="2000" dirty="0">
                <a:latin typeface="微软雅黑" panose="020B0503020204020204" pitchFamily="34" charset="-122"/>
                <a:ea typeface="微软雅黑" panose="020B0503020204020204" pitchFamily="34" charset="-122"/>
              </a:rPr>
              <a:t>药物公司破产了。</a:t>
            </a:r>
            <a:endParaRPr lang="en-US" altLang="zh-CN" sz="2000" dirty="0">
              <a:latin typeface="微软雅黑" panose="020B0503020204020204" pitchFamily="34" charset="-122"/>
              <a:ea typeface="微软雅黑" panose="020B0503020204020204" pitchFamily="34" charset="-122"/>
            </a:endParaRPr>
          </a:p>
          <a:p>
            <a:pPr algn="just">
              <a:lnSpc>
                <a:spcPts val="3400"/>
              </a:lnSpc>
            </a:pPr>
            <a:r>
              <a:rPr lang="en-US" altLang="zh-CN" sz="2000" dirty="0">
                <a:latin typeface="微软雅黑" panose="020B0503020204020204" pitchFamily="34" charset="-122"/>
                <a:ea typeface="微软雅黑" panose="020B0503020204020204" pitchFamily="34" charset="-122"/>
              </a:rPr>
              <a:t>     1994</a:t>
            </a:r>
            <a:r>
              <a:rPr lang="zh-CN" altLang="en-US" sz="2000" dirty="0">
                <a:latin typeface="微软雅黑" panose="020B0503020204020204" pitchFamily="34" charset="-122"/>
                <a:ea typeface="微软雅黑" panose="020B0503020204020204" pitchFamily="34" charset="-122"/>
              </a:rPr>
              <a:t>年，公司</a:t>
            </a:r>
            <a:r>
              <a:rPr lang="en-US" altLang="zh-CN" sz="2000" dirty="0">
                <a:latin typeface="微软雅黑" panose="020B0503020204020204" pitchFamily="34" charset="-122"/>
                <a:ea typeface="微软雅黑" panose="020B0503020204020204" pitchFamily="34" charset="-122"/>
              </a:rPr>
              <a:t>CIO</a:t>
            </a:r>
            <a:r>
              <a:rPr lang="zh-CN" altLang="en-US" sz="2000" dirty="0">
                <a:latin typeface="微软雅黑" panose="020B0503020204020204" pitchFamily="34" charset="-122"/>
                <a:ea typeface="微软雅黑" panose="020B0503020204020204" pitchFamily="34" charset="-122"/>
              </a:rPr>
              <a:t>开发了一个价值</a:t>
            </a:r>
            <a:r>
              <a:rPr lang="en-US" altLang="zh-CN" sz="2000" dirty="0">
                <a:latin typeface="微软雅黑" panose="020B0503020204020204" pitchFamily="34" charset="-122"/>
                <a:ea typeface="微软雅黑" panose="020B0503020204020204" pitchFamily="34" charset="-122"/>
              </a:rPr>
              <a:t>6500</a:t>
            </a:r>
            <a:r>
              <a:rPr lang="zh-CN" altLang="en-US" sz="2000" dirty="0">
                <a:latin typeface="微软雅黑" panose="020B0503020204020204" pitchFamily="34" charset="-122"/>
                <a:ea typeface="微软雅黑" panose="020B0503020204020204" pitchFamily="34" charset="-122"/>
              </a:rPr>
              <a:t>万美元的系统来管理公司的关键运营。然而他并不相信把事情做简单的意义何在。公司将</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万美元投在先进的硬件和软件上，并通过签订合同将项目的管理工作外包给一家有威望且收费昂贵的咨询公司。据知情人说，项目包括建设造价</a:t>
            </a:r>
            <a:r>
              <a:rPr lang="en-US" altLang="zh-CN" sz="2000" dirty="0">
                <a:latin typeface="微软雅黑" panose="020B0503020204020204" pitchFamily="34" charset="-122"/>
                <a:ea typeface="微软雅黑" panose="020B0503020204020204" pitchFamily="34" charset="-122"/>
              </a:rPr>
              <a:t>1800</a:t>
            </a:r>
            <a:r>
              <a:rPr lang="zh-CN" altLang="en-US" sz="2000" dirty="0">
                <a:latin typeface="微软雅黑" panose="020B0503020204020204" pitchFamily="34" charset="-122"/>
                <a:ea typeface="微软雅黑" panose="020B0503020204020204" pitchFamily="34" charset="-122"/>
              </a:rPr>
              <a:t>万美元的机械化货仓，此货仓看起来像出自一部科幻电影。项目范围变得越来越大且更加不切实际。这一精心打造的货仓并没有按时完成，新系统引发的秩序混乱使</a:t>
            </a:r>
            <a:r>
              <a:rPr lang="en-US" altLang="zh-CN" sz="2000" dirty="0">
                <a:latin typeface="微软雅黑" panose="020B0503020204020204" pitchFamily="34" charset="-122"/>
                <a:ea typeface="微软雅黑" panose="020B0503020204020204" pitchFamily="34" charset="-122"/>
              </a:rPr>
              <a:t>FoxMeyer</a:t>
            </a:r>
            <a:r>
              <a:rPr lang="zh-CN" altLang="en-US" sz="2000" dirty="0">
                <a:latin typeface="微软雅黑" panose="020B0503020204020204" pitchFamily="34" charset="-122"/>
                <a:ea typeface="微软雅黑" panose="020B0503020204020204" pitchFamily="34" charset="-122"/>
              </a:rPr>
              <a:t>药物公司在无法挽回的过量运输上损失了</a:t>
            </a:r>
            <a:r>
              <a:rPr lang="en-US" altLang="zh-CN" sz="2000" dirty="0">
                <a:latin typeface="微软雅黑" panose="020B0503020204020204" pitchFamily="34" charset="-122"/>
                <a:ea typeface="微软雅黑" panose="020B0503020204020204" pitchFamily="34" charset="-122"/>
              </a:rPr>
              <a:t>1500</a:t>
            </a:r>
            <a:r>
              <a:rPr lang="zh-CN" altLang="en-US" sz="2000" dirty="0">
                <a:latin typeface="微软雅黑" panose="020B0503020204020204" pitchFamily="34" charset="-122"/>
                <a:ea typeface="微软雅黑" panose="020B0503020204020204" pitchFamily="34" charset="-122"/>
              </a:rPr>
              <a:t>万美元。</a:t>
            </a:r>
            <a:r>
              <a:rPr lang="en-US" altLang="zh-CN" sz="2000" dirty="0">
                <a:latin typeface="微软雅黑" panose="020B0503020204020204" pitchFamily="34" charset="-122"/>
                <a:ea typeface="微软雅黑" panose="020B0503020204020204" pitchFamily="34" charset="-122"/>
              </a:rPr>
              <a:t>1996</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月，公司第</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个财政季度损失了</a:t>
            </a:r>
            <a:r>
              <a:rPr lang="en-US" altLang="zh-CN" sz="2000" dirty="0">
                <a:latin typeface="微软雅黑" panose="020B0503020204020204" pitchFamily="34" charset="-122"/>
                <a:ea typeface="微软雅黑" panose="020B0503020204020204" pitchFamily="34" charset="-122"/>
              </a:rPr>
              <a:t>3400</a:t>
            </a:r>
            <a:r>
              <a:rPr lang="zh-CN" altLang="en-US" sz="2000" dirty="0">
                <a:latin typeface="微软雅黑" panose="020B0503020204020204" pitchFamily="34" charset="-122"/>
                <a:ea typeface="微软雅黑" panose="020B0503020204020204" pitchFamily="34" charset="-122"/>
              </a:rPr>
              <a:t>万美元。当年</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FoxMeyer</a:t>
            </a:r>
            <a:r>
              <a:rPr lang="zh-CN" altLang="en-US" sz="2000" dirty="0">
                <a:latin typeface="微软雅黑" panose="020B0503020204020204" pitchFamily="34" charset="-122"/>
                <a:ea typeface="微软雅黑" panose="020B0503020204020204" pitchFamily="34" charset="-122"/>
              </a:rPr>
              <a:t>药物公司申请破产。  </a:t>
            </a:r>
            <a:endParaRPr lang="zh-CN" altLang="en-US"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691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E42F11-E404-4EA2-8F04-C3E887E16AC1}"/>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F0D4D9F5-8FA8-4D01-A7BF-287F98964833}"/>
              </a:ext>
            </a:extLst>
          </p:cNvPr>
          <p:cNvSpPr txBox="1">
            <a:spLocks/>
          </p:cNvSpPr>
          <p:nvPr/>
        </p:nvSpPr>
        <p:spPr>
          <a:xfrm>
            <a:off x="1018760" y="1691810"/>
            <a:ext cx="4102101" cy="2049721"/>
          </a:xfrm>
          <a:prstGeom prst="rect">
            <a:avLst/>
          </a:prstGeom>
          <a:ln w="12700">
            <a:solidFill>
              <a:schemeClr val="tx1"/>
            </a:solidFill>
          </a:ln>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000" b="1" dirty="0">
                <a:latin typeface="微软雅黑" panose="020B0503020204020204" pitchFamily="34" charset="-122"/>
                <a:ea typeface="微软雅黑" panose="020B0503020204020204" pitchFamily="34" charset="-122"/>
                <a:cs typeface="Times New Roman" pitchFamily="18" charset="0"/>
              </a:rPr>
              <a:t>谁来确认项目范围</a:t>
            </a:r>
          </a:p>
          <a:p>
            <a:pPr marL="457200" lvl="1" indent="0">
              <a:buNone/>
            </a:pPr>
            <a:r>
              <a:rPr lang="zh-CN" altLang="en-US" sz="2000" b="1" dirty="0">
                <a:latin typeface="微软雅黑" panose="020B0503020204020204" pitchFamily="34" charset="-122"/>
                <a:ea typeface="微软雅黑" panose="020B0503020204020204" pitchFamily="34" charset="-122"/>
              </a:rPr>
              <a:t>利益相关者</a:t>
            </a:r>
            <a:endParaRPr lang="en-US" altLang="zh-CN" sz="2000" b="1" dirty="0">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通常由客户检查完成，然后由关键利益相关者来收尾</a:t>
            </a:r>
            <a:endParaRPr lang="en-US" altLang="zh-CN" sz="1800" dirty="0">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需求管理计划</a:t>
            </a:r>
            <a:endParaRPr lang="en-US" altLang="zh-CN" sz="1800" dirty="0">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范围基准</a:t>
            </a:r>
            <a:endParaRPr lang="en-US" altLang="zh-CN" sz="18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5BFFDC39-95FE-4343-A17D-39A4391BE564}"/>
              </a:ext>
            </a:extLst>
          </p:cNvPr>
          <p:cNvSpPr txBox="1"/>
          <p:nvPr/>
        </p:nvSpPr>
        <p:spPr>
          <a:xfrm>
            <a:off x="6438900" y="2277319"/>
            <a:ext cx="3975100" cy="707886"/>
          </a:xfrm>
          <a:prstGeom prst="rect">
            <a:avLst/>
          </a:prstGeom>
          <a:noFill/>
          <a:ln>
            <a:solidFill>
              <a:schemeClr val="tx1"/>
            </a:solidFill>
          </a:ln>
        </p:spPr>
        <p:txBody>
          <a:bodyPr wrap="square">
            <a:spAutoFit/>
          </a:bodyPr>
          <a:lstStyle/>
          <a:p>
            <a:pPr algn="l"/>
            <a:r>
              <a:rPr lang="zh-CN" altLang="en-US" sz="2000" b="0" i="0" u="none" strike="noStrike" baseline="0" dirty="0">
                <a:solidFill>
                  <a:srgbClr val="2F2F2F"/>
                </a:solidFill>
                <a:latin typeface="微软雅黑" panose="020B0503020204020204" pitchFamily="34" charset="-122"/>
                <a:ea typeface="微软雅黑" panose="020B0503020204020204" pitchFamily="34" charset="-122"/>
              </a:rPr>
              <a:t>项目团队必</a:t>
            </a:r>
            <a:r>
              <a:rPr lang="zh-CN" altLang="en-US" sz="2000" dirty="0">
                <a:solidFill>
                  <a:srgbClr val="2F2F2F"/>
                </a:solidFill>
                <a:latin typeface="微软雅黑" panose="020B0503020204020204" pitchFamily="34" charset="-122"/>
                <a:ea typeface="微软雅黑" panose="020B0503020204020204" pitchFamily="34" charset="-122"/>
              </a:rPr>
              <a:t>须建</a:t>
            </a:r>
            <a:r>
              <a:rPr lang="zh-CN" altLang="en-US" sz="2000" b="0" i="0" u="none" strike="noStrike" baseline="0" dirty="0">
                <a:solidFill>
                  <a:srgbClr val="2F2F2F"/>
                </a:solidFill>
                <a:latin typeface="微软雅黑" panose="020B0503020204020204" pitchFamily="34" charset="-122"/>
                <a:ea typeface="微软雅黑" panose="020B0503020204020204" pitchFamily="34" charset="-122"/>
              </a:rPr>
              <a:t>立项目产品和程序的清晰的文档</a:t>
            </a:r>
            <a:endParaRPr lang="zh-CN" altLang="en-US" sz="2000" dirty="0">
              <a:latin typeface="微软雅黑" panose="020B0503020204020204" pitchFamily="34" charset="-122"/>
              <a:ea typeface="微软雅黑" panose="020B0503020204020204" pitchFamily="34" charset="-122"/>
            </a:endParaRPr>
          </a:p>
        </p:txBody>
      </p:sp>
      <p:sp>
        <p:nvSpPr>
          <p:cNvPr id="6" name="内容占位符 2">
            <a:extLst>
              <a:ext uri="{FF2B5EF4-FFF2-40B4-BE49-F238E27FC236}">
                <a16:creationId xmlns:a16="http://schemas.microsoft.com/office/drawing/2014/main" id="{AD402F1D-1584-4D99-A285-2DFAEAA432DC}"/>
              </a:ext>
            </a:extLst>
          </p:cNvPr>
          <p:cNvSpPr txBox="1">
            <a:spLocks/>
          </p:cNvSpPr>
          <p:nvPr/>
        </p:nvSpPr>
        <p:spPr>
          <a:xfrm>
            <a:off x="1018760" y="4471756"/>
            <a:ext cx="4102101" cy="1378914"/>
          </a:xfrm>
          <a:prstGeom prst="rect">
            <a:avLst/>
          </a:prstGeom>
          <a:ln w="12700">
            <a:solidFill>
              <a:schemeClr val="tx1"/>
            </a:solidFill>
          </a:ln>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000" b="1" dirty="0">
                <a:latin typeface="微软雅黑" panose="020B0503020204020204" pitchFamily="34" charset="-122"/>
                <a:ea typeface="微软雅黑" panose="020B0503020204020204" pitchFamily="34" charset="-122"/>
                <a:cs typeface="Times New Roman" pitchFamily="18" charset="0"/>
              </a:rPr>
              <a:t>确认项目范围的工具与技术</a:t>
            </a:r>
          </a:p>
          <a:p>
            <a:pPr lvl="1"/>
            <a:r>
              <a:rPr lang="zh-CN" altLang="en-US" sz="2000" dirty="0">
                <a:latin typeface="微软雅黑" panose="020B0503020204020204" pitchFamily="34" charset="-122"/>
                <a:ea typeface="微软雅黑" panose="020B0503020204020204" pitchFamily="34" charset="-122"/>
              </a:rPr>
              <a:t>检查</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决策</a:t>
            </a:r>
            <a:endParaRPr lang="en-US" altLang="zh-CN" sz="2000" dirty="0">
              <a:latin typeface="微软雅黑" panose="020B0503020204020204" pitchFamily="34" charset="-122"/>
              <a:ea typeface="微软雅黑" panose="020B0503020204020204" pitchFamily="34" charset="-122"/>
            </a:endParaRPr>
          </a:p>
        </p:txBody>
      </p:sp>
      <p:sp>
        <p:nvSpPr>
          <p:cNvPr id="7" name="箭头: 右 6">
            <a:extLst>
              <a:ext uri="{FF2B5EF4-FFF2-40B4-BE49-F238E27FC236}">
                <a16:creationId xmlns:a16="http://schemas.microsoft.com/office/drawing/2014/main" id="{4FB32F90-5A7A-4932-8BEA-E0C61CC665D9}"/>
              </a:ext>
            </a:extLst>
          </p:cNvPr>
          <p:cNvSpPr/>
          <p:nvPr/>
        </p:nvSpPr>
        <p:spPr>
          <a:xfrm rot="7775103" flipV="1">
            <a:off x="5091332" y="3574997"/>
            <a:ext cx="1219572" cy="333066"/>
          </a:xfrm>
          <a:prstGeom prst="right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a:extLst>
              <a:ext uri="{FF2B5EF4-FFF2-40B4-BE49-F238E27FC236}">
                <a16:creationId xmlns:a16="http://schemas.microsoft.com/office/drawing/2014/main" id="{516ADD1A-ABF4-47CD-97E7-36E01FFF50B3}"/>
              </a:ext>
            </a:extLst>
          </p:cNvPr>
          <p:cNvSpPr/>
          <p:nvPr/>
        </p:nvSpPr>
        <p:spPr>
          <a:xfrm>
            <a:off x="2841210" y="3783478"/>
            <a:ext cx="292100" cy="646331"/>
          </a:xfrm>
          <a:prstGeom prst="down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a:extLst>
              <a:ext uri="{FF2B5EF4-FFF2-40B4-BE49-F238E27FC236}">
                <a16:creationId xmlns:a16="http://schemas.microsoft.com/office/drawing/2014/main" id="{89C0268E-3A1E-4AF5-BF5B-C381C05AAE7D}"/>
              </a:ext>
            </a:extLst>
          </p:cNvPr>
          <p:cNvSpPr txBox="1">
            <a:spLocks/>
          </p:cNvSpPr>
          <p:nvPr/>
        </p:nvSpPr>
        <p:spPr>
          <a:xfrm>
            <a:off x="7235807" y="3518108"/>
            <a:ext cx="4102101" cy="2803180"/>
          </a:xfrm>
          <a:prstGeom prst="rect">
            <a:avLst/>
          </a:prstGeom>
          <a:ln w="12700">
            <a:solidFill>
              <a:schemeClr val="tx1"/>
            </a:solidFill>
          </a:ln>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000" b="1" dirty="0">
                <a:latin typeface="微软雅黑" panose="020B0503020204020204" pitchFamily="34" charset="-122"/>
                <a:ea typeface="微软雅黑" panose="020B0503020204020204" pitchFamily="34" charset="-122"/>
                <a:cs typeface="Times New Roman" pitchFamily="18" charset="0"/>
              </a:rPr>
              <a:t>确认范围：输出</a:t>
            </a:r>
          </a:p>
          <a:p>
            <a:pPr marL="457200" lvl="1" indent="0">
              <a:buNone/>
            </a:pPr>
            <a:r>
              <a:rPr lang="zh-CN" altLang="en-US" sz="2000" dirty="0">
                <a:latin typeface="微软雅黑" panose="020B0503020204020204" pitchFamily="34" charset="-122"/>
                <a:ea typeface="微软雅黑" panose="020B0503020204020204" pitchFamily="34" charset="-122"/>
              </a:rPr>
              <a:t>验收的可交付成果</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zh-CN" altLang="en-US" sz="2000" dirty="0">
                <a:latin typeface="微软雅黑" panose="020B0503020204020204" pitchFamily="34" charset="-122"/>
                <a:ea typeface="微软雅黑" panose="020B0503020204020204" pitchFamily="34" charset="-122"/>
              </a:rPr>
              <a:t>工作绩效信息</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zh-CN" altLang="en-US" sz="2000" dirty="0">
                <a:latin typeface="微软雅黑" panose="020B0503020204020204" pitchFamily="34" charset="-122"/>
                <a:ea typeface="微软雅黑" panose="020B0503020204020204" pitchFamily="34" charset="-122"/>
              </a:rPr>
              <a:t>变更请求</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zh-CN" altLang="en-US" sz="2000" dirty="0">
                <a:latin typeface="微软雅黑" panose="020B0503020204020204" pitchFamily="34" charset="-122"/>
                <a:ea typeface="微软雅黑" panose="020B0503020204020204" pitchFamily="34" charset="-122"/>
              </a:rPr>
              <a:t>项目文件更新</a:t>
            </a:r>
          </a:p>
          <a:p>
            <a:pPr lvl="2"/>
            <a:r>
              <a:rPr lang="zh-CN" altLang="en-US" sz="1800" b="1" dirty="0">
                <a:latin typeface="微软雅黑" panose="020B0503020204020204" pitchFamily="34" charset="-122"/>
                <a:ea typeface="微软雅黑" panose="020B0503020204020204" pitchFamily="34" charset="-122"/>
              </a:rPr>
              <a:t>经验教训登记册</a:t>
            </a:r>
          </a:p>
          <a:p>
            <a:pPr lvl="2"/>
            <a:r>
              <a:rPr lang="zh-CN" altLang="en-US" sz="1800" b="1" dirty="0">
                <a:latin typeface="微软雅黑" panose="020B0503020204020204" pitchFamily="34" charset="-122"/>
                <a:ea typeface="微软雅黑" panose="020B0503020204020204" pitchFamily="34" charset="-122"/>
              </a:rPr>
              <a:t>需求文件</a:t>
            </a:r>
          </a:p>
          <a:p>
            <a:pPr lvl="2"/>
            <a:r>
              <a:rPr lang="zh-CN" altLang="en-US" sz="1800" b="1" dirty="0">
                <a:latin typeface="微软雅黑" panose="020B0503020204020204" pitchFamily="34" charset="-122"/>
                <a:ea typeface="微软雅黑" panose="020B0503020204020204" pitchFamily="34" charset="-122"/>
              </a:rPr>
              <a:t>需求跟踪矩阵</a:t>
            </a:r>
            <a:endParaRPr lang="en-US" altLang="zh-CN" sz="1800" b="1" dirty="0">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C129B618-591D-4690-8326-F09FC363BD87}"/>
              </a:ext>
            </a:extLst>
          </p:cNvPr>
          <p:cNvSpPr/>
          <p:nvPr/>
        </p:nvSpPr>
        <p:spPr>
          <a:xfrm rot="529030" flipV="1">
            <a:off x="5608243" y="4909988"/>
            <a:ext cx="1219572" cy="333066"/>
          </a:xfrm>
          <a:prstGeom prst="right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15396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D8A563-CB74-445F-AD80-E0B6F35D6AC6}"/>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CB04D80A-6116-402D-B56D-B1F71BB284BF}"/>
              </a:ext>
            </a:extLst>
          </p:cNvPr>
          <p:cNvSpPr txBox="1">
            <a:spLocks noChangeArrowheads="1"/>
          </p:cNvSpPr>
          <p:nvPr/>
        </p:nvSpPr>
        <p:spPr>
          <a:xfrm>
            <a:off x="1068180" y="2064571"/>
            <a:ext cx="10055639" cy="287173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dirty="0"/>
              <a:t>你是项目经理，负责开发新的发电厂。您的项目要快速跟进，日期将接近产品接受。下列哪个技术对产品接受非常重要？</a:t>
            </a:r>
          </a:p>
          <a:p>
            <a:pPr marL="457200" lvl="1" indent="0">
              <a:buNone/>
            </a:pPr>
            <a:r>
              <a:rPr lang="en-US" altLang="zh-CN" sz="2400" dirty="0"/>
              <a:t>A. </a:t>
            </a:r>
            <a:r>
              <a:rPr lang="zh-CN" altLang="en-US" sz="2400" dirty="0"/>
              <a:t>检查</a:t>
            </a:r>
          </a:p>
          <a:p>
            <a:pPr marL="457200" lvl="1" indent="0">
              <a:buNone/>
            </a:pPr>
            <a:r>
              <a:rPr lang="en-US" altLang="zh-CN" sz="2400" dirty="0"/>
              <a:t>B. </a:t>
            </a:r>
            <a:r>
              <a:rPr lang="zh-CN" altLang="en-US" sz="2400" dirty="0"/>
              <a:t>审计</a:t>
            </a:r>
          </a:p>
          <a:p>
            <a:pPr marL="457200" lvl="1" indent="0">
              <a:buNone/>
            </a:pPr>
            <a:r>
              <a:rPr lang="en-US" altLang="zh-CN" sz="2400" dirty="0"/>
              <a:t>C. </a:t>
            </a:r>
            <a:r>
              <a:rPr lang="zh-CN" altLang="en-US" sz="2400" dirty="0"/>
              <a:t>影响分析</a:t>
            </a:r>
          </a:p>
          <a:p>
            <a:pPr marL="457200" lvl="1" indent="0">
              <a:buNone/>
            </a:pPr>
            <a:r>
              <a:rPr lang="en-US" altLang="zh-CN" sz="2400" dirty="0"/>
              <a:t>D. </a:t>
            </a:r>
            <a:r>
              <a:rPr lang="zh-CN" altLang="en-US" sz="2400" dirty="0"/>
              <a:t>团队评估</a:t>
            </a:r>
          </a:p>
          <a:p>
            <a:endParaRPr lang="zh-CN" altLang="en-US" sz="2400" dirty="0"/>
          </a:p>
        </p:txBody>
      </p:sp>
    </p:spTree>
    <p:extLst>
      <p:ext uri="{BB962C8B-B14F-4D97-AF65-F5344CB8AC3E}">
        <p14:creationId xmlns:p14="http://schemas.microsoft.com/office/powerpoint/2010/main" val="58182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2" name="矩形 1">
            <a:extLst>
              <a:ext uri="{FF2B5EF4-FFF2-40B4-BE49-F238E27FC236}">
                <a16:creationId xmlns:a16="http://schemas.microsoft.com/office/drawing/2014/main" id="{909FBDE6-66E8-4A20-B772-2B2DBC52F8A6}"/>
              </a:ext>
            </a:extLst>
          </p:cNvPr>
          <p:cNvSpPr/>
          <p:nvPr/>
        </p:nvSpPr>
        <p:spPr>
          <a:xfrm>
            <a:off x="474687" y="1299453"/>
            <a:ext cx="10672284" cy="830997"/>
          </a:xfrm>
          <a:prstGeom prst="rect">
            <a:avLst/>
          </a:prstGeom>
        </p:spPr>
        <p:txBody>
          <a:bodyPr wrap="square">
            <a:spAutoFit/>
          </a:bodyPr>
          <a:lstStyle/>
          <a:p>
            <a:r>
              <a:rPr lang="zh-CN" altLang="zh-CN" sz="2400" b="1" dirty="0">
                <a:latin typeface="微软雅黑" panose="020B0503020204020204" pitchFamily="34" charset="-122"/>
                <a:ea typeface="微软雅黑" panose="020B0503020204020204" pitchFamily="34" charset="-122"/>
              </a:rPr>
              <a:t>控制</a:t>
            </a:r>
            <a:r>
              <a:rPr lang="zh-CN" altLang="en-US" sz="2400" b="1" dirty="0">
                <a:latin typeface="微软雅黑" panose="020B0503020204020204" pitchFamily="34" charset="-122"/>
                <a:ea typeface="微软雅黑" panose="020B0503020204020204" pitchFamily="34" charset="-122"/>
              </a:rPr>
              <a:t>项目</a:t>
            </a:r>
            <a:r>
              <a:rPr lang="zh-CN" altLang="zh-CN" sz="2400" b="1" dirty="0">
                <a:latin typeface="微软雅黑" panose="020B0503020204020204" pitchFamily="34" charset="-122"/>
                <a:ea typeface="微软雅黑" panose="020B0503020204020204" pitchFamily="34" charset="-122"/>
              </a:rPr>
              <a:t>范围</a:t>
            </a:r>
          </a:p>
          <a:p>
            <a:pPr lvl="1"/>
            <a:r>
              <a:rPr lang="zh-CN" altLang="en-US" sz="2400" dirty="0">
                <a:latin typeface="微软雅黑" panose="020B0503020204020204" pitchFamily="34" charset="-122"/>
                <a:ea typeface="微软雅黑" panose="020B0503020204020204" pitchFamily="34" charset="-122"/>
              </a:rPr>
              <a:t>控制范围是监督项目和产品的范围状态，管理范围基准变更的过程</a:t>
            </a:r>
            <a:r>
              <a:rPr lang="zh-CN" altLang="zh-CN" sz="2400" dirty="0">
                <a:latin typeface="微软雅黑" panose="020B0503020204020204" pitchFamily="34" charset="-122"/>
                <a:ea typeface="微软雅黑" panose="020B0503020204020204" pitchFamily="34" charset="-122"/>
              </a:rPr>
              <a:t>。</a:t>
            </a:r>
          </a:p>
        </p:txBody>
      </p:sp>
      <p:pic>
        <p:nvPicPr>
          <p:cNvPr id="6" name="图片 5">
            <a:extLst>
              <a:ext uri="{FF2B5EF4-FFF2-40B4-BE49-F238E27FC236}">
                <a16:creationId xmlns:a16="http://schemas.microsoft.com/office/drawing/2014/main" id="{0F9D5A16-E05B-4BEA-AECC-80ECE9567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5393" y="2228424"/>
            <a:ext cx="877252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714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570047" y="1314450"/>
            <a:ext cx="11081471" cy="190633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项目范围控制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defRPr/>
            </a:pPr>
            <a:r>
              <a:rPr lang="zh-CN" altLang="zh-CN" sz="2000" dirty="0">
                <a:latin typeface="微软雅黑" panose="020B0503020204020204" pitchFamily="34" charset="-122"/>
                <a:ea typeface="微软雅黑" panose="020B0503020204020204" pitchFamily="34" charset="-122"/>
              </a:rPr>
              <a:t>项目范围变更控制是指只用事先确定的项目整体变更控制的组织架构和规范程序来控制范围变更。</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itchFamily="2" charset="2"/>
              <a:buNone/>
              <a:defRPr/>
            </a:pPr>
            <a:r>
              <a:rPr lang="zh-CN" altLang="zh-CN" sz="2000" dirty="0">
                <a:latin typeface="微软雅黑" panose="020B0503020204020204" pitchFamily="34" charset="-122"/>
                <a:ea typeface="微软雅黑" panose="020B0503020204020204" pitchFamily="34" charset="-122"/>
              </a:rPr>
              <a:t>其过程主要包括：提出项目范围变更申请、审核范围变更申请，批准范围变更申请以及范围变更后的工作。</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en-US" altLang="zh-CN" dirty="0"/>
          </a:p>
          <a:p>
            <a:pPr marL="0" indent="0">
              <a:lnSpc>
                <a:spcPts val="3600"/>
              </a:lnSpc>
              <a:buFont typeface="Wingdings" pitchFamily="2" charset="2"/>
              <a:buNone/>
              <a:defRPr/>
            </a:pP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范围变更控制举例</a:t>
            </a:r>
            <a:endParaRPr lang="zh-CN" altLang="zh-CN" sz="2000" b="1" dirty="0">
              <a:solidFill>
                <a:schemeClr val="accent2">
                  <a:lumMod val="75000"/>
                </a:schemeClr>
              </a:solidFill>
              <a:latin typeface="微软雅黑" panose="020B0503020204020204" pitchFamily="34" charset="-122"/>
              <a:ea typeface="微软雅黑" panose="020B0503020204020204" pitchFamily="34" charset="-122"/>
              <a:cs typeface="Times New Roman" pitchFamily="18" charset="0"/>
            </a:endParaRPr>
          </a:p>
          <a:p>
            <a:pPr>
              <a:buFont typeface="Wingdings" pitchFamily="2" charset="2"/>
              <a:buNone/>
              <a:defRPr/>
            </a:pPr>
            <a:endParaRPr lang="zh-CN" altLang="en-US" dirty="0"/>
          </a:p>
        </p:txBody>
      </p:sp>
      <p:graphicFrame>
        <p:nvGraphicFramePr>
          <p:cNvPr id="6" name="Group 32">
            <a:extLst>
              <a:ext uri="{FF2B5EF4-FFF2-40B4-BE49-F238E27FC236}">
                <a16:creationId xmlns:a16="http://schemas.microsoft.com/office/drawing/2014/main" id="{F35A7AA5-BAF0-419D-AABA-A8CCEFA52817}"/>
              </a:ext>
            </a:extLst>
          </p:cNvPr>
          <p:cNvGraphicFramePr>
            <a:graphicFrameLocks noGrp="1"/>
          </p:cNvGraphicFramePr>
          <p:nvPr/>
        </p:nvGraphicFramePr>
        <p:xfrm>
          <a:off x="3730778" y="3324218"/>
          <a:ext cx="7533570" cy="2019307"/>
        </p:xfrm>
        <a:graphic>
          <a:graphicData uri="http://schemas.openxmlformats.org/drawingml/2006/table">
            <a:tbl>
              <a:tblPr/>
              <a:tblGrid>
                <a:gridCol w="847527">
                  <a:extLst>
                    <a:ext uri="{9D8B030D-6E8A-4147-A177-3AD203B41FA5}">
                      <a16:colId xmlns:a16="http://schemas.microsoft.com/office/drawing/2014/main" val="20000"/>
                    </a:ext>
                  </a:extLst>
                </a:gridCol>
                <a:gridCol w="1483171">
                  <a:extLst>
                    <a:ext uri="{9D8B030D-6E8A-4147-A177-3AD203B41FA5}">
                      <a16:colId xmlns:a16="http://schemas.microsoft.com/office/drawing/2014/main" val="20001"/>
                    </a:ext>
                  </a:extLst>
                </a:gridCol>
                <a:gridCol w="1977563">
                  <a:extLst>
                    <a:ext uri="{9D8B030D-6E8A-4147-A177-3AD203B41FA5}">
                      <a16:colId xmlns:a16="http://schemas.microsoft.com/office/drawing/2014/main" val="20002"/>
                    </a:ext>
                  </a:extLst>
                </a:gridCol>
                <a:gridCol w="1812765">
                  <a:extLst>
                    <a:ext uri="{9D8B030D-6E8A-4147-A177-3AD203B41FA5}">
                      <a16:colId xmlns:a16="http://schemas.microsoft.com/office/drawing/2014/main" val="20003"/>
                    </a:ext>
                  </a:extLst>
                </a:gridCol>
                <a:gridCol w="1412544">
                  <a:extLst>
                    <a:ext uri="{9D8B030D-6E8A-4147-A177-3AD203B41FA5}">
                      <a16:colId xmlns:a16="http://schemas.microsoft.com/office/drawing/2014/main" val="20004"/>
                    </a:ext>
                  </a:extLst>
                </a:gridCol>
              </a:tblGrid>
              <a:tr h="54333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指标</a:t>
                      </a:r>
                      <a:endPar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基准计划</a:t>
                      </a:r>
                      <a:endPar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范围变更</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批准的变更</a:t>
                      </a:r>
                      <a:endPar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新的基准</a:t>
                      </a:r>
                      <a:endPar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83589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工期</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6</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增加</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A</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工作包</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减少</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B</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包内容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7</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1"/>
                  </a:ext>
                </a:extLst>
              </a:tr>
              <a:tr h="6355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成本</a:t>
                      </a:r>
                      <a:endPar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800</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endPar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增加</a:t>
                      </a: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A</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工作包</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减少</a:t>
                      </a: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B</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包内容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+250</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-100</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950</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9" name="AutoShape 30">
            <a:extLst>
              <a:ext uri="{FF2B5EF4-FFF2-40B4-BE49-F238E27FC236}">
                <a16:creationId xmlns:a16="http://schemas.microsoft.com/office/drawing/2014/main" id="{4606E8F2-8030-48A7-A896-660EA54E58B0}"/>
              </a:ext>
            </a:extLst>
          </p:cNvPr>
          <p:cNvSpPr>
            <a:spLocks noChangeArrowheads="1"/>
          </p:cNvSpPr>
          <p:nvPr/>
        </p:nvSpPr>
        <p:spPr bwMode="auto">
          <a:xfrm>
            <a:off x="5035550" y="5343525"/>
            <a:ext cx="781050" cy="993775"/>
          </a:xfrm>
          <a:prstGeom prst="curvedRightArrow">
            <a:avLst>
              <a:gd name="adj1" fmla="val 40834"/>
              <a:gd name="adj2" fmla="val 74187"/>
              <a:gd name="adj3" fmla="val 30028"/>
            </a:avLst>
          </a:prstGeom>
          <a:solidFill>
            <a:srgbClr val="99CC00"/>
          </a:solidFill>
          <a:ln w="9525">
            <a:solidFill>
              <a:schemeClr val="bg2"/>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zh-CN" altLang="en-US" sz="2400">
              <a:latin typeface="Times New Roman" panose="02020603050405020304" pitchFamily="18" charset="0"/>
            </a:endParaRPr>
          </a:p>
        </p:txBody>
      </p:sp>
      <p:sp>
        <p:nvSpPr>
          <p:cNvPr id="10" name="Text Box 31">
            <a:extLst>
              <a:ext uri="{FF2B5EF4-FFF2-40B4-BE49-F238E27FC236}">
                <a16:creationId xmlns:a16="http://schemas.microsoft.com/office/drawing/2014/main" id="{C04F96A2-7134-4CAF-810C-4275363BB814}"/>
              </a:ext>
            </a:extLst>
          </p:cNvPr>
          <p:cNvSpPr txBox="1">
            <a:spLocks noChangeArrowheads="1"/>
          </p:cNvSpPr>
          <p:nvPr/>
        </p:nvSpPr>
        <p:spPr bwMode="auto">
          <a:xfrm>
            <a:off x="5896769" y="5818188"/>
            <a:ext cx="4825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r>
              <a:rPr kumimoji="0" lang="zh-CN" altLang="en-US" sz="2400" b="1" dirty="0">
                <a:solidFill>
                  <a:srgbClr val="FD2F0D"/>
                </a:solidFill>
                <a:latin typeface="微软雅黑" panose="020B0503020204020204" pitchFamily="34" charset="-122"/>
                <a:ea typeface="微软雅黑" panose="020B0503020204020204" pitchFamily="34" charset="-122"/>
              </a:rPr>
              <a:t>对风险、采购、资源有多大影响？</a:t>
            </a:r>
          </a:p>
        </p:txBody>
      </p:sp>
    </p:spTree>
    <p:extLst>
      <p:ext uri="{BB962C8B-B14F-4D97-AF65-F5344CB8AC3E}">
        <p14:creationId xmlns:p14="http://schemas.microsoft.com/office/powerpoint/2010/main" val="2099380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490535" y="1314450"/>
            <a:ext cx="11081471" cy="1787980"/>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项目范围控制（</a:t>
            </a:r>
            <a:r>
              <a:rPr lang="zh-CN" altLang="en-US" sz="2400" dirty="0">
                <a:latin typeface="微软雅黑" panose="020B0503020204020204" pitchFamily="34" charset="-122"/>
                <a:ea typeface="微软雅黑" panose="020B0503020204020204" pitchFamily="34" charset="-122"/>
                <a:cs typeface="Times New Roman" pitchFamily="18" charset="0"/>
              </a:rPr>
              <a:t>依据、方法、成果</a:t>
            </a:r>
            <a:r>
              <a:rPr lang="zh-CN" altLang="en-US" sz="2400" b="1" dirty="0">
                <a:latin typeface="微软雅黑" panose="020B0503020204020204" pitchFamily="34" charset="-122"/>
                <a:ea typeface="微软雅黑" panose="020B0503020204020204" pitchFamily="34" charset="-122"/>
                <a:cs typeface="Times New Roman" pitchFamily="18" charset="0"/>
              </a:rPr>
              <a:t>）</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r>
              <a:rPr lang="zh-CN" altLang="en-US" sz="2400" dirty="0">
                <a:latin typeface="Microsoft YaHei Light" panose="020B0502040204020203" pitchFamily="34" charset="-122"/>
                <a:ea typeface="Microsoft YaHei Light" panose="020B0502040204020203" pitchFamily="34" charset="-122"/>
              </a:rPr>
              <a:t>控制项目范围确保所有变更请求、推荐的纠正措施或预防措施都通过实施整体变更控制过程进行处理。在变更实际发生时，也要采用控制范围过程来管理这些变更。控制范围过程应该与其他控制过程协调开展。</a:t>
            </a:r>
            <a:endParaRPr lang="en-US" altLang="zh-CN" sz="2400" dirty="0">
              <a:latin typeface="Microsoft YaHei Light" panose="020B0502040204020203" pitchFamily="34" charset="-122"/>
              <a:ea typeface="Microsoft YaHei Light" panose="020B0502040204020203" pitchFamily="34" charset="-122"/>
            </a:endParaRPr>
          </a:p>
          <a:p>
            <a:r>
              <a:rPr lang="zh-CN" altLang="en-US" sz="2400" dirty="0">
                <a:latin typeface="Microsoft YaHei Light" panose="020B0502040204020203" pitchFamily="34" charset="-122"/>
                <a:ea typeface="Microsoft YaHei Light" panose="020B0502040204020203" pitchFamily="34" charset="-122"/>
              </a:rPr>
              <a:t>未经控制的产品或项目范围的扩大（未对时间、成本和资源做相应调整）被称为</a:t>
            </a:r>
            <a:r>
              <a:rPr lang="zh-CN" altLang="en-US" sz="2400" b="1" dirty="0">
                <a:solidFill>
                  <a:srgbClr val="FF0000"/>
                </a:solidFill>
                <a:latin typeface="Microsoft YaHei Light" panose="020B0502040204020203" pitchFamily="34" charset="-122"/>
                <a:ea typeface="Microsoft YaHei Light" panose="020B0502040204020203" pitchFamily="34" charset="-122"/>
              </a:rPr>
              <a:t>范围蔓延</a:t>
            </a:r>
            <a:r>
              <a:rPr lang="zh-CN" altLang="en-US" sz="2400" dirty="0">
                <a:latin typeface="Microsoft YaHei Light" panose="020B0502040204020203" pitchFamily="34" charset="-122"/>
                <a:ea typeface="Microsoft YaHei Light" panose="020B0502040204020203" pitchFamily="34" charset="-122"/>
              </a:rPr>
              <a:t>。变更不可避免，因此在每个项目上，都必须强制实施某种形式的变更控制。</a:t>
            </a:r>
            <a:endParaRPr lang="en-US" altLang="zh-CN" sz="2400" dirty="0">
              <a:latin typeface="Microsoft YaHei Light" panose="020B0502040204020203" pitchFamily="34" charset="-122"/>
              <a:ea typeface="Microsoft YaHei Light" panose="020B0502040204020203" pitchFamily="34" charset="-122"/>
              <a:cs typeface="Times New Roman" pitchFamily="18" charset="0"/>
            </a:endParaRPr>
          </a:p>
          <a:p>
            <a:pPr marL="438150" lvl="1" indent="0">
              <a:lnSpc>
                <a:spcPts val="3600"/>
              </a:lnSpc>
              <a:defRPr/>
            </a:pPr>
            <a:endParaRPr lang="zh-CN" altLang="en-US" dirty="0">
              <a:latin typeface="Times New Roman" pitchFamily="18" charset="0"/>
              <a:ea typeface="黑体" pitchFamily="49" charset="-122"/>
              <a:cs typeface="Times New Roman" pitchFamily="18" charset="0"/>
            </a:endParaRPr>
          </a:p>
          <a:p>
            <a:pPr marL="0" indent="0">
              <a:lnSpc>
                <a:spcPts val="3600"/>
              </a:lnSpc>
              <a:buFont typeface="Wingdings" pitchFamily="2" charset="2"/>
              <a:buNone/>
              <a:defRPr/>
            </a:pPr>
            <a:endParaRPr lang="zh-CN" altLang="en-US" dirty="0">
              <a:latin typeface="Times New Roman" pitchFamily="18" charset="0"/>
              <a:ea typeface="黑体" pitchFamily="49" charset="-122"/>
              <a:cs typeface="Times New Roman" pitchFamily="18" charset="0"/>
            </a:endParaRPr>
          </a:p>
          <a:p>
            <a:pPr marL="0" indent="0">
              <a:lnSpc>
                <a:spcPts val="3600"/>
              </a:lnSpc>
              <a:buFont typeface="Wingdings" pitchFamily="2" charset="2"/>
              <a:buNone/>
              <a:defRPr/>
            </a:pPr>
            <a:endParaRPr lang="zh-CN"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spTree>
    <p:extLst>
      <p:ext uri="{BB962C8B-B14F-4D97-AF65-F5344CB8AC3E}">
        <p14:creationId xmlns:p14="http://schemas.microsoft.com/office/powerpoint/2010/main" val="82958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6FA16-4B33-4D83-9B2A-6FFDC1410188}"/>
              </a:ext>
            </a:extLst>
          </p:cNvPr>
          <p:cNvSpPr>
            <a:spLocks noGrp="1"/>
          </p:cNvSpPr>
          <p:nvPr>
            <p:ph type="title"/>
          </p:nvPr>
        </p:nvSpPr>
        <p:spPr/>
        <p:txBody>
          <a:bodyPr/>
          <a:lstStyle/>
          <a:p>
            <a:r>
              <a:rPr lang="en-US" altLang="zh-CN" dirty="0"/>
              <a:t>11.7 </a:t>
            </a:r>
            <a:r>
              <a:rPr lang="zh-CN" altLang="en-US" dirty="0"/>
              <a:t>项目范围控制</a:t>
            </a:r>
          </a:p>
        </p:txBody>
      </p:sp>
      <p:sp>
        <p:nvSpPr>
          <p:cNvPr id="4" name="文本框 3">
            <a:extLst>
              <a:ext uri="{FF2B5EF4-FFF2-40B4-BE49-F238E27FC236}">
                <a16:creationId xmlns:a16="http://schemas.microsoft.com/office/drawing/2014/main" id="{8ECA5B60-BFAD-4114-B9FF-F173B870DE59}"/>
              </a:ext>
            </a:extLst>
          </p:cNvPr>
          <p:cNvSpPr txBox="1"/>
          <p:nvPr/>
        </p:nvSpPr>
        <p:spPr>
          <a:xfrm>
            <a:off x="1333500" y="1800448"/>
            <a:ext cx="3289300" cy="4093428"/>
          </a:xfrm>
          <a:prstGeom prst="rect">
            <a:avLst/>
          </a:prstGeom>
          <a:noFill/>
        </p:spPr>
        <p:txBody>
          <a:bodyPr wrap="square">
            <a:spAutoFit/>
          </a:bodyPr>
          <a:lstStyle/>
          <a:p>
            <a:pPr algn="just"/>
            <a:r>
              <a:rPr lang="en-US" altLang="zh-CN" sz="2000" b="1" dirty="0">
                <a:latin typeface="Times New Roman" panose="02020603050405020304" pitchFamily="18" charset="0"/>
              </a:rPr>
              <a:t>1 </a:t>
            </a:r>
            <a:r>
              <a:rPr lang="zh-CN" altLang="en-US" sz="2000" b="1" dirty="0">
                <a:latin typeface="Times New Roman" panose="02020603050405020304" pitchFamily="18" charset="0"/>
              </a:rPr>
              <a:t>项目管理计划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范围管理计划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需求管理计划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变更管理计划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配置管理计划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范围基准</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绩效测量基准</a:t>
            </a:r>
          </a:p>
          <a:p>
            <a:pPr algn="just"/>
            <a:r>
              <a:rPr lang="en-US" altLang="zh-CN" sz="2000" b="1" dirty="0">
                <a:latin typeface="Times New Roman" panose="02020603050405020304" pitchFamily="18" charset="0"/>
              </a:rPr>
              <a:t>2 </a:t>
            </a:r>
            <a:r>
              <a:rPr lang="zh-CN" altLang="en-US" sz="2000" b="1" dirty="0">
                <a:latin typeface="Times New Roman" panose="02020603050405020304" pitchFamily="18" charset="0"/>
              </a:rPr>
              <a:t>项目文件</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经验教训登记册</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需求文件</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需求跟踪矩阵</a:t>
            </a:r>
          </a:p>
          <a:p>
            <a:pPr algn="just"/>
            <a:r>
              <a:rPr lang="en-US" altLang="zh-CN" sz="2000" b="1" dirty="0">
                <a:latin typeface="Times New Roman" panose="02020603050405020304" pitchFamily="18" charset="0"/>
              </a:rPr>
              <a:t>3 </a:t>
            </a:r>
            <a:r>
              <a:rPr lang="zh-CN" altLang="en-US" sz="2000" b="1" dirty="0">
                <a:latin typeface="Times New Roman" panose="02020603050405020304" pitchFamily="18" charset="0"/>
              </a:rPr>
              <a:t>工作绩效数据</a:t>
            </a:r>
          </a:p>
          <a:p>
            <a:pPr algn="just"/>
            <a:r>
              <a:rPr lang="en-US" altLang="zh-CN" sz="2000" b="1" dirty="0">
                <a:latin typeface="Times New Roman" panose="02020603050405020304" pitchFamily="18" charset="0"/>
              </a:rPr>
              <a:t>4 </a:t>
            </a:r>
            <a:r>
              <a:rPr lang="zh-CN" altLang="en-US" sz="2000" b="1" dirty="0">
                <a:latin typeface="Times New Roman" panose="02020603050405020304" pitchFamily="18" charset="0"/>
              </a:rPr>
              <a:t>组织过程资产</a:t>
            </a:r>
          </a:p>
        </p:txBody>
      </p:sp>
      <p:sp>
        <p:nvSpPr>
          <p:cNvPr id="6" name="文本框 5">
            <a:extLst>
              <a:ext uri="{FF2B5EF4-FFF2-40B4-BE49-F238E27FC236}">
                <a16:creationId xmlns:a16="http://schemas.microsoft.com/office/drawing/2014/main" id="{37E1F7B0-D268-4C20-871F-90D84EA5A79E}"/>
              </a:ext>
            </a:extLst>
          </p:cNvPr>
          <p:cNvSpPr txBox="1"/>
          <p:nvPr/>
        </p:nvSpPr>
        <p:spPr>
          <a:xfrm>
            <a:off x="662612" y="1338783"/>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rPr>
              <a:t>项目范围控制</a:t>
            </a: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的依据</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3050211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A83206-9788-4925-8DEA-E735E163896B}"/>
              </a:ext>
            </a:extLst>
          </p:cNvPr>
          <p:cNvSpPr>
            <a:spLocks noGrp="1"/>
          </p:cNvSpPr>
          <p:nvPr>
            <p:ph type="title"/>
          </p:nvPr>
        </p:nvSpPr>
        <p:spPr/>
        <p:txBody>
          <a:bodyPr/>
          <a:lstStyle/>
          <a:p>
            <a:r>
              <a:rPr lang="en-US" altLang="zh-CN" dirty="0"/>
              <a:t>11.7 </a:t>
            </a:r>
            <a:r>
              <a:rPr lang="zh-CN" altLang="en-US" dirty="0"/>
              <a:t>项目范围控制</a:t>
            </a:r>
          </a:p>
        </p:txBody>
      </p:sp>
      <p:sp>
        <p:nvSpPr>
          <p:cNvPr id="3" name="Rectangle 2">
            <a:extLst>
              <a:ext uri="{FF2B5EF4-FFF2-40B4-BE49-F238E27FC236}">
                <a16:creationId xmlns:a16="http://schemas.microsoft.com/office/drawing/2014/main" id="{E48A7344-4461-4BC8-AE07-989C55312DFB}"/>
              </a:ext>
            </a:extLst>
          </p:cNvPr>
          <p:cNvSpPr txBox="1">
            <a:spLocks noChangeArrowheads="1"/>
          </p:cNvSpPr>
          <p:nvPr/>
        </p:nvSpPr>
        <p:spPr bwMode="auto">
          <a:xfrm>
            <a:off x="5453132" y="1712634"/>
            <a:ext cx="43099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lgn="r" rtl="0" eaLnBrk="0" fontAlgn="base" hangingPunct="0">
              <a:spcBef>
                <a:spcPct val="0"/>
              </a:spcBef>
              <a:spcAft>
                <a:spcPct val="0"/>
              </a:spcAft>
              <a:defRPr kumimoji="1" sz="3600">
                <a:solidFill>
                  <a:schemeClr val="tx2"/>
                </a:solidFill>
                <a:latin typeface="+mj-lt"/>
                <a:ea typeface="+mj-ea"/>
                <a:cs typeface="+mj-cs"/>
              </a:defRPr>
            </a:lvl1pPr>
            <a:lvl2pPr algn="r" rtl="0" eaLnBrk="0" fontAlgn="base" hangingPunct="0">
              <a:spcBef>
                <a:spcPct val="0"/>
              </a:spcBef>
              <a:spcAft>
                <a:spcPct val="0"/>
              </a:spcAft>
              <a:defRPr kumimoji="1" sz="3600">
                <a:solidFill>
                  <a:schemeClr val="tx2"/>
                </a:solidFill>
                <a:latin typeface="Arial Black" pitchFamily="34" charset="0"/>
                <a:ea typeface="宋体" pitchFamily="2" charset="-122"/>
              </a:defRPr>
            </a:lvl2pPr>
            <a:lvl3pPr algn="r" rtl="0" eaLnBrk="0" fontAlgn="base" hangingPunct="0">
              <a:spcBef>
                <a:spcPct val="0"/>
              </a:spcBef>
              <a:spcAft>
                <a:spcPct val="0"/>
              </a:spcAft>
              <a:defRPr kumimoji="1" sz="3600">
                <a:solidFill>
                  <a:schemeClr val="tx2"/>
                </a:solidFill>
                <a:latin typeface="Arial Black" pitchFamily="34" charset="0"/>
                <a:ea typeface="宋体" pitchFamily="2" charset="-122"/>
              </a:defRPr>
            </a:lvl3pPr>
            <a:lvl4pPr algn="r" rtl="0" eaLnBrk="0" fontAlgn="base" hangingPunct="0">
              <a:spcBef>
                <a:spcPct val="0"/>
              </a:spcBef>
              <a:spcAft>
                <a:spcPct val="0"/>
              </a:spcAft>
              <a:defRPr kumimoji="1" sz="3600">
                <a:solidFill>
                  <a:schemeClr val="tx2"/>
                </a:solidFill>
                <a:latin typeface="Arial Black" pitchFamily="34" charset="0"/>
                <a:ea typeface="宋体" pitchFamily="2" charset="-122"/>
              </a:defRPr>
            </a:lvl4pPr>
            <a:lvl5pPr algn="r" rtl="0" eaLnBrk="0" fontAlgn="base" hangingPunct="0">
              <a:spcBef>
                <a:spcPct val="0"/>
              </a:spcBef>
              <a:spcAft>
                <a:spcPct val="0"/>
              </a:spcAft>
              <a:defRPr kumimoji="1" sz="3600">
                <a:solidFill>
                  <a:schemeClr val="tx2"/>
                </a:solidFill>
                <a:latin typeface="Arial Black" pitchFamily="34" charset="0"/>
                <a:ea typeface="宋体" pitchFamily="2" charset="-122"/>
              </a:defRPr>
            </a:lvl5pPr>
            <a:lvl6pPr marL="457200" algn="r" rtl="0" fontAlgn="base">
              <a:spcBef>
                <a:spcPct val="0"/>
              </a:spcBef>
              <a:spcAft>
                <a:spcPct val="0"/>
              </a:spcAft>
              <a:defRPr kumimoji="1" sz="3600">
                <a:solidFill>
                  <a:schemeClr val="tx2"/>
                </a:solidFill>
                <a:latin typeface="Arial Black" pitchFamily="34" charset="0"/>
                <a:ea typeface="宋体" pitchFamily="2" charset="-122"/>
              </a:defRPr>
            </a:lvl6pPr>
            <a:lvl7pPr marL="914400" algn="r" rtl="0" fontAlgn="base">
              <a:spcBef>
                <a:spcPct val="0"/>
              </a:spcBef>
              <a:spcAft>
                <a:spcPct val="0"/>
              </a:spcAft>
              <a:defRPr kumimoji="1" sz="3600">
                <a:solidFill>
                  <a:schemeClr val="tx2"/>
                </a:solidFill>
                <a:latin typeface="Arial Black" pitchFamily="34" charset="0"/>
                <a:ea typeface="宋体" pitchFamily="2" charset="-122"/>
              </a:defRPr>
            </a:lvl7pPr>
            <a:lvl8pPr marL="1371600" algn="r" rtl="0" fontAlgn="base">
              <a:spcBef>
                <a:spcPct val="0"/>
              </a:spcBef>
              <a:spcAft>
                <a:spcPct val="0"/>
              </a:spcAft>
              <a:defRPr kumimoji="1" sz="3600">
                <a:solidFill>
                  <a:schemeClr val="tx2"/>
                </a:solidFill>
                <a:latin typeface="Arial Black" pitchFamily="34" charset="0"/>
                <a:ea typeface="宋体" pitchFamily="2" charset="-122"/>
              </a:defRPr>
            </a:lvl8pPr>
            <a:lvl9pPr marL="1828800" algn="r" rtl="0" fontAlgn="base">
              <a:spcBef>
                <a:spcPct val="0"/>
              </a:spcBef>
              <a:spcAft>
                <a:spcPct val="0"/>
              </a:spcAft>
              <a:defRPr kumimoji="1" sz="3600">
                <a:solidFill>
                  <a:schemeClr val="tx2"/>
                </a:solidFill>
                <a:latin typeface="Arial Black"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rPr>
              <a:t>项目范围变更的主要权衡因素</a:t>
            </a:r>
          </a:p>
        </p:txBody>
      </p:sp>
      <p:sp>
        <p:nvSpPr>
          <p:cNvPr id="4" name="Oval 3">
            <a:extLst>
              <a:ext uri="{FF2B5EF4-FFF2-40B4-BE49-F238E27FC236}">
                <a16:creationId xmlns:a16="http://schemas.microsoft.com/office/drawing/2014/main" id="{CC424B2E-3148-4127-B506-4A176EB09C2C}"/>
              </a:ext>
            </a:extLst>
          </p:cNvPr>
          <p:cNvSpPr>
            <a:spLocks noChangeArrowheads="1"/>
          </p:cNvSpPr>
          <p:nvPr/>
        </p:nvSpPr>
        <p:spPr bwMode="auto">
          <a:xfrm>
            <a:off x="4699000" y="2283624"/>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工期要求</a:t>
            </a:r>
          </a:p>
        </p:txBody>
      </p:sp>
      <p:sp>
        <p:nvSpPr>
          <p:cNvPr id="5" name="Oval 4">
            <a:extLst>
              <a:ext uri="{FF2B5EF4-FFF2-40B4-BE49-F238E27FC236}">
                <a16:creationId xmlns:a16="http://schemas.microsoft.com/office/drawing/2014/main" id="{8EEBD6B6-C443-41D3-B0C5-D7AF382553C2}"/>
              </a:ext>
            </a:extLst>
          </p:cNvPr>
          <p:cNvSpPr>
            <a:spLocks noChangeArrowheads="1"/>
          </p:cNvSpPr>
          <p:nvPr/>
        </p:nvSpPr>
        <p:spPr bwMode="auto">
          <a:xfrm>
            <a:off x="4733925" y="4035734"/>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产品功能</a:t>
            </a:r>
          </a:p>
        </p:txBody>
      </p:sp>
      <p:sp>
        <p:nvSpPr>
          <p:cNvPr id="6" name="Oval 5">
            <a:extLst>
              <a:ext uri="{FF2B5EF4-FFF2-40B4-BE49-F238E27FC236}">
                <a16:creationId xmlns:a16="http://schemas.microsoft.com/office/drawing/2014/main" id="{4DD1A737-7E0C-4167-A81C-A8258D505F0F}"/>
              </a:ext>
            </a:extLst>
          </p:cNvPr>
          <p:cNvSpPr>
            <a:spLocks noChangeArrowheads="1"/>
          </p:cNvSpPr>
          <p:nvPr/>
        </p:nvSpPr>
        <p:spPr bwMode="auto">
          <a:xfrm>
            <a:off x="8543925" y="3995484"/>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产品质量</a:t>
            </a:r>
          </a:p>
        </p:txBody>
      </p:sp>
      <p:sp>
        <p:nvSpPr>
          <p:cNvPr id="7" name="Oval 6">
            <a:extLst>
              <a:ext uri="{FF2B5EF4-FFF2-40B4-BE49-F238E27FC236}">
                <a16:creationId xmlns:a16="http://schemas.microsoft.com/office/drawing/2014/main" id="{4DEFAC63-399D-4677-B53E-35A05FF3064F}"/>
              </a:ext>
            </a:extLst>
          </p:cNvPr>
          <p:cNvSpPr>
            <a:spLocks noChangeArrowheads="1"/>
          </p:cNvSpPr>
          <p:nvPr/>
        </p:nvSpPr>
        <p:spPr bwMode="auto">
          <a:xfrm>
            <a:off x="8420100" y="2195975"/>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预算要求</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（资源限制）</a:t>
            </a:r>
          </a:p>
        </p:txBody>
      </p:sp>
      <p:sp>
        <p:nvSpPr>
          <p:cNvPr id="8" name="AutoShape 7">
            <a:extLst>
              <a:ext uri="{FF2B5EF4-FFF2-40B4-BE49-F238E27FC236}">
                <a16:creationId xmlns:a16="http://schemas.microsoft.com/office/drawing/2014/main" id="{D5FDD9E2-CC38-4E04-9A48-8394A796D38A}"/>
              </a:ext>
            </a:extLst>
          </p:cNvPr>
          <p:cNvSpPr>
            <a:spLocks noChangeArrowheads="1"/>
          </p:cNvSpPr>
          <p:nvPr/>
        </p:nvSpPr>
        <p:spPr bwMode="auto">
          <a:xfrm>
            <a:off x="6105525" y="3237784"/>
            <a:ext cx="3383032" cy="1026550"/>
          </a:xfrm>
          <a:prstGeom prst="cloudCallout">
            <a:avLst>
              <a:gd name="adj1" fmla="val 2537"/>
              <a:gd name="adj2" fmla="val -4167"/>
            </a:avLst>
          </a:prstGeom>
          <a:solidFill>
            <a:srgbClr val="CCFFCC"/>
          </a:solidFill>
          <a:ln w="9525">
            <a:solidFill>
              <a:srgbClr val="FFFFFF"/>
            </a:solidFill>
            <a:round/>
            <a:headEnd/>
            <a:tailEnd/>
          </a:ln>
        </p:spPr>
        <p:txBody>
          <a:bodyPr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对于客户或者来说，</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哪个方面更重要？</a:t>
            </a:r>
          </a:p>
        </p:txBody>
      </p:sp>
      <p:sp>
        <p:nvSpPr>
          <p:cNvPr id="9" name="Text Box 8">
            <a:extLst>
              <a:ext uri="{FF2B5EF4-FFF2-40B4-BE49-F238E27FC236}">
                <a16:creationId xmlns:a16="http://schemas.microsoft.com/office/drawing/2014/main" id="{D04F0557-A963-45BA-A213-BCDB3CC3616D}"/>
              </a:ext>
            </a:extLst>
          </p:cNvPr>
          <p:cNvSpPr txBox="1">
            <a:spLocks noChangeArrowheads="1"/>
          </p:cNvSpPr>
          <p:nvPr/>
        </p:nvSpPr>
        <p:spPr bwMode="auto">
          <a:xfrm>
            <a:off x="4505325" y="5440759"/>
            <a:ext cx="6994525" cy="83099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r>
              <a:rPr lang="zh-CN" altLang="en-US" sz="2400" dirty="0">
                <a:solidFill>
                  <a:srgbClr val="000066"/>
                </a:solidFill>
                <a:latin typeface="Times New Roman" panose="02020603050405020304" pitchFamily="18" charset="0"/>
              </a:rPr>
              <a:t>在确定的需求范围内，全方位满足客户要求，这是项目经理的职责</a:t>
            </a:r>
          </a:p>
        </p:txBody>
      </p:sp>
      <p:sp>
        <p:nvSpPr>
          <p:cNvPr id="10" name="文本框 9">
            <a:extLst>
              <a:ext uri="{FF2B5EF4-FFF2-40B4-BE49-F238E27FC236}">
                <a16:creationId xmlns:a16="http://schemas.microsoft.com/office/drawing/2014/main" id="{9B5C62B1-F3AE-4F26-8C0D-7719BE5A3DAD}"/>
              </a:ext>
            </a:extLst>
          </p:cNvPr>
          <p:cNvSpPr txBox="1"/>
          <p:nvPr/>
        </p:nvSpPr>
        <p:spPr>
          <a:xfrm>
            <a:off x="613885" y="1685687"/>
            <a:ext cx="3653315" cy="1874872"/>
          </a:xfrm>
          <a:prstGeom prst="rect">
            <a:avLst/>
          </a:prstGeom>
          <a:noFill/>
        </p:spPr>
        <p:txBody>
          <a:bodyPr wrap="square">
            <a:spAutoFit/>
          </a:bodyPr>
          <a:lstStyle/>
          <a:p>
            <a:pPr marL="0" lvl="1">
              <a:lnSpc>
                <a:spcPts val="3600"/>
              </a:lnSpc>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控制范围：工具与技术</a:t>
            </a:r>
            <a:endParaRPr lang="en-US" altLang="zh-CN" sz="24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895350" lvl="2" indent="0">
              <a:lnSpc>
                <a:spcPts val="3600"/>
              </a:lnSpc>
              <a:defRPr/>
            </a:pPr>
            <a:r>
              <a:rPr lang="zh-CN" altLang="en-US" sz="2400" b="1" i="0" u="none" strike="noStrike" baseline="0" dirty="0">
                <a:latin typeface="SourceHanSansSC-Medium"/>
              </a:rPr>
              <a:t>数据分析</a:t>
            </a:r>
          </a:p>
          <a:p>
            <a:pPr marL="1352550" lvl="3" indent="0">
              <a:lnSpc>
                <a:spcPts val="3600"/>
              </a:lnSpc>
              <a:defRPr/>
            </a:pPr>
            <a:r>
              <a:rPr lang="zh-CN" altLang="en-US" b="1" i="0" u="none" strike="noStrike" baseline="0" dirty="0">
                <a:latin typeface="SourceHanSansSC-Bold"/>
              </a:rPr>
              <a:t>偏差分析</a:t>
            </a:r>
            <a:endParaRPr lang="en-US" altLang="zh-CN" b="1" i="0" u="none" strike="noStrike" baseline="0" dirty="0">
              <a:latin typeface="SourceHanSansSC-Bold"/>
            </a:endParaRPr>
          </a:p>
          <a:p>
            <a:pPr marL="1352550" lvl="3" indent="0">
              <a:lnSpc>
                <a:spcPts val="3600"/>
              </a:lnSpc>
              <a:defRPr/>
            </a:pPr>
            <a:r>
              <a:rPr lang="zh-CN" altLang="en-US" b="1" i="0" u="none" strike="noStrike" baseline="0" dirty="0">
                <a:latin typeface="SourceHanSansSC-Bold"/>
              </a:rPr>
              <a:t>趋势分析</a:t>
            </a:r>
            <a:endParaRPr lang="zh-CN" altLang="en-US" dirty="0">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15875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613885" y="1314450"/>
            <a:ext cx="3907294" cy="567359"/>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项目范围变更控制（</a:t>
            </a:r>
            <a:r>
              <a:rPr lang="zh-CN" altLang="en-US" sz="2400" dirty="0">
                <a:latin typeface="微软雅黑" panose="020B0503020204020204" pitchFamily="34" charset="-122"/>
                <a:ea typeface="微软雅黑" panose="020B0503020204020204" pitchFamily="34" charset="-122"/>
                <a:cs typeface="Times New Roman" pitchFamily="18" charset="0"/>
              </a:rPr>
              <a:t>流程</a:t>
            </a:r>
            <a:r>
              <a:rPr lang="zh-CN" altLang="en-US" sz="2400" b="1" dirty="0">
                <a:latin typeface="微软雅黑" panose="020B0503020204020204" pitchFamily="34" charset="-122"/>
                <a:ea typeface="微软雅黑" panose="020B0503020204020204" pitchFamily="34" charset="-122"/>
                <a:cs typeface="Times New Roman" pitchFamily="18" charset="0"/>
              </a:rPr>
              <a:t>）</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en-US" altLang="zh-CN" dirty="0">
              <a:latin typeface="Times New Roman" pitchFamily="18" charset="0"/>
              <a:ea typeface="黑体" pitchFamily="49" charset="-122"/>
              <a:cs typeface="Times New Roman" pitchFamily="18" charset="0"/>
            </a:endParaRPr>
          </a:p>
          <a:p>
            <a:pPr marL="0" indent="0">
              <a:lnSpc>
                <a:spcPts val="3600"/>
              </a:lnSpc>
              <a:buFont typeface="Wingdings" pitchFamily="2" charset="2"/>
              <a:buNone/>
              <a:defRPr/>
            </a:pPr>
            <a:endParaRPr lang="zh-CN"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pic>
        <p:nvPicPr>
          <p:cNvPr id="6" name="Picture 2">
            <a:extLst>
              <a:ext uri="{FF2B5EF4-FFF2-40B4-BE49-F238E27FC236}">
                <a16:creationId xmlns:a16="http://schemas.microsoft.com/office/drawing/2014/main" id="{7100AE8B-A50D-4ADE-87DA-B3AA0E47B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7829" y="1314450"/>
            <a:ext cx="6410119" cy="5112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533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543543" y="1314450"/>
            <a:ext cx="11081471" cy="2419350"/>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项目范围变更控制系统</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358775" lvl="1" indent="-358775">
              <a:buFont typeface="Wingdings" pitchFamily="2" charset="2"/>
              <a:buNone/>
            </a:pPr>
            <a:r>
              <a:rPr lang="zh-CN" altLang="en-US" dirty="0">
                <a:latin typeface="Times New Roman" pitchFamily="18" charset="0"/>
                <a:ea typeface="黑体" pitchFamily="2" charset="-122"/>
                <a:cs typeface="Times New Roman"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范围变更控制系统是对项目范围变更进行控制的主要方法。它定义了项目范围 变更的有关程序，是一套修改项目范围文件时应遵循的程序</a:t>
            </a:r>
            <a:r>
              <a:rPr lang="zh-CN" altLang="zh-CN" dirty="0">
                <a:latin typeface="微软雅黑" panose="020B0503020204020204" pitchFamily="34" charset="-122"/>
                <a:ea typeface="微软雅黑" panose="020B0503020204020204" pitchFamily="34" charset="-122"/>
                <a:cs typeface="Times New Roman" pitchFamily="18" charset="0"/>
              </a:rPr>
              <a:t>，其中包括：</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396875" lvl="2" indent="0">
              <a:buFont typeface="Wingdings" pitchFamily="2" charset="2"/>
              <a:buChar char="n"/>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文档工作</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396875" lvl="2" indent="0">
              <a:buFont typeface="Wingdings" pitchFamily="2" charset="2"/>
              <a:buChar char="n"/>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项目实施跟踪系统</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396875" lvl="2" indent="0">
              <a:buFont typeface="Wingdings" pitchFamily="2" charset="2"/>
              <a:buChar char="n"/>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项目范围变更审批制度</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en-US"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sp>
        <p:nvSpPr>
          <p:cNvPr id="8" name="矩形 7">
            <a:extLst>
              <a:ext uri="{FF2B5EF4-FFF2-40B4-BE49-F238E27FC236}">
                <a16:creationId xmlns:a16="http://schemas.microsoft.com/office/drawing/2014/main" id="{0DB84F9A-FA81-4CCF-9E38-2EFDDA1B1EDA}"/>
              </a:ext>
            </a:extLst>
          </p:cNvPr>
          <p:cNvSpPr/>
          <p:nvPr/>
        </p:nvSpPr>
        <p:spPr>
          <a:xfrm>
            <a:off x="2479599" y="6041858"/>
            <a:ext cx="2492990" cy="400110"/>
          </a:xfrm>
          <a:prstGeom prst="rect">
            <a:avLst/>
          </a:prstGeom>
        </p:spPr>
        <p:txBody>
          <a:bodyPr wrap="none">
            <a:spAutoFit/>
          </a:bodyPr>
          <a:lstStyle/>
          <a:p>
            <a:pPr marL="0" indent="0">
              <a:buFont typeface="Wingdings" pitchFamily="2" charset="2"/>
              <a:buNone/>
            </a:pPr>
            <a:r>
              <a:rPr lang="zh-CN" altLang="zh-CN" sz="2000" dirty="0">
                <a:solidFill>
                  <a:srgbClr val="00B0F0"/>
                </a:solidFill>
                <a:latin typeface="微软雅黑" panose="020B0503020204020204" pitchFamily="34" charset="-122"/>
                <a:ea typeface="微软雅黑" panose="020B0503020204020204" pitchFamily="34" charset="-122"/>
              </a:rPr>
              <a:t>变更控制系统三要素</a:t>
            </a:r>
            <a:endParaRPr lang="en-US" altLang="zh-CN" sz="2000" dirty="0">
              <a:solidFill>
                <a:srgbClr val="00B0F0"/>
              </a:solidFill>
              <a:latin typeface="微软雅黑" panose="020B0503020204020204" pitchFamily="34" charset="-122"/>
              <a:ea typeface="微软雅黑" panose="020B0503020204020204" pitchFamily="34" charset="-122"/>
            </a:endParaRPr>
          </a:p>
        </p:txBody>
      </p:sp>
      <p:pic>
        <p:nvPicPr>
          <p:cNvPr id="9" name="Picture 2">
            <a:extLst>
              <a:ext uri="{FF2B5EF4-FFF2-40B4-BE49-F238E27FC236}">
                <a16:creationId xmlns:a16="http://schemas.microsoft.com/office/drawing/2014/main" id="{DAFC00F0-B2F3-496D-827E-8C4713E41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405" y="3659971"/>
            <a:ext cx="3694546" cy="2252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70E15DB1-D95A-4405-A99B-DA9FD1DD22F3}"/>
              </a:ext>
            </a:extLst>
          </p:cNvPr>
          <p:cNvSpPr/>
          <p:nvPr/>
        </p:nvSpPr>
        <p:spPr>
          <a:xfrm>
            <a:off x="8027471" y="6041858"/>
            <a:ext cx="2236510" cy="400110"/>
          </a:xfrm>
          <a:prstGeom prst="rect">
            <a:avLst/>
          </a:prstGeom>
        </p:spPr>
        <p:txBody>
          <a:bodyPr wrap="none">
            <a:spAutoFit/>
          </a:bodyPr>
          <a:lstStyle/>
          <a:p>
            <a:r>
              <a:rPr lang="zh-CN" altLang="en-US" sz="2000" dirty="0">
                <a:solidFill>
                  <a:srgbClr val="00B0F0"/>
                </a:solidFill>
                <a:latin typeface="微软雅黑" panose="020B0503020204020204" pitchFamily="34" charset="-122"/>
                <a:ea typeface="微软雅黑" panose="020B0503020204020204" pitchFamily="34" charset="-122"/>
              </a:rPr>
              <a:t>项目变更控制过程</a:t>
            </a:r>
          </a:p>
        </p:txBody>
      </p:sp>
      <p:graphicFrame>
        <p:nvGraphicFramePr>
          <p:cNvPr id="11" name="对象 10">
            <a:extLst>
              <a:ext uri="{FF2B5EF4-FFF2-40B4-BE49-F238E27FC236}">
                <a16:creationId xmlns:a16="http://schemas.microsoft.com/office/drawing/2014/main" id="{9BA551B9-DFB1-4A76-9E20-685350A5F2BE}"/>
              </a:ext>
            </a:extLst>
          </p:cNvPr>
          <p:cNvGraphicFramePr>
            <a:graphicFrameLocks noChangeAspect="1"/>
          </p:cNvGraphicFramePr>
          <p:nvPr/>
        </p:nvGraphicFramePr>
        <p:xfrm>
          <a:off x="6691745" y="2639291"/>
          <a:ext cx="4702776" cy="3389806"/>
        </p:xfrm>
        <a:graphic>
          <a:graphicData uri="http://schemas.openxmlformats.org/presentationml/2006/ole">
            <mc:AlternateContent xmlns:mc="http://schemas.openxmlformats.org/markup-compatibility/2006">
              <mc:Choice xmlns:v="urn:schemas-microsoft-com:vml" Requires="v">
                <p:oleObj name="Visio" r:id="rId3" imgW="3289682" imgH="2772383" progId="Visio.Drawing.11">
                  <p:embed/>
                </p:oleObj>
              </mc:Choice>
              <mc:Fallback>
                <p:oleObj name="Visio" r:id="rId3" imgW="3289682" imgH="2772383" progId="Visio.Drawing.11">
                  <p:embed/>
                  <p:pic>
                    <p:nvPicPr>
                      <p:cNvPr id="11" name="对象 10">
                        <a:extLst>
                          <a:ext uri="{FF2B5EF4-FFF2-40B4-BE49-F238E27FC236}">
                            <a16:creationId xmlns:a16="http://schemas.microsoft.com/office/drawing/2014/main" id="{9BA551B9-DFB1-4A76-9E20-685350A5F2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1745" y="2639291"/>
                        <a:ext cx="4702776" cy="338980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624153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34B82F-3B09-4D24-9E8B-449B1C342171}"/>
              </a:ext>
            </a:extLst>
          </p:cNvPr>
          <p:cNvSpPr>
            <a:spLocks noGrp="1"/>
          </p:cNvSpPr>
          <p:nvPr>
            <p:ph type="title"/>
          </p:nvPr>
        </p:nvSpPr>
        <p:spPr/>
        <p:txBody>
          <a:bodyPr/>
          <a:lstStyle/>
          <a:p>
            <a:r>
              <a:rPr lang="en-US" altLang="zh-CN" dirty="0"/>
              <a:t>11.7 </a:t>
            </a:r>
            <a:r>
              <a:rPr lang="zh-CN" altLang="en-US" dirty="0"/>
              <a:t>项目范围控制</a:t>
            </a:r>
          </a:p>
        </p:txBody>
      </p:sp>
      <p:sp>
        <p:nvSpPr>
          <p:cNvPr id="3" name="内容占位符 2">
            <a:extLst>
              <a:ext uri="{FF2B5EF4-FFF2-40B4-BE49-F238E27FC236}">
                <a16:creationId xmlns:a16="http://schemas.microsoft.com/office/drawing/2014/main" id="{A240185F-98D2-42A9-B699-2D46ED42663F}"/>
              </a:ext>
            </a:extLst>
          </p:cNvPr>
          <p:cNvSpPr txBox="1">
            <a:spLocks/>
          </p:cNvSpPr>
          <p:nvPr/>
        </p:nvSpPr>
        <p:spPr>
          <a:xfrm>
            <a:off x="990600" y="1314450"/>
            <a:ext cx="3541643" cy="5340350"/>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solidFill>
                  <a:srgbClr val="663300"/>
                </a:solidFill>
                <a:latin typeface="微软雅黑" panose="020B0503020204020204" pitchFamily="34" charset="-122"/>
                <a:ea typeface="微软雅黑" panose="020B0503020204020204" pitchFamily="34" charset="-122"/>
                <a:cs typeface="Times New Roman" pitchFamily="18" charset="0"/>
              </a:rPr>
              <a:t>项目范围控制：输出</a:t>
            </a:r>
            <a:endParaRPr lang="en-US" altLang="zh-CN" sz="2400" b="1" dirty="0">
              <a:solidFill>
                <a:srgbClr val="663300"/>
              </a:solidFill>
              <a:latin typeface="微软雅黑" panose="020B0503020204020204" pitchFamily="34" charset="-122"/>
              <a:ea typeface="微软雅黑" panose="020B0503020204020204" pitchFamily="34" charset="-122"/>
              <a:cs typeface="Times New Roman" pitchFamily="18" charset="0"/>
            </a:endParaRPr>
          </a:p>
          <a:p>
            <a:pPr marL="0" indent="0" algn="just">
              <a:buNone/>
            </a:pPr>
            <a:r>
              <a:rPr lang="en-US" altLang="zh-CN" sz="2200" b="1" dirty="0">
                <a:latin typeface="Times New Roman" panose="02020603050405020304" pitchFamily="18" charset="0"/>
              </a:rPr>
              <a:t>1 </a:t>
            </a:r>
            <a:r>
              <a:rPr lang="zh-CN" altLang="en-US" sz="2200" b="1" dirty="0">
                <a:latin typeface="Times New Roman" panose="02020603050405020304" pitchFamily="18" charset="0"/>
              </a:rPr>
              <a:t>工作绩效信息</a:t>
            </a:r>
          </a:p>
          <a:p>
            <a:pPr marL="0" indent="0" algn="just">
              <a:buNone/>
            </a:pPr>
            <a:r>
              <a:rPr lang="en-US" altLang="zh-CN" sz="2200" b="1" dirty="0">
                <a:latin typeface="Times New Roman" panose="02020603050405020304" pitchFamily="18" charset="0"/>
              </a:rPr>
              <a:t>2 </a:t>
            </a:r>
            <a:r>
              <a:rPr lang="zh-CN" altLang="en-US" sz="2200" b="1" dirty="0">
                <a:latin typeface="Times New Roman" panose="02020603050405020304" pitchFamily="18" charset="0"/>
              </a:rPr>
              <a:t>变更请求</a:t>
            </a:r>
          </a:p>
          <a:p>
            <a:pPr marL="0" indent="0" algn="just">
              <a:buNone/>
            </a:pPr>
            <a:r>
              <a:rPr lang="en-US" altLang="zh-CN" sz="2200" b="1" dirty="0">
                <a:latin typeface="Times New Roman" panose="02020603050405020304" pitchFamily="18" charset="0"/>
              </a:rPr>
              <a:t>3 </a:t>
            </a:r>
            <a:r>
              <a:rPr lang="zh-CN" altLang="en-US" sz="2200" b="1" dirty="0">
                <a:latin typeface="Times New Roman" panose="02020603050405020304" pitchFamily="18" charset="0"/>
              </a:rPr>
              <a:t>项目管理计划更新</a:t>
            </a:r>
          </a:p>
          <a:p>
            <a:pPr lvl="1" algn="just"/>
            <a:r>
              <a:rPr lang="zh-CN" altLang="en-US" sz="2000" b="1" dirty="0">
                <a:latin typeface="Times New Roman" panose="02020603050405020304" pitchFamily="18" charset="0"/>
              </a:rPr>
              <a:t>范围管理计划</a:t>
            </a:r>
          </a:p>
          <a:p>
            <a:pPr lvl="1" algn="just"/>
            <a:r>
              <a:rPr lang="zh-CN" altLang="en-US" sz="2000" b="1" dirty="0">
                <a:latin typeface="Times New Roman" panose="02020603050405020304" pitchFamily="18" charset="0"/>
              </a:rPr>
              <a:t>范围基准</a:t>
            </a:r>
          </a:p>
          <a:p>
            <a:pPr lvl="1" algn="just"/>
            <a:r>
              <a:rPr lang="zh-CN" altLang="en-US" sz="2000" b="1" dirty="0">
                <a:latin typeface="Times New Roman" panose="02020603050405020304" pitchFamily="18" charset="0"/>
              </a:rPr>
              <a:t>进度基准</a:t>
            </a:r>
          </a:p>
          <a:p>
            <a:pPr lvl="1" algn="just"/>
            <a:r>
              <a:rPr lang="zh-CN" altLang="en-US" sz="2000" b="1" dirty="0">
                <a:latin typeface="Times New Roman" panose="02020603050405020304" pitchFamily="18" charset="0"/>
              </a:rPr>
              <a:t>成本基准</a:t>
            </a:r>
          </a:p>
          <a:p>
            <a:pPr lvl="1" algn="just"/>
            <a:r>
              <a:rPr lang="zh-CN" altLang="en-US" sz="2000" b="1" dirty="0">
                <a:latin typeface="Times New Roman" panose="02020603050405020304" pitchFamily="18" charset="0"/>
              </a:rPr>
              <a:t>绩效测量基准</a:t>
            </a:r>
          </a:p>
          <a:p>
            <a:pPr marL="0" indent="0" algn="just">
              <a:buNone/>
            </a:pPr>
            <a:r>
              <a:rPr lang="en-US" altLang="zh-CN" sz="2200" b="1" dirty="0">
                <a:latin typeface="Times New Roman" panose="02020603050405020304" pitchFamily="18" charset="0"/>
              </a:rPr>
              <a:t>4 </a:t>
            </a:r>
            <a:r>
              <a:rPr lang="zh-CN" altLang="en-US" sz="2200" b="1" dirty="0">
                <a:latin typeface="Times New Roman" panose="02020603050405020304" pitchFamily="18" charset="0"/>
              </a:rPr>
              <a:t>项目文件更新</a:t>
            </a:r>
          </a:p>
          <a:p>
            <a:pPr lvl="1" algn="just"/>
            <a:r>
              <a:rPr lang="zh-CN" altLang="en-US" sz="2000" b="1" dirty="0">
                <a:latin typeface="Times New Roman" panose="02020603050405020304" pitchFamily="18" charset="0"/>
              </a:rPr>
              <a:t>经验教训登记册</a:t>
            </a:r>
          </a:p>
          <a:p>
            <a:pPr lvl="1" algn="just"/>
            <a:r>
              <a:rPr lang="zh-CN" altLang="en-US" sz="2000" b="1" dirty="0">
                <a:latin typeface="Times New Roman" panose="02020603050405020304" pitchFamily="18" charset="0"/>
              </a:rPr>
              <a:t>需求文件</a:t>
            </a:r>
          </a:p>
          <a:p>
            <a:pPr lvl="1" algn="just"/>
            <a:r>
              <a:rPr lang="zh-CN" altLang="en-US" sz="2000" b="1" dirty="0">
                <a:latin typeface="Times New Roman" panose="02020603050405020304" pitchFamily="18" charset="0"/>
              </a:rPr>
              <a:t>需求跟踪矩阵</a:t>
            </a:r>
          </a:p>
          <a:p>
            <a:pPr marL="358775" lvl="1" indent="-358775">
              <a:buFont typeface="Wingdings" pitchFamily="2" charset="2"/>
              <a:buNone/>
            </a:pPr>
            <a:endParaRPr lang="en-US"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spTree>
    <p:extLst>
      <p:ext uri="{BB962C8B-B14F-4D97-AF65-F5344CB8AC3E}">
        <p14:creationId xmlns:p14="http://schemas.microsoft.com/office/powerpoint/2010/main" val="295272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202601-7A07-49F7-A4F0-9B4439FB0810}"/>
              </a:ext>
            </a:extLst>
          </p:cNvPr>
          <p:cNvSpPr>
            <a:spLocks noGrp="1"/>
          </p:cNvSpPr>
          <p:nvPr>
            <p:ph type="title"/>
          </p:nvPr>
        </p:nvSpPr>
        <p:spPr/>
        <p:txBody>
          <a:bodyPr/>
          <a:lstStyle/>
          <a:p>
            <a:r>
              <a:rPr lang="en-US" altLang="zh-CN" dirty="0"/>
              <a:t>11.7 </a:t>
            </a:r>
            <a:r>
              <a:rPr lang="zh-CN" altLang="en-US" dirty="0"/>
              <a:t>项目范围控制</a:t>
            </a:r>
          </a:p>
        </p:txBody>
      </p:sp>
      <p:sp>
        <p:nvSpPr>
          <p:cNvPr id="3" name="内容占位符 2">
            <a:extLst>
              <a:ext uri="{FF2B5EF4-FFF2-40B4-BE49-F238E27FC236}">
                <a16:creationId xmlns:a16="http://schemas.microsoft.com/office/drawing/2014/main" id="{E0A0C5A6-D042-4673-BFAC-6751E1965039}"/>
              </a:ext>
            </a:extLst>
          </p:cNvPr>
          <p:cNvSpPr txBox="1">
            <a:spLocks noChangeArrowheads="1"/>
          </p:cNvSpPr>
          <p:nvPr/>
        </p:nvSpPr>
        <p:spPr>
          <a:xfrm>
            <a:off x="841513" y="1747967"/>
            <a:ext cx="10508974" cy="336206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dirty="0"/>
              <a:t>某个项目干系人找到项目经理讨论他们想增加一些范围到项目上，项目经理要求书面的更多细节描述并执行控制范围过程。在完成请求的范围评估后下一步项目经理应该做什么？</a:t>
            </a:r>
          </a:p>
          <a:p>
            <a:pPr marL="457200" lvl="1" indent="0">
              <a:buNone/>
            </a:pPr>
            <a:r>
              <a:rPr lang="en-US" altLang="zh-CN" sz="2400" dirty="0"/>
              <a:t>A. </a:t>
            </a:r>
            <a:r>
              <a:rPr lang="zh-CN" altLang="en-US" sz="2400" dirty="0"/>
              <a:t>问干系人是否还有更多变更</a:t>
            </a:r>
          </a:p>
          <a:p>
            <a:pPr marL="457200" lvl="1" indent="0">
              <a:buNone/>
            </a:pPr>
            <a:r>
              <a:rPr lang="en-US" altLang="zh-CN" sz="2400" dirty="0"/>
              <a:t>B. </a:t>
            </a:r>
            <a:r>
              <a:rPr lang="zh-CN" altLang="en-US" sz="2400" dirty="0"/>
              <a:t>完成整体变更控制</a:t>
            </a:r>
          </a:p>
          <a:p>
            <a:pPr marL="457200" lvl="1" indent="0">
              <a:buNone/>
            </a:pPr>
            <a:r>
              <a:rPr lang="en-US" altLang="zh-CN" sz="2400" dirty="0"/>
              <a:t>C. </a:t>
            </a:r>
            <a:r>
              <a:rPr lang="zh-CN" altLang="en-US" sz="2400" dirty="0"/>
              <a:t>确保干系人理解变更的影响</a:t>
            </a:r>
          </a:p>
          <a:p>
            <a:pPr marL="457200" lvl="1" indent="0">
              <a:buNone/>
            </a:pPr>
            <a:r>
              <a:rPr lang="en-US" altLang="zh-CN" sz="2400" dirty="0"/>
              <a:t>D. </a:t>
            </a:r>
            <a:r>
              <a:rPr lang="zh-CN" altLang="en-US" sz="2400" dirty="0"/>
              <a:t>找出这些范围为什么没有在规划期间发现的根本原因</a:t>
            </a:r>
          </a:p>
          <a:p>
            <a:endParaRPr lang="zh-CN" altLang="en-US" sz="2800" dirty="0"/>
          </a:p>
        </p:txBody>
      </p:sp>
    </p:spTree>
    <p:extLst>
      <p:ext uri="{BB962C8B-B14F-4D97-AF65-F5344CB8AC3E}">
        <p14:creationId xmlns:p14="http://schemas.microsoft.com/office/powerpoint/2010/main" val="1280774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43B18E-6E9F-4857-9979-3629F599F136}"/>
              </a:ext>
            </a:extLst>
          </p:cNvPr>
          <p:cNvSpPr>
            <a:spLocks noGrp="1"/>
          </p:cNvSpPr>
          <p:nvPr>
            <p:ph type="title"/>
          </p:nvPr>
        </p:nvSpPr>
        <p:spPr/>
        <p:txBody>
          <a:bodyPr/>
          <a:lstStyle/>
          <a:p>
            <a:r>
              <a:rPr lang="en-US" altLang="zh-CN" dirty="0"/>
              <a:t>11.7 </a:t>
            </a:r>
            <a:r>
              <a:rPr lang="zh-CN" altLang="en-US" dirty="0"/>
              <a:t>项目范围控制</a:t>
            </a:r>
          </a:p>
        </p:txBody>
      </p:sp>
      <p:sp>
        <p:nvSpPr>
          <p:cNvPr id="4" name="文本框 3">
            <a:extLst>
              <a:ext uri="{FF2B5EF4-FFF2-40B4-BE49-F238E27FC236}">
                <a16:creationId xmlns:a16="http://schemas.microsoft.com/office/drawing/2014/main" id="{A29ED742-7369-4C0F-B865-A35AB5E41B2D}"/>
              </a:ext>
            </a:extLst>
          </p:cNvPr>
          <p:cNvSpPr txBox="1"/>
          <p:nvPr/>
        </p:nvSpPr>
        <p:spPr>
          <a:xfrm>
            <a:off x="848139" y="1674673"/>
            <a:ext cx="10495722" cy="4185761"/>
          </a:xfrm>
          <a:prstGeom prst="rect">
            <a:avLst/>
          </a:prstGeom>
          <a:noFill/>
        </p:spPr>
        <p:txBody>
          <a:bodyPr wrap="square">
            <a:spAutoFit/>
          </a:bodyPr>
          <a:lstStyle/>
          <a:p>
            <a:pPr algn="just"/>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案例结局</a:t>
            </a:r>
          </a:p>
          <a:p>
            <a:pPr algn="just"/>
            <a:r>
              <a:rPr lang="en-US" altLang="zh-CN" sz="2200" b="1" dirty="0">
                <a:latin typeface="微软雅黑" panose="020B0503020204020204" pitchFamily="34" charset="-122"/>
                <a:ea typeface="微软雅黑" panose="020B0503020204020204" pitchFamily="34" charset="-122"/>
              </a:rPr>
              <a:t>   Kim Nguyen </a:t>
            </a:r>
            <a:r>
              <a:rPr lang="zh-CN" altLang="en-US" sz="2200" b="1" dirty="0">
                <a:latin typeface="微软雅黑" panose="020B0503020204020204" pitchFamily="34" charset="-122"/>
                <a:ea typeface="微软雅黑" panose="020B0503020204020204" pitchFamily="34" charset="-122"/>
              </a:rPr>
              <a:t>再次审视了由公司及其他渠道获得的构建</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的相关指南。她与</a:t>
            </a:r>
            <a:r>
              <a:rPr lang="en-US" altLang="zh-CN" sz="2200" b="1" dirty="0">
                <a:latin typeface="微软雅黑" panose="020B0503020204020204" pitchFamily="34" charset="-122"/>
                <a:ea typeface="微软雅黑" panose="020B0503020204020204" pitchFamily="34" charset="-122"/>
              </a:rPr>
              <a:t>3</a:t>
            </a:r>
            <a:r>
              <a:rPr lang="zh-CN" altLang="en-US" sz="2200" b="1" dirty="0">
                <a:latin typeface="微软雅黑" panose="020B0503020204020204" pitchFamily="34" charset="-122"/>
                <a:ea typeface="微软雅黑" panose="020B0503020204020204" pitchFamily="34" charset="-122"/>
              </a:rPr>
              <a:t>位项目团队领导召开了一次会议，着手计划他们可提供的输入。在商讨了几种样本文件后，他们决定根据最新的库存清单，将项目工作分组，包括获取需要的硬件和软件，安装硬件和软件，实施项目管理。</a:t>
            </a:r>
            <a:endParaRPr lang="en-US" altLang="zh-CN" sz="2200" b="1" dirty="0">
              <a:latin typeface="微软雅黑" panose="020B0503020204020204" pitchFamily="34" charset="-122"/>
              <a:ea typeface="微软雅黑" panose="020B0503020204020204" pitchFamily="34" charset="-122"/>
            </a:endParaRPr>
          </a:p>
          <a:p>
            <a:pPr algn="just"/>
            <a:r>
              <a:rPr lang="zh-CN" altLang="en-US" sz="2200" b="1" dirty="0">
                <a:latin typeface="微软雅黑" panose="020B0503020204020204" pitchFamily="34" charset="-122"/>
                <a:ea typeface="微软雅黑" panose="020B0503020204020204" pitchFamily="34" charset="-122"/>
              </a:rPr>
              <a:t>   在确定了基本方法后，</a:t>
            </a:r>
            <a:r>
              <a:rPr lang="en-US" altLang="zh-CN" sz="2200" b="1" dirty="0">
                <a:latin typeface="微软雅黑" panose="020B0503020204020204" pitchFamily="34" charset="-122"/>
                <a:ea typeface="微软雅黑" panose="020B0503020204020204" pitchFamily="34" charset="-122"/>
              </a:rPr>
              <a:t>Kim</a:t>
            </a:r>
            <a:r>
              <a:rPr lang="zh-CN" altLang="en-US" sz="2200" b="1" dirty="0">
                <a:latin typeface="微软雅黑" panose="020B0503020204020204" pitchFamily="34" charset="-122"/>
                <a:ea typeface="微软雅黑" panose="020B0503020204020204" pitchFamily="34" charset="-122"/>
              </a:rPr>
              <a:t>与整个项目团队共计</a:t>
            </a:r>
            <a:r>
              <a:rPr lang="en-US" altLang="zh-CN" sz="2200" b="1" dirty="0">
                <a:latin typeface="微软雅黑" panose="020B0503020204020204" pitchFamily="34" charset="-122"/>
                <a:ea typeface="微软雅黑" panose="020B0503020204020204" pitchFamily="34" charset="-122"/>
              </a:rPr>
              <a:t>12</a:t>
            </a:r>
            <a:r>
              <a:rPr lang="zh-CN" altLang="en-US" sz="2200" b="1" dirty="0">
                <a:latin typeface="微软雅黑" panose="020B0503020204020204" pitchFamily="34" charset="-122"/>
                <a:ea typeface="微软雅黑" panose="020B0503020204020204" pitchFamily="34" charset="-122"/>
              </a:rPr>
              <a:t>个人又召开了会议。她回顾了项目章程和利益相关者记录，说明了收集需求和定义项目范围的基本方法，评论了一些</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样本。</a:t>
            </a:r>
            <a:r>
              <a:rPr lang="en-US" altLang="zh-CN" sz="2200" b="1" dirty="0">
                <a:latin typeface="微软雅黑" panose="020B0503020204020204" pitchFamily="34" charset="-122"/>
                <a:ea typeface="微软雅黑" panose="020B0503020204020204" pitchFamily="34" charset="-122"/>
              </a:rPr>
              <a:t>Kim</a:t>
            </a:r>
            <a:r>
              <a:rPr lang="zh-CN" altLang="en-US" sz="2200" b="1" dirty="0">
                <a:latin typeface="微软雅黑" panose="020B0503020204020204" pitchFamily="34" charset="-122"/>
                <a:ea typeface="微软雅黑" panose="020B0503020204020204" pitchFamily="34" charset="-122"/>
              </a:rPr>
              <a:t>请大家畅所欲言，提出问题，并非常自信地进行了解答。</a:t>
            </a:r>
            <a:endParaRPr lang="en-US" altLang="zh-CN" sz="2200" b="1" dirty="0">
              <a:latin typeface="微软雅黑" panose="020B0503020204020204" pitchFamily="34" charset="-122"/>
              <a:ea typeface="微软雅黑" panose="020B0503020204020204" pitchFamily="34" charset="-122"/>
            </a:endParaRPr>
          </a:p>
          <a:p>
            <a:pPr algn="just"/>
            <a:r>
              <a:rPr lang="en-US" altLang="zh-CN" sz="2200" b="1" dirty="0">
                <a:latin typeface="微软雅黑" panose="020B0503020204020204" pitchFamily="34" charset="-122"/>
                <a:ea typeface="微软雅黑" panose="020B0503020204020204" pitchFamily="34" charset="-122"/>
              </a:rPr>
              <a:t>   </a:t>
            </a:r>
            <a:r>
              <a:rPr lang="zh-CN" altLang="en-US" sz="2200" b="1" dirty="0">
                <a:latin typeface="微软雅黑" panose="020B0503020204020204" pitchFamily="34" charset="-122"/>
                <a:ea typeface="微软雅黑" panose="020B0503020204020204" pitchFamily="34" charset="-122"/>
              </a:rPr>
              <a:t>然后她让每个团队主管与自己的成员一起共同开始撰写详细的范围说明书以及</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和</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词典的相应部分。每个人都参加了会议，分享了个人的专业技能，公开提问。</a:t>
            </a:r>
            <a:endParaRPr lang="en-US" altLang="zh-CN" sz="2200" b="1" dirty="0">
              <a:latin typeface="微软雅黑" panose="020B0503020204020204" pitchFamily="34" charset="-122"/>
              <a:ea typeface="微软雅黑" panose="020B0503020204020204" pitchFamily="34" charset="-122"/>
            </a:endParaRPr>
          </a:p>
          <a:p>
            <a:pPr algn="just"/>
            <a:r>
              <a:rPr lang="en-US" altLang="zh-CN" sz="2200" b="1" dirty="0">
                <a:latin typeface="微软雅黑" panose="020B0503020204020204" pitchFamily="34" charset="-122"/>
                <a:ea typeface="微软雅黑" panose="020B0503020204020204" pitchFamily="34" charset="-122"/>
              </a:rPr>
              <a:t>   Kim</a:t>
            </a:r>
            <a:r>
              <a:rPr lang="zh-CN" altLang="en-US" sz="2200" b="1" dirty="0">
                <a:latin typeface="微软雅黑" panose="020B0503020204020204" pitchFamily="34" charset="-122"/>
                <a:ea typeface="微软雅黑" panose="020B0503020204020204" pitchFamily="34" charset="-122"/>
              </a:rPr>
              <a:t>看到项目有了一个良好的开端。</a:t>
            </a:r>
          </a:p>
        </p:txBody>
      </p:sp>
    </p:spTree>
    <p:extLst>
      <p:ext uri="{BB962C8B-B14F-4D97-AF65-F5344CB8AC3E}">
        <p14:creationId xmlns:p14="http://schemas.microsoft.com/office/powerpoint/2010/main" val="4062774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内容占位符 2">
            <a:extLst>
              <a:ext uri="{FF2B5EF4-FFF2-40B4-BE49-F238E27FC236}">
                <a16:creationId xmlns:a16="http://schemas.microsoft.com/office/drawing/2014/main" id="{862E4793-55DC-4DE8-B070-7ADBF1DEC65B}"/>
              </a:ext>
            </a:extLst>
          </p:cNvPr>
          <p:cNvSpPr txBox="1">
            <a:spLocks/>
          </p:cNvSpPr>
          <p:nvPr/>
        </p:nvSpPr>
        <p:spPr>
          <a:xfrm>
            <a:off x="619991" y="1510389"/>
            <a:ext cx="10864437" cy="50343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gn="just">
              <a:buFont typeface="Wingdings" pitchFamily="2" charset="2"/>
              <a:buNone/>
              <a:defRPr/>
            </a:pPr>
            <a:r>
              <a:rPr lang="en-US" altLang="en-US" sz="2000" dirty="0">
                <a:latin typeface="楷体" panose="02010609060101010101" pitchFamily="49" charset="-122"/>
                <a:ea typeface="楷体" panose="02010609060101010101" pitchFamily="49" charset="-122"/>
                <a:cs typeface="Times New Roman" pitchFamily="18" charset="0"/>
              </a:rPr>
              <a:t>    XX</a:t>
            </a:r>
            <a:r>
              <a:rPr lang="zh-CN" altLang="en-US" sz="2000" dirty="0">
                <a:latin typeface="楷体" panose="02010609060101010101" pitchFamily="49" charset="-122"/>
                <a:ea typeface="楷体" panose="02010609060101010101" pitchFamily="49" charset="-122"/>
                <a:cs typeface="Times New Roman" pitchFamily="18" charset="0"/>
              </a:rPr>
              <a:t>省公安厅警务地理信息基础平台是</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省公安厅“天网计划”的重要项目，该项目投资共</a:t>
            </a:r>
            <a:r>
              <a:rPr lang="en-US" altLang="en-US" sz="2000" dirty="0">
                <a:latin typeface="楷体" panose="02010609060101010101" pitchFamily="49" charset="-122"/>
                <a:ea typeface="楷体" panose="02010609060101010101" pitchFamily="49" charset="-122"/>
                <a:cs typeface="Times New Roman" pitchFamily="18" charset="0"/>
              </a:rPr>
              <a:t>1000</a:t>
            </a:r>
            <a:r>
              <a:rPr lang="zh-CN" altLang="en-US" sz="2000" dirty="0">
                <a:latin typeface="楷体" panose="02010609060101010101" pitchFamily="49" charset="-122"/>
                <a:ea typeface="楷体" panose="02010609060101010101" pitchFamily="49" charset="-122"/>
                <a:cs typeface="Times New Roman" pitchFamily="18" charset="0"/>
              </a:rPr>
              <a:t>万人民币，建设工期为</a:t>
            </a:r>
            <a:r>
              <a:rPr lang="en-US" altLang="en-US" sz="2000" dirty="0">
                <a:latin typeface="楷体" panose="02010609060101010101" pitchFamily="49" charset="-122"/>
                <a:ea typeface="楷体" panose="02010609060101010101" pitchFamily="49" charset="-122"/>
                <a:cs typeface="Times New Roman" pitchFamily="18" charset="0"/>
              </a:rPr>
              <a:t>1</a:t>
            </a:r>
            <a:r>
              <a:rPr lang="zh-CN" altLang="en-US" sz="2000" dirty="0">
                <a:latin typeface="楷体" panose="02010609060101010101" pitchFamily="49" charset="-122"/>
                <a:ea typeface="楷体" panose="02010609060101010101" pitchFamily="49" charset="-122"/>
                <a:cs typeface="Times New Roman" pitchFamily="18" charset="0"/>
              </a:rPr>
              <a:t>年，计划从</a:t>
            </a:r>
            <a:r>
              <a:rPr lang="en-US" altLang="en-US" sz="2000" dirty="0">
                <a:latin typeface="楷体" panose="02010609060101010101" pitchFamily="49" charset="-122"/>
                <a:ea typeface="楷体" panose="02010609060101010101" pitchFamily="49" charset="-122"/>
                <a:cs typeface="Times New Roman" pitchFamily="18" charset="0"/>
              </a:rPr>
              <a:t>2011</a:t>
            </a:r>
            <a:r>
              <a:rPr lang="zh-CN" altLang="en-US" sz="2000" dirty="0">
                <a:latin typeface="楷体" panose="02010609060101010101" pitchFamily="49" charset="-122"/>
                <a:ea typeface="楷体" panose="02010609060101010101" pitchFamily="49" charset="-122"/>
                <a:cs typeface="Times New Roman" pitchFamily="18" charset="0"/>
              </a:rPr>
              <a:t>年</a:t>
            </a:r>
            <a:r>
              <a:rPr lang="en-US" altLang="en-US" sz="2000" dirty="0">
                <a:latin typeface="楷体" panose="02010609060101010101" pitchFamily="49" charset="-122"/>
                <a:ea typeface="楷体" panose="02010609060101010101" pitchFamily="49" charset="-122"/>
                <a:cs typeface="Times New Roman" pitchFamily="18" charset="0"/>
              </a:rPr>
              <a:t>8</a:t>
            </a:r>
            <a:r>
              <a:rPr lang="zh-CN" altLang="en-US" sz="2000" dirty="0">
                <a:latin typeface="楷体" panose="02010609060101010101" pitchFamily="49" charset="-122"/>
                <a:ea typeface="楷体" panose="02010609060101010101" pitchFamily="49" charset="-122"/>
                <a:cs typeface="Times New Roman" pitchFamily="18" charset="0"/>
              </a:rPr>
              <a:t>月份启动，</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省公安厅力图通过警务地理信息系统的建设，汇聚整合全省基础地理信息数据和公安机关内外部各类信息资源，全面提升</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省公安信息化深层次应用的水平，龙先生作为此项目的项目经理，参与编制了项目范围，创建工作分解结构、范围确认和范围控制等工作，以保证项目顺利进行。</a:t>
            </a:r>
          </a:p>
          <a:p>
            <a:pPr marL="0" indent="0" algn="just">
              <a:buFont typeface="Wingdings" pitchFamily="2" charset="2"/>
              <a:buNone/>
              <a:defRPr/>
            </a:pPr>
            <a:r>
              <a:rPr lang="en-US" altLang="en-US" sz="2000" b="1" dirty="0">
                <a:latin typeface="楷体" panose="02010609060101010101" pitchFamily="49" charset="-122"/>
                <a:ea typeface="楷体" panose="02010609060101010101" pitchFamily="49" charset="-122"/>
                <a:cs typeface="Times New Roman" pitchFamily="18" charset="0"/>
              </a:rPr>
              <a:t>1.</a:t>
            </a:r>
            <a:r>
              <a:rPr lang="zh-CN" altLang="en-US" sz="2000" b="1" dirty="0">
                <a:latin typeface="楷体" panose="02010609060101010101" pitchFamily="49" charset="-122"/>
                <a:ea typeface="楷体" panose="02010609060101010101" pitchFamily="49" charset="-122"/>
                <a:cs typeface="Times New Roman" pitchFamily="18" charset="0"/>
              </a:rPr>
              <a:t>编制范围管理计划，定义范围</a:t>
            </a:r>
            <a:r>
              <a:rPr lang="en-US" altLang="en-US" sz="2000" b="1"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由于警务地理信息系统业务面多，范围面广，龙先生考虑用专家判断法来做好项目的范围计划的工作，因此邀请了警务方面的专家</a:t>
            </a:r>
            <a:r>
              <a:rPr lang="en-US" altLang="en-US" sz="2000" dirty="0">
                <a:latin typeface="楷体" panose="02010609060101010101" pitchFamily="49" charset="-122"/>
                <a:ea typeface="楷体" panose="02010609060101010101" pitchFamily="49" charset="-122"/>
                <a:cs typeface="Times New Roman" pitchFamily="18" charset="0"/>
              </a:rPr>
              <a:t>7</a:t>
            </a:r>
            <a:r>
              <a:rPr lang="zh-CN" altLang="en-US" sz="2000" dirty="0">
                <a:latin typeface="楷体" panose="02010609060101010101" pitchFamily="49" charset="-122"/>
                <a:ea typeface="楷体" panose="02010609060101010101" pitchFamily="49" charset="-122"/>
                <a:cs typeface="Times New Roman" pitchFamily="18" charset="0"/>
              </a:rPr>
              <a:t>人，以头脑风暴的形式开展工作，整理得出项目范围管理计划的雏形。同时，利用行业内在以往项目中积累的一些经验，采用组织过程资产中的一些模版和标准，作为专家判断方法的一个补充，来规范项目范围管理计划的工作方法，在此基础上，龙先生和甲方的相关负责人开展引导式研讨会，向项目各干系人，就项目的主要目标、范围、范围管理计划以及各部门需要的模块进行集中的讨论与定义，最后形成了详细的范围说明书。</a:t>
            </a:r>
          </a:p>
          <a:p>
            <a:pPr marL="0" indent="0" algn="just">
              <a:buFont typeface="Wingdings" pitchFamily="2" charset="2"/>
              <a:buNone/>
              <a:defRPr/>
            </a:pPr>
            <a:r>
              <a:rPr lang="en-US" altLang="zh-CN" sz="2000" b="1" dirty="0">
                <a:latin typeface="楷体" panose="02010609060101010101" pitchFamily="49" charset="-122"/>
                <a:ea typeface="楷体" panose="02010609060101010101" pitchFamily="49" charset="-122"/>
                <a:cs typeface="Times New Roman" pitchFamily="18" charset="0"/>
              </a:rPr>
              <a:t>2.</a:t>
            </a:r>
            <a:r>
              <a:rPr lang="zh-CN" altLang="en-US" sz="2000" b="1" dirty="0">
                <a:latin typeface="楷体" panose="02010609060101010101" pitchFamily="49" charset="-122"/>
                <a:ea typeface="楷体" panose="02010609060101010101" pitchFamily="49" charset="-122"/>
                <a:cs typeface="Times New Roman" pitchFamily="18" charset="0"/>
              </a:rPr>
              <a:t>创建</a:t>
            </a:r>
            <a:r>
              <a:rPr lang="en-US" altLang="zh-CN" sz="2000" b="1" dirty="0">
                <a:latin typeface="楷体" panose="02010609060101010101" pitchFamily="49" charset="-122"/>
                <a:ea typeface="楷体" panose="02010609060101010101" pitchFamily="49" charset="-122"/>
                <a:cs typeface="Times New Roman" pitchFamily="18" charset="0"/>
              </a:rPr>
              <a:t>WBS  </a:t>
            </a:r>
            <a:r>
              <a:rPr lang="zh-CN" altLang="en-US" sz="2000" dirty="0">
                <a:latin typeface="楷体" panose="02010609060101010101" pitchFamily="49" charset="-122"/>
                <a:ea typeface="楷体" panose="02010609060101010101" pitchFamily="49" charset="-122"/>
                <a:cs typeface="Times New Roman" pitchFamily="18" charset="0"/>
              </a:rPr>
              <a:t>由于警务地理信息系统涉及的功能较多、业务流程较复杂，因此龙先生将项目的各个模块分解成一个一个的工作包，并对每一个工作包的内容做了更详细的描述，考虑到有些模块功能复杂，需要分解更多层才能达到工作包层次，因此使用滚动波式计划的方法，将近期需要完成的工作分的细一些，远期的工作相对分的粗一些，最后将项目的范围说明书、</a:t>
            </a:r>
            <a:r>
              <a:rPr lang="en-US" altLang="zh-CN" sz="2000" dirty="0">
                <a:latin typeface="楷体" panose="02010609060101010101" pitchFamily="49" charset="-122"/>
                <a:ea typeface="楷体" panose="02010609060101010101" pitchFamily="49" charset="-122"/>
                <a:cs typeface="Times New Roman" pitchFamily="18" charset="0"/>
              </a:rPr>
              <a:t>WBS</a:t>
            </a:r>
            <a:r>
              <a:rPr lang="zh-CN" altLang="en-US" sz="2000" dirty="0">
                <a:latin typeface="楷体" panose="02010609060101010101" pitchFamily="49" charset="-122"/>
                <a:ea typeface="楷体" panose="02010609060101010101" pitchFamily="49" charset="-122"/>
                <a:cs typeface="Times New Roman" pitchFamily="18" charset="0"/>
              </a:rPr>
              <a:t>和</a:t>
            </a:r>
            <a:r>
              <a:rPr lang="en-US" altLang="zh-CN" sz="2000" dirty="0">
                <a:latin typeface="楷体" panose="02010609060101010101" pitchFamily="49" charset="-122"/>
                <a:ea typeface="楷体" panose="02010609060101010101" pitchFamily="49" charset="-122"/>
                <a:cs typeface="Times New Roman" pitchFamily="18" charset="0"/>
              </a:rPr>
              <a:t>WBS</a:t>
            </a:r>
            <a:r>
              <a:rPr lang="zh-CN" altLang="en-US" sz="2000" dirty="0">
                <a:latin typeface="楷体" panose="02010609060101010101" pitchFamily="49" charset="-122"/>
                <a:ea typeface="楷体" panose="02010609060101010101" pitchFamily="49" charset="-122"/>
                <a:cs typeface="Times New Roman" pitchFamily="18" charset="0"/>
              </a:rPr>
              <a:t>词典装订成册形成项目范围基线。</a:t>
            </a:r>
          </a:p>
          <a:p>
            <a:pPr marL="0" algn="just">
              <a:buFont typeface="Wingdings" pitchFamily="2" charset="2"/>
              <a:buNone/>
              <a:defRPr/>
            </a:pPr>
            <a:endParaRPr lang="zh-CN" altLang="en-US" sz="2000" dirty="0">
              <a:latin typeface="Times New Roman" pitchFamily="18" charset="0"/>
              <a:ea typeface="黑体" pitchFamily="2" charset="-122"/>
              <a:cs typeface="Times New Roman" pitchFamily="18" charset="0"/>
            </a:endParaRPr>
          </a:p>
          <a:p>
            <a:pPr marL="0" indent="0" algn="just">
              <a:lnSpc>
                <a:spcPts val="2800"/>
              </a:lnSpc>
              <a:buFont typeface="Wingdings" pitchFamily="2" charset="2"/>
              <a:buNone/>
              <a:defRPr/>
            </a:pPr>
            <a:r>
              <a:rPr lang="zh-CN" altLang="en-US" sz="2000" dirty="0">
                <a:latin typeface="Times New Roman" pitchFamily="18" charset="0"/>
                <a:ea typeface="黑体" pitchFamily="2" charset="-122"/>
                <a:cs typeface="Times New Roman" pitchFamily="18" charset="0"/>
              </a:rPr>
              <a:t>　　</a:t>
            </a:r>
            <a:r>
              <a:rPr lang="en-US" altLang="zh-CN" sz="2000" dirty="0">
                <a:latin typeface="Times New Roman" pitchFamily="18" charset="0"/>
                <a:ea typeface="黑体" pitchFamily="2" charset="-122"/>
                <a:cs typeface="Times New Roman" pitchFamily="18" charset="0"/>
              </a:rPr>
              <a:t> </a:t>
            </a:r>
            <a:endParaRPr lang="zh-CN" altLang="en-US" sz="2000" dirty="0">
              <a:latin typeface="Times New Roman" pitchFamily="18" charset="0"/>
              <a:ea typeface="黑体" pitchFamily="2" charset="-122"/>
              <a:cs typeface="Times New Roman" pitchFamily="18" charset="0"/>
            </a:endParaRPr>
          </a:p>
        </p:txBody>
      </p:sp>
      <p:sp>
        <p:nvSpPr>
          <p:cNvPr id="18" name="标题 4">
            <a:extLst>
              <a:ext uri="{FF2B5EF4-FFF2-40B4-BE49-F238E27FC236}">
                <a16:creationId xmlns:a16="http://schemas.microsoft.com/office/drawing/2014/main" id="{B965AB7C-ADD3-4FA5-A913-BCDB831073F8}"/>
              </a:ext>
            </a:extLst>
          </p:cNvPr>
          <p:cNvSpPr>
            <a:spLocks noGrp="1"/>
          </p:cNvSpPr>
          <p:nvPr>
            <p:ph type="title"/>
          </p:nvPr>
        </p:nvSpPr>
        <p:spPr>
          <a:xfrm>
            <a:off x="613885" y="764293"/>
            <a:ext cx="10972800" cy="437186"/>
          </a:xfrm>
        </p:spPr>
        <p:txBody>
          <a:bodyPr/>
          <a:lstStyle/>
          <a:p>
            <a:r>
              <a:rPr lang="zh-CN" altLang="en-US" dirty="0"/>
              <a:t>扩展阅读</a:t>
            </a:r>
          </a:p>
        </p:txBody>
      </p:sp>
    </p:spTree>
    <p:extLst>
      <p:ext uri="{BB962C8B-B14F-4D97-AF65-F5344CB8AC3E}">
        <p14:creationId xmlns:p14="http://schemas.microsoft.com/office/powerpoint/2010/main" val="3983386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17C38079-E338-4435-9EB1-116BB534176D}"/>
              </a:ext>
            </a:extLst>
          </p:cNvPr>
          <p:cNvSpPr txBox="1">
            <a:spLocks/>
          </p:cNvSpPr>
          <p:nvPr/>
        </p:nvSpPr>
        <p:spPr>
          <a:xfrm>
            <a:off x="613885" y="1314449"/>
            <a:ext cx="11222182" cy="3126922"/>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gn="just">
              <a:lnSpc>
                <a:spcPct val="100000"/>
              </a:lnSpc>
              <a:spcBef>
                <a:spcPts val="600"/>
              </a:spcBef>
              <a:spcAft>
                <a:spcPts val="600"/>
              </a:spcAft>
              <a:buFont typeface="Wingdings" pitchFamily="2" charset="2"/>
              <a:buNone/>
              <a:defRPr/>
            </a:pPr>
            <a:r>
              <a:rPr lang="en-US" altLang="en-US" sz="2000" b="1" dirty="0">
                <a:latin typeface="楷体" panose="02010609060101010101" pitchFamily="49" charset="-122"/>
                <a:ea typeface="楷体" panose="02010609060101010101" pitchFamily="49" charset="-122"/>
                <a:cs typeface="Times New Roman" pitchFamily="18" charset="0"/>
              </a:rPr>
              <a:t>3.</a:t>
            </a:r>
            <a:r>
              <a:rPr lang="zh-CN" altLang="en-US" sz="2000" b="1" dirty="0">
                <a:latin typeface="楷体" panose="02010609060101010101" pitchFamily="49" charset="-122"/>
                <a:ea typeface="楷体" panose="02010609060101010101" pitchFamily="49" charset="-122"/>
                <a:cs typeface="Times New Roman" pitchFamily="18" charset="0"/>
              </a:rPr>
              <a:t>范围确认</a:t>
            </a:r>
            <a:r>
              <a:rPr lang="en-US" altLang="en-US" sz="2000" b="1"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龙先生通过和客户进行很好的沟通，尤其是公安局信息处的领导，告诉他们虽然项目范围确认是正式的，但并不意味这项目的范围就是铁板一块，不能再修改了，只是无论是现在更改范围还是将来更改范围，都会引起项目的时间，进度和资源的变化。</a:t>
            </a:r>
            <a:endParaRPr lang="en-US" altLang="zh-CN" sz="2000" dirty="0">
              <a:latin typeface="楷体" panose="02010609060101010101" pitchFamily="49" charset="-122"/>
              <a:ea typeface="楷体" panose="02010609060101010101" pitchFamily="49" charset="-122"/>
              <a:cs typeface="Times New Roman" pitchFamily="18" charset="0"/>
            </a:endParaRPr>
          </a:p>
          <a:p>
            <a:pPr marL="0">
              <a:lnSpc>
                <a:spcPct val="100000"/>
              </a:lnSpc>
              <a:spcBef>
                <a:spcPts val="600"/>
              </a:spcBef>
              <a:spcAft>
                <a:spcPts val="600"/>
              </a:spcAft>
              <a:buFont typeface="Wingdings" pitchFamily="2" charset="2"/>
              <a:buNone/>
              <a:defRPr/>
            </a:pPr>
            <a:r>
              <a:rPr lang="en-US" altLang="en-US" sz="2000" b="1" dirty="0">
                <a:latin typeface="楷体" panose="02010609060101010101" pitchFamily="49" charset="-122"/>
                <a:ea typeface="楷体" panose="02010609060101010101" pitchFamily="49" charset="-122"/>
                <a:cs typeface="Times New Roman" pitchFamily="18" charset="0"/>
              </a:rPr>
              <a:t>4.</a:t>
            </a:r>
            <a:r>
              <a:rPr lang="zh-CN" altLang="en-US" sz="2000" b="1" dirty="0">
                <a:latin typeface="楷体" panose="02010609060101010101" pitchFamily="49" charset="-122"/>
                <a:ea typeface="楷体" panose="02010609060101010101" pitchFamily="49" charset="-122"/>
                <a:cs typeface="Times New Roman" pitchFamily="18" charset="0"/>
              </a:rPr>
              <a:t>范围控制</a:t>
            </a:r>
            <a:r>
              <a:rPr lang="en-US" altLang="en-US" sz="2000" b="1"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为了更好的进行范围控制，龙先生设立项目变更委员会</a:t>
            </a:r>
            <a:r>
              <a:rPr lang="en-US" altLang="en-US" sz="2000" dirty="0">
                <a:latin typeface="楷体" panose="02010609060101010101" pitchFamily="49" charset="-122"/>
                <a:ea typeface="楷体" panose="02010609060101010101" pitchFamily="49" charset="-122"/>
                <a:cs typeface="Times New Roman" pitchFamily="18" charset="0"/>
              </a:rPr>
              <a:t>CCB</a:t>
            </a:r>
            <a:r>
              <a:rPr lang="zh-CN" altLang="en-US" sz="2000" dirty="0">
                <a:latin typeface="楷体" panose="02010609060101010101" pitchFamily="49" charset="-122"/>
                <a:ea typeface="楷体" panose="02010609060101010101" pitchFamily="49" charset="-122"/>
                <a:cs typeface="Times New Roman" pitchFamily="18" charset="0"/>
              </a:rPr>
              <a:t>，由首席信息官，甲方负责人和各组组长共</a:t>
            </a:r>
            <a:r>
              <a:rPr lang="en-US" altLang="en-US" sz="2000" dirty="0">
                <a:latin typeface="楷体" panose="02010609060101010101" pitchFamily="49" charset="-122"/>
                <a:ea typeface="楷体" panose="02010609060101010101" pitchFamily="49" charset="-122"/>
                <a:cs typeface="Times New Roman" pitchFamily="18" charset="0"/>
              </a:rPr>
              <a:t>5</a:t>
            </a:r>
            <a:r>
              <a:rPr lang="zh-CN" altLang="en-US" sz="2000" dirty="0">
                <a:latin typeface="楷体" panose="02010609060101010101" pitchFamily="49" charset="-122"/>
                <a:ea typeface="楷体" panose="02010609060101010101" pitchFamily="49" charset="-122"/>
                <a:cs typeface="Times New Roman" pitchFamily="18" charset="0"/>
              </a:rPr>
              <a:t>人组成，并制定了变更控制流程：范围变更说明文档－组长或副组长填写变更申请单－召开会议对变更所带来的影响进行分析、变更方案进行论证及评审－发出变更通知并开始实施－变更实施的监控－变更效果的评估，项目实施过程按照此控制流程进行执行。</a:t>
            </a:r>
          </a:p>
          <a:p>
            <a:pPr marL="0">
              <a:lnSpc>
                <a:spcPct val="100000"/>
              </a:lnSpc>
              <a:spcBef>
                <a:spcPts val="600"/>
              </a:spcBef>
              <a:spcAft>
                <a:spcPts val="600"/>
              </a:spcAft>
              <a:buFont typeface="Wingdings" pitchFamily="2" charset="2"/>
              <a:buNone/>
              <a:defRPr/>
            </a:pPr>
            <a:r>
              <a:rPr lang="en-US" altLang="zh-CN" sz="2000"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经过龙先生和项目团队的不懈努力，</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省公安厅警务地理信息基础平台项目于</a:t>
            </a:r>
            <a:r>
              <a:rPr lang="en-US" altLang="en-US" sz="2000" dirty="0">
                <a:latin typeface="楷体" panose="02010609060101010101" pitchFamily="49" charset="-122"/>
                <a:ea typeface="楷体" panose="02010609060101010101" pitchFamily="49" charset="-122"/>
                <a:cs typeface="Times New Roman" pitchFamily="18" charset="0"/>
              </a:rPr>
              <a:t>2012</a:t>
            </a:r>
            <a:r>
              <a:rPr lang="zh-CN" altLang="en-US" sz="2000" dirty="0">
                <a:latin typeface="楷体" panose="02010609060101010101" pitchFamily="49" charset="-122"/>
                <a:ea typeface="楷体" panose="02010609060101010101" pitchFamily="49" charset="-122"/>
                <a:cs typeface="Times New Roman" pitchFamily="18" charset="0"/>
              </a:rPr>
              <a:t>年</a:t>
            </a:r>
            <a:r>
              <a:rPr lang="en-US" altLang="en-US" sz="2000" dirty="0">
                <a:latin typeface="楷体" panose="02010609060101010101" pitchFamily="49" charset="-122"/>
                <a:ea typeface="楷体" panose="02010609060101010101" pitchFamily="49" charset="-122"/>
                <a:cs typeface="Times New Roman" pitchFamily="18" charset="0"/>
              </a:rPr>
              <a:t>10</a:t>
            </a:r>
            <a:r>
              <a:rPr lang="zh-CN" altLang="en-US" sz="2000" dirty="0">
                <a:latin typeface="楷体" panose="02010609060101010101" pitchFamily="49" charset="-122"/>
                <a:ea typeface="楷体" panose="02010609060101010101" pitchFamily="49" charset="-122"/>
                <a:cs typeface="Times New Roman" pitchFamily="18" charset="0"/>
              </a:rPr>
              <a:t>月通过业主验收，赢得了一致的好评，同时也说明了项目范围管理在整个项目建设中的重要作用。</a:t>
            </a:r>
          </a:p>
          <a:p>
            <a:pPr marL="0" indent="0" algn="just">
              <a:lnSpc>
                <a:spcPts val="2800"/>
              </a:lnSpc>
              <a:buFont typeface="Wingdings" pitchFamily="2" charset="2"/>
              <a:buNone/>
              <a:defRPr/>
            </a:pPr>
            <a:endParaRPr lang="zh-CN" altLang="en-US" sz="2000" dirty="0">
              <a:latin typeface="Times New Roman" pitchFamily="18" charset="0"/>
              <a:ea typeface="黑体" pitchFamily="2" charset="-122"/>
              <a:cs typeface="Times New Roman" pitchFamily="18" charset="0"/>
            </a:endParaRPr>
          </a:p>
          <a:p>
            <a:pPr marL="0" indent="0" algn="just">
              <a:lnSpc>
                <a:spcPts val="2800"/>
              </a:lnSpc>
              <a:buFont typeface="Wingdings" pitchFamily="2" charset="2"/>
              <a:buNone/>
              <a:defRPr/>
            </a:pPr>
            <a:endParaRPr lang="en-US" altLang="zh-CN" sz="2000" dirty="0">
              <a:latin typeface="Times New Roman" pitchFamily="18" charset="0"/>
              <a:ea typeface="黑体" pitchFamily="2" charset="-122"/>
              <a:cs typeface="Times New Roman" pitchFamily="18" charset="0"/>
            </a:endParaRPr>
          </a:p>
        </p:txBody>
      </p:sp>
      <p:sp>
        <p:nvSpPr>
          <p:cNvPr id="5" name="标题 4">
            <a:extLst>
              <a:ext uri="{FF2B5EF4-FFF2-40B4-BE49-F238E27FC236}">
                <a16:creationId xmlns:a16="http://schemas.microsoft.com/office/drawing/2014/main" id="{C3AE267F-8215-4A91-AD02-2DCE040B5BDD}"/>
              </a:ext>
            </a:extLst>
          </p:cNvPr>
          <p:cNvSpPr>
            <a:spLocks noGrp="1"/>
          </p:cNvSpPr>
          <p:nvPr>
            <p:ph type="title"/>
          </p:nvPr>
        </p:nvSpPr>
        <p:spPr>
          <a:xfrm>
            <a:off x="613885" y="764293"/>
            <a:ext cx="10972800" cy="437186"/>
          </a:xfrm>
        </p:spPr>
        <p:txBody>
          <a:bodyPr/>
          <a:lstStyle/>
          <a:p>
            <a:r>
              <a:rPr lang="zh-CN" altLang="en-US" dirty="0"/>
              <a:t>扩展阅读</a:t>
            </a:r>
          </a:p>
        </p:txBody>
      </p:sp>
      <p:sp>
        <p:nvSpPr>
          <p:cNvPr id="6" name="内容占位符 2">
            <a:extLst>
              <a:ext uri="{FF2B5EF4-FFF2-40B4-BE49-F238E27FC236}">
                <a16:creationId xmlns:a16="http://schemas.microsoft.com/office/drawing/2014/main" id="{64358A7C-DF84-4A16-8FA4-EE816BAE6744}"/>
              </a:ext>
            </a:extLst>
          </p:cNvPr>
          <p:cNvSpPr txBox="1">
            <a:spLocks/>
          </p:cNvSpPr>
          <p:nvPr/>
        </p:nvSpPr>
        <p:spPr>
          <a:xfrm>
            <a:off x="583199" y="4570136"/>
            <a:ext cx="11025601" cy="153936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项目的范围管理 </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http://www.mypm.net/bbs/article.asp?titleid=68842&amp;ntypeid=25</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旧金山地铁管制计划 </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http://www.mypm.net/case/show_case_content.asp?caseID=3465</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面对客户的需求变更，接受还是拒绝？</a:t>
            </a:r>
            <a:r>
              <a:rPr lang="en-US" altLang="zh-CN" sz="1800" dirty="0">
                <a:latin typeface="楷体" panose="02010609060101010101" pitchFamily="49" charset="-122"/>
                <a:ea typeface="楷体" panose="02010609060101010101" pitchFamily="49" charset="-122"/>
                <a:cs typeface="Times New Roman" pitchFamily="18" charset="0"/>
                <a:hlinkClick r:id="" action="ppaction://noaction"/>
              </a:rPr>
              <a:t>http://www.mypm.net/case/show_case_content.asp?caseID=2408</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如何实施电子政务项目 </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http://www.mypm.net/case/show_case_content.asp?caseID=40</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如何控制项目的范围？</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http://www.mypm.net/case/show_case_content.asp?caseID=2052</a:t>
            </a:r>
            <a:endParaRPr lang="zh-CN" altLang="en-US" sz="1800" dirty="0">
              <a:latin typeface="楷体" panose="02010609060101010101" pitchFamily="49" charset="-122"/>
              <a:ea typeface="楷体" panose="02010609060101010101" pitchFamily="49" charset="-122"/>
              <a:cs typeface="Times New Roman" pitchFamily="18" charset="0"/>
              <a:hlinkClick r:id="rId3"/>
            </a:endParaRPr>
          </a:p>
        </p:txBody>
      </p:sp>
    </p:spTree>
    <p:extLst>
      <p:ext uri="{BB962C8B-B14F-4D97-AF65-F5344CB8AC3E}">
        <p14:creationId xmlns:p14="http://schemas.microsoft.com/office/powerpoint/2010/main" val="4293854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E119F-E2BF-946C-2664-4E54415F04B7}"/>
              </a:ext>
            </a:extLst>
          </p:cNvPr>
          <p:cNvSpPr>
            <a:spLocks noGrp="1"/>
          </p:cNvSpPr>
          <p:nvPr>
            <p:ph type="title"/>
          </p:nvPr>
        </p:nvSpPr>
        <p:spPr>
          <a:xfrm>
            <a:off x="623200" y="1240543"/>
            <a:ext cx="1738790" cy="437186"/>
          </a:xfrm>
        </p:spPr>
        <p:txBody>
          <a:bodyPr/>
          <a:lstStyle/>
          <a:p>
            <a:r>
              <a:rPr lang="en-US" altLang="zh-CN" dirty="0"/>
              <a:t>WBS</a:t>
            </a:r>
            <a:r>
              <a:rPr lang="zh-CN" altLang="en-US" dirty="0"/>
              <a:t>示例</a:t>
            </a:r>
          </a:p>
        </p:txBody>
      </p:sp>
      <p:pic>
        <p:nvPicPr>
          <p:cNvPr id="3" name="图片 2">
            <a:extLst>
              <a:ext uri="{FF2B5EF4-FFF2-40B4-BE49-F238E27FC236}">
                <a16:creationId xmlns:a16="http://schemas.microsoft.com/office/drawing/2014/main" id="{E82D45D6-DDA7-9BAD-CF24-1C7D00CDC106}"/>
              </a:ext>
            </a:extLst>
          </p:cNvPr>
          <p:cNvPicPr>
            <a:picLocks noChangeAspect="1"/>
          </p:cNvPicPr>
          <p:nvPr/>
        </p:nvPicPr>
        <p:blipFill>
          <a:blip r:embed="rId3"/>
          <a:stretch>
            <a:fillRect/>
          </a:stretch>
        </p:blipFill>
        <p:spPr>
          <a:xfrm>
            <a:off x="2483374" y="764293"/>
            <a:ext cx="8425402" cy="5389331"/>
          </a:xfrm>
          <a:prstGeom prst="rect">
            <a:avLst/>
          </a:prstGeom>
        </p:spPr>
      </p:pic>
      <p:sp>
        <p:nvSpPr>
          <p:cNvPr id="4" name="文本框 3">
            <a:extLst>
              <a:ext uri="{FF2B5EF4-FFF2-40B4-BE49-F238E27FC236}">
                <a16:creationId xmlns:a16="http://schemas.microsoft.com/office/drawing/2014/main" id="{69AA8308-CEDB-B971-CA07-86709025C15C}"/>
              </a:ext>
            </a:extLst>
          </p:cNvPr>
          <p:cNvSpPr txBox="1"/>
          <p:nvPr/>
        </p:nvSpPr>
        <p:spPr>
          <a:xfrm>
            <a:off x="501816" y="4952317"/>
            <a:ext cx="2186741" cy="1015663"/>
          </a:xfrm>
          <a:prstGeom prst="rect">
            <a:avLst/>
          </a:prstGeom>
          <a:noFill/>
        </p:spPr>
        <p:txBody>
          <a:bodyPr wrap="square">
            <a:spAutoFit/>
          </a:bodyPr>
          <a:lstStyle/>
          <a:p>
            <a:r>
              <a:rPr lang="zh-CN" altLang="en-US" sz="2000" b="0" i="0" u="none" strike="noStrike" baseline="0" dirty="0">
                <a:latin typeface="SourceHanSansSC-Regular"/>
              </a:rPr>
              <a:t>以主要可交付成果作为分解的第二层</a:t>
            </a:r>
            <a:endParaRPr lang="zh-CN" altLang="en-US" sz="2000" dirty="0"/>
          </a:p>
        </p:txBody>
      </p:sp>
    </p:spTree>
    <p:extLst>
      <p:ext uri="{BB962C8B-B14F-4D97-AF65-F5344CB8AC3E}">
        <p14:creationId xmlns:p14="http://schemas.microsoft.com/office/powerpoint/2010/main" val="64785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65CC45-5FA7-4B38-A9B6-074C8DA9D1B7}"/>
              </a:ext>
            </a:extLst>
          </p:cNvPr>
          <p:cNvSpPr>
            <a:spLocks noGrp="1"/>
          </p:cNvSpPr>
          <p:nvPr>
            <p:ph type="title"/>
          </p:nvPr>
        </p:nvSpPr>
        <p:spPr/>
        <p:txBody>
          <a:bodyPr/>
          <a:lstStyle/>
          <a:p>
            <a:pPr algn="l"/>
            <a:r>
              <a:rPr lang="zh-CN" altLang="en-US" b="1" dirty="0">
                <a:solidFill>
                  <a:srgbClr val="FF0000"/>
                </a:solidFill>
              </a:rPr>
              <a:t>一个变更失控的项目管理案例</a:t>
            </a:r>
            <a:br>
              <a:rPr lang="zh-CN" altLang="en-US" b="1" dirty="0">
                <a:solidFill>
                  <a:srgbClr val="FF0000"/>
                </a:solidFill>
              </a:rPr>
            </a:br>
            <a:endParaRPr lang="zh-CN" altLang="en-US" dirty="0"/>
          </a:p>
        </p:txBody>
      </p:sp>
      <p:sp>
        <p:nvSpPr>
          <p:cNvPr id="4" name="文本框 3">
            <a:extLst>
              <a:ext uri="{FF2B5EF4-FFF2-40B4-BE49-F238E27FC236}">
                <a16:creationId xmlns:a16="http://schemas.microsoft.com/office/drawing/2014/main" id="{1C5FA5CE-56F2-4ED8-B479-CC025C48B394}"/>
              </a:ext>
            </a:extLst>
          </p:cNvPr>
          <p:cNvSpPr txBox="1"/>
          <p:nvPr/>
        </p:nvSpPr>
        <p:spPr>
          <a:xfrm>
            <a:off x="609600" y="1225689"/>
            <a:ext cx="10972799" cy="5355312"/>
          </a:xfrm>
          <a:prstGeom prst="rect">
            <a:avLst/>
          </a:prstGeom>
          <a:noFill/>
        </p:spPr>
        <p:txBody>
          <a:bodyPr wrap="square">
            <a:spAutoFit/>
          </a:bodyPr>
          <a:lstStyle/>
          <a:p>
            <a:r>
              <a:rPr lang="zh-CN" altLang="en-US" sz="1900" dirty="0"/>
              <a:t>    </a:t>
            </a:r>
            <a:r>
              <a:rPr lang="zh-CN" altLang="en-US" sz="1900" dirty="0">
                <a:latin typeface="微软雅黑" panose="020B0503020204020204" pitchFamily="34" charset="-122"/>
                <a:ea typeface="微软雅黑" panose="020B0503020204020204" pitchFamily="34" charset="-122"/>
              </a:rPr>
              <a:t>王先生刚出任项目经理，并承接了一个中型软件项目。上任时公司高层再三叮咛他一定要尊重客户，充分满足客户需求。项目开始比较顺利，但进入到后期，客户频繁的需求变更带来很多额外工作。王先生动员大家加班，保持了项目的正常进度，客户相当满意。 </a:t>
            </a:r>
          </a:p>
          <a:p>
            <a:r>
              <a:rPr lang="zh-CN" altLang="en-US" sz="1900" dirty="0">
                <a:latin typeface="微软雅黑" panose="020B0503020204020204" pitchFamily="34" charset="-122"/>
                <a:ea typeface="微软雅黑" panose="020B0503020204020204" pitchFamily="34" charset="-122"/>
              </a:rPr>
              <a:t>    但需求变更却越来越多。为了节省时间，客户的业务人员不再向王先生申请变更，而是直接找程序员商量。程序员疲于应付，往往直接改程序而不作任何记录，很多相关文档也忘记修改。很快王先生就发现：需求、设计和代码无法保持一致，甚至没有人能说清楚现在系统“到底该成什么样了”。版本管理也出现了混乱，很多人违反配置管理规定，直接在测试环境中修改和编译程序。但在进度压力下，他也只能佯装不知此事。但因频繁出现“改好的错误又重新出现”的问题，客户已明确表示“失去了耐心”。</a:t>
            </a:r>
          </a:p>
          <a:p>
            <a:r>
              <a:rPr lang="zh-CN" altLang="en-US" sz="1900" dirty="0">
                <a:latin typeface="微软雅黑" panose="020B0503020204020204" pitchFamily="34" charset="-122"/>
                <a:ea typeface="微软雅黑" panose="020B0503020204020204" pitchFamily="34" charset="-122"/>
              </a:rPr>
              <a:t>    而这还只是噩梦的开始。一个程序员未经许可擅自修改了核心模块，造成系统运行异常缓慢，大量应用程序超时退出。虽然最终花费了整整</a:t>
            </a:r>
            <a:r>
              <a:rPr lang="en-US" altLang="zh-CN" sz="1900" dirty="0">
                <a:latin typeface="微软雅黑" panose="020B0503020204020204" pitchFamily="34" charset="-122"/>
                <a:ea typeface="微软雅黑" panose="020B0503020204020204" pitchFamily="34" charset="-122"/>
              </a:rPr>
              <a:t>3</a:t>
            </a:r>
            <a:r>
              <a:rPr lang="zh-CN" altLang="en-US" sz="1900" dirty="0">
                <a:latin typeface="微软雅黑" panose="020B0503020204020204" pitchFamily="34" charset="-122"/>
                <a:ea typeface="微软雅黑" panose="020B0503020204020204" pitchFamily="34" charset="-122"/>
              </a:rPr>
              <a:t>天时间解决了这个问题，但客户却投诉了，表示“无法容忍这种低下的项目管理水平”。</a:t>
            </a:r>
          </a:p>
          <a:p>
            <a:r>
              <a:rPr lang="zh-CN" altLang="en-US" sz="1900" dirty="0">
                <a:latin typeface="微软雅黑" panose="020B0503020204020204" pitchFamily="34" charset="-122"/>
                <a:ea typeface="微软雅黑" panose="020B0503020204020204" pitchFamily="34" charset="-122"/>
              </a:rPr>
              <a:t>    更糟糕的是，因为担心系统中还隐含着其他类似的错误，客户高层对项目的质量也疑虑重重。</a:t>
            </a:r>
          </a:p>
          <a:p>
            <a:r>
              <a:rPr lang="zh-CN" altLang="en-US" sz="1900" dirty="0">
                <a:latin typeface="微软雅黑" panose="020B0503020204020204" pitchFamily="34" charset="-122"/>
                <a:ea typeface="微软雅黑" panose="020B0503020204020204" pitchFamily="34" charset="-122"/>
              </a:rPr>
              <a:t>    随后发生的事情让王先生更加为难：客户的两个负责人对界面风格的看法不一致，并为此发生了激烈的争执。王先生知道如果发表意见可能会得罪其中一方，于是保持了沉默。最终客户决定调整所有界面，王先生只好动员大家抓紧时间修改。可后来当听说因修改界面而造成了项目一周的延误后，客户方原来发生争执的两人这次却非常一致，同时质问王先生：“为什么你不早点告诉我们要延期！早知这样才不会让你改呢！”王先生委屈极了，疑惑自己到底错在哪里了。 </a:t>
            </a:r>
          </a:p>
        </p:txBody>
      </p:sp>
    </p:spTree>
    <p:extLst>
      <p:ext uri="{BB962C8B-B14F-4D97-AF65-F5344CB8AC3E}">
        <p14:creationId xmlns:p14="http://schemas.microsoft.com/office/powerpoint/2010/main" val="180293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052F120-8901-45D0-B822-C93D8CC4E887}"/>
              </a:ext>
            </a:extLst>
          </p:cNvPr>
          <p:cNvGraphicFramePr>
            <a:graphicFrameLocks noGrp="1"/>
          </p:cNvGraphicFramePr>
          <p:nvPr/>
        </p:nvGraphicFramePr>
        <p:xfrm>
          <a:off x="1631949" y="958651"/>
          <a:ext cx="8928101" cy="5575306"/>
        </p:xfrm>
        <a:graphic>
          <a:graphicData uri="http://schemas.openxmlformats.org/drawingml/2006/table">
            <a:tbl>
              <a:tblPr/>
              <a:tblGrid>
                <a:gridCol w="239145">
                  <a:extLst>
                    <a:ext uri="{9D8B030D-6E8A-4147-A177-3AD203B41FA5}">
                      <a16:colId xmlns:a16="http://schemas.microsoft.com/office/drawing/2014/main" val="20000"/>
                    </a:ext>
                  </a:extLst>
                </a:gridCol>
                <a:gridCol w="1036297">
                  <a:extLst>
                    <a:ext uri="{9D8B030D-6E8A-4147-A177-3AD203B41FA5}">
                      <a16:colId xmlns:a16="http://schemas.microsoft.com/office/drawing/2014/main" val="20001"/>
                    </a:ext>
                  </a:extLst>
                </a:gridCol>
                <a:gridCol w="1275443">
                  <a:extLst>
                    <a:ext uri="{9D8B030D-6E8A-4147-A177-3AD203B41FA5}">
                      <a16:colId xmlns:a16="http://schemas.microsoft.com/office/drawing/2014/main" val="20002"/>
                    </a:ext>
                  </a:extLst>
                </a:gridCol>
                <a:gridCol w="1674018">
                  <a:extLst>
                    <a:ext uri="{9D8B030D-6E8A-4147-A177-3AD203B41FA5}">
                      <a16:colId xmlns:a16="http://schemas.microsoft.com/office/drawing/2014/main" val="20003"/>
                    </a:ext>
                  </a:extLst>
                </a:gridCol>
                <a:gridCol w="1674018">
                  <a:extLst>
                    <a:ext uri="{9D8B030D-6E8A-4147-A177-3AD203B41FA5}">
                      <a16:colId xmlns:a16="http://schemas.microsoft.com/office/drawing/2014/main" val="20004"/>
                    </a:ext>
                  </a:extLst>
                </a:gridCol>
                <a:gridCol w="1594304">
                  <a:extLst>
                    <a:ext uri="{9D8B030D-6E8A-4147-A177-3AD203B41FA5}">
                      <a16:colId xmlns:a16="http://schemas.microsoft.com/office/drawing/2014/main" val="20005"/>
                    </a:ext>
                  </a:extLst>
                </a:gridCol>
                <a:gridCol w="1434876">
                  <a:extLst>
                    <a:ext uri="{9D8B030D-6E8A-4147-A177-3AD203B41FA5}">
                      <a16:colId xmlns:a16="http://schemas.microsoft.com/office/drawing/2014/main" val="20006"/>
                    </a:ext>
                  </a:extLst>
                </a:gridCol>
              </a:tblGrid>
              <a:tr h="211074">
                <a:tc rowSpan="12">
                  <a:txBody>
                    <a:bodyPr/>
                    <a:lstStyle/>
                    <a:p>
                      <a:pPr algn="l"/>
                      <a:r>
                        <a:rPr lang="zh-CN" altLang="en-US" sz="1200" b="1">
                          <a:solidFill>
                            <a:schemeClr val="tx1"/>
                          </a:solidFill>
                          <a:effectLst/>
                        </a:rPr>
                        <a:t>十</a:t>
                      </a:r>
                    </a:p>
                    <a:p>
                      <a:pPr algn="l"/>
                      <a:r>
                        <a:rPr lang="zh-CN" altLang="en-US" sz="1200" b="1">
                          <a:solidFill>
                            <a:schemeClr val="tx1"/>
                          </a:solidFill>
                          <a:effectLst/>
                        </a:rPr>
                        <a:t>大</a:t>
                      </a:r>
                    </a:p>
                    <a:p>
                      <a:pPr algn="l"/>
                      <a:r>
                        <a:rPr lang="zh-CN" altLang="en-US" sz="1200" b="1">
                          <a:solidFill>
                            <a:schemeClr val="tx1"/>
                          </a:solidFill>
                          <a:effectLst/>
                        </a:rPr>
                        <a:t>知</a:t>
                      </a:r>
                    </a:p>
                    <a:p>
                      <a:pPr algn="l"/>
                      <a:r>
                        <a:rPr lang="zh-CN" altLang="en-US" sz="1200" b="1">
                          <a:solidFill>
                            <a:schemeClr val="tx1"/>
                          </a:solidFill>
                          <a:effectLst/>
                        </a:rPr>
                        <a:t>识</a:t>
                      </a:r>
                    </a:p>
                    <a:p>
                      <a:pPr algn="l"/>
                      <a:r>
                        <a:rPr lang="zh-CN" altLang="en-US" sz="1200" b="1">
                          <a:solidFill>
                            <a:schemeClr val="tx1"/>
                          </a:solidFill>
                          <a:effectLst/>
                        </a:rPr>
                        <a:t>领</a:t>
                      </a:r>
                    </a:p>
                    <a:p>
                      <a:pPr algn="l"/>
                      <a:r>
                        <a:rPr lang="zh-CN" altLang="en-US" sz="1200" b="1">
                          <a:solidFill>
                            <a:schemeClr val="tx1"/>
                          </a:solidFill>
                          <a:effectLst/>
                        </a:rPr>
                        <a:t>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rowSpan="2">
                  <a:txBody>
                    <a:bodyPr/>
                    <a:lstStyle/>
                    <a:p>
                      <a:pPr algn="l"/>
                      <a:r>
                        <a:rPr lang="zh-CN" altLang="en-US" sz="1200" b="1" dirty="0">
                          <a:solidFill>
                            <a:schemeClr val="tx1"/>
                          </a:solidFill>
                          <a:effectLst/>
                        </a:rPr>
                        <a:t>  </a:t>
                      </a:r>
                      <a:r>
                        <a:rPr lang="en-US" altLang="zh-CN" sz="1200" b="1" dirty="0">
                          <a:solidFill>
                            <a:schemeClr val="tx1"/>
                          </a:solidFill>
                          <a:effectLst/>
                        </a:rPr>
                        <a:t>49</a:t>
                      </a:r>
                      <a:r>
                        <a:rPr lang="zh-CN" altLang="en-US" sz="1200" b="1" dirty="0">
                          <a:solidFill>
                            <a:schemeClr val="tx1"/>
                          </a:solidFill>
                          <a:effectLst/>
                        </a:rPr>
                        <a:t>个子过程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gridSpan="5">
                  <a:txBody>
                    <a:bodyPr/>
                    <a:lstStyle/>
                    <a:p>
                      <a:pPr algn="ctr"/>
                      <a:r>
                        <a:rPr lang="zh-CN" altLang="en-US" sz="1200" b="1" dirty="0">
                          <a:solidFill>
                            <a:schemeClr val="tx1"/>
                          </a:solidFill>
                          <a:effectLst/>
                        </a:rPr>
                        <a:t>五大过程组</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11074">
                <a:tc vMerge="1">
                  <a:txBody>
                    <a:bodyPr/>
                    <a:lstStyle/>
                    <a:p>
                      <a:endParaRPr lang="zh-CN" altLang="en-US"/>
                    </a:p>
                  </a:txBody>
                  <a:tcPr/>
                </a:tc>
                <a:tc vMerge="1">
                  <a:txBody>
                    <a:bodyPr/>
                    <a:lstStyle/>
                    <a:p>
                      <a:endParaRPr lang="zh-CN" altLang="en-US"/>
                    </a:p>
                  </a:txBody>
                  <a:tcPr/>
                </a:tc>
                <a:tc>
                  <a:txBody>
                    <a:bodyPr/>
                    <a:lstStyle/>
                    <a:p>
                      <a:pPr algn="ctr"/>
                      <a:r>
                        <a:rPr lang="zh-CN" altLang="en-US" sz="1200" b="1" dirty="0">
                          <a:solidFill>
                            <a:schemeClr val="tx1"/>
                          </a:solidFill>
                          <a:effectLst/>
                        </a:rPr>
                        <a:t>启动</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规划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a:solidFill>
                            <a:schemeClr val="tx1"/>
                          </a:solidFill>
                          <a:effectLst/>
                        </a:rPr>
                        <a:t>执行</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监控</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收尾</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396860">
                <a:tc vMerge="1">
                  <a:txBody>
                    <a:bodyPr/>
                    <a:lstStyle/>
                    <a:p>
                      <a:endParaRPr lang="zh-CN" altLang="en-US"/>
                    </a:p>
                  </a:txBody>
                  <a:tcPr/>
                </a:tc>
                <a:tc>
                  <a:txBody>
                    <a:bodyPr/>
                    <a:lstStyle/>
                    <a:p>
                      <a:pPr algn="l"/>
                      <a:r>
                        <a:rPr lang="en-US" altLang="zh-CN" sz="1200" b="1" dirty="0">
                          <a:solidFill>
                            <a:schemeClr val="tx1"/>
                          </a:solidFill>
                          <a:effectLst/>
                        </a:rPr>
                        <a:t>1</a:t>
                      </a:r>
                      <a:r>
                        <a:rPr lang="zh-CN" altLang="en-US" sz="1200" b="1" dirty="0">
                          <a:solidFill>
                            <a:schemeClr val="tx1"/>
                          </a:solidFill>
                          <a:effectLst/>
                        </a:rPr>
                        <a:t>整合管理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1.1</a:t>
                      </a:r>
                      <a:r>
                        <a:rPr lang="zh-CN" altLang="en-US" sz="1200" b="1" dirty="0">
                          <a:solidFill>
                            <a:schemeClr val="tx1"/>
                          </a:solidFill>
                          <a:effectLst/>
                        </a:rPr>
                        <a:t>制定项目章程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1.2</a:t>
                      </a:r>
                      <a:r>
                        <a:rPr lang="zh-CN" altLang="en-US" sz="1200" b="1" dirty="0">
                          <a:solidFill>
                            <a:schemeClr val="tx1"/>
                          </a:solidFill>
                          <a:effectLst/>
                        </a:rPr>
                        <a:t>制定项目管理计划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1.3</a:t>
                      </a:r>
                      <a:r>
                        <a:rPr lang="zh-CN" altLang="en-US" sz="1200" b="1" dirty="0">
                          <a:solidFill>
                            <a:schemeClr val="tx1"/>
                          </a:solidFill>
                          <a:effectLst/>
                        </a:rPr>
                        <a:t>指导和管理项目工作</a:t>
                      </a:r>
                    </a:p>
                    <a:p>
                      <a:pPr algn="l"/>
                      <a:r>
                        <a:rPr lang="en-US" altLang="zh-CN" sz="1200" b="1" dirty="0">
                          <a:solidFill>
                            <a:schemeClr val="tx1"/>
                          </a:solidFill>
                          <a:effectLst/>
                        </a:rPr>
                        <a:t>1.4</a:t>
                      </a:r>
                      <a:r>
                        <a:rPr lang="zh-CN" altLang="en-US" sz="1200" b="1" dirty="0">
                          <a:solidFill>
                            <a:schemeClr val="tx1"/>
                          </a:solidFill>
                          <a:effectLst/>
                        </a:rPr>
                        <a:t>管理项目知识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1.5</a:t>
                      </a:r>
                      <a:r>
                        <a:rPr lang="zh-CN" altLang="en-US" sz="1200" b="1">
                          <a:solidFill>
                            <a:schemeClr val="tx1"/>
                          </a:solidFill>
                          <a:effectLst/>
                        </a:rPr>
                        <a:t>监控项目工作</a:t>
                      </a:r>
                    </a:p>
                    <a:p>
                      <a:pPr algn="l"/>
                      <a:r>
                        <a:rPr lang="en-US" altLang="zh-CN" sz="1200" b="1">
                          <a:solidFill>
                            <a:schemeClr val="tx1"/>
                          </a:solidFill>
                          <a:effectLst/>
                        </a:rPr>
                        <a:t>1.6</a:t>
                      </a:r>
                      <a:r>
                        <a:rPr lang="zh-CN" altLang="en-US" sz="1200" b="1">
                          <a:solidFill>
                            <a:schemeClr val="tx1"/>
                          </a:solidFill>
                          <a:effectLst/>
                        </a:rPr>
                        <a:t>实施整体变更控制</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1.7</a:t>
                      </a:r>
                      <a:r>
                        <a:rPr lang="zh-CN" altLang="en-US" sz="1200" b="1">
                          <a:solidFill>
                            <a:schemeClr val="tx1"/>
                          </a:solidFill>
                          <a:effectLst/>
                        </a:rPr>
                        <a:t>结束项目或阶段</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59713">
                <a:tc vMerge="1">
                  <a:txBody>
                    <a:bodyPr/>
                    <a:lstStyle/>
                    <a:p>
                      <a:endParaRPr lang="zh-CN" altLang="en-US"/>
                    </a:p>
                  </a:txBody>
                  <a:tcPr/>
                </a:tc>
                <a:tc>
                  <a:txBody>
                    <a:bodyPr/>
                    <a:lstStyle/>
                    <a:p>
                      <a:pPr algn="l"/>
                      <a:r>
                        <a:rPr lang="en-US" altLang="zh-CN" sz="1200" b="1" dirty="0">
                          <a:solidFill>
                            <a:schemeClr val="tx1"/>
                          </a:solidFill>
                          <a:effectLst/>
                        </a:rPr>
                        <a:t>2</a:t>
                      </a:r>
                      <a:r>
                        <a:rPr lang="zh-CN" altLang="en-US" sz="1200" b="1" dirty="0">
                          <a:solidFill>
                            <a:schemeClr val="tx1"/>
                          </a:solidFill>
                          <a:effectLst/>
                        </a:rPr>
                        <a:t>范围管理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2.1</a:t>
                      </a:r>
                      <a:r>
                        <a:rPr lang="zh-CN" altLang="en-US" sz="1200" b="1" dirty="0">
                          <a:solidFill>
                            <a:schemeClr val="tx1"/>
                          </a:solidFill>
                          <a:effectLst/>
                        </a:rPr>
                        <a:t>规划范围管理</a:t>
                      </a:r>
                    </a:p>
                    <a:p>
                      <a:pPr algn="l"/>
                      <a:r>
                        <a:rPr lang="en-US" altLang="zh-CN" sz="1200" b="1" dirty="0">
                          <a:solidFill>
                            <a:schemeClr val="tx1"/>
                          </a:solidFill>
                          <a:effectLst/>
                        </a:rPr>
                        <a:t>2.2</a:t>
                      </a:r>
                      <a:r>
                        <a:rPr lang="zh-CN" altLang="en-US" sz="1200" b="1" dirty="0">
                          <a:solidFill>
                            <a:schemeClr val="tx1"/>
                          </a:solidFill>
                          <a:effectLst/>
                        </a:rPr>
                        <a:t>收集需求</a:t>
                      </a:r>
                    </a:p>
                    <a:p>
                      <a:pPr algn="l"/>
                      <a:r>
                        <a:rPr lang="en-US" altLang="zh-CN" sz="1200" b="1" dirty="0">
                          <a:solidFill>
                            <a:schemeClr val="tx1"/>
                          </a:solidFill>
                          <a:effectLst/>
                        </a:rPr>
                        <a:t>2.3</a:t>
                      </a:r>
                      <a:r>
                        <a:rPr lang="zh-CN" altLang="en-US" sz="1200" b="1" dirty="0">
                          <a:solidFill>
                            <a:schemeClr val="tx1"/>
                          </a:solidFill>
                          <a:effectLst/>
                        </a:rPr>
                        <a:t>定义范围</a:t>
                      </a:r>
                    </a:p>
                    <a:p>
                      <a:pPr algn="l"/>
                      <a:r>
                        <a:rPr lang="en-US" altLang="zh-CN" sz="1200" b="1" dirty="0">
                          <a:solidFill>
                            <a:schemeClr val="tx1"/>
                          </a:solidFill>
                          <a:effectLst/>
                        </a:rPr>
                        <a:t>2.4</a:t>
                      </a:r>
                      <a:r>
                        <a:rPr lang="zh-CN" altLang="en-US" sz="1200" b="1" dirty="0">
                          <a:solidFill>
                            <a:schemeClr val="tx1"/>
                          </a:solidFill>
                          <a:effectLst/>
                        </a:rPr>
                        <a:t>创建</a:t>
                      </a:r>
                      <a:r>
                        <a:rPr lang="en-US" altLang="zh-CN" sz="1200" b="1" dirty="0">
                          <a:solidFill>
                            <a:schemeClr val="tx1"/>
                          </a:solidFill>
                          <a:effectLst/>
                        </a:rPr>
                        <a:t>WBS</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2.5</a:t>
                      </a:r>
                      <a:r>
                        <a:rPr lang="zh-CN" altLang="en-US" sz="1200" b="1" dirty="0">
                          <a:solidFill>
                            <a:schemeClr val="tx1"/>
                          </a:solidFill>
                          <a:effectLst/>
                        </a:rPr>
                        <a:t>确认范围</a:t>
                      </a:r>
                    </a:p>
                    <a:p>
                      <a:pPr algn="l"/>
                      <a:r>
                        <a:rPr lang="en-US" altLang="zh-CN" sz="1200" b="1" dirty="0">
                          <a:solidFill>
                            <a:schemeClr val="tx1"/>
                          </a:solidFill>
                          <a:effectLst/>
                        </a:rPr>
                        <a:t>2.6</a:t>
                      </a:r>
                      <a:r>
                        <a:rPr lang="zh-CN" altLang="en-US" sz="1200" b="1" dirty="0">
                          <a:solidFill>
                            <a:schemeClr val="tx1"/>
                          </a:solidFill>
                          <a:effectLst/>
                        </a:rPr>
                        <a:t>控制范围</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942592">
                <a:tc vMerge="1">
                  <a:txBody>
                    <a:bodyPr/>
                    <a:lstStyle/>
                    <a:p>
                      <a:endParaRPr lang="zh-CN" altLang="en-US"/>
                    </a:p>
                  </a:txBody>
                  <a:tcPr/>
                </a:tc>
                <a:tc>
                  <a:txBody>
                    <a:bodyPr/>
                    <a:lstStyle/>
                    <a:p>
                      <a:pPr algn="l"/>
                      <a:r>
                        <a:rPr lang="en-US" altLang="zh-CN" sz="1200" b="1" dirty="0">
                          <a:solidFill>
                            <a:schemeClr val="tx1"/>
                          </a:solidFill>
                          <a:effectLst/>
                        </a:rPr>
                        <a:t>3</a:t>
                      </a:r>
                      <a:r>
                        <a:rPr lang="zh-CN" altLang="en-US" sz="1200" b="1" dirty="0">
                          <a:solidFill>
                            <a:schemeClr val="tx1"/>
                          </a:solidFill>
                          <a:effectLst/>
                        </a:rPr>
                        <a:t>进度管理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3.1</a:t>
                      </a:r>
                      <a:r>
                        <a:rPr lang="zh-CN" altLang="en-US" sz="1200" b="1" dirty="0">
                          <a:solidFill>
                            <a:schemeClr val="tx1"/>
                          </a:solidFill>
                          <a:effectLst/>
                        </a:rPr>
                        <a:t>规划进度管理</a:t>
                      </a:r>
                    </a:p>
                    <a:p>
                      <a:pPr algn="l"/>
                      <a:r>
                        <a:rPr lang="en-US" altLang="zh-CN" sz="1200" b="1" dirty="0">
                          <a:solidFill>
                            <a:schemeClr val="tx1"/>
                          </a:solidFill>
                          <a:effectLst/>
                        </a:rPr>
                        <a:t>3.2</a:t>
                      </a:r>
                      <a:r>
                        <a:rPr lang="zh-CN" altLang="en-US" sz="1200" b="1" dirty="0">
                          <a:solidFill>
                            <a:schemeClr val="tx1"/>
                          </a:solidFill>
                          <a:effectLst/>
                        </a:rPr>
                        <a:t>定义活动</a:t>
                      </a:r>
                    </a:p>
                    <a:p>
                      <a:pPr algn="l"/>
                      <a:r>
                        <a:rPr lang="en-US" altLang="zh-CN" sz="1200" b="1" dirty="0">
                          <a:solidFill>
                            <a:schemeClr val="tx1"/>
                          </a:solidFill>
                          <a:effectLst/>
                        </a:rPr>
                        <a:t>3.3</a:t>
                      </a:r>
                      <a:r>
                        <a:rPr lang="zh-CN" altLang="en-US" sz="1200" b="1" dirty="0">
                          <a:solidFill>
                            <a:schemeClr val="tx1"/>
                          </a:solidFill>
                          <a:effectLst/>
                        </a:rPr>
                        <a:t>排列活动顺序</a:t>
                      </a:r>
                    </a:p>
                    <a:p>
                      <a:pPr algn="l"/>
                      <a:r>
                        <a:rPr lang="en-US" altLang="zh-CN" sz="1200" b="1" dirty="0">
                          <a:solidFill>
                            <a:schemeClr val="tx1"/>
                          </a:solidFill>
                          <a:effectLst/>
                        </a:rPr>
                        <a:t>3.4</a:t>
                      </a:r>
                      <a:r>
                        <a:rPr lang="zh-CN" altLang="en-US" sz="1200" b="1" dirty="0">
                          <a:solidFill>
                            <a:schemeClr val="tx1"/>
                          </a:solidFill>
                          <a:effectLst/>
                        </a:rPr>
                        <a:t>估算活动持续时间</a:t>
                      </a:r>
                    </a:p>
                    <a:p>
                      <a:pPr algn="l"/>
                      <a:r>
                        <a:rPr lang="en-US" altLang="zh-CN" sz="1200" b="1" dirty="0">
                          <a:solidFill>
                            <a:schemeClr val="tx1"/>
                          </a:solidFill>
                          <a:effectLst/>
                        </a:rPr>
                        <a:t>3.5</a:t>
                      </a:r>
                      <a:r>
                        <a:rPr lang="zh-CN" altLang="en-US" sz="1200" b="1" dirty="0">
                          <a:solidFill>
                            <a:schemeClr val="tx1"/>
                          </a:solidFill>
                          <a:effectLst/>
                        </a:rPr>
                        <a:t>制定进度计划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3.6</a:t>
                      </a:r>
                      <a:r>
                        <a:rPr lang="zh-CN" altLang="en-US" sz="1200" b="1" dirty="0">
                          <a:solidFill>
                            <a:schemeClr val="tx1"/>
                          </a:solidFill>
                          <a:effectLst/>
                        </a:rPr>
                        <a:t>控制进度</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6833">
                <a:tc vMerge="1">
                  <a:txBody>
                    <a:bodyPr/>
                    <a:lstStyle/>
                    <a:p>
                      <a:endParaRPr lang="zh-CN" altLang="en-US"/>
                    </a:p>
                  </a:txBody>
                  <a:tcPr/>
                </a:tc>
                <a:tc>
                  <a:txBody>
                    <a:bodyPr/>
                    <a:lstStyle/>
                    <a:p>
                      <a:pPr algn="l"/>
                      <a:r>
                        <a:rPr lang="en-US" altLang="zh-CN" sz="1200" b="1" dirty="0">
                          <a:solidFill>
                            <a:schemeClr val="tx1"/>
                          </a:solidFill>
                          <a:effectLst/>
                        </a:rPr>
                        <a:t>4</a:t>
                      </a:r>
                      <a:r>
                        <a:rPr lang="zh-CN" altLang="en-US" sz="1200" b="1" dirty="0">
                          <a:solidFill>
                            <a:schemeClr val="tx1"/>
                          </a:solidFill>
                          <a:effectLst/>
                        </a:rPr>
                        <a:t>成本管理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4.1</a:t>
                      </a:r>
                      <a:r>
                        <a:rPr lang="zh-CN" altLang="en-US" sz="1200" b="1" dirty="0">
                          <a:solidFill>
                            <a:schemeClr val="tx1"/>
                          </a:solidFill>
                          <a:effectLst/>
                        </a:rPr>
                        <a:t>规划成本管理</a:t>
                      </a:r>
                    </a:p>
                    <a:p>
                      <a:pPr algn="l"/>
                      <a:r>
                        <a:rPr lang="en-US" altLang="zh-CN" sz="1200" b="1" dirty="0">
                          <a:solidFill>
                            <a:schemeClr val="tx1"/>
                          </a:solidFill>
                          <a:effectLst/>
                        </a:rPr>
                        <a:t>4.2</a:t>
                      </a:r>
                      <a:r>
                        <a:rPr lang="zh-CN" altLang="en-US" sz="1200" b="1" dirty="0">
                          <a:solidFill>
                            <a:schemeClr val="tx1"/>
                          </a:solidFill>
                          <a:effectLst/>
                        </a:rPr>
                        <a:t>估算成本</a:t>
                      </a:r>
                    </a:p>
                    <a:p>
                      <a:pPr algn="l"/>
                      <a:r>
                        <a:rPr lang="en-US" altLang="zh-CN" sz="1200" b="1" dirty="0">
                          <a:solidFill>
                            <a:schemeClr val="tx1"/>
                          </a:solidFill>
                          <a:effectLst/>
                        </a:rPr>
                        <a:t>4.3</a:t>
                      </a:r>
                      <a:r>
                        <a:rPr lang="zh-CN" altLang="en-US" sz="1200" b="1" dirty="0">
                          <a:solidFill>
                            <a:schemeClr val="tx1"/>
                          </a:solidFill>
                          <a:effectLst/>
                        </a:rPr>
                        <a:t>制定预算</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4.4</a:t>
                      </a:r>
                      <a:r>
                        <a:rPr lang="zh-CN" altLang="en-US" sz="1200" b="1" dirty="0">
                          <a:solidFill>
                            <a:schemeClr val="tx1"/>
                          </a:solidFill>
                          <a:effectLst/>
                        </a:rPr>
                        <a:t>控制成本</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5"/>
                  </a:ext>
                </a:extLst>
              </a:tr>
              <a:tr h="211074">
                <a:tc vMerge="1">
                  <a:txBody>
                    <a:bodyPr/>
                    <a:lstStyle/>
                    <a:p>
                      <a:endParaRPr lang="zh-CN" altLang="en-US"/>
                    </a:p>
                  </a:txBody>
                  <a:tcPr/>
                </a:tc>
                <a:tc>
                  <a:txBody>
                    <a:bodyPr/>
                    <a:lstStyle/>
                    <a:p>
                      <a:pPr algn="l"/>
                      <a:r>
                        <a:rPr lang="en-US" altLang="zh-CN" sz="1200" b="1" dirty="0">
                          <a:solidFill>
                            <a:schemeClr val="tx1"/>
                          </a:solidFill>
                          <a:effectLst/>
                        </a:rPr>
                        <a:t>5</a:t>
                      </a:r>
                      <a:r>
                        <a:rPr lang="zh-CN" altLang="en-US" sz="1200" b="1" dirty="0">
                          <a:solidFill>
                            <a:schemeClr val="tx1"/>
                          </a:solidFill>
                          <a:effectLst/>
                        </a:rPr>
                        <a:t>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5.1</a:t>
                      </a:r>
                      <a:r>
                        <a:rPr lang="zh-CN" altLang="en-US" sz="1200" b="1">
                          <a:solidFill>
                            <a:schemeClr val="tx1"/>
                          </a:solidFill>
                          <a:effectLst/>
                        </a:rPr>
                        <a:t>规划质量管理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5.2</a:t>
                      </a:r>
                      <a:r>
                        <a:rPr lang="zh-CN" altLang="en-US" sz="1200" b="1">
                          <a:solidFill>
                            <a:schemeClr val="tx1"/>
                          </a:solidFill>
                          <a:effectLst/>
                        </a:rPr>
                        <a:t>管理质量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5.3</a:t>
                      </a:r>
                      <a:r>
                        <a:rPr lang="zh-CN" altLang="en-US" sz="1200" b="1">
                          <a:solidFill>
                            <a:schemeClr val="tx1"/>
                          </a:solidFill>
                          <a:effectLst/>
                        </a:rPr>
                        <a:t>控制质量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6833">
                <a:tc vMerge="1">
                  <a:txBody>
                    <a:bodyPr/>
                    <a:lstStyle/>
                    <a:p>
                      <a:endParaRPr lang="zh-CN" altLang="en-US"/>
                    </a:p>
                  </a:txBody>
                  <a:tcPr/>
                </a:tc>
                <a:tc>
                  <a:txBody>
                    <a:bodyPr/>
                    <a:lstStyle/>
                    <a:p>
                      <a:pPr algn="l"/>
                      <a:r>
                        <a:rPr lang="en-US" altLang="zh-CN" sz="1200" b="1" dirty="0">
                          <a:solidFill>
                            <a:schemeClr val="tx1"/>
                          </a:solidFill>
                          <a:effectLst/>
                        </a:rPr>
                        <a:t>6</a:t>
                      </a:r>
                      <a:r>
                        <a:rPr lang="zh-CN" altLang="en-US" sz="1200" b="1" dirty="0">
                          <a:solidFill>
                            <a:schemeClr val="tx1"/>
                          </a:solidFill>
                          <a:effectLst/>
                        </a:rPr>
                        <a:t>资源管理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6.1</a:t>
                      </a:r>
                      <a:r>
                        <a:rPr lang="zh-CN" altLang="en-US" sz="1200" b="1">
                          <a:solidFill>
                            <a:schemeClr val="tx1"/>
                          </a:solidFill>
                          <a:effectLst/>
                        </a:rPr>
                        <a:t>规划资源管理</a:t>
                      </a:r>
                    </a:p>
                    <a:p>
                      <a:pPr algn="l"/>
                      <a:r>
                        <a:rPr lang="en-US" altLang="zh-CN" sz="1200" b="1">
                          <a:solidFill>
                            <a:schemeClr val="tx1"/>
                          </a:solidFill>
                          <a:effectLst/>
                        </a:rPr>
                        <a:t>6.2</a:t>
                      </a:r>
                      <a:r>
                        <a:rPr lang="zh-CN" altLang="en-US" sz="1200" b="1">
                          <a:solidFill>
                            <a:schemeClr val="tx1"/>
                          </a:solidFill>
                          <a:effectLst/>
                        </a:rPr>
                        <a:t>估算活动资源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6.3</a:t>
                      </a:r>
                      <a:r>
                        <a:rPr lang="zh-CN" altLang="en-US" sz="1200" b="1">
                          <a:solidFill>
                            <a:schemeClr val="tx1"/>
                          </a:solidFill>
                          <a:effectLst/>
                        </a:rPr>
                        <a:t>获取资源</a:t>
                      </a:r>
                    </a:p>
                    <a:p>
                      <a:pPr algn="l"/>
                      <a:r>
                        <a:rPr lang="en-US" altLang="zh-CN" sz="1200" b="1">
                          <a:solidFill>
                            <a:schemeClr val="tx1"/>
                          </a:solidFill>
                          <a:effectLst/>
                        </a:rPr>
                        <a:t>6.4</a:t>
                      </a:r>
                      <a:r>
                        <a:rPr lang="zh-CN" altLang="en-US" sz="1200" b="1">
                          <a:solidFill>
                            <a:schemeClr val="tx1"/>
                          </a:solidFill>
                          <a:effectLst/>
                        </a:rPr>
                        <a:t>建设团队</a:t>
                      </a:r>
                    </a:p>
                    <a:p>
                      <a:pPr algn="l"/>
                      <a:r>
                        <a:rPr lang="en-US" altLang="zh-CN" sz="1200" b="1">
                          <a:solidFill>
                            <a:schemeClr val="tx1"/>
                          </a:solidFill>
                          <a:effectLst/>
                        </a:rPr>
                        <a:t>6.5</a:t>
                      </a:r>
                      <a:r>
                        <a:rPr lang="zh-CN" altLang="en-US" sz="1200" b="1">
                          <a:solidFill>
                            <a:schemeClr val="tx1"/>
                          </a:solidFill>
                          <a:effectLst/>
                        </a:rPr>
                        <a:t>管理项目团队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6.6</a:t>
                      </a:r>
                      <a:r>
                        <a:rPr lang="zh-CN" altLang="en-US" sz="1200" b="1">
                          <a:solidFill>
                            <a:schemeClr val="tx1"/>
                          </a:solidFill>
                          <a:effectLst/>
                        </a:rPr>
                        <a:t>控制资源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7"/>
                  </a:ext>
                </a:extLst>
              </a:tr>
              <a:tr h="211074">
                <a:tc vMerge="1">
                  <a:txBody>
                    <a:bodyPr/>
                    <a:lstStyle/>
                    <a:p>
                      <a:endParaRPr lang="zh-CN" altLang="en-US"/>
                    </a:p>
                  </a:txBody>
                  <a:tcPr/>
                </a:tc>
                <a:tc>
                  <a:txBody>
                    <a:bodyPr/>
                    <a:lstStyle/>
                    <a:p>
                      <a:pPr algn="l"/>
                      <a:r>
                        <a:rPr lang="en-US" altLang="zh-CN" sz="1200" b="1" dirty="0">
                          <a:solidFill>
                            <a:schemeClr val="tx1"/>
                          </a:solidFill>
                          <a:effectLst/>
                        </a:rPr>
                        <a:t>7</a:t>
                      </a:r>
                      <a:r>
                        <a:rPr lang="zh-CN" altLang="en-US" sz="1200" b="1" dirty="0">
                          <a:solidFill>
                            <a:schemeClr val="tx1"/>
                          </a:solidFill>
                          <a:effectLst/>
                        </a:rPr>
                        <a:t>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7.1</a:t>
                      </a:r>
                      <a:r>
                        <a:rPr lang="zh-CN" altLang="en-US" sz="1200" b="1">
                          <a:solidFill>
                            <a:schemeClr val="tx1"/>
                          </a:solidFill>
                          <a:effectLst/>
                        </a:rPr>
                        <a:t>规划沟通管理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7.2</a:t>
                      </a:r>
                      <a:r>
                        <a:rPr lang="zh-CN" altLang="en-US" sz="1200" b="1">
                          <a:solidFill>
                            <a:schemeClr val="tx1"/>
                          </a:solidFill>
                          <a:effectLst/>
                        </a:rPr>
                        <a:t>管理沟通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7.3</a:t>
                      </a:r>
                      <a:r>
                        <a:rPr lang="zh-CN" altLang="en-US" sz="1200" b="1" dirty="0">
                          <a:solidFill>
                            <a:schemeClr val="tx1"/>
                          </a:solidFill>
                          <a:effectLst/>
                        </a:rPr>
                        <a:t>监督沟通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992416">
                <a:tc vMerge="1">
                  <a:txBody>
                    <a:bodyPr/>
                    <a:lstStyle/>
                    <a:p>
                      <a:endParaRPr lang="zh-CN" altLang="en-US"/>
                    </a:p>
                  </a:txBody>
                  <a:tcPr/>
                </a:tc>
                <a:tc>
                  <a:txBody>
                    <a:bodyPr/>
                    <a:lstStyle/>
                    <a:p>
                      <a:pPr algn="l"/>
                      <a:r>
                        <a:rPr lang="en-US" altLang="zh-CN" sz="1200" b="1" dirty="0">
                          <a:solidFill>
                            <a:schemeClr val="tx1"/>
                          </a:solidFill>
                          <a:effectLst/>
                        </a:rPr>
                        <a:t>8</a:t>
                      </a:r>
                      <a:r>
                        <a:rPr lang="zh-CN" altLang="en-US" sz="1200" b="1" dirty="0">
                          <a:solidFill>
                            <a:schemeClr val="tx1"/>
                          </a:solidFill>
                          <a:effectLst/>
                        </a:rPr>
                        <a:t>风险管理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8.1</a:t>
                      </a:r>
                      <a:r>
                        <a:rPr lang="zh-CN" altLang="en-US" sz="1200" b="1">
                          <a:solidFill>
                            <a:schemeClr val="tx1"/>
                          </a:solidFill>
                          <a:effectLst/>
                        </a:rPr>
                        <a:t>规划风险管理</a:t>
                      </a:r>
                    </a:p>
                    <a:p>
                      <a:pPr algn="l"/>
                      <a:r>
                        <a:rPr lang="en-US" altLang="zh-CN" sz="1200" b="1">
                          <a:solidFill>
                            <a:schemeClr val="tx1"/>
                          </a:solidFill>
                          <a:effectLst/>
                        </a:rPr>
                        <a:t>8.2</a:t>
                      </a:r>
                      <a:r>
                        <a:rPr lang="zh-CN" altLang="en-US" sz="1200" b="1">
                          <a:solidFill>
                            <a:schemeClr val="tx1"/>
                          </a:solidFill>
                          <a:effectLst/>
                        </a:rPr>
                        <a:t>识别风险</a:t>
                      </a:r>
                    </a:p>
                    <a:p>
                      <a:pPr algn="l"/>
                      <a:r>
                        <a:rPr lang="en-US" altLang="zh-CN" sz="1200" b="1">
                          <a:solidFill>
                            <a:schemeClr val="tx1"/>
                          </a:solidFill>
                          <a:effectLst/>
                        </a:rPr>
                        <a:t>8.3</a:t>
                      </a:r>
                      <a:r>
                        <a:rPr lang="zh-CN" altLang="en-US" sz="1200" b="1">
                          <a:solidFill>
                            <a:schemeClr val="tx1"/>
                          </a:solidFill>
                          <a:effectLst/>
                        </a:rPr>
                        <a:t>实施定性风险分析</a:t>
                      </a:r>
                    </a:p>
                    <a:p>
                      <a:pPr algn="l"/>
                      <a:r>
                        <a:rPr lang="en-US" altLang="zh-CN" sz="1200" b="1">
                          <a:solidFill>
                            <a:schemeClr val="tx1"/>
                          </a:solidFill>
                          <a:effectLst/>
                        </a:rPr>
                        <a:t>8.4</a:t>
                      </a:r>
                      <a:r>
                        <a:rPr lang="zh-CN" altLang="en-US" sz="1200" b="1">
                          <a:solidFill>
                            <a:schemeClr val="tx1"/>
                          </a:solidFill>
                          <a:effectLst/>
                        </a:rPr>
                        <a:t>实施定量风险分析</a:t>
                      </a:r>
                    </a:p>
                    <a:p>
                      <a:pPr algn="l"/>
                      <a:r>
                        <a:rPr lang="en-US" altLang="zh-CN" sz="1200" b="1">
                          <a:solidFill>
                            <a:schemeClr val="tx1"/>
                          </a:solidFill>
                          <a:effectLst/>
                        </a:rPr>
                        <a:t>8.5</a:t>
                      </a:r>
                      <a:r>
                        <a:rPr lang="zh-CN" altLang="en-US" sz="1200" b="1">
                          <a:solidFill>
                            <a:schemeClr val="tx1"/>
                          </a:solidFill>
                          <a:effectLst/>
                        </a:rPr>
                        <a:t>规划风险对应</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8.6</a:t>
                      </a:r>
                      <a:r>
                        <a:rPr lang="zh-CN" altLang="en-US" sz="1200" b="1">
                          <a:solidFill>
                            <a:schemeClr val="tx1"/>
                          </a:solidFill>
                          <a:effectLst/>
                        </a:rPr>
                        <a:t>实施风险应对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8.7</a:t>
                      </a:r>
                      <a:r>
                        <a:rPr lang="zh-CN" altLang="en-US" sz="1200" b="1">
                          <a:solidFill>
                            <a:schemeClr val="tx1"/>
                          </a:solidFill>
                          <a:effectLst/>
                        </a:rPr>
                        <a:t>监督风险</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9"/>
                  </a:ext>
                </a:extLst>
              </a:tr>
              <a:tr h="211074">
                <a:tc vMerge="1">
                  <a:txBody>
                    <a:bodyPr/>
                    <a:lstStyle/>
                    <a:p>
                      <a:endParaRPr lang="zh-CN" altLang="en-US"/>
                    </a:p>
                  </a:txBody>
                  <a:tcPr/>
                </a:tc>
                <a:tc>
                  <a:txBody>
                    <a:bodyPr/>
                    <a:lstStyle/>
                    <a:p>
                      <a:pPr algn="l"/>
                      <a:r>
                        <a:rPr lang="en-US" altLang="zh-CN" sz="1200" b="1" dirty="0">
                          <a:solidFill>
                            <a:schemeClr val="tx1"/>
                          </a:solidFill>
                          <a:effectLst/>
                        </a:rPr>
                        <a:t>9</a:t>
                      </a:r>
                      <a:r>
                        <a:rPr lang="zh-CN" altLang="en-US" sz="1200" b="1" dirty="0">
                          <a:solidFill>
                            <a:schemeClr val="tx1"/>
                          </a:solidFill>
                          <a:effectLst/>
                        </a:rPr>
                        <a:t>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9.1</a:t>
                      </a:r>
                      <a:r>
                        <a:rPr lang="zh-CN" altLang="en-US" sz="1200" b="1">
                          <a:solidFill>
                            <a:schemeClr val="tx1"/>
                          </a:solidFill>
                          <a:effectLst/>
                        </a:rPr>
                        <a:t>规划采购管理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9.2</a:t>
                      </a:r>
                      <a:r>
                        <a:rPr lang="zh-CN" altLang="en-US" sz="1200" b="1">
                          <a:solidFill>
                            <a:schemeClr val="tx1"/>
                          </a:solidFill>
                          <a:effectLst/>
                        </a:rPr>
                        <a:t>采购实施</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9.3</a:t>
                      </a:r>
                      <a:r>
                        <a:rPr lang="zh-CN" altLang="en-US" sz="1200" b="1">
                          <a:solidFill>
                            <a:schemeClr val="tx1"/>
                          </a:solidFill>
                          <a:effectLst/>
                        </a:rPr>
                        <a:t>控制采购</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684">
                <a:tc vMerge="1">
                  <a:txBody>
                    <a:bodyPr/>
                    <a:lstStyle/>
                    <a:p>
                      <a:endParaRPr lang="zh-CN" altLang="en-US"/>
                    </a:p>
                  </a:txBody>
                  <a:tcPr/>
                </a:tc>
                <a:tc>
                  <a:txBody>
                    <a:bodyPr/>
                    <a:lstStyle/>
                    <a:p>
                      <a:pPr algn="l"/>
                      <a:r>
                        <a:rPr lang="en-US" altLang="zh-CN" sz="1200" b="1" dirty="0">
                          <a:solidFill>
                            <a:schemeClr val="tx1"/>
                          </a:solidFill>
                          <a:effectLst/>
                        </a:rPr>
                        <a:t>10</a:t>
                      </a:r>
                      <a:r>
                        <a:rPr lang="zh-CN" altLang="en-US" sz="1200" b="1" dirty="0">
                          <a:solidFill>
                            <a:schemeClr val="tx1"/>
                          </a:solidFill>
                          <a:effectLst/>
                        </a:rPr>
                        <a:t>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10.1</a:t>
                      </a:r>
                      <a:r>
                        <a:rPr lang="zh-CN" altLang="en-US" sz="1200" b="1">
                          <a:solidFill>
                            <a:schemeClr val="tx1"/>
                          </a:solidFill>
                          <a:effectLst/>
                        </a:rPr>
                        <a:t>识别相关方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10.2</a:t>
                      </a:r>
                      <a:r>
                        <a:rPr lang="zh-CN" altLang="en-US" sz="1200" b="1">
                          <a:solidFill>
                            <a:schemeClr val="tx1"/>
                          </a:solidFill>
                          <a:effectLst/>
                        </a:rPr>
                        <a:t>规划相关方管理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10.3</a:t>
                      </a:r>
                      <a:r>
                        <a:rPr lang="zh-CN" altLang="en-US" sz="1200" b="1">
                          <a:solidFill>
                            <a:schemeClr val="tx1"/>
                          </a:solidFill>
                          <a:effectLst/>
                        </a:rPr>
                        <a:t>管理相关方参与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10.4</a:t>
                      </a:r>
                      <a:r>
                        <a:rPr lang="zh-CN" altLang="en-US" sz="1200" b="1">
                          <a:solidFill>
                            <a:schemeClr val="tx1"/>
                          </a:solidFill>
                          <a:effectLst/>
                        </a:rPr>
                        <a:t>控制相关方参与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11"/>
                  </a:ext>
                </a:extLst>
              </a:tr>
            </a:tbl>
          </a:graphicData>
        </a:graphic>
      </p:graphicFrame>
      <p:sp>
        <p:nvSpPr>
          <p:cNvPr id="118876" name="Rectangle 1">
            <a:extLst>
              <a:ext uri="{FF2B5EF4-FFF2-40B4-BE49-F238E27FC236}">
                <a16:creationId xmlns:a16="http://schemas.microsoft.com/office/drawing/2014/main" id="{634053F9-1F75-4EF5-B6EB-0641299C6A20}"/>
              </a:ext>
            </a:extLst>
          </p:cNvPr>
          <p:cNvSpPr>
            <a:spLocks noChangeArrowheads="1"/>
          </p:cNvSpPr>
          <p:nvPr/>
        </p:nvSpPr>
        <p:spPr bwMode="auto">
          <a:xfrm>
            <a:off x="2387599" y="480814"/>
            <a:ext cx="7416800" cy="477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50784" rIns="0" bIns="101568"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2100" b="1" dirty="0"/>
              <a:t>PMBOK第六版之五大过程组十大知识领域49个子过程</a:t>
            </a:r>
          </a:p>
        </p:txBody>
      </p:sp>
    </p:spTree>
    <p:extLst>
      <p:ext uri="{BB962C8B-B14F-4D97-AF65-F5344CB8AC3E}">
        <p14:creationId xmlns:p14="http://schemas.microsoft.com/office/powerpoint/2010/main" val="382896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42C2C2-4D55-468C-B676-CA4C57868ABD}"/>
              </a:ext>
            </a:extLst>
          </p:cNvPr>
          <p:cNvSpPr>
            <a:spLocks noGrp="1"/>
          </p:cNvSpPr>
          <p:nvPr>
            <p:ph type="title"/>
          </p:nvPr>
        </p:nvSpPr>
        <p:spPr/>
        <p:txBody>
          <a:bodyPr/>
          <a:lstStyle/>
          <a:p>
            <a:r>
              <a:rPr lang="en-US" altLang="zh-CN" dirty="0"/>
              <a:t>11.1 </a:t>
            </a:r>
            <a:r>
              <a:rPr lang="zh-CN" altLang="en-US" dirty="0"/>
              <a:t>项目范围管理概述</a:t>
            </a:r>
          </a:p>
        </p:txBody>
      </p:sp>
      <p:sp>
        <p:nvSpPr>
          <p:cNvPr id="3" name="AutoShape 4">
            <a:extLst>
              <a:ext uri="{FF2B5EF4-FFF2-40B4-BE49-F238E27FC236}">
                <a16:creationId xmlns:a16="http://schemas.microsoft.com/office/drawing/2014/main" id="{0EBE4C2B-D508-4279-91E1-61292C3EE0F7}"/>
              </a:ext>
            </a:extLst>
          </p:cNvPr>
          <p:cNvSpPr>
            <a:spLocks noChangeArrowheads="1"/>
          </p:cNvSpPr>
          <p:nvPr/>
        </p:nvSpPr>
        <p:spPr bwMode="auto">
          <a:xfrm>
            <a:off x="7610893" y="2173899"/>
            <a:ext cx="306967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4" name="AutoShape 5">
            <a:extLst>
              <a:ext uri="{FF2B5EF4-FFF2-40B4-BE49-F238E27FC236}">
                <a16:creationId xmlns:a16="http://schemas.microsoft.com/office/drawing/2014/main" id="{E150FEDE-5937-47B8-9F4C-C8BE475E96DF}"/>
              </a:ext>
            </a:extLst>
          </p:cNvPr>
          <p:cNvSpPr>
            <a:spLocks noChangeArrowheads="1"/>
          </p:cNvSpPr>
          <p:nvPr/>
        </p:nvSpPr>
        <p:spPr bwMode="auto">
          <a:xfrm>
            <a:off x="1313977" y="2158818"/>
            <a:ext cx="568201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5" name="AutoShape 6">
            <a:extLst>
              <a:ext uri="{FF2B5EF4-FFF2-40B4-BE49-F238E27FC236}">
                <a16:creationId xmlns:a16="http://schemas.microsoft.com/office/drawing/2014/main" id="{FB339B86-D149-45B4-8E1F-6302CF49D763}"/>
              </a:ext>
            </a:extLst>
          </p:cNvPr>
          <p:cNvSpPr>
            <a:spLocks noChangeArrowheads="1"/>
          </p:cNvSpPr>
          <p:nvPr/>
        </p:nvSpPr>
        <p:spPr bwMode="auto">
          <a:xfrm>
            <a:off x="1466377"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范围管理</a:t>
            </a:r>
            <a:endParaRPr lang="zh-CN" altLang="en-US" sz="1600" b="1" dirty="0">
              <a:solidFill>
                <a:srgbClr val="000066"/>
              </a:solidFill>
              <a:latin typeface="Times New Roman" panose="02020603050405020304" pitchFamily="18" charset="0"/>
            </a:endParaRPr>
          </a:p>
        </p:txBody>
      </p:sp>
      <p:sp>
        <p:nvSpPr>
          <p:cNvPr id="6" name="AutoShape 7">
            <a:extLst>
              <a:ext uri="{FF2B5EF4-FFF2-40B4-BE49-F238E27FC236}">
                <a16:creationId xmlns:a16="http://schemas.microsoft.com/office/drawing/2014/main" id="{7AEDF725-4FBA-4C22-9B6F-6CBDB7251575}"/>
              </a:ext>
            </a:extLst>
          </p:cNvPr>
          <p:cNvSpPr>
            <a:spLocks noChangeArrowheads="1"/>
          </p:cNvSpPr>
          <p:nvPr/>
        </p:nvSpPr>
        <p:spPr bwMode="auto">
          <a:xfrm>
            <a:off x="295110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收集需求</a:t>
            </a:r>
            <a:endParaRPr lang="zh-CN" altLang="en-US" sz="1600" b="1" dirty="0">
              <a:solidFill>
                <a:srgbClr val="000066"/>
              </a:solidFill>
              <a:latin typeface="Times New Roman" panose="02020603050405020304" pitchFamily="18" charset="0"/>
            </a:endParaRPr>
          </a:p>
        </p:txBody>
      </p:sp>
      <p:sp>
        <p:nvSpPr>
          <p:cNvPr id="7" name="AutoShape 8">
            <a:extLst>
              <a:ext uri="{FF2B5EF4-FFF2-40B4-BE49-F238E27FC236}">
                <a16:creationId xmlns:a16="http://schemas.microsoft.com/office/drawing/2014/main" id="{5FEC0633-4312-4DCD-A67D-5E046774673C}"/>
              </a:ext>
            </a:extLst>
          </p:cNvPr>
          <p:cNvSpPr>
            <a:spLocks noChangeArrowheads="1"/>
          </p:cNvSpPr>
          <p:nvPr/>
        </p:nvSpPr>
        <p:spPr bwMode="auto">
          <a:xfrm>
            <a:off x="441697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范围定义</a:t>
            </a:r>
          </a:p>
        </p:txBody>
      </p:sp>
      <p:sp>
        <p:nvSpPr>
          <p:cNvPr id="8" name="AutoShape 9">
            <a:extLst>
              <a:ext uri="{FF2B5EF4-FFF2-40B4-BE49-F238E27FC236}">
                <a16:creationId xmlns:a16="http://schemas.microsoft.com/office/drawing/2014/main" id="{1D98E0DD-E46F-4C42-BE08-26A979A33515}"/>
              </a:ext>
            </a:extLst>
          </p:cNvPr>
          <p:cNvSpPr>
            <a:spLocks noChangeArrowheads="1"/>
          </p:cNvSpPr>
          <p:nvPr/>
        </p:nvSpPr>
        <p:spPr bwMode="auto">
          <a:xfrm>
            <a:off x="7819267" y="2382655"/>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确认范围</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B9D1590A-DBF9-4ECC-A9CE-DBC690D49BCA}"/>
              </a:ext>
            </a:extLst>
          </p:cNvPr>
          <p:cNvSpPr>
            <a:spLocks noChangeArrowheads="1"/>
          </p:cNvSpPr>
          <p:nvPr/>
        </p:nvSpPr>
        <p:spPr bwMode="auto">
          <a:xfrm>
            <a:off x="9351125" y="2382655"/>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范围控制</a:t>
            </a:r>
          </a:p>
        </p:txBody>
      </p:sp>
      <p:sp>
        <p:nvSpPr>
          <p:cNvPr id="10" name="AutoShape 11">
            <a:extLst>
              <a:ext uri="{FF2B5EF4-FFF2-40B4-BE49-F238E27FC236}">
                <a16:creationId xmlns:a16="http://schemas.microsoft.com/office/drawing/2014/main" id="{6CC39E5C-4261-4EA4-A78D-5C97BD118BB3}"/>
              </a:ext>
            </a:extLst>
          </p:cNvPr>
          <p:cNvSpPr>
            <a:spLocks noChangeArrowheads="1"/>
          </p:cNvSpPr>
          <p:nvPr/>
        </p:nvSpPr>
        <p:spPr bwMode="auto">
          <a:xfrm>
            <a:off x="2504112"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059497E0-642B-42AF-B226-570000940DD5}"/>
              </a:ext>
            </a:extLst>
          </p:cNvPr>
          <p:cNvSpPr>
            <a:spLocks noChangeArrowheads="1"/>
          </p:cNvSpPr>
          <p:nvPr/>
        </p:nvSpPr>
        <p:spPr bwMode="auto">
          <a:xfrm>
            <a:off x="3998263"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2" name="AutoShape 13">
            <a:extLst>
              <a:ext uri="{FF2B5EF4-FFF2-40B4-BE49-F238E27FC236}">
                <a16:creationId xmlns:a16="http://schemas.microsoft.com/office/drawing/2014/main" id="{C66A3579-B352-4C49-B326-78FB85EF0C32}"/>
              </a:ext>
            </a:extLst>
          </p:cNvPr>
          <p:cNvSpPr>
            <a:spLocks noChangeArrowheads="1"/>
          </p:cNvSpPr>
          <p:nvPr/>
        </p:nvSpPr>
        <p:spPr bwMode="auto">
          <a:xfrm>
            <a:off x="5473560"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3" name="AutoShape 14">
            <a:extLst>
              <a:ext uri="{FF2B5EF4-FFF2-40B4-BE49-F238E27FC236}">
                <a16:creationId xmlns:a16="http://schemas.microsoft.com/office/drawing/2014/main" id="{7BE1EE5F-0089-4982-B999-F94093DAAB2F}"/>
              </a:ext>
            </a:extLst>
          </p:cNvPr>
          <p:cNvSpPr>
            <a:spLocks noChangeArrowheads="1"/>
          </p:cNvSpPr>
          <p:nvPr/>
        </p:nvSpPr>
        <p:spPr bwMode="auto">
          <a:xfrm>
            <a:off x="8905117"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4" name="Group 15">
            <a:extLst>
              <a:ext uri="{FF2B5EF4-FFF2-40B4-BE49-F238E27FC236}">
                <a16:creationId xmlns:a16="http://schemas.microsoft.com/office/drawing/2014/main" id="{D5D031D9-0F28-4DB8-9469-35AE71AD1415}"/>
              </a:ext>
            </a:extLst>
          </p:cNvPr>
          <p:cNvGrpSpPr>
            <a:grpSpLocks/>
          </p:cNvGrpSpPr>
          <p:nvPr/>
        </p:nvGrpSpPr>
        <p:grpSpPr bwMode="auto">
          <a:xfrm>
            <a:off x="1390177" y="3225618"/>
            <a:ext cx="1219200" cy="2209800"/>
            <a:chOff x="816" y="3120"/>
            <a:chExt cx="1344" cy="960"/>
          </a:xfrm>
        </p:grpSpPr>
        <p:sp>
          <p:nvSpPr>
            <p:cNvPr id="15" name="Rectangle 16">
              <a:extLst>
                <a:ext uri="{FF2B5EF4-FFF2-40B4-BE49-F238E27FC236}">
                  <a16:creationId xmlns:a16="http://schemas.microsoft.com/office/drawing/2014/main" id="{DEE95910-C9EB-44E5-BCB0-A3B3A7A6540A}"/>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范围管理计划</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需求管理计划</a:t>
              </a:r>
            </a:p>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6" name="AutoShape 17">
              <a:extLst>
                <a:ext uri="{FF2B5EF4-FFF2-40B4-BE49-F238E27FC236}">
                  <a16:creationId xmlns:a16="http://schemas.microsoft.com/office/drawing/2014/main" id="{570BAFAE-0C5A-4CF5-9FCC-73E52B01F2E9}"/>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17" name="Group 18">
            <a:extLst>
              <a:ext uri="{FF2B5EF4-FFF2-40B4-BE49-F238E27FC236}">
                <a16:creationId xmlns:a16="http://schemas.microsoft.com/office/drawing/2014/main" id="{571D4ABF-DABB-40EB-9506-4822E4B1C319}"/>
              </a:ext>
            </a:extLst>
          </p:cNvPr>
          <p:cNvGrpSpPr>
            <a:grpSpLocks/>
          </p:cNvGrpSpPr>
          <p:nvPr/>
        </p:nvGrpSpPr>
        <p:grpSpPr bwMode="auto">
          <a:xfrm>
            <a:off x="2798701" y="3225618"/>
            <a:ext cx="1371600" cy="2209800"/>
            <a:chOff x="816" y="3120"/>
            <a:chExt cx="1344" cy="960"/>
          </a:xfrm>
        </p:grpSpPr>
        <p:sp>
          <p:nvSpPr>
            <p:cNvPr id="18" name="Rectangle 19">
              <a:extLst>
                <a:ext uri="{FF2B5EF4-FFF2-40B4-BE49-F238E27FC236}">
                  <a16:creationId xmlns:a16="http://schemas.microsoft.com/office/drawing/2014/main" id="{53EB99D0-893B-4D7C-8AF3-4BBC8AD3AC1D}"/>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需求文件</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需求跟踪矩阵</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9" name="AutoShape 20">
              <a:extLst>
                <a:ext uri="{FF2B5EF4-FFF2-40B4-BE49-F238E27FC236}">
                  <a16:creationId xmlns:a16="http://schemas.microsoft.com/office/drawing/2014/main" id="{81B2A8EE-7DA5-41A2-B345-6F11B27ED88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0" name="Group 21">
            <a:extLst>
              <a:ext uri="{FF2B5EF4-FFF2-40B4-BE49-F238E27FC236}">
                <a16:creationId xmlns:a16="http://schemas.microsoft.com/office/drawing/2014/main" id="{215A3173-70A6-4CEA-84B4-5272522A91DC}"/>
              </a:ext>
            </a:extLst>
          </p:cNvPr>
          <p:cNvGrpSpPr>
            <a:grpSpLocks/>
          </p:cNvGrpSpPr>
          <p:nvPr/>
        </p:nvGrpSpPr>
        <p:grpSpPr bwMode="auto">
          <a:xfrm>
            <a:off x="4340771" y="3225618"/>
            <a:ext cx="1219200" cy="2209800"/>
            <a:chOff x="816" y="3120"/>
            <a:chExt cx="1344" cy="960"/>
          </a:xfrm>
        </p:grpSpPr>
        <p:sp>
          <p:nvSpPr>
            <p:cNvPr id="21" name="Rectangle 22">
              <a:extLst>
                <a:ext uri="{FF2B5EF4-FFF2-40B4-BE49-F238E27FC236}">
                  <a16:creationId xmlns:a16="http://schemas.microsoft.com/office/drawing/2014/main" id="{45F00A9F-FC89-4105-930A-B58E92C2C580}"/>
                </a:ext>
              </a:extLst>
            </p:cNvPr>
            <p:cNvSpPr>
              <a:spLocks noChangeArrowheads="1"/>
            </p:cNvSpPr>
            <p:nvPr/>
          </p:nvSpPr>
          <p:spPr bwMode="auto">
            <a:xfrm>
              <a:off x="816" y="3360"/>
              <a:ext cx="1344"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项目范围说明</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书</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en-US" altLang="ja-JP"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2" name="AutoShape 23">
              <a:extLst>
                <a:ext uri="{FF2B5EF4-FFF2-40B4-BE49-F238E27FC236}">
                  <a16:creationId xmlns:a16="http://schemas.microsoft.com/office/drawing/2014/main" id="{B3FEB53E-4B63-46AB-A943-AA7147B37FB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3" name="Group 24">
            <a:extLst>
              <a:ext uri="{FF2B5EF4-FFF2-40B4-BE49-F238E27FC236}">
                <a16:creationId xmlns:a16="http://schemas.microsoft.com/office/drawing/2014/main" id="{D15C308E-2A1A-4C48-BC79-8AE8565A758B}"/>
              </a:ext>
            </a:extLst>
          </p:cNvPr>
          <p:cNvGrpSpPr>
            <a:grpSpLocks/>
          </p:cNvGrpSpPr>
          <p:nvPr/>
        </p:nvGrpSpPr>
        <p:grpSpPr bwMode="auto">
          <a:xfrm>
            <a:off x="5730441" y="3225618"/>
            <a:ext cx="1295400" cy="2209800"/>
            <a:chOff x="816" y="3120"/>
            <a:chExt cx="1344" cy="960"/>
          </a:xfrm>
        </p:grpSpPr>
        <p:sp>
          <p:nvSpPr>
            <p:cNvPr id="24" name="Rectangle 25">
              <a:extLst>
                <a:ext uri="{FF2B5EF4-FFF2-40B4-BE49-F238E27FC236}">
                  <a16:creationId xmlns:a16="http://schemas.microsoft.com/office/drawing/2014/main" id="{97D3F46A-FB93-4830-8164-7D570CE0BA51}"/>
                </a:ext>
              </a:extLst>
            </p:cNvPr>
            <p:cNvSpPr>
              <a:spLocks noChangeArrowheads="1"/>
            </p:cNvSpPr>
            <p:nvPr/>
          </p:nvSpPr>
          <p:spPr bwMode="auto">
            <a:xfrm>
              <a:off x="816" y="3360"/>
              <a:ext cx="1344" cy="720"/>
            </a:xfrm>
            <a:prstGeom prst="rect">
              <a:avLst/>
            </a:prstGeom>
            <a:solidFill>
              <a:schemeClr val="accent4">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范围基准</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b="1" kern="0" dirty="0">
                <a:solidFill>
                  <a:schemeClr val="tx2">
                    <a:lumMod val="50000"/>
                  </a:schemeClr>
                </a:solidFill>
              </a:endParaRPr>
            </a:p>
          </p:txBody>
        </p:sp>
        <p:sp>
          <p:nvSpPr>
            <p:cNvPr id="25" name="AutoShape 26">
              <a:extLst>
                <a:ext uri="{FF2B5EF4-FFF2-40B4-BE49-F238E27FC236}">
                  <a16:creationId xmlns:a16="http://schemas.microsoft.com/office/drawing/2014/main" id="{F3F27DCB-0B6C-4257-BF30-E70631DB71D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6" name="Group 27">
            <a:extLst>
              <a:ext uri="{FF2B5EF4-FFF2-40B4-BE49-F238E27FC236}">
                <a16:creationId xmlns:a16="http://schemas.microsoft.com/office/drawing/2014/main" id="{6E9D37D2-9588-4156-B9AD-BBC45F7D6C0D}"/>
              </a:ext>
            </a:extLst>
          </p:cNvPr>
          <p:cNvGrpSpPr>
            <a:grpSpLocks/>
          </p:cNvGrpSpPr>
          <p:nvPr/>
        </p:nvGrpSpPr>
        <p:grpSpPr bwMode="auto">
          <a:xfrm>
            <a:off x="7743067" y="3225618"/>
            <a:ext cx="1295400" cy="2209800"/>
            <a:chOff x="816" y="3120"/>
            <a:chExt cx="1344" cy="960"/>
          </a:xfrm>
        </p:grpSpPr>
        <p:sp>
          <p:nvSpPr>
            <p:cNvPr id="27" name="Rectangle 28">
              <a:extLst>
                <a:ext uri="{FF2B5EF4-FFF2-40B4-BE49-F238E27FC236}">
                  <a16:creationId xmlns:a16="http://schemas.microsoft.com/office/drawing/2014/main" id="{2F6DADA3-584F-4F3A-98CE-65626D79D1D2}"/>
                </a:ext>
              </a:extLst>
            </p:cNvPr>
            <p:cNvSpPr>
              <a:spLocks noChangeArrowheads="1"/>
            </p:cNvSpPr>
            <p:nvPr/>
          </p:nvSpPr>
          <p:spPr bwMode="auto">
            <a:xfrm>
              <a:off x="816" y="3360"/>
              <a:ext cx="1344" cy="720"/>
            </a:xfrm>
            <a:prstGeom prst="rect">
              <a:avLst/>
            </a:prstGeom>
            <a:solidFill>
              <a:schemeClr val="accent6">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8" name="AutoShape 29">
              <a:extLst>
                <a:ext uri="{FF2B5EF4-FFF2-40B4-BE49-F238E27FC236}">
                  <a16:creationId xmlns:a16="http://schemas.microsoft.com/office/drawing/2014/main" id="{3FBA064B-5B9F-409E-B64B-249DF6A63F5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sp>
        <p:nvSpPr>
          <p:cNvPr id="30" name="AutoShape 9">
            <a:extLst>
              <a:ext uri="{FF2B5EF4-FFF2-40B4-BE49-F238E27FC236}">
                <a16:creationId xmlns:a16="http://schemas.microsoft.com/office/drawing/2014/main" id="{D2C15EAE-F45F-45FA-B1A2-A39EF36602CE}"/>
              </a:ext>
            </a:extLst>
          </p:cNvPr>
          <p:cNvSpPr>
            <a:spLocks noChangeArrowheads="1"/>
          </p:cNvSpPr>
          <p:nvPr/>
        </p:nvSpPr>
        <p:spPr bwMode="auto">
          <a:xfrm>
            <a:off x="5882841" y="2405934"/>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创建 </a:t>
            </a:r>
            <a:r>
              <a:rPr lang="en-US" altLang="zh-CN" sz="1600" b="1" dirty="0">
                <a:latin typeface="Times New Roman" panose="02020603050405020304" pitchFamily="18" charset="0"/>
              </a:rPr>
              <a:t>WBS</a:t>
            </a:r>
            <a:endParaRPr lang="zh-CN" altLang="en-US" sz="1600" b="1" dirty="0">
              <a:solidFill>
                <a:srgbClr val="000066"/>
              </a:solidFill>
              <a:latin typeface="Times New Roman" panose="02020603050405020304" pitchFamily="18" charset="0"/>
            </a:endParaRPr>
          </a:p>
        </p:txBody>
      </p:sp>
      <p:sp>
        <p:nvSpPr>
          <p:cNvPr id="31" name="AutoShape 14">
            <a:extLst>
              <a:ext uri="{FF2B5EF4-FFF2-40B4-BE49-F238E27FC236}">
                <a16:creationId xmlns:a16="http://schemas.microsoft.com/office/drawing/2014/main" id="{B25F90E8-93CA-4A25-992F-32343AC4DD2A}"/>
              </a:ext>
            </a:extLst>
          </p:cNvPr>
          <p:cNvSpPr>
            <a:spLocks noChangeArrowheads="1"/>
          </p:cNvSpPr>
          <p:nvPr/>
        </p:nvSpPr>
        <p:spPr bwMode="auto">
          <a:xfrm>
            <a:off x="7119524"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32" name="Rectangle 28">
            <a:extLst>
              <a:ext uri="{FF2B5EF4-FFF2-40B4-BE49-F238E27FC236}">
                <a16:creationId xmlns:a16="http://schemas.microsoft.com/office/drawing/2014/main" id="{44997A1E-F169-4DA9-B91E-086FD5B279E8}"/>
              </a:ext>
            </a:extLst>
          </p:cNvPr>
          <p:cNvSpPr>
            <a:spLocks noChangeArrowheads="1"/>
          </p:cNvSpPr>
          <p:nvPr/>
        </p:nvSpPr>
        <p:spPr bwMode="auto">
          <a:xfrm>
            <a:off x="9263649" y="3778068"/>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33" name="AutoShape 29">
            <a:extLst>
              <a:ext uri="{FF2B5EF4-FFF2-40B4-BE49-F238E27FC236}">
                <a16:creationId xmlns:a16="http://schemas.microsoft.com/office/drawing/2014/main" id="{C97BFCE0-E02E-421F-8799-2246D53FEB27}"/>
              </a:ext>
            </a:extLst>
          </p:cNvPr>
          <p:cNvSpPr>
            <a:spLocks noChangeArrowheads="1"/>
          </p:cNvSpPr>
          <p:nvPr/>
        </p:nvSpPr>
        <p:spPr bwMode="auto">
          <a:xfrm>
            <a:off x="9865085" y="3225618"/>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sp>
        <p:nvSpPr>
          <p:cNvPr id="34" name="矩形 33">
            <a:extLst>
              <a:ext uri="{FF2B5EF4-FFF2-40B4-BE49-F238E27FC236}">
                <a16:creationId xmlns:a16="http://schemas.microsoft.com/office/drawing/2014/main" id="{2C7565BF-2CEE-4B37-B5C0-00AAABA33EE7}"/>
              </a:ext>
            </a:extLst>
          </p:cNvPr>
          <p:cNvSpPr/>
          <p:nvPr/>
        </p:nvSpPr>
        <p:spPr>
          <a:xfrm>
            <a:off x="3260721" y="1789485"/>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35" name="矩形 34">
            <a:extLst>
              <a:ext uri="{FF2B5EF4-FFF2-40B4-BE49-F238E27FC236}">
                <a16:creationId xmlns:a16="http://schemas.microsoft.com/office/drawing/2014/main" id="{4DD289D5-2036-4534-B6C6-81579A0B9727}"/>
              </a:ext>
            </a:extLst>
          </p:cNvPr>
          <p:cNvSpPr/>
          <p:nvPr/>
        </p:nvSpPr>
        <p:spPr>
          <a:xfrm>
            <a:off x="7401269" y="1804973"/>
            <a:ext cx="2398413" cy="400110"/>
          </a:xfrm>
          <a:prstGeom prst="rect">
            <a:avLst/>
          </a:prstGeom>
        </p:spPr>
        <p:txBody>
          <a:bodyPr wrap="none">
            <a:spAutoFit/>
          </a:bodyPr>
          <a:lstStyle/>
          <a:p>
            <a:pPr lvl="2" algn="just"/>
            <a:r>
              <a:rPr lang="zh-CN" altLang="en-US" sz="2000" b="1" dirty="0">
                <a:solidFill>
                  <a:srgbClr val="FF0000"/>
                </a:solidFill>
                <a:latin typeface="Times New Roman" panose="02020603050405020304" pitchFamily="18" charset="0"/>
              </a:rPr>
              <a:t>监控过程组</a:t>
            </a:r>
          </a:p>
        </p:txBody>
      </p:sp>
      <p:sp>
        <p:nvSpPr>
          <p:cNvPr id="36" name="矩形 35">
            <a:extLst>
              <a:ext uri="{FF2B5EF4-FFF2-40B4-BE49-F238E27FC236}">
                <a16:creationId xmlns:a16="http://schemas.microsoft.com/office/drawing/2014/main" id="{E27F2387-28DD-4409-B784-623399286B56}"/>
              </a:ext>
            </a:extLst>
          </p:cNvPr>
          <p:cNvSpPr/>
          <p:nvPr/>
        </p:nvSpPr>
        <p:spPr>
          <a:xfrm>
            <a:off x="688732" y="1201866"/>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项目范围管理主要过程</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923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12016</TotalTime>
  <Words>27930</Words>
  <Application>Microsoft Office PowerPoint</Application>
  <PresentationFormat>宽屏</PresentationFormat>
  <Paragraphs>2107</Paragraphs>
  <Slides>118</Slides>
  <Notes>106</Notes>
  <HiddenSlides>0</HiddenSlides>
  <MMClips>0</MMClips>
  <ScaleCrop>false</ScaleCrop>
  <HeadingPairs>
    <vt:vector size="8" baseType="variant">
      <vt:variant>
        <vt:lpstr>已用的字体</vt:lpstr>
      </vt:variant>
      <vt:variant>
        <vt:i4>32</vt:i4>
      </vt:variant>
      <vt:variant>
        <vt:lpstr>主题</vt:lpstr>
      </vt:variant>
      <vt:variant>
        <vt:i4>1</vt:i4>
      </vt:variant>
      <vt:variant>
        <vt:lpstr>嵌入 OLE 服务器</vt:lpstr>
      </vt:variant>
      <vt:variant>
        <vt:i4>3</vt:i4>
      </vt:variant>
      <vt:variant>
        <vt:lpstr>幻灯片标题</vt:lpstr>
      </vt:variant>
      <vt:variant>
        <vt:i4>118</vt:i4>
      </vt:variant>
    </vt:vector>
  </HeadingPairs>
  <TitlesOfParts>
    <vt:vector size="154" baseType="lpstr">
      <vt:lpstr>HelveticaNeue-BoldCond</vt:lpstr>
      <vt:lpstr>HelveticaNeue-BoldCondObl</vt:lpstr>
      <vt:lpstr>HelveticaNeue-Condensed</vt:lpstr>
      <vt:lpstr>HelveticaNeue-MediumCond</vt:lpstr>
      <vt:lpstr>HiddenHorzOCR</vt:lpstr>
      <vt:lpstr>Microsoft YaHei Light</vt:lpstr>
      <vt:lpstr>PingFang SC</vt:lpstr>
      <vt:lpstr>SourceHanSansCN-Regular</vt:lpstr>
      <vt:lpstr>SourceHanSansSC-Bold</vt:lpstr>
      <vt:lpstr>SourceHanSansSC-Medium</vt:lpstr>
      <vt:lpstr>SourceHanSansSC-Regular</vt:lpstr>
      <vt:lpstr>Wingdings-Regular</vt:lpstr>
      <vt:lpstr>方正兰亭粗黑_GBK</vt:lpstr>
      <vt:lpstr>方正兰亭细黑_GBK</vt:lpstr>
      <vt:lpstr>黑体</vt:lpstr>
      <vt:lpstr>华文行楷</vt:lpstr>
      <vt:lpstr>华文中宋</vt:lpstr>
      <vt:lpstr>楷体</vt:lpstr>
      <vt:lpstr>楷体_GB2312</vt:lpstr>
      <vt:lpstr>宋体</vt:lpstr>
      <vt:lpstr>微软雅黑</vt:lpstr>
      <vt:lpstr>幼圆</vt:lpstr>
      <vt:lpstr>Arial</vt:lpstr>
      <vt:lpstr>Arial</vt:lpstr>
      <vt:lpstr>Brush Script MT</vt:lpstr>
      <vt:lpstr>Calibri</vt:lpstr>
      <vt:lpstr>Georgia</vt:lpstr>
      <vt:lpstr>Impact</vt:lpstr>
      <vt:lpstr>Open Sans</vt:lpstr>
      <vt:lpstr>Tahoma</vt:lpstr>
      <vt:lpstr>Times New Roman</vt:lpstr>
      <vt:lpstr>Wingdings</vt:lpstr>
      <vt:lpstr>Office 主题​​</vt:lpstr>
      <vt:lpstr>Visio</vt:lpstr>
      <vt:lpstr>Document</vt:lpstr>
      <vt:lpstr>Visio.Drawing.6</vt:lpstr>
      <vt:lpstr>IT 工程伦理和项目管理</vt:lpstr>
      <vt:lpstr>PowerPoint 演示文稿</vt:lpstr>
      <vt:lpstr>10.3 制定项目管理计划 </vt:lpstr>
      <vt:lpstr>10.3 制定项目管理计划 </vt:lpstr>
      <vt:lpstr>PowerPoint 演示文稿</vt:lpstr>
      <vt:lpstr>10.3 制定项目管理计划 </vt:lpstr>
      <vt:lpstr>10.3 制定项目管理计划 </vt:lpstr>
      <vt:lpstr>分析历史信息、约束和假设条件</vt:lpstr>
      <vt:lpstr>历史记录——成熟企业的标志</vt:lpstr>
      <vt:lpstr>模板化的项目计划方法</vt:lpstr>
      <vt:lpstr>项目干系人的技能与知识</vt:lpstr>
      <vt:lpstr>10.3 制定项目管理计划 </vt:lpstr>
      <vt:lpstr>10.3 制定项目管理计划 </vt:lpstr>
      <vt:lpstr>10.3 制定项目管理计划 </vt:lpstr>
      <vt:lpstr>10.3 制定项目管理计划 </vt:lpstr>
      <vt:lpstr>10.3 制定项目管理计划 </vt:lpstr>
      <vt:lpstr>10.3 制定项目管理计划 </vt:lpstr>
      <vt:lpstr>10.3 制定项目管理计划 </vt:lpstr>
      <vt:lpstr>10.3 制定项目管理计划 </vt:lpstr>
      <vt:lpstr>10.4 指导和管理项目工作</vt:lpstr>
      <vt:lpstr>执行过程组</vt:lpstr>
      <vt:lpstr>10.4 指导和管理项目工作</vt:lpstr>
      <vt:lpstr>10.4 指导和管理项目工作</vt:lpstr>
      <vt:lpstr>10.4 指导和管理项目工作</vt:lpstr>
      <vt:lpstr>10.4 指导和管理项目工作</vt:lpstr>
      <vt:lpstr>10.5 管理项目知识 </vt:lpstr>
      <vt:lpstr>10.5 管理项目知识 </vt:lpstr>
      <vt:lpstr>10.5 管理项目知识 </vt:lpstr>
      <vt:lpstr>10.5 管理项目知识 </vt:lpstr>
      <vt:lpstr>10.6 监控项目工作</vt:lpstr>
      <vt:lpstr>10.6 监控项目工作</vt:lpstr>
      <vt:lpstr>10.6 监控项目工作</vt:lpstr>
      <vt:lpstr>10.6 监控项目工作</vt:lpstr>
      <vt:lpstr>10.6 监控项目工作</vt:lpstr>
      <vt:lpstr>10.7 实施整体变更控制</vt:lpstr>
      <vt:lpstr>10.7 实施整体变更控制</vt:lpstr>
      <vt:lpstr>10.7 实施整体变更控制</vt:lpstr>
      <vt:lpstr>10.7 实施整体变更控制</vt:lpstr>
      <vt:lpstr>10.7 实施整体变更控制</vt:lpstr>
      <vt:lpstr>10.7 实施整体变更控制</vt:lpstr>
      <vt:lpstr>10.7 实施整体变更控制</vt:lpstr>
      <vt:lpstr>10.7 实施整体变更控制</vt:lpstr>
      <vt:lpstr>收尾过程组</vt:lpstr>
      <vt:lpstr>10.8 结束项目或阶段</vt:lpstr>
      <vt:lpstr>10.8 结束项目或阶段</vt:lpstr>
      <vt:lpstr>10.8 结束项目或阶段</vt:lpstr>
      <vt:lpstr>10.8 结束项目或阶段</vt:lpstr>
      <vt:lpstr>10.8 结束项目或阶段</vt:lpstr>
      <vt:lpstr>10.8 结束项目或阶段</vt:lpstr>
      <vt:lpstr>PowerPoint 演示文稿</vt:lpstr>
      <vt:lpstr>案例</vt:lpstr>
      <vt:lpstr>一个变更失控的项目管理案例 </vt:lpstr>
      <vt:lpstr>11.0 学习要点</vt:lpstr>
      <vt:lpstr>11.1 项目范围管理概述</vt:lpstr>
      <vt:lpstr>11.1 项目范围管理概述</vt:lpstr>
      <vt:lpstr>11.1 项目范围管理概述</vt:lpstr>
      <vt:lpstr>11.1 项目范围管理概述</vt:lpstr>
      <vt:lpstr>11.1 项目范围管理概述</vt:lpstr>
      <vt:lpstr>11.2 规划范围管理</vt:lpstr>
      <vt:lpstr>11.2 规划范围管理</vt:lpstr>
      <vt:lpstr>11.2 规划范围管理</vt:lpstr>
      <vt:lpstr>11.2 规划范围管理</vt:lpstr>
      <vt:lpstr>PowerPoint 演示文稿</vt:lpstr>
      <vt:lpstr>11.2 规划范围管理</vt:lpstr>
      <vt:lpstr>11.3 项目需求收集</vt:lpstr>
      <vt:lpstr>11.3 项目需求收集</vt:lpstr>
      <vt:lpstr>11.3 项目需求收集</vt:lpstr>
      <vt:lpstr>11.3 项目需求收集</vt:lpstr>
      <vt:lpstr>11.3 项目需求收集</vt:lpstr>
      <vt:lpstr>11.3 项目需求收集</vt:lpstr>
      <vt:lpstr>11.3 项目需求收集</vt:lpstr>
      <vt:lpstr>11.3 项目需求收集</vt:lpstr>
      <vt:lpstr>11.3 项目需求收集</vt:lpstr>
      <vt:lpstr>11.3 项目需求收集</vt:lpstr>
      <vt:lpstr>PMBOK（第6版）十大知识领域思维导图（总览图）</vt:lpstr>
      <vt:lpstr>思维导图示例：需求设计 </vt:lpstr>
      <vt:lpstr>11.3 项目需求收集</vt:lpstr>
      <vt:lpstr>11.3 项目需求收集</vt:lpstr>
      <vt:lpstr>11.4 项目范围定义</vt:lpstr>
      <vt:lpstr>11.4 项目范围定义</vt:lpstr>
      <vt:lpstr>11.4 项目范围定义</vt:lpstr>
      <vt:lpstr>11.4 项目范围定义</vt:lpstr>
      <vt:lpstr>11.4 项目范围定义</vt:lpstr>
      <vt:lpstr>11.5 工作分解结构（WBS）</vt:lpstr>
      <vt:lpstr>WBS示例</vt:lpstr>
      <vt:lpstr>11.5 工作分解结构（WBS）</vt:lpstr>
      <vt:lpstr>20.5 创建工作分解结构（WBS）</vt:lpstr>
      <vt:lpstr>11.5 创建工作分解结构（WBS）</vt:lpstr>
      <vt:lpstr>11.5 创建工作分解结构（WBS）</vt:lpstr>
      <vt:lpstr>11.5 工作分解结构（WBS）</vt:lpstr>
      <vt:lpstr>11.5 创建工作分解结构（WBS）</vt:lpstr>
      <vt:lpstr>11.5 创建工作分解结构（WBS）</vt:lpstr>
      <vt:lpstr>11.5 工作分解结构（WBS）</vt:lpstr>
      <vt:lpstr>11.5 工作分解结构（WBS）</vt:lpstr>
      <vt:lpstr>11.5 工作分解结构（WBS）</vt:lpstr>
      <vt:lpstr>11.5 工作分解结构（WBS）</vt:lpstr>
      <vt:lpstr>11.5 创建工作分解结构（WBS）</vt:lpstr>
      <vt:lpstr>11.5 创建工作分解结构（WBS）</vt:lpstr>
      <vt:lpstr>11.5 创建工作分解结构（WBS）</vt:lpstr>
      <vt:lpstr>11.5 创建工作分解结构（WBS）</vt:lpstr>
      <vt:lpstr>11.5 创建工作分解结构（WBS）</vt:lpstr>
      <vt:lpstr>11.6 项目范围确认</vt:lpstr>
      <vt:lpstr>11.6 项目范围确认</vt:lpstr>
      <vt:lpstr>11.6 项目范围确认</vt:lpstr>
      <vt:lpstr>11.6 项目范围确认</vt:lpstr>
      <vt:lpstr>11.6 项目范围确认</vt:lpstr>
      <vt:lpstr>11.7 项目范围控制</vt:lpstr>
      <vt:lpstr>11.7 项目范围控制</vt:lpstr>
      <vt:lpstr>11.7 项目范围控制</vt:lpstr>
      <vt:lpstr>11.7 项目范围控制</vt:lpstr>
      <vt:lpstr>11.7 项目范围控制</vt:lpstr>
      <vt:lpstr>11.7 项目范围控制</vt:lpstr>
      <vt:lpstr>11.7 项目范围控制</vt:lpstr>
      <vt:lpstr>11.7 项目范围控制</vt:lpstr>
      <vt:lpstr>11.7 项目范围控制</vt:lpstr>
      <vt:lpstr>11.7 项目范围控制</vt:lpstr>
      <vt:lpstr>扩展阅读</vt:lpstr>
      <vt:lpstr>扩展阅读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Xunzhao Yin</cp:lastModifiedBy>
  <cp:revision>1450</cp:revision>
  <cp:lastPrinted>2023-05-29T09:43:40Z</cp:lastPrinted>
  <dcterms:created xsi:type="dcterms:W3CDTF">2012-01-19T22:55:00Z</dcterms:created>
  <dcterms:modified xsi:type="dcterms:W3CDTF">2024-05-28T14:07:56Z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