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notesMasterIdLst>
    <p:notesMasterId r:id="rId41"/>
  </p:notesMasterIdLst>
  <p:handoutMasterIdLst>
    <p:handoutMasterId r:id="rId42"/>
  </p:handoutMasterIdLst>
  <p:sldIdLst>
    <p:sldId id="454" r:id="rId2"/>
    <p:sldId id="485" r:id="rId3"/>
    <p:sldId id="486" r:id="rId4"/>
    <p:sldId id="487" r:id="rId5"/>
    <p:sldId id="455" r:id="rId6"/>
    <p:sldId id="521" r:id="rId7"/>
    <p:sldId id="457" r:id="rId8"/>
    <p:sldId id="458" r:id="rId9"/>
    <p:sldId id="522" r:id="rId10"/>
    <p:sldId id="520" r:id="rId11"/>
    <p:sldId id="488" r:id="rId12"/>
    <p:sldId id="519" r:id="rId13"/>
    <p:sldId id="459" r:id="rId14"/>
    <p:sldId id="528" r:id="rId15"/>
    <p:sldId id="529" r:id="rId16"/>
    <p:sldId id="489" r:id="rId17"/>
    <p:sldId id="490" r:id="rId18"/>
    <p:sldId id="461" r:id="rId19"/>
    <p:sldId id="463" r:id="rId20"/>
    <p:sldId id="523" r:id="rId21"/>
    <p:sldId id="524" r:id="rId22"/>
    <p:sldId id="494" r:id="rId23"/>
    <p:sldId id="495" r:id="rId24"/>
    <p:sldId id="525" r:id="rId25"/>
    <p:sldId id="496" r:id="rId26"/>
    <p:sldId id="497" r:id="rId27"/>
    <p:sldId id="503" r:id="rId28"/>
    <p:sldId id="504" r:id="rId29"/>
    <p:sldId id="499" r:id="rId30"/>
    <p:sldId id="502" r:id="rId31"/>
    <p:sldId id="481" r:id="rId32"/>
    <p:sldId id="507" r:id="rId33"/>
    <p:sldId id="509" r:id="rId34"/>
    <p:sldId id="511" r:id="rId35"/>
    <p:sldId id="513" r:id="rId36"/>
    <p:sldId id="515" r:id="rId37"/>
    <p:sldId id="516" r:id="rId38"/>
    <p:sldId id="517" r:id="rId39"/>
    <p:sldId id="526" r:id="rId4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80"/>
    <a:srgbClr val="FF3300"/>
    <a:srgbClr val="FF9966"/>
    <a:srgbClr val="FF9933"/>
    <a:srgbClr val="FFFF00"/>
    <a:srgbClr val="757E30"/>
    <a:srgbClr val="33CC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64" autoAdjust="0"/>
    <p:restoredTop sz="94643" autoAdjust="0"/>
  </p:normalViewPr>
  <p:slideViewPr>
    <p:cSldViewPr>
      <p:cViewPr varScale="1">
        <p:scale>
          <a:sx n="66" d="100"/>
          <a:sy n="66" d="100"/>
        </p:scale>
        <p:origin x="1048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21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xmlns="" id="{6C9380B5-5FC8-4366-A3BA-C8D2DE6B41C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xmlns="" id="{7F3B04AD-A690-4484-A25B-5EAB335442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xmlns="" id="{6CE84FED-0C6E-4512-94D7-0EBD5E08A95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xmlns="" id="{774B2F01-77B2-4894-8FDE-DE100BEDB60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fld id="{CDD67740-6C2D-4ECA-8D0C-3FD6AFF8860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xmlns="" id="{598B0D37-45AE-4EAB-B83C-AB029468911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xmlns="" id="{05DFD14D-8BA7-49ED-AA29-86C2FFD6919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xmlns="" id="{2DE40DB2-E32F-48B2-B496-FB9A46BCB688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xmlns="" id="{074BBFF5-100D-4E28-8068-1E15E80B257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xmlns="" id="{B607350F-756A-4FF0-9927-EE949FB13BF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xmlns="" id="{9CCAF23A-32AD-4475-A44D-6C85F03040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fld id="{F6C14BAC-5E1C-4119-BA6A-EBFE9DE1701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85366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186" name="Group 2">
            <a:extLst>
              <a:ext uri="{FF2B5EF4-FFF2-40B4-BE49-F238E27FC236}">
                <a16:creationId xmlns:a16="http://schemas.microsoft.com/office/drawing/2014/main" xmlns="" id="{100C3BEE-AD26-4662-9C60-64D29E4EAE5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349187" name="Rectangle 3">
              <a:extLst>
                <a:ext uri="{FF2B5EF4-FFF2-40B4-BE49-F238E27FC236}">
                  <a16:creationId xmlns:a16="http://schemas.microsoft.com/office/drawing/2014/main" xmlns="" id="{D638B5CA-7056-4EDB-BD88-FEAA0290637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49188" name="Rectangle 4">
              <a:extLst>
                <a:ext uri="{FF2B5EF4-FFF2-40B4-BE49-F238E27FC236}">
                  <a16:creationId xmlns:a16="http://schemas.microsoft.com/office/drawing/2014/main" xmlns="" id="{A3103948-3914-4248-8D8B-1CF5BA288E58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349189" name="Group 5">
              <a:extLst>
                <a:ext uri="{FF2B5EF4-FFF2-40B4-BE49-F238E27FC236}">
                  <a16:creationId xmlns:a16="http://schemas.microsoft.com/office/drawing/2014/main" xmlns="" id="{D0A591C7-C210-4D20-B946-58DA1C75A5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349190" name="Rectangle 6">
                <a:extLst>
                  <a:ext uri="{FF2B5EF4-FFF2-40B4-BE49-F238E27FC236}">
                    <a16:creationId xmlns:a16="http://schemas.microsoft.com/office/drawing/2014/main" xmlns="" id="{A4443F8F-069E-471B-945F-224F87637C7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9191" name="Rectangle 7">
                <a:extLst>
                  <a:ext uri="{FF2B5EF4-FFF2-40B4-BE49-F238E27FC236}">
                    <a16:creationId xmlns:a16="http://schemas.microsoft.com/office/drawing/2014/main" xmlns="" id="{2B262E0E-8E9D-49EC-A52F-0CB623F744F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9192" name="Rectangle 8">
                <a:extLst>
                  <a:ext uri="{FF2B5EF4-FFF2-40B4-BE49-F238E27FC236}">
                    <a16:creationId xmlns:a16="http://schemas.microsoft.com/office/drawing/2014/main" xmlns="" id="{2516B032-4E35-4CC8-AC2E-5E9ED373C34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9193" name="Rectangle 9">
                <a:extLst>
                  <a:ext uri="{FF2B5EF4-FFF2-40B4-BE49-F238E27FC236}">
                    <a16:creationId xmlns:a16="http://schemas.microsoft.com/office/drawing/2014/main" xmlns="" id="{5114EAE6-FE15-4D8A-BDE8-25D66F9C7E9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9194" name="Rectangle 10">
                <a:extLst>
                  <a:ext uri="{FF2B5EF4-FFF2-40B4-BE49-F238E27FC236}">
                    <a16:creationId xmlns:a16="http://schemas.microsoft.com/office/drawing/2014/main" xmlns="" id="{8515F7B5-31A3-4605-A0EC-AB15459E88B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9195" name="Rectangle 11">
                <a:extLst>
                  <a:ext uri="{FF2B5EF4-FFF2-40B4-BE49-F238E27FC236}">
                    <a16:creationId xmlns:a16="http://schemas.microsoft.com/office/drawing/2014/main" xmlns="" id="{D8AAF577-9E0D-48CF-A4C1-F6BAC0B63F5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9196" name="Rectangle 12">
                <a:extLst>
                  <a:ext uri="{FF2B5EF4-FFF2-40B4-BE49-F238E27FC236}">
                    <a16:creationId xmlns:a16="http://schemas.microsoft.com/office/drawing/2014/main" xmlns="" id="{252AE910-D760-4804-B54A-BB719A71457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9197" name="Rectangle 13">
                <a:extLst>
                  <a:ext uri="{FF2B5EF4-FFF2-40B4-BE49-F238E27FC236}">
                    <a16:creationId xmlns:a16="http://schemas.microsoft.com/office/drawing/2014/main" xmlns="" id="{FAF318D6-04E6-4F70-86BC-6193B254D8B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9198" name="Rectangle 14">
                <a:extLst>
                  <a:ext uri="{FF2B5EF4-FFF2-40B4-BE49-F238E27FC236}">
                    <a16:creationId xmlns:a16="http://schemas.microsoft.com/office/drawing/2014/main" xmlns="" id="{2DF5DE87-4ABD-456D-9484-69138F71734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9199" name="Rectangle 15">
                <a:extLst>
                  <a:ext uri="{FF2B5EF4-FFF2-40B4-BE49-F238E27FC236}">
                    <a16:creationId xmlns:a16="http://schemas.microsoft.com/office/drawing/2014/main" xmlns="" id="{AEE9E08C-A179-43CE-924F-0764A1444B7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49200" name="Rectangle 16">
            <a:extLst>
              <a:ext uri="{FF2B5EF4-FFF2-40B4-BE49-F238E27FC236}">
                <a16:creationId xmlns:a16="http://schemas.microsoft.com/office/drawing/2014/main" xmlns="" id="{77E2EDA0-0849-4D70-A0FA-58162464402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49201" name="Rectangle 17">
            <a:extLst>
              <a:ext uri="{FF2B5EF4-FFF2-40B4-BE49-F238E27FC236}">
                <a16:creationId xmlns:a16="http://schemas.microsoft.com/office/drawing/2014/main" xmlns="" id="{0653B731-BF18-4526-9CAC-8CB17AB0585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49202" name="Rectangle 18">
            <a:extLst>
              <a:ext uri="{FF2B5EF4-FFF2-40B4-BE49-F238E27FC236}">
                <a16:creationId xmlns:a16="http://schemas.microsoft.com/office/drawing/2014/main" xmlns="" id="{579B1106-0365-445F-AC31-B279070020E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D94DA554-D5D6-4815-98AC-AB64FEA1881D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349203" name="Rectangle 19">
            <a:extLst>
              <a:ext uri="{FF2B5EF4-FFF2-40B4-BE49-F238E27FC236}">
                <a16:creationId xmlns:a16="http://schemas.microsoft.com/office/drawing/2014/main" xmlns="" id="{8F5E28B4-CEEE-45AC-AA6B-4DA7B5ABA4C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349204" name="Rectangle 20">
            <a:extLst>
              <a:ext uri="{FF2B5EF4-FFF2-40B4-BE49-F238E27FC236}">
                <a16:creationId xmlns:a16="http://schemas.microsoft.com/office/drawing/2014/main" xmlns="" id="{22216E52-EC14-4C2B-BDA3-06A767D9BA1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A8EA6AED-7A29-421A-B939-3741DC787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AB29FB7F-1FD0-4B40-9C9C-7A793CF96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26C9201D-7BBB-4BEF-8169-D745F3159B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05959DF8-EAFB-476F-9BE2-284A8067C5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79765E9-CF30-4123-AE8D-D6410B54E029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xmlns="" id="{17A7EEE9-9A1E-4B38-8A2C-19568FBD661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0600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D4B1FA8-66A0-463D-9A89-159A784D5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19AF9EF4-CBAF-45AD-BB1A-50E09ADD5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E28838A4-7F4F-4EC7-9BDD-524A29B1D9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883D3558-713D-4422-944A-646DA2026B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3F5A567-B198-44DA-B822-255BE75EF341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xmlns="" id="{1106839E-1CB5-4F1F-B89B-620EBF903A2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2795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EB8CA3D5-93B0-4DEE-930B-3FB98B685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D78B5175-9C81-4F82-BB48-C9D585A0AD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5496A87C-15C4-4401-9291-E1ACBABFF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A50AB467-4B98-4667-85BF-8679456940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2AB3C4D7-C04B-4F15-86A7-EAB6E82FEF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05773F7-EA98-4375-9398-5C970A8FF4D9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38A3EE67-F532-44C0-9FA4-AB1F04F345A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35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3D3D0FA4-DE44-47F2-A8EB-8B5CE832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F90154E7-A901-4394-965E-0FB0CA0EA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72694764-5B07-429D-9978-52F197F12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36C9FEAC-B3B4-4174-A5C6-49663EAEF5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4A6FD721-F68C-4C9D-A856-C87F8E656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xmlns="" id="{31513A3B-C558-4C11-B50E-52DB17576F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xmlns="" id="{7D169EEC-43F7-44D8-B050-F7B962597E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60150C7-3BDA-494F-AF38-CC5D9E92A9CC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xmlns="" id="{F1A56966-9AA1-4BF1-BF2B-14A6C216C0D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4148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C829610-D2C5-4AEA-A094-9BEC66EEF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xmlns="" id="{E2F1F4C5-21F5-4F6C-9F47-F45DEB0B91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53A5F13D-3352-4BA1-8328-E783AE3C49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12BFEE-F7A2-494F-8F77-8BA7058E7B48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4B1D37F3-33FA-4F5E-A34B-FA3FE05A3C1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9396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xmlns="" id="{D857DF37-02C2-4083-9897-B8BA04B015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xmlns="" id="{479A1643-6D7B-4F18-86BA-F746E25359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3B92A0E-A82F-47F1-8BCB-A5872D204DA9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7D423979-0849-484A-8D01-3FE500EBDA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8156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06243079-5DB1-4F5A-A776-776224A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07D4419E-5BE3-4A69-9A66-5614E113F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40B0F837-CF2A-475A-A416-2B7398E96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FFF66273-FF14-45A8-824A-F9767CAD1C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99D4D399-A2FE-4AEF-8EE3-56A8C85CF6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190B70D-564D-445A-8D44-B8FE2B2CD732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054AAA05-C865-415B-80E9-60C4A7C5F55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9889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D601071-ECD4-4531-A460-8EF5032F6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8E1B7C21-C736-48E8-8A8D-6C94043ECF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D2E9606E-0BB3-4479-B05B-C5AE63636E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BC8AA2A6-A110-4196-9476-5EFF2A965C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BA0B0337-3BFC-405F-AC48-B55DFD7CD9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8CFF71E-0847-48B1-BA76-70908B694865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313ED8D9-EF53-4DDE-8F91-7869ED3966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9514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815DDD6-960D-4621-B471-AF1220D95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2D159491-AF2E-4C1E-A491-E4FE9152F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BFA813DF-1471-45CD-B20A-12A1B50500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9C73270C-852A-44B6-B4A9-322B71D0EB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D699AE6-0BC9-476A-9E15-1F244C904C62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xmlns="" id="{0C14CC08-191B-4213-B200-EABBA9E2B08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9263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B32C7FC9-682B-481E-980C-AE3EA0A38F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451E4ECD-B206-4434-A0CE-15E3D64468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E4A59C47-7EEE-40BB-9CAA-9244843333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A2DB5440-2ADA-4348-8959-B38A71D545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7F5005B-961B-42DB-B86B-B83122A70113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xmlns="" id="{5F9BFED8-A5C5-487F-BDE3-594BFE0D5EA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9420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>
            <a:extLst>
              <a:ext uri="{FF2B5EF4-FFF2-40B4-BE49-F238E27FC236}">
                <a16:creationId xmlns:a16="http://schemas.microsoft.com/office/drawing/2014/main" xmlns="" id="{802CAB91-BE5A-4B88-98A6-77E85AB8C32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endParaRPr lang="en-US" altLang="zh-CN"/>
          </a:p>
        </p:txBody>
      </p:sp>
      <p:sp>
        <p:nvSpPr>
          <p:cNvPr id="348163" name="Rectangle 3">
            <a:extLst>
              <a:ext uri="{FF2B5EF4-FFF2-40B4-BE49-F238E27FC236}">
                <a16:creationId xmlns:a16="http://schemas.microsoft.com/office/drawing/2014/main" xmlns="" id="{7577A189-16D5-4251-8165-4BFD3CFA568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fld id="{6C7F43E1-1E6D-4F4C-92C3-3AFF90EA8163}" type="slidenum">
              <a:rPr lang="zh-CN" altLang="en-US"/>
              <a:pPr/>
              <a:t>‹#›</a:t>
            </a:fld>
            <a:endParaRPr lang="en-US" altLang="zh-CN"/>
          </a:p>
        </p:txBody>
      </p:sp>
      <p:grpSp>
        <p:nvGrpSpPr>
          <p:cNvPr id="348164" name="Group 4">
            <a:extLst>
              <a:ext uri="{FF2B5EF4-FFF2-40B4-BE49-F238E27FC236}">
                <a16:creationId xmlns:a16="http://schemas.microsoft.com/office/drawing/2014/main" xmlns="" id="{6D2888BB-1F4E-40D0-AA22-7D5891E4B97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348165" name="Rectangle 5">
              <a:extLst>
                <a:ext uri="{FF2B5EF4-FFF2-40B4-BE49-F238E27FC236}">
                  <a16:creationId xmlns:a16="http://schemas.microsoft.com/office/drawing/2014/main" xmlns="" id="{5141A776-0336-41A2-B74D-B50A2E9AD3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48166" name="Rectangle 6">
              <a:extLst>
                <a:ext uri="{FF2B5EF4-FFF2-40B4-BE49-F238E27FC236}">
                  <a16:creationId xmlns:a16="http://schemas.microsoft.com/office/drawing/2014/main" xmlns="" id="{FDDDCFDB-E6D2-48EE-824D-DC8110D0F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48167" name="Rectangle 7">
              <a:extLst>
                <a:ext uri="{FF2B5EF4-FFF2-40B4-BE49-F238E27FC236}">
                  <a16:creationId xmlns:a16="http://schemas.microsoft.com/office/drawing/2014/main" xmlns="" id="{061475C6-E9AC-4E58-B916-EF9EADC2F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348168" name="Rectangle 8">
              <a:extLst>
                <a:ext uri="{FF2B5EF4-FFF2-40B4-BE49-F238E27FC236}">
                  <a16:creationId xmlns:a16="http://schemas.microsoft.com/office/drawing/2014/main" xmlns="" id="{B9BAF160-22C7-4E73-9DE3-977EA0B25D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348169" name="Rectangle 9">
              <a:extLst>
                <a:ext uri="{FF2B5EF4-FFF2-40B4-BE49-F238E27FC236}">
                  <a16:creationId xmlns:a16="http://schemas.microsoft.com/office/drawing/2014/main" xmlns="" id="{CDCEEF98-A4FC-4174-A61D-18074FD12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348170" name="Rectangle 10">
              <a:extLst>
                <a:ext uri="{FF2B5EF4-FFF2-40B4-BE49-F238E27FC236}">
                  <a16:creationId xmlns:a16="http://schemas.microsoft.com/office/drawing/2014/main" xmlns="" id="{3CB6A0DB-134B-4ADE-8D1E-D237CE39A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348171" name="Rectangle 11">
              <a:extLst>
                <a:ext uri="{FF2B5EF4-FFF2-40B4-BE49-F238E27FC236}">
                  <a16:creationId xmlns:a16="http://schemas.microsoft.com/office/drawing/2014/main" xmlns="" id="{B4D7DD23-952A-4F1D-8CE4-E3BBED924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48172" name="Rectangle 12">
              <a:extLst>
                <a:ext uri="{FF2B5EF4-FFF2-40B4-BE49-F238E27FC236}">
                  <a16:creationId xmlns:a16="http://schemas.microsoft.com/office/drawing/2014/main" xmlns="" id="{FA090CEA-5172-4D4D-AC27-418DCC517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348173" name="Rectangle 13">
              <a:extLst>
                <a:ext uri="{FF2B5EF4-FFF2-40B4-BE49-F238E27FC236}">
                  <a16:creationId xmlns:a16="http://schemas.microsoft.com/office/drawing/2014/main" xmlns="" id="{B53CE256-BB38-4BBE-A396-55FBFBBC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348174" name="Rectangle 14">
            <a:extLst>
              <a:ext uri="{FF2B5EF4-FFF2-40B4-BE49-F238E27FC236}">
                <a16:creationId xmlns:a16="http://schemas.microsoft.com/office/drawing/2014/main" xmlns="" id="{B4A7683A-91C4-4C34-B3D7-F7A51B8C02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48175" name="Rectangle 15">
            <a:extLst>
              <a:ext uri="{FF2B5EF4-FFF2-40B4-BE49-F238E27FC236}">
                <a16:creationId xmlns:a16="http://schemas.microsoft.com/office/drawing/2014/main" xmlns="" id="{D327778D-A5A1-4BA1-A248-42438B1494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48176" name="Rectangle 16">
            <a:extLst>
              <a:ext uri="{FF2B5EF4-FFF2-40B4-BE49-F238E27FC236}">
                <a16:creationId xmlns:a16="http://schemas.microsoft.com/office/drawing/2014/main" xmlns="" id="{475D5D99-BE3B-4416-8AD7-3C486D3032B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b="1" kern="1200">
          <a:solidFill>
            <a:schemeClr val="hlink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>
            <a:extLst>
              <a:ext uri="{FF2B5EF4-FFF2-40B4-BE49-F238E27FC236}">
                <a16:creationId xmlns:a16="http://schemas.microsoft.com/office/drawing/2014/main" xmlns="" id="{E01D5FDA-8E79-4EAF-BC98-FA1D9F1A7D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Chap</a:t>
            </a:r>
            <a:r>
              <a:rPr lang="zh-CN" altLang="en-US"/>
              <a:t> </a:t>
            </a:r>
            <a:r>
              <a:rPr lang="en-US" altLang="zh-CN"/>
              <a:t>12  </a:t>
            </a:r>
            <a:r>
              <a:rPr lang="zh-CN" altLang="en-US"/>
              <a:t>文件</a:t>
            </a:r>
          </a:p>
        </p:txBody>
      </p:sp>
      <p:sp>
        <p:nvSpPr>
          <p:cNvPr id="387075" name="Rectangle 3">
            <a:extLst>
              <a:ext uri="{FF2B5EF4-FFF2-40B4-BE49-F238E27FC236}">
                <a16:creationId xmlns:a16="http://schemas.microsoft.com/office/drawing/2014/main" xmlns="" id="{2804E135-3320-4FF9-A2DE-3310EBCD73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349500"/>
            <a:ext cx="8002587" cy="376713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12.1 </a:t>
            </a:r>
            <a:r>
              <a:rPr lang="zh-CN" altLang="en-US" dirty="0"/>
              <a:t>素数文件  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12.2 </a:t>
            </a:r>
            <a:r>
              <a:rPr lang="zh-CN" altLang="en-US" dirty="0"/>
              <a:t>用户信息加密和校验 </a:t>
            </a:r>
          </a:p>
          <a:p>
            <a:pPr>
              <a:lnSpc>
                <a:spcPct val="15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12.3 </a:t>
            </a:r>
            <a:r>
              <a:rPr lang="zh-CN" altLang="en-US" dirty="0"/>
              <a:t>文件综合应用：资金账户管理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>
            <a:extLst>
              <a:ext uri="{FF2B5EF4-FFF2-40B4-BE49-F238E27FC236}">
                <a16:creationId xmlns:a16="http://schemas.microsoft.com/office/drawing/2014/main" xmlns="" id="{17FACD3C-DD91-4479-8EB0-ED1A8C1DC2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本章要点</a:t>
            </a:r>
          </a:p>
        </p:txBody>
      </p:sp>
      <p:sp>
        <p:nvSpPr>
          <p:cNvPr id="418819" name="Rectangle 3">
            <a:extLst>
              <a:ext uri="{FF2B5EF4-FFF2-40B4-BE49-F238E27FC236}">
                <a16:creationId xmlns:a16="http://schemas.microsoft.com/office/drawing/2014/main" xmlns="" id="{0D1272ED-5F33-4D3A-A393-D1DD226416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7761287" cy="38862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800" dirty="0"/>
              <a:t>什么是文件？</a:t>
            </a:r>
            <a:r>
              <a:rPr lang="en-US" altLang="zh-CN" sz="2800" dirty="0"/>
              <a:t>C</a:t>
            </a:r>
            <a:r>
              <a:rPr lang="zh-CN" altLang="en-US" sz="2800" dirty="0"/>
              <a:t>文件是如何存储的？</a:t>
            </a:r>
          </a:p>
          <a:p>
            <a:pPr>
              <a:spcBef>
                <a:spcPct val="50000"/>
              </a:spcBef>
            </a:pPr>
            <a:r>
              <a:rPr lang="zh-CN" altLang="en-US" sz="2800" dirty="0"/>
              <a:t>什么是文件缓冲系统？工作原理如何？</a:t>
            </a:r>
          </a:p>
          <a:p>
            <a:pPr>
              <a:spcBef>
                <a:spcPct val="50000"/>
              </a:spcBef>
            </a:pPr>
            <a:r>
              <a:rPr lang="zh-CN" altLang="en-US" sz="2800" dirty="0"/>
              <a:t>什么是文本文件和二进制文件？</a:t>
            </a:r>
          </a:p>
          <a:p>
            <a:pPr>
              <a:spcBef>
                <a:spcPct val="50000"/>
              </a:spcBef>
            </a:pPr>
            <a:r>
              <a:rPr lang="zh-CN" altLang="en-US" sz="2800" dirty="0"/>
              <a:t>怎样打开、关闭文件？</a:t>
            </a:r>
          </a:p>
          <a:p>
            <a:pPr>
              <a:spcBef>
                <a:spcPct val="50000"/>
              </a:spcBef>
            </a:pPr>
            <a:r>
              <a:rPr lang="zh-CN" altLang="en-US" sz="2800" dirty="0"/>
              <a:t>怎样编写文件读写程序？</a:t>
            </a:r>
          </a:p>
          <a:p>
            <a:pPr>
              <a:spcBef>
                <a:spcPct val="50000"/>
              </a:spcBef>
            </a:pPr>
            <a:r>
              <a:rPr lang="zh-CN" altLang="en-US" sz="2800" dirty="0"/>
              <a:t>怎样编写程序，实现简单的数据处理？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>
            <a:extLst>
              <a:ext uri="{FF2B5EF4-FFF2-40B4-BE49-F238E27FC236}">
                <a16:creationId xmlns:a16="http://schemas.microsoft.com/office/drawing/2014/main" xmlns="" id="{A1D8A28E-830E-4824-88FF-8C8D527025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552" y="341970"/>
            <a:ext cx="3672656" cy="884238"/>
          </a:xfrm>
        </p:spPr>
        <p:txBody>
          <a:bodyPr/>
          <a:lstStyle/>
          <a:p>
            <a:r>
              <a:rPr lang="en-US" altLang="zh-CN" sz="3600" dirty="0"/>
              <a:t>12.1  </a:t>
            </a:r>
            <a:r>
              <a:rPr lang="zh-CN" altLang="en-US" sz="3600" dirty="0"/>
              <a:t>素数文件</a:t>
            </a:r>
          </a:p>
        </p:txBody>
      </p:sp>
      <p:sp>
        <p:nvSpPr>
          <p:cNvPr id="419843" name="Rectangle 3">
            <a:extLst>
              <a:ext uri="{FF2B5EF4-FFF2-40B4-BE49-F238E27FC236}">
                <a16:creationId xmlns:a16="http://schemas.microsoft.com/office/drawing/2014/main" xmlns="" id="{5B301537-2A1D-4AB4-BE99-1F1CA1D08B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528" y="1090192"/>
            <a:ext cx="8137028" cy="884239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【</a:t>
            </a:r>
            <a:r>
              <a:rPr lang="zh-CN" altLang="en-US" sz="2800" dirty="0"/>
              <a:t>例</a:t>
            </a:r>
            <a:r>
              <a:rPr lang="en-US" altLang="zh-CN" sz="2800" dirty="0"/>
              <a:t>12-1】</a:t>
            </a:r>
            <a:r>
              <a:rPr lang="zh-CN" altLang="en-US" sz="2800" dirty="0"/>
              <a:t>从</a:t>
            </a:r>
            <a:r>
              <a:rPr lang="en-US" altLang="zh-CN" sz="2800" dirty="0"/>
              <a:t>2</a:t>
            </a:r>
            <a:r>
              <a:rPr lang="zh-CN" altLang="en-US" sz="2800" dirty="0"/>
              <a:t>开始依次找出</a:t>
            </a:r>
            <a:r>
              <a:rPr lang="en-US" altLang="zh-CN" sz="2800" dirty="0"/>
              <a:t>500</a:t>
            </a:r>
            <a:r>
              <a:rPr lang="zh-CN" altLang="en-US" sz="2800" dirty="0"/>
              <a:t>个素数，将这些素数存入文本文件</a:t>
            </a:r>
            <a:r>
              <a:rPr lang="en-US" altLang="zh-CN" sz="2800" dirty="0"/>
              <a:t>prime.txt</a:t>
            </a:r>
            <a:r>
              <a:rPr lang="zh-CN" altLang="en-US" sz="2800" dirty="0"/>
              <a:t>中。</a:t>
            </a:r>
          </a:p>
        </p:txBody>
      </p:sp>
      <p:sp>
        <p:nvSpPr>
          <p:cNvPr id="419847" name="Rectangle 7">
            <a:extLst>
              <a:ext uri="{FF2B5EF4-FFF2-40B4-BE49-F238E27FC236}">
                <a16:creationId xmlns:a16="http://schemas.microsoft.com/office/drawing/2014/main" xmlns="" id="{F190404C-F923-4461-BBD7-F57FA4ED7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84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xmlns="" id="{A0F4FD62-2250-4A8A-95C7-397A63F26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888" y="2152651"/>
            <a:ext cx="6588224" cy="4407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7" name="Rectangle 3">
            <a:extLst>
              <a:ext uri="{FF2B5EF4-FFF2-40B4-BE49-F238E27FC236}">
                <a16:creationId xmlns:a16="http://schemas.microsoft.com/office/drawing/2014/main" xmlns="" id="{0522C36E-3E2D-4562-9C31-42B6A8B95A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7337" y="382587"/>
            <a:ext cx="8569325" cy="6475413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2000" dirty="0"/>
              <a:t>#include &lt;</a:t>
            </a:r>
            <a:r>
              <a:rPr lang="en-US" altLang="zh-CN" sz="2000" dirty="0" err="1"/>
              <a:t>stdio.h</a:t>
            </a:r>
            <a:r>
              <a:rPr lang="en-US" altLang="zh-CN" sz="2000" dirty="0"/>
              <a:t>&gt;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2000" dirty="0"/>
              <a:t>#include &lt;</a:t>
            </a:r>
            <a:r>
              <a:rPr lang="en-US" altLang="zh-CN" sz="2000" dirty="0" err="1"/>
              <a:t>stdlib.h</a:t>
            </a:r>
            <a:r>
              <a:rPr lang="en-US" altLang="zh-CN" sz="2000" dirty="0"/>
              <a:t>&gt; #include &lt;</a:t>
            </a:r>
            <a:r>
              <a:rPr lang="en-US" altLang="zh-CN" sz="2000" dirty="0" err="1"/>
              <a:t>math.h</a:t>
            </a:r>
            <a:r>
              <a:rPr lang="en-US" altLang="zh-CN" sz="2000" dirty="0"/>
              <a:t>&gt;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2000" dirty="0"/>
              <a:t>int prime(int n);  /* </a:t>
            </a:r>
            <a:r>
              <a:rPr lang="zh-CN" altLang="en-US" sz="2000" dirty="0"/>
              <a:t>函数声明，定义略 </a:t>
            </a:r>
            <a:r>
              <a:rPr lang="en-US" altLang="zh-CN" sz="2000" dirty="0"/>
              <a:t>*/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2000" dirty="0"/>
              <a:t>int main(void)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2000" dirty="0"/>
              <a:t>{     int n = 2, count = 0;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C00000"/>
                </a:solidFill>
              </a:rPr>
              <a:t>FILE *</a:t>
            </a:r>
            <a:r>
              <a:rPr lang="en-US" altLang="zh-CN" sz="2000" dirty="0" err="1">
                <a:solidFill>
                  <a:srgbClr val="C00000"/>
                </a:solidFill>
              </a:rPr>
              <a:t>fp</a:t>
            </a:r>
            <a:r>
              <a:rPr lang="en-US" altLang="zh-CN" sz="2000" dirty="0"/>
              <a:t>;              			               /* </a:t>
            </a:r>
            <a:r>
              <a:rPr lang="en-US" altLang="zh-CN" sz="2000" dirty="0">
                <a:solidFill>
                  <a:schemeClr val="bg2"/>
                </a:solidFill>
              </a:rPr>
              <a:t>(1) </a:t>
            </a:r>
            <a:r>
              <a:rPr lang="zh-CN" altLang="en-US" sz="2000" dirty="0">
                <a:solidFill>
                  <a:schemeClr val="bg2"/>
                </a:solidFill>
              </a:rPr>
              <a:t>定义文件指针</a:t>
            </a:r>
            <a:r>
              <a:rPr lang="zh-CN" altLang="en-US" sz="2000" dirty="0"/>
              <a:t> *</a:t>
            </a:r>
            <a:r>
              <a:rPr lang="en-US" altLang="zh-CN" sz="2000" dirty="0"/>
              <a:t>/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2000" dirty="0"/>
              <a:t>if(</a:t>
            </a:r>
            <a:r>
              <a:rPr lang="en-US" altLang="zh-CN" sz="2000" dirty="0">
                <a:solidFill>
                  <a:srgbClr val="C00000"/>
                </a:solidFill>
              </a:rPr>
              <a:t>(</a:t>
            </a:r>
            <a:r>
              <a:rPr lang="en-US" altLang="zh-CN" sz="2000" dirty="0" err="1">
                <a:solidFill>
                  <a:srgbClr val="C00000"/>
                </a:solidFill>
              </a:rPr>
              <a:t>fp</a:t>
            </a:r>
            <a:r>
              <a:rPr lang="en-US" altLang="zh-CN" sz="2000" dirty="0">
                <a:solidFill>
                  <a:srgbClr val="C00000"/>
                </a:solidFill>
              </a:rPr>
              <a:t> = </a:t>
            </a:r>
            <a:r>
              <a:rPr lang="en-US" altLang="zh-CN" sz="2000" dirty="0" err="1">
                <a:solidFill>
                  <a:srgbClr val="C00000"/>
                </a:solidFill>
              </a:rPr>
              <a:t>fopen</a:t>
            </a:r>
            <a:r>
              <a:rPr lang="en-US" altLang="zh-CN" sz="2000" dirty="0">
                <a:solidFill>
                  <a:srgbClr val="C00000"/>
                </a:solidFill>
              </a:rPr>
              <a:t>("</a:t>
            </a:r>
            <a:r>
              <a:rPr lang="en-US" altLang="zh-CN" sz="2000" dirty="0" err="1">
                <a:solidFill>
                  <a:srgbClr val="C00000"/>
                </a:solidFill>
              </a:rPr>
              <a:t>prime.txt","w</a:t>
            </a:r>
            <a:r>
              <a:rPr lang="en-US" altLang="zh-CN" sz="2000" dirty="0">
                <a:solidFill>
                  <a:srgbClr val="C00000"/>
                </a:solidFill>
              </a:rPr>
              <a:t>")) == NULL</a:t>
            </a:r>
            <a:r>
              <a:rPr lang="en-US" altLang="zh-CN" sz="2000" dirty="0"/>
              <a:t>){   /*</a:t>
            </a:r>
            <a:r>
              <a:rPr lang="en-US" altLang="zh-CN" sz="2000" dirty="0">
                <a:solidFill>
                  <a:schemeClr val="bg2"/>
                </a:solidFill>
              </a:rPr>
              <a:t> (2) </a:t>
            </a:r>
            <a:r>
              <a:rPr lang="zh-CN" altLang="en-US" sz="2000" dirty="0">
                <a:solidFill>
                  <a:schemeClr val="bg2"/>
                </a:solidFill>
              </a:rPr>
              <a:t>打开文件</a:t>
            </a:r>
            <a:r>
              <a:rPr lang="zh-CN" altLang="en-US" sz="2000" dirty="0"/>
              <a:t> *</a:t>
            </a:r>
            <a:r>
              <a:rPr lang="en-US" altLang="zh-CN" sz="2000" dirty="0"/>
              <a:t>/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("File open error!\n");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2000" dirty="0"/>
              <a:t>    exit(0);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2000" dirty="0"/>
              <a:t>}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2000" dirty="0"/>
              <a:t>while(count &lt; 500){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2000" dirty="0"/>
              <a:t>    if(prime(n) != 0){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2000" dirty="0"/>
              <a:t>        count++;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2000" dirty="0"/>
              <a:t>        </a:t>
            </a:r>
            <a:r>
              <a:rPr lang="en-US" altLang="zh-CN" sz="2000" dirty="0" err="1">
                <a:solidFill>
                  <a:srgbClr val="C00000"/>
                </a:solidFill>
              </a:rPr>
              <a:t>fprintf</a:t>
            </a:r>
            <a:r>
              <a:rPr lang="en-US" altLang="zh-CN" sz="2000" dirty="0">
                <a:solidFill>
                  <a:srgbClr val="C00000"/>
                </a:solidFill>
              </a:rPr>
              <a:t>(</a:t>
            </a:r>
            <a:r>
              <a:rPr lang="en-US" altLang="zh-CN" sz="2000" dirty="0" err="1">
                <a:solidFill>
                  <a:srgbClr val="C00000"/>
                </a:solidFill>
              </a:rPr>
              <a:t>fp</a:t>
            </a:r>
            <a:r>
              <a:rPr lang="en-US" altLang="zh-CN" sz="2000" dirty="0">
                <a:solidFill>
                  <a:srgbClr val="C00000"/>
                </a:solidFill>
              </a:rPr>
              <a:t>, "%d ", n)</a:t>
            </a:r>
            <a:r>
              <a:rPr lang="en-US" altLang="zh-CN" sz="2000" dirty="0"/>
              <a:t>;  			/* </a:t>
            </a:r>
            <a:r>
              <a:rPr lang="en-US" altLang="zh-CN" sz="2000" dirty="0">
                <a:solidFill>
                  <a:schemeClr val="bg2"/>
                </a:solidFill>
              </a:rPr>
              <a:t>(3) </a:t>
            </a:r>
            <a:r>
              <a:rPr lang="zh-CN" altLang="en-US" sz="2000" dirty="0">
                <a:solidFill>
                  <a:schemeClr val="bg2"/>
                </a:solidFill>
              </a:rPr>
              <a:t>文件处理</a:t>
            </a:r>
            <a:r>
              <a:rPr lang="en-US" altLang="zh-CN" sz="2000" dirty="0">
                <a:solidFill>
                  <a:schemeClr val="bg2"/>
                </a:solidFill>
              </a:rPr>
              <a:t>-</a:t>
            </a:r>
            <a:r>
              <a:rPr lang="zh-CN" altLang="en-US" sz="2000" dirty="0">
                <a:solidFill>
                  <a:schemeClr val="bg2"/>
                </a:solidFill>
              </a:rPr>
              <a:t>写入</a:t>
            </a:r>
            <a:r>
              <a:rPr lang="zh-CN" altLang="en-US" sz="2000" dirty="0"/>
              <a:t> *</a:t>
            </a:r>
            <a:r>
              <a:rPr lang="en-US" altLang="zh-CN" sz="2000" dirty="0"/>
              <a:t>/ 	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2000" dirty="0"/>
              <a:t>    }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2000" dirty="0"/>
              <a:t>    n++;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2000" dirty="0"/>
              <a:t>}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2000" dirty="0"/>
              <a:t>if(</a:t>
            </a:r>
            <a:r>
              <a:rPr lang="en-US" altLang="zh-CN" sz="2000" dirty="0" err="1">
                <a:solidFill>
                  <a:srgbClr val="C00000"/>
                </a:solidFill>
              </a:rPr>
              <a:t>fclose</a:t>
            </a:r>
            <a:r>
              <a:rPr lang="en-US" altLang="zh-CN" sz="2000" dirty="0">
                <a:solidFill>
                  <a:srgbClr val="C00000"/>
                </a:solidFill>
              </a:rPr>
              <a:t>(</a:t>
            </a:r>
            <a:r>
              <a:rPr lang="en-US" altLang="zh-CN" sz="2000" dirty="0" err="1">
                <a:solidFill>
                  <a:srgbClr val="C00000"/>
                </a:solidFill>
              </a:rPr>
              <a:t>fp</a:t>
            </a:r>
            <a:r>
              <a:rPr lang="en-US" altLang="zh-CN" sz="2000" dirty="0">
                <a:solidFill>
                  <a:srgbClr val="C00000"/>
                </a:solidFill>
              </a:rPr>
              <a:t>)</a:t>
            </a:r>
            <a:r>
              <a:rPr lang="en-US" altLang="zh-CN" sz="2000" dirty="0"/>
              <a:t>){         		                           /* </a:t>
            </a:r>
            <a:r>
              <a:rPr lang="en-US" altLang="zh-CN" sz="2000" dirty="0">
                <a:solidFill>
                  <a:schemeClr val="bg2"/>
                </a:solidFill>
              </a:rPr>
              <a:t>(4) </a:t>
            </a:r>
            <a:r>
              <a:rPr lang="zh-CN" altLang="en-US" sz="2000" dirty="0">
                <a:solidFill>
                  <a:schemeClr val="bg2"/>
                </a:solidFill>
              </a:rPr>
              <a:t>关闭文件 </a:t>
            </a:r>
            <a:r>
              <a:rPr lang="zh-CN" altLang="en-US" sz="2000" dirty="0"/>
              <a:t>*</a:t>
            </a:r>
            <a:r>
              <a:rPr lang="en-US" altLang="zh-CN" sz="2000" dirty="0"/>
              <a:t>/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("Can not close the file!\n");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2000" dirty="0"/>
              <a:t>    exit(0);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2000" dirty="0"/>
              <a:t>}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2000" dirty="0"/>
              <a:t>return 0;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2000" dirty="0"/>
              <a:t>}</a:t>
            </a:r>
            <a:endParaRPr lang="en-US" altLang="zh-CN" sz="2000" dirty="0">
              <a:solidFill>
                <a:srgbClr val="CC0066"/>
              </a:solidFill>
            </a:endParaRPr>
          </a:p>
        </p:txBody>
      </p:sp>
      <p:sp>
        <p:nvSpPr>
          <p:cNvPr id="420869" name="Rectangle 5">
            <a:extLst>
              <a:ext uri="{FF2B5EF4-FFF2-40B4-BE49-F238E27FC236}">
                <a16:creationId xmlns:a16="http://schemas.microsoft.com/office/drawing/2014/main" xmlns="" id="{1F511E60-126B-481B-9DC3-0246EE38B9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41776" y="260648"/>
            <a:ext cx="3214886" cy="884238"/>
          </a:xfrm>
        </p:spPr>
        <p:txBody>
          <a:bodyPr/>
          <a:lstStyle/>
          <a:p>
            <a:r>
              <a:rPr lang="zh-CN" altLang="en-US" sz="3600" dirty="0"/>
              <a:t>例</a:t>
            </a:r>
            <a:r>
              <a:rPr lang="en-US" altLang="zh-CN" sz="3600" dirty="0"/>
              <a:t>12-1 </a:t>
            </a:r>
            <a:r>
              <a:rPr lang="zh-CN" altLang="en-US" sz="3600" dirty="0"/>
              <a:t>源程序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>
            <a:extLst>
              <a:ext uri="{FF2B5EF4-FFF2-40B4-BE49-F238E27FC236}">
                <a16:creationId xmlns:a16="http://schemas.microsoft.com/office/drawing/2014/main" xmlns="" id="{EB34131D-8EC7-4359-8F6E-9C53EF8EBE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6346825" cy="1027113"/>
          </a:xfrm>
        </p:spPr>
        <p:txBody>
          <a:bodyPr/>
          <a:lstStyle/>
          <a:p>
            <a:r>
              <a:rPr lang="en-US" altLang="zh-CN" sz="3600"/>
              <a:t>12.1.2 </a:t>
            </a:r>
            <a:r>
              <a:rPr lang="zh-CN" altLang="en-US" sz="3600"/>
              <a:t>文件的概念</a:t>
            </a:r>
          </a:p>
        </p:txBody>
      </p:sp>
      <p:sp>
        <p:nvSpPr>
          <p:cNvPr id="388099" name="Rectangle 3">
            <a:extLst>
              <a:ext uri="{FF2B5EF4-FFF2-40B4-BE49-F238E27FC236}">
                <a16:creationId xmlns:a16="http://schemas.microsoft.com/office/drawing/2014/main" xmlns="" id="{5F4FCA69-FCC6-4872-A728-854F40837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700213"/>
            <a:ext cx="8569325" cy="482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文件：操作系统中的文件是指驻留在外部介质（如磁盘等）中的一个有序数据集。</a:t>
            </a:r>
            <a:endParaRPr lang="en-US" altLang="zh-CN"/>
          </a:p>
          <a:p>
            <a:pPr>
              <a:spcBef>
                <a:spcPts val="600"/>
              </a:spcBef>
            </a:pPr>
            <a:r>
              <a:rPr lang="zh-CN" altLang="en-US"/>
              <a:t>各种类型的文件</a:t>
            </a:r>
          </a:p>
          <a:p>
            <a:pPr lvl="1">
              <a:spcBef>
                <a:spcPts val="600"/>
              </a:spcBef>
            </a:pPr>
            <a:r>
              <a:rPr lang="zh-CN" altLang="en-US"/>
              <a:t>程序文件：源文件、目标程序、可执行程序</a:t>
            </a:r>
          </a:p>
          <a:p>
            <a:pPr lvl="1">
              <a:spcBef>
                <a:spcPts val="600"/>
              </a:spcBef>
            </a:pPr>
            <a:r>
              <a:rPr lang="zh-CN" altLang="en-US"/>
              <a:t>数据文件（输入</a:t>
            </a:r>
            <a:r>
              <a:rPr lang="en-US" altLang="zh-CN"/>
              <a:t>/</a:t>
            </a:r>
            <a:r>
              <a:rPr lang="zh-CN" altLang="en-US"/>
              <a:t>输出）</a:t>
            </a:r>
            <a:r>
              <a:rPr lang="en-US" altLang="zh-CN"/>
              <a:t>:  </a:t>
            </a:r>
            <a:r>
              <a:rPr lang="zh-CN" altLang="en-US"/>
              <a:t>文本文件、图像文件、声音文件、可执行文件等</a:t>
            </a:r>
            <a:endParaRPr lang="en-US" altLang="zh-CN"/>
          </a:p>
          <a:p>
            <a:pPr>
              <a:spcBef>
                <a:spcPts val="600"/>
              </a:spcBef>
            </a:pPr>
            <a:r>
              <a:rPr lang="zh-CN" altLang="en-US"/>
              <a:t>文件的特点</a:t>
            </a:r>
            <a:r>
              <a:rPr lang="en-US" altLang="zh-CN"/>
              <a:t>:</a:t>
            </a:r>
          </a:p>
          <a:p>
            <a:pPr lvl="1">
              <a:spcBef>
                <a:spcPts val="600"/>
              </a:spcBef>
            </a:pPr>
            <a:r>
              <a:rPr lang="zh-CN" altLang="en-US"/>
              <a:t> 数据</a:t>
            </a:r>
            <a:r>
              <a:rPr lang="zh-CN" altLang="en-US">
                <a:solidFill>
                  <a:schemeClr val="bg2"/>
                </a:solidFill>
              </a:rPr>
              <a:t>永久保存；</a:t>
            </a:r>
            <a:r>
              <a:rPr lang="zh-CN" altLang="en-US"/>
              <a:t>数据</a:t>
            </a:r>
            <a:r>
              <a:rPr lang="zh-CN" altLang="en-US">
                <a:solidFill>
                  <a:schemeClr val="bg2"/>
                </a:solidFill>
              </a:rPr>
              <a:t>长度不定；</a:t>
            </a:r>
            <a:r>
              <a:rPr lang="zh-CN" altLang="en-US"/>
              <a:t>数据按</a:t>
            </a:r>
            <a:r>
              <a:rPr lang="zh-CN" altLang="en-US">
                <a:solidFill>
                  <a:schemeClr val="bg2"/>
                </a:solidFill>
              </a:rPr>
              <a:t>顺序存取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>
            <a:extLst>
              <a:ext uri="{FF2B5EF4-FFF2-40B4-BE49-F238E27FC236}">
                <a16:creationId xmlns:a16="http://schemas.microsoft.com/office/drawing/2014/main" xmlns="" id="{C450D2AD-2044-4A82-832F-14B57870BC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147050" cy="955675"/>
          </a:xfrm>
        </p:spPr>
        <p:txBody>
          <a:bodyPr/>
          <a:lstStyle/>
          <a:p>
            <a:r>
              <a:rPr lang="en-US" altLang="zh-CN" sz="3600"/>
              <a:t>12.1.3</a:t>
            </a:r>
            <a:r>
              <a:rPr lang="en-US" altLang="zh-CN">
                <a:latin typeface="宋体" panose="02010600030101010101" pitchFamily="2" charset="-122"/>
              </a:rPr>
              <a:t> </a:t>
            </a:r>
            <a:r>
              <a:rPr lang="zh-CN" altLang="en-US">
                <a:latin typeface="宋体" panose="02010600030101010101" pitchFamily="2" charset="-122"/>
              </a:rPr>
              <a:t>文本文件和二进制文件</a:t>
            </a:r>
            <a:r>
              <a:rPr lang="zh-CN" altLang="en-US"/>
              <a:t> </a:t>
            </a:r>
          </a:p>
        </p:txBody>
      </p:sp>
      <p:sp>
        <p:nvSpPr>
          <p:cNvPr id="457731" name="Rectangle 3">
            <a:extLst>
              <a:ext uri="{FF2B5EF4-FFF2-40B4-BE49-F238E27FC236}">
                <a16:creationId xmlns:a16="http://schemas.microsoft.com/office/drawing/2014/main" xmlns="" id="{8470DA6D-181A-4E10-A055-3D36E0144C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060575"/>
            <a:ext cx="8507413" cy="4065588"/>
          </a:xfrm>
        </p:spPr>
        <p:txBody>
          <a:bodyPr/>
          <a:lstStyle/>
          <a:p>
            <a:pPr marL="88900" indent="-88900">
              <a:buFont typeface="Wingdings" panose="05000000000000000000" pitchFamily="2" charset="2"/>
              <a:buNone/>
            </a:pPr>
            <a:r>
              <a:rPr lang="zh-CN" altLang="en-US" sz="2800"/>
              <a:t>Ｃ语言中的文件是数据流</a:t>
            </a:r>
            <a:r>
              <a:rPr lang="en-US" altLang="zh-CN" sz="2800"/>
              <a:t>(</a:t>
            </a:r>
            <a:r>
              <a:rPr lang="zh-CN" altLang="en-US" sz="2800"/>
              <a:t>由一个个的字节数据组成</a:t>
            </a:r>
            <a:r>
              <a:rPr lang="en-US" altLang="zh-CN" sz="2800"/>
              <a:t>)</a:t>
            </a:r>
          </a:p>
          <a:p>
            <a:pPr marL="88900" indent="-88900">
              <a:buFont typeface="Wingdings" panose="05000000000000000000" pitchFamily="2" charset="2"/>
              <a:buNone/>
            </a:pPr>
            <a:r>
              <a:rPr lang="zh-CN" altLang="en-US" sz="2800"/>
              <a:t>文件的两种数据形式：</a:t>
            </a:r>
          </a:p>
          <a:p>
            <a:pPr marL="387350" lvl="1" indent="-107950">
              <a:lnSpc>
                <a:spcPct val="120000"/>
              </a:lnSpc>
            </a:pPr>
            <a:r>
              <a:rPr lang="zh-CN" altLang="en-US" sz="2400">
                <a:solidFill>
                  <a:srgbClr val="0000FF"/>
                </a:solidFill>
              </a:rPr>
              <a:t> </a:t>
            </a:r>
            <a:r>
              <a:rPr lang="en-US" altLang="zh-CN" sz="2400">
                <a:solidFill>
                  <a:schemeClr val="bg2"/>
                </a:solidFill>
              </a:rPr>
              <a:t>ASCII</a:t>
            </a:r>
            <a:r>
              <a:rPr lang="zh-CN" altLang="en-US" sz="2400">
                <a:solidFill>
                  <a:schemeClr val="bg2"/>
                </a:solidFill>
              </a:rPr>
              <a:t>码</a:t>
            </a:r>
            <a:r>
              <a:rPr lang="zh-CN" altLang="en-US" sz="2400"/>
              <a:t> （文本文件 </a:t>
            </a:r>
            <a:r>
              <a:rPr lang="en-US" altLang="zh-CN" sz="2400"/>
              <a:t>text stream</a:t>
            </a:r>
            <a:r>
              <a:rPr lang="zh-CN" altLang="en-US" sz="2400"/>
              <a:t>）</a:t>
            </a:r>
            <a:r>
              <a:rPr lang="zh-CN" altLang="en-US" sz="2400">
                <a:solidFill>
                  <a:srgbClr val="CC0066"/>
                </a:solidFill>
              </a:rPr>
              <a:t>字符流</a:t>
            </a:r>
          </a:p>
          <a:p>
            <a:pPr marL="387350" lvl="1" indent="-107950">
              <a:lnSpc>
                <a:spcPct val="130000"/>
              </a:lnSpc>
            </a:pPr>
            <a:r>
              <a:rPr lang="zh-CN" altLang="en-US" sz="2400">
                <a:solidFill>
                  <a:srgbClr val="0000FF"/>
                </a:solidFill>
              </a:rPr>
              <a:t> </a:t>
            </a:r>
            <a:r>
              <a:rPr lang="zh-CN" altLang="en-US" sz="2400">
                <a:solidFill>
                  <a:schemeClr val="bg2"/>
                </a:solidFill>
              </a:rPr>
              <a:t>二进制码</a:t>
            </a:r>
            <a:r>
              <a:rPr lang="zh-CN" altLang="en-US" sz="2400"/>
              <a:t>（二进制文件 </a:t>
            </a:r>
            <a:r>
              <a:rPr lang="en-US" altLang="zh-CN" sz="2400"/>
              <a:t>binary stream</a:t>
            </a:r>
            <a:r>
              <a:rPr lang="zh-CN" altLang="en-US" sz="2400"/>
              <a:t>）</a:t>
            </a:r>
            <a:r>
              <a:rPr lang="zh-CN" altLang="en-US" sz="2400">
                <a:solidFill>
                  <a:srgbClr val="CC0066"/>
                </a:solidFill>
              </a:rPr>
              <a:t>二进制流</a:t>
            </a:r>
          </a:p>
          <a:p>
            <a:pPr marL="387350" lvl="1" indent="-107950">
              <a:buFont typeface="Wingdings" panose="05000000000000000000" pitchFamily="2" charset="2"/>
              <a:buNone/>
            </a:pPr>
            <a:r>
              <a:rPr lang="zh-CN" altLang="en-US" sz="2400"/>
              <a:t>       二进制文件是直接把内存数据以二进制形式保存。</a:t>
            </a:r>
          </a:p>
          <a:p>
            <a:pPr marL="88900" indent="-8890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例如，整数</a:t>
            </a:r>
            <a:r>
              <a:rPr lang="en-US" altLang="zh-CN" sz="2800"/>
              <a:t>1234</a:t>
            </a:r>
          </a:p>
          <a:p>
            <a:pPr marL="387350" lvl="1" indent="-107950"/>
            <a:r>
              <a:rPr lang="zh-CN" altLang="en-US" sz="2400"/>
              <a:t>文本文件保存：</a:t>
            </a:r>
            <a:r>
              <a:rPr lang="en-US" altLang="zh-CN" sz="2400"/>
              <a:t>49 50 51 52 </a:t>
            </a:r>
            <a:r>
              <a:rPr lang="zh-CN" altLang="en-US" sz="2400"/>
              <a:t>（</a:t>
            </a:r>
            <a:r>
              <a:rPr lang="en-US" altLang="zh-CN" sz="2400"/>
              <a:t>4</a:t>
            </a:r>
            <a:r>
              <a:rPr lang="zh-CN" altLang="en-US" sz="2400"/>
              <a:t>个字符）</a:t>
            </a:r>
          </a:p>
          <a:p>
            <a:pPr marL="387350" lvl="1" indent="-107950"/>
            <a:r>
              <a:rPr lang="zh-CN" altLang="en-US" sz="2400"/>
              <a:t>二进制文件保存： </a:t>
            </a:r>
            <a:r>
              <a:rPr lang="en-US" altLang="zh-CN" sz="2400"/>
              <a:t>04D2 </a:t>
            </a:r>
            <a:r>
              <a:rPr lang="zh-CN" altLang="en-US" sz="2400"/>
              <a:t>（</a:t>
            </a:r>
            <a:r>
              <a:rPr lang="en-US" altLang="zh-CN" sz="2400"/>
              <a:t>1234</a:t>
            </a:r>
            <a:r>
              <a:rPr lang="zh-CN" altLang="en-US" sz="2400"/>
              <a:t>的二进制数）</a:t>
            </a:r>
          </a:p>
        </p:txBody>
      </p:sp>
      <p:grpSp>
        <p:nvGrpSpPr>
          <p:cNvPr id="457732" name="Group 4">
            <a:extLst>
              <a:ext uri="{FF2B5EF4-FFF2-40B4-BE49-F238E27FC236}">
                <a16:creationId xmlns:a16="http://schemas.microsoft.com/office/drawing/2014/main" xmlns="" id="{72EFFA22-A144-4B1A-B966-A358A92EC95F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412875"/>
            <a:ext cx="8424863" cy="479425"/>
            <a:chOff x="919" y="3821"/>
            <a:chExt cx="4452" cy="302"/>
          </a:xfrm>
        </p:grpSpPr>
        <p:sp>
          <p:nvSpPr>
            <p:cNvPr id="457733" name="Rectangle 5">
              <a:extLst>
                <a:ext uri="{FF2B5EF4-FFF2-40B4-BE49-F238E27FC236}">
                  <a16:creationId xmlns:a16="http://schemas.microsoft.com/office/drawing/2014/main" xmlns="" id="{2F6A62F0-0009-4DB4-B5C6-229065AE4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6" y="3821"/>
              <a:ext cx="1885" cy="300"/>
            </a:xfrm>
            <a:prstGeom prst="rect">
              <a:avLst/>
            </a:prstGeom>
            <a:solidFill>
              <a:schemeClr val="folHlink"/>
            </a:solidFill>
            <a:ln w="222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7734" name="Rectangle 6">
              <a:extLst>
                <a:ext uri="{FF2B5EF4-FFF2-40B4-BE49-F238E27FC236}">
                  <a16:creationId xmlns:a16="http://schemas.microsoft.com/office/drawing/2014/main" xmlns="" id="{3A7F86ED-A5D4-4062-BAD3-AD89EE04C4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9" y="3840"/>
              <a:ext cx="337" cy="24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zh-CN" altLang="en-US" sz="2500" b="1">
                  <a:solidFill>
                    <a:srgbClr val="000000"/>
                  </a:solidFill>
                  <a:latin typeface="宋体" panose="02010600030101010101" pitchFamily="2" charset="-122"/>
                </a:rPr>
                <a:t>字节</a:t>
              </a:r>
              <a:endParaRPr kumimoji="1"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57735" name="Rectangle 7">
              <a:extLst>
                <a:ext uri="{FF2B5EF4-FFF2-40B4-BE49-F238E27FC236}">
                  <a16:creationId xmlns:a16="http://schemas.microsoft.com/office/drawing/2014/main" xmlns="" id="{06CD8594-845F-4402-99BF-1EDD022F6D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" y="3881"/>
              <a:ext cx="42" cy="24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zh-CN" altLang="en-US" sz="25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endParaRPr kumimoji="1"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57736" name="Rectangle 8">
              <a:extLst>
                <a:ext uri="{FF2B5EF4-FFF2-40B4-BE49-F238E27FC236}">
                  <a16:creationId xmlns:a16="http://schemas.microsoft.com/office/drawing/2014/main" xmlns="" id="{7863165A-C2FF-42DE-913E-04DDC5150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3840"/>
              <a:ext cx="629" cy="24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25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. . . . . . . .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57737" name="Rectangle 9">
              <a:extLst>
                <a:ext uri="{FF2B5EF4-FFF2-40B4-BE49-F238E27FC236}">
                  <a16:creationId xmlns:a16="http://schemas.microsoft.com/office/drawing/2014/main" xmlns="" id="{6748AA99-3DEE-403E-9E4E-78A4ED863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3" y="3821"/>
              <a:ext cx="515" cy="300"/>
            </a:xfrm>
            <a:prstGeom prst="rect">
              <a:avLst/>
            </a:prstGeom>
            <a:solidFill>
              <a:schemeClr val="folHlink"/>
            </a:solidFill>
            <a:ln w="222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7738" name="Rectangle 10">
              <a:extLst>
                <a:ext uri="{FF2B5EF4-FFF2-40B4-BE49-F238E27FC236}">
                  <a16:creationId xmlns:a16="http://schemas.microsoft.com/office/drawing/2014/main" xmlns="" id="{ACEC5670-CDAD-410C-92BF-2BFB082A82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5" y="3845"/>
              <a:ext cx="365" cy="24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kumimoji="1" lang="zh-CN" altLang="en-US" sz="2500" b="1">
                  <a:solidFill>
                    <a:srgbClr val="000000"/>
                  </a:solidFill>
                  <a:latin typeface="宋体" panose="02010600030101010101" pitchFamily="2" charset="-122"/>
                </a:rPr>
                <a:t>字节</a:t>
              </a:r>
              <a:endParaRPr kumimoji="1"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57739" name="Rectangle 11">
              <a:extLst>
                <a:ext uri="{FF2B5EF4-FFF2-40B4-BE49-F238E27FC236}">
                  <a16:creationId xmlns:a16="http://schemas.microsoft.com/office/drawing/2014/main" xmlns="" id="{22378DB8-C904-4D90-9258-38AD056A6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9" y="3821"/>
              <a:ext cx="516" cy="300"/>
            </a:xfrm>
            <a:prstGeom prst="rect">
              <a:avLst/>
            </a:prstGeom>
            <a:solidFill>
              <a:schemeClr val="folHlink"/>
            </a:solidFill>
            <a:ln w="222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7740" name="Rectangle 12">
              <a:extLst>
                <a:ext uri="{FF2B5EF4-FFF2-40B4-BE49-F238E27FC236}">
                  <a16:creationId xmlns:a16="http://schemas.microsoft.com/office/drawing/2014/main" xmlns="" id="{B6C714F7-1E96-453E-83E3-C0A9FAD7FA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2" y="3847"/>
              <a:ext cx="337" cy="24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zh-CN" altLang="en-US" sz="2500" b="1">
                  <a:solidFill>
                    <a:srgbClr val="000000"/>
                  </a:solidFill>
                  <a:latin typeface="宋体" panose="02010600030101010101" pitchFamily="2" charset="-122"/>
                </a:rPr>
                <a:t>字节</a:t>
              </a:r>
              <a:endParaRPr kumimoji="1"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57741" name="Rectangle 13">
              <a:extLst>
                <a:ext uri="{FF2B5EF4-FFF2-40B4-BE49-F238E27FC236}">
                  <a16:creationId xmlns:a16="http://schemas.microsoft.com/office/drawing/2014/main" xmlns="" id="{7462D2BB-9F41-4278-B198-4AFA0612C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6" y="3823"/>
              <a:ext cx="515" cy="300"/>
            </a:xfrm>
            <a:prstGeom prst="rect">
              <a:avLst/>
            </a:prstGeom>
            <a:solidFill>
              <a:schemeClr val="folHlink"/>
            </a:solidFill>
            <a:ln w="222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7742" name="Rectangle 14">
              <a:extLst>
                <a:ext uri="{FF2B5EF4-FFF2-40B4-BE49-F238E27FC236}">
                  <a16:creationId xmlns:a16="http://schemas.microsoft.com/office/drawing/2014/main" xmlns="" id="{2F4A16F2-7A0F-428C-AC62-43279C05D7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3849"/>
              <a:ext cx="337" cy="24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zh-CN" altLang="en-US" sz="2500" b="1">
                  <a:solidFill>
                    <a:srgbClr val="000000"/>
                  </a:solidFill>
                  <a:latin typeface="宋体" panose="02010600030101010101" pitchFamily="2" charset="-122"/>
                </a:rPr>
                <a:t>字节</a:t>
              </a:r>
              <a:endParaRPr kumimoji="1"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57743" name="Rectangle 15">
              <a:extLst>
                <a:ext uri="{FF2B5EF4-FFF2-40B4-BE49-F238E27FC236}">
                  <a16:creationId xmlns:a16="http://schemas.microsoft.com/office/drawing/2014/main" xmlns="" id="{90B38213-E147-4BF7-B025-B5BDD0D34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2" y="3821"/>
              <a:ext cx="516" cy="300"/>
            </a:xfrm>
            <a:prstGeom prst="rect">
              <a:avLst/>
            </a:prstGeom>
            <a:solidFill>
              <a:schemeClr val="folHlink"/>
            </a:solidFill>
            <a:ln w="222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7744" name="Rectangle 16">
              <a:extLst>
                <a:ext uri="{FF2B5EF4-FFF2-40B4-BE49-F238E27FC236}">
                  <a16:creationId xmlns:a16="http://schemas.microsoft.com/office/drawing/2014/main" xmlns="" id="{3B466B25-1417-4CD7-83F0-C758C0D10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3845"/>
              <a:ext cx="337" cy="24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zh-CN" altLang="en-US" sz="2500" b="1">
                  <a:solidFill>
                    <a:srgbClr val="000000"/>
                  </a:solidFill>
                  <a:latin typeface="宋体" panose="02010600030101010101" pitchFamily="2" charset="-122"/>
                </a:rPr>
                <a:t>字节</a:t>
              </a:r>
              <a:endParaRPr kumimoji="1"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57745" name="Rectangle 17">
              <a:extLst>
                <a:ext uri="{FF2B5EF4-FFF2-40B4-BE49-F238E27FC236}">
                  <a16:creationId xmlns:a16="http://schemas.microsoft.com/office/drawing/2014/main" xmlns="" id="{929B998F-A6C4-4209-9208-EA78A551E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9" y="3821"/>
              <a:ext cx="515" cy="300"/>
            </a:xfrm>
            <a:prstGeom prst="rect">
              <a:avLst/>
            </a:prstGeom>
            <a:solidFill>
              <a:schemeClr val="folHlink"/>
            </a:solidFill>
            <a:ln w="222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7746" name="Rectangle 18">
              <a:extLst>
                <a:ext uri="{FF2B5EF4-FFF2-40B4-BE49-F238E27FC236}">
                  <a16:creationId xmlns:a16="http://schemas.microsoft.com/office/drawing/2014/main" xmlns="" id="{8C373769-9C4D-4069-88BD-550229674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" y="3845"/>
              <a:ext cx="402" cy="24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kumimoji="1" lang="zh-CN" altLang="en-US" sz="2500" b="1">
                  <a:solidFill>
                    <a:srgbClr val="000000"/>
                  </a:solidFill>
                  <a:latin typeface="宋体" panose="02010600030101010101" pitchFamily="2" charset="-122"/>
                </a:rPr>
                <a:t>字节</a:t>
              </a:r>
              <a:endParaRPr kumimoji="1" lang="zh-CN" altLang="en-US" sz="2400" b="1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7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57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57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57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57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57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57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57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57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731" grpId="0" uiExpand="1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>
            <a:extLst>
              <a:ext uri="{FF2B5EF4-FFF2-40B4-BE49-F238E27FC236}">
                <a16:creationId xmlns:a16="http://schemas.microsoft.com/office/drawing/2014/main" xmlns="" id="{663F9909-2666-4B76-B13D-44B390F25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4475163" cy="955675"/>
          </a:xfrm>
        </p:spPr>
        <p:txBody>
          <a:bodyPr/>
          <a:lstStyle/>
          <a:p>
            <a:r>
              <a:rPr lang="en-US" altLang="zh-CN" sz="3600"/>
              <a:t>12.1.4 </a:t>
            </a:r>
            <a:r>
              <a:rPr lang="zh-CN" altLang="en-US" sz="3600"/>
              <a:t>缓冲文件系统</a:t>
            </a:r>
          </a:p>
        </p:txBody>
      </p:sp>
      <p:sp>
        <p:nvSpPr>
          <p:cNvPr id="390147" name="Rectangle 3">
            <a:extLst>
              <a:ext uri="{FF2B5EF4-FFF2-40B4-BE49-F238E27FC236}">
                <a16:creationId xmlns:a16="http://schemas.microsoft.com/office/drawing/2014/main" xmlns="" id="{DA8CD105-D63B-4AE8-AE29-B6A23129EA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1913" y="4581525"/>
            <a:ext cx="4679950" cy="57626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bg2"/>
                </a:solidFill>
              </a:rPr>
              <a:t> 内存单元             内存单元</a:t>
            </a:r>
          </a:p>
        </p:txBody>
      </p:sp>
      <p:sp>
        <p:nvSpPr>
          <p:cNvPr id="390148" name="AutoShape 4">
            <a:extLst>
              <a:ext uri="{FF2B5EF4-FFF2-40B4-BE49-F238E27FC236}">
                <a16:creationId xmlns:a16="http://schemas.microsoft.com/office/drawing/2014/main" xmlns="" id="{6CE908C3-58B8-479A-B2D0-95648EA93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895600"/>
            <a:ext cx="1219200" cy="1374775"/>
          </a:xfrm>
          <a:prstGeom prst="can">
            <a:avLst>
              <a:gd name="adj" fmla="val 28190"/>
            </a:avLst>
          </a:prstGeom>
          <a:solidFill>
            <a:srgbClr val="FFFF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0149" name="AutoShape 5">
            <a:extLst>
              <a:ext uri="{FF2B5EF4-FFF2-40B4-BE49-F238E27FC236}">
                <a16:creationId xmlns:a16="http://schemas.microsoft.com/office/drawing/2014/main" xmlns="" id="{B440852F-EE35-4CCF-8D78-28392E6B9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581400"/>
            <a:ext cx="1600200" cy="304800"/>
          </a:xfrm>
          <a:prstGeom prst="leftRightArrow">
            <a:avLst>
              <a:gd name="adj1" fmla="val 50000"/>
              <a:gd name="adj2" fmla="val 105000"/>
            </a:avLst>
          </a:prstGeom>
          <a:solidFill>
            <a:srgbClr val="CC0066"/>
          </a:solidFill>
          <a:ln w="9525">
            <a:solidFill>
              <a:srgbClr val="CC0066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0150" name="AutoShape 6">
            <a:extLst>
              <a:ext uri="{FF2B5EF4-FFF2-40B4-BE49-F238E27FC236}">
                <a16:creationId xmlns:a16="http://schemas.microsoft.com/office/drawing/2014/main" xmlns="" id="{A8CDCE29-FEC2-4A85-B051-778C415CB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048000"/>
            <a:ext cx="1447800" cy="228600"/>
          </a:xfrm>
          <a:prstGeom prst="leftRightArrow">
            <a:avLst>
              <a:gd name="adj1" fmla="val 50000"/>
              <a:gd name="adj2" fmla="val 126667"/>
            </a:avLst>
          </a:prstGeom>
          <a:solidFill>
            <a:srgbClr val="CC0066"/>
          </a:solidFill>
          <a:ln w="9525">
            <a:solidFill>
              <a:srgbClr val="CC0066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0151" name="Text Box 7">
            <a:extLst>
              <a:ext uri="{FF2B5EF4-FFF2-40B4-BE49-F238E27FC236}">
                <a16:creationId xmlns:a16="http://schemas.microsoft.com/office/drawing/2014/main" xmlns="" id="{88EFEB3C-8292-433B-BEC7-E26DA2360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928938"/>
            <a:ext cx="1219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2"/>
                </a:solidFill>
                <a:latin typeface="Times New Roman" panose="02020603050405020304" pitchFamily="18" charset="0"/>
              </a:rPr>
              <a:t>数据</a:t>
            </a:r>
            <a:endParaRPr kumimoji="1" lang="zh-CN" altLang="en-US" sz="2000" b="1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0152" name="Text Box 8">
            <a:extLst>
              <a:ext uri="{FF2B5EF4-FFF2-40B4-BE49-F238E27FC236}">
                <a16:creationId xmlns:a16="http://schemas.microsoft.com/office/drawing/2014/main" xmlns="" id="{8F17F016-4C9D-4AA2-92A0-F60C88F29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868738"/>
            <a:ext cx="1219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390153" name="Text Box 9">
            <a:extLst>
              <a:ext uri="{FF2B5EF4-FFF2-40B4-BE49-F238E27FC236}">
                <a16:creationId xmlns:a16="http://schemas.microsoft.com/office/drawing/2014/main" xmlns="" id="{7A894DCC-7D50-474A-867F-F18EA7934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394075"/>
            <a:ext cx="1219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>
                <a:solidFill>
                  <a:schemeClr val="bg2"/>
                </a:solidFill>
                <a:latin typeface="Times New Roman" panose="02020603050405020304" pitchFamily="18" charset="0"/>
              </a:rPr>
              <a:t>……</a:t>
            </a:r>
          </a:p>
        </p:txBody>
      </p:sp>
      <p:sp>
        <p:nvSpPr>
          <p:cNvPr id="390154" name="Text Box 10">
            <a:extLst>
              <a:ext uri="{FF2B5EF4-FFF2-40B4-BE49-F238E27FC236}">
                <a16:creationId xmlns:a16="http://schemas.microsoft.com/office/drawing/2014/main" xmlns="" id="{C402E33F-B8A3-44B7-9B15-07151AD54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2947988"/>
            <a:ext cx="1219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2"/>
                </a:solidFill>
                <a:latin typeface="Times New Roman" panose="02020603050405020304" pitchFamily="18" charset="0"/>
              </a:rPr>
              <a:t>缓冲器</a:t>
            </a:r>
          </a:p>
        </p:txBody>
      </p:sp>
      <p:sp>
        <p:nvSpPr>
          <p:cNvPr id="390155" name="Text Box 11">
            <a:extLst>
              <a:ext uri="{FF2B5EF4-FFF2-40B4-BE49-F238E27FC236}">
                <a16:creationId xmlns:a16="http://schemas.microsoft.com/office/drawing/2014/main" xmlns="" id="{2733ABEC-E1AD-4197-9B80-0296C761C4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3886200"/>
            <a:ext cx="1219200" cy="4365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200" b="1">
                <a:solidFill>
                  <a:schemeClr val="bg2"/>
                </a:solidFill>
                <a:latin typeface="Times New Roman" panose="02020603050405020304" pitchFamily="18" charset="0"/>
              </a:rPr>
              <a:t>512</a:t>
            </a:r>
            <a:r>
              <a:rPr kumimoji="1" lang="zh-CN" altLang="en-US" sz="2200" b="1">
                <a:solidFill>
                  <a:schemeClr val="bg2"/>
                </a:solidFill>
                <a:latin typeface="Times New Roman" panose="02020603050405020304" pitchFamily="18" charset="0"/>
              </a:rPr>
              <a:t>字节</a:t>
            </a:r>
          </a:p>
        </p:txBody>
      </p:sp>
      <p:sp>
        <p:nvSpPr>
          <p:cNvPr id="390156" name="Text Box 12">
            <a:extLst>
              <a:ext uri="{FF2B5EF4-FFF2-40B4-BE49-F238E27FC236}">
                <a16:creationId xmlns:a16="http://schemas.microsoft.com/office/drawing/2014/main" xmlns="" id="{F5955623-E428-41E4-A162-B70B247B7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3411538"/>
            <a:ext cx="1219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2"/>
                </a:solidFill>
                <a:latin typeface="Times New Roman" panose="02020603050405020304" pitchFamily="18" charset="0"/>
              </a:rPr>
              <a:t>……</a:t>
            </a:r>
          </a:p>
        </p:txBody>
      </p:sp>
      <p:sp>
        <p:nvSpPr>
          <p:cNvPr id="390157" name="Text Box 13">
            <a:extLst>
              <a:ext uri="{FF2B5EF4-FFF2-40B4-BE49-F238E27FC236}">
                <a16:creationId xmlns:a16="http://schemas.microsoft.com/office/drawing/2014/main" xmlns="" id="{23072464-8415-4A93-A1D8-BFB504DAA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35052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文件</a:t>
            </a:r>
          </a:p>
        </p:txBody>
      </p:sp>
      <p:sp>
        <p:nvSpPr>
          <p:cNvPr id="390158" name="Text Box 14">
            <a:extLst>
              <a:ext uri="{FF2B5EF4-FFF2-40B4-BE49-F238E27FC236}">
                <a16:creationId xmlns:a16="http://schemas.microsoft.com/office/drawing/2014/main" xmlns="" id="{A7F63F38-B917-4446-B0B4-51DA2AE4E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349500"/>
            <a:ext cx="12954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zh-CN" altLang="en-US" sz="2400" b="1">
                <a:latin typeface="Times New Roman" panose="02020603050405020304" pitchFamily="18" charset="0"/>
              </a:rPr>
              <a:t>由操作系统自动完成</a:t>
            </a:r>
          </a:p>
        </p:txBody>
      </p:sp>
      <p:sp>
        <p:nvSpPr>
          <p:cNvPr id="390159" name="Text Box 15">
            <a:extLst>
              <a:ext uri="{FF2B5EF4-FFF2-40B4-BE49-F238E27FC236}">
                <a16:creationId xmlns:a16="http://schemas.microsoft.com/office/drawing/2014/main" xmlns="" id="{A8D390AA-7B80-460D-925B-59C820F0F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2766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程序控制</a:t>
            </a:r>
          </a:p>
        </p:txBody>
      </p:sp>
      <p:sp>
        <p:nvSpPr>
          <p:cNvPr id="390160" name="AutoShape 16">
            <a:extLst>
              <a:ext uri="{FF2B5EF4-FFF2-40B4-BE49-F238E27FC236}">
                <a16:creationId xmlns:a16="http://schemas.microsoft.com/office/drawing/2014/main" xmlns="" id="{E4497CB3-AC5D-4C83-9196-B567B4A36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429000"/>
            <a:ext cx="4343400" cy="304800"/>
          </a:xfrm>
          <a:prstGeom prst="leftRightArrow">
            <a:avLst>
              <a:gd name="adj1" fmla="val 50000"/>
              <a:gd name="adj2" fmla="val 285000"/>
            </a:avLst>
          </a:prstGeom>
          <a:solidFill>
            <a:schemeClr val="bg2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0161" name="Text Box 17">
            <a:extLst>
              <a:ext uri="{FF2B5EF4-FFF2-40B4-BE49-F238E27FC236}">
                <a16:creationId xmlns:a16="http://schemas.microsoft.com/office/drawing/2014/main" xmlns="" id="{2E22D35F-36E0-4498-A0BF-A03918D33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1412875"/>
            <a:ext cx="4392612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由于磁盘速度慢</a:t>
            </a:r>
          </a:p>
          <a:p>
            <a:pPr>
              <a:spcBef>
                <a:spcPct val="2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直接把数据写到磁盘效率很低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0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0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0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0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0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0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0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0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0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0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0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0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154" grpId="0" animBg="1" autoUpdateAnimBg="0"/>
      <p:bldP spid="390155" grpId="0" animBg="1" autoUpdateAnimBg="0"/>
      <p:bldP spid="390156" grpId="0" animBg="1" autoUpdateAnimBg="0"/>
      <p:bldP spid="390158" grpId="0" autoUpdateAnimBg="0"/>
      <p:bldP spid="390159" grpId="0" autoUpdateAnimBg="0"/>
      <p:bldP spid="390161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>
            <a:extLst>
              <a:ext uri="{FF2B5EF4-FFF2-40B4-BE49-F238E27FC236}">
                <a16:creationId xmlns:a16="http://schemas.microsoft.com/office/drawing/2014/main" xmlns="" id="{D64FB57E-8CE6-43A2-8AF9-CE1E973B78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55675"/>
          </a:xfrm>
        </p:spPr>
        <p:txBody>
          <a:bodyPr/>
          <a:lstStyle/>
          <a:p>
            <a:r>
              <a:rPr lang="en-US" altLang="zh-CN" sz="3600"/>
              <a:t>12.1.4 </a:t>
            </a:r>
            <a:r>
              <a:rPr lang="zh-CN" altLang="en-US" sz="3600"/>
              <a:t>缓冲文件系统</a:t>
            </a:r>
          </a:p>
        </p:txBody>
      </p:sp>
      <p:sp>
        <p:nvSpPr>
          <p:cNvPr id="391171" name="Rectangle 3">
            <a:extLst>
              <a:ext uri="{FF2B5EF4-FFF2-40B4-BE49-F238E27FC236}">
                <a16:creationId xmlns:a16="http://schemas.microsoft.com/office/drawing/2014/main" xmlns="" id="{D798014F-93E8-4AFE-BED1-F4D10ED463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371600"/>
            <a:ext cx="8424862" cy="2273300"/>
          </a:xfrm>
        </p:spPr>
        <p:txBody>
          <a:bodyPr/>
          <a:lstStyle/>
          <a:p>
            <a:pPr lvl="1"/>
            <a:r>
              <a:rPr lang="zh-CN" altLang="en-US"/>
              <a:t>向磁盘输出数据：数据               缓冲区，装满缓冲区后                磁盘文件。</a:t>
            </a:r>
          </a:p>
          <a:p>
            <a:pPr lvl="1"/>
            <a:r>
              <a:rPr lang="zh-CN" altLang="en-US"/>
              <a:t>从磁盘读入数据：先</a:t>
            </a:r>
            <a:r>
              <a:rPr lang="zh-CN" altLang="en-US">
                <a:solidFill>
                  <a:schemeClr val="bg2"/>
                </a:solidFill>
              </a:rPr>
              <a:t>一次性</a:t>
            </a:r>
            <a:r>
              <a:rPr lang="zh-CN" altLang="en-US"/>
              <a:t>从磁盘文件将</a:t>
            </a:r>
            <a:r>
              <a:rPr lang="zh-CN" altLang="en-US">
                <a:solidFill>
                  <a:schemeClr val="bg2"/>
                </a:solidFill>
              </a:rPr>
              <a:t>一批数据输入</a:t>
            </a:r>
            <a:r>
              <a:rPr lang="zh-CN" altLang="en-US"/>
              <a:t>到缓冲区，然后再从缓冲区</a:t>
            </a:r>
            <a:r>
              <a:rPr lang="zh-CN" altLang="en-US">
                <a:solidFill>
                  <a:schemeClr val="bg2"/>
                </a:solidFill>
              </a:rPr>
              <a:t>逐个</a:t>
            </a:r>
            <a:r>
              <a:rPr lang="zh-CN" altLang="en-US"/>
              <a:t>读入数据到变量</a:t>
            </a:r>
            <a:r>
              <a:rPr lang="zh-CN" altLang="en-US" sz="2400"/>
              <a:t>。</a:t>
            </a:r>
            <a:endParaRPr lang="zh-CN" altLang="en-US" sz="2400">
              <a:solidFill>
                <a:schemeClr val="accent2"/>
              </a:solidFill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accent2"/>
                </a:solidFill>
              </a:rPr>
              <a:t>          </a:t>
            </a:r>
            <a:endParaRPr lang="zh-CN" altLang="en-US" sz="2800">
              <a:solidFill>
                <a:schemeClr val="hlink"/>
              </a:solidFill>
            </a:endParaRPr>
          </a:p>
        </p:txBody>
      </p:sp>
      <p:sp>
        <p:nvSpPr>
          <p:cNvPr id="391172" name="AutoShape 4">
            <a:extLst>
              <a:ext uri="{FF2B5EF4-FFF2-40B4-BE49-F238E27FC236}">
                <a16:creationId xmlns:a16="http://schemas.microsoft.com/office/drawing/2014/main" xmlns="" id="{5BF52589-817C-4FF0-A620-9680E588B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3814763"/>
            <a:ext cx="1219200" cy="1374775"/>
          </a:xfrm>
          <a:prstGeom prst="can">
            <a:avLst>
              <a:gd name="adj" fmla="val 28190"/>
            </a:avLst>
          </a:prstGeom>
          <a:solidFill>
            <a:srgbClr val="FFFF00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1173" name="AutoShape 5">
            <a:extLst>
              <a:ext uri="{FF2B5EF4-FFF2-40B4-BE49-F238E27FC236}">
                <a16:creationId xmlns:a16="http://schemas.microsoft.com/office/drawing/2014/main" xmlns="" id="{A8CAB380-5A3D-4A8E-B2B0-BD05CD793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6563" y="4476750"/>
            <a:ext cx="1600200" cy="304800"/>
          </a:xfrm>
          <a:prstGeom prst="leftRightArrow">
            <a:avLst>
              <a:gd name="adj1" fmla="val 50000"/>
              <a:gd name="adj2" fmla="val 105000"/>
            </a:avLst>
          </a:prstGeom>
          <a:solidFill>
            <a:srgbClr val="CC0066"/>
          </a:solidFill>
          <a:ln w="9525">
            <a:solidFill>
              <a:srgbClr val="CC0066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1174" name="AutoShape 6">
            <a:extLst>
              <a:ext uri="{FF2B5EF4-FFF2-40B4-BE49-F238E27FC236}">
                <a16:creationId xmlns:a16="http://schemas.microsoft.com/office/drawing/2014/main" xmlns="" id="{0ADE48E7-306F-49B6-9A00-CA0B24192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967163"/>
            <a:ext cx="1447800" cy="228600"/>
          </a:xfrm>
          <a:prstGeom prst="leftRightArrow">
            <a:avLst>
              <a:gd name="adj1" fmla="val 50000"/>
              <a:gd name="adj2" fmla="val 126667"/>
            </a:avLst>
          </a:prstGeom>
          <a:solidFill>
            <a:srgbClr val="CC0066"/>
          </a:solidFill>
          <a:ln w="9525">
            <a:solidFill>
              <a:srgbClr val="CC0066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1175" name="Text Box 7">
            <a:extLst>
              <a:ext uri="{FF2B5EF4-FFF2-40B4-BE49-F238E27FC236}">
                <a16:creationId xmlns:a16="http://schemas.microsoft.com/office/drawing/2014/main" xmlns="" id="{DB314138-4BFB-4BB2-B523-8EDF8C9C5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848100"/>
            <a:ext cx="1219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2"/>
                </a:solidFill>
                <a:latin typeface="Times New Roman" panose="02020603050405020304" pitchFamily="18" charset="0"/>
              </a:rPr>
              <a:t>数据</a:t>
            </a:r>
            <a:endParaRPr kumimoji="1" lang="zh-CN" altLang="en-US" sz="2000" b="1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1176" name="Text Box 8">
            <a:extLst>
              <a:ext uri="{FF2B5EF4-FFF2-40B4-BE49-F238E27FC236}">
                <a16:creationId xmlns:a16="http://schemas.microsoft.com/office/drawing/2014/main" xmlns="" id="{E6E0821C-A344-449F-A2B2-B8C38CA73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787900"/>
            <a:ext cx="1219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391177" name="Text Box 9">
            <a:extLst>
              <a:ext uri="{FF2B5EF4-FFF2-40B4-BE49-F238E27FC236}">
                <a16:creationId xmlns:a16="http://schemas.microsoft.com/office/drawing/2014/main" xmlns="" id="{E2ECD678-AD42-431C-8410-68DB3D8FBA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313238"/>
            <a:ext cx="1219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</a:rPr>
              <a:t>   </a:t>
            </a:r>
            <a:r>
              <a:rPr kumimoji="1" lang="en-US" altLang="zh-CN" sz="2400" b="1">
                <a:solidFill>
                  <a:schemeClr val="bg2"/>
                </a:solidFill>
                <a:latin typeface="Times New Roman" panose="02020603050405020304" pitchFamily="18" charset="0"/>
              </a:rPr>
              <a:t>……</a:t>
            </a:r>
          </a:p>
        </p:txBody>
      </p:sp>
      <p:sp>
        <p:nvSpPr>
          <p:cNvPr id="391178" name="Text Box 10">
            <a:extLst>
              <a:ext uri="{FF2B5EF4-FFF2-40B4-BE49-F238E27FC236}">
                <a16:creationId xmlns:a16="http://schemas.microsoft.com/office/drawing/2014/main" xmlns="" id="{EA1EB002-F7F6-4C37-A628-F185216C0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3867150"/>
            <a:ext cx="1219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2"/>
                </a:solidFill>
                <a:latin typeface="Times New Roman" panose="02020603050405020304" pitchFamily="18" charset="0"/>
              </a:rPr>
              <a:t>缓冲器</a:t>
            </a:r>
          </a:p>
        </p:txBody>
      </p:sp>
      <p:sp>
        <p:nvSpPr>
          <p:cNvPr id="391179" name="Text Box 11">
            <a:extLst>
              <a:ext uri="{FF2B5EF4-FFF2-40B4-BE49-F238E27FC236}">
                <a16:creationId xmlns:a16="http://schemas.microsoft.com/office/drawing/2014/main" xmlns="" id="{FE573332-15FC-4BDE-8979-BCA9CF6B0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4805363"/>
            <a:ext cx="1219200" cy="4365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200" b="1">
                <a:latin typeface="Times New Roman" panose="02020603050405020304" pitchFamily="18" charset="0"/>
              </a:rPr>
              <a:t>512</a:t>
            </a:r>
            <a:r>
              <a:rPr kumimoji="1" lang="zh-CN" altLang="en-US" sz="2200" b="1">
                <a:latin typeface="Times New Roman" panose="02020603050405020304" pitchFamily="18" charset="0"/>
              </a:rPr>
              <a:t>字节</a:t>
            </a:r>
          </a:p>
        </p:txBody>
      </p:sp>
      <p:sp>
        <p:nvSpPr>
          <p:cNvPr id="391180" name="Text Box 12">
            <a:extLst>
              <a:ext uri="{FF2B5EF4-FFF2-40B4-BE49-F238E27FC236}">
                <a16:creationId xmlns:a16="http://schemas.microsoft.com/office/drawing/2014/main" xmlns="" id="{C30387B5-2062-4F6C-8AD3-A99CCC08B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4330700"/>
            <a:ext cx="1219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2"/>
                </a:solidFill>
                <a:latin typeface="Times New Roman" panose="02020603050405020304" pitchFamily="18" charset="0"/>
              </a:rPr>
              <a:t>……</a:t>
            </a:r>
          </a:p>
        </p:txBody>
      </p:sp>
      <p:sp>
        <p:nvSpPr>
          <p:cNvPr id="391181" name="Text Box 13">
            <a:extLst>
              <a:ext uri="{FF2B5EF4-FFF2-40B4-BE49-F238E27FC236}">
                <a16:creationId xmlns:a16="http://schemas.microsoft.com/office/drawing/2014/main" xmlns="" id="{DAB03963-405B-4A60-97CC-081A7BA35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4424363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文件</a:t>
            </a:r>
          </a:p>
        </p:txBody>
      </p:sp>
      <p:sp>
        <p:nvSpPr>
          <p:cNvPr id="391182" name="Text Box 14">
            <a:extLst>
              <a:ext uri="{FF2B5EF4-FFF2-40B4-BE49-F238E27FC236}">
                <a16:creationId xmlns:a16="http://schemas.microsoft.com/office/drawing/2014/main" xmlns="" id="{C2096978-643F-4AAE-979F-5943B0EA2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357563"/>
            <a:ext cx="12954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zh-CN" altLang="en-US" sz="2400" b="1">
                <a:latin typeface="Times New Roman" panose="02020603050405020304" pitchFamily="18" charset="0"/>
              </a:rPr>
              <a:t>由操作系统自动完成</a:t>
            </a:r>
          </a:p>
        </p:txBody>
      </p:sp>
      <p:sp>
        <p:nvSpPr>
          <p:cNvPr id="391183" name="Text Box 15">
            <a:extLst>
              <a:ext uri="{FF2B5EF4-FFF2-40B4-BE49-F238E27FC236}">
                <a16:creationId xmlns:a16="http://schemas.microsoft.com/office/drawing/2014/main" xmlns="" id="{B9D329D0-5360-4A92-A589-782E6DE8E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195763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程序控制</a:t>
            </a:r>
          </a:p>
        </p:txBody>
      </p:sp>
      <p:sp>
        <p:nvSpPr>
          <p:cNvPr id="391184" name="Line 16">
            <a:extLst>
              <a:ext uri="{FF2B5EF4-FFF2-40B4-BE49-F238E27FC236}">
                <a16:creationId xmlns:a16="http://schemas.microsoft.com/office/drawing/2014/main" xmlns="" id="{243DB365-9441-45FD-B67F-5350D8C459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3800" y="1628775"/>
            <a:ext cx="12192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1185" name="Line 17">
            <a:extLst>
              <a:ext uri="{FF2B5EF4-FFF2-40B4-BE49-F238E27FC236}">
                <a16:creationId xmlns:a16="http://schemas.microsoft.com/office/drawing/2014/main" xmlns="" id="{B0515A03-1E42-40B8-A137-1937CDF34E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6238" y="2060575"/>
            <a:ext cx="12192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1186" name="AutoShape 18">
            <a:extLst>
              <a:ext uri="{FF2B5EF4-FFF2-40B4-BE49-F238E27FC236}">
                <a16:creationId xmlns:a16="http://schemas.microsoft.com/office/drawing/2014/main" xmlns="" id="{F51C3585-E134-4742-A7CB-AD2B187A7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338763"/>
            <a:ext cx="1600200" cy="533400"/>
          </a:xfrm>
          <a:prstGeom prst="wedgeRectCallout">
            <a:avLst>
              <a:gd name="adj1" fmla="val -5157"/>
              <a:gd name="adj2" fmla="val -14553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sz="2400" b="1">
                <a:latin typeface="Times New Roman" panose="02020603050405020304" pitchFamily="18" charset="0"/>
              </a:rPr>
              <a:t>文件名</a:t>
            </a:r>
          </a:p>
        </p:txBody>
      </p:sp>
      <p:sp>
        <p:nvSpPr>
          <p:cNvPr id="391188" name="Rectangle 20">
            <a:extLst>
              <a:ext uri="{FF2B5EF4-FFF2-40B4-BE49-F238E27FC236}">
                <a16:creationId xmlns:a16="http://schemas.microsoft.com/office/drawing/2014/main" xmlns="" id="{905F9C82-1EF3-48D6-8F61-6AB2CB61F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5411788"/>
            <a:ext cx="4679950" cy="5762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bg2"/>
                </a:solidFill>
              </a:rPr>
              <a:t> 内存单元             内存单元</a:t>
            </a:r>
          </a:p>
        </p:txBody>
      </p:sp>
      <p:sp>
        <p:nvSpPr>
          <p:cNvPr id="391187" name="AutoShape 19">
            <a:extLst>
              <a:ext uri="{FF2B5EF4-FFF2-40B4-BE49-F238E27FC236}">
                <a16:creationId xmlns:a16="http://schemas.microsoft.com/office/drawing/2014/main" xmlns="" id="{EFE8262E-77A7-4EA1-AE34-8D80B1A58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5414963"/>
            <a:ext cx="1600200" cy="533400"/>
          </a:xfrm>
          <a:prstGeom prst="wedgeRectCallout">
            <a:avLst>
              <a:gd name="adj1" fmla="val 45537"/>
              <a:gd name="adj2" fmla="val -264583"/>
            </a:avLst>
          </a:prstGeom>
          <a:solidFill>
            <a:srgbClr val="FFFFD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sz="2400" b="1">
                <a:latin typeface="Times New Roman" panose="02020603050405020304" pitchFamily="18" charset="0"/>
              </a:rPr>
              <a:t>用什么标识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1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1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1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1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86" grpId="0" animBg="1" autoUpdateAnimBg="0"/>
      <p:bldP spid="391187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>
            <a:extLst>
              <a:ext uri="{FF2B5EF4-FFF2-40B4-BE49-F238E27FC236}">
                <a16:creationId xmlns:a16="http://schemas.microsoft.com/office/drawing/2014/main" xmlns="" id="{DBC43ED5-7542-4D40-B278-40DE112025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98688" y="304800"/>
            <a:ext cx="6694487" cy="820738"/>
          </a:xfrm>
        </p:spPr>
        <p:txBody>
          <a:bodyPr/>
          <a:lstStyle/>
          <a:p>
            <a:r>
              <a:rPr lang="zh-CN" altLang="en-US">
                <a:latin typeface="宋体" panose="02010600030101010101" pitchFamily="2" charset="-122"/>
              </a:rPr>
              <a:t>缓冲文件与文件类型指针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8755" name="Rectangle 3">
            <a:extLst>
              <a:ext uri="{FF2B5EF4-FFF2-40B4-BE49-F238E27FC236}">
                <a16:creationId xmlns:a16="http://schemas.microsoft.com/office/drawing/2014/main" xmlns="" id="{E98721D4-4334-4C63-ABAF-FF911EF340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8077200" cy="1524000"/>
          </a:xfrm>
        </p:spPr>
        <p:txBody>
          <a:bodyPr/>
          <a:lstStyle/>
          <a:p>
            <a:pPr marL="387350" lvl="1" indent="-10795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/>
              <a:t>用文件指针指示文件缓冲区中具体读写的位置</a:t>
            </a:r>
          </a:p>
          <a:p>
            <a:pPr marL="387350" lvl="1" indent="-10795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CC0066"/>
                </a:solidFill>
              </a:rPr>
              <a:t>FILE</a:t>
            </a:r>
            <a:r>
              <a:rPr lang="en-US" altLang="zh-CN"/>
              <a:t>   *</a:t>
            </a:r>
            <a:r>
              <a:rPr lang="en-US" altLang="zh-CN">
                <a:solidFill>
                  <a:schemeClr val="bg2"/>
                </a:solidFill>
              </a:rPr>
              <a:t>fp</a:t>
            </a:r>
            <a:r>
              <a:rPr lang="en-US" altLang="zh-CN"/>
              <a:t>;</a:t>
            </a:r>
            <a:endParaRPr lang="en-US" altLang="zh-CN" sz="2000">
              <a:solidFill>
                <a:srgbClr val="0000FF"/>
              </a:solidFill>
            </a:endParaRPr>
          </a:p>
        </p:txBody>
      </p:sp>
      <p:grpSp>
        <p:nvGrpSpPr>
          <p:cNvPr id="458756" name="Group 4">
            <a:extLst>
              <a:ext uri="{FF2B5EF4-FFF2-40B4-BE49-F238E27FC236}">
                <a16:creationId xmlns:a16="http://schemas.microsoft.com/office/drawing/2014/main" xmlns="" id="{2E0778CC-3FFD-43CF-9CD6-0B69FC4FCE0F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2286000"/>
            <a:ext cx="6858000" cy="1897063"/>
            <a:chOff x="960" y="1440"/>
            <a:chExt cx="4320" cy="1195"/>
          </a:xfrm>
        </p:grpSpPr>
        <p:sp>
          <p:nvSpPr>
            <p:cNvPr id="458757" name="AutoShape 5">
              <a:extLst>
                <a:ext uri="{FF2B5EF4-FFF2-40B4-BE49-F238E27FC236}">
                  <a16:creationId xmlns:a16="http://schemas.microsoft.com/office/drawing/2014/main" xmlns="" id="{5DA15688-475D-4713-A1B0-0D378EBC69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1728"/>
              <a:ext cx="768" cy="866"/>
            </a:xfrm>
            <a:prstGeom prst="can">
              <a:avLst>
                <a:gd name="adj" fmla="val 28190"/>
              </a:avLst>
            </a:prstGeom>
            <a:solidFill>
              <a:srgbClr val="FFFF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8758" name="AutoShape 6">
              <a:extLst>
                <a:ext uri="{FF2B5EF4-FFF2-40B4-BE49-F238E27FC236}">
                  <a16:creationId xmlns:a16="http://schemas.microsoft.com/office/drawing/2014/main" xmlns="" id="{F183C6C8-4CFA-4458-8D78-F9B21E7F3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160"/>
              <a:ext cx="1008" cy="192"/>
            </a:xfrm>
            <a:prstGeom prst="leftRightArrow">
              <a:avLst>
                <a:gd name="adj1" fmla="val 50000"/>
                <a:gd name="adj2" fmla="val 105000"/>
              </a:avLst>
            </a:prstGeom>
            <a:solidFill>
              <a:srgbClr val="FF00FF"/>
            </a:solidFill>
            <a:ln w="9525">
              <a:solidFill>
                <a:srgbClr val="FF00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8759" name="AutoShape 7">
              <a:extLst>
                <a:ext uri="{FF2B5EF4-FFF2-40B4-BE49-F238E27FC236}">
                  <a16:creationId xmlns:a16="http://schemas.microsoft.com/office/drawing/2014/main" xmlns="" id="{F7D3C67E-01A4-491F-9F54-98840678C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824"/>
              <a:ext cx="912" cy="144"/>
            </a:xfrm>
            <a:prstGeom prst="leftRightArrow">
              <a:avLst>
                <a:gd name="adj1" fmla="val 50000"/>
                <a:gd name="adj2" fmla="val 126667"/>
              </a:avLst>
            </a:prstGeom>
            <a:solidFill>
              <a:srgbClr val="FF9900"/>
            </a:solidFill>
            <a:ln w="9525">
              <a:solidFill>
                <a:srgbClr val="FFCC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8760" name="Text Box 8">
              <a:extLst>
                <a:ext uri="{FF2B5EF4-FFF2-40B4-BE49-F238E27FC236}">
                  <a16:creationId xmlns:a16="http://schemas.microsoft.com/office/drawing/2014/main" xmlns="" id="{033EC37D-D6CB-4118-89CC-6FB1935004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739"/>
              <a:ext cx="768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数据</a:t>
              </a:r>
              <a:endParaRPr kumimoji="1" lang="zh-CN" altLang="en-US" sz="2000" b="1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8761" name="Text Box 9">
              <a:extLst>
                <a:ext uri="{FF2B5EF4-FFF2-40B4-BE49-F238E27FC236}">
                  <a16:creationId xmlns:a16="http://schemas.microsoft.com/office/drawing/2014/main" xmlns="" id="{65446F05-FB30-4B59-B2BB-F46C06A362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341"/>
              <a:ext cx="768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kumimoji="1"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58762" name="Text Box 10">
              <a:extLst>
                <a:ext uri="{FF2B5EF4-FFF2-40B4-BE49-F238E27FC236}">
                  <a16:creationId xmlns:a16="http://schemas.microsoft.com/office/drawing/2014/main" xmlns="" id="{C0550A89-EDF2-41B6-B05D-07A632AC49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042"/>
              <a:ext cx="768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……</a:t>
              </a:r>
            </a:p>
          </p:txBody>
        </p:sp>
        <p:sp>
          <p:nvSpPr>
            <p:cNvPr id="458763" name="Text Box 11">
              <a:extLst>
                <a:ext uri="{FF2B5EF4-FFF2-40B4-BE49-F238E27FC236}">
                  <a16:creationId xmlns:a16="http://schemas.microsoft.com/office/drawing/2014/main" xmlns="" id="{649B3E80-DD58-48A2-8BD8-92B84D69F4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1761"/>
              <a:ext cx="768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缓冲器</a:t>
              </a:r>
            </a:p>
          </p:txBody>
        </p:sp>
        <p:sp>
          <p:nvSpPr>
            <p:cNvPr id="458764" name="Text Box 12">
              <a:extLst>
                <a:ext uri="{FF2B5EF4-FFF2-40B4-BE49-F238E27FC236}">
                  <a16:creationId xmlns:a16="http://schemas.microsoft.com/office/drawing/2014/main" xmlns="" id="{83879552-E306-48D0-94B8-91EFEB17C3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352"/>
              <a:ext cx="768" cy="2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200" b="1">
                  <a:latin typeface="Times New Roman" panose="02020603050405020304" pitchFamily="18" charset="0"/>
                </a:rPr>
                <a:t>512</a:t>
              </a:r>
              <a:r>
                <a:rPr kumimoji="1" lang="zh-CN" altLang="en-US" sz="2200" b="1">
                  <a:latin typeface="Times New Roman" panose="02020603050405020304" pitchFamily="18" charset="0"/>
                </a:rPr>
                <a:t>字节</a:t>
              </a:r>
            </a:p>
          </p:txBody>
        </p:sp>
        <p:sp>
          <p:nvSpPr>
            <p:cNvPr id="458765" name="Text Box 13">
              <a:extLst>
                <a:ext uri="{FF2B5EF4-FFF2-40B4-BE49-F238E27FC236}">
                  <a16:creationId xmlns:a16="http://schemas.microsoft.com/office/drawing/2014/main" xmlns="" id="{2AA6C945-A63C-4148-800C-CD6D6D26C4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053"/>
              <a:ext cx="768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……</a:t>
              </a:r>
            </a:p>
          </p:txBody>
        </p:sp>
        <p:sp>
          <p:nvSpPr>
            <p:cNvPr id="458766" name="Text Box 14">
              <a:extLst>
                <a:ext uri="{FF2B5EF4-FFF2-40B4-BE49-F238E27FC236}">
                  <a16:creationId xmlns:a16="http://schemas.microsoft.com/office/drawing/2014/main" xmlns="" id="{41C63005-858E-4302-A236-197244198A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2112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文件</a:t>
              </a:r>
            </a:p>
          </p:txBody>
        </p:sp>
        <p:sp>
          <p:nvSpPr>
            <p:cNvPr id="458767" name="Text Box 15">
              <a:extLst>
                <a:ext uri="{FF2B5EF4-FFF2-40B4-BE49-F238E27FC236}">
                  <a16:creationId xmlns:a16="http://schemas.microsoft.com/office/drawing/2014/main" xmlns="" id="{79D11DA3-7140-4A20-92B6-1BAA2ABFE5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1440"/>
              <a:ext cx="816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kumimoji="1" lang="zh-CN" altLang="en-US" sz="2400" b="1">
                  <a:latin typeface="Times New Roman" panose="02020603050405020304" pitchFamily="18" charset="0"/>
                </a:rPr>
                <a:t>由操作系统自动完成</a:t>
              </a:r>
            </a:p>
          </p:txBody>
        </p:sp>
        <p:sp>
          <p:nvSpPr>
            <p:cNvPr id="458768" name="Text Box 16">
              <a:extLst>
                <a:ext uri="{FF2B5EF4-FFF2-40B4-BE49-F238E27FC236}">
                  <a16:creationId xmlns:a16="http://schemas.microsoft.com/office/drawing/2014/main" xmlns="" id="{80CB53E6-F092-4AD4-9B8C-0ACFA71ECA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1968"/>
              <a:ext cx="9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程序控制</a:t>
              </a:r>
            </a:p>
          </p:txBody>
        </p:sp>
      </p:grpSp>
      <p:sp>
        <p:nvSpPr>
          <p:cNvPr id="458769" name="Text Box 17">
            <a:extLst>
              <a:ext uri="{FF2B5EF4-FFF2-40B4-BE49-F238E27FC236}">
                <a16:creationId xmlns:a16="http://schemas.microsoft.com/office/drawing/2014/main" xmlns="" id="{81E7DE47-B7CA-4481-BA7D-B0263A277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2860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chemeClr val="bg2"/>
                </a:solidFill>
              </a:rPr>
              <a:t>fp</a:t>
            </a:r>
          </a:p>
        </p:txBody>
      </p:sp>
      <p:sp>
        <p:nvSpPr>
          <p:cNvPr id="458770" name="Rectangle 18">
            <a:extLst>
              <a:ext uri="{FF2B5EF4-FFF2-40B4-BE49-F238E27FC236}">
                <a16:creationId xmlns:a16="http://schemas.microsoft.com/office/drawing/2014/main" xmlns="" id="{AEBD8D68-BD1B-4A54-930B-D100DAD68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495800"/>
            <a:ext cx="8001000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幼圆" pitchFamily="49" charset="-122"/>
              <a:buNone/>
            </a:pPr>
            <a:r>
              <a:rPr kumimoji="1" lang="zh-CN" altLang="en-US" sz="2800" b="1">
                <a:sym typeface="Webdings" panose="05030102010509060703" pitchFamily="18" charset="2"/>
              </a:rPr>
              <a:t>同时使用多个文件时，每个文件都有缓冲区，用不同的文件指针分别指示。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87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87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8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8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8769" grpId="0" autoUpdateAnimBg="0"/>
      <p:bldP spid="45877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7" name="Rectangle 3">
            <a:extLst>
              <a:ext uri="{FF2B5EF4-FFF2-40B4-BE49-F238E27FC236}">
                <a16:creationId xmlns:a16="http://schemas.microsoft.com/office/drawing/2014/main" xmlns="" id="{2B34177D-B71C-4915-A094-1E07E19EE2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268413"/>
            <a:ext cx="8964612" cy="54737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1.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文件结构与自定义类型</a:t>
            </a:r>
            <a:r>
              <a: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typedef 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FILE</a:t>
            </a:r>
            <a:r>
              <a:rPr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：结构类型， 用 </a:t>
            </a:r>
            <a:r>
              <a: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typedef </a:t>
            </a:r>
            <a:r>
              <a:rPr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定义</a:t>
            </a:r>
            <a:r>
              <a: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见</a:t>
            </a:r>
            <a:r>
              <a:rPr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stdio.h)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000"/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CC0066"/>
                </a:solidFill>
              </a:rPr>
              <a:t>typedef</a:t>
            </a:r>
            <a:r>
              <a:rPr lang="en-US" altLang="zh-CN" sz="2000"/>
              <a:t> struct{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    short                	level;        	/* </a:t>
            </a:r>
            <a:r>
              <a:rPr lang="zh-CN" altLang="en-US" sz="2000"/>
              <a:t>缓冲区使用量  *</a:t>
            </a:r>
            <a:r>
              <a:rPr lang="en-US" altLang="zh-CN" sz="2000"/>
              <a:t>/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    unsigned       	flags;        	/* </a:t>
            </a:r>
            <a:r>
              <a:rPr lang="zh-CN" altLang="en-US" sz="2000"/>
              <a:t>文件状态标志 *</a:t>
            </a:r>
            <a:r>
              <a:rPr lang="en-US" altLang="zh-CN" sz="2000"/>
              <a:t>/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    char                 	fd;           	/* </a:t>
            </a:r>
            <a:r>
              <a:rPr lang="zh-CN" altLang="en-US" sz="2000"/>
              <a:t>文件描述符 *</a:t>
            </a:r>
            <a:r>
              <a:rPr lang="en-US" altLang="zh-CN" sz="2000"/>
              <a:t>/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    short                	bsize;        	/* </a:t>
            </a:r>
            <a:r>
              <a:rPr lang="zh-CN" altLang="en-US" sz="2000"/>
              <a:t>缓冲区大小 *</a:t>
            </a:r>
            <a:r>
              <a:rPr lang="en-US" altLang="zh-CN" sz="2000"/>
              <a:t>/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    unsigned char   	*buffer;   	/* </a:t>
            </a:r>
            <a:r>
              <a:rPr lang="zh-CN" altLang="en-US" sz="2000"/>
              <a:t>文件缓冲区的首地址 *</a:t>
            </a:r>
            <a:r>
              <a:rPr lang="en-US" altLang="zh-CN" sz="2000"/>
              <a:t>/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    unsigned char  	*curp;     	/* </a:t>
            </a:r>
            <a:r>
              <a:rPr lang="zh-CN" altLang="en-US" sz="2000"/>
              <a:t>指向文件缓冲区的工作指针 *</a:t>
            </a:r>
            <a:r>
              <a:rPr lang="en-US" altLang="zh-CN" sz="2000"/>
              <a:t>/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    unsigned char   	hold;         	/* </a:t>
            </a:r>
            <a:r>
              <a:rPr lang="zh-CN" altLang="en-US" sz="2000"/>
              <a:t>其他信息 *</a:t>
            </a:r>
            <a:r>
              <a:rPr lang="en-US" altLang="zh-CN" sz="2000"/>
              <a:t>/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    unsigned        	istemp;         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    short           	token;          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} </a:t>
            </a:r>
            <a:r>
              <a:rPr lang="en-US" altLang="zh-CN" sz="2000">
                <a:solidFill>
                  <a:schemeClr val="bg2"/>
                </a:solidFill>
              </a:rPr>
              <a:t>FILE</a:t>
            </a:r>
            <a:r>
              <a:rPr lang="en-US" altLang="zh-CN" sz="2000"/>
              <a:t>;</a:t>
            </a:r>
            <a:endParaRPr lang="zh-CN" altLang="en-US" sz="2000"/>
          </a:p>
        </p:txBody>
      </p:sp>
      <p:sp>
        <p:nvSpPr>
          <p:cNvPr id="456709" name="Rectangle 5">
            <a:extLst>
              <a:ext uri="{FF2B5EF4-FFF2-40B4-BE49-F238E27FC236}">
                <a16:creationId xmlns:a16="http://schemas.microsoft.com/office/drawing/2014/main" xmlns="" id="{639C9D9F-A0A7-456F-AB2D-DA14C7EC5C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333375"/>
            <a:ext cx="8496300" cy="935038"/>
          </a:xfrm>
        </p:spPr>
        <p:txBody>
          <a:bodyPr/>
          <a:lstStyle/>
          <a:p>
            <a:r>
              <a:rPr lang="en-US" altLang="zh-CN" sz="4000"/>
              <a:t>12.1.5 </a:t>
            </a:r>
            <a:r>
              <a:rPr lang="zh-CN" altLang="en-US" sz="4000"/>
              <a:t>文件结构与文件类型指针</a:t>
            </a:r>
            <a:endParaRPr lang="en-US" altLang="zh-CN" sz="4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1" name="Rectangle 3">
            <a:extLst>
              <a:ext uri="{FF2B5EF4-FFF2-40B4-BE49-F238E27FC236}">
                <a16:creationId xmlns:a16="http://schemas.microsoft.com/office/drawing/2014/main" xmlns="" id="{2710473E-B7FE-4509-94D5-5E3CFF321F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836613"/>
            <a:ext cx="8712200" cy="56165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/>
              <a:t> </a:t>
            </a:r>
            <a:r>
              <a:rPr lang="zh-CN" altLang="en-US" sz="2800"/>
              <a:t>自定义类型（</a:t>
            </a:r>
            <a:r>
              <a:rPr lang="en-US" altLang="zh-CN" sz="2800"/>
              <a:t>typedef</a:t>
            </a:r>
            <a:r>
              <a:rPr lang="zh-CN" altLang="en-US" sz="2800"/>
              <a:t>）：</a:t>
            </a:r>
          </a:p>
          <a:p>
            <a:pPr lvl="1">
              <a:lnSpc>
                <a:spcPct val="120000"/>
              </a:lnSpc>
            </a:pPr>
            <a:r>
              <a:rPr lang="zh-CN" altLang="en-US" sz="2000"/>
              <a:t>将</a:t>
            </a:r>
            <a:r>
              <a:rPr lang="en-US" altLang="zh-CN" sz="2000"/>
              <a:t>C</a:t>
            </a:r>
            <a:r>
              <a:rPr lang="zh-CN" altLang="en-US" sz="2000"/>
              <a:t>语言中的已有类型（包括已定义过的自定义类型）重新命名</a:t>
            </a:r>
          </a:p>
          <a:p>
            <a:pPr lvl="1">
              <a:lnSpc>
                <a:spcPct val="120000"/>
              </a:lnSpc>
            </a:pPr>
            <a:r>
              <a:rPr lang="zh-CN" altLang="en-US" sz="2000"/>
              <a:t>新的名称可以代替已有数据类型</a:t>
            </a:r>
          </a:p>
          <a:p>
            <a:pPr lvl="1">
              <a:lnSpc>
                <a:spcPct val="120000"/>
              </a:lnSpc>
            </a:pPr>
            <a:r>
              <a:rPr lang="zh-CN" altLang="en-US" sz="2000"/>
              <a:t>常用于简化对复杂数据类型定义的描述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2400">
              <a:solidFill>
                <a:srgbClr val="CC0066"/>
              </a:solidFill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CC0066"/>
                </a:solidFill>
              </a:rPr>
              <a:t>typedef</a:t>
            </a:r>
            <a:r>
              <a:rPr lang="en-US" altLang="zh-CN" sz="2400"/>
              <a:t>  &lt;</a:t>
            </a:r>
            <a:r>
              <a:rPr lang="zh-CN" altLang="en-US" sz="2400"/>
              <a:t>已有类型名</a:t>
            </a:r>
            <a:r>
              <a:rPr lang="en-US" altLang="zh-CN" sz="2400"/>
              <a:t>&gt;  &lt;</a:t>
            </a:r>
            <a:r>
              <a:rPr lang="zh-CN" altLang="en-US" sz="2400">
                <a:solidFill>
                  <a:schemeClr val="bg2"/>
                </a:solidFill>
              </a:rPr>
              <a:t>新类型名</a:t>
            </a:r>
            <a:r>
              <a:rPr lang="en-US" altLang="zh-CN" sz="2400"/>
              <a:t>&gt;;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sz="24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typedef</a:t>
            </a:r>
            <a:r>
              <a:rPr lang="en-US" altLang="zh-CN" sz="2000"/>
              <a:t>  </a:t>
            </a: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int</a:t>
            </a:r>
            <a:r>
              <a:rPr lang="en-US" altLang="zh-CN" sz="2000"/>
              <a:t>  </a:t>
            </a:r>
            <a:r>
              <a:rPr lang="en-US" altLang="zh-CN" sz="2000">
                <a:solidFill>
                  <a:schemeClr val="bg2"/>
                </a:solidFill>
              </a:rPr>
              <a:t> </a:t>
            </a:r>
            <a:r>
              <a:rPr lang="en-US" altLang="zh-CN"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INTEGER</a:t>
            </a: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       	int  i, j;       &lt;====&gt;    INTEGER  i, j;  </a:t>
            </a:r>
          </a:p>
          <a:p>
            <a:pPr algn="ctr"/>
            <a:endParaRPr lang="en-US" altLang="zh-CN" sz="20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typedef</a:t>
            </a:r>
            <a:r>
              <a:rPr lang="en-US" altLang="zh-CN" sz="2000"/>
              <a:t>   </a:t>
            </a:r>
            <a:r>
              <a:rPr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int*</a:t>
            </a:r>
            <a:r>
              <a:rPr lang="en-US" altLang="zh-CN" sz="2000"/>
              <a:t>  </a:t>
            </a:r>
            <a:r>
              <a:rPr lang="en-US" altLang="zh-CN"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POINT</a:t>
            </a:r>
            <a:r>
              <a:rPr lang="en-US" altLang="zh-CN" sz="2000"/>
              <a:t>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/>
              <a:t>       	int*  p1;       &lt;====&gt;    POINT  p1;  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2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2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21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21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21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21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21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1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Rectangle 2">
            <a:extLst>
              <a:ext uri="{FF2B5EF4-FFF2-40B4-BE49-F238E27FC236}">
                <a16:creationId xmlns:a16="http://schemas.microsoft.com/office/drawing/2014/main" xmlns="" id="{945A9378-1776-495A-8402-CFC71391BB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62950" cy="1027113"/>
          </a:xfrm>
        </p:spPr>
        <p:txBody>
          <a:bodyPr/>
          <a:lstStyle/>
          <a:p>
            <a:r>
              <a:rPr lang="zh-CN" altLang="en-US" sz="4000"/>
              <a:t>自定义类型（</a:t>
            </a:r>
            <a:r>
              <a:rPr lang="en-US" altLang="zh-CN" sz="4000"/>
              <a:t>typedef</a:t>
            </a:r>
            <a:r>
              <a:rPr lang="zh-CN" altLang="en-US" sz="4000"/>
              <a:t>）的使用方法</a:t>
            </a:r>
            <a:endParaRPr lang="zh-CN" altLang="en-US" sz="36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55683" name="Rectangle 3">
            <a:extLst>
              <a:ext uri="{FF2B5EF4-FFF2-40B4-BE49-F238E27FC236}">
                <a16:creationId xmlns:a16="http://schemas.microsoft.com/office/drawing/2014/main" xmlns="" id="{98EE9C12-E246-4FE4-A147-78E643F84B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700213"/>
            <a:ext cx="8281987" cy="3816350"/>
          </a:xfrm>
        </p:spPr>
        <p:txBody>
          <a:bodyPr/>
          <a:lstStyle/>
          <a:p>
            <a:pPr lvl="1"/>
            <a:r>
              <a:rPr lang="zh-CN" altLang="en-US" sz="2400"/>
              <a:t>定义变量       　　　　　</a:t>
            </a:r>
            <a:r>
              <a:rPr lang="en-US" altLang="zh-CN" sz="2400"/>
              <a:t>int  i</a:t>
            </a:r>
          </a:p>
          <a:p>
            <a:pPr lvl="1"/>
            <a:r>
              <a:rPr lang="zh-CN" altLang="en-US" sz="2400"/>
              <a:t>变量名</a:t>
            </a:r>
            <a:r>
              <a:rPr lang="zh-CN" altLang="en-US" sz="2400">
                <a:sym typeface="Wingdings" panose="05000000000000000000" pitchFamily="2" charset="2"/>
              </a:rPr>
              <a:t></a:t>
            </a:r>
            <a:r>
              <a:rPr lang="zh-CN" altLang="en-US" sz="2400"/>
              <a:t>新类型名　　    </a:t>
            </a:r>
            <a:r>
              <a:rPr lang="en-US" altLang="zh-CN" sz="2400"/>
              <a:t>int </a:t>
            </a:r>
            <a:r>
              <a:rPr lang="zh-CN" altLang="en-US" sz="2400">
                <a:sym typeface="Wingdings" panose="05000000000000000000" pitchFamily="2" charset="2"/>
              </a:rPr>
              <a:t></a:t>
            </a:r>
            <a:r>
              <a:rPr lang="en-US" altLang="zh-CN" sz="2400"/>
              <a:t> INTEGER</a:t>
            </a:r>
          </a:p>
          <a:p>
            <a:pPr lvl="1"/>
            <a:r>
              <a:rPr lang="zh-CN" altLang="en-US" sz="2400"/>
              <a:t>加上 </a:t>
            </a:r>
            <a:r>
              <a:rPr lang="en-US" altLang="zh-CN" sz="2400"/>
              <a:t>typedef</a:t>
            </a:r>
            <a:r>
              <a:rPr lang="zh-CN" altLang="en-US" sz="2400"/>
              <a:t>　                </a:t>
            </a:r>
            <a:r>
              <a:rPr lang="en-US" altLang="zh-CN" sz="2400"/>
              <a:t>typedef </a:t>
            </a:r>
            <a:r>
              <a:rPr lang="zh-CN" altLang="en-US" sz="2400"/>
              <a:t>　</a:t>
            </a:r>
            <a:r>
              <a:rPr lang="en-US" altLang="zh-CN" sz="2400"/>
              <a:t>int  INTEGER</a:t>
            </a:r>
          </a:p>
          <a:p>
            <a:pPr lvl="1"/>
            <a:r>
              <a:rPr lang="zh-CN" altLang="en-US" sz="2400"/>
              <a:t>用新类型名定义变量        </a:t>
            </a:r>
            <a:r>
              <a:rPr lang="en-US" altLang="zh-CN" sz="2400"/>
              <a:t>INTEGER  i;</a:t>
            </a:r>
          </a:p>
          <a:p>
            <a:endParaRPr lang="en-US" altLang="zh-CN" sz="24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000"/>
              <a:t>int num[10]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000"/>
              <a:t>int NUM[10]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000"/>
              <a:t>typedef   int  NUM[10]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000"/>
              <a:t>NUM   a  &lt;===&gt;  int a[10]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5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55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55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55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55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55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55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55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68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>
            <a:extLst>
              <a:ext uri="{FF2B5EF4-FFF2-40B4-BE49-F238E27FC236}">
                <a16:creationId xmlns:a16="http://schemas.microsoft.com/office/drawing/2014/main" xmlns="" id="{7C504A90-E351-4EA0-9EF0-E254536655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18488" cy="884238"/>
          </a:xfrm>
        </p:spPr>
        <p:txBody>
          <a:bodyPr/>
          <a:lstStyle/>
          <a:p>
            <a:r>
              <a:rPr lang="en-US" altLang="zh-CN" sz="4000"/>
              <a:t>2.</a:t>
            </a:r>
            <a:r>
              <a:rPr lang="zh-CN" altLang="en-US" sz="4000"/>
              <a:t>文件类型指针</a:t>
            </a:r>
          </a:p>
        </p:txBody>
      </p:sp>
      <p:sp>
        <p:nvSpPr>
          <p:cNvPr id="392195" name="Rectangle 3">
            <a:extLst>
              <a:ext uri="{FF2B5EF4-FFF2-40B4-BE49-F238E27FC236}">
                <a16:creationId xmlns:a16="http://schemas.microsoft.com/office/drawing/2014/main" xmlns="" id="{72C8489C-0F5A-4448-96E7-0D1C7BFFDA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268413"/>
            <a:ext cx="8424863" cy="1152525"/>
          </a:xfrm>
        </p:spPr>
        <p:txBody>
          <a:bodyPr/>
          <a:lstStyle/>
          <a:p>
            <a:pPr marL="88900" indent="-889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CC0066"/>
                </a:solidFill>
              </a:rPr>
              <a:t>FILE * </a:t>
            </a:r>
            <a:r>
              <a:rPr lang="en-US" altLang="zh-CN">
                <a:solidFill>
                  <a:schemeClr val="bg2"/>
                </a:solidFill>
              </a:rPr>
              <a:t>fp</a:t>
            </a:r>
          </a:p>
          <a:p>
            <a:pPr marL="387350" lvl="1" indent="-10795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/>
              <a:t>指向文件缓冲区，通过移动指针实现对文件的操作</a:t>
            </a:r>
          </a:p>
        </p:txBody>
      </p:sp>
      <p:grpSp>
        <p:nvGrpSpPr>
          <p:cNvPr id="392214" name="Group 22">
            <a:extLst>
              <a:ext uri="{FF2B5EF4-FFF2-40B4-BE49-F238E27FC236}">
                <a16:creationId xmlns:a16="http://schemas.microsoft.com/office/drawing/2014/main" xmlns="" id="{C79F3C82-36D6-489F-BA96-FA7ECD938600}"/>
              </a:ext>
            </a:extLst>
          </p:cNvPr>
          <p:cNvGrpSpPr>
            <a:grpSpLocks/>
          </p:cNvGrpSpPr>
          <p:nvPr/>
        </p:nvGrpSpPr>
        <p:grpSpPr bwMode="auto">
          <a:xfrm>
            <a:off x="1739900" y="2501900"/>
            <a:ext cx="6858000" cy="1897063"/>
            <a:chOff x="960" y="1440"/>
            <a:chExt cx="4320" cy="1195"/>
          </a:xfrm>
        </p:grpSpPr>
        <p:sp>
          <p:nvSpPr>
            <p:cNvPr id="392215" name="AutoShape 23">
              <a:extLst>
                <a:ext uri="{FF2B5EF4-FFF2-40B4-BE49-F238E27FC236}">
                  <a16:creationId xmlns:a16="http://schemas.microsoft.com/office/drawing/2014/main" xmlns="" id="{B1604FB5-34E0-4A3D-8BE8-3BFD3A9A8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1728"/>
              <a:ext cx="768" cy="866"/>
            </a:xfrm>
            <a:prstGeom prst="can">
              <a:avLst>
                <a:gd name="adj" fmla="val 28190"/>
              </a:avLst>
            </a:prstGeom>
            <a:solidFill>
              <a:srgbClr val="FFFF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216" name="AutoShape 24">
              <a:extLst>
                <a:ext uri="{FF2B5EF4-FFF2-40B4-BE49-F238E27FC236}">
                  <a16:creationId xmlns:a16="http://schemas.microsoft.com/office/drawing/2014/main" xmlns="" id="{F410FE4A-7ACB-46FD-8BAE-5354161C6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160"/>
              <a:ext cx="1008" cy="192"/>
            </a:xfrm>
            <a:prstGeom prst="leftRightArrow">
              <a:avLst>
                <a:gd name="adj1" fmla="val 50000"/>
                <a:gd name="adj2" fmla="val 105000"/>
              </a:avLst>
            </a:prstGeom>
            <a:solidFill>
              <a:srgbClr val="FF00FF"/>
            </a:solidFill>
            <a:ln w="9525">
              <a:solidFill>
                <a:srgbClr val="FF00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217" name="AutoShape 25">
              <a:extLst>
                <a:ext uri="{FF2B5EF4-FFF2-40B4-BE49-F238E27FC236}">
                  <a16:creationId xmlns:a16="http://schemas.microsoft.com/office/drawing/2014/main" xmlns="" id="{C97ED968-4482-4D61-85B9-01253409E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824"/>
              <a:ext cx="912" cy="144"/>
            </a:xfrm>
            <a:prstGeom prst="leftRightArrow">
              <a:avLst>
                <a:gd name="adj1" fmla="val 50000"/>
                <a:gd name="adj2" fmla="val 126667"/>
              </a:avLst>
            </a:prstGeom>
            <a:solidFill>
              <a:srgbClr val="FF9900"/>
            </a:solidFill>
            <a:ln w="9525">
              <a:solidFill>
                <a:srgbClr val="FFCC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218" name="Text Box 26">
              <a:extLst>
                <a:ext uri="{FF2B5EF4-FFF2-40B4-BE49-F238E27FC236}">
                  <a16:creationId xmlns:a16="http://schemas.microsoft.com/office/drawing/2014/main" xmlns="" id="{AB6321AE-9F49-4C71-992D-AEAAB2453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739"/>
              <a:ext cx="768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数据</a:t>
              </a:r>
              <a:endParaRPr kumimoji="1" lang="zh-CN" altLang="en-US" sz="2000" b="1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2219" name="Text Box 27">
              <a:extLst>
                <a:ext uri="{FF2B5EF4-FFF2-40B4-BE49-F238E27FC236}">
                  <a16:creationId xmlns:a16="http://schemas.microsoft.com/office/drawing/2014/main" xmlns="" id="{024EAF6F-B7EF-478D-9B6E-CEC5B08942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341"/>
              <a:ext cx="768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kumimoji="1"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392220" name="Text Box 28">
              <a:extLst>
                <a:ext uri="{FF2B5EF4-FFF2-40B4-BE49-F238E27FC236}">
                  <a16:creationId xmlns:a16="http://schemas.microsoft.com/office/drawing/2014/main" xmlns="" id="{915EEBD1-92BF-4CBF-9E0D-78CA8D651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042"/>
              <a:ext cx="768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……</a:t>
              </a:r>
            </a:p>
          </p:txBody>
        </p:sp>
        <p:sp>
          <p:nvSpPr>
            <p:cNvPr id="392221" name="Text Box 29">
              <a:extLst>
                <a:ext uri="{FF2B5EF4-FFF2-40B4-BE49-F238E27FC236}">
                  <a16:creationId xmlns:a16="http://schemas.microsoft.com/office/drawing/2014/main" xmlns="" id="{25CAB7B5-B408-4DEA-B9E6-116B45B628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1761"/>
              <a:ext cx="768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缓冲器</a:t>
              </a:r>
            </a:p>
          </p:txBody>
        </p:sp>
        <p:sp>
          <p:nvSpPr>
            <p:cNvPr id="392222" name="Text Box 30">
              <a:extLst>
                <a:ext uri="{FF2B5EF4-FFF2-40B4-BE49-F238E27FC236}">
                  <a16:creationId xmlns:a16="http://schemas.microsoft.com/office/drawing/2014/main" xmlns="" id="{D1FEA790-99B8-4CC9-B47D-70608F256E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352"/>
              <a:ext cx="768" cy="2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200" b="1">
                  <a:solidFill>
                    <a:srgbClr val="CC0066"/>
                  </a:solidFill>
                  <a:latin typeface="Times New Roman" panose="02020603050405020304" pitchFamily="18" charset="0"/>
                </a:rPr>
                <a:t>512</a:t>
              </a:r>
              <a:r>
                <a:rPr kumimoji="1" lang="zh-CN" altLang="en-US" sz="2200" b="1">
                  <a:solidFill>
                    <a:srgbClr val="CC0066"/>
                  </a:solidFill>
                  <a:latin typeface="Times New Roman" panose="02020603050405020304" pitchFamily="18" charset="0"/>
                </a:rPr>
                <a:t>字节</a:t>
              </a:r>
            </a:p>
          </p:txBody>
        </p:sp>
        <p:sp>
          <p:nvSpPr>
            <p:cNvPr id="392223" name="Text Box 31">
              <a:extLst>
                <a:ext uri="{FF2B5EF4-FFF2-40B4-BE49-F238E27FC236}">
                  <a16:creationId xmlns:a16="http://schemas.microsoft.com/office/drawing/2014/main" xmlns="" id="{E9C5570B-A225-4D22-A2FD-284145F8A1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053"/>
              <a:ext cx="768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anose="02020603050405020304" pitchFamily="18" charset="0"/>
                </a:rPr>
                <a:t>……</a:t>
              </a:r>
            </a:p>
          </p:txBody>
        </p:sp>
        <p:sp>
          <p:nvSpPr>
            <p:cNvPr id="392224" name="Text Box 32">
              <a:extLst>
                <a:ext uri="{FF2B5EF4-FFF2-40B4-BE49-F238E27FC236}">
                  <a16:creationId xmlns:a16="http://schemas.microsoft.com/office/drawing/2014/main" xmlns="" id="{C214E72D-157F-4AD8-9A3A-50821E2E05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2112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文件</a:t>
              </a:r>
            </a:p>
          </p:txBody>
        </p:sp>
        <p:sp>
          <p:nvSpPr>
            <p:cNvPr id="392225" name="Text Box 33">
              <a:extLst>
                <a:ext uri="{FF2B5EF4-FFF2-40B4-BE49-F238E27FC236}">
                  <a16:creationId xmlns:a16="http://schemas.microsoft.com/office/drawing/2014/main" xmlns="" id="{8743751E-F07C-4456-A23B-17FFB26E17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1440"/>
              <a:ext cx="816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kumimoji="1" lang="zh-CN" altLang="en-US" sz="2400" b="1">
                  <a:latin typeface="Times New Roman" panose="02020603050405020304" pitchFamily="18" charset="0"/>
                </a:rPr>
                <a:t>由操作系统自动完成</a:t>
              </a:r>
            </a:p>
          </p:txBody>
        </p:sp>
        <p:sp>
          <p:nvSpPr>
            <p:cNvPr id="392226" name="Text Box 34">
              <a:extLst>
                <a:ext uri="{FF2B5EF4-FFF2-40B4-BE49-F238E27FC236}">
                  <a16:creationId xmlns:a16="http://schemas.microsoft.com/office/drawing/2014/main" xmlns="" id="{884C9296-16D6-4151-A3D5-CA6EDFBCF1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1968"/>
              <a:ext cx="9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程序控制</a:t>
              </a:r>
            </a:p>
          </p:txBody>
        </p:sp>
      </p:grpSp>
      <p:sp>
        <p:nvSpPr>
          <p:cNvPr id="392227" name="Text Box 35">
            <a:extLst>
              <a:ext uri="{FF2B5EF4-FFF2-40B4-BE49-F238E27FC236}">
                <a16:creationId xmlns:a16="http://schemas.microsoft.com/office/drawing/2014/main" xmlns="" id="{6796C2AE-145D-4237-9754-7FFCE7F61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8300" y="25019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rgbClr val="CC0066"/>
                </a:solidFill>
                <a:latin typeface="Times New Roman" panose="02020603050405020304" pitchFamily="18" charset="0"/>
              </a:rPr>
              <a:t>fp</a:t>
            </a:r>
          </a:p>
        </p:txBody>
      </p:sp>
      <p:sp>
        <p:nvSpPr>
          <p:cNvPr id="392228" name="Rectangle 36">
            <a:extLst>
              <a:ext uri="{FF2B5EF4-FFF2-40B4-BE49-F238E27FC236}">
                <a16:creationId xmlns:a16="http://schemas.microsoft.com/office/drawing/2014/main" xmlns="" id="{18EFC612-5B06-40A5-A35F-90763563B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0" y="4711700"/>
            <a:ext cx="8001000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幼圆" pitchFamily="49" charset="-122"/>
              <a:buNone/>
            </a:pPr>
            <a:r>
              <a:rPr kumimoji="1" lang="zh-CN" altLang="en-US" sz="2800" b="1">
                <a:sym typeface="Webdings" panose="05030102010509060703" pitchFamily="18" charset="2"/>
              </a:rPr>
              <a:t>同时使用多个文件时，每个文件都有缓冲区，用不同的文件指针分别指示。</a:t>
            </a:r>
          </a:p>
        </p:txBody>
      </p:sp>
      <p:sp>
        <p:nvSpPr>
          <p:cNvPr id="392229" name="Text Box 37">
            <a:extLst>
              <a:ext uri="{FF2B5EF4-FFF2-40B4-BE49-F238E27FC236}">
                <a16:creationId xmlns:a16="http://schemas.microsoft.com/office/drawing/2014/main" xmlns="" id="{5F14EE78-4FAA-496E-B0F2-028691054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1196975"/>
            <a:ext cx="441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bg2"/>
                </a:solidFill>
                <a:latin typeface="仿宋_GB2312" pitchFamily="49" charset="-122"/>
                <a:ea typeface="仿宋_GB2312" pitchFamily="49" charset="-122"/>
              </a:rPr>
              <a:t>如何使</a:t>
            </a:r>
            <a:r>
              <a:rPr kumimoji="1" lang="en-US" altLang="zh-CN" sz="2800" b="1">
                <a:solidFill>
                  <a:schemeClr val="bg2"/>
                </a:solidFill>
                <a:ea typeface="仿宋_GB2312" pitchFamily="49" charset="-122"/>
              </a:rPr>
              <a:t>fp</a:t>
            </a:r>
            <a:r>
              <a:rPr kumimoji="1" lang="zh-CN" altLang="en-US" sz="2800" b="1">
                <a:solidFill>
                  <a:schemeClr val="bg2"/>
                </a:solidFill>
                <a:latin typeface="仿宋_GB2312" pitchFamily="49" charset="-122"/>
                <a:ea typeface="仿宋_GB2312" pitchFamily="49" charset="-122"/>
              </a:rPr>
              <a:t>与具体</a:t>
            </a:r>
            <a:r>
              <a:rPr kumimoji="1" lang="zh-CN" altLang="en-US" sz="2800" b="1">
                <a:solidFill>
                  <a:schemeClr val="bg2"/>
                </a:solidFill>
                <a:ea typeface="仿宋_GB2312" pitchFamily="49" charset="-122"/>
              </a:rPr>
              <a:t>文件</a:t>
            </a:r>
            <a:r>
              <a:rPr kumimoji="1" lang="zh-CN" altLang="en-US" sz="2800" b="1">
                <a:solidFill>
                  <a:schemeClr val="bg2"/>
                </a:solidFill>
                <a:latin typeface="仿宋_GB2312" pitchFamily="49" charset="-122"/>
                <a:ea typeface="仿宋_GB2312" pitchFamily="49" charset="-122"/>
              </a:rPr>
              <a:t>挂钩</a:t>
            </a:r>
            <a:r>
              <a:rPr kumimoji="1" lang="en-US" altLang="zh-CN" sz="2800" b="1">
                <a:solidFill>
                  <a:schemeClr val="bg2"/>
                </a:solidFill>
                <a:latin typeface="仿宋_GB2312" pitchFamily="49" charset="-122"/>
                <a:ea typeface="仿宋_GB2312" pitchFamily="49" charset="-122"/>
              </a:rPr>
              <a:t>?</a:t>
            </a:r>
            <a:endParaRPr kumimoji="1" lang="en-US" altLang="zh-CN" sz="2400" b="1">
              <a:solidFill>
                <a:schemeClr val="bg2"/>
              </a:solidFill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9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228" grpId="0" autoUpdateAnimBg="0"/>
      <p:bldP spid="3922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>
            <a:extLst>
              <a:ext uri="{FF2B5EF4-FFF2-40B4-BE49-F238E27FC236}">
                <a16:creationId xmlns:a16="http://schemas.microsoft.com/office/drawing/2014/main" xmlns="" id="{A9E43654-EFCA-492A-A263-F63FF69929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12.1.6</a:t>
            </a:r>
            <a:r>
              <a:rPr lang="zh-CN" altLang="en-US"/>
              <a:t>文件控制块</a:t>
            </a:r>
            <a:r>
              <a:rPr lang="en-US" altLang="zh-CN"/>
              <a:t>FCB </a:t>
            </a:r>
          </a:p>
        </p:txBody>
      </p:sp>
      <p:sp>
        <p:nvSpPr>
          <p:cNvPr id="466947" name="Rectangle 3">
            <a:extLst>
              <a:ext uri="{FF2B5EF4-FFF2-40B4-BE49-F238E27FC236}">
                <a16:creationId xmlns:a16="http://schemas.microsoft.com/office/drawing/2014/main" xmlns="" id="{60F388A6-3723-4120-A10E-73C2E78609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981200"/>
            <a:ext cx="3816350" cy="468788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400"/>
              <a:t>文件控制块</a:t>
            </a:r>
            <a:r>
              <a:rPr lang="en-US" altLang="zh-CN" sz="2400"/>
              <a:t>FCB</a:t>
            </a:r>
            <a:r>
              <a:rPr lang="zh-CN" altLang="en-US" sz="2400"/>
              <a:t>（</a:t>
            </a:r>
            <a:r>
              <a:rPr lang="en-US" altLang="zh-CN" sz="2400"/>
              <a:t>File Control Block</a:t>
            </a:r>
            <a:r>
              <a:rPr lang="zh-CN" altLang="en-US" sz="2400"/>
              <a:t>） </a:t>
            </a:r>
          </a:p>
          <a:p>
            <a:pPr>
              <a:lnSpc>
                <a:spcPct val="80000"/>
              </a:lnSpc>
            </a:pPr>
            <a:r>
              <a:rPr lang="en-US" altLang="zh-CN" sz="2400"/>
              <a:t>OS</a:t>
            </a:r>
            <a:r>
              <a:rPr lang="zh-CN" altLang="en-US" sz="2400"/>
              <a:t>中对文件的操作控制通过</a:t>
            </a:r>
            <a:r>
              <a:rPr lang="en-US" altLang="zh-CN" sz="2400"/>
              <a:t>FCB</a:t>
            </a:r>
            <a:r>
              <a:rPr lang="zh-CN" altLang="en-US" sz="2400"/>
              <a:t>，处理的是</a:t>
            </a:r>
            <a:r>
              <a:rPr lang="en-US" altLang="zh-CN" sz="2400"/>
              <a:t>FCB</a:t>
            </a:r>
            <a:r>
              <a:rPr lang="zh-CN" altLang="en-US" sz="2400"/>
              <a:t>列表</a:t>
            </a:r>
          </a:p>
          <a:p>
            <a:pPr>
              <a:lnSpc>
                <a:spcPct val="80000"/>
              </a:lnSpc>
            </a:pPr>
            <a:r>
              <a:rPr lang="zh-CN" altLang="en-US" sz="2400"/>
              <a:t>一个文件对应一个</a:t>
            </a:r>
            <a:r>
              <a:rPr lang="en-US" altLang="zh-CN" sz="2400"/>
              <a:t>FCB</a:t>
            </a:r>
            <a:endParaRPr lang="zh-CN" altLang="en-US" sz="2400"/>
          </a:p>
          <a:p>
            <a:pPr>
              <a:lnSpc>
                <a:spcPct val="80000"/>
              </a:lnSpc>
            </a:pPr>
            <a:r>
              <a:rPr lang="zh-CN" altLang="en-US" sz="2400"/>
              <a:t>文件缓冲区由程序中</a:t>
            </a:r>
            <a:r>
              <a:rPr lang="en-US" altLang="zh-CN" sz="2400"/>
              <a:t>fopen</a:t>
            </a:r>
            <a:r>
              <a:rPr lang="zh-CN" altLang="en-US" sz="2400"/>
              <a:t>语句动态创建</a:t>
            </a:r>
          </a:p>
          <a:p>
            <a:pPr>
              <a:lnSpc>
                <a:spcPct val="80000"/>
              </a:lnSpc>
            </a:pPr>
            <a:r>
              <a:rPr lang="zh-CN" altLang="en-US" sz="2400"/>
              <a:t>打开文件时，</a:t>
            </a:r>
            <a:r>
              <a:rPr lang="en-US" altLang="zh-CN" sz="2400"/>
              <a:t> FCB</a:t>
            </a:r>
            <a:r>
              <a:rPr lang="zh-CN" altLang="en-US" sz="2400"/>
              <a:t>的内容信息被复制到文件缓冲区保存</a:t>
            </a:r>
          </a:p>
          <a:p>
            <a:pPr>
              <a:lnSpc>
                <a:spcPct val="80000"/>
              </a:lnSpc>
            </a:pPr>
            <a:r>
              <a:rPr lang="zh-CN" altLang="en-US" sz="2400"/>
              <a:t>用文件指针指向文件缓冲区实现对文件数据的访问</a:t>
            </a:r>
          </a:p>
          <a:p>
            <a:pPr>
              <a:lnSpc>
                <a:spcPct val="80000"/>
              </a:lnSpc>
            </a:pPr>
            <a:endParaRPr lang="zh-CN" altLang="en-US" sz="2400"/>
          </a:p>
        </p:txBody>
      </p:sp>
      <p:sp>
        <p:nvSpPr>
          <p:cNvPr id="466949" name="Rectangle 5">
            <a:extLst>
              <a:ext uri="{FF2B5EF4-FFF2-40B4-BE49-F238E27FC236}">
                <a16:creationId xmlns:a16="http://schemas.microsoft.com/office/drawing/2014/main" xmlns="" id="{FE3BE689-9372-4E72-899C-666BA912F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6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66948" name="Object 4">
            <a:extLst>
              <a:ext uri="{FF2B5EF4-FFF2-40B4-BE49-F238E27FC236}">
                <a16:creationId xmlns:a16="http://schemas.microsoft.com/office/drawing/2014/main" xmlns="" id="{F61CB445-079D-4822-8AAA-916FE982FD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1773238"/>
          <a:ext cx="5041900" cy="465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961" name="Visio" r:id="rId3" imgW="5577840" imgH="5274013" progId="Visio.Drawing.11">
                  <p:embed/>
                </p:oleObj>
              </mc:Choice>
              <mc:Fallback>
                <p:oleObj name="Visio" r:id="rId3" imgW="5577840" imgH="5274013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1773238"/>
                        <a:ext cx="5041900" cy="4652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>
            <a:extLst>
              <a:ext uri="{FF2B5EF4-FFF2-40B4-BE49-F238E27FC236}">
                <a16:creationId xmlns:a16="http://schemas.microsoft.com/office/drawing/2014/main" xmlns="" id="{EC4A8F3A-3D6A-45EF-A125-D700ED06C3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12.1.7 </a:t>
            </a:r>
            <a:r>
              <a:rPr lang="zh-CN" altLang="en-US"/>
              <a:t>文件处理步骤</a:t>
            </a:r>
          </a:p>
        </p:txBody>
      </p:sp>
      <p:sp>
        <p:nvSpPr>
          <p:cNvPr id="467971" name="Rectangle 3">
            <a:extLst>
              <a:ext uri="{FF2B5EF4-FFF2-40B4-BE49-F238E27FC236}">
                <a16:creationId xmlns:a16="http://schemas.microsoft.com/office/drawing/2014/main" xmlns="" id="{CDCE8125-8B6B-4A31-895D-6D72588D19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四个步骤：</a:t>
            </a:r>
          </a:p>
          <a:p>
            <a:pPr lvl="1"/>
            <a:r>
              <a:rPr lang="zh-CN" altLang="en-US"/>
              <a:t>① 定义文件指针</a:t>
            </a:r>
          </a:p>
          <a:p>
            <a:pPr lvl="1"/>
            <a:r>
              <a:rPr lang="zh-CN" altLang="en-US"/>
              <a:t>② 打开文件：文件指针指向磁盘文件缓冲区</a:t>
            </a:r>
          </a:p>
          <a:p>
            <a:pPr lvl="1"/>
            <a:r>
              <a:rPr lang="zh-CN" altLang="en-US"/>
              <a:t>③ 文件处理：文件读写操作</a:t>
            </a:r>
          </a:p>
          <a:p>
            <a:pPr lvl="1"/>
            <a:r>
              <a:rPr lang="zh-CN" altLang="en-US"/>
              <a:t>④ 关闭文件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>
            <a:extLst>
              <a:ext uri="{FF2B5EF4-FFF2-40B4-BE49-F238E27FC236}">
                <a16:creationId xmlns:a16="http://schemas.microsoft.com/office/drawing/2014/main" xmlns="" id="{43592E5B-118E-4B6B-AB36-D980A32C18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7427913" cy="811213"/>
          </a:xfrm>
        </p:spPr>
        <p:txBody>
          <a:bodyPr/>
          <a:lstStyle/>
          <a:p>
            <a:r>
              <a:rPr lang="en-US" altLang="zh-CN" sz="3600"/>
              <a:t>12.2 </a:t>
            </a:r>
            <a:r>
              <a:rPr lang="zh-CN" altLang="en-US"/>
              <a:t>用户信息加密和校验 </a:t>
            </a:r>
          </a:p>
        </p:txBody>
      </p:sp>
      <p:sp>
        <p:nvSpPr>
          <p:cNvPr id="422915" name="Rectangle 3">
            <a:extLst>
              <a:ext uri="{FF2B5EF4-FFF2-40B4-BE49-F238E27FC236}">
                <a16:creationId xmlns:a16="http://schemas.microsoft.com/office/drawing/2014/main" xmlns="" id="{86054B3B-7A35-4F70-8C90-1FB7F4BFE9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36513" y="1557338"/>
            <a:ext cx="8964613" cy="4392612"/>
          </a:xfrm>
        </p:spPr>
        <p:txBody>
          <a:bodyPr/>
          <a:lstStyle/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【</a:t>
            </a:r>
            <a:r>
              <a:rPr lang="zh-CN" altLang="en-US" sz="2800"/>
              <a:t>例</a:t>
            </a:r>
            <a:r>
              <a:rPr lang="en-US" altLang="zh-CN" sz="2800"/>
              <a:t>12-2】</a:t>
            </a:r>
            <a:r>
              <a:rPr lang="zh-CN" altLang="en-US"/>
              <a:t>为了保障系统安全，通常采取用户帐号和密码登录系统。系统用户信息存放在一个文件中，系统帐号名和密码由若干字母与数字字符构成，因安全需要文件中的密码不能是明文，必须要经过加密处理。请编程实现：输入</a:t>
            </a:r>
            <a:r>
              <a:rPr lang="en-US" altLang="zh-CN"/>
              <a:t>5</a:t>
            </a:r>
            <a:r>
              <a:rPr lang="zh-CN" altLang="en-US"/>
              <a:t>个用户信息（包含帐号名和密码）并写入文件</a:t>
            </a:r>
            <a:r>
              <a:rPr lang="en-US" altLang="zh-CN"/>
              <a:t>f12-2.dat</a:t>
            </a:r>
            <a:r>
              <a:rPr lang="zh-CN" altLang="en-US"/>
              <a:t>。要求文件中每个用户信息占一行，帐号名和加密过的密码之间用一个空格分隔。</a:t>
            </a:r>
            <a:r>
              <a:rPr lang="zh-CN" altLang="en-US">
                <a:solidFill>
                  <a:schemeClr val="bg2"/>
                </a:solidFill>
              </a:rPr>
              <a:t>密码加密算法</a:t>
            </a:r>
            <a:r>
              <a:rPr lang="zh-CN" altLang="en-US"/>
              <a:t>：对每个字符</a:t>
            </a:r>
            <a:r>
              <a:rPr lang="en-US" altLang="zh-CN"/>
              <a:t>ASCII</a:t>
            </a:r>
            <a:r>
              <a:rPr lang="zh-CN" altLang="en-US"/>
              <a:t>码的低四位求反，高四位保持不变（即将其与</a:t>
            </a:r>
            <a:r>
              <a:rPr lang="en-US" altLang="zh-CN"/>
              <a:t>15</a:t>
            </a:r>
            <a:r>
              <a:rPr lang="zh-CN" altLang="en-US"/>
              <a:t>进行异或）。 </a:t>
            </a:r>
            <a:r>
              <a:rPr lang="zh-CN" altLang="en-US" sz="2800"/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>
            <a:extLst>
              <a:ext uri="{FF2B5EF4-FFF2-40B4-BE49-F238E27FC236}">
                <a16:creationId xmlns:a16="http://schemas.microsoft.com/office/drawing/2014/main" xmlns="" id="{B16E92E2-0EBE-4C1B-9F10-CEDDC409DD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16575" y="0"/>
            <a:ext cx="3527425" cy="576263"/>
          </a:xfrm>
        </p:spPr>
        <p:txBody>
          <a:bodyPr/>
          <a:lstStyle/>
          <a:p>
            <a:r>
              <a:rPr lang="en-US" altLang="zh-CN" sz="3600"/>
              <a:t>12.2.1 </a:t>
            </a:r>
            <a:r>
              <a:rPr lang="zh-CN" altLang="en-US" sz="3600"/>
              <a:t>程序解析</a:t>
            </a:r>
          </a:p>
        </p:txBody>
      </p:sp>
      <p:sp>
        <p:nvSpPr>
          <p:cNvPr id="423939" name="Rectangle 3">
            <a:extLst>
              <a:ext uri="{FF2B5EF4-FFF2-40B4-BE49-F238E27FC236}">
                <a16:creationId xmlns:a16="http://schemas.microsoft.com/office/drawing/2014/main" xmlns="" id="{81CAADB2-8B69-4955-87D3-2849216395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484313"/>
            <a:ext cx="7380288" cy="5373687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>
                <a:solidFill>
                  <a:schemeClr val="bg2"/>
                </a:solidFill>
              </a:rPr>
              <a:t>int main(void)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/>
              <a:t>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/>
              <a:t>	FILE *fp;      /*1.</a:t>
            </a:r>
            <a:r>
              <a:rPr lang="zh-CN" altLang="en-US" sz="1700"/>
              <a:t>定义文件指针*</a:t>
            </a:r>
            <a:r>
              <a:rPr lang="en-US" altLang="zh-CN" sz="1700"/>
              <a:t>/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/>
              <a:t>	int i;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/>
              <a:t>	void encrypt(char *pwd);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/>
              <a:t>	struct sysuser su; 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/>
              <a:t>	/*2.</a:t>
            </a:r>
            <a:r>
              <a:rPr lang="zh-CN" altLang="en-US" sz="1700"/>
              <a:t>打开文件，进行写入操作*</a:t>
            </a:r>
            <a:r>
              <a:rPr lang="en-US" altLang="zh-CN" sz="1700"/>
              <a:t>/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/>
              <a:t>	if((</a:t>
            </a:r>
            <a:r>
              <a:rPr lang="en-US" altLang="zh-CN" sz="1700">
                <a:solidFill>
                  <a:schemeClr val="bg2"/>
                </a:solidFill>
              </a:rPr>
              <a:t>fp=fopen("f12-2.txt","w")</a:t>
            </a:r>
            <a:r>
              <a:rPr lang="en-US" altLang="zh-CN" sz="1700"/>
              <a:t>) == NULL){	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/>
              <a:t>   	    printf("File open error!\n"); exit(0);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/>
              <a:t>	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/>
              <a:t>  	for(i=1;i&lt;=5;i++){/*3. </a:t>
            </a:r>
            <a:r>
              <a:rPr lang="zh-CN" altLang="en-US" sz="1700"/>
              <a:t>将</a:t>
            </a:r>
            <a:r>
              <a:rPr lang="en-US" altLang="zh-CN" sz="1700"/>
              <a:t>5</a:t>
            </a:r>
            <a:r>
              <a:rPr lang="zh-CN" altLang="en-US" sz="1700"/>
              <a:t>位用户帐号信息写入文件*</a:t>
            </a:r>
            <a:r>
              <a:rPr lang="en-US" altLang="zh-CN" sz="1700"/>
              <a:t>/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/>
              <a:t>          printf("Enter %i th sysuser(name password):",i);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/>
              <a:t>          scanf("%s%s",su.username,su.password); /*</a:t>
            </a:r>
            <a:r>
              <a:rPr lang="zh-CN" altLang="en-US" sz="1700"/>
              <a:t>输入用户名和密码 *</a:t>
            </a:r>
            <a:r>
              <a:rPr lang="en-US" altLang="zh-CN" sz="1700"/>
              <a:t>/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/>
              <a:t>          encrypt(su.password);    	/*</a:t>
            </a:r>
            <a:r>
              <a:rPr lang="zh-CN" altLang="en-US" sz="1700"/>
              <a:t>进行加密处理*</a:t>
            </a:r>
            <a:r>
              <a:rPr lang="en-US" altLang="zh-CN" sz="1700"/>
              <a:t>/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/>
              <a:t>          </a:t>
            </a:r>
            <a:r>
              <a:rPr lang="en-US" altLang="zh-CN" sz="1700">
                <a:solidFill>
                  <a:schemeClr val="bg2"/>
                </a:solidFill>
              </a:rPr>
              <a:t>fprintf</a:t>
            </a:r>
            <a:r>
              <a:rPr lang="en-US" altLang="zh-CN" sz="1700"/>
              <a:t>(fp,"%s %s\n",su.username,su.password); /*</a:t>
            </a:r>
            <a:r>
              <a:rPr lang="zh-CN" altLang="en-US" sz="1700"/>
              <a:t>写入文件*</a:t>
            </a:r>
            <a:r>
              <a:rPr lang="en-US" altLang="zh-CN" sz="1700"/>
              <a:t>/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/>
              <a:t>      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/>
              <a:t>      if(</a:t>
            </a:r>
            <a:r>
              <a:rPr lang="en-US" altLang="zh-CN" sz="1700">
                <a:solidFill>
                  <a:schemeClr val="bg2"/>
                </a:solidFill>
              </a:rPr>
              <a:t>fclose</a:t>
            </a:r>
            <a:r>
              <a:rPr lang="en-US" altLang="zh-CN" sz="1700"/>
              <a:t>(fp)){	/*4.</a:t>
            </a:r>
            <a:r>
              <a:rPr lang="zh-CN" altLang="en-US" sz="1700"/>
              <a:t>关闭文件*</a:t>
            </a:r>
            <a:r>
              <a:rPr lang="en-US" altLang="zh-CN" sz="1700"/>
              <a:t>/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/>
              <a:t>          printf("Can not close the file!\n"); exit(0);}	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/>
              <a:t>      return 0;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/>
              <a:t>}</a:t>
            </a:r>
          </a:p>
        </p:txBody>
      </p:sp>
      <p:sp>
        <p:nvSpPr>
          <p:cNvPr id="423940" name="Rectangle 4">
            <a:extLst>
              <a:ext uri="{FF2B5EF4-FFF2-40B4-BE49-F238E27FC236}">
                <a16:creationId xmlns:a16="http://schemas.microsoft.com/office/drawing/2014/main" xmlns="" id="{E31A62E1-EE8F-485E-BBC2-0746923D1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765175"/>
            <a:ext cx="4535487" cy="2563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zh-CN" b="1"/>
              <a:t>/*</a:t>
            </a:r>
            <a:r>
              <a:rPr lang="zh-CN" altLang="en-US" b="1"/>
              <a:t>加密算法*</a:t>
            </a:r>
            <a:r>
              <a:rPr lang="en-US" altLang="zh-CN" b="1"/>
              <a:t>/</a:t>
            </a:r>
          </a:p>
          <a:p>
            <a:r>
              <a:rPr lang="en-US" altLang="zh-CN" b="1">
                <a:solidFill>
                  <a:schemeClr val="bg2"/>
                </a:solidFill>
              </a:rPr>
              <a:t>void encrypt(char *pwd)</a:t>
            </a:r>
          </a:p>
          <a:p>
            <a:r>
              <a:rPr lang="en-US" altLang="zh-CN" b="1"/>
              <a:t>{</a:t>
            </a:r>
          </a:p>
          <a:p>
            <a:r>
              <a:rPr lang="en-US" altLang="zh-CN" b="1"/>
              <a:t>   int i;</a:t>
            </a:r>
          </a:p>
          <a:p>
            <a:r>
              <a:rPr lang="en-US" altLang="zh-CN" b="1"/>
              <a:t>   /*</a:t>
            </a:r>
            <a:r>
              <a:rPr lang="zh-CN" altLang="en-US" b="1"/>
              <a:t>与</a:t>
            </a:r>
            <a:r>
              <a:rPr lang="en-US" altLang="zh-CN" b="1"/>
              <a:t>15</a:t>
            </a:r>
            <a:r>
              <a:rPr lang="zh-CN" altLang="en-US" b="1"/>
              <a:t>（二进制码是</a:t>
            </a:r>
            <a:r>
              <a:rPr lang="en-US" altLang="zh-CN" b="1"/>
              <a:t>00001111</a:t>
            </a:r>
            <a:r>
              <a:rPr lang="zh-CN" altLang="en-US" b="1"/>
              <a:t>）异或，实现低四位取反，高四位保持不变*</a:t>
            </a:r>
            <a:r>
              <a:rPr lang="en-US" altLang="zh-CN" b="1"/>
              <a:t>/</a:t>
            </a:r>
          </a:p>
          <a:p>
            <a:r>
              <a:rPr lang="en-US" altLang="zh-CN" b="1"/>
              <a:t>   for(i=0;i&lt;strlen(pwd);i++) </a:t>
            </a:r>
          </a:p>
          <a:p>
            <a:r>
              <a:rPr lang="en-US" altLang="zh-CN" b="1"/>
              <a:t>         pwd[i] = pwd[i] ^ 15;</a:t>
            </a:r>
          </a:p>
          <a:p>
            <a:r>
              <a:rPr lang="en-US" altLang="zh-CN" b="1"/>
              <a:t>}</a:t>
            </a:r>
            <a:endParaRPr lang="zh-CN" altLang="en-US" b="1"/>
          </a:p>
        </p:txBody>
      </p:sp>
      <p:sp>
        <p:nvSpPr>
          <p:cNvPr id="423941" name="Rectangle 5">
            <a:extLst>
              <a:ext uri="{FF2B5EF4-FFF2-40B4-BE49-F238E27FC236}">
                <a16:creationId xmlns:a16="http://schemas.microsoft.com/office/drawing/2014/main" xmlns="" id="{20B43B14-44A6-4218-B964-68C69423B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0"/>
            <a:ext cx="4537075" cy="155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zh-CN" sz="1600" b="1"/>
              <a:t>#include &lt;stdio.h&gt;</a:t>
            </a:r>
          </a:p>
          <a:p>
            <a:r>
              <a:rPr lang="en-US" altLang="zh-CN" sz="1600" b="1"/>
              <a:t>#include &lt;string.h&gt;</a:t>
            </a:r>
          </a:p>
          <a:p>
            <a:r>
              <a:rPr lang="en-US" altLang="zh-CN" sz="1600" b="1"/>
              <a:t>struct sysuser{/*</a:t>
            </a:r>
            <a:r>
              <a:rPr lang="zh-CN" altLang="en-US" sz="1600" b="1"/>
              <a:t>用户帐号信息结构*</a:t>
            </a:r>
            <a:r>
              <a:rPr lang="en-US" altLang="zh-CN" sz="1600" b="1"/>
              <a:t>/</a:t>
            </a:r>
          </a:p>
          <a:p>
            <a:r>
              <a:rPr lang="en-US" altLang="zh-CN" sz="1600" b="1"/>
              <a:t>	char username[20]; </a:t>
            </a:r>
          </a:p>
          <a:p>
            <a:r>
              <a:rPr lang="en-US" altLang="zh-CN" sz="1600" b="1"/>
              <a:t>	char password[8];		</a:t>
            </a:r>
          </a:p>
          <a:p>
            <a:r>
              <a:rPr lang="en-US" altLang="zh-CN" sz="1600" b="1"/>
              <a:t>};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>
            <a:extLst>
              <a:ext uri="{FF2B5EF4-FFF2-40B4-BE49-F238E27FC236}">
                <a16:creationId xmlns:a16="http://schemas.microsoft.com/office/drawing/2014/main" xmlns="" id="{0E41B89C-30FA-4F60-B28E-ACB63DF712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39975" y="0"/>
            <a:ext cx="6192838" cy="503238"/>
          </a:xfrm>
        </p:spPr>
        <p:txBody>
          <a:bodyPr/>
          <a:lstStyle/>
          <a:p>
            <a:r>
              <a:rPr lang="en-US" altLang="zh-CN" sz="3600"/>
              <a:t>12.2.2  </a:t>
            </a:r>
            <a:r>
              <a:rPr lang="zh-CN" altLang="en-US" sz="3600"/>
              <a:t>打开文件和关闭文件</a:t>
            </a:r>
          </a:p>
        </p:txBody>
      </p:sp>
      <p:sp>
        <p:nvSpPr>
          <p:cNvPr id="394243" name="Rectangle 3">
            <a:extLst>
              <a:ext uri="{FF2B5EF4-FFF2-40B4-BE49-F238E27FC236}">
                <a16:creationId xmlns:a16="http://schemas.microsoft.com/office/drawing/2014/main" xmlns="" id="{0FD720CA-3707-4EE0-8C67-8012519070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8925" y="476250"/>
            <a:ext cx="8675688" cy="6121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600"/>
              <a:t>if((</a:t>
            </a:r>
            <a:r>
              <a:rPr lang="en-US" altLang="zh-CN" sz="2600">
                <a:solidFill>
                  <a:srgbClr val="CC0066"/>
                </a:solidFill>
              </a:rPr>
              <a:t>fp=fopen("f12-2.txt","w")</a:t>
            </a:r>
            <a:r>
              <a:rPr lang="en-US" altLang="zh-CN" sz="2600"/>
              <a:t>) == NULL){	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600"/>
              <a:t>   	    printf("File open error!\n"); exit(0);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600"/>
              <a:t>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chemeClr val="bg2"/>
                </a:solidFill>
              </a:rPr>
              <a:t>fopen("</a:t>
            </a:r>
            <a:r>
              <a:rPr lang="zh-CN" altLang="en-US" sz="2800">
                <a:solidFill>
                  <a:schemeClr val="bg2"/>
                </a:solidFill>
              </a:rPr>
              <a:t>文件名</a:t>
            </a:r>
            <a:r>
              <a:rPr lang="en-US" altLang="zh-CN" sz="2800">
                <a:solidFill>
                  <a:schemeClr val="bg2"/>
                </a:solidFill>
              </a:rPr>
              <a:t>"</a:t>
            </a:r>
            <a:r>
              <a:rPr lang="zh-CN" altLang="en-US" sz="2800">
                <a:solidFill>
                  <a:schemeClr val="bg2"/>
                </a:solidFill>
              </a:rPr>
              <a:t>，</a:t>
            </a:r>
            <a:r>
              <a:rPr lang="en-US" altLang="zh-CN" sz="2800">
                <a:solidFill>
                  <a:schemeClr val="bg2"/>
                </a:solidFill>
              </a:rPr>
              <a:t>"</a:t>
            </a:r>
            <a:r>
              <a:rPr lang="zh-CN" altLang="en-US" sz="2800">
                <a:solidFill>
                  <a:schemeClr val="bg2"/>
                </a:solidFill>
              </a:rPr>
              <a:t>文件打开方式</a:t>
            </a:r>
            <a:r>
              <a:rPr lang="en-US" altLang="zh-CN" sz="2800">
                <a:solidFill>
                  <a:schemeClr val="bg2"/>
                </a:solidFill>
              </a:rPr>
              <a:t>")</a:t>
            </a:r>
          </a:p>
          <a:p>
            <a:pPr lvl="1"/>
            <a:r>
              <a:rPr lang="zh-CN" altLang="en-US" sz="2400"/>
              <a:t>使文件指针与相应文件实体对应起来</a:t>
            </a:r>
          </a:p>
          <a:p>
            <a:pPr lvl="1"/>
            <a:r>
              <a:rPr kumimoji="1" lang="zh-CN" altLang="en-US" sz="2400">
                <a:solidFill>
                  <a:schemeClr val="bg2"/>
                </a:solidFill>
              </a:rPr>
              <a:t>程序对文件指针进行操作，即</a:t>
            </a:r>
            <a:r>
              <a:rPr kumimoji="1" lang="en-US" altLang="zh-CN" sz="2400">
                <a:solidFill>
                  <a:schemeClr val="bg2"/>
                </a:solidFill>
              </a:rPr>
              <a:t>fp</a:t>
            </a:r>
            <a:r>
              <a:rPr kumimoji="1" lang="zh-CN" altLang="en-US" sz="2400">
                <a:solidFill>
                  <a:schemeClr val="bg2"/>
                </a:solidFill>
              </a:rPr>
              <a:t>代表磁盘文件</a:t>
            </a:r>
            <a:endParaRPr lang="en-US" altLang="zh-CN" sz="2400">
              <a:solidFill>
                <a:schemeClr val="bg2"/>
              </a:solidFill>
            </a:endParaRPr>
          </a:p>
          <a:p>
            <a:r>
              <a:rPr lang="zh-CN" altLang="en-US" sz="2800"/>
              <a:t>函数</a:t>
            </a:r>
            <a:r>
              <a:rPr lang="en-US" altLang="zh-CN" sz="2800">
                <a:solidFill>
                  <a:schemeClr val="bg2"/>
                </a:solidFill>
              </a:rPr>
              <a:t>fopen()</a:t>
            </a:r>
            <a:r>
              <a:rPr lang="zh-CN" altLang="en-US" sz="2800"/>
              <a:t> 的返回值</a:t>
            </a:r>
          </a:p>
          <a:p>
            <a:pPr lvl="1">
              <a:lnSpc>
                <a:spcPct val="120000"/>
              </a:lnSpc>
            </a:pPr>
            <a:r>
              <a:rPr lang="zh-CN" altLang="en-US" sz="2400"/>
              <a:t>执行成功，则返回包含文件缓冲区等信息的</a:t>
            </a:r>
            <a:r>
              <a:rPr lang="en-US" altLang="zh-CN" sz="2400"/>
              <a:t>FILE</a:t>
            </a:r>
            <a:r>
              <a:rPr lang="zh-CN" altLang="en-US" sz="2400"/>
              <a:t>型</a:t>
            </a:r>
            <a:r>
              <a:rPr lang="zh-CN" altLang="en-US" sz="2400">
                <a:solidFill>
                  <a:schemeClr val="bg2"/>
                </a:solidFill>
              </a:rPr>
              <a:t>地址</a:t>
            </a:r>
            <a:r>
              <a:rPr lang="zh-CN" altLang="en-US" sz="2400"/>
              <a:t>，赋给文件指针</a:t>
            </a:r>
            <a:r>
              <a:rPr lang="en-US" altLang="zh-CN" sz="2400"/>
              <a:t>fp</a:t>
            </a:r>
            <a:endParaRPr lang="zh-CN" altLang="en-US" sz="2400"/>
          </a:p>
          <a:p>
            <a:pPr lvl="1">
              <a:lnSpc>
                <a:spcPct val="120000"/>
              </a:lnSpc>
            </a:pPr>
            <a:r>
              <a:rPr lang="zh-CN" altLang="en-US" sz="2400"/>
              <a:t>不成功，则返回一个</a:t>
            </a:r>
            <a:r>
              <a:rPr lang="en-US" altLang="zh-CN" sz="2400">
                <a:solidFill>
                  <a:schemeClr val="bg2"/>
                </a:solidFill>
              </a:rPr>
              <a:t>NULL</a:t>
            </a:r>
            <a:r>
              <a:rPr lang="zh-CN" altLang="en-US" sz="2400"/>
              <a:t>（空值）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sz="2000"/>
              <a:t>exit(0)</a:t>
            </a:r>
            <a:r>
              <a:rPr lang="zh-CN" altLang="en-US" sz="2000"/>
              <a:t>：</a:t>
            </a:r>
            <a:r>
              <a:rPr lang="zh-CN" altLang="en-US"/>
              <a:t>关闭所有打开的文件，并终止程序的执行</a:t>
            </a:r>
          </a:p>
          <a:p>
            <a:pPr lvl="3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/>
              <a:t>参数</a:t>
            </a:r>
            <a:r>
              <a:rPr lang="en-US" altLang="zh-CN"/>
              <a:t>0</a:t>
            </a:r>
            <a:r>
              <a:rPr lang="zh-CN" altLang="en-US"/>
              <a:t>表示程序正常结束；非</a:t>
            </a:r>
            <a:r>
              <a:rPr lang="en-US" altLang="zh-CN"/>
              <a:t>0</a:t>
            </a:r>
            <a:r>
              <a:rPr lang="zh-CN" altLang="en-US"/>
              <a:t>参数通常表示不正常的程序结束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4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94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94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94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94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94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94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94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94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94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94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43" grpId="0" uiExpand="1" build="p" bldLvl="2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>
            <a:extLst>
              <a:ext uri="{FF2B5EF4-FFF2-40B4-BE49-F238E27FC236}">
                <a16:creationId xmlns:a16="http://schemas.microsoft.com/office/drawing/2014/main" xmlns="" id="{9916EE17-3A8C-4F78-A00B-51765D1CC6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64163" y="333375"/>
            <a:ext cx="3467100" cy="739775"/>
          </a:xfrm>
        </p:spPr>
        <p:txBody>
          <a:bodyPr/>
          <a:lstStyle/>
          <a:p>
            <a:r>
              <a:rPr lang="zh-CN" altLang="en-US" sz="4000"/>
              <a:t>文件打开方式</a:t>
            </a:r>
          </a:p>
        </p:txBody>
      </p:sp>
      <p:sp>
        <p:nvSpPr>
          <p:cNvPr id="396291" name="Rectangle 3">
            <a:extLst>
              <a:ext uri="{FF2B5EF4-FFF2-40B4-BE49-F238E27FC236}">
                <a16:creationId xmlns:a16="http://schemas.microsoft.com/office/drawing/2014/main" xmlns="" id="{58E94792-075B-486C-833C-BC466B839D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692150"/>
            <a:ext cx="5040312" cy="11525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3000">
                <a:solidFill>
                  <a:srgbClr val="CC0066"/>
                </a:solidFill>
              </a:rPr>
              <a:t>fp=fopen("f12-2.txt","w")</a:t>
            </a:r>
            <a:endParaRPr lang="zh-CN" altLang="en-US">
              <a:solidFill>
                <a:srgbClr val="CC0066"/>
              </a:solidFill>
            </a:endParaRPr>
          </a:p>
          <a:p>
            <a:r>
              <a:rPr lang="zh-CN" altLang="en-US"/>
              <a:t>文件打开方式参数表</a:t>
            </a:r>
          </a:p>
        </p:txBody>
      </p:sp>
      <p:graphicFrame>
        <p:nvGraphicFramePr>
          <p:cNvPr id="396292" name="Object 4">
            <a:extLst>
              <a:ext uri="{FF2B5EF4-FFF2-40B4-BE49-F238E27FC236}">
                <a16:creationId xmlns:a16="http://schemas.microsoft.com/office/drawing/2014/main" xmlns="" id="{FABED28D-AA9D-43F3-9219-33D97810B5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2205038"/>
          <a:ext cx="7924800" cy="357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510" name="文档" r:id="rId3" imgW="5532162" imgH="2210222" progId="Word.Document.8">
                  <p:embed/>
                </p:oleObj>
              </mc:Choice>
              <mc:Fallback>
                <p:oleObj name="文档" r:id="rId3" imgW="5532162" imgH="2210222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205038"/>
                        <a:ext cx="7924800" cy="357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>
            <a:extLst>
              <a:ext uri="{FF2B5EF4-FFF2-40B4-BE49-F238E27FC236}">
                <a16:creationId xmlns:a16="http://schemas.microsoft.com/office/drawing/2014/main" xmlns="" id="{B2CD2836-05E6-497C-B3AF-9C764AB969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72188" y="188913"/>
            <a:ext cx="2963862" cy="1296987"/>
          </a:xfrm>
        </p:spPr>
        <p:txBody>
          <a:bodyPr/>
          <a:lstStyle/>
          <a:p>
            <a:r>
              <a:rPr lang="zh-CN" altLang="en-US" sz="4000"/>
              <a:t>文件读写与打开方式</a:t>
            </a:r>
          </a:p>
        </p:txBody>
      </p:sp>
      <p:sp>
        <p:nvSpPr>
          <p:cNvPr id="460803" name="Rectangle 3">
            <a:extLst>
              <a:ext uri="{FF2B5EF4-FFF2-40B4-BE49-F238E27FC236}">
                <a16:creationId xmlns:a16="http://schemas.microsoft.com/office/drawing/2014/main" xmlns="" id="{342226B7-62DB-464F-9C87-6087AE6232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6513" y="692150"/>
            <a:ext cx="9107487" cy="5903913"/>
          </a:xfrm>
        </p:spPr>
        <p:txBody>
          <a:bodyPr/>
          <a:lstStyle/>
          <a:p>
            <a:pPr algn="just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if </a:t>
            </a:r>
            <a:r>
              <a:rPr lang="zh-CN" altLang="en-US" sz="2000">
                <a:solidFill>
                  <a:schemeClr val="bg2"/>
                </a:solidFill>
              </a:rPr>
              <a:t>读文件</a:t>
            </a:r>
          </a:p>
          <a:p>
            <a:pPr algn="just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    指定的文件必须存在，否则出错；</a:t>
            </a:r>
          </a:p>
          <a:p>
            <a:pPr algn="just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if </a:t>
            </a:r>
            <a:r>
              <a:rPr lang="zh-CN" altLang="en-US" sz="2000">
                <a:solidFill>
                  <a:schemeClr val="bg2"/>
                </a:solidFill>
              </a:rPr>
              <a:t>写文件</a:t>
            </a:r>
            <a:r>
              <a:rPr lang="en-US" altLang="zh-CN" sz="2000"/>
              <a:t>(</a:t>
            </a:r>
            <a:r>
              <a:rPr lang="zh-CN" altLang="en-US" sz="2000"/>
              <a:t>指定的文件可以存在，也可以不存在</a:t>
            </a:r>
            <a:r>
              <a:rPr lang="en-US" altLang="zh-CN" sz="2000"/>
              <a:t>)</a:t>
            </a:r>
          </a:p>
          <a:p>
            <a:pPr algn="just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    if  </a:t>
            </a:r>
            <a:r>
              <a:rPr lang="zh-CN" altLang="en-US" sz="2000"/>
              <a:t>以 </a:t>
            </a:r>
            <a:r>
              <a:rPr lang="en-US" altLang="zh-CN" sz="2000">
                <a:solidFill>
                  <a:srgbClr val="CC0066"/>
                </a:solidFill>
              </a:rPr>
              <a:t>"w" </a:t>
            </a:r>
            <a:r>
              <a:rPr lang="zh-CN" altLang="en-US" sz="2000"/>
              <a:t>方式写</a:t>
            </a:r>
          </a:p>
          <a:p>
            <a:pPr algn="just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        if </a:t>
            </a:r>
            <a:r>
              <a:rPr lang="zh-CN" altLang="en-US" sz="2000"/>
              <a:t>该文件已经存在</a:t>
            </a:r>
          </a:p>
          <a:p>
            <a:pPr algn="just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            原文件将被删去重新建立；</a:t>
            </a:r>
          </a:p>
          <a:p>
            <a:pPr algn="just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        </a:t>
            </a:r>
            <a:r>
              <a:rPr lang="en-US" altLang="zh-CN" sz="2000"/>
              <a:t>else </a:t>
            </a:r>
          </a:p>
          <a:p>
            <a:pPr algn="just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            按指定的名字新建一个文件；</a:t>
            </a:r>
          </a:p>
          <a:p>
            <a:pPr algn="just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    </a:t>
            </a:r>
            <a:r>
              <a:rPr lang="en-US" altLang="zh-CN" sz="2000"/>
              <a:t>else if  </a:t>
            </a:r>
            <a:r>
              <a:rPr lang="zh-CN" altLang="en-US" sz="2000"/>
              <a:t>以 </a:t>
            </a:r>
            <a:r>
              <a:rPr lang="en-US" altLang="zh-CN" sz="2000">
                <a:solidFill>
                  <a:srgbClr val="CC0066"/>
                </a:solidFill>
              </a:rPr>
              <a:t>"a" </a:t>
            </a:r>
            <a:r>
              <a:rPr lang="zh-CN" altLang="en-US" sz="2000"/>
              <a:t>方式写</a:t>
            </a:r>
          </a:p>
          <a:p>
            <a:pPr algn="just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        if </a:t>
            </a:r>
            <a:r>
              <a:rPr lang="zh-CN" altLang="en-US" sz="2000"/>
              <a:t>该文件已经存在</a:t>
            </a:r>
          </a:p>
          <a:p>
            <a:pPr algn="just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           写入的数据将被添加到指定文件原有数据的后面，不会删去原来的内容；</a:t>
            </a:r>
          </a:p>
          <a:p>
            <a:pPr algn="just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        else </a:t>
            </a:r>
          </a:p>
          <a:p>
            <a:pPr algn="just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            </a:t>
            </a:r>
            <a:r>
              <a:rPr lang="zh-CN" altLang="en-US" sz="2000"/>
              <a:t>按指定的名字新建一个文件（与“</a:t>
            </a:r>
            <a:r>
              <a:rPr lang="en-US" altLang="zh-CN" sz="2000"/>
              <a:t>w”</a:t>
            </a:r>
            <a:r>
              <a:rPr lang="zh-CN" altLang="en-US" sz="2000"/>
              <a:t>相同）；</a:t>
            </a:r>
          </a:p>
          <a:p>
            <a:pPr algn="just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if  </a:t>
            </a:r>
            <a:r>
              <a:rPr lang="zh-CN" altLang="en-US" sz="2000">
                <a:solidFill>
                  <a:schemeClr val="bg2"/>
                </a:solidFill>
              </a:rPr>
              <a:t>文件同时读和写</a:t>
            </a:r>
          </a:p>
          <a:p>
            <a:pPr algn="just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        使用 </a:t>
            </a:r>
            <a:r>
              <a:rPr lang="en-US" altLang="zh-CN" sz="2000">
                <a:solidFill>
                  <a:srgbClr val="CC0066"/>
                </a:solidFill>
              </a:rPr>
              <a:t>"r+"</a:t>
            </a:r>
            <a:r>
              <a:rPr lang="zh-CN" altLang="en-US" sz="2000"/>
              <a:t>、</a:t>
            </a:r>
            <a:r>
              <a:rPr lang="en-US" altLang="zh-CN" sz="2000">
                <a:solidFill>
                  <a:srgbClr val="CC0066"/>
                </a:solidFill>
              </a:rPr>
              <a:t>"w+" </a:t>
            </a:r>
            <a:r>
              <a:rPr lang="zh-CN" altLang="en-US" sz="2000"/>
              <a:t>或 </a:t>
            </a:r>
            <a:r>
              <a:rPr lang="en-US" altLang="zh-CN" sz="2000">
                <a:solidFill>
                  <a:srgbClr val="CC0066"/>
                </a:solidFill>
              </a:rPr>
              <a:t>"a+" </a:t>
            </a:r>
            <a:r>
              <a:rPr lang="zh-CN" altLang="en-US" sz="2000"/>
              <a:t>打开文件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>
            <a:extLst>
              <a:ext uri="{FF2B5EF4-FFF2-40B4-BE49-F238E27FC236}">
                <a16:creationId xmlns:a16="http://schemas.microsoft.com/office/drawing/2014/main" xmlns="" id="{118DA99A-30E0-4286-9CA1-E450590E75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92725" y="188913"/>
            <a:ext cx="3673475" cy="792162"/>
          </a:xfrm>
        </p:spPr>
        <p:txBody>
          <a:bodyPr/>
          <a:lstStyle/>
          <a:p>
            <a:r>
              <a:rPr lang="zh-CN" altLang="en-US" sz="4000"/>
              <a:t>关闭文件</a:t>
            </a:r>
          </a:p>
        </p:txBody>
      </p:sp>
      <p:sp>
        <p:nvSpPr>
          <p:cNvPr id="461827" name="Rectangle 3">
            <a:extLst>
              <a:ext uri="{FF2B5EF4-FFF2-40B4-BE49-F238E27FC236}">
                <a16:creationId xmlns:a16="http://schemas.microsoft.com/office/drawing/2014/main" xmlns="" id="{0674E728-F32C-4787-BFA7-A6C7F5E5B0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765175"/>
            <a:ext cx="8675688" cy="5832475"/>
          </a:xfrm>
        </p:spPr>
        <p:txBody>
          <a:bodyPr/>
          <a:lstStyle/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if( </a:t>
            </a:r>
            <a:r>
              <a:rPr lang="en-US" altLang="zh-CN" sz="2400">
                <a:solidFill>
                  <a:srgbClr val="CC0066"/>
                </a:solidFill>
              </a:rPr>
              <a:t>fclose(fp)</a:t>
            </a:r>
            <a:r>
              <a:rPr lang="en-US" altLang="zh-CN" sz="2400"/>
              <a:t> ){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printf( "Can not close the file!\n" );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exit(0);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}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chemeClr val="bg2"/>
                </a:solidFill>
              </a:rPr>
              <a:t>fclose(</a:t>
            </a:r>
            <a:r>
              <a:rPr lang="zh-CN" altLang="en-US" sz="2800">
                <a:solidFill>
                  <a:schemeClr val="bg2"/>
                </a:solidFill>
              </a:rPr>
              <a:t>文件指针</a:t>
            </a:r>
            <a:r>
              <a:rPr lang="en-US" altLang="zh-CN" sz="2800">
                <a:solidFill>
                  <a:schemeClr val="bg2"/>
                </a:solidFill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lang="zh-CN" altLang="en-US" sz="2400"/>
              <a:t>把缓冲区中的数据写入磁盘扇区，确保写文件的正常完成</a:t>
            </a:r>
          </a:p>
          <a:p>
            <a:pPr lvl="1">
              <a:lnSpc>
                <a:spcPct val="90000"/>
              </a:lnSpc>
            </a:pPr>
            <a:r>
              <a:rPr lang="zh-CN" altLang="en-US" sz="2400"/>
              <a:t>释放文件缓冲区单元和</a:t>
            </a:r>
            <a:r>
              <a:rPr lang="en-US" altLang="zh-CN" sz="2400"/>
              <a:t>FILE</a:t>
            </a:r>
            <a:r>
              <a:rPr lang="zh-CN" altLang="en-US" sz="2400"/>
              <a:t>结构体，使文件指针与具体文件脱钩。</a:t>
            </a:r>
          </a:p>
          <a:p>
            <a:pPr lvl="1">
              <a:lnSpc>
                <a:spcPct val="90000"/>
              </a:lnSpc>
            </a:pPr>
            <a:endParaRPr lang="zh-CN" altLang="en-US" sz="24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函数</a:t>
            </a:r>
            <a:r>
              <a:rPr lang="en-US" altLang="zh-CN" sz="2800">
                <a:solidFill>
                  <a:schemeClr val="bg2"/>
                </a:solidFill>
              </a:rPr>
              <a:t>fclose</a:t>
            </a:r>
            <a:r>
              <a:rPr lang="en-US" altLang="zh-CN" sz="2800"/>
              <a:t>()</a:t>
            </a:r>
            <a:r>
              <a:rPr lang="zh-CN" altLang="en-US" sz="2800"/>
              <a:t> 的返回值</a:t>
            </a:r>
          </a:p>
          <a:p>
            <a:pPr lvl="1" algn="just">
              <a:lnSpc>
                <a:spcPct val="120000"/>
              </a:lnSpc>
            </a:pPr>
            <a:r>
              <a:rPr lang="zh-CN" altLang="en-US" sz="2400"/>
              <a:t>返回</a:t>
            </a:r>
            <a:r>
              <a:rPr lang="en-US" altLang="zh-CN" sz="2400"/>
              <a:t>0</a:t>
            </a:r>
            <a:r>
              <a:rPr lang="zh-CN" altLang="en-US" sz="2400"/>
              <a:t>：正常关闭文件</a:t>
            </a:r>
          </a:p>
          <a:p>
            <a:pPr lvl="1" algn="just">
              <a:lnSpc>
                <a:spcPct val="120000"/>
              </a:lnSpc>
            </a:pPr>
            <a:r>
              <a:rPr lang="zh-CN" altLang="en-US" sz="2400"/>
              <a:t>返回非</a:t>
            </a:r>
            <a:r>
              <a:rPr lang="en-US" altLang="zh-CN" sz="2400"/>
              <a:t>0</a:t>
            </a:r>
            <a:r>
              <a:rPr lang="zh-CN" altLang="en-US" sz="2400"/>
              <a:t>：无法正常关闭文件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61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61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61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61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618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618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827" grpId="0" uiExpand="1" build="p" bldLvl="2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>
            <a:extLst>
              <a:ext uri="{FF2B5EF4-FFF2-40B4-BE49-F238E27FC236}">
                <a16:creationId xmlns:a16="http://schemas.microsoft.com/office/drawing/2014/main" xmlns="" id="{D5B4CA70-904E-46D1-8EE4-40E0927C63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7283450" cy="884238"/>
          </a:xfrm>
        </p:spPr>
        <p:txBody>
          <a:bodyPr/>
          <a:lstStyle/>
          <a:p>
            <a:r>
              <a:rPr lang="en-US" altLang="zh-CN" sz="4000"/>
              <a:t>12.2.3  </a:t>
            </a:r>
            <a:r>
              <a:rPr lang="zh-CN" altLang="en-US" sz="4000"/>
              <a:t>文件读写</a:t>
            </a:r>
          </a:p>
        </p:txBody>
      </p:sp>
      <p:sp>
        <p:nvSpPr>
          <p:cNvPr id="430083" name="Rectangle 3">
            <a:extLst>
              <a:ext uri="{FF2B5EF4-FFF2-40B4-BE49-F238E27FC236}">
                <a16:creationId xmlns:a16="http://schemas.microsoft.com/office/drawing/2014/main" xmlns="" id="{CF41625E-9564-4E83-B0AF-92CFBDAFB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28775"/>
            <a:ext cx="8291513" cy="3744913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/>
              <a:t>【</a:t>
            </a:r>
            <a:r>
              <a:rPr lang="zh-CN" altLang="en-US"/>
              <a:t>例</a:t>
            </a:r>
            <a:r>
              <a:rPr lang="en-US" altLang="zh-CN"/>
              <a:t>12-3】</a:t>
            </a:r>
            <a:r>
              <a:rPr lang="zh-CN" altLang="en-US"/>
              <a:t>复制用户文件。将例</a:t>
            </a:r>
            <a:r>
              <a:rPr lang="en-US" altLang="zh-CN"/>
              <a:t>12-2</a:t>
            </a:r>
            <a:r>
              <a:rPr lang="zh-CN" altLang="en-US"/>
              <a:t>的用户信息文件</a:t>
            </a:r>
            <a:r>
              <a:rPr lang="en-US" altLang="zh-CN"/>
              <a:t>f12-2.txt</a:t>
            </a:r>
            <a:r>
              <a:rPr lang="zh-CN" altLang="en-US"/>
              <a:t>文件备份一份，取名为文件</a:t>
            </a:r>
            <a:r>
              <a:rPr lang="en-US" altLang="zh-CN"/>
              <a:t>f12-3.txt</a:t>
            </a:r>
            <a:r>
              <a:rPr lang="zh-CN" altLang="en-US"/>
              <a:t>。说明：运行程序前请将文件</a:t>
            </a:r>
            <a:r>
              <a:rPr lang="en-US" altLang="zh-CN"/>
              <a:t>f12-2.txt</a:t>
            </a:r>
            <a:r>
              <a:rPr lang="zh-CN" altLang="en-US"/>
              <a:t>与源程序放在同一目录下。 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/>
          </a:p>
          <a:p>
            <a:pPr lvl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06" name="Rectangle 2">
            <a:extLst>
              <a:ext uri="{FF2B5EF4-FFF2-40B4-BE49-F238E27FC236}">
                <a16:creationId xmlns:a16="http://schemas.microsoft.com/office/drawing/2014/main" xmlns="" id="{7B2F8733-37E9-48FB-BEAD-CEDC4A8DEA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64163" y="188913"/>
            <a:ext cx="3600450" cy="739775"/>
          </a:xfrm>
        </p:spPr>
        <p:txBody>
          <a:bodyPr/>
          <a:lstStyle/>
          <a:p>
            <a:r>
              <a:rPr lang="zh-CN" altLang="en-US" sz="4000"/>
              <a:t>例</a:t>
            </a:r>
            <a:r>
              <a:rPr lang="en-US" altLang="zh-CN" sz="4000"/>
              <a:t>12-3 </a:t>
            </a:r>
            <a:r>
              <a:rPr lang="zh-CN" altLang="en-US" sz="4000"/>
              <a:t>源程序</a:t>
            </a:r>
          </a:p>
        </p:txBody>
      </p:sp>
      <p:sp>
        <p:nvSpPr>
          <p:cNvPr id="431107" name="Rectangle 3">
            <a:extLst>
              <a:ext uri="{FF2B5EF4-FFF2-40B4-BE49-F238E27FC236}">
                <a16:creationId xmlns:a16="http://schemas.microsoft.com/office/drawing/2014/main" xmlns="" id="{0613173C-E7DB-46E0-B539-AB472A56DB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260350"/>
            <a:ext cx="8713787" cy="6264275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/>
              <a:t>#include &lt;stdio.h&gt;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/>
              <a:t>int main(void)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/>
              <a:t>{   	FILE *fp1,*fp2;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/>
              <a:t>   	char ch;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/>
              <a:t>     if(</a:t>
            </a:r>
            <a:r>
              <a:rPr lang="en-US" altLang="zh-CN" sz="1800">
                <a:solidFill>
                  <a:schemeClr val="bg2"/>
                </a:solidFill>
              </a:rPr>
              <a:t>( fp1 = fopen( "f12-2.txt", "r" ))</a:t>
            </a:r>
            <a:r>
              <a:rPr lang="en-US" altLang="zh-CN" sz="1800"/>
              <a:t> == NULL){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/>
              <a:t>        printf(" File open error!\n" 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/>
              <a:t>        exit(0);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/>
              <a:t>   	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/>
              <a:t>   	if(</a:t>
            </a:r>
            <a:r>
              <a:rPr lang="en-US" altLang="zh-CN" sz="1800">
                <a:solidFill>
                  <a:schemeClr val="bg2"/>
                </a:solidFill>
              </a:rPr>
              <a:t>( fp2 = fopen( "f12-3.txt", "w" ))</a:t>
            </a:r>
            <a:r>
              <a:rPr lang="en-US" altLang="zh-CN" sz="1800"/>
              <a:t> == NULL){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/>
              <a:t>   	    printf(" File open error!\n" 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/>
              <a:t>   	    exit(0);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/>
              <a:t>   	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/>
              <a:t>   </a:t>
            </a:r>
            <a:r>
              <a:rPr lang="en-US" altLang="zh-CN" sz="1800">
                <a:solidFill>
                  <a:srgbClr val="CC0066"/>
                </a:solidFill>
              </a:rPr>
              <a:t>	while( !feof( fp1 ) ){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CC0066"/>
                </a:solidFill>
              </a:rPr>
              <a:t>         ch = fgetc( fp1 );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CC0066"/>
                </a:solidFill>
              </a:rPr>
              <a:t>         if(ch!=EOF) fputc(ch, fp2);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CC0066"/>
                </a:solidFill>
              </a:rPr>
              <a:t>   	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/>
              <a:t>        /*</a:t>
            </a:r>
            <a:r>
              <a:rPr lang="zh-CN" altLang="en-US" sz="1800"/>
              <a:t>关闭文件</a:t>
            </a:r>
            <a:r>
              <a:rPr lang="en-US" altLang="zh-CN" sz="1800"/>
              <a:t>f12-2.txt */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/>
              <a:t>      if(</a:t>
            </a:r>
            <a:r>
              <a:rPr lang="en-US" altLang="zh-CN" sz="1800">
                <a:solidFill>
                  <a:schemeClr val="bg2"/>
                </a:solidFill>
              </a:rPr>
              <a:t>fclose(fp1)</a:t>
            </a:r>
            <a:r>
              <a:rPr lang="en-US" altLang="zh-CN" sz="1800"/>
              <a:t>){  printf("Can not close the file!\n"); exit(0);}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/>
              <a:t>/*</a:t>
            </a:r>
            <a:r>
              <a:rPr lang="zh-CN" altLang="en-US" sz="1800"/>
              <a:t>关闭文件</a:t>
            </a:r>
            <a:r>
              <a:rPr lang="en-US" altLang="zh-CN" sz="1800"/>
              <a:t>f12-3.txt */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/>
              <a:t>if(</a:t>
            </a:r>
            <a:r>
              <a:rPr lang="en-US" altLang="zh-CN" sz="1800">
                <a:solidFill>
                  <a:schemeClr val="bg2"/>
                </a:solidFill>
              </a:rPr>
              <a:t>fclose(fp2)</a:t>
            </a:r>
            <a:r>
              <a:rPr lang="en-US" altLang="zh-CN" sz="1800"/>
              <a:t>){    printf("Can not close the file!\n"); exit(0);}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/>
              <a:t>return 0;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/>
              <a:t>}</a:t>
            </a:r>
            <a:endParaRPr lang="zh-CN" altLang="en-US" sz="1800"/>
          </a:p>
        </p:txBody>
      </p:sp>
      <p:pic>
        <p:nvPicPr>
          <p:cNvPr id="431109" name="图片 1">
            <a:extLst>
              <a:ext uri="{FF2B5EF4-FFF2-40B4-BE49-F238E27FC236}">
                <a16:creationId xmlns:a16="http://schemas.microsoft.com/office/drawing/2014/main" xmlns="" id="{187A8AD9-3DFD-4589-B775-BD9CD79A3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050" y="1052513"/>
            <a:ext cx="2019300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1108" name="Picture 4">
            <a:extLst>
              <a:ext uri="{FF2B5EF4-FFF2-40B4-BE49-F238E27FC236}">
                <a16:creationId xmlns:a16="http://schemas.microsoft.com/office/drawing/2014/main" xmlns="" id="{365D1106-8FD2-485E-A7EF-769983098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050" y="3284538"/>
            <a:ext cx="2019300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1110" name="Rectangle 6">
            <a:extLst>
              <a:ext uri="{FF2B5EF4-FFF2-40B4-BE49-F238E27FC236}">
                <a16:creationId xmlns:a16="http://schemas.microsoft.com/office/drawing/2014/main" xmlns="" id="{EF5CC6D1-1864-4CEA-83AE-427C4C725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938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endParaRPr lang="zh-CN" altLang="en-US"/>
          </a:p>
        </p:txBody>
      </p:sp>
      <p:sp>
        <p:nvSpPr>
          <p:cNvPr id="431111" name="Rectangle 7">
            <a:extLst>
              <a:ext uri="{FF2B5EF4-FFF2-40B4-BE49-F238E27FC236}">
                <a16:creationId xmlns:a16="http://schemas.microsoft.com/office/drawing/2014/main" xmlns="" id="{EEFC4AAF-609E-41EC-80EE-205AA8781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0550" y="3179763"/>
            <a:ext cx="342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 eaLnBrk="0" hangingPunct="0"/>
            <a:r>
              <a:rPr lang="zh-CN" alt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31113" name="AutoShape 9">
            <a:extLst>
              <a:ext uri="{FF2B5EF4-FFF2-40B4-BE49-F238E27FC236}">
                <a16:creationId xmlns:a16="http://schemas.microsoft.com/office/drawing/2014/main" xmlns="" id="{35258CA5-A39A-4A6C-815D-ECBF946C3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25" y="2636838"/>
            <a:ext cx="360363" cy="504825"/>
          </a:xfrm>
          <a:prstGeom prst="downArrow">
            <a:avLst>
              <a:gd name="adj1" fmla="val 50000"/>
              <a:gd name="adj2" fmla="val 3502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Rectangle 2">
            <a:extLst>
              <a:ext uri="{FF2B5EF4-FFF2-40B4-BE49-F238E27FC236}">
                <a16:creationId xmlns:a16="http://schemas.microsoft.com/office/drawing/2014/main" xmlns="" id="{9A1C089E-94C9-4DF1-BCEC-D5B82B61C0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48263" y="0"/>
            <a:ext cx="3827462" cy="884238"/>
          </a:xfrm>
        </p:spPr>
        <p:txBody>
          <a:bodyPr/>
          <a:lstStyle/>
          <a:p>
            <a:r>
              <a:rPr lang="zh-CN" altLang="en-US"/>
              <a:t>打开多个文件</a:t>
            </a:r>
          </a:p>
        </p:txBody>
      </p:sp>
      <p:sp>
        <p:nvSpPr>
          <p:cNvPr id="462851" name="Rectangle 3">
            <a:extLst>
              <a:ext uri="{FF2B5EF4-FFF2-40B4-BE49-F238E27FC236}">
                <a16:creationId xmlns:a16="http://schemas.microsoft.com/office/drawing/2014/main" xmlns="" id="{6AE6DA5C-9097-498E-ABEC-D1099D934E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836613"/>
            <a:ext cx="8713788" cy="5688012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if((fp1 = fopen(</a:t>
            </a:r>
            <a:r>
              <a:rPr lang="en-US" altLang="zh-CN" sz="2800">
                <a:solidFill>
                  <a:schemeClr val="bg2"/>
                </a:solidFill>
              </a:rPr>
              <a:t>"</a:t>
            </a:r>
            <a:r>
              <a:rPr lang="en-US" altLang="zh-CN" sz="2800"/>
              <a:t>f12-2.txt</a:t>
            </a:r>
            <a:r>
              <a:rPr lang="en-US" altLang="zh-CN" sz="2800">
                <a:solidFill>
                  <a:schemeClr val="bg2"/>
                </a:solidFill>
              </a:rPr>
              <a:t>"</a:t>
            </a:r>
            <a:r>
              <a:rPr lang="en-US" altLang="zh-CN" sz="2800"/>
              <a:t>, </a:t>
            </a:r>
            <a:r>
              <a:rPr lang="en-US" altLang="zh-CN">
                <a:solidFill>
                  <a:srgbClr val="CC0066"/>
                </a:solidFill>
              </a:rPr>
              <a:t>"r"</a:t>
            </a:r>
            <a:r>
              <a:rPr lang="en-US" altLang="zh-CN" sz="2800"/>
              <a:t>)) == NULL){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printf("File open error!\n");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exit(0);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if((fp2=fopen(</a:t>
            </a:r>
            <a:r>
              <a:rPr lang="en-US" altLang="zh-CN" sz="2800">
                <a:solidFill>
                  <a:schemeClr val="bg2"/>
                </a:solidFill>
              </a:rPr>
              <a:t>"</a:t>
            </a:r>
            <a:r>
              <a:rPr lang="en-US" altLang="zh-CN" sz="2800"/>
              <a:t>f12-3.txt</a:t>
            </a:r>
            <a:r>
              <a:rPr lang="en-US" altLang="zh-CN" sz="2800">
                <a:solidFill>
                  <a:schemeClr val="bg2"/>
                </a:solidFill>
              </a:rPr>
              <a:t>"</a:t>
            </a:r>
            <a:r>
              <a:rPr lang="en-US" altLang="zh-CN" sz="2800"/>
              <a:t>, </a:t>
            </a:r>
            <a:r>
              <a:rPr lang="en-US" altLang="zh-CN">
                <a:solidFill>
                  <a:srgbClr val="CC0066"/>
                </a:solidFill>
              </a:rPr>
              <a:t>"w"</a:t>
            </a:r>
            <a:r>
              <a:rPr lang="en-US" altLang="zh-CN" sz="2800"/>
              <a:t>)) == NULL){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printf("File open error!\n");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	exit(0);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}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C</a:t>
            </a:r>
            <a:r>
              <a:rPr lang="zh-CN" altLang="en-US" sz="2800"/>
              <a:t>语言允许同时打开多个文件</a:t>
            </a:r>
          </a:p>
          <a:p>
            <a:pPr lvl="1">
              <a:lnSpc>
                <a:spcPct val="150000"/>
              </a:lnSpc>
            </a:pPr>
            <a:r>
              <a:rPr lang="zh-CN" altLang="en-US" sz="2400"/>
              <a:t>不同的文件对应不同的文件指针</a:t>
            </a:r>
          </a:p>
          <a:p>
            <a:pPr lvl="1">
              <a:lnSpc>
                <a:spcPct val="150000"/>
              </a:lnSpc>
            </a:pPr>
            <a:r>
              <a:rPr lang="zh-CN" altLang="en-US" sz="2400"/>
              <a:t>不允许同一个文件在关闭前再次打开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628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628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628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285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>
            <a:extLst>
              <a:ext uri="{FF2B5EF4-FFF2-40B4-BE49-F238E27FC236}">
                <a16:creationId xmlns:a16="http://schemas.microsoft.com/office/drawing/2014/main" xmlns="" id="{F3C771F1-B421-4C0E-8142-C35662A6F9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333375"/>
            <a:ext cx="8137525" cy="863600"/>
          </a:xfrm>
        </p:spPr>
        <p:txBody>
          <a:bodyPr/>
          <a:lstStyle/>
          <a:p>
            <a:r>
              <a:rPr lang="zh-CN" altLang="en-US" sz="4000"/>
              <a:t>文件读写函数</a:t>
            </a:r>
          </a:p>
        </p:txBody>
      </p:sp>
      <p:sp>
        <p:nvSpPr>
          <p:cNvPr id="432131" name="Rectangle 3">
            <a:extLst>
              <a:ext uri="{FF2B5EF4-FFF2-40B4-BE49-F238E27FC236}">
                <a16:creationId xmlns:a16="http://schemas.microsoft.com/office/drawing/2014/main" xmlns="" id="{4F6E7121-E084-46EA-8199-92603851CC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484313"/>
            <a:ext cx="8207375" cy="46085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/>
              <a:t>字符读写函数</a:t>
            </a:r>
            <a:r>
              <a:rPr lang="en-US" altLang="zh-CN"/>
              <a:t>: fgetc() / fputc()</a:t>
            </a:r>
          </a:p>
          <a:p>
            <a:pPr>
              <a:lnSpc>
                <a:spcPct val="90000"/>
              </a:lnSpc>
            </a:pPr>
            <a:r>
              <a:rPr lang="zh-CN" altLang="en-US"/>
              <a:t>字符串读写函数：</a:t>
            </a:r>
            <a:r>
              <a:rPr lang="en-US" altLang="zh-CN"/>
              <a:t>fputs()</a:t>
            </a:r>
            <a:r>
              <a:rPr lang="zh-CN" altLang="en-US"/>
              <a:t> </a:t>
            </a:r>
            <a:r>
              <a:rPr lang="en-US" altLang="zh-CN"/>
              <a:t>/ fgets()</a:t>
            </a:r>
            <a:endParaRPr lang="zh-CN" altLang="en-US"/>
          </a:p>
          <a:p>
            <a:pPr>
              <a:lnSpc>
                <a:spcPct val="90000"/>
              </a:lnSpc>
            </a:pPr>
            <a:r>
              <a:rPr lang="zh-CN" altLang="en-US"/>
              <a:t>格式化读写函数：</a:t>
            </a:r>
            <a:r>
              <a:rPr lang="en-US" altLang="zh-CN"/>
              <a:t>fscanf()</a:t>
            </a:r>
            <a:r>
              <a:rPr lang="zh-CN" altLang="en-US"/>
              <a:t> </a:t>
            </a:r>
            <a:r>
              <a:rPr lang="en-US" altLang="zh-CN"/>
              <a:t>/ fprintf()</a:t>
            </a:r>
          </a:p>
          <a:p>
            <a:pPr>
              <a:lnSpc>
                <a:spcPct val="90000"/>
              </a:lnSpc>
            </a:pPr>
            <a:r>
              <a:rPr lang="zh-CN" altLang="en-US"/>
              <a:t>二进制读写函数：</a:t>
            </a:r>
            <a:r>
              <a:rPr lang="en-US" altLang="zh-CN"/>
              <a:t>fread ()/ fwrite()</a:t>
            </a:r>
            <a:endParaRPr lang="zh-CN" altLang="en-US"/>
          </a:p>
          <a:p>
            <a:pPr>
              <a:lnSpc>
                <a:spcPct val="90000"/>
              </a:lnSpc>
            </a:pPr>
            <a:r>
              <a:rPr lang="zh-CN" altLang="en-US"/>
              <a:t>其他相关函数：</a:t>
            </a:r>
          </a:p>
          <a:p>
            <a:pPr lvl="1">
              <a:lnSpc>
                <a:spcPct val="90000"/>
              </a:lnSpc>
            </a:pPr>
            <a:r>
              <a:rPr lang="zh-CN" altLang="en-US"/>
              <a:t>检测文件结尾函数</a:t>
            </a:r>
            <a:r>
              <a:rPr lang="en-US" altLang="zh-CN"/>
              <a:t>feof()</a:t>
            </a:r>
          </a:p>
          <a:p>
            <a:pPr lvl="1">
              <a:lnSpc>
                <a:spcPct val="90000"/>
              </a:lnSpc>
            </a:pPr>
            <a:r>
              <a:rPr lang="zh-CN" altLang="en-US"/>
              <a:t>检测文件读写出错函数</a:t>
            </a:r>
            <a:r>
              <a:rPr lang="en-US" altLang="zh-CN"/>
              <a:t>ferror()</a:t>
            </a:r>
          </a:p>
          <a:p>
            <a:pPr lvl="1">
              <a:lnSpc>
                <a:spcPct val="90000"/>
              </a:lnSpc>
            </a:pPr>
            <a:r>
              <a:rPr lang="zh-CN" altLang="en-US"/>
              <a:t>清除末尾标志和出错标志函数</a:t>
            </a:r>
            <a:r>
              <a:rPr lang="en-US" altLang="zh-CN"/>
              <a:t>clearerr()</a:t>
            </a:r>
          </a:p>
          <a:p>
            <a:pPr lvl="1">
              <a:lnSpc>
                <a:spcPct val="90000"/>
              </a:lnSpc>
            </a:pPr>
            <a:r>
              <a:rPr lang="zh-CN" altLang="en-US"/>
              <a:t>文件定位的函数</a:t>
            </a:r>
            <a:r>
              <a:rPr lang="en-US" altLang="zh-CN"/>
              <a:t>fseek() </a:t>
            </a:r>
            <a:r>
              <a:rPr lang="zh-CN" altLang="en-US"/>
              <a:t>、</a:t>
            </a:r>
            <a:r>
              <a:rPr lang="en-US" altLang="zh-CN"/>
              <a:t>rewind() </a:t>
            </a:r>
            <a:r>
              <a:rPr lang="zh-CN" altLang="en-US"/>
              <a:t>、</a:t>
            </a:r>
            <a:r>
              <a:rPr lang="en-US" altLang="zh-CN"/>
              <a:t>ftell()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2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32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32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32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32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32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32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32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32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131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>
            <a:extLst>
              <a:ext uri="{FF2B5EF4-FFF2-40B4-BE49-F238E27FC236}">
                <a16:creationId xmlns:a16="http://schemas.microsoft.com/office/drawing/2014/main" xmlns="" id="{B87D4D50-6BFB-49F5-BF19-4D5059A0E3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18488" cy="955675"/>
          </a:xfrm>
        </p:spPr>
        <p:txBody>
          <a:bodyPr/>
          <a:lstStyle/>
          <a:p>
            <a:r>
              <a:rPr lang="en-US" altLang="zh-CN"/>
              <a:t>1.</a:t>
            </a:r>
            <a:r>
              <a:rPr lang="zh-CN" altLang="en-US"/>
              <a:t> 字符读写函数</a:t>
            </a:r>
            <a:r>
              <a:rPr lang="en-US" altLang="zh-CN"/>
              <a:t>fgetc</a:t>
            </a:r>
            <a:r>
              <a:rPr lang="zh-CN" altLang="en-US"/>
              <a:t>和</a:t>
            </a:r>
            <a:r>
              <a:rPr lang="en-US" altLang="zh-CN"/>
              <a:t>fputc</a:t>
            </a:r>
            <a:endParaRPr lang="zh-CN" altLang="en-US"/>
          </a:p>
        </p:txBody>
      </p:sp>
      <p:sp>
        <p:nvSpPr>
          <p:cNvPr id="433155" name="Rectangle 3">
            <a:extLst>
              <a:ext uri="{FF2B5EF4-FFF2-40B4-BE49-F238E27FC236}">
                <a16:creationId xmlns:a16="http://schemas.microsoft.com/office/drawing/2014/main" xmlns="" id="{C221E355-1140-496E-9CDF-1EF08FB2DA5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43438" y="3500438"/>
            <a:ext cx="4319587" cy="3167062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0"/>
              </a:spcBef>
              <a:spcAft>
                <a:spcPts val="1200"/>
              </a:spcAft>
            </a:pPr>
            <a:r>
              <a:rPr lang="zh-CN" altLang="en-US" sz="2800"/>
              <a:t>函数</a:t>
            </a:r>
            <a:r>
              <a:rPr lang="en-US" altLang="zh-CN" sz="2800"/>
              <a:t>fputc( )</a:t>
            </a:r>
          </a:p>
          <a:p>
            <a:pPr lvl="1">
              <a:lnSpc>
                <a:spcPct val="8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zh-CN" sz="2400">
                <a:solidFill>
                  <a:srgbClr val="CC0066"/>
                </a:solidFill>
                <a:ea typeface="黑体" panose="02010609060101010101" pitchFamily="49" charset="-122"/>
              </a:rPr>
              <a:t>fputc(ch, fp);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zh-CN" altLang="en-US" sz="2000"/>
              <a:t>把一个字符 </a:t>
            </a:r>
            <a:r>
              <a:rPr lang="en-US" altLang="zh-CN" sz="2000"/>
              <a:t>ch </a:t>
            </a:r>
            <a:r>
              <a:rPr lang="zh-CN" altLang="en-US" sz="2000"/>
              <a:t>写到 </a:t>
            </a:r>
            <a:r>
              <a:rPr lang="en-US" altLang="zh-CN" sz="2000"/>
              <a:t>fp </a:t>
            </a:r>
            <a:r>
              <a:rPr lang="zh-CN" altLang="en-US" sz="2000"/>
              <a:t>所指示的磁盘文件上</a:t>
            </a:r>
          </a:p>
          <a:p>
            <a:pPr lvl="1">
              <a:lnSpc>
                <a:spcPct val="80000"/>
              </a:lnSpc>
              <a:spcBef>
                <a:spcPct val="0"/>
              </a:spcBef>
              <a:spcAft>
                <a:spcPts val="1200"/>
              </a:spcAft>
            </a:pPr>
            <a:r>
              <a:rPr lang="zh-CN" altLang="en-US" sz="2400"/>
              <a:t>返回值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zh-CN" sz="2000"/>
              <a:t>-1 (EOF)</a:t>
            </a:r>
            <a:r>
              <a:rPr lang="zh-CN" altLang="en-US" sz="2000"/>
              <a:t>：写文件失败</a:t>
            </a:r>
          </a:p>
          <a:p>
            <a:pPr lvl="2">
              <a:lnSpc>
                <a:spcPct val="8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zh-CN" sz="2000"/>
              <a:t>ch</a:t>
            </a:r>
            <a:r>
              <a:rPr lang="zh-CN" altLang="en-US" sz="2000"/>
              <a:t>：写文件成功</a:t>
            </a:r>
          </a:p>
        </p:txBody>
      </p:sp>
      <p:sp>
        <p:nvSpPr>
          <p:cNvPr id="433158" name="Rectangle 6">
            <a:extLst>
              <a:ext uri="{FF2B5EF4-FFF2-40B4-BE49-F238E27FC236}">
                <a16:creationId xmlns:a16="http://schemas.microsoft.com/office/drawing/2014/main" xmlns="" id="{E62C92F2-2789-460A-ABC3-8126451F0AB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250825" y="3284538"/>
            <a:ext cx="4244975" cy="3168650"/>
          </a:xfrm>
        </p:spPr>
        <p:txBody>
          <a:bodyPr/>
          <a:lstStyle/>
          <a:p>
            <a:pPr>
              <a:lnSpc>
                <a:spcPct val="124000"/>
              </a:lnSpc>
            </a:pPr>
            <a:r>
              <a:rPr lang="zh-CN" altLang="en-US" sz="2800">
                <a:ea typeface="黑体" panose="02010609060101010101" pitchFamily="49" charset="-122"/>
              </a:rPr>
              <a:t>函数</a:t>
            </a:r>
            <a:r>
              <a:rPr lang="en-US" altLang="zh-CN" sz="2800">
                <a:ea typeface="黑体" panose="02010609060101010101" pitchFamily="49" charset="-122"/>
              </a:rPr>
              <a:t>fgetc( )</a:t>
            </a:r>
          </a:p>
          <a:p>
            <a:pPr lvl="1">
              <a:lnSpc>
                <a:spcPct val="124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CC0066"/>
                </a:solidFill>
                <a:ea typeface="黑体" panose="02010609060101010101" pitchFamily="49" charset="-122"/>
              </a:rPr>
              <a:t>ch = fgetc( fp ) ;</a:t>
            </a:r>
          </a:p>
          <a:p>
            <a:pPr lvl="2">
              <a:lnSpc>
                <a:spcPct val="124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从</a:t>
            </a:r>
            <a:r>
              <a:rPr lang="en-US" altLang="zh-CN" sz="2000"/>
              <a:t>fp</a:t>
            </a:r>
            <a:r>
              <a:rPr lang="zh-CN" altLang="en-US" sz="2000"/>
              <a:t>所指示的磁盘文件上读入一个字符到</a:t>
            </a:r>
            <a:r>
              <a:rPr lang="en-US" altLang="zh-CN" sz="2000"/>
              <a:t>ch</a:t>
            </a:r>
          </a:p>
          <a:p>
            <a:pPr lvl="2">
              <a:lnSpc>
                <a:spcPct val="124000"/>
              </a:lnSpc>
              <a:buFont typeface="Wingdings" panose="05000000000000000000" pitchFamily="2" charset="2"/>
              <a:buNone/>
            </a:pPr>
            <a:endParaRPr lang="zh-CN" altLang="en-US" sz="2000"/>
          </a:p>
          <a:p>
            <a:pPr lvl="1" algn="just">
              <a:lnSpc>
                <a:spcPct val="80000"/>
              </a:lnSpc>
            </a:pPr>
            <a:r>
              <a:rPr lang="zh-CN" altLang="en-US" sz="2400"/>
              <a:t>区分键盘字符输入函数</a:t>
            </a:r>
            <a:r>
              <a:rPr lang="en-US" altLang="zh-CN" sz="2400"/>
              <a:t>getchar( )</a:t>
            </a:r>
            <a:endParaRPr lang="zh-CN" altLang="en-US" sz="2400"/>
          </a:p>
          <a:p>
            <a:pPr>
              <a:lnSpc>
                <a:spcPct val="80000"/>
              </a:lnSpc>
            </a:pPr>
            <a:endParaRPr lang="zh-CN" altLang="en-US" sz="2400"/>
          </a:p>
        </p:txBody>
      </p:sp>
      <p:sp>
        <p:nvSpPr>
          <p:cNvPr id="433159" name="Rectangle 7">
            <a:extLst>
              <a:ext uri="{FF2B5EF4-FFF2-40B4-BE49-F238E27FC236}">
                <a16:creationId xmlns:a16="http://schemas.microsoft.com/office/drawing/2014/main" xmlns="" id="{002BDB94-8608-4C5B-85F2-CC399768C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484313"/>
            <a:ext cx="59055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zh-CN" sz="2800" b="1"/>
              <a:t>while( !feof(fp1) ){</a:t>
            </a:r>
          </a:p>
          <a:p>
            <a:r>
              <a:rPr lang="en-US" altLang="zh-CN" sz="2800" b="1"/>
              <a:t>         ch = </a:t>
            </a:r>
            <a:r>
              <a:rPr lang="en-US" altLang="zh-CN" sz="2800" b="1">
                <a:solidFill>
                  <a:schemeClr val="bg2"/>
                </a:solidFill>
              </a:rPr>
              <a:t>fgetc</a:t>
            </a:r>
            <a:r>
              <a:rPr lang="en-US" altLang="zh-CN" sz="2800" b="1"/>
              <a:t>( fp1 );</a:t>
            </a:r>
          </a:p>
          <a:p>
            <a:r>
              <a:rPr lang="en-US" altLang="zh-CN" sz="2800" b="1"/>
              <a:t>         if(ch!=EOF) </a:t>
            </a:r>
            <a:r>
              <a:rPr lang="en-US" altLang="zh-CN" sz="2800" b="1">
                <a:solidFill>
                  <a:schemeClr val="bg2"/>
                </a:solidFill>
              </a:rPr>
              <a:t>fputc</a:t>
            </a:r>
            <a:r>
              <a:rPr lang="en-US" altLang="zh-CN" sz="2800" b="1"/>
              <a:t>(c, fp2);</a:t>
            </a:r>
          </a:p>
          <a:p>
            <a:r>
              <a:rPr lang="en-US" altLang="zh-CN" sz="2800" b="1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3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33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33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33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33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33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>
            <a:extLst>
              <a:ext uri="{FF2B5EF4-FFF2-40B4-BE49-F238E27FC236}">
                <a16:creationId xmlns:a16="http://schemas.microsoft.com/office/drawing/2014/main" xmlns="" id="{9B90998E-E2A4-4544-B793-49001C91A1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404813"/>
            <a:ext cx="8713788" cy="1008062"/>
          </a:xfrm>
        </p:spPr>
        <p:txBody>
          <a:bodyPr/>
          <a:lstStyle/>
          <a:p>
            <a:r>
              <a:rPr lang="en-US" altLang="zh-CN" sz="4000"/>
              <a:t>2. </a:t>
            </a:r>
            <a:r>
              <a:rPr lang="zh-CN" altLang="en-US" sz="4000"/>
              <a:t>字符串方式读写函数</a:t>
            </a:r>
            <a:r>
              <a:rPr lang="en-US" altLang="zh-CN" sz="4000"/>
              <a:t>fgets</a:t>
            </a:r>
            <a:r>
              <a:rPr lang="zh-CN" altLang="en-US" sz="4000"/>
              <a:t>和</a:t>
            </a:r>
            <a:r>
              <a:rPr lang="en-US" altLang="zh-CN" sz="4000"/>
              <a:t>fputs</a:t>
            </a:r>
            <a:endParaRPr lang="zh-CN" altLang="en-US" sz="4000"/>
          </a:p>
        </p:txBody>
      </p:sp>
      <p:sp>
        <p:nvSpPr>
          <p:cNvPr id="439299" name="Rectangle 3">
            <a:extLst>
              <a:ext uri="{FF2B5EF4-FFF2-40B4-BE49-F238E27FC236}">
                <a16:creationId xmlns:a16="http://schemas.microsoft.com/office/drawing/2014/main" xmlns="" id="{A98DF4F0-91FC-43ED-84FC-A53CBDEE55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137525" cy="5040312"/>
          </a:xfrm>
        </p:spPr>
        <p:txBody>
          <a:bodyPr/>
          <a:lstStyle/>
          <a:p>
            <a:r>
              <a:rPr lang="zh-CN" altLang="en-US" sz="3600"/>
              <a:t>函数</a:t>
            </a:r>
            <a:r>
              <a:rPr lang="en-US" altLang="zh-CN" sz="3600"/>
              <a:t>fputs( )</a:t>
            </a:r>
            <a:r>
              <a:rPr lang="zh-CN" altLang="en-US" sz="3600"/>
              <a:t>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3200">
                <a:solidFill>
                  <a:srgbClr val="CC0066"/>
                </a:solidFill>
              </a:rPr>
              <a:t>fputs(s, fp);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zh-CN" altLang="en-US" sz="2800"/>
              <a:t>用来向指定的文本文件写入一个字符串</a:t>
            </a:r>
          </a:p>
          <a:p>
            <a:pPr lvl="2">
              <a:buFont typeface="Wingdings" panose="05000000000000000000" pitchFamily="2" charset="2"/>
              <a:buNone/>
            </a:pPr>
            <a:endParaRPr lang="zh-CN" altLang="en-US" sz="2800"/>
          </a:p>
          <a:p>
            <a:pPr lvl="1"/>
            <a:r>
              <a:rPr lang="en-US" altLang="zh-CN"/>
              <a:t>s</a:t>
            </a:r>
            <a:r>
              <a:rPr lang="zh-CN" altLang="en-US"/>
              <a:t>：要写入的字符串，结束符’</a:t>
            </a:r>
            <a:r>
              <a:rPr lang="en-US" altLang="zh-CN"/>
              <a:t>\0’</a:t>
            </a:r>
            <a:r>
              <a:rPr lang="zh-CN" altLang="en-US"/>
              <a:t>不写入文件。</a:t>
            </a:r>
          </a:p>
          <a:p>
            <a:pPr lvl="1"/>
            <a:endParaRPr lang="zh-CN" altLang="en-US"/>
          </a:p>
          <a:p>
            <a:pPr lvl="1"/>
            <a:r>
              <a:rPr lang="zh-CN" altLang="en-US"/>
              <a:t>函数返回值</a:t>
            </a:r>
          </a:p>
          <a:p>
            <a:pPr lvl="2"/>
            <a:r>
              <a:rPr lang="zh-CN" altLang="en-US"/>
              <a:t>执行成功，函数返回所写的最后一个字符</a:t>
            </a:r>
          </a:p>
          <a:p>
            <a:pPr lvl="2"/>
            <a:r>
              <a:rPr lang="zh-CN" altLang="en-US"/>
              <a:t>否则，函数返回</a:t>
            </a:r>
            <a:r>
              <a:rPr lang="en-US" altLang="zh-CN"/>
              <a:t>EOF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9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39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39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39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39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39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2" name="Rectangle 2">
            <a:extLst>
              <a:ext uri="{FF2B5EF4-FFF2-40B4-BE49-F238E27FC236}">
                <a16:creationId xmlns:a16="http://schemas.microsoft.com/office/drawing/2014/main" xmlns="" id="{BC2E1607-9572-4D77-8023-5FC20ED548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8497888" cy="792163"/>
          </a:xfrm>
        </p:spPr>
        <p:txBody>
          <a:bodyPr/>
          <a:lstStyle/>
          <a:p>
            <a:r>
              <a:rPr lang="zh-CN" altLang="en-US" sz="3600"/>
              <a:t>字符串方式读写函数</a:t>
            </a:r>
            <a:r>
              <a:rPr lang="en-US" altLang="zh-CN" sz="3600"/>
              <a:t>fgets</a:t>
            </a:r>
            <a:r>
              <a:rPr lang="zh-CN" altLang="en-US" sz="3600"/>
              <a:t>和</a:t>
            </a:r>
            <a:r>
              <a:rPr lang="en-US" altLang="zh-CN" sz="3600"/>
              <a:t>fputs</a:t>
            </a:r>
            <a:endParaRPr lang="zh-CN" altLang="en-US" sz="3600"/>
          </a:p>
        </p:txBody>
      </p:sp>
      <p:sp>
        <p:nvSpPr>
          <p:cNvPr id="440323" name="Rectangle 3">
            <a:extLst>
              <a:ext uri="{FF2B5EF4-FFF2-40B4-BE49-F238E27FC236}">
                <a16:creationId xmlns:a16="http://schemas.microsoft.com/office/drawing/2014/main" xmlns="" id="{43981A9D-E6B8-4350-8E50-9505BC024D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908050"/>
            <a:ext cx="8713788" cy="5732463"/>
          </a:xfrm>
        </p:spPr>
        <p:txBody>
          <a:bodyPr/>
          <a:lstStyle/>
          <a:p>
            <a:r>
              <a:rPr lang="zh-CN" altLang="en-US" sz="2800"/>
              <a:t>函数</a:t>
            </a:r>
            <a:r>
              <a:rPr lang="en-US" altLang="zh-CN" sz="2800"/>
              <a:t>fgets( )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CC0066"/>
                </a:solidFill>
              </a:rPr>
              <a:t>fgets(s, n, fp);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zh-CN" altLang="en-US" sz="2000"/>
              <a:t>从文本文件中读取字符串</a:t>
            </a:r>
            <a:br>
              <a:rPr lang="zh-CN" altLang="en-US" sz="2000"/>
            </a:br>
            <a:endParaRPr lang="en-US" altLang="zh-CN" sz="2000"/>
          </a:p>
          <a:p>
            <a:pPr lvl="1"/>
            <a:r>
              <a:rPr lang="en-US" altLang="zh-CN" sz="2400"/>
              <a:t>s</a:t>
            </a:r>
            <a:r>
              <a:rPr lang="zh-CN" altLang="en-US" sz="2400"/>
              <a:t>：可以是字符数组名或字符指针；</a:t>
            </a:r>
            <a:r>
              <a:rPr lang="en-US" altLang="zh-CN" sz="2400"/>
              <a:t>n</a:t>
            </a:r>
            <a:r>
              <a:rPr lang="zh-CN" altLang="en-US" sz="2400"/>
              <a:t>：指定读入的字符个数；</a:t>
            </a:r>
            <a:r>
              <a:rPr lang="en-US" altLang="zh-CN" sz="2400"/>
              <a:t>fp</a:t>
            </a:r>
            <a:r>
              <a:rPr lang="zh-CN" altLang="en-US" sz="2400"/>
              <a:t>：文件指针</a:t>
            </a:r>
          </a:p>
          <a:p>
            <a:pPr lvl="1"/>
            <a:r>
              <a:rPr lang="zh-CN" altLang="en-US" sz="2400"/>
              <a:t>函数被调用时，最多读取</a:t>
            </a:r>
            <a:r>
              <a:rPr lang="en-US" altLang="zh-CN" sz="2400"/>
              <a:t>n-1</a:t>
            </a:r>
            <a:r>
              <a:rPr lang="zh-CN" altLang="en-US" sz="2400"/>
              <a:t>个字符，并将读入的字符串存入</a:t>
            </a:r>
            <a:r>
              <a:rPr lang="en-US" altLang="zh-CN" sz="2400"/>
              <a:t>s</a:t>
            </a:r>
            <a:r>
              <a:rPr lang="zh-CN" altLang="en-US" sz="2400"/>
              <a:t>所指向内存地址开始的</a:t>
            </a:r>
            <a:r>
              <a:rPr lang="en-US" altLang="zh-CN" sz="2400"/>
              <a:t>n-1</a:t>
            </a:r>
            <a:r>
              <a:rPr lang="zh-CN" altLang="en-US" sz="2400"/>
              <a:t>个连续的内存单元中。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zh-CN" altLang="en-US" sz="2000"/>
              <a:t>当函数读取的字符达到指定的个数，或接收到换行符，或接收到文件结束标志</a:t>
            </a:r>
            <a:r>
              <a:rPr lang="en-US" altLang="zh-CN" sz="2000"/>
              <a:t>EOF</a:t>
            </a:r>
            <a:r>
              <a:rPr lang="zh-CN" altLang="en-US" sz="2000"/>
              <a:t>时，将在读取的字符后面自动添加一个’</a:t>
            </a:r>
            <a:r>
              <a:rPr lang="en-US" altLang="zh-CN" sz="2000"/>
              <a:t>\0’</a:t>
            </a:r>
            <a:r>
              <a:rPr lang="zh-CN" altLang="en-US" sz="2000"/>
              <a:t>字符；若有换行符，则将换行符保留（换行符在’</a:t>
            </a:r>
            <a:r>
              <a:rPr lang="en-US" altLang="zh-CN" sz="2000"/>
              <a:t>\0’</a:t>
            </a:r>
            <a:r>
              <a:rPr lang="zh-CN" altLang="en-US" sz="2000"/>
              <a:t>字符之前）；若有</a:t>
            </a:r>
            <a:r>
              <a:rPr lang="en-US" altLang="zh-CN" sz="2000"/>
              <a:t>EOF</a:t>
            </a:r>
            <a:r>
              <a:rPr lang="zh-CN" altLang="en-US" sz="2000"/>
              <a:t>，则不保留</a:t>
            </a:r>
          </a:p>
          <a:p>
            <a:pPr lvl="1"/>
            <a:r>
              <a:rPr lang="zh-CN" altLang="en-US" sz="2400"/>
              <a:t>函数返回值</a:t>
            </a:r>
          </a:p>
          <a:p>
            <a:pPr lvl="2"/>
            <a:r>
              <a:rPr lang="zh-CN" altLang="en-US" sz="2000"/>
              <a:t>执行成功，返回读取的字符串；</a:t>
            </a:r>
          </a:p>
          <a:p>
            <a:pPr lvl="2"/>
            <a:r>
              <a:rPr lang="zh-CN" altLang="en-US" sz="2000"/>
              <a:t>如果失败，则返回空指针，这时，</a:t>
            </a:r>
            <a:r>
              <a:rPr lang="en-US" altLang="zh-CN" sz="2000"/>
              <a:t>s</a:t>
            </a:r>
            <a:r>
              <a:rPr lang="zh-CN" altLang="en-US" sz="2000"/>
              <a:t>的内容不确定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40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40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40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40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40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40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0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40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2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3" name="Rectangle 3">
            <a:extLst>
              <a:ext uri="{FF2B5EF4-FFF2-40B4-BE49-F238E27FC236}">
                <a16:creationId xmlns:a16="http://schemas.microsoft.com/office/drawing/2014/main" xmlns="" id="{B915118F-6E39-4114-9F89-4CDB1942CE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68413"/>
            <a:ext cx="8820150" cy="4465637"/>
          </a:xfrm>
        </p:spPr>
        <p:txBody>
          <a:bodyPr/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例</a:t>
            </a:r>
            <a:r>
              <a:rPr lang="en-US" altLang="zh-CN" sz="2800"/>
              <a:t>12-2</a:t>
            </a:r>
            <a:r>
              <a:rPr lang="zh-CN" altLang="en-US" sz="2800"/>
              <a:t>的</a:t>
            </a:r>
            <a:r>
              <a:rPr lang="en-US" altLang="zh-CN" sz="2800"/>
              <a:t>f12-2.txt</a:t>
            </a:r>
            <a:r>
              <a:rPr lang="zh-CN" altLang="en-US" sz="2800"/>
              <a:t>文件保存着系统用户信息，编写一个函数</a:t>
            </a:r>
            <a:r>
              <a:rPr lang="en-US" altLang="zh-CN" sz="2800"/>
              <a:t>checkUserValid()</a:t>
            </a:r>
            <a:r>
              <a:rPr lang="zh-CN" altLang="en-US" sz="2800"/>
              <a:t>用于登录系统时校验用户的合法性。检查方法是</a:t>
            </a:r>
            <a:r>
              <a:rPr lang="en-US" altLang="zh-CN" sz="2800"/>
              <a:t>:</a:t>
            </a:r>
          </a:p>
          <a:p>
            <a:pPr lvl="1" algn="just">
              <a:lnSpc>
                <a:spcPct val="120000"/>
              </a:lnSpc>
            </a:pPr>
            <a:r>
              <a:rPr lang="zh-CN" altLang="en-US" sz="2400"/>
              <a:t>在程序运行时输入用户名和密码，然后在用户文件中查找该用户信息，如果用户名和密码在文件中找到，则表示用户合法，返回</a:t>
            </a:r>
            <a:r>
              <a:rPr lang="en-US" altLang="zh-CN" sz="2400"/>
              <a:t>1</a:t>
            </a:r>
            <a:r>
              <a:rPr lang="zh-CN" altLang="en-US" sz="2400"/>
              <a:t>，否则返回</a:t>
            </a:r>
            <a:r>
              <a:rPr lang="en-US" altLang="zh-CN" sz="2400"/>
              <a:t>0</a:t>
            </a:r>
            <a:r>
              <a:rPr lang="zh-CN" altLang="en-US" sz="2400"/>
              <a:t>。</a:t>
            </a:r>
          </a:p>
          <a:p>
            <a:pPr lvl="1" algn="just">
              <a:lnSpc>
                <a:spcPct val="120000"/>
              </a:lnSpc>
            </a:pPr>
            <a:r>
              <a:rPr lang="zh-CN" altLang="en-US" sz="2400"/>
              <a:t>程序运行时，输入一个用户名和密码，调用</a:t>
            </a:r>
            <a:r>
              <a:rPr lang="en-US" altLang="zh-CN" sz="2400"/>
              <a:t>checkUserValid()</a:t>
            </a:r>
            <a:r>
              <a:rPr lang="zh-CN" altLang="en-US" sz="2400"/>
              <a:t>函数，如果返回</a:t>
            </a:r>
            <a:r>
              <a:rPr lang="en-US" altLang="zh-CN" sz="2400"/>
              <a:t>1</a:t>
            </a:r>
            <a:r>
              <a:rPr lang="zh-CN" altLang="en-US" sz="2400"/>
              <a:t>，则提示“</a:t>
            </a:r>
            <a:r>
              <a:rPr lang="en-US" altLang="zh-CN" sz="2400"/>
              <a:t>Valid user!”</a:t>
            </a:r>
            <a:r>
              <a:rPr lang="zh-CN" altLang="en-US" sz="2400"/>
              <a:t>，否则输出“</a:t>
            </a:r>
            <a:r>
              <a:rPr lang="en-US" altLang="zh-CN" sz="2400"/>
              <a:t>Invalid user!”</a:t>
            </a:r>
            <a:r>
              <a:rPr lang="zh-CN" altLang="en-US" sz="2400"/>
              <a:t>。</a:t>
            </a:r>
            <a:endParaRPr lang="en-US" altLang="zh-CN" sz="2400"/>
          </a:p>
        </p:txBody>
      </p:sp>
      <p:sp>
        <p:nvSpPr>
          <p:cNvPr id="435208" name="Rectangle 8">
            <a:extLst>
              <a:ext uri="{FF2B5EF4-FFF2-40B4-BE49-F238E27FC236}">
                <a16:creationId xmlns:a16="http://schemas.microsoft.com/office/drawing/2014/main" xmlns="" id="{A579AF3D-E7D8-490E-8602-45A1BCAF1C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476250"/>
            <a:ext cx="4114800" cy="811213"/>
          </a:xfrm>
        </p:spPr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12-4</a:t>
            </a:r>
          </a:p>
        </p:txBody>
      </p:sp>
      <p:sp>
        <p:nvSpPr>
          <p:cNvPr id="435210" name="Rectangle 10">
            <a:extLst>
              <a:ext uri="{FF2B5EF4-FFF2-40B4-BE49-F238E27FC236}">
                <a16:creationId xmlns:a16="http://schemas.microsoft.com/office/drawing/2014/main" xmlns="" id="{17AFA0C7-7DFB-418E-B6BC-626B90FE4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5662613"/>
            <a:ext cx="8785225" cy="1063625"/>
          </a:xfrm>
          <a:prstGeom prst="rect">
            <a:avLst/>
          </a:prstGeom>
          <a:noFill/>
          <a:ln w="57150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zh-CN" altLang="en-US" sz="2000" b="1">
                <a:solidFill>
                  <a:srgbClr val="CC0066"/>
                </a:solidFill>
              </a:rPr>
              <a:t>提示：合法性检查的规则。由于文件中的用户名和密码按行存取，把一行看作整体得</a:t>
            </a:r>
            <a:r>
              <a:rPr lang="zh-CN" altLang="en-US" sz="2000" b="1">
                <a:solidFill>
                  <a:schemeClr val="bg2"/>
                </a:solidFill>
              </a:rPr>
              <a:t>字符串</a:t>
            </a:r>
            <a:r>
              <a:rPr lang="en-US" altLang="zh-CN" sz="2000" b="1">
                <a:solidFill>
                  <a:schemeClr val="bg2"/>
                </a:solidFill>
              </a:rPr>
              <a:t>s1</a:t>
            </a:r>
            <a:r>
              <a:rPr lang="zh-CN" altLang="en-US" sz="2000" b="1">
                <a:solidFill>
                  <a:srgbClr val="CC0066"/>
                </a:solidFill>
              </a:rPr>
              <a:t>，将输入的用户名和密码加密后生成另一个</a:t>
            </a:r>
            <a:r>
              <a:rPr lang="zh-CN" altLang="en-US" sz="2000" b="1">
                <a:solidFill>
                  <a:schemeClr val="bg2"/>
                </a:solidFill>
              </a:rPr>
              <a:t>字符串</a:t>
            </a:r>
            <a:r>
              <a:rPr lang="en-US" altLang="zh-CN" sz="2000" b="1">
                <a:solidFill>
                  <a:schemeClr val="bg2"/>
                </a:solidFill>
              </a:rPr>
              <a:t>s2</a:t>
            </a:r>
            <a:r>
              <a:rPr lang="zh-CN" altLang="en-US" sz="2000" b="1">
                <a:solidFill>
                  <a:srgbClr val="CC0066"/>
                </a:solidFill>
              </a:rPr>
              <a:t>，然后通过比较</a:t>
            </a:r>
            <a:r>
              <a:rPr lang="en-US" altLang="zh-CN" sz="2000" b="1">
                <a:solidFill>
                  <a:srgbClr val="CC0066"/>
                </a:solidFill>
              </a:rPr>
              <a:t>s1</a:t>
            </a:r>
            <a:r>
              <a:rPr lang="zh-CN" altLang="en-US" sz="2000" b="1">
                <a:solidFill>
                  <a:srgbClr val="CC0066"/>
                </a:solidFill>
              </a:rPr>
              <a:t>和</a:t>
            </a:r>
            <a:r>
              <a:rPr lang="en-US" altLang="zh-CN" sz="2000" b="1">
                <a:solidFill>
                  <a:srgbClr val="CC0066"/>
                </a:solidFill>
              </a:rPr>
              <a:t>s2</a:t>
            </a:r>
            <a:r>
              <a:rPr lang="zh-CN" altLang="en-US" sz="2000" b="1">
                <a:solidFill>
                  <a:srgbClr val="CC0066"/>
                </a:solidFill>
              </a:rPr>
              <a:t>，来确定文件中是否存在用户。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5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35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35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35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5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52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Rectangle 2">
            <a:extLst>
              <a:ext uri="{FF2B5EF4-FFF2-40B4-BE49-F238E27FC236}">
                <a16:creationId xmlns:a16="http://schemas.microsoft.com/office/drawing/2014/main" xmlns="" id="{52715683-4322-49FE-9269-C9AC9A5190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48263" y="188913"/>
            <a:ext cx="3673475" cy="1027112"/>
          </a:xfrm>
        </p:spPr>
        <p:txBody>
          <a:bodyPr/>
          <a:lstStyle/>
          <a:p>
            <a:r>
              <a:rPr lang="zh-CN" altLang="en-US" sz="4000"/>
              <a:t>例</a:t>
            </a:r>
            <a:r>
              <a:rPr lang="en-US" altLang="zh-CN" sz="4000"/>
              <a:t>12-4</a:t>
            </a:r>
            <a:r>
              <a:rPr lang="zh-CN" altLang="en-US" sz="4000"/>
              <a:t>源程序</a:t>
            </a:r>
            <a:endParaRPr lang="en-US" altLang="zh-CN" sz="4000"/>
          </a:p>
        </p:txBody>
      </p:sp>
      <p:sp>
        <p:nvSpPr>
          <p:cNvPr id="438275" name="Rectangle 3">
            <a:extLst>
              <a:ext uri="{FF2B5EF4-FFF2-40B4-BE49-F238E27FC236}">
                <a16:creationId xmlns:a16="http://schemas.microsoft.com/office/drawing/2014/main" xmlns="" id="{BD9745E7-E955-44B7-82B0-835C98012C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260350"/>
            <a:ext cx="8137525" cy="6597650"/>
          </a:xfrm>
        </p:spPr>
        <p:txBody>
          <a:bodyPr/>
          <a:lstStyle/>
          <a:p>
            <a:pPr>
              <a:lnSpc>
                <a:spcPct val="8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1500"/>
              <a:t>/*</a:t>
            </a:r>
            <a:r>
              <a:rPr lang="zh-CN" altLang="en-US" sz="1500"/>
              <a:t>校验用户信息的合法性，成功返回</a:t>
            </a:r>
            <a:r>
              <a:rPr lang="en-US" altLang="zh-CN" sz="1500"/>
              <a:t>1</a:t>
            </a:r>
            <a:r>
              <a:rPr lang="zh-CN" altLang="en-US" sz="1500"/>
              <a:t>，否则返回</a:t>
            </a:r>
            <a:r>
              <a:rPr lang="en-US" altLang="zh-CN" sz="1500"/>
              <a:t>0*/</a:t>
            </a:r>
          </a:p>
          <a:p>
            <a:pPr>
              <a:lnSpc>
                <a:spcPct val="8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1500"/>
              <a:t>int checkUserValid(struct sysuser *psu)</a:t>
            </a:r>
          </a:p>
          <a:p>
            <a:pPr>
              <a:lnSpc>
                <a:spcPct val="8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1500"/>
              <a:t>{</a:t>
            </a:r>
          </a:p>
          <a:p>
            <a:pPr>
              <a:lnSpc>
                <a:spcPct val="8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1500"/>
              <a:t>    FILE *fp;</a:t>
            </a:r>
          </a:p>
          <a:p>
            <a:pPr>
              <a:lnSpc>
                <a:spcPct val="8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1500"/>
              <a:t>    char usr[30],usr1[30],pwd[10];</a:t>
            </a:r>
          </a:p>
          <a:p>
            <a:pPr>
              <a:lnSpc>
                <a:spcPct val="8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1500"/>
              <a:t>    int check=0;            /*</a:t>
            </a:r>
            <a:r>
              <a:rPr lang="zh-CN" altLang="en-US" sz="1500"/>
              <a:t>检查结果变量，初始化为</a:t>
            </a:r>
            <a:r>
              <a:rPr lang="en-US" altLang="zh-CN" sz="1500"/>
              <a:t>0*/</a:t>
            </a:r>
          </a:p>
          <a:p>
            <a:pPr>
              <a:lnSpc>
                <a:spcPct val="8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1500"/>
              <a:t>    /*</a:t>
            </a:r>
            <a:r>
              <a:rPr lang="zh-CN" altLang="en-US" sz="1500"/>
              <a:t>连接生成待校验字符串*</a:t>
            </a:r>
            <a:r>
              <a:rPr lang="en-US" altLang="zh-CN" sz="1500"/>
              <a:t>/</a:t>
            </a:r>
          </a:p>
          <a:p>
            <a:pPr>
              <a:lnSpc>
                <a:spcPct val="8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1500"/>
              <a:t>    strcpy(usr,psu-&gt;username);    /*</a:t>
            </a:r>
            <a:r>
              <a:rPr lang="zh-CN" altLang="en-US" sz="1500"/>
              <a:t>复制</a:t>
            </a:r>
            <a:r>
              <a:rPr lang="en-US" altLang="zh-CN" sz="1500"/>
              <a:t>psu-&gt;username</a:t>
            </a:r>
            <a:r>
              <a:rPr lang="zh-CN" altLang="en-US" sz="1500"/>
              <a:t>到</a:t>
            </a:r>
            <a:r>
              <a:rPr lang="en-US" altLang="zh-CN" sz="1500"/>
              <a:t>usr1 */</a:t>
            </a:r>
          </a:p>
          <a:p>
            <a:pPr>
              <a:lnSpc>
                <a:spcPct val="8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1500"/>
              <a:t>    strcpy(pwd,psu-&gt;password);   /*</a:t>
            </a:r>
            <a:r>
              <a:rPr lang="zh-CN" altLang="en-US" sz="1500"/>
              <a:t>复制</a:t>
            </a:r>
            <a:r>
              <a:rPr lang="en-US" altLang="zh-CN" sz="1500"/>
              <a:t>psu-&gt;password</a:t>
            </a:r>
            <a:r>
              <a:rPr lang="zh-CN" altLang="en-US" sz="1500"/>
              <a:t>到</a:t>
            </a:r>
            <a:r>
              <a:rPr lang="en-US" altLang="zh-CN" sz="1500"/>
              <a:t>pwd */</a:t>
            </a:r>
          </a:p>
          <a:p>
            <a:pPr>
              <a:lnSpc>
                <a:spcPct val="8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1500"/>
              <a:t>    encrypt(pwd);              /*</a:t>
            </a:r>
            <a:r>
              <a:rPr lang="zh-CN" altLang="en-US" sz="1500"/>
              <a:t>调用例</a:t>
            </a:r>
            <a:r>
              <a:rPr lang="en-US" altLang="zh-CN" sz="1500"/>
              <a:t>12-2</a:t>
            </a:r>
            <a:r>
              <a:rPr lang="zh-CN" altLang="en-US" sz="1500"/>
              <a:t>的</a:t>
            </a:r>
            <a:r>
              <a:rPr lang="en-US" altLang="zh-CN" sz="1500"/>
              <a:t>encrypt</a:t>
            </a:r>
            <a:r>
              <a:rPr lang="zh-CN" altLang="en-US" sz="1500"/>
              <a:t>对密码进行加密*</a:t>
            </a:r>
            <a:r>
              <a:rPr lang="en-US" altLang="zh-CN" sz="1500"/>
              <a:t>/</a:t>
            </a:r>
          </a:p>
          <a:p>
            <a:pPr>
              <a:lnSpc>
                <a:spcPct val="8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1500"/>
              <a:t>   /*</a:t>
            </a:r>
            <a:r>
              <a:rPr lang="zh-CN" altLang="en-US" sz="1500"/>
              <a:t>连接</a:t>
            </a:r>
            <a:r>
              <a:rPr lang="en-US" altLang="zh-CN" sz="1500"/>
              <a:t>usr</a:t>
            </a:r>
            <a:r>
              <a:rPr lang="zh-CN" altLang="en-US" sz="1500"/>
              <a:t>、空格、</a:t>
            </a:r>
            <a:r>
              <a:rPr lang="en-US" altLang="zh-CN" sz="1500"/>
              <a:t>pwd</a:t>
            </a:r>
            <a:r>
              <a:rPr lang="zh-CN" altLang="en-US" sz="1500"/>
              <a:t>和</a:t>
            </a:r>
            <a:r>
              <a:rPr lang="en-US" altLang="zh-CN" sz="1500"/>
              <a:t>\n</a:t>
            </a:r>
            <a:r>
              <a:rPr lang="zh-CN" altLang="en-US" sz="1500"/>
              <a:t>构成新字符串</a:t>
            </a:r>
            <a:r>
              <a:rPr lang="en-US" altLang="zh-CN" sz="1500"/>
              <a:t>usr</a:t>
            </a:r>
            <a:r>
              <a:rPr lang="zh-CN" altLang="en-US" sz="1500"/>
              <a:t>，用于在文件中逐行检查*</a:t>
            </a:r>
            <a:r>
              <a:rPr lang="en-US" altLang="zh-CN" sz="1500"/>
              <a:t>/</a:t>
            </a:r>
          </a:p>
          <a:p>
            <a:pPr>
              <a:lnSpc>
                <a:spcPct val="8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1500"/>
              <a:t>    </a:t>
            </a:r>
            <a:r>
              <a:rPr lang="en-US" altLang="zh-CN" sz="1500">
                <a:solidFill>
                  <a:srgbClr val="CC0066"/>
                </a:solidFill>
              </a:rPr>
              <a:t>strcat(usr, " "); strcat(usr,pwd); strcat(usr,"\n");</a:t>
            </a:r>
            <a:r>
              <a:rPr lang="en-US" altLang="zh-CN" sz="1500"/>
              <a:t>                </a:t>
            </a:r>
          </a:p>
          <a:p>
            <a:pPr>
              <a:lnSpc>
                <a:spcPct val="8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1500"/>
              <a:t>    /*</a:t>
            </a:r>
            <a:r>
              <a:rPr lang="zh-CN" altLang="en-US" sz="1500"/>
              <a:t>打开文件</a:t>
            </a:r>
            <a:r>
              <a:rPr lang="en-US" altLang="zh-CN" sz="1500"/>
              <a:t>"f12-2.txt"</a:t>
            </a:r>
            <a:r>
              <a:rPr lang="zh-CN" altLang="en-US" sz="1500"/>
              <a:t>读入*</a:t>
            </a:r>
            <a:r>
              <a:rPr lang="en-US" altLang="zh-CN" sz="1500"/>
              <a:t>/</a:t>
            </a:r>
          </a:p>
          <a:p>
            <a:pPr>
              <a:lnSpc>
                <a:spcPct val="8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1500"/>
              <a:t>    if((</a:t>
            </a:r>
            <a:r>
              <a:rPr lang="en-US" altLang="zh-CN" sz="1500">
                <a:solidFill>
                  <a:srgbClr val="CC0066"/>
                </a:solidFill>
              </a:rPr>
              <a:t>fp=fopen("f12-2.txt","r")</a:t>
            </a:r>
            <a:r>
              <a:rPr lang="en-US" altLang="zh-CN" sz="1500"/>
              <a:t>)==NULL){</a:t>
            </a:r>
          </a:p>
          <a:p>
            <a:pPr>
              <a:lnSpc>
                <a:spcPct val="8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1500"/>
              <a:t>      printf("File open error!\n");     exit(0);    }</a:t>
            </a:r>
          </a:p>
          <a:p>
            <a:pPr>
              <a:lnSpc>
                <a:spcPct val="8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1500"/>
              <a:t>    /*</a:t>
            </a:r>
            <a:r>
              <a:rPr lang="zh-CN" altLang="en-US" sz="1500"/>
              <a:t>从文件读入用户信息数据，遍历判断是否存在*</a:t>
            </a:r>
            <a:r>
              <a:rPr lang="en-US" altLang="zh-CN" sz="1500"/>
              <a:t>/</a:t>
            </a:r>
          </a:p>
          <a:p>
            <a:pPr>
              <a:lnSpc>
                <a:spcPct val="8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1500"/>
              <a:t>    while(!feof(fp)){</a:t>
            </a:r>
          </a:p>
          <a:p>
            <a:pPr>
              <a:lnSpc>
                <a:spcPct val="8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1500"/>
              <a:t>      </a:t>
            </a:r>
            <a:r>
              <a:rPr lang="en-US" altLang="zh-CN" sz="1500">
                <a:solidFill>
                  <a:srgbClr val="CC0066"/>
                </a:solidFill>
              </a:rPr>
              <a:t>fgets(usr1,30,fp)</a:t>
            </a:r>
            <a:r>
              <a:rPr lang="en-US" altLang="zh-CN" sz="1500"/>
              <a:t>;         /*</a:t>
            </a:r>
            <a:r>
              <a:rPr lang="zh-CN" altLang="en-US" sz="1500"/>
              <a:t>读入一行用户信息作为一个字符串到</a:t>
            </a:r>
            <a:r>
              <a:rPr lang="en-US" altLang="zh-CN" sz="1500"/>
              <a:t>usr1*/</a:t>
            </a:r>
          </a:p>
          <a:p>
            <a:pPr>
              <a:lnSpc>
                <a:spcPct val="8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1500"/>
              <a:t>      if(strcmp(usr,usr1)==0){   /*</a:t>
            </a:r>
            <a:r>
              <a:rPr lang="zh-CN" altLang="en-US" sz="1500"/>
              <a:t>比较判断</a:t>
            </a:r>
            <a:r>
              <a:rPr lang="en-US" altLang="zh-CN" sz="1500"/>
              <a:t>usr</a:t>
            </a:r>
            <a:r>
              <a:rPr lang="zh-CN" altLang="en-US" sz="1500"/>
              <a:t>与</a:t>
            </a:r>
            <a:r>
              <a:rPr lang="en-US" altLang="zh-CN" sz="1500"/>
              <a:t>usr1</a:t>
            </a:r>
            <a:r>
              <a:rPr lang="zh-CN" altLang="en-US" sz="1500"/>
              <a:t>是否相同*</a:t>
            </a:r>
            <a:r>
              <a:rPr lang="en-US" altLang="zh-CN" sz="1500"/>
              <a:t>/</a:t>
            </a:r>
          </a:p>
          <a:p>
            <a:pPr>
              <a:lnSpc>
                <a:spcPct val="8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1500"/>
              <a:t>         check=1; break;   }</a:t>
            </a:r>
          </a:p>
          <a:p>
            <a:pPr>
              <a:lnSpc>
                <a:spcPct val="8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1500"/>
              <a:t>  }</a:t>
            </a:r>
          </a:p>
          <a:p>
            <a:pPr>
              <a:lnSpc>
                <a:spcPct val="8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1500"/>
              <a:t> if(</a:t>
            </a:r>
            <a:r>
              <a:rPr lang="en-US" altLang="zh-CN" sz="1500">
                <a:solidFill>
                  <a:srgbClr val="CC0066"/>
                </a:solidFill>
              </a:rPr>
              <a:t>fclose</a:t>
            </a:r>
            <a:r>
              <a:rPr lang="en-US" altLang="zh-CN" sz="1500"/>
              <a:t>(fp)){ printf("Can not close the file!\n"); exit(0);  } /*</a:t>
            </a:r>
            <a:r>
              <a:rPr lang="zh-CN" altLang="en-US" sz="1500"/>
              <a:t>关闭文件*</a:t>
            </a:r>
            <a:r>
              <a:rPr lang="en-US" altLang="zh-CN" sz="1500"/>
              <a:t>/</a:t>
            </a:r>
          </a:p>
          <a:p>
            <a:pPr>
              <a:lnSpc>
                <a:spcPct val="8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1500"/>
              <a:t>  return check;</a:t>
            </a:r>
          </a:p>
          <a:p>
            <a:pPr>
              <a:lnSpc>
                <a:spcPct val="8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1500"/>
              <a:t>}</a:t>
            </a:r>
            <a:endParaRPr lang="zh-CN" altLang="en-US" sz="15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>
            <a:extLst>
              <a:ext uri="{FF2B5EF4-FFF2-40B4-BE49-F238E27FC236}">
                <a16:creationId xmlns:a16="http://schemas.microsoft.com/office/drawing/2014/main" xmlns="" id="{33CC29EE-6510-47EE-8DBB-7DC6FAAB5B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668338"/>
          </a:xfrm>
        </p:spPr>
        <p:txBody>
          <a:bodyPr/>
          <a:lstStyle/>
          <a:p>
            <a:r>
              <a:rPr lang="en-US" altLang="zh-CN" sz="3200"/>
              <a:t>3.  </a:t>
            </a:r>
            <a:r>
              <a:rPr lang="zh-CN" altLang="en-US" sz="3200"/>
              <a:t>格式化文件读写</a:t>
            </a:r>
            <a:r>
              <a:rPr lang="en-US" altLang="zh-CN" sz="3200"/>
              <a:t>fscanf</a:t>
            </a:r>
            <a:r>
              <a:rPr lang="zh-CN" altLang="en-US" sz="3200"/>
              <a:t>和</a:t>
            </a:r>
            <a:r>
              <a:rPr lang="en-US" altLang="zh-CN" sz="3200"/>
              <a:t>fprintf</a:t>
            </a:r>
            <a:endParaRPr lang="zh-CN" altLang="en-US" sz="3200"/>
          </a:p>
        </p:txBody>
      </p:sp>
      <p:sp>
        <p:nvSpPr>
          <p:cNvPr id="414723" name="Rectangle 3">
            <a:extLst>
              <a:ext uri="{FF2B5EF4-FFF2-40B4-BE49-F238E27FC236}">
                <a16:creationId xmlns:a16="http://schemas.microsoft.com/office/drawing/2014/main" xmlns="" id="{AC525153-B39E-4760-9423-64A6ADBCA2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748712" cy="5400675"/>
          </a:xfrm>
        </p:spPr>
        <p:txBody>
          <a:bodyPr/>
          <a:lstStyle/>
          <a:p>
            <a:pPr algn="just"/>
            <a:r>
              <a:rPr lang="en-US" altLang="zh-CN" sz="2800">
                <a:solidFill>
                  <a:srgbClr val="CC0066"/>
                </a:solidFill>
                <a:ea typeface="黑体" panose="02010609060101010101" pitchFamily="49" charset="-122"/>
              </a:rPr>
              <a:t>fscanf</a:t>
            </a:r>
            <a:r>
              <a:rPr lang="zh-CN" altLang="en-US" sz="2800">
                <a:solidFill>
                  <a:srgbClr val="CC0066"/>
                </a:solidFill>
                <a:ea typeface="黑体" panose="02010609060101010101" pitchFamily="49" charset="-122"/>
              </a:rPr>
              <a:t>（文件指针，格式字符串，输入表</a:t>
            </a:r>
            <a:r>
              <a:rPr lang="en-US" altLang="zh-CN" sz="2800">
                <a:solidFill>
                  <a:srgbClr val="CC0066"/>
                </a:solidFill>
                <a:ea typeface="黑体" panose="02010609060101010101" pitchFamily="49" charset="-122"/>
              </a:rPr>
              <a:t>)</a:t>
            </a:r>
            <a:r>
              <a:rPr lang="zh-CN" altLang="en-US" sz="2800">
                <a:solidFill>
                  <a:srgbClr val="CC0066"/>
                </a:solidFill>
                <a:ea typeface="黑体" panose="02010609060101010101" pitchFamily="49" charset="-122"/>
              </a:rPr>
              <a:t>；</a:t>
            </a:r>
          </a:p>
          <a:p>
            <a:pPr algn="just"/>
            <a:r>
              <a:rPr lang="en-US" altLang="zh-CN" sz="2800">
                <a:solidFill>
                  <a:srgbClr val="CC0066"/>
                </a:solidFill>
                <a:ea typeface="黑体" panose="02010609060101010101" pitchFamily="49" charset="-122"/>
              </a:rPr>
              <a:t>fprintf</a:t>
            </a:r>
            <a:r>
              <a:rPr lang="zh-CN" altLang="en-US" sz="2800">
                <a:solidFill>
                  <a:srgbClr val="CC0066"/>
                </a:solidFill>
                <a:ea typeface="黑体" panose="02010609060101010101" pitchFamily="49" charset="-122"/>
              </a:rPr>
              <a:t>（文件指针，格式字符串，输出表</a:t>
            </a:r>
            <a:r>
              <a:rPr lang="en-US" altLang="zh-CN" sz="2800">
                <a:solidFill>
                  <a:srgbClr val="CC0066"/>
                </a:solidFill>
                <a:ea typeface="黑体" panose="02010609060101010101" pitchFamily="49" charset="-122"/>
              </a:rPr>
              <a:t>)</a:t>
            </a:r>
            <a:r>
              <a:rPr lang="zh-CN" altLang="en-US" sz="2800">
                <a:solidFill>
                  <a:srgbClr val="CC0066"/>
                </a:solidFill>
                <a:ea typeface="黑体" panose="02010609060101010101" pitchFamily="49" charset="-122"/>
              </a:rPr>
              <a:t>；</a:t>
            </a:r>
          </a:p>
          <a:p>
            <a:pPr lvl="1" algn="just">
              <a:buFont typeface="Wingdings" panose="05000000000000000000" pitchFamily="2" charset="2"/>
              <a:buNone/>
            </a:pPr>
            <a:r>
              <a:rPr lang="zh-CN" altLang="en-US" sz="2400"/>
              <a:t>指定格式的输入输出函数</a:t>
            </a:r>
          </a:p>
          <a:p>
            <a:pPr>
              <a:lnSpc>
                <a:spcPct val="120000"/>
              </a:lnSpc>
            </a:pPr>
            <a:endParaRPr lang="en-US" altLang="zh-CN" sz="240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FILE  *fp; int n;  float x;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fp = fopen("a.txt", "r")</a:t>
            </a:r>
            <a:r>
              <a:rPr lang="zh-CN" altLang="en-US" sz="2400"/>
              <a:t>；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bg2"/>
                </a:solidFill>
              </a:rPr>
              <a:t>fscanf(fp</a:t>
            </a:r>
            <a:r>
              <a:rPr lang="zh-CN" altLang="en-US" sz="2400">
                <a:solidFill>
                  <a:schemeClr val="bg2"/>
                </a:solidFill>
              </a:rPr>
              <a:t>，</a:t>
            </a:r>
            <a:r>
              <a:rPr lang="en-US" altLang="zh-CN" sz="2400">
                <a:solidFill>
                  <a:schemeClr val="bg2"/>
                </a:solidFill>
              </a:rPr>
              <a:t>"%d%f"</a:t>
            </a:r>
            <a:r>
              <a:rPr lang="zh-CN" altLang="en-US" sz="2400">
                <a:solidFill>
                  <a:schemeClr val="bg2"/>
                </a:solidFill>
              </a:rPr>
              <a:t>，</a:t>
            </a:r>
            <a:r>
              <a:rPr lang="en-US" altLang="zh-CN" sz="2400">
                <a:solidFill>
                  <a:schemeClr val="bg2"/>
                </a:solidFill>
              </a:rPr>
              <a:t>&amp;n</a:t>
            </a:r>
            <a:r>
              <a:rPr lang="zh-CN" altLang="en-US" sz="2400">
                <a:solidFill>
                  <a:schemeClr val="bg2"/>
                </a:solidFill>
              </a:rPr>
              <a:t>，</a:t>
            </a:r>
            <a:r>
              <a:rPr lang="en-US" altLang="zh-CN" sz="2400">
                <a:solidFill>
                  <a:schemeClr val="bg2"/>
                </a:solidFill>
              </a:rPr>
              <a:t>&amp;x);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表示从文件</a:t>
            </a:r>
            <a:r>
              <a:rPr lang="en-US" altLang="zh-CN" sz="2000"/>
              <a:t>a.txt</a:t>
            </a:r>
            <a:r>
              <a:rPr lang="zh-CN" altLang="en-US" sz="2000"/>
              <a:t>分别读入整型数到变量</a:t>
            </a:r>
            <a:r>
              <a:rPr lang="en-US" altLang="zh-CN" sz="2000"/>
              <a:t>n</a:t>
            </a:r>
            <a:r>
              <a:rPr lang="zh-CN" altLang="en-US" sz="2000"/>
              <a:t>、浮点数到变量</a:t>
            </a:r>
            <a:r>
              <a:rPr lang="en-US" altLang="zh-CN" sz="2000"/>
              <a:t>x</a:t>
            </a:r>
            <a:r>
              <a:rPr lang="zh-CN" altLang="en-US" sz="2000"/>
              <a:t>	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fp = fopen("b.txt", "w");	</a:t>
            </a:r>
            <a:endParaRPr lang="de-DE" altLang="zh-CN" sz="240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de-DE" altLang="zh-CN" sz="2400">
                <a:solidFill>
                  <a:schemeClr val="bg2"/>
                </a:solidFill>
              </a:rPr>
              <a:t>fprintf(fp, "%d%f", n, x);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de-DE" sz="2000"/>
              <a:t>表示把变量</a:t>
            </a:r>
            <a:r>
              <a:rPr lang="en-US" altLang="zh-CN" sz="2000"/>
              <a:t>n</a:t>
            </a:r>
            <a:r>
              <a:rPr lang="zh-CN" altLang="en-US" sz="2000"/>
              <a:t>和</a:t>
            </a:r>
            <a:r>
              <a:rPr lang="en-US" altLang="zh-CN" sz="2000"/>
              <a:t>x</a:t>
            </a:r>
            <a:r>
              <a:rPr lang="zh-CN" altLang="en-US" sz="2000"/>
              <a:t>的数值写入文件</a:t>
            </a:r>
            <a:r>
              <a:rPr lang="en-US" altLang="zh-CN" sz="2000"/>
              <a:t>b.txt</a:t>
            </a:r>
            <a:endParaRPr lang="zh-CN" altLang="en-US" sz="2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>
            <a:extLst>
              <a:ext uri="{FF2B5EF4-FFF2-40B4-BE49-F238E27FC236}">
                <a16:creationId xmlns:a16="http://schemas.microsoft.com/office/drawing/2014/main" xmlns="" id="{E4F3936F-FE35-411A-8303-D69EFAA1E0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7570788" cy="739775"/>
          </a:xfrm>
        </p:spPr>
        <p:txBody>
          <a:bodyPr/>
          <a:lstStyle/>
          <a:p>
            <a:r>
              <a:rPr lang="en-US" altLang="zh-CN" sz="3200"/>
              <a:t>4. </a:t>
            </a:r>
            <a:r>
              <a:rPr lang="zh-CN" altLang="en-US" sz="3200"/>
              <a:t>数据块读写</a:t>
            </a:r>
            <a:r>
              <a:rPr lang="en-US" altLang="zh-CN" sz="3200"/>
              <a:t>fread()</a:t>
            </a:r>
            <a:r>
              <a:rPr lang="zh-CN" altLang="en-US" sz="3200"/>
              <a:t>和</a:t>
            </a:r>
            <a:r>
              <a:rPr lang="en-US" altLang="zh-CN" sz="3200"/>
              <a:t>fwrite()</a:t>
            </a:r>
            <a:endParaRPr lang="zh-CN" altLang="en-US" sz="3200"/>
          </a:p>
        </p:txBody>
      </p:sp>
      <p:sp>
        <p:nvSpPr>
          <p:cNvPr id="443395" name="Rectangle 3">
            <a:extLst>
              <a:ext uri="{FF2B5EF4-FFF2-40B4-BE49-F238E27FC236}">
                <a16:creationId xmlns:a16="http://schemas.microsoft.com/office/drawing/2014/main" xmlns="" id="{06504C13-DD8D-4B3B-BDA2-79D0B5A01C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268413"/>
            <a:ext cx="8640762" cy="5589587"/>
          </a:xfrm>
        </p:spPr>
        <p:txBody>
          <a:bodyPr/>
          <a:lstStyle/>
          <a:p>
            <a:r>
              <a:rPr lang="en-US" altLang="zh-CN">
                <a:solidFill>
                  <a:srgbClr val="CC0066"/>
                </a:solidFill>
              </a:rPr>
              <a:t>fread(buffer, size, count, fp);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/>
              <a:t>从二进制文件中读入一个数据块到变量</a:t>
            </a:r>
          </a:p>
          <a:p>
            <a:r>
              <a:rPr lang="en-US" altLang="zh-CN">
                <a:solidFill>
                  <a:srgbClr val="CC0066"/>
                </a:solidFill>
              </a:rPr>
              <a:t>fwrite(buffer, size, count, fp);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/>
              <a:t>向二进制文件中写入一个数据块			</a:t>
            </a:r>
            <a:endParaRPr lang="en-US" altLang="zh-CN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/>
            <a:r>
              <a:rPr lang="en-US" altLang="zh-CN"/>
              <a:t>buffer</a:t>
            </a:r>
            <a:r>
              <a:rPr lang="zh-CN" altLang="en-US"/>
              <a:t>：指针，表示存放数据的首地址；</a:t>
            </a:r>
          </a:p>
          <a:p>
            <a:pPr lvl="1"/>
            <a:r>
              <a:rPr lang="en-US" altLang="zh-CN"/>
              <a:t>size</a:t>
            </a:r>
            <a:r>
              <a:rPr lang="zh-CN" altLang="en-US"/>
              <a:t>：数据块的字节数</a:t>
            </a:r>
          </a:p>
          <a:p>
            <a:pPr lvl="1"/>
            <a:r>
              <a:rPr lang="en-US" altLang="zh-CN"/>
              <a:t>count</a:t>
            </a:r>
            <a:r>
              <a:rPr lang="zh-CN" altLang="en-US"/>
              <a:t>：要读写的数据块块数</a:t>
            </a:r>
          </a:p>
          <a:p>
            <a:pPr lvl="1"/>
            <a:r>
              <a:rPr lang="en-US" altLang="zh-CN"/>
              <a:t>fp</a:t>
            </a:r>
            <a:r>
              <a:rPr lang="zh-CN" altLang="en-US"/>
              <a:t>：文件指针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43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43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43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43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43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43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43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43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395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>
            <a:extLst>
              <a:ext uri="{FF2B5EF4-FFF2-40B4-BE49-F238E27FC236}">
                <a16:creationId xmlns:a16="http://schemas.microsoft.com/office/drawing/2014/main" xmlns="" id="{049B3E1D-4838-424F-B864-F2085C81A1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476250"/>
            <a:ext cx="6202362" cy="884238"/>
          </a:xfrm>
        </p:spPr>
        <p:txBody>
          <a:bodyPr/>
          <a:lstStyle/>
          <a:p>
            <a:r>
              <a:rPr lang="en-US" altLang="zh-CN" sz="4000"/>
              <a:t>12.2.4  </a:t>
            </a:r>
            <a:r>
              <a:rPr lang="zh-CN" altLang="en-US" sz="4000"/>
              <a:t>其他相关函数</a:t>
            </a:r>
          </a:p>
        </p:txBody>
      </p:sp>
      <p:sp>
        <p:nvSpPr>
          <p:cNvPr id="445443" name="Rectangle 3">
            <a:extLst>
              <a:ext uri="{FF2B5EF4-FFF2-40B4-BE49-F238E27FC236}">
                <a16:creationId xmlns:a16="http://schemas.microsoft.com/office/drawing/2014/main" xmlns="" id="{72C6C6BD-5397-4115-9127-0B8C40B37B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412875"/>
            <a:ext cx="4105275" cy="504031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/>
              <a:t>函数</a:t>
            </a:r>
            <a:r>
              <a:rPr lang="en-US" altLang="zh-CN"/>
              <a:t>feof()</a:t>
            </a:r>
            <a:endParaRPr lang="zh-CN" altLang="en-US"/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CC0066"/>
                </a:solidFill>
              </a:rPr>
              <a:t>feof(fp) ;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/>
              <a:t>判断</a:t>
            </a:r>
            <a:r>
              <a:rPr lang="en-US" altLang="zh-CN"/>
              <a:t>fp</a:t>
            </a:r>
            <a:r>
              <a:rPr lang="zh-CN" altLang="en-US"/>
              <a:t>指针是否已经到文件末尾，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/>
              <a:t>函数返回值</a:t>
            </a:r>
          </a:p>
          <a:p>
            <a:pPr lvl="2">
              <a:lnSpc>
                <a:spcPct val="150000"/>
              </a:lnSpc>
            </a:pPr>
            <a:r>
              <a:rPr lang="en-US" altLang="zh-CN"/>
              <a:t>1</a:t>
            </a:r>
            <a:r>
              <a:rPr lang="zh-CN" altLang="en-US"/>
              <a:t>：到文件结束位置</a:t>
            </a:r>
          </a:p>
          <a:p>
            <a:pPr lvl="2">
              <a:lnSpc>
                <a:spcPct val="150000"/>
              </a:lnSpc>
            </a:pPr>
            <a:r>
              <a:rPr lang="en-US" altLang="zh-CN"/>
              <a:t>0</a:t>
            </a:r>
            <a:r>
              <a:rPr lang="zh-CN" altLang="en-US"/>
              <a:t>：文件未结束</a:t>
            </a:r>
          </a:p>
        </p:txBody>
      </p:sp>
      <p:sp>
        <p:nvSpPr>
          <p:cNvPr id="445444" name="Rectangle 4">
            <a:extLst>
              <a:ext uri="{FF2B5EF4-FFF2-40B4-BE49-F238E27FC236}">
                <a16:creationId xmlns:a16="http://schemas.microsoft.com/office/drawing/2014/main" xmlns="" id="{DF00DE3C-5266-47BC-B29C-06653E8AE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1341438"/>
            <a:ext cx="4679950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/>
              <a:t>函数</a:t>
            </a:r>
            <a:r>
              <a:rPr lang="en-US" altLang="zh-CN"/>
              <a:t>rewind( 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CC0066"/>
                </a:solidFill>
              </a:rPr>
              <a:t>rewind(FILE *fp);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/>
              <a:t>定位文件指针，使文件指针指向读写文件的首地址，即打开文件时文件指针所指向的位置。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>
            <a:extLst>
              <a:ext uri="{FF2B5EF4-FFF2-40B4-BE49-F238E27FC236}">
                <a16:creationId xmlns:a16="http://schemas.microsoft.com/office/drawing/2014/main" xmlns="" id="{49354C52-A032-4680-8D34-887406D4EF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9925" y="260350"/>
            <a:ext cx="3394075" cy="739775"/>
          </a:xfrm>
        </p:spPr>
        <p:txBody>
          <a:bodyPr/>
          <a:lstStyle/>
          <a:p>
            <a:r>
              <a:rPr lang="zh-CN" altLang="en-US" sz="4000"/>
              <a:t>其他相关函数</a:t>
            </a:r>
          </a:p>
        </p:txBody>
      </p:sp>
      <p:sp>
        <p:nvSpPr>
          <p:cNvPr id="447491" name="Rectangle 3">
            <a:extLst>
              <a:ext uri="{FF2B5EF4-FFF2-40B4-BE49-F238E27FC236}">
                <a16:creationId xmlns:a16="http://schemas.microsoft.com/office/drawing/2014/main" xmlns="" id="{B0E0DC80-DC8B-4215-B9F4-7E431DE3E1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964612" cy="554355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800"/>
              <a:t>函数</a:t>
            </a:r>
            <a:r>
              <a:rPr lang="en-US" altLang="zh-CN" sz="2800"/>
              <a:t>fseek( )——</a:t>
            </a:r>
            <a:r>
              <a:rPr lang="zh-CN" altLang="en-US" sz="2800"/>
              <a:t>用来控制指针移动</a:t>
            </a:r>
            <a:endParaRPr lang="en-US" altLang="zh-CN" sz="2800"/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CC0066"/>
                </a:solidFill>
              </a:rPr>
              <a:t>fseek(fp, offset, from);</a:t>
            </a:r>
            <a:endParaRPr lang="zh-CN" altLang="en-US" sz="2400"/>
          </a:p>
          <a:p>
            <a:pPr lvl="1">
              <a:lnSpc>
                <a:spcPct val="80000"/>
              </a:lnSpc>
            </a:pPr>
            <a:r>
              <a:rPr lang="en-US" altLang="zh-CN" sz="2400"/>
              <a:t>offset</a:t>
            </a:r>
            <a:r>
              <a:rPr lang="zh-CN" altLang="en-US" sz="2400"/>
              <a:t>：移动偏移量，</a:t>
            </a:r>
            <a:r>
              <a:rPr lang="en-US" altLang="zh-CN" sz="2400"/>
              <a:t>long</a:t>
            </a:r>
            <a:r>
              <a:rPr lang="zh-CN" altLang="en-US" sz="2400"/>
              <a:t>型</a:t>
            </a:r>
          </a:p>
          <a:p>
            <a:pPr lvl="1">
              <a:lnSpc>
                <a:spcPct val="80000"/>
              </a:lnSpc>
            </a:pPr>
            <a:r>
              <a:rPr lang="en-US" altLang="zh-CN" sz="2400"/>
              <a:t>from</a:t>
            </a:r>
            <a:r>
              <a:rPr lang="zh-CN" altLang="en-US" sz="2400"/>
              <a:t>：起始位置，文件首部、当前位置和文件尾部分别对应</a:t>
            </a:r>
            <a:r>
              <a:rPr lang="en-US" altLang="zh-CN" sz="2400"/>
              <a:t>0,1,2</a:t>
            </a:r>
            <a:r>
              <a:rPr lang="zh-CN" altLang="en-US" sz="2400"/>
              <a:t>，或常量</a:t>
            </a:r>
            <a:r>
              <a:rPr lang="en-US" altLang="zh-CN" sz="2400"/>
              <a:t>SEEK_SET</a:t>
            </a:r>
            <a:r>
              <a:rPr lang="zh-CN" altLang="en-US" sz="2400"/>
              <a:t>、</a:t>
            </a:r>
            <a:r>
              <a:rPr lang="en-US" altLang="zh-CN" sz="2400"/>
              <a:t>SEEK_CUR</a:t>
            </a:r>
            <a:r>
              <a:rPr lang="zh-CN" altLang="en-US" sz="2400"/>
              <a:t>、</a:t>
            </a:r>
            <a:r>
              <a:rPr lang="en-US" altLang="zh-CN" sz="2400"/>
              <a:t>SEEK_END</a:t>
            </a:r>
            <a:r>
              <a:rPr lang="zh-CN" altLang="en-US" sz="2400"/>
              <a:t>。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例如：</a:t>
            </a:r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fseek(fp, 20L, 0)</a:t>
            </a:r>
            <a:r>
              <a:rPr lang="zh-CN" altLang="en-US" sz="2000"/>
              <a:t>：将文件位置指针移动到离文件首</a:t>
            </a:r>
            <a:r>
              <a:rPr lang="en-US" altLang="zh-CN" sz="2000"/>
              <a:t>20</a:t>
            </a:r>
            <a:r>
              <a:rPr lang="zh-CN" altLang="en-US" sz="2000"/>
              <a:t>字节处</a:t>
            </a:r>
          </a:p>
          <a:p>
            <a:pPr lvl="2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fseek(fp, -20L, SEEK_END)</a:t>
            </a:r>
            <a:r>
              <a:rPr lang="zh-CN" altLang="en-US" sz="2000"/>
              <a:t>：将文件位置指针移动到离文件尾部前</a:t>
            </a:r>
            <a:r>
              <a:rPr lang="en-US" altLang="zh-CN" sz="2000"/>
              <a:t>20</a:t>
            </a:r>
            <a:r>
              <a:rPr lang="zh-CN" altLang="en-US" sz="2000"/>
              <a:t>字节处</a:t>
            </a:r>
          </a:p>
          <a:p>
            <a:pPr>
              <a:lnSpc>
                <a:spcPct val="150000"/>
              </a:lnSpc>
            </a:pPr>
            <a:r>
              <a:rPr lang="zh-CN" altLang="en-US" sz="2800"/>
              <a:t>函数</a:t>
            </a:r>
            <a:r>
              <a:rPr lang="en-US" altLang="zh-CN" sz="2800"/>
              <a:t>ftell( 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CC0066"/>
                </a:solidFill>
              </a:rPr>
              <a:t>ftell(</a:t>
            </a:r>
            <a:r>
              <a:rPr lang="zh-CN" altLang="en-US" sz="2400">
                <a:solidFill>
                  <a:srgbClr val="CC0066"/>
                </a:solidFill>
              </a:rPr>
              <a:t>文件指针</a:t>
            </a:r>
            <a:r>
              <a:rPr lang="en-US" altLang="zh-CN" sz="2400">
                <a:solidFill>
                  <a:srgbClr val="CC0066"/>
                </a:solidFill>
              </a:rPr>
              <a:t>)</a:t>
            </a:r>
            <a:r>
              <a:rPr lang="zh-CN" altLang="en-US" sz="2400">
                <a:solidFill>
                  <a:srgbClr val="CC0066"/>
                </a:solidFill>
              </a:rPr>
              <a:t>；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获取当前文件指针的位置，即相对于文件开头的位移量（字节数）</a:t>
            </a:r>
          </a:p>
          <a:p>
            <a:pPr lvl="1">
              <a:lnSpc>
                <a:spcPct val="150000"/>
              </a:lnSpc>
            </a:pPr>
            <a:r>
              <a:rPr lang="zh-CN" altLang="en-US" sz="2400"/>
              <a:t>函数出错时，返回</a:t>
            </a:r>
            <a:r>
              <a:rPr lang="en-US" altLang="zh-CN" sz="2400"/>
              <a:t>-1L</a:t>
            </a:r>
            <a:endParaRPr lang="zh-CN" altLang="en-US" sz="2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>
            <a:extLst>
              <a:ext uri="{FF2B5EF4-FFF2-40B4-BE49-F238E27FC236}">
                <a16:creationId xmlns:a16="http://schemas.microsoft.com/office/drawing/2014/main" xmlns="" id="{4CA20C4F-FE8F-45AE-BAF2-4C995CF3AB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668338"/>
          </a:xfrm>
        </p:spPr>
        <p:txBody>
          <a:bodyPr/>
          <a:lstStyle/>
          <a:p>
            <a:r>
              <a:rPr lang="zh-CN" altLang="en-US" sz="3200"/>
              <a:t>其他相关函数</a:t>
            </a:r>
          </a:p>
        </p:txBody>
      </p:sp>
      <p:sp>
        <p:nvSpPr>
          <p:cNvPr id="449539" name="Rectangle 3">
            <a:extLst>
              <a:ext uri="{FF2B5EF4-FFF2-40B4-BE49-F238E27FC236}">
                <a16:creationId xmlns:a16="http://schemas.microsoft.com/office/drawing/2014/main" xmlns="" id="{CCE25D4E-9BCD-4793-872D-4AC90A6A23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412875"/>
            <a:ext cx="8229600" cy="46799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/>
              <a:t>ferror()</a:t>
            </a:r>
            <a:r>
              <a:rPr lang="zh-CN" altLang="en-US" sz="2400"/>
              <a:t>函数：函数用来检查文件在用各种输入输出函数进行读写是否出错，若返回值为</a:t>
            </a:r>
            <a:r>
              <a:rPr lang="en-US" altLang="zh-CN" sz="2400"/>
              <a:t>0</a:t>
            </a:r>
            <a:r>
              <a:rPr lang="zh-CN" altLang="en-US" sz="2400"/>
              <a:t>，表示未出错，否则表示有错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   调用形式为：</a:t>
            </a:r>
            <a:r>
              <a:rPr lang="en-US" altLang="zh-CN" sz="24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ferror(</a:t>
            </a:r>
            <a:r>
              <a:rPr lang="zh-CN" altLang="en-US" sz="24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文件指针</a:t>
            </a:r>
            <a:r>
              <a:rPr lang="en-US" altLang="zh-CN" sz="24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);</a:t>
            </a:r>
          </a:p>
          <a:p>
            <a:pPr lvl="1">
              <a:lnSpc>
                <a:spcPct val="150000"/>
              </a:lnSpc>
            </a:pPr>
            <a:r>
              <a:rPr lang="zh-CN" altLang="en-US" sz="2000"/>
              <a:t>文件指针必须是已经定义过的</a:t>
            </a:r>
          </a:p>
          <a:p>
            <a:pPr>
              <a:lnSpc>
                <a:spcPct val="150000"/>
              </a:lnSpc>
            </a:pPr>
            <a:r>
              <a:rPr lang="zh-CN" altLang="en-US" sz="2400"/>
              <a:t>函数</a:t>
            </a:r>
            <a:r>
              <a:rPr lang="en-US" altLang="zh-CN" sz="2400"/>
              <a:t>clearerr( 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CC0066"/>
                </a:solidFill>
              </a:rPr>
              <a:t>clearerr(</a:t>
            </a:r>
            <a:r>
              <a:rPr lang="zh-CN" altLang="en-US" sz="2000">
                <a:solidFill>
                  <a:srgbClr val="CC0066"/>
                </a:solidFill>
              </a:rPr>
              <a:t>文件指针</a:t>
            </a:r>
            <a:r>
              <a:rPr lang="en-US" altLang="zh-CN" sz="2000">
                <a:solidFill>
                  <a:srgbClr val="CC0066"/>
                </a:solidFill>
              </a:rPr>
              <a:t>)</a:t>
            </a:r>
            <a:r>
              <a:rPr lang="zh-CN" altLang="en-US" sz="2000">
                <a:solidFill>
                  <a:srgbClr val="CC0066"/>
                </a:solidFill>
              </a:rPr>
              <a:t>；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800"/>
              <a:t>用来清除出错标志和文件结束标志，使它们为</a:t>
            </a:r>
            <a:r>
              <a:rPr lang="en-US" altLang="zh-CN" sz="1800"/>
              <a:t>0</a:t>
            </a:r>
            <a:endParaRPr lang="zh-CN" altLang="en-US"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>
            <a:extLst>
              <a:ext uri="{FF2B5EF4-FFF2-40B4-BE49-F238E27FC236}">
                <a16:creationId xmlns:a16="http://schemas.microsoft.com/office/drawing/2014/main" xmlns="" id="{0F25E1DF-1C81-4D19-A1CE-3C123634A5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/>
              <a:t>12.3  </a:t>
            </a:r>
            <a:r>
              <a:rPr lang="zh-CN" altLang="en-US" sz="3200"/>
              <a:t>文件综合应用：个人资金账户管理</a:t>
            </a:r>
          </a:p>
        </p:txBody>
      </p:sp>
      <p:sp>
        <p:nvSpPr>
          <p:cNvPr id="451587" name="Rectangle 3">
            <a:extLst>
              <a:ext uri="{FF2B5EF4-FFF2-40B4-BE49-F238E27FC236}">
                <a16:creationId xmlns:a16="http://schemas.microsoft.com/office/drawing/2014/main" xmlns="" id="{6F21C662-F811-448D-AA90-CC763EE9DA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700213"/>
            <a:ext cx="8229600" cy="45434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000"/>
              <a:t>12.3.1</a:t>
            </a:r>
            <a:r>
              <a:rPr lang="zh-CN" altLang="en-US" sz="2000"/>
              <a:t>顺序文件和随机文件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            按照</a:t>
            </a:r>
            <a:r>
              <a:rPr lang="en-US" altLang="zh-CN" sz="2000"/>
              <a:t>C</a:t>
            </a:r>
            <a:r>
              <a:rPr lang="zh-CN" altLang="en-US" sz="2000"/>
              <a:t>程序对文件访问的特点来分，文件可分为</a:t>
            </a:r>
            <a:r>
              <a:rPr lang="zh-CN" altLang="en-US" sz="2000">
                <a:solidFill>
                  <a:schemeClr val="bg2"/>
                </a:solidFill>
              </a:rPr>
              <a:t>顺序访问文件和随机访问文件</a:t>
            </a:r>
            <a:r>
              <a:rPr lang="zh-CN" altLang="en-US" sz="2000"/>
              <a:t>，简称为</a:t>
            </a:r>
            <a:r>
              <a:rPr lang="zh-CN" altLang="en-US" sz="2000">
                <a:solidFill>
                  <a:schemeClr val="bg2"/>
                </a:solidFill>
              </a:rPr>
              <a:t>顺序文件和随机文件</a:t>
            </a:r>
            <a:r>
              <a:rPr lang="zh-CN" altLang="en-US" sz="2000"/>
              <a:t>。前面介绍的所有例子都进行的是顺序访问，通过使用</a:t>
            </a:r>
            <a:r>
              <a:rPr lang="en-US" altLang="zh-CN" sz="2000"/>
              <a:t>fprintf()</a:t>
            </a:r>
            <a:r>
              <a:rPr lang="zh-CN" altLang="en-US" sz="2000"/>
              <a:t>或</a:t>
            </a:r>
            <a:r>
              <a:rPr lang="en-US" altLang="zh-CN" sz="2000"/>
              <a:t>fputs()</a:t>
            </a:r>
            <a:r>
              <a:rPr lang="zh-CN" altLang="en-US" sz="2000"/>
              <a:t>函数创建的数据记录长度并不是完全一致的，这种记录长度不确定的文件访问称为</a:t>
            </a:r>
            <a:r>
              <a:rPr lang="zh-CN" altLang="en-US" sz="2000">
                <a:solidFill>
                  <a:schemeClr val="bg2"/>
                </a:solidFill>
              </a:rPr>
              <a:t>顺序访问</a:t>
            </a:r>
            <a:r>
              <a:rPr lang="zh-CN" altLang="en-US" sz="2000"/>
              <a:t>。而随机访问文件要求文件中单个记录的长度固定，可直接访问，这样速度快，并且无需通过其他记录查找特定记录。因此随机文件适合银行系统、航空售票系统、销售点系统和其他需要快速访问特定数据的事务处理系统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0" name="Rectangle 2">
            <a:extLst>
              <a:ext uri="{FF2B5EF4-FFF2-40B4-BE49-F238E27FC236}">
                <a16:creationId xmlns:a16="http://schemas.microsoft.com/office/drawing/2014/main" xmlns="" id="{0E927A64-8CC5-4BBC-991C-F8B9862F3A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692150"/>
            <a:ext cx="8229600" cy="739775"/>
          </a:xfrm>
        </p:spPr>
        <p:txBody>
          <a:bodyPr/>
          <a:lstStyle/>
          <a:p>
            <a:r>
              <a:rPr lang="en-US" altLang="zh-CN" sz="3200"/>
              <a:t>12.3.2  </a:t>
            </a:r>
            <a:r>
              <a:rPr lang="zh-CN" altLang="en-US" sz="3200"/>
              <a:t>个人资金帐户的管理</a:t>
            </a:r>
          </a:p>
        </p:txBody>
      </p:sp>
      <p:sp>
        <p:nvSpPr>
          <p:cNvPr id="452611" name="Rectangle 3">
            <a:extLst>
              <a:ext uri="{FF2B5EF4-FFF2-40B4-BE49-F238E27FC236}">
                <a16:creationId xmlns:a16="http://schemas.microsoft.com/office/drawing/2014/main" xmlns="" id="{510CC21E-DCB5-4DF6-86AC-2976F554D9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557338"/>
            <a:ext cx="8280400" cy="4679950"/>
          </a:xfrm>
        </p:spPr>
        <p:txBody>
          <a:bodyPr/>
          <a:lstStyle/>
          <a:p>
            <a:r>
              <a:rPr lang="zh-CN" altLang="en-US"/>
              <a:t>要求</a:t>
            </a:r>
          </a:p>
          <a:p>
            <a:pPr lvl="1"/>
            <a:r>
              <a:rPr lang="zh-CN" altLang="en-US"/>
              <a:t>个人资金账户的信息统一放在随机文件中</a:t>
            </a:r>
            <a:r>
              <a:rPr lang="en-US" altLang="zh-CN"/>
              <a:t>,</a:t>
            </a:r>
            <a:r>
              <a:rPr lang="zh-CN" altLang="en-US"/>
              <a:t>该随机文件包括的数据项有记录</a:t>
            </a:r>
            <a:r>
              <a:rPr lang="en-US" altLang="zh-CN"/>
              <a:t>ID</a:t>
            </a:r>
            <a:r>
              <a:rPr lang="zh-CN" altLang="en-US"/>
              <a:t>、发生日期、发生事件、发生金额（正</a:t>
            </a:r>
            <a:r>
              <a:rPr lang="en-US" altLang="zh-CN"/>
              <a:t>+</a:t>
            </a:r>
            <a:r>
              <a:rPr lang="zh-CN" altLang="en-US"/>
              <a:t>的表示收入，负</a:t>
            </a:r>
            <a:r>
              <a:rPr lang="en-US" altLang="zh-CN"/>
              <a:t>-</a:t>
            </a:r>
            <a:r>
              <a:rPr lang="zh-CN" altLang="en-US"/>
              <a:t>表示支出）和余额。每记录一次收支，文件要增加一条记录，并计算一次余额。</a:t>
            </a:r>
          </a:p>
          <a:p>
            <a:pPr lvl="1"/>
            <a:r>
              <a:rPr lang="zh-CN" altLang="en-US"/>
              <a:t>程序实现</a:t>
            </a:r>
            <a:r>
              <a:rPr lang="en-US" altLang="zh-CN"/>
              <a:t>3</a:t>
            </a:r>
            <a:r>
              <a:rPr lang="zh-CN" altLang="en-US"/>
              <a:t>个功能，包括：</a:t>
            </a:r>
            <a:r>
              <a:rPr lang="en-US" altLang="zh-CN"/>
              <a:t>1</a:t>
            </a:r>
            <a:r>
              <a:rPr lang="zh-CN" altLang="en-US"/>
              <a:t>）可以创建该文件并添加新收入或支出信息；</a:t>
            </a:r>
            <a:r>
              <a:rPr lang="en-US" altLang="zh-CN"/>
              <a:t>2</a:t>
            </a:r>
            <a:r>
              <a:rPr lang="zh-CN" altLang="en-US"/>
              <a:t>）可以显示所有记录列表，得知资金账户的收支流水帐；</a:t>
            </a:r>
            <a:r>
              <a:rPr lang="en-US" altLang="zh-CN"/>
              <a:t>3</a:t>
            </a:r>
            <a:r>
              <a:rPr lang="zh-CN" altLang="en-US"/>
              <a:t>）查询最后一条记录，获知账户最后的余额。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>
            <a:extLst>
              <a:ext uri="{FF2B5EF4-FFF2-40B4-BE49-F238E27FC236}">
                <a16:creationId xmlns:a16="http://schemas.microsoft.com/office/drawing/2014/main" xmlns="" id="{A7DD5B7E-A10B-470F-A0C8-1CFE06B677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692150"/>
            <a:ext cx="8280400" cy="1223963"/>
          </a:xfrm>
        </p:spPr>
        <p:txBody>
          <a:bodyPr/>
          <a:lstStyle/>
          <a:p>
            <a:r>
              <a:rPr lang="en-US" altLang="zh-CN" sz="4000"/>
              <a:t>cashbox.dat</a:t>
            </a:r>
            <a:r>
              <a:rPr lang="zh-CN" altLang="en-US" sz="4000"/>
              <a:t>文件的部分内容</a:t>
            </a:r>
            <a:endParaRPr lang="en-US" altLang="zh-CN" sz="4000"/>
          </a:p>
        </p:txBody>
      </p:sp>
      <p:sp>
        <p:nvSpPr>
          <p:cNvPr id="453635" name="Rectangle 3">
            <a:extLst>
              <a:ext uri="{FF2B5EF4-FFF2-40B4-BE49-F238E27FC236}">
                <a16:creationId xmlns:a16="http://schemas.microsoft.com/office/drawing/2014/main" xmlns="" id="{5782890C-C4FC-4C23-BB1D-BA79AB4804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LogID   CreateDate	Note		Charge		Balance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1		2006-06-01	alimony	500.00		500.00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2		2006-06-08	shopping	-300.00		200.00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3		2006-06-15	shopping	-60.00		140.00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4		2006-06-20	workingpay	200.00		340.00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5		2006-08-01	scholarship	1000.00	1340.00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……</a:t>
            </a:r>
            <a:endParaRPr lang="zh-CN" altLang="en-US" sz="2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>
            <a:extLst>
              <a:ext uri="{FF2B5EF4-FFF2-40B4-BE49-F238E27FC236}">
                <a16:creationId xmlns:a16="http://schemas.microsoft.com/office/drawing/2014/main" xmlns="" id="{70F7C1FF-F1DC-467B-8297-53B72AA391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本章总结</a:t>
            </a:r>
          </a:p>
        </p:txBody>
      </p:sp>
      <p:sp>
        <p:nvSpPr>
          <p:cNvPr id="463875" name="Rectangle 3">
            <a:extLst>
              <a:ext uri="{FF2B5EF4-FFF2-40B4-BE49-F238E27FC236}">
                <a16:creationId xmlns:a16="http://schemas.microsoft.com/office/drawing/2014/main" xmlns="" id="{AF951F47-8CB8-4B7D-99C8-CD8CC70B808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1989138"/>
            <a:ext cx="5184775" cy="43275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/>
              <a:t>文件的概念</a:t>
            </a:r>
          </a:p>
          <a:p>
            <a:pPr lvl="1">
              <a:lnSpc>
                <a:spcPct val="90000"/>
              </a:lnSpc>
            </a:pPr>
            <a:r>
              <a:rPr lang="zh-CN" altLang="en-US" sz="2000"/>
              <a:t>文本文件和二进制文件</a:t>
            </a:r>
          </a:p>
          <a:p>
            <a:pPr lvl="1">
              <a:lnSpc>
                <a:spcPct val="90000"/>
              </a:lnSpc>
            </a:pPr>
            <a:r>
              <a:rPr lang="zh-CN" altLang="en-US" sz="2000"/>
              <a:t>文件缓冲系统</a:t>
            </a:r>
          </a:p>
          <a:p>
            <a:pPr lvl="1">
              <a:lnSpc>
                <a:spcPct val="90000"/>
              </a:lnSpc>
            </a:pPr>
            <a:r>
              <a:rPr lang="zh-CN" altLang="en-US" sz="2000"/>
              <a:t>文件结构，文件指针，自定义类型</a:t>
            </a:r>
          </a:p>
          <a:p>
            <a:pPr>
              <a:lnSpc>
                <a:spcPct val="90000"/>
              </a:lnSpc>
            </a:pPr>
            <a:r>
              <a:rPr lang="zh-CN" altLang="en-US" sz="2400"/>
              <a:t>文件的打开与关闭</a:t>
            </a:r>
          </a:p>
          <a:p>
            <a:pPr lvl="1">
              <a:lnSpc>
                <a:spcPct val="90000"/>
              </a:lnSpc>
            </a:pPr>
            <a:r>
              <a:rPr lang="zh-CN" altLang="en-US" sz="2000"/>
              <a:t>文件处理实现过程</a:t>
            </a:r>
          </a:p>
          <a:p>
            <a:pPr>
              <a:lnSpc>
                <a:spcPct val="90000"/>
              </a:lnSpc>
            </a:pPr>
            <a:r>
              <a:rPr lang="zh-CN" altLang="en-US" sz="2400"/>
              <a:t>文件读写操作与常用文件操作函数</a:t>
            </a:r>
          </a:p>
          <a:p>
            <a:pPr>
              <a:lnSpc>
                <a:spcPct val="90000"/>
              </a:lnSpc>
            </a:pPr>
            <a:r>
              <a:rPr lang="zh-CN" altLang="en-US" sz="2400"/>
              <a:t>文件综合应用</a:t>
            </a:r>
          </a:p>
        </p:txBody>
      </p:sp>
      <p:sp>
        <p:nvSpPr>
          <p:cNvPr id="463877" name="Rectangle 5">
            <a:extLst>
              <a:ext uri="{FF2B5EF4-FFF2-40B4-BE49-F238E27FC236}">
                <a16:creationId xmlns:a16="http://schemas.microsoft.com/office/drawing/2014/main" xmlns="" id="{26A10BB1-D250-4733-9E55-BA4DA182A41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038725" y="1125538"/>
            <a:ext cx="4105275" cy="3311525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CC0066"/>
                </a:solidFill>
              </a:rPr>
              <a:t>1</a:t>
            </a:r>
            <a:r>
              <a:rPr lang="zh-CN" altLang="en-US" sz="2400" dirty="0">
                <a:solidFill>
                  <a:srgbClr val="CC0066"/>
                </a:solidFill>
              </a:rPr>
              <a:t>）掌握文件的概念，文件缓冲系统的基本原理，文件读写操作实现的基本过程；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CC0066"/>
                </a:solidFill>
              </a:rPr>
              <a:t>2</a:t>
            </a:r>
            <a:r>
              <a:rPr lang="zh-CN" altLang="en-US" sz="2400" dirty="0">
                <a:solidFill>
                  <a:srgbClr val="CC0066"/>
                </a:solidFill>
              </a:rPr>
              <a:t>）能熟练使用文件进行编程。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CC0066"/>
                </a:solidFill>
              </a:rPr>
              <a:t>3</a:t>
            </a:r>
            <a:r>
              <a:rPr lang="zh-CN" altLang="en-US" sz="2400" dirty="0">
                <a:solidFill>
                  <a:srgbClr val="CC0066"/>
                </a:solidFill>
              </a:rPr>
              <a:t>）掌握常用的文本文件读写操作函数。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CC0066"/>
                </a:solidFill>
              </a:rPr>
              <a:t>4</a:t>
            </a:r>
            <a:r>
              <a:rPr lang="zh-CN" altLang="en-US" sz="2400" dirty="0">
                <a:solidFill>
                  <a:srgbClr val="CC0066"/>
                </a:solidFill>
              </a:rPr>
              <a:t>）了解顺序文件和随机文件的应用。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8286</TotalTime>
  <Words>2646</Words>
  <Application>Microsoft Office PowerPoint</Application>
  <PresentationFormat>全屏显示(4:3)</PresentationFormat>
  <Paragraphs>440</Paragraphs>
  <Slides>39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39</vt:i4>
      </vt:variant>
    </vt:vector>
  </HeadingPairs>
  <TitlesOfParts>
    <vt:vector size="51" baseType="lpstr">
      <vt:lpstr>仿宋_GB2312</vt:lpstr>
      <vt:lpstr>黑体</vt:lpstr>
      <vt:lpstr>宋体</vt:lpstr>
      <vt:lpstr>幼圆</vt:lpstr>
      <vt:lpstr>Arial</vt:lpstr>
      <vt:lpstr>Arial Black</vt:lpstr>
      <vt:lpstr>Times New Roman</vt:lpstr>
      <vt:lpstr>Webdings</vt:lpstr>
      <vt:lpstr>Wingdings</vt:lpstr>
      <vt:lpstr>Pixel</vt:lpstr>
      <vt:lpstr>Visio</vt:lpstr>
      <vt:lpstr>文档</vt:lpstr>
      <vt:lpstr>Chap 12  文件</vt:lpstr>
      <vt:lpstr>本章要点</vt:lpstr>
      <vt:lpstr>12.1  素数文件</vt:lpstr>
      <vt:lpstr>例12-1 源程序</vt:lpstr>
      <vt:lpstr>12.1.2 文件的概念</vt:lpstr>
      <vt:lpstr>12.1.3 文本文件和二进制文件 </vt:lpstr>
      <vt:lpstr>12.1.4 缓冲文件系统</vt:lpstr>
      <vt:lpstr>12.1.4 缓冲文件系统</vt:lpstr>
      <vt:lpstr>缓冲文件与文件类型指针</vt:lpstr>
      <vt:lpstr>12.1.5 文件结构与文件类型指针</vt:lpstr>
      <vt:lpstr>PowerPoint 演示文稿</vt:lpstr>
      <vt:lpstr>自定义类型（typedef）的使用方法</vt:lpstr>
      <vt:lpstr>2.文件类型指针</vt:lpstr>
      <vt:lpstr>12.1.6文件控制块FCB </vt:lpstr>
      <vt:lpstr>12.1.7 文件处理步骤</vt:lpstr>
      <vt:lpstr>12.2 用户信息加密和校验 </vt:lpstr>
      <vt:lpstr>12.2.1 程序解析</vt:lpstr>
      <vt:lpstr>12.2.2  打开文件和关闭文件</vt:lpstr>
      <vt:lpstr>文件打开方式</vt:lpstr>
      <vt:lpstr>文件读写与打开方式</vt:lpstr>
      <vt:lpstr>关闭文件</vt:lpstr>
      <vt:lpstr>12.2.3  文件读写</vt:lpstr>
      <vt:lpstr>例12-3 源程序</vt:lpstr>
      <vt:lpstr>打开多个文件</vt:lpstr>
      <vt:lpstr>文件读写函数</vt:lpstr>
      <vt:lpstr>1. 字符读写函数fgetc和fputc</vt:lpstr>
      <vt:lpstr>2. 字符串方式读写函数fgets和fputs</vt:lpstr>
      <vt:lpstr>字符串方式读写函数fgets和fputs</vt:lpstr>
      <vt:lpstr>例12-4</vt:lpstr>
      <vt:lpstr>例12-4源程序</vt:lpstr>
      <vt:lpstr>3.  格式化文件读写fscanf和fprintf</vt:lpstr>
      <vt:lpstr>4. 数据块读写fread()和fwrite()</vt:lpstr>
      <vt:lpstr>12.2.4  其他相关函数</vt:lpstr>
      <vt:lpstr>其他相关函数</vt:lpstr>
      <vt:lpstr>其他相关函数</vt:lpstr>
      <vt:lpstr>12.3  文件综合应用：个人资金账户管理</vt:lpstr>
      <vt:lpstr>12.3.2  个人资金帐户的管理</vt:lpstr>
      <vt:lpstr>cashbox.dat文件的部分内容</vt:lpstr>
      <vt:lpstr>本章总结</vt:lpstr>
    </vt:vector>
  </TitlesOfParts>
  <Manager/>
  <Company> 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chap2_用C语言编写程序1-3</dc:title>
  <dc:creator>yanhui</dc:creator>
  <cp:lastModifiedBy>zhangyong</cp:lastModifiedBy>
  <cp:revision>1009</cp:revision>
  <dcterms:created xsi:type="dcterms:W3CDTF">1998-02-11T08:33:02Z</dcterms:created>
  <dcterms:modified xsi:type="dcterms:W3CDTF">2020-11-01T03:01:40Z</dcterms:modified>
</cp:coreProperties>
</file>