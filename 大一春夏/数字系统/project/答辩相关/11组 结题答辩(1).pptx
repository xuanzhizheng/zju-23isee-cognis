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68" r:id="rId5"/>
    <p:sldId id="362" r:id="rId6"/>
    <p:sldId id="259" r:id="rId7"/>
    <p:sldId id="363" r:id="rId8"/>
    <p:sldId id="364" r:id="rId9"/>
    <p:sldId id="365" r:id="rId10"/>
    <p:sldId id="367" r:id="rId11"/>
    <p:sldId id="275" r:id="rId12"/>
    <p:sldId id="368" r:id="rId13"/>
    <p:sldId id="375" r:id="rId14"/>
    <p:sldId id="376" r:id="rId15"/>
    <p:sldId id="290" r:id="rId16"/>
    <p:sldId id="377" r:id="rId17"/>
    <p:sldId id="378" r:id="rId18"/>
    <p:sldId id="369" r:id="rId19"/>
    <p:sldId id="379" r:id="rId20"/>
    <p:sldId id="380" r:id="rId21"/>
    <p:sldId id="381" r:id="rId22"/>
    <p:sldId id="370" r:id="rId23"/>
    <p:sldId id="313" r:id="rId24"/>
    <p:sldId id="382" r:id="rId25"/>
    <p:sldId id="384" r:id="rId26"/>
    <p:sldId id="314" r:id="rId27"/>
    <p:sldId id="385" r:id="rId28"/>
    <p:sldId id="371" r:id="rId29"/>
    <p:sldId id="263" r:id="rId30"/>
    <p:sldId id="383" r:id="rId31"/>
    <p:sldId id="374" r:id="rId32"/>
    <p:sldId id="291" r:id="rId33"/>
    <p:sldId id="273" r:id="rId34"/>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6"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一恒 王" initials="一王"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82" autoAdjust="0"/>
    <p:restoredTop sz="96329" autoAdjust="0"/>
  </p:normalViewPr>
  <p:slideViewPr>
    <p:cSldViewPr snapToGrid="0" showGuides="1">
      <p:cViewPr varScale="1">
        <p:scale>
          <a:sx n="109" d="100"/>
          <a:sy n="109" d="100"/>
        </p:scale>
        <p:origin x="192" y="76"/>
      </p:cViewPr>
      <p:guideLst>
        <p:guide orient="horz" pos="2146"/>
        <p:guide pos="384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5.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0CF78D9-B71B-483D-AADA-EE9E7AE9F39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0EA1E5C-2E81-4D80-8FE8-8D47D1A1AF0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7" descr="C:\Documents and Settings\sqz\桌面\图片1.jpg"/>
          <p:cNvPicPr>
            <a:picLocks noChangeAspect="1" noChangeArrowheads="1"/>
          </p:cNvPicPr>
          <p:nvPr userDrawn="1"/>
        </p:nvPicPr>
        <p:blipFill>
          <a:blip r:embed="rId12">
            <a:extLst>
              <a:ext uri="{28A0092B-C50C-407E-A947-70E740481C1C}">
                <a14:useLocalDpi xmlns:a14="http://schemas.microsoft.com/office/drawing/2010/main" val="0"/>
              </a:ext>
            </a:extLst>
          </a:blip>
          <a:srcRect l="397" t="671" r="217" b="51665"/>
          <a:stretch>
            <a:fillRect/>
          </a:stretch>
        </p:blipFill>
        <p:spPr bwMode="auto">
          <a:xfrm>
            <a:off x="0" y="0"/>
            <a:ext cx="9142413"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081337" y="6280150"/>
            <a:ext cx="911066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microsoft.com/office/2007/relationships/media" Target="../media/media1.mp4"/><Relationship Id="rId1" Type="http://schemas.openxmlformats.org/officeDocument/2006/relationships/video" Target="../media/media1.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7.jpe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30200" y="850265"/>
            <a:ext cx="11598910" cy="2254885"/>
          </a:xfrm>
          <a:prstGeom prst="rect">
            <a:avLst/>
          </a:prstGeom>
          <a:ln>
            <a:noFill/>
          </a:ln>
        </p:spPr>
        <p:txBody>
          <a:bodyPr lIns="0" anchor="b"/>
          <a:lstStyle>
            <a:lvl1pPr algn="l" defTabSz="914400" rtl="0" eaLnBrk="1" latinLnBrk="0" hangingPunct="1">
              <a:lnSpc>
                <a:spcPts val="5800"/>
              </a:lnSpc>
              <a:spcBef>
                <a:spcPct val="0"/>
              </a:spcBef>
              <a:buNone/>
              <a:defRPr sz="6000" b="1" i="0" kern="1200" cap="all" baseline="0">
                <a:solidFill>
                  <a:srgbClr val="005BBB"/>
                </a:solidFill>
                <a:latin typeface="Arial" panose="020B0604020202020204" pitchFamily="34" charset="0"/>
                <a:ea typeface="Arial" panose="020B0604020202020204" pitchFamily="34" charset="0"/>
                <a:cs typeface="Arial" panose="020B0604020202020204" pitchFamily="34" charset="0"/>
              </a:defRPr>
            </a:lvl1pPr>
          </a:lstStyle>
          <a:p>
            <a:pPr algn="ctr">
              <a:defRPr/>
            </a:pPr>
            <a:r>
              <a:rPr lang="zh-CN" altLang="en-US" sz="3600" cap="none" dirty="0">
                <a:solidFill>
                  <a:schemeClr val="accent1">
                    <a:lumMod val="75000"/>
                  </a:schemeClr>
                </a:solidFill>
                <a:latin typeface="微软雅黑" panose="020B0503020204020204" charset="-122"/>
                <a:ea typeface="微软雅黑" panose="020B0503020204020204" charset="-122"/>
                <a:cs typeface="+mn-cs"/>
              </a:rPr>
              <a:t> </a:t>
            </a:r>
            <a:endParaRPr lang="zh-CN" altLang="en-US" sz="3600" cap="none" dirty="0">
              <a:solidFill>
                <a:schemeClr val="accent1">
                  <a:lumMod val="75000"/>
                </a:schemeClr>
              </a:solidFill>
              <a:latin typeface="微软雅黑" panose="020B0503020204020204" charset="-122"/>
              <a:ea typeface="微软雅黑" panose="020B0503020204020204" charset="-122"/>
              <a:cs typeface="+mn-cs"/>
            </a:endParaRPr>
          </a:p>
          <a:p>
            <a:pPr algn="ctr"/>
            <a:r>
              <a:rPr lang="en-US" altLang="zh-CN" sz="5400" kern="100" dirty="0">
                <a:effectLst/>
                <a:latin typeface="微软雅黑" panose="020B0503020204020204" charset="-122"/>
                <a:ea typeface="微软雅黑" panose="020B0503020204020204" charset="-122"/>
                <a:cs typeface="Times New Roman" panose="02020603050405020304" pitchFamily="18" charset="0"/>
              </a:rPr>
              <a:t> </a:t>
            </a:r>
            <a:r>
              <a:rPr lang="zh-CN" altLang="en-US" sz="5400" kern="100" dirty="0">
                <a:effectLst/>
                <a:latin typeface="微软雅黑" panose="020B0503020204020204" charset="-122"/>
                <a:ea typeface="微软雅黑" panose="020B0503020204020204" charset="-122"/>
                <a:cs typeface="Times New Roman" panose="02020603050405020304" pitchFamily="18" charset="0"/>
              </a:rPr>
              <a:t>老年人随心手套</a:t>
            </a:r>
            <a:endParaRPr lang="en-US" altLang="zh-CN" sz="5400" kern="100" dirty="0">
              <a:effectLst/>
              <a:latin typeface="微软雅黑" panose="020B0503020204020204" charset="-122"/>
              <a:ea typeface="微软雅黑" panose="020B0503020204020204" charset="-122"/>
              <a:cs typeface="Times New Roman" panose="02020603050405020304" pitchFamily="18" charset="0"/>
            </a:endParaRPr>
          </a:p>
          <a:p>
            <a:pPr algn="just"/>
            <a:r>
              <a:rPr lang="zh-CN" altLang="en-US" sz="3200" kern="100" dirty="0">
                <a:effectLst/>
                <a:latin typeface="微软雅黑" panose="020B0503020204020204" charset="-122"/>
                <a:ea typeface="微软雅黑" panose="020B0503020204020204" charset="-122"/>
                <a:cs typeface="Times New Roman" panose="02020603050405020304" pitchFamily="18" charset="0"/>
              </a:rPr>
              <a:t>                                                                       </a:t>
            </a:r>
            <a:r>
              <a:rPr lang="en-US" altLang="zh-CN" sz="32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3200" kern="100" dirty="0">
                <a:effectLst/>
                <a:latin typeface="微软雅黑" panose="020B0503020204020204" charset="-122"/>
                <a:ea typeface="微软雅黑" panose="020B0503020204020204" charset="-122"/>
                <a:cs typeface="Times New Roman" panose="02020603050405020304" pitchFamily="18" charset="0"/>
              </a:rPr>
              <a:t>结题答辩</a:t>
            </a:r>
            <a:endParaRPr lang="zh-CN" altLang="zh-CN" sz="32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3075" name="Text Placeholder 1"/>
          <p:cNvSpPr txBox="1"/>
          <p:nvPr/>
        </p:nvSpPr>
        <p:spPr bwMode="auto">
          <a:xfrm>
            <a:off x="4221196" y="3645024"/>
            <a:ext cx="3816350" cy="9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FontTx/>
              <a:buNone/>
            </a:pPr>
            <a:r>
              <a:rPr lang="zh-CN" altLang="en-US" sz="2400" b="1" dirty="0">
                <a:latin typeface="微软雅黑" panose="020B0503020204020204" charset="-122"/>
                <a:ea typeface="微软雅黑" panose="020B0503020204020204" charset="-122"/>
              </a:rPr>
              <a:t>汇报人：第十一组</a:t>
            </a:r>
            <a:endParaRPr lang="zh-CN" altLang="en-US" sz="24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en-US" altLang="zh-CN" sz="1800" b="1" dirty="0">
                <a:latin typeface="微软雅黑" panose="020B0503020204020204" charset="-122"/>
                <a:ea typeface="微软雅黑" panose="020B0503020204020204" charset="-122"/>
              </a:rPr>
              <a:t>2024.6.17</a:t>
            </a:r>
            <a:endParaRPr lang="en-US" altLang="zh-CN" sz="18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02053" y="801359"/>
            <a:ext cx="1826141" cy="584775"/>
          </a:xfrm>
          <a:prstGeom prst="rect">
            <a:avLst/>
          </a:prstGeom>
        </p:spPr>
        <p:txBody>
          <a:bodyPr wrap="non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3200" b="1" dirty="0">
                <a:solidFill>
                  <a:srgbClr val="000000">
                    <a:lumMod val="75000"/>
                    <a:lumOff val="25000"/>
                  </a:srgbClr>
                </a:solidFill>
                <a:latin typeface="Arial" panose="020B0604020202020204"/>
                <a:ea typeface="微软雅黑" panose="020B0503020204020204" charset="-122"/>
              </a:rPr>
              <a:t>设计理念</a:t>
            </a:r>
            <a:endParaRPr kumimoji="0" lang="zh-CN" altLang="en-US" sz="32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endParaRPr>
          </a:p>
        </p:txBody>
      </p:sp>
      <p:cxnSp>
        <p:nvCxnSpPr>
          <p:cNvPr id="5" name="直接连接符 4"/>
          <p:cNvCxnSpPr/>
          <p:nvPr/>
        </p:nvCxnSpPr>
        <p:spPr>
          <a:xfrm>
            <a:off x="3466705" y="1617761"/>
            <a:ext cx="777947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950235" y="655064"/>
            <a:ext cx="870751"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rPr>
              <a:t>01</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endParaRPr>
          </a:p>
        </p:txBody>
      </p:sp>
      <p:sp>
        <p:nvSpPr>
          <p:cNvPr id="7" name="矩形 6"/>
          <p:cNvSpPr/>
          <p:nvPr/>
        </p:nvSpPr>
        <p:spPr>
          <a:xfrm>
            <a:off x="2950235" y="1749461"/>
            <a:ext cx="870751"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rPr>
              <a:t>02</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endParaRPr>
          </a:p>
        </p:txBody>
      </p:sp>
      <p:sp>
        <p:nvSpPr>
          <p:cNvPr id="9" name="矩形 8"/>
          <p:cNvSpPr/>
          <p:nvPr/>
        </p:nvSpPr>
        <p:spPr>
          <a:xfrm>
            <a:off x="2950235" y="2843858"/>
            <a:ext cx="870751"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rPr>
              <a:t>03</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endParaRPr>
          </a:p>
        </p:txBody>
      </p:sp>
      <p:sp>
        <p:nvSpPr>
          <p:cNvPr id="11" name="矩形 10"/>
          <p:cNvSpPr/>
          <p:nvPr/>
        </p:nvSpPr>
        <p:spPr>
          <a:xfrm>
            <a:off x="2950235" y="3938255"/>
            <a:ext cx="870751"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rPr>
              <a:t>04</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3466705" y="2712158"/>
            <a:ext cx="777947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466705" y="3806555"/>
            <a:ext cx="7696283"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4002053" y="4061363"/>
            <a:ext cx="1826141" cy="584775"/>
          </a:xfrm>
          <a:prstGeom prst="rect">
            <a:avLst/>
          </a:prstGeom>
        </p:spPr>
        <p:txBody>
          <a:bodyPr wrap="non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3200" b="1" dirty="0">
                <a:solidFill>
                  <a:srgbClr val="000000">
                    <a:lumMod val="75000"/>
                    <a:lumOff val="25000"/>
                  </a:srgbClr>
                </a:solidFill>
                <a:latin typeface="Arial" panose="020B0604020202020204"/>
                <a:ea typeface="微软雅黑" panose="020B0503020204020204" charset="-122"/>
              </a:rPr>
              <a:t>进度介绍</a:t>
            </a:r>
            <a:endParaRPr kumimoji="0" lang="zh-CN" altLang="en-US" sz="32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endParaRPr>
          </a:p>
        </p:txBody>
      </p:sp>
      <p:sp>
        <p:nvSpPr>
          <p:cNvPr id="36" name="矩形 35"/>
          <p:cNvSpPr/>
          <p:nvPr/>
        </p:nvSpPr>
        <p:spPr>
          <a:xfrm>
            <a:off x="4002058" y="2966967"/>
            <a:ext cx="1826141" cy="584775"/>
          </a:xfrm>
          <a:prstGeom prst="rect">
            <a:avLst/>
          </a:prstGeom>
        </p:spPr>
        <p:txBody>
          <a:bodyPr wrap="non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3200" b="1" dirty="0">
                <a:solidFill>
                  <a:srgbClr val="000000">
                    <a:lumMod val="75000"/>
                    <a:lumOff val="25000"/>
                  </a:srgbClr>
                </a:solidFill>
                <a:latin typeface="Arial" panose="020B0604020202020204"/>
                <a:ea typeface="微软雅黑" panose="020B0503020204020204" charset="-122"/>
              </a:rPr>
              <a:t>模块功能</a:t>
            </a:r>
            <a:endParaRPr kumimoji="0" lang="zh-CN" altLang="en-US" sz="32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endParaRPr>
          </a:p>
        </p:txBody>
      </p:sp>
      <p:sp>
        <p:nvSpPr>
          <p:cNvPr id="37" name="矩形 36"/>
          <p:cNvSpPr/>
          <p:nvPr/>
        </p:nvSpPr>
        <p:spPr>
          <a:xfrm>
            <a:off x="4002053" y="1849389"/>
            <a:ext cx="1826141" cy="584775"/>
          </a:xfrm>
          <a:prstGeom prst="rect">
            <a:avLst/>
          </a:prstGeom>
        </p:spPr>
        <p:txBody>
          <a:bodyPr wrap="non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rPr>
              <a:t>项目展示</a:t>
            </a:r>
            <a:endParaRPr kumimoji="0" lang="zh-CN" altLang="en-US" sz="32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endParaRPr>
          </a:p>
        </p:txBody>
      </p:sp>
      <p:sp>
        <p:nvSpPr>
          <p:cNvPr id="39" name="矩形 38"/>
          <p:cNvSpPr/>
          <p:nvPr/>
        </p:nvSpPr>
        <p:spPr>
          <a:xfrm>
            <a:off x="2950235" y="5032650"/>
            <a:ext cx="870751"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a:ln>
                  <a:noFill/>
                </a:ln>
                <a:solidFill>
                  <a:schemeClr val="accent1">
                    <a:lumMod val="75000"/>
                  </a:schemeClr>
                </a:solidFill>
                <a:effectLst/>
                <a:uLnTx/>
                <a:uFillTx/>
                <a:latin typeface="Arial" panose="020B0604020202020204"/>
                <a:ea typeface="微软雅黑" panose="020B0503020204020204" charset="-122"/>
                <a:cs typeface="+mn-cs"/>
              </a:rPr>
              <a:t>05</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charset="-122"/>
              <a:cs typeface="+mn-cs"/>
            </a:endParaRPr>
          </a:p>
        </p:txBody>
      </p:sp>
      <p:cxnSp>
        <p:nvCxnSpPr>
          <p:cNvPr id="40" name="直接连接符 39"/>
          <p:cNvCxnSpPr/>
          <p:nvPr/>
        </p:nvCxnSpPr>
        <p:spPr>
          <a:xfrm>
            <a:off x="3466705" y="4900952"/>
            <a:ext cx="7696283"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4002053" y="5155761"/>
            <a:ext cx="1826141" cy="584775"/>
          </a:xfrm>
          <a:prstGeom prst="rect">
            <a:avLst/>
          </a:prstGeom>
        </p:spPr>
        <p:txBody>
          <a:bodyPr wrap="non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rPr>
              <a:t>成员分工</a:t>
            </a:r>
            <a:endParaRPr kumimoji="0" lang="zh-CN" altLang="en-US" sz="32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endParaRPr>
          </a:p>
        </p:txBody>
      </p:sp>
      <p:sp>
        <p:nvSpPr>
          <p:cNvPr id="2" name="文本框 1"/>
          <p:cNvSpPr txBox="1"/>
          <p:nvPr/>
        </p:nvSpPr>
        <p:spPr>
          <a:xfrm>
            <a:off x="803929" y="2119402"/>
            <a:ext cx="1107996" cy="2065674"/>
          </a:xfrm>
          <a:prstGeom prst="rect">
            <a:avLst/>
          </a:prstGeom>
          <a:noFill/>
        </p:spPr>
        <p:txBody>
          <a:bodyPr vert="eaVert" wrap="square" rtlCol="0">
            <a:spAutoFit/>
          </a:bodyPr>
          <a:lstStyle/>
          <a:p>
            <a:pPr algn="dist"/>
            <a:r>
              <a:rPr lang="zh-CN" altLang="en-US" sz="6000" b="1">
                <a:solidFill>
                  <a:schemeClr val="accent1">
                    <a:lumMod val="75000"/>
                  </a:schemeClr>
                </a:solidFill>
              </a:rPr>
              <a:t>目录</a:t>
            </a:r>
            <a:endParaRPr lang="zh-CN" altLang="en-US" sz="6000" b="1">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42990" y="2012626"/>
            <a:ext cx="906017" cy="830997"/>
          </a:xfrm>
          <a:prstGeom prst="rect">
            <a:avLst/>
          </a:prstGeom>
          <a:noFill/>
        </p:spPr>
        <p:txBody>
          <a:bodyPr wrap="none" rtlCol="0">
            <a:spAutoFit/>
          </a:bodyPr>
          <a:lstStyle/>
          <a:p>
            <a:r>
              <a:rPr lang="en-US" altLang="zh-CN" sz="4800" dirty="0">
                <a:solidFill>
                  <a:schemeClr val="tx1">
                    <a:lumMod val="75000"/>
                    <a:lumOff val="25000"/>
                  </a:schemeClr>
                </a:solidFill>
                <a:latin typeface="微软雅黑" panose="020B0503020204020204" charset="-122"/>
                <a:ea typeface="微软雅黑" panose="020B0503020204020204" charset="-122"/>
              </a:rPr>
              <a:t>01</a:t>
            </a:r>
            <a:endParaRPr lang="zh-CN" altLang="en-US" sz="4800" dirty="0">
              <a:solidFill>
                <a:schemeClr val="tx1">
                  <a:lumMod val="75000"/>
                  <a:lumOff val="25000"/>
                </a:schemeClr>
              </a:solidFill>
              <a:latin typeface="微软雅黑" panose="020B0503020204020204" charset="-122"/>
              <a:ea typeface="微软雅黑" panose="020B0503020204020204" charset="-122"/>
            </a:endParaRPr>
          </a:p>
        </p:txBody>
      </p:sp>
      <p:sp>
        <p:nvSpPr>
          <p:cNvPr id="4" name="文本框 3"/>
          <p:cNvSpPr txBox="1"/>
          <p:nvPr/>
        </p:nvSpPr>
        <p:spPr>
          <a:xfrm>
            <a:off x="5182930" y="3661242"/>
            <a:ext cx="1826141" cy="584775"/>
          </a:xfrm>
          <a:prstGeom prst="rect">
            <a:avLst/>
          </a:prstGeom>
          <a:noFill/>
        </p:spPr>
        <p:txBody>
          <a:bodyPr wrap="none" rtlCol="0">
            <a:spAutoFit/>
          </a:bodyPr>
          <a:lstStyle/>
          <a:p>
            <a:pPr algn="ctr"/>
            <a:r>
              <a:rPr lang="zh-CN" altLang="en-US" sz="3200" b="1" dirty="0">
                <a:solidFill>
                  <a:schemeClr val="tx1">
                    <a:lumMod val="75000"/>
                    <a:lumOff val="25000"/>
                  </a:schemeClr>
                </a:solidFill>
                <a:latin typeface="微软雅黑" panose="020B0503020204020204" charset="-122"/>
                <a:ea typeface="微软雅黑" panose="020B0503020204020204" charset="-122"/>
              </a:rPr>
              <a:t>设计理念</a:t>
            </a:r>
            <a:endParaRPr lang="zh-CN" altLang="en-US" sz="32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设计理念</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a:xfrm>
            <a:off x="4952365" y="5345430"/>
            <a:ext cx="4160520" cy="379095"/>
          </a:xfrm>
          <a:prstGeom prst="rect">
            <a:avLst/>
          </a:prstGeom>
          <a:noFill/>
        </p:spPr>
        <p:txBody>
          <a:bodyPr wrap="square" rtlCol="0">
            <a:noAutofit/>
          </a:bodyPr>
          <a:lstStyle/>
          <a:p>
            <a:endParaRPr lang="zh-CN" altLang="en-US" sz="1600" dirty="0"/>
          </a:p>
        </p:txBody>
      </p:sp>
      <p:sp>
        <p:nvSpPr>
          <p:cNvPr id="9" name="矩形 27"/>
          <p:cNvSpPr>
            <a:spLocks noChangeArrowheads="1"/>
          </p:cNvSpPr>
          <p:nvPr>
            <p:custDataLst>
              <p:tags r:id="rId1"/>
            </p:custDataLst>
          </p:nvPr>
        </p:nvSpPr>
        <p:spPr bwMode="auto">
          <a:xfrm>
            <a:off x="1072515" y="1388745"/>
            <a:ext cx="5602605" cy="42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lang="zh-CN" altLang="en-US" sz="2000" b="1" dirty="0">
                <a:latin typeface="微软雅黑" panose="020B0503020204020204" charset="-122"/>
                <a:ea typeface="微软雅黑" panose="020B0503020204020204" charset="-122"/>
                <a:cs typeface="Times New Roman" panose="02020603050405020304" pitchFamily="18" charset="0"/>
              </a:rPr>
              <a:t>背景介绍</a:t>
            </a:r>
            <a:endParaRPr lang="zh-CN" altLang="en-US" sz="1700" b="1" dirty="0">
              <a:latin typeface="微软雅黑" panose="020B0503020204020204" charset="-122"/>
              <a:ea typeface="微软雅黑" panose="020B0503020204020204" charset="-122"/>
              <a:cs typeface="Times New Roman" panose="02020603050405020304" pitchFamily="18" charset="0"/>
            </a:endParaRPr>
          </a:p>
          <a:p>
            <a:pPr>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a:p>
            <a:pPr indent="325120" algn="just">
              <a:lnSpc>
                <a:spcPct val="115000"/>
              </a:lnSpc>
            </a:pPr>
            <a:r>
              <a:rPr lang="zh-CN" altLang="zh-CN" sz="1800" kern="100" spc="40" dirty="0">
                <a:solidFill>
                  <a:srgbClr val="060607"/>
                </a:solidFill>
                <a:effectLst/>
                <a:highlight>
                  <a:srgbClr val="FFFFFF"/>
                </a:highlight>
                <a:latin typeface="微软雅黑" panose="020B0503020204020204" charset="-122"/>
                <a:ea typeface="微软雅黑" panose="020B0503020204020204" charset="-122"/>
                <a:cs typeface="Times New Roman" panose="02020603050405020304" pitchFamily="18" charset="0"/>
              </a:rPr>
              <a:t>随着科技的不断进步，特别是计算机软硬件和互联网技术的高速发展</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人们期望的万物互联的构想正在一步步成为现实，各种各样的智能家居已经极大的方便了人们的日常生活。与此同时，诸如智能手环、智能眼镜等可穿戴式智能设备的形态开始多样化，逐渐在工业、医疗健康、军事、教育、娱乐等领域表现出广阔的应用潜力。特别的，随着全球人口老龄化的加剧，</a:t>
            </a:r>
            <a:r>
              <a:rPr lang="zh-CN" altLang="zh-CN" sz="1800" kern="100" spc="40" dirty="0">
                <a:solidFill>
                  <a:srgbClr val="060607"/>
                </a:solidFill>
                <a:effectLst/>
                <a:highlight>
                  <a:srgbClr val="FFFFFF"/>
                </a:highlight>
                <a:latin typeface="微软雅黑" panose="020B0503020204020204" charset="-122"/>
                <a:ea typeface="微软雅黑" panose="020B0503020204020204" charset="-122"/>
                <a:cs typeface="Times New Roman" panose="02020603050405020304" pitchFamily="18" charset="0"/>
              </a:rPr>
              <a:t>智慧养老成为了一个越来越重要的议题，而可穿戴设备在智慧养老领域的应用背景是一个充满潜力和挑战的领域。</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98389" y="1755933"/>
            <a:ext cx="5175073" cy="37790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设计理念</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a:xfrm>
            <a:off x="4952365" y="5345430"/>
            <a:ext cx="4160520" cy="379095"/>
          </a:xfrm>
          <a:prstGeom prst="rect">
            <a:avLst/>
          </a:prstGeom>
          <a:noFill/>
        </p:spPr>
        <p:txBody>
          <a:bodyPr wrap="square" rtlCol="0">
            <a:noAutofit/>
          </a:bodyPr>
          <a:lstStyle/>
          <a:p>
            <a:endParaRPr lang="zh-CN" altLang="en-US" sz="1600" dirty="0"/>
          </a:p>
        </p:txBody>
      </p:sp>
      <p:sp>
        <p:nvSpPr>
          <p:cNvPr id="9" name="矩形 27"/>
          <p:cNvSpPr>
            <a:spLocks noChangeArrowheads="1"/>
          </p:cNvSpPr>
          <p:nvPr>
            <p:custDataLst>
              <p:tags r:id="rId1"/>
            </p:custDataLst>
          </p:nvPr>
        </p:nvSpPr>
        <p:spPr bwMode="auto">
          <a:xfrm>
            <a:off x="1072515" y="1388745"/>
            <a:ext cx="5602605" cy="42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1" y="1265828"/>
            <a:ext cx="4900246" cy="4900246"/>
          </a:xfrm>
          <a:prstGeom prst="rect">
            <a:avLst/>
          </a:prstGeom>
        </p:spPr>
      </p:pic>
      <p:sp>
        <p:nvSpPr>
          <p:cNvPr id="13" name="文本框 12"/>
          <p:cNvSpPr txBox="1"/>
          <p:nvPr/>
        </p:nvSpPr>
        <p:spPr>
          <a:xfrm>
            <a:off x="6013939" y="1487977"/>
            <a:ext cx="5410199" cy="4573175"/>
          </a:xfrm>
          <a:prstGeom prst="rect">
            <a:avLst/>
          </a:prstGeom>
          <a:noFill/>
        </p:spPr>
        <p:txBody>
          <a:bodyPr wrap="square">
            <a:spAutoFit/>
          </a:bodyPr>
          <a:lstStyle/>
          <a:p>
            <a:pPr>
              <a:lnSpc>
                <a:spcPct val="150000"/>
              </a:lnSpc>
              <a:spcBef>
                <a:spcPct val="0"/>
              </a:spcBef>
              <a:buFontTx/>
              <a:buNone/>
              <a:defRPr/>
            </a:pPr>
            <a:r>
              <a:rPr lang="zh-CN" altLang="en-US" sz="1600" dirty="0">
                <a:solidFill>
                  <a:srgbClr val="005BBB"/>
                </a:solidFill>
              </a:rPr>
              <a:t>■</a:t>
            </a:r>
            <a:r>
              <a:rPr lang="zh-CN" altLang="en-US" sz="1600" b="1" dirty="0">
                <a:latin typeface="微软雅黑" panose="020B0503020204020204" charset="-122"/>
                <a:ea typeface="微软雅黑" panose="020B0503020204020204" charset="-122"/>
                <a:cs typeface="Times New Roman" panose="02020603050405020304" pitchFamily="18" charset="0"/>
              </a:rPr>
              <a:t>  </a:t>
            </a:r>
            <a:r>
              <a:rPr lang="zh-CN" altLang="en-US" sz="1800" b="1" dirty="0">
                <a:latin typeface="微软雅黑" panose="020B0503020204020204" charset="-122"/>
                <a:ea typeface="微软雅黑" panose="020B0503020204020204" charset="-122"/>
                <a:cs typeface="Times New Roman" panose="02020603050405020304" pitchFamily="18" charset="0"/>
              </a:rPr>
              <a:t>设计思路</a:t>
            </a:r>
            <a:endParaRPr lang="en-US" altLang="zh-CN" sz="18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defRPr/>
            </a:pPr>
            <a:r>
              <a:rPr lang="en-US" altLang="zh-CN" sz="1800" kern="100" spc="40" dirty="0">
                <a:solidFill>
                  <a:srgbClr val="060607"/>
                </a:solidFill>
                <a:effectLst/>
                <a:highlight>
                  <a:srgbClr val="FFFFFF"/>
                </a:highlight>
                <a:latin typeface="等线" panose="02010600030101010101" pitchFamily="2" charset="-122"/>
                <a:ea typeface="仿宋" panose="02010609060101010101" pitchFamily="49" charset="-122"/>
                <a:cs typeface="Times New Roman" panose="02020603050405020304" pitchFamily="18" charset="0"/>
              </a:rPr>
              <a:t>      </a:t>
            </a:r>
            <a:r>
              <a:rPr lang="zh-CN" altLang="zh-CN" sz="1800" kern="100" spc="40" dirty="0">
                <a:solidFill>
                  <a:srgbClr val="060607"/>
                </a:solidFill>
                <a:effectLst/>
                <a:highlight>
                  <a:srgbClr val="FFFFFF"/>
                </a:highlight>
                <a:latin typeface="微软雅黑" panose="020B0503020204020204" charset="-122"/>
                <a:ea typeface="微软雅黑" panose="020B0503020204020204" charset="-122"/>
                <a:cs typeface="Times New Roman" panose="02020603050405020304" pitchFamily="18" charset="0"/>
              </a:rPr>
              <a:t>本设计旨在利用可穿戴智能设备便携性、实时性和个性化的特点，为老年人提供更加安全、舒适和便利的生活环境。我们期望通过</a:t>
            </a:r>
            <a:r>
              <a:rPr lang="en-US" altLang="zh-CN" sz="1800" kern="100" spc="40" dirty="0">
                <a:solidFill>
                  <a:srgbClr val="060607"/>
                </a:solidFill>
                <a:effectLst/>
                <a:highlight>
                  <a:srgbClr val="FFFFFF"/>
                </a:highlight>
                <a:latin typeface="微软雅黑" panose="020B0503020204020204" charset="-122"/>
                <a:ea typeface="微软雅黑" panose="020B0503020204020204" charset="-122"/>
                <a:cs typeface="Times New Roman" panose="02020603050405020304" pitchFamily="18" charset="0"/>
              </a:rPr>
              <a:t>Ego1FPGA</a:t>
            </a:r>
            <a:r>
              <a:rPr lang="zh-CN" altLang="zh-CN" sz="1800" kern="100" spc="40" dirty="0">
                <a:solidFill>
                  <a:srgbClr val="060607"/>
                </a:solidFill>
                <a:effectLst/>
                <a:highlight>
                  <a:srgbClr val="FFFFFF"/>
                </a:highlight>
                <a:latin typeface="微软雅黑" panose="020B0503020204020204" charset="-122"/>
                <a:ea typeface="微软雅黑" panose="020B0503020204020204" charset="-122"/>
                <a:cs typeface="Times New Roman" panose="02020603050405020304" pitchFamily="18" charset="0"/>
              </a:rPr>
              <a:t>开发板实现类似于智能遥控的功能，模拟控制各种智能家居。我们的设计在两块开发板上实现，第一块板子起到一个控制器的作用，在接收到操作信号后，其将信号传输到第二块开发板上来实现显示。</a:t>
            </a:r>
            <a:r>
              <a:rPr lang="zh-CN" altLang="en-US" kern="100" spc="40" dirty="0">
                <a:solidFill>
                  <a:srgbClr val="060607"/>
                </a:solidFill>
                <a:highlight>
                  <a:srgbClr val="FFFFFF"/>
                </a:highlight>
                <a:latin typeface="微软雅黑" panose="020B0503020204020204" charset="-122"/>
                <a:ea typeface="微软雅黑" panose="020B0503020204020204" charset="-122"/>
                <a:cs typeface="Times New Roman" panose="02020603050405020304" pitchFamily="18" charset="0"/>
              </a:rPr>
              <a:t>所以</a:t>
            </a:r>
            <a:r>
              <a:rPr lang="zh-CN" altLang="zh-CN" sz="1800" kern="100" spc="40" dirty="0">
                <a:solidFill>
                  <a:srgbClr val="060607"/>
                </a:solidFill>
                <a:effectLst/>
                <a:highlight>
                  <a:srgbClr val="FFFFFF"/>
                </a:highlight>
                <a:latin typeface="微软雅黑" panose="020B0503020204020204" charset="-122"/>
                <a:ea typeface="微软雅黑" panose="020B0503020204020204" charset="-122"/>
                <a:cs typeface="Times New Roman" panose="02020603050405020304" pitchFamily="18" charset="0"/>
              </a:rPr>
              <a:t>我们的设计更偏向于一个可搭载平台，可以通过在第二块开发板上增删模块来实现多功能设计的目的。</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en-US" sz="1600" b="1" dirty="0">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42990" y="2012626"/>
            <a:ext cx="906017" cy="830997"/>
          </a:xfrm>
          <a:prstGeom prst="rect">
            <a:avLst/>
          </a:prstGeom>
          <a:noFill/>
        </p:spPr>
        <p:txBody>
          <a:bodyPr wrap="none" rtlCol="0">
            <a:spAutoFit/>
          </a:bodyPr>
          <a:lstStyle/>
          <a:p>
            <a:r>
              <a:rPr lang="en-US" altLang="zh-CN" sz="4800" dirty="0">
                <a:solidFill>
                  <a:schemeClr val="tx1">
                    <a:lumMod val="75000"/>
                    <a:lumOff val="25000"/>
                  </a:schemeClr>
                </a:solidFill>
                <a:latin typeface="微软雅黑" panose="020B0503020204020204" charset="-122"/>
                <a:ea typeface="微软雅黑" panose="020B0503020204020204" charset="-122"/>
              </a:rPr>
              <a:t>02</a:t>
            </a:r>
            <a:endParaRPr lang="zh-CN" altLang="en-US" sz="4800" dirty="0">
              <a:solidFill>
                <a:schemeClr val="tx1">
                  <a:lumMod val="75000"/>
                  <a:lumOff val="25000"/>
                </a:schemeClr>
              </a:solidFill>
              <a:latin typeface="微软雅黑" panose="020B0503020204020204" charset="-122"/>
              <a:ea typeface="微软雅黑" panose="020B0503020204020204" charset="-122"/>
            </a:endParaRPr>
          </a:p>
        </p:txBody>
      </p:sp>
      <p:sp>
        <p:nvSpPr>
          <p:cNvPr id="4" name="文本框 3"/>
          <p:cNvSpPr txBox="1"/>
          <p:nvPr/>
        </p:nvSpPr>
        <p:spPr>
          <a:xfrm>
            <a:off x="5182931" y="3661242"/>
            <a:ext cx="1826141" cy="584775"/>
          </a:xfrm>
          <a:prstGeom prst="rect">
            <a:avLst/>
          </a:prstGeom>
          <a:noFill/>
        </p:spPr>
        <p:txBody>
          <a:bodyPr wrap="none" rtlCol="0">
            <a:spAutoFit/>
          </a:bodyPr>
          <a:lstStyle/>
          <a:p>
            <a:pPr algn="ctr"/>
            <a:r>
              <a:rPr lang="zh-CN" altLang="en-US" sz="3200" b="1" dirty="0">
                <a:solidFill>
                  <a:schemeClr val="tx1">
                    <a:lumMod val="75000"/>
                    <a:lumOff val="25000"/>
                  </a:schemeClr>
                </a:solidFill>
                <a:latin typeface="微软雅黑" panose="020B0503020204020204" charset="-122"/>
                <a:ea typeface="微软雅黑" panose="020B0503020204020204" charset="-122"/>
              </a:rPr>
              <a:t>项目展示</a:t>
            </a:r>
            <a:endParaRPr lang="zh-CN" altLang="en-US" sz="32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84a7802d19643e21cffb86624ea77cbc">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908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621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42990" y="2012626"/>
            <a:ext cx="906017" cy="830997"/>
          </a:xfrm>
          <a:prstGeom prst="rect">
            <a:avLst/>
          </a:prstGeom>
          <a:noFill/>
        </p:spPr>
        <p:txBody>
          <a:bodyPr wrap="none" rtlCol="0">
            <a:spAutoFit/>
          </a:bodyPr>
          <a:lstStyle/>
          <a:p>
            <a:r>
              <a:rPr lang="en-US" altLang="zh-CN" sz="4800" dirty="0">
                <a:solidFill>
                  <a:schemeClr val="tx1">
                    <a:lumMod val="75000"/>
                    <a:lumOff val="25000"/>
                  </a:schemeClr>
                </a:solidFill>
                <a:latin typeface="微软雅黑" panose="020B0503020204020204" charset="-122"/>
                <a:ea typeface="微软雅黑" panose="020B0503020204020204" charset="-122"/>
              </a:rPr>
              <a:t>03</a:t>
            </a:r>
            <a:endParaRPr lang="zh-CN" altLang="en-US" sz="4800" dirty="0">
              <a:solidFill>
                <a:schemeClr val="tx1">
                  <a:lumMod val="75000"/>
                  <a:lumOff val="25000"/>
                </a:schemeClr>
              </a:solidFill>
              <a:latin typeface="微软雅黑" panose="020B0503020204020204" charset="-122"/>
              <a:ea typeface="微软雅黑" panose="020B0503020204020204" charset="-122"/>
            </a:endParaRPr>
          </a:p>
        </p:txBody>
      </p:sp>
      <p:sp>
        <p:nvSpPr>
          <p:cNvPr id="4" name="文本框 3"/>
          <p:cNvSpPr txBox="1"/>
          <p:nvPr/>
        </p:nvSpPr>
        <p:spPr>
          <a:xfrm>
            <a:off x="5182932" y="3661242"/>
            <a:ext cx="1826141" cy="584775"/>
          </a:xfrm>
          <a:prstGeom prst="rect">
            <a:avLst/>
          </a:prstGeom>
          <a:noFill/>
        </p:spPr>
        <p:txBody>
          <a:bodyPr wrap="none" rtlCol="0">
            <a:spAutoFit/>
          </a:bodyPr>
          <a:lstStyle/>
          <a:p>
            <a:pPr algn="ctr"/>
            <a:r>
              <a:rPr lang="zh-CN" altLang="en-US" sz="3200" b="1" dirty="0">
                <a:solidFill>
                  <a:schemeClr val="tx1">
                    <a:lumMod val="75000"/>
                    <a:lumOff val="25000"/>
                  </a:schemeClr>
                </a:solidFill>
                <a:latin typeface="微软雅黑" panose="020B0503020204020204" charset="-122"/>
                <a:ea typeface="微软雅黑" panose="020B0503020204020204" charset="-122"/>
              </a:rPr>
              <a:t>模块功能</a:t>
            </a:r>
            <a:endParaRPr lang="zh-CN" altLang="en-US" sz="32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模块整体介绍</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720823" y="1309810"/>
            <a:ext cx="3966845" cy="42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dirty="0">
              <a:latin typeface="微软雅黑" panose="020B0503020204020204" charset="-122"/>
              <a:ea typeface="微软雅黑" panose="020B0503020204020204" charset="-122"/>
              <a:cs typeface="Times New Roman" panose="02020603050405020304" pitchFamily="18" charset="0"/>
            </a:endParaRPr>
          </a:p>
        </p:txBody>
      </p:sp>
      <p:pic>
        <p:nvPicPr>
          <p:cNvPr id="10" name="图片占位符 9"/>
          <p:cNvPicPr>
            <a:picLocks noGrp="1" noChangeAspect="1"/>
          </p:cNvPicPr>
          <p:nvPr>
            <p:ph type="pic" idx="1"/>
          </p:nvPr>
        </p:nvPicPr>
        <p:blipFill>
          <a:blip r:embed="rId1" cstate="print">
            <a:extLst>
              <a:ext uri="{28A0092B-C50C-407E-A947-70E740481C1C}">
                <a14:useLocalDpi xmlns:a14="http://schemas.microsoft.com/office/drawing/2010/main" val="0"/>
              </a:ext>
            </a:extLst>
          </a:blip>
          <a:srcRect l="2997" r="2997"/>
          <a:stretch>
            <a:fillRect/>
          </a:stretch>
        </p:blipFill>
        <p:spPr>
          <a:xfrm>
            <a:off x="6441826" y="1309810"/>
            <a:ext cx="5472007" cy="4320746"/>
          </a:xfrm>
        </p:spPr>
      </p:pic>
      <p:sp>
        <p:nvSpPr>
          <p:cNvPr id="4" name="文本占位符 3"/>
          <p:cNvSpPr>
            <a:spLocks noGrp="1"/>
          </p:cNvSpPr>
          <p:nvPr>
            <p:ph type="body" sz="half" idx="2"/>
          </p:nvPr>
        </p:nvSpPr>
        <p:spPr>
          <a:xfrm>
            <a:off x="1739197" y="2745280"/>
            <a:ext cx="3932237" cy="3811588"/>
          </a:xfrm>
        </p:spPr>
        <p:txBody>
          <a:bodyPr/>
          <a:lstStyle/>
          <a:p>
            <a:r>
              <a:rPr lang="zh-CN" altLang="en-US" dirty="0">
                <a:latin typeface="微软雅黑" panose="020B0503020204020204" charset="-122"/>
                <a:ea typeface="微软雅黑" panose="020B0503020204020204" charset="-122"/>
              </a:rPr>
              <a:t>整体模块又可以分为以下几个部分：</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一，</a:t>
            </a:r>
            <a:r>
              <a:rPr lang="en-US" altLang="zh-CN" dirty="0">
                <a:latin typeface="微软雅黑" panose="020B0503020204020204" charset="-122"/>
                <a:ea typeface="微软雅黑" panose="020B0503020204020204" charset="-122"/>
              </a:rPr>
              <a:t>Sensor</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ADXL345</a:t>
            </a:r>
            <a:r>
              <a:rPr lang="zh-CN" altLang="en-US"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二，</a:t>
            </a:r>
            <a:r>
              <a:rPr lang="en-US" altLang="zh-CN" dirty="0">
                <a:latin typeface="微软雅黑" panose="020B0503020204020204" charset="-122"/>
                <a:ea typeface="微软雅黑" panose="020B0503020204020204" charset="-122"/>
              </a:rPr>
              <a:t>Transition</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三，</a:t>
            </a:r>
            <a:r>
              <a:rPr lang="en-US" altLang="zh-CN" dirty="0">
                <a:latin typeface="微软雅黑" panose="020B0503020204020204" charset="-122"/>
                <a:ea typeface="微软雅黑" panose="020B0503020204020204" charset="-122"/>
              </a:rPr>
              <a:t>Top-system</a:t>
            </a:r>
            <a:endParaRPr lang="en-US" altLang="zh-CN" dirty="0">
              <a:latin typeface="微软雅黑" panose="020B0503020204020204" charset="-122"/>
              <a:ea typeface="微软雅黑" panose="020B0503020204020204" charset="-122"/>
            </a:endParaRPr>
          </a:p>
          <a:p>
            <a:r>
              <a:rPr lang="en-US" altLang="zh-CN" dirty="0">
                <a:latin typeface="微软雅黑" panose="020B0503020204020204" charset="-122"/>
                <a:ea typeface="微软雅黑" panose="020B0503020204020204" charset="-122"/>
              </a:rPr>
              <a:t>        1</a:t>
            </a:r>
            <a:r>
              <a:rPr lang="zh-CN" altLang="en-US" dirty="0">
                <a:latin typeface="微软雅黑" panose="020B0503020204020204" charset="-122"/>
                <a:ea typeface="微软雅黑" panose="020B0503020204020204" charset="-122"/>
              </a:rPr>
              <a:t>，音乐播放器</a:t>
            </a:r>
            <a:endParaRPr lang="en-US" altLang="zh-CN" dirty="0">
              <a:latin typeface="微软雅黑" panose="020B0503020204020204" charset="-122"/>
              <a:ea typeface="微软雅黑" panose="020B0503020204020204" charset="-122"/>
            </a:endParaRPr>
          </a:p>
          <a:p>
            <a:r>
              <a:rPr lang="en-US" altLang="zh-CN" dirty="0">
                <a:latin typeface="微软雅黑" panose="020B0503020204020204" charset="-122"/>
                <a:ea typeface="微软雅黑" panose="020B0503020204020204" charset="-122"/>
              </a:rPr>
              <a:t>        2</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VGA</a:t>
            </a:r>
            <a:endParaRPr lang="en-US" altLang="zh-CN" dirty="0">
              <a:latin typeface="微软雅黑" panose="020B0503020204020204" charset="-122"/>
              <a:ea typeface="微软雅黑" panose="020B0503020204020204" charset="-122"/>
            </a:endParaRPr>
          </a:p>
          <a:p>
            <a:r>
              <a:rPr lang="en-US" altLang="zh-CN" dirty="0">
                <a:latin typeface="微软雅黑" panose="020B0503020204020204" charset="-122"/>
                <a:ea typeface="微软雅黑" panose="020B0503020204020204" charset="-122"/>
              </a:rPr>
              <a:t>        3</a:t>
            </a:r>
            <a:r>
              <a:rPr lang="zh-CN" altLang="en-US" dirty="0">
                <a:latin typeface="微软雅黑" panose="020B0503020204020204" charset="-122"/>
                <a:ea typeface="微软雅黑" panose="020B0503020204020204" charset="-122"/>
              </a:rPr>
              <a:t>，密码锁</a:t>
            </a:r>
            <a:endParaRPr lang="en-US" altLang="zh-CN" dirty="0">
              <a:latin typeface="微软雅黑" panose="020B0503020204020204" charset="-122"/>
              <a:ea typeface="微软雅黑" panose="020B0503020204020204" charset="-122"/>
            </a:endParaRPr>
          </a:p>
          <a:p>
            <a:r>
              <a:rPr lang="en-US" altLang="zh-CN" dirty="0">
                <a:latin typeface="微软雅黑" panose="020B0503020204020204" charset="-122"/>
                <a:ea typeface="微软雅黑" panose="020B0503020204020204" charset="-122"/>
              </a:rPr>
              <a:t>        4</a:t>
            </a:r>
            <a:r>
              <a:rPr lang="zh-CN" altLang="en-US" dirty="0">
                <a:latin typeface="微软雅黑" panose="020B0503020204020204" charset="-122"/>
                <a:ea typeface="微软雅黑" panose="020B0503020204020204" charset="-122"/>
              </a:rPr>
              <a:t>，温度显示</a:t>
            </a:r>
            <a:endParaRPr lang="en-US" altLang="zh-CN" dirty="0">
              <a:latin typeface="微软雅黑" panose="020B0503020204020204" charset="-122"/>
              <a:ea typeface="微软雅黑" panose="020B0503020204020204" charset="-122"/>
            </a:endParaRPr>
          </a:p>
          <a:p>
            <a:r>
              <a:rPr lang="en-US" altLang="zh-CN" dirty="0">
                <a:latin typeface="微软雅黑" panose="020B0503020204020204" charset="-122"/>
                <a:ea typeface="微软雅黑" panose="020B0503020204020204" charset="-122"/>
              </a:rPr>
              <a:t>        5</a:t>
            </a:r>
            <a:r>
              <a:rPr lang="zh-CN" altLang="en-US" dirty="0">
                <a:latin typeface="微软雅黑" panose="020B0503020204020204" charset="-122"/>
                <a:ea typeface="微软雅黑" panose="020B0503020204020204" charset="-122"/>
              </a:rPr>
              <a:t>，蓝牙亮灯</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TOP-system</a:t>
            </a:r>
            <a:r>
              <a:rPr lang="zh-CN" altLang="en-US" dirty="0">
                <a:latin typeface="微软雅黑" panose="020B0503020204020204" charset="-122"/>
                <a:ea typeface="微软雅黑" panose="020B0503020204020204" charset="-122"/>
              </a:rPr>
              <a:t>模块见右图）</a:t>
            </a:r>
            <a:endParaRPr lang="en-US" altLang="zh-CN" dirty="0">
              <a:latin typeface="微软雅黑" panose="020B0503020204020204" charset="-122"/>
              <a:ea typeface="微软雅黑" panose="020B0503020204020204" charset="-122"/>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305" y="1227444"/>
            <a:ext cx="5681520" cy="1475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3.1</a:t>
              </a:r>
              <a:r>
                <a:rPr lang="zh-CN" altLang="en-US" sz="2400" b="1" dirty="0">
                  <a:latin typeface="微软雅黑" panose="020B0503020204020204" charset="-122"/>
                  <a:ea typeface="微软雅黑" panose="020B0503020204020204" charset="-122"/>
                </a:rPr>
                <a:t>传感器模块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515" y="1388745"/>
            <a:ext cx="3966845" cy="42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 </a:t>
            </a:r>
            <a:r>
              <a:rPr lang="zh-CN" altLang="zh-CN" sz="1800" dirty="0">
                <a:effectLst/>
                <a:ea typeface="宋体" panose="02010600030101010101" pitchFamily="2" charset="-122"/>
                <a:cs typeface="Times New Roman" panose="02020603050405020304" pitchFamily="18" charset="0"/>
              </a:rPr>
              <a:t>我们使用</a:t>
            </a:r>
            <a:r>
              <a:rPr lang="en-US" altLang="zh-CN" sz="1800" dirty="0">
                <a:effectLst/>
                <a:ea typeface="宋体" panose="02010600030101010101" pitchFamily="2" charset="-122"/>
                <a:cs typeface="Times New Roman" panose="02020603050405020304" pitchFamily="18" charset="0"/>
              </a:rPr>
              <a:t>ADXL345</a:t>
            </a:r>
            <a:r>
              <a:rPr lang="zh-CN" altLang="zh-CN" sz="1800" dirty="0">
                <a:effectLst/>
                <a:ea typeface="宋体" panose="02010600030101010101" pitchFamily="2" charset="-122"/>
                <a:cs typeface="Times New Roman" panose="02020603050405020304" pitchFamily="18" charset="0"/>
              </a:rPr>
              <a:t>加速度传感器来设计传感器模块</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2" name="图片 1" descr="ADXL345"/>
          <p:cNvPicPr>
            <a:picLocks noChangeAspect="1"/>
          </p:cNvPicPr>
          <p:nvPr/>
        </p:nvPicPr>
        <p:blipFill>
          <a:blip r:embed="rId1"/>
          <a:stretch>
            <a:fillRect/>
          </a:stretch>
        </p:blipFill>
        <p:spPr>
          <a:xfrm>
            <a:off x="5430971" y="1388745"/>
            <a:ext cx="6222454" cy="3163693"/>
          </a:xfrm>
          <a:prstGeom prst="rect">
            <a:avLst/>
          </a:prstGeom>
        </p:spPr>
      </p:pic>
      <p:pic>
        <p:nvPicPr>
          <p:cNvPr id="3" name="图片 2" descr="260a544e26e91e1900a580c2c1b28f8a"/>
          <p:cNvPicPr>
            <a:picLocks noChangeAspect="1"/>
          </p:cNvPicPr>
          <p:nvPr/>
        </p:nvPicPr>
        <p:blipFill>
          <a:blip r:embed="rId2"/>
          <a:stretch>
            <a:fillRect/>
          </a:stretch>
        </p:blipFill>
        <p:spPr>
          <a:xfrm>
            <a:off x="1125415" y="2203773"/>
            <a:ext cx="4246940" cy="4178587"/>
          </a:xfrm>
          <a:prstGeom prst="rect">
            <a:avLst/>
          </a:prstGeom>
        </p:spPr>
      </p:pic>
      <p:sp>
        <p:nvSpPr>
          <p:cNvPr id="9" name="文本框 8"/>
          <p:cNvSpPr txBox="1"/>
          <p:nvPr/>
        </p:nvSpPr>
        <p:spPr>
          <a:xfrm>
            <a:off x="5949036" y="4552438"/>
            <a:ext cx="4941702" cy="871392"/>
          </a:xfrm>
          <a:prstGeom prst="rect">
            <a:avLst/>
          </a:prstGeom>
          <a:noFill/>
        </p:spPr>
        <p:txBody>
          <a:bodyPr wrap="square">
            <a:spAutoFit/>
          </a:bodyPr>
          <a:lstStyle/>
          <a:p>
            <a:pPr>
              <a:lnSpc>
                <a:spcPct val="150000"/>
              </a:lnSpc>
              <a:spcBef>
                <a:spcPct val="0"/>
              </a:spcBef>
              <a:buFontTx/>
              <a:buNone/>
              <a:defRPr/>
            </a:pPr>
            <a:r>
              <a:rPr lang="zh-CN" altLang="en-US" sz="1800" dirty="0">
                <a:solidFill>
                  <a:srgbClr val="005BBB"/>
                </a:solidFill>
              </a:rPr>
              <a:t>■ </a:t>
            </a:r>
            <a:r>
              <a:rPr lang="zh-CN" altLang="en-US" sz="1800" dirty="0">
                <a:effectLst/>
                <a:ea typeface="宋体" panose="02010600030101010101" pitchFamily="2" charset="-122"/>
                <a:cs typeface="Times New Roman" panose="02020603050405020304" pitchFamily="18" charset="0"/>
              </a:rPr>
              <a:t>该模块整体如图。</a:t>
            </a:r>
            <a:endParaRPr lang="en-US" altLang="zh-CN" sz="1800" dirty="0">
              <a:effectLst/>
              <a:ea typeface="宋体" panose="02010600030101010101" pitchFamily="2" charset="-122"/>
              <a:cs typeface="Times New Roman" panose="02020603050405020304" pitchFamily="18" charset="0"/>
            </a:endParaRPr>
          </a:p>
          <a:p>
            <a:pPr>
              <a:lnSpc>
                <a:spcPct val="150000"/>
              </a:lnSpc>
              <a:spcBef>
                <a:spcPct val="0"/>
              </a:spcBef>
              <a:buFontTx/>
              <a:buNone/>
              <a:defRPr/>
            </a:pP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下面我们将对该模块部分进行解释</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3.1</a:t>
              </a:r>
              <a:r>
                <a:rPr lang="zh-CN" altLang="en-US" sz="2400" b="1" dirty="0">
                  <a:latin typeface="微软雅黑" panose="020B0503020204020204" charset="-122"/>
                  <a:ea typeface="微软雅黑" panose="020B0503020204020204" charset="-122"/>
                </a:rPr>
                <a:t>传感器模块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938826" y="1220328"/>
            <a:ext cx="11147666" cy="42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en-US" altLang="zh-CN" sz="1800" dirty="0">
                <a:solidFill>
                  <a:srgbClr val="005BBB"/>
                </a:solidFill>
              </a:rPr>
              <a:t>IIC</a:t>
            </a:r>
            <a:r>
              <a:rPr lang="zh-CN" altLang="en-US" sz="1800" dirty="0">
                <a:solidFill>
                  <a:srgbClr val="005BBB"/>
                </a:solidFill>
              </a:rPr>
              <a:t>部分</a:t>
            </a:r>
            <a:endParaRPr lang="en-US" altLang="zh-CN" sz="1800" dirty="0">
              <a:solidFill>
                <a:srgbClr val="005BBB"/>
              </a:solidFill>
            </a:endParaRPr>
          </a:p>
          <a:p>
            <a:pPr>
              <a:lnSpc>
                <a:spcPct val="150000"/>
              </a:lnSpc>
              <a:spcBef>
                <a:spcPct val="0"/>
              </a:spcBef>
              <a:buNone/>
              <a:defRPr/>
            </a:pP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该模块</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是</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I²C</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通信接口模块，用于与外部设备（如</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ADXL345</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）进行数据交换。</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Bef>
                <a:spcPct val="0"/>
              </a:spcBef>
              <a:buFontTx/>
              <a:buNone/>
              <a:defRPr/>
            </a:pPr>
            <a:endParaRPr lang="en-US" altLang="zh-CN" sz="1800" kern="100" dirty="0">
              <a:solidFill>
                <a:srgbClr val="005BBB"/>
              </a:solidFill>
              <a:effectLst/>
              <a:latin typeface="微软雅黑" panose="020B0503020204020204" charset="-122"/>
              <a:ea typeface="微软雅黑" panose="020B0503020204020204" charset="-122"/>
              <a:cs typeface="Times New Roman" panose="02020603050405020304" pitchFamily="18" charset="0"/>
            </a:endParaRPr>
          </a:p>
        </p:txBody>
      </p:sp>
      <p:pic>
        <p:nvPicPr>
          <p:cNvPr id="4" name="图片 3" descr="3386414184313f15f6d277f7aff2190"/>
          <p:cNvPicPr>
            <a:picLocks noChangeAspect="1"/>
          </p:cNvPicPr>
          <p:nvPr/>
        </p:nvPicPr>
        <p:blipFill>
          <a:blip r:embed="rId1"/>
          <a:stretch>
            <a:fillRect/>
          </a:stretch>
        </p:blipFill>
        <p:spPr>
          <a:xfrm>
            <a:off x="718963" y="2010264"/>
            <a:ext cx="6562499" cy="2537363"/>
          </a:xfrm>
          <a:prstGeom prst="rect">
            <a:avLst/>
          </a:prstGeom>
        </p:spPr>
      </p:pic>
      <p:pic>
        <p:nvPicPr>
          <p:cNvPr id="10" name="图片 9" descr="665933a723c706a63e86518b0a00fc6"/>
          <p:cNvPicPr>
            <a:picLocks noChangeAspect="1"/>
          </p:cNvPicPr>
          <p:nvPr/>
        </p:nvPicPr>
        <p:blipFill>
          <a:blip r:embed="rId2"/>
          <a:stretch>
            <a:fillRect/>
          </a:stretch>
        </p:blipFill>
        <p:spPr>
          <a:xfrm>
            <a:off x="7281462" y="2135495"/>
            <a:ext cx="5011689" cy="2587009"/>
          </a:xfrm>
          <a:prstGeom prst="rect">
            <a:avLst/>
          </a:prstGeom>
        </p:spPr>
      </p:pic>
      <p:sp>
        <p:nvSpPr>
          <p:cNvPr id="12" name="文本框 11"/>
          <p:cNvSpPr txBox="1"/>
          <p:nvPr/>
        </p:nvSpPr>
        <p:spPr>
          <a:xfrm>
            <a:off x="7281462" y="4961165"/>
            <a:ext cx="3651738" cy="369332"/>
          </a:xfrm>
          <a:prstGeom prst="rect">
            <a:avLst/>
          </a:prstGeom>
          <a:noFill/>
        </p:spPr>
        <p:txBody>
          <a:bodyPr wrap="square">
            <a:spAutoFit/>
          </a:bodyPr>
          <a:lstStyle/>
          <a:p>
            <a:r>
              <a:rPr lang="zh-CN" altLang="en-US" sz="1800" dirty="0">
                <a:solidFill>
                  <a:srgbClr val="005BBB"/>
                </a:solidFill>
              </a:rPr>
              <a:t>■</a:t>
            </a:r>
            <a:r>
              <a:rPr lang="zh-CN" altLang="en-US" dirty="0">
                <a:solidFill>
                  <a:srgbClr val="005BBB"/>
                </a:solidFill>
              </a:rPr>
              <a:t>时序图的</a:t>
            </a:r>
            <a:r>
              <a:rPr lang="zh-CN" altLang="en-US" sz="1800" dirty="0">
                <a:solidFill>
                  <a:srgbClr val="005BBB"/>
                </a:solidFill>
              </a:rPr>
              <a:t>状态图</a:t>
            </a:r>
            <a:endParaRPr lang="en-US" altLang="zh-CN" sz="1800" dirty="0">
              <a:solidFill>
                <a:srgbClr val="005BBB"/>
              </a:solidFill>
            </a:endParaRPr>
          </a:p>
        </p:txBody>
      </p:sp>
      <p:sp>
        <p:nvSpPr>
          <p:cNvPr id="14" name="文本框 13"/>
          <p:cNvSpPr txBox="1"/>
          <p:nvPr/>
        </p:nvSpPr>
        <p:spPr>
          <a:xfrm>
            <a:off x="1072811" y="4961165"/>
            <a:ext cx="1512277" cy="369332"/>
          </a:xfrm>
          <a:prstGeom prst="rect">
            <a:avLst/>
          </a:prstGeom>
          <a:noFill/>
        </p:spPr>
        <p:txBody>
          <a:bodyPr wrap="square">
            <a:spAutoFit/>
          </a:bodyPr>
          <a:lstStyle/>
          <a:p>
            <a:r>
              <a:rPr lang="zh-CN" altLang="en-US" sz="1800" dirty="0">
                <a:solidFill>
                  <a:srgbClr val="005BBB"/>
                </a:solidFill>
              </a:rPr>
              <a:t>■</a:t>
            </a:r>
            <a:r>
              <a:rPr lang="en-US" altLang="zh-CN" sz="1800" dirty="0">
                <a:solidFill>
                  <a:srgbClr val="005BBB"/>
                </a:solidFill>
              </a:rPr>
              <a:t>IIC</a:t>
            </a:r>
            <a:r>
              <a:rPr lang="zh-CN" altLang="en-US" dirty="0">
                <a:solidFill>
                  <a:srgbClr val="005BBB"/>
                </a:solidFill>
              </a:rPr>
              <a:t>时序图</a:t>
            </a:r>
            <a:endParaRPr lang="en-US" altLang="zh-CN" sz="1800" dirty="0">
              <a:solidFill>
                <a:srgbClr val="005BBB"/>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3.1</a:t>
              </a:r>
              <a:r>
                <a:rPr lang="zh-CN" altLang="en-US" sz="2400" b="1" dirty="0">
                  <a:latin typeface="微软雅黑" panose="020B0503020204020204" charset="-122"/>
                  <a:ea typeface="微软雅黑" panose="020B0503020204020204" charset="-122"/>
                </a:rPr>
                <a:t>传感器模块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938826" y="1220328"/>
            <a:ext cx="1810236" cy="46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■核心代码介绍</a:t>
            </a:r>
            <a:endParaRPr lang="en-US" altLang="zh-CN" sz="1800" dirty="0">
              <a:solidFill>
                <a:srgbClr val="005BBB"/>
              </a:solidFill>
            </a:endParaRPr>
          </a:p>
          <a:p>
            <a:pPr>
              <a:lnSpc>
                <a:spcPct val="150000"/>
              </a:lnSpc>
              <a:spcBef>
                <a:spcPct val="0"/>
              </a:spcBef>
              <a:buFontTx/>
              <a:buNone/>
              <a:defRPr/>
            </a:pPr>
            <a:endParaRPr lang="en-US" altLang="zh-CN" sz="1800" kern="100" dirty="0">
              <a:solidFill>
                <a:srgbClr val="005BBB"/>
              </a:solidFill>
              <a:effectLst/>
              <a:latin typeface="微软雅黑" panose="020B0503020204020204" charset="-122"/>
              <a:ea typeface="微软雅黑" panose="020B0503020204020204" charset="-122"/>
              <a:cs typeface="Times New Roman" panose="02020603050405020304" pitchFamily="18" charset="0"/>
            </a:endParaRPr>
          </a:p>
        </p:txBody>
      </p:sp>
      <p:pic>
        <p:nvPicPr>
          <p:cNvPr id="2" name="图片 1" descr="af92e9b4dd6a2a506b6ccf3215f224e"/>
          <p:cNvPicPr>
            <a:picLocks noChangeAspect="1"/>
          </p:cNvPicPr>
          <p:nvPr/>
        </p:nvPicPr>
        <p:blipFill>
          <a:blip r:embed="rId1"/>
          <a:stretch>
            <a:fillRect/>
          </a:stretch>
        </p:blipFill>
        <p:spPr>
          <a:xfrm>
            <a:off x="1125670" y="1795637"/>
            <a:ext cx="6290851" cy="4418673"/>
          </a:xfrm>
          <a:prstGeom prst="rect">
            <a:avLst/>
          </a:prstGeom>
        </p:spPr>
      </p:pic>
      <p:pic>
        <p:nvPicPr>
          <p:cNvPr id="3" name="图片 2"/>
          <p:cNvPicPr>
            <a:picLocks noChangeAspect="1"/>
          </p:cNvPicPr>
          <p:nvPr/>
        </p:nvPicPr>
        <p:blipFill>
          <a:blip r:embed="rId2"/>
          <a:stretch>
            <a:fillRect/>
          </a:stretch>
        </p:blipFill>
        <p:spPr>
          <a:xfrm>
            <a:off x="7960360" y="3248025"/>
            <a:ext cx="2217420" cy="2667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3.2 </a:t>
              </a:r>
              <a:r>
                <a:rPr lang="zh-CN" altLang="en-US" sz="2400" b="1" dirty="0">
                  <a:latin typeface="微软雅黑" panose="020B0503020204020204" charset="-122"/>
                  <a:ea typeface="微软雅黑" panose="020B0503020204020204" charset="-122"/>
                </a:rPr>
                <a:t>过渡模块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993140" y="1433830"/>
            <a:ext cx="4519295" cy="2602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266700" algn="just"/>
            <a:r>
              <a:rPr lang="zh-CN" altLang="zh-CN" sz="2000" kern="100" dirty="0">
                <a:effectLst/>
                <a:latin typeface="微软雅黑" panose="020B0503020204020204" charset="-122"/>
                <a:ea typeface="微软雅黑" panose="020B0503020204020204" charset="-122"/>
                <a:cs typeface="Times New Roman" panose="02020603050405020304" pitchFamily="18" charset="0"/>
              </a:rPr>
              <a:t>该模块通过一个微处理器处理一系列操作，实现在输入变量第一次改变时“瞬时响应”后续“延时响应”。</a:t>
            </a:r>
            <a:endParaRPr lang="zh-CN" altLang="zh-CN" sz="2000" kern="100" dirty="0">
              <a:effectLst/>
              <a:latin typeface="微软雅黑" panose="020B0503020204020204" charset="-122"/>
              <a:ea typeface="微软雅黑" panose="020B0503020204020204" charset="-122"/>
              <a:cs typeface="Times New Roman" panose="02020603050405020304" pitchFamily="18" charset="0"/>
            </a:endParaRPr>
          </a:p>
          <a:p>
            <a:pPr indent="266700"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Bef>
                <a:spcPct val="0"/>
              </a:spcBef>
              <a:buFontTx/>
              <a:buNone/>
              <a:defRPr/>
            </a:pPr>
            <a:r>
              <a:rPr lang="en-US" altLang="zh-CN" sz="1700" b="1" kern="100" dirty="0">
                <a:effectLst/>
                <a:latin typeface="微软雅黑" panose="020B0503020204020204" charset="-122"/>
                <a:ea typeface="微软雅黑" panose="020B0503020204020204" charset="-122"/>
                <a:cs typeface="Times New Roman" panose="02020603050405020304" pitchFamily="18" charset="0"/>
              </a:rPr>
              <a:t>    </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68995" y="5704112"/>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5957619" y="2661041"/>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2" name="图片 1" descr="transition"/>
          <p:cNvPicPr>
            <a:picLocks noChangeAspect="1"/>
          </p:cNvPicPr>
          <p:nvPr/>
        </p:nvPicPr>
        <p:blipFill>
          <a:blip r:embed="rId1"/>
          <a:stretch>
            <a:fillRect/>
          </a:stretch>
        </p:blipFill>
        <p:spPr>
          <a:xfrm>
            <a:off x="5957619" y="1334228"/>
            <a:ext cx="6016604" cy="3472233"/>
          </a:xfrm>
          <a:prstGeom prst="rect">
            <a:avLst/>
          </a:prstGeom>
        </p:spPr>
      </p:pic>
      <p:sp>
        <p:nvSpPr>
          <p:cNvPr id="4" name="文本框 3"/>
          <p:cNvSpPr txBox="1"/>
          <p:nvPr/>
        </p:nvSpPr>
        <p:spPr>
          <a:xfrm>
            <a:off x="6096000" y="4789646"/>
            <a:ext cx="6096000" cy="465640"/>
          </a:xfrm>
          <a:prstGeom prst="rect">
            <a:avLst/>
          </a:prstGeom>
          <a:noFill/>
        </p:spPr>
        <p:txBody>
          <a:bodyPr wrap="square">
            <a:spAutoFit/>
          </a:bodyPr>
          <a:lstStyle/>
          <a:p>
            <a:pPr>
              <a:lnSpc>
                <a:spcPct val="150000"/>
              </a:lnSpc>
              <a:spcBef>
                <a:spcPct val="0"/>
              </a:spcBef>
              <a:buFontTx/>
              <a:buNone/>
              <a:defRPr/>
            </a:pPr>
            <a:r>
              <a:rPr lang="zh-CN" altLang="en-US" sz="1800" dirty="0">
                <a:solidFill>
                  <a:srgbClr val="005BBB"/>
                </a:solidFill>
              </a:rPr>
              <a:t>■过渡模块图</a:t>
            </a:r>
            <a:endParaRPr lang="en-US" altLang="zh-CN" sz="1800" dirty="0">
              <a:solidFill>
                <a:srgbClr val="005BBB"/>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3.2 </a:t>
              </a:r>
              <a:r>
                <a:rPr lang="zh-CN" altLang="en-US" sz="2400" b="1" dirty="0">
                  <a:latin typeface="微软雅黑" panose="020B0503020204020204" charset="-122"/>
                  <a:ea typeface="微软雅黑" panose="020B0503020204020204" charset="-122"/>
                </a:rPr>
                <a:t>过渡模块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88745"/>
            <a:ext cx="1038796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4750435" y="2315210"/>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2" name="矩形 27"/>
          <p:cNvSpPr>
            <a:spLocks noChangeArrowheads="1"/>
          </p:cNvSpPr>
          <p:nvPr/>
        </p:nvSpPr>
        <p:spPr bwMode="auto">
          <a:xfrm>
            <a:off x="788035" y="1541145"/>
            <a:ext cx="1038796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3" name="图片 2" descr="过渡_control"/>
          <p:cNvPicPr>
            <a:picLocks noChangeAspect="1"/>
          </p:cNvPicPr>
          <p:nvPr/>
        </p:nvPicPr>
        <p:blipFill>
          <a:blip r:embed="rId1"/>
          <a:stretch>
            <a:fillRect/>
          </a:stretch>
        </p:blipFill>
        <p:spPr>
          <a:xfrm>
            <a:off x="1043500" y="1540560"/>
            <a:ext cx="5438369" cy="2989006"/>
          </a:xfrm>
          <a:prstGeom prst="rect">
            <a:avLst/>
          </a:prstGeom>
        </p:spPr>
      </p:pic>
      <p:pic>
        <p:nvPicPr>
          <p:cNvPr id="4" name="图片 3" descr="过渡_Datapath"/>
          <p:cNvPicPr>
            <a:picLocks noChangeAspect="1"/>
          </p:cNvPicPr>
          <p:nvPr/>
        </p:nvPicPr>
        <p:blipFill>
          <a:blip r:embed="rId2"/>
          <a:stretch>
            <a:fillRect/>
          </a:stretch>
        </p:blipFill>
        <p:spPr>
          <a:xfrm>
            <a:off x="6833724" y="1540560"/>
            <a:ext cx="4314776" cy="3562598"/>
          </a:xfrm>
          <a:prstGeom prst="rect">
            <a:avLst/>
          </a:prstGeom>
        </p:spPr>
      </p:pic>
      <p:sp>
        <p:nvSpPr>
          <p:cNvPr id="10" name="文本框 9"/>
          <p:cNvSpPr txBox="1"/>
          <p:nvPr/>
        </p:nvSpPr>
        <p:spPr>
          <a:xfrm>
            <a:off x="1043500" y="5416001"/>
            <a:ext cx="5397794" cy="507127"/>
          </a:xfrm>
          <a:prstGeom prst="rect">
            <a:avLst/>
          </a:prstGeom>
          <a:noFill/>
        </p:spPr>
        <p:txBody>
          <a:bodyPr wrap="square">
            <a:spAutoFit/>
          </a:bodyPr>
          <a:lstStyle/>
          <a:p>
            <a:pPr>
              <a:lnSpc>
                <a:spcPct val="150000"/>
              </a:lnSpc>
              <a:spcBef>
                <a:spcPct val="0"/>
              </a:spcBef>
              <a:buFontTx/>
              <a:buNone/>
              <a:defRPr/>
            </a:pPr>
            <a:r>
              <a:rPr lang="zh-CN" altLang="en-US" sz="2000" dirty="0">
                <a:solidFill>
                  <a:srgbClr val="005BBB"/>
                </a:solidFill>
              </a:rPr>
              <a:t>■</a:t>
            </a:r>
            <a:r>
              <a:rPr lang="zh-CN" altLang="en-US" sz="1800" b="1" dirty="0">
                <a:latin typeface="微软雅黑" panose="020B0503020204020204" charset="-122"/>
                <a:ea typeface="微软雅黑" panose="020B0503020204020204" charset="-122"/>
                <a:cs typeface="Times New Roman" panose="02020603050405020304" pitchFamily="18" charset="0"/>
              </a:rPr>
              <a:t>  过渡模块状态图</a:t>
            </a:r>
            <a:endParaRPr lang="zh-CN" altLang="en-US" sz="1800" b="1" dirty="0">
              <a:latin typeface="微软雅黑" panose="020B0503020204020204" charset="-122"/>
              <a:ea typeface="微软雅黑" panose="020B0503020204020204" charset="-122"/>
              <a:cs typeface="Times New Roman" panose="02020603050405020304" pitchFamily="18" charset="0"/>
            </a:endParaRPr>
          </a:p>
        </p:txBody>
      </p:sp>
      <p:sp>
        <p:nvSpPr>
          <p:cNvPr id="14" name="文本框 13"/>
          <p:cNvSpPr txBox="1"/>
          <p:nvPr/>
        </p:nvSpPr>
        <p:spPr>
          <a:xfrm>
            <a:off x="6861224" y="5420809"/>
            <a:ext cx="6096000" cy="507127"/>
          </a:xfrm>
          <a:prstGeom prst="rect">
            <a:avLst/>
          </a:prstGeom>
          <a:noFill/>
        </p:spPr>
        <p:txBody>
          <a:bodyPr wrap="square">
            <a:spAutoFit/>
          </a:bodyPr>
          <a:lstStyle/>
          <a:p>
            <a:pPr>
              <a:lnSpc>
                <a:spcPct val="150000"/>
              </a:lnSpc>
              <a:spcBef>
                <a:spcPct val="0"/>
              </a:spcBef>
              <a:buFontTx/>
              <a:buNone/>
              <a:defRPr/>
            </a:pPr>
            <a:r>
              <a:rPr lang="zh-CN" altLang="en-US" sz="2000" dirty="0">
                <a:solidFill>
                  <a:srgbClr val="005BBB"/>
                </a:solidFill>
              </a:rPr>
              <a:t>■</a:t>
            </a:r>
            <a:r>
              <a:rPr lang="zh-CN" altLang="en-US" sz="1800" b="1" dirty="0">
                <a:latin typeface="微软雅黑" panose="020B0503020204020204" charset="-122"/>
                <a:ea typeface="微软雅黑" panose="020B0503020204020204" charset="-122"/>
                <a:cs typeface="Times New Roman" panose="02020603050405020304" pitchFamily="18" charset="0"/>
              </a:rPr>
              <a:t>  </a:t>
            </a:r>
            <a:r>
              <a:rPr lang="zh-CN" altLang="en-US" sz="1800" b="1" dirty="0">
                <a:latin typeface="微软雅黑" panose="020B0503020204020204" charset="-122"/>
                <a:ea typeface="微软雅黑" panose="020B0503020204020204" charset="-122"/>
                <a:cs typeface="Times New Roman" panose="02020603050405020304" pitchFamily="18" charset="0"/>
              </a:rPr>
              <a:t>过渡模块</a:t>
            </a:r>
            <a:r>
              <a:rPr lang="en-US" altLang="zh-CN" sz="1800" dirty="0">
                <a:effectLst/>
                <a:latin typeface="微软雅黑" panose="020B0503020204020204" charset="-122"/>
                <a:ea typeface="微软雅黑" panose="020B0503020204020204" charset="-122"/>
                <a:cs typeface="宋体" panose="02010600030101010101" pitchFamily="2" charset="-122"/>
              </a:rPr>
              <a:t>Datapath</a:t>
            </a:r>
            <a:endParaRPr lang="zh-CN" altLang="en-US" sz="1800" b="1" dirty="0">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3.2 </a:t>
              </a:r>
              <a:r>
                <a:rPr lang="zh-CN" altLang="en-US" sz="2400" b="1" dirty="0">
                  <a:latin typeface="微软雅黑" panose="020B0503020204020204" charset="-122"/>
                  <a:ea typeface="微软雅黑" panose="020B0503020204020204" charset="-122"/>
                </a:rPr>
                <a:t>过渡模块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38796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      ■</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4750435" y="2315210"/>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graphicFrame>
        <p:nvGraphicFramePr>
          <p:cNvPr id="2" name="表格 1"/>
          <p:cNvGraphicFramePr>
            <a:graphicFrameLocks noGrp="1"/>
          </p:cNvGraphicFramePr>
          <p:nvPr/>
        </p:nvGraphicFramePr>
        <p:xfrm>
          <a:off x="1642453" y="1399470"/>
          <a:ext cx="8527316" cy="4776763"/>
        </p:xfrm>
        <a:graphic>
          <a:graphicData uri="http://schemas.openxmlformats.org/drawingml/2006/table">
            <a:tbl>
              <a:tblPr firstRow="1" firstCol="1" bandRow="1">
                <a:tableStyleId>{5C22544A-7EE6-4342-B048-85BDC9FD1C3A}</a:tableStyleId>
              </a:tblPr>
              <a:tblGrid>
                <a:gridCol w="2131829"/>
                <a:gridCol w="2131829"/>
                <a:gridCol w="2131829"/>
                <a:gridCol w="2131829"/>
              </a:tblGrid>
              <a:tr h="679330">
                <a:tc gridSpan="4">
                  <a:txBody>
                    <a:bodyPr/>
                    <a:lstStyle/>
                    <a:p>
                      <a:pPr algn="ctr" fontAlgn="ctr"/>
                      <a:r>
                        <a:rPr lang="zh-CN" sz="1050" kern="0" dirty="0">
                          <a:effectLst/>
                        </a:rPr>
                        <a:t>过渡模块控制字</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hMerge="1">
                  <a:tcPr/>
                </a:tc>
                <a:tc hMerge="1">
                  <a:tcPr/>
                </a:tc>
                <a:tc hMerge="1">
                  <a:tcPr/>
                </a:tc>
              </a:tr>
              <a:tr h="679330">
                <a:tc>
                  <a:txBody>
                    <a:bodyPr/>
                    <a:lstStyle/>
                    <a:p>
                      <a:pPr algn="ctr"/>
                      <a:r>
                        <a:rPr lang="en-US" sz="1050" kern="100" dirty="0">
                          <a:effectLst/>
                        </a:rPr>
                        <a:t> </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mux</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displayload</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rst_count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r>
              <a:tr h="679330">
                <a:tc>
                  <a:txBody>
                    <a:bodyPr/>
                    <a:lstStyle/>
                    <a:p>
                      <a:pPr algn="ctr" fontAlgn="ctr"/>
                      <a:r>
                        <a:rPr lang="en-US" sz="1050" kern="0">
                          <a:effectLst/>
                        </a:rPr>
                        <a:t>Start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X</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X</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r>
              <a:tr h="679330">
                <a:tc>
                  <a:txBody>
                    <a:bodyPr/>
                    <a:lstStyle/>
                    <a:p>
                      <a:pPr algn="ctr" fontAlgn="ctr"/>
                      <a:r>
                        <a:rPr lang="en-US" sz="1050" kern="0">
                          <a:effectLst/>
                        </a:rPr>
                        <a:t>Next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dirty="0">
                          <a:effectLst/>
                        </a:rPr>
                        <a:t>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dirty="0">
                          <a:effectLst/>
                        </a:rPr>
                        <a:t>X</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r>
              <a:tr h="679330">
                <a:tc>
                  <a:txBody>
                    <a:bodyPr/>
                    <a:lstStyle/>
                    <a:p>
                      <a:pPr algn="ctr" fontAlgn="ctr"/>
                      <a:r>
                        <a:rPr lang="en-US" sz="1050" kern="0">
                          <a:effectLst/>
                        </a:rPr>
                        <a:t>Last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X</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r>
              <a:tr h="679330">
                <a:tc>
                  <a:txBody>
                    <a:bodyPr/>
                    <a:lstStyle/>
                    <a:p>
                      <a:pPr algn="ctr" fontAlgn="ctr"/>
                      <a:r>
                        <a:rPr lang="en-US" sz="1050" kern="0">
                          <a:effectLst/>
                        </a:rPr>
                        <a:t>Wait1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X</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r>
              <a:tr h="700783">
                <a:tc>
                  <a:txBody>
                    <a:bodyPr/>
                    <a:lstStyle/>
                    <a:p>
                      <a:pPr algn="ctr" fontAlgn="ctr"/>
                      <a:r>
                        <a:rPr lang="en-US" sz="1050" kern="0">
                          <a:effectLst/>
                        </a:rPr>
                        <a:t>Wait2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X</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r>
                        <a:rPr lang="en-US" sz="1050" kern="0" dirty="0">
                          <a:effectLst/>
                        </a:rPr>
                        <a:t>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3.3 VGA</a:t>
              </a:r>
              <a:r>
                <a:rPr lang="zh-CN" altLang="en-US" sz="2400" b="1" dirty="0">
                  <a:latin typeface="微软雅黑" panose="020B0503020204020204" charset="-122"/>
                  <a:ea typeface="微软雅黑" panose="020B0503020204020204" charset="-122"/>
                </a:rPr>
                <a:t>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702744" y="5683719"/>
            <a:ext cx="4393256" cy="40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en-US" altLang="zh-CN" sz="1800" dirty="0">
                <a:solidFill>
                  <a:srgbClr val="005BBB"/>
                </a:solidFill>
              </a:rPr>
              <a:t>VGA</a:t>
            </a:r>
            <a:r>
              <a:rPr lang="zh-CN" altLang="en-US" sz="1800" dirty="0">
                <a:solidFill>
                  <a:srgbClr val="005BBB"/>
                </a:solidFill>
              </a:rPr>
              <a:t>模块图</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375253" y="3977201"/>
            <a:ext cx="4859629" cy="2112611"/>
          </a:xfrm>
          <a:prstGeom prst="rect">
            <a:avLst/>
          </a:prstGeom>
          <a:noFill/>
        </p:spPr>
        <p:txBody>
          <a:bodyPr wrap="square" rtlCol="0">
            <a:noAutofit/>
          </a:bodyPr>
          <a:lstStyle/>
          <a:p>
            <a:r>
              <a:rPr lang="zh-CN" altLang="en-US" dirty="0"/>
              <a:t>我们使用</a:t>
            </a:r>
            <a:r>
              <a:rPr lang="en-US" altLang="zh-CN" dirty="0"/>
              <a:t>VGA</a:t>
            </a:r>
            <a:r>
              <a:rPr lang="zh-CN" altLang="en-US" dirty="0"/>
              <a:t>模块来模拟电视。</a:t>
            </a:r>
            <a:r>
              <a:rPr lang="zh-CN" altLang="zh-CN" dirty="0"/>
              <a:t>该</a:t>
            </a:r>
            <a:r>
              <a:rPr lang="en-US" altLang="zh-CN" dirty="0"/>
              <a:t>VGA</a:t>
            </a:r>
            <a:r>
              <a:rPr lang="zh-CN" altLang="zh-CN" dirty="0"/>
              <a:t>模块综合了时序控制、</a:t>
            </a:r>
            <a:r>
              <a:rPr lang="en-US" altLang="zh-CN" dirty="0"/>
              <a:t>VGA</a:t>
            </a:r>
            <a:r>
              <a:rPr lang="zh-CN" altLang="zh-CN" dirty="0"/>
              <a:t>信号生成和显示逻辑处理，形成一个完整的</a:t>
            </a:r>
            <a:r>
              <a:rPr lang="en-US" altLang="zh-CN" dirty="0"/>
              <a:t>VGA</a:t>
            </a:r>
            <a:r>
              <a:rPr lang="zh-CN" altLang="zh-CN" dirty="0"/>
              <a:t>显示控制系统。它可以动态地在不同的显示模式间切换（通过</a:t>
            </a:r>
            <a:r>
              <a:rPr lang="en-US" altLang="zh-CN" dirty="0"/>
              <a:t>mux</a:t>
            </a:r>
            <a:r>
              <a:rPr lang="zh-CN" altLang="zh-CN" dirty="0"/>
              <a:t>信号），并能够控制一个特定的恐龙动画播放与迷宫游戏，同时支持用户通过方向键进行交互。</a:t>
            </a:r>
            <a:endParaRPr lang="zh-CN" altLang="zh-CN" dirty="0"/>
          </a:p>
        </p:txBody>
      </p:sp>
      <p:sp>
        <p:nvSpPr>
          <p:cNvPr id="3" name="矩形 27"/>
          <p:cNvSpPr>
            <a:spLocks noChangeArrowheads="1"/>
          </p:cNvSpPr>
          <p:nvPr/>
        </p:nvSpPr>
        <p:spPr bwMode="auto">
          <a:xfrm>
            <a:off x="6957231" y="2605088"/>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2" name="图片 1" descr="top_vga"/>
          <p:cNvPicPr>
            <a:picLocks noChangeAspect="1"/>
          </p:cNvPicPr>
          <p:nvPr/>
        </p:nvPicPr>
        <p:blipFill>
          <a:blip r:embed="rId1"/>
          <a:stretch>
            <a:fillRect/>
          </a:stretch>
        </p:blipFill>
        <p:spPr>
          <a:xfrm>
            <a:off x="685208" y="1345187"/>
            <a:ext cx="5761221" cy="4350281"/>
          </a:xfrm>
          <a:prstGeom prst="rect">
            <a:avLst/>
          </a:prstGeom>
        </p:spPr>
      </p:pic>
      <p:pic>
        <p:nvPicPr>
          <p:cNvPr id="4" name="图片 3" descr="IMG_256"/>
          <p:cNvPicPr>
            <a:picLocks noChangeAspect="1"/>
          </p:cNvPicPr>
          <p:nvPr/>
        </p:nvPicPr>
        <p:blipFill>
          <a:blip r:embed="rId2"/>
          <a:stretch>
            <a:fillRect/>
          </a:stretch>
        </p:blipFill>
        <p:spPr>
          <a:xfrm>
            <a:off x="6386782" y="1480361"/>
            <a:ext cx="5567704" cy="2036562"/>
          </a:xfrm>
          <a:prstGeom prst="rect">
            <a:avLst/>
          </a:prstGeom>
          <a:noFill/>
          <a:ln w="9525">
            <a:noFill/>
          </a:ln>
        </p:spPr>
      </p:pic>
      <p:sp>
        <p:nvSpPr>
          <p:cNvPr id="10" name="文本框 9"/>
          <p:cNvSpPr txBox="1"/>
          <p:nvPr/>
        </p:nvSpPr>
        <p:spPr>
          <a:xfrm>
            <a:off x="6446429" y="3522485"/>
            <a:ext cx="6096000" cy="464166"/>
          </a:xfrm>
          <a:prstGeom prst="rect">
            <a:avLst/>
          </a:prstGeom>
          <a:noFill/>
        </p:spPr>
        <p:txBody>
          <a:bodyPr wrap="square">
            <a:spAutoFit/>
          </a:bodyPr>
          <a:lstStyle/>
          <a:p>
            <a:pPr>
              <a:lnSpc>
                <a:spcPct val="150000"/>
              </a:lnSpc>
              <a:spcBef>
                <a:spcPct val="0"/>
              </a:spcBef>
              <a:buFontTx/>
              <a:buNone/>
              <a:defRPr/>
            </a:pPr>
            <a:r>
              <a:rPr lang="zh-CN" altLang="en-US" sz="1800" dirty="0">
                <a:solidFill>
                  <a:srgbClr val="005BBB"/>
                </a:solidFill>
              </a:rPr>
              <a:t>■</a:t>
            </a:r>
            <a:r>
              <a:rPr lang="en-US" altLang="zh-CN" sz="1800" dirty="0">
                <a:solidFill>
                  <a:srgbClr val="005BBB"/>
                </a:solidFill>
              </a:rPr>
              <a:t>VGA</a:t>
            </a:r>
            <a:r>
              <a:rPr lang="zh-CN" altLang="en-US" dirty="0">
                <a:solidFill>
                  <a:srgbClr val="005BBB"/>
                </a:solidFill>
              </a:rPr>
              <a:t>显示模式图</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P spid="11"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3.3 VGA</a:t>
              </a:r>
              <a:r>
                <a:rPr lang="zh-CN" altLang="en-US" sz="2400" b="1" dirty="0">
                  <a:latin typeface="微软雅黑" panose="020B0503020204020204" charset="-122"/>
                  <a:ea typeface="微软雅黑" panose="020B0503020204020204" charset="-122"/>
                </a:rPr>
                <a:t>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655743" y="5043712"/>
            <a:ext cx="4393256" cy="40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en-US" altLang="zh-CN" sz="1800" dirty="0">
                <a:solidFill>
                  <a:srgbClr val="005BBB"/>
                </a:solidFill>
              </a:rPr>
              <a:t>VGA</a:t>
            </a:r>
            <a:r>
              <a:rPr lang="zh-CN" altLang="en-US" sz="1800" dirty="0">
                <a:solidFill>
                  <a:srgbClr val="005BBB"/>
                </a:solidFill>
              </a:rPr>
              <a:t>核心模块展示</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8305385" y="1482819"/>
            <a:ext cx="3360884" cy="1356038"/>
          </a:xfrm>
          <a:prstGeom prst="rect">
            <a:avLst/>
          </a:prstGeom>
          <a:noFill/>
        </p:spPr>
        <p:txBody>
          <a:bodyPr wrap="square" rtlCol="0">
            <a:noAutofit/>
          </a:bodyPr>
          <a:lstStyle/>
          <a:p>
            <a:endParaRPr lang="zh-CN" altLang="zh-CN" dirty="0"/>
          </a:p>
        </p:txBody>
      </p:sp>
      <p:sp>
        <p:nvSpPr>
          <p:cNvPr id="3" name="矩形 27"/>
          <p:cNvSpPr>
            <a:spLocks noChangeArrowheads="1"/>
          </p:cNvSpPr>
          <p:nvPr/>
        </p:nvSpPr>
        <p:spPr bwMode="auto">
          <a:xfrm>
            <a:off x="6957231" y="2605088"/>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4" name="图片 3" descr="vga_display "/>
          <p:cNvPicPr>
            <a:picLocks noChangeAspect="1"/>
          </p:cNvPicPr>
          <p:nvPr/>
        </p:nvPicPr>
        <p:blipFill>
          <a:blip r:embed="rId1"/>
          <a:stretch>
            <a:fillRect/>
          </a:stretch>
        </p:blipFill>
        <p:spPr>
          <a:xfrm>
            <a:off x="6124966" y="1468990"/>
            <a:ext cx="6183675" cy="3147795"/>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046" y="1486490"/>
            <a:ext cx="4171322" cy="3096156"/>
          </a:xfrm>
          <a:prstGeom prst="rect">
            <a:avLst/>
          </a:prstGeom>
        </p:spPr>
      </p:pic>
      <p:sp>
        <p:nvSpPr>
          <p:cNvPr id="13" name="文本框 12"/>
          <p:cNvSpPr txBox="1"/>
          <p:nvPr/>
        </p:nvSpPr>
        <p:spPr>
          <a:xfrm>
            <a:off x="1316600" y="5043712"/>
            <a:ext cx="6139960" cy="464166"/>
          </a:xfrm>
          <a:prstGeom prst="rect">
            <a:avLst/>
          </a:prstGeom>
          <a:noFill/>
        </p:spPr>
        <p:txBody>
          <a:bodyPr wrap="square">
            <a:spAutoFit/>
          </a:bodyPr>
          <a:lstStyle/>
          <a:p>
            <a:pPr>
              <a:lnSpc>
                <a:spcPct val="150000"/>
              </a:lnSpc>
              <a:spcBef>
                <a:spcPct val="0"/>
              </a:spcBef>
              <a:buFontTx/>
              <a:buNone/>
              <a:defRPr/>
            </a:pPr>
            <a:r>
              <a:rPr lang="zh-CN" altLang="en-US" sz="1800" dirty="0">
                <a:solidFill>
                  <a:srgbClr val="005BBB"/>
                </a:solidFill>
              </a:rPr>
              <a:t>■</a:t>
            </a:r>
            <a:r>
              <a:rPr lang="en-US" altLang="zh-CN" sz="1800" dirty="0">
                <a:solidFill>
                  <a:srgbClr val="005BBB"/>
                </a:solidFill>
              </a:rPr>
              <a:t>VGA</a:t>
            </a:r>
            <a:r>
              <a:rPr lang="zh-CN" altLang="en-US" sz="1800" dirty="0">
                <a:solidFill>
                  <a:srgbClr val="005BBB"/>
                </a:solidFill>
              </a:rPr>
              <a:t>时序图展示</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3.3 VGA</a:t>
              </a:r>
              <a:r>
                <a:rPr lang="zh-CN" altLang="en-US" sz="2400" b="1" dirty="0">
                  <a:latin typeface="微软雅黑" panose="020B0503020204020204" charset="-122"/>
                  <a:ea typeface="微软雅黑" panose="020B0503020204020204" charset="-122"/>
                </a:rPr>
                <a:t>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946606" y="1268761"/>
            <a:ext cx="4393256" cy="40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en-US" altLang="zh-CN" sz="1800" dirty="0">
                <a:solidFill>
                  <a:srgbClr val="005BBB"/>
                </a:solidFill>
              </a:rPr>
              <a:t>VGA</a:t>
            </a:r>
            <a:r>
              <a:rPr lang="zh-CN" altLang="en-US" sz="1800" dirty="0">
                <a:solidFill>
                  <a:srgbClr val="005BBB"/>
                </a:solidFill>
              </a:rPr>
              <a:t>核心代码介绍</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8364001" y="1482819"/>
            <a:ext cx="3360884" cy="1356038"/>
          </a:xfrm>
          <a:prstGeom prst="rect">
            <a:avLst/>
          </a:prstGeom>
          <a:noFill/>
        </p:spPr>
        <p:txBody>
          <a:bodyPr wrap="square" rtlCol="0">
            <a:noAutofit/>
          </a:bodyPr>
          <a:lstStyle/>
          <a:p>
            <a:endParaRPr lang="zh-CN" altLang="zh-CN" dirty="0"/>
          </a:p>
        </p:txBody>
      </p:sp>
      <p:sp>
        <p:nvSpPr>
          <p:cNvPr id="3" name="矩形 27"/>
          <p:cNvSpPr>
            <a:spLocks noChangeArrowheads="1"/>
          </p:cNvSpPr>
          <p:nvPr/>
        </p:nvSpPr>
        <p:spPr bwMode="auto">
          <a:xfrm>
            <a:off x="7042606" y="2634396"/>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946606" y="1693234"/>
            <a:ext cx="6096000" cy="307777"/>
          </a:xfrm>
          <a:prstGeom prst="rect">
            <a:avLst/>
          </a:prstGeom>
          <a:noFill/>
        </p:spPr>
        <p:txBody>
          <a:bodyPr wrap="square">
            <a:spAutoFit/>
          </a:bodyPr>
          <a:lstStyle/>
          <a:p>
            <a:pPr indent="266700" algn="just"/>
            <a:r>
              <a:rPr lang="en-US" altLang="zh-CN" sz="1400" kern="100" dirty="0" err="1">
                <a:effectLst/>
                <a:latin typeface="微软雅黑" panose="020B0503020204020204" charset="-122"/>
                <a:ea typeface="微软雅黑" panose="020B0503020204020204" charset="-122"/>
                <a:cs typeface="宋体" panose="02010600030101010101" pitchFamily="2" charset="-122"/>
              </a:rPr>
              <a:t>block_move</a:t>
            </a:r>
            <a:r>
              <a:rPr lang="zh-CN" altLang="en-US" sz="1400" kern="100" dirty="0">
                <a:effectLst/>
                <a:latin typeface="微软雅黑" panose="020B0503020204020204" charset="-122"/>
                <a:ea typeface="微软雅黑" panose="020B0503020204020204" charset="-122"/>
                <a:cs typeface="宋体" panose="02010600030101010101" pitchFamily="2" charset="-122"/>
              </a:rPr>
              <a:t>部分</a:t>
            </a:r>
            <a:endParaRPr lang="zh-CN" altLang="zh-CN" sz="14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10" name="图片 9" descr="6fc887936fded0aab03ea30e4d69e1c"/>
          <p:cNvPicPr>
            <a:picLocks noChangeAspect="1"/>
          </p:cNvPicPr>
          <p:nvPr/>
        </p:nvPicPr>
        <p:blipFill>
          <a:blip r:embed="rId1"/>
          <a:stretch>
            <a:fillRect/>
          </a:stretch>
        </p:blipFill>
        <p:spPr>
          <a:xfrm>
            <a:off x="1220282" y="2019391"/>
            <a:ext cx="5273040" cy="3864610"/>
          </a:xfrm>
          <a:prstGeom prst="rect">
            <a:avLst/>
          </a:prstGeom>
        </p:spPr>
      </p:pic>
      <p:pic>
        <p:nvPicPr>
          <p:cNvPr id="13" name="图片 12" descr="878b49d724a4e4ba1116db279cfbfa7"/>
          <p:cNvPicPr>
            <a:picLocks noChangeAspect="1"/>
          </p:cNvPicPr>
          <p:nvPr/>
        </p:nvPicPr>
        <p:blipFill>
          <a:blip r:embed="rId2"/>
          <a:stretch>
            <a:fillRect/>
          </a:stretch>
        </p:blipFill>
        <p:spPr>
          <a:xfrm>
            <a:off x="6726995" y="2019391"/>
            <a:ext cx="4968240" cy="2324100"/>
          </a:xfrm>
          <a:prstGeom prst="rect">
            <a:avLst/>
          </a:prstGeom>
        </p:spPr>
      </p:pic>
      <p:sp>
        <p:nvSpPr>
          <p:cNvPr id="15" name="文本框 14"/>
          <p:cNvSpPr txBox="1"/>
          <p:nvPr/>
        </p:nvSpPr>
        <p:spPr>
          <a:xfrm>
            <a:off x="6377354" y="4557198"/>
            <a:ext cx="6096000" cy="369332"/>
          </a:xfrm>
          <a:prstGeom prst="rect">
            <a:avLst/>
          </a:prstGeom>
          <a:noFill/>
        </p:spPr>
        <p:txBody>
          <a:bodyPr wrap="square">
            <a:spAutoFit/>
          </a:bodyPr>
          <a:lstStyle/>
          <a:p>
            <a:pPr indent="266700" algn="just"/>
            <a:r>
              <a:rPr lang="zh-CN" altLang="en-US" sz="1800" kern="100" dirty="0">
                <a:effectLst/>
                <a:latin typeface="微软雅黑" panose="020B0503020204020204" charset="-122"/>
                <a:ea typeface="微软雅黑" panose="020B0503020204020204" charset="-122"/>
                <a:cs typeface="Times New Roman" panose="02020603050405020304" pitchFamily="18" charset="0"/>
              </a:rPr>
              <a:t>简单解释</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3.3 VGA</a:t>
              </a:r>
              <a:r>
                <a:rPr lang="zh-CN" altLang="en-US" sz="2400" b="1" dirty="0">
                  <a:latin typeface="微软雅黑" panose="020B0503020204020204" charset="-122"/>
                  <a:ea typeface="微软雅黑" panose="020B0503020204020204" charset="-122"/>
                </a:rPr>
                <a:t>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946606" y="1268761"/>
            <a:ext cx="4393256" cy="40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en-US" altLang="zh-CN" sz="1800" dirty="0">
                <a:solidFill>
                  <a:srgbClr val="005BBB"/>
                </a:solidFill>
              </a:rPr>
              <a:t>VGA</a:t>
            </a:r>
            <a:r>
              <a:rPr lang="zh-CN" altLang="en-US" sz="1800" dirty="0">
                <a:solidFill>
                  <a:srgbClr val="005BBB"/>
                </a:solidFill>
              </a:rPr>
              <a:t>核心代码介绍</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8364001" y="1482819"/>
            <a:ext cx="3360884" cy="1356038"/>
          </a:xfrm>
          <a:prstGeom prst="rect">
            <a:avLst/>
          </a:prstGeom>
          <a:noFill/>
        </p:spPr>
        <p:txBody>
          <a:bodyPr wrap="square" rtlCol="0">
            <a:noAutofit/>
          </a:bodyPr>
          <a:lstStyle/>
          <a:p>
            <a:endParaRPr lang="zh-CN" altLang="zh-CN" dirty="0"/>
          </a:p>
        </p:txBody>
      </p:sp>
      <p:sp>
        <p:nvSpPr>
          <p:cNvPr id="3" name="矩形 27"/>
          <p:cNvSpPr>
            <a:spLocks noChangeArrowheads="1"/>
          </p:cNvSpPr>
          <p:nvPr/>
        </p:nvSpPr>
        <p:spPr bwMode="auto">
          <a:xfrm>
            <a:off x="7042606" y="2634396"/>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946606" y="1693234"/>
            <a:ext cx="6096000" cy="369332"/>
          </a:xfrm>
          <a:prstGeom prst="rect">
            <a:avLst/>
          </a:prstGeom>
          <a:noFill/>
        </p:spPr>
        <p:txBody>
          <a:bodyPr wrap="square">
            <a:spAutoFit/>
          </a:bodyPr>
          <a:lstStyle/>
          <a:p>
            <a:pPr indent="266700" algn="just"/>
            <a:r>
              <a:rPr lang="en-US" altLang="zh-CN" sz="1800" kern="100" dirty="0" err="1">
                <a:effectLst/>
                <a:latin typeface="宋体" panose="02010600030101010101" pitchFamily="2" charset="-122"/>
                <a:cs typeface="宋体" panose="02010600030101010101" pitchFamily="2" charset="-122"/>
              </a:rPr>
              <a:t>color_display</a:t>
            </a:r>
            <a:r>
              <a:rPr lang="zh-CN" altLang="en-US" sz="1400" kern="100" dirty="0">
                <a:effectLst/>
                <a:latin typeface="微软雅黑" panose="020B0503020204020204" charset="-122"/>
                <a:ea typeface="微软雅黑" panose="020B0503020204020204" charset="-122"/>
                <a:cs typeface="宋体" panose="02010600030101010101" pitchFamily="2" charset="-122"/>
              </a:rPr>
              <a:t>部分</a:t>
            </a:r>
            <a:endParaRPr lang="zh-CN" altLang="zh-CN" sz="14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5" name="文本框 14"/>
          <p:cNvSpPr txBox="1"/>
          <p:nvPr/>
        </p:nvSpPr>
        <p:spPr>
          <a:xfrm>
            <a:off x="6559062" y="4636073"/>
            <a:ext cx="6096000" cy="369332"/>
          </a:xfrm>
          <a:prstGeom prst="rect">
            <a:avLst/>
          </a:prstGeom>
          <a:noFill/>
        </p:spPr>
        <p:txBody>
          <a:bodyPr wrap="square">
            <a:spAutoFit/>
          </a:bodyPr>
          <a:lstStyle/>
          <a:p>
            <a:pPr indent="266700" algn="just"/>
            <a:r>
              <a:rPr lang="zh-CN" altLang="en-US" sz="1800" kern="100" dirty="0">
                <a:effectLst/>
                <a:latin typeface="微软雅黑" panose="020B0503020204020204" charset="-122"/>
                <a:ea typeface="微软雅黑" panose="020B0503020204020204" charset="-122"/>
                <a:cs typeface="Times New Roman" panose="02020603050405020304" pitchFamily="18" charset="0"/>
              </a:rPr>
              <a:t>简单解释</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2" name="图片 1" descr="e8f17894f4bd11eeb952900e224c0c2"/>
          <p:cNvPicPr>
            <a:picLocks noChangeAspect="1"/>
          </p:cNvPicPr>
          <p:nvPr/>
        </p:nvPicPr>
        <p:blipFill>
          <a:blip r:embed="rId1"/>
          <a:stretch>
            <a:fillRect/>
          </a:stretch>
        </p:blipFill>
        <p:spPr>
          <a:xfrm>
            <a:off x="584816" y="2160838"/>
            <a:ext cx="5807550" cy="3472100"/>
          </a:xfrm>
          <a:prstGeom prst="rect">
            <a:avLst/>
          </a:prstGeom>
        </p:spPr>
      </p:pic>
      <p:pic>
        <p:nvPicPr>
          <p:cNvPr id="4" name="图片 3" descr="e26e548eaaebe5dbb90e4b750aabfb5"/>
          <p:cNvPicPr>
            <a:picLocks noChangeAspect="1"/>
          </p:cNvPicPr>
          <p:nvPr/>
        </p:nvPicPr>
        <p:blipFill>
          <a:blip r:embed="rId2"/>
          <a:stretch>
            <a:fillRect/>
          </a:stretch>
        </p:blipFill>
        <p:spPr>
          <a:xfrm>
            <a:off x="6742576" y="2160838"/>
            <a:ext cx="5271770" cy="229808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3.4 </a:t>
              </a:r>
              <a:r>
                <a:rPr lang="zh-CN" altLang="en-US" sz="2400" b="1" dirty="0">
                  <a:latin typeface="微软雅黑" panose="020B0503020204020204" charset="-122"/>
                  <a:ea typeface="微软雅黑" panose="020B0503020204020204" charset="-122"/>
                </a:rPr>
                <a:t>电子锁模块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80325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功能介绍 </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957231" y="2315210"/>
            <a:ext cx="3360884" cy="1356038"/>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3" name="矩形 27"/>
          <p:cNvSpPr>
            <a:spLocks noChangeArrowheads="1"/>
          </p:cNvSpPr>
          <p:nvPr/>
        </p:nvSpPr>
        <p:spPr bwMode="auto">
          <a:xfrm>
            <a:off x="6957231" y="2605088"/>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P spid="11"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3.5 </a:t>
              </a:r>
              <a:r>
                <a:rPr lang="zh-CN" altLang="en-US" sz="2400" b="1" dirty="0">
                  <a:latin typeface="微软雅黑" panose="020B0503020204020204" charset="-122"/>
                  <a:ea typeface="微软雅黑" panose="020B0503020204020204" charset="-122"/>
                </a:rPr>
                <a:t>通讯模块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4774565"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en-US" altLang="zh-CN" sz="1700" b="1" kern="100" dirty="0">
                <a:effectLst/>
                <a:latin typeface="微软雅黑" panose="020B0503020204020204" charset="-122"/>
                <a:ea typeface="微软雅黑" panose="020B0503020204020204" charset="-122"/>
                <a:cs typeface="Times New Roman" panose="02020603050405020304" pitchFamily="18" charset="0"/>
              </a:rPr>
              <a:t>    </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800" kern="100" dirty="0">
                <a:latin typeface="微软雅黑" panose="020B0503020204020204" charset="-122"/>
                <a:ea typeface="微软雅黑" panose="020B0503020204020204" charset="-122"/>
                <a:cs typeface="Times New Roman" panose="02020603050405020304" pitchFamily="18" charset="0"/>
              </a:rPr>
              <a:t>    </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5621655" y="1899285"/>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8455811" y="1396134"/>
            <a:ext cx="2862820" cy="2308324"/>
          </a:xfrm>
          <a:prstGeom prst="rect">
            <a:avLst/>
          </a:prstGeom>
          <a:noFill/>
        </p:spPr>
        <p:txBody>
          <a:bodyPr wrap="square">
            <a:spAutoFit/>
          </a:bodyPr>
          <a:lstStyle/>
          <a:p>
            <a:r>
              <a:rPr lang="zh-CN" altLang="en-US" dirty="0"/>
              <a:t> </a:t>
            </a:r>
            <a:r>
              <a:rPr lang="zh-CN" altLang="en-US" dirty="0">
                <a:solidFill>
                  <a:srgbClr val="005BBB"/>
                </a:solidFill>
              </a:rPr>
              <a:t>■</a:t>
            </a:r>
            <a:r>
              <a:rPr lang="zh-CN" altLang="en-US" dirty="0"/>
              <a:t> 我们的设计利用板卡上的蓝牙模块与外界支持蓝牙</a:t>
            </a:r>
            <a:r>
              <a:rPr lang="en-US" altLang="zh-CN" dirty="0"/>
              <a:t>4.0</a:t>
            </a:r>
            <a:r>
              <a:rPr lang="zh-CN" altLang="en-US" dirty="0"/>
              <a:t>标准的设备（如手机）进行交互。 该蓝牙模块出厂默认配置为通过串口协议与</a:t>
            </a:r>
            <a:r>
              <a:rPr lang="en-US" altLang="zh-CN" dirty="0"/>
              <a:t>FPGA</a:t>
            </a:r>
            <a:r>
              <a:rPr lang="zh-CN" altLang="en-US" dirty="0"/>
              <a:t>进行通信，按照</a:t>
            </a:r>
            <a:r>
              <a:rPr lang="en-US" altLang="zh-CN" dirty="0"/>
              <a:t>UART</a:t>
            </a:r>
            <a:r>
              <a:rPr lang="zh-CN" altLang="en-US" dirty="0"/>
              <a:t>串口通信协议来处理发送与接收的数据即可。</a:t>
            </a:r>
            <a:endParaRPr lang="zh-CN" altLang="en-US" dirty="0"/>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5635" y="1326099"/>
            <a:ext cx="7608721" cy="3313943"/>
          </a:xfrm>
          <a:prstGeom prst="rect">
            <a:avLst/>
          </a:prstGeom>
        </p:spPr>
      </p:pic>
      <p:sp>
        <p:nvSpPr>
          <p:cNvPr id="13" name="文本框 12"/>
          <p:cNvSpPr txBox="1"/>
          <p:nvPr/>
        </p:nvSpPr>
        <p:spPr>
          <a:xfrm>
            <a:off x="1230923" y="4644830"/>
            <a:ext cx="6096000" cy="1754326"/>
          </a:xfrm>
          <a:prstGeom prst="rect">
            <a:avLst/>
          </a:prstGeom>
          <a:noFill/>
        </p:spPr>
        <p:txBody>
          <a:bodyPr wrap="square">
            <a:spAutoFit/>
          </a:bodyPr>
          <a:lstStyle/>
          <a:p>
            <a:r>
              <a:rPr lang="zh-CN" altLang="en-US" dirty="0"/>
              <a:t> </a:t>
            </a:r>
            <a:r>
              <a:rPr lang="zh-CN" altLang="en-US" dirty="0">
                <a:solidFill>
                  <a:srgbClr val="005BBB"/>
                </a:solidFill>
              </a:rPr>
              <a:t>■</a:t>
            </a:r>
            <a:r>
              <a:rPr lang="zh-CN" altLang="en-US" dirty="0"/>
              <a:t>本实验通过串口发送与串口接收模块来完成与蓝牙模块的数据传输。通过命令解析模 块及命令响应模块来实现简单的串口命令的解析控制以及命令的执行。</a:t>
            </a:r>
            <a:r>
              <a:rPr lang="en-US" altLang="zh-CN" dirty="0"/>
              <a:t>FPGA</a:t>
            </a:r>
            <a:r>
              <a:rPr lang="zh-CN" altLang="en-US" dirty="0"/>
              <a:t>在接收到蓝牙 模块传输进来的串口数据后，会将相应数据以及命令响应通过蓝牙模块发送给与之连接的通 信设备，在这个过程中采用</a:t>
            </a:r>
            <a:r>
              <a:rPr lang="en-US" altLang="zh-CN" dirty="0"/>
              <a:t>FIFO</a:t>
            </a:r>
            <a:r>
              <a:rPr lang="zh-CN" altLang="en-US" dirty="0"/>
              <a:t>来存储我们需要发送的数据。</a:t>
            </a:r>
            <a:endParaRPr lang="zh-CN" altLang="en-US" dirty="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5495" y="4124520"/>
            <a:ext cx="2648092" cy="19208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p:bldP spid="11" grpId="1"/>
      <p:bldP spid="3"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3.5 </a:t>
              </a:r>
              <a:r>
                <a:rPr lang="zh-CN" altLang="en-US" sz="2400" b="1" dirty="0">
                  <a:latin typeface="微软雅黑" panose="020B0503020204020204" charset="-122"/>
                  <a:ea typeface="微软雅黑" panose="020B0503020204020204" charset="-122"/>
                </a:rPr>
                <a:t>通讯模块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4774565"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en-US" altLang="zh-CN" sz="1700" b="1" kern="100" dirty="0">
                <a:effectLst/>
                <a:latin typeface="微软雅黑" panose="020B0503020204020204" charset="-122"/>
                <a:ea typeface="微软雅黑" panose="020B0503020204020204" charset="-122"/>
                <a:cs typeface="Times New Roman" panose="02020603050405020304" pitchFamily="18" charset="0"/>
              </a:rPr>
              <a:t>    </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800" kern="100" dirty="0">
                <a:latin typeface="微软雅黑" panose="020B0503020204020204" charset="-122"/>
                <a:ea typeface="微软雅黑" panose="020B0503020204020204" charset="-122"/>
                <a:cs typeface="Times New Roman" panose="02020603050405020304" pitchFamily="18" charset="0"/>
              </a:rPr>
              <a:t>    </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5621655" y="1899285"/>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83194" y="1329441"/>
            <a:ext cx="7054439" cy="331604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1072811" y="1389438"/>
            <a:ext cx="3563816" cy="2246769"/>
          </a:xfrm>
          <a:prstGeom prst="rect">
            <a:avLst/>
          </a:prstGeom>
          <a:noFill/>
        </p:spPr>
        <p:txBody>
          <a:bodyPr wrap="square">
            <a:spAutoFit/>
          </a:bodyPr>
          <a:lstStyle/>
          <a:p>
            <a:r>
              <a:rPr lang="zh-CN" altLang="en-US" sz="1800" dirty="0">
                <a:solidFill>
                  <a:srgbClr val="005BBB"/>
                </a:solidFill>
              </a:rPr>
              <a:t>■</a:t>
            </a:r>
            <a:r>
              <a:rPr lang="zh-CN" altLang="en-US" sz="2000" dirty="0">
                <a:latin typeface="微软雅黑" panose="020B0503020204020204" charset="-122"/>
                <a:ea typeface="微软雅黑" panose="020B0503020204020204" charset="-122"/>
              </a:rPr>
              <a:t>双板之间蓝牙连接始终不能成功，我们最后决定放弃这一部分，将原本构想的通讯模块简化为一个简单的蓝牙点灯模块。即用手机控制开发板的</a:t>
            </a:r>
            <a:r>
              <a:rPr lang="en-US" altLang="zh-CN" sz="2000" dirty="0">
                <a:latin typeface="微软雅黑" panose="020B0503020204020204" charset="-122"/>
                <a:ea typeface="微软雅黑" panose="020B0503020204020204" charset="-122"/>
              </a:rPr>
              <a:t>led</a:t>
            </a:r>
            <a:r>
              <a:rPr lang="zh-CN" altLang="en-US" sz="2000" dirty="0">
                <a:latin typeface="微软雅黑" panose="020B0503020204020204" charset="-122"/>
                <a:ea typeface="微软雅黑" panose="020B0503020204020204" charset="-122"/>
              </a:rPr>
              <a:t>灯亮，用来模拟寻找被控制家居的过程。</a:t>
            </a:r>
            <a:endParaRPr lang="zh-CN" altLang="en-US" sz="2000" dirty="0">
              <a:latin typeface="微软雅黑" panose="020B0503020204020204" charset="-122"/>
              <a:ea typeface="微软雅黑" panose="020B0503020204020204" charset="-122"/>
            </a:endParaRPr>
          </a:p>
        </p:txBody>
      </p:sp>
      <p:pic>
        <p:nvPicPr>
          <p:cNvPr id="1028" name="Picture 4"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8463" y="3636207"/>
            <a:ext cx="4733192" cy="2638859"/>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p:cNvSpPr txBox="1"/>
          <p:nvPr/>
        </p:nvSpPr>
        <p:spPr>
          <a:xfrm>
            <a:off x="5874483" y="4645484"/>
            <a:ext cx="6096000" cy="338554"/>
          </a:xfrm>
          <a:prstGeom prst="rect">
            <a:avLst/>
          </a:prstGeom>
          <a:noFill/>
        </p:spPr>
        <p:txBody>
          <a:bodyPr wrap="square">
            <a:spAutoFit/>
          </a:bodyPr>
          <a:lstStyle/>
          <a:p>
            <a:r>
              <a:rPr lang="zh-CN" altLang="en-US" sz="1600" dirty="0">
                <a:solidFill>
                  <a:srgbClr val="005BBB"/>
                </a:solidFill>
              </a:rPr>
              <a:t>■时序图和状态图</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8131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3.5 </a:t>
              </a:r>
              <a:r>
                <a:rPr lang="zh-CN" altLang="en-US" sz="2400" b="1" dirty="0">
                  <a:latin typeface="微软雅黑" panose="020B0503020204020204" charset="-122"/>
                  <a:ea typeface="微软雅黑" panose="020B0503020204020204" charset="-122"/>
                </a:rPr>
                <a:t>通讯模块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4774565"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en-US" altLang="zh-CN" sz="1700" b="1" kern="100" dirty="0">
                <a:effectLst/>
                <a:latin typeface="微软雅黑" panose="020B0503020204020204" charset="-122"/>
                <a:ea typeface="微软雅黑" panose="020B0503020204020204" charset="-122"/>
                <a:cs typeface="Times New Roman" panose="02020603050405020304" pitchFamily="18" charset="0"/>
              </a:rPr>
              <a:t>    </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800" kern="100" dirty="0">
                <a:latin typeface="微软雅黑" panose="020B0503020204020204" charset="-122"/>
                <a:ea typeface="微软雅黑" panose="020B0503020204020204" charset="-122"/>
                <a:cs typeface="Times New Roman" panose="02020603050405020304" pitchFamily="18" charset="0"/>
              </a:rPr>
              <a:t>    </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5621655" y="1899285"/>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1002665" y="1342707"/>
            <a:ext cx="6096000" cy="338554"/>
          </a:xfrm>
          <a:prstGeom prst="rect">
            <a:avLst/>
          </a:prstGeom>
          <a:noFill/>
        </p:spPr>
        <p:txBody>
          <a:bodyPr wrap="square">
            <a:spAutoFit/>
          </a:bodyPr>
          <a:lstStyle/>
          <a:p>
            <a:r>
              <a:rPr lang="zh-CN" altLang="en-US" sz="1600" dirty="0">
                <a:solidFill>
                  <a:srgbClr val="005BBB"/>
                </a:solidFill>
              </a:rPr>
              <a:t>■核心代码展示</a:t>
            </a:r>
            <a:endParaRPr lang="zh-CN" altLang="en-US" sz="1800" dirty="0">
              <a:latin typeface="微软雅黑" panose="020B0503020204020204" charset="-122"/>
              <a:ea typeface="微软雅黑" panose="020B0503020204020204" charset="-122"/>
            </a:endParaRPr>
          </a:p>
        </p:txBody>
      </p:sp>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2811" y="1681261"/>
            <a:ext cx="3124361" cy="3206915"/>
          </a:xfrm>
          <a:prstGeom prst="rect">
            <a:avLst/>
          </a:prstGeom>
        </p:spPr>
      </p:pic>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0706" y="1268396"/>
            <a:ext cx="3005361" cy="4792185"/>
          </a:xfrm>
          <a:prstGeom prst="rect">
            <a:avLst/>
          </a:prstGeom>
        </p:spPr>
      </p:pic>
      <p:sp>
        <p:nvSpPr>
          <p:cNvPr id="18" name="Rectangle 1"/>
          <p:cNvSpPr>
            <a:spLocks noChangeArrowheads="1"/>
          </p:cNvSpPr>
          <p:nvPr/>
        </p:nvSpPr>
        <p:spPr bwMode="auto">
          <a:xfrm>
            <a:off x="6246521" y="1567487"/>
            <a:ext cx="3404833" cy="42473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800" dirty="0">
                <a:solidFill>
                  <a:srgbClr val="005BBB"/>
                </a:solidFill>
              </a:rPr>
              <a:t>■</a:t>
            </a:r>
            <a:r>
              <a:rPr kumimoji="0" lang="zh-CN" altLang="zh-CN" b="1" i="0" u="none" strike="noStrike" cap="none" normalizeH="0" baseline="0" dirty="0">
                <a:ln>
                  <a:noFill/>
                </a:ln>
                <a:solidFill>
                  <a:srgbClr val="060607"/>
                </a:solidFill>
                <a:effectLst/>
                <a:latin typeface="微软雅黑" panose="020B0503020204020204" charset="-122"/>
                <a:ea typeface="微软雅黑" panose="020B0503020204020204" charset="-122"/>
              </a:rPr>
              <a:t>代码逻辑流程</a:t>
            </a:r>
            <a:endParaRPr kumimoji="0" lang="zh-CN" altLang="zh-CN" b="1" i="0" u="none" strike="noStrike" cap="none" normalizeH="0" baseline="0" dirty="0">
              <a:ln>
                <a:noFill/>
              </a:ln>
              <a:solidFill>
                <a:srgbClr val="060607"/>
              </a:solidFill>
              <a:effectLst/>
              <a:latin typeface="微软雅黑" panose="020B0503020204020204" charset="-122"/>
              <a:ea typeface="微软雅黑" panose="020B0503020204020204" charset="-122"/>
            </a:endParaRPr>
          </a:p>
          <a:p>
            <a:pPr marL="0" marR="0" lvl="0" indent="0" defTabSz="914400" rtl="0" eaLnBrk="0" fontAlgn="base" latinLnBrk="0" hangingPunct="0">
              <a:lnSpc>
                <a:spcPct val="100000"/>
              </a:lnSpc>
              <a:spcBef>
                <a:spcPct val="0"/>
              </a:spcBef>
              <a:spcAft>
                <a:spcPct val="0"/>
              </a:spcAft>
              <a:buClrTx/>
              <a:buSzTx/>
              <a:buFontTx/>
              <a:buChar char="•"/>
            </a:pPr>
            <a:r>
              <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rPr>
              <a:t>状态机从IDLE状态开始，等待检测到rxd_clk_rx的低电平（开始位）。</a:t>
            </a:r>
            <a:endPar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endParaRPr>
          </a:p>
          <a:p>
            <a:pPr marL="0" marR="0" lvl="0" indent="0" defTabSz="914400" rtl="0" eaLnBrk="0" fontAlgn="base" latinLnBrk="0" hangingPunct="0">
              <a:lnSpc>
                <a:spcPct val="100000"/>
              </a:lnSpc>
              <a:spcBef>
                <a:spcPct val="0"/>
              </a:spcBef>
              <a:spcAft>
                <a:spcPct val="0"/>
              </a:spcAft>
              <a:buClrTx/>
              <a:buSzTx/>
              <a:buFontTx/>
              <a:buChar char="•"/>
            </a:pPr>
            <a:r>
              <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rPr>
              <a:t>确认开始位后，状态机进入START状态，并在半位时间后重新确认。</a:t>
            </a:r>
            <a:endPar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rPr>
              <a:t>确认后，状态机进入DATA状态，开始接收数据位。</a:t>
            </a:r>
            <a:endPar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rPr>
              <a:t>数据位接收完毕后，进入STOP状态检测停止位。</a:t>
            </a:r>
            <a:endPar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rPr>
              <a:t>如果停止位正确，状态机返回IDLE状态；如果不正确，生成frm_err信号。</a:t>
            </a:r>
            <a:endParaRPr kumimoji="0" lang="zh-CN" altLang="zh-CN" b="0" i="0" u="none" strike="noStrike" cap="none" normalizeH="0" baseline="0" dirty="0">
              <a:ln>
                <a:noFill/>
              </a:ln>
              <a:solidFill>
                <a:srgbClr val="060607"/>
              </a:solidFill>
              <a:effectLst/>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0" name="文本框 19"/>
          <p:cNvSpPr txBox="1"/>
          <p:nvPr/>
        </p:nvSpPr>
        <p:spPr>
          <a:xfrm>
            <a:off x="9578350" y="1567487"/>
            <a:ext cx="2379975" cy="2308324"/>
          </a:xfrm>
          <a:prstGeom prst="rect">
            <a:avLst/>
          </a:prstGeom>
          <a:noFill/>
        </p:spPr>
        <p:txBody>
          <a:bodyPr wrap="square">
            <a:spAutoFit/>
          </a:bodyPr>
          <a:lstStyle/>
          <a:p>
            <a:r>
              <a:rPr lang="zh-CN" altLang="en-US" sz="1800" dirty="0">
                <a:solidFill>
                  <a:srgbClr val="005BBB"/>
                </a:solidFill>
              </a:rPr>
              <a:t>■</a:t>
            </a:r>
            <a:r>
              <a:rPr lang="zh-CN" altLang="en-US" b="0" i="0" dirty="0">
                <a:solidFill>
                  <a:srgbClr val="060607"/>
                </a:solidFill>
                <a:effectLst/>
                <a:highlight>
                  <a:srgbClr val="FFFFFF"/>
                </a:highlight>
                <a:latin typeface="微软雅黑" panose="020B0503020204020204" charset="-122"/>
                <a:ea typeface="微软雅黑" panose="020B0503020204020204" charset="-122"/>
              </a:rPr>
              <a:t>这个模块是</a:t>
            </a:r>
            <a:r>
              <a:rPr lang="en-US" altLang="zh-CN" b="0" i="0" dirty="0">
                <a:solidFill>
                  <a:srgbClr val="060607"/>
                </a:solidFill>
                <a:effectLst/>
                <a:highlight>
                  <a:srgbClr val="FFFFFF"/>
                </a:highlight>
                <a:latin typeface="微软雅黑" panose="020B0503020204020204" charset="-122"/>
                <a:ea typeface="微软雅黑" panose="020B0503020204020204" charset="-122"/>
              </a:rPr>
              <a:t>UART</a:t>
            </a:r>
            <a:r>
              <a:rPr lang="zh-CN" altLang="en-US" b="0" i="0" dirty="0">
                <a:solidFill>
                  <a:srgbClr val="060607"/>
                </a:solidFill>
                <a:effectLst/>
                <a:highlight>
                  <a:srgbClr val="FFFFFF"/>
                </a:highlight>
                <a:latin typeface="微软雅黑" panose="020B0503020204020204" charset="-122"/>
                <a:ea typeface="微软雅黑" panose="020B0503020204020204" charset="-122"/>
              </a:rPr>
              <a:t>接收部分的核心，负责同步接收数据并进行错误检测。通过</a:t>
            </a:r>
            <a:r>
              <a:rPr lang="en-US" altLang="zh-CN" b="0" i="0" dirty="0">
                <a:solidFill>
                  <a:srgbClr val="060607"/>
                </a:solidFill>
                <a:effectLst/>
                <a:highlight>
                  <a:srgbClr val="FFFFFF"/>
                </a:highlight>
                <a:latin typeface="微软雅黑" panose="020B0503020204020204" charset="-122"/>
                <a:ea typeface="微软雅黑" panose="020B0503020204020204" charset="-122"/>
              </a:rPr>
              <a:t>16</a:t>
            </a:r>
            <a:r>
              <a:rPr lang="zh-CN" altLang="en-US" b="0" i="0" dirty="0">
                <a:solidFill>
                  <a:srgbClr val="060607"/>
                </a:solidFill>
                <a:effectLst/>
                <a:highlight>
                  <a:srgbClr val="FFFFFF"/>
                </a:highlight>
                <a:latin typeface="微软雅黑" panose="020B0503020204020204" charset="-122"/>
                <a:ea typeface="微软雅黑" panose="020B0503020204020204" charset="-122"/>
              </a:rPr>
              <a:t>倍过采样确保数据在正确的时钟周期被采样，从而实现可靠的串行通信。</a:t>
            </a:r>
            <a:endParaRPr lang="zh-CN" altLang="en-US"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3.6 </a:t>
              </a:r>
              <a:r>
                <a:rPr lang="zh-CN" altLang="en-US" sz="2400" b="1" dirty="0">
                  <a:latin typeface="微软雅黑" panose="020B0503020204020204" charset="-122"/>
                  <a:ea typeface="微软雅黑" panose="020B0503020204020204" charset="-122"/>
                </a:rPr>
                <a:t>音乐播放器模块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80325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功能介绍</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957231" y="2315210"/>
            <a:ext cx="3360884" cy="1356038"/>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3" name="矩形 27"/>
          <p:cNvSpPr>
            <a:spLocks noChangeArrowheads="1"/>
          </p:cNvSpPr>
          <p:nvPr/>
        </p:nvSpPr>
        <p:spPr bwMode="auto">
          <a:xfrm>
            <a:off x="6957231" y="2605088"/>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p:bldP spid="11" grpId="0"/>
      <p:bldP spid="11"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3.7</a:t>
              </a:r>
              <a:r>
                <a:rPr lang="zh-CN" altLang="en-US" sz="2400" b="1" dirty="0">
                  <a:latin typeface="微软雅黑" panose="020B0503020204020204" charset="-122"/>
                  <a:ea typeface="微软雅黑" panose="020B0503020204020204" charset="-122"/>
                </a:rPr>
                <a:t>温度显示模块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80325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功能介绍</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957231" y="2315210"/>
            <a:ext cx="3360884" cy="1356038"/>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3" name="矩形 27"/>
          <p:cNvSpPr>
            <a:spLocks noChangeArrowheads="1"/>
          </p:cNvSpPr>
          <p:nvPr/>
        </p:nvSpPr>
        <p:spPr bwMode="auto">
          <a:xfrm>
            <a:off x="6957231" y="2605088"/>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P spid="11"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42990" y="2012626"/>
            <a:ext cx="906017" cy="830997"/>
          </a:xfrm>
          <a:prstGeom prst="rect">
            <a:avLst/>
          </a:prstGeom>
          <a:noFill/>
        </p:spPr>
        <p:txBody>
          <a:bodyPr wrap="none" rtlCol="0">
            <a:spAutoFit/>
          </a:bodyPr>
          <a:lstStyle/>
          <a:p>
            <a:r>
              <a:rPr lang="en-US" altLang="zh-CN" sz="4800" dirty="0">
                <a:solidFill>
                  <a:schemeClr val="tx1">
                    <a:lumMod val="75000"/>
                    <a:lumOff val="25000"/>
                  </a:schemeClr>
                </a:solidFill>
                <a:latin typeface="微软雅黑" panose="020B0503020204020204" charset="-122"/>
                <a:ea typeface="微软雅黑" panose="020B0503020204020204" charset="-122"/>
              </a:rPr>
              <a:t>04</a:t>
            </a:r>
            <a:endParaRPr lang="zh-CN" altLang="en-US" sz="4800" dirty="0">
              <a:solidFill>
                <a:schemeClr val="tx1">
                  <a:lumMod val="75000"/>
                  <a:lumOff val="25000"/>
                </a:schemeClr>
              </a:solidFill>
              <a:latin typeface="微软雅黑" panose="020B0503020204020204" charset="-122"/>
              <a:ea typeface="微软雅黑" panose="020B0503020204020204" charset="-122"/>
            </a:endParaRPr>
          </a:p>
        </p:txBody>
      </p:sp>
      <p:sp>
        <p:nvSpPr>
          <p:cNvPr id="4" name="文本框 3"/>
          <p:cNvSpPr txBox="1"/>
          <p:nvPr/>
        </p:nvSpPr>
        <p:spPr>
          <a:xfrm>
            <a:off x="5182931" y="3661242"/>
            <a:ext cx="1826142" cy="584775"/>
          </a:xfrm>
          <a:prstGeom prst="rect">
            <a:avLst/>
          </a:prstGeom>
          <a:noFill/>
        </p:spPr>
        <p:txBody>
          <a:bodyPr wrap="none" rtlCol="0">
            <a:spAutoFit/>
          </a:bodyPr>
          <a:lstStyle/>
          <a:p>
            <a:pPr algn="ctr"/>
            <a:r>
              <a:rPr lang="zh-CN" altLang="en-US" sz="3200" b="1" dirty="0">
                <a:solidFill>
                  <a:schemeClr val="tx1">
                    <a:lumMod val="75000"/>
                    <a:lumOff val="25000"/>
                  </a:schemeClr>
                </a:solidFill>
                <a:latin typeface="微软雅黑" panose="020B0503020204020204" charset="-122"/>
                <a:ea typeface="微软雅黑" panose="020B0503020204020204" charset="-122"/>
              </a:rPr>
              <a:t>进度介绍</a:t>
            </a:r>
            <a:endParaRPr lang="zh-CN" altLang="en-US" sz="32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开题时间规划</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117600" y="1377950"/>
            <a:ext cx="10655300" cy="4154170"/>
          </a:xfrm>
          <a:prstGeom prst="rect">
            <a:avLst/>
          </a:prstGeom>
          <a:noFill/>
        </p:spPr>
        <p:txBody>
          <a:bodyPr wrap="square" rtlCol="0">
            <a:spAutoFit/>
          </a:bodyPr>
          <a:lstStyle/>
          <a:p>
            <a:pPr>
              <a:lnSpc>
                <a:spcPct val="150000"/>
              </a:lnSpc>
            </a:pPr>
            <a:r>
              <a:rPr lang="zh-CN" altLang="en-US" sz="2800" b="1" dirty="0">
                <a:latin typeface="微软雅黑" panose="020B0503020204020204" charset="-122"/>
                <a:ea typeface="微软雅黑" panose="020B0503020204020204" charset="-122"/>
              </a:rPr>
              <a:t>夏四周</a:t>
            </a:r>
            <a:r>
              <a:rPr lang="zh-CN" altLang="en-US" sz="2400" b="1" dirty="0">
                <a:latin typeface="微软雅黑" panose="020B0503020204020204" charset="-122"/>
                <a:ea typeface="微软雅黑" panose="020B0503020204020204" charset="-122"/>
              </a:rPr>
              <a:t>：</a:t>
            </a:r>
            <a:r>
              <a:rPr lang="zh-CN" altLang="en-US" sz="2400" b="0" i="0" dirty="0">
                <a:solidFill>
                  <a:srgbClr val="000000"/>
                </a:solidFill>
                <a:latin typeface="微软雅黑" panose="020B0503020204020204" charset="-122"/>
                <a:ea typeface="微软雅黑" panose="020B0503020204020204" charset="-122"/>
              </a:rPr>
              <a:t>核心模块（加速度传感模块，音乐播放器模块，通讯模块）；</a:t>
            </a:r>
            <a:r>
              <a:rPr lang="zh-CN" altLang="en-US" sz="2400" dirty="0">
                <a:latin typeface="微软雅黑" panose="020B0503020204020204" charset="-122"/>
                <a:ea typeface="微软雅黑" panose="020B0503020204020204" charset="-122"/>
              </a:rPr>
              <a:t> </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夏五周</a:t>
            </a:r>
            <a:r>
              <a:rPr lang="zh-CN" altLang="en-US" sz="2400" b="1" dirty="0">
                <a:latin typeface="微软雅黑" panose="020B0503020204020204" charset="-122"/>
                <a:ea typeface="微软雅黑" panose="020B0503020204020204" charset="-122"/>
              </a:rPr>
              <a:t>：</a:t>
            </a:r>
            <a:r>
              <a:rPr lang="zh-CN" altLang="en-US" sz="2400" b="0" i="0" dirty="0">
                <a:solidFill>
                  <a:srgbClr val="000000"/>
                </a:solidFill>
                <a:latin typeface="微软雅黑" panose="020B0503020204020204" charset="-122"/>
                <a:ea typeface="微软雅黑" panose="020B0503020204020204" charset="-122"/>
              </a:rPr>
              <a:t>过渡模块，模块连接，整体装置搭建，校验调整</a:t>
            </a:r>
            <a:endParaRPr lang="en-US" altLang="zh-CN" sz="2400" b="0" i="0" dirty="0">
              <a:solidFill>
                <a:srgbClr val="000000"/>
              </a:solidFill>
              <a:latin typeface="微软雅黑" panose="020B0503020204020204" charset="-122"/>
              <a:ea typeface="微软雅黑" panose="020B0503020204020204" charset="-122"/>
            </a:endParaRPr>
          </a:p>
          <a:p>
            <a:pPr>
              <a:lnSpc>
                <a:spcPct val="150000"/>
              </a:lnSpc>
            </a:pPr>
            <a:r>
              <a:rPr lang="zh-CN" altLang="en-US" sz="2400" b="0" i="0" dirty="0">
                <a:solidFill>
                  <a:srgbClr val="000000"/>
                </a:solidFill>
                <a:latin typeface="微软雅黑" panose="020B0503020204020204" charset="-122"/>
                <a:ea typeface="微软雅黑" panose="020B0503020204020204" charset="-122"/>
              </a:rPr>
              <a:t>                 中期计划实现评估与后续计划调整</a:t>
            </a:r>
            <a:r>
              <a:rPr lang="zh-CN" altLang="en-US" sz="2400" dirty="0">
                <a:latin typeface="微软雅黑" panose="020B0503020204020204" charset="-122"/>
                <a:ea typeface="微软雅黑" panose="020B0503020204020204" charset="-122"/>
              </a:rPr>
              <a:t> </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夏六周：</a:t>
            </a:r>
            <a:r>
              <a:rPr lang="zh-CN" altLang="en-US" sz="2400" b="0" i="0" dirty="0">
                <a:solidFill>
                  <a:srgbClr val="000000"/>
                </a:solidFill>
                <a:latin typeface="微软雅黑" panose="020B0503020204020204" charset="-122"/>
                <a:ea typeface="微软雅黑" panose="020B0503020204020204" charset="-122"/>
              </a:rPr>
              <a:t>拓展模块（中央处理模块，多路选择音乐播放器模块）</a:t>
            </a:r>
            <a:r>
              <a:rPr lang="zh-CN" altLang="en-US" sz="2400" dirty="0">
                <a:latin typeface="微软雅黑" panose="020B0503020204020204" charset="-122"/>
                <a:ea typeface="微软雅黑" panose="020B0503020204020204" charset="-122"/>
              </a:rPr>
              <a:t> ；</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夏七周：</a:t>
            </a:r>
            <a:r>
              <a:rPr lang="zh-CN" altLang="en-US" sz="2400" dirty="0">
                <a:solidFill>
                  <a:srgbClr val="000000"/>
                </a:solidFill>
                <a:latin typeface="微软雅黑" panose="020B0503020204020204" charset="-122"/>
                <a:ea typeface="微软雅黑" panose="020B0503020204020204" charset="-122"/>
                <a:sym typeface="+mn-ea"/>
              </a:rPr>
              <a:t>模块连接，</a:t>
            </a:r>
            <a:r>
              <a:rPr lang="zh-CN" altLang="en-US" sz="2400" b="0" i="0" dirty="0">
                <a:solidFill>
                  <a:srgbClr val="000000"/>
                </a:solidFill>
                <a:latin typeface="微软雅黑" panose="020B0503020204020204" charset="-122"/>
                <a:ea typeface="微软雅黑" panose="020B0503020204020204" charset="-122"/>
              </a:rPr>
              <a:t>整体装置搭建，校验调整</a:t>
            </a:r>
            <a:r>
              <a:rPr lang="zh-CN" altLang="en-US"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夏八周：</a:t>
            </a:r>
            <a:r>
              <a:rPr lang="zh-CN" altLang="en-US" sz="2400" b="0" i="0" dirty="0">
                <a:solidFill>
                  <a:srgbClr val="000000"/>
                </a:solidFill>
                <a:latin typeface="微软雅黑" panose="020B0503020204020204" charset="-122"/>
                <a:ea typeface="微软雅黑" panose="020B0503020204020204" charset="-122"/>
              </a:rPr>
              <a:t>装置维护与细节优化</a:t>
            </a:r>
            <a:r>
              <a:rPr lang="zh-CN" altLang="en-US" sz="2400" dirty="0">
                <a:latin typeface="微软雅黑" panose="020B0503020204020204" charset="-122"/>
                <a:ea typeface="微软雅黑" panose="020B0503020204020204" charset="-122"/>
              </a:rPr>
              <a:t> ，结题报告，答辩。</a:t>
            </a:r>
            <a:endParaRPr lang="en-US" altLang="zh-CN" sz="2400" dirty="0">
              <a:latin typeface="微软雅黑" panose="020B0503020204020204" charset="-122"/>
              <a:ea typeface="微软雅黑" panose="020B0503020204020204" charset="-122"/>
            </a:endParaRPr>
          </a:p>
          <a:p>
            <a:endParaRPr lang="zh-CN" altLang="en-US"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实际进度</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117600" y="1377950"/>
            <a:ext cx="10655300" cy="4985980"/>
          </a:xfrm>
          <a:prstGeom prst="rect">
            <a:avLst/>
          </a:prstGeom>
          <a:noFill/>
        </p:spPr>
        <p:txBody>
          <a:bodyPr wrap="square" rtlCol="0">
            <a:spAutoFit/>
          </a:bodyPr>
          <a:lstStyle/>
          <a:p>
            <a:pPr>
              <a:lnSpc>
                <a:spcPct val="150000"/>
              </a:lnSpc>
            </a:pPr>
            <a:r>
              <a:rPr lang="zh-CN" altLang="en-US" sz="2800" b="1" dirty="0">
                <a:latin typeface="微软雅黑" panose="020B0503020204020204" charset="-122"/>
                <a:ea typeface="微软雅黑" panose="020B0503020204020204" charset="-122"/>
              </a:rPr>
              <a:t>夏四周</a:t>
            </a:r>
            <a:r>
              <a:rPr lang="zh-CN" altLang="en-US" sz="2400" b="1"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构建加速度模块，音乐播放器模块，通讯模块设计思路</a:t>
            </a:r>
            <a:r>
              <a:rPr lang="zh-CN" altLang="en-US" sz="2000" i="0" dirty="0">
                <a:solidFill>
                  <a:srgbClr val="000000"/>
                </a:solidFill>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 进行初步设计</a:t>
            </a:r>
            <a:endParaRPr lang="en-US" altLang="zh-CN" sz="20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夏五周</a:t>
            </a:r>
            <a:r>
              <a:rPr lang="zh-CN" altLang="en-US" sz="2400" b="1"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完成基础加速度模块和音乐播放器模块设计，手机实现与开发板蓝牙连接，尝试进行级联</a:t>
            </a:r>
            <a:endParaRPr lang="en-US" altLang="zh-CN" sz="20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夏六周：</a:t>
            </a:r>
            <a:r>
              <a:rPr lang="zh-CN" altLang="en-US" sz="2000" dirty="0">
                <a:latin typeface="微软雅黑" panose="020B0503020204020204" charset="-122"/>
                <a:ea typeface="微软雅黑" panose="020B0503020204020204" charset="-122"/>
              </a:rPr>
              <a:t>与老师沟通，设计</a:t>
            </a:r>
            <a:r>
              <a:rPr lang="en-US" altLang="zh-CN" sz="2000" dirty="0">
                <a:latin typeface="微软雅黑" panose="020B0503020204020204" charset="-122"/>
                <a:ea typeface="微软雅黑" panose="020B0503020204020204" charset="-122"/>
              </a:rPr>
              <a:t>VGA</a:t>
            </a:r>
            <a:r>
              <a:rPr lang="zh-CN" altLang="en-US" sz="2000" dirty="0">
                <a:latin typeface="微软雅黑" panose="020B0503020204020204" charset="-122"/>
                <a:ea typeface="微软雅黑" panose="020B0503020204020204" charset="-122"/>
              </a:rPr>
              <a:t>模块和密码锁模块；尝试两块板子通讯连接未成功</a:t>
            </a:r>
            <a:endParaRPr lang="en-US" altLang="zh-CN" sz="20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夏七周：</a:t>
            </a:r>
            <a:r>
              <a:rPr lang="zh-CN" altLang="en-US" sz="2000" dirty="0">
                <a:latin typeface="微软雅黑" panose="020B0503020204020204" charset="-122"/>
                <a:ea typeface="微软雅黑" panose="020B0503020204020204" charset="-122"/>
              </a:rPr>
              <a:t>完成</a:t>
            </a:r>
            <a:r>
              <a:rPr lang="en-US" altLang="zh-CN" sz="2000" dirty="0">
                <a:latin typeface="微软雅黑" panose="020B0503020204020204" charset="-122"/>
                <a:ea typeface="微软雅黑" panose="020B0503020204020204" charset="-122"/>
              </a:rPr>
              <a:t>VGA</a:t>
            </a:r>
            <a:r>
              <a:rPr lang="zh-CN" altLang="en-US" sz="2000" dirty="0">
                <a:latin typeface="微软雅黑" panose="020B0503020204020204" charset="-122"/>
                <a:ea typeface="微软雅黑" panose="020B0503020204020204" charset="-122"/>
              </a:rPr>
              <a:t>模块，密码锁模块初始设计，开始设计温度显示；同时周末进行第二次级联测试。蓝牙通讯在与班级同学交流后了解到控制办法，仍不能实现两板之间通讯。</a:t>
            </a:r>
            <a:endParaRPr lang="en-US" altLang="zh-CN" sz="20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夏八周：</a:t>
            </a:r>
            <a:r>
              <a:rPr lang="zh-CN" altLang="en-US" sz="2000" dirty="0">
                <a:latin typeface="微软雅黑" panose="020B0503020204020204" charset="-122"/>
                <a:ea typeface="微软雅黑" panose="020B0503020204020204" charset="-122"/>
              </a:rPr>
              <a:t>完成温控模块，放弃蓝牙通讯，将之前的设计简化为利用手机蓝牙点灯；进行最后的级联测试，拍实验视频完成答辩</a:t>
            </a:r>
            <a:r>
              <a:rPr lang="en-US" altLang="zh-CN" sz="2000" dirty="0">
                <a:latin typeface="微软雅黑" panose="020B0503020204020204" charset="-122"/>
                <a:ea typeface="微软雅黑" panose="020B0503020204020204" charset="-122"/>
              </a:rPr>
              <a:t>ppt</a:t>
            </a:r>
            <a:r>
              <a:rPr lang="zh-CN" altLang="en-US" sz="2000" dirty="0">
                <a:latin typeface="微软雅黑" panose="020B0503020204020204" charset="-122"/>
                <a:ea typeface="微软雅黑" panose="020B0503020204020204" charset="-122"/>
              </a:rPr>
              <a:t>和实验报告。</a:t>
            </a:r>
            <a:r>
              <a:rPr lang="zh-CN" altLang="en-US" sz="2000" i="0" dirty="0">
                <a:solidFill>
                  <a:srgbClr val="000000"/>
                </a:solidFill>
                <a:latin typeface="微软雅黑" panose="020B0503020204020204" charset="-122"/>
                <a:ea typeface="微软雅黑" panose="020B0503020204020204" charset="-122"/>
              </a:rPr>
              <a:t>装置维护与细节优化</a:t>
            </a:r>
            <a:r>
              <a:rPr lang="zh-CN" altLang="en-US" sz="2000" dirty="0">
                <a:latin typeface="微软雅黑" panose="020B0503020204020204" charset="-122"/>
                <a:ea typeface="微软雅黑" panose="020B0503020204020204" charset="-122"/>
              </a:rPr>
              <a:t> ，答辩。</a:t>
            </a:r>
            <a:endParaRPr lang="en-US" altLang="zh-CN" sz="2000" dirty="0">
              <a:latin typeface="微软雅黑" panose="020B0503020204020204" charset="-122"/>
              <a:ea typeface="微软雅黑" panose="020B0503020204020204" charset="-122"/>
            </a:endParaRPr>
          </a:p>
          <a:p>
            <a:endParaRPr lang="zh-CN" altLang="en-US"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42990" y="2012626"/>
            <a:ext cx="906017" cy="830997"/>
          </a:xfrm>
          <a:prstGeom prst="rect">
            <a:avLst/>
          </a:prstGeom>
          <a:noFill/>
        </p:spPr>
        <p:txBody>
          <a:bodyPr wrap="none" rtlCol="0">
            <a:spAutoFit/>
          </a:bodyPr>
          <a:lstStyle/>
          <a:p>
            <a:r>
              <a:rPr lang="en-US" altLang="zh-CN" sz="4800" dirty="0">
                <a:solidFill>
                  <a:schemeClr val="tx1">
                    <a:lumMod val="75000"/>
                    <a:lumOff val="25000"/>
                  </a:schemeClr>
                </a:solidFill>
                <a:latin typeface="微软雅黑" panose="020B0503020204020204" charset="-122"/>
                <a:ea typeface="微软雅黑" panose="020B0503020204020204" charset="-122"/>
              </a:rPr>
              <a:t>05</a:t>
            </a:r>
            <a:endParaRPr lang="zh-CN" altLang="en-US" sz="4800" dirty="0">
              <a:solidFill>
                <a:schemeClr val="tx1">
                  <a:lumMod val="75000"/>
                  <a:lumOff val="25000"/>
                </a:schemeClr>
              </a:solidFill>
              <a:latin typeface="微软雅黑" panose="020B0503020204020204" charset="-122"/>
              <a:ea typeface="微软雅黑" panose="020B0503020204020204" charset="-122"/>
            </a:endParaRPr>
          </a:p>
        </p:txBody>
      </p:sp>
      <p:sp>
        <p:nvSpPr>
          <p:cNvPr id="4" name="文本框 3"/>
          <p:cNvSpPr txBox="1"/>
          <p:nvPr/>
        </p:nvSpPr>
        <p:spPr>
          <a:xfrm>
            <a:off x="5182933" y="3661242"/>
            <a:ext cx="1826141" cy="584775"/>
          </a:xfrm>
          <a:prstGeom prst="rect">
            <a:avLst/>
          </a:prstGeom>
          <a:noFill/>
        </p:spPr>
        <p:txBody>
          <a:bodyPr wrap="none" rtlCol="0">
            <a:spAutoFit/>
          </a:bodyPr>
          <a:lstStyle/>
          <a:p>
            <a:pPr algn="ctr"/>
            <a:r>
              <a:rPr lang="zh-CN" altLang="en-US" sz="3200" b="1" dirty="0">
                <a:solidFill>
                  <a:schemeClr val="tx1">
                    <a:lumMod val="75000"/>
                    <a:lumOff val="25000"/>
                  </a:schemeClr>
                </a:solidFill>
                <a:latin typeface="微软雅黑" panose="020B0503020204020204" charset="-122"/>
                <a:ea typeface="微软雅黑" panose="020B0503020204020204" charset="-122"/>
              </a:rPr>
              <a:t>组员分工</a:t>
            </a:r>
            <a:endParaRPr lang="zh-CN" altLang="en-US" sz="32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组员分工</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6668770" y="1641475"/>
            <a:ext cx="4116070" cy="1675130"/>
          </a:xfrm>
          <a:prstGeom prst="rect">
            <a:avLst/>
          </a:prstGeom>
          <a:noFill/>
        </p:spPr>
        <p:txBody>
          <a:bodyPr wrap="square" rtlCol="0">
            <a:noAutofit/>
          </a:bodyPr>
          <a:lstStyle/>
          <a:p>
            <a:endParaRPr lang="zh-CN" altLang="en-US"/>
          </a:p>
        </p:txBody>
      </p:sp>
      <p:sp>
        <p:nvSpPr>
          <p:cNvPr id="9" name="文本框 8"/>
          <p:cNvSpPr txBox="1"/>
          <p:nvPr/>
        </p:nvSpPr>
        <p:spPr>
          <a:xfrm>
            <a:off x="6668770" y="3934460"/>
            <a:ext cx="4064000" cy="2740025"/>
          </a:xfrm>
          <a:prstGeom prst="rect">
            <a:avLst/>
          </a:prstGeom>
          <a:noFill/>
        </p:spPr>
        <p:txBody>
          <a:bodyPr wrap="square" rtlCol="0">
            <a:noAutofit/>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8819515" y="1641475"/>
            <a:ext cx="2938780" cy="4029710"/>
          </a:xfrm>
          <a:prstGeom prst="rect">
            <a:avLst/>
          </a:prstGeom>
          <a:noFill/>
        </p:spPr>
        <p:txBody>
          <a:bodyPr wrap="square" rtlCol="0" anchor="t">
            <a:noAutofit/>
          </a:bodyPr>
          <a:lstStyle/>
          <a:p>
            <a:endParaRPr lang="zh-CN" altLang="en-US" b="1" dirty="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1"/>
            </p:custDataLst>
          </p:nvPr>
        </p:nvSpPr>
        <p:spPr>
          <a:xfrm>
            <a:off x="8836025" y="3220720"/>
            <a:ext cx="3355975" cy="274002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1072811" y="1641475"/>
            <a:ext cx="10534650" cy="3894208"/>
          </a:xfrm>
          <a:prstGeom prst="rect">
            <a:avLst/>
          </a:prstGeom>
          <a:noFill/>
        </p:spPr>
        <p:txBody>
          <a:bodyPr wrap="square">
            <a:spAutoFit/>
          </a:bodyPr>
          <a:lstStyle/>
          <a:p>
            <a:pPr>
              <a:lnSpc>
                <a:spcPct val="150000"/>
              </a:lnSpc>
            </a:pPr>
            <a:r>
              <a:rPr lang="zh-CN" altLang="en-US" sz="2800" b="1" i="0" u="none" strike="noStrike" dirty="0">
                <a:solidFill>
                  <a:srgbClr val="000000"/>
                </a:solidFill>
                <a:effectLst/>
                <a:latin typeface="微软雅黑" panose="020B0503020204020204" charset="-122"/>
                <a:ea typeface="微软雅黑" panose="020B0503020204020204" charset="-122"/>
              </a:rPr>
              <a:t>组长：郑智瑄：</a:t>
            </a:r>
            <a:r>
              <a:rPr lang="zh-CN" altLang="en-US" sz="2800" dirty="0">
                <a:latin typeface="微软雅黑" panose="020B0503020204020204" charset="-122"/>
                <a:ea typeface="微软雅黑" panose="020B0503020204020204" charset="-122"/>
              </a:rPr>
              <a:t>负责</a:t>
            </a:r>
            <a:r>
              <a:rPr lang="zh-CN" altLang="en-US" sz="2800" b="0" i="0" u="none" strike="noStrike" dirty="0">
                <a:solidFill>
                  <a:srgbClr val="000000"/>
                </a:solidFill>
                <a:effectLst/>
                <a:latin typeface="微软雅黑" panose="020B0503020204020204" charset="-122"/>
                <a:ea typeface="微软雅黑" panose="020B0503020204020204" charset="-122"/>
              </a:rPr>
              <a:t>加速度传感模块，过渡模块</a:t>
            </a:r>
            <a:r>
              <a:rPr lang="zh-CN" altLang="en-US" sz="2800" dirty="0">
                <a:latin typeface="微软雅黑" panose="020B0503020204020204" charset="-122"/>
                <a:ea typeface="微软雅黑" panose="020B0503020204020204" charset="-122"/>
              </a:rPr>
              <a:t>，</a:t>
            </a:r>
            <a:r>
              <a:rPr lang="en-US" altLang="zh-CN" sz="2800" dirty="0">
                <a:latin typeface="微软雅黑" panose="020B0503020204020204" charset="-122"/>
                <a:ea typeface="微软雅黑" panose="020B0503020204020204" charset="-122"/>
              </a:rPr>
              <a:t>VGA</a:t>
            </a:r>
            <a:r>
              <a:rPr lang="zh-CN" altLang="en-US" sz="2800" dirty="0">
                <a:latin typeface="微软雅黑" panose="020B0503020204020204" charset="-122"/>
                <a:ea typeface="微软雅黑" panose="020B0503020204020204" charset="-122"/>
              </a:rPr>
              <a:t>模块，密码锁优化，报告中</a:t>
            </a:r>
            <a:r>
              <a:rPr lang="zh-CN" altLang="en-US" sz="2800" b="0" i="0" u="none" strike="noStrike" dirty="0">
                <a:solidFill>
                  <a:srgbClr val="000000"/>
                </a:solidFill>
                <a:effectLst/>
                <a:latin typeface="微软雅黑" panose="020B0503020204020204" charset="-122"/>
                <a:ea typeface="微软雅黑" panose="020B0503020204020204" charset="-122"/>
              </a:rPr>
              <a:t>文稿编写与图表制作</a:t>
            </a:r>
            <a:endParaRPr lang="en-US" altLang="zh-CN" sz="2800" b="0" i="0" u="none" strike="noStrike" dirty="0">
              <a:solidFill>
                <a:srgbClr val="000000"/>
              </a:solidFill>
              <a:effectLst/>
              <a:latin typeface="微软雅黑" panose="020B0503020204020204" charset="-122"/>
              <a:ea typeface="微软雅黑" panose="020B0503020204020204" charset="-122"/>
            </a:endParaRPr>
          </a:p>
          <a:p>
            <a:pPr>
              <a:lnSpc>
                <a:spcPct val="150000"/>
              </a:lnSpc>
            </a:pPr>
            <a:r>
              <a:rPr lang="zh-CN" altLang="en-US" sz="2800" b="1" dirty="0">
                <a:solidFill>
                  <a:srgbClr val="000000"/>
                </a:solidFill>
                <a:latin typeface="微软雅黑" panose="020B0503020204020204" charset="-122"/>
                <a:ea typeface="微软雅黑" panose="020B0503020204020204" charset="-122"/>
              </a:rPr>
              <a:t>组员：李明远：</a:t>
            </a:r>
            <a:r>
              <a:rPr lang="zh-CN" altLang="en-US" sz="2800" dirty="0">
                <a:solidFill>
                  <a:srgbClr val="000000"/>
                </a:solidFill>
                <a:latin typeface="微软雅黑" panose="020B0503020204020204" charset="-122"/>
                <a:ea typeface="微软雅黑" panose="020B0503020204020204" charset="-122"/>
              </a:rPr>
              <a:t>负责</a:t>
            </a:r>
            <a:r>
              <a:rPr lang="zh-CN" altLang="en-US" sz="2800" b="0" i="0" u="none" strike="noStrike" dirty="0">
                <a:solidFill>
                  <a:srgbClr val="000000"/>
                </a:solidFill>
                <a:effectLst/>
                <a:latin typeface="微软雅黑" panose="020B0503020204020204" charset="-122"/>
                <a:ea typeface="微软雅黑" panose="020B0503020204020204" charset="-122"/>
              </a:rPr>
              <a:t>音乐播放器模块</a:t>
            </a:r>
            <a:r>
              <a:rPr lang="zh-CN" altLang="en-US" sz="2800" dirty="0">
                <a:latin typeface="微软雅黑" panose="020B0503020204020204" charset="-122"/>
                <a:ea typeface="微软雅黑" panose="020B0503020204020204" charset="-122"/>
              </a:rPr>
              <a:t>，温控模块，报告中亦负责</a:t>
            </a:r>
            <a:r>
              <a:rPr lang="zh-CN" altLang="en-US" sz="2800" b="0" i="0" u="none" strike="noStrike" dirty="0">
                <a:solidFill>
                  <a:srgbClr val="000000"/>
                </a:solidFill>
                <a:effectLst/>
                <a:latin typeface="微软雅黑" panose="020B0503020204020204" charset="-122"/>
                <a:ea typeface="微软雅黑" panose="020B0503020204020204" charset="-122"/>
              </a:rPr>
              <a:t>文稿编写与图表制作</a:t>
            </a:r>
            <a:endParaRPr lang="en-US" altLang="zh-CN" sz="2800" b="0" i="0" u="none" strike="noStrike" dirty="0">
              <a:solidFill>
                <a:srgbClr val="000000"/>
              </a:solidFill>
              <a:effectLst/>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组员：赵欧凯：</a:t>
            </a:r>
            <a:r>
              <a:rPr lang="zh-CN" altLang="en-US" sz="2800" dirty="0">
                <a:latin typeface="微软雅黑" panose="020B0503020204020204" charset="-122"/>
                <a:ea typeface="微软雅黑" panose="020B0503020204020204" charset="-122"/>
              </a:rPr>
              <a:t>负责</a:t>
            </a:r>
            <a:r>
              <a:rPr lang="zh-CN" altLang="en-US" sz="2800" dirty="0">
                <a:solidFill>
                  <a:srgbClr val="000000"/>
                </a:solidFill>
                <a:latin typeface="微软雅黑" panose="020B0503020204020204" charset="-122"/>
                <a:ea typeface="微软雅黑" panose="020B0503020204020204" charset="-122"/>
              </a:rPr>
              <a:t>通讯模块</a:t>
            </a:r>
            <a:r>
              <a:rPr lang="zh-CN" altLang="en-US" sz="2800" dirty="0">
                <a:latin typeface="微软雅黑" panose="020B0503020204020204" charset="-122"/>
                <a:ea typeface="微软雅黑" panose="020B0503020204020204" charset="-122"/>
              </a:rPr>
              <a:t> ，密码锁初始设计，报告中负责</a:t>
            </a:r>
            <a:r>
              <a:rPr lang="zh-CN" altLang="en-US" sz="2800" dirty="0">
                <a:solidFill>
                  <a:srgbClr val="000000"/>
                </a:solidFill>
                <a:latin typeface="微软雅黑" panose="020B0503020204020204" charset="-122"/>
                <a:ea typeface="微软雅黑" panose="020B0503020204020204" charset="-122"/>
              </a:rPr>
              <a:t>图表优化与</a:t>
            </a:r>
            <a:r>
              <a:rPr lang="en-US" altLang="zh-CN" sz="2800" dirty="0">
                <a:solidFill>
                  <a:srgbClr val="000000"/>
                </a:solidFill>
                <a:latin typeface="微软雅黑" panose="020B0503020204020204" charset="-122"/>
                <a:ea typeface="微软雅黑" panose="020B0503020204020204" charset="-122"/>
              </a:rPr>
              <a:t>PPT</a:t>
            </a:r>
            <a:r>
              <a:rPr lang="zh-CN" altLang="en-US" sz="2800" dirty="0">
                <a:solidFill>
                  <a:srgbClr val="000000"/>
                </a:solidFill>
                <a:latin typeface="微软雅黑" panose="020B0503020204020204" charset="-122"/>
                <a:ea typeface="微软雅黑" panose="020B0503020204020204" charset="-122"/>
              </a:rPr>
              <a:t>制作</a:t>
            </a:r>
            <a:r>
              <a:rPr lang="zh-CN" altLang="en-US" sz="2800" dirty="0">
                <a:latin typeface="微软雅黑" panose="020B0503020204020204" charset="-122"/>
                <a:ea typeface="微软雅黑" panose="020B0503020204020204" charset="-122"/>
              </a:rPr>
              <a:t> </a:t>
            </a:r>
            <a:endParaRPr lang="zh-CN" altLang="en-US" sz="28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1"/>
          <p:cNvSpPr>
            <a:spLocks noChangeArrowheads="1"/>
          </p:cNvSpPr>
          <p:nvPr/>
        </p:nvSpPr>
        <p:spPr bwMode="auto">
          <a:xfrm>
            <a:off x="2279651" y="1052514"/>
            <a:ext cx="77501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pPr>
            <a:endParaRPr lang="zh-CN" altLang="zh-CN" sz="1800">
              <a:latin typeface="Palatino Linotype" panose="02040502050505030304" pitchFamily="18" charset="0"/>
            </a:endParaRPr>
          </a:p>
        </p:txBody>
      </p:sp>
      <p:sp>
        <p:nvSpPr>
          <p:cNvPr id="11268" name="文本框 34"/>
          <p:cNvSpPr txBox="1">
            <a:spLocks noChangeArrowheads="1"/>
          </p:cNvSpPr>
          <p:nvPr/>
        </p:nvSpPr>
        <p:spPr bwMode="auto">
          <a:xfrm>
            <a:off x="1377315" y="2720975"/>
            <a:ext cx="945324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5400" b="1" dirty="0">
                <a:ea typeface="微软雅黑" panose="020B0503020204020204" charset="-122"/>
                <a:cs typeface="Arial" panose="020B0604020202020204" pitchFamily="34" charset="0"/>
              </a:rPr>
              <a:t>恳请老师和同学批评指正</a:t>
            </a:r>
            <a:endParaRPr lang="zh-CN" altLang="en-US" sz="5400" b="1" dirty="0">
              <a:ea typeface="微软雅黑" panose="020B0503020204020204" charset="-122"/>
              <a:cs typeface="Arial" panose="020B0604020202020204" pitchFamily="34" charset="0"/>
            </a:endParaRPr>
          </a:p>
        </p:txBody>
      </p:sp>
      <p:sp>
        <p:nvSpPr>
          <p:cNvPr id="3075" name="Text Placeholder 1"/>
          <p:cNvSpPr txBox="1"/>
          <p:nvPr>
            <p:custDataLst>
              <p:tags r:id="rId1"/>
            </p:custDataLst>
          </p:nvPr>
        </p:nvSpPr>
        <p:spPr bwMode="auto">
          <a:xfrm>
            <a:off x="3852545" y="3512820"/>
            <a:ext cx="4144010" cy="429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FontTx/>
              <a:buNone/>
            </a:pPr>
            <a:endParaRPr lang="zh-CN" altLang="en-US" sz="24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zh-CN" altLang="en-US" sz="1800" b="1" dirty="0">
                <a:latin typeface="微软雅黑" panose="020B0503020204020204" charset="-122"/>
                <a:ea typeface="微软雅黑" panose="020B0503020204020204" charset="-122"/>
              </a:rPr>
              <a:t>汇报人：</a:t>
            </a:r>
            <a:r>
              <a:rPr lang="en-US" altLang="zh-CN" sz="1800" b="1" dirty="0">
                <a:latin typeface="微软雅黑" panose="020B0503020204020204" charset="-122"/>
                <a:ea typeface="微软雅黑" panose="020B0503020204020204" charset="-122"/>
              </a:rPr>
              <a:t>11</a:t>
            </a:r>
            <a:r>
              <a:rPr lang="zh-CN" altLang="en-US" sz="1800" b="1" dirty="0">
                <a:latin typeface="微软雅黑" panose="020B0503020204020204" charset="-122"/>
                <a:ea typeface="微软雅黑" panose="020B0503020204020204" charset="-122"/>
              </a:rPr>
              <a:t>组</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郑智瑄</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李明远</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赵欧凯</a:t>
            </a:r>
            <a:endParaRPr lang="en-US" altLang="zh-CN" sz="18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en-US" altLang="zh-CN" sz="1800" b="1" dirty="0">
                <a:latin typeface="微软雅黑" panose="020B0503020204020204" charset="-122"/>
                <a:ea typeface="微软雅黑" panose="020B0503020204020204" charset="-122"/>
              </a:rPr>
              <a:t>2024.6.17</a:t>
            </a:r>
            <a:endParaRPr lang="en-US" altLang="zh-CN" sz="18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COMMONDATA" val="eyJoZGlkIjoiYzcxOThhNWNmMDE4ZDZhOWVkNTFjN2Q1M2YzYmZkNGU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2664</Words>
  <Application>WPS 演示</Application>
  <PresentationFormat>宽屏</PresentationFormat>
  <Paragraphs>301</Paragraphs>
  <Slides>31</Slides>
  <Notes>4</Notes>
  <HiddenSlides>0</HiddenSlides>
  <MMClips>1</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微软雅黑</vt:lpstr>
      <vt:lpstr>Times New Roman</vt:lpstr>
      <vt:lpstr>Arial</vt:lpstr>
      <vt:lpstr>等线</vt:lpstr>
      <vt:lpstr>仿宋</vt:lpstr>
      <vt:lpstr>Arial Unicode MS</vt:lpstr>
      <vt:lpstr>等线 Light</vt:lpstr>
      <vt:lpstr>Calibri</vt:lpstr>
      <vt:lpstr>Palatino Linotype</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秦 峰 之 王</dc:creator>
  <cp:lastModifiedBy>lxl</cp:lastModifiedBy>
  <cp:revision>12</cp:revision>
  <dcterms:created xsi:type="dcterms:W3CDTF">2024-05-13T05:20:00Z</dcterms:created>
  <dcterms:modified xsi:type="dcterms:W3CDTF">2024-06-16T14:14:17Z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D106518A98D948339105A071E91CBE54_13</vt:lpwstr>
  </property>
</Properties>
</file>