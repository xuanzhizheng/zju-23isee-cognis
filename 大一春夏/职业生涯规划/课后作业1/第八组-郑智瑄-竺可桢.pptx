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9DA0"/>
    <a:srgbClr val="2AC748"/>
    <a:srgbClr val="AAF027"/>
    <a:srgbClr val="DB92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0.xml"/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jpe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022964" y="742938"/>
            <a:ext cx="3478530" cy="4724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80" h="7440">
                <a:moveTo>
                  <a:pt x="0" y="0"/>
                </a:moveTo>
                <a:lnTo>
                  <a:pt x="7680" y="0"/>
                </a:lnTo>
                <a:lnTo>
                  <a:pt x="7680" y="7440"/>
                </a:lnTo>
                <a:lnTo>
                  <a:pt x="0" y="744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919980" y="2615565"/>
            <a:ext cx="7015480" cy="13550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60" h="3600">
                <a:moveTo>
                  <a:pt x="0" y="0"/>
                </a:moveTo>
                <a:lnTo>
                  <a:pt x="8160" y="0"/>
                </a:lnTo>
                <a:lnTo>
                  <a:pt x="8160" y="3600"/>
                </a:lnTo>
                <a:lnTo>
                  <a:pt x="0" y="36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矩形 10" descr="7b0a2020202022776f7264617274223a2022220a7d0a"/>
          <p:cNvSpPr/>
          <p:nvPr>
            <p:custDataLst>
              <p:tags r:id="rId5"/>
            </p:custDataLst>
          </p:nvPr>
        </p:nvSpPr>
        <p:spPr>
          <a:xfrm>
            <a:off x="436245" y="5689600"/>
            <a:ext cx="11499215" cy="709295"/>
          </a:xfrm>
          <a:prstGeom prst="rect">
            <a:avLst/>
          </a:prstGeom>
          <a:noFill/>
          <a:ln>
            <a:noFill/>
          </a:ln>
        </p:spPr>
        <p:txBody>
          <a:bodyPr wrap="square" lIns="90170" tIns="46990" rIns="90170" bIns="46990" rtlCol="0" anchor="t">
            <a:spAutoFit/>
          </a:bodyPr>
          <a:p>
            <a:pPr algn="l"/>
            <a:r>
              <a:rPr lang="zh-CN" altLang="en-US" sz="4000" b="1">
                <a:ln w="6016" cmpd="sng">
                  <a:solidFill>
                    <a:srgbClr val="FEF4B5"/>
                  </a:solidFill>
                </a:ln>
                <a:gradFill>
                  <a:gsLst>
                    <a:gs pos="0">
                      <a:srgbClr val="D9A87F"/>
                    </a:gs>
                    <a:gs pos="100000">
                      <a:srgbClr val="8B5530"/>
                    </a:gs>
                  </a:gsLst>
                  <a:lin ang="5400000" scaled="1"/>
                </a:gradFill>
                <a:effectLst>
                  <a:outerShdw dist="38100" algn="l" rotWithShape="0">
                    <a:srgbClr val="B47140">
                      <a:alpha val="100000"/>
                    </a:srgbClr>
                  </a:outerShdw>
                </a:effectLst>
                <a:latin typeface="汉仪颜楷繁" panose="02010600000101010101" charset="-122"/>
                <a:ea typeface="汉仪颜楷繁" panose="02010600000101010101" charset="-122"/>
              </a:rPr>
              <a:t>生涯愿景：以学术救国，以教育启人，以研究逸民</a:t>
            </a:r>
            <a:endParaRPr lang="zh-CN" altLang="en-US" sz="4000" b="1">
              <a:ln w="6016" cmpd="sng">
                <a:solidFill>
                  <a:srgbClr val="FEF4B5"/>
                </a:solidFill>
              </a:ln>
              <a:gradFill>
                <a:gsLst>
                  <a:gs pos="0">
                    <a:srgbClr val="D9A87F"/>
                  </a:gs>
                  <a:gs pos="100000">
                    <a:srgbClr val="8B5530"/>
                  </a:gs>
                </a:gsLst>
                <a:lin ang="5400000" scaled="1"/>
              </a:gradFill>
              <a:effectLst>
                <a:outerShdw dist="38100" algn="l" rotWithShape="0">
                  <a:srgbClr val="B47140">
                    <a:alpha val="100000"/>
                  </a:srgbClr>
                </a:outerShdw>
              </a:effectLst>
              <a:latin typeface="汉仪颜楷繁" panose="02010600000101010101" charset="-122"/>
              <a:ea typeface="汉仪颜楷繁" panose="02010600000101010101" charset="-122"/>
            </a:endParaRPr>
          </a:p>
        </p:txBody>
      </p: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806690" y="3818255"/>
            <a:ext cx="1640205" cy="152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778375" y="1156970"/>
            <a:ext cx="31102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DB9207"/>
                </a:solidFill>
              </a:rPr>
              <a:t>因中国以农立国，</a:t>
            </a:r>
            <a:endParaRPr lang="zh-CN" altLang="en-US" sz="1600">
              <a:solidFill>
                <a:srgbClr val="DB9207"/>
              </a:solidFill>
            </a:endParaRPr>
          </a:p>
          <a:p>
            <a:r>
              <a:rPr lang="zh-CN" altLang="en-US" sz="1600">
                <a:solidFill>
                  <a:srgbClr val="DB9207"/>
                </a:solidFill>
              </a:rPr>
              <a:t>遂选入农学院学习，</a:t>
            </a:r>
            <a:endParaRPr lang="zh-CN" altLang="en-US" sz="1600">
              <a:solidFill>
                <a:srgbClr val="DB9207"/>
              </a:solidFill>
            </a:endParaRPr>
          </a:p>
          <a:p>
            <a:r>
              <a:rPr lang="zh-CN" altLang="en-US" sz="1600">
                <a:solidFill>
                  <a:srgbClr val="DB9207"/>
                </a:solidFill>
              </a:rPr>
              <a:t>后研读与农业关系密切的气象学。</a:t>
            </a:r>
            <a:endParaRPr lang="zh-CN" altLang="en-US" sz="1600">
              <a:solidFill>
                <a:srgbClr val="DB9207"/>
              </a:solidFill>
            </a:endParaRPr>
          </a:p>
          <a:p>
            <a:endParaRPr lang="zh-CN" altLang="en-US" sz="1600">
              <a:solidFill>
                <a:srgbClr val="DB9207"/>
              </a:solidFill>
            </a:endParaRPr>
          </a:p>
          <a:p>
            <a:r>
              <a:rPr lang="zh-CN" altLang="en-US" sz="1600" b="1">
                <a:solidFill>
                  <a:srgbClr val="DB9207"/>
                </a:solidFill>
                <a:sym typeface="+mn-ea"/>
              </a:rPr>
              <a:t>胸怀祖国，</a:t>
            </a:r>
            <a:r>
              <a:rPr lang="zh-CN" altLang="en-US" sz="1600" b="1">
                <a:solidFill>
                  <a:srgbClr val="DB9207"/>
                </a:solidFill>
              </a:rPr>
              <a:t>孜孜不倦</a:t>
            </a:r>
            <a:endParaRPr lang="zh-CN" altLang="en-US" sz="1600" b="1">
              <a:solidFill>
                <a:srgbClr val="DB9207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5671185" y="4170680"/>
            <a:ext cx="30391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AAF027"/>
                </a:solidFill>
              </a:rPr>
              <a:t>在南京北极阁筹建气象研究所，</a:t>
            </a:r>
            <a:endParaRPr lang="zh-CN" altLang="en-US" sz="1600">
              <a:solidFill>
                <a:srgbClr val="AAF027"/>
              </a:solidFill>
            </a:endParaRPr>
          </a:p>
          <a:p>
            <a:r>
              <a:rPr lang="zh-CN" altLang="en-US" sz="1600">
                <a:solidFill>
                  <a:srgbClr val="AAF027"/>
                </a:solidFill>
              </a:rPr>
              <a:t>任气象研究所所长</a:t>
            </a:r>
            <a:endParaRPr lang="zh-CN" altLang="en-US" sz="1600">
              <a:solidFill>
                <a:srgbClr val="AAF027"/>
              </a:solidFill>
            </a:endParaRPr>
          </a:p>
          <a:p>
            <a:endParaRPr lang="zh-CN" altLang="en-US" sz="1600">
              <a:solidFill>
                <a:srgbClr val="AAF027"/>
              </a:solidFill>
            </a:endParaRPr>
          </a:p>
          <a:p>
            <a:r>
              <a:rPr lang="zh-CN" altLang="en-US" sz="1600" b="1">
                <a:solidFill>
                  <a:srgbClr val="AAF027"/>
                </a:solidFill>
              </a:rPr>
              <a:t>不受官职俸禄，醉心学术</a:t>
            </a:r>
            <a:endParaRPr lang="zh-CN" altLang="en-US" sz="1600" b="1">
              <a:solidFill>
                <a:srgbClr val="AAF027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8029575" y="1167130"/>
            <a:ext cx="35058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2AC748"/>
                </a:solidFill>
              </a:rPr>
              <a:t>抗战时期，率校数次迁移，</a:t>
            </a:r>
            <a:endParaRPr lang="zh-CN" altLang="en-US" sz="1600">
              <a:solidFill>
                <a:srgbClr val="2AC748"/>
              </a:solidFill>
            </a:endParaRPr>
          </a:p>
          <a:p>
            <a:r>
              <a:rPr lang="zh-CN" altLang="en-US" sz="1600">
                <a:solidFill>
                  <a:srgbClr val="2AC748"/>
                </a:solidFill>
              </a:rPr>
              <a:t>倡立“求是”校训。</a:t>
            </a:r>
            <a:endParaRPr lang="zh-CN" altLang="en-US" sz="1600">
              <a:solidFill>
                <a:srgbClr val="2AC748"/>
              </a:solidFill>
            </a:endParaRPr>
          </a:p>
          <a:p>
            <a:r>
              <a:rPr lang="zh-CN" altLang="en-US" sz="1600">
                <a:solidFill>
                  <a:srgbClr val="2AC748"/>
                </a:solidFill>
              </a:rPr>
              <a:t>提高学术与教学水平，培植良好学风</a:t>
            </a:r>
            <a:endParaRPr lang="zh-CN" altLang="en-US" sz="1600">
              <a:solidFill>
                <a:srgbClr val="2AC748"/>
              </a:solidFill>
            </a:endParaRPr>
          </a:p>
          <a:p>
            <a:endParaRPr lang="zh-CN" altLang="en-US" sz="1600">
              <a:solidFill>
                <a:srgbClr val="2AC748"/>
              </a:solidFill>
            </a:endParaRPr>
          </a:p>
          <a:p>
            <a:r>
              <a:rPr lang="zh-CN" altLang="en-US" sz="1600" b="1">
                <a:solidFill>
                  <a:srgbClr val="2AC748"/>
                </a:solidFill>
              </a:rPr>
              <a:t>严谨治学，言传身教</a:t>
            </a:r>
            <a:endParaRPr lang="zh-CN" altLang="en-US" sz="1600" b="1">
              <a:solidFill>
                <a:srgbClr val="2AC748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8710930" y="4180205"/>
            <a:ext cx="32251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9DA0"/>
                </a:solidFill>
              </a:rPr>
              <a:t>推动全国农作物物候的观测工作。</a:t>
            </a:r>
            <a:endParaRPr lang="zh-CN" altLang="en-US" sz="1600">
              <a:solidFill>
                <a:srgbClr val="159DA0"/>
              </a:solidFill>
            </a:endParaRPr>
          </a:p>
          <a:p>
            <a:r>
              <a:rPr lang="zh-CN" altLang="en-US" sz="1600">
                <a:solidFill>
                  <a:srgbClr val="159DA0"/>
                </a:solidFill>
              </a:rPr>
              <a:t>提出了发展农业生产的许多设想。</a:t>
            </a:r>
            <a:endParaRPr lang="zh-CN" altLang="en-US" sz="1600">
              <a:solidFill>
                <a:srgbClr val="159DA0"/>
              </a:solidFill>
            </a:endParaRPr>
          </a:p>
          <a:p>
            <a:endParaRPr lang="zh-CN" altLang="en-US" sz="1600">
              <a:solidFill>
                <a:srgbClr val="159DA0"/>
              </a:solidFill>
              <a:sym typeface="+mn-ea"/>
            </a:endParaRPr>
          </a:p>
          <a:p>
            <a:r>
              <a:rPr lang="zh-CN" altLang="en-US" sz="1600" b="1">
                <a:solidFill>
                  <a:srgbClr val="159DA0"/>
                </a:solidFill>
                <a:sym typeface="+mn-ea"/>
              </a:rPr>
              <a:t>为民奉献，造福于民</a:t>
            </a:r>
            <a:endParaRPr lang="zh-CN" altLang="en-US" sz="1600">
              <a:solidFill>
                <a:srgbClr val="159DA0"/>
              </a:solidFill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VALUE" val="1311*135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5512_1*d*1"/>
  <p:tag name="KSO_WM_TEMPLATE_CATEGORY" val="diagram"/>
  <p:tag name="KSO_WM_TEMPLATE_INDEX" val="2021551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3c7afcaba983479498ac98987a9a45f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1a6bb8c904649fdab3aca020b481998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fad4054ed1e2fb80ef8"/>
  <p:tag name="KSO_WM_TEMPLATE_ASSEMBLE_GROUPID" val="60656fad4054ed1e2fb80ef8"/>
  <p:tag name="KSO_WM_UNIT_PICTURE_CLIP_FLAG" val="0"/>
  <p:tag name="KSO_WM_UNIT_PLACING_PICTURE_USER_VIEWPORT" val="{&quot;height&quot;:7440.03937007874,&quot;width&quot;:5478}"/>
</p:tagLst>
</file>

<file path=ppt/tags/tag2.xml><?xml version="1.0" encoding="utf-8"?>
<p:tagLst xmlns:p="http://schemas.openxmlformats.org/presentationml/2006/main">
  <p:tag name="KSO_WM_UNIT_VALUE" val="635*143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diagram20215512_1*d*2"/>
  <p:tag name="KSO_WM_TEMPLATE_CATEGORY" val="diagram"/>
  <p:tag name="KSO_WM_TEMPLATE_INDEX" val="2021551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0c503e8868ad49a3a9a90122240341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8c8121b06ab4e03af81b523c2d3ab80"/>
  <p:tag name="KSO_WM_UNIT_SUPPORT_UNIT_TYPE" val="[&quot;d&quot;]"/>
  <p:tag name="KSO_WM_TEMPLATE_ASSEMBLE_XID" val="60656fad4054ed1e2fb80ef8"/>
  <p:tag name="KSO_WM_TEMPLATE_ASSEMBLE_GROUPID" val="60656fad4054ed1e2fb80ef8"/>
  <p:tag name="KSO_WM_UNIT_PLACING_PICTURE_USER_VIEWPORT" val="{&quot;height&quot;:2039,&quot;width&quot;:10557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,{&quot;bottom&quot;:0,&quot;bottomAbs&quot;:false,&quot;left&quot;:0,&quot;leftAbs&quot;:false,&quot;right&quot;:0,&quot;rightAbs&quot;:false,&quot;top&quot;:0,&quot;topAbs&quot;:false,&quot;type&quot;:&quot;frame&quot;}],&quot;direction&quot;:1,&quot;id&quot;:&quot;2021-04-01T16:00:02&quot;,&quot;maxSize&quot;:{&quot;size1&quot;:64.99961436238664},&quot;minSize&quot;:{&quot;size1&quot;:47.49961436238664},&quot;normalSize&quot;:{&quot;size1&quot;:47.49961436238664},&quot;subLayout&quot;:[{&quot;id&quot;:&quot;2021-04-01T16:00:02&quot;,&quot;margin&quot;:{&quot;bottom&quot;:1.6929999589920044,&quot;left&quot;:2.5399999618530273,&quot;right&quot;:0,&quot;top&quot;:1.6929999589920044},&quot;type&quot;:0},{&quot;id&quot;:&quot;2021-04-01T16:00:02&quot;,&quot;maxSize&quot;:{&quot;size1&quot;:55.59963564599899},&quot;minSize&quot;:{&quot;size1&quot;:31.099635645998987},&quot;normalSize&quot;:{&quot;size1&quot;:31.099820831184168},&quot;subLayout&quot;:[{&quot;id&quot;:&quot;2021-04-01T16:00:02&quot;,&quot;margin&quot;:{&quot;bottom&quot;:0,&quot;left&quot;:0.847000002861023,&quot;right&quot;:2.5399999618530273,&quot;top&quot;:1.6929999589920044},&quot;type&quot;:0},{&quot;id&quot;:&quot;2021-04-01T16:00:02&quot;,&quot;margin&quot;:{&quot;bottom&quot;:1.6929999589920044,&quot;left&quot;:0.847000002861023,&quot;right&quot;:2.5399999618530273,&quot;top&quot;:0.4230000674724579},&quot;type&quot;:0}],&quot;type&quot;:0}],&quot;type&quot;:0}"/>
  <p:tag name="KSO_WM_SLIDE_BACKGROUND" val="[&quot;general&quot;,&quot;frame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7efd6b24b822ad86e01408"/>
  <p:tag name="KSO_WM_CHIP_FILLPROP" val="[[{&quot;text_align&quot;:&quot;cm&quot;,&quot;text_direction&quot;:&quot;horizontal&quot;,&quot;support_features&quot;:[&quot;collage&quot;,&quot;carousel&quot;,&quot;creativecrop&quot;],&quot;support_big_font&quot;:false,&quot;picture_toward&quot;:0,&quot;picture_dockside&quot;:[],&quot;fill_id&quot;:&quot;47eafe0f634d4f3aabff8103a21d55e6&quot;,&quot;fill_align&quot;:&quot;c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95cb42cb65c742cfa9154be72aa920f1&quot;,&quot;fill_align&quot;:&quot;lm&quot;,&quot;chip_types&quot;:[&quot;text&quot;,&quot;picture&quot;]},{&quot;text_align&quot;:&quot;lm&quot;,&quot;text_direction&quot;:&quot;horizontal&quot;,&quot;support_big_font&quot;:false,&quot;picture_toward&quot;:0,&quot;picture_dockside&quot;:[],&quot;fill_id&quot;:&quot;0e08f70ca3974acc8e07bb8d2be94999&quot;,&quot;fill_align&quot;:&quot;lm&quot;,&quot;chip_types&quot;:[&quot;text&quot;,&quot;picture&quot;]}]]"/>
  <p:tag name="KSO_WM_SLIDE_ID" val="diagram20215512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16*372"/>
  <p:tag name="KSO_WM_SLIDE_POSITION" val="72*84"/>
  <p:tag name="KSO_WM_TAG_VERSION" val="1.0"/>
  <p:tag name="KSO_WM_BEAUTIFY_FLAG" val="#wm#"/>
  <p:tag name="KSO_WM_TEMPLATE_CATEGORY" val="diagram"/>
  <p:tag name="KSO_WM_TEMPLATE_INDEX" val="20215512"/>
  <p:tag name="KSO_WM_SLIDE_LAYOUT" val="d_f"/>
  <p:tag name="KSO_WM_SLIDE_LAYOUT_CNT" val="2_1"/>
  <p:tag name="KSO_WM_CHIP_DECFILLPROP" val="[]"/>
  <p:tag name="KSO_WM_SLIDE_CAN_ADD_NAVIGATION" val="1"/>
  <p:tag name="KSO_WM_CHIP_GROUPID" val="5e7efd6b24b822ad86e01407"/>
  <p:tag name="KSO_WM_SLIDE_BK_DARK_LIGHT" val="2"/>
  <p:tag name="KSO_WM_SLIDE_BACKGROUND_TYPE" val="frame"/>
  <p:tag name="KSO_WM_SLIDE_SUPPORT_FEATURE_TYPE" val="0"/>
  <p:tag name="KSO_WM_TEMPLATE_ASSEMBLE_XID" val="60656fad4054ed1e2fb80ef8"/>
  <p:tag name="KSO_WM_TEMPLATE_ASSEMBLE_GROUPID" val="60656fad4054ed1e2fb80ef8"/>
</p:tagLst>
</file>

<file path=ppt/tags/tag10.xml><?xml version="1.0" encoding="utf-8"?>
<p:tagLst xmlns:p="http://schemas.openxmlformats.org/presentationml/2006/main">
  <p:tag name="commondata" val="eyJoZGlkIjoiYzcxOThhNWNmMDE4ZDZhOWVkNTFjN2Q1M2YzYmZkNG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WPS 演示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汉仪颜楷繁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lxl</dc:creator>
  <cp:lastModifiedBy>lxl</cp:lastModifiedBy>
  <cp:revision>5</cp:revision>
  <dcterms:created xsi:type="dcterms:W3CDTF">2024-04-25T14:12:00Z</dcterms:created>
  <dcterms:modified xsi:type="dcterms:W3CDTF">2024-04-27T09:19:25Z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F4F619EA1FBB487B8BCE004A13C818BD_12</vt:lpwstr>
  </property>
  <property fmtid="{D5CDD505-2E9C-101B-9397-08002B2CF9AE}" pid="3" name="KSOProductBuildVer">
    <vt:lpwstr>2052-12.1.0.15712</vt:lpwstr>
  </property>
</Properties>
</file>