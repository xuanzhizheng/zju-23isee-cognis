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86"/>
  </p:handoutMasterIdLst>
  <p:sldIdLst>
    <p:sldId id="270" r:id="rId3"/>
    <p:sldId id="272" r:id="rId5"/>
    <p:sldId id="273" r:id="rId6"/>
    <p:sldId id="274" r:id="rId7"/>
    <p:sldId id="358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334" r:id="rId25"/>
    <p:sldId id="335" r:id="rId26"/>
    <p:sldId id="291" r:id="rId27"/>
    <p:sldId id="292" r:id="rId28"/>
    <p:sldId id="293" r:id="rId29"/>
    <p:sldId id="294" r:id="rId30"/>
    <p:sldId id="295" r:id="rId31"/>
    <p:sldId id="296" r:id="rId32"/>
    <p:sldId id="336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305" r:id="rId41"/>
    <p:sldId id="306" r:id="rId42"/>
    <p:sldId id="307" r:id="rId43"/>
    <p:sldId id="308" r:id="rId44"/>
    <p:sldId id="309" r:id="rId45"/>
    <p:sldId id="310" r:id="rId46"/>
    <p:sldId id="311" r:id="rId47"/>
    <p:sldId id="312" r:id="rId48"/>
    <p:sldId id="359" r:id="rId49"/>
    <p:sldId id="360" r:id="rId50"/>
    <p:sldId id="362" r:id="rId51"/>
    <p:sldId id="363" r:id="rId52"/>
    <p:sldId id="364" r:id="rId53"/>
    <p:sldId id="365" r:id="rId54"/>
    <p:sldId id="361" r:id="rId55"/>
    <p:sldId id="314" r:id="rId56"/>
    <p:sldId id="315" r:id="rId57"/>
    <p:sldId id="316" r:id="rId58"/>
    <p:sldId id="318" r:id="rId59"/>
    <p:sldId id="317" r:id="rId60"/>
    <p:sldId id="319" r:id="rId61"/>
    <p:sldId id="320" r:id="rId62"/>
    <p:sldId id="321" r:id="rId63"/>
    <p:sldId id="322" r:id="rId64"/>
    <p:sldId id="337" r:id="rId65"/>
    <p:sldId id="338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40" r:id="rId76"/>
    <p:sldId id="346" r:id="rId77"/>
    <p:sldId id="347" r:id="rId78"/>
    <p:sldId id="348" r:id="rId79"/>
    <p:sldId id="341" r:id="rId80"/>
    <p:sldId id="349" r:id="rId81"/>
    <p:sldId id="350" r:id="rId82"/>
    <p:sldId id="351" r:id="rId83"/>
    <p:sldId id="352" r:id="rId84"/>
    <p:sldId id="333" r:id="rId85"/>
  </p:sldIdLst>
  <p:sldSz cx="9144000" cy="6858000" type="screen4x3"/>
  <p:notesSz cx="7099300" cy="10234930"/>
  <p:custDataLst>
    <p:tags r:id="rId90"/>
  </p:custDataLst>
  <p:defaultTextStyle>
    <a:defPPr>
      <a:defRPr lang="en-AU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CCFFFF"/>
    <a:srgbClr val="66FF66"/>
    <a:srgbClr val="0099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235"/>
    <p:restoredTop sz="94619"/>
  </p:normalViewPr>
  <p:slideViewPr>
    <p:cSldViewPr snapToObjects="1" showGuides="1">
      <p:cViewPr varScale="1">
        <p:scale>
          <a:sx n="63" d="100"/>
          <a:sy n="63" d="100"/>
        </p:scale>
        <p:origin x="-140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344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46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0" Type="http://schemas.openxmlformats.org/officeDocument/2006/relationships/tags" Target="tags/tag4.xml"/><Relationship Id="rId9" Type="http://schemas.openxmlformats.org/officeDocument/2006/relationships/slide" Target="slides/slide6.xml"/><Relationship Id="rId89" Type="http://schemas.openxmlformats.org/officeDocument/2006/relationships/tableStyles" Target="tableStyles.xml"/><Relationship Id="rId88" Type="http://schemas.openxmlformats.org/officeDocument/2006/relationships/viewProps" Target="viewProps.xml"/><Relationship Id="rId87" Type="http://schemas.openxmlformats.org/officeDocument/2006/relationships/presProps" Target="presProps.xml"/><Relationship Id="rId86" Type="http://schemas.openxmlformats.org/officeDocument/2006/relationships/handoutMaster" Target="handoutMasters/handoutMaster1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5437188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defTabSz="967105">
              <a:defRPr sz="13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Morgan Kaufmann Publishers</a:t>
            </a:r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75300" y="0"/>
            <a:ext cx="1524000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algn="r" defTabSz="967105">
              <a:defRPr sz="13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C358D5-D4EA-48BB-A506-8FCBF0D13712}" type="datetime3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5437188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defTabSz="967105">
              <a:defRPr sz="13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Chapter 5 — Large and Fast: Exploiting Memory Hierarchy</a:t>
            </a:r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75300" y="9723438"/>
            <a:ext cx="1524000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p>
            <a:pPr lvl="0" algn="r" defTabSz="967105">
              <a:buNone/>
            </a:pPr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defTabSz="967105">
              <a:defRPr sz="13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Morgan Kaufmann Publishers</a:t>
            </a:r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algn="r" defTabSz="967105">
              <a:defRPr sz="13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A66F11-5DB7-4A09-95C9-78EC5C21B52C}" type="datetime3"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7044" name="Rectangle 4"/>
          <p:cNvSpPr>
            <a:spLocks noTextEdi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2513"/>
            <a:ext cx="5207000" cy="4603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Click to edit Master text styles</a:t>
            </a:r>
            <a:endParaRPr kumimoji="0" lang="en-AU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Second level</a:t>
            </a:r>
            <a:endParaRPr kumimoji="0" lang="en-AU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Third level</a:t>
            </a:r>
            <a:endParaRPr kumimoji="0" lang="en-AU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Fourth level</a:t>
            </a:r>
            <a:endParaRPr kumimoji="0" lang="en-AU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Fifth level</a:t>
            </a:r>
            <a:endParaRPr kumimoji="0" lang="en-AU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defTabSz="967105">
              <a:defRPr sz="13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671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AU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Chapter 5 — Large and Fast: Exploiting Memory Hierarchy</a:t>
            </a:r>
            <a:endParaRPr kumimoji="0" lang="en-AU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p>
            <a:pPr lvl="0" algn="r" defTabSz="967105">
              <a:buNone/>
            </a:pPr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806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806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806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807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8807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909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909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909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909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890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11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11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11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011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011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13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14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14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114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114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16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16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16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16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216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318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318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318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319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319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1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421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421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421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421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421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523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523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523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523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523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625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626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626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626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626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28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28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28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28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728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0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830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830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830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831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831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3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33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33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33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33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9933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035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035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035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035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0035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137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138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138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138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0138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0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0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0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0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0240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42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42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42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42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43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0343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45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45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45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45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45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0445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47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47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47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547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0547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49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649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650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650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650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0650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52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752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752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752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752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0752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54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854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854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854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855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0855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957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957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957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957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957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0957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059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059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059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059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1059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61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161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162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162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162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1162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4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4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4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4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4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1264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366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66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66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66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67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1367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9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469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469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469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469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146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571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71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71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71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571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1571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73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673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674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674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674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1674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776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776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776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776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776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1776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78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878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878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878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879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1879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981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981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981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981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981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1981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083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083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083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083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083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2083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185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185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186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186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186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2186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8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88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88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88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88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2288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390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90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90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90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91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2391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3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3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3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3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493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2493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595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95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95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95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595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2595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97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97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98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98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98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2698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800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800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800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800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800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2800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02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902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902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902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903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2903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05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005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005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005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005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005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107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107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107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107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107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107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209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210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210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210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210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2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2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2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2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2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312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414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414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414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6 — Storage and Other I/O Topics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414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415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415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17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517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517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6 — Storage and Other I/O Topics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517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517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517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19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619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619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619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619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619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721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721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722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722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722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722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824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824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824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824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824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824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926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926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926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926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927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927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029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029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029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029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029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402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131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131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131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131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131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4131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233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233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234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234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234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4234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6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6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6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6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6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4336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438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438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438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438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439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4439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541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541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541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541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541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4541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643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643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643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643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643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4643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745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745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746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746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746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4746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848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848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848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848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848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4848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50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950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950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950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951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4951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053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053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053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053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053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053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155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55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55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55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155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155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257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257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258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258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258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258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0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0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0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0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0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360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462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462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462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462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463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463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565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565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565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565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565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565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667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667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667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667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667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667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769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769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770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770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770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770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872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872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872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872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872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872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974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974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974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974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975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5975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077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077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077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077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077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6077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179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179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179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179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179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6179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281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281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282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282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282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6282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4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84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84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84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84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6384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486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486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486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486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487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6487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589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589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589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589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589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658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691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6915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691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6917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6918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6691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793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7939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794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794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794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6794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896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8963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896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8965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8966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6896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998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9987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998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9989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999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6999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101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Morgan Kaufmann Publishers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1011" name="Rectangle 3"/>
          <p:cNvSpPr txBox="1">
            <a:spLocks noGrp="1"/>
          </p:cNvSpPr>
          <p:nvPr>
            <p:ph type="dt" sz="half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/>
          <a:p>
            <a:pPr lvl="0" algn="r" defTabSz="967105"/>
            <a:fld id="{BB962C8B-B14F-4D97-AF65-F5344CB8AC3E}" type="datetime3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101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defTabSz="967105"/>
            <a:r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  <a:t>Chapter 5 — Large and Fast: Exploiting Memory Hierarchy</a:t>
            </a:r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1013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AU" altLang="zh-CN" sz="13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AU" altLang="zh-CN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101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7101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6661" tIns="48331" rIns="96661" bIns="48331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5938" name="矩形 295937"/>
          <p:cNvSpPr/>
          <p:nvPr userDrawn="1"/>
        </p:nvSpPr>
        <p:spPr>
          <a:xfrm>
            <a:off x="1331595" y="1144588"/>
            <a:ext cx="28575" cy="5732462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95939" name="标题 295938"/>
          <p:cNvSpPr>
            <a:spLocks noGrp="1"/>
          </p:cNvSpPr>
          <p:nvPr>
            <p:ph type="ctrTitle" hasCustomPrompt="1"/>
          </p:nvPr>
        </p:nvSpPr>
        <p:spPr>
          <a:xfrm>
            <a:off x="1864360" y="1844675"/>
            <a:ext cx="6934200" cy="768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>
            <a:lvl1pPr lvl="0">
              <a:buClrTx/>
              <a:buSzTx/>
              <a:buFontTx/>
              <a:defRPr>
                <a:latin typeface="Arial Black" panose="020B0A04020102020204" pitchFamily="34" charset="0"/>
              </a:defRPr>
            </a:lvl1pPr>
          </a:lstStyle>
          <a:p>
            <a:pPr lvl="0"/>
            <a:r>
              <a:rPr lang="en-AU" altLang="zh-CN" dirty="0"/>
              <a:t>Chapter …</a:t>
            </a:r>
            <a:endParaRPr lang="en-AU" altLang="zh-CN" dirty="0"/>
          </a:p>
        </p:txBody>
      </p:sp>
      <p:sp>
        <p:nvSpPr>
          <p:cNvPr id="295940" name="副标题 295939"/>
          <p:cNvSpPr>
            <a:spLocks noGrp="1"/>
          </p:cNvSpPr>
          <p:nvPr>
            <p:ph type="subTitle" idx="1" hasCustomPrompt="1"/>
          </p:nvPr>
        </p:nvSpPr>
        <p:spPr>
          <a:xfrm>
            <a:off x="1877060" y="2924175"/>
            <a:ext cx="692785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>
            <a:lvl1pPr marL="0" lvl="0" indent="0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1pPr>
            <a:lvl2pPr marL="457200" lvl="1" indent="0" algn="ctr"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2pPr>
            <a:lvl3pPr marL="914400" lvl="2" indent="0" algn="ctr">
              <a:buClr>
                <a:schemeClr val="folHlink"/>
              </a:buClr>
              <a:buSzPct val="50000"/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3pPr>
            <a:lvl4pPr marL="1371600" lvl="3" indent="0" algn="ctr">
              <a:buClr>
                <a:schemeClr val="accent2"/>
              </a:buClr>
              <a:buSzPct val="55000"/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4pPr>
            <a:lvl5pPr marL="1828800" lvl="4" indent="0" algn="ctr">
              <a:buClr>
                <a:schemeClr val="accent1"/>
              </a:buClr>
              <a:buSzPct val="50000"/>
              <a:buFont typeface="Wingdings" panose="05000000000000000000" pitchFamily="2" charset="2"/>
              <a:buNone/>
              <a:defRPr>
                <a:latin typeface="Arial Black" panose="020B0A04020102020204" pitchFamily="34" charset="0"/>
              </a:defRPr>
            </a:lvl5pPr>
          </a:lstStyle>
          <a:p>
            <a:pPr lvl="0"/>
            <a:r>
              <a:rPr lang="en-AU" altLang="zh-CN" dirty="0"/>
              <a:t>Subtitle</a:t>
            </a:r>
            <a:endParaRPr lang="en-AU" altLang="zh-CN" dirty="0"/>
          </a:p>
        </p:txBody>
      </p:sp>
      <p:sp>
        <p:nvSpPr>
          <p:cNvPr id="295941" name="矩形 295940"/>
          <p:cNvSpPr/>
          <p:nvPr userDrawn="1"/>
        </p:nvSpPr>
        <p:spPr>
          <a:xfrm>
            <a:off x="1619885" y="1988820"/>
            <a:ext cx="36513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95942" name="矩形 295941"/>
          <p:cNvSpPr/>
          <p:nvPr userDrawn="1"/>
        </p:nvSpPr>
        <p:spPr>
          <a:xfrm>
            <a:off x="1403985" y="2708910"/>
            <a:ext cx="7491730" cy="7620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95943" name="矩形 295942"/>
          <p:cNvSpPr/>
          <p:nvPr userDrawn="1"/>
        </p:nvSpPr>
        <p:spPr>
          <a:xfrm>
            <a:off x="0" y="0"/>
            <a:ext cx="9144000" cy="1125538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95945" name="矩形 295944"/>
          <p:cNvSpPr/>
          <p:nvPr userDrawn="1"/>
        </p:nvSpPr>
        <p:spPr>
          <a:xfrm>
            <a:off x="0" y="1125538"/>
            <a:ext cx="9144000" cy="17462"/>
          </a:xfrm>
          <a:prstGeom prst="rect">
            <a:avLst/>
          </a:prstGeom>
          <a:solidFill>
            <a:srgbClr val="FF0000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95946" name="矩形 295945"/>
          <p:cNvSpPr/>
          <p:nvPr userDrawn="1"/>
        </p:nvSpPr>
        <p:spPr>
          <a:xfrm>
            <a:off x="1331595" y="568325"/>
            <a:ext cx="28575" cy="5762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pic>
        <p:nvPicPr>
          <p:cNvPr id="5123" name="Picture 8" descr="zju-logo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7950" y="1905"/>
            <a:ext cx="1127125" cy="1123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 userDrawn="1"/>
        </p:nvSpPr>
        <p:spPr>
          <a:xfrm>
            <a:off x="1456690" y="0"/>
            <a:ext cx="75069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600" kern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  <a:t>Computer Organization &amp; Design</a:t>
            </a:r>
            <a:br>
              <a:rPr lang="en-US" altLang="zh-CN" kern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</a:br>
            <a:r>
              <a:rPr lang="en-US" altLang="zh-CN" kern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  <a:t>—The Hardware/Software Interface</a:t>
            </a:r>
            <a:br>
              <a:rPr lang="en-US" altLang="zh-CN" kern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</a:br>
            <a:r>
              <a:rPr lang="en-US" altLang="zh-CN" kern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  <a:t>RISC-V EDITION</a:t>
            </a:r>
            <a:endParaRPr lang="zh-CN" altLang="en-US"/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 dirty="0">
                <a:latin typeface="Arial" panose="020B0604020202020204" pitchFamily="34" charset="0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 Large and Fast: Exploiting Memory Hierarchy — </a:t>
            </a:r>
            <a:fld id="{9A0DB2DC-4C9A-4742-B13C-FB6460FD3503}" type="slidenum"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 dirty="0">
                <a:latin typeface="Arial" panose="020B0604020202020204" pitchFamily="34" charset="0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 Large and Fast: Exploiting Memory Hierarchy — </a:t>
            </a:r>
            <a:fld id="{9A0DB2DC-4C9A-4742-B13C-FB6460FD3503}" type="slidenum"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4213" y="1125538"/>
            <a:ext cx="4052729" cy="51117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02359" y="1125538"/>
            <a:ext cx="4052729" cy="51117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 dirty="0">
                <a:latin typeface="Arial" panose="020B0604020202020204" pitchFamily="34" charset="0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 Large and Fast: Exploiting Memory Hierarchy — </a:t>
            </a:r>
            <a:fld id="{9A0DB2DC-4C9A-4742-B13C-FB6460FD3503}" type="slidenum"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 dirty="0">
                <a:latin typeface="Arial" panose="020B0604020202020204" pitchFamily="34" charset="0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 Large and Fast: Exploiting Memory Hierarchy — </a:t>
            </a:r>
            <a:fld id="{9A0DB2DC-4C9A-4742-B13C-FB6460FD3503}" type="slidenum"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 dirty="0">
                <a:latin typeface="Arial" panose="020B0604020202020204" pitchFamily="34" charset="0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 Large and Fast: Exploiting Memory Hierarchy — </a:t>
            </a:r>
            <a:fld id="{9A0DB2DC-4C9A-4742-B13C-FB6460FD3503}" type="slidenum"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 dirty="0">
                <a:latin typeface="Arial" panose="020B0604020202020204" pitchFamily="34" charset="0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 Large and Fast: Exploiting Memory Hierarchy — </a:t>
            </a:r>
            <a:fld id="{9A0DB2DC-4C9A-4742-B13C-FB6460FD3503}" type="slidenum"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 dirty="0">
                <a:latin typeface="Arial" panose="020B0604020202020204" pitchFamily="34" charset="0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 Large and Fast: Exploiting Memory Hierarchy — </a:t>
            </a:r>
            <a:fld id="{9A0DB2DC-4C9A-4742-B13C-FB6460FD3503}" type="slidenum"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 dirty="0">
                <a:latin typeface="Arial" panose="020B0604020202020204" pitchFamily="34" charset="0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 Large and Fast: Exploiting Memory Hierarchy — </a:t>
            </a:r>
            <a:fld id="{9A0DB2DC-4C9A-4742-B13C-FB6460FD3503}" type="slidenum"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 dirty="0">
                <a:latin typeface="Arial" panose="020B0604020202020204" pitchFamily="34" charset="0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 Large and Fast: Exploiting Memory Hierarchy — </a:t>
            </a:r>
            <a:fld id="{9A0DB2DC-4C9A-4742-B13C-FB6460FD3503}" type="slidenum"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87369" y="146050"/>
            <a:ext cx="2067719" cy="60912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4213" y="146050"/>
            <a:ext cx="6083288" cy="60912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 dirty="0">
                <a:latin typeface="Arial" panose="020B0604020202020204" pitchFamily="34" charset="0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 Large and Fast: Exploiting Memory Hierarchy — </a:t>
            </a:r>
            <a:fld id="{9A0DB2DC-4C9A-4742-B13C-FB6460FD3503}" type="slidenum"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7886700" cy="20986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8650" y="4076700"/>
            <a:ext cx="7886700" cy="21002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r>
              <a:rPr lang="en-AU" altLang="zh-CN"/>
              <a:t>Chapter 1 — Computer Abstractions and Technology </a:t>
            </a:r>
            <a:r>
              <a:rPr lang="en-AU" altLang="zh-CN" sz="1400" b="1">
                <a:latin typeface="Arial" panose="020B0604020202020204" pitchFamily="34" charset="0"/>
              </a:rPr>
              <a:t>— </a:t>
            </a:r>
            <a:fld id="{9A0DB2DC-4C9A-4742-B13C-FB6460FD3503}" type="slidenum">
              <a:rPr lang="en-AU" altLang="zh-CN" sz="1400" b="1">
                <a:latin typeface="Arial" panose="020B0604020202020204" pitchFamily="34" charset="0"/>
              </a:rPr>
            </a:fld>
            <a:endParaRPr lang="en-AU" altLang="zh-CN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联机映像占位符 2"/>
          <p:cNvSpPr>
            <a:spLocks noGrp="1"/>
          </p:cNvSpPr>
          <p:nvPr>
            <p:ph type="clipArt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r>
              <a:rPr lang="en-AU" altLang="zh-CN" dirty="0">
                <a:latin typeface="Arial" panose="020B0604020202020204" pitchFamily="34" charset="0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 Large and Fast: Exploiting Memory Hierarchy — </a:t>
            </a:r>
            <a:fld id="{9A0DB2DC-4C9A-4742-B13C-FB6460FD3503}" type="slidenum"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1.jpeg"/><Relationship Id="rId16" Type="http://schemas.openxmlformats.org/officeDocument/2006/relationships/tags" Target="../tags/tag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4914" name="矩形 294913"/>
          <p:cNvSpPr/>
          <p:nvPr/>
        </p:nvSpPr>
        <p:spPr>
          <a:xfrm>
            <a:off x="468313" y="260350"/>
            <a:ext cx="36512" cy="3816350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94915" name="标题 294914"/>
          <p:cNvSpPr>
            <a:spLocks noGrp="1"/>
          </p:cNvSpPr>
          <p:nvPr>
            <p:ph type="title"/>
          </p:nvPr>
        </p:nvSpPr>
        <p:spPr>
          <a:xfrm>
            <a:off x="684213" y="146050"/>
            <a:ext cx="8259762" cy="762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p>
            <a:pPr lvl="0"/>
            <a:r>
              <a:rPr lang="en-AU" altLang="zh-CN" dirty="0"/>
              <a:t>Click to edit Master title style</a:t>
            </a:r>
            <a:endParaRPr lang="en-AU" altLang="zh-CN" dirty="0"/>
          </a:p>
        </p:txBody>
      </p:sp>
      <p:sp>
        <p:nvSpPr>
          <p:cNvPr id="294916" name="文本占位符 294915"/>
          <p:cNvSpPr>
            <a:spLocks noGrp="1"/>
          </p:cNvSpPr>
          <p:nvPr>
            <p:ph type="body" idx="1"/>
          </p:nvPr>
        </p:nvSpPr>
        <p:spPr>
          <a:xfrm>
            <a:off x="684213" y="1125538"/>
            <a:ext cx="8270875" cy="51117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AU" altLang="zh-CN" dirty="0"/>
              <a:t>Click to edit Master text styles</a:t>
            </a:r>
            <a:endParaRPr lang="en-AU" altLang="zh-CN" dirty="0"/>
          </a:p>
          <a:p>
            <a:pPr lvl="1"/>
            <a:r>
              <a:rPr lang="en-AU" altLang="zh-CN" dirty="0"/>
              <a:t>Second level</a:t>
            </a:r>
            <a:endParaRPr lang="en-AU" altLang="zh-CN" dirty="0"/>
          </a:p>
          <a:p>
            <a:pPr lvl="2"/>
            <a:r>
              <a:rPr lang="en-AU" altLang="zh-CN" dirty="0"/>
              <a:t>Third level</a:t>
            </a:r>
            <a:endParaRPr lang="en-AU" altLang="zh-CN" dirty="0"/>
          </a:p>
          <a:p>
            <a:pPr lvl="3"/>
            <a:r>
              <a:rPr lang="en-AU" altLang="zh-CN" dirty="0"/>
              <a:t>Fourth level</a:t>
            </a:r>
            <a:endParaRPr lang="en-AU" altLang="zh-CN" dirty="0"/>
          </a:p>
          <a:p>
            <a:pPr lvl="4"/>
            <a:r>
              <a:rPr lang="en-AU" altLang="zh-CN" dirty="0"/>
              <a:t>Fifth level</a:t>
            </a:r>
            <a:endParaRPr lang="en-AU" altLang="zh-CN" dirty="0"/>
          </a:p>
        </p:txBody>
      </p:sp>
      <p:sp>
        <p:nvSpPr>
          <p:cNvPr id="294917" name="页脚占位符 294916"/>
          <p:cNvSpPr>
            <a:spLocks noGrp="1"/>
          </p:cNvSpPr>
          <p:nvPr>
            <p:ph type="ftr" sz="quarter" idx="3"/>
          </p:nvPr>
        </p:nvSpPr>
        <p:spPr>
          <a:xfrm>
            <a:off x="859155" y="6381750"/>
            <a:ext cx="8105775" cy="3587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algn="r">
              <a:defRPr sz="1400" b="1">
                <a:latin typeface="Arial" panose="020B0604020202020204" pitchFamily="34" charset="0"/>
              </a:defRPr>
            </a:lvl1pPr>
          </a:lstStyle>
          <a:p>
            <a:pPr lvl="0" eaLnBrk="1" hangingPunct="1">
              <a:buNone/>
            </a:pPr>
            <a:r>
              <a:rPr lang="en-AU" altLang="zh-CN" dirty="0">
                <a:latin typeface="Arial" panose="020B0604020202020204" pitchFamily="34" charset="0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 Large and Fast: Exploiting Memory Hierarchy — </a:t>
            </a:r>
            <a:fld id="{9A0DB2DC-4C9A-4742-B13C-FB6460FD3503}" type="slidenum"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AU" altLang="zh-CN" sz="1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4919" name="矩形 294918"/>
          <p:cNvSpPr/>
          <p:nvPr/>
        </p:nvSpPr>
        <p:spPr>
          <a:xfrm>
            <a:off x="250825" y="981075"/>
            <a:ext cx="8569325" cy="71438"/>
          </a:xfrm>
          <a:prstGeom prst="rect">
            <a:avLst/>
          </a:prstGeom>
          <a:gradFill rotWithShape="1">
            <a:gsLst>
              <a:gs pos="0">
                <a:schemeClr val="tx2"/>
              </a:gs>
              <a:gs pos="100000">
                <a:srgbClr val="FFFFFF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zh-CN" altLang="en-US"/>
          </a:p>
        </p:txBody>
      </p:sp>
      <p:pic>
        <p:nvPicPr>
          <p:cNvPr id="5123" name="Picture 8" descr="zju-logo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7950" y="6324600"/>
            <a:ext cx="461645" cy="4603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.emf"/><Relationship Id="rId1" Type="http://schemas.openxmlformats.org/officeDocument/2006/relationships/oleObject" Target="../embeddings/oleObject1.bin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2.bin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9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1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4"/>
          <p:cNvSpPr>
            <a:spLocks noGrp="1"/>
          </p:cNvSpPr>
          <p:nvPr>
            <p:ph type="ctrTitle" hasCustomPrompt="1"/>
          </p:nvPr>
        </p:nvSpPr>
        <p:spPr>
          <a:xfrm>
            <a:off x="1864360" y="1844675"/>
            <a:ext cx="6934200" cy="768350"/>
          </a:xfrm>
        </p:spPr>
        <p:txBody>
          <a:bodyPr vert="horz" wrap="square" lIns="91440" tIns="45720" rIns="91440" bIns="45720" anchor="t" anchorCtr="0">
            <a:spAutoFit/>
          </a:bodyPr>
          <a:p>
            <a:pPr eaLnBrk="1" hangingPunct="1">
              <a:buClrTx/>
              <a:buSzTx/>
              <a:buFontTx/>
            </a:pPr>
            <a:r>
              <a:rPr lang="en-AU" altLang="zh-CN" dirty="0">
                <a:solidFill>
                  <a:schemeClr val="tx1"/>
                </a:solidFill>
                <a:latin typeface="Arial Black" panose="020B0A04020102020204" pitchFamily="34" charset="0"/>
                <a:ea typeface="宋体" panose="02010600030101010101" pitchFamily="2" charset="-122"/>
                <a:cs typeface="+mj-cs"/>
              </a:rPr>
              <a:t>Chapter 5</a:t>
            </a:r>
            <a:endParaRPr lang="en-AU" altLang="zh-CN" dirty="0">
              <a:solidFill>
                <a:schemeClr val="tx1"/>
              </a:solidFill>
              <a:latin typeface="Arial Black" panose="020B0A0402010202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5123" name="Rectangle 5"/>
          <p:cNvSpPr>
            <a:spLocks noGrp="1"/>
          </p:cNvSpPr>
          <p:nvPr>
            <p:ph type="subTitle" idx="1" hasCustomPrompt="1"/>
          </p:nvPr>
        </p:nvSpPr>
        <p:spPr>
          <a:xfrm>
            <a:off x="1877060" y="2924175"/>
            <a:ext cx="6927850" cy="1076325"/>
          </a:xfrm>
        </p:spPr>
        <p:txBody>
          <a:bodyPr vert="horz" wrap="square" lIns="91440" tIns="45720" rIns="91440" bIns="45720" anchor="t" anchorCtr="0">
            <a:spAutoFit/>
          </a:bodyPr>
          <a:p>
            <a:pPr eaLnBrk="1" hangingPunct="1">
              <a:buSzPct val="60000"/>
            </a:pPr>
            <a:r>
              <a:rPr lang="en-AU" altLang="zh-CN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Large and Fast: Exploiting Memory Hierarchy</a:t>
            </a:r>
            <a:endParaRPr lang="en-AU" altLang="zh-CN" dirty="0">
              <a:latin typeface="Arial Black" panose="020B0A040201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6147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Principle of Locality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6148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Programs access a small proportion of their address space at any time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Temporal locality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Items accessed recently are likely to be accessed again soon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e.g., instructions in a loop, induction variables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Spatial locality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Items near those accessed recently are likely to be accessed soon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E.g., sequential instruction access, array data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6149" name="Text Box 4"/>
          <p:cNvSpPr txBox="1"/>
          <p:nvPr/>
        </p:nvSpPr>
        <p:spPr>
          <a:xfrm rot="5400000">
            <a:off x="8016875" y="758825"/>
            <a:ext cx="1885950" cy="36671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p>
            <a:r>
              <a:rPr lang="en-US" altLang="zh-CN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§5.1 Introduction</a:t>
            </a:r>
            <a:endParaRPr lang="en-US" altLang="zh-CN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7171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Taking Advantage of Locality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7172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Memory hierarchy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Store everything on disk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Copy recently accessed (and nearby) items from disk to smaller DRAM memory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Main memory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Copy more recently accessed (and nearby) items from DRAM to smaller SRAM memory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Cache memory attached to CPU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pic>
        <p:nvPicPr>
          <p:cNvPr id="8195" name="Picture 6" descr="f05-02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213" y="1484313"/>
            <a:ext cx="3216275" cy="3673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6" name="Rectangle 2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Memory Hierarchy Levels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8197" name="Rectangle 3"/>
          <p:cNvSpPr>
            <a:spLocks noGrp="1"/>
          </p:cNvSpPr>
          <p:nvPr>
            <p:ph sz="half" idx="1"/>
          </p:nvPr>
        </p:nvSpPr>
        <p:spPr>
          <a:xfrm>
            <a:off x="4139565" y="1196975"/>
            <a:ext cx="4825365" cy="511175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ea typeface="宋体" panose="02010600030101010101" pitchFamily="2" charset="-122"/>
              </a:rPr>
              <a:t>Block (aka line): unit of copying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000" dirty="0">
                <a:ea typeface="宋体" panose="02010600030101010101" pitchFamily="2" charset="-122"/>
              </a:rPr>
              <a:t>May be multiple words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ea typeface="宋体" panose="02010600030101010101" pitchFamily="2" charset="-122"/>
              </a:rPr>
              <a:t>If accessed data is present in upper level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000" dirty="0">
                <a:ea typeface="宋体" panose="02010600030101010101" pitchFamily="2" charset="-122"/>
              </a:rPr>
              <a:t>Hit: access satisfied by upper level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2" eaLnBrk="1" hangingPunct="1">
              <a:buClr>
                <a:schemeClr val="folHlink"/>
              </a:buClr>
              <a:buSzPct val="50000"/>
              <a:buFont typeface="Wingdings" panose="05000000000000000000" pitchFamily="2" charset="2"/>
            </a:pPr>
            <a:r>
              <a:rPr lang="en-US" altLang="zh-CN" sz="1800" dirty="0">
                <a:ea typeface="宋体" panose="02010600030101010101" pitchFamily="2" charset="-122"/>
              </a:rPr>
              <a:t>Hit ratio: hits/accesses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ea typeface="宋体" panose="02010600030101010101" pitchFamily="2" charset="-122"/>
              </a:rPr>
              <a:t>If accessed data is absent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000" dirty="0">
                <a:ea typeface="宋体" panose="02010600030101010101" pitchFamily="2" charset="-122"/>
              </a:rPr>
              <a:t>Miss: block copied from lower level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2" eaLnBrk="1" hangingPunct="1">
              <a:buClr>
                <a:schemeClr val="folHlink"/>
              </a:buClr>
              <a:buSzPct val="50000"/>
              <a:buFont typeface="Wingdings" panose="05000000000000000000" pitchFamily="2" charset="2"/>
            </a:pPr>
            <a:r>
              <a:rPr lang="en-US" altLang="zh-CN" sz="1800" dirty="0">
                <a:ea typeface="宋体" panose="02010600030101010101" pitchFamily="2" charset="-122"/>
              </a:rPr>
              <a:t>Time taken: miss penalty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lvl="2" eaLnBrk="1" hangingPunct="1">
              <a:buClr>
                <a:schemeClr val="folHlink"/>
              </a:buClr>
              <a:buSzPct val="50000"/>
              <a:buFont typeface="Wingdings" panose="05000000000000000000" pitchFamily="2" charset="2"/>
            </a:pPr>
            <a:r>
              <a:rPr lang="en-US" altLang="zh-CN" sz="1800" dirty="0">
                <a:ea typeface="宋体" panose="02010600030101010101" pitchFamily="2" charset="-122"/>
              </a:rPr>
              <a:t>Miss ratio: misses/accesses</a:t>
            </a:r>
            <a:br>
              <a:rPr lang="en-US" altLang="zh-CN" sz="1800" dirty="0">
                <a:ea typeface="宋体" panose="02010600030101010101" pitchFamily="2" charset="-122"/>
              </a:rPr>
            </a:br>
            <a:r>
              <a:rPr lang="en-US" altLang="zh-CN" sz="1800" dirty="0">
                <a:ea typeface="宋体" panose="02010600030101010101" pitchFamily="2" charset="-122"/>
              </a:rPr>
              <a:t>= 1 – hit ratio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000" dirty="0">
                <a:ea typeface="宋体" panose="02010600030101010101" pitchFamily="2" charset="-122"/>
              </a:rPr>
              <a:t>Then accessed data supplied from upper level</a:t>
            </a:r>
            <a:endParaRPr lang="en-AU" altLang="zh-CN" sz="2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9219" name="Rectang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Memory Technology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9220" name="Rectangle 6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Static RAM (SRAM)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0.5ns – 2.5ns, $500 – $1000 per GB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Dynamic RAM (DRAM)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50ns – 70ns, $10 – $20 per GB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Flash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5 µs – 50 µs, $0.75 – $1 per GB  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Magnetic disk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5ms – 20ms, $0.05 – $0.1 per GB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Ideal memory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Access time of SRAM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Capacity and cost/GB of disk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9221" name="Text Box 4"/>
          <p:cNvSpPr txBox="1"/>
          <p:nvPr/>
        </p:nvSpPr>
        <p:spPr>
          <a:xfrm rot="5400000">
            <a:off x="7473950" y="1284288"/>
            <a:ext cx="2938463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p>
            <a:r>
              <a:rPr lang="en-US" altLang="zh-CN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§5.2 Memory Technologies</a:t>
            </a:r>
            <a:endParaRPr lang="en-US" altLang="zh-CN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pic>
        <p:nvPicPr>
          <p:cNvPr id="10243" name="Picture 10" descr="f05-04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750" y="3429000"/>
            <a:ext cx="3743325" cy="2800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4" name="Rectangle 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Cache Memory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0245" name="Rectangle 8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Cache memory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The level of the memory hierarchy closest to the CPU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Given accesses X</a:t>
            </a:r>
            <a:r>
              <a:rPr lang="en-US" altLang="zh-CN" baseline="-25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, …, X</a:t>
            </a:r>
            <a:r>
              <a:rPr lang="en-US" altLang="zh-CN" baseline="-25000" dirty="0">
                <a:ea typeface="宋体" panose="02010600030101010101" pitchFamily="2" charset="-122"/>
              </a:rPr>
              <a:t>n–1</a:t>
            </a:r>
            <a:r>
              <a:rPr lang="en-US" altLang="zh-CN" dirty="0">
                <a:ea typeface="宋体" panose="02010600030101010101" pitchFamily="2" charset="-122"/>
              </a:rPr>
              <a:t>, X</a:t>
            </a:r>
            <a:r>
              <a:rPr lang="en-US" altLang="zh-CN" baseline="-25000" dirty="0">
                <a:ea typeface="宋体" panose="02010600030101010101" pitchFamily="2" charset="-122"/>
              </a:rPr>
              <a:t>n</a:t>
            </a:r>
            <a:endParaRPr lang="en-AU" altLang="zh-CN" baseline="-25000" dirty="0">
              <a:ea typeface="宋体" panose="02010600030101010101" pitchFamily="2" charset="-122"/>
            </a:endParaRPr>
          </a:p>
        </p:txBody>
      </p:sp>
      <p:sp>
        <p:nvSpPr>
          <p:cNvPr id="10246" name="Text Box 4"/>
          <p:cNvSpPr txBox="1"/>
          <p:nvPr/>
        </p:nvSpPr>
        <p:spPr>
          <a:xfrm rot="5400000">
            <a:off x="7502525" y="1273175"/>
            <a:ext cx="2914650" cy="36671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p>
            <a:r>
              <a:rPr lang="en-US" altLang="zh-CN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§5.3 The Basics of Caches</a:t>
            </a:r>
            <a:endParaRPr lang="en-US" altLang="zh-CN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7" name="Rectangle 6"/>
          <p:cNvSpPr/>
          <p:nvPr/>
        </p:nvSpPr>
        <p:spPr>
          <a:xfrm>
            <a:off x="5148263" y="3789363"/>
            <a:ext cx="3811587" cy="23034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How do we know if the data is present?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Where do we look?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pic>
        <p:nvPicPr>
          <p:cNvPr id="11267" name="Picture 9" descr="f05-05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13" y="2922588"/>
            <a:ext cx="4692650" cy="3387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8" name="Rectangle 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Direct Mapped Cache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1269" name="Rectangle 7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Location determined by address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Direct mapped: only one choice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(Block address) modulo (#Blocks in cache)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1270" name="Rectangle 5"/>
          <p:cNvSpPr/>
          <p:nvPr/>
        </p:nvSpPr>
        <p:spPr>
          <a:xfrm>
            <a:off x="6084888" y="3789363"/>
            <a:ext cx="2803525" cy="25193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#Blocks is a power of 2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Use low-order address bits</a:t>
            </a:r>
            <a:endParaRPr lang="en-AU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2291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Tags and Valid Bits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2292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How do we know which particular block is stored in a cache location?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Store block address as well as the data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Actually, only need the high-order bits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Called the tag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What if there is no data in a location?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Valid bit: 1 = present, 0 = not present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Initially 0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3315" name="Rectangle 5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Cache Example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13316" name="Rectangle 57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8-blocks, 1 word/block, direct mapped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Initial state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54980" name="Group 4"/>
          <p:cNvGraphicFramePr>
            <a:graphicFrameLocks noGrp="1"/>
          </p:cNvGraphicFramePr>
          <p:nvPr/>
        </p:nvGraphicFramePr>
        <p:xfrm>
          <a:off x="1547813" y="2924175"/>
          <a:ext cx="6096000" cy="3292475"/>
        </p:xfrm>
        <a:graphic>
          <a:graphicData uri="http://schemas.openxmlformats.org/drawingml/2006/table">
            <a:tbl>
              <a:tblPr/>
              <a:tblGrid>
                <a:gridCol w="1079500"/>
                <a:gridCol w="649287"/>
                <a:gridCol w="1150938"/>
                <a:gridCol w="3216275"/>
              </a:tblGrid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Index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V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Tag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Data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433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Cache Example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57027" name="Group 3"/>
          <p:cNvGraphicFramePr>
            <a:graphicFrameLocks noGrp="1"/>
          </p:cNvGraphicFramePr>
          <p:nvPr/>
        </p:nvGraphicFramePr>
        <p:xfrm>
          <a:off x="1547813" y="2924175"/>
          <a:ext cx="6096000" cy="3292475"/>
        </p:xfrm>
        <a:graphic>
          <a:graphicData uri="http://schemas.openxmlformats.org/drawingml/2006/table">
            <a:tbl>
              <a:tblPr/>
              <a:tblGrid>
                <a:gridCol w="1079500"/>
                <a:gridCol w="649287"/>
                <a:gridCol w="1150938"/>
                <a:gridCol w="3216275"/>
              </a:tblGrid>
              <a:tr h="190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Index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V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Tag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Data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110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Mem[10110]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57079" name="Group 55"/>
          <p:cNvGraphicFramePr>
            <a:graphicFrameLocks noGrp="1"/>
          </p:cNvGraphicFramePr>
          <p:nvPr/>
        </p:nvGraphicFramePr>
        <p:xfrm>
          <a:off x="1547813" y="1320800"/>
          <a:ext cx="6072188" cy="731838"/>
        </p:xfrm>
        <a:graphic>
          <a:graphicData uri="http://schemas.openxmlformats.org/drawingml/2006/table">
            <a:tbl>
              <a:tblPr/>
              <a:tblGrid>
                <a:gridCol w="1673225"/>
                <a:gridCol w="1649412"/>
                <a:gridCol w="1231900"/>
                <a:gridCol w="1517650"/>
              </a:tblGrid>
              <a:tr h="3286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Word addr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Binary addr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Hit/miss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Cache block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10 110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536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Cache Example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59075" name="Group 3"/>
          <p:cNvGraphicFramePr>
            <a:graphicFrameLocks noGrp="1"/>
          </p:cNvGraphicFramePr>
          <p:nvPr/>
        </p:nvGraphicFramePr>
        <p:xfrm>
          <a:off x="1547813" y="2924175"/>
          <a:ext cx="6096000" cy="3292475"/>
        </p:xfrm>
        <a:graphic>
          <a:graphicData uri="http://schemas.openxmlformats.org/drawingml/2006/table">
            <a:tbl>
              <a:tblPr/>
              <a:tblGrid>
                <a:gridCol w="1079500"/>
                <a:gridCol w="649287"/>
                <a:gridCol w="1150938"/>
                <a:gridCol w="3216275"/>
              </a:tblGrid>
              <a:tr h="190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Index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V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Tag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Data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010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Mem[11010]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Mem[10110]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59127" name="Group 55"/>
          <p:cNvGraphicFramePr>
            <a:graphicFrameLocks noGrp="1"/>
          </p:cNvGraphicFramePr>
          <p:nvPr/>
        </p:nvGraphicFramePr>
        <p:xfrm>
          <a:off x="1547813" y="1320800"/>
          <a:ext cx="6072188" cy="731838"/>
        </p:xfrm>
        <a:graphic>
          <a:graphicData uri="http://schemas.openxmlformats.org/drawingml/2006/table">
            <a:tbl>
              <a:tblPr/>
              <a:tblGrid>
                <a:gridCol w="1673225"/>
                <a:gridCol w="1649412"/>
                <a:gridCol w="1231900"/>
                <a:gridCol w="1517650"/>
              </a:tblGrid>
              <a:tr h="3286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Word addr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Binary addr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Hit/miss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Cache block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11 010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638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Cache Example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61123" name="Group 3"/>
          <p:cNvGraphicFramePr>
            <a:graphicFrameLocks noGrp="1"/>
          </p:cNvGraphicFramePr>
          <p:nvPr/>
        </p:nvGraphicFramePr>
        <p:xfrm>
          <a:off x="1547813" y="2924175"/>
          <a:ext cx="6096000" cy="3292475"/>
        </p:xfrm>
        <a:graphic>
          <a:graphicData uri="http://schemas.openxmlformats.org/drawingml/2006/table">
            <a:tbl>
              <a:tblPr/>
              <a:tblGrid>
                <a:gridCol w="1079500"/>
                <a:gridCol w="649287"/>
                <a:gridCol w="1150938"/>
                <a:gridCol w="3216275"/>
              </a:tblGrid>
              <a:tr h="190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Index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V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Tag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Data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Mem[11010]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Mem[10110]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61175" name="Group 55"/>
          <p:cNvGraphicFramePr>
            <a:graphicFrameLocks noGrp="1"/>
          </p:cNvGraphicFramePr>
          <p:nvPr/>
        </p:nvGraphicFramePr>
        <p:xfrm>
          <a:off x="1547813" y="1320800"/>
          <a:ext cx="6072188" cy="1096963"/>
        </p:xfrm>
        <a:graphic>
          <a:graphicData uri="http://schemas.openxmlformats.org/drawingml/2006/table">
            <a:tbl>
              <a:tblPr/>
              <a:tblGrid>
                <a:gridCol w="1673225"/>
                <a:gridCol w="1649412"/>
                <a:gridCol w="1231900"/>
                <a:gridCol w="1517650"/>
              </a:tblGrid>
              <a:tr h="3286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Word addr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Binary addr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Hit/miss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Cache block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10 110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Hit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11 010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Hit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741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Cache Example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63171" name="Group 3"/>
          <p:cNvGraphicFramePr>
            <a:graphicFrameLocks noGrp="1"/>
          </p:cNvGraphicFramePr>
          <p:nvPr/>
        </p:nvGraphicFramePr>
        <p:xfrm>
          <a:off x="1547813" y="2924175"/>
          <a:ext cx="6096000" cy="3292475"/>
        </p:xfrm>
        <a:graphic>
          <a:graphicData uri="http://schemas.openxmlformats.org/drawingml/2006/table">
            <a:tbl>
              <a:tblPr/>
              <a:tblGrid>
                <a:gridCol w="1079500"/>
                <a:gridCol w="649287"/>
                <a:gridCol w="1150938"/>
                <a:gridCol w="3216275"/>
              </a:tblGrid>
              <a:tr h="190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Index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V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Tag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Data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000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Mem[10000]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Mem[11010]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011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Mem[00011]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Mem[10110]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63223" name="Group 55"/>
          <p:cNvGraphicFramePr>
            <a:graphicFrameLocks noGrp="1"/>
          </p:cNvGraphicFramePr>
          <p:nvPr/>
        </p:nvGraphicFramePr>
        <p:xfrm>
          <a:off x="1547813" y="1320800"/>
          <a:ext cx="6072188" cy="1463675"/>
        </p:xfrm>
        <a:graphic>
          <a:graphicData uri="http://schemas.openxmlformats.org/drawingml/2006/table">
            <a:tbl>
              <a:tblPr/>
              <a:tblGrid>
                <a:gridCol w="1673225"/>
                <a:gridCol w="1649412"/>
                <a:gridCol w="1231900"/>
                <a:gridCol w="1517650"/>
              </a:tblGrid>
              <a:tr h="3286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Word addr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Binary addr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Hit/miss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Cache block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10 000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00 011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10 000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Hit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843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Cache Example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265219" name="Group 3"/>
          <p:cNvGraphicFramePr>
            <a:graphicFrameLocks noGrp="1"/>
          </p:cNvGraphicFramePr>
          <p:nvPr/>
        </p:nvGraphicFramePr>
        <p:xfrm>
          <a:off x="1547813" y="2924175"/>
          <a:ext cx="6096000" cy="3292475"/>
        </p:xfrm>
        <a:graphic>
          <a:graphicData uri="http://schemas.openxmlformats.org/drawingml/2006/table">
            <a:tbl>
              <a:tblPr/>
              <a:tblGrid>
                <a:gridCol w="1079500"/>
                <a:gridCol w="649287"/>
                <a:gridCol w="1150938"/>
                <a:gridCol w="3216275"/>
              </a:tblGrid>
              <a:tr h="190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Index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V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Tag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Data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Mem[10000]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010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Mem[10010]</a:t>
                      </a:r>
                      <a:endParaRPr kumimoji="0" lang="en-AU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Mem[00011]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Mem[10110]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111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65271" name="Group 55"/>
          <p:cNvGraphicFramePr>
            <a:graphicFrameLocks noGrp="1"/>
          </p:cNvGraphicFramePr>
          <p:nvPr/>
        </p:nvGraphicFramePr>
        <p:xfrm>
          <a:off x="1547813" y="1320800"/>
          <a:ext cx="6072188" cy="731838"/>
        </p:xfrm>
        <a:graphic>
          <a:graphicData uri="http://schemas.openxmlformats.org/drawingml/2006/table">
            <a:tbl>
              <a:tblPr/>
              <a:tblGrid>
                <a:gridCol w="1673225"/>
                <a:gridCol w="1649412"/>
                <a:gridCol w="1231900"/>
                <a:gridCol w="1517650"/>
              </a:tblGrid>
              <a:tr h="3286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Word addr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Binary addr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Hit/miss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Cache block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10 010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Miss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010</a:t>
                      </a:r>
                      <a:endParaRPr kumimoji="0" lang="en-AU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945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Address Subdivision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2" name="图片 1" descr="f5.10 - 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95" y="1196975"/>
            <a:ext cx="7185025" cy="50704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20483" name="Rectangle 1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Example: Larger Block Size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0484" name="Rectangle 17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64 blocks, 16 bytes/block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To what block number does address 1200 map?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Block address = </a:t>
            </a:r>
            <a:r>
              <a:rPr lang="en-US" altLang="zh-CN" dirty="0">
                <a:latin typeface="Arial Unicode MS" pitchFamily="34" charset="-128"/>
                <a:ea typeface="Arial Unicode MS" pitchFamily="34" charset="-128"/>
                <a:sym typeface="Symbol" panose="05050102010706020507" pitchFamily="18" charset="2"/>
              </a:rPr>
              <a:t></a:t>
            </a:r>
            <a:r>
              <a:rPr lang="en-US" altLang="zh-CN" dirty="0">
                <a:ea typeface="宋体" panose="02010600030101010101" pitchFamily="2" charset="-122"/>
              </a:rPr>
              <a:t>1200/16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</a:t>
            </a:r>
            <a:r>
              <a:rPr lang="en-US" altLang="zh-CN" dirty="0">
                <a:ea typeface="宋体" panose="02010600030101010101" pitchFamily="2" charset="-122"/>
              </a:rPr>
              <a:t> = 75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Block number = 75 modulo 64 = 11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grpSp>
        <p:nvGrpSpPr>
          <p:cNvPr id="20485" name="Group 18"/>
          <p:cNvGrpSpPr/>
          <p:nvPr/>
        </p:nvGrpSpPr>
        <p:grpSpPr>
          <a:xfrm>
            <a:off x="1617663" y="4221163"/>
            <a:ext cx="5227637" cy="1108075"/>
            <a:chOff x="1227" y="2755"/>
            <a:chExt cx="3293" cy="698"/>
          </a:xfrm>
        </p:grpSpPr>
        <p:sp>
          <p:nvSpPr>
            <p:cNvPr id="20486" name="Rectangle 4"/>
            <p:cNvSpPr/>
            <p:nvPr/>
          </p:nvSpPr>
          <p:spPr>
            <a:xfrm>
              <a:off x="1247" y="2976"/>
              <a:ext cx="1724" cy="273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dirty="0">
                  <a:latin typeface="Arial" panose="020B0604020202020204" pitchFamily="34" charset="0"/>
                  <a:ea typeface="宋体" panose="02010600030101010101" pitchFamily="2" charset="-122"/>
                </a:rPr>
                <a:t>Tag</a:t>
              </a:r>
              <a:endParaRPr lang="en-AU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487" name="Rectangle 5"/>
            <p:cNvSpPr/>
            <p:nvPr/>
          </p:nvSpPr>
          <p:spPr>
            <a:xfrm>
              <a:off x="2971" y="2976"/>
              <a:ext cx="862" cy="273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dirty="0">
                  <a:latin typeface="Arial" panose="020B0604020202020204" pitchFamily="34" charset="0"/>
                  <a:ea typeface="宋体" panose="02010600030101010101" pitchFamily="2" charset="-122"/>
                </a:rPr>
                <a:t>Index</a:t>
              </a:r>
              <a:endParaRPr lang="en-AU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488" name="Rectangle 6"/>
            <p:cNvSpPr/>
            <p:nvPr/>
          </p:nvSpPr>
          <p:spPr>
            <a:xfrm>
              <a:off x="3833" y="2976"/>
              <a:ext cx="635" cy="273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dirty="0">
                  <a:latin typeface="Arial" panose="020B0604020202020204" pitchFamily="34" charset="0"/>
                  <a:ea typeface="宋体" panose="02010600030101010101" pitchFamily="2" charset="-122"/>
                </a:rPr>
                <a:t>Offset</a:t>
              </a:r>
              <a:endParaRPr lang="en-AU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489" name="Text Box 7"/>
            <p:cNvSpPr txBox="1"/>
            <p:nvPr/>
          </p:nvSpPr>
          <p:spPr>
            <a:xfrm>
              <a:off x="4324" y="2755"/>
              <a:ext cx="1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/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  <a:endParaRPr lang="en-AU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490" name="Text Box 8"/>
            <p:cNvSpPr txBox="1"/>
            <p:nvPr/>
          </p:nvSpPr>
          <p:spPr>
            <a:xfrm>
              <a:off x="3825" y="2755"/>
              <a:ext cx="1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/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3</a:t>
              </a:r>
              <a:endParaRPr lang="en-AU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491" name="Text Box 9"/>
            <p:cNvSpPr txBox="1"/>
            <p:nvPr/>
          </p:nvSpPr>
          <p:spPr>
            <a:xfrm>
              <a:off x="3602" y="2755"/>
              <a:ext cx="1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/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4</a:t>
              </a:r>
              <a:endParaRPr lang="en-AU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492" name="Text Box 10"/>
            <p:cNvSpPr txBox="1"/>
            <p:nvPr/>
          </p:nvSpPr>
          <p:spPr>
            <a:xfrm>
              <a:off x="2963" y="2755"/>
              <a:ext cx="1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/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9</a:t>
              </a:r>
              <a:endParaRPr lang="en-AU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493" name="Text Box 11"/>
            <p:cNvSpPr txBox="1"/>
            <p:nvPr/>
          </p:nvSpPr>
          <p:spPr>
            <a:xfrm>
              <a:off x="2740" y="2755"/>
              <a:ext cx="2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/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10</a:t>
              </a:r>
              <a:endParaRPr lang="en-AU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494" name="Text Box 12"/>
            <p:cNvSpPr txBox="1"/>
            <p:nvPr/>
          </p:nvSpPr>
          <p:spPr>
            <a:xfrm>
              <a:off x="1227" y="2755"/>
              <a:ext cx="278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/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63</a:t>
              </a:r>
              <a:endParaRPr lang="en-AU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495" name="Text Box 13"/>
            <p:cNvSpPr txBox="1"/>
            <p:nvPr/>
          </p:nvSpPr>
          <p:spPr>
            <a:xfrm>
              <a:off x="3919" y="3220"/>
              <a:ext cx="4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/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4 bits</a:t>
              </a:r>
              <a:endParaRPr lang="en-AU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496" name="Text Box 14"/>
            <p:cNvSpPr txBox="1"/>
            <p:nvPr/>
          </p:nvSpPr>
          <p:spPr>
            <a:xfrm>
              <a:off x="3162" y="3220"/>
              <a:ext cx="4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/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6 bits</a:t>
              </a:r>
              <a:endParaRPr lang="en-AU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497" name="Text Box 15"/>
            <p:cNvSpPr txBox="1"/>
            <p:nvPr/>
          </p:nvSpPr>
          <p:spPr>
            <a:xfrm>
              <a:off x="1849" y="3220"/>
              <a:ext cx="544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/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54 bits</a:t>
              </a:r>
              <a:endParaRPr lang="en-AU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21507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Block Size Considerations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1508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Larger blocks should reduce miss rate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Due to spatial locality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But in a fixed-sized cache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Larger blocks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 fewer of them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More competition  increased miss rate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Larger blocks  pollution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Larger miss penalty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Can override benefit of reduced miss rate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Early restart and critical-word-first can help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22531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Cache Misses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2532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On cache hit, CPU proceeds normally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On cache miss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Stall the CPU pipeline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Fetch block from next level of hierarchy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Instruction cache miss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Restart instruction fetch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Data cache miss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Complete data access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23555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Write-Through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3556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On data-write hit, could just update the block in cache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But then cache and memory would be inconsistent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Write through: also update memory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But makes writes take longer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e.g., if base CPI = 1, 10% of instructions are stores, write to memory takes 100 cycles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 Effective CPI = 1 + 0.1×100 = 11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Solution: write buffer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Holds data waiting to be written to memory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CPU continues immediately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Only stalls on write if write buffer is already full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24579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Write-Back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4580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Alternative: On data-write hit, just update the block in cache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Keep track of whether each block is dirty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When a dirty block is replaced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Write it back to memory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Can use a write buffer to allow replacing block to be read first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25603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Write Allocation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5604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What should happen on a write miss?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Alternatives for write-through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Allocate on miss: fetch the block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Write around: don’t fetch the block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Since programs often write a whole block before reading it (e.g., initialization)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For write-back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Usually fetch the block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2662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Example: Intrinsity FastMATH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662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Embedded MIPS processor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12-stage pipeline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Instruction and data access on each cycle</a:t>
            </a:r>
            <a:endParaRPr lang="en-AU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Split cache: separate I-cache and D-cache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Each 16KB: 256 blocks </a:t>
            </a:r>
            <a:r>
              <a:rPr lang="en-US" altLang="zh-CN" dirty="0">
                <a:ea typeface="宋体" panose="02010600030101010101" pitchFamily="2" charset="-122"/>
              </a:rPr>
              <a:t>×</a:t>
            </a:r>
            <a:r>
              <a:rPr lang="en-AU" altLang="zh-CN" dirty="0">
                <a:ea typeface="宋体" panose="02010600030101010101" pitchFamily="2" charset="-122"/>
              </a:rPr>
              <a:t> 16 words/block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D-cache: write-through or write-back</a:t>
            </a:r>
            <a:endParaRPr lang="en-AU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SPEC2000 miss rates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I-cache: 0.4%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D-cache: 11.4%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Weighted average: 3.2%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2765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Example: Intrinsity FastMATH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27652" name="Picture 4" descr="f05-09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088" y="1196975"/>
            <a:ext cx="7975600" cy="5051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28675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Main Memory Supporting Caches</a:t>
            </a:r>
            <a:endParaRPr lang="en-AU" altLang="zh-CN" sz="4000" dirty="0">
              <a:ea typeface="宋体" panose="02010600030101010101" pitchFamily="2" charset="-122"/>
            </a:endParaRPr>
          </a:p>
        </p:txBody>
      </p:sp>
      <p:sp>
        <p:nvSpPr>
          <p:cNvPr id="28676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Use DRAMs for main memory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Fixed width (e.g., 1 word)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Connected by fixed-width clocked bus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Bus clock is typically slower than CPU clock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Example cache block read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1 bus cycle for address transfer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15 bus cycles per DRAM access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1 bus cycle per data transfer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For 4-word block, 1-word-wide DRAM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Miss penalty = 1 + 4×15 + 4×1 = 65 bus cycles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Bandwidth = 16 bytes / 65 cycles = 0.25 B/cycle</a:t>
            </a:r>
            <a:endParaRPr lang="en-AU" altLang="zh-CN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pic>
        <p:nvPicPr>
          <p:cNvPr id="29699" name="Picture 6" descr="f05-11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1196975"/>
            <a:ext cx="6484938" cy="4673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70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Increasing Memory Bandwidth</a:t>
            </a:r>
            <a:endParaRPr lang="en-AU" altLang="zh-CN" sz="4000" dirty="0">
              <a:ea typeface="宋体" panose="02010600030101010101" pitchFamily="2" charset="-122"/>
            </a:endParaRPr>
          </a:p>
        </p:txBody>
      </p:sp>
      <p:sp>
        <p:nvSpPr>
          <p:cNvPr id="29701" name="Rectangle 4"/>
          <p:cNvSpPr/>
          <p:nvPr/>
        </p:nvSpPr>
        <p:spPr>
          <a:xfrm>
            <a:off x="2195513" y="4076700"/>
            <a:ext cx="6759575" cy="22320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4-word wide memory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Miss penalty = 1 + 15 + 1 = 17 bus cycles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Bandwidth = 16 bytes / 17 cycles = 0.94 B/cycle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4-bank interleaved memory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Miss penalty = 1 + 15 + 4×1 = 20 bus cycles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Bandwidth = 16 bytes / 20 cycles = 0.8 B/cycle</a:t>
            </a:r>
            <a:endParaRPr lang="en-AU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30723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Advanced DRAM Organization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30724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Bits in a DRAM are organized as a rectangular array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DRAM accesses an entire row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Burst mode: supply successive words from a row with reduced latency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Double data rate (DDR) DRAM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Transfer on rising and falling clock edges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Quad data rate (QDR) DRAM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Separate DDR inputs and outputs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7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102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DRAM Generations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1026" name="Object 3"/>
          <p:cNvGraphicFramePr/>
          <p:nvPr/>
        </p:nvGraphicFramePr>
        <p:xfrm>
          <a:off x="3779838" y="1487488"/>
          <a:ext cx="5253037" cy="441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5805170" imgH="4777740" progId="MSGraph.Chart.8">
                  <p:embed/>
                </p:oleObj>
              </mc:Choice>
              <mc:Fallback>
                <p:oleObj name="" r:id="rId1" imgW="5805170" imgH="4777740" progId="MSGraph.Chart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79838" y="1487488"/>
                        <a:ext cx="5253037" cy="4414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802" name="Group 58"/>
          <p:cNvGraphicFramePr>
            <a:graphicFrameLocks noGrp="1"/>
          </p:cNvGraphicFramePr>
          <p:nvPr/>
        </p:nvGraphicFramePr>
        <p:xfrm>
          <a:off x="682625" y="1700213"/>
          <a:ext cx="2952750" cy="4064004"/>
        </p:xfrm>
        <a:graphic>
          <a:graphicData uri="http://schemas.openxmlformats.org/drawingml/2006/table">
            <a:tbl>
              <a:tblPr/>
              <a:tblGrid>
                <a:gridCol w="790575"/>
                <a:gridCol w="1009650"/>
                <a:gridCol w="1152525"/>
              </a:tblGrid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Year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Capacity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$/GB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1980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64Kbit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$1500000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1983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256Kbit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$500000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1985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1Mbit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$200000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1989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4Mbit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$50000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1992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16Mbit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$15000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1996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64Mbit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$10000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1998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128Mbit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$4000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2000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256Mbit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$1000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2004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512Mbit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$250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2007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1Gbit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$50</a:t>
                      </a:r>
                      <a:endParaRPr kumimoji="0" lang="en-AU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1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2052" name="Rectangle 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Measuring Cache Performance</a:t>
            </a:r>
            <a:endParaRPr lang="en-AU" altLang="zh-CN" sz="4000" dirty="0">
              <a:ea typeface="宋体" panose="02010600030101010101" pitchFamily="2" charset="-122"/>
            </a:endParaRPr>
          </a:p>
        </p:txBody>
      </p:sp>
      <p:sp>
        <p:nvSpPr>
          <p:cNvPr id="2053" name="Rectangle 7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Components of CPU time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Program execution cycles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Includes cache hit time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Memory stall cycles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Mainly from cache misses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With simplifying assumptions: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2054" name="Text Box 4"/>
          <p:cNvSpPr txBox="1"/>
          <p:nvPr/>
        </p:nvSpPr>
        <p:spPr>
          <a:xfrm rot="5400000">
            <a:off x="6276975" y="2498725"/>
            <a:ext cx="5365750" cy="36671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p>
            <a:r>
              <a:rPr lang="en-US" altLang="zh-CN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§5.4 Measuring and Improving Cache Performance</a:t>
            </a:r>
            <a:endParaRPr lang="en-US" altLang="zh-CN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050" name="Object 5"/>
          <p:cNvGraphicFramePr/>
          <p:nvPr/>
        </p:nvGraphicFramePr>
        <p:xfrm>
          <a:off x="1385888" y="3905250"/>
          <a:ext cx="6148387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3072130" imgH="1180465" progId="Equation.3">
                  <p:embed/>
                </p:oleObj>
              </mc:Choice>
              <mc:Fallback>
                <p:oleObj name="" r:id="rId1" imgW="3072130" imgH="1180465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85888" y="3905250"/>
                        <a:ext cx="6148387" cy="2362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31747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Cache Performance Example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31748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Given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I-cache miss rate = 2%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D-cache miss rate = 4%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Miss penalty = 100 cycles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Base CPI (ideal cache) = 2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Load &amp; stores are 36% of instructions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Miss cycles per instruction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I-cache: 0.02 × 100 = 2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D-cache: 0.36 × 0.04 × 100 = 1.44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Actual CPI = 2 + 2 + 1.44 = 5.44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Ideal CPU is 5.44/2 =2.72 times faster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3277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Average Access Time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3277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Hit time is also important for performance</a:t>
            </a:r>
            <a:endParaRPr lang="en-AU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Average memory access time (AMAT)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dirty="0">
                <a:ea typeface="宋体" panose="02010600030101010101" pitchFamily="2" charset="-122"/>
              </a:rPr>
              <a:t>AMAT = Hit time + Miss rate </a:t>
            </a:r>
            <a:r>
              <a:rPr lang="en-US" altLang="zh-CN" dirty="0">
                <a:ea typeface="宋体" panose="02010600030101010101" pitchFamily="2" charset="-122"/>
              </a:rPr>
              <a:t>× Miss penalty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Example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CPU with 1ns clock, hit time = 1 cycle, miss penalty = 20 cycles, I-cache miss rate = 5%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AMAT = 1 + 0.05 × 20 = 2ns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2 cycles per instruction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33795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Performance Summary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33796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When CPU performance increased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Miss penalty becomes more significant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Decreasing base CPI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Greater proportion of time spent on memory stalls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Increasing clock rate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Memory stalls account for more CPU cycles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Can’t neglect cache behavior when evaluating system performance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34819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Associative Caches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34820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Fully associative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Allow a given block to go in any cache entry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Requires all entries to be searched at once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Comparator per entry (expensive)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i="1" dirty="0">
                <a:ea typeface="宋体" panose="02010600030101010101" pitchFamily="2" charset="-122"/>
              </a:rPr>
              <a:t>n</a:t>
            </a:r>
            <a:r>
              <a:rPr lang="en-US" altLang="zh-CN" dirty="0">
                <a:ea typeface="宋体" panose="02010600030101010101" pitchFamily="2" charset="-122"/>
              </a:rPr>
              <a:t>-way set associative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Each set contains </a:t>
            </a:r>
            <a:r>
              <a:rPr lang="en-US" altLang="zh-CN" i="1" dirty="0">
                <a:ea typeface="宋体" panose="02010600030101010101" pitchFamily="2" charset="-122"/>
              </a:rPr>
              <a:t>n</a:t>
            </a:r>
            <a:r>
              <a:rPr lang="en-US" altLang="zh-CN" dirty="0">
                <a:ea typeface="宋体" panose="02010600030101010101" pitchFamily="2" charset="-122"/>
              </a:rPr>
              <a:t> entries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Block number determines which set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(Block number) modulo (#Sets in cache)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Search all entries in a given set at once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i="1" dirty="0">
                <a:ea typeface="宋体" panose="02010600030101010101" pitchFamily="2" charset="-122"/>
              </a:rPr>
              <a:t>n</a:t>
            </a:r>
            <a:r>
              <a:rPr lang="en-US" altLang="zh-CN" dirty="0">
                <a:ea typeface="宋体" panose="02010600030101010101" pitchFamily="2" charset="-122"/>
              </a:rPr>
              <a:t> comparators (less expensive)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pic>
        <p:nvPicPr>
          <p:cNvPr id="35843" name="Picture 5" descr="f05-13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088" y="1844675"/>
            <a:ext cx="7731125" cy="3197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4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Associative Cache Example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36867" name="Rectang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Spectrum of Associativity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36868" name="Rectangle 6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For a cache with 8 entries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36869" name="Picture 7" descr="f05-14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3713" y="1844675"/>
            <a:ext cx="5513387" cy="4311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37891" name="Rectangle 6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Associativity Example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37892" name="Rectangle 6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Compare 4-block caches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Direct mapped, 2-way set associative,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fully associative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Block access sequence: 0, 8, 0, 6, 8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dirty="0">
                <a:ea typeface="宋体" panose="02010600030101010101" pitchFamily="2" charset="-122"/>
              </a:rPr>
              <a:t>Direct mapped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304132" name="Group 4"/>
          <p:cNvGraphicFramePr>
            <a:graphicFrameLocks noGrp="1"/>
          </p:cNvGraphicFramePr>
          <p:nvPr/>
        </p:nvGraphicFramePr>
        <p:xfrm>
          <a:off x="1258888" y="4078288"/>
          <a:ext cx="6985000" cy="1655766"/>
        </p:xfrm>
        <a:graphic>
          <a:graphicData uri="http://schemas.openxmlformats.org/drawingml/2006/table">
            <a:tbl>
              <a:tblPr/>
              <a:tblGrid>
                <a:gridCol w="996950"/>
                <a:gridCol w="1000125"/>
                <a:gridCol w="996950"/>
                <a:gridCol w="996950"/>
                <a:gridCol w="998537"/>
                <a:gridCol w="998538"/>
                <a:gridCol w="996950"/>
              </a:tblGrid>
              <a:tr h="23653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Block address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Cache index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Hit/miss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Cache content after access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6538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miss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Mem[0]</a:t>
                      </a:r>
                      <a:endParaRPr kumimoji="0" lang="en-AU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miss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Mem[8]</a:t>
                      </a:r>
                      <a:endParaRPr kumimoji="0" lang="en-AU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miss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Mem[0]</a:t>
                      </a:r>
                      <a:endParaRPr kumimoji="0" lang="en-AU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miss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Mem[0]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Mem[6]</a:t>
                      </a:r>
                      <a:endParaRPr kumimoji="0" lang="en-AU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miss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Mem[8]</a:t>
                      </a:r>
                      <a:endParaRPr kumimoji="0" lang="en-AU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Mem[6]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38915" name="Rectangle 118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Associativity Example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38916" name="Rectangle 119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2-way set associative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306180" name="Group 4"/>
          <p:cNvGraphicFramePr>
            <a:graphicFrameLocks noGrp="1"/>
          </p:cNvGraphicFramePr>
          <p:nvPr/>
        </p:nvGraphicFramePr>
        <p:xfrm>
          <a:off x="1258888" y="1844675"/>
          <a:ext cx="6985000" cy="1655766"/>
        </p:xfrm>
        <a:graphic>
          <a:graphicData uri="http://schemas.openxmlformats.org/drawingml/2006/table">
            <a:tbl>
              <a:tblPr/>
              <a:tblGrid>
                <a:gridCol w="996950"/>
                <a:gridCol w="1000125"/>
                <a:gridCol w="996950"/>
                <a:gridCol w="996950"/>
                <a:gridCol w="998537"/>
                <a:gridCol w="998538"/>
                <a:gridCol w="996950"/>
              </a:tblGrid>
              <a:tr h="23653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Block address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Cache index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Hit/miss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Cache content after access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6538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Set 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Set 1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miss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Mem[0]</a:t>
                      </a:r>
                      <a:endParaRPr kumimoji="0" lang="en-AU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miss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Mem[0]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Mem[8]</a:t>
                      </a:r>
                      <a:endParaRPr kumimoji="0" lang="en-AU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hit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Mem[0]</a:t>
                      </a:r>
                      <a:endParaRPr kumimoji="0" lang="en-AU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Mem[8]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miss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Mem[0]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Mem[6]</a:t>
                      </a:r>
                      <a:endParaRPr kumimoji="0" lang="en-AU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miss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Mem[8]</a:t>
                      </a:r>
                      <a:endParaRPr kumimoji="0" lang="en-AU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Mem[6]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8975" name="Rectangle 62"/>
          <p:cNvSpPr/>
          <p:nvPr/>
        </p:nvSpPr>
        <p:spPr>
          <a:xfrm>
            <a:off x="684213" y="3860800"/>
            <a:ext cx="7772400" cy="5746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Fully associative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06239" name="Group 63"/>
          <p:cNvGraphicFramePr>
            <a:graphicFrameLocks noGrp="1"/>
          </p:cNvGraphicFramePr>
          <p:nvPr/>
        </p:nvGraphicFramePr>
        <p:xfrm>
          <a:off x="1258888" y="4508500"/>
          <a:ext cx="6985000" cy="1609725"/>
        </p:xfrm>
        <a:graphic>
          <a:graphicData uri="http://schemas.openxmlformats.org/drawingml/2006/table">
            <a:tbl>
              <a:tblPr/>
              <a:tblGrid>
                <a:gridCol w="996950"/>
                <a:gridCol w="1000125"/>
                <a:gridCol w="996950"/>
                <a:gridCol w="996950"/>
                <a:gridCol w="998537"/>
                <a:gridCol w="998538"/>
                <a:gridCol w="996950"/>
              </a:tblGrid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Block address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Hit/miss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Cache content after access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miss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Mem[0]</a:t>
                      </a:r>
                      <a:endParaRPr kumimoji="0" lang="en-AU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miss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Mem[0]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Mem[8]</a:t>
                      </a:r>
                      <a:endParaRPr kumimoji="0" lang="en-AU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hit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Mem[0]</a:t>
                      </a:r>
                      <a:endParaRPr kumimoji="0" lang="en-AU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Mem[8]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miss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Mem[0]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Mem[8]</a:t>
                      </a:r>
                      <a:endParaRPr kumimoji="0" lang="en-AU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Mem[6]</a:t>
                      </a:r>
                      <a:endParaRPr kumimoji="0" lang="en-AU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6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hit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Mem[0]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Mem[8]</a:t>
                      </a:r>
                      <a:endParaRPr kumimoji="0" lang="en-AU" altLang="zh-CN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Mem[6]</a:t>
                      </a:r>
                      <a:endParaRPr kumimoji="0" lang="en-AU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39939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How Much Associativity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39940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Increased associativity decreases miss rate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But with diminishing returns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Simulation of a system with 64KB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D-cache, 16-word blocks, SPEC2000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1-way: 10.3%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2-way: 8.6%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4-way: 8.3%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8-way: 8.1%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4096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Set Associative Cache Organization</a:t>
            </a:r>
            <a:endParaRPr lang="en-AU" altLang="zh-CN" sz="3600" dirty="0">
              <a:ea typeface="宋体" panose="02010600030101010101" pitchFamily="2" charset="-122"/>
            </a:endParaRPr>
          </a:p>
        </p:txBody>
      </p:sp>
      <p:pic>
        <p:nvPicPr>
          <p:cNvPr id="40964" name="Picture 4" descr="f05-17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913" y="1196975"/>
            <a:ext cx="6061075" cy="5041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41987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Replacement Policy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41988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Direct mapped: no choice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Set associative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Prefer non-valid entry, if there is one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Otherwise, choose among entries in the set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Least-recently used (LRU)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Choose the one unused for the longest time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Simple for 2-way, manageable for 4-way, too hard beyond that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Random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Gives approximately the same performance as LRU for high associativity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43011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Multilevel Caches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43012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Primary cache attached to CPU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Small, but fast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Level-2 cache services misses from primary cache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Larger, slower, but still faster than main memory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Main memory services L-2 cache misses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Some high-end systems include L-3 cache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44035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Multilevel Cache Example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44036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Given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CPU base CPI = 1, clock rate = 4GHz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Miss rate/instruction = 2%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Main memory access time = 100ns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With just primary cache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Miss penalty = 100ns/0.25ns = 400 cycles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Effective CPI = 1 + 0.02 × 400 = 9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45059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Example (cont.)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45060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Now add L-2 cache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Access time = 5ns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Global miss rate to main memory = 0.5%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Primary miss with L-2 hit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Penalty = 5ns/0.25ns = 20 cycles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Primary miss with L-2 miss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Extra penalty = 400 cycles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CPI = 1 + 0.02 × 20 + 0.005 × 400 = 3.4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Performance ratio = 9/3.4 = 2.6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46083" name="Rectangle 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Multilevel Cache Considerations</a:t>
            </a:r>
            <a:endParaRPr lang="en-AU" altLang="zh-CN" sz="4000" dirty="0">
              <a:ea typeface="宋体" panose="02010600030101010101" pitchFamily="2" charset="-122"/>
            </a:endParaRPr>
          </a:p>
        </p:txBody>
      </p:sp>
      <p:sp>
        <p:nvSpPr>
          <p:cNvPr id="46084" name="Rectangle 7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Primary cache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Focus on minimal hit time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L-2 cache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Focus on low miss rate to avoid main memory access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Hit time has less overall impact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Results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L-1 cache usually smaller than a single cache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L-1 block size smaller than L-2 block size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47107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Interactions with Advanced CPUs</a:t>
            </a:r>
            <a:endParaRPr lang="en-AU" altLang="zh-CN" sz="3600" dirty="0">
              <a:ea typeface="宋体" panose="02010600030101010101" pitchFamily="2" charset="-122"/>
            </a:endParaRPr>
          </a:p>
        </p:txBody>
      </p:sp>
      <p:sp>
        <p:nvSpPr>
          <p:cNvPr id="47108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Out-of-order CPUs can execute instructions during cache miss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Pending store stays in load/store unit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Dependent instructions wait in reservation stations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Independent instructions continue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Effect of miss depends on program data flow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Much harder to analyse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Use system simulation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pic>
        <p:nvPicPr>
          <p:cNvPr id="48131" name="Picture 6" descr="f05-18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9913" y="1268413"/>
            <a:ext cx="2705100" cy="4937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132" name="Rectangle 2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Interactions with Software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48133" name="Rectangle 3"/>
          <p:cNvSpPr>
            <a:spLocks noGrp="1"/>
          </p:cNvSpPr>
          <p:nvPr>
            <p:ph sz="half" idx="1"/>
          </p:nvPr>
        </p:nvSpPr>
        <p:spPr>
          <a:xfrm>
            <a:off x="684530" y="1125855"/>
            <a:ext cx="4672965" cy="511175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3600" dirty="0">
                <a:ea typeface="宋体" panose="02010600030101010101" pitchFamily="2" charset="-122"/>
              </a:rPr>
              <a:t>Misses depend on memory access patterns</a:t>
            </a:r>
            <a:endParaRPr lang="en-US" altLang="zh-CN" sz="36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3200" dirty="0">
                <a:ea typeface="宋体" panose="02010600030101010101" pitchFamily="2" charset="-122"/>
              </a:rPr>
              <a:t>Algorithm behavior</a:t>
            </a:r>
            <a:endParaRPr lang="en-US" altLang="zh-CN" sz="32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3200" dirty="0">
                <a:ea typeface="宋体" panose="02010600030101010101" pitchFamily="2" charset="-122"/>
              </a:rPr>
              <a:t>Compiler optimization for memory access</a:t>
            </a:r>
            <a:endParaRPr lang="en-AU" altLang="zh-CN" sz="3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2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Dependability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49155" name="Rectangle 13"/>
          <p:cNvSpPr>
            <a:spLocks noGrp="1"/>
          </p:cNvSpPr>
          <p:nvPr>
            <p:ph sz="half" idx="1"/>
          </p:nvPr>
        </p:nvSpPr>
        <p:spPr>
          <a:xfrm>
            <a:off x="4716145" y="2759075"/>
            <a:ext cx="4052570" cy="1972945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AU" altLang="zh-CN" sz="2800" dirty="0">
                <a:ea typeface="宋体" panose="02010600030101010101" pitchFamily="2" charset="-122"/>
              </a:rPr>
              <a:t>Fault: failure of a component</a:t>
            </a:r>
            <a:endParaRPr lang="en-AU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</a:rPr>
              <a:t>May or may not lead to system failure</a:t>
            </a:r>
            <a:endParaRPr lang="en-AU" altLang="zh-CN" sz="2400" dirty="0">
              <a:ea typeface="宋体" panose="02010600030101010101" pitchFamily="2" charset="-122"/>
            </a:endParaRPr>
          </a:p>
        </p:txBody>
      </p:sp>
      <p:sp>
        <p:nvSpPr>
          <p:cNvPr id="49156" name="Text Box 4"/>
          <p:cNvSpPr txBox="1"/>
          <p:nvPr/>
        </p:nvSpPr>
        <p:spPr>
          <a:xfrm rot="5400000">
            <a:off x="7015163" y="2230438"/>
            <a:ext cx="3954780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p>
            <a:r>
              <a:rPr lang="en-US" altLang="zh-CN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§5.5 Dependable Memory Hierarchy</a:t>
            </a:r>
            <a:endParaRPr lang="en-US" altLang="zh-CN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157" name="AutoShape 5"/>
          <p:cNvSpPr/>
          <p:nvPr/>
        </p:nvSpPr>
        <p:spPr>
          <a:xfrm>
            <a:off x="1260475" y="1412875"/>
            <a:ext cx="3024188" cy="11525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AU" altLang="zh-CN" sz="2000" u="sng" dirty="0">
                <a:latin typeface="Arial" panose="020B0604020202020204" pitchFamily="34" charset="0"/>
                <a:ea typeface="宋体" panose="02010600030101010101" pitchFamily="2" charset="-122"/>
              </a:rPr>
              <a:t>Service accomplishment</a:t>
            </a:r>
            <a:endParaRPr lang="en-AU" altLang="zh-CN" sz="2000" u="sng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en-AU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Service delivered</a:t>
            </a:r>
            <a:br>
              <a:rPr lang="en-AU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AU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as specified</a:t>
            </a:r>
            <a:endParaRPr lang="en-AU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158" name="AutoShape 6"/>
          <p:cNvSpPr/>
          <p:nvPr/>
        </p:nvSpPr>
        <p:spPr>
          <a:xfrm>
            <a:off x="1331913" y="4724400"/>
            <a:ext cx="3024187" cy="11525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AU" altLang="zh-CN" sz="2000" u="sng" dirty="0">
                <a:latin typeface="Arial" panose="020B0604020202020204" pitchFamily="34" charset="0"/>
                <a:ea typeface="宋体" panose="02010600030101010101" pitchFamily="2" charset="-122"/>
              </a:rPr>
              <a:t>Service interruption</a:t>
            </a:r>
            <a:endParaRPr lang="en-AU" altLang="zh-CN" sz="2000" u="sng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/>
            <a:r>
              <a:rPr lang="en-AU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Deviation from</a:t>
            </a:r>
            <a:br>
              <a:rPr lang="en-AU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AU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specified service</a:t>
            </a:r>
            <a:endParaRPr lang="en-AU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159" name="Freeform 7"/>
          <p:cNvSpPr/>
          <p:nvPr/>
        </p:nvSpPr>
        <p:spPr>
          <a:xfrm>
            <a:off x="3708400" y="2565400"/>
            <a:ext cx="396875" cy="2159000"/>
          </a:xfrm>
          <a:custGeom>
            <a:avLst/>
            <a:gdLst>
              <a:gd name="txL" fmla="*/ 0 w 277"/>
              <a:gd name="txT" fmla="*/ 0 h 1374"/>
              <a:gd name="txR" fmla="*/ 277 w 277"/>
              <a:gd name="txB" fmla="*/ 1374 h 1374"/>
            </a:gdLst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277" h="1374">
                <a:moveTo>
                  <a:pt x="0" y="0"/>
                </a:moveTo>
                <a:cubicBezTo>
                  <a:pt x="46" y="110"/>
                  <a:pt x="275" y="431"/>
                  <a:pt x="276" y="660"/>
                </a:cubicBezTo>
                <a:cubicBezTo>
                  <a:pt x="277" y="889"/>
                  <a:pt x="62" y="1225"/>
                  <a:pt x="6" y="1374"/>
                </a:cubicBez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9160" name="Text Box 8"/>
          <p:cNvSpPr txBox="1"/>
          <p:nvPr/>
        </p:nvSpPr>
        <p:spPr>
          <a:xfrm>
            <a:off x="3563938" y="3429000"/>
            <a:ext cx="958215" cy="39878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>
            <a:spAutoFit/>
          </a:bodyPr>
          <a:p>
            <a:r>
              <a:rPr lang="en-AU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Failure</a:t>
            </a:r>
            <a:endParaRPr lang="en-AU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161" name="Freeform 9"/>
          <p:cNvSpPr/>
          <p:nvPr/>
        </p:nvSpPr>
        <p:spPr>
          <a:xfrm rot="10800000">
            <a:off x="1438275" y="2565400"/>
            <a:ext cx="396875" cy="2159000"/>
          </a:xfrm>
          <a:custGeom>
            <a:avLst/>
            <a:gdLst>
              <a:gd name="txL" fmla="*/ 0 w 277"/>
              <a:gd name="txT" fmla="*/ 0 h 1374"/>
              <a:gd name="txR" fmla="*/ 277 w 277"/>
              <a:gd name="txB" fmla="*/ 1374 h 1374"/>
            </a:gdLst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277" h="1374">
                <a:moveTo>
                  <a:pt x="0" y="0"/>
                </a:moveTo>
                <a:cubicBezTo>
                  <a:pt x="46" y="110"/>
                  <a:pt x="275" y="431"/>
                  <a:pt x="276" y="660"/>
                </a:cubicBezTo>
                <a:cubicBezTo>
                  <a:pt x="277" y="889"/>
                  <a:pt x="62" y="1225"/>
                  <a:pt x="6" y="1374"/>
                </a:cubicBez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9162" name="Text Box 10"/>
          <p:cNvSpPr txBox="1"/>
          <p:nvPr/>
        </p:nvSpPr>
        <p:spPr>
          <a:xfrm>
            <a:off x="686753" y="3429000"/>
            <a:ext cx="1480185" cy="39878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>
            <a:spAutoFit/>
          </a:bodyPr>
          <a:p>
            <a:pPr algn="r"/>
            <a:r>
              <a:rPr lang="en-AU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Restoration</a:t>
            </a:r>
            <a:endParaRPr lang="en-AU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163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Dependability Measures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50179" name="Rectangle 6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Reliability: mean time to failure (MTTF)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Service interruption: mean time to repair (MTTR)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Mean time between failures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MTBF = MTTF + MTTR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Availability = MTTF / (MTTF + MTTR)</a:t>
            </a:r>
            <a:endParaRPr lang="en-AU" altLang="zh-CN" sz="28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Improving Availability</a:t>
            </a:r>
            <a:endParaRPr lang="en-AU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Increase MTTF: fault avoidance, fault tolerance, fault forecasting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Reduce MTTR: improved tools and processes for diagnosis and repair</a:t>
            </a:r>
            <a:endParaRPr lang="en-AU" altLang="zh-CN" sz="2400" dirty="0">
              <a:ea typeface="宋体" panose="02010600030101010101" pitchFamily="2" charset="-122"/>
            </a:endParaRPr>
          </a:p>
        </p:txBody>
      </p:sp>
      <p:sp>
        <p:nvSpPr>
          <p:cNvPr id="5018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51203" name="Rectang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Virtual Machines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51204" name="Rectangle 6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AU" altLang="zh-CN" sz="2800" dirty="0">
                <a:ea typeface="宋体" panose="02010600030101010101" pitchFamily="2" charset="-122"/>
              </a:rPr>
              <a:t>Host computer emulates guest operating system and machine resources</a:t>
            </a:r>
            <a:endParaRPr lang="en-AU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</a:rPr>
              <a:t>Improved isolation of multiple guests</a:t>
            </a:r>
            <a:endParaRPr lang="en-AU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</a:rPr>
              <a:t>Avoids security and reliability problems</a:t>
            </a:r>
            <a:endParaRPr lang="en-AU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</a:rPr>
              <a:t>Aids sharing of resources</a:t>
            </a:r>
            <a:endParaRPr lang="en-AU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sz="2800" dirty="0">
                <a:ea typeface="宋体" panose="02010600030101010101" pitchFamily="2" charset="-122"/>
              </a:rPr>
              <a:t>Virtualization has some performance impact</a:t>
            </a:r>
            <a:endParaRPr lang="en-AU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</a:rPr>
              <a:t>Feasible with modern high-performance comptuers</a:t>
            </a:r>
            <a:endParaRPr lang="en-AU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sz="2800" dirty="0">
                <a:ea typeface="宋体" panose="02010600030101010101" pitchFamily="2" charset="-122"/>
              </a:rPr>
              <a:t>Examples</a:t>
            </a:r>
            <a:endParaRPr lang="en-AU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</a:rPr>
              <a:t>IBM VM/370 (1970s technology!)</a:t>
            </a:r>
            <a:endParaRPr lang="en-AU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</a:rPr>
              <a:t>VMWare</a:t>
            </a:r>
            <a:endParaRPr lang="en-AU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</a:rPr>
              <a:t>Microsoft Virtual PC</a:t>
            </a:r>
            <a:endParaRPr lang="en-AU" altLang="zh-CN" sz="2400" dirty="0">
              <a:ea typeface="宋体" panose="02010600030101010101" pitchFamily="2" charset="-122"/>
            </a:endParaRPr>
          </a:p>
        </p:txBody>
      </p:sp>
      <p:sp>
        <p:nvSpPr>
          <p:cNvPr id="51205" name="Text Box 4"/>
          <p:cNvSpPr txBox="1"/>
          <p:nvPr/>
        </p:nvSpPr>
        <p:spPr>
          <a:xfrm rot="5400000">
            <a:off x="7769225" y="1006475"/>
            <a:ext cx="2381250" cy="36671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p>
            <a:r>
              <a:rPr lang="en-US" altLang="zh-CN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§5.6 Virtual Machines</a:t>
            </a:r>
            <a:endParaRPr lang="en-US" altLang="zh-CN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5222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Virtual Machine Monitor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5222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Maps virtual resources to physical resources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Memory, I/O devices, CPUs</a:t>
            </a:r>
            <a:endParaRPr lang="en-AU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Guest code runs on native machine in user mode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Traps to VMM on privileged instructions and access to protected resources</a:t>
            </a:r>
            <a:endParaRPr lang="en-AU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Guest OS may be different from host OS</a:t>
            </a:r>
            <a:endParaRPr lang="en-AU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VMM handles real I/O devices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Emulates generic virtual I/O devices for guest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5325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Example: Timer Virtualization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5325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In native machine, on timer interrupt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dirty="0">
                <a:ea typeface="宋体" panose="02010600030101010101" pitchFamily="2" charset="-122"/>
              </a:rPr>
              <a:t>OS suspends current process, handles interrupt, selects and resumes next process</a:t>
            </a:r>
            <a:endParaRPr lang="en-AU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With Virtual Machine Monitor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dirty="0">
                <a:ea typeface="宋体" panose="02010600030101010101" pitchFamily="2" charset="-122"/>
              </a:rPr>
              <a:t>VMM suspends current VM, handles interrupt, selects and resumes next VM</a:t>
            </a:r>
            <a:endParaRPr lang="en-AU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If a VM requires timer interrupts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dirty="0">
                <a:ea typeface="宋体" panose="02010600030101010101" pitchFamily="2" charset="-122"/>
              </a:rPr>
              <a:t>VMM emulates a virtual timer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dirty="0">
                <a:ea typeface="宋体" panose="02010600030101010101" pitchFamily="2" charset="-122"/>
              </a:rPr>
              <a:t>Emulates interrupt for VM when physical timer interrupt occurs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5427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Instruction Set Support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5427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User and System modes</a:t>
            </a:r>
            <a:endParaRPr lang="en-AU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Privileged instructions only available in system mode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Trap to system if executed in user mode</a:t>
            </a:r>
            <a:endParaRPr lang="en-AU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All physical resources only accessible using privileged instructions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Including page tables, interrupt controls, I/O registers</a:t>
            </a:r>
            <a:endParaRPr lang="en-AU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Renaissance of virtualization support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Current ISAs (e.g., x86) adapting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55299" name="Rectang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Virtual Memory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55300" name="Rectangle 6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Use main memory as a “cache” for secondary (disk) storage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Managed jointly by CPU hardware and the operating system (OS)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Programs share main memory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Each gets a private virtual address space holding its frequently used code and data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Protected from other programs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CPU and OS translate virtual addresses to physical addresses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VM “block” is called a page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VM translation “miss” is called a page fault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55301" name="Text Box 4"/>
          <p:cNvSpPr txBox="1"/>
          <p:nvPr/>
        </p:nvSpPr>
        <p:spPr>
          <a:xfrm rot="5400000">
            <a:off x="7837488" y="928688"/>
            <a:ext cx="2244725" cy="369887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p>
            <a:r>
              <a:rPr lang="en-US" altLang="zh-CN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§5.7 Virtual Memory</a:t>
            </a:r>
            <a:endParaRPr lang="en-US" altLang="zh-CN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56323" name="Rectangle 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Address Translation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56324" name="Rectangle 7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Fixed-size pages (e.g., 4K)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56325" name="Picture 9" descr="f05-19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213" y="2282825"/>
            <a:ext cx="3448050" cy="23479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 descr="f5.26 - 副本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6100" y="1988820"/>
            <a:ext cx="4458335" cy="319722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57347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Page Fault Penalty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57348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On page fault, the page must be fetched from disk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Takes millions of clock cycles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Handled by OS code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Try to minimize page fault rate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Fully associative placement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Smart replacement algorithms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58371" name="Rectangle 8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Page Tables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58372" name="Rectangle 9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Stores placement information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Array of page table entries, indexed by virtual page number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Page table register in CPU points to page table in physical memory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If page is present in memory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PTE stores the physical page number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Plus other status bits (referenced, dirty, …)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If page is not present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PTE can refer to location in swap space on disk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5939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sz="4000" dirty="0">
                <a:ea typeface="宋体" panose="02010600030101010101" pitchFamily="2" charset="-122"/>
              </a:rPr>
              <a:t>Translation Using a Page Table</a:t>
            </a:r>
            <a:endParaRPr lang="en-AU" altLang="zh-CN" sz="4000" dirty="0">
              <a:ea typeface="宋体" panose="02010600030101010101" pitchFamily="2" charset="-122"/>
            </a:endParaRPr>
          </a:p>
        </p:txBody>
      </p:sp>
      <p:pic>
        <p:nvPicPr>
          <p:cNvPr id="2" name="图片 1" descr="f5.27 - 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405" y="1196975"/>
            <a:ext cx="7259320" cy="503872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6041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Mapping Pages to Storage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pic>
        <p:nvPicPr>
          <p:cNvPr id="60420" name="Picture 4" descr="f05-22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2275" y="1557338"/>
            <a:ext cx="5334000" cy="4089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61443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Replacement and Writes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61444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To reduce page fault rate, prefer least-recently used (LRU) replacement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Reference bit (aka use bit) in PTE set to 1 on access to page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Periodically cleared to 0 by OS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A page with reference bit = 0 has not been used recently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Disk writes take millions of cycles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Block at once, not individual locations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Write through is impractical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Use write-back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Dirty bit in PTE set when page is written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62467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Fast Translation Using a TLB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62468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Address translation would appear to require extra memory references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One to access the PTE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Then the actual memory access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But access to page tables has good locality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So use a fast cache of PTEs within the CPU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Called a Translation Look-aside Buffer (TLB)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Typical: 16–512 PTEs, 0.5–1 cycle for hit, 10–100 cycles for miss, 0.01%–1% miss rate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Misses could be handled by hardware or software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pic>
        <p:nvPicPr>
          <p:cNvPr id="63491" name="Picture 5" descr="f05-23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375" y="1268413"/>
            <a:ext cx="6535738" cy="4606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49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Fast Translation Using a TLB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64515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TLB Misses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64516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If page is in memory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Load the PTE from memory and retry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Could be handled in hardware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Can get complex for more complicated page table structures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Or in software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Raise a special exception, with optimized handler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If page is not in memory (page fault)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OS handles fetching the page and updating the page table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Then restart the faulting instruction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6553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TLB Miss Handler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6554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TLB miss indicates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dirty="0">
                <a:ea typeface="宋体" panose="02010600030101010101" pitchFamily="2" charset="-122"/>
              </a:rPr>
              <a:t>Page present, but PTE not in TLB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dirty="0">
                <a:ea typeface="宋体" panose="02010600030101010101" pitchFamily="2" charset="-122"/>
              </a:rPr>
              <a:t>Page not present</a:t>
            </a:r>
            <a:endParaRPr lang="en-AU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Must recognize TLB miss before destination register overwritten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dirty="0">
                <a:ea typeface="宋体" panose="02010600030101010101" pitchFamily="2" charset="-122"/>
              </a:rPr>
              <a:t>Raise exception</a:t>
            </a:r>
            <a:endParaRPr lang="en-AU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Handler copies PTE from memory to TLB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dirty="0">
                <a:ea typeface="宋体" panose="02010600030101010101" pitchFamily="2" charset="-122"/>
              </a:rPr>
              <a:t>Then restarts instruction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dirty="0">
                <a:ea typeface="宋体" panose="02010600030101010101" pitchFamily="2" charset="-122"/>
              </a:rPr>
              <a:t>If page not present, page fault will occur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6656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Page Fault Handler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6656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Use faulting virtual address to find PTE</a:t>
            </a:r>
            <a:endParaRPr lang="en-AU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Locate page on disk</a:t>
            </a:r>
            <a:endParaRPr lang="en-AU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Choose page to replace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dirty="0">
                <a:ea typeface="宋体" panose="02010600030101010101" pitchFamily="2" charset="-122"/>
              </a:rPr>
              <a:t>If dirty, write to disk first</a:t>
            </a:r>
            <a:endParaRPr lang="en-AU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Read page into memory and update page table</a:t>
            </a:r>
            <a:endParaRPr lang="en-AU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Make process runnable again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dirty="0">
                <a:ea typeface="宋体" panose="02010600030101010101" pitchFamily="2" charset="-122"/>
              </a:rPr>
              <a:t>Restart from faulting instruction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67587" name="Rectangle 2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TLB and Cache Interaction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67588" name="Rectangle 3"/>
          <p:cNvSpPr>
            <a:spLocks noGrp="1"/>
          </p:cNvSpPr>
          <p:nvPr>
            <p:ph sz="half" idx="1"/>
          </p:nvPr>
        </p:nvSpPr>
        <p:spPr>
          <a:xfrm>
            <a:off x="5523230" y="1124585"/>
            <a:ext cx="3420745" cy="5111750"/>
          </a:xfrm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ea typeface="宋体" panose="02010600030101010101" pitchFamily="2" charset="-122"/>
              </a:rPr>
              <a:t>If cache tag uses physical address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000" dirty="0">
                <a:ea typeface="宋体" panose="02010600030101010101" pitchFamily="2" charset="-122"/>
              </a:rPr>
              <a:t>Need to translate before cache lookup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400" dirty="0">
                <a:ea typeface="宋体" panose="02010600030101010101" pitchFamily="2" charset="-122"/>
              </a:rPr>
              <a:t>Alternative: use virtual address tag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buClr>
                <a:schemeClr val="hlink"/>
              </a:buClr>
              <a:buSzPct val="55000"/>
              <a:buFont typeface="Wingdings" panose="05000000000000000000" pitchFamily="2" charset="2"/>
            </a:pPr>
            <a:r>
              <a:rPr lang="en-US" altLang="zh-CN" sz="2000" dirty="0">
                <a:ea typeface="宋体" panose="02010600030101010101" pitchFamily="2" charset="-122"/>
              </a:rPr>
              <a:t>Complications due to aliasing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2" eaLnBrk="1" hangingPunct="1">
              <a:buClr>
                <a:schemeClr val="folHlink"/>
              </a:buClr>
              <a:buSzPct val="50000"/>
              <a:buFont typeface="Wingdings" panose="05000000000000000000" pitchFamily="2" charset="2"/>
            </a:pPr>
            <a:r>
              <a:rPr lang="en-US" altLang="zh-CN" sz="1800" dirty="0">
                <a:ea typeface="宋体" panose="02010600030101010101" pitchFamily="2" charset="-122"/>
              </a:rPr>
              <a:t>Different virtual addresses for shared physical address</a:t>
            </a:r>
            <a:endParaRPr lang="en-AU" altLang="zh-CN" sz="1800" dirty="0">
              <a:ea typeface="宋体" panose="02010600030101010101" pitchFamily="2" charset="-122"/>
            </a:endParaRPr>
          </a:p>
        </p:txBody>
      </p:sp>
      <p:pic>
        <p:nvPicPr>
          <p:cNvPr id="67589" name="Picture 5" descr="f05-24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60" y="1196975"/>
            <a:ext cx="4673600" cy="50844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68611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Memory Protection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68612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Different tasks can share parts of their virtual address spaces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But need to protect against errant access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Requires OS assistance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Hardware support for OS protection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Privileged supervisor mode (aka kernel mode)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Privileged instructions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Page tables and other state information only accessible in supervisor mode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System call exception (e.g., syscall in MIPS)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69635" name="Rectang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The Memory Hierarchy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69636" name="Rectangle 6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Common principles apply at all levels of the memory hierarchy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Based on notions of caching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At each level in the hierarchy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Block placement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Finding a block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Replacement on a miss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Write policy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69637" name="Text Box 4"/>
          <p:cNvSpPr txBox="1"/>
          <p:nvPr/>
        </p:nvSpPr>
        <p:spPr>
          <a:xfrm rot="5400000">
            <a:off x="6178550" y="2600325"/>
            <a:ext cx="5570538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p>
            <a:r>
              <a:rPr lang="en-US" altLang="zh-CN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§5.8  A Common Framework for Memory Hierarchies</a:t>
            </a:r>
            <a:endParaRPr lang="en-US" altLang="zh-CN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38" name="Text Box 7"/>
          <p:cNvSpPr txBox="1"/>
          <p:nvPr/>
        </p:nvSpPr>
        <p:spPr>
          <a:xfrm>
            <a:off x="858838" y="1196658"/>
            <a:ext cx="2825750" cy="457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solidFill>
                  <a:schemeClr val="folHlink"/>
                </a:solidFill>
                <a:latin typeface="Arial Black" panose="020B0A04020102020204" pitchFamily="34" charset="0"/>
                <a:ea typeface="宋体" panose="02010600030101010101" pitchFamily="2" charset="-122"/>
              </a:rPr>
              <a:t>The BIG Picture</a:t>
            </a:r>
            <a:endParaRPr lang="en-US" altLang="zh-CN" sz="2400" b="1" dirty="0">
              <a:solidFill>
                <a:schemeClr val="folHlink"/>
              </a:solidFill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70659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Block Placement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70660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Determined by associativity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Direct mapped (1-way associative)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One choice for placement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n-way set associative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n choices within a set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Fully associative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Any location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Higher associativity reduces miss rate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Increases complexity, cost, and access time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71683" name="Rectangle 2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Finding a Block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71684" name="Rectangle 30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Hardware caches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Reduce comparisons to reduce cost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Virtual memory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Full table lookup makes full associativity feasible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Benefit in reduced miss rate</a:t>
            </a:r>
            <a:endParaRPr lang="en-AU" altLang="zh-CN" sz="2400" dirty="0">
              <a:ea typeface="宋体" panose="02010600030101010101" pitchFamily="2" charset="-122"/>
            </a:endParaRPr>
          </a:p>
        </p:txBody>
      </p:sp>
      <p:graphicFrame>
        <p:nvGraphicFramePr>
          <p:cNvPr id="355332" name="Group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43305" y="1196975"/>
          <a:ext cx="7561263" cy="2286000"/>
        </p:xfrm>
        <a:graphic>
          <a:graphicData uri="http://schemas.openxmlformats.org/drawingml/2006/table">
            <a:tbl>
              <a:tblPr/>
              <a:tblGrid>
                <a:gridCol w="2520950"/>
                <a:gridCol w="2851150"/>
                <a:gridCol w="2189163"/>
              </a:tblGrid>
              <a:tr h="339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Associativity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Location method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Tag comparisons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Direct mapped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Index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6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n-way set associative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Set index, then search entries within the set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Fully associative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Search all entries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#entries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Full lookup table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72707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Replacement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72708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Choice of entry to replace on a miss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Least recently used (LRU)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Complex and costly hardware for high associativity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Random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US" altLang="zh-CN" dirty="0">
                <a:ea typeface="宋体" panose="02010600030101010101" pitchFamily="2" charset="-122"/>
              </a:rPr>
              <a:t>Close to LRU, easier to implement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Virtual memory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LRU approximation with hardware support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73731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Write Policy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73732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Write-through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Update both upper and lower levels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Simplifies replacement, but may require write buffer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Write-back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Update upper level only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Update lower level when block is replaced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Need to keep more state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Virtual memory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dirty="0">
                <a:ea typeface="宋体" panose="02010600030101010101" pitchFamily="2" charset="-122"/>
              </a:rPr>
              <a:t>Only write-back is feasible, given disk write latency 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74755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Sources of Misses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74756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Compulsory misses (aka cold start misses)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First access to a block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Capacity misses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Due to finite cache size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A replaced block is later accessed again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Conflict misses (aka collision misses)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In a non-fully associative cache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Due to competition for entries in a set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Eliminated in a fully associative cache of the same total size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页脚占位符 1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75779" name="Rectangle 2"/>
          <p:cNvSpPr>
            <a:spLocks noGrp="1"/>
          </p:cNvSpPr>
          <p:nvPr>
            <p:ph type="title" idx="4294967295"/>
          </p:nvPr>
        </p:nvSpPr>
        <p:spPr>
          <a:xfrm>
            <a:off x="1351280" y="214630"/>
            <a:ext cx="7792720" cy="766445"/>
          </a:xfrm>
        </p:spPr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Cache Design Trade-offs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363523" name="Group 3"/>
          <p:cNvGraphicFramePr>
            <a:graphicFrameLocks noGrp="1"/>
          </p:cNvGraphicFramePr>
          <p:nvPr/>
        </p:nvGraphicFramePr>
        <p:xfrm>
          <a:off x="684213" y="1541463"/>
          <a:ext cx="8135938" cy="3832226"/>
        </p:xfrm>
        <a:graphic>
          <a:graphicData uri="http://schemas.openxmlformats.org/drawingml/2006/table">
            <a:tbl>
              <a:tblPr/>
              <a:tblGrid>
                <a:gridCol w="2711450"/>
                <a:gridCol w="2713037"/>
                <a:gridCol w="2711450"/>
              </a:tblGrid>
              <a:tr h="736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Design change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Effect on miss rate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Negative performance effect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9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Increase cache size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Decrease capacity misses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May increase access time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0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Increase associativity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Decrease conflict misses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May increase access time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5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Increase block size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Decrease compulsory misses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Increases miss penalty. For very large block size, may increase miss rate due to pollution.</a:t>
                      </a:r>
                      <a:endParaRPr kumimoji="0" lang="en-AU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7680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Cache Control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7680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AU" altLang="zh-CN" sz="2800" dirty="0">
                <a:ea typeface="宋体" panose="02010600030101010101" pitchFamily="2" charset="-122"/>
              </a:rPr>
              <a:t>Example cache characteristics</a:t>
            </a:r>
            <a:endParaRPr lang="en-AU" altLang="zh-CN" sz="28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</a:rPr>
              <a:t>Direct-mapped, write-back, write allocate</a:t>
            </a:r>
            <a:endParaRPr lang="en-AU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</a:rPr>
              <a:t>Block size: 4 words (16 bytes)</a:t>
            </a:r>
            <a:endParaRPr lang="en-AU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</a:rPr>
              <a:t>Cache size: 16 KB (1024 blocks)</a:t>
            </a:r>
            <a:endParaRPr lang="en-AU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</a:rPr>
              <a:t>32-bit byte addresses</a:t>
            </a:r>
            <a:endParaRPr lang="en-AU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</a:rPr>
              <a:t>Valid bit and dirty bit per block</a:t>
            </a:r>
            <a:endParaRPr lang="en-AU" altLang="zh-CN" sz="2400" dirty="0">
              <a:ea typeface="宋体" panose="02010600030101010101" pitchFamily="2" charset="-122"/>
            </a:endParaRPr>
          </a:p>
          <a:p>
            <a:pPr lvl="1" eaLnBrk="1" hangingPunct="1"/>
            <a:r>
              <a:rPr lang="en-AU" altLang="zh-CN" sz="2400" dirty="0">
                <a:ea typeface="宋体" panose="02010600030101010101" pitchFamily="2" charset="-122"/>
              </a:rPr>
              <a:t>Blocking cache</a:t>
            </a:r>
            <a:endParaRPr lang="en-AU" altLang="zh-CN" sz="2400" dirty="0">
              <a:ea typeface="宋体" panose="02010600030101010101" pitchFamily="2" charset="-122"/>
            </a:endParaRPr>
          </a:p>
          <a:p>
            <a:pPr lvl="2" eaLnBrk="1" hangingPunct="1"/>
            <a:r>
              <a:rPr lang="en-AU" altLang="zh-CN" sz="2000" dirty="0">
                <a:ea typeface="宋体" panose="02010600030101010101" pitchFamily="2" charset="-122"/>
              </a:rPr>
              <a:t>CPU waits until access is complete</a:t>
            </a:r>
            <a:endParaRPr lang="en-AU" altLang="zh-CN" sz="2000" dirty="0">
              <a:ea typeface="宋体" panose="02010600030101010101" pitchFamily="2" charset="-122"/>
            </a:endParaRPr>
          </a:p>
        </p:txBody>
      </p:sp>
      <p:sp>
        <p:nvSpPr>
          <p:cNvPr id="76805" name="Text Box 4"/>
          <p:cNvSpPr txBox="1"/>
          <p:nvPr/>
        </p:nvSpPr>
        <p:spPr>
          <a:xfrm rot="5400000">
            <a:off x="5775325" y="3000375"/>
            <a:ext cx="6369050" cy="36671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p>
            <a:r>
              <a:rPr lang="en-US" altLang="zh-CN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§5.9 </a:t>
            </a:r>
            <a:r>
              <a:rPr lang="en-AU" altLang="zh-CN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Using a Finite State Machine to Control A Simple Cache</a:t>
            </a:r>
            <a:endParaRPr lang="en-US" altLang="zh-CN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76806" name="Group 18"/>
          <p:cNvGrpSpPr/>
          <p:nvPr/>
        </p:nvGrpSpPr>
        <p:grpSpPr>
          <a:xfrm>
            <a:off x="1619250" y="4941888"/>
            <a:ext cx="5226050" cy="1104900"/>
            <a:chOff x="1020" y="3113"/>
            <a:chExt cx="3292" cy="696"/>
          </a:xfrm>
        </p:grpSpPr>
        <p:sp>
          <p:nvSpPr>
            <p:cNvPr id="76807" name="Rectangle 6"/>
            <p:cNvSpPr/>
            <p:nvPr/>
          </p:nvSpPr>
          <p:spPr>
            <a:xfrm>
              <a:off x="1039" y="3334"/>
              <a:ext cx="1569" cy="273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dirty="0">
                  <a:latin typeface="Arial" panose="020B0604020202020204" pitchFamily="34" charset="0"/>
                  <a:ea typeface="宋体" panose="02010600030101010101" pitchFamily="2" charset="-122"/>
                </a:rPr>
                <a:t>Tag</a:t>
              </a:r>
              <a:endParaRPr lang="en-AU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808" name="Rectangle 7"/>
            <p:cNvSpPr/>
            <p:nvPr/>
          </p:nvSpPr>
          <p:spPr>
            <a:xfrm>
              <a:off x="2608" y="3334"/>
              <a:ext cx="1017" cy="273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dirty="0">
                  <a:latin typeface="Arial" panose="020B0604020202020204" pitchFamily="34" charset="0"/>
                  <a:ea typeface="宋体" panose="02010600030101010101" pitchFamily="2" charset="-122"/>
                </a:rPr>
                <a:t>Index</a:t>
              </a:r>
              <a:endParaRPr lang="en-AU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809" name="Rectangle 8"/>
            <p:cNvSpPr/>
            <p:nvPr/>
          </p:nvSpPr>
          <p:spPr>
            <a:xfrm>
              <a:off x="3625" y="3334"/>
              <a:ext cx="635" cy="273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dirty="0">
                  <a:latin typeface="Arial" panose="020B0604020202020204" pitchFamily="34" charset="0"/>
                  <a:ea typeface="宋体" panose="02010600030101010101" pitchFamily="2" charset="-122"/>
                </a:rPr>
                <a:t>Offset</a:t>
              </a:r>
              <a:endParaRPr lang="en-AU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810" name="Text Box 9"/>
            <p:cNvSpPr txBox="1"/>
            <p:nvPr/>
          </p:nvSpPr>
          <p:spPr>
            <a:xfrm>
              <a:off x="4116" y="3113"/>
              <a:ext cx="1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/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  <a:endParaRPr lang="en-AU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811" name="Text Box 10"/>
            <p:cNvSpPr txBox="1"/>
            <p:nvPr/>
          </p:nvSpPr>
          <p:spPr>
            <a:xfrm>
              <a:off x="3617" y="3113"/>
              <a:ext cx="1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/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3</a:t>
              </a:r>
              <a:endParaRPr lang="en-AU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812" name="Text Box 11"/>
            <p:cNvSpPr txBox="1"/>
            <p:nvPr/>
          </p:nvSpPr>
          <p:spPr>
            <a:xfrm>
              <a:off x="3394" y="3113"/>
              <a:ext cx="1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/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4</a:t>
              </a:r>
              <a:endParaRPr lang="en-AU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813" name="Text Box 12"/>
            <p:cNvSpPr txBox="1"/>
            <p:nvPr/>
          </p:nvSpPr>
          <p:spPr>
            <a:xfrm>
              <a:off x="2604" y="3113"/>
              <a:ext cx="1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/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9</a:t>
              </a:r>
              <a:endParaRPr lang="en-AU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814" name="Text Box 13"/>
            <p:cNvSpPr txBox="1"/>
            <p:nvPr/>
          </p:nvSpPr>
          <p:spPr>
            <a:xfrm>
              <a:off x="2381" y="3113"/>
              <a:ext cx="2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/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10</a:t>
              </a:r>
              <a:endParaRPr lang="en-AU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815" name="Text Box 14"/>
            <p:cNvSpPr txBox="1"/>
            <p:nvPr/>
          </p:nvSpPr>
          <p:spPr>
            <a:xfrm>
              <a:off x="1020" y="3113"/>
              <a:ext cx="2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/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31</a:t>
              </a:r>
              <a:endParaRPr lang="en-AU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816" name="Text Box 15"/>
            <p:cNvSpPr txBox="1"/>
            <p:nvPr/>
          </p:nvSpPr>
          <p:spPr>
            <a:xfrm>
              <a:off x="3711" y="3578"/>
              <a:ext cx="4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/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4 bits</a:t>
              </a:r>
              <a:endParaRPr lang="en-AU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817" name="Text Box 16"/>
            <p:cNvSpPr txBox="1"/>
            <p:nvPr/>
          </p:nvSpPr>
          <p:spPr>
            <a:xfrm>
              <a:off x="2835" y="3578"/>
              <a:ext cx="54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/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10 bits</a:t>
              </a:r>
              <a:endParaRPr lang="en-AU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818" name="Text Box 17"/>
            <p:cNvSpPr txBox="1"/>
            <p:nvPr/>
          </p:nvSpPr>
          <p:spPr>
            <a:xfrm>
              <a:off x="1565" y="3578"/>
              <a:ext cx="54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/>
              <a:r>
                <a:rPr lang="en-US" altLang="zh-CN" dirty="0">
                  <a:latin typeface="Arial" panose="020B0604020202020204" pitchFamily="34" charset="0"/>
                  <a:ea typeface="宋体" panose="02010600030101010101" pitchFamily="2" charset="-122"/>
                </a:rPr>
                <a:t>18 bits</a:t>
              </a:r>
              <a:endParaRPr lang="en-AU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7782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Interface Signals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77828" name="Rectangle 4"/>
          <p:cNvSpPr/>
          <p:nvPr/>
        </p:nvSpPr>
        <p:spPr>
          <a:xfrm>
            <a:off x="4211638" y="1916113"/>
            <a:ext cx="1152525" cy="295275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AU" altLang="zh-CN" dirty="0">
                <a:latin typeface="Arial" panose="020B0604020202020204" pitchFamily="34" charset="0"/>
                <a:ea typeface="宋体" panose="02010600030101010101" pitchFamily="2" charset="-122"/>
              </a:rPr>
              <a:t>Cache</a:t>
            </a:r>
            <a:endParaRPr lang="en-AU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29" name="Rectangle 5"/>
          <p:cNvSpPr/>
          <p:nvPr/>
        </p:nvSpPr>
        <p:spPr>
          <a:xfrm>
            <a:off x="828675" y="1987550"/>
            <a:ext cx="1152525" cy="295275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AU" altLang="zh-CN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endParaRPr lang="en-AU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30" name="Rectangle 6"/>
          <p:cNvSpPr/>
          <p:nvPr/>
        </p:nvSpPr>
        <p:spPr>
          <a:xfrm>
            <a:off x="7596188" y="1916113"/>
            <a:ext cx="1152525" cy="295275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AU" altLang="zh-CN" dirty="0">
                <a:latin typeface="Arial" panose="020B0604020202020204" pitchFamily="34" charset="0"/>
                <a:ea typeface="宋体" panose="02010600030101010101" pitchFamily="2" charset="-122"/>
              </a:rPr>
              <a:t>Memory</a:t>
            </a:r>
            <a:endParaRPr lang="en-AU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31" name="Line 7"/>
          <p:cNvSpPr/>
          <p:nvPr/>
        </p:nvSpPr>
        <p:spPr>
          <a:xfrm>
            <a:off x="1979613" y="2347913"/>
            <a:ext cx="22320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7832" name="Line 8"/>
          <p:cNvSpPr/>
          <p:nvPr/>
        </p:nvSpPr>
        <p:spPr>
          <a:xfrm>
            <a:off x="1979613" y="2706688"/>
            <a:ext cx="22320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7833" name="Text Box 9"/>
          <p:cNvSpPr txBox="1"/>
          <p:nvPr/>
        </p:nvSpPr>
        <p:spPr>
          <a:xfrm>
            <a:off x="2195513" y="2058988"/>
            <a:ext cx="13271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AU" altLang="zh-CN" dirty="0">
                <a:latin typeface="Arial" panose="020B0604020202020204" pitchFamily="34" charset="0"/>
                <a:ea typeface="宋体" panose="02010600030101010101" pitchFamily="2" charset="-122"/>
              </a:rPr>
              <a:t>Read/Write</a:t>
            </a:r>
            <a:endParaRPr lang="en-AU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34" name="Text Box 10"/>
          <p:cNvSpPr txBox="1"/>
          <p:nvPr/>
        </p:nvSpPr>
        <p:spPr>
          <a:xfrm>
            <a:off x="2195513" y="2419350"/>
            <a:ext cx="6921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AU" altLang="zh-CN" dirty="0">
                <a:latin typeface="Arial" panose="020B0604020202020204" pitchFamily="34" charset="0"/>
                <a:ea typeface="宋体" panose="02010600030101010101" pitchFamily="2" charset="-122"/>
              </a:rPr>
              <a:t>Valid</a:t>
            </a:r>
            <a:endParaRPr lang="en-AU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35" name="Line 11"/>
          <p:cNvSpPr/>
          <p:nvPr/>
        </p:nvSpPr>
        <p:spPr>
          <a:xfrm>
            <a:off x="1979613" y="3140075"/>
            <a:ext cx="223202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7836" name="Text Box 12"/>
          <p:cNvSpPr txBox="1"/>
          <p:nvPr/>
        </p:nvSpPr>
        <p:spPr>
          <a:xfrm>
            <a:off x="2195513" y="2852738"/>
            <a:ext cx="10223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AU" altLang="zh-CN" dirty="0">
                <a:latin typeface="Arial" panose="020B0604020202020204" pitchFamily="34" charset="0"/>
                <a:ea typeface="宋体" panose="02010600030101010101" pitchFamily="2" charset="-122"/>
              </a:rPr>
              <a:t>Address</a:t>
            </a:r>
            <a:endParaRPr lang="en-AU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37" name="Line 13"/>
          <p:cNvSpPr/>
          <p:nvPr/>
        </p:nvSpPr>
        <p:spPr>
          <a:xfrm>
            <a:off x="1979613" y="3571875"/>
            <a:ext cx="223202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7838" name="Text Box 14"/>
          <p:cNvSpPr txBox="1"/>
          <p:nvPr/>
        </p:nvSpPr>
        <p:spPr>
          <a:xfrm>
            <a:off x="2195513" y="3284538"/>
            <a:ext cx="12636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AU" altLang="zh-CN" dirty="0">
                <a:latin typeface="Arial" panose="020B0604020202020204" pitchFamily="34" charset="0"/>
                <a:ea typeface="宋体" panose="02010600030101010101" pitchFamily="2" charset="-122"/>
              </a:rPr>
              <a:t>Write Data</a:t>
            </a:r>
            <a:endParaRPr lang="en-AU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39" name="Line 15"/>
          <p:cNvSpPr/>
          <p:nvPr/>
        </p:nvSpPr>
        <p:spPr>
          <a:xfrm>
            <a:off x="1979613" y="4003675"/>
            <a:ext cx="223202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77840" name="Text Box 16"/>
          <p:cNvSpPr txBox="1"/>
          <p:nvPr/>
        </p:nvSpPr>
        <p:spPr>
          <a:xfrm>
            <a:off x="2195513" y="3716338"/>
            <a:ext cx="12763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AU" altLang="zh-CN" dirty="0">
                <a:latin typeface="Arial" panose="020B0604020202020204" pitchFamily="34" charset="0"/>
                <a:ea typeface="宋体" panose="02010600030101010101" pitchFamily="2" charset="-122"/>
              </a:rPr>
              <a:t>Read Data</a:t>
            </a:r>
            <a:endParaRPr lang="en-AU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41" name="Line 17"/>
          <p:cNvSpPr/>
          <p:nvPr/>
        </p:nvSpPr>
        <p:spPr>
          <a:xfrm>
            <a:off x="1979613" y="4435475"/>
            <a:ext cx="22320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77842" name="Text Box 18"/>
          <p:cNvSpPr txBox="1"/>
          <p:nvPr/>
        </p:nvSpPr>
        <p:spPr>
          <a:xfrm>
            <a:off x="2195513" y="4148138"/>
            <a:ext cx="8445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AU" altLang="zh-CN" dirty="0">
                <a:latin typeface="Arial" panose="020B0604020202020204" pitchFamily="34" charset="0"/>
                <a:ea typeface="宋体" panose="02010600030101010101" pitchFamily="2" charset="-122"/>
              </a:rPr>
              <a:t>Ready</a:t>
            </a:r>
            <a:endParaRPr lang="en-AU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43" name="Line 19"/>
          <p:cNvSpPr/>
          <p:nvPr/>
        </p:nvSpPr>
        <p:spPr>
          <a:xfrm flipV="1">
            <a:off x="3756025" y="3067050"/>
            <a:ext cx="144463" cy="1444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7844" name="Line 20"/>
          <p:cNvSpPr/>
          <p:nvPr/>
        </p:nvSpPr>
        <p:spPr>
          <a:xfrm flipV="1">
            <a:off x="3756025" y="3498850"/>
            <a:ext cx="144463" cy="1444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7845" name="Line 21"/>
          <p:cNvSpPr/>
          <p:nvPr/>
        </p:nvSpPr>
        <p:spPr>
          <a:xfrm flipV="1">
            <a:off x="3756025" y="3932238"/>
            <a:ext cx="144463" cy="1444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7846" name="Text Box 22"/>
          <p:cNvSpPr txBox="1"/>
          <p:nvPr/>
        </p:nvSpPr>
        <p:spPr>
          <a:xfrm>
            <a:off x="3636963" y="2778125"/>
            <a:ext cx="381000" cy="3048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en-AU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  <a:endParaRPr lang="en-AU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47" name="Text Box 23"/>
          <p:cNvSpPr txBox="1"/>
          <p:nvPr/>
        </p:nvSpPr>
        <p:spPr>
          <a:xfrm>
            <a:off x="3636963" y="3211513"/>
            <a:ext cx="381000" cy="3048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en-AU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  <a:endParaRPr lang="en-AU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48" name="Text Box 24"/>
          <p:cNvSpPr txBox="1"/>
          <p:nvPr/>
        </p:nvSpPr>
        <p:spPr>
          <a:xfrm>
            <a:off x="3636963" y="3644900"/>
            <a:ext cx="381000" cy="3048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en-AU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  <a:endParaRPr lang="en-AU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49" name="Line 25"/>
          <p:cNvSpPr/>
          <p:nvPr/>
        </p:nvSpPr>
        <p:spPr>
          <a:xfrm>
            <a:off x="5364163" y="2347913"/>
            <a:ext cx="22320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7850" name="Line 26"/>
          <p:cNvSpPr/>
          <p:nvPr/>
        </p:nvSpPr>
        <p:spPr>
          <a:xfrm>
            <a:off x="5364163" y="2706688"/>
            <a:ext cx="22320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7851" name="Text Box 27"/>
          <p:cNvSpPr txBox="1"/>
          <p:nvPr/>
        </p:nvSpPr>
        <p:spPr>
          <a:xfrm>
            <a:off x="5580063" y="2058988"/>
            <a:ext cx="13271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AU" altLang="zh-CN" dirty="0">
                <a:latin typeface="Arial" panose="020B0604020202020204" pitchFamily="34" charset="0"/>
                <a:ea typeface="宋体" panose="02010600030101010101" pitchFamily="2" charset="-122"/>
              </a:rPr>
              <a:t>Read/Write</a:t>
            </a:r>
            <a:endParaRPr lang="en-AU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52" name="Text Box 28"/>
          <p:cNvSpPr txBox="1"/>
          <p:nvPr/>
        </p:nvSpPr>
        <p:spPr>
          <a:xfrm>
            <a:off x="5580063" y="2419350"/>
            <a:ext cx="6921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AU" altLang="zh-CN" dirty="0">
                <a:latin typeface="Arial" panose="020B0604020202020204" pitchFamily="34" charset="0"/>
                <a:ea typeface="宋体" panose="02010600030101010101" pitchFamily="2" charset="-122"/>
              </a:rPr>
              <a:t>Valid</a:t>
            </a:r>
            <a:endParaRPr lang="en-AU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53" name="Line 29"/>
          <p:cNvSpPr/>
          <p:nvPr/>
        </p:nvSpPr>
        <p:spPr>
          <a:xfrm>
            <a:off x="5364163" y="3140075"/>
            <a:ext cx="223202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7854" name="Text Box 30"/>
          <p:cNvSpPr txBox="1"/>
          <p:nvPr/>
        </p:nvSpPr>
        <p:spPr>
          <a:xfrm>
            <a:off x="5580063" y="2852738"/>
            <a:ext cx="10223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AU" altLang="zh-CN" dirty="0">
                <a:latin typeface="Arial" panose="020B0604020202020204" pitchFamily="34" charset="0"/>
                <a:ea typeface="宋体" panose="02010600030101010101" pitchFamily="2" charset="-122"/>
              </a:rPr>
              <a:t>Address</a:t>
            </a:r>
            <a:endParaRPr lang="en-AU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55" name="Line 31"/>
          <p:cNvSpPr/>
          <p:nvPr/>
        </p:nvSpPr>
        <p:spPr>
          <a:xfrm>
            <a:off x="5364163" y="3571875"/>
            <a:ext cx="223202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7856" name="Text Box 32"/>
          <p:cNvSpPr txBox="1"/>
          <p:nvPr/>
        </p:nvSpPr>
        <p:spPr>
          <a:xfrm>
            <a:off x="5580063" y="3284538"/>
            <a:ext cx="12636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AU" altLang="zh-CN" dirty="0">
                <a:latin typeface="Arial" panose="020B0604020202020204" pitchFamily="34" charset="0"/>
                <a:ea typeface="宋体" panose="02010600030101010101" pitchFamily="2" charset="-122"/>
              </a:rPr>
              <a:t>Write Data</a:t>
            </a:r>
            <a:endParaRPr lang="en-AU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57" name="Line 33"/>
          <p:cNvSpPr/>
          <p:nvPr/>
        </p:nvSpPr>
        <p:spPr>
          <a:xfrm>
            <a:off x="5364163" y="4003675"/>
            <a:ext cx="223202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77858" name="Text Box 34"/>
          <p:cNvSpPr txBox="1"/>
          <p:nvPr/>
        </p:nvSpPr>
        <p:spPr>
          <a:xfrm>
            <a:off x="5580063" y="3716338"/>
            <a:ext cx="12763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AU" altLang="zh-CN" dirty="0">
                <a:latin typeface="Arial" panose="020B0604020202020204" pitchFamily="34" charset="0"/>
                <a:ea typeface="宋体" panose="02010600030101010101" pitchFamily="2" charset="-122"/>
              </a:rPr>
              <a:t>Read Data</a:t>
            </a:r>
            <a:endParaRPr lang="en-AU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59" name="Line 35"/>
          <p:cNvSpPr/>
          <p:nvPr/>
        </p:nvSpPr>
        <p:spPr>
          <a:xfrm>
            <a:off x="5364163" y="4435475"/>
            <a:ext cx="22320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77860" name="Text Box 36"/>
          <p:cNvSpPr txBox="1"/>
          <p:nvPr/>
        </p:nvSpPr>
        <p:spPr>
          <a:xfrm>
            <a:off x="5580063" y="4148138"/>
            <a:ext cx="8445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AU" altLang="zh-CN" dirty="0">
                <a:latin typeface="Arial" panose="020B0604020202020204" pitchFamily="34" charset="0"/>
                <a:ea typeface="宋体" panose="02010600030101010101" pitchFamily="2" charset="-122"/>
              </a:rPr>
              <a:t>Ready</a:t>
            </a:r>
            <a:endParaRPr lang="en-AU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61" name="Line 37"/>
          <p:cNvSpPr/>
          <p:nvPr/>
        </p:nvSpPr>
        <p:spPr>
          <a:xfrm flipV="1">
            <a:off x="7140575" y="3067050"/>
            <a:ext cx="144463" cy="1444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7862" name="Line 38"/>
          <p:cNvSpPr/>
          <p:nvPr/>
        </p:nvSpPr>
        <p:spPr>
          <a:xfrm flipV="1">
            <a:off x="7140575" y="3498850"/>
            <a:ext cx="144463" cy="1444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7863" name="Line 39"/>
          <p:cNvSpPr/>
          <p:nvPr/>
        </p:nvSpPr>
        <p:spPr>
          <a:xfrm flipV="1">
            <a:off x="7140575" y="3932238"/>
            <a:ext cx="144463" cy="1444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7864" name="Text Box 40"/>
          <p:cNvSpPr txBox="1"/>
          <p:nvPr/>
        </p:nvSpPr>
        <p:spPr>
          <a:xfrm>
            <a:off x="7021513" y="2778125"/>
            <a:ext cx="381000" cy="3048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en-AU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  <a:endParaRPr lang="en-AU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65" name="Text Box 41"/>
          <p:cNvSpPr txBox="1"/>
          <p:nvPr/>
        </p:nvSpPr>
        <p:spPr>
          <a:xfrm>
            <a:off x="6972300" y="3211513"/>
            <a:ext cx="479425" cy="3048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en-AU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  <a:t>128</a:t>
            </a:r>
            <a:endParaRPr lang="en-AU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66" name="Text Box 42"/>
          <p:cNvSpPr txBox="1"/>
          <p:nvPr/>
        </p:nvSpPr>
        <p:spPr>
          <a:xfrm>
            <a:off x="6972300" y="3644900"/>
            <a:ext cx="479425" cy="3048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en-AU" altLang="zh-CN" sz="1400" dirty="0">
                <a:latin typeface="Arial" panose="020B0604020202020204" pitchFamily="34" charset="0"/>
                <a:ea typeface="宋体" panose="02010600030101010101" pitchFamily="2" charset="-122"/>
              </a:rPr>
              <a:t>128</a:t>
            </a:r>
            <a:endParaRPr lang="en-AU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7867" name="AutoShape 43"/>
          <p:cNvSpPr/>
          <p:nvPr/>
        </p:nvSpPr>
        <p:spPr>
          <a:xfrm>
            <a:off x="4643438" y="5300663"/>
            <a:ext cx="1795462" cy="690562"/>
          </a:xfrm>
          <a:prstGeom prst="borderCallout1">
            <a:avLst>
              <a:gd name="adj1" fmla="val 16551"/>
              <a:gd name="adj2" fmla="val 104245"/>
              <a:gd name="adj3" fmla="val -95403"/>
              <a:gd name="adj4" fmla="val 131653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pPr algn="ctr"/>
            <a:r>
              <a:rPr lang="en-AU" altLang="zh-CN" dirty="0">
                <a:latin typeface="Arial" panose="020B0604020202020204" pitchFamily="34" charset="0"/>
                <a:ea typeface="宋体" panose="02010600030101010101" pitchFamily="2" charset="-122"/>
              </a:rPr>
              <a:t>Multiple cycles per access</a:t>
            </a:r>
            <a:endParaRPr lang="en-AU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pic>
        <p:nvPicPr>
          <p:cNvPr id="78851" name="Picture 6" descr="f05-33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8263" y="2133600"/>
            <a:ext cx="3795712" cy="33321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8852" name="Rectangle 2"/>
          <p:cNvSpPr>
            <a:spLocks noGrp="1"/>
          </p:cNvSpPr>
          <p:nvPr>
            <p:ph type="title"/>
          </p:nvPr>
        </p:nvSpPr>
        <p:spPr>
          <a:xfrm>
            <a:off x="684213" y="139700"/>
            <a:ext cx="8259762" cy="768350"/>
          </a:xfrm>
        </p:spPr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Finite State Machines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78853" name="Rectangle 3"/>
          <p:cNvSpPr>
            <a:spLocks noGrp="1"/>
          </p:cNvSpPr>
          <p:nvPr>
            <p:ph sz="half" idx="1"/>
          </p:nvPr>
        </p:nvSpPr>
        <p:spPr>
          <a:xfrm>
            <a:off x="684530" y="1125855"/>
            <a:ext cx="4424680" cy="511175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AU" altLang="zh-CN" sz="2800" dirty="0">
                <a:ea typeface="宋体" panose="02010600030101010101" pitchFamily="2" charset="-122"/>
              </a:rPr>
              <a:t>Use an FSM to sequence control steps</a:t>
            </a:r>
            <a:endParaRPr lang="en-AU" altLang="zh-CN" sz="2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sz="2800" dirty="0">
                <a:ea typeface="宋体" panose="02010600030101010101" pitchFamily="2" charset="-122"/>
              </a:rPr>
              <a:t>Set of states, transition on each clock edge</a:t>
            </a:r>
            <a:endParaRPr lang="en-AU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dirty="0">
                <a:ea typeface="宋体" panose="02010600030101010101" pitchFamily="2" charset="-122"/>
              </a:rPr>
              <a:t>State values are binary encoded</a:t>
            </a:r>
            <a:endParaRPr lang="en-AU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dirty="0">
                <a:ea typeface="宋体" panose="02010600030101010101" pitchFamily="2" charset="-122"/>
              </a:rPr>
              <a:t>Current state stored in a register</a:t>
            </a:r>
            <a:endParaRPr lang="en-AU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dirty="0">
                <a:ea typeface="宋体" panose="02010600030101010101" pitchFamily="2" charset="-122"/>
              </a:rPr>
              <a:t>Next state</a:t>
            </a:r>
            <a:br>
              <a:rPr lang="en-AU" altLang="zh-CN" sz="2400" dirty="0">
                <a:ea typeface="宋体" panose="02010600030101010101" pitchFamily="2" charset="-122"/>
              </a:rPr>
            </a:br>
            <a:r>
              <a:rPr lang="en-AU" altLang="zh-CN" sz="2400" dirty="0">
                <a:ea typeface="宋体" panose="02010600030101010101" pitchFamily="2" charset="-122"/>
              </a:rPr>
              <a:t>= </a:t>
            </a:r>
            <a:r>
              <a:rPr lang="en-AU" altLang="zh-CN" sz="2400" i="1" dirty="0">
                <a:ea typeface="宋体" panose="02010600030101010101" pitchFamily="2" charset="-122"/>
              </a:rPr>
              <a:t>f</a:t>
            </a:r>
            <a:r>
              <a:rPr lang="en-AU" altLang="zh-CN" sz="2400" i="1" baseline="-25000" dirty="0">
                <a:ea typeface="宋体" panose="02010600030101010101" pitchFamily="2" charset="-122"/>
              </a:rPr>
              <a:t>n</a:t>
            </a:r>
            <a:r>
              <a:rPr lang="en-AU" altLang="zh-CN" sz="2400" dirty="0">
                <a:ea typeface="宋体" panose="02010600030101010101" pitchFamily="2" charset="-122"/>
              </a:rPr>
              <a:t> (current state,</a:t>
            </a:r>
            <a:br>
              <a:rPr lang="en-AU" altLang="zh-CN" sz="2400" dirty="0">
                <a:ea typeface="宋体" panose="02010600030101010101" pitchFamily="2" charset="-122"/>
              </a:rPr>
            </a:br>
            <a:r>
              <a:rPr lang="en-AU" altLang="zh-CN" sz="2400" dirty="0">
                <a:ea typeface="宋体" panose="02010600030101010101" pitchFamily="2" charset="-122"/>
              </a:rPr>
              <a:t>		current inputs)</a:t>
            </a:r>
            <a:endParaRPr lang="en-AU" altLang="zh-CN" sz="24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sz="2800" dirty="0">
                <a:ea typeface="宋体" panose="02010600030101010101" pitchFamily="2" charset="-122"/>
              </a:rPr>
              <a:t>Control output signals</a:t>
            </a:r>
            <a:br>
              <a:rPr lang="en-AU" altLang="zh-CN" sz="2800" dirty="0">
                <a:ea typeface="宋体" panose="02010600030101010101" pitchFamily="2" charset="-122"/>
              </a:rPr>
            </a:br>
            <a:r>
              <a:rPr lang="en-AU" altLang="zh-CN" sz="2800" dirty="0">
                <a:ea typeface="宋体" panose="02010600030101010101" pitchFamily="2" charset="-122"/>
              </a:rPr>
              <a:t>= </a:t>
            </a:r>
            <a:r>
              <a:rPr lang="en-AU" altLang="zh-CN" sz="2800" i="1" dirty="0">
                <a:ea typeface="宋体" panose="02010600030101010101" pitchFamily="2" charset="-122"/>
              </a:rPr>
              <a:t>f</a:t>
            </a:r>
            <a:r>
              <a:rPr lang="en-AU" altLang="zh-CN" sz="2800" i="1" baseline="-25000" dirty="0">
                <a:ea typeface="宋体" panose="02010600030101010101" pitchFamily="2" charset="-122"/>
              </a:rPr>
              <a:t>o</a:t>
            </a:r>
            <a:r>
              <a:rPr lang="en-AU" altLang="zh-CN" sz="2800" dirty="0">
                <a:ea typeface="宋体" panose="02010600030101010101" pitchFamily="2" charset="-122"/>
              </a:rPr>
              <a:t> (current state)</a:t>
            </a:r>
            <a:endParaRPr lang="en-AU" altLang="zh-CN" sz="2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pic>
        <p:nvPicPr>
          <p:cNvPr id="79875" name="Picture 6" descr="f05-34-P3744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1341438"/>
            <a:ext cx="5400675" cy="49514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987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Cache Controller FSM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405509" name="AutoShape 5"/>
          <p:cNvSpPr/>
          <p:nvPr/>
        </p:nvSpPr>
        <p:spPr>
          <a:xfrm>
            <a:off x="7164388" y="1773238"/>
            <a:ext cx="1655762" cy="1800225"/>
          </a:xfrm>
          <a:prstGeom prst="borderCallout1">
            <a:avLst>
              <a:gd name="adj1" fmla="val 6347"/>
              <a:gd name="adj2" fmla="val -4602"/>
              <a:gd name="adj3" fmla="val 9347"/>
              <a:gd name="adj4" fmla="val -43722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p>
            <a:pPr algn="ctr"/>
            <a:r>
              <a:rPr lang="en-AU" altLang="zh-CN" dirty="0">
                <a:latin typeface="Arial" panose="020B0604020202020204" pitchFamily="34" charset="0"/>
                <a:ea typeface="宋体" panose="02010600030101010101" pitchFamily="2" charset="-122"/>
              </a:rPr>
              <a:t>Could partition into separate states to reduce clock cycle time</a:t>
            </a:r>
            <a:endParaRPr lang="en-AU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5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0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8089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Cache Coherence Problem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8090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AU" altLang="zh-CN" sz="2800" dirty="0">
                <a:ea typeface="宋体" panose="02010600030101010101" pitchFamily="2" charset="-122"/>
              </a:rPr>
              <a:t>Suppose two CPU cores share a physical address space</a:t>
            </a:r>
            <a:endParaRPr lang="en-AU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dirty="0">
                <a:ea typeface="宋体" panose="02010600030101010101" pitchFamily="2" charset="-122"/>
              </a:rPr>
              <a:t>Write-through caches</a:t>
            </a:r>
            <a:endParaRPr lang="en-AU" altLang="zh-CN" sz="2400" dirty="0">
              <a:ea typeface="宋体" panose="02010600030101010101" pitchFamily="2" charset="-122"/>
            </a:endParaRPr>
          </a:p>
        </p:txBody>
      </p:sp>
      <p:sp>
        <p:nvSpPr>
          <p:cNvPr id="80901" name="Text Box 4"/>
          <p:cNvSpPr txBox="1"/>
          <p:nvPr/>
        </p:nvSpPr>
        <p:spPr>
          <a:xfrm rot="5400000">
            <a:off x="5703888" y="3074988"/>
            <a:ext cx="6519862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p>
            <a:r>
              <a:rPr lang="en-US" altLang="zh-CN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§5.10 </a:t>
            </a:r>
            <a:r>
              <a:rPr lang="en-AU" altLang="zh-CN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Parallelism and Memory Hierarchies: Cache Coherence</a:t>
            </a:r>
            <a:endParaRPr lang="en-US" altLang="zh-CN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80902" name="表格 80901"/>
          <p:cNvGraphicFramePr/>
          <p:nvPr/>
        </p:nvGraphicFramePr>
        <p:xfrm>
          <a:off x="684213" y="2636838"/>
          <a:ext cx="7845425" cy="2735263"/>
        </p:xfrm>
        <a:graphic>
          <a:graphicData uri="http://schemas.openxmlformats.org/drawingml/2006/table">
            <a:tbl>
              <a:tblPr/>
              <a:tblGrid>
                <a:gridCol w="863600"/>
                <a:gridCol w="2519363"/>
                <a:gridCol w="1487487"/>
                <a:gridCol w="1487488"/>
                <a:gridCol w="1487487"/>
              </a:tblGrid>
              <a:tr h="7016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20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Time step</a:t>
                      </a:r>
                      <a:endParaRPr lang="en-AU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20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Event</a:t>
                      </a:r>
                      <a:endParaRPr lang="en-AU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20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CPU A’s cache</a:t>
                      </a:r>
                      <a:endParaRPr lang="en-AU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20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CPU B’s cache</a:t>
                      </a:r>
                      <a:endParaRPr lang="en-AU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20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Memory</a:t>
                      </a:r>
                      <a:endParaRPr lang="en-AU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20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lang="en-AU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lang="zh-CN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lang="zh-CN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lang="zh-CN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20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lang="en-AU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20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AU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20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CPU A reads X</a:t>
                      </a:r>
                      <a:endParaRPr lang="en-AU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20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lang="en-AU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lang="zh-CN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20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lang="en-AU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95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20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lang="en-AU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20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CPU B reads X</a:t>
                      </a:r>
                      <a:endParaRPr lang="en-AU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20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lang="en-AU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20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lang="en-AU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20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lang="en-AU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20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lang="en-AU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20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CPU A writes 1 to X</a:t>
                      </a:r>
                      <a:endParaRPr lang="en-AU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20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AU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20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lang="en-AU" altLang="zh-CN" sz="20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sz="2000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AU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8192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Coherence Defined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8192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Informally: Reads return most recently written value</a:t>
            </a:r>
            <a:endParaRPr lang="en-AU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Formally: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P writes X; P reads X (no intervening writes)</a:t>
            </a:r>
            <a:br>
              <a:rPr lang="en-AU" altLang="zh-CN" dirty="0">
                <a:ea typeface="宋体" panose="02010600030101010101" pitchFamily="2" charset="-122"/>
              </a:rPr>
            </a:br>
            <a:r>
              <a:rPr lang="en-AU" altLang="zh-CN" dirty="0">
                <a:ea typeface="宋体" panose="02010600030101010101" pitchFamily="2" charset="-122"/>
                <a:sym typeface="Symbol" panose="05050102010706020507" pitchFamily="18" charset="2"/>
              </a:rPr>
              <a:t> read returns written value</a:t>
            </a:r>
            <a:endParaRPr lang="en-AU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AU" altLang="zh-CN" baseline="-25000" dirty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AU" altLang="zh-CN" dirty="0">
                <a:ea typeface="宋体" panose="02010600030101010101" pitchFamily="2" charset="-122"/>
                <a:sym typeface="Symbol" panose="05050102010706020507" pitchFamily="18" charset="2"/>
              </a:rPr>
              <a:t> writes X; P</a:t>
            </a:r>
            <a:r>
              <a:rPr lang="en-AU" altLang="zh-CN" baseline="-25000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AU" altLang="zh-CN" dirty="0">
                <a:ea typeface="宋体" panose="02010600030101010101" pitchFamily="2" charset="-122"/>
                <a:sym typeface="Symbol" panose="05050102010706020507" pitchFamily="18" charset="2"/>
              </a:rPr>
              <a:t> reads X (sufficiently later)</a:t>
            </a:r>
            <a:br>
              <a:rPr lang="en-AU" altLang="zh-CN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AU" altLang="zh-CN" dirty="0">
                <a:ea typeface="宋体" panose="02010600030101010101" pitchFamily="2" charset="-122"/>
                <a:sym typeface="Symbol" panose="05050102010706020507" pitchFamily="18" charset="2"/>
              </a:rPr>
              <a:t> read returns written value</a:t>
            </a:r>
            <a:endParaRPr lang="en-AU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  <a:sym typeface="Symbol" panose="05050102010706020507" pitchFamily="18" charset="2"/>
              </a:rPr>
              <a:t>c.f. CPU B reading X after step 3 in example</a:t>
            </a:r>
            <a:endParaRPr lang="en-AU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AU" altLang="zh-CN" baseline="-25000" dirty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AU" altLang="zh-CN" dirty="0">
                <a:ea typeface="宋体" panose="02010600030101010101" pitchFamily="2" charset="-122"/>
                <a:sym typeface="Symbol" panose="05050102010706020507" pitchFamily="18" charset="2"/>
              </a:rPr>
              <a:t> writes X, P</a:t>
            </a:r>
            <a:r>
              <a:rPr lang="en-AU" altLang="zh-CN" baseline="-25000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AU" altLang="zh-CN" dirty="0">
                <a:ea typeface="宋体" panose="02010600030101010101" pitchFamily="2" charset="-122"/>
                <a:sym typeface="Symbol" panose="05050102010706020507" pitchFamily="18" charset="2"/>
              </a:rPr>
              <a:t> writes X</a:t>
            </a:r>
            <a:br>
              <a:rPr lang="en-AU" altLang="zh-CN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AU" altLang="zh-CN" dirty="0">
                <a:ea typeface="宋体" panose="02010600030101010101" pitchFamily="2" charset="-122"/>
                <a:sym typeface="Symbol" panose="05050102010706020507" pitchFamily="18" charset="2"/>
              </a:rPr>
              <a:t> all processors see writes in the same order</a:t>
            </a:r>
            <a:endParaRPr lang="en-AU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  <a:sym typeface="Symbol" panose="05050102010706020507" pitchFamily="18" charset="2"/>
              </a:rPr>
              <a:t>End up with the same final value for X</a:t>
            </a:r>
            <a:endParaRPr lang="en-AU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8294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Cache Coherence Protocols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8294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Operations performed by caches in multiprocessors to ensure coherence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Migration of data to local caches</a:t>
            </a:r>
            <a:endParaRPr lang="en-AU" altLang="zh-CN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Reduces bandwidth for shared memory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Replication of read-shared data</a:t>
            </a:r>
            <a:endParaRPr lang="en-AU" altLang="zh-CN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Reduces contention for access</a:t>
            </a:r>
            <a:endParaRPr lang="en-AU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Snooping protocols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Each cache monitors bus reads/writes</a:t>
            </a:r>
            <a:endParaRPr lang="en-AU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Directory-based protocols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Caches and memory record sharing status of blocks in a directory</a:t>
            </a:r>
            <a:endParaRPr lang="en-AU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8397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AU" altLang="zh-CN" sz="4000" dirty="0">
                <a:ea typeface="宋体" panose="02010600030101010101" pitchFamily="2" charset="-122"/>
              </a:rPr>
              <a:t>Invalidating Snooping Protocols</a:t>
            </a:r>
            <a:endParaRPr lang="en-AU" altLang="zh-CN" sz="4000" dirty="0">
              <a:ea typeface="宋体" panose="02010600030101010101" pitchFamily="2" charset="-122"/>
            </a:endParaRPr>
          </a:p>
        </p:txBody>
      </p:sp>
      <p:sp>
        <p:nvSpPr>
          <p:cNvPr id="8397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Cache gets exclusive access to a block when it is to be written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Broadcasts an invalidate message on the bus</a:t>
            </a:r>
            <a:endParaRPr lang="en-AU" altLang="zh-CN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Subsequent read in another cache misses</a:t>
            </a:r>
            <a:endParaRPr lang="en-AU" altLang="zh-CN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AU" altLang="zh-CN" dirty="0">
                <a:ea typeface="宋体" panose="02010600030101010101" pitchFamily="2" charset="-122"/>
              </a:rPr>
              <a:t>Owning cache supplies updated value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graphicFrame>
        <p:nvGraphicFramePr>
          <p:cNvPr id="83973" name="表格 83972"/>
          <p:cNvGraphicFramePr/>
          <p:nvPr/>
        </p:nvGraphicFramePr>
        <p:xfrm>
          <a:off x="611188" y="3644900"/>
          <a:ext cx="8281988" cy="2468563"/>
        </p:xfrm>
        <a:graphic>
          <a:graphicData uri="http://schemas.openxmlformats.org/drawingml/2006/table">
            <a:tbl>
              <a:tblPr/>
              <a:tblGrid>
                <a:gridCol w="2232025"/>
                <a:gridCol w="1944688"/>
                <a:gridCol w="1368425"/>
                <a:gridCol w="1368425"/>
                <a:gridCol w="1368425"/>
              </a:tblGrid>
              <a:tr h="63976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CPU activity</a:t>
                      </a:r>
                      <a:endParaRPr lang="en-AU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Bus activity</a:t>
                      </a:r>
                      <a:endParaRPr lang="en-AU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CPU A’s cache</a:t>
                      </a:r>
                      <a:endParaRPr lang="en-AU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CPU B’s cache</a:t>
                      </a:r>
                      <a:endParaRPr lang="en-AU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Memory</a:t>
                      </a:r>
                      <a:endParaRPr lang="en-AU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lang="zh-CN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lang="zh-CN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lang="zh-CN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lang="zh-CN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lang="en-AU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CPU A reads X</a:t>
                      </a:r>
                      <a:endParaRPr lang="en-AU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Cache miss for X</a:t>
                      </a:r>
                      <a:endParaRPr lang="en-AU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lang="en-AU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lang="zh-CN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lang="en-AU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CPU B reads X</a:t>
                      </a:r>
                      <a:endParaRPr lang="en-AU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Cache miss for X</a:t>
                      </a:r>
                      <a:endParaRPr lang="en-AU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lang="en-AU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lang="en-AU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lang="en-AU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CPU A writes 1 to X</a:t>
                      </a:r>
                      <a:endParaRPr lang="en-AU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Invalidate for X</a:t>
                      </a:r>
                      <a:endParaRPr lang="en-AU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AU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lang="zh-CN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lang="en-AU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CPU B read X</a:t>
                      </a:r>
                      <a:endParaRPr lang="en-AU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Cache miss for X</a:t>
                      </a:r>
                      <a:endParaRPr lang="en-AU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AU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AU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AU" altLang="zh-CN" dirty="0"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en-AU" altLang="zh-CN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8499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AU" altLang="zh-CN" dirty="0">
                <a:ea typeface="宋体" panose="02010600030101010101" pitchFamily="2" charset="-122"/>
              </a:rPr>
              <a:t>Memory Consistency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8499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AU" altLang="zh-CN" sz="2800" dirty="0">
                <a:ea typeface="宋体" panose="02010600030101010101" pitchFamily="2" charset="-122"/>
              </a:rPr>
              <a:t>When are writes seen by other processors</a:t>
            </a:r>
            <a:endParaRPr lang="en-AU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dirty="0">
                <a:ea typeface="宋体" panose="02010600030101010101" pitchFamily="2" charset="-122"/>
              </a:rPr>
              <a:t>“Seen” means a read returns the written value</a:t>
            </a:r>
            <a:endParaRPr lang="en-AU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dirty="0">
                <a:ea typeface="宋体" panose="02010600030101010101" pitchFamily="2" charset="-122"/>
              </a:rPr>
              <a:t>Can’t be instantaneously</a:t>
            </a:r>
            <a:endParaRPr lang="en-AU" altLang="zh-CN" sz="24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sz="2800" dirty="0">
                <a:ea typeface="宋体" panose="02010600030101010101" pitchFamily="2" charset="-122"/>
              </a:rPr>
              <a:t>Assumptions</a:t>
            </a:r>
            <a:endParaRPr lang="en-AU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dirty="0">
                <a:ea typeface="宋体" panose="02010600030101010101" pitchFamily="2" charset="-122"/>
              </a:rPr>
              <a:t>A write completes only when all processors have seen it</a:t>
            </a:r>
            <a:endParaRPr lang="en-AU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dirty="0">
                <a:ea typeface="宋体" panose="02010600030101010101" pitchFamily="2" charset="-122"/>
              </a:rPr>
              <a:t>A processor does not reorder writes with other accesses</a:t>
            </a:r>
            <a:endParaRPr lang="en-AU" altLang="zh-CN" sz="24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zh-CN" sz="2800" dirty="0">
                <a:ea typeface="宋体" panose="02010600030101010101" pitchFamily="2" charset="-122"/>
              </a:rPr>
              <a:t>Consequence</a:t>
            </a:r>
            <a:endParaRPr lang="en-AU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dirty="0">
                <a:ea typeface="宋体" panose="02010600030101010101" pitchFamily="2" charset="-122"/>
              </a:rPr>
              <a:t>P writes X then writes Y</a:t>
            </a:r>
            <a:br>
              <a:rPr lang="en-AU" altLang="zh-CN" sz="2400" dirty="0">
                <a:ea typeface="宋体" panose="02010600030101010101" pitchFamily="2" charset="-122"/>
              </a:rPr>
            </a:br>
            <a:r>
              <a:rPr lang="en-AU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 all processors that see new Y also see new X</a:t>
            </a:r>
            <a:endParaRPr lang="en-AU" altLang="zh-CN" sz="24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Processors can reorder reads, but not writes</a:t>
            </a:r>
            <a:endParaRPr lang="en-AU" altLang="zh-CN" sz="2400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r>
              <a:rPr lang="en-AU" altLang="zh-CN" sz="1400" b="1" dirty="0">
                <a:ea typeface="宋体" panose="02010600030101010101" pitchFamily="2" charset="-122"/>
              </a:rPr>
              <a:t>Chapter 5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Large and Fast: Exploiting Memory Hierarchy </a:t>
            </a:r>
            <a:r>
              <a:rPr lang="en-AU" altLang="zh-CN" sz="1400" b="1" dirty="0">
                <a:latin typeface="Arial" panose="020B0604020202020204" pitchFamily="34" charset="0"/>
                <a:ea typeface="宋体" panose="02010600030101010101" pitchFamily="2" charset="-122"/>
              </a:rPr>
              <a:t>—</a:t>
            </a:r>
            <a:r>
              <a:rPr lang="en-AU" altLang="zh-CN" sz="1400" b="1" dirty="0">
                <a:ea typeface="宋体" panose="02010600030101010101" pitchFamily="2" charset="-122"/>
              </a:rPr>
              <a:t> </a:t>
            </a:r>
            <a:fld id="{9A0DB2DC-4C9A-4742-B13C-FB6460FD3503}" type="slidenum">
              <a:rPr lang="en-AU" altLang="zh-CN" sz="1400" b="1" dirty="0">
                <a:ea typeface="宋体" panose="02010600030101010101" pitchFamily="2" charset="-122"/>
              </a:rPr>
            </a:fld>
            <a:endParaRPr lang="en-AU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86019" name="Rectang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>
            <a:spAutoFit/>
          </a:bodyPr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Concluding Remarks</a:t>
            </a:r>
            <a:endParaRPr lang="en-AU" altLang="zh-CN" dirty="0">
              <a:ea typeface="宋体" panose="02010600030101010101" pitchFamily="2" charset="-122"/>
            </a:endParaRPr>
          </a:p>
        </p:txBody>
      </p:sp>
      <p:sp>
        <p:nvSpPr>
          <p:cNvPr id="86020" name="Rectangle 6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Fast memories are small, large memories are slow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We really want fast, large memories </a:t>
            </a:r>
            <a:r>
              <a:rPr lang="en-US" altLang="zh-CN" sz="2400" dirty="0">
                <a:ea typeface="宋体" panose="02010600030101010101" pitchFamily="2" charset="-122"/>
                <a:sym typeface="Wingdings" panose="05000000000000000000" pitchFamily="2" charset="2"/>
              </a:rPr>
              <a:t></a:t>
            </a:r>
            <a:endParaRPr lang="en-US" altLang="zh-CN" sz="2400" dirty="0"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  <a:sym typeface="Wingdings" panose="05000000000000000000" pitchFamily="2" charset="2"/>
              </a:rPr>
              <a:t>Caching gives this illusion </a:t>
            </a:r>
            <a:endParaRPr lang="en-US" altLang="zh-CN" sz="2400" dirty="0"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Principle of locality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Programs use a small part of their memory space frequently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Memory hierarchy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L1 cache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 L2 cache  …  DRAM memory</a:t>
            </a:r>
            <a:b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 disk</a:t>
            </a:r>
            <a:endParaRPr lang="en-US" altLang="zh-CN" sz="24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Memory system design is critical for multiprocessors</a:t>
            </a:r>
            <a:endParaRPr lang="en-US" altLang="zh-CN" sz="2800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86021" name="Text Box 4"/>
          <p:cNvSpPr txBox="1"/>
          <p:nvPr/>
        </p:nvSpPr>
        <p:spPr>
          <a:xfrm rot="5400000">
            <a:off x="7424738" y="1284288"/>
            <a:ext cx="3070225" cy="369887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p>
            <a:r>
              <a:rPr lang="en-US" altLang="zh-CN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§5.17 Concluding Remarks</a:t>
            </a:r>
            <a:endParaRPr lang="en-US" altLang="zh-CN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2657.5007874015746,&quot;width&quot;:2665}"/>
</p:tagLst>
</file>

<file path=ppt/tags/tag2.xml><?xml version="1.0" encoding="utf-8"?>
<p:tagLst xmlns:p="http://schemas.openxmlformats.org/presentationml/2006/main">
  <p:tag name="KSO_WM_UNIT_PLACING_PICTURE_USER_VIEWPORT" val="{&quot;height&quot;:2657.5007874015746,&quot;width&quot;:2665}"/>
</p:tagLst>
</file>

<file path=ppt/tags/tag3.xml><?xml version="1.0" encoding="utf-8"?>
<p:tagLst xmlns:p="http://schemas.openxmlformats.org/presentationml/2006/main">
  <p:tag name="KSO_WM_UNIT_TABLE_BEAUTIFY" val="smartTable{a24a03d3-81a0-4112-b689-8d7a77651a1c}"/>
</p:tagLst>
</file>

<file path=ppt/tags/tag4.xml><?xml version="1.0" encoding="utf-8"?>
<p:tagLst xmlns:p="http://schemas.openxmlformats.org/presentationml/2006/main">
  <p:tag name="KSO_WPP_MARK_KEY" val="17a8eedc-2229-434e-ad0c-bab53b3ac87e"/>
  <p:tag name="COMMONDATA" val="eyJoZGlkIjoiZmE0NWRmMzVhNTY5Y2FiMzY2OGM1ZWRkMzQwMWFiMzEifQ=="/>
</p:tagLst>
</file>

<file path=ppt/theme/theme1.xml><?xml version="1.0" encoding="utf-8"?>
<a:theme xmlns:a="http://schemas.openxmlformats.org/drawingml/2006/main" name="2_Blends">
  <a:themeElements>
    <a:clrScheme name="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5"/>
      </a:accent5>
      <a:accent6>
        <a:srgbClr val="ACACAC"/>
      </a:accent6>
      <a:hlink>
        <a:srgbClr val="91AFBF"/>
      </a:hlink>
      <a:folHlink>
        <a:srgbClr val="ECEAAC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000000"/>
        </a:lt1>
        <a:dk2>
          <a:srgbClr val="DDDDDD"/>
        </a:dk2>
        <a:lt2>
          <a:srgbClr val="969696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CDCDC"/>
        </a:accent4>
        <a:accent5>
          <a:srgbClr val="AAEFD0"/>
        </a:accent5>
        <a:accent6>
          <a:srgbClr val="2D2DB7"/>
        </a:accent6>
        <a:hlink>
          <a:srgbClr val="FF5050"/>
        </a:hlink>
        <a:folHlink>
          <a:srgbClr val="FFCF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CC"/>
        </a:lt1>
        <a:dk2>
          <a:srgbClr val="FFFFCC"/>
        </a:dk2>
        <a:lt2>
          <a:srgbClr val="000094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CDCDC"/>
        </a:accent4>
        <a:accent5>
          <a:srgbClr val="ADC8FF"/>
        </a:accent5>
        <a:accent6>
          <a:srgbClr val="8900E5"/>
        </a:accent6>
        <a:hlink>
          <a:srgbClr val="FF33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0"/>
        </a:accent5>
        <a:accent6>
          <a:srgbClr val="E5B900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5"/>
        </a:accent5>
        <a:accent6>
          <a:srgbClr val="ACACAC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CCA"/>
        </a:accent5>
        <a:accent6>
          <a:srgbClr val="4345A2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AAB82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39A6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5"/>
        </a:accent5>
        <a:accent6>
          <a:srgbClr val="ACACAC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cod4e</Template>
  <TotalTime>0</TotalTime>
  <Words>25395</Words>
  <Application>WPS 演示</Application>
  <PresentationFormat>全屏显示(4:3)</PresentationFormat>
  <Paragraphs>1788</Paragraphs>
  <Slides>82</Slides>
  <Notes>82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82</vt:i4>
      </vt:variant>
    </vt:vector>
  </HeadingPairs>
  <TitlesOfParts>
    <vt:vector size="94" baseType="lpstr">
      <vt:lpstr>Arial</vt:lpstr>
      <vt:lpstr>宋体</vt:lpstr>
      <vt:lpstr>Wingdings</vt:lpstr>
      <vt:lpstr>Arial Black</vt:lpstr>
      <vt:lpstr>Times New Roman</vt:lpstr>
      <vt:lpstr>微软雅黑</vt:lpstr>
      <vt:lpstr>Arial Unicode MS</vt:lpstr>
      <vt:lpstr>Arial Unicode MS</vt:lpstr>
      <vt:lpstr>Symbol</vt:lpstr>
      <vt:lpstr>2_Blends</vt:lpstr>
      <vt:lpstr>MSGraph.Chart.8</vt:lpstr>
      <vt:lpstr>Equation.3</vt:lpstr>
      <vt:lpstr>Chapter 5</vt:lpstr>
      <vt:lpstr>Principle of Locality</vt:lpstr>
      <vt:lpstr>Taking Advantage of Locality</vt:lpstr>
      <vt:lpstr>Memory Hierarchy Levels</vt:lpstr>
      <vt:lpstr>Memory Technology</vt:lpstr>
      <vt:lpstr>Cache Memory</vt:lpstr>
      <vt:lpstr>Direct Mapped Cache</vt:lpstr>
      <vt:lpstr>Tags and Valid Bits</vt:lpstr>
      <vt:lpstr>Cache Example</vt:lpstr>
      <vt:lpstr>Cache Example</vt:lpstr>
      <vt:lpstr>Cache Example</vt:lpstr>
      <vt:lpstr>Cache Example</vt:lpstr>
      <vt:lpstr>Cache Example</vt:lpstr>
      <vt:lpstr>Cache Example</vt:lpstr>
      <vt:lpstr>Address Subdivision</vt:lpstr>
      <vt:lpstr>Example: Larger Block Size</vt:lpstr>
      <vt:lpstr>Block Size Considerations</vt:lpstr>
      <vt:lpstr>Cache Misses</vt:lpstr>
      <vt:lpstr>Write-Through</vt:lpstr>
      <vt:lpstr>Write-Back</vt:lpstr>
      <vt:lpstr>Write Allocation</vt:lpstr>
      <vt:lpstr>Example: Intrinsity FastMATH</vt:lpstr>
      <vt:lpstr>Example: Intrinsity FastMATH</vt:lpstr>
      <vt:lpstr>Main Memory Supporting Caches</vt:lpstr>
      <vt:lpstr>Increasing Memory Bandwidth</vt:lpstr>
      <vt:lpstr>Advanced DRAM Organization</vt:lpstr>
      <vt:lpstr>DRAM Generations</vt:lpstr>
      <vt:lpstr>Measuring Cache Performance</vt:lpstr>
      <vt:lpstr>Cache Performance Example</vt:lpstr>
      <vt:lpstr>Average Access Time</vt:lpstr>
      <vt:lpstr>Performance Summary</vt:lpstr>
      <vt:lpstr>Associative Caches</vt:lpstr>
      <vt:lpstr>Associative Cache Example</vt:lpstr>
      <vt:lpstr>Spectrum of Associativity</vt:lpstr>
      <vt:lpstr>Associativity Example</vt:lpstr>
      <vt:lpstr>Associativity Example</vt:lpstr>
      <vt:lpstr>How Much Associativity</vt:lpstr>
      <vt:lpstr>Set Associative Cache Organization</vt:lpstr>
      <vt:lpstr>Replacement Policy</vt:lpstr>
      <vt:lpstr>Multilevel Caches</vt:lpstr>
      <vt:lpstr>Multilevel Cache Example</vt:lpstr>
      <vt:lpstr>Example (cont.)</vt:lpstr>
      <vt:lpstr>Multilevel Cache Considerations</vt:lpstr>
      <vt:lpstr>Interactions with Advanced CPUs</vt:lpstr>
      <vt:lpstr>Interactions with Software</vt:lpstr>
      <vt:lpstr>Dependability</vt:lpstr>
      <vt:lpstr>Dependability Measures</vt:lpstr>
      <vt:lpstr>Virtual Machines</vt:lpstr>
      <vt:lpstr>Virtual Machine Monitor</vt:lpstr>
      <vt:lpstr>Example: Timer Virtualization</vt:lpstr>
      <vt:lpstr>Instruction Set Support</vt:lpstr>
      <vt:lpstr>Virtual Memory</vt:lpstr>
      <vt:lpstr>Address Translation</vt:lpstr>
      <vt:lpstr>Page Fault Penalty</vt:lpstr>
      <vt:lpstr>Page Tables</vt:lpstr>
      <vt:lpstr>Translation Using a Page Table</vt:lpstr>
      <vt:lpstr>Mapping Pages to Storage</vt:lpstr>
      <vt:lpstr>Replacement and Writes</vt:lpstr>
      <vt:lpstr>Fast Translation Using a TLB</vt:lpstr>
      <vt:lpstr>Fast Translation Using a TLB</vt:lpstr>
      <vt:lpstr>TLB Misses</vt:lpstr>
      <vt:lpstr>TLB Miss Handler</vt:lpstr>
      <vt:lpstr>Page Fault Handler</vt:lpstr>
      <vt:lpstr>TLB and Cache Interaction</vt:lpstr>
      <vt:lpstr>Memory Protection</vt:lpstr>
      <vt:lpstr>The Memory Hierarchy</vt:lpstr>
      <vt:lpstr>Block Placement</vt:lpstr>
      <vt:lpstr>Finding a Block</vt:lpstr>
      <vt:lpstr>Replacement</vt:lpstr>
      <vt:lpstr>Write Policy</vt:lpstr>
      <vt:lpstr>Sources of Misses</vt:lpstr>
      <vt:lpstr>Cache Design Trade-offs</vt:lpstr>
      <vt:lpstr>Cache Control</vt:lpstr>
      <vt:lpstr>Interface Signals</vt:lpstr>
      <vt:lpstr>Finite State Machines</vt:lpstr>
      <vt:lpstr>Cache Controller FSM</vt:lpstr>
      <vt:lpstr>Cache Coherence Problem</vt:lpstr>
      <vt:lpstr>Coherence Defined</vt:lpstr>
      <vt:lpstr>Cache Coherence Protocols</vt:lpstr>
      <vt:lpstr>Invalidating Snooping Protocols</vt:lpstr>
      <vt:lpstr>Memory Consistency</vt:lpstr>
      <vt:lpstr>Concluding Remarks</vt:lpstr>
    </vt:vector>
  </TitlesOfParts>
  <Company>Ashenden Designs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</dc:title>
  <dc:creator>Peter Ashenden</dc:creator>
  <cp:lastModifiedBy>赵武锋</cp:lastModifiedBy>
  <cp:revision>55</cp:revision>
  <dcterms:created xsi:type="dcterms:W3CDTF">2008-08-25T10:09:00Z</dcterms:created>
  <dcterms:modified xsi:type="dcterms:W3CDTF">2025-09-17T06:49:38Z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E265806604774736A96C11D0E370650C</vt:lpwstr>
  </property>
  <property fmtid="{D5CDD505-2E9C-101B-9397-08002B2CF9AE}" pid="3" name="KSOProductBuildVer">
    <vt:lpwstr>2052-11.1.0.12165</vt:lpwstr>
  </property>
</Properties>
</file>