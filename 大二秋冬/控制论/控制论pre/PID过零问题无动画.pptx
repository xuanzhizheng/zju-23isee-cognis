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8" r:id="rId2"/>
    <p:sldId id="366" r:id="rId3"/>
    <p:sldId id="368" r:id="rId4"/>
    <p:sldId id="363" r:id="rId5"/>
    <p:sldId id="364" r:id="rId6"/>
    <p:sldId id="370" r:id="rId7"/>
    <p:sldId id="371" r:id="rId8"/>
    <p:sldId id="373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60" d="100"/>
          <a:sy n="60" d="100"/>
        </p:scale>
        <p:origin x="48" y="414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1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48672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2024/11/18</a:t>
            </a:fld>
            <a:endParaRPr lang="zh-CN" altLang="en-US"/>
          </a:p>
        </p:txBody>
      </p:sp>
      <p:sp>
        <p:nvSpPr>
          <p:cNvPr id="1048673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1048674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675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48676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fld id="{80CF78D9-B71B-483D-AADA-EE9E7AE9F39D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0AB03-CBC8-ECEF-A2F4-3D340CD8D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>
            <a:extLst>
              <a:ext uri="{FF2B5EF4-FFF2-40B4-BE49-F238E27FC236}">
                <a16:creationId xmlns:a16="http://schemas.microsoft.com/office/drawing/2014/main" id="{E06A6863-1B26-75D0-2649-39BCF0E906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>
            <a:extLst>
              <a:ext uri="{FF2B5EF4-FFF2-40B4-BE49-F238E27FC236}">
                <a16:creationId xmlns:a16="http://schemas.microsoft.com/office/drawing/2014/main" id="{F697F74D-B05D-343F-3E97-80A5B542B43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zh-CN" altLang="en-US"/>
          </a:p>
        </p:txBody>
      </p:sp>
      <p:sp>
        <p:nvSpPr>
          <p:cNvPr id="4100" name="灯片编号占位符 3">
            <a:extLst>
              <a:ext uri="{FF2B5EF4-FFF2-40B4-BE49-F238E27FC236}">
                <a16:creationId xmlns:a16="http://schemas.microsoft.com/office/drawing/2014/main" id="{85F0AD61-68D9-8EF5-F95F-28BDF63B22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fld id="{80CF78D9-B71B-483D-AADA-EE9E7AE9F39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7732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048589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048590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4E29651-9BC7-4EEE-AA87-F4882B75ED8B}" type="datetimeFigureOut">
              <a:rPr lang="zh-CN" altLang="en-US" smtClean="0"/>
              <a:t>2024/11/18</a:t>
            </a:fld>
            <a:endParaRPr lang="zh-CN" altLang="en-US"/>
          </a:p>
        </p:txBody>
      </p:sp>
      <p:sp>
        <p:nvSpPr>
          <p:cNvPr id="1048591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048592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662EF11-772A-4FBF-B039-954F40C5579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577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578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4E29651-9BC7-4EEE-AA87-F4882B75ED8B}" type="datetimeFigureOut">
              <a:rPr lang="zh-CN" altLang="en-US" smtClean="0"/>
              <a:t>2024/11/18</a:t>
            </a:fld>
            <a:endParaRPr lang="zh-CN" altLang="en-US"/>
          </a:p>
        </p:txBody>
      </p:sp>
      <p:sp>
        <p:nvSpPr>
          <p:cNvPr id="1048579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048580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662EF11-772A-4FBF-B039-954F40C5579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3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048644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048645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4E29651-9BC7-4EEE-AA87-F4882B75ED8B}" type="datetimeFigureOut">
              <a:rPr lang="zh-CN" altLang="en-US" smtClean="0"/>
              <a:t>2024/11/18</a:t>
            </a:fld>
            <a:endParaRPr lang="zh-CN" altLang="en-US"/>
          </a:p>
        </p:txBody>
      </p:sp>
      <p:sp>
        <p:nvSpPr>
          <p:cNvPr id="1048646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04864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662EF11-772A-4FBF-B039-954F40C5579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8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649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650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651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4E29651-9BC7-4EEE-AA87-F4882B75ED8B}" type="datetimeFigureOut">
              <a:rPr lang="zh-CN" altLang="en-US" smtClean="0"/>
              <a:t>2024/11/18</a:t>
            </a:fld>
            <a:endParaRPr lang="zh-CN" altLang="en-US"/>
          </a:p>
        </p:txBody>
      </p:sp>
      <p:sp>
        <p:nvSpPr>
          <p:cNvPr id="1048652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048653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662EF11-772A-4FBF-B039-954F40C5579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4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655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048656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657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048658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659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4E29651-9BC7-4EEE-AA87-F4882B75ED8B}" type="datetimeFigureOut">
              <a:rPr lang="zh-CN" altLang="en-US" smtClean="0"/>
              <a:t>2024/11/18</a:t>
            </a:fld>
            <a:endParaRPr lang="zh-CN" altLang="en-US"/>
          </a:p>
        </p:txBody>
      </p:sp>
      <p:sp>
        <p:nvSpPr>
          <p:cNvPr id="1048660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048661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662EF11-772A-4FBF-B039-954F40C5579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3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624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4E29651-9BC7-4EEE-AA87-F4882B75ED8B}" type="datetimeFigureOut">
              <a:rPr lang="zh-CN" altLang="en-US" smtClean="0"/>
              <a:t>2024/11/18</a:t>
            </a:fld>
            <a:endParaRPr lang="zh-CN" altLang="en-US"/>
          </a:p>
        </p:txBody>
      </p:sp>
      <p:sp>
        <p:nvSpPr>
          <p:cNvPr id="1048625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048626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662EF11-772A-4FBF-B039-954F40C5579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4E29651-9BC7-4EEE-AA87-F4882B75ED8B}" type="datetimeFigureOut">
              <a:rPr lang="zh-CN" altLang="en-US" smtClean="0"/>
              <a:t>2024/11/18</a:t>
            </a:fld>
            <a:endParaRPr lang="zh-CN" altLang="en-US"/>
          </a:p>
        </p:txBody>
      </p:sp>
      <p:sp>
        <p:nvSpPr>
          <p:cNvPr id="104866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04866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662EF11-772A-4FBF-B039-954F40C5579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5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048666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667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048668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4E29651-9BC7-4EEE-AA87-F4882B75ED8B}" type="datetimeFigureOut">
              <a:rPr lang="zh-CN" altLang="en-US" smtClean="0"/>
              <a:t>2024/11/18</a:t>
            </a:fld>
            <a:endParaRPr lang="zh-CN" altLang="en-US"/>
          </a:p>
        </p:txBody>
      </p:sp>
      <p:sp>
        <p:nvSpPr>
          <p:cNvPr id="1048669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048670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662EF11-772A-4FBF-B039-954F40C5579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04863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104863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04863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4E29651-9BC7-4EEE-AA87-F4882B75ED8B}" type="datetimeFigureOut">
              <a:rPr lang="zh-CN" altLang="en-US" smtClean="0"/>
              <a:t>2024/11/18</a:t>
            </a:fld>
            <a:endParaRPr lang="zh-CN" altLang="en-US"/>
          </a:p>
        </p:txBody>
      </p:sp>
      <p:sp>
        <p:nvSpPr>
          <p:cNvPr id="104863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04863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662EF11-772A-4FBF-B039-954F40C5579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8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639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640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4E29651-9BC7-4EEE-AA87-F4882B75ED8B}" type="datetimeFigureOut">
              <a:rPr lang="zh-CN" altLang="en-US" smtClean="0"/>
              <a:t>2024/11/18</a:t>
            </a:fld>
            <a:endParaRPr lang="zh-CN" altLang="en-US"/>
          </a:p>
        </p:txBody>
      </p:sp>
      <p:sp>
        <p:nvSpPr>
          <p:cNvPr id="1048641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048642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662EF11-772A-4FBF-B039-954F40C5579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7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628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629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4E29651-9BC7-4EEE-AA87-F4882B75ED8B}" type="datetimeFigureOut">
              <a:rPr lang="zh-CN" altLang="en-US" smtClean="0"/>
              <a:t>2024/11/18</a:t>
            </a:fld>
            <a:endParaRPr lang="zh-CN" altLang="en-US"/>
          </a:p>
        </p:txBody>
      </p:sp>
      <p:sp>
        <p:nvSpPr>
          <p:cNvPr id="1048630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048631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662EF11-772A-4FBF-B039-954F40C5579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2" name="Picture 7" descr="C:\Documents and Settings\sqz\桌面\图片1.jpg"/>
          <p:cNvPicPr>
            <a:picLocks noChangeAspect="1" noChangeArrowheads="1"/>
          </p:cNvPicPr>
          <p:nvPr userDrawn="1"/>
        </p:nvPicPr>
        <p:blipFill>
          <a:blip r:embed="rId13"/>
          <a:srcRect l="397" t="671" r="217" b="51665"/>
          <a:stretch>
            <a:fillRect/>
          </a:stretch>
        </p:blipFill>
        <p:spPr bwMode="auto">
          <a:xfrm>
            <a:off x="0" y="0"/>
            <a:ext cx="9142413" cy="328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53" name="图片 2"/>
          <p:cNvPicPr>
            <a:picLocks noChangeAspect="1"/>
          </p:cNvPicPr>
          <p:nvPr userDrawn="1"/>
        </p:nvPicPr>
        <p:blipFill>
          <a:blip r:embed="rId14"/>
          <a:srcRect/>
          <a:stretch>
            <a:fillRect/>
          </a:stretch>
        </p:blipFill>
        <p:spPr bwMode="auto">
          <a:xfrm>
            <a:off x="3081337" y="6280150"/>
            <a:ext cx="9110663" cy="57785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video" Target="../media/media1.mp4"/><Relationship Id="rId7" Type="http://schemas.openxmlformats.org/officeDocument/2006/relationships/image" Target="../media/image9.png"/><Relationship Id="rId2" Type="http://schemas.microsoft.com/office/2007/relationships/media" Target="../media/media1.mp4"/><Relationship Id="rId1" Type="http://schemas.openxmlformats.org/officeDocument/2006/relationships/tags" Target="../tags/tag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1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video" Target="../media/media2.mp4"/><Relationship Id="rId2" Type="http://schemas.microsoft.com/office/2007/relationships/media" Target="../media/media2.mp4"/><Relationship Id="rId1" Type="http://schemas.openxmlformats.org/officeDocument/2006/relationships/tags" Target="../tags/tag4.xml"/><Relationship Id="rId6" Type="http://schemas.openxmlformats.org/officeDocument/2006/relationships/image" Target="../media/image16.png"/><Relationship Id="rId5" Type="http://schemas.openxmlformats.org/officeDocument/2006/relationships/image" Target="../media/image15.jpeg"/><Relationship Id="rId4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329916" y="1497186"/>
            <a:ext cx="11598910" cy="2254885"/>
          </a:xfrm>
          <a:prstGeom prst="rect">
            <a:avLst/>
          </a:prstGeom>
          <a:ln>
            <a:noFill/>
          </a:ln>
        </p:spPr>
        <p:txBody>
          <a:bodyPr lIns="0" anchor="b"/>
          <a:lstStyle>
            <a:lvl1pPr algn="l" defTabSz="914400" rtl="0" eaLnBrk="1" latinLnBrk="0" hangingPunct="1">
              <a:lnSpc>
                <a:spcPts val="5800"/>
              </a:lnSpc>
              <a:spcBef>
                <a:spcPct val="0"/>
              </a:spcBef>
              <a:buNone/>
              <a:defRPr sz="6000" b="1" i="0" kern="1200" cap="all" baseline="0">
                <a:solidFill>
                  <a:srgbClr val="005BBB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>
              <a:defRPr/>
            </a:pPr>
            <a:r>
              <a:rPr lang="zh-CN" altLang="en-US" sz="3600" cap="none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 </a:t>
            </a:r>
          </a:p>
          <a:p>
            <a:pPr algn="ctr"/>
            <a:r>
              <a:rPr lang="en-US" altLang="zh-CN" sz="72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PID</a:t>
            </a:r>
            <a:r>
              <a:rPr lang="zh-CN" altLang="en-US" sz="72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过零问题</a:t>
            </a:r>
            <a:endParaRPr lang="en-US" altLang="zh-CN" sz="7200" kern="100" dirty="0">
              <a:effectLst/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en-US" sz="32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                                                                 </a:t>
            </a:r>
            <a:endParaRPr lang="zh-CN" altLang="zh-CN" sz="3200" kern="100" dirty="0">
              <a:effectLst/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3075" name="Text Placeholder 1"/>
          <p:cNvSpPr txBox="1"/>
          <p:nvPr/>
        </p:nvSpPr>
        <p:spPr bwMode="auto">
          <a:xfrm>
            <a:off x="4221196" y="4435014"/>
            <a:ext cx="3816350" cy="925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汇报人：郑智瑄</a:t>
            </a:r>
            <a:endParaRPr lang="en-US" altLang="zh-CN" sz="2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1800" b="1" dirty="0">
                <a:latin typeface="微软雅黑" panose="020B0503020204020204" charset="-122"/>
                <a:ea typeface="微软雅黑" panose="020B0503020204020204" charset="-122"/>
              </a:rPr>
              <a:t>2024.11.19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9444E7-EABA-D003-DC90-FA2DA37A1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49EBE24C-7DE0-A72D-07FB-A072A23ED3D8}"/>
              </a:ext>
            </a:extLst>
          </p:cNvPr>
          <p:cNvGrpSpPr/>
          <p:nvPr/>
        </p:nvGrpSpPr>
        <p:grpSpPr>
          <a:xfrm>
            <a:off x="1072811" y="691926"/>
            <a:ext cx="10841022" cy="461962"/>
            <a:chOff x="1072811" y="691926"/>
            <a:chExt cx="10841022" cy="461962"/>
          </a:xfrm>
        </p:grpSpPr>
        <p:sp>
          <p:nvSpPr>
            <p:cNvPr id="6" name="文本框 34">
              <a:extLst>
                <a:ext uri="{FF2B5EF4-FFF2-40B4-BE49-F238E27FC236}">
                  <a16:creationId xmlns:a16="http://schemas.microsoft.com/office/drawing/2014/main" id="{39003838-D10B-91F5-E029-EF77982444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2811" y="691926"/>
              <a:ext cx="3832860" cy="460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PID</a:t>
              </a:r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的核心</a:t>
              </a:r>
              <a:endPara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DF6F4B6B-34C9-17B9-9DD9-BE5222F32240}"/>
                </a:ext>
              </a:extLst>
            </p:cNvPr>
            <p:cNvCxnSpPr/>
            <p:nvPr/>
          </p:nvCxnSpPr>
          <p:spPr>
            <a:xfrm>
              <a:off x="1072811" y="1153888"/>
              <a:ext cx="1084102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1" name="图片 10">
            <a:extLst>
              <a:ext uri="{FF2B5EF4-FFF2-40B4-BE49-F238E27FC236}">
                <a16:creationId xmlns:a16="http://schemas.microsoft.com/office/drawing/2014/main" id="{8056A400-5D40-5182-EF99-BFBCCEC745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065" y="1492669"/>
            <a:ext cx="8448145" cy="1138563"/>
          </a:xfrm>
          <a:prstGeom prst="rect">
            <a:avLst/>
          </a:prstGeo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47024E21-32AC-E00B-34E3-D3BCCDF89A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2076" y="2970012"/>
            <a:ext cx="10076473" cy="1597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CE53C0FB-F44D-3D57-AB15-30EF658DFA2D}"/>
              </a:ext>
            </a:extLst>
          </p:cNvPr>
          <p:cNvSpPr txBox="1"/>
          <p:nvPr/>
        </p:nvSpPr>
        <p:spPr>
          <a:xfrm>
            <a:off x="1300066" y="4789713"/>
            <a:ext cx="105622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PID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的核心：通过计算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tar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cur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的差值输出</a:t>
            </a:r>
            <a:r>
              <a:rPr lang="en-US" altLang="zh-CN" sz="36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ouput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，作用于对象使得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cur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趋于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tar</a:t>
            </a:r>
            <a:endParaRPr lang="zh-CN" altLang="en-US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28564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3AAAA-5F49-FB49-D18B-B55E310BF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41F08FEE-3BB7-DB4E-5015-C684DFBE8BE9}"/>
              </a:ext>
            </a:extLst>
          </p:cNvPr>
          <p:cNvGrpSpPr/>
          <p:nvPr/>
        </p:nvGrpSpPr>
        <p:grpSpPr>
          <a:xfrm>
            <a:off x="1072811" y="691926"/>
            <a:ext cx="10841022" cy="461962"/>
            <a:chOff x="1072811" y="691926"/>
            <a:chExt cx="10841022" cy="461962"/>
          </a:xfrm>
        </p:grpSpPr>
        <p:sp>
          <p:nvSpPr>
            <p:cNvPr id="6" name="文本框 34">
              <a:extLst>
                <a:ext uri="{FF2B5EF4-FFF2-40B4-BE49-F238E27FC236}">
                  <a16:creationId xmlns:a16="http://schemas.microsoft.com/office/drawing/2014/main" id="{0997758F-6BFF-F0CC-CDB8-FA1A210C09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2811" y="691926"/>
              <a:ext cx="3832860" cy="460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PID</a:t>
              </a:r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的核心</a:t>
              </a:r>
              <a:endPara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6DFF5CB6-0685-9437-C0C3-CF1C835D2803}"/>
                </a:ext>
              </a:extLst>
            </p:cNvPr>
            <p:cNvCxnSpPr/>
            <p:nvPr/>
          </p:nvCxnSpPr>
          <p:spPr>
            <a:xfrm>
              <a:off x="1072811" y="1153888"/>
              <a:ext cx="1084102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65FFC9CB-5086-4F90-6AF6-95E01DAFA961}"/>
              </a:ext>
            </a:extLst>
          </p:cNvPr>
          <p:cNvSpPr txBox="1"/>
          <p:nvPr/>
        </p:nvSpPr>
        <p:spPr>
          <a:xfrm>
            <a:off x="3623144" y="1457093"/>
            <a:ext cx="4945711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0000" b="1" dirty="0">
                <a:latin typeface="楷体" panose="02010609060101010101" pitchFamily="49" charset="-122"/>
                <a:ea typeface="楷体" panose="02010609060101010101" pitchFamily="49" charset="-122"/>
              </a:rPr>
              <a:t>锁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27515E4-2D15-673E-5B8B-23C366B952AE}"/>
              </a:ext>
            </a:extLst>
          </p:cNvPr>
          <p:cNvSpPr txBox="1"/>
          <p:nvPr/>
        </p:nvSpPr>
        <p:spPr>
          <a:xfrm>
            <a:off x="1072811" y="1520703"/>
            <a:ext cx="18844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一字以蔽之：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87E3AC5-BB37-6120-4CAE-8993B5B700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3900" y="1427752"/>
            <a:ext cx="2726439" cy="200124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873D2DE-0BAE-C8ED-D4CF-F16D3445EF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3900" y="4070646"/>
            <a:ext cx="2726439" cy="1897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918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1072811" y="691926"/>
            <a:ext cx="10841022" cy="461962"/>
            <a:chOff x="1072811" y="691926"/>
            <a:chExt cx="10841022" cy="461962"/>
          </a:xfrm>
        </p:grpSpPr>
        <p:sp>
          <p:nvSpPr>
            <p:cNvPr id="6" name="文本框 34"/>
            <p:cNvSpPr txBox="1">
              <a:spLocks noChangeArrowheads="1"/>
            </p:cNvSpPr>
            <p:nvPr/>
          </p:nvSpPr>
          <p:spPr bwMode="auto">
            <a:xfrm>
              <a:off x="1072811" y="691926"/>
              <a:ext cx="3832860" cy="460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情景思考</a:t>
              </a:r>
              <a:endPara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7" name="直接连接符 6"/>
            <p:cNvCxnSpPr/>
            <p:nvPr/>
          </p:nvCxnSpPr>
          <p:spPr>
            <a:xfrm>
              <a:off x="1072811" y="1153888"/>
              <a:ext cx="1084102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文本框 11"/>
          <p:cNvSpPr txBox="1"/>
          <p:nvPr/>
        </p:nvSpPr>
        <p:spPr>
          <a:xfrm>
            <a:off x="4952365" y="5345430"/>
            <a:ext cx="4160520" cy="3790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27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72515" y="1388745"/>
            <a:ext cx="5602605" cy="4278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  <a:defRPr/>
            </a:pPr>
            <a:endParaRPr lang="zh-CN" altLang="zh-CN" sz="18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3" name="88632a0d8974bb2737c9e09adb3228c6">
            <a:hlinkClick r:id="" action="ppaction://media"/>
            <a:extLst>
              <a:ext uri="{FF2B5EF4-FFF2-40B4-BE49-F238E27FC236}">
                <a16:creationId xmlns:a16="http://schemas.microsoft.com/office/drawing/2014/main" id="{7E1EBFA5-796A-E1CF-7165-B011C549FDD4}"/>
              </a:ext>
            </a:extLst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285218" y="1703866"/>
            <a:ext cx="5496151" cy="3091586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474F1A50-3FB6-91C7-3ED4-EE2753267425}"/>
              </a:ext>
            </a:extLst>
          </p:cNvPr>
          <p:cNvSpPr txBox="1"/>
          <p:nvPr/>
        </p:nvSpPr>
        <p:spPr>
          <a:xfrm>
            <a:off x="945500" y="1387157"/>
            <a:ext cx="52127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伪代码：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A6038D94-A117-B99F-F005-5469F5F906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500" y="3371756"/>
            <a:ext cx="4761915" cy="1710743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D783F3CA-91AB-D559-D1AE-788CD58C955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5500" y="4710522"/>
            <a:ext cx="2249736" cy="1648909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68675C6F-997A-C98C-DE77-4B4177910D9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3581" y="1839577"/>
            <a:ext cx="5102419" cy="1550350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B3073753-039A-8EE3-7531-D933BEE96A0C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2315" y="4922106"/>
            <a:ext cx="1978712" cy="1664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731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366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959AE-BA64-C2E6-56EA-46178A550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1153DEB0-28B0-8697-1E4F-2B0328DC9C34}"/>
              </a:ext>
            </a:extLst>
          </p:cNvPr>
          <p:cNvGrpSpPr/>
          <p:nvPr/>
        </p:nvGrpSpPr>
        <p:grpSpPr>
          <a:xfrm>
            <a:off x="1072811" y="691926"/>
            <a:ext cx="10841022" cy="461962"/>
            <a:chOff x="1072811" y="691926"/>
            <a:chExt cx="10841022" cy="461962"/>
          </a:xfrm>
        </p:grpSpPr>
        <p:sp>
          <p:nvSpPr>
            <p:cNvPr id="6" name="文本框 34">
              <a:extLst>
                <a:ext uri="{FF2B5EF4-FFF2-40B4-BE49-F238E27FC236}">
                  <a16:creationId xmlns:a16="http://schemas.microsoft.com/office/drawing/2014/main" id="{2A2B40DA-68F3-D77F-FDCC-3F657264DC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2811" y="691926"/>
              <a:ext cx="3832860" cy="460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PID</a:t>
              </a:r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的特征</a:t>
              </a:r>
              <a:endPara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0260D301-3D37-1752-472E-6F499BABCC2B}"/>
                </a:ext>
              </a:extLst>
            </p:cNvPr>
            <p:cNvCxnSpPr/>
            <p:nvPr/>
          </p:nvCxnSpPr>
          <p:spPr>
            <a:xfrm>
              <a:off x="1072811" y="1153888"/>
              <a:ext cx="1084102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1EF3942D-7400-B745-EF1B-66D6EC51FF04}"/>
              </a:ext>
            </a:extLst>
          </p:cNvPr>
          <p:cNvSpPr txBox="1"/>
          <p:nvPr/>
        </p:nvSpPr>
        <p:spPr>
          <a:xfrm>
            <a:off x="4952365" y="5345430"/>
            <a:ext cx="4160520" cy="3790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27">
            <a:extLst>
              <a:ext uri="{FF2B5EF4-FFF2-40B4-BE49-F238E27FC236}">
                <a16:creationId xmlns:a16="http://schemas.microsoft.com/office/drawing/2014/main" id="{C1668F7D-047D-D3C4-9BF3-345DB461D7F1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72515" y="1388745"/>
            <a:ext cx="5602605" cy="4278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  <a:defRPr/>
            </a:pPr>
            <a:endParaRPr lang="zh-CN" altLang="zh-CN" sz="18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F67DB83-1FF8-A211-E35A-B7B34C25F3BA}"/>
              </a:ext>
            </a:extLst>
          </p:cNvPr>
          <p:cNvSpPr txBox="1"/>
          <p:nvPr/>
        </p:nvSpPr>
        <p:spPr>
          <a:xfrm>
            <a:off x="1072515" y="1455576"/>
            <a:ext cx="41344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为什么会发生这种现象？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9B0922E-6025-B5E9-D203-93D4457A587F}"/>
              </a:ext>
            </a:extLst>
          </p:cNvPr>
          <p:cNvSpPr txBox="1"/>
          <p:nvPr/>
        </p:nvSpPr>
        <p:spPr>
          <a:xfrm>
            <a:off x="1072515" y="2166610"/>
            <a:ext cx="47339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本质原因：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PID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线性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13EEE204-A6A9-AA13-0397-F0680406CF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3466" y="1286843"/>
            <a:ext cx="3828411" cy="2805974"/>
          </a:xfrm>
          <a:prstGeom prst="rect">
            <a:avLst/>
          </a:prstGeom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37BA7874-19EB-C75B-BB2F-C7B4B5105C2C}"/>
              </a:ext>
            </a:extLst>
          </p:cNvPr>
          <p:cNvSpPr txBox="1"/>
          <p:nvPr/>
        </p:nvSpPr>
        <p:spPr>
          <a:xfrm>
            <a:off x="862303" y="2919312"/>
            <a:ext cx="73661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锁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的方向不对：绕“圆周”上的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远路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3842C6C4-9061-9226-76A0-5281E6B837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303" y="3896774"/>
            <a:ext cx="8629650" cy="215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763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D3494-FD4F-C152-DA40-4AF76EE92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EA6204C9-80EC-1449-C184-913DE7B0A3F3}"/>
              </a:ext>
            </a:extLst>
          </p:cNvPr>
          <p:cNvGrpSpPr/>
          <p:nvPr/>
        </p:nvGrpSpPr>
        <p:grpSpPr>
          <a:xfrm>
            <a:off x="1072811" y="691926"/>
            <a:ext cx="10841022" cy="461962"/>
            <a:chOff x="1072811" y="691926"/>
            <a:chExt cx="10841022" cy="461962"/>
          </a:xfrm>
        </p:grpSpPr>
        <p:sp>
          <p:nvSpPr>
            <p:cNvPr id="6" name="文本框 34">
              <a:extLst>
                <a:ext uri="{FF2B5EF4-FFF2-40B4-BE49-F238E27FC236}">
                  <a16:creationId xmlns:a16="http://schemas.microsoft.com/office/drawing/2014/main" id="{E91DC872-998B-9D68-2932-C217CA45F3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2811" y="691926"/>
              <a:ext cx="3832860" cy="460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过零问题解决方法</a:t>
              </a:r>
              <a:endPara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4CE71F03-E33F-0681-7F6B-6923553A240C}"/>
                </a:ext>
              </a:extLst>
            </p:cNvPr>
            <p:cNvCxnSpPr/>
            <p:nvPr/>
          </p:nvCxnSpPr>
          <p:spPr>
            <a:xfrm>
              <a:off x="1072811" y="1153888"/>
              <a:ext cx="1084102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矩形 27">
            <a:extLst>
              <a:ext uri="{FF2B5EF4-FFF2-40B4-BE49-F238E27FC236}">
                <a16:creationId xmlns:a16="http://schemas.microsoft.com/office/drawing/2014/main" id="{C75DE212-DF9E-385B-EB34-97E3FE507D91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72515" y="1388745"/>
            <a:ext cx="5602605" cy="4278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  <a:defRPr/>
            </a:pPr>
            <a:endParaRPr lang="zh-CN" altLang="zh-CN" sz="18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9B1395C-F4E4-433D-A747-FB6E1DDE7DCC}"/>
              </a:ext>
            </a:extLst>
          </p:cNvPr>
          <p:cNvSpPr txBox="1"/>
          <p:nvPr/>
        </p:nvSpPr>
        <p:spPr>
          <a:xfrm>
            <a:off x="1072515" y="1455576"/>
            <a:ext cx="78329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本质：通过线性延拓来模拟圆周“锁”的方向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6B925474-35D8-37B3-B50F-E18F11271F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4452" y="3150235"/>
            <a:ext cx="5901264" cy="2661188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217C8E64-B9CC-8746-52EC-B15A9A7509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211" y="2594480"/>
            <a:ext cx="5542060" cy="3216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01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3FB7F-BAEA-D77D-BA41-D546EA156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235BDA14-F6F9-2ACF-129C-5CBD9AA41451}"/>
              </a:ext>
            </a:extLst>
          </p:cNvPr>
          <p:cNvGrpSpPr/>
          <p:nvPr/>
        </p:nvGrpSpPr>
        <p:grpSpPr>
          <a:xfrm>
            <a:off x="1072810" y="691926"/>
            <a:ext cx="10841023" cy="461962"/>
            <a:chOff x="1072810" y="691926"/>
            <a:chExt cx="10841023" cy="461962"/>
          </a:xfrm>
        </p:grpSpPr>
        <p:sp>
          <p:nvSpPr>
            <p:cNvPr id="6" name="文本框 34">
              <a:extLst>
                <a:ext uri="{FF2B5EF4-FFF2-40B4-BE49-F238E27FC236}">
                  <a16:creationId xmlns:a16="http://schemas.microsoft.com/office/drawing/2014/main" id="{FD79D9A0-DD0A-8F92-886A-AA0BD97FDA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2810" y="691926"/>
              <a:ext cx="605950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如果你在实际工程中不解决过零问题：</a:t>
              </a:r>
              <a:endPara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9EB717AC-2A5C-1D68-B4DF-A4B43FBE8129}"/>
                </a:ext>
              </a:extLst>
            </p:cNvPr>
            <p:cNvCxnSpPr/>
            <p:nvPr/>
          </p:nvCxnSpPr>
          <p:spPr>
            <a:xfrm>
              <a:off x="1072811" y="1153888"/>
              <a:ext cx="1084102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矩形 27">
            <a:extLst>
              <a:ext uri="{FF2B5EF4-FFF2-40B4-BE49-F238E27FC236}">
                <a16:creationId xmlns:a16="http://schemas.microsoft.com/office/drawing/2014/main" id="{90CCFFE2-2619-6B6E-6D82-10E6159A59E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72515" y="1388745"/>
            <a:ext cx="5602605" cy="4278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  <a:defRPr/>
            </a:pPr>
            <a:endParaRPr lang="zh-CN" altLang="zh-CN" sz="18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2050" name="Picture 2" descr="拟人卡通 矢量素材 AI格式_0002图片_动漫人物_动漫卡通-图行天下素材网">
            <a:extLst>
              <a:ext uri="{FF2B5EF4-FFF2-40B4-BE49-F238E27FC236}">
                <a16:creationId xmlns:a16="http://schemas.microsoft.com/office/drawing/2014/main" id="{F2D5E5D9-1707-EE6A-4BC1-3EEF789BBE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449" y="2271855"/>
            <a:ext cx="3635320" cy="2512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疯车视频">
            <a:hlinkClick r:id="" action="ppaction://media"/>
            <a:extLst>
              <a:ext uri="{FF2B5EF4-FFF2-40B4-BE49-F238E27FC236}">
                <a16:creationId xmlns:a16="http://schemas.microsoft.com/office/drawing/2014/main" id="{656D9A4D-D7EB-7B01-5F31-39B6BAB5D230}"/>
              </a:ext>
            </a:extLst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678004" y="1921564"/>
            <a:ext cx="5624377" cy="3187147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E9A8CF84-A178-F2D9-1C2D-62251EDEFE5B}"/>
              </a:ext>
            </a:extLst>
          </p:cNvPr>
          <p:cNvSpPr txBox="1"/>
          <p:nvPr/>
        </p:nvSpPr>
        <p:spPr>
          <a:xfrm>
            <a:off x="644056" y="5284589"/>
            <a:ext cx="47660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你的小车可能就要狠狠的</a:t>
            </a:r>
            <a:r>
              <a:rPr lang="zh-CN" altLang="en-US" b="1" dirty="0"/>
              <a:t>蹂躏</a:t>
            </a:r>
            <a:r>
              <a:rPr lang="zh-CN" altLang="en-US" dirty="0"/>
              <a:t>你了</a:t>
            </a:r>
            <a:r>
              <a:rPr lang="en-US" altLang="zh-CN" dirty="0"/>
              <a:t>(</a:t>
            </a:r>
            <a:r>
              <a:rPr lang="zh-CN" altLang="en-US" dirty="0"/>
              <a:t>｀益</a:t>
            </a:r>
            <a:r>
              <a:rPr lang="en-US" altLang="zh-CN" dirty="0"/>
              <a:t>´)</a:t>
            </a:r>
            <a:r>
              <a:rPr lang="ja-JP" altLang="en-US" dirty="0"/>
              <a:t>がう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53683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824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A358E-7CD6-5F36-C1CA-40A138C6A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E3CF9C19-7FB7-C33D-F14B-13DA8A3E5AA7}"/>
              </a:ext>
            </a:extLst>
          </p:cNvPr>
          <p:cNvSpPr txBox="1"/>
          <p:nvPr/>
        </p:nvSpPr>
        <p:spPr>
          <a:xfrm>
            <a:off x="329916" y="1497186"/>
            <a:ext cx="11598910" cy="2254885"/>
          </a:xfrm>
          <a:prstGeom prst="rect">
            <a:avLst/>
          </a:prstGeom>
          <a:ln>
            <a:noFill/>
          </a:ln>
        </p:spPr>
        <p:txBody>
          <a:bodyPr lIns="0" anchor="b"/>
          <a:lstStyle>
            <a:lvl1pPr algn="l" defTabSz="914400" rtl="0" eaLnBrk="1" latinLnBrk="0" hangingPunct="1">
              <a:lnSpc>
                <a:spcPts val="5800"/>
              </a:lnSpc>
              <a:spcBef>
                <a:spcPct val="0"/>
              </a:spcBef>
              <a:buNone/>
              <a:defRPr sz="6000" b="1" i="0" kern="1200" cap="all" baseline="0">
                <a:solidFill>
                  <a:srgbClr val="005BBB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>
              <a:defRPr/>
            </a:pPr>
            <a:r>
              <a:rPr lang="zh-CN" altLang="en-US" sz="3600" cap="none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 </a:t>
            </a:r>
          </a:p>
          <a:p>
            <a:pPr algn="ctr"/>
            <a:r>
              <a:rPr lang="zh-CN" altLang="en-US" sz="7200" kern="1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恳请大家指正</a:t>
            </a:r>
            <a:endParaRPr lang="en-US" altLang="zh-CN" sz="7200" kern="100" dirty="0">
              <a:effectLst/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en-US" sz="32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                                                                 </a:t>
            </a:r>
            <a:endParaRPr lang="zh-CN" altLang="zh-CN" sz="3200" kern="100" dirty="0">
              <a:effectLst/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3075" name="Text Placeholder 1">
            <a:extLst>
              <a:ext uri="{FF2B5EF4-FFF2-40B4-BE49-F238E27FC236}">
                <a16:creationId xmlns:a16="http://schemas.microsoft.com/office/drawing/2014/main" id="{1B22CC0F-AA56-2C61-2BF7-D44804BDCCCB}"/>
              </a:ext>
            </a:extLst>
          </p:cNvPr>
          <p:cNvSpPr txBox="1"/>
          <p:nvPr/>
        </p:nvSpPr>
        <p:spPr bwMode="auto">
          <a:xfrm>
            <a:off x="4221196" y="4435014"/>
            <a:ext cx="3816350" cy="925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汇报人：郑智瑄</a:t>
            </a:r>
            <a:endParaRPr lang="en-US" altLang="zh-CN" sz="2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1800" b="1" dirty="0">
                <a:latin typeface="微软雅黑" panose="020B0503020204020204" charset="-122"/>
                <a:ea typeface="微软雅黑" panose="020B0503020204020204" charset="-122"/>
              </a:rPr>
              <a:t>2024.11.19</a:t>
            </a:r>
          </a:p>
        </p:txBody>
      </p:sp>
    </p:spTree>
    <p:extLst>
      <p:ext uri="{BB962C8B-B14F-4D97-AF65-F5344CB8AC3E}">
        <p14:creationId xmlns:p14="http://schemas.microsoft.com/office/powerpoint/2010/main" val="3030738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139</Words>
  <Application>Microsoft Office PowerPoint</Application>
  <PresentationFormat>宽屏</PresentationFormat>
  <Paragraphs>27</Paragraphs>
  <Slides>8</Slides>
  <Notes>2</Notes>
  <HiddenSlides>0</HiddenSlides>
  <MMClips>2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3" baseType="lpstr">
      <vt:lpstr>楷体</vt:lpstr>
      <vt:lpstr>微软雅黑</vt:lpstr>
      <vt:lpstr>Arial</vt:lpstr>
      <vt:lpstr>Calibri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NTH-AN00</dc:creator>
  <cp:lastModifiedBy>xzz_xuanzhizheng@qq.com</cp:lastModifiedBy>
  <cp:revision>6</cp:revision>
  <dcterms:created xsi:type="dcterms:W3CDTF">2024-05-06T04:42:36Z</dcterms:created>
  <dcterms:modified xsi:type="dcterms:W3CDTF">2024-11-18T07:52:03Z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2052-0.0.0.0</vt:lpwstr>
  </property>
  <property fmtid="{D5CDD505-2E9C-101B-9397-08002B2CF9AE}" pid="3" name="ICV">
    <vt:lpwstr>2007ef73fc7849008a24f0bb07e9efff_23</vt:lpwstr>
  </property>
</Properties>
</file>