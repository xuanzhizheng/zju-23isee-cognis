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7" r:id="rId2"/>
    <p:sldId id="266" r:id="rId3"/>
    <p:sldId id="265" r:id="rId4"/>
    <p:sldId id="268" r:id="rId5"/>
    <p:sldId id="271" r:id="rId6"/>
    <p:sldId id="272" r:id="rId7"/>
    <p:sldId id="273" r:id="rId8"/>
    <p:sldId id="275" r:id="rId9"/>
    <p:sldId id="276" r:id="rId10"/>
    <p:sldId id="277" r:id="rId11"/>
    <p:sldId id="278" r:id="rId12"/>
    <p:sldId id="280" r:id="rId13"/>
    <p:sldId id="281" r:id="rId14"/>
    <p:sldId id="282" r:id="rId15"/>
    <p:sldId id="283" r:id="rId16"/>
    <p:sldId id="285" r:id="rId17"/>
    <p:sldId id="286" r:id="rId18"/>
    <p:sldId id="288" r:id="rId19"/>
    <p:sldId id="29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312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2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73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674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75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676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9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859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006F-6360-62E1-BA6E-357C5669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>
            <a:extLst>
              <a:ext uri="{FF2B5EF4-FFF2-40B4-BE49-F238E27FC236}">
                <a16:creationId xmlns:a16="http://schemas.microsoft.com/office/drawing/2014/main" id="{712FF25E-8143-39F7-8402-C7EFB85D9F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96" name="备注占位符 2">
            <a:extLst>
              <a:ext uri="{FF2B5EF4-FFF2-40B4-BE49-F238E27FC236}">
                <a16:creationId xmlns:a16="http://schemas.microsoft.com/office/drawing/2014/main" id="{9175F3CE-BC81-C21D-D5F4-0CF102FFA5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8597" name="灯片编号占位符 3">
            <a:extLst>
              <a:ext uri="{FF2B5EF4-FFF2-40B4-BE49-F238E27FC236}">
                <a16:creationId xmlns:a16="http://schemas.microsoft.com/office/drawing/2014/main" id="{7E7E0639-47B3-F479-43EF-BF9AB52AA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132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48B0-FAF3-8559-EB65-968450EC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>
            <a:extLst>
              <a:ext uri="{FF2B5EF4-FFF2-40B4-BE49-F238E27FC236}">
                <a16:creationId xmlns:a16="http://schemas.microsoft.com/office/drawing/2014/main" id="{34AE3C9E-C349-5289-E5D8-9570FB26EA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96" name="备注占位符 2">
            <a:extLst>
              <a:ext uri="{FF2B5EF4-FFF2-40B4-BE49-F238E27FC236}">
                <a16:creationId xmlns:a16="http://schemas.microsoft.com/office/drawing/2014/main" id="{9B98E9CA-2800-8266-A398-28F1AE185C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8597" name="灯片编号占位符 3">
            <a:extLst>
              <a:ext uri="{FF2B5EF4-FFF2-40B4-BE49-F238E27FC236}">
                <a16:creationId xmlns:a16="http://schemas.microsoft.com/office/drawing/2014/main" id="{E2D9ADFD-6077-0B3E-E989-0EE3B1532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235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9F528-ECF2-9E82-A18A-29239D098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>
            <a:extLst>
              <a:ext uri="{FF2B5EF4-FFF2-40B4-BE49-F238E27FC236}">
                <a16:creationId xmlns:a16="http://schemas.microsoft.com/office/drawing/2014/main" id="{A5C66827-7D1A-0C40-6563-80FA996E51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96" name="备注占位符 2">
            <a:extLst>
              <a:ext uri="{FF2B5EF4-FFF2-40B4-BE49-F238E27FC236}">
                <a16:creationId xmlns:a16="http://schemas.microsoft.com/office/drawing/2014/main" id="{4CF0F9D4-FD1F-D81F-165C-74FAE20D6C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8597" name="灯片编号占位符 3">
            <a:extLst>
              <a:ext uri="{FF2B5EF4-FFF2-40B4-BE49-F238E27FC236}">
                <a16:creationId xmlns:a16="http://schemas.microsoft.com/office/drawing/2014/main" id="{A3AA6220-097F-7D84-21A4-2B2040704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08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111D6-0BE9-F306-C840-141AE572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>
            <a:extLst>
              <a:ext uri="{FF2B5EF4-FFF2-40B4-BE49-F238E27FC236}">
                <a16:creationId xmlns:a16="http://schemas.microsoft.com/office/drawing/2014/main" id="{51D1E452-685F-5FCC-85D7-94010E9C73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048596" name="备注占位符 2">
            <a:extLst>
              <a:ext uri="{FF2B5EF4-FFF2-40B4-BE49-F238E27FC236}">
                <a16:creationId xmlns:a16="http://schemas.microsoft.com/office/drawing/2014/main" id="{8B585C69-4ED5-82BB-1F10-9D93828205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1048597" name="灯片编号占位符 3">
            <a:extLst>
              <a:ext uri="{FF2B5EF4-FFF2-40B4-BE49-F238E27FC236}">
                <a16:creationId xmlns:a16="http://schemas.microsoft.com/office/drawing/2014/main" id="{8EB0791C-51AD-6E99-CC51-4075FC9CC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fld id="{80CF78D9-B71B-483D-AADA-EE9E7AE9F39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16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9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59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59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45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46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9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1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52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53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5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6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7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58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59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60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4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25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26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6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6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66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67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68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69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70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3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63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3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9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40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4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4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8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29651-9BC7-4EEE-AA87-F4882B75ED8B}" type="datetimeFigureOut">
              <a:rPr lang="zh-CN" altLang="en-US" smtClean="0"/>
              <a:t>2024/12/29</a:t>
            </a:fld>
            <a:endParaRPr lang="zh-CN" altLang="en-US"/>
          </a:p>
        </p:txBody>
      </p:sp>
      <p:sp>
        <p:nvSpPr>
          <p:cNvPr id="104863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63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662EF11-772A-4FBF-B039-954F40C557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 descr="C:\Documents and Settings\sqz\桌面\图片1.jpg"/>
          <p:cNvPicPr>
            <a:picLocks noChangeAspect="1" noChangeArrowheads="1"/>
          </p:cNvPicPr>
          <p:nvPr userDrawn="1"/>
        </p:nvPicPr>
        <p:blipFill>
          <a:blip r:embed="rId13"/>
          <a:srcRect l="397" t="671" r="217" b="51665"/>
          <a:stretch>
            <a:fillRect/>
          </a:stretch>
        </p:blipFill>
        <p:spPr bwMode="auto">
          <a:xfrm>
            <a:off x="0" y="0"/>
            <a:ext cx="9142413" cy="32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3081337" y="6280150"/>
            <a:ext cx="9110663" cy="5778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zh.wikipedia.org/wiki/%E5%AE%9A%E5%90%91%E8%80%A6%E5%90%88%E5%99%A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EE889B-F419-D546-B0C9-BF64AA9E0842}"/>
              </a:ext>
            </a:extLst>
          </p:cNvPr>
          <p:cNvSpPr txBox="1"/>
          <p:nvPr/>
        </p:nvSpPr>
        <p:spPr>
          <a:xfrm>
            <a:off x="963646" y="1740289"/>
            <a:ext cx="9971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/>
              <a:t>电基设计报告</a:t>
            </a:r>
            <a:endParaRPr lang="en-US" altLang="zh-CN" sz="8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C0BE4D-14AD-69A6-9D9F-4BB5C65B0EDE}"/>
              </a:ext>
            </a:extLst>
          </p:cNvPr>
          <p:cNvSpPr txBox="1"/>
          <p:nvPr/>
        </p:nvSpPr>
        <p:spPr>
          <a:xfrm>
            <a:off x="7373021" y="3643685"/>
            <a:ext cx="4498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3230103913 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郑智瑄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F7D8-AA64-CBFF-80BC-CA00FDBD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ABD40C-8363-A431-F922-461C19FEC3C4}"/>
              </a:ext>
            </a:extLst>
          </p:cNvPr>
          <p:cNvSpPr txBox="1"/>
          <p:nvPr/>
        </p:nvSpPr>
        <p:spPr>
          <a:xfrm>
            <a:off x="955694" y="749612"/>
            <a:ext cx="9971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/>
              <a:t>目录</a:t>
            </a:r>
            <a:endParaRPr lang="en-US" altLang="zh-CN" sz="8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2A52B0-C986-C57A-16F3-8F065B680E77}"/>
              </a:ext>
            </a:extLst>
          </p:cNvPr>
          <p:cNvSpPr txBox="1"/>
          <p:nvPr/>
        </p:nvSpPr>
        <p:spPr>
          <a:xfrm>
            <a:off x="955694" y="2329470"/>
            <a:ext cx="10748626" cy="2455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600" dirty="0">
                <a:ea typeface="楷体" panose="02010609060101010101" pitchFamily="49" charset="-122"/>
              </a:rPr>
              <a:t>一、二端口网络</a:t>
            </a:r>
            <a:endParaRPr lang="en-US" altLang="zh-CN" sz="3600" dirty="0"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二、用二端口网络分析反馈系统拆环原理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三、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级电流串联负反馈结构放大电路设计与分析</a:t>
            </a:r>
          </a:p>
        </p:txBody>
      </p:sp>
    </p:spTree>
    <p:extLst>
      <p:ext uri="{BB962C8B-B14F-4D97-AF65-F5344CB8AC3E}">
        <p14:creationId xmlns:p14="http://schemas.microsoft.com/office/powerpoint/2010/main" val="2257974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52510-2586-43B2-4FF1-F25D0A78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FE92E1-5165-7005-360C-B73571CF4B96}"/>
              </a:ext>
            </a:extLst>
          </p:cNvPr>
          <p:cNvSpPr txBox="1"/>
          <p:nvPr/>
        </p:nvSpPr>
        <p:spPr>
          <a:xfrm>
            <a:off x="963646" y="1740289"/>
            <a:ext cx="99713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/>
              <a:t>一、二端口网络</a:t>
            </a:r>
            <a:endParaRPr lang="en-US" altLang="zh-CN" sz="8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05AF9A-762E-CAC9-EEDA-E061E8E5DB74}"/>
              </a:ext>
            </a:extLst>
          </p:cNvPr>
          <p:cNvSpPr txBox="1"/>
          <p:nvPr/>
        </p:nvSpPr>
        <p:spPr>
          <a:xfrm>
            <a:off x="4335623" y="4080588"/>
            <a:ext cx="8015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/>
              <a:t>——Z</a:t>
            </a:r>
            <a:r>
              <a:rPr lang="zh-CN" altLang="en-US" sz="3600" dirty="0"/>
              <a:t>参数、</a:t>
            </a:r>
            <a:r>
              <a:rPr lang="en-US" altLang="zh-CN" sz="3600" dirty="0"/>
              <a:t>Y</a:t>
            </a:r>
            <a:r>
              <a:rPr lang="zh-CN" altLang="en-US" sz="3600" dirty="0"/>
              <a:t>参数、</a:t>
            </a:r>
            <a:r>
              <a:rPr lang="en-US" altLang="zh-CN" sz="3600" dirty="0"/>
              <a:t>H</a:t>
            </a:r>
            <a:r>
              <a:rPr lang="zh-CN" altLang="en-US" sz="3600" dirty="0"/>
              <a:t>参数及</a:t>
            </a:r>
            <a:r>
              <a:rPr lang="en-US" altLang="zh-CN" sz="3600" dirty="0"/>
              <a:t>S</a:t>
            </a:r>
            <a:r>
              <a:rPr lang="zh-CN" altLang="en-US" sz="3600" dirty="0"/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763296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/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总述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/>
          <p:cNvSpPr txBox="1"/>
          <p:nvPr/>
        </p:nvSpPr>
        <p:spPr>
          <a:xfrm>
            <a:off x="4952365" y="5345430"/>
            <a:ext cx="4160520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65A840-7F90-4E81-47F1-06A8DDEB5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07" y="1711947"/>
            <a:ext cx="7897835" cy="19825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5AD736A-6519-2B1C-1C18-1867D490CE5A}"/>
              </a:ext>
            </a:extLst>
          </p:cNvPr>
          <p:cNvSpPr txBox="1"/>
          <p:nvPr/>
        </p:nvSpPr>
        <p:spPr>
          <a:xfrm>
            <a:off x="1023521" y="4012390"/>
            <a:ext cx="10144957" cy="1712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一个线性无源的二端口电路，不论其内部参数和结构如何，总可以用一组方程描述其外部特性。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对于四个端口变量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U1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I1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U2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I2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，若任选两个作自变量，另两个作因变量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则可列出描述二端口电路的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组不同方程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其中较为常用的有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DC6E-BD71-5745-24A8-1177ED11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9EABF88-DFD0-60D8-2427-DAAD963C3B49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B062BCEB-65FD-6830-BB9E-7E4C24F47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Z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0A23FBD-7B6C-DEEF-EB10-474ED737F7C6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224C926F-969F-4D96-91E5-5FFE92B7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811" y="1269664"/>
            <a:ext cx="4929073" cy="21687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C233EFB-3AB8-0DE1-43D5-696A64DD9386}"/>
              </a:ext>
            </a:extLst>
          </p:cNvPr>
          <p:cNvSpPr txBox="1"/>
          <p:nvPr/>
        </p:nvSpPr>
        <p:spPr>
          <a:xfrm>
            <a:off x="490158" y="3351817"/>
            <a:ext cx="5699960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阻抗参数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又称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开路阻抗参数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，因为计算这一参数时电路满足开路条件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Ix=0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（其中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 = 1, 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，分别表示流过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个端口的输入和输出电流）。</a:t>
            </a: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一般形式的开路阻抗矩阵（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参数矩阵）中，所有的输出电压都用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参数矩阵和输入电流表示，满足如下矩阵方程：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A0B586-7D92-C386-2216-DCC960AB4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464" y="5894949"/>
            <a:ext cx="1352143" cy="5435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027C135-73A3-9F66-F7D2-0F05D3F467A9}"/>
              </a:ext>
            </a:extLst>
          </p:cNvPr>
          <p:cNvSpPr txBox="1"/>
          <p:nvPr/>
        </p:nvSpPr>
        <p:spPr>
          <a:xfrm>
            <a:off x="6190118" y="1472921"/>
            <a:ext cx="5723715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阶方阵</a:t>
            </a: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，对于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端口网络，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n=2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，有：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932A930-8599-E957-3FA6-632C2E1D8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314" y="2470678"/>
            <a:ext cx="3941047" cy="96777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7A48E5D-EAF0-CEE5-9A4A-EE2BE4C09A8A}"/>
              </a:ext>
            </a:extLst>
          </p:cNvPr>
          <p:cNvSpPr txBox="1"/>
          <p:nvPr/>
        </p:nvSpPr>
        <p:spPr>
          <a:xfrm>
            <a:off x="6234101" y="3351817"/>
            <a:ext cx="1077339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32EBDFE-0FE0-0356-0BA4-0D126F1CE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014" y="3983820"/>
            <a:ext cx="3635921" cy="140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49BD-585E-9B6B-682E-52200053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673DD62-4CA8-E4B8-0916-2B49EF29CD91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17D4DD78-155A-C102-524B-F5FD69BA0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Y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72729CE-4609-F82F-A10F-7B81202CC1BF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21D51B5-7A5A-3F03-8D4B-290B7D3C12F6}"/>
              </a:ext>
            </a:extLst>
          </p:cNvPr>
          <p:cNvSpPr txBox="1"/>
          <p:nvPr/>
        </p:nvSpPr>
        <p:spPr>
          <a:xfrm>
            <a:off x="490158" y="3351817"/>
            <a:ext cx="5699960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导纳参数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又称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短路导纳参数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，因为计算这一参数时电路满足短路条件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Vx=0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（其中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x=1,2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，分别表示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个端口上的输入和输出电压）。</a:t>
            </a: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一般形式的短路导纳参数（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参数矩阵）中，所有的输出电流都用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参数矩阵和输入电压表示，满足如下矩阵方程：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BECE69-8496-B6A6-3080-631601D124BD}"/>
              </a:ext>
            </a:extLst>
          </p:cNvPr>
          <p:cNvSpPr txBox="1"/>
          <p:nvPr/>
        </p:nvSpPr>
        <p:spPr>
          <a:xfrm>
            <a:off x="6190118" y="1472921"/>
            <a:ext cx="5723715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阶方阵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，对于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端口网络，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n=2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，有：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47DFA3-2586-A3E8-E752-D0E03A69CF2E}"/>
              </a:ext>
            </a:extLst>
          </p:cNvPr>
          <p:cNvSpPr txBox="1"/>
          <p:nvPr/>
        </p:nvSpPr>
        <p:spPr>
          <a:xfrm>
            <a:off x="6234101" y="3351817"/>
            <a:ext cx="1077339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006D0B-AEE7-0DBB-067A-EC355C634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58" y="1442980"/>
            <a:ext cx="5639194" cy="161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E9CF537-1206-FEAA-E53A-24ED75AE5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743" y="5844653"/>
            <a:ext cx="1774874" cy="6428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1254035-A98A-72B4-7014-54EE7CBC1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829" y="2420679"/>
            <a:ext cx="3724059" cy="881139"/>
          </a:xfrm>
          <a:prstGeom prst="rect">
            <a:avLst/>
          </a:prstGeom>
          <a:noFill/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ED4B51-65EC-07F1-2F8E-D00034206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759" y="3997079"/>
            <a:ext cx="3973092" cy="151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3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BF13-FA97-EABA-D7B0-E3BAD958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F344503-EEC7-CFB0-C383-7EAFD5DDAB7E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B3BFD3E9-307D-A155-4876-FB5B2C5DB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h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47D661C-E14C-B1B6-89C5-B8A7F0F35778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45177570-6E7C-91A1-8C87-839A14105B90}"/>
              </a:ext>
            </a:extLst>
          </p:cNvPr>
          <p:cNvSpPr txBox="1"/>
          <p:nvPr/>
        </p:nvSpPr>
        <p:spPr>
          <a:xfrm>
            <a:off x="490158" y="3351817"/>
            <a:ext cx="5699960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混合参数（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参数）又称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第一类混合参数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。对于二端口网络，有：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2F8FBA-A399-0A25-DBE9-843575E91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14" y="1592215"/>
            <a:ext cx="5614886" cy="134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E3B441-25D5-1B62-17AB-A5D4E21BB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76" y="4381336"/>
            <a:ext cx="5522930" cy="151275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4FB64D5-8DA6-E73C-6A0E-210BA6FDF7FB}"/>
              </a:ext>
            </a:extLst>
          </p:cNvPr>
          <p:cNvSpPr txBox="1"/>
          <p:nvPr/>
        </p:nvSpPr>
        <p:spPr>
          <a:xfrm>
            <a:off x="6318806" y="1883521"/>
            <a:ext cx="152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65A82C-41F4-793E-0193-A9F541442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322" y="2677961"/>
            <a:ext cx="5233616" cy="203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6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D2D8-4526-A341-F0BB-DFD943769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BFC3968-30E6-90F9-0A4A-A7F79E90795B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EFF40821-2BFA-3877-2390-CE70F29B5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D54BD52-4EC4-B2FA-68CB-0E9AC0CD01E2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231A43A-8B21-7635-B823-D38CDDCD9727}"/>
              </a:ext>
            </a:extLst>
          </p:cNvPr>
          <p:cNvSpPr txBox="1"/>
          <p:nvPr/>
        </p:nvSpPr>
        <p:spPr>
          <a:xfrm>
            <a:off x="490158" y="3351817"/>
            <a:ext cx="5699960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混合参数（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参数）又称</a:t>
            </a:r>
            <a:r>
              <a:rPr lang="zh-CN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第一类混合参数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。对于二端口网络，有：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54803C-98DA-D65D-C110-BC4797F40B25}"/>
              </a:ext>
            </a:extLst>
          </p:cNvPr>
          <p:cNvSpPr txBox="1"/>
          <p:nvPr/>
        </p:nvSpPr>
        <p:spPr>
          <a:xfrm>
            <a:off x="6318806" y="1883521"/>
            <a:ext cx="152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故：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BF8D29-473E-A134-AAF8-F7E9EBF87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10" y="1615387"/>
            <a:ext cx="5463990" cy="127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DDAB9C-3D1B-C5F3-E954-4D949765E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85" y="4317325"/>
            <a:ext cx="5728439" cy="15418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FE9992-922C-D196-E0F7-FFC4F7441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204" y="2643230"/>
            <a:ext cx="5109365" cy="19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6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5031-E2EE-BCC2-DF04-F7C9A643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9C99052-240B-A6B3-E759-C7F630B4C024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5CF6769A-20D7-EF26-03A7-CFA369C4B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59437C4-FAAD-151C-3322-755671D85F2B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4F64D58-DF97-6B03-E237-8DE3BAB4BA1E}"/>
              </a:ext>
            </a:extLst>
          </p:cNvPr>
          <p:cNvSpPr txBox="1"/>
          <p:nvPr/>
        </p:nvSpPr>
        <p:spPr>
          <a:xfrm>
            <a:off x="634728" y="3281696"/>
            <a:ext cx="11077373" cy="2543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上述参数都是就端口的电压和电流而言定义的的，而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参数是就端口的反射波而言定义的。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参数常用于特高频和微波频率，因为：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从测量上看，在这类高频条件下，电压和电流很难直接测定，而利用</a:t>
            </a:r>
            <a:r>
              <a:rPr lang="en-US" altLang="zh-CN" u="sng" kern="100" dirty="0" err="1">
                <a:solidFill>
                  <a:srgbClr val="467886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hlinkClick r:id="rId2" tooltip="定向耦合器"/>
              </a:rPr>
              <a:t>定向耦合器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可以很容易地测定入射功率和反射功率；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参数适合系统级联，当特征阻抗匹配时，根据独立系统的特性预测最终的结果较为方便；</a:t>
            </a:r>
          </a:p>
          <a:p>
            <a:pPr marL="800100" lvl="1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和微波工程中常用的概念，如反射系数、衰减增益密切相关；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1DBB7C8-89FA-336E-5ADC-5D348555F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586" y="1340463"/>
            <a:ext cx="3980640" cy="17514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1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813DD-87A9-C59B-FFA9-049D6B1E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76285C0-D7BB-35C4-5FF0-CF916A497BC8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7F5BEF35-17B2-7E6E-74DF-897C1277AD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S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5041F85-C559-2DF3-C624-ED0DCD8E649C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ABB27BD-C0E7-3C3D-D304-569C9F38F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31" y="1460606"/>
            <a:ext cx="3980640" cy="17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CFF42A1-76C9-5863-D71E-6B90BEF01FE2}"/>
              </a:ext>
            </a:extLst>
          </p:cNvPr>
          <p:cNvSpPr txBox="1"/>
          <p:nvPr/>
        </p:nvSpPr>
        <p:spPr>
          <a:xfrm>
            <a:off x="517997" y="3327216"/>
            <a:ext cx="2779679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参数矩阵方程定义为：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01B8B76-A0D8-7C8A-3A35-FD3B79D90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87" y="3907984"/>
            <a:ext cx="4484273" cy="124448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9ED4F95-A050-BD38-8569-84D7B3F2E3CF}"/>
              </a:ext>
            </a:extLst>
          </p:cNvPr>
          <p:cNvSpPr txBox="1"/>
          <p:nvPr/>
        </p:nvSpPr>
        <p:spPr>
          <a:xfrm>
            <a:off x="5819455" y="1443110"/>
            <a:ext cx="6094378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zh-CN" altLang="en-US" dirty="0"/>
              <a:t>若端口</a:t>
            </a:r>
            <a:r>
              <a:rPr lang="en-US" altLang="zh-CN" dirty="0"/>
              <a:t>2</a:t>
            </a:r>
            <a:r>
              <a:rPr lang="zh-CN" altLang="en-US" dirty="0"/>
              <a:t>终端接入的负载阻抗与系统阻抗相等（端口</a:t>
            </a:r>
            <a:r>
              <a:rPr lang="en-US" altLang="zh-CN" dirty="0"/>
              <a:t>2</a:t>
            </a:r>
            <a:r>
              <a:rPr lang="zh-CN" altLang="en-US" dirty="0"/>
              <a:t>匹配），那么由最大功率传输定理，</a:t>
            </a:r>
            <a:r>
              <a:rPr lang="en-US" altLang="zh-CN" dirty="0"/>
              <a:t>b2</a:t>
            </a:r>
            <a:r>
              <a:rPr lang="zh-CN" altLang="en-US" dirty="0"/>
              <a:t>会被完全吸收，这使得</a:t>
            </a:r>
            <a:r>
              <a:rPr lang="en-US" altLang="zh-CN" dirty="0"/>
              <a:t>a2</a:t>
            </a:r>
            <a:r>
              <a:rPr lang="zh-CN" altLang="en-US" dirty="0"/>
              <a:t>等于零。因此：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76C136D-6B40-C81D-A07F-EAA3D8917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455" y="2864925"/>
            <a:ext cx="5551585" cy="97403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875699E-01A0-91E4-D8F3-6B3E12168D1C}"/>
              </a:ext>
            </a:extLst>
          </p:cNvPr>
          <p:cNvSpPr txBox="1"/>
          <p:nvPr/>
        </p:nvSpPr>
        <p:spPr>
          <a:xfrm>
            <a:off x="5624191" y="3912964"/>
            <a:ext cx="5183353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>
              <a:lnSpc>
                <a:spcPct val="150000"/>
              </a:lnSpc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同样，如果端口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终端接入的负载阻抗与系统</a:t>
            </a:r>
            <a:r>
              <a:rPr lang="zh-CN" altLang="en-US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阻抗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相等（端口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匹配），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会为零，则：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1C7EBE-500B-8EC4-3AD5-C145F16F357A}"/>
              </a:ext>
            </a:extLst>
          </p:cNvPr>
          <p:cNvSpPr txBox="1"/>
          <p:nvPr/>
        </p:nvSpPr>
        <p:spPr>
          <a:xfrm>
            <a:off x="476734" y="5397394"/>
            <a:ext cx="5025014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其中</a:t>
            </a:r>
            <a:r>
              <a:rPr lang="en-US" altLang="zh-CN" dirty="0" err="1"/>
              <a:t>ak</a:t>
            </a:r>
            <a:r>
              <a:rPr lang="zh-CN" altLang="en-US" dirty="0"/>
              <a:t>是端口</a:t>
            </a:r>
            <a:r>
              <a:rPr lang="en-US" altLang="zh-CN" dirty="0"/>
              <a:t>k</a:t>
            </a:r>
            <a:r>
              <a:rPr lang="zh-CN" altLang="en-US" dirty="0"/>
              <a:t>上的入射波，</a:t>
            </a:r>
            <a:r>
              <a:rPr lang="en-US" altLang="zh-CN" dirty="0"/>
              <a:t>bk</a:t>
            </a:r>
            <a:r>
              <a:rPr lang="zh-CN" altLang="en-US" dirty="0"/>
              <a:t>是端口</a:t>
            </a:r>
            <a:r>
              <a:rPr lang="en-US" altLang="zh-CN" dirty="0"/>
              <a:t>k</a:t>
            </a:r>
            <a:r>
              <a:rPr lang="zh-CN" altLang="en-US" dirty="0"/>
              <a:t>上的反射波，一般规定</a:t>
            </a:r>
            <a:r>
              <a:rPr lang="en-US" altLang="zh-CN" dirty="0" err="1"/>
              <a:t>ak</a:t>
            </a:r>
            <a:r>
              <a:rPr lang="zh-CN" altLang="en-US" dirty="0"/>
              <a:t>和</a:t>
            </a:r>
            <a:r>
              <a:rPr lang="en-US" altLang="zh-CN" dirty="0"/>
              <a:t>bk</a:t>
            </a:r>
            <a:r>
              <a:rPr lang="zh-CN" altLang="en-US" dirty="0"/>
              <a:t>与</a:t>
            </a:r>
            <a:r>
              <a:rPr lang="zh-CN" altLang="en-US" b="1" dirty="0"/>
              <a:t>功率</a:t>
            </a:r>
            <a:r>
              <a:rPr lang="zh-CN" altLang="en-US" dirty="0"/>
              <a:t>的平方根有关。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1EE0840-9AA7-12AA-6BFA-E9420F0A8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439" y="5004227"/>
            <a:ext cx="5743827" cy="105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9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CF3E-311F-1689-8FD6-057DA1A5F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8DB89F-5AEB-C95E-B7A3-43F7784C17BB}"/>
              </a:ext>
            </a:extLst>
          </p:cNvPr>
          <p:cNvSpPr txBox="1"/>
          <p:nvPr/>
        </p:nvSpPr>
        <p:spPr>
          <a:xfrm>
            <a:off x="390120" y="1345509"/>
            <a:ext cx="11031166" cy="254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6600" dirty="0"/>
              <a:t>	</a:t>
            </a:r>
            <a:r>
              <a:rPr lang="zh-CN" altLang="en-US" sz="6600" dirty="0"/>
              <a:t>二、用二端口网络分析反馈系统拆环原理</a:t>
            </a:r>
            <a:endParaRPr lang="en-US" altLang="zh-CN" sz="6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AB295A-E763-047B-1F69-EDC4D610822A}"/>
              </a:ext>
            </a:extLst>
          </p:cNvPr>
          <p:cNvSpPr txBox="1"/>
          <p:nvPr/>
        </p:nvSpPr>
        <p:spPr>
          <a:xfrm>
            <a:off x="5473761" y="4644792"/>
            <a:ext cx="6880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/>
              <a:t>——</a:t>
            </a:r>
            <a:r>
              <a:rPr lang="zh-CN" altLang="en-US" sz="3600" dirty="0"/>
              <a:t>以电压反馈串联接入为例</a:t>
            </a:r>
          </a:p>
        </p:txBody>
      </p:sp>
    </p:spTree>
    <p:extLst>
      <p:ext uri="{BB962C8B-B14F-4D97-AF65-F5344CB8AC3E}">
        <p14:creationId xmlns:p14="http://schemas.microsoft.com/office/powerpoint/2010/main" val="2495360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7ACE-AB02-E723-C230-1A765F1E4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1A707BF-0478-B05F-42EA-4E5CFB0C86FC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B98858E6-C8EC-F1A3-D9F9-E9154B175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模型等效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19FDD4A-0600-202D-D58F-0183275AB462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 descr="image-20200814143226545">
            <a:extLst>
              <a:ext uri="{FF2B5EF4-FFF2-40B4-BE49-F238E27FC236}">
                <a16:creationId xmlns:a16="http://schemas.microsoft.com/office/drawing/2014/main" id="{F043DDF2-30A3-3457-5FCB-297CDF03C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20" y="2970760"/>
            <a:ext cx="5692841" cy="285972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3E92D5-8A37-9094-7F2C-1DA35888A803}"/>
              </a:ext>
            </a:extLst>
          </p:cNvPr>
          <p:cNvSpPr txBox="1"/>
          <p:nvPr/>
        </p:nvSpPr>
        <p:spPr>
          <a:xfrm>
            <a:off x="6191250" y="2606708"/>
            <a:ext cx="5086350" cy="4251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电压反馈使用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两个串联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模型来表示，</a:t>
            </a:r>
          </a:p>
          <a:p>
            <a:pPr algn="just">
              <a:lnSpc>
                <a:spcPct val="125000"/>
              </a:lnSpc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G11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前馈网络输入导纳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Zin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G22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前馈网络输出阻抗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Zout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G21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前馈网络的电压增益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A0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G12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前馈网络的内部反馈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反馈网络的输入导纳</a:t>
            </a: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反馈网络的输出阻抗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反馈网络的反馈系数β</a:t>
            </a:r>
          </a:p>
          <a:p>
            <a:pPr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g12</a:t>
            </a: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反馈网络的内部反馈</a:t>
            </a:r>
          </a:p>
          <a:p>
            <a:pPr algn="just">
              <a:lnSpc>
                <a:spcPct val="150000"/>
              </a:lnSpc>
            </a:pPr>
            <a:endParaRPr lang="zh-CN" altLang="zh-CN" sz="1400" b="1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4C3E5B1-2775-39DA-9024-0D65E4265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736" y="1294229"/>
            <a:ext cx="2894497" cy="111144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8AA9180-83CB-93D3-DFA7-D0F351CF1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628" y="1376492"/>
            <a:ext cx="3518108" cy="94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3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E747-B0A0-8099-F6AB-5D55F9BEC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1CB2000-6562-9A50-EB03-F284D506FF30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EC824E93-63CC-648A-5E1A-D3CA0D5EE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模型等效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4922375-47F9-170E-0EFC-7F253C9F7E76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CF086C0-B468-2BAA-EC9E-92849A53F399}"/>
              </a:ext>
            </a:extLst>
          </p:cNvPr>
          <p:cNvSpPr txBox="1"/>
          <p:nvPr/>
        </p:nvSpPr>
        <p:spPr>
          <a:xfrm>
            <a:off x="941032" y="1402980"/>
            <a:ext cx="6096000" cy="129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为了方便求出该电路，首先将所有环路“单向化”，既去掉前馈网络和反馈网络的内部反馈，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JXc-TeX-math-I"/>
                <a:ea typeface="Microsoft YaHei" panose="020B0503020204020204" pitchFamily="34" charset="-122"/>
              </a:rPr>
              <a:t>令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G12=g12=0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。在输入环路使用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KVL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，在输出节点使用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KCL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B333C8-2088-6484-9D30-52CE0E0D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857" y="2730883"/>
            <a:ext cx="3796978" cy="153631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3BA8BAC-617A-8B0C-3F1F-08911211EC9D}"/>
              </a:ext>
            </a:extLst>
          </p:cNvPr>
          <p:cNvSpPr txBox="1"/>
          <p:nvPr/>
        </p:nvSpPr>
        <p:spPr>
          <a:xfrm>
            <a:off x="941032" y="4267200"/>
            <a:ext cx="1715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求得闭环增益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2D957F-A6AA-629D-FC11-0D9ACA12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225" y="4636530"/>
            <a:ext cx="5072798" cy="146713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9A4FEB9-E9D0-7F37-1191-95E118D1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849" y="2943226"/>
            <a:ext cx="3932422" cy="113435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7C153D6-A514-4FC9-3C8C-E4AE5B82620C}"/>
              </a:ext>
            </a:extLst>
          </p:cNvPr>
          <p:cNvSpPr txBox="1"/>
          <p:nvPr/>
        </p:nvSpPr>
        <p:spPr>
          <a:xfrm>
            <a:off x="6584246" y="2600321"/>
            <a:ext cx="173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由于：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ED6DBA-F98B-C2DD-D24F-E71E0AD143A3}"/>
              </a:ext>
            </a:extLst>
          </p:cNvPr>
          <p:cNvSpPr txBox="1"/>
          <p:nvPr/>
        </p:nvSpPr>
        <p:spPr>
          <a:xfrm>
            <a:off x="6599091" y="4237027"/>
            <a:ext cx="3881402" cy="38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则开环增益可以表示为：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6B1A1AE-7ECE-D053-68FC-31FF5EACD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294" y="4636530"/>
            <a:ext cx="4512502" cy="125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6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BC47-BD30-4553-77F7-AB6F2F3D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C21252F-8420-6364-FAD0-6578806C7347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291FBCFE-FC5A-6276-97CC-C8C0556F8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模型等效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BA9C9A7-D8F6-4BA6-A2A1-327A752A2598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B943D4AE-71A1-17EF-FF68-737B7B685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11" y="2121352"/>
            <a:ext cx="4512502" cy="125683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B9B86A9-3E26-1EB7-4B53-0AB78DB4DA51}"/>
              </a:ext>
            </a:extLst>
          </p:cNvPr>
          <p:cNvSpPr txBox="1"/>
          <p:nvPr/>
        </p:nvSpPr>
        <p:spPr>
          <a:xfrm>
            <a:off x="1072811" y="1513144"/>
            <a:ext cx="1724025" cy="36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开环增益：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DDBA56-533C-CA78-FAB5-6A3CD2026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3" y="4295553"/>
            <a:ext cx="5723145" cy="13392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1A2C43C-3F65-DFFC-2F75-7D5EA165CA38}"/>
              </a:ext>
            </a:extLst>
          </p:cNvPr>
          <p:cNvSpPr txBox="1"/>
          <p:nvPr/>
        </p:nvSpPr>
        <p:spPr>
          <a:xfrm>
            <a:off x="1072811" y="3653002"/>
            <a:ext cx="1724025" cy="36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整理可得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888299-A5D6-1E36-7DBE-22AF009A692A}"/>
              </a:ext>
            </a:extLst>
          </p:cNvPr>
          <p:cNvSpPr txBox="1"/>
          <p:nvPr/>
        </p:nvSpPr>
        <p:spPr>
          <a:xfrm>
            <a:off x="6905625" y="1513144"/>
            <a:ext cx="4213564" cy="87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发现两系数表现为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分压器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的形式，</a:t>
            </a:r>
            <a:endParaRPr lang="en-US" altLang="zh-CN" b="0" i="0" dirty="0">
              <a:solidFill>
                <a:srgbClr val="222222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因此加载效应可以体现为以下形式：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5EEFA69-0CB5-C4E7-9A83-4028A02E9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743" y="2528308"/>
            <a:ext cx="3533776" cy="180138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0C769331-AD60-3900-E7D8-FB8075B9DC5A}"/>
              </a:ext>
            </a:extLst>
          </p:cNvPr>
          <p:cNvSpPr txBox="1"/>
          <p:nvPr/>
        </p:nvSpPr>
        <p:spPr>
          <a:xfrm>
            <a:off x="6829425" y="4642028"/>
            <a:ext cx="4657725" cy="87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其中，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g11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可以通过反馈网络输出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开路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得到，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g22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可以通过反馈网络输入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短路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得到。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67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0759-7C37-8F96-47A8-65A33EE2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8FBA0D4-B64C-A277-18AF-1D9B1D7DC5B9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D485F4C2-CD4E-883F-932F-8B2F1C0C0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其他模型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E4EB25D-E62D-4D05-AF7A-F5188507A460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CB4250C-2895-5FD5-851A-803666A23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02" y="2934418"/>
            <a:ext cx="2957712" cy="13763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EFDBA56-6A28-1BC7-9DD8-E9A0CF5C3FFE}"/>
              </a:ext>
            </a:extLst>
          </p:cNvPr>
          <p:cNvSpPr txBox="1"/>
          <p:nvPr/>
        </p:nvSpPr>
        <p:spPr>
          <a:xfrm>
            <a:off x="5150256" y="139161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电流反馈串联接入：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CA78F3-50DA-D508-FEA6-155C3A389AD0}"/>
              </a:ext>
            </a:extLst>
          </p:cNvPr>
          <p:cNvSpPr txBox="1"/>
          <p:nvPr/>
        </p:nvSpPr>
        <p:spPr>
          <a:xfrm>
            <a:off x="555402" y="1824217"/>
            <a:ext cx="3343275" cy="87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前馈网络采用</a:t>
            </a:r>
            <a:r>
              <a:rPr lang="en-US" altLang="zh-CN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进行建模</a:t>
            </a:r>
            <a:endParaRPr lang="en-US" altLang="zh-CN" b="0" i="0" dirty="0">
              <a:solidFill>
                <a:srgbClr val="222222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反馈网络采用</a:t>
            </a:r>
            <a:r>
              <a:rPr lang="en-US" altLang="zh-CN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  <a:r>
              <a:rPr lang="zh-CN" altLang="en-US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，得：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DAFAB64-011A-2AB0-810E-FF31EF84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93" y="4572548"/>
            <a:ext cx="2613840" cy="159352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2DA5A20-9F9F-A8BF-6093-ABB18B832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585" y="2948407"/>
            <a:ext cx="2632829" cy="137636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FA3925D-0E36-20A5-9215-C42437ECCCBB}"/>
              </a:ext>
            </a:extLst>
          </p:cNvPr>
          <p:cNvSpPr txBox="1"/>
          <p:nvPr/>
        </p:nvSpPr>
        <p:spPr>
          <a:xfrm>
            <a:off x="936834" y="137762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电流反馈串联接入：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E22711-AEC0-5E84-1B00-3E0FACC0C2DC}"/>
              </a:ext>
            </a:extLst>
          </p:cNvPr>
          <p:cNvSpPr txBox="1"/>
          <p:nvPr/>
        </p:nvSpPr>
        <p:spPr>
          <a:xfrm>
            <a:off x="4556916" y="1824217"/>
            <a:ext cx="3343275" cy="87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前馈网络采用</a:t>
            </a:r>
            <a:r>
              <a:rPr lang="en-US" altLang="zh-CN" b="1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进行建模</a:t>
            </a:r>
            <a:endParaRPr lang="en-US" altLang="zh-CN" b="0" i="0" dirty="0">
              <a:solidFill>
                <a:srgbClr val="222222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反馈网络采用</a:t>
            </a:r>
            <a:r>
              <a:rPr lang="en-US" altLang="zh-CN" b="1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  <a:r>
              <a:rPr lang="zh-CN" altLang="en-US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，得：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B6D8DDD-D723-7C7B-ABE5-A232D3099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663" y="4544789"/>
            <a:ext cx="3210227" cy="1442481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4ED6905-F0ED-1539-9B88-AAD40E1D7751}"/>
              </a:ext>
            </a:extLst>
          </p:cNvPr>
          <p:cNvSpPr txBox="1"/>
          <p:nvPr/>
        </p:nvSpPr>
        <p:spPr>
          <a:xfrm>
            <a:off x="8925484" y="136421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电流反馈并联接入：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048BC74-BC8E-0ACC-BAB8-95709C3ADB41}"/>
              </a:ext>
            </a:extLst>
          </p:cNvPr>
          <p:cNvSpPr txBox="1"/>
          <p:nvPr/>
        </p:nvSpPr>
        <p:spPr>
          <a:xfrm>
            <a:off x="8558430" y="1763177"/>
            <a:ext cx="3210227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前馈网络与反馈网络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均采用</a:t>
            </a:r>
            <a:r>
              <a:rPr lang="en-US" altLang="zh-CN" b="1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b="1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进行建模，得</a:t>
            </a:r>
            <a:endParaRPr lang="en-US" altLang="zh-CN" b="0" i="0" dirty="0">
              <a:solidFill>
                <a:srgbClr val="222222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52" name="Picture 4" descr="image-20200814145447194">
            <a:extLst>
              <a:ext uri="{FF2B5EF4-FFF2-40B4-BE49-F238E27FC236}">
                <a16:creationId xmlns:a16="http://schemas.microsoft.com/office/drawing/2014/main" id="{649B8EFC-65C0-BBB6-1AB6-34663159D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412" y="2934418"/>
            <a:ext cx="2359441" cy="136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-20200814145631107">
            <a:extLst>
              <a:ext uri="{FF2B5EF4-FFF2-40B4-BE49-F238E27FC236}">
                <a16:creationId xmlns:a16="http://schemas.microsoft.com/office/drawing/2014/main" id="{DE4BDA33-7AE2-2991-6BB7-04C554665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200" y="4544789"/>
            <a:ext cx="2359442" cy="128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16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2B93-EE9D-99D5-91A7-AF58BBBA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440FCE-EE2A-3433-D6C9-F93BE54E2E00}"/>
              </a:ext>
            </a:extLst>
          </p:cNvPr>
          <p:cNvSpPr txBox="1"/>
          <p:nvPr/>
        </p:nvSpPr>
        <p:spPr>
          <a:xfrm>
            <a:off x="390120" y="1345509"/>
            <a:ext cx="11031166" cy="3809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6600" dirty="0"/>
              <a:t>	</a:t>
            </a:r>
            <a:r>
              <a:rPr lang="zh-CN" altLang="en-US" sz="6600" dirty="0"/>
              <a:t>三、</a:t>
            </a:r>
            <a:r>
              <a:rPr lang="en-US" altLang="zh-CN" sz="6600" dirty="0"/>
              <a:t>2</a:t>
            </a:r>
            <a:r>
              <a:rPr lang="zh-CN" altLang="en-US" sz="6600" dirty="0"/>
              <a:t>级电流串联负反馈结构放大电路设计与分析</a:t>
            </a:r>
          </a:p>
          <a:p>
            <a:pPr algn="ctr">
              <a:lnSpc>
                <a:spcPct val="125000"/>
              </a:lnSpc>
            </a:pPr>
            <a:endParaRPr lang="en-US" altLang="zh-CN" sz="6600" dirty="0"/>
          </a:p>
        </p:txBody>
      </p:sp>
    </p:spTree>
    <p:extLst>
      <p:ext uri="{BB962C8B-B14F-4D97-AF65-F5344CB8AC3E}">
        <p14:creationId xmlns:p14="http://schemas.microsoft.com/office/powerpoint/2010/main" val="589543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E3D5-93D2-8CB3-B8A7-E47DB9CD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FA4B0B1-E676-FCFA-7C07-D50F24828DAC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E55425E9-A620-A7E5-77C7-C9475E065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电路设计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D36124D-2FC4-A1E6-C13D-DEDF1D7C738F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E1358E4-C39B-A810-07C8-E06B5FED057F}"/>
              </a:ext>
            </a:extLst>
          </p:cNvPr>
          <p:cNvSpPr txBox="1"/>
          <p:nvPr/>
        </p:nvSpPr>
        <p:spPr>
          <a:xfrm>
            <a:off x="0" y="5215226"/>
            <a:ext cx="2711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如图，闭环增益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BFC09AB-9E3B-0F7D-9CE6-47C6AD39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0" y="1477477"/>
            <a:ext cx="11991400" cy="352055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61AF858-006A-D67D-30EB-1CA05E377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99" y="5033861"/>
            <a:ext cx="3915321" cy="88594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2A9005F-2A1A-8F93-0AFF-D5FE94C65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863" y="5750054"/>
            <a:ext cx="2161888" cy="773905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E6EB76E4-96B1-C8D3-4942-D0761B35A85C}"/>
              </a:ext>
            </a:extLst>
          </p:cNvPr>
          <p:cNvSpPr txBox="1"/>
          <p:nvPr/>
        </p:nvSpPr>
        <p:spPr>
          <a:xfrm>
            <a:off x="100300" y="5894550"/>
            <a:ext cx="1644240" cy="543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输入电阻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AC10D1D-8607-B564-4575-7680C6066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2639" y="5215226"/>
            <a:ext cx="2038635" cy="77163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EE533A6D-94B0-F453-93C9-1C312541E95B}"/>
              </a:ext>
            </a:extLst>
          </p:cNvPr>
          <p:cNvSpPr txBox="1"/>
          <p:nvPr/>
        </p:nvSpPr>
        <p:spPr>
          <a:xfrm>
            <a:off x="8102855" y="5365358"/>
            <a:ext cx="164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反馈系数</a:t>
            </a:r>
          </a:p>
        </p:txBody>
      </p:sp>
    </p:spTree>
    <p:extLst>
      <p:ext uri="{BB962C8B-B14F-4D97-AF65-F5344CB8AC3E}">
        <p14:creationId xmlns:p14="http://schemas.microsoft.com/office/powerpoint/2010/main" val="36312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A927-3F10-B21E-53AD-14C2B995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7C8D2B2-0316-EB8B-67DD-6559C6DC0BE4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79189D20-C439-D314-45CB-471E86BF2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参数计算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7ACA9F5-A975-4E79-633A-D7D0D55DF2EF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901D4E0-7273-2913-E883-B49BAE51A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15" y="1308304"/>
            <a:ext cx="7377738" cy="36829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5767A7-E205-7E07-1B44-46B10736FE4D}"/>
              </a:ext>
            </a:extLst>
          </p:cNvPr>
          <p:cNvSpPr txBox="1"/>
          <p:nvPr/>
        </p:nvSpPr>
        <p:spPr>
          <a:xfrm>
            <a:off x="726415" y="5288086"/>
            <a:ext cx="6592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拆环得到上图，开环增益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6F8B3B5-123F-C9D5-85E2-285B52DC7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671" y="5071711"/>
            <a:ext cx="413442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9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5965-E135-FF5F-BEB5-57F841D8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90DC17C-F781-6FE9-2BBB-BE56600CE0EC}"/>
              </a:ext>
            </a:extLst>
          </p:cNvPr>
          <p:cNvGrpSpPr/>
          <p:nvPr/>
        </p:nvGrpSpPr>
        <p:grpSpPr>
          <a:xfrm>
            <a:off x="1072811" y="691926"/>
            <a:ext cx="10841022" cy="461962"/>
            <a:chOff x="1072811" y="691926"/>
            <a:chExt cx="10841022" cy="461962"/>
          </a:xfrm>
        </p:grpSpPr>
        <p:sp>
          <p:nvSpPr>
            <p:cNvPr id="6" name="文本框 34">
              <a:extLst>
                <a:ext uri="{FF2B5EF4-FFF2-40B4-BE49-F238E27FC236}">
                  <a16:creationId xmlns:a16="http://schemas.microsoft.com/office/drawing/2014/main" id="{4EF83BE0-50BB-80A4-54FF-63189FCC8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811" y="691926"/>
              <a:ext cx="383286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</a:rPr>
                <a:t>参数计算</a:t>
              </a:r>
              <a:endParaRPr lang="en-US" altLang="zh-CN" sz="2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8627D1D-1ABD-9C50-F9FA-43289BBF6F57}"/>
                </a:ext>
              </a:extLst>
            </p:cNvPr>
            <p:cNvCxnSpPr/>
            <p:nvPr/>
          </p:nvCxnSpPr>
          <p:spPr>
            <a:xfrm>
              <a:off x="1072811" y="1153888"/>
              <a:ext cx="1084102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9BCB3FB-F8C5-DE22-0855-4C622BFDEBB6}"/>
              </a:ext>
            </a:extLst>
          </p:cNvPr>
          <p:cNvSpPr txBox="1"/>
          <p:nvPr/>
        </p:nvSpPr>
        <p:spPr>
          <a:xfrm>
            <a:off x="1298047" y="5394243"/>
            <a:ext cx="6592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输出电阻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5352AA2-17FE-8296-15EB-FE917DA1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76" y="1430188"/>
            <a:ext cx="7122958" cy="36157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A3D9E07-CDF1-57A4-EB0A-F489DD05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241" y="5045903"/>
            <a:ext cx="2333951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9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890</Words>
  <Application>Microsoft Office PowerPoint</Application>
  <PresentationFormat>宽屏</PresentationFormat>
  <Paragraphs>86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MJXc-TeX-math-I</vt:lpstr>
      <vt:lpstr>等线</vt:lpstr>
      <vt:lpstr>楷体</vt:lpstr>
      <vt:lpstr>微软雅黑</vt:lpstr>
      <vt:lpstr>微软雅黑</vt:lpstr>
      <vt:lpstr>Arial</vt:lpstr>
      <vt:lpstr>Calibri</vt:lpstr>
      <vt:lpstr>Symbol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NTH-AN00</dc:creator>
  <cp:lastModifiedBy>xzz_xuanzhizheng@qq.com</cp:lastModifiedBy>
  <cp:revision>13</cp:revision>
  <dcterms:created xsi:type="dcterms:W3CDTF">2024-05-06T04:42:36Z</dcterms:created>
  <dcterms:modified xsi:type="dcterms:W3CDTF">2024-12-29T13:53:15Z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2007ef73fc7849008a24f0bb07e9efff_23</vt:lpwstr>
  </property>
</Properties>
</file>