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0"/>
  </p:notesMasterIdLst>
  <p:sldIdLst>
    <p:sldId id="256" r:id="rId2"/>
    <p:sldId id="257" r:id="rId3"/>
    <p:sldId id="471" r:id="rId4"/>
    <p:sldId id="258" r:id="rId5"/>
    <p:sldId id="259" r:id="rId6"/>
    <p:sldId id="263" r:id="rId7"/>
    <p:sldId id="472" r:id="rId8"/>
    <p:sldId id="260" r:id="rId9"/>
    <p:sldId id="261" r:id="rId10"/>
    <p:sldId id="262" r:id="rId11"/>
    <p:sldId id="265" r:id="rId12"/>
    <p:sldId id="266" r:id="rId13"/>
    <p:sldId id="303" r:id="rId14"/>
    <p:sldId id="304" r:id="rId15"/>
    <p:sldId id="305" r:id="rId16"/>
    <p:sldId id="272" r:id="rId17"/>
    <p:sldId id="273" r:id="rId18"/>
    <p:sldId id="274" r:id="rId19"/>
    <p:sldId id="276" r:id="rId20"/>
    <p:sldId id="495" r:id="rId21"/>
    <p:sldId id="473" r:id="rId22"/>
    <p:sldId id="277" r:id="rId23"/>
    <p:sldId id="278" r:id="rId24"/>
    <p:sldId id="280" r:id="rId25"/>
    <p:sldId id="281" r:id="rId26"/>
    <p:sldId id="306" r:id="rId27"/>
    <p:sldId id="282" r:id="rId28"/>
    <p:sldId id="284" r:id="rId29"/>
    <p:sldId id="286" r:id="rId30"/>
    <p:sldId id="287" r:id="rId31"/>
    <p:sldId id="307" r:id="rId32"/>
    <p:sldId id="288" r:id="rId33"/>
    <p:sldId id="289" r:id="rId34"/>
    <p:sldId id="308" r:id="rId35"/>
    <p:sldId id="290" r:id="rId36"/>
    <p:sldId id="291" r:id="rId37"/>
    <p:sldId id="292" r:id="rId38"/>
    <p:sldId id="293" r:id="rId39"/>
    <p:sldId id="294" r:id="rId40"/>
    <p:sldId id="295" r:id="rId41"/>
    <p:sldId id="297" r:id="rId42"/>
    <p:sldId id="298" r:id="rId43"/>
    <p:sldId id="299" r:id="rId44"/>
    <p:sldId id="300" r:id="rId45"/>
    <p:sldId id="301" r:id="rId46"/>
    <p:sldId id="310" r:id="rId47"/>
    <p:sldId id="311" r:id="rId48"/>
    <p:sldId id="312" r:id="rId49"/>
    <p:sldId id="313" r:id="rId50"/>
    <p:sldId id="321" r:id="rId51"/>
    <p:sldId id="318" r:id="rId52"/>
    <p:sldId id="320" r:id="rId53"/>
    <p:sldId id="322" r:id="rId54"/>
    <p:sldId id="323" r:id="rId55"/>
    <p:sldId id="474" r:id="rId56"/>
    <p:sldId id="326" r:id="rId57"/>
    <p:sldId id="328" r:id="rId58"/>
    <p:sldId id="329" r:id="rId59"/>
    <p:sldId id="330" r:id="rId60"/>
    <p:sldId id="359" r:id="rId61"/>
    <p:sldId id="475" r:id="rId62"/>
    <p:sldId id="476" r:id="rId63"/>
    <p:sldId id="331" r:id="rId64"/>
    <p:sldId id="477" r:id="rId65"/>
    <p:sldId id="478" r:id="rId66"/>
    <p:sldId id="332" r:id="rId67"/>
    <p:sldId id="337" r:id="rId68"/>
    <p:sldId id="493" r:id="rId69"/>
    <p:sldId id="339" r:id="rId70"/>
    <p:sldId id="340" r:id="rId71"/>
    <p:sldId id="342" r:id="rId72"/>
    <p:sldId id="343" r:id="rId73"/>
    <p:sldId id="344" r:id="rId74"/>
    <p:sldId id="345" r:id="rId75"/>
    <p:sldId id="346" r:id="rId76"/>
    <p:sldId id="360" r:id="rId77"/>
    <p:sldId id="361" r:id="rId78"/>
    <p:sldId id="362" r:id="rId79"/>
    <p:sldId id="363" r:id="rId80"/>
    <p:sldId id="364" r:id="rId81"/>
    <p:sldId id="365" r:id="rId82"/>
    <p:sldId id="347" r:id="rId83"/>
    <p:sldId id="348" r:id="rId84"/>
    <p:sldId id="350" r:id="rId85"/>
    <p:sldId id="366" r:id="rId86"/>
    <p:sldId id="367" r:id="rId87"/>
    <p:sldId id="351" r:id="rId88"/>
    <p:sldId id="352" r:id="rId89"/>
    <p:sldId id="354" r:id="rId90"/>
    <p:sldId id="355" r:id="rId91"/>
    <p:sldId id="356" r:id="rId92"/>
    <p:sldId id="357" r:id="rId93"/>
    <p:sldId id="358" r:id="rId94"/>
    <p:sldId id="430" r:id="rId95"/>
    <p:sldId id="368" r:id="rId96"/>
    <p:sldId id="431" r:id="rId97"/>
    <p:sldId id="479" r:id="rId98"/>
    <p:sldId id="372" r:id="rId99"/>
    <p:sldId id="373" r:id="rId100"/>
    <p:sldId id="375" r:id="rId101"/>
    <p:sldId id="376" r:id="rId102"/>
    <p:sldId id="432" r:id="rId103"/>
    <p:sldId id="377" r:id="rId104"/>
    <p:sldId id="378" r:id="rId105"/>
    <p:sldId id="379" r:id="rId106"/>
    <p:sldId id="380" r:id="rId107"/>
    <p:sldId id="381" r:id="rId108"/>
    <p:sldId id="382" r:id="rId109"/>
    <p:sldId id="383" r:id="rId110"/>
    <p:sldId id="384" r:id="rId111"/>
    <p:sldId id="433" r:id="rId112"/>
    <p:sldId id="385" r:id="rId113"/>
    <p:sldId id="434" r:id="rId114"/>
    <p:sldId id="386" r:id="rId115"/>
    <p:sldId id="387" r:id="rId116"/>
    <p:sldId id="388" r:id="rId117"/>
    <p:sldId id="389" r:id="rId118"/>
    <p:sldId id="390" r:id="rId119"/>
    <p:sldId id="391" r:id="rId120"/>
    <p:sldId id="392" r:id="rId121"/>
    <p:sldId id="393" r:id="rId122"/>
    <p:sldId id="394" r:id="rId123"/>
    <p:sldId id="435" r:id="rId124"/>
    <p:sldId id="395" r:id="rId125"/>
    <p:sldId id="396" r:id="rId126"/>
    <p:sldId id="397" r:id="rId127"/>
    <p:sldId id="436" r:id="rId128"/>
    <p:sldId id="398" r:id="rId129"/>
    <p:sldId id="437" r:id="rId130"/>
    <p:sldId id="399" r:id="rId131"/>
    <p:sldId id="400" r:id="rId132"/>
    <p:sldId id="401" r:id="rId133"/>
    <p:sldId id="438" r:id="rId134"/>
    <p:sldId id="404" r:id="rId135"/>
    <p:sldId id="403" r:id="rId136"/>
    <p:sldId id="480" r:id="rId137"/>
    <p:sldId id="405" r:id="rId138"/>
    <p:sldId id="406" r:id="rId139"/>
    <p:sldId id="408" r:id="rId140"/>
    <p:sldId id="409" r:id="rId141"/>
    <p:sldId id="440" r:id="rId142"/>
    <p:sldId id="411" r:id="rId143"/>
    <p:sldId id="441" r:id="rId144"/>
    <p:sldId id="442" r:id="rId145"/>
    <p:sldId id="494" r:id="rId146"/>
    <p:sldId id="412" r:id="rId147"/>
    <p:sldId id="443" r:id="rId148"/>
    <p:sldId id="413" r:id="rId149"/>
    <p:sldId id="414" r:id="rId150"/>
    <p:sldId id="415" r:id="rId151"/>
    <p:sldId id="482" r:id="rId152"/>
    <p:sldId id="416" r:id="rId153"/>
    <p:sldId id="444" r:id="rId154"/>
    <p:sldId id="445" r:id="rId155"/>
    <p:sldId id="446" r:id="rId156"/>
    <p:sldId id="447" r:id="rId157"/>
    <p:sldId id="417" r:id="rId158"/>
    <p:sldId id="448" r:id="rId159"/>
    <p:sldId id="449" r:id="rId160"/>
    <p:sldId id="424" r:id="rId161"/>
    <p:sldId id="451" r:id="rId162"/>
    <p:sldId id="426" r:id="rId163"/>
    <p:sldId id="427" r:id="rId164"/>
    <p:sldId id="453" r:id="rId165"/>
    <p:sldId id="463" r:id="rId166"/>
    <p:sldId id="455" r:id="rId167"/>
    <p:sldId id="457" r:id="rId168"/>
    <p:sldId id="458" r:id="rId169"/>
    <p:sldId id="459" r:id="rId170"/>
    <p:sldId id="462" r:id="rId171"/>
    <p:sldId id="428" r:id="rId172"/>
    <p:sldId id="470" r:id="rId173"/>
    <p:sldId id="429" r:id="rId174"/>
    <p:sldId id="465" r:id="rId175"/>
    <p:sldId id="466" r:id="rId176"/>
    <p:sldId id="467" r:id="rId177"/>
    <p:sldId id="468" r:id="rId178"/>
    <p:sldId id="483" r:id="rId17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E024DA1-4AA8-4630-806E-CBA5FD06D861}">
          <p14:sldIdLst>
            <p14:sldId id="256"/>
            <p14:sldId id="257"/>
            <p14:sldId id="471"/>
            <p14:sldId id="258"/>
            <p14:sldId id="259"/>
            <p14:sldId id="263"/>
            <p14:sldId id="472"/>
            <p14:sldId id="260"/>
            <p14:sldId id="261"/>
            <p14:sldId id="262"/>
            <p14:sldId id="265"/>
            <p14:sldId id="266"/>
            <p14:sldId id="303"/>
            <p14:sldId id="304"/>
            <p14:sldId id="305"/>
            <p14:sldId id="272"/>
            <p14:sldId id="273"/>
            <p14:sldId id="274"/>
            <p14:sldId id="276"/>
            <p14:sldId id="495"/>
            <p14:sldId id="473"/>
            <p14:sldId id="277"/>
            <p14:sldId id="278"/>
            <p14:sldId id="280"/>
            <p14:sldId id="281"/>
            <p14:sldId id="306"/>
            <p14:sldId id="282"/>
            <p14:sldId id="284"/>
            <p14:sldId id="286"/>
            <p14:sldId id="287"/>
            <p14:sldId id="307"/>
            <p14:sldId id="288"/>
            <p14:sldId id="289"/>
            <p14:sldId id="308"/>
            <p14:sldId id="290"/>
            <p14:sldId id="291"/>
            <p14:sldId id="292"/>
            <p14:sldId id="293"/>
            <p14:sldId id="294"/>
            <p14:sldId id="295"/>
            <p14:sldId id="297"/>
            <p14:sldId id="298"/>
            <p14:sldId id="299"/>
            <p14:sldId id="300"/>
            <p14:sldId id="301"/>
            <p14:sldId id="310"/>
            <p14:sldId id="311"/>
            <p14:sldId id="312"/>
            <p14:sldId id="313"/>
            <p14:sldId id="321"/>
            <p14:sldId id="318"/>
            <p14:sldId id="320"/>
            <p14:sldId id="322"/>
            <p14:sldId id="323"/>
            <p14:sldId id="474"/>
            <p14:sldId id="326"/>
            <p14:sldId id="328"/>
            <p14:sldId id="329"/>
            <p14:sldId id="330"/>
            <p14:sldId id="359"/>
            <p14:sldId id="475"/>
            <p14:sldId id="476"/>
            <p14:sldId id="331"/>
            <p14:sldId id="477"/>
            <p14:sldId id="478"/>
            <p14:sldId id="332"/>
            <p14:sldId id="337"/>
            <p14:sldId id="493"/>
            <p14:sldId id="339"/>
            <p14:sldId id="340"/>
            <p14:sldId id="342"/>
            <p14:sldId id="343"/>
            <p14:sldId id="344"/>
            <p14:sldId id="345"/>
            <p14:sldId id="346"/>
            <p14:sldId id="360"/>
            <p14:sldId id="361"/>
            <p14:sldId id="362"/>
            <p14:sldId id="363"/>
            <p14:sldId id="364"/>
            <p14:sldId id="365"/>
            <p14:sldId id="347"/>
          </p14:sldIdLst>
        </p14:section>
        <p14:section name="10.24" id="{928D4CC2-D5B4-4FFF-9FE2-99718325C55D}">
          <p14:sldIdLst>
            <p14:sldId id="348"/>
            <p14:sldId id="350"/>
            <p14:sldId id="366"/>
            <p14:sldId id="367"/>
            <p14:sldId id="351"/>
            <p14:sldId id="352"/>
            <p14:sldId id="354"/>
            <p14:sldId id="355"/>
            <p14:sldId id="356"/>
            <p14:sldId id="357"/>
            <p14:sldId id="358"/>
            <p14:sldId id="430"/>
            <p14:sldId id="368"/>
            <p14:sldId id="431"/>
            <p14:sldId id="479"/>
            <p14:sldId id="372"/>
            <p14:sldId id="373"/>
            <p14:sldId id="375"/>
            <p14:sldId id="376"/>
            <p14:sldId id="432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433"/>
            <p14:sldId id="385"/>
            <p14:sldId id="434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435"/>
            <p14:sldId id="395"/>
            <p14:sldId id="396"/>
            <p14:sldId id="397"/>
            <p14:sldId id="436"/>
            <p14:sldId id="398"/>
            <p14:sldId id="437"/>
            <p14:sldId id="399"/>
            <p14:sldId id="400"/>
            <p14:sldId id="401"/>
            <p14:sldId id="438"/>
            <p14:sldId id="404"/>
            <p14:sldId id="403"/>
            <p14:sldId id="480"/>
            <p14:sldId id="405"/>
            <p14:sldId id="406"/>
            <p14:sldId id="408"/>
            <p14:sldId id="409"/>
            <p14:sldId id="440"/>
            <p14:sldId id="411"/>
            <p14:sldId id="441"/>
            <p14:sldId id="442"/>
            <p14:sldId id="494"/>
            <p14:sldId id="412"/>
            <p14:sldId id="443"/>
            <p14:sldId id="413"/>
            <p14:sldId id="414"/>
            <p14:sldId id="415"/>
            <p14:sldId id="482"/>
            <p14:sldId id="416"/>
            <p14:sldId id="444"/>
            <p14:sldId id="445"/>
            <p14:sldId id="446"/>
            <p14:sldId id="447"/>
            <p14:sldId id="417"/>
            <p14:sldId id="448"/>
            <p14:sldId id="449"/>
            <p14:sldId id="424"/>
            <p14:sldId id="451"/>
            <p14:sldId id="426"/>
            <p14:sldId id="427"/>
            <p14:sldId id="453"/>
            <p14:sldId id="463"/>
            <p14:sldId id="455"/>
            <p14:sldId id="457"/>
            <p14:sldId id="458"/>
            <p14:sldId id="459"/>
            <p14:sldId id="462"/>
            <p14:sldId id="428"/>
            <p14:sldId id="470"/>
            <p14:sldId id="429"/>
            <p14:sldId id="465"/>
            <p14:sldId id="466"/>
            <p14:sldId id="467"/>
            <p14:sldId id="468"/>
            <p14:sldId id="4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800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presProps" Target="presProp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viewProps" Target="viewProps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notesMaster" Target="notesMasters/notesMaster1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345D41-D199-4272-91C9-107C7E6DBFF5}" type="datetimeFigureOut">
              <a:rPr lang="zh-CN" altLang="en-US" smtClean="0"/>
              <a:pPr/>
              <a:t>2023/10/25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8E751F-3182-4EE4-AE13-FCCE637E64C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ew of last les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>
            <a:spLocks/>
          </p:cNvSpPr>
          <p:nvPr userDrawn="1"/>
        </p:nvSpPr>
        <p:spPr>
          <a:xfrm>
            <a:off x="0" y="0"/>
            <a:ext cx="9144000" cy="981075"/>
          </a:xfrm>
          <a:prstGeom prst="rect">
            <a:avLst/>
          </a:prstGeom>
        </p:spPr>
        <p:txBody>
          <a:bodyPr anchor="ctr"/>
          <a:lstStyle/>
          <a:p>
            <a:pPr algn="ctr" eaLnBrk="0" hangingPunct="0">
              <a:defRPr/>
            </a:pPr>
            <a:r>
              <a:rPr lang="en-US" altLang="zh-CN" sz="44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Review of Last Lesson</a:t>
            </a:r>
            <a:endParaRPr lang="zh-CN" altLang="en-US" sz="44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77E086-E9DF-4948-AA22-7924FA410B27}" type="datetime1">
              <a:rPr lang="zh-CN" altLang="en-US" smtClean="0"/>
              <a:pPr>
                <a:defRPr/>
              </a:pPr>
              <a:t>2023/10/25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A91A2D-7E5F-468E-B56E-B18C4BCE151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>
            <a:spLocks/>
          </p:cNvSpPr>
          <p:nvPr userDrawn="1"/>
        </p:nvSpPr>
        <p:spPr>
          <a:xfrm>
            <a:off x="0" y="0"/>
            <a:ext cx="9144000" cy="981075"/>
          </a:xfrm>
          <a:prstGeom prst="rect">
            <a:avLst/>
          </a:prstGeom>
        </p:spPr>
        <p:txBody>
          <a:bodyPr anchor="ctr"/>
          <a:lstStyle/>
          <a:p>
            <a:pPr algn="ctr" eaLnBrk="0" hangingPunct="0">
              <a:defRPr/>
            </a:pPr>
            <a:r>
              <a:rPr lang="en-US" altLang="zh-CN" sz="44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Agenda</a:t>
            </a:r>
            <a:endParaRPr lang="zh-CN" altLang="en-US" sz="44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3A71FF-67E8-4A11-9653-B2E1AE1739A4}" type="datetime1">
              <a:rPr lang="zh-CN" altLang="en-US" smtClean="0"/>
              <a:pPr>
                <a:defRPr/>
              </a:pPr>
              <a:t>2023/10/25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D9B21A-4231-496B-9583-82A141ACAC0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标题 8"/>
          <p:cNvSpPr txBox="1">
            <a:spLocks/>
          </p:cNvSpPr>
          <p:nvPr userDrawn="1"/>
        </p:nvSpPr>
        <p:spPr>
          <a:xfrm>
            <a:off x="0" y="0"/>
            <a:ext cx="9144000" cy="981075"/>
          </a:xfrm>
          <a:prstGeom prst="rect">
            <a:avLst/>
          </a:prstGeom>
        </p:spPr>
        <p:txBody>
          <a:bodyPr anchor="ctr"/>
          <a:lstStyle/>
          <a:p>
            <a:pPr algn="ctr" eaLnBrk="0" hangingPunct="0">
              <a:defRPr/>
            </a:pPr>
            <a:r>
              <a:rPr lang="zh-CN" altLang="en-US" sz="44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介绍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0B7D5-C1EE-48A9-ADF7-CB4D055AA499}" type="datetime1">
              <a:rPr lang="zh-CN" altLang="en-US" smtClean="0"/>
              <a:pPr>
                <a:defRPr/>
              </a:pPr>
              <a:t>2023/10/25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69CCC-367A-414A-9641-8EB42BE6A49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tangular pat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标题 8"/>
          <p:cNvSpPr txBox="1">
            <a:spLocks/>
          </p:cNvSpPr>
          <p:nvPr userDrawn="1"/>
        </p:nvSpPr>
        <p:spPr>
          <a:xfrm>
            <a:off x="1" y="0"/>
            <a:ext cx="9144000" cy="981075"/>
          </a:xfrm>
          <a:prstGeom prst="rect">
            <a:avLst/>
          </a:prstGeom>
        </p:spPr>
        <p:txBody>
          <a:bodyPr anchor="ctr"/>
          <a:lstStyle/>
          <a:p>
            <a:pPr algn="ctr" eaLnBrk="0" hangingPunct="0">
              <a:defRPr/>
            </a:pPr>
            <a:r>
              <a:rPr lang="zh-CN" altLang="en-US" sz="44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矩形贴片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D85C9-20FC-4A7C-8678-BCD9B299DE04}" type="datetime1">
              <a:rPr lang="zh-CN" altLang="en-US" smtClean="0"/>
              <a:pPr>
                <a:defRPr/>
              </a:pPr>
              <a:t>2023/10/25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BFB24-313B-4B7C-99C5-CC87468134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ular pat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FF9FBC-688C-4F4B-95A7-DE8CA70DA10B}" type="datetime1">
              <a:rPr lang="zh-CN" altLang="en-US" smtClean="0"/>
              <a:pPr>
                <a:defRPr/>
              </a:pPr>
              <a:t>2023/10/25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4E4239-89E8-4DC8-8A8D-8DBDE71A47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标题 8"/>
          <p:cNvSpPr txBox="1">
            <a:spLocks/>
          </p:cNvSpPr>
          <p:nvPr userDrawn="1"/>
        </p:nvSpPr>
        <p:spPr>
          <a:xfrm>
            <a:off x="1" y="0"/>
            <a:ext cx="9144000" cy="981075"/>
          </a:xfrm>
          <a:prstGeom prst="rect">
            <a:avLst/>
          </a:prstGeom>
        </p:spPr>
        <p:txBody>
          <a:bodyPr anchor="ctr"/>
          <a:lstStyle/>
          <a:p>
            <a:pPr algn="ctr" eaLnBrk="0" hangingPunct="0">
              <a:defRPr/>
            </a:pPr>
            <a:r>
              <a:rPr lang="zh-CN" altLang="en-US" sz="44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圆形贴片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ality Factor, Bandwidth, and Efficienc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标题 8"/>
          <p:cNvSpPr txBox="1">
            <a:spLocks/>
          </p:cNvSpPr>
          <p:nvPr userDrawn="1"/>
        </p:nvSpPr>
        <p:spPr>
          <a:xfrm>
            <a:off x="0" y="0"/>
            <a:ext cx="9144000" cy="981075"/>
          </a:xfrm>
          <a:prstGeom prst="rect">
            <a:avLst/>
          </a:prstGeom>
        </p:spPr>
        <p:txBody>
          <a:bodyPr anchor="ctr"/>
          <a:lstStyle/>
          <a:p>
            <a:pPr algn="r" eaLnBrk="0" hangingPunct="0">
              <a:defRPr/>
            </a:pPr>
            <a:r>
              <a:rPr lang="zh-CN" altLang="en-US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品质因素、带宽和效率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4CCF6A-DCC8-4359-B6A2-87F0EE21C849}" type="datetime1">
              <a:rPr lang="zh-CN" altLang="en-US" smtClean="0"/>
              <a:pPr>
                <a:defRPr/>
              </a:pPr>
              <a:t>2023/10/25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ACA1BC-D61F-4F8A-BBEC-D9BB10A723EF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put Imped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标题 8"/>
          <p:cNvSpPr txBox="1">
            <a:spLocks/>
          </p:cNvSpPr>
          <p:nvPr userDrawn="1"/>
        </p:nvSpPr>
        <p:spPr>
          <a:xfrm>
            <a:off x="0" y="0"/>
            <a:ext cx="9144000" cy="981075"/>
          </a:xfrm>
          <a:prstGeom prst="rect">
            <a:avLst/>
          </a:prstGeom>
        </p:spPr>
        <p:txBody>
          <a:bodyPr anchor="ctr"/>
          <a:lstStyle/>
          <a:p>
            <a:pPr algn="ctr" eaLnBrk="0" hangingPunct="0">
              <a:defRPr/>
            </a:pPr>
            <a:r>
              <a:rPr lang="zh-CN" altLang="en-US" sz="44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输入阻抗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BD1893-9A8E-4E48-872A-02AC9CCDC053}" type="datetime1">
              <a:rPr lang="zh-CN" altLang="en-US" smtClean="0"/>
              <a:pPr>
                <a:defRPr/>
              </a:pPr>
              <a:t>2023/10/25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408FF8-F61C-47A8-B1C3-8F486F4D215E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p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>
            <a:spLocks/>
          </p:cNvSpPr>
          <p:nvPr userDrawn="1"/>
        </p:nvSpPr>
        <p:spPr>
          <a:xfrm>
            <a:off x="0" y="0"/>
            <a:ext cx="9144000" cy="981075"/>
          </a:xfrm>
          <a:prstGeom prst="rect">
            <a:avLst/>
          </a:prstGeom>
        </p:spPr>
        <p:txBody>
          <a:bodyPr anchor="ctr"/>
          <a:lstStyle/>
          <a:p>
            <a:pPr algn="ctr" eaLnBrk="0" hangingPunct="0">
              <a:defRPr/>
            </a:pPr>
            <a:r>
              <a:rPr lang="zh-CN" altLang="en-US" sz="44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耦合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D81A99-BAD3-41EF-B7C2-4A4FB73428AD}" type="datetime1">
              <a:rPr lang="zh-CN" altLang="en-US" smtClean="0"/>
              <a:pPr>
                <a:defRPr/>
              </a:pPr>
              <a:t>2023/10/25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CDC61C-D9C1-4B4C-937C-167BE180689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ircular Polar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A16A09-99F5-4956-97A2-74113E6A676B}" type="datetime1">
              <a:rPr lang="zh-CN" altLang="en-US" smtClean="0"/>
              <a:pPr/>
              <a:t>2023/10/25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标题 8"/>
          <p:cNvSpPr txBox="1">
            <a:spLocks/>
          </p:cNvSpPr>
          <p:nvPr userDrawn="1"/>
        </p:nvSpPr>
        <p:spPr>
          <a:xfrm>
            <a:off x="0" y="0"/>
            <a:ext cx="9144000" cy="981075"/>
          </a:xfrm>
          <a:prstGeom prst="rect">
            <a:avLst/>
          </a:prstGeom>
        </p:spPr>
        <p:txBody>
          <a:bodyPr anchor="ctr"/>
          <a:lstStyle/>
          <a:p>
            <a:pPr algn="ctr" eaLnBrk="0" hangingPunct="0">
              <a:defRPr/>
            </a:pPr>
            <a:r>
              <a:rPr lang="zh-CN" altLang="en-US" sz="44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圆极化</a:t>
            </a:r>
          </a:p>
        </p:txBody>
      </p:sp>
    </p:spTree>
    <p:extLst>
      <p:ext uri="{BB962C8B-B14F-4D97-AF65-F5344CB8AC3E}">
        <p14:creationId xmlns:p14="http://schemas.microsoft.com/office/powerpoint/2010/main" val="2837163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rrays and Feed Netwo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267F9A-4DDF-4790-8DAA-AB854B1DBD9E}" type="datetime1">
              <a:rPr lang="zh-CN" altLang="en-US" smtClean="0"/>
              <a:pPr/>
              <a:t>2023/10/25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标题 8"/>
          <p:cNvSpPr txBox="1">
            <a:spLocks/>
          </p:cNvSpPr>
          <p:nvPr userDrawn="1"/>
        </p:nvSpPr>
        <p:spPr>
          <a:xfrm>
            <a:off x="0" y="0"/>
            <a:ext cx="9144000" cy="981075"/>
          </a:xfrm>
          <a:prstGeom prst="rect">
            <a:avLst/>
          </a:prstGeom>
        </p:spPr>
        <p:txBody>
          <a:bodyPr anchor="ctr"/>
          <a:lstStyle/>
          <a:p>
            <a:pPr algn="r" eaLnBrk="0" hangingPunct="0">
              <a:defRPr/>
            </a:pPr>
            <a:r>
              <a:rPr lang="zh-CN" altLang="en-US" sz="44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阵列和馈电网络</a:t>
            </a:r>
          </a:p>
        </p:txBody>
      </p:sp>
    </p:spTree>
    <p:extLst>
      <p:ext uri="{BB962C8B-B14F-4D97-AF65-F5344CB8AC3E}">
        <p14:creationId xmlns:p14="http://schemas.microsoft.com/office/powerpoint/2010/main" val="71935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mewo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>
            <a:spLocks/>
          </p:cNvSpPr>
          <p:nvPr userDrawn="1"/>
        </p:nvSpPr>
        <p:spPr>
          <a:xfrm>
            <a:off x="0" y="0"/>
            <a:ext cx="9144000" cy="981075"/>
          </a:xfrm>
          <a:prstGeom prst="rect">
            <a:avLst/>
          </a:prstGeom>
        </p:spPr>
        <p:txBody>
          <a:bodyPr anchor="ctr"/>
          <a:lstStyle/>
          <a:p>
            <a:pPr algn="ctr" eaLnBrk="0" hangingPunct="0">
              <a:defRPr/>
            </a:pPr>
            <a:r>
              <a:rPr lang="en-US" altLang="zh-CN" sz="44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Homeworks</a:t>
            </a:r>
            <a:endParaRPr lang="zh-CN" altLang="en-US" sz="44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8A9D11-C041-4FC3-B327-1A2285033121}" type="datetime1">
              <a:rPr lang="zh-CN" altLang="en-US" smtClean="0"/>
              <a:pPr>
                <a:defRPr/>
              </a:pPr>
              <a:t>2023/10/25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62F209-CDEC-4233-A440-2F63EE7DCB3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6D9F0E-77CC-4D35-8456-EEE8B5542350}" type="datetime1">
              <a:rPr lang="zh-CN" altLang="en-US" smtClean="0"/>
              <a:pPr/>
              <a:t>2023/10/25</a:t>
            </a:fld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832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BE1DF7B-5A95-42E0-B151-A0D3887BEABF}" type="datetime1">
              <a:rPr lang="zh-CN" altLang="en-US" smtClean="0"/>
              <a:pPr>
                <a:defRPr/>
              </a:pPr>
              <a:t>2023/10/25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8E42DD1-A48D-4089-9A32-926D7235A895}" type="slidenum">
              <a:rPr lang="zh-CN" altLang="en-US" smtClean="0"/>
              <a:pPr>
                <a:defRPr/>
              </a:pPr>
              <a:t>‹#›</a:t>
            </a:fld>
            <a:r>
              <a:rPr lang="en-US" altLang="zh-CN" dirty="0"/>
              <a:t>/209</a:t>
            </a:r>
            <a:endParaRPr lang="zh-CN" altLang="en-US" dirty="0"/>
          </a:p>
        </p:txBody>
      </p:sp>
      <p:pic>
        <p:nvPicPr>
          <p:cNvPr id="38917" name="Picture 3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4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3" r:id="rId9"/>
    <p:sldLayoutId id="2147483684" r:id="rId10"/>
    <p:sldLayoutId id="2147483682" r:id="rId11"/>
    <p:sldLayoutId id="2147483685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8.wmf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microsoft.com/office/2007/relationships/hdphoto" Target="../media/hdphoto4.wdp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5" Type="http://schemas.microsoft.com/office/2007/relationships/hdphoto" Target="../media/hdphoto2.wdp"/><Relationship Id="rId4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1.wdp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2.wdp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6.wmf"/><Relationship Id="rId4" Type="http://schemas.openxmlformats.org/officeDocument/2006/relationships/oleObject" Target="../embeddings/oleObject3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54.png"/><Relationship Id="rId7" Type="http://schemas.openxmlformats.org/officeDocument/2006/relationships/image" Target="../media/image59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8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60.wmf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microsoft.com/office/2007/relationships/hdphoto" Target="../media/hdphoto19.wdp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microsoft.com/office/2007/relationships/hdphoto" Target="../media/hdphoto20.wdp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microsoft.com/office/2007/relationships/hdphoto" Target="../media/hdphoto21.wdp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3" Type="http://schemas.microsoft.com/office/2007/relationships/hdphoto" Target="../media/hdphoto22.wdp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3" Type="http://schemas.microsoft.com/office/2007/relationships/hdphoto" Target="../media/hdphoto23.wdp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3" Type="http://schemas.microsoft.com/office/2007/relationships/hdphoto" Target="../media/hdphoto24.wdp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8.png"/></Relationships>
</file>

<file path=ppt/slides/_rels/slide113.xml.rels><?xml version="1.0" encoding="UTF-8" standalone="yes"?>
<Relationships xmlns="http://schemas.openxmlformats.org/package/2006/relationships"><Relationship Id="rId3" Type="http://schemas.microsoft.com/office/2007/relationships/hdphoto" Target="../media/hdphoto25.wdp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5.xml"/></Relationships>
</file>

<file path=ppt/slides/_rels/slide114.xml.rels><?xml version="1.0" encoding="UTF-8" standalone="yes"?>
<Relationships xmlns="http://schemas.openxmlformats.org/package/2006/relationships"><Relationship Id="rId3" Type="http://schemas.microsoft.com/office/2007/relationships/hdphoto" Target="../media/hdphoto26.wdp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5.xml"/></Relationships>
</file>

<file path=ppt/slides/_rels/slide116.xml.rels><?xml version="1.0" encoding="UTF-8" standalone="yes"?>
<Relationships xmlns="http://schemas.openxmlformats.org/package/2006/relationships"><Relationship Id="rId3" Type="http://schemas.microsoft.com/office/2007/relationships/hdphoto" Target="../media/hdphoto27.wdp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/Relationships>
</file>

<file path=ppt/slides/_rels/slide117.xml.rels><?xml version="1.0" encoding="UTF-8" standalone="yes"?>
<Relationships xmlns="http://schemas.openxmlformats.org/package/2006/relationships"><Relationship Id="rId3" Type="http://schemas.microsoft.com/office/2007/relationships/hdphoto" Target="../media/hdphoto28.wdp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5.xml"/></Relationships>
</file>

<file path=ppt/slides/_rels/slide118.xml.rels><?xml version="1.0" encoding="UTF-8" standalone="yes"?>
<Relationships xmlns="http://schemas.openxmlformats.org/package/2006/relationships"><Relationship Id="rId3" Type="http://schemas.microsoft.com/office/2007/relationships/hdphoto" Target="../media/hdphoto29.wdp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5.xml"/></Relationships>
</file>

<file path=ppt/slides/_rels/slide119.xml.rels><?xml version="1.0" encoding="UTF-8" standalone="yes"?>
<Relationships xmlns="http://schemas.openxmlformats.org/package/2006/relationships"><Relationship Id="rId3" Type="http://schemas.microsoft.com/office/2007/relationships/hdphoto" Target="../media/hdphoto30.wdp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5.xml"/></Relationships>
</file>

<file path=ppt/slides/_rels/slide120.xml.rels><?xml version="1.0" encoding="UTF-8" standalone="yes"?>
<Relationships xmlns="http://schemas.openxmlformats.org/package/2006/relationships"><Relationship Id="rId3" Type="http://schemas.microsoft.com/office/2007/relationships/hdphoto" Target="../media/hdphoto31.wdp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5.xml"/></Relationships>
</file>

<file path=ppt/slides/_rels/slide121.xml.rels><?xml version="1.0" encoding="UTF-8" standalone="yes"?>
<Relationships xmlns="http://schemas.openxmlformats.org/package/2006/relationships"><Relationship Id="rId3" Type="http://schemas.microsoft.com/office/2007/relationships/hdphoto" Target="../media/hdphoto32.wdp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5.xml"/></Relationships>
</file>

<file path=ppt/slides/_rels/slide122.xml.rels><?xml version="1.0" encoding="UTF-8" standalone="yes"?>
<Relationships xmlns="http://schemas.openxmlformats.org/package/2006/relationships"><Relationship Id="rId3" Type="http://schemas.microsoft.com/office/2007/relationships/hdphoto" Target="../media/hdphoto33.wdp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5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5.xml"/></Relationships>
</file>

<file path=ppt/slides/_rels/slide124.xml.rels><?xml version="1.0" encoding="UTF-8" standalone="yes"?>
<Relationships xmlns="http://schemas.openxmlformats.org/package/2006/relationships"><Relationship Id="rId3" Type="http://schemas.microsoft.com/office/2007/relationships/hdphoto" Target="../media/hdphoto34.wdp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5.xml"/></Relationships>
</file>

<file path=ppt/slides/_rels/slide125.xml.rels><?xml version="1.0" encoding="UTF-8" standalone="yes"?>
<Relationships xmlns="http://schemas.openxmlformats.org/package/2006/relationships"><Relationship Id="rId3" Type="http://schemas.microsoft.com/office/2007/relationships/hdphoto" Target="../media/hdphoto35.wdp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5.xml"/></Relationships>
</file>

<file path=ppt/slides/_rels/slide126.xml.rels><?xml version="1.0" encoding="UTF-8" standalone="yes"?>
<Relationships xmlns="http://schemas.openxmlformats.org/package/2006/relationships"><Relationship Id="rId3" Type="http://schemas.microsoft.com/office/2007/relationships/hdphoto" Target="../media/hdphoto36.wdp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5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5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5.xml"/><Relationship Id="rId4" Type="http://schemas.microsoft.com/office/2007/relationships/hdphoto" Target="../media/hdphoto37.wdp"/></Relationships>
</file>

<file path=ppt/slides/_rels/slide129.xml.rels><?xml version="1.0" encoding="UTF-8" standalone="yes"?>
<Relationships xmlns="http://schemas.openxmlformats.org/package/2006/relationships"><Relationship Id="rId3" Type="http://schemas.microsoft.com/office/2007/relationships/hdphoto" Target="../media/hdphoto38.wdp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9.png"/></Relationships>
</file>

<file path=ppt/slides/_rels/slide130.xml.rels><?xml version="1.0" encoding="UTF-8" standalone="yes"?>
<Relationships xmlns="http://schemas.openxmlformats.org/package/2006/relationships"><Relationship Id="rId3" Type="http://schemas.microsoft.com/office/2007/relationships/hdphoto" Target="../media/hdphoto39.wdp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5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5.xml"/></Relationships>
</file>

<file path=ppt/slides/_rels/slide132.xml.rels><?xml version="1.0" encoding="UTF-8" standalone="yes"?>
<Relationships xmlns="http://schemas.openxmlformats.org/package/2006/relationships"><Relationship Id="rId3" Type="http://schemas.microsoft.com/office/2007/relationships/hdphoto" Target="../media/hdphoto40.wdp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5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5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4.wmf"/><Relationship Id="rId5" Type="http://schemas.openxmlformats.org/officeDocument/2006/relationships/oleObject" Target="../embeddings/oleObject7.bin"/><Relationship Id="rId4" Type="http://schemas.microsoft.com/office/2007/relationships/hdphoto" Target="../media/hdphoto41.wdp"/></Relationships>
</file>

<file path=ppt/slides/_rels/slide135.xml.rels><?xml version="1.0" encoding="UTF-8" standalone="yes"?>
<Relationships xmlns="http://schemas.openxmlformats.org/package/2006/relationships"><Relationship Id="rId3" Type="http://schemas.microsoft.com/office/2007/relationships/hdphoto" Target="../media/hdphoto42.wdp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6.xml"/></Relationships>
</file>

<file path=ppt/slides/_rels/slide137.xml.rels><?xml version="1.0" encoding="UTF-8" standalone="yes"?>
<Relationships xmlns="http://schemas.openxmlformats.org/package/2006/relationships"><Relationship Id="rId3" Type="http://schemas.microsoft.com/office/2007/relationships/hdphoto" Target="../media/hdphoto43.wdp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6.xml"/></Relationships>
</file>

<file path=ppt/slides/_rels/slide138.xml.rels><?xml version="1.0" encoding="UTF-8" standalone="yes"?>
<Relationships xmlns="http://schemas.openxmlformats.org/package/2006/relationships"><Relationship Id="rId3" Type="http://schemas.microsoft.com/office/2007/relationships/hdphoto" Target="../media/hdphoto44.wdp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2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41.wmf"/><Relationship Id="rId9" Type="http://schemas.openxmlformats.org/officeDocument/2006/relationships/image" Target="../media/image144.png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6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8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8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6.xml.rels><?xml version="1.0" encoding="UTF-8" standalone="yes"?>
<Relationships xmlns="http://schemas.openxmlformats.org/package/2006/relationships"><Relationship Id="rId3" Type="http://schemas.microsoft.com/office/2007/relationships/hdphoto" Target="../media/hdphoto45.wdp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8.xml"/></Relationships>
</file>

<file path=ppt/slides/_rels/slide147.xml.rels><?xml version="1.0" encoding="UTF-8" standalone="yes"?>
<Relationships xmlns="http://schemas.openxmlformats.org/package/2006/relationships"><Relationship Id="rId3" Type="http://schemas.microsoft.com/office/2007/relationships/hdphoto" Target="../media/hdphoto46.wdp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8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9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9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9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9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9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9.xml"/></Relationships>
</file>

<file path=ppt/slides/_rels/slide157.xml.rels><?xml version="1.0" encoding="UTF-8" standalone="yes"?>
<Relationships xmlns="http://schemas.openxmlformats.org/package/2006/relationships"><Relationship Id="rId3" Type="http://schemas.microsoft.com/office/2007/relationships/hdphoto" Target="../media/hdphoto47.wdp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9.png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9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9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9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9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9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10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0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10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0.xml"/></Relationships>
</file>

<file path=ppt/slides/_rels/slide168.xml.rels><?xml version="1.0" encoding="UTF-8" standalone="yes"?>
<Relationships xmlns="http://schemas.openxmlformats.org/package/2006/relationships"><Relationship Id="rId3" Type="http://schemas.microsoft.com/office/2007/relationships/hdphoto" Target="../media/hdphoto48.wdp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10.xml"/></Relationships>
</file>

<file path=ppt/slides/_rels/slide169.xml.rels><?xml version="1.0" encoding="UTF-8" standalone="yes"?>
<Relationships xmlns="http://schemas.openxmlformats.org/package/2006/relationships"><Relationship Id="rId3" Type="http://schemas.microsoft.com/office/2007/relationships/hdphoto" Target="../media/hdphoto49.wdp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0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1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12.xml"/></Relationships>
</file>

<file path=ppt/slides/_rels/slide173.xml.rels><?xml version="1.0" encoding="UTF-8" standalone="yes"?>
<Relationships xmlns="http://schemas.openxmlformats.org/package/2006/relationships"><Relationship Id="rId3" Type="http://schemas.microsoft.com/office/2007/relationships/hdphoto" Target="../media/hdphoto50.wdp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1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12.xml"/></Relationships>
</file>

<file path=ppt/slides/_rels/slide175.xml.rels><?xml version="1.0" encoding="UTF-8" standalone="yes"?>
<Relationships xmlns="http://schemas.openxmlformats.org/package/2006/relationships"><Relationship Id="rId3" Type="http://schemas.microsoft.com/office/2007/relationships/hdphoto" Target="../media/hdphoto51.wdp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12.xml"/></Relationships>
</file>

<file path=ppt/slides/_rels/slide176.xml.rels><?xml version="1.0" encoding="UTF-8" standalone="yes"?>
<Relationships xmlns="http://schemas.openxmlformats.org/package/2006/relationships"><Relationship Id="rId3" Type="http://schemas.microsoft.com/office/2007/relationships/hdphoto" Target="../media/hdphoto52.wdp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12.xml"/></Relationships>
</file>

<file path=ppt/slides/_rels/slide177.xml.rels><?xml version="1.0" encoding="UTF-8" standalone="yes"?>
<Relationships xmlns="http://schemas.openxmlformats.org/package/2006/relationships"><Relationship Id="rId3" Type="http://schemas.microsoft.com/office/2007/relationships/hdphoto" Target="../media/hdphoto53.wdp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1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44" name="Picture 4" descr="http://www.exp-eng.com/images/gallery/mn-msa-dc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1547664" y="332656"/>
            <a:ext cx="6400800" cy="936104"/>
          </a:xfrm>
          <a:prstGeom prst="rect">
            <a:avLst/>
          </a:prstGeom>
        </p:spPr>
        <p:txBody>
          <a:bodyPr/>
          <a:lstStyle/>
          <a:p>
            <a:pPr algn="ctr">
              <a:buNone/>
            </a:pPr>
            <a:r>
              <a:rPr lang="en-US" altLang="zh-CN" sz="4800" dirty="0">
                <a:solidFill>
                  <a:srgbClr val="FF0000"/>
                </a:solidFill>
              </a:rPr>
              <a:t>Microstrip Antennas</a:t>
            </a:r>
            <a:endParaRPr lang="zh-CN" altLang="en-US" sz="48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274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83568" y="1268760"/>
            <a:ext cx="7848872" cy="5040312"/>
          </a:xfrm>
          <a:prstGeom prst="rect">
            <a:avLst/>
          </a:prstGeo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介绍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矩形贴片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圆形贴片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品质因素、带宽和效率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输入阻抗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耦合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圆极化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阵列与馈电网络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D9B21A-4231-496B-9583-82A141ACAC0B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888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869CCC-367A-414A-9641-8EB42BE6A490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83568" y="1659285"/>
            <a:ext cx="756084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n"/>
            </a:pPr>
            <a:r>
              <a:rPr lang="zh-CN" altLang="en-US" sz="3200" dirty="0"/>
              <a:t>微带天线于</a:t>
            </a:r>
            <a:r>
              <a:rPr lang="en-US" altLang="zh-CN" sz="3200" dirty="0"/>
              <a:t>1953</a:t>
            </a:r>
            <a:r>
              <a:rPr lang="zh-CN" altLang="en-US" sz="3200" dirty="0"/>
              <a:t>年提出，</a:t>
            </a:r>
            <a:r>
              <a:rPr lang="en-US" altLang="zh-CN" sz="3200" dirty="0"/>
              <a:t>1955</a:t>
            </a:r>
            <a:r>
              <a:rPr lang="zh-CN" altLang="en-US" sz="3200" dirty="0"/>
              <a:t>年获得专利。从</a:t>
            </a:r>
            <a:r>
              <a:rPr lang="en-US" altLang="zh-CN" sz="3200" dirty="0"/>
              <a:t>20</a:t>
            </a:r>
            <a:r>
              <a:rPr lang="zh-CN" altLang="en-US" sz="3200" dirty="0"/>
              <a:t>世纪</a:t>
            </a:r>
            <a:r>
              <a:rPr lang="en-US" altLang="zh-CN" sz="3200" dirty="0"/>
              <a:t>70</a:t>
            </a:r>
            <a:r>
              <a:rPr lang="zh-CN" altLang="en-US" sz="3200" dirty="0"/>
              <a:t>年代开始，它就受到了相当大的关注。</a:t>
            </a:r>
            <a:endParaRPr lang="en-US" altLang="zh-CN" sz="3200" dirty="0"/>
          </a:p>
          <a:p>
            <a:pPr marL="342900" indent="-342900">
              <a:buFont typeface="Wingdings" pitchFamily="2" charset="2"/>
              <a:buChar char="n"/>
            </a:pPr>
            <a:endParaRPr lang="en-US" altLang="zh-CN" sz="3200" dirty="0"/>
          </a:p>
          <a:p>
            <a:pPr marL="342900" indent="-342900">
              <a:buFont typeface="Wingdings" pitchFamily="2" charset="2"/>
              <a:buChar char="n"/>
            </a:pPr>
            <a:r>
              <a:rPr lang="zh-CN" altLang="en-US" sz="3200" dirty="0"/>
              <a:t>在高性能飞机、航天器、卫星和导弹应用中有应用，尤其是需要</a:t>
            </a:r>
            <a:r>
              <a:rPr lang="zh-CN" altLang="en-US" sz="3200" dirty="0">
                <a:solidFill>
                  <a:srgbClr val="FF0000"/>
                </a:solidFill>
              </a:rPr>
              <a:t>低剖面</a:t>
            </a:r>
            <a:r>
              <a:rPr lang="zh-CN" altLang="en-US" sz="3200" dirty="0"/>
              <a:t>天线的场景。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67544" y="119697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u="sng" dirty="0"/>
              <a:t>微带（</a:t>
            </a:r>
            <a:r>
              <a:rPr lang="zh-CN" altLang="en-US" u="sng" dirty="0">
                <a:solidFill>
                  <a:srgbClr val="FF0000"/>
                </a:solidFill>
              </a:rPr>
              <a:t>贴片</a:t>
            </a:r>
            <a:r>
              <a:rPr lang="zh-CN" altLang="en-US" u="sng" dirty="0"/>
              <a:t>）天线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11560" y="2708920"/>
            <a:ext cx="7704856" cy="208862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sz="4000" dirty="0">
                <a:solidFill>
                  <a:srgbClr val="008000"/>
                </a:solidFill>
              </a:rPr>
              <a:t>安装在由接地平面支撑的介电层（</a:t>
            </a:r>
            <a:r>
              <a:rPr lang="zh-CN" altLang="en-US" sz="4000" dirty="0">
                <a:solidFill>
                  <a:srgbClr val="FF0000"/>
                </a:solidFill>
              </a:rPr>
              <a:t>基板</a:t>
            </a:r>
            <a:r>
              <a:rPr lang="zh-CN" altLang="en-US" sz="4000" dirty="0">
                <a:solidFill>
                  <a:srgbClr val="008000"/>
                </a:solidFill>
              </a:rPr>
              <a:t>）上的</a:t>
            </a:r>
            <a:r>
              <a:rPr lang="zh-CN" altLang="en-US" sz="4000" dirty="0">
                <a:solidFill>
                  <a:srgbClr val="FF0000"/>
                </a:solidFill>
              </a:rPr>
              <a:t>金属条</a:t>
            </a:r>
            <a:r>
              <a:rPr lang="zh-CN" altLang="en-US" sz="4000" dirty="0">
                <a:solidFill>
                  <a:srgbClr val="008000"/>
                </a:solidFill>
              </a:rPr>
              <a:t>或</a:t>
            </a:r>
            <a:r>
              <a:rPr lang="zh-CN" altLang="en-US" sz="4000" dirty="0">
                <a:solidFill>
                  <a:srgbClr val="FF0000"/>
                </a:solidFill>
              </a:rPr>
              <a:t>贴片</a:t>
            </a:r>
            <a:r>
              <a:rPr lang="zh-CN" altLang="en-US" sz="4000" dirty="0">
                <a:solidFill>
                  <a:srgbClr val="008000"/>
                </a:solidFill>
              </a:rPr>
              <a:t>。</a:t>
            </a:r>
            <a:endParaRPr lang="en-US" altLang="zh-CN" sz="4000" dirty="0">
              <a:solidFill>
                <a:srgbClr val="008000"/>
              </a:solidFill>
            </a:endParaRPr>
          </a:p>
          <a:p>
            <a:pPr marL="0" indent="0">
              <a:buNone/>
            </a:pPr>
            <a:endParaRPr lang="zh-CN" altLang="en-US" sz="4000" dirty="0">
              <a:solidFill>
                <a:srgbClr val="008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869CCC-367A-414A-9641-8EB42BE6A490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641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接连接符 22"/>
          <p:cNvCxnSpPr/>
          <p:nvPr/>
        </p:nvCxnSpPr>
        <p:spPr>
          <a:xfrm flipV="1">
            <a:off x="899592" y="2348880"/>
            <a:ext cx="1872208" cy="3384376"/>
          </a:xfrm>
          <a:prstGeom prst="line">
            <a:avLst/>
          </a:prstGeom>
          <a:ln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771800" y="2420888"/>
            <a:ext cx="4392488" cy="0"/>
          </a:xfrm>
          <a:prstGeom prst="line">
            <a:avLst/>
          </a:prstGeom>
          <a:ln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707604"/>
            <a:ext cx="7219950" cy="445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67544" y="1052736"/>
            <a:ext cx="8229600" cy="634082"/>
          </a:xfrm>
          <a:prstGeom prst="rect">
            <a:avLst/>
          </a:prstGeom>
        </p:spPr>
        <p:txBody>
          <a:bodyPr/>
          <a:lstStyle/>
          <a:p>
            <a:r>
              <a:rPr lang="zh-CN" altLang="en-US" sz="3200" dirty="0"/>
              <a:t>矩形微带天线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08104" y="5805264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</a:rPr>
              <a:t>Fig. 14.1(a)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3995936" y="5445224"/>
            <a:ext cx="936104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707904" y="3429000"/>
            <a:ext cx="792088" cy="43204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827584" y="5805264"/>
            <a:ext cx="1440160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520402" y="1988840"/>
            <a:ext cx="4555654" cy="2304256"/>
            <a:chOff x="520402" y="1988840"/>
            <a:chExt cx="4555654" cy="2304256"/>
          </a:xfrm>
        </p:grpSpPr>
        <p:cxnSp>
          <p:nvCxnSpPr>
            <p:cNvPr id="9" name="直接箭头连接符 8"/>
            <p:cNvCxnSpPr/>
            <p:nvPr/>
          </p:nvCxnSpPr>
          <p:spPr>
            <a:xfrm flipH="1" flipV="1">
              <a:off x="2051720" y="1988840"/>
              <a:ext cx="2160240" cy="1008112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 flipH="1" flipV="1">
              <a:off x="1907704" y="2204864"/>
              <a:ext cx="3168352" cy="1584176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 flipH="1" flipV="1">
              <a:off x="1187624" y="2996952"/>
              <a:ext cx="2592288" cy="1296144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 flipH="1" flipV="1">
              <a:off x="1619672" y="2564904"/>
              <a:ext cx="1584176" cy="792088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520402" y="2021299"/>
              <a:ext cx="14401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dirty="0">
                  <a:latin typeface="Times New Roman" pitchFamily="18" charset="0"/>
                  <a:cs typeface="Times New Roman" pitchFamily="18" charset="0"/>
                </a:rPr>
                <a:t>辐射来自</a:t>
              </a:r>
              <a:endParaRPr lang="en-US" altLang="zh-CN" dirty="0">
                <a:latin typeface="Times New Roman" pitchFamily="18" charset="0"/>
                <a:cs typeface="Times New Roman" pitchFamily="18" charset="0"/>
              </a:endParaRPr>
            </a:p>
            <a:p>
              <a:pPr algn="just"/>
              <a:r>
                <a:rPr lang="zh-CN" altLang="en-US" dirty="0">
                  <a:latin typeface="Times New Roman" pitchFamily="18" charset="0"/>
                  <a:cs typeface="Times New Roman" pitchFamily="18" charset="0"/>
                </a:rPr>
                <a:t>边缘</a:t>
              </a:r>
            </a:p>
          </p:txBody>
        </p:sp>
      </p:grp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869CCC-367A-414A-9641-8EB42BE6A490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1927919" y="335699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馈线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565" y="3717032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源</a:t>
            </a: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1691680" y="3861048"/>
            <a:ext cx="0" cy="504056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94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67544" y="1196752"/>
            <a:ext cx="8229600" cy="562074"/>
          </a:xfrm>
          <a:prstGeom prst="rect">
            <a:avLst/>
          </a:prstGeom>
        </p:spPr>
        <p:txBody>
          <a:bodyPr/>
          <a:lstStyle/>
          <a:p>
            <a:r>
              <a:rPr lang="zh-CN" altLang="en-US" sz="3200" dirty="0"/>
              <a:t>侧视图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08104" y="4849996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</a:rPr>
              <a:t>Fig. 14.1(b)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348880"/>
            <a:ext cx="7185335" cy="2292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869CCC-367A-414A-9641-8EB42BE6A490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051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869CCC-367A-414A-9641-8EB42BE6A490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547664" y="1340768"/>
            <a:ext cx="6048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微带天线的辐射机理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1640" y="2348880"/>
            <a:ext cx="6768752" cy="3346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夹在贴片和地平面之间的电磁场的共振。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沿着微带天线</a:t>
            </a:r>
            <a:r>
              <a:rPr lang="zh-CN" alt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边缘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的电磁场产生辐射场。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方向图最大值垂直于贴片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所需的衬底具有高介电常数（用于减小天线尺寸）。然而，对于高介电常数材料，其损耗很大。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67544" y="1052736"/>
            <a:ext cx="8229600" cy="562074"/>
          </a:xfrm>
          <a:prstGeom prst="rect">
            <a:avLst/>
          </a:prstGeom>
        </p:spPr>
        <p:txBody>
          <a:bodyPr/>
          <a:lstStyle/>
          <a:p>
            <a:r>
              <a:rPr lang="zh-CN" altLang="en-US" sz="3200" dirty="0"/>
              <a:t>各种形状的贴片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59" y="1772815"/>
            <a:ext cx="7992889" cy="3300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779912" y="5282044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</a:rPr>
              <a:t>Fig. 14.2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869CCC-367A-414A-9641-8EB42BE6A490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766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11560" y="980728"/>
            <a:ext cx="8229600" cy="720080"/>
          </a:xfrm>
          <a:prstGeom prst="rect">
            <a:avLst/>
          </a:prstGeom>
        </p:spPr>
        <p:txBody>
          <a:bodyPr/>
          <a:lstStyle/>
          <a:p>
            <a:r>
              <a:rPr lang="zh-CN" altLang="en-US" sz="3200" dirty="0"/>
              <a:t>优点：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979712" y="2176264"/>
            <a:ext cx="5328592" cy="4205064"/>
          </a:xfrm>
          <a:prstGeom prst="rect">
            <a:avLst/>
          </a:prstGeom>
        </p:spPr>
        <p:txBody>
          <a:bodyPr/>
          <a:lstStyle/>
          <a:p>
            <a:pPr marL="514350" indent="-514350">
              <a:lnSpc>
                <a:spcPct val="110000"/>
              </a:lnSpc>
              <a:spcBef>
                <a:spcPts val="0"/>
              </a:spcBef>
              <a:buAutoNum type="arabicPeriod"/>
            </a:pPr>
            <a:r>
              <a:rPr lang="zh-CN" altLang="en-US" sz="2400" dirty="0"/>
              <a:t>低剖面</a:t>
            </a:r>
            <a:endParaRPr lang="en-US" altLang="zh-CN" sz="2400" dirty="0"/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AutoNum type="arabicPeriod"/>
            </a:pPr>
            <a:r>
              <a:rPr lang="zh-CN" altLang="en-US" sz="2400" dirty="0"/>
              <a:t>与非平面共形</a:t>
            </a:r>
            <a:endParaRPr lang="en-US" altLang="zh-CN" sz="2400" dirty="0"/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AutoNum type="arabicPeriod"/>
            </a:pPr>
            <a:r>
              <a:rPr lang="zh-CN" altLang="en-US" sz="2400" dirty="0"/>
              <a:t>简单且便宜</a:t>
            </a:r>
            <a:endParaRPr lang="en-US" altLang="zh-CN" sz="2400" dirty="0"/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AutoNum type="arabicPeriod"/>
            </a:pPr>
            <a:r>
              <a:rPr lang="zh-CN" altLang="en-US" sz="2400" dirty="0"/>
              <a:t>机械坚固</a:t>
            </a:r>
            <a:endParaRPr lang="en-US" altLang="zh-CN" sz="2400" dirty="0"/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AutoNum type="arabicPeriod"/>
            </a:pPr>
            <a:r>
              <a:rPr lang="zh-CN" altLang="en-US" sz="2400" dirty="0"/>
              <a:t>兼容</a:t>
            </a:r>
            <a:r>
              <a:rPr lang="en-US" altLang="zh-CN" sz="2400" dirty="0"/>
              <a:t>MMIC</a:t>
            </a:r>
            <a:r>
              <a:rPr lang="zh-CN" altLang="en-US" sz="2400" dirty="0"/>
              <a:t>设计</a:t>
            </a:r>
            <a:endParaRPr lang="en-US" altLang="zh-CN" sz="2400" dirty="0"/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AutoNum type="arabicPeriod"/>
            </a:pPr>
            <a:r>
              <a:rPr lang="zh-CN" altLang="en-US" sz="2400" dirty="0"/>
              <a:t>非常通用</a:t>
            </a:r>
            <a:endParaRPr lang="en-US" altLang="zh-CN" sz="24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dirty="0"/>
              <a:t>      a. </a:t>
            </a:r>
            <a:r>
              <a:rPr lang="zh-CN" altLang="en-US" sz="2400" dirty="0"/>
              <a:t>谐振频率</a:t>
            </a:r>
            <a:endParaRPr lang="en-US" altLang="zh-CN" sz="24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dirty="0"/>
              <a:t>      b. </a:t>
            </a:r>
            <a:r>
              <a:rPr lang="zh-CN" altLang="en-US" sz="2400" dirty="0"/>
              <a:t>极化</a:t>
            </a:r>
            <a:endParaRPr lang="en-US" altLang="zh-CN" sz="24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dirty="0"/>
              <a:t>      c. </a:t>
            </a:r>
            <a:r>
              <a:rPr lang="zh-CN" altLang="en-US" sz="2400" dirty="0"/>
              <a:t>图案</a:t>
            </a:r>
            <a:endParaRPr lang="en-US" altLang="zh-CN" sz="24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dirty="0"/>
              <a:t>      d. </a:t>
            </a:r>
            <a:r>
              <a:rPr lang="zh-CN" altLang="en-US" sz="2400" dirty="0"/>
              <a:t>阻抗</a:t>
            </a:r>
            <a:endParaRPr lang="en-US" altLang="zh-CN" sz="24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869CCC-367A-414A-9641-8EB42BE6A490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135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58824" y="989856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z="3200" dirty="0"/>
              <a:t>缺点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39552" y="1989510"/>
            <a:ext cx="8229600" cy="2735634"/>
          </a:xfrm>
          <a:prstGeom prst="rect">
            <a:avLst/>
          </a:prstGeom>
        </p:spPr>
        <p:txBody>
          <a:bodyPr/>
          <a:lstStyle/>
          <a:p>
            <a:pPr marL="514350" indent="-514350">
              <a:buAutoNum type="arabicPeriod"/>
            </a:pPr>
            <a:r>
              <a:rPr lang="zh-CN" altLang="en-US" sz="2400" dirty="0"/>
              <a:t>低功率，谐振、介质板有损耗</a:t>
            </a:r>
            <a:endParaRPr lang="en-US" altLang="zh-CN" sz="2400" dirty="0"/>
          </a:p>
          <a:p>
            <a:pPr marL="514350" indent="-514350">
              <a:buAutoNum type="arabicPeriod"/>
            </a:pPr>
            <a:r>
              <a:rPr lang="zh-CN" altLang="en-US" sz="2400" dirty="0"/>
              <a:t>带宽窄</a:t>
            </a:r>
            <a:endParaRPr lang="en-US" altLang="zh-CN" sz="2400" dirty="0"/>
          </a:p>
          <a:p>
            <a:pPr marL="514350" indent="-514350">
              <a:buAutoNum type="arabicPeriod"/>
            </a:pPr>
            <a:r>
              <a:rPr lang="zh-CN" altLang="en-US" sz="2400" dirty="0"/>
              <a:t>在大型阵列中，带宽和扫描空间之间有折衷</a:t>
            </a:r>
            <a:endParaRPr lang="en-US" altLang="zh-CN" sz="2400" dirty="0"/>
          </a:p>
          <a:p>
            <a:pPr marL="514350" indent="-514350">
              <a:buAutoNum type="arabicPeriod"/>
            </a:pPr>
            <a:r>
              <a:rPr lang="zh-CN" altLang="en-US" sz="2400" dirty="0"/>
              <a:t>在</a:t>
            </a:r>
            <a:r>
              <a:rPr lang="en-US" altLang="zh-CN" sz="2400" dirty="0"/>
              <a:t>VHF</a:t>
            </a:r>
            <a:r>
              <a:rPr lang="zh-CN" altLang="en-US" sz="2400" dirty="0"/>
              <a:t>，甚至</a:t>
            </a:r>
            <a:r>
              <a:rPr lang="en-US" altLang="zh-CN" sz="2400" dirty="0"/>
              <a:t>UHF</a:t>
            </a:r>
            <a:r>
              <a:rPr lang="zh-CN" altLang="en-US" sz="2400" dirty="0"/>
              <a:t>波段有较大的物理尺寸</a:t>
            </a:r>
            <a:endParaRPr lang="en-US" altLang="zh-CN" sz="2400" dirty="0"/>
          </a:p>
          <a:p>
            <a:pPr marL="514350" indent="-514350">
              <a:buAutoNum type="arabicPeriod"/>
            </a:pPr>
            <a:r>
              <a:rPr lang="zh-CN" altLang="en-US" sz="2400" dirty="0"/>
              <a:t>杂散馈电辐射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869CCC-367A-414A-9641-8EB42BE6A490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218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95536" y="1268760"/>
            <a:ext cx="8229600" cy="561305"/>
          </a:xfrm>
          <a:prstGeom prst="rect">
            <a:avLst/>
          </a:prstGeom>
        </p:spPr>
        <p:txBody>
          <a:bodyPr/>
          <a:lstStyle/>
          <a:p>
            <a:r>
              <a:rPr lang="zh-CN" altLang="en-US" sz="3200" dirty="0"/>
              <a:t>馈电方式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403648" y="2276872"/>
            <a:ext cx="6105872" cy="2448272"/>
          </a:xfrm>
          <a:prstGeom prst="rect">
            <a:avLst/>
          </a:prstGeom>
        </p:spPr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/>
              <a:t>微带线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探针</a:t>
            </a:r>
            <a:r>
              <a:rPr lang="en-US" altLang="zh-CN" dirty="0"/>
              <a:t> (</a:t>
            </a:r>
            <a:r>
              <a:rPr lang="zh-CN" altLang="en-US" dirty="0"/>
              <a:t>同轴电缆</a:t>
            </a:r>
            <a:r>
              <a:rPr lang="en-US" altLang="zh-CN" dirty="0"/>
              <a:t>,</a:t>
            </a:r>
            <a:r>
              <a:rPr lang="zh-CN" altLang="en-US" dirty="0"/>
              <a:t>同轴</a:t>
            </a:r>
            <a:r>
              <a:rPr lang="en-US" altLang="zh-CN" dirty="0"/>
              <a:t>)</a:t>
            </a:r>
          </a:p>
          <a:p>
            <a:pPr marL="514350" indent="-514350">
              <a:buAutoNum type="arabicPeriod"/>
            </a:pPr>
            <a:r>
              <a:rPr lang="zh-CN" altLang="en-US" dirty="0"/>
              <a:t>孔径耦合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临近耦合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869CCC-367A-414A-9641-8EB42BE6A490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863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23528" y="1052736"/>
            <a:ext cx="8229600" cy="638944"/>
          </a:xfrm>
          <a:prstGeom prst="rect">
            <a:avLst/>
          </a:prstGeom>
        </p:spPr>
        <p:txBody>
          <a:bodyPr/>
          <a:lstStyle/>
          <a:p>
            <a:r>
              <a:rPr lang="zh-CN" altLang="en-US" sz="3200" dirty="0"/>
              <a:t>微带馈线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916832"/>
            <a:ext cx="5256584" cy="315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156176" y="5039598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</a:rPr>
              <a:t>Fig. 14.3(a)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5865" y="242088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馈线</a:t>
            </a:r>
          </a:p>
        </p:txBody>
      </p:sp>
      <p:cxnSp>
        <p:nvCxnSpPr>
          <p:cNvPr id="8" name="直接箭头连接符 7"/>
          <p:cNvCxnSpPr>
            <a:stCxn id="6" idx="3"/>
          </p:cNvCxnSpPr>
          <p:nvPr/>
        </p:nvCxnSpPr>
        <p:spPr>
          <a:xfrm>
            <a:off x="1536084" y="2651721"/>
            <a:ext cx="1379732" cy="56125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899592" y="5863534"/>
            <a:ext cx="7488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随着衬底厚度的增加，</a:t>
            </a:r>
            <a:r>
              <a:rPr lang="zh-CN" altLang="en-US" sz="2400" dirty="0">
                <a:solidFill>
                  <a:srgbClr val="FF0000"/>
                </a:solidFill>
              </a:rPr>
              <a:t>表面波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FF0000"/>
                </a:solidFill>
              </a:rPr>
              <a:t>杂散馈电辐射</a:t>
            </a:r>
            <a:r>
              <a:rPr lang="zh-CN" altLang="en-US" sz="2400" dirty="0"/>
              <a:t>增加</a:t>
            </a:r>
            <a:endParaRPr lang="en-US" altLang="zh-CN" sz="2400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869CCC-367A-414A-9641-8EB42BE6A490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651313" y="3212976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源</a:t>
            </a: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2463427" y="3356992"/>
            <a:ext cx="0" cy="504056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035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916832"/>
            <a:ext cx="3960440" cy="3826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95536" y="989856"/>
            <a:ext cx="8229600" cy="566936"/>
          </a:xfrm>
          <a:prstGeom prst="rect">
            <a:avLst/>
          </a:prstGeom>
        </p:spPr>
        <p:txBody>
          <a:bodyPr/>
          <a:lstStyle/>
          <a:p>
            <a:r>
              <a:rPr lang="zh-CN" altLang="en-US" sz="3200" dirty="0"/>
              <a:t>同轴馈线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16216" y="5543654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</a:rPr>
              <a:t>Fig. 14.3(b)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91680" y="6021288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低杂散馈电辐射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869CCC-367A-414A-9641-8EB42BE6A490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115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5408" y="2780928"/>
            <a:ext cx="5328592" cy="2580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02840" y="1138734"/>
            <a:ext cx="8229600" cy="562074"/>
          </a:xfrm>
          <a:prstGeom prst="rect">
            <a:avLst/>
          </a:prstGeom>
        </p:spPr>
        <p:txBody>
          <a:bodyPr/>
          <a:lstStyle/>
          <a:p>
            <a:r>
              <a:rPr lang="zh-CN" altLang="en-US" sz="3200" dirty="0"/>
              <a:t>孔径耦合馈电</a:t>
            </a:r>
          </a:p>
        </p:txBody>
      </p:sp>
      <p:sp>
        <p:nvSpPr>
          <p:cNvPr id="6" name="矩形 5"/>
          <p:cNvSpPr/>
          <p:nvPr/>
        </p:nvSpPr>
        <p:spPr>
          <a:xfrm>
            <a:off x="179512" y="1785590"/>
            <a:ext cx="8964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微带馈线和探针都具有固有的不对称性，从而产生产生交叉极化辐射的高阶模式。为了克服其中的一些问题，使用了非接触式馈电。</a:t>
            </a:r>
            <a:endParaRPr lang="en-US" altLang="zh-CN" sz="2000" dirty="0"/>
          </a:p>
        </p:txBody>
      </p:sp>
      <p:pic>
        <p:nvPicPr>
          <p:cNvPr id="206850" name="Picture 2" descr="http://www.antenna-theory.com/antennas/patches/patch8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2784326"/>
            <a:ext cx="4371975" cy="2228850"/>
          </a:xfrm>
          <a:prstGeom prst="rect">
            <a:avLst/>
          </a:prstGeom>
          <a:noFill/>
        </p:spPr>
      </p:pic>
      <p:cxnSp>
        <p:nvCxnSpPr>
          <p:cNvPr id="8" name="直接连接符 7"/>
          <p:cNvCxnSpPr/>
          <p:nvPr/>
        </p:nvCxnSpPr>
        <p:spPr>
          <a:xfrm>
            <a:off x="971600" y="4581128"/>
            <a:ext cx="2592288" cy="0"/>
          </a:xfrm>
          <a:prstGeom prst="line">
            <a:avLst/>
          </a:prstGeom>
          <a:ln w="190500"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869CCC-367A-414A-9641-8EB42BE6A490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6473" y="4365104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source</a:t>
            </a:r>
            <a:endParaRPr lang="zh-CN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1043608" y="4077072"/>
            <a:ext cx="0" cy="360040"/>
          </a:xfrm>
          <a:prstGeom prst="straightConnector1">
            <a:avLst/>
          </a:prstGeom>
          <a:ln>
            <a:solidFill>
              <a:srgbClr val="FFFF00"/>
            </a:solidFill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539552" y="4293096"/>
            <a:ext cx="432048" cy="216024"/>
          </a:xfrm>
          <a:prstGeom prst="straightConnector1">
            <a:avLst/>
          </a:prstGeom>
          <a:ln w="3175"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4427984" y="551723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008000"/>
                </a:solidFill>
              </a:rPr>
              <a:t>通常，底部基板使用高介电材料，顶部基板使用厚且低介电常数</a:t>
            </a:r>
            <a:endParaRPr lang="en-US" altLang="zh-CN" dirty="0">
              <a:solidFill>
                <a:srgbClr val="008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D2706D-3961-4275-8A85-4FB71CB34A46}"/>
              </a:ext>
            </a:extLst>
          </p:cNvPr>
          <p:cNvSpPr/>
          <p:nvPr/>
        </p:nvSpPr>
        <p:spPr>
          <a:xfrm>
            <a:off x="179512" y="5517232"/>
            <a:ext cx="38244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8000"/>
                </a:solidFill>
              </a:rPr>
              <a:t>基板之间的接地平面将馈电与辐射元件隔离并最大限度地减少干扰</a:t>
            </a:r>
            <a:endParaRPr lang="en-US" altLang="zh-CN" dirty="0">
              <a:solidFill>
                <a:srgbClr val="008000"/>
              </a:solidFill>
            </a:endParaRPr>
          </a:p>
          <a:p>
            <a:endParaRPr lang="en-US" altLang="zh-CN" dirty="0">
              <a:solidFill>
                <a:srgbClr val="008000"/>
              </a:solidFill>
            </a:endParaRPr>
          </a:p>
          <a:p>
            <a:r>
              <a:rPr lang="zh-CN" altLang="en-US" dirty="0">
                <a:solidFill>
                  <a:srgbClr val="008000"/>
                </a:solidFill>
              </a:rPr>
              <a:t>馈电和辐射元件独立优化</a:t>
            </a:r>
          </a:p>
        </p:txBody>
      </p:sp>
    </p:spTree>
    <p:extLst>
      <p:ext uri="{BB962C8B-B14F-4D97-AF65-F5344CB8AC3E}">
        <p14:creationId xmlns:p14="http://schemas.microsoft.com/office/powerpoint/2010/main" val="2787200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988840"/>
            <a:ext cx="8347892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539552" y="1052736"/>
            <a:ext cx="8229600" cy="706090"/>
          </a:xfrm>
          <a:prstGeom prst="rect">
            <a:avLst/>
          </a:prstGeom>
        </p:spPr>
        <p:txBody>
          <a:bodyPr/>
          <a:lstStyle/>
          <a:p>
            <a:r>
              <a:rPr lang="zh-CN" altLang="en-US" sz="3200" dirty="0"/>
              <a:t>接近耦合馈电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16216" y="5373216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</a:rPr>
              <a:t>Fig. 14.3(d)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869CCC-367A-414A-9641-8EB42BE6A490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15816" y="6021288"/>
            <a:ext cx="30243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zh-CN" altLang="en-US" sz="2400" dirty="0">
                <a:solidFill>
                  <a:srgbClr val="008000"/>
                </a:solidFill>
              </a:rPr>
              <a:t>最大带宽</a:t>
            </a:r>
            <a:r>
              <a:rPr lang="zh-CN" altLang="en-US" sz="2400" dirty="0">
                <a:solidFill>
                  <a:srgbClr val="0000CC"/>
                </a:solidFill>
              </a:rPr>
              <a:t>（高达</a:t>
            </a:r>
            <a:r>
              <a:rPr lang="en-US" altLang="zh-CN" sz="2400" dirty="0">
                <a:solidFill>
                  <a:srgbClr val="0000CC"/>
                </a:solidFill>
              </a:rPr>
              <a:t>13%</a:t>
            </a:r>
            <a:r>
              <a:rPr lang="zh-CN" altLang="en-US" sz="2400" dirty="0">
                <a:solidFill>
                  <a:srgbClr val="0000CC"/>
                </a:solidFill>
              </a:rPr>
              <a:t>）</a:t>
            </a:r>
            <a:endParaRPr lang="en-US" altLang="zh-CN" sz="24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146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10620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u="sng" dirty="0">
                <a:solidFill>
                  <a:srgbClr val="C00000"/>
                </a:solidFill>
              </a:rPr>
              <a:t>等效电路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778831"/>
            <a:ext cx="6241542" cy="4962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851920" y="6168492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</a:rPr>
              <a:t>Fig. 14.4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869CCC-367A-414A-9641-8EB42BE6A490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718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995363"/>
            <a:ext cx="8229600" cy="1209675"/>
          </a:xfrm>
          <a:prstGeom prst="rect">
            <a:avLst/>
          </a:prstGeom>
        </p:spPr>
        <p:txBody>
          <a:bodyPr/>
          <a:lstStyle/>
          <a:p>
            <a:r>
              <a:rPr lang="zh-CN" altLang="en-US" sz="4000" u="sng" dirty="0">
                <a:solidFill>
                  <a:srgbClr val="C00000"/>
                </a:solidFill>
              </a:rPr>
              <a:t>分析方法</a:t>
            </a:r>
            <a:endParaRPr lang="zh-CN" altLang="en-US" sz="4000" dirty="0">
              <a:solidFill>
                <a:srgbClr val="0000CC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583258" y="1773238"/>
            <a:ext cx="6661150" cy="4608512"/>
          </a:xfrm>
          <a:prstGeom prst="rect">
            <a:avLst/>
          </a:prstGeom>
        </p:spPr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>
                <a:solidFill>
                  <a:srgbClr val="008000"/>
                </a:solidFill>
              </a:rPr>
              <a:t>传输线模型</a:t>
            </a:r>
            <a:endParaRPr lang="en-US" altLang="zh-CN" dirty="0">
              <a:solidFill>
                <a:srgbClr val="008000"/>
              </a:solidFill>
            </a:endParaRPr>
          </a:p>
          <a:p>
            <a:pPr marL="514350" indent="-514350">
              <a:buAutoNum type="arabicPeriod"/>
            </a:pPr>
            <a:r>
              <a:rPr lang="zh-CN" altLang="en-US" dirty="0">
                <a:solidFill>
                  <a:srgbClr val="008000"/>
                </a:solidFill>
              </a:rPr>
              <a:t>腔体模型</a:t>
            </a:r>
            <a:endParaRPr lang="en-US" altLang="zh-CN" dirty="0">
              <a:solidFill>
                <a:srgbClr val="008000"/>
              </a:solidFill>
            </a:endParaRPr>
          </a:p>
          <a:p>
            <a:pPr marL="514350" indent="-514350">
              <a:buAutoNum type="arabicPeriod"/>
            </a:pPr>
            <a:r>
              <a:rPr lang="zh-CN" altLang="en-US" dirty="0">
                <a:solidFill>
                  <a:srgbClr val="008000"/>
                </a:solidFill>
              </a:rPr>
              <a:t>全波模型</a:t>
            </a:r>
            <a:endParaRPr lang="en-US" altLang="zh-CN" dirty="0">
              <a:solidFill>
                <a:srgbClr val="00800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8000"/>
                </a:solidFill>
              </a:rPr>
              <a:t>    a.</a:t>
            </a:r>
            <a:r>
              <a:rPr lang="zh-CN" altLang="en-US" dirty="0">
                <a:solidFill>
                  <a:srgbClr val="008000"/>
                </a:solidFill>
              </a:rPr>
              <a:t>积分方程（</a:t>
            </a:r>
            <a:r>
              <a:rPr lang="en-US" altLang="zh-CN" dirty="0">
                <a:solidFill>
                  <a:srgbClr val="008000"/>
                </a:solidFill>
              </a:rPr>
              <a:t>MoM</a:t>
            </a:r>
            <a:r>
              <a:rPr lang="zh-CN" altLang="en-US" dirty="0">
                <a:solidFill>
                  <a:srgbClr val="008000"/>
                </a:solidFill>
              </a:rPr>
              <a:t>）</a:t>
            </a:r>
            <a:endParaRPr lang="en-US" altLang="zh-CN" dirty="0">
              <a:solidFill>
                <a:srgbClr val="00800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8000"/>
                </a:solidFill>
              </a:rPr>
              <a:t>    b.</a:t>
            </a:r>
            <a:r>
              <a:rPr lang="zh-CN" altLang="en-US" dirty="0">
                <a:solidFill>
                  <a:srgbClr val="008000"/>
                </a:solidFill>
              </a:rPr>
              <a:t>模态</a:t>
            </a:r>
            <a:endParaRPr lang="en-US" altLang="zh-CN" dirty="0">
              <a:solidFill>
                <a:srgbClr val="00800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8000"/>
                </a:solidFill>
              </a:rPr>
              <a:t>    c.</a:t>
            </a:r>
            <a:r>
              <a:rPr lang="zh-CN" altLang="en-US" dirty="0">
                <a:solidFill>
                  <a:srgbClr val="008000"/>
                </a:solidFill>
              </a:rPr>
              <a:t>时域有限差分</a:t>
            </a:r>
            <a:endParaRPr lang="en-US" altLang="zh-CN" dirty="0">
              <a:solidFill>
                <a:srgbClr val="00800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8000"/>
                </a:solidFill>
              </a:rPr>
              <a:t>    d.</a:t>
            </a:r>
            <a:r>
              <a:rPr lang="zh-CN" altLang="en-US" dirty="0">
                <a:solidFill>
                  <a:srgbClr val="008000"/>
                </a:solidFill>
              </a:rPr>
              <a:t>有限元法</a:t>
            </a:r>
            <a:endParaRPr lang="en-US" altLang="zh-CN" dirty="0">
              <a:solidFill>
                <a:srgbClr val="00800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8000"/>
                </a:solidFill>
              </a:rPr>
              <a:t>    e.</a:t>
            </a:r>
            <a:r>
              <a:rPr lang="zh-CN" altLang="en-US" dirty="0">
                <a:solidFill>
                  <a:srgbClr val="008000"/>
                </a:solidFill>
              </a:rPr>
              <a:t>其他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869CCC-367A-414A-9641-8EB42BE6A490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892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74848" y="995363"/>
            <a:ext cx="8229600" cy="993477"/>
          </a:xfrm>
          <a:prstGeom prst="rect">
            <a:avLst/>
          </a:prstGeom>
        </p:spPr>
        <p:txBody>
          <a:bodyPr/>
          <a:lstStyle/>
          <a:p>
            <a:r>
              <a:rPr lang="zh-CN" altLang="en-US" sz="5400" dirty="0">
                <a:solidFill>
                  <a:srgbClr val="0000CC"/>
                </a:solidFill>
              </a:rPr>
              <a:t>传输线和腔体法</a:t>
            </a:r>
            <a:endParaRPr lang="zh-CN" altLang="en-US" sz="5400" u="sng" dirty="0">
              <a:solidFill>
                <a:srgbClr val="0000CC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979712" y="2747863"/>
            <a:ext cx="5508104" cy="2553345"/>
          </a:xfrm>
          <a:prstGeom prst="rect">
            <a:avLst/>
          </a:prstGeom>
        </p:spPr>
        <p:txBody>
          <a:bodyPr/>
          <a:lstStyle/>
          <a:p>
            <a:pPr marL="514350" indent="-514350">
              <a:buAutoNum type="arabicPeriod"/>
            </a:pPr>
            <a:r>
              <a:rPr lang="zh-CN" altLang="en-US" sz="4400" dirty="0">
                <a:solidFill>
                  <a:srgbClr val="008000"/>
                </a:solidFill>
              </a:rPr>
              <a:t>最简单的</a:t>
            </a:r>
            <a:endParaRPr lang="en-US" altLang="zh-CN" sz="4400" dirty="0">
              <a:solidFill>
                <a:srgbClr val="008000"/>
              </a:solidFill>
            </a:endParaRPr>
          </a:p>
          <a:p>
            <a:pPr marL="514350" indent="-514350">
              <a:buAutoNum type="arabicPeriod"/>
            </a:pPr>
            <a:r>
              <a:rPr lang="zh-CN" altLang="en-US" sz="4400" dirty="0">
                <a:solidFill>
                  <a:srgbClr val="008000"/>
                </a:solidFill>
              </a:rPr>
              <a:t>具有物理可解释性</a:t>
            </a:r>
            <a:endParaRPr lang="en-US" altLang="zh-CN" sz="4400" dirty="0">
              <a:solidFill>
                <a:srgbClr val="008000"/>
              </a:solidFill>
            </a:endParaRPr>
          </a:p>
          <a:p>
            <a:pPr marL="514350" indent="-514350">
              <a:buAutoNum type="arabicPeriod"/>
            </a:pPr>
            <a:r>
              <a:rPr lang="zh-CN" altLang="en-US" sz="4400" dirty="0">
                <a:solidFill>
                  <a:srgbClr val="008000"/>
                </a:solidFill>
              </a:rPr>
              <a:t>不太准确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869CCC-367A-414A-9641-8EB42BE6A490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497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91757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z="4800" u="sng" dirty="0">
                <a:solidFill>
                  <a:srgbClr val="0000CC"/>
                </a:solidFill>
              </a:rPr>
              <a:t>全波模型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90872" y="2104256"/>
            <a:ext cx="8229600" cy="3412976"/>
          </a:xfrm>
          <a:prstGeom prst="rect">
            <a:avLst/>
          </a:prstGeom>
        </p:spPr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>
                <a:solidFill>
                  <a:srgbClr val="008000"/>
                </a:solidFill>
              </a:rPr>
              <a:t>非常复杂</a:t>
            </a:r>
            <a:endParaRPr lang="en-US" altLang="zh-CN" dirty="0">
              <a:solidFill>
                <a:srgbClr val="008000"/>
              </a:solidFill>
            </a:endParaRPr>
          </a:p>
          <a:p>
            <a:pPr marL="514350" indent="-514350">
              <a:buAutoNum type="arabicPeriod"/>
            </a:pPr>
            <a:r>
              <a:rPr lang="zh-CN" altLang="en-US" dirty="0">
                <a:solidFill>
                  <a:srgbClr val="008000"/>
                </a:solidFill>
              </a:rPr>
              <a:t>非常准确</a:t>
            </a:r>
            <a:endParaRPr lang="en-US" altLang="zh-CN" dirty="0">
              <a:solidFill>
                <a:srgbClr val="008000"/>
              </a:solidFill>
            </a:endParaRPr>
          </a:p>
          <a:p>
            <a:pPr marL="514350" indent="-514350">
              <a:buAutoNum type="arabicPeriod"/>
            </a:pPr>
            <a:r>
              <a:rPr lang="zh-CN" altLang="en-US" dirty="0">
                <a:solidFill>
                  <a:srgbClr val="008000"/>
                </a:solidFill>
              </a:rPr>
              <a:t>非常通用（</a:t>
            </a:r>
            <a:r>
              <a:rPr lang="zh-CN" altLang="en-US" dirty="0">
                <a:solidFill>
                  <a:srgbClr val="C00000"/>
                </a:solidFill>
              </a:rPr>
              <a:t>单元素、有限阵列、无限阵列、堆叠元素、任意形状元素、耦合等</a:t>
            </a:r>
            <a:r>
              <a:rPr lang="zh-CN" altLang="en-US" dirty="0">
                <a:solidFill>
                  <a:srgbClr val="008000"/>
                </a:solidFill>
              </a:rPr>
              <a:t>）</a:t>
            </a:r>
            <a:endParaRPr lang="en-US" altLang="zh-CN" dirty="0">
              <a:solidFill>
                <a:srgbClr val="C00000"/>
              </a:solidFill>
            </a:endParaRPr>
          </a:p>
          <a:p>
            <a:pPr marL="514350" indent="-514350">
              <a:buAutoNum type="arabicPeriod"/>
            </a:pPr>
            <a:r>
              <a:rPr lang="zh-CN" altLang="en-US" dirty="0">
                <a:solidFill>
                  <a:srgbClr val="008000"/>
                </a:solidFill>
              </a:rPr>
              <a:t>较少的物理可解释性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869CCC-367A-414A-9641-8EB42BE6A490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26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259632" y="2420888"/>
            <a:ext cx="66967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latin typeface="Times New Roman" pitchFamily="18" charset="0"/>
                <a:cs typeface="Times New Roman" pitchFamily="18" charset="0"/>
              </a:rPr>
              <a:t>矩形贴片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043608" y="1124744"/>
            <a:ext cx="7272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矩形面片的几何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420888"/>
            <a:ext cx="5544616" cy="3323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 idx="4294967295"/>
          </p:nvPr>
        </p:nvSpPr>
        <p:spPr>
          <a:xfrm>
            <a:off x="472008" y="1125538"/>
            <a:ext cx="7772400" cy="1295350"/>
          </a:xfrm>
          <a:prstGeom prst="rect">
            <a:avLst/>
          </a:prstGeom>
        </p:spPr>
        <p:txBody>
          <a:bodyPr/>
          <a:lstStyle/>
          <a:p>
            <a:r>
              <a:rPr lang="zh-CN" altLang="en-US" sz="3200" dirty="0"/>
              <a:t>矩形贴片天线</a:t>
            </a:r>
            <a:br>
              <a:rPr lang="en-US" altLang="zh-CN" sz="3200" dirty="0"/>
            </a:br>
            <a:r>
              <a:rPr lang="zh-CN" altLang="en-US" sz="3200" dirty="0"/>
              <a:t>传输线模型</a:t>
            </a: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008" y="3501008"/>
            <a:ext cx="8455307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1" name="直接连接符 10"/>
          <p:cNvCxnSpPr/>
          <p:nvPr/>
        </p:nvCxnSpPr>
        <p:spPr>
          <a:xfrm>
            <a:off x="6588224" y="3933056"/>
            <a:ext cx="1656184" cy="0"/>
          </a:xfrm>
          <a:prstGeom prst="line">
            <a:avLst/>
          </a:prstGeom>
          <a:ln w="165100"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588224" y="5733256"/>
            <a:ext cx="1656184" cy="0"/>
          </a:xfrm>
          <a:prstGeom prst="line">
            <a:avLst/>
          </a:prstGeom>
          <a:ln w="165100"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8224" y="2924944"/>
            <a:ext cx="1891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Transmission line of the length 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L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and width 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W</a:t>
            </a:r>
            <a:endParaRPr lang="zh-CN" altLang="en-US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60032" y="5157192"/>
            <a:ext cx="883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feed</a:t>
            </a: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肘形连接符 15"/>
          <p:cNvCxnSpPr/>
          <p:nvPr/>
        </p:nvCxnSpPr>
        <p:spPr>
          <a:xfrm flipV="1">
            <a:off x="5292080" y="4653136"/>
            <a:ext cx="504056" cy="432048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04127" y="4005064"/>
            <a:ext cx="883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Feed line</a:t>
            </a: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230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351112"/>
            <a:ext cx="7634695" cy="4102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518864" y="990600"/>
            <a:ext cx="8229600" cy="566738"/>
          </a:xfrm>
          <a:prstGeom prst="rect">
            <a:avLst/>
          </a:prstGeom>
        </p:spPr>
        <p:txBody>
          <a:bodyPr/>
          <a:lstStyle/>
          <a:p>
            <a:r>
              <a:rPr lang="zh-CN" altLang="en-US" sz="3200" dirty="0"/>
              <a:t>边缘效应与有效介电常数</a:t>
            </a:r>
            <a:endParaRPr lang="zh-CN" altLang="en-US" sz="3200" u="sng" dirty="0"/>
          </a:p>
        </p:txBody>
      </p:sp>
      <p:sp>
        <p:nvSpPr>
          <p:cNvPr id="5" name="矩形 4"/>
          <p:cNvSpPr/>
          <p:nvPr/>
        </p:nvSpPr>
        <p:spPr>
          <a:xfrm>
            <a:off x="5974853" y="4811826"/>
            <a:ext cx="271194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对于微带天线而言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&gt;&gt; 1,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电场线主要集中在衬底中。边缘减少</a:t>
            </a:r>
          </a:p>
        </p:txBody>
      </p:sp>
      <p:sp>
        <p:nvSpPr>
          <p:cNvPr id="6" name="椭圆 5"/>
          <p:cNvSpPr/>
          <p:nvPr/>
        </p:nvSpPr>
        <p:spPr bwMode="auto">
          <a:xfrm>
            <a:off x="6660232" y="2780928"/>
            <a:ext cx="576064" cy="43204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5364088" y="2780928"/>
            <a:ext cx="576064" cy="43204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26372" y="191683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边缘区域</a:t>
            </a:r>
          </a:p>
        </p:txBody>
      </p:sp>
      <p:cxnSp>
        <p:nvCxnSpPr>
          <p:cNvPr id="10" name="直接箭头连接符 9"/>
          <p:cNvCxnSpPr>
            <a:stCxn id="8" idx="2"/>
            <a:endCxn id="7" idx="0"/>
          </p:cNvCxnSpPr>
          <p:nvPr/>
        </p:nvCxnSpPr>
        <p:spPr>
          <a:xfrm flipH="1">
            <a:off x="5652120" y="2378497"/>
            <a:ext cx="582138" cy="40243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8" idx="2"/>
            <a:endCxn id="6" idx="0"/>
          </p:cNvCxnSpPr>
          <p:nvPr/>
        </p:nvCxnSpPr>
        <p:spPr>
          <a:xfrm>
            <a:off x="6234258" y="2378497"/>
            <a:ext cx="714006" cy="40243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23</a:t>
            </a:fld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7552159" y="2492896"/>
            <a:ext cx="417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l-GR" altLang="zh-C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5624" y="3068960"/>
            <a:ext cx="314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l-GR" altLang="zh-C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ε</a:t>
            </a:r>
            <a:endParaRPr lang="en-US" altLang="zh-CN" sz="2400" baseline="-25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4960" y="5127575"/>
            <a:ext cx="14024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l-GR" altLang="zh-CN" sz="2400" dirty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l-GR" altLang="zh-CN" sz="2400" dirty="0">
                <a:latin typeface="Times New Roman" pitchFamily="18" charset="0"/>
                <a:cs typeface="Times New Roman" pitchFamily="18" charset="0"/>
              </a:rPr>
              <a:t> ε</a:t>
            </a:r>
            <a:r>
              <a:rPr lang="en-US" altLang="zh-CN" sz="2400" baseline="-25000" dirty="0" err="1">
                <a:latin typeface="Times New Roman" pitchFamily="18" charset="0"/>
                <a:cs typeface="Times New Roman" pitchFamily="18" charset="0"/>
              </a:rPr>
              <a:t>eff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l-GR" altLang="zh-CN" sz="2400" dirty="0">
                <a:latin typeface="Times New Roman" pitchFamily="18" charset="0"/>
                <a:cs typeface="Times New Roman" pitchFamily="18" charset="0"/>
              </a:rPr>
              <a:t> ε</a:t>
            </a:r>
            <a:endParaRPr lang="en-US" altLang="zh-CN" sz="2400" baseline="-25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1308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idx="4294967295"/>
          </p:nvPr>
        </p:nvSpPr>
        <p:spPr>
          <a:xfrm>
            <a:off x="446856" y="908050"/>
            <a:ext cx="8229600" cy="1714500"/>
          </a:xfrm>
          <a:prstGeom prst="rect">
            <a:avLst/>
          </a:prstGeom>
        </p:spPr>
        <p:txBody>
          <a:bodyPr/>
          <a:lstStyle/>
          <a:p>
            <a:r>
              <a:rPr lang="zh-CN" altLang="en-US" sz="5400" dirty="0"/>
              <a:t>有效相对介电常数</a:t>
            </a:r>
            <a:br>
              <a:rPr lang="en-US" altLang="zh-CN" sz="5400" dirty="0"/>
            </a:br>
            <a:r>
              <a:rPr lang="zh-CN" altLang="en-US" sz="5400" dirty="0"/>
              <a:t>在低频处恒定</a:t>
            </a:r>
            <a:endParaRPr lang="zh-CN" altLang="en-US" sz="5400" u="sng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580" y="2636912"/>
            <a:ext cx="7818844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3602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997115"/>
            <a:ext cx="6336704" cy="4600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940152" y="6093296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</a:rPr>
              <a:t>Fig. 14.6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1085835"/>
            <a:ext cx="7272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有效相对介电常数是频率的函数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zh-CN" altLang="en-US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色散</a:t>
            </a:r>
            <a:r>
              <a:rPr lang="en-US" altLang="zh-CN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zh-CN" altLang="en-US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色散</a:t>
            </a:r>
            <a:r>
              <a:rPr lang="en-US" altLang="zh-CN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zh-CN" alt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586263" y="2644170"/>
            <a:ext cx="25202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@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高频时，更多的电线集中在衬底中，这导致更大的</a:t>
            </a:r>
            <a:r>
              <a:rPr lang="el-GR" altLang="zh-CN" sz="2400" dirty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altLang="zh-CN" sz="2400" baseline="-25000" dirty="0" err="1">
                <a:latin typeface="Times New Roman" pitchFamily="18" charset="0"/>
                <a:cs typeface="Times New Roman" pitchFamily="18" charset="0"/>
              </a:rPr>
              <a:t>reff</a:t>
            </a:r>
            <a:endParaRPr lang="zh-CN" altLang="en-US" sz="2400" baseline="-25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6574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2381" b="49264"/>
          <a:stretch>
            <a:fillRect/>
          </a:stretch>
        </p:blipFill>
        <p:spPr bwMode="auto">
          <a:xfrm>
            <a:off x="4139952" y="4149080"/>
            <a:ext cx="4896544" cy="1665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636912"/>
            <a:ext cx="4464496" cy="360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940152" y="6093296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</a:rPr>
              <a:t>Fig. 14.7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766039"/>
            <a:ext cx="8712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由于边缘效应，微带天线的贴片在电学上看起来比其物理尺寸大</a:t>
            </a:r>
            <a:endParaRPr lang="zh-CN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95736" y="1052736"/>
            <a:ext cx="5112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有效长度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4817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31640" y="1124744"/>
            <a:ext cx="6552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谐振频率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536" y="1700808"/>
            <a:ext cx="8388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为了计算其谐振频率，贴片近似于长度为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的开路传输线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2052348"/>
              </p:ext>
            </p:extLst>
          </p:nvPr>
        </p:nvGraphicFramePr>
        <p:xfrm>
          <a:off x="3075372" y="2552044"/>
          <a:ext cx="248920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823" name="Equation" r:id="rId3" imgW="1117440" imgH="228600" progId="Equation.DSMT4">
                  <p:embed/>
                </p:oleObj>
              </mc:Choice>
              <mc:Fallback>
                <p:oleObj name="Equation" r:id="rId3" imgW="1117440" imgH="2286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5372" y="2552044"/>
                        <a:ext cx="2489200" cy="509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18" name="Object 2"/>
          <p:cNvGraphicFramePr>
            <a:graphicFrameLocks noChangeAspect="1"/>
          </p:cNvGraphicFramePr>
          <p:nvPr/>
        </p:nvGraphicFramePr>
        <p:xfrm>
          <a:off x="2425700" y="3351213"/>
          <a:ext cx="308292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824" name="Equation" r:id="rId5" imgW="1384200" imgH="228600" progId="Equation.DSMT4">
                  <p:embed/>
                </p:oleObj>
              </mc:Choice>
              <mc:Fallback>
                <p:oleObj name="Equation" r:id="rId5" imgW="1384200" imgH="2286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3351213"/>
                        <a:ext cx="3082925" cy="509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1" descr="C:\Users\admin\Desktop\图片1.png"/>
          <p:cNvPicPr>
            <a:picLocks noChangeAspect="1" noChangeArrowheads="1"/>
          </p:cNvPicPr>
          <p:nvPr/>
        </p:nvPicPr>
        <p:blipFill>
          <a:blip r:embed="rId7" cstate="print"/>
          <a:srcRect l="25982" t="17849" r="8251" b="65351"/>
          <a:stretch>
            <a:fillRect/>
          </a:stretch>
        </p:blipFill>
        <p:spPr bwMode="auto">
          <a:xfrm>
            <a:off x="1619672" y="4149080"/>
            <a:ext cx="5832648" cy="1152128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1475656" y="5589240"/>
            <a:ext cx="56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010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指的是基本模式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TM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010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9552" y="3356992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For resonance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2919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700808"/>
            <a:ext cx="4878704" cy="1069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46856" y="1052785"/>
            <a:ext cx="8229600" cy="561657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008000"/>
                </a:solidFill>
              </a:rPr>
              <a:t>无边缘效应的谐振频率由下式给出</a:t>
            </a:r>
            <a:endParaRPr lang="en-US" altLang="zh-CN" dirty="0">
              <a:solidFill>
                <a:srgbClr val="008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8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8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008000"/>
                </a:solidFill>
              </a:rPr>
              <a:t>由于边缘，辐射边缘之间的有效距离比</a:t>
            </a:r>
            <a:r>
              <a:rPr lang="en-US" altLang="zh-CN" i="1" dirty="0">
                <a:solidFill>
                  <a:srgbClr val="C00000"/>
                </a:solidFill>
              </a:rPr>
              <a:t>L</a:t>
            </a:r>
            <a:r>
              <a:rPr lang="zh-CN" altLang="en-US" dirty="0">
                <a:solidFill>
                  <a:srgbClr val="008000"/>
                </a:solidFill>
              </a:rPr>
              <a:t>在每个边上要长     </a:t>
            </a:r>
            <a:r>
              <a:rPr lang="en-US" altLang="zh-CN" dirty="0">
                <a:solidFill>
                  <a:srgbClr val="008000"/>
                </a:solidFill>
              </a:rPr>
              <a:t>.</a:t>
            </a:r>
            <a:r>
              <a:rPr lang="zh-CN" altLang="en-US" dirty="0">
                <a:solidFill>
                  <a:srgbClr val="008000"/>
                </a:solidFill>
              </a:rPr>
              <a:t>这导致实际谐振频率略微降低一个因子</a:t>
            </a:r>
            <a:r>
              <a:rPr lang="en-US" altLang="zh-CN" dirty="0">
                <a:solidFill>
                  <a:srgbClr val="008000"/>
                </a:solidFill>
              </a:rPr>
              <a:t>. </a:t>
            </a:r>
            <a:r>
              <a:rPr lang="zh-CN" altLang="en-US" dirty="0">
                <a:solidFill>
                  <a:srgbClr val="008000"/>
                </a:solidFill>
              </a:rPr>
              <a:t>因此</a:t>
            </a:r>
            <a:endParaRPr lang="en-US" altLang="zh-CN" dirty="0">
              <a:solidFill>
                <a:srgbClr val="00800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8000"/>
                </a:solidFill>
              </a:rPr>
              <a:t> </a:t>
            </a:r>
          </a:p>
          <a:p>
            <a:pPr marL="0" indent="0">
              <a:buNone/>
            </a:pPr>
            <a:endParaRPr lang="zh-CN" altLang="en-US" dirty="0">
              <a:solidFill>
                <a:srgbClr val="008000"/>
              </a:solidFill>
            </a:endParaRP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3406885"/>
            <a:ext cx="4381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6369" name="Picture 1" descr="C:\Users\admin\Desktop\图片1.png"/>
          <p:cNvPicPr>
            <a:picLocks noChangeAspect="1" noChangeArrowheads="1"/>
          </p:cNvPicPr>
          <p:nvPr/>
        </p:nvPicPr>
        <p:blipFill rotWithShape="1">
          <a:blip r:embed="rId6" cstate="print"/>
          <a:srcRect l="3720" t="67199" r="3486" b="16001"/>
          <a:stretch/>
        </p:blipFill>
        <p:spPr bwMode="auto">
          <a:xfrm>
            <a:off x="467545" y="4725144"/>
            <a:ext cx="8229600" cy="1152128"/>
          </a:xfrm>
          <a:prstGeom prst="rect">
            <a:avLst/>
          </a:prstGeom>
          <a:noFill/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728F70B-738E-4572-821C-5CECEB8FD8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600" y="1689214"/>
            <a:ext cx="5064910" cy="106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4669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46856" y="1888232"/>
            <a:ext cx="8229600" cy="2980928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zh-CN" altLang="en-US" dirty="0"/>
              <a:t>边缘效应随着衬底厚度的增加而增加。</a:t>
            </a:r>
            <a:endParaRPr lang="en-US" altLang="zh-CN" dirty="0"/>
          </a:p>
          <a:p>
            <a:pPr marL="0" indent="0">
              <a:spcBef>
                <a:spcPts val="0"/>
              </a:spcBef>
              <a:buNone/>
            </a:pPr>
            <a:r>
              <a:rPr lang="zh-CN" altLang="en-US" dirty="0"/>
              <a:t>这导致</a:t>
            </a:r>
            <a:endParaRPr lang="en-US" altLang="zh-CN" dirty="0"/>
          </a:p>
          <a:p>
            <a:pPr marL="914400" lvl="1" indent="-514350"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en-US" sz="3200" dirty="0"/>
              <a:t>辐射边缘间更大有效间距</a:t>
            </a:r>
            <a:endParaRPr lang="en-US" altLang="zh-CN" sz="3200" dirty="0"/>
          </a:p>
          <a:p>
            <a:pPr marL="400050" lvl="1" indent="0">
              <a:spcBef>
                <a:spcPts val="0"/>
              </a:spcBef>
              <a:buNone/>
            </a:pPr>
            <a:endParaRPr lang="en-US" altLang="zh-CN" sz="3200" dirty="0"/>
          </a:p>
          <a:p>
            <a:pPr marL="914400" lvl="1" indent="-514350"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en-US" sz="3200" dirty="0"/>
              <a:t>更小的</a:t>
            </a:r>
            <a:r>
              <a:rPr lang="el-GR" altLang="zh-CN" sz="3200" dirty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altLang="zh-CN" sz="3200" baseline="-25000" dirty="0">
                <a:latin typeface="Times New Roman" pitchFamily="18" charset="0"/>
                <a:cs typeface="Times New Roman" pitchFamily="18" charset="0"/>
              </a:rPr>
              <a:t>eff</a:t>
            </a:r>
            <a:r>
              <a:rPr lang="el-GR" altLang="zh-CN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-&gt;</a:t>
            </a:r>
            <a:r>
              <a:rPr lang="zh-CN" altLang="en-US" sz="3200" dirty="0"/>
              <a:t>谐振频率的近似线性增加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1373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 idx="4294967295"/>
          </p:nvPr>
        </p:nvSpPr>
        <p:spPr>
          <a:xfrm>
            <a:off x="755576" y="1916113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z="6000" u="sng" dirty="0">
                <a:solidFill>
                  <a:srgbClr val="C00000"/>
                </a:solidFill>
              </a:rPr>
              <a:t>设计程序</a:t>
            </a:r>
          </a:p>
        </p:txBody>
      </p:sp>
      <p:pic>
        <p:nvPicPr>
          <p:cNvPr id="183297" name="Picture 1" descr="C:\Users\admin\Desktop\图片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5769" y="3284984"/>
            <a:ext cx="6412462" cy="1761598"/>
          </a:xfrm>
          <a:prstGeom prst="rect">
            <a:avLst/>
          </a:prstGeom>
          <a:noFill/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280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副标题 4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35280" cy="4925144"/>
              </a:xfrm>
            </p:spPr>
            <p:txBody>
              <a:bodyPr/>
              <a:lstStyle/>
              <a:p>
                <a:pPr marL="514350" indent="-514350" algn="l">
                  <a:buAutoNum type="arabicPeriod"/>
                </a:pPr>
                <a:r>
                  <a:rPr lang="zh-CN" altLang="en-US" dirty="0">
                    <a:solidFill>
                      <a:srgbClr val="008000"/>
                    </a:solidFill>
                  </a:rPr>
                  <a:t>指定</a:t>
                </a:r>
                <a:r>
                  <a:rPr lang="en-US" altLang="zh-CN" dirty="0">
                    <a:solidFill>
                      <a:srgbClr val="008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zh-CN" alt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zh-CN" alt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lin"/>
                        <m:ctrlP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dirty="0">
                  <a:solidFill>
                    <a:srgbClr val="008000"/>
                  </a:solidFill>
                </a:endParaRPr>
              </a:p>
              <a:p>
                <a:pPr marL="514350" indent="-514350" algn="l">
                  <a:buAutoNum type="arabicPeriod"/>
                </a:pPr>
                <a:r>
                  <a:rPr lang="zh-CN" altLang="en-US" dirty="0">
                    <a:solidFill>
                      <a:srgbClr val="008000"/>
                    </a:solidFill>
                  </a:rPr>
                  <a:t>确定</a:t>
                </a:r>
                <a:r>
                  <a:rPr lang="en-US" altLang="zh-CN" dirty="0">
                    <a:solidFill>
                      <a:srgbClr val="008000"/>
                    </a:solidFill>
                  </a:rPr>
                  <a:t>: </a:t>
                </a:r>
                <a:r>
                  <a:rPr lang="en-US" altLang="zh-CN" i="1" dirty="0">
                    <a:solidFill>
                      <a:srgbClr val="C00000"/>
                    </a:solidFill>
                  </a:rPr>
                  <a:t>W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,</a:t>
                </a:r>
                <a:r>
                  <a:rPr lang="en-US" altLang="zh-CN" i="1" dirty="0">
                    <a:solidFill>
                      <a:srgbClr val="C00000"/>
                    </a:solidFill>
                  </a:rPr>
                  <a:t> L</a:t>
                </a:r>
              </a:p>
              <a:p>
                <a:pPr marL="0" indent="0" algn="l">
                  <a:buNone/>
                </a:pPr>
                <a:r>
                  <a:rPr lang="en-US" altLang="zh-CN" dirty="0">
                    <a:solidFill>
                      <a:srgbClr val="C00000"/>
                    </a:solidFill>
                  </a:rPr>
                  <a:t>     </a:t>
                </a:r>
                <a:r>
                  <a:rPr lang="en-US" altLang="zh-CN" dirty="0">
                    <a:solidFill>
                      <a:srgbClr val="0000CC"/>
                    </a:solidFill>
                  </a:rPr>
                  <a:t>A. </a:t>
                </a:r>
                <a:r>
                  <a:rPr lang="zh-CN" altLang="en-US" dirty="0">
                    <a:solidFill>
                      <a:srgbClr val="0000CC"/>
                    </a:solidFill>
                  </a:rPr>
                  <a:t>确定</a:t>
                </a:r>
                <a:r>
                  <a:rPr lang="en-US" altLang="zh-CN" dirty="0">
                    <a:solidFill>
                      <a:srgbClr val="0000CC"/>
                    </a:solidFill>
                  </a:rPr>
                  <a:t> </a:t>
                </a:r>
                <a:r>
                  <a:rPr lang="en-US" altLang="zh-CN" i="1" dirty="0">
                    <a:solidFill>
                      <a:srgbClr val="C00000"/>
                    </a:solidFill>
                  </a:rPr>
                  <a:t>W</a:t>
                </a:r>
                <a:r>
                  <a:rPr lang="en-US" altLang="zh-CN" dirty="0">
                    <a:solidFill>
                      <a:srgbClr val="0000CC"/>
                    </a:solidFill>
                  </a:rPr>
                  <a:t>: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solidFill>
                      <a:srgbClr val="0000CC"/>
                    </a:solidFill>
                  </a:rPr>
                  <a:t>     对于高效的辐射器，导致良好辐射效率的   实际宽度是</a:t>
                </a:r>
                <a:endParaRPr lang="en-US" altLang="zh-CN" sz="2800" dirty="0">
                  <a:solidFill>
                    <a:srgbClr val="0000CC"/>
                  </a:solidFill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C00000"/>
                        </a:solidFill>
                        <a:latin typeface="Cambria Math"/>
                      </a:rPr>
                      <m:t>𝑊</m:t>
                    </m:r>
                    <m:r>
                      <a:rPr lang="en-US" altLang="zh-CN" sz="2800" b="0" i="0" smtClean="0">
                        <a:solidFill>
                          <a:srgbClr val="C0000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zh-CN" altLang="en-US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  <m:rad>
                      <m:radPr>
                        <m:degHide m:val="on"/>
                        <m:ctrlPr>
                          <a:rPr lang="zh-CN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zh-CN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a:rPr lang="zh-CN" altLang="en-US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2800" dirty="0">
                    <a:solidFill>
                      <a:srgbClr val="C00000"/>
                    </a:solidFill>
                  </a:rPr>
                  <a:t>           (14-6)</a:t>
                </a:r>
              </a:p>
              <a:p>
                <a:pPr marL="0" indent="0">
                  <a:buNone/>
                </a:pPr>
                <a:r>
                  <a:rPr lang="en-US" altLang="zh-CN" sz="2800" dirty="0">
                    <a:solidFill>
                      <a:srgbClr val="C00000"/>
                    </a:solidFill>
                  </a:rPr>
                  <a:t>W</a:t>
                </a:r>
                <a:r>
                  <a:rPr lang="zh-CN" altLang="en-US" sz="2800" dirty="0">
                    <a:solidFill>
                      <a:srgbClr val="C00000"/>
                    </a:solidFill>
                  </a:rPr>
                  <a:t>（以厘米为单位）</a:t>
                </a:r>
                <a:r>
                  <a:rPr lang="zh-CN" altLang="en-US" sz="2800" dirty="0">
                    <a:solidFill>
                      <a:srgbClr val="0000CC"/>
                    </a:solidFill>
                  </a:rPr>
                  <a:t>作为频率函数的曲线如附图所示</a:t>
                </a:r>
                <a:endParaRPr lang="en-US" altLang="zh-CN" sz="2800" dirty="0">
                  <a:solidFill>
                    <a:srgbClr val="0000CC"/>
                  </a:solidFill>
                </a:endParaRPr>
              </a:p>
              <a:p>
                <a:pPr marL="0" indent="0" algn="l">
                  <a:buNone/>
                </a:pPr>
                <a:r>
                  <a:rPr lang="en-US" altLang="zh-CN" sz="2800" dirty="0">
                    <a:solidFill>
                      <a:srgbClr val="C00000"/>
                    </a:solidFill>
                  </a:rPr>
                  <a:t> </a:t>
                </a:r>
                <a:endParaRPr lang="zh-CN" alt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副标题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35280" cy="492514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3279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95536" y="989856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z="2400" u="sng" dirty="0">
                <a:solidFill>
                  <a:srgbClr val="C00000"/>
                </a:solidFill>
              </a:rPr>
              <a:t>不同电介质衬底的单元宽度</a:t>
            </a:r>
            <a:r>
              <a:rPr lang="en-US" altLang="zh-CN" sz="2400" u="sng" dirty="0">
                <a:solidFill>
                  <a:srgbClr val="C00000"/>
                </a:solidFill>
              </a:rPr>
              <a:t>VS</a:t>
            </a:r>
            <a:r>
              <a:rPr lang="zh-CN" altLang="en-US" sz="2400" u="sng" dirty="0">
                <a:solidFill>
                  <a:srgbClr val="C00000"/>
                </a:solidFill>
              </a:rPr>
              <a:t>频率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484784"/>
            <a:ext cx="6912768" cy="4933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7814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79895" y="1412776"/>
            <a:ext cx="8229600" cy="471328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0000CC"/>
                </a:solidFill>
              </a:rPr>
              <a:t>B. </a:t>
            </a:r>
            <a:r>
              <a:rPr lang="zh-CN" altLang="en-US" dirty="0">
                <a:solidFill>
                  <a:srgbClr val="0000CC"/>
                </a:solidFill>
              </a:rPr>
              <a:t>确定</a:t>
            </a:r>
            <a:r>
              <a:rPr lang="en-US" altLang="zh-CN" dirty="0">
                <a:solidFill>
                  <a:srgbClr val="0000CC"/>
                </a:solidFill>
              </a:rPr>
              <a:t> </a:t>
            </a:r>
            <a:r>
              <a:rPr lang="en-US" altLang="zh-CN" i="1" dirty="0">
                <a:solidFill>
                  <a:srgbClr val="C00000"/>
                </a:solidFill>
              </a:rPr>
              <a:t>L</a:t>
            </a:r>
            <a:r>
              <a:rPr lang="en-US" altLang="zh-CN" dirty="0">
                <a:solidFill>
                  <a:srgbClr val="0000CC"/>
                </a:solidFill>
              </a:rPr>
              <a:t>: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0000CC"/>
                </a:solidFill>
              </a:rPr>
              <a:t>一旦</a:t>
            </a:r>
            <a:r>
              <a:rPr lang="en-US" altLang="zh-CN" i="1" dirty="0">
                <a:solidFill>
                  <a:srgbClr val="C00000"/>
                </a:solidFill>
              </a:rPr>
              <a:t>W</a:t>
            </a:r>
            <a:r>
              <a:rPr lang="zh-CN" altLang="en-US" dirty="0">
                <a:solidFill>
                  <a:srgbClr val="0000CC"/>
                </a:solidFill>
              </a:rPr>
              <a:t>已知，并且已经计算出有效介电常数和扩展长度</a:t>
            </a:r>
            <a:endParaRPr lang="en-US" altLang="zh-CN" dirty="0">
              <a:solidFill>
                <a:srgbClr val="0000CC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00CC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00CC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00CC"/>
              </a:solidFill>
            </a:endParaRPr>
          </a:p>
          <a:p>
            <a:pPr marL="0" indent="0">
              <a:buNone/>
            </a:pPr>
            <a:r>
              <a:rPr lang="en-US" altLang="zh-CN" i="1" dirty="0">
                <a:solidFill>
                  <a:srgbClr val="C00000"/>
                </a:solidFill>
              </a:rPr>
              <a:t>L</a:t>
            </a:r>
            <a:r>
              <a:rPr lang="zh-CN" altLang="en-US" dirty="0">
                <a:solidFill>
                  <a:srgbClr val="C00000"/>
                </a:solidFill>
              </a:rPr>
              <a:t>（以厘米为单位）</a:t>
            </a:r>
            <a:r>
              <a:rPr lang="zh-CN" altLang="en-US" dirty="0">
                <a:solidFill>
                  <a:srgbClr val="0000CC"/>
                </a:solidFill>
              </a:rPr>
              <a:t>作为频率函数的曲线图如附图所示。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356992"/>
            <a:ext cx="5362575" cy="113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2562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02840" y="91784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z="2400" u="sng" dirty="0">
                <a:solidFill>
                  <a:srgbClr val="C00000"/>
                </a:solidFill>
              </a:rPr>
              <a:t>不同电介质衬底的单元长度</a:t>
            </a:r>
            <a:r>
              <a:rPr lang="en-US" altLang="zh-CN" sz="2400" u="sng" dirty="0">
                <a:solidFill>
                  <a:srgbClr val="C00000"/>
                </a:solidFill>
              </a:rPr>
              <a:t>VS</a:t>
            </a:r>
            <a:r>
              <a:rPr lang="zh-CN" altLang="en-US" sz="2400" u="sng" dirty="0">
                <a:solidFill>
                  <a:srgbClr val="C00000"/>
                </a:solidFill>
              </a:rPr>
              <a:t>频率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604" y="1489348"/>
            <a:ext cx="7128792" cy="5012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1624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80" y="2314586"/>
            <a:ext cx="7560840" cy="4208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35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C668BFE-BED2-4371-B24F-8C017F265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51" y="980728"/>
            <a:ext cx="9144000" cy="118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510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36</a:t>
            </a:fld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92B5022-6FCE-4CB0-8386-F67538784D67}"/>
              </a:ext>
            </a:extLst>
          </p:cNvPr>
          <p:cNvGrpSpPr/>
          <p:nvPr/>
        </p:nvGrpSpPr>
        <p:grpSpPr>
          <a:xfrm>
            <a:off x="35496" y="1484784"/>
            <a:ext cx="9108504" cy="4391025"/>
            <a:chOff x="35496" y="1486247"/>
            <a:chExt cx="9108504" cy="4391025"/>
          </a:xfrm>
        </p:grpSpPr>
        <p:pic>
          <p:nvPicPr>
            <p:cNvPr id="264193" name="Picture 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57238" y="1486247"/>
              <a:ext cx="7629525" cy="439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B61E2E3-6FDE-438D-BCEE-2B3237ACF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496" y="4939705"/>
              <a:ext cx="2480717" cy="864096"/>
            </a:xfrm>
            <a:prstGeom prst="rect">
              <a:avLst/>
            </a:prstGeom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22391865-A4E9-48C7-905D-DFD81A7DAD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81" b="49264"/>
            <a:stretch>
              <a:fillRect/>
            </a:stretch>
          </p:blipFill>
          <p:spPr bwMode="auto">
            <a:xfrm>
              <a:off x="6047656" y="1772816"/>
              <a:ext cx="3096344" cy="1053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023450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522869"/>
            <a:ext cx="6264696" cy="3858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6129" name="Picture 1" descr="C:\Users\admin\Desktop\图片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1444" y="908720"/>
            <a:ext cx="8241111" cy="1584829"/>
          </a:xfrm>
          <a:prstGeom prst="rect">
            <a:avLst/>
          </a:prstGeom>
          <a:noFill/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0997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01439" y="1124744"/>
            <a:ext cx="653891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z="3200" dirty="0"/>
              <a:t>辐射场</a:t>
            </a:r>
            <a:br>
              <a:rPr lang="en-US" altLang="zh-CN" sz="3200" dirty="0"/>
            </a:br>
            <a:r>
              <a:rPr lang="zh-CN" altLang="en-US" sz="3200" dirty="0"/>
              <a:t>缝隙导纳</a:t>
            </a:r>
            <a:r>
              <a:rPr lang="en-US" altLang="zh-CN" sz="3200" i="1" dirty="0"/>
              <a:t>Y</a:t>
            </a:r>
            <a:r>
              <a:rPr lang="zh-CN" altLang="en-US" sz="3200" dirty="0"/>
              <a:t>（电导</a:t>
            </a:r>
            <a:r>
              <a:rPr lang="en-US" altLang="zh-CN" sz="3200" i="1" dirty="0"/>
              <a:t>G</a:t>
            </a:r>
            <a:r>
              <a:rPr lang="zh-CN" altLang="en-US" sz="3200" dirty="0"/>
              <a:t>和电纳</a:t>
            </a:r>
            <a:r>
              <a:rPr lang="en-US" altLang="zh-CN" sz="3200" i="1" dirty="0"/>
              <a:t>B</a:t>
            </a:r>
            <a:r>
              <a:rPr lang="zh-CN" altLang="en-US" sz="3200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57200" y="2384884"/>
            <a:ext cx="8229600" cy="2088232"/>
          </a:xfrm>
          <a:prstGeom prst="rect">
            <a:avLst/>
          </a:prstGeom>
        </p:spPr>
        <p:txBody>
          <a:bodyPr/>
          <a:lstStyle/>
          <a:p>
            <a:pPr marL="0" indent="0" algn="just">
              <a:buNone/>
            </a:pPr>
            <a:r>
              <a:rPr lang="zh-CN" altLang="en-US" sz="4400" dirty="0">
                <a:solidFill>
                  <a:srgbClr val="008000"/>
                </a:solidFill>
              </a:rPr>
              <a:t>每个辐射孔径被建模为向半空间辐射的宽度为</a:t>
            </a:r>
            <a:r>
              <a:rPr lang="en-US" altLang="zh-CN" sz="4400" i="1" dirty="0">
                <a:solidFill>
                  <a:srgbClr val="C00000"/>
                </a:solidFill>
              </a:rPr>
              <a:t>W</a:t>
            </a:r>
            <a:r>
              <a:rPr lang="zh-CN" altLang="en-US" sz="4400" dirty="0">
                <a:solidFill>
                  <a:srgbClr val="008000"/>
                </a:solidFill>
              </a:rPr>
              <a:t>、高度为</a:t>
            </a:r>
            <a:r>
              <a:rPr lang="en-US" altLang="zh-CN" sz="4400" i="1" dirty="0">
                <a:solidFill>
                  <a:srgbClr val="C00000"/>
                </a:solidFill>
              </a:rPr>
              <a:t>h</a:t>
            </a:r>
            <a:r>
              <a:rPr lang="zh-CN" altLang="en-US" sz="4400" dirty="0">
                <a:solidFill>
                  <a:srgbClr val="008000"/>
                </a:solidFill>
              </a:rPr>
              <a:t>的窄缝。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7421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02840" y="127788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z="3600" u="sng" dirty="0">
                <a:solidFill>
                  <a:srgbClr val="0000CC"/>
                </a:solidFill>
              </a:rPr>
              <a:t>矩形贴片与等效电路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65" y="2204864"/>
            <a:ext cx="8455307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698126" y="5517232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14.9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3983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12"/>
          <a:stretch/>
        </p:blipFill>
        <p:spPr bwMode="auto">
          <a:xfrm>
            <a:off x="1036238" y="1412777"/>
            <a:ext cx="7496202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40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975AF08-3101-401B-928C-44ADB25F6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5013176"/>
            <a:ext cx="8579296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7490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83568" y="1412875"/>
            <a:ext cx="7668344" cy="4713288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zh-CN" altLang="en-US" sz="3600" dirty="0"/>
              <a:t>计算</a:t>
            </a:r>
            <a:r>
              <a:rPr lang="en-US" altLang="zh-CN" sz="3600" dirty="0"/>
              <a:t>G1</a:t>
            </a:r>
            <a:r>
              <a:rPr lang="zh-CN" altLang="en-US" sz="3600" dirty="0"/>
              <a:t>的另一个公式</a:t>
            </a:r>
            <a:endParaRPr lang="en-US" altLang="zh-CN" sz="3600" dirty="0"/>
          </a:p>
          <a:p>
            <a:pPr marL="0" indent="0" algn="ctr">
              <a:buNone/>
            </a:pPr>
            <a:r>
              <a:rPr lang="en-US" altLang="zh-CN" sz="3600" i="1" dirty="0">
                <a:solidFill>
                  <a:srgbClr val="C00000"/>
                </a:solidFill>
              </a:rPr>
              <a:t>V</a:t>
            </a:r>
            <a:r>
              <a:rPr lang="en-US" altLang="zh-CN" sz="3600" baseline="-25000" dirty="0">
                <a:solidFill>
                  <a:srgbClr val="C00000"/>
                </a:solidFill>
              </a:rPr>
              <a:t>o</a:t>
            </a:r>
            <a:r>
              <a:rPr lang="zh-CN" altLang="en-US" sz="3600" dirty="0">
                <a:solidFill>
                  <a:srgbClr val="0000CC"/>
                </a:solidFill>
              </a:rPr>
              <a:t>是跨槽中心的电压。我们可以定义这样一个电导（当放置在槽的中心时）它将耗散与槽辐射功率相同的功率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4168775"/>
            <a:ext cx="5019675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6245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986408"/>
            <a:ext cx="7319004" cy="532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 bwMode="auto">
          <a:xfrm>
            <a:off x="1763688" y="4653136"/>
            <a:ext cx="4176464" cy="165618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8879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81464"/>
            <a:ext cx="7128792" cy="4827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283968" y="4509120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14.10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9563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 idx="4294967295"/>
          </p:nvPr>
        </p:nvSpPr>
        <p:spPr>
          <a:xfrm>
            <a:off x="827584" y="2130425"/>
            <a:ext cx="7772400" cy="2090738"/>
          </a:xfrm>
          <a:prstGeom prst="rect">
            <a:avLst/>
          </a:prstGeom>
        </p:spPr>
        <p:txBody>
          <a:bodyPr/>
          <a:lstStyle/>
          <a:p>
            <a:r>
              <a:rPr lang="zh-CN" altLang="en-US" sz="6600" dirty="0">
                <a:solidFill>
                  <a:srgbClr val="C00000"/>
                </a:solidFill>
              </a:rPr>
              <a:t>输入导纳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4409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7" b="14634"/>
          <a:stretch>
            <a:fillRect/>
          </a:stretch>
        </p:blipFill>
        <p:spPr bwMode="auto">
          <a:xfrm>
            <a:off x="755576" y="3501008"/>
            <a:ext cx="8167275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5949280"/>
            <a:ext cx="3312368" cy="538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45</a:t>
            </a:fld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6588224" y="3933056"/>
            <a:ext cx="1656184" cy="0"/>
          </a:xfrm>
          <a:prstGeom prst="line">
            <a:avLst/>
          </a:prstGeom>
          <a:ln w="165100"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6588224" y="5733256"/>
            <a:ext cx="1656184" cy="0"/>
          </a:xfrm>
          <a:prstGeom prst="line">
            <a:avLst/>
          </a:prstGeom>
          <a:ln w="165100"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660232" y="3645024"/>
            <a:ext cx="0" cy="2376264"/>
          </a:xfrm>
          <a:prstGeom prst="line">
            <a:avLst/>
          </a:prstGeom>
          <a:ln>
            <a:prstDash val="sysDash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5076056" y="5229200"/>
            <a:ext cx="1584176" cy="864096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flipH="1">
            <a:off x="369247" y="5229200"/>
            <a:ext cx="674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dirty="0" err="1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CN" sz="2400" baseline="-25000" dirty="0" err="1">
                <a:latin typeface="Times New Roman" pitchFamily="18" charset="0"/>
                <a:cs typeface="Times New Roman" pitchFamily="18" charset="0"/>
              </a:rPr>
              <a:t>in</a:t>
            </a:r>
            <a:endParaRPr lang="zh-CN" altLang="en-US" sz="24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331640" y="3717032"/>
            <a:ext cx="0" cy="2376264"/>
          </a:xfrm>
          <a:prstGeom prst="line">
            <a:avLst/>
          </a:prstGeom>
          <a:ln>
            <a:prstDash val="sysDash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17" idx="0"/>
          </p:cNvCxnSpPr>
          <p:nvPr/>
        </p:nvCxnSpPr>
        <p:spPr>
          <a:xfrm flipV="1">
            <a:off x="706427" y="4797152"/>
            <a:ext cx="625213" cy="43204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8AB29E48-3100-47F1-83F2-E8431A889118}"/>
              </a:ext>
            </a:extLst>
          </p:cNvPr>
          <p:cNvSpPr/>
          <p:nvPr/>
        </p:nvSpPr>
        <p:spPr>
          <a:xfrm>
            <a:off x="369247" y="1346533"/>
            <a:ext cx="858122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zh-CN" sz="2800" dirty="0"/>
              <a:t>λ</a:t>
            </a:r>
            <a:r>
              <a:rPr lang="zh-CN" altLang="en-US" sz="2800" baseline="-25000" dirty="0"/>
              <a:t>d</a:t>
            </a:r>
            <a:r>
              <a:rPr lang="zh-CN" altLang="en-US" sz="2800" dirty="0"/>
              <a:t>/2的略微减小对于说明辐射边缘处的边缘效应而言是必要的。如果适当地从</a:t>
            </a:r>
            <a:r>
              <a:rPr lang="el-GR" altLang="zh-CN" sz="2800" dirty="0"/>
              <a:t>λ</a:t>
            </a:r>
            <a:r>
              <a:rPr lang="zh-CN" altLang="en-US" sz="2800" baseline="-25000" dirty="0"/>
              <a:t>d</a:t>
            </a:r>
            <a:r>
              <a:rPr lang="zh-CN" altLang="en-US" sz="2800" dirty="0"/>
              <a:t>/2 处减小了</a:t>
            </a:r>
            <a:r>
              <a:rPr lang="zh-CN" altLang="en-US" sz="2800" i="1" dirty="0"/>
              <a:t>L</a:t>
            </a:r>
            <a:r>
              <a:rPr lang="zh-CN" altLang="en-US" sz="2800" dirty="0"/>
              <a:t>（适当地选择长度缩减因子</a:t>
            </a:r>
            <a:r>
              <a:rPr lang="zh-CN" altLang="en-US" sz="2800" i="1" dirty="0"/>
              <a:t>q</a:t>
            </a:r>
            <a:r>
              <a:rPr lang="zh-CN" altLang="en-US" sz="2800" dirty="0"/>
              <a:t>），则缝隙#2的变换导纳则为</a:t>
            </a:r>
          </a:p>
        </p:txBody>
      </p:sp>
    </p:spTree>
    <p:extLst>
      <p:ext uri="{BB962C8B-B14F-4D97-AF65-F5344CB8AC3E}">
        <p14:creationId xmlns:p14="http://schemas.microsoft.com/office/powerpoint/2010/main" val="27999711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99"/>
          <a:stretch>
            <a:fillRect/>
          </a:stretch>
        </p:blipFill>
        <p:spPr bwMode="auto">
          <a:xfrm>
            <a:off x="1259632" y="2132856"/>
            <a:ext cx="6803483" cy="2948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0595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817" name="Picture 1" descr="C:\Users\admin\Desktop\图片1.png"/>
          <p:cNvPicPr>
            <a:picLocks noChangeAspect="1" noChangeArrowheads="1"/>
          </p:cNvPicPr>
          <p:nvPr/>
        </p:nvPicPr>
        <p:blipFill rotWithShape="1">
          <a:blip r:embed="rId2" cstate="print"/>
          <a:srcRect t="14223" b="17480"/>
          <a:stretch/>
        </p:blipFill>
        <p:spPr bwMode="auto">
          <a:xfrm>
            <a:off x="451444" y="1988839"/>
            <a:ext cx="8241111" cy="3376255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827584" y="5445224"/>
            <a:ext cx="76328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对于传输线方法，只考虑基本模式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TM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010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（奇数模式），因此选择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47</a:t>
            </a:fld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388700-5916-4375-BD2B-EA73D26A13B3}"/>
              </a:ext>
            </a:extLst>
          </p:cNvPr>
          <p:cNvSpPr/>
          <p:nvPr/>
        </p:nvSpPr>
        <p:spPr>
          <a:xfrm>
            <a:off x="798967" y="1363999"/>
            <a:ext cx="18325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000CC"/>
                </a:solidFill>
              </a:rPr>
              <a:t>考虑耦合</a:t>
            </a:r>
          </a:p>
        </p:txBody>
      </p:sp>
    </p:spTree>
    <p:extLst>
      <p:ext uri="{BB962C8B-B14F-4D97-AF65-F5344CB8AC3E}">
        <p14:creationId xmlns:p14="http://schemas.microsoft.com/office/powerpoint/2010/main" val="36133308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857" y="1061894"/>
            <a:ext cx="7394546" cy="4959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57555" y="6059430"/>
            <a:ext cx="7632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这个积分很复杂，应该用数值方法来计算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5744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57200" y="1489870"/>
            <a:ext cx="8229600" cy="4680520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n"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谐振输入电阻可以通过增加贴片的宽度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来减小。只要比值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不超过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，这是可以接受的，因为随着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增加超过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，单个贴片的孔径效率开始下降。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n"/>
            </a:pP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n"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对于非常小的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值，如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&lt;&lt;1 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，输入电阻不依赖于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。模态展开分析还表明，输入电阻不会受到衬底高度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的强烈影响。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8855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683568" y="1916113"/>
            <a:ext cx="7772400" cy="2667000"/>
          </a:xfrm>
          <a:prstGeom prst="rect">
            <a:avLst/>
          </a:prstGeom>
        </p:spPr>
        <p:txBody>
          <a:bodyPr/>
          <a:lstStyle/>
          <a:p>
            <a:r>
              <a:rPr lang="zh-CN" altLang="en-US" sz="6000" dirty="0">
                <a:solidFill>
                  <a:srgbClr val="0000CC"/>
                </a:solidFill>
              </a:rPr>
              <a:t>微带天线与馈线的</a:t>
            </a:r>
            <a:br>
              <a:rPr lang="en-US" altLang="zh-CN" sz="6000" dirty="0">
                <a:solidFill>
                  <a:srgbClr val="0000CC"/>
                </a:solidFill>
              </a:rPr>
            </a:br>
            <a:r>
              <a:rPr lang="zh-CN" altLang="en-US" sz="6000" dirty="0">
                <a:solidFill>
                  <a:srgbClr val="0000CC"/>
                </a:solidFill>
              </a:rPr>
              <a:t>阻抗匹配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67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16518" y="1124744"/>
            <a:ext cx="36471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微带馈线的特性阻抗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51</a:t>
            </a:fld>
            <a:endParaRPr lang="zh-CN" altLang="en-US"/>
          </a:p>
        </p:txBody>
      </p:sp>
      <p:pic>
        <p:nvPicPr>
          <p:cNvPr id="24678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90613" y="1815802"/>
            <a:ext cx="6962775" cy="478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739074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24744"/>
                <a:ext cx="8229600" cy="5001419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zh-CN" altLang="en-US" dirty="0">
                    <a:solidFill>
                      <a:srgbClr val="0000CC"/>
                    </a:solidFill>
                  </a:rPr>
                  <a:t>特征阻抗的更好近似值是 </a:t>
                </a:r>
                <a:r>
                  <a:rPr lang="en-US" altLang="zh-CN" dirty="0">
                    <a:solidFill>
                      <a:srgbClr val="008000"/>
                    </a:solidFill>
                  </a:rPr>
                  <a:t>(</a:t>
                </a:r>
                <a:r>
                  <a:rPr lang="en-US" altLang="zh-CN" i="1" dirty="0">
                    <a:solidFill>
                      <a:srgbClr val="008000"/>
                    </a:solidFill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zh-CN" altLang="en-US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zh-CN" altLang="en-US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zh-CN" altLang="en-US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altLang="zh-CN" dirty="0">
                    <a:solidFill>
                      <a:srgbClr val="008000"/>
                    </a:solidFill>
                  </a:rPr>
                  <a:t>)</a:t>
                </a:r>
                <a:endParaRPr lang="zh-CN" altLang="en-US" dirty="0">
                  <a:solidFill>
                    <a:srgbClr val="008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24744"/>
                <a:ext cx="8229600" cy="500141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348880"/>
            <a:ext cx="7134225" cy="357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1851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05"/>
          <a:stretch>
            <a:fillRect/>
          </a:stretch>
        </p:blipFill>
        <p:spPr bwMode="auto">
          <a:xfrm>
            <a:off x="1187624" y="2420888"/>
            <a:ext cx="6728248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标题 1"/>
          <p:cNvSpPr txBox="1">
            <a:spLocks/>
          </p:cNvSpPr>
          <p:nvPr/>
        </p:nvSpPr>
        <p:spPr>
          <a:xfrm>
            <a:off x="683568" y="1196752"/>
            <a:ext cx="7772400" cy="720080"/>
          </a:xfrm>
          <a:prstGeom prst="rect">
            <a:avLst/>
          </a:prstGeom>
        </p:spPr>
        <p:txBody>
          <a:bodyPr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dirty="0"/>
              <a:t>插入馈电点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53</a:t>
            </a:fld>
            <a:endParaRPr lang="zh-CN" altLang="en-US"/>
          </a:p>
        </p:txBody>
      </p:sp>
      <p:cxnSp>
        <p:nvCxnSpPr>
          <p:cNvPr id="9" name="直接箭头连接符 8"/>
          <p:cNvCxnSpPr>
            <a:stCxn id="10" idx="0"/>
          </p:cNvCxnSpPr>
          <p:nvPr/>
        </p:nvCxnSpPr>
        <p:spPr>
          <a:xfrm flipV="1">
            <a:off x="1776214" y="3789040"/>
            <a:ext cx="2363738" cy="115212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941168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400" i="1" baseline="-25000" dirty="0" err="1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y=y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CN" altLang="en-US" sz="24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3059832" y="4005064"/>
            <a:ext cx="4536504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40209" y="4005064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y</a:t>
            </a:r>
            <a:endParaRPr lang="zh-CN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02112" y="2348880"/>
            <a:ext cx="1236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400" i="1" baseline="-25000" dirty="0" err="1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y=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0)</a:t>
            </a:r>
            <a:endParaRPr lang="zh-CN" altLang="en-US" sz="24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8" name="直接箭头连接符 17"/>
          <p:cNvCxnSpPr>
            <a:stCxn id="14" idx="2"/>
          </p:cNvCxnSpPr>
          <p:nvPr/>
        </p:nvCxnSpPr>
        <p:spPr>
          <a:xfrm>
            <a:off x="1920230" y="2810545"/>
            <a:ext cx="1211610" cy="1050503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21278" y="390343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0</a:t>
            </a:r>
            <a:endParaRPr lang="zh-CN" alt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851920" y="4077072"/>
            <a:ext cx="4235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CN" sz="2400" b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267243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529" name="Picture 1" descr="C:\Users\admin\Desktop\图片1.png"/>
          <p:cNvPicPr>
            <a:picLocks noChangeAspect="1" noChangeArrowheads="1"/>
          </p:cNvPicPr>
          <p:nvPr/>
        </p:nvPicPr>
        <p:blipFill rotWithShape="1">
          <a:blip r:embed="rId2" cstate="print"/>
          <a:srcRect t="27731" b="53781"/>
          <a:stretch/>
        </p:blipFill>
        <p:spPr bwMode="auto">
          <a:xfrm>
            <a:off x="948983" y="2767970"/>
            <a:ext cx="6928868" cy="864096"/>
          </a:xfrm>
          <a:prstGeom prst="rect">
            <a:avLst/>
          </a:prstGeom>
          <a:noFill/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54</a:t>
            </a:fld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10A5C8-D828-481A-A007-8D8647231F71}"/>
              </a:ext>
            </a:extLst>
          </p:cNvPr>
          <p:cNvSpPr/>
          <p:nvPr/>
        </p:nvSpPr>
        <p:spPr>
          <a:xfrm>
            <a:off x="894665" y="1916037"/>
            <a:ext cx="70375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000CC"/>
                </a:solidFill>
              </a:rPr>
              <a:t>使用模态展开分析表明，插入馈电点阻抗由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A70325-7EC3-4025-A3EC-840DE4E44786}"/>
              </a:ext>
            </a:extLst>
          </p:cNvPr>
          <p:cNvSpPr/>
          <p:nvPr/>
        </p:nvSpPr>
        <p:spPr>
          <a:xfrm>
            <a:off x="894665" y="3984734"/>
            <a:ext cx="770485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CC"/>
                </a:solidFill>
              </a:rPr>
              <a:t>随着插入馈电点距离</a:t>
            </a:r>
            <a:r>
              <a:rPr lang="en-US" altLang="zh-CN" sz="2800" i="1" dirty="0">
                <a:solidFill>
                  <a:srgbClr val="FF0000"/>
                </a:solidFill>
              </a:rPr>
              <a:t>y</a:t>
            </a:r>
            <a:r>
              <a:rPr lang="en-US" altLang="zh-CN" sz="2800" baseline="-25000" dirty="0">
                <a:solidFill>
                  <a:srgbClr val="FF0000"/>
                </a:solidFill>
              </a:rPr>
              <a:t>0</a:t>
            </a:r>
            <a:r>
              <a:rPr lang="zh-CN" altLang="en-US" sz="2800" dirty="0">
                <a:solidFill>
                  <a:srgbClr val="0000CC"/>
                </a:solidFill>
              </a:rPr>
              <a:t>的增加，谐振输入电阻减小。事实上，在</a:t>
            </a:r>
            <a:r>
              <a:rPr lang="en-US" altLang="zh-CN" sz="2800" i="1" dirty="0">
                <a:solidFill>
                  <a:srgbClr val="FF0000"/>
                </a:solidFill>
              </a:rPr>
              <a:t>y</a:t>
            </a:r>
            <a:r>
              <a:rPr lang="en-US" altLang="zh-CN" sz="2800" baseline="-25000" dirty="0">
                <a:solidFill>
                  <a:srgbClr val="FF0000"/>
                </a:solidFill>
              </a:rPr>
              <a:t>0</a:t>
            </a:r>
            <a:r>
              <a:rPr lang="en-US" altLang="zh-CN" sz="2800" dirty="0">
                <a:solidFill>
                  <a:srgbClr val="FF0000"/>
                </a:solidFill>
              </a:rPr>
              <a:t>=</a:t>
            </a:r>
            <a:r>
              <a:rPr lang="en-US" altLang="zh-CN" sz="2800" i="1" dirty="0">
                <a:solidFill>
                  <a:srgbClr val="FF0000"/>
                </a:solidFill>
              </a:rPr>
              <a:t>L</a:t>
            </a:r>
            <a:r>
              <a:rPr lang="en-US" altLang="zh-CN" sz="2800" dirty="0">
                <a:solidFill>
                  <a:srgbClr val="FF0000"/>
                </a:solidFill>
              </a:rPr>
              <a:t>/2</a:t>
            </a:r>
            <a:r>
              <a:rPr lang="zh-CN" altLang="en-US" sz="2800" dirty="0">
                <a:solidFill>
                  <a:srgbClr val="0000CC"/>
                </a:solidFill>
              </a:rPr>
              <a:t>，输入电阻消失。这种馈电机制可以非常适用于具有</a:t>
            </a:r>
            <a:r>
              <a:rPr lang="en-US" altLang="zh-CN" sz="2800" dirty="0">
                <a:solidFill>
                  <a:srgbClr val="FF0000"/>
                </a:solidFill>
              </a:rPr>
              <a:t>50</a:t>
            </a:r>
            <a:r>
              <a:rPr lang="zh-CN" altLang="en-US" sz="2800" dirty="0">
                <a:solidFill>
                  <a:srgbClr val="FF0000"/>
                </a:solidFill>
              </a:rPr>
              <a:t>欧姆</a:t>
            </a:r>
            <a:r>
              <a:rPr lang="zh-CN" altLang="en-US" sz="2800" dirty="0">
                <a:solidFill>
                  <a:srgbClr val="0000CC"/>
                </a:solidFill>
              </a:rPr>
              <a:t>量级的小特征阻抗值的贴片或者线。</a:t>
            </a:r>
          </a:p>
        </p:txBody>
      </p:sp>
    </p:spTree>
    <p:extLst>
      <p:ext uri="{BB962C8B-B14F-4D97-AF65-F5344CB8AC3E}">
        <p14:creationId xmlns:p14="http://schemas.microsoft.com/office/powerpoint/2010/main" val="41190889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55</a:t>
            </a:fld>
            <a:endParaRPr lang="zh-CN" alt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167825"/>
            <a:ext cx="4680520" cy="569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直接箭头连接符 3"/>
          <p:cNvCxnSpPr/>
          <p:nvPr/>
        </p:nvCxnSpPr>
        <p:spPr>
          <a:xfrm>
            <a:off x="3563888" y="2204864"/>
            <a:ext cx="4536504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44265" y="2204864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y</a:t>
            </a:r>
            <a:endParaRPr lang="zh-CN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56</a:t>
            </a:fld>
            <a:endParaRPr lang="zh-CN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5" t="3039" r="15385" b="66589"/>
          <a:stretch>
            <a:fillRect/>
          </a:stretch>
        </p:blipFill>
        <p:spPr bwMode="auto">
          <a:xfrm>
            <a:off x="2051720" y="3508895"/>
            <a:ext cx="4680520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1665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1189790">
            <a:off x="2240279" y="4365104"/>
            <a:ext cx="6096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19625949">
            <a:off x="2436606" y="5283036"/>
            <a:ext cx="6096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809ED4-99D8-4422-BA82-CF7ADDAC97C6}"/>
              </a:ext>
            </a:extLst>
          </p:cNvPr>
          <p:cNvSpPr/>
          <p:nvPr/>
        </p:nvSpPr>
        <p:spPr>
          <a:xfrm>
            <a:off x="656692" y="1740152"/>
            <a:ext cx="783061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然而，由于插入馈电引入的物理陷波，谐振频率</a:t>
            </a:r>
            <a:r>
              <a:rPr lang="zh-CN" altLang="en-US" sz="2800" dirty="0">
                <a:solidFill>
                  <a:srgbClr val="FF0000"/>
                </a:solidFill>
              </a:rPr>
              <a:t>可能变化约1%</a:t>
            </a:r>
            <a:r>
              <a:rPr lang="zh-CN" altLang="en-US" sz="2800" dirty="0"/>
              <a:t>（由于引入的结电容）。谐振频率的变化通常取决于插入距离和凹口宽度。</a:t>
            </a:r>
          </a:p>
        </p:txBody>
      </p:sp>
    </p:spTree>
    <p:extLst>
      <p:ext uri="{BB962C8B-B14F-4D97-AF65-F5344CB8AC3E}">
        <p14:creationId xmlns:p14="http://schemas.microsoft.com/office/powerpoint/2010/main" val="28113540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196752"/>
            <a:ext cx="7203739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8221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201690"/>
            <a:ext cx="7284665" cy="5395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58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DCA7250-984B-4E2F-A3FD-359147D3B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64" y="2420888"/>
            <a:ext cx="3231472" cy="46374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F544146-6F3E-451E-B4CC-B4C954D237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064" y="3053823"/>
            <a:ext cx="1923678" cy="49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814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 txBox="1">
            <a:spLocks/>
          </p:cNvSpPr>
          <p:nvPr/>
        </p:nvSpPr>
        <p:spPr>
          <a:xfrm>
            <a:off x="472008" y="2277666"/>
            <a:ext cx="7772400" cy="1295350"/>
          </a:xfrm>
          <a:prstGeom prst="rect">
            <a:avLst/>
          </a:prstGeom>
        </p:spPr>
        <p:txBody>
          <a:bodyPr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400" dirty="0">
                <a:latin typeface="+mj-lt"/>
                <a:ea typeface="+mj-ea"/>
                <a:cs typeface="+mj-cs"/>
              </a:rPr>
              <a:t>矩形贴片天线</a:t>
            </a:r>
            <a:endParaRPr lang="en-US" altLang="zh-CN" sz="4400" dirty="0">
              <a:latin typeface="+mj-lt"/>
              <a:ea typeface="+mj-ea"/>
              <a:cs typeface="+mj-cs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4400" dirty="0">
                <a:latin typeface="+mj-lt"/>
                <a:ea typeface="+mj-ea"/>
                <a:cs typeface="+mj-cs"/>
              </a:rPr>
              <a:t>-</a:t>
            </a:r>
            <a:r>
              <a:rPr lang="zh-CN" altLang="en-US" sz="4400" dirty="0">
                <a:latin typeface="+mj-lt"/>
                <a:ea typeface="+mj-ea"/>
                <a:cs typeface="+mj-cs"/>
              </a:rPr>
              <a:t>空腔模型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4933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00808"/>
            <a:ext cx="3744416" cy="2901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203848" y="5210036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14.13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pic>
        <p:nvPicPr>
          <p:cNvPr id="2355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4088" y="2204864"/>
            <a:ext cx="2714625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等于号 4"/>
          <p:cNvSpPr/>
          <p:nvPr/>
        </p:nvSpPr>
        <p:spPr bwMode="auto">
          <a:xfrm>
            <a:off x="4355976" y="2996952"/>
            <a:ext cx="792088" cy="288032"/>
          </a:xfrm>
          <a:prstGeom prst="mathEqual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27895" y="4365104"/>
            <a:ext cx="3023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带开口端的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2D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传输线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7624" y="4581128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贴片天线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060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61</a:t>
            </a:fld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179512" y="1571735"/>
            <a:ext cx="5976664" cy="3369433"/>
            <a:chOff x="323528" y="1700808"/>
            <a:chExt cx="5976664" cy="3369433"/>
          </a:xfrm>
        </p:grpSpPr>
        <p:pic>
          <p:nvPicPr>
            <p:cNvPr id="3" name="Picture 5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743" b="11240"/>
            <a:stretch>
              <a:fillRect/>
            </a:stretch>
          </p:blipFill>
          <p:spPr bwMode="auto">
            <a:xfrm>
              <a:off x="323528" y="1700808"/>
              <a:ext cx="5976664" cy="33694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" name="矩形 3"/>
            <p:cNvSpPr/>
            <p:nvPr/>
          </p:nvSpPr>
          <p:spPr bwMode="auto">
            <a:xfrm>
              <a:off x="755576" y="3573016"/>
              <a:ext cx="5112568" cy="43204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676394" y="3501008"/>
              <a:ext cx="3834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l-GR" altLang="zh-CN" sz="2400" dirty="0">
                  <a:latin typeface="Times New Roman" pitchFamily="18" charset="0"/>
                  <a:cs typeface="Times New Roman" pitchFamily="18" charset="0"/>
                </a:rPr>
                <a:t>ε</a:t>
              </a:r>
              <a:r>
                <a:rPr lang="en-US" altLang="zh-CN" sz="2400" baseline="-25000" dirty="0">
                  <a:latin typeface="Times New Roman" pitchFamily="18" charset="0"/>
                  <a:cs typeface="Times New Roman" pitchFamily="18" charset="0"/>
                </a:rPr>
                <a:t>r</a:t>
              </a:r>
              <a:endParaRPr lang="zh-CN" altLang="en-US" sz="24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6228184" y="2060848"/>
            <a:ext cx="277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侧边开放条件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=0 at the end</a:t>
            </a:r>
          </a:p>
          <a:p>
            <a:pPr algn="just"/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CN" sz="2400" i="1" baseline="-25000" dirty="0" err="1">
                <a:latin typeface="Times New Roman" pitchFamily="18" charset="0"/>
                <a:cs typeface="Times New Roman" pitchFamily="18" charset="0"/>
              </a:rPr>
              <a:t>max</a:t>
            </a:r>
            <a:endParaRPr lang="zh-CN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148263" y="5178425"/>
          <a:ext cx="3741737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49" name="Equation" r:id="rId4" imgW="2374560" imgH="495000" progId="Equation.DSMT4">
                  <p:embed/>
                </p:oleObj>
              </mc:Choice>
              <mc:Fallback>
                <p:oleObj name="Equation" r:id="rId4" imgW="2374560" imgH="4950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5178425"/>
                        <a:ext cx="3741737" cy="779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下箭头 8"/>
          <p:cNvSpPr/>
          <p:nvPr/>
        </p:nvSpPr>
        <p:spPr bwMode="auto">
          <a:xfrm>
            <a:off x="6588224" y="3717032"/>
            <a:ext cx="432048" cy="1368152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51920" y="5949280"/>
            <a:ext cx="49685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PMC (perfect magnetic conductor) condition at the side walls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23928" y="3399383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V(z)=</a:t>
            </a:r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hE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(z)</a:t>
            </a:r>
            <a:endParaRPr lang="zh-CN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62</a:t>
            </a:fld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763688" y="1268760"/>
            <a:ext cx="5688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介质加载腔模型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95536" y="2276872"/>
            <a:ext cx="4320480" cy="3888432"/>
            <a:chOff x="2411760" y="2132856"/>
            <a:chExt cx="4320480" cy="3888432"/>
          </a:xfrm>
        </p:grpSpPr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58" t="4353" r="7127" b="-3678"/>
            <a:stretch>
              <a:fillRect/>
            </a:stretch>
          </p:blipFill>
          <p:spPr bwMode="auto">
            <a:xfrm>
              <a:off x="2411760" y="2132856"/>
              <a:ext cx="4320480" cy="3888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3995936" y="3645024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altLang="zh-CN" sz="2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PEC</a:t>
              </a:r>
              <a:endParaRPr lang="zh-CN" alt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895085" y="5013176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altLang="zh-CN" sz="2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PEC</a:t>
              </a:r>
              <a:endParaRPr lang="zh-CN" alt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960651" y="3975447"/>
              <a:ext cx="83548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altLang="zh-CN" sz="2400" dirty="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PMC</a:t>
              </a:r>
              <a:endParaRPr lang="zh-CN" altLang="en-US" sz="2400" dirty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491880" y="4551511"/>
              <a:ext cx="83548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altLang="zh-CN" sz="2400" dirty="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PMC</a:t>
              </a:r>
              <a:endParaRPr lang="zh-CN" altLang="en-US" sz="2400" dirty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131840" y="3933056"/>
              <a:ext cx="83548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altLang="zh-CN" sz="2400" dirty="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PMC</a:t>
              </a:r>
              <a:endParaRPr lang="zh-CN" altLang="en-US" sz="2400" dirty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644008" y="3140968"/>
              <a:ext cx="83548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altLang="zh-CN" sz="2400" dirty="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PMC</a:t>
              </a:r>
              <a:endParaRPr lang="zh-CN" altLang="en-US" sz="2400" dirty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4788024" y="2420888"/>
            <a:ext cx="34563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Boundary Conditions:</a:t>
            </a:r>
          </a:p>
          <a:p>
            <a:pPr marL="457200" indent="-457200" algn="just">
              <a:buFont typeface="Wingdings" pitchFamily="2" charset="2"/>
              <a:buChar char="n"/>
            </a:pP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PEC(perfect electric conductor) condition at top and bottom planes</a:t>
            </a:r>
          </a:p>
          <a:p>
            <a:pPr marL="457200" indent="-457200" algn="just"/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Ex=</a:t>
            </a:r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Ez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=0, for x=0,h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Wingdings" pitchFamily="2" charset="2"/>
              <a:buChar char="n"/>
            </a:pP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PMC condition at four sides walls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H="1">
            <a:off x="899592" y="4941168"/>
            <a:ext cx="432048" cy="576064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11560" y="5517232"/>
          <a:ext cx="720080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179" name="Equation" r:id="rId4" imgW="126720" imgH="190440" progId="Equation.DSMT4">
                  <p:embed/>
                </p:oleObj>
              </mc:Choice>
              <mc:Fallback>
                <p:oleObj name="Equation" r:id="rId4" imgW="126720" imgH="1904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5517232"/>
                        <a:ext cx="720080" cy="5760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71" name="Object 3"/>
          <p:cNvGraphicFramePr>
            <a:graphicFrameLocks noChangeAspect="1"/>
          </p:cNvGraphicFramePr>
          <p:nvPr/>
        </p:nvGraphicFramePr>
        <p:xfrm>
          <a:off x="5838825" y="5373216"/>
          <a:ext cx="2247912" cy="881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180" name="Equation" r:id="rId6" imgW="1130040" imgH="444240" progId="Equation.DSMT4">
                  <p:embed/>
                </p:oleObj>
              </mc:Choice>
              <mc:Fallback>
                <p:oleObj name="Equation" r:id="rId6" imgW="1130040" imgH="4442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8825" y="5373216"/>
                        <a:ext cx="2247912" cy="8815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882608" y="6279703"/>
            <a:ext cx="6793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is the out forward normal unit vector of the side walls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37572" name="Object 4"/>
          <p:cNvGraphicFramePr>
            <a:graphicFrameLocks noChangeAspect="1"/>
          </p:cNvGraphicFramePr>
          <p:nvPr/>
        </p:nvGraphicFramePr>
        <p:xfrm>
          <a:off x="1403003" y="6165106"/>
          <a:ext cx="72072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181" name="Equation" r:id="rId8" imgW="126720" imgH="190440" progId="Equation.DSMT4">
                  <p:embed/>
                </p:oleObj>
              </mc:Choice>
              <mc:Fallback>
                <p:oleObj name="Equation" r:id="rId8" imgW="126720" imgH="1904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003" y="6165106"/>
                        <a:ext cx="720725" cy="576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894" y="4404584"/>
            <a:ext cx="6225450" cy="2264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5536" y="1124744"/>
            <a:ext cx="84249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n"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对于真正的贴片天线，由于边缘效应，在侧壁处不是纯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PMC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Wingdings" pitchFamily="2" charset="2"/>
              <a:buChar char="n"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从侧壁流出的包裹电流。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Wingdings" pitchFamily="2" charset="2"/>
              <a:buChar char="n"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扰动法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914400" lvl="1" indent="-457200" algn="just">
              <a:buFont typeface="Wingdings" pitchFamily="2" charset="2"/>
              <a:buChar char="u"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根据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PMC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假设计算场分布，该假设与实际场分布接近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914400" lvl="1" indent="-457200" algn="just">
              <a:buFont typeface="Wingdings" pitchFamily="2" charset="2"/>
              <a:buChar char="u"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根据场分布计算辐射、输入阻抗等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914400" lvl="1" indent="-457200" algn="just">
              <a:buFont typeface="Wingdings" pitchFamily="2" charset="2"/>
              <a:buChar char="u"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包裹电流的贡献被视为衬底损耗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3237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64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755576" y="2147372"/>
            <a:ext cx="76328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n"/>
            </a:pPr>
            <a:r>
              <a:rPr lang="zh-CN" altLang="en-US" sz="2400" dirty="0"/>
              <a:t>由于</a:t>
            </a:r>
            <a:r>
              <a:rPr lang="en-US" altLang="zh-CN" sz="2400" dirty="0"/>
              <a:t>PEC+PMC</a:t>
            </a:r>
            <a:r>
              <a:rPr lang="zh-CN" altLang="en-US" sz="2400" dirty="0"/>
              <a:t>边界形成了一个封闭的空腔，因此在该空腔模型中不考虑辐射。</a:t>
            </a:r>
            <a:endParaRPr lang="en-US" altLang="zh-CN" sz="2400" dirty="0"/>
          </a:p>
          <a:p>
            <a:endParaRPr lang="en-US" altLang="zh-CN" sz="2400" dirty="0"/>
          </a:p>
          <a:p>
            <a:pPr marL="457200" indent="-457200">
              <a:buFont typeface="Wingdings" pitchFamily="2" charset="2"/>
              <a:buChar char="n"/>
            </a:pPr>
            <a:r>
              <a:rPr lang="zh-CN" altLang="en-US" sz="2400" dirty="0"/>
              <a:t>通过向衬底引入有效损耗正切</a:t>
            </a:r>
            <a:r>
              <a:rPr lang="en-US" altLang="zh-CN" sz="2400" i="1" dirty="0" err="1"/>
              <a:t>δ</a:t>
            </a:r>
            <a:r>
              <a:rPr lang="en-US" altLang="zh-CN" sz="2400" i="1" baseline="-25000" dirty="0" err="1"/>
              <a:t>eff</a:t>
            </a:r>
            <a:r>
              <a:rPr lang="zh-CN" altLang="en-US" sz="2400" dirty="0"/>
              <a:t>来考虑辐射损耗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65</a:t>
            </a:fld>
            <a:endParaRPr lang="zh-CN" altLang="en-US"/>
          </a:p>
        </p:txBody>
      </p:sp>
      <p:pic>
        <p:nvPicPr>
          <p:cNvPr id="2385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3541192"/>
            <a:ext cx="3967081" cy="2408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/>
          <p:cNvSpPr/>
          <p:nvPr/>
        </p:nvSpPr>
        <p:spPr>
          <a:xfrm>
            <a:off x="755576" y="1340768"/>
            <a:ext cx="80648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n"/>
            </a:pPr>
            <a:r>
              <a:rPr lang="zh-CN" altLang="en-US" sz="2400" dirty="0"/>
              <a:t>由于侧壁的反射，只有一小部分入射能量被辐射</a:t>
            </a:r>
            <a:r>
              <a:rPr lang="en-US" altLang="zh-CN" sz="2400" dirty="0"/>
              <a:t>-&gt;</a:t>
            </a:r>
            <a:r>
              <a:rPr lang="zh-CN" altLang="en-US" sz="2400" dirty="0"/>
              <a:t>效率低下的天线。</a:t>
            </a:r>
            <a:endParaRPr lang="en-US" altLang="zh-CN" sz="2400" dirty="0"/>
          </a:p>
          <a:p>
            <a:endParaRPr lang="en-US" altLang="zh-CN" sz="2400" dirty="0"/>
          </a:p>
          <a:p>
            <a:pPr marL="457200" indent="-457200">
              <a:buFont typeface="Wingdings" pitchFamily="2" charset="2"/>
              <a:buChar char="n"/>
            </a:pPr>
            <a:r>
              <a:rPr lang="zh-CN" altLang="en-US" sz="2400" dirty="0"/>
              <a:t>贴片下方的场形成驻波，驻波可以用余弦波函数表示。</a:t>
            </a:r>
            <a:endParaRPr lang="en-US" altLang="zh-CN" sz="2400" dirty="0"/>
          </a:p>
          <a:p>
            <a:endParaRPr lang="en-US" altLang="zh-CN" sz="2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755576" y="1556792"/>
            <a:ext cx="7772400" cy="1946275"/>
          </a:xfrm>
          <a:prstGeom prst="rect">
            <a:avLst/>
          </a:prstGeom>
        </p:spPr>
        <p:txBody>
          <a:bodyPr/>
          <a:lstStyle/>
          <a:p>
            <a:r>
              <a:rPr lang="zh-CN" altLang="en-US" sz="6600" dirty="0">
                <a:solidFill>
                  <a:srgbClr val="0000CC"/>
                </a:solidFill>
              </a:rPr>
              <a:t>腔模计算</a:t>
            </a:r>
            <a:br>
              <a:rPr lang="en-US" altLang="zh-CN" sz="6600" dirty="0">
                <a:solidFill>
                  <a:srgbClr val="0000CC"/>
                </a:solidFill>
              </a:rPr>
            </a:br>
            <a:r>
              <a:rPr lang="en-US" altLang="zh-CN" sz="6600" dirty="0">
                <a:solidFill>
                  <a:srgbClr val="0000CC"/>
                </a:solidFill>
              </a:rPr>
              <a:t>TM</a:t>
            </a:r>
            <a:r>
              <a:rPr lang="en-US" altLang="zh-CN" sz="6600" baseline="30000" dirty="0">
                <a:solidFill>
                  <a:srgbClr val="0000CC"/>
                </a:solidFill>
              </a:rPr>
              <a:t>X</a:t>
            </a:r>
            <a:r>
              <a:rPr lang="en-US" altLang="zh-CN" sz="6600" dirty="0">
                <a:solidFill>
                  <a:srgbClr val="0000CC"/>
                </a:solidFill>
              </a:rPr>
              <a:t> </a:t>
            </a:r>
            <a:r>
              <a:rPr lang="zh-CN" altLang="en-US" sz="6600" dirty="0">
                <a:solidFill>
                  <a:srgbClr val="0000CC"/>
                </a:solidFill>
              </a:rPr>
              <a:t>模式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4394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3" y="1163762"/>
            <a:ext cx="7522680" cy="5361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67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E00014-454E-4C7A-BF7B-DC9A93609A7C}"/>
              </a:ext>
            </a:extLst>
          </p:cNvPr>
          <p:cNvSpPr/>
          <p:nvPr/>
        </p:nvSpPr>
        <p:spPr>
          <a:xfrm>
            <a:off x="5508104" y="1268760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磁矢与电矢</a:t>
            </a:r>
          </a:p>
        </p:txBody>
      </p:sp>
    </p:spTree>
    <p:extLst>
      <p:ext uri="{BB962C8B-B14F-4D97-AF65-F5344CB8AC3E}">
        <p14:creationId xmlns:p14="http://schemas.microsoft.com/office/powerpoint/2010/main" val="287513591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286"/>
          <a:stretch>
            <a:fillRect/>
          </a:stretch>
        </p:blipFill>
        <p:spPr bwMode="auto">
          <a:xfrm>
            <a:off x="971600" y="2420888"/>
            <a:ext cx="7571210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68</a:t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 bwMode="auto">
          <a:xfrm>
            <a:off x="2627784" y="5373216"/>
            <a:ext cx="4608512" cy="7200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33766" y="1556792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/>
              <a:t>使用变量分离</a:t>
            </a:r>
          </a:p>
        </p:txBody>
      </p:sp>
    </p:spTree>
    <p:extLst>
      <p:ext uri="{BB962C8B-B14F-4D97-AF65-F5344CB8AC3E}">
        <p14:creationId xmlns:p14="http://schemas.microsoft.com/office/powerpoint/2010/main" val="35013388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74" y="1028700"/>
            <a:ext cx="7709573" cy="520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14112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02840" y="1061864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u="sng" dirty="0">
                <a:solidFill>
                  <a:srgbClr val="C00000"/>
                </a:solidFill>
              </a:rPr>
              <a:t>边界条件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56" y="2276872"/>
            <a:ext cx="6805012" cy="3711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70</a:t>
            </a:fld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22677" y="2276872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PEC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4005064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PMC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左大括号 6"/>
          <p:cNvSpPr/>
          <p:nvPr/>
        </p:nvSpPr>
        <p:spPr>
          <a:xfrm>
            <a:off x="899592" y="3645024"/>
            <a:ext cx="144016" cy="1224136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55642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359595"/>
            <a:ext cx="7390480" cy="4877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7059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843" y="1150968"/>
            <a:ext cx="7679589" cy="465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 bwMode="auto">
          <a:xfrm>
            <a:off x="827584" y="2708920"/>
            <a:ext cx="7272808" cy="136815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3568" y="4089266"/>
            <a:ext cx="14632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Resonant frequencies</a:t>
            </a:r>
            <a:endParaRPr lang="zh-CN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30284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30832" y="989856"/>
            <a:ext cx="8229600" cy="638944"/>
          </a:xfrm>
          <a:prstGeom prst="rect">
            <a:avLst/>
          </a:prstGeom>
        </p:spPr>
        <p:txBody>
          <a:bodyPr/>
          <a:lstStyle/>
          <a:p>
            <a:r>
              <a:rPr lang="zh-CN" altLang="en-US" sz="3200" dirty="0"/>
              <a:t>在</a:t>
            </a:r>
            <a:r>
              <a:rPr lang="en-US" altLang="zh-CN" sz="3200" dirty="0"/>
              <a:t>PEC+PMC</a:t>
            </a:r>
            <a:r>
              <a:rPr lang="zh-CN" altLang="en-US" sz="3200" dirty="0"/>
              <a:t>腔体中的场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73</a:t>
            </a:fld>
            <a:endParaRPr lang="zh-CN" altLang="en-US"/>
          </a:p>
        </p:txBody>
      </p:sp>
      <p:pic>
        <p:nvPicPr>
          <p:cNvPr id="34304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628800"/>
            <a:ext cx="6804248" cy="4667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2171047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848" t="13822"/>
          <a:stretch>
            <a:fillRect/>
          </a:stretch>
        </p:blipFill>
        <p:spPr bwMode="auto">
          <a:xfrm>
            <a:off x="2548682" y="1916832"/>
            <a:ext cx="627179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-36511" y="2300679"/>
            <a:ext cx="2376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谐振频率最低的主模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4102" y="4149080"/>
            <a:ext cx="1303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2400" baseline="30000" dirty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mode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9512" y="5703639"/>
            <a:ext cx="1303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2400" baseline="30000" dirty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mode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3528" y="5127575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or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21195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02840" y="91784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CN" sz="3200" dirty="0"/>
              <a:t>TM</a:t>
            </a:r>
            <a:r>
              <a:rPr lang="en-US" altLang="zh-CN" sz="3200" baseline="30000" dirty="0"/>
              <a:t>X</a:t>
            </a:r>
            <a:r>
              <a:rPr lang="en-US" altLang="zh-CN" sz="3200" baseline="-25000" dirty="0"/>
              <a:t>010</a:t>
            </a:r>
            <a:r>
              <a:rPr lang="en-US" altLang="zh-CN" sz="3200" dirty="0"/>
              <a:t>-Mode</a:t>
            </a:r>
            <a:endParaRPr lang="zh-CN" altLang="en-US" sz="3200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76"/>
          <a:stretch>
            <a:fillRect/>
          </a:stretch>
        </p:blipFill>
        <p:spPr bwMode="auto">
          <a:xfrm>
            <a:off x="1015379" y="1916832"/>
            <a:ext cx="6220917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940152" y="5445224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14.14(a)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3635896" y="3140968"/>
            <a:ext cx="3528392" cy="7200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1259632" y="3140968"/>
            <a:ext cx="2448272" cy="280831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3635896" y="1700808"/>
            <a:ext cx="0" cy="151216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803385" y="1700808"/>
            <a:ext cx="6976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x, m</a:t>
            </a:r>
            <a:endParaRPr lang="zh-CN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01229" y="2924944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z, p</a:t>
            </a:r>
            <a:endParaRPr lang="zh-CN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82513" y="5661248"/>
            <a:ext cx="611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y, n</a:t>
            </a:r>
            <a:endParaRPr lang="zh-CN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1560" y="6054387"/>
            <a:ext cx="7848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m, n, and p denote the number of </a:t>
            </a:r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 field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period along x, y, and z direction respectively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75</a:t>
            </a:fld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285649" y="1628800"/>
            <a:ext cx="8066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 field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664355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846" y="1753652"/>
            <a:ext cx="6339282" cy="4627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90872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CN" u="sng" dirty="0">
                <a:solidFill>
                  <a:srgbClr val="C00000"/>
                </a:solidFill>
              </a:rPr>
              <a:t>TM</a:t>
            </a:r>
            <a:r>
              <a:rPr lang="en-US" altLang="zh-CN" u="sng" baseline="30000" dirty="0">
                <a:solidFill>
                  <a:srgbClr val="C00000"/>
                </a:solidFill>
              </a:rPr>
              <a:t>X</a:t>
            </a:r>
            <a:r>
              <a:rPr lang="en-US" altLang="zh-CN" baseline="-25000" dirty="0">
                <a:solidFill>
                  <a:srgbClr val="C00000"/>
                </a:solidFill>
              </a:rPr>
              <a:t>001</a:t>
            </a:r>
            <a:r>
              <a:rPr lang="en-US" altLang="zh-CN" u="sng" dirty="0">
                <a:solidFill>
                  <a:srgbClr val="C00000"/>
                </a:solidFill>
              </a:rPr>
              <a:t>-Mode</a:t>
            </a:r>
            <a:endParaRPr lang="zh-CN" altLang="en-US" u="sng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0152" y="5445224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14.14(b)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3750383" y="3356992"/>
            <a:ext cx="3528392" cy="7200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H="1">
            <a:off x="1374119" y="3356992"/>
            <a:ext cx="2448272" cy="280831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V="1">
            <a:off x="3750383" y="1916832"/>
            <a:ext cx="0" cy="151216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917872" y="1916832"/>
            <a:ext cx="6976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x, m</a:t>
            </a:r>
            <a:endParaRPr lang="zh-CN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15716" y="3140968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z, p</a:t>
            </a:r>
            <a:endParaRPr lang="zh-CN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7000" y="5877272"/>
            <a:ext cx="611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y, n</a:t>
            </a:r>
            <a:endParaRPr lang="zh-CN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76</a:t>
            </a:fld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285649" y="1844824"/>
            <a:ext cx="8066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 field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557065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989856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CN" u="sng" dirty="0">
                <a:solidFill>
                  <a:srgbClr val="C00000"/>
                </a:solidFill>
              </a:rPr>
              <a:t>TM</a:t>
            </a:r>
            <a:r>
              <a:rPr lang="en-US" altLang="zh-CN" u="sng" baseline="30000" dirty="0">
                <a:solidFill>
                  <a:srgbClr val="C00000"/>
                </a:solidFill>
              </a:rPr>
              <a:t>X</a:t>
            </a:r>
            <a:r>
              <a:rPr lang="en-US" altLang="zh-CN" baseline="-25000" dirty="0">
                <a:solidFill>
                  <a:srgbClr val="C00000"/>
                </a:solidFill>
              </a:rPr>
              <a:t>020</a:t>
            </a:r>
            <a:r>
              <a:rPr lang="en-US" altLang="zh-CN" u="sng" dirty="0">
                <a:solidFill>
                  <a:srgbClr val="C00000"/>
                </a:solidFill>
              </a:rPr>
              <a:t>-Mode</a:t>
            </a:r>
            <a:endParaRPr lang="zh-CN" altLang="en-US" u="sng" dirty="0">
              <a:solidFill>
                <a:srgbClr val="C00000"/>
              </a:solidFill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587" y="2132856"/>
            <a:ext cx="6234499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940152" y="5445224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14.14(c)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3635896" y="3543399"/>
            <a:ext cx="3528392" cy="7200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H="1">
            <a:off x="1259632" y="3543399"/>
            <a:ext cx="2448272" cy="280831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V="1">
            <a:off x="3635896" y="2103239"/>
            <a:ext cx="0" cy="151216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03385" y="2103239"/>
            <a:ext cx="6976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x, m</a:t>
            </a:r>
            <a:endParaRPr lang="zh-CN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01229" y="3327375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z, p</a:t>
            </a:r>
            <a:endParaRPr lang="zh-CN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2513" y="6063679"/>
            <a:ext cx="611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y, n</a:t>
            </a:r>
            <a:endParaRPr lang="zh-CN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77</a:t>
            </a:fld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285649" y="1763524"/>
            <a:ext cx="8066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 field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52791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02840" y="1061864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CN" u="sng" dirty="0">
                <a:solidFill>
                  <a:srgbClr val="C00000"/>
                </a:solidFill>
              </a:rPr>
              <a:t>TM</a:t>
            </a:r>
            <a:r>
              <a:rPr lang="en-US" altLang="zh-CN" u="sng" baseline="30000" dirty="0">
                <a:solidFill>
                  <a:srgbClr val="C00000"/>
                </a:solidFill>
              </a:rPr>
              <a:t>X</a:t>
            </a:r>
            <a:r>
              <a:rPr lang="en-US" altLang="zh-CN" baseline="-25000" dirty="0">
                <a:solidFill>
                  <a:srgbClr val="C00000"/>
                </a:solidFill>
              </a:rPr>
              <a:t>002</a:t>
            </a:r>
            <a:r>
              <a:rPr lang="en-US" altLang="zh-CN" u="sng" dirty="0">
                <a:solidFill>
                  <a:srgbClr val="C00000"/>
                </a:solidFill>
              </a:rPr>
              <a:t>-Mode</a:t>
            </a:r>
            <a:endParaRPr lang="zh-CN" altLang="en-US" u="sng" dirty="0">
              <a:solidFill>
                <a:srgbClr val="C00000"/>
              </a:solidFill>
            </a:endParaRP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038" y="1969676"/>
            <a:ext cx="6505574" cy="4627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940152" y="5445224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14.14(d)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3635896" y="3284984"/>
            <a:ext cx="3528392" cy="7200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H="1">
            <a:off x="1259632" y="3284984"/>
            <a:ext cx="2448272" cy="280831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V="1">
            <a:off x="3635896" y="1844824"/>
            <a:ext cx="0" cy="151216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03385" y="1844824"/>
            <a:ext cx="6976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x, m</a:t>
            </a:r>
            <a:endParaRPr lang="zh-CN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01229" y="3068960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z, p</a:t>
            </a:r>
            <a:endParaRPr lang="zh-CN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2513" y="5805264"/>
            <a:ext cx="611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y, n</a:t>
            </a:r>
            <a:endParaRPr lang="zh-CN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78</a:t>
            </a:fld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285649" y="1628800"/>
            <a:ext cx="8066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 field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707566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590872" y="989856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CN" i="1" u="sng" dirty="0">
                <a:solidFill>
                  <a:srgbClr val="0000CC"/>
                </a:solidFill>
              </a:rPr>
              <a:t>J</a:t>
            </a:r>
            <a:r>
              <a:rPr lang="en-US" altLang="zh-CN" i="1" baseline="-25000" dirty="0">
                <a:solidFill>
                  <a:srgbClr val="0000CC"/>
                </a:solidFill>
              </a:rPr>
              <a:t>S</a:t>
            </a:r>
            <a:r>
              <a:rPr lang="en-US" altLang="zh-CN" dirty="0">
                <a:solidFill>
                  <a:srgbClr val="0000CC"/>
                </a:solidFill>
              </a:rPr>
              <a:t>,</a:t>
            </a:r>
            <a:r>
              <a:rPr lang="en-US" altLang="zh-CN" i="1" dirty="0">
                <a:solidFill>
                  <a:srgbClr val="0000CC"/>
                </a:solidFill>
              </a:rPr>
              <a:t> </a:t>
            </a:r>
            <a:r>
              <a:rPr lang="en-US" altLang="zh-CN" i="1" u="sng" dirty="0">
                <a:solidFill>
                  <a:srgbClr val="0000CC"/>
                </a:solidFill>
              </a:rPr>
              <a:t>M</a:t>
            </a:r>
            <a:r>
              <a:rPr lang="en-US" altLang="zh-CN" i="1" baseline="-25000" dirty="0">
                <a:solidFill>
                  <a:srgbClr val="0000CC"/>
                </a:solidFill>
              </a:rPr>
              <a:t>S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u="sng" dirty="0">
                <a:solidFill>
                  <a:srgbClr val="C00000"/>
                </a:solidFill>
              </a:rPr>
              <a:t>With Ground Plane</a:t>
            </a:r>
            <a:endParaRPr lang="zh-CN" altLang="en-US" u="sng" dirty="0">
              <a:solidFill>
                <a:srgbClr val="C00000"/>
              </a:solidFill>
            </a:endParaRPr>
          </a:p>
        </p:txBody>
      </p:sp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786" y="3101722"/>
            <a:ext cx="6231606" cy="371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940152" y="5445224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14.15(a)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3528" y="1700808"/>
            <a:ext cx="864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n"/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四个侧壁被视为四个狭窄的孔（槽），辐射通过这些孔发生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n"/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使用惠更斯原理，微带贴片由等效电流和磁电流密度表示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800100" lvl="1" indent="-342900">
              <a:buFont typeface="Wingdings" pitchFamily="2" charset="2"/>
              <a:buChar char="u"/>
            </a:pPr>
            <a:r>
              <a:rPr lang="en-US" altLang="zh-CN" b="1" i="1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CN" i="1" baseline="-25000" dirty="0" err="1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在贴片的顶部表面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>
              <a:buFont typeface="Wingdings" pitchFamily="2" charset="2"/>
              <a:buChar char="u"/>
            </a:pPr>
            <a:r>
              <a:rPr lang="en-US" altLang="zh-CN" b="1" i="1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CN" i="1" baseline="-250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altLang="zh-CN" b="1" i="1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i="1" baseline="-25000" dirty="0" err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在四个侧壁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79</a:t>
            </a:fld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66173" y="5517232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无限接地平面</a:t>
            </a:r>
          </a:p>
        </p:txBody>
      </p:sp>
    </p:spTree>
    <p:extLst>
      <p:ext uri="{BB962C8B-B14F-4D97-AF65-F5344CB8AC3E}">
        <p14:creationId xmlns:p14="http://schemas.microsoft.com/office/powerpoint/2010/main" val="146957773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73" y="3156052"/>
            <a:ext cx="5980160" cy="34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539552" y="1353542"/>
            <a:ext cx="80648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在贴片顶部的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CN" sz="2400" i="1" baseline="-25000" dirty="0" err="1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非常小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沿着贴片边缘的切向磁场非常小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80</a:t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982797" y="486916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无限接地平面</a:t>
            </a:r>
          </a:p>
        </p:txBody>
      </p:sp>
    </p:spTree>
    <p:extLst>
      <p:ext uri="{BB962C8B-B14F-4D97-AF65-F5344CB8AC3E}">
        <p14:creationId xmlns:p14="http://schemas.microsoft.com/office/powerpoint/2010/main" val="263128883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420888"/>
            <a:ext cx="5472608" cy="4025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940152" y="5445224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14.15(c)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75656" y="1268760"/>
            <a:ext cx="6408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考虑地平面效应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13226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7273"/>
          <a:stretch>
            <a:fillRect/>
          </a:stretch>
        </p:blipFill>
        <p:spPr bwMode="auto">
          <a:xfrm>
            <a:off x="1083212" y="1196752"/>
            <a:ext cx="7809268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636" r="48870" b="74419"/>
          <a:stretch>
            <a:fillRect/>
          </a:stretch>
        </p:blipFill>
        <p:spPr bwMode="auto">
          <a:xfrm>
            <a:off x="1115616" y="4653136"/>
            <a:ext cx="3992844" cy="567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8032" y="1260049"/>
            <a:ext cx="3563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口面场对于：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64741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862" y="1655222"/>
            <a:ext cx="7601562" cy="451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19872" y="6002124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14.16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03648" y="980728"/>
            <a:ext cx="6768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TM</a:t>
            </a:r>
            <a:r>
              <a:rPr lang="en-US" altLang="zh-CN" sz="3200" baseline="-25000" dirty="0">
                <a:latin typeface="Times New Roman" pitchFamily="18" charset="0"/>
                <a:cs typeface="Times New Roman" pitchFamily="18" charset="0"/>
              </a:rPr>
              <a:t>010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模式下的辐射缝隙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53607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556792"/>
            <a:ext cx="6422109" cy="4749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67544" y="90872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CN" sz="5400" u="sng" dirty="0">
                <a:solidFill>
                  <a:srgbClr val="C00000"/>
                </a:solidFill>
              </a:rPr>
              <a:t>E-Plane</a:t>
            </a:r>
            <a:endParaRPr lang="zh-CN" altLang="en-US" sz="5400" u="sng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44208" y="1556792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14.17(a)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46522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786" y="1922572"/>
            <a:ext cx="6855606" cy="4818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67544" y="90872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CN" sz="5400" u="sng" dirty="0">
                <a:solidFill>
                  <a:srgbClr val="C00000"/>
                </a:solidFill>
              </a:rPr>
              <a:t>H-Plane</a:t>
            </a:r>
            <a:endParaRPr lang="zh-CN" altLang="en-US" sz="5400" u="sng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44208" y="1556792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14.17(b)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52442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839368"/>
            <a:ext cx="7200802" cy="5046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868144" y="5786100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14.18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59632" y="1116033"/>
            <a:ext cx="6768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TM</a:t>
            </a:r>
            <a:r>
              <a:rPr lang="en-US" altLang="zh-CN" sz="3200" baseline="-25000" dirty="0">
                <a:latin typeface="Times New Roman" pitchFamily="18" charset="0"/>
                <a:cs typeface="Times New Roman" pitchFamily="18" charset="0"/>
              </a:rPr>
              <a:t>010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模的非辐射缝隙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6732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755576" y="2246313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altLang="zh-CN" sz="6000" dirty="0">
                <a:solidFill>
                  <a:srgbClr val="0000CC"/>
                </a:solidFill>
              </a:rPr>
              <a:t>TM</a:t>
            </a:r>
            <a:r>
              <a:rPr lang="en-US" altLang="zh-CN" sz="6000" baseline="-25000" dirty="0">
                <a:solidFill>
                  <a:srgbClr val="0000CC"/>
                </a:solidFill>
              </a:rPr>
              <a:t>010</a:t>
            </a:r>
            <a:r>
              <a:rPr lang="en-US" altLang="zh-CN" sz="6000" dirty="0">
                <a:solidFill>
                  <a:srgbClr val="0000CC"/>
                </a:solidFill>
              </a:rPr>
              <a:t> </a:t>
            </a:r>
            <a:r>
              <a:rPr lang="zh-CN" altLang="en-US" sz="6000" dirty="0">
                <a:solidFill>
                  <a:srgbClr val="0000CC"/>
                </a:solidFill>
              </a:rPr>
              <a:t>模的辐射电场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23035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6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9996" y="1955741"/>
            <a:ext cx="6244007" cy="4212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4572264"/>
            <a:ext cx="2717371" cy="1612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987823" y="1078578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Radiation from Slot #2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88</a:t>
            </a:fld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1FC773-E190-4946-8B6E-F58F9F872220}"/>
              </a:ext>
            </a:extLst>
          </p:cNvPr>
          <p:cNvSpPr/>
          <p:nvPr/>
        </p:nvSpPr>
        <p:spPr>
          <a:xfrm>
            <a:off x="128639" y="1586409"/>
            <a:ext cx="81157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由于馈线选得只激励 TEM 模，口径处电场的X分量可假设为常数且等于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841D5E-0939-4B8C-81ED-E01575FB8191}"/>
              </a:ext>
            </a:extLst>
          </p:cNvPr>
          <p:cNvSpPr/>
          <p:nvPr/>
        </p:nvSpPr>
        <p:spPr>
          <a:xfrm>
            <a:off x="254790" y="3569597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磁流密度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522988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6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3559" y="1196752"/>
            <a:ext cx="8516913" cy="2862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06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0040" y="4221088"/>
            <a:ext cx="8460432" cy="2533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699792" y="980728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Radiation from Slot #2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97797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590872" y="989856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u="sng" dirty="0">
                <a:solidFill>
                  <a:srgbClr val="C00000"/>
                </a:solidFill>
              </a:rPr>
              <a:t>二单元阵列</a:t>
            </a:r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340455"/>
            <a:ext cx="7639768" cy="3968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683568" y="1628800"/>
            <a:ext cx="80648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两个元素的阵列因子，大小和相位相同，相隔距离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CN" sz="2400" i="1" baseline="-25000" dirty="0">
                <a:latin typeface="Times New Roman" pitchFamily="18" charset="0"/>
                <a:cs typeface="Times New Roman" pitchFamily="18" charset="0"/>
              </a:rPr>
              <a:t>e</a:t>
            </a:r>
            <a:endParaRPr lang="zh-CN" altLang="en-US" sz="24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90</a:t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388301" y="6093296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#2</a:t>
            </a:r>
            <a:endParaRPr lang="zh-CN" alt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8653" y="6093296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#1</a:t>
            </a:r>
            <a:endParaRPr lang="zh-CN" alt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65523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172068"/>
            <a:ext cx="6179071" cy="240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7544" y="1341438"/>
            <a:ext cx="8229600" cy="478472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在</a:t>
            </a:r>
            <a:r>
              <a:rPr lang="en-US" altLang="zh-CN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zh-CN" alt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方向上间隔开距离</a:t>
            </a:r>
            <a:r>
              <a:rPr lang="en-US" altLang="zh-CN" sz="4000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CN" sz="4000" i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zh-CN" alt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的</a:t>
            </a:r>
            <a:r>
              <a:rPr lang="en-US" altLang="zh-CN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个元素的阵列因子由下式给出</a:t>
            </a:r>
            <a:endParaRPr lang="en-US" altLang="zh-CN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zh-CN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zh-CN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zh-CN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zh-CN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zh-CN" alt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其中</a:t>
            </a:r>
            <a:r>
              <a:rPr lang="en-US" altLang="zh-CN" sz="4000" i="1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CN" sz="4000" i="1" baseline="-25000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zh-CN" alt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是有效距离</a:t>
            </a:r>
            <a:endParaRPr lang="en-US" altLang="zh-CN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zh-CN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zh-CN" altLang="en-US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14941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27784" y="1124744"/>
            <a:ext cx="3672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总辐射电场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92</a:t>
            </a:fld>
            <a:endParaRPr lang="zh-CN" altLang="en-US"/>
          </a:p>
        </p:txBody>
      </p:sp>
      <p:pic>
        <p:nvPicPr>
          <p:cNvPr id="322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1772816"/>
            <a:ext cx="5953125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25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56176" y="3140968"/>
            <a:ext cx="2628900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256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9592" y="3789040"/>
            <a:ext cx="411480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256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" y="4727575"/>
            <a:ext cx="8477250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8867027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76"/>
          <a:stretch>
            <a:fillRect/>
          </a:stretch>
        </p:blipFill>
        <p:spPr bwMode="auto">
          <a:xfrm>
            <a:off x="971550" y="2132856"/>
            <a:ext cx="7560890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93</a:t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55576" y="1229851"/>
            <a:ext cx="77768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对于微带天线而言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, x-y 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平面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(θ = 90◦ </a:t>
            </a:r>
            <a:r>
              <a:rPr lang="el-GR" altLang="zh-CN" sz="2400" dirty="0">
                <a:latin typeface="Times New Roman" pitchFamily="18" charset="0"/>
                <a:cs typeface="Times New Roman" pitchFamily="18" charset="0"/>
              </a:rPr>
              <a:t>, 0◦ ≤ φ ≤ 90◦ 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and 270◦ ≤ </a:t>
            </a:r>
            <a:r>
              <a:rPr lang="el-GR" altLang="zh-CN" sz="2400" dirty="0">
                <a:latin typeface="Times New Roman" pitchFamily="18" charset="0"/>
                <a:cs typeface="Times New Roman" pitchFamily="18" charset="0"/>
              </a:rPr>
              <a:t>φ ≤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360◦) 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是主要的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E-plane.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63448" y="3903439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(x-z plane)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54416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666885"/>
            <a:ext cx="6264696" cy="3858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1666" name="Picture 2" descr="C:\Users\admin\Desktop\图片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7353" y="980728"/>
            <a:ext cx="8241111" cy="1584829"/>
          </a:xfrm>
          <a:prstGeom prst="rect">
            <a:avLst/>
          </a:prstGeom>
          <a:noFill/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757374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1124744"/>
            <a:ext cx="4948707" cy="5617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58824" y="989856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CN" u="sng" dirty="0">
                <a:solidFill>
                  <a:srgbClr val="C00000"/>
                </a:solidFill>
              </a:rPr>
              <a:t>E-Plane</a:t>
            </a:r>
            <a:endParaRPr lang="zh-CN" altLang="en-US" u="sng"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3907" y="5085184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14.19(a)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971600" y="1648833"/>
                <a:ext cx="2376264" cy="27173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sz="280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sz="2800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zh-CN" altLang="en-US" sz="280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=0.906</m:t>
                            </m:r>
                            <m:r>
                              <a:rPr lang="zh-CN" altLang="en-US" sz="2800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𝑐𝑚</m:t>
                            </m:r>
                          </m:e>
                        </m:mr>
                        <m:mr>
                          <m:e>
                            <m:r>
                              <a:rPr lang="zh-CN" altLang="en-US" sz="2800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zh-CN" altLang="en-US" sz="280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=1.186</m:t>
                            </m:r>
                            <m:r>
                              <a:rPr lang="zh-CN" altLang="en-US" sz="2800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𝑐𝑚</m:t>
                            </m:r>
                          </m:e>
                        </m:mr>
                        <m:mr>
                          <m:e>
                            <m:r>
                              <a:rPr lang="zh-CN" altLang="en-US" sz="2800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zh-CN" altLang="en-US" sz="280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=0.1588</m:t>
                            </m:r>
                            <m:r>
                              <a:rPr lang="zh-CN" altLang="en-US" sz="2800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𝑐𝑚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  <m:r>
                              <a:rPr lang="zh-CN" altLang="en-US" sz="280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=0.3126</m:t>
                            </m:r>
                            <m:r>
                              <a:rPr lang="zh-CN" altLang="en-US" sz="2800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𝑐𝑚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a:rPr lang="zh-CN" altLang="en-US" sz="280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=2.2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  <m:r>
                              <a:rPr lang="zh-CN" altLang="en-US" sz="280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=10</m:t>
                            </m:r>
                            <m:r>
                              <a:rPr lang="zh-CN" altLang="en-US" sz="2800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𝐺𝐻𝑧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 sz="2800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648833"/>
                <a:ext cx="2376264" cy="2717347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r="-17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01666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153" y="1124744"/>
            <a:ext cx="5249327" cy="568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-36512" y="91784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CN" u="sng" dirty="0">
                <a:solidFill>
                  <a:srgbClr val="C00000"/>
                </a:solidFill>
              </a:rPr>
              <a:t>H-Plane</a:t>
            </a:r>
            <a:endParaRPr lang="zh-CN" altLang="en-US" u="sng"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3907" y="5085184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14.19(b)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755576" y="1648833"/>
                <a:ext cx="2232248" cy="27173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sz="280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sz="2800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zh-CN" altLang="en-US" sz="280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=0.906</m:t>
                            </m:r>
                            <m:r>
                              <a:rPr lang="zh-CN" altLang="en-US" sz="2800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𝑐𝑚</m:t>
                            </m:r>
                          </m:e>
                        </m:mr>
                        <m:mr>
                          <m:e>
                            <m:r>
                              <a:rPr lang="zh-CN" altLang="en-US" sz="2800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zh-CN" altLang="en-US" sz="280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=1.186</m:t>
                            </m:r>
                            <m:r>
                              <a:rPr lang="zh-CN" altLang="en-US" sz="2800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𝑐𝑚</m:t>
                            </m:r>
                          </m:e>
                        </m:mr>
                        <m:mr>
                          <m:e>
                            <m:r>
                              <a:rPr lang="zh-CN" altLang="en-US" sz="2800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zh-CN" altLang="en-US" sz="280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=0.1588</m:t>
                            </m:r>
                            <m:r>
                              <a:rPr lang="zh-CN" altLang="en-US" sz="2800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𝑐𝑚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  <m:r>
                              <a:rPr lang="zh-CN" altLang="en-US" sz="280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=0.3126</m:t>
                            </m:r>
                            <m:r>
                              <a:rPr lang="zh-CN" altLang="en-US" sz="2800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𝑐𝑚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a:rPr lang="zh-CN" altLang="en-US" sz="280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=2.2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  <m:r>
                              <a:rPr lang="zh-CN" altLang="en-US" sz="280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=10</m:t>
                            </m:r>
                            <m:r>
                              <a:rPr lang="zh-CN" altLang="en-US" sz="2800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𝐺𝐻𝑧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 sz="2400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648833"/>
                <a:ext cx="2232248" cy="2717347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r="-8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20473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97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770849" y="1412776"/>
            <a:ext cx="78335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空腔模型结果和测量结果之间的误差（尤其是掠入射角）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是由于基板截断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-&gt;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非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PEC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反射系数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有限地面边缘衍射</a:t>
            </a:r>
          </a:p>
        </p:txBody>
      </p:sp>
      <p:sp>
        <p:nvSpPr>
          <p:cNvPr id="4" name="矩形 3"/>
          <p:cNvSpPr/>
          <p:nvPr/>
        </p:nvSpPr>
        <p:spPr>
          <a:xfrm>
            <a:off x="727208" y="4069229"/>
            <a:ext cx="79208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对于电介质覆盖的接地平面（阻抗表面），对于远离掠射的观测角度，反射系数几乎为</a:t>
            </a:r>
            <a:r>
              <a:rPr lang="en-US" altLang="zh-CN" sz="2400" dirty="0"/>
              <a:t>+1</a:t>
            </a:r>
            <a:r>
              <a:rPr lang="zh-CN" altLang="en-US" sz="2400" dirty="0"/>
              <a:t>，但在掠射附近开始迅速变化，在掠射时变为</a:t>
            </a:r>
            <a:r>
              <a:rPr lang="en-US" altLang="zh-CN" sz="2400" dirty="0"/>
              <a:t>-1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611560" y="2564904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z="6600" dirty="0">
                <a:solidFill>
                  <a:srgbClr val="0000CC"/>
                </a:solidFill>
              </a:rPr>
              <a:t>单缝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87914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268760"/>
            <a:ext cx="7389845" cy="5112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21273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96752"/>
            <a:ext cx="7507433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100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70634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30"/>
          <a:stretch/>
        </p:blipFill>
        <p:spPr bwMode="auto">
          <a:xfrm>
            <a:off x="756121" y="2348880"/>
            <a:ext cx="7631757" cy="3395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101</a:t>
            </a:fld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D5A448-C737-4D91-81F7-9E828CF39636}"/>
              </a:ext>
            </a:extLst>
          </p:cNvPr>
          <p:cNvSpPr/>
          <p:nvPr/>
        </p:nvSpPr>
        <p:spPr>
          <a:xfrm>
            <a:off x="2051720" y="1484784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渐进地表示为</a:t>
            </a:r>
          </a:p>
        </p:txBody>
      </p:sp>
    </p:spTree>
    <p:extLst>
      <p:ext uri="{BB962C8B-B14F-4D97-AF65-F5344CB8AC3E}">
        <p14:creationId xmlns:p14="http://schemas.microsoft.com/office/powerpoint/2010/main" val="210219874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688032" y="2319338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z="6600" dirty="0">
                <a:solidFill>
                  <a:srgbClr val="0000CC"/>
                </a:solidFill>
              </a:rPr>
              <a:t>双辐射缝隙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102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54411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340768"/>
            <a:ext cx="7815118" cy="4968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6011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711632"/>
            <a:ext cx="7344816" cy="5146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104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6FCA58-E6F2-4E52-85A8-0DEE86D5EE27}"/>
              </a:ext>
            </a:extLst>
          </p:cNvPr>
          <p:cNvSpPr/>
          <p:nvPr/>
        </p:nvSpPr>
        <p:spPr>
          <a:xfrm>
            <a:off x="467544" y="1196752"/>
            <a:ext cx="86764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2个辐射槽的总宽边方向性系数，由主</a:t>
            </a:r>
            <a:r>
              <a:rPr lang="en-US" altLang="zh-CN" sz="2400" dirty="0"/>
              <a:t>                 </a:t>
            </a:r>
            <a:r>
              <a:rPr lang="zh-CN" altLang="en-US" sz="2400" dirty="0"/>
              <a:t>模式分离</a:t>
            </a:r>
            <a:r>
              <a:rPr lang="en-US" altLang="zh-CN" sz="2400" dirty="0"/>
              <a:t>(</a:t>
            </a:r>
            <a:r>
              <a:rPr lang="zh-CN" altLang="en-US" sz="2400" dirty="0"/>
              <a:t>反对称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5411F66-D804-4C02-9784-8D9BF4C2B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20" y="1196752"/>
            <a:ext cx="104775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14500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07"/>
          <a:stretch/>
        </p:blipFill>
        <p:spPr bwMode="auto">
          <a:xfrm>
            <a:off x="736776" y="2420888"/>
            <a:ext cx="7723656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105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386CE3B-FE7C-418D-B95B-B3CB8FA804EC}"/>
              </a:ext>
            </a:extLst>
          </p:cNvPr>
          <p:cNvSpPr/>
          <p:nvPr/>
        </p:nvSpPr>
        <p:spPr>
          <a:xfrm>
            <a:off x="2051720" y="1484784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渐进地表示为</a:t>
            </a:r>
          </a:p>
        </p:txBody>
      </p:sp>
    </p:spTree>
    <p:extLst>
      <p:ext uri="{BB962C8B-B14F-4D97-AF65-F5344CB8AC3E}">
        <p14:creationId xmlns:p14="http://schemas.microsoft.com/office/powerpoint/2010/main" val="234940869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63888" y="6021288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14.20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484784"/>
            <a:ext cx="6816849" cy="509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52608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5508" y="1196752"/>
            <a:ext cx="6085057" cy="5641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107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87213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02840" y="1133872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z="5400" u="sng" dirty="0">
                <a:solidFill>
                  <a:srgbClr val="C00000"/>
                </a:solidFill>
              </a:rPr>
              <a:t>波束宽度</a:t>
            </a:r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276872"/>
            <a:ext cx="7721752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BFB24-313B-4B7C-99C5-CC8746813479}" type="slidenum">
              <a:rPr lang="zh-CN" altLang="en-US" smtClean="0"/>
              <a:pPr>
                <a:defRPr/>
              </a:pPr>
              <a:t>108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82516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760040" y="2246313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z="6600" dirty="0">
                <a:solidFill>
                  <a:srgbClr val="0000CC"/>
                </a:solidFill>
              </a:rPr>
              <a:t>圆形贴片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70275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786" y="1124744"/>
            <a:ext cx="6247812" cy="3928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724128" y="4032637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14.22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4534" y="5156021"/>
            <a:ext cx="8424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n"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对于非常小的衬底高度（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h&lt;&lt;λ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），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=0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，并且仅存在</a:t>
            </a:r>
            <a:r>
              <a:rPr lang="en-US" altLang="zh-CN" sz="2400" dirty="0" err="1">
                <a:latin typeface="Times New Roman" pitchFamily="18" charset="0"/>
                <a:cs typeface="Times New Roman" pitchFamily="18" charset="0"/>
              </a:rPr>
              <a:t>TM</a:t>
            </a:r>
            <a:r>
              <a:rPr lang="en-US" altLang="zh-CN" sz="2400" baseline="30000" dirty="0" err="1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模式，其中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垂直于贴片。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PEC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位于顶部和底部，圆柱形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PMC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围绕空腔的圆形周边。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98892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63888" y="5589240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14.23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021" y="1261689"/>
            <a:ext cx="7759427" cy="4255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98384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539552" y="99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CN" u="sng" dirty="0">
                <a:solidFill>
                  <a:srgbClr val="008000"/>
                </a:solidFill>
              </a:rPr>
              <a:t>TM</a:t>
            </a:r>
            <a:r>
              <a:rPr lang="en-US" altLang="zh-CN" u="sng" baseline="30000" dirty="0">
                <a:solidFill>
                  <a:srgbClr val="008000"/>
                </a:solidFill>
              </a:rPr>
              <a:t>Z</a:t>
            </a:r>
            <a:endParaRPr lang="zh-CN" altLang="en-US" u="sng" baseline="30000" dirty="0">
              <a:solidFill>
                <a:srgbClr val="008000"/>
              </a:solidFill>
            </a:endParaRPr>
          </a:p>
        </p:txBody>
      </p:sp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636912"/>
            <a:ext cx="7995357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269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39752" y="1916832"/>
            <a:ext cx="5655262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112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007CDA-60E9-44AE-9452-FF92B3872F44}"/>
              </a:ext>
            </a:extLst>
          </p:cNvPr>
          <p:cNvSpPr/>
          <p:nvPr/>
        </p:nvSpPr>
        <p:spPr>
          <a:xfrm>
            <a:off x="266036" y="21693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齐次波动方程</a:t>
            </a:r>
          </a:p>
        </p:txBody>
      </p:sp>
    </p:spTree>
    <p:extLst>
      <p:ext uri="{BB962C8B-B14F-4D97-AF65-F5344CB8AC3E}">
        <p14:creationId xmlns:p14="http://schemas.microsoft.com/office/powerpoint/2010/main" val="357459144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74848" y="10620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CN" u="sng" dirty="0">
                <a:solidFill>
                  <a:srgbClr val="008000"/>
                </a:solidFill>
              </a:rPr>
              <a:t>TM</a:t>
            </a:r>
            <a:r>
              <a:rPr lang="en-US" altLang="zh-CN" u="sng" baseline="30000" dirty="0">
                <a:solidFill>
                  <a:srgbClr val="008000"/>
                </a:solidFill>
              </a:rPr>
              <a:t>Z</a:t>
            </a:r>
            <a:endParaRPr lang="zh-CN" altLang="en-US" u="sng" baseline="30000" dirty="0">
              <a:solidFill>
                <a:srgbClr val="008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32048" y="2287588"/>
            <a:ext cx="4427984" cy="56534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zh-CN" u="sng" dirty="0">
                <a:solidFill>
                  <a:srgbClr val="0000CC"/>
                </a:solidFill>
              </a:rPr>
              <a:t>Boundary Conditions:</a:t>
            </a:r>
            <a:endParaRPr lang="zh-CN" altLang="en-US" u="sng" dirty="0">
              <a:solidFill>
                <a:srgbClr val="0000CC"/>
              </a:solidFill>
            </a:endParaRPr>
          </a:p>
        </p:txBody>
      </p:sp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013181"/>
            <a:ext cx="7760736" cy="268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113</a:t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287573" y="3356992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PEC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3135" y="4119463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PMC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右大括号 7"/>
          <p:cNvSpPr/>
          <p:nvPr/>
        </p:nvSpPr>
        <p:spPr>
          <a:xfrm>
            <a:off x="8100392" y="3212976"/>
            <a:ext cx="216024" cy="720080"/>
          </a:xfrm>
          <a:prstGeom prst="rightBrac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97534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053" y="1628800"/>
            <a:ext cx="7550329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95159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84" b="54551"/>
          <a:stretch>
            <a:fillRect/>
          </a:stretch>
        </p:blipFill>
        <p:spPr bwMode="auto">
          <a:xfrm>
            <a:off x="971600" y="2348880"/>
            <a:ext cx="7131627" cy="86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632"/>
          <a:stretch>
            <a:fillRect/>
          </a:stretch>
        </p:blipFill>
        <p:spPr bwMode="auto">
          <a:xfrm>
            <a:off x="1043608" y="3645024"/>
            <a:ext cx="7131627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3563888" y="4365104"/>
            <a:ext cx="46805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zh-CN" sz="2000" dirty="0">
                <a:latin typeface="Times New Roman" pitchFamily="18" charset="0"/>
                <a:cs typeface="Times New Roman" pitchFamily="18" charset="0"/>
              </a:rPr>
              <a:t>χ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altLang="zh-CN" sz="2000" baseline="-25000" dirty="0" err="1">
                <a:latin typeface="Times New Roman" pitchFamily="18" charset="0"/>
                <a:cs typeface="Times New Roman" pitchFamily="18" charset="0"/>
              </a:rPr>
              <a:t>mn</a:t>
            </a:r>
            <a:r>
              <a:rPr lang="en-US" altLang="zh-CN" sz="2000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表示贝塞尔函数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CN" sz="2000" baseline="-25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）导数的零点，</a:t>
            </a:r>
            <a:endParaRPr lang="en-US" altLang="zh-CN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决定了谐振频率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21950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88840"/>
            <a:ext cx="7262698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99618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105791"/>
            <a:ext cx="6624736" cy="4419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763688" y="980728"/>
            <a:ext cx="5472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谐振频率点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9832" y="5055567"/>
            <a:ext cx="3456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Dominant Mode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3608" y="1412776"/>
            <a:ext cx="7056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≠0 is for higher order modes, here we only consider TM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mn0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modes.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410568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70" y="1309571"/>
            <a:ext cx="7411690" cy="4711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71600" y="3645024"/>
            <a:ext cx="4536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考虑边缘效应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69838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54" y="1743074"/>
            <a:ext cx="7114146" cy="3781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80992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46856" y="10620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u="sng" dirty="0">
                <a:solidFill>
                  <a:srgbClr val="C00000"/>
                </a:solidFill>
              </a:rPr>
              <a:t>设计程序</a:t>
            </a:r>
          </a:p>
        </p:txBody>
      </p:sp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45" y="2082726"/>
            <a:ext cx="7569271" cy="4442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09898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37" y="1240532"/>
            <a:ext cx="7674675" cy="5356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14631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91757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u="sng" dirty="0">
                <a:solidFill>
                  <a:srgbClr val="C00000"/>
                </a:solidFill>
              </a:rPr>
              <a:t>等效电流密度</a:t>
            </a:r>
          </a:p>
        </p:txBody>
      </p:sp>
      <p:pic>
        <p:nvPicPr>
          <p:cNvPr id="849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34" y="2195164"/>
            <a:ext cx="7541532" cy="4343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122</a:t>
            </a:fld>
            <a:endParaRPr lang="zh-CN" altLang="en-US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E937B6C4-F44E-4B3E-A91C-32E84D085C21}"/>
              </a:ext>
            </a:extLst>
          </p:cNvPr>
          <p:cNvSpPr txBox="1"/>
          <p:nvPr/>
        </p:nvSpPr>
        <p:spPr>
          <a:xfrm>
            <a:off x="801234" y="1612961"/>
            <a:ext cx="7541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腔内余弦方位角变化的归一化电场和磁场</a:t>
            </a:r>
          </a:p>
        </p:txBody>
      </p:sp>
    </p:spTree>
    <p:extLst>
      <p:ext uri="{BB962C8B-B14F-4D97-AF65-F5344CB8AC3E}">
        <p14:creationId xmlns:p14="http://schemas.microsoft.com/office/powerpoint/2010/main" val="232849341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91880" y="5949280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14.23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86" y="1844824"/>
            <a:ext cx="7759427" cy="4255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123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5C9315-19EA-466E-B1E8-F6797BF64768}"/>
              </a:ext>
            </a:extLst>
          </p:cNvPr>
          <p:cNvSpPr/>
          <p:nvPr/>
        </p:nvSpPr>
        <p:spPr>
          <a:xfrm>
            <a:off x="971600" y="1288025"/>
            <a:ext cx="67687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圆形微带谐振腔模型及等效磁电流密度（贴片天线）</a:t>
            </a:r>
          </a:p>
        </p:txBody>
      </p:sp>
    </p:spTree>
    <p:extLst>
      <p:ext uri="{BB962C8B-B14F-4D97-AF65-F5344CB8AC3E}">
        <p14:creationId xmlns:p14="http://schemas.microsoft.com/office/powerpoint/2010/main" val="389987024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407220"/>
            <a:ext cx="7678352" cy="4830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74171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90805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u="sng" dirty="0">
                <a:solidFill>
                  <a:srgbClr val="C00000"/>
                </a:solidFill>
              </a:rPr>
              <a:t>远区场</a:t>
            </a:r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845940"/>
            <a:ext cx="7480832" cy="417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43295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519" y="1341573"/>
            <a:ext cx="7379897" cy="4823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37913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2852936"/>
            <a:ext cx="7367485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3714" name="Picture 2" descr="C:\Users\admin\Desktop\图片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1444" y="908720"/>
            <a:ext cx="8241111" cy="1584829"/>
          </a:xfrm>
          <a:prstGeom prst="rect">
            <a:avLst/>
          </a:prstGeom>
          <a:noFill/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23460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7368" y="1052736"/>
            <a:ext cx="5065750" cy="576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909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284709"/>
            <a:ext cx="2095500" cy="380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61782" y="5445224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14.24(a)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9595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1782" y="5445224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14.24(b)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pic>
        <p:nvPicPr>
          <p:cNvPr id="901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629" y="1196752"/>
            <a:ext cx="2384022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011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9" y="980728"/>
            <a:ext cx="4896543" cy="5684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75410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51520" y="99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u="sng" dirty="0">
                <a:solidFill>
                  <a:srgbClr val="C00000"/>
                </a:solidFill>
              </a:rPr>
              <a:t>电导</a:t>
            </a:r>
          </a:p>
        </p:txBody>
      </p:sp>
      <p:pic>
        <p:nvPicPr>
          <p:cNvPr id="9113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61" y="1999481"/>
            <a:ext cx="7521055" cy="4165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19343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293" y="1340768"/>
            <a:ext cx="6993301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39552" y="5877272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14.25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79860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100741"/>
            <a:ext cx="6192688" cy="5640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06256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07904" y="6002124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14.26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272595"/>
            <a:ext cx="7056784" cy="4676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E4239-89E8-4DC8-8A8D-8DBDE71A4795}" type="slidenum">
              <a:rPr lang="zh-CN" altLang="en-US" smtClean="0"/>
              <a:pPr>
                <a:defRPr/>
              </a:pPr>
              <a:t>133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07509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3" y="2357438"/>
            <a:ext cx="696277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344064"/>
              </p:ext>
            </p:extLst>
          </p:nvPr>
        </p:nvGraphicFramePr>
        <p:xfrm>
          <a:off x="3575726" y="5332785"/>
          <a:ext cx="1617893" cy="1023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65" name="Equation" r:id="rId5" imgW="622080" imgH="393480" progId="Equation.DSMT4">
                  <p:embed/>
                </p:oleObj>
              </mc:Choice>
              <mc:Fallback>
                <p:oleObj name="Equation" r:id="rId5" imgW="622080" imgH="3934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726" y="5332785"/>
                        <a:ext cx="1617893" cy="10235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ACA1BC-D61F-4F8A-BBEC-D9BB10A723EF}" type="slidenum">
              <a:rPr lang="zh-CN" altLang="en-US" smtClean="0"/>
              <a:pPr>
                <a:defRPr/>
              </a:pPr>
              <a:t>134</a:t>
            </a:fld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0F0CDD-D514-4C8E-8125-B879B82F83A5}"/>
              </a:ext>
            </a:extLst>
          </p:cNvPr>
          <p:cNvSpPr/>
          <p:nvPr/>
        </p:nvSpPr>
        <p:spPr>
          <a:xfrm>
            <a:off x="3563888" y="4500563"/>
            <a:ext cx="36263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</a:rPr>
              <a:t>存储能量</a:t>
            </a:r>
            <a:r>
              <a:rPr lang="en-US" altLang="zh-CN" sz="3200" dirty="0">
                <a:solidFill>
                  <a:srgbClr val="C00000"/>
                </a:solidFill>
              </a:rPr>
              <a:t>/</a:t>
            </a:r>
            <a:r>
              <a:rPr lang="zh-CN" altLang="en-US" sz="3200" dirty="0">
                <a:solidFill>
                  <a:srgbClr val="C00000"/>
                </a:solidFill>
              </a:rPr>
              <a:t>耗散功率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0157809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91757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z="4800" u="sng" dirty="0">
                <a:solidFill>
                  <a:srgbClr val="C00000"/>
                </a:solidFill>
              </a:rPr>
              <a:t>品质因素</a:t>
            </a:r>
          </a:p>
        </p:txBody>
      </p:sp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7" y="2318032"/>
            <a:ext cx="7416825" cy="4495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251520" y="1628800"/>
            <a:ext cx="87129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代表天线损耗的品质因数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ACA1BC-D61F-4F8A-BBEC-D9BB10A723EF}" type="slidenum">
              <a:rPr lang="zh-CN" altLang="en-US" smtClean="0"/>
              <a:pPr>
                <a:defRPr/>
              </a:pPr>
              <a:t>135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578961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ACA1BC-D61F-4F8A-BBEC-D9BB10A723EF}" type="slidenum">
              <a:rPr lang="zh-CN" altLang="en-US" smtClean="0"/>
              <a:pPr>
                <a:defRPr/>
              </a:pPr>
              <a:t>136</a:t>
            </a:fld>
            <a:endParaRPr lang="zh-CN" altLang="en-US" dirty="0"/>
          </a:p>
        </p:txBody>
      </p:sp>
      <p:pic>
        <p:nvPicPr>
          <p:cNvPr id="2467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47975" y="1340768"/>
            <a:ext cx="3448050" cy="321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67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52006" y="4653136"/>
            <a:ext cx="2932162" cy="2017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206624"/>
            <a:ext cx="7494585" cy="5102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ACA1BC-D61F-4F8A-BBEC-D9BB10A723EF}" type="slidenum">
              <a:rPr lang="zh-CN" altLang="en-US" smtClean="0"/>
              <a:pPr>
                <a:defRPr/>
              </a:pPr>
              <a:t>137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94204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46856" y="91784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u="sng" dirty="0">
                <a:solidFill>
                  <a:srgbClr val="C00000"/>
                </a:solidFill>
              </a:rPr>
              <a:t>带宽（百分比）</a:t>
            </a:r>
          </a:p>
        </p:txBody>
      </p:sp>
      <p:pic>
        <p:nvPicPr>
          <p:cNvPr id="10035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538" y="1538288"/>
            <a:ext cx="7859366" cy="448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ACA1BC-D61F-4F8A-BBEC-D9BB10A723EF}" type="slidenum">
              <a:rPr lang="zh-CN" altLang="en-US" smtClean="0"/>
              <a:pPr>
                <a:defRPr/>
              </a:pPr>
              <a:t>138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842746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46856" y="91784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u="sng" dirty="0">
                <a:solidFill>
                  <a:srgbClr val="C00000"/>
                </a:solidFill>
              </a:rPr>
              <a:t>辐射效率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483768" y="2204864"/>
          <a:ext cx="4167901" cy="970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345" name="Equation" r:id="rId3" imgW="1854000" imgH="431640" progId="Equation.DSMT4">
                  <p:embed/>
                </p:oleObj>
              </mc:Choice>
              <mc:Fallback>
                <p:oleObj name="Equation" r:id="rId3" imgW="1854000" imgH="4316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2204864"/>
                        <a:ext cx="4167901" cy="97060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39" name="Object 3"/>
          <p:cNvGraphicFramePr>
            <a:graphicFrameLocks noChangeAspect="1"/>
          </p:cNvGraphicFramePr>
          <p:nvPr/>
        </p:nvGraphicFramePr>
        <p:xfrm>
          <a:off x="2543299" y="3429000"/>
          <a:ext cx="2244725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346" name="Equation" r:id="rId5" imgW="863280" imgH="431640" progId="Equation.DSMT4">
                  <p:embed/>
                </p:oleObj>
              </mc:Choice>
              <mc:Fallback>
                <p:oleObj name="Equation" r:id="rId5" imgW="863280" imgH="4316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299" y="3429000"/>
                        <a:ext cx="2244725" cy="1122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1" name="Object 5"/>
          <p:cNvGraphicFramePr>
            <a:graphicFrameLocks noChangeAspect="1"/>
          </p:cNvGraphicFramePr>
          <p:nvPr/>
        </p:nvGraphicFramePr>
        <p:xfrm>
          <a:off x="5543550" y="3429000"/>
          <a:ext cx="1717675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347" name="Equation" r:id="rId7" imgW="660240" imgH="431640" progId="Equation.DSMT4">
                  <p:embed/>
                </p:oleObj>
              </mc:Choice>
              <mc:Fallback>
                <p:oleObj name="Equation" r:id="rId7" imgW="660240" imgH="4316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550" y="3429000"/>
                        <a:ext cx="1717675" cy="1122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807398" y="3687415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and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4743" name="Picture 7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555776" y="4653136"/>
            <a:ext cx="4051721" cy="1586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951890" y="522920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因此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2300679"/>
            <a:ext cx="22645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还考虑了表面波引起的损耗</a:t>
            </a:r>
          </a:p>
        </p:txBody>
      </p:sp>
      <p:cxnSp>
        <p:nvCxnSpPr>
          <p:cNvPr id="17" name="直接箭头连接符 16"/>
          <p:cNvCxnSpPr>
            <a:stCxn id="12" idx="3"/>
          </p:cNvCxnSpPr>
          <p:nvPr/>
        </p:nvCxnSpPr>
        <p:spPr>
          <a:xfrm>
            <a:off x="2264541" y="2716178"/>
            <a:ext cx="723283" cy="208766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ACA1BC-D61F-4F8A-BBEC-D9BB10A723EF}" type="slidenum">
              <a:rPr lang="zh-CN" altLang="en-US" smtClean="0"/>
              <a:pPr>
                <a:defRPr/>
              </a:pPr>
              <a:t>139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166192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539552" y="91784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u="sng" dirty="0">
                <a:solidFill>
                  <a:srgbClr val="C00000"/>
                </a:solidFill>
              </a:rPr>
              <a:t>效率和带宽百分比</a:t>
            </a:r>
          </a:p>
        </p:txBody>
      </p:sp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421" y="1772816"/>
            <a:ext cx="7020009" cy="471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ACA1BC-D61F-4F8A-BBEC-D9BB10A723EF}" type="slidenum">
              <a:rPr lang="zh-CN" altLang="en-US" smtClean="0"/>
              <a:pPr>
                <a:defRPr/>
              </a:pPr>
              <a:t>140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445444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667818"/>
            <a:ext cx="5994921" cy="5145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11560" y="989856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u="sng" dirty="0">
                <a:solidFill>
                  <a:srgbClr val="C00000"/>
                </a:solidFill>
              </a:rPr>
              <a:t>输入阻抗</a:t>
            </a:r>
          </a:p>
        </p:txBody>
      </p:sp>
      <p:cxnSp>
        <p:nvCxnSpPr>
          <p:cNvPr id="6" name="直接箭头连接符 5"/>
          <p:cNvCxnSpPr/>
          <p:nvPr/>
        </p:nvCxnSpPr>
        <p:spPr>
          <a:xfrm>
            <a:off x="1547664" y="3212976"/>
            <a:ext cx="2664296" cy="100811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 bwMode="auto">
          <a:xfrm>
            <a:off x="2483768" y="5733256"/>
            <a:ext cx="2448272" cy="3600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496" y="2420888"/>
            <a:ext cx="18562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谐振频率下的电抗</a:t>
            </a:r>
          </a:p>
        </p:txBody>
      </p:sp>
      <p:sp>
        <p:nvSpPr>
          <p:cNvPr id="9" name="矩形 8"/>
          <p:cNvSpPr/>
          <p:nvPr/>
        </p:nvSpPr>
        <p:spPr>
          <a:xfrm>
            <a:off x="7236296" y="1916832"/>
            <a:ext cx="18722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对于厚介质板，电抗可能是显著的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408FF8-F61C-47A8-B1C3-8F486F4D215E}" type="slidenum">
              <a:rPr lang="zh-CN" altLang="en-US" smtClean="0"/>
              <a:pPr>
                <a:defRPr/>
              </a:pPr>
              <a:t>141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236052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760040" y="1916832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z="6600" dirty="0">
                <a:solidFill>
                  <a:srgbClr val="0000CC"/>
                </a:solidFill>
              </a:rPr>
              <a:t>耦合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DC61C-D9C1-4B4C-937C-167BE1806890}" type="slidenum">
              <a:rPr lang="zh-CN" altLang="en-US" smtClean="0"/>
              <a:pPr>
                <a:defRPr/>
              </a:pPr>
              <a:t>142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829023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914400" y="99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u="sng" dirty="0">
                <a:solidFill>
                  <a:srgbClr val="C00000"/>
                </a:solidFill>
              </a:rPr>
              <a:t>贴片相对位置</a:t>
            </a:r>
          </a:p>
        </p:txBody>
      </p:sp>
      <p:pic>
        <p:nvPicPr>
          <p:cNvPr id="1064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945635"/>
            <a:ext cx="6264696" cy="4507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967534" y="2924944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L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07704" y="4941168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L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29038" y="1959223"/>
            <a:ext cx="474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W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99792" y="3903439"/>
            <a:ext cx="474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W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01246" y="2636912"/>
            <a:ext cx="474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W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17470" y="2679303"/>
            <a:ext cx="474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W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11750" y="3573016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L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55966" y="3501008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L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DC61C-D9C1-4B4C-937C-167BE1806890}" type="slidenum">
              <a:rPr lang="zh-CN" altLang="en-US" smtClean="0"/>
              <a:pPr>
                <a:defRPr/>
              </a:pPr>
              <a:t>143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52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443513"/>
            <a:ext cx="6658605" cy="5081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518864" y="84584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u="sng" dirty="0">
                <a:solidFill>
                  <a:srgbClr val="C00000"/>
                </a:solidFill>
              </a:rPr>
              <a:t>贴片耦合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07904" y="6146140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14.30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88025" y="3371054"/>
            <a:ext cx="25945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n"/>
            </a:pP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平面耦合小于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平面耦合。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Wingdings" pitchFamily="2" charset="2"/>
              <a:buChar char="n"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间距增大时，耦合减小。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DC61C-D9C1-4B4C-937C-167BE1806890}" type="slidenum">
              <a:rPr lang="zh-CN" altLang="en-US" smtClean="0"/>
              <a:pPr>
                <a:defRPr/>
              </a:pPr>
              <a:t>144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02342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DC61C-D9C1-4B4C-937C-167BE1806890}" type="slidenum">
              <a:rPr lang="zh-CN" altLang="en-US" smtClean="0"/>
              <a:pPr>
                <a:defRPr/>
              </a:pPr>
              <a:t>145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899592" y="1853535"/>
            <a:ext cx="756084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n"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贴片天线的辐射场可以分解为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空间波（具有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1/ρ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径向变化），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高阶波（具有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1/ρ</a:t>
            </a:r>
            <a:r>
              <a:rPr lang="en-US" altLang="zh-CN" sz="24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径向变化），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表面波（具有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1/ρ</a:t>
            </a:r>
            <a:r>
              <a:rPr lang="en-US" altLang="zh-CN" sz="2400" baseline="30000" dirty="0">
                <a:latin typeface="Times New Roman" pitchFamily="18" charset="0"/>
                <a:cs typeface="Times New Roman" pitchFamily="18" charset="0"/>
              </a:rPr>
              <a:t>1/2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径向变化），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以及漏波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具有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exp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altLang="zh-CN" sz="2400" dirty="0" err="1">
                <a:latin typeface="Times New Roman" pitchFamily="18" charset="0"/>
                <a:cs typeface="Times New Roman" pitchFamily="18" charset="0"/>
              </a:rPr>
              <a:t>λρ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）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/ρ</a:t>
            </a:r>
            <a:r>
              <a:rPr lang="en-US" altLang="zh-CN" sz="2400" baseline="30000" dirty="0">
                <a:latin typeface="Times New Roman" pitchFamily="18" charset="0"/>
                <a:cs typeface="Times New Roman" pitchFamily="18" charset="0"/>
              </a:rPr>
              <a:t>1/2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径向变化。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对于非常小的间距，空间波和高阶波是最主要的，而对于大的间距，表面波由于其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1/ρ</a:t>
            </a:r>
            <a:r>
              <a:rPr lang="en-US" altLang="zh-CN" sz="2400" baseline="30000" dirty="0">
                <a:latin typeface="Times New Roman" pitchFamily="18" charset="0"/>
                <a:cs typeface="Times New Roman" pitchFamily="18" charset="0"/>
              </a:rPr>
              <a:t>1/2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的径向变化而占主导地位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35696" y="1196618"/>
            <a:ext cx="5976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耦合机理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590872" y="1061864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CN" u="sng" dirty="0">
                <a:solidFill>
                  <a:srgbClr val="C00000"/>
                </a:solidFill>
              </a:rPr>
              <a:t>E-Plane</a:t>
            </a:r>
            <a:r>
              <a:rPr lang="zh-CN" altLang="en-US" u="sng" dirty="0">
                <a:solidFill>
                  <a:srgbClr val="C00000"/>
                </a:solidFill>
              </a:rPr>
              <a:t>的耦合电导</a:t>
            </a:r>
          </a:p>
        </p:txBody>
      </p:sp>
      <p:pic>
        <p:nvPicPr>
          <p:cNvPr id="1085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22" y="1848222"/>
            <a:ext cx="7691745" cy="4965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DC61C-D9C1-4B4C-937C-167BE1806890}" type="slidenum">
              <a:rPr lang="zh-CN" altLang="en-US" smtClean="0"/>
              <a:pPr>
                <a:defRPr/>
              </a:pPr>
              <a:t>146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807671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988840"/>
            <a:ext cx="8169939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标题 1"/>
          <p:cNvSpPr txBox="1">
            <a:spLocks/>
          </p:cNvSpPr>
          <p:nvPr/>
        </p:nvSpPr>
        <p:spPr>
          <a:xfrm>
            <a:off x="590872" y="1061864"/>
            <a:ext cx="8229600" cy="1143000"/>
          </a:xfrm>
          <a:prstGeom prst="rect">
            <a:avLst/>
          </a:prstGeom>
        </p:spPr>
        <p:txBody>
          <a:bodyPr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4400" u="sng" dirty="0">
                <a:solidFill>
                  <a:srgbClr val="C00000"/>
                </a:solidFill>
              </a:rPr>
              <a:t>H-Plane</a:t>
            </a:r>
            <a:r>
              <a:rPr lang="zh-CN" altLang="en-US" sz="4400" u="sng" dirty="0">
                <a:solidFill>
                  <a:srgbClr val="C00000"/>
                </a:solidFill>
              </a:rPr>
              <a:t>的耦合电导</a:t>
            </a:r>
            <a:endParaRPr kumimoji="0" lang="zh-CN" altLang="en-US" sz="4400" b="0" i="0" u="sng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DC61C-D9C1-4B4C-937C-167BE1806890}" type="slidenum">
              <a:rPr lang="zh-CN" altLang="en-US" smtClean="0"/>
              <a:pPr>
                <a:defRPr/>
              </a:pPr>
              <a:t>147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79458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518864" y="91784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u="sng" dirty="0">
                <a:solidFill>
                  <a:srgbClr val="C00000"/>
                </a:solidFill>
              </a:rPr>
              <a:t>贴片耦合电导</a:t>
            </a:r>
          </a:p>
        </p:txBody>
      </p:sp>
      <p:pic>
        <p:nvPicPr>
          <p:cNvPr id="1105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700808"/>
            <a:ext cx="7488832" cy="4686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707904" y="6189634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14.31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DC61C-D9C1-4B4C-937C-167BE1806890}" type="slidenum">
              <a:rPr lang="zh-CN" altLang="en-US" smtClean="0"/>
              <a:pPr>
                <a:defRPr/>
              </a:pPr>
              <a:t>148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38725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688032" y="2130425"/>
            <a:ext cx="7772400" cy="1874838"/>
          </a:xfrm>
          <a:prstGeom prst="rect">
            <a:avLst/>
          </a:prstGeom>
        </p:spPr>
        <p:txBody>
          <a:bodyPr/>
          <a:lstStyle/>
          <a:p>
            <a:r>
              <a:rPr lang="zh-CN" altLang="en-US" sz="6600" dirty="0">
                <a:solidFill>
                  <a:srgbClr val="0000CC"/>
                </a:solidFill>
              </a:rPr>
              <a:t>圆极化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928432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sz="4000" dirty="0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150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5C85794-0796-4BF5-924C-97C29BDAF97B}"/>
                  </a:ext>
                </a:extLst>
              </p:cNvPr>
              <p:cNvSpPr/>
              <p:nvPr/>
            </p:nvSpPr>
            <p:spPr>
              <a:xfrm>
                <a:off x="298648" y="2204864"/>
                <a:ext cx="8566025" cy="20621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>
                  <a:buAutoNum type="arabicPeriod"/>
                </a:pPr>
                <a:r>
                  <a:rPr lang="en-US" altLang="zh-CN" sz="3200" dirty="0">
                    <a:latin typeface="Times New Roman" pitchFamily="18" charset="0"/>
                    <a:cs typeface="Times New Roman" pitchFamily="18" charset="0"/>
                  </a:rPr>
                  <a:t>E</a:t>
                </a:r>
                <a:r>
                  <a:rPr lang="zh-CN" altLang="en-US" sz="3200" dirty="0">
                    <a:latin typeface="Times New Roman" pitchFamily="18" charset="0"/>
                    <a:cs typeface="Times New Roman" pitchFamily="18" charset="0"/>
                  </a:rPr>
                  <a:t>场的两个分量相互正交，并与行进方向垂直。</a:t>
                </a:r>
                <a:endParaRPr lang="en-US" altLang="zh-CN" sz="32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14350" indent="-514350">
                  <a:buAutoNum type="arabicPeriod"/>
                </a:pPr>
                <a:r>
                  <a:rPr lang="zh-CN" altLang="en-US" sz="3200" dirty="0">
                    <a:latin typeface="Times New Roman" pitchFamily="18" charset="0"/>
                    <a:cs typeface="Times New Roman" pitchFamily="18" charset="0"/>
                  </a:rPr>
                  <a:t>振幅相等。</a:t>
                </a:r>
                <a:endParaRPr lang="en-US" altLang="zh-CN" sz="32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14350" indent="-514350">
                  <a:buAutoNum type="arabicPeriod"/>
                </a:pPr>
                <a:r>
                  <a:rPr lang="zh-CN" altLang="en-US" sz="3200" dirty="0">
                    <a:latin typeface="Times New Roman" pitchFamily="18" charset="0"/>
                    <a:cs typeface="Times New Roman" pitchFamily="18" charset="0"/>
                  </a:rPr>
                  <a:t>时间</a:t>
                </a:r>
                <a:r>
                  <a:rPr lang="en-US" altLang="zh-CN" sz="3200" dirty="0">
                    <a:latin typeface="Times New Roman" pitchFamily="18" charset="0"/>
                    <a:cs typeface="Times New Roman" pitchFamily="18" charset="0"/>
                  </a:rPr>
                  <a:t>-</a:t>
                </a:r>
                <a:r>
                  <a:rPr lang="zh-CN" altLang="en-US" sz="3200" dirty="0">
                    <a:latin typeface="Times New Roman" pitchFamily="18" charset="0"/>
                    <a:cs typeface="Times New Roman" pitchFamily="18" charset="0"/>
                  </a:rPr>
                  <a:t>相位差必须是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200"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zh-CN" altLang="en-US" sz="320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altLang="en-US" sz="3200" dirty="0">
                    <a:latin typeface="Times New Roman" pitchFamily="18" charset="0"/>
                    <a:cs typeface="Times New Roman" pitchFamily="18" charset="0"/>
                  </a:rPr>
                  <a:t>的奇数倍。</a:t>
                </a: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5C85794-0796-4BF5-924C-97C29BDAF9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48" y="2204864"/>
                <a:ext cx="8566025" cy="2062103"/>
              </a:xfrm>
              <a:prstGeom prst="rect">
                <a:avLst/>
              </a:prstGeom>
              <a:blipFill>
                <a:blip r:embed="rId2"/>
                <a:stretch>
                  <a:fillRect l="-1637" t="-5030" b="-88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469744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151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27584" y="1772816"/>
            <a:ext cx="774035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如果两个正交模式以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90°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时间相位差被激发，则可以获得圆偏振。</a:t>
            </a:r>
            <a:endParaRPr lang="en-US" altLang="zh-CN" sz="32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zh-CN" sz="32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zh-CN" sz="32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使用多个馈电激发多个模式</a:t>
            </a:r>
            <a:endParaRPr lang="en-US" altLang="zh-CN" sz="32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更改贴片形状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1052736"/>
            <a:ext cx="8820472" cy="1354138"/>
          </a:xfrm>
          <a:prstGeom prst="rect">
            <a:avLst/>
          </a:prstGeom>
        </p:spPr>
        <p:txBody>
          <a:bodyPr/>
          <a:lstStyle/>
          <a:p>
            <a:r>
              <a:rPr lang="zh-CN" altLang="en-US" sz="4000" dirty="0">
                <a:solidFill>
                  <a:srgbClr val="0000CC"/>
                </a:solidFill>
              </a:rPr>
              <a:t>通过功率分配器在相邻侧驱动的</a:t>
            </a:r>
            <a:br>
              <a:rPr lang="en-US" altLang="zh-CN" sz="4000" dirty="0">
                <a:solidFill>
                  <a:srgbClr val="0000CC"/>
                </a:solidFill>
              </a:rPr>
            </a:br>
            <a:r>
              <a:rPr lang="zh-CN" altLang="en-US" sz="4000" dirty="0">
                <a:solidFill>
                  <a:srgbClr val="0000CC"/>
                </a:solidFill>
              </a:rPr>
              <a:t>方形贴片</a:t>
            </a:r>
            <a:endParaRPr lang="zh-CN" altLang="en-US" sz="4000" u="sng" dirty="0">
              <a:solidFill>
                <a:srgbClr val="0000CC"/>
              </a:solidFill>
            </a:endParaRPr>
          </a:p>
        </p:txBody>
      </p:sp>
      <p:pic>
        <p:nvPicPr>
          <p:cNvPr id="1116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643" y="2276871"/>
            <a:ext cx="6450717" cy="3736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156176" y="5791002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14.32(a)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27143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971" y="994718"/>
            <a:ext cx="8229600" cy="1354162"/>
          </a:xfrm>
        </p:spPr>
        <p:txBody>
          <a:bodyPr/>
          <a:lstStyle/>
          <a:p>
            <a:r>
              <a:rPr lang="zh-CN" altLang="en-US" sz="4000" dirty="0">
                <a:solidFill>
                  <a:srgbClr val="0000CC"/>
                </a:solidFill>
              </a:rPr>
              <a:t>通过</a:t>
            </a:r>
            <a:r>
              <a:rPr lang="en-US" altLang="zh-CN" sz="4000" dirty="0">
                <a:solidFill>
                  <a:srgbClr val="0000CC"/>
                </a:solidFill>
              </a:rPr>
              <a:t>90°</a:t>
            </a:r>
            <a:r>
              <a:rPr lang="zh-CN" altLang="en-US" sz="4000" dirty="0">
                <a:solidFill>
                  <a:srgbClr val="0000CC"/>
                </a:solidFill>
              </a:rPr>
              <a:t>混频器</a:t>
            </a:r>
            <a:br>
              <a:rPr lang="en-US" altLang="zh-CN" sz="4000" dirty="0">
                <a:solidFill>
                  <a:srgbClr val="0000CC"/>
                </a:solidFill>
              </a:rPr>
            </a:br>
            <a:r>
              <a:rPr lang="zh-CN" altLang="en-US" sz="4000" dirty="0">
                <a:solidFill>
                  <a:srgbClr val="0000CC"/>
                </a:solidFill>
              </a:rPr>
              <a:t>驱动相邻侧面的方形贴片</a:t>
            </a:r>
            <a:endParaRPr lang="zh-CN" altLang="en-US" sz="4000" u="sng" dirty="0">
              <a:solidFill>
                <a:srgbClr val="0000C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95936" y="5589240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14.32(b)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pic>
        <p:nvPicPr>
          <p:cNvPr id="1126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420888"/>
            <a:ext cx="7408729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806013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500556" y="1019049"/>
            <a:ext cx="8229600" cy="1354138"/>
          </a:xfrm>
          <a:prstGeom prst="rect">
            <a:avLst/>
          </a:prstGeom>
        </p:spPr>
        <p:txBody>
          <a:bodyPr/>
          <a:lstStyle/>
          <a:p>
            <a:r>
              <a:rPr lang="zh-CN" altLang="en-US" sz="4000" dirty="0">
                <a:solidFill>
                  <a:srgbClr val="0000CC"/>
                </a:solidFill>
              </a:rPr>
              <a:t>同轴电缆馈电的圆形贴片</a:t>
            </a:r>
          </a:p>
        </p:txBody>
      </p:sp>
      <p:pic>
        <p:nvPicPr>
          <p:cNvPr id="1136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847987"/>
            <a:ext cx="7143497" cy="420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620751" y="5949280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抑制不希望的模式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806013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67544" y="908695"/>
            <a:ext cx="8229600" cy="1368177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 i="1" dirty="0">
                <a:solidFill>
                  <a:srgbClr val="C00000"/>
                </a:solidFill>
              </a:rPr>
              <a:t>TM</a:t>
            </a:r>
            <a:r>
              <a:rPr lang="en-US" altLang="zh-CN" sz="4000" i="1" baseline="30000" dirty="0">
                <a:solidFill>
                  <a:srgbClr val="C00000"/>
                </a:solidFill>
              </a:rPr>
              <a:t>Z</a:t>
            </a:r>
            <a:r>
              <a:rPr lang="en-US" altLang="zh-CN" sz="4000" i="1" baseline="-25000" dirty="0">
                <a:solidFill>
                  <a:srgbClr val="C00000"/>
                </a:solidFill>
              </a:rPr>
              <a:t>110</a:t>
            </a:r>
            <a:r>
              <a:rPr lang="zh-CN" altLang="en-US" sz="4000" dirty="0">
                <a:solidFill>
                  <a:srgbClr val="0000CC"/>
                </a:solidFill>
              </a:rPr>
              <a:t>及更高模式的圆形贴片</a:t>
            </a:r>
            <a:br>
              <a:rPr lang="en-US" altLang="zh-CN" sz="4000" dirty="0">
                <a:solidFill>
                  <a:srgbClr val="0000CC"/>
                </a:solidFill>
              </a:rPr>
            </a:br>
            <a:r>
              <a:rPr lang="zh-CN" altLang="en-US" sz="4000" dirty="0">
                <a:solidFill>
                  <a:srgbClr val="0000CC"/>
                </a:solidFill>
              </a:rPr>
              <a:t>馈电方式</a:t>
            </a:r>
            <a:endParaRPr lang="zh-CN" altLang="en-US" sz="4000" u="sng" dirty="0">
              <a:solidFill>
                <a:srgbClr val="0000CC"/>
              </a:solidFill>
            </a:endParaRPr>
          </a:p>
        </p:txBody>
      </p:sp>
      <p:pic>
        <p:nvPicPr>
          <p:cNvPr id="11469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74" y="2392540"/>
            <a:ext cx="8790617" cy="2417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580431" y="5143417"/>
            <a:ext cx="81369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For the even modes (TM</a:t>
            </a:r>
            <a:r>
              <a:rPr lang="en-US" altLang="zh-CN" baseline="30000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CN" baseline="-25000" dirty="0">
                <a:latin typeface="Times New Roman" pitchFamily="18" charset="0"/>
                <a:cs typeface="Times New Roman" pitchFamily="18" charset="0"/>
              </a:rPr>
              <a:t>210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and TM</a:t>
            </a:r>
            <a:r>
              <a:rPr lang="en-US" altLang="zh-CN" baseline="30000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CN" baseline="-25000" dirty="0">
                <a:latin typeface="Times New Roman" pitchFamily="18" charset="0"/>
                <a:cs typeface="Times New Roman" pitchFamily="18" charset="0"/>
              </a:rPr>
              <a:t>410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), the four feed probes should have phases of 0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◦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, 90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◦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, 0◦ and 90◦ 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For the odd modes (TM</a:t>
            </a:r>
            <a:r>
              <a:rPr lang="en-US" altLang="zh-CN" baseline="30000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CN" baseline="-25000" dirty="0">
                <a:latin typeface="Times New Roman" pitchFamily="18" charset="0"/>
                <a:cs typeface="Times New Roman" pitchFamily="18" charset="0"/>
              </a:rPr>
              <a:t>110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and TM</a:t>
            </a:r>
            <a:r>
              <a:rPr lang="en-US" altLang="zh-CN" baseline="30000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CN" baseline="-25000" dirty="0">
                <a:latin typeface="Times New Roman" pitchFamily="18" charset="0"/>
                <a:cs typeface="Times New Roman" pitchFamily="18" charset="0"/>
              </a:rPr>
              <a:t>310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) should have phases of 0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◦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, 90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◦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, 180◦ and 270◦,</a:t>
            </a: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239736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492896"/>
            <a:ext cx="6552728" cy="3997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11560" y="1246956"/>
            <a:ext cx="8229600" cy="1008137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rgbClr val="0000CC"/>
                </a:solidFill>
              </a:rPr>
              <a:t>近似正方形贴片的单馈电线</a:t>
            </a:r>
            <a:r>
              <a:rPr lang="en-US" altLang="zh-CN" dirty="0">
                <a:solidFill>
                  <a:srgbClr val="0000CC"/>
                </a:solidFill>
              </a:rPr>
              <a:t>[34]</a:t>
            </a:r>
            <a:endParaRPr lang="zh-CN" altLang="en-US" u="sng" dirty="0">
              <a:solidFill>
                <a:srgbClr val="0000C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23928" y="5642084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14.33(a)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24023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592559" y="988963"/>
            <a:ext cx="8578850" cy="1584325"/>
          </a:xfrm>
          <a:prstGeom prst="rect">
            <a:avLst/>
          </a:prstGeom>
        </p:spPr>
        <p:txBody>
          <a:bodyPr/>
          <a:lstStyle/>
          <a:p>
            <a:r>
              <a:rPr lang="zh-CN" altLang="en-US" sz="4000" dirty="0">
                <a:solidFill>
                  <a:srgbClr val="0000CC"/>
                </a:solidFill>
              </a:rPr>
              <a:t>近似正方形贴片在圆极化时的场</a:t>
            </a:r>
            <a:br>
              <a:rPr lang="en-US" altLang="zh-CN" sz="4000" u="sng" dirty="0">
                <a:solidFill>
                  <a:srgbClr val="008000"/>
                </a:solidFill>
              </a:rPr>
            </a:br>
            <a:r>
              <a:rPr lang="en-US" altLang="zh-CN" sz="3200" dirty="0">
                <a:solidFill>
                  <a:srgbClr val="C00000"/>
                </a:solidFill>
              </a:rPr>
              <a:t>(</a:t>
            </a:r>
            <a:r>
              <a:rPr lang="en-US" altLang="zh-CN" sz="3200" i="1" dirty="0" err="1">
                <a:solidFill>
                  <a:srgbClr val="C00000"/>
                </a:solidFill>
              </a:rPr>
              <a:t>E</a:t>
            </a:r>
            <a:r>
              <a:rPr lang="en-US" altLang="zh-CN" sz="3200" i="1" baseline="-25000" dirty="0" err="1">
                <a:solidFill>
                  <a:srgbClr val="C00000"/>
                </a:solidFill>
              </a:rPr>
              <a:t>y</a:t>
            </a:r>
            <a:r>
              <a:rPr lang="en-US" altLang="zh-CN" sz="3200" i="1" dirty="0">
                <a:solidFill>
                  <a:srgbClr val="C00000"/>
                </a:solidFill>
              </a:rPr>
              <a:t> for TM</a:t>
            </a:r>
            <a:r>
              <a:rPr lang="en-US" altLang="zh-CN" sz="3200" i="1" baseline="30000" dirty="0">
                <a:solidFill>
                  <a:srgbClr val="C00000"/>
                </a:solidFill>
              </a:rPr>
              <a:t>x</a:t>
            </a:r>
            <a:r>
              <a:rPr lang="en-US" altLang="zh-CN" sz="3200" i="1" baseline="-25000" dirty="0">
                <a:solidFill>
                  <a:srgbClr val="C00000"/>
                </a:solidFill>
              </a:rPr>
              <a:t>010 </a:t>
            </a:r>
            <a:r>
              <a:rPr lang="en-US" altLang="zh-CN" sz="3200" i="1" dirty="0">
                <a:solidFill>
                  <a:srgbClr val="C00000"/>
                </a:solidFill>
              </a:rPr>
              <a:t>and </a:t>
            </a:r>
            <a:r>
              <a:rPr lang="en-US" altLang="zh-CN" sz="3200" i="1" dirty="0" err="1">
                <a:solidFill>
                  <a:srgbClr val="C00000"/>
                </a:solidFill>
              </a:rPr>
              <a:t>E</a:t>
            </a:r>
            <a:r>
              <a:rPr lang="en-US" altLang="zh-CN" sz="3200" i="1" baseline="-25000" dirty="0" err="1">
                <a:solidFill>
                  <a:srgbClr val="C00000"/>
                </a:solidFill>
              </a:rPr>
              <a:t>z</a:t>
            </a:r>
            <a:r>
              <a:rPr lang="en-US" altLang="zh-CN" sz="3200" i="1" baseline="-25000" dirty="0">
                <a:solidFill>
                  <a:srgbClr val="C00000"/>
                </a:solidFill>
              </a:rPr>
              <a:t> </a:t>
            </a:r>
            <a:r>
              <a:rPr lang="en-US" altLang="zh-CN" sz="3200" i="1" dirty="0">
                <a:solidFill>
                  <a:srgbClr val="C00000"/>
                </a:solidFill>
              </a:rPr>
              <a:t>for TM</a:t>
            </a:r>
            <a:r>
              <a:rPr lang="en-US" altLang="zh-CN" sz="3200" i="1" baseline="30000" dirty="0">
                <a:solidFill>
                  <a:srgbClr val="C00000"/>
                </a:solidFill>
              </a:rPr>
              <a:t>x</a:t>
            </a:r>
            <a:r>
              <a:rPr lang="en-US" altLang="zh-CN" sz="3200" i="1" baseline="-25000" dirty="0">
                <a:solidFill>
                  <a:srgbClr val="C00000"/>
                </a:solidFill>
              </a:rPr>
              <a:t>001</a:t>
            </a:r>
            <a:r>
              <a:rPr lang="en-US" altLang="zh-CN" sz="3200" dirty="0">
                <a:solidFill>
                  <a:srgbClr val="C00000"/>
                </a:solidFill>
              </a:rPr>
              <a:t>) [34]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8289"/>
          <a:stretch>
            <a:fillRect/>
          </a:stretch>
        </p:blipFill>
        <p:spPr bwMode="auto">
          <a:xfrm>
            <a:off x="1403648" y="2346834"/>
            <a:ext cx="4198364" cy="4489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36096" y="2780928"/>
            <a:ext cx="3682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dirty="0" err="1">
                <a:latin typeface="Times New Roman" pitchFamily="18" charset="0"/>
                <a:cs typeface="Times New Roman" pitchFamily="18" charset="0"/>
              </a:rPr>
              <a:t>Ey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and Ex will have same amplitude and 90</a:t>
            </a:r>
            <a:r>
              <a:rPr lang="en-US" altLang="zh-CN" sz="2400" baseline="30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out-of-phase when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781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72200" y="4077072"/>
            <a:ext cx="1704975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891399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94320" y="1160735"/>
            <a:ext cx="8949680" cy="223227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rgbClr val="0000CC"/>
                </a:solidFill>
              </a:rPr>
              <a:t>左旋圆极化（</a:t>
            </a:r>
            <a:r>
              <a:rPr lang="en-US" altLang="zh-CN" dirty="0">
                <a:solidFill>
                  <a:srgbClr val="0000CC"/>
                </a:solidFill>
              </a:rPr>
              <a:t>LHC</a:t>
            </a:r>
            <a:r>
              <a:rPr lang="zh-CN" altLang="en-US" dirty="0">
                <a:solidFill>
                  <a:srgbClr val="0000CC"/>
                </a:solidFill>
              </a:rPr>
              <a:t>）的单馈电</a:t>
            </a:r>
            <a:r>
              <a:rPr lang="en-US" altLang="zh-CN" dirty="0">
                <a:solidFill>
                  <a:srgbClr val="0000CC"/>
                </a:solidFill>
              </a:rPr>
              <a:t>[34]</a:t>
            </a:r>
            <a:endParaRPr lang="zh-CN" altLang="en-US" sz="3600" u="sng" dirty="0">
              <a:solidFill>
                <a:srgbClr val="0000C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56176" y="5445224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14.33(b)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172" y="2276872"/>
            <a:ext cx="4336956" cy="4308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946104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518864" y="1052711"/>
            <a:ext cx="8229600" cy="18002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rgbClr val="0000CC"/>
                </a:solidFill>
              </a:rPr>
              <a:t>右旋圆极化（</a:t>
            </a:r>
            <a:r>
              <a:rPr lang="en-US" altLang="zh-CN" dirty="0">
                <a:solidFill>
                  <a:srgbClr val="0000CC"/>
                </a:solidFill>
              </a:rPr>
              <a:t>RHC</a:t>
            </a:r>
            <a:r>
              <a:rPr lang="zh-CN" altLang="en-US" dirty="0">
                <a:solidFill>
                  <a:srgbClr val="0000CC"/>
                </a:solidFill>
              </a:rPr>
              <a:t>）的单馈电</a:t>
            </a:r>
            <a:endParaRPr lang="zh-CN" altLang="en-US" sz="3600" u="sng" dirty="0">
              <a:solidFill>
                <a:srgbClr val="0000C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56176" y="5445224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14.33(c)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pic>
        <p:nvPicPr>
          <p:cNvPr id="11878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564904"/>
            <a:ext cx="4137508" cy="394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199016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075840"/>
            <a:ext cx="4752528" cy="473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518864" y="989856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rgbClr val="0000CC"/>
                </a:solidFill>
              </a:rPr>
              <a:t>右旋圆极化</a:t>
            </a:r>
            <a:endParaRPr lang="zh-CN" altLang="en-US" u="sng" dirty="0">
              <a:solidFill>
                <a:srgbClr val="0000CC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99992" y="5570076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14.34(a)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297058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256956"/>
            <a:ext cx="5760640" cy="4412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46856" y="91784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rgbClr val="0000CC"/>
                </a:solidFill>
              </a:rPr>
              <a:t>左旋圆极化</a:t>
            </a:r>
            <a:endParaRPr lang="zh-CN" altLang="en-US" u="sng" dirty="0">
              <a:solidFill>
                <a:srgbClr val="0000CC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51920" y="5786100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14.34(b)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6786662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95536" y="1124744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z="4000" u="sng" dirty="0">
                <a:solidFill>
                  <a:srgbClr val="C00000"/>
                </a:solidFill>
              </a:rPr>
              <a:t>修剪正方形（</a:t>
            </a:r>
            <a:r>
              <a:rPr lang="en-US" altLang="zh-CN" sz="4000" u="sng" dirty="0">
                <a:solidFill>
                  <a:srgbClr val="C00000"/>
                </a:solidFill>
              </a:rPr>
              <a:t>L=W</a:t>
            </a:r>
            <a:r>
              <a:rPr lang="zh-CN" altLang="en-US" sz="4000" u="sng" dirty="0">
                <a:solidFill>
                  <a:srgbClr val="C00000"/>
                </a:solidFill>
              </a:rPr>
              <a:t>）</a:t>
            </a:r>
            <a:br>
              <a:rPr lang="en-US" altLang="zh-CN" sz="4000" u="sng" dirty="0">
                <a:solidFill>
                  <a:srgbClr val="C00000"/>
                </a:solidFill>
              </a:rPr>
            </a:br>
            <a:r>
              <a:rPr lang="zh-CN" altLang="en-US" sz="4000" u="sng" dirty="0">
                <a:solidFill>
                  <a:srgbClr val="C00000"/>
                </a:solidFill>
              </a:rPr>
              <a:t>馈电点：</a:t>
            </a:r>
            <a:r>
              <a:rPr lang="en-US" altLang="zh-CN" sz="4000" u="sng" dirty="0">
                <a:solidFill>
                  <a:srgbClr val="C00000"/>
                </a:solidFill>
              </a:rPr>
              <a:t>1</a:t>
            </a:r>
            <a:r>
              <a:rPr lang="zh-CN" altLang="en-US" sz="4000" u="sng" dirty="0">
                <a:solidFill>
                  <a:srgbClr val="C00000"/>
                </a:solidFill>
              </a:rPr>
              <a:t>或</a:t>
            </a:r>
            <a:r>
              <a:rPr lang="en-US" altLang="zh-CN" sz="4000" u="sng" dirty="0">
                <a:solidFill>
                  <a:srgbClr val="C00000"/>
                </a:solidFill>
              </a:rPr>
              <a:t>3</a:t>
            </a:r>
            <a:endParaRPr lang="zh-CN" altLang="en-US" sz="3600" dirty="0">
              <a:solidFill>
                <a:srgbClr val="008000"/>
              </a:solidFill>
            </a:endParaRPr>
          </a:p>
        </p:txBody>
      </p:sp>
      <p:pic>
        <p:nvPicPr>
          <p:cNvPr id="12390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231" y="2564904"/>
            <a:ext cx="4486017" cy="3976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588224" y="5229200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14.35(a)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0377799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832048" y="2417763"/>
            <a:ext cx="7772400" cy="1874837"/>
          </a:xfrm>
          <a:prstGeom prst="rect">
            <a:avLst/>
          </a:prstGeom>
        </p:spPr>
        <p:txBody>
          <a:bodyPr/>
          <a:lstStyle/>
          <a:p>
            <a:r>
              <a:rPr lang="zh-CN" altLang="en-US" sz="6600" dirty="0">
                <a:solidFill>
                  <a:srgbClr val="0000CC"/>
                </a:solidFill>
              </a:rPr>
              <a:t>阵列和馈电网络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988701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02840" y="12065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u="sng" dirty="0">
                <a:solidFill>
                  <a:srgbClr val="C00000"/>
                </a:solidFill>
              </a:rPr>
              <a:t>阵列：串馈</a:t>
            </a:r>
            <a:endParaRPr lang="zh-CN" altLang="en-US" u="sng" dirty="0">
              <a:solidFill>
                <a:srgbClr val="0000CC"/>
              </a:solidFill>
            </a:endParaRPr>
          </a:p>
        </p:txBody>
      </p:sp>
      <p:pic>
        <p:nvPicPr>
          <p:cNvPr id="12595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97" y="1916832"/>
            <a:ext cx="7894351" cy="3591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51920" y="5490810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14.36(a)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781318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7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39" y="2180658"/>
            <a:ext cx="5801589" cy="4416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46856" y="91757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u="sng" dirty="0">
                <a:solidFill>
                  <a:srgbClr val="C00000"/>
                </a:solidFill>
              </a:rPr>
              <a:t>阵列：并馈</a:t>
            </a:r>
            <a:endParaRPr lang="zh-CN" altLang="en-US" u="sng" dirty="0">
              <a:solidFill>
                <a:srgbClr val="0000C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19672" y="5661248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14.36(b)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363228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938883"/>
            <a:ext cx="5040560" cy="3417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596336" y="5545190"/>
            <a:ext cx="15121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14.38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166</a:t>
            </a:fld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28493E-59DC-424E-878B-5E74AEF8449B}"/>
              </a:ext>
            </a:extLst>
          </p:cNvPr>
          <p:cNvSpPr/>
          <p:nvPr/>
        </p:nvSpPr>
        <p:spPr>
          <a:xfrm>
            <a:off x="251520" y="1431730"/>
            <a:ext cx="864096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微带阵列（10x10）</a:t>
            </a:r>
            <a:endParaRPr lang="en-US" altLang="zh-CN" sz="2800" dirty="0"/>
          </a:p>
          <a:p>
            <a:pPr algn="ctr"/>
            <a:r>
              <a:rPr lang="zh-CN" altLang="en-US" sz="2800" dirty="0"/>
              <a:t>（空间到空间通信：</a:t>
            </a:r>
            <a:r>
              <a:rPr lang="zh-CN" altLang="en-US" sz="2800" i="1" dirty="0"/>
              <a:t>f</a:t>
            </a:r>
            <a:r>
              <a:rPr lang="en-US" altLang="zh-CN" sz="2800" dirty="0"/>
              <a:t>=</a:t>
            </a:r>
            <a:r>
              <a:rPr lang="zh-CN" altLang="en-US" sz="2800" dirty="0"/>
              <a:t>2-2.3GHz）</a:t>
            </a:r>
            <a:endParaRPr lang="en-US" altLang="zh-CN" sz="2800" dirty="0"/>
          </a:p>
          <a:p>
            <a:pPr algn="ctr"/>
            <a:r>
              <a:rPr lang="zh-CN" altLang="en-US" sz="2800" dirty="0"/>
              <a:t>图片来源：</a:t>
            </a:r>
            <a:r>
              <a:rPr lang="en-US" altLang="zh-CN" sz="2800" dirty="0"/>
              <a:t>Ball</a:t>
            </a:r>
            <a:r>
              <a:rPr lang="zh-CN" altLang="en-US" sz="2800" dirty="0"/>
              <a:t>航空航天技术公司</a:t>
            </a:r>
          </a:p>
        </p:txBody>
      </p:sp>
    </p:spTree>
    <p:extLst>
      <p:ext uri="{BB962C8B-B14F-4D97-AF65-F5344CB8AC3E}">
        <p14:creationId xmlns:p14="http://schemas.microsoft.com/office/powerpoint/2010/main" val="4116357057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11560" y="12065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z="4000" u="sng" dirty="0">
                <a:solidFill>
                  <a:srgbClr val="C00000"/>
                </a:solidFill>
              </a:rPr>
              <a:t>圆形贴片的平面阵列</a:t>
            </a:r>
          </a:p>
        </p:txBody>
      </p:sp>
      <p:pic>
        <p:nvPicPr>
          <p:cNvPr id="131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059" y="2204864"/>
            <a:ext cx="4267141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804248" y="4849996"/>
            <a:ext cx="20163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</a:rPr>
              <a:t>Fig. 14.39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459919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176337"/>
            <a:ext cx="7416824" cy="4983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956162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124744"/>
            <a:ext cx="7533931" cy="489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781418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899592" y="2346325"/>
            <a:ext cx="7772400" cy="1946275"/>
          </a:xfrm>
          <a:prstGeom prst="rect">
            <a:avLst/>
          </a:prstGeom>
        </p:spPr>
        <p:txBody>
          <a:bodyPr/>
          <a:lstStyle/>
          <a:p>
            <a:r>
              <a:rPr lang="zh-CN" altLang="en-US" sz="6000" u="sng" dirty="0">
                <a:solidFill>
                  <a:srgbClr val="0000CC"/>
                </a:solidFill>
              </a:rPr>
              <a:t>其他几何</a:t>
            </a:r>
            <a:br>
              <a:rPr lang="en-US" altLang="zh-CN" sz="6000" u="sng" dirty="0">
                <a:solidFill>
                  <a:srgbClr val="0000CC"/>
                </a:solidFill>
              </a:rPr>
            </a:br>
            <a:r>
              <a:rPr lang="zh-CN" altLang="en-US" sz="6000" u="sng" dirty="0">
                <a:solidFill>
                  <a:srgbClr val="0000CC"/>
                </a:solidFill>
              </a:rPr>
              <a:t>谐振频率</a:t>
            </a:r>
            <a:endParaRPr lang="zh-CN" altLang="en-US" sz="6000" dirty="0">
              <a:solidFill>
                <a:srgbClr val="C0000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478490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914400" y="12065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u="sng" dirty="0">
                <a:solidFill>
                  <a:srgbClr val="0000CC"/>
                </a:solidFill>
              </a:rPr>
              <a:t>圆盘扇区</a:t>
            </a:r>
          </a:p>
        </p:txBody>
      </p:sp>
      <p:pic>
        <p:nvPicPr>
          <p:cNvPr id="135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862303"/>
            <a:ext cx="6336704" cy="4676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5595726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464775"/>
            <a:ext cx="6192688" cy="5060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99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u="sng" dirty="0">
                <a:solidFill>
                  <a:srgbClr val="0000CC"/>
                </a:solidFill>
              </a:rPr>
              <a:t>环形扇区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841463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66" y="1052736"/>
            <a:ext cx="7480474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190895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914400" y="10620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u="sng" dirty="0">
                <a:solidFill>
                  <a:srgbClr val="0000CC"/>
                </a:solidFill>
              </a:rPr>
              <a:t>圆环</a:t>
            </a:r>
          </a:p>
        </p:txBody>
      </p:sp>
      <p:pic>
        <p:nvPicPr>
          <p:cNvPr id="1382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058" y="1988840"/>
            <a:ext cx="5851270" cy="4804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10836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2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576" y="1124744"/>
            <a:ext cx="7325832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043951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9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523" y="980728"/>
            <a:ext cx="7740933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559421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908720"/>
            <a:ext cx="6552728" cy="5780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092637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62F209-CDEC-4233-A440-2F63EE7DCB30}" type="slidenum">
              <a:rPr lang="zh-CN" altLang="en-US" smtClean="0"/>
              <a:pPr>
                <a:defRPr/>
              </a:pPr>
              <a:t>178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475656" y="1556792"/>
            <a:ext cx="6624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14.1, 14.9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0490" y="2132856"/>
            <a:ext cx="8065966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HFSS Simulation</a:t>
            </a:r>
            <a:r>
              <a:rPr lang="zh-CN" altLang="en-US" sz="2200">
                <a:latin typeface="Times New Roman" pitchFamily="18" charset="0"/>
                <a:cs typeface="Times New Roman" pitchFamily="18" charset="0"/>
              </a:rPr>
              <a:t>（大作业）</a:t>
            </a:r>
            <a:endParaRPr lang="en-US" altLang="zh-CN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Use HFSS to simulate the input impedance of Prob. 14.9, where</a:t>
            </a:r>
          </a:p>
          <a:p>
            <a:pPr lvl="1" algn="just">
              <a:buFont typeface="Wingdings" pitchFamily="2" charset="2"/>
              <a:buChar char="n"/>
            </a:pP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The patch antenna is feed by a 50Ohm microstrip line(use Equ14.9 to calculate the width of the feeder line)</a:t>
            </a:r>
          </a:p>
          <a:p>
            <a:pPr lvl="1" algn="just">
              <a:buFont typeface="Wingdings" pitchFamily="2" charset="2"/>
              <a:buChar char="n"/>
            </a:pP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The ground plane should be larger than the patch(can be 5L*5W)</a:t>
            </a:r>
          </a:p>
          <a:p>
            <a:pPr lvl="1" algn="just">
              <a:buFont typeface="Wingdings" pitchFamily="2" charset="2"/>
              <a:buChar char="n"/>
            </a:pP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Both patch and ground are PEC</a:t>
            </a:r>
          </a:p>
          <a:p>
            <a:pPr lvl="1" algn="just">
              <a:buFont typeface="Wingdings" pitchFamily="2" charset="2"/>
              <a:buChar char="n"/>
            </a:pP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Lumped port is used for the excitation</a:t>
            </a:r>
          </a:p>
          <a:p>
            <a:pPr lvl="1" algn="just">
              <a:buFont typeface="Wingdings" pitchFamily="2" charset="2"/>
              <a:buChar char="n"/>
            </a:pP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Frequency range: 8GHz-14GHz</a:t>
            </a:r>
          </a:p>
          <a:p>
            <a:pPr algn="just"/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Determine:</a:t>
            </a:r>
          </a:p>
          <a:p>
            <a:pPr lvl="1" algn="just">
              <a:buFont typeface="Wingdings" pitchFamily="2" charset="2"/>
              <a:buChar char="n"/>
            </a:pP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The difference between HFSS’s resonant frequency and 10GHz, why is there difference?;</a:t>
            </a:r>
          </a:p>
          <a:p>
            <a:pPr lvl="1" algn="just">
              <a:buFont typeface="Wingdings" pitchFamily="2" charset="2"/>
              <a:buChar char="n"/>
            </a:pP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Calculate the E-and H-plane radiation at the HFSS resonant frequency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solidFill>
            <a:srgbClr val="C00000"/>
          </a:solidFill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headEnd type="none" w="med" len="med"/>
          <a:tailEnd type="none" w="med" len="med"/>
        </a:ln>
      </a:spPr>
      <a:bodyPr/>
      <a:lstStyle/>
      <a:style>
        <a:lnRef idx="3">
          <a:schemeClr val="accent2"/>
        </a:lnRef>
        <a:fillRef idx="0">
          <a:schemeClr val="accent2"/>
        </a:fillRef>
        <a:effectRef idx="2">
          <a:schemeClr val="accent2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just">
          <a:defRPr sz="2400" dirty="0" smtClean="0">
            <a:latin typeface="Times New Roman" pitchFamily="18" charset="0"/>
            <a:cs typeface="Times New Roman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8697</TotalTime>
  <Words>2860</Words>
  <Application>Microsoft Office PowerPoint</Application>
  <PresentationFormat>全屏显示(4:3)</PresentationFormat>
  <Paragraphs>603</Paragraphs>
  <Slides>178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178</vt:i4>
      </vt:variant>
    </vt:vector>
  </HeadingPairs>
  <TitlesOfParts>
    <vt:vector size="186" baseType="lpstr">
      <vt:lpstr>宋体</vt:lpstr>
      <vt:lpstr>Arial</vt:lpstr>
      <vt:lpstr>Calibri</vt:lpstr>
      <vt:lpstr>Cambria Math</vt:lpstr>
      <vt:lpstr>Times New Roman</vt:lpstr>
      <vt:lpstr>Wingdings</vt:lpstr>
      <vt:lpstr>1_Office 主题</vt:lpstr>
      <vt:lpstr>Equation</vt:lpstr>
      <vt:lpstr>PowerPoint 演示文稿</vt:lpstr>
      <vt:lpstr>PowerPoint 演示文稿</vt:lpstr>
      <vt:lpstr>PowerPoint 演示文稿</vt:lpstr>
      <vt:lpstr>微带（贴片）天线</vt:lpstr>
      <vt:lpstr>矩形微带天线</vt:lpstr>
      <vt:lpstr>侧视图</vt:lpstr>
      <vt:lpstr>PowerPoint 演示文稿</vt:lpstr>
      <vt:lpstr>各种形状的贴片</vt:lpstr>
      <vt:lpstr>优点：</vt:lpstr>
      <vt:lpstr>缺点</vt:lpstr>
      <vt:lpstr>馈电方式</vt:lpstr>
      <vt:lpstr>微带馈线</vt:lpstr>
      <vt:lpstr>同轴馈线</vt:lpstr>
      <vt:lpstr>孔径耦合馈电</vt:lpstr>
      <vt:lpstr>接近耦合馈电</vt:lpstr>
      <vt:lpstr>等效电路</vt:lpstr>
      <vt:lpstr>分析方法</vt:lpstr>
      <vt:lpstr>传输线和腔体法</vt:lpstr>
      <vt:lpstr>全波模型</vt:lpstr>
      <vt:lpstr>PowerPoint 演示文稿</vt:lpstr>
      <vt:lpstr>PowerPoint 演示文稿</vt:lpstr>
      <vt:lpstr>矩形贴片天线 传输线模型</vt:lpstr>
      <vt:lpstr>边缘效应与有效介电常数</vt:lpstr>
      <vt:lpstr>有效相对介电常数 在低频处恒定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设计程序</vt:lpstr>
      <vt:lpstr>PowerPoint 演示文稿</vt:lpstr>
      <vt:lpstr>不同电介质衬底的单元宽度VS频率</vt:lpstr>
      <vt:lpstr>PowerPoint 演示文稿</vt:lpstr>
      <vt:lpstr>不同电介质衬底的单元长度VS频率</vt:lpstr>
      <vt:lpstr>PowerPoint 演示文稿</vt:lpstr>
      <vt:lpstr>PowerPoint 演示文稿</vt:lpstr>
      <vt:lpstr>PowerPoint 演示文稿</vt:lpstr>
      <vt:lpstr>辐射场 缝隙导纳Y（电导G和电纳B）</vt:lpstr>
      <vt:lpstr>矩形贴片与等效电路</vt:lpstr>
      <vt:lpstr>PowerPoint 演示文稿</vt:lpstr>
      <vt:lpstr>PowerPoint 演示文稿</vt:lpstr>
      <vt:lpstr>PowerPoint 演示文稿</vt:lpstr>
      <vt:lpstr>PowerPoint 演示文稿</vt:lpstr>
      <vt:lpstr>输入导纳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微带天线与馈线的 阻抗匹配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腔模计算 TMX 模式</vt:lpstr>
      <vt:lpstr>PowerPoint 演示文稿</vt:lpstr>
      <vt:lpstr>PowerPoint 演示文稿</vt:lpstr>
      <vt:lpstr>PowerPoint 演示文稿</vt:lpstr>
      <vt:lpstr>边界条件</vt:lpstr>
      <vt:lpstr>PowerPoint 演示文稿</vt:lpstr>
      <vt:lpstr>PowerPoint 演示文稿</vt:lpstr>
      <vt:lpstr>在PEC+PMC腔体中的场</vt:lpstr>
      <vt:lpstr>PowerPoint 演示文稿</vt:lpstr>
      <vt:lpstr>TMX010-Mode</vt:lpstr>
      <vt:lpstr>TMX001-Mode</vt:lpstr>
      <vt:lpstr>TMX020-Mode</vt:lpstr>
      <vt:lpstr>TMX002-Mode</vt:lpstr>
      <vt:lpstr>JS, MS With Ground Plane</vt:lpstr>
      <vt:lpstr>PowerPoint 演示文稿</vt:lpstr>
      <vt:lpstr>PowerPoint 演示文稿</vt:lpstr>
      <vt:lpstr>PowerPoint 演示文稿</vt:lpstr>
      <vt:lpstr>PowerPoint 演示文稿</vt:lpstr>
      <vt:lpstr>E-Plane</vt:lpstr>
      <vt:lpstr>H-Plane</vt:lpstr>
      <vt:lpstr>PowerPoint 演示文稿</vt:lpstr>
      <vt:lpstr>TM010 模的辐射电场</vt:lpstr>
      <vt:lpstr>PowerPoint 演示文稿</vt:lpstr>
      <vt:lpstr>PowerPoint 演示文稿</vt:lpstr>
      <vt:lpstr>二单元阵列</vt:lpstr>
      <vt:lpstr>PowerPoint 演示文稿</vt:lpstr>
      <vt:lpstr>PowerPoint 演示文稿</vt:lpstr>
      <vt:lpstr>PowerPoint 演示文稿</vt:lpstr>
      <vt:lpstr>PowerPoint 演示文稿</vt:lpstr>
      <vt:lpstr>E-Plane</vt:lpstr>
      <vt:lpstr>H-Plane</vt:lpstr>
      <vt:lpstr>PowerPoint 演示文稿</vt:lpstr>
      <vt:lpstr>单缝</vt:lpstr>
      <vt:lpstr>PowerPoint 演示文稿</vt:lpstr>
      <vt:lpstr>PowerPoint 演示文稿</vt:lpstr>
      <vt:lpstr>PowerPoint 演示文稿</vt:lpstr>
      <vt:lpstr>双辐射缝隙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波束宽度</vt:lpstr>
      <vt:lpstr>圆形贴片</vt:lpstr>
      <vt:lpstr>PowerPoint 演示文稿</vt:lpstr>
      <vt:lpstr>PowerPoint 演示文稿</vt:lpstr>
      <vt:lpstr>TMZ</vt:lpstr>
      <vt:lpstr>TMZ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设计程序</vt:lpstr>
      <vt:lpstr>PowerPoint 演示文稿</vt:lpstr>
      <vt:lpstr>等效电流密度</vt:lpstr>
      <vt:lpstr>PowerPoint 演示文稿</vt:lpstr>
      <vt:lpstr>PowerPoint 演示文稿</vt:lpstr>
      <vt:lpstr>远区场</vt:lpstr>
      <vt:lpstr>PowerPoint 演示文稿</vt:lpstr>
      <vt:lpstr>PowerPoint 演示文稿</vt:lpstr>
      <vt:lpstr>PowerPoint 演示文稿</vt:lpstr>
      <vt:lpstr>PowerPoint 演示文稿</vt:lpstr>
      <vt:lpstr>电导</vt:lpstr>
      <vt:lpstr>PowerPoint 演示文稿</vt:lpstr>
      <vt:lpstr>PowerPoint 演示文稿</vt:lpstr>
      <vt:lpstr>PowerPoint 演示文稿</vt:lpstr>
      <vt:lpstr>PowerPoint 演示文稿</vt:lpstr>
      <vt:lpstr>品质因素</vt:lpstr>
      <vt:lpstr>PowerPoint 演示文稿</vt:lpstr>
      <vt:lpstr>PowerPoint 演示文稿</vt:lpstr>
      <vt:lpstr>带宽（百分比）</vt:lpstr>
      <vt:lpstr>辐射效率</vt:lpstr>
      <vt:lpstr>效率和带宽百分比</vt:lpstr>
      <vt:lpstr>输入阻抗</vt:lpstr>
      <vt:lpstr>耦合</vt:lpstr>
      <vt:lpstr>贴片相对位置</vt:lpstr>
      <vt:lpstr>贴片耦合</vt:lpstr>
      <vt:lpstr>PowerPoint 演示文稿</vt:lpstr>
      <vt:lpstr>E-Plane的耦合电导</vt:lpstr>
      <vt:lpstr>PowerPoint 演示文稿</vt:lpstr>
      <vt:lpstr>贴片耦合电导</vt:lpstr>
      <vt:lpstr>圆极化</vt:lpstr>
      <vt:lpstr>PowerPoint 演示文稿</vt:lpstr>
      <vt:lpstr>PowerPoint 演示文稿</vt:lpstr>
      <vt:lpstr>通过功率分配器在相邻侧驱动的 方形贴片</vt:lpstr>
      <vt:lpstr>通过90°混频器 驱动相邻侧面的方形贴片</vt:lpstr>
      <vt:lpstr>同轴电缆馈电的圆形贴片</vt:lpstr>
      <vt:lpstr>TMZ110及更高模式的圆形贴片 馈电方式</vt:lpstr>
      <vt:lpstr>近似正方形贴片的单馈电线[34]</vt:lpstr>
      <vt:lpstr>近似正方形贴片在圆极化时的场 (Ey for TMx010 and Ez for TMx001) [34]</vt:lpstr>
      <vt:lpstr>左旋圆极化（LHC）的单馈电[34]</vt:lpstr>
      <vt:lpstr>右旋圆极化（RHC）的单馈电</vt:lpstr>
      <vt:lpstr>右旋圆极化</vt:lpstr>
      <vt:lpstr>左旋圆极化</vt:lpstr>
      <vt:lpstr>修剪正方形（L=W） 馈电点：1或3</vt:lpstr>
      <vt:lpstr>阵列和馈电网络</vt:lpstr>
      <vt:lpstr>阵列：串馈</vt:lpstr>
      <vt:lpstr>阵列：并馈</vt:lpstr>
      <vt:lpstr>PowerPoint 演示文稿</vt:lpstr>
      <vt:lpstr>圆形贴片的平面阵列</vt:lpstr>
      <vt:lpstr>PowerPoint 演示文稿</vt:lpstr>
      <vt:lpstr>PowerPoint 演示文稿</vt:lpstr>
      <vt:lpstr>其他几何 谐振频率</vt:lpstr>
      <vt:lpstr>圆盘扇区</vt:lpstr>
      <vt:lpstr>环形扇区</vt:lpstr>
      <vt:lpstr>PowerPoint 演示文稿</vt:lpstr>
      <vt:lpstr>圆环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14</dc:title>
  <dc:creator>lingsong</dc:creator>
  <cp:lastModifiedBy>Administrator</cp:lastModifiedBy>
  <cp:revision>322</cp:revision>
  <dcterms:created xsi:type="dcterms:W3CDTF">2011-11-04T10:24:08Z</dcterms:created>
  <dcterms:modified xsi:type="dcterms:W3CDTF">2023-10-25T02:28:12Z</dcterms:modified>
</cp:coreProperties>
</file>