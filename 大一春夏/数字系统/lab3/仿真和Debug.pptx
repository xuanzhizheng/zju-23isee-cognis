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notesMasterIdLst>
    <p:notesMasterId r:id="rId17"/>
  </p:notesMasterIdLst>
  <p:sldIdLst>
    <p:sldId id="296" r:id="rId3"/>
    <p:sldId id="302" r:id="rId4"/>
    <p:sldId id="297" r:id="rId5"/>
    <p:sldId id="298" r:id="rId6"/>
    <p:sldId id="299" r:id="rId7"/>
    <p:sldId id="300" r:id="rId8"/>
    <p:sldId id="282" r:id="rId9"/>
    <p:sldId id="283" r:id="rId10"/>
    <p:sldId id="284" r:id="rId11"/>
    <p:sldId id="288" r:id="rId12"/>
    <p:sldId id="285" r:id="rId13"/>
    <p:sldId id="286" r:id="rId14"/>
    <p:sldId id="287" r:id="rId15"/>
    <p:sldId id="289" r:id="rId16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若凡 卓" initials="若凡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4725" autoAdjust="0"/>
  </p:normalViewPr>
  <p:slideViewPr>
    <p:cSldViewPr snapToGrid="0">
      <p:cViewPr varScale="1">
        <p:scale>
          <a:sx n="107" d="100"/>
          <a:sy n="107" d="100"/>
        </p:scale>
        <p:origin x="726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B33B53-E84E-4664-8863-E0D117BCB4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ACA4F-244B-43D4-B65C-9E6B183DB61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2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jpeg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016933" y="2250350"/>
            <a:ext cx="615812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/>
            <a:r>
              <a:rPr lang="en-US" altLang="zh-CN" sz="3200" dirty="0">
                <a:solidFill>
                  <a:prstClr val="black"/>
                </a:solidFill>
                <a:ea typeface="楷体" panose="02010609060101010101" pitchFamily="49" charset="-122"/>
                <a:cs typeface="+mn-lt"/>
              </a:rPr>
              <a:t>Verilog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操作</a:t>
            </a:r>
            <a:endParaRPr lang="en-US" altLang="zh-CN" sz="3200" dirty="0">
              <a:solidFill>
                <a:prstClr val="black"/>
              </a:solidFill>
              <a:latin typeface="+mj-lt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016933" y="970825"/>
            <a:ext cx="615812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/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典型错误</a:t>
            </a:r>
            <a:endParaRPr lang="zh-CN" altLang="en-US" sz="32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12695" y="1732915"/>
            <a:ext cx="7385050" cy="3276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/>
              <a:t>mux2</a:t>
            </a:r>
            <a:r>
              <a:rPr lang="zh-CN" altLang="en-US"/>
              <a:t>模块：</a:t>
            </a:r>
            <a:endParaRPr lang="en-US" altLang="zh-CN"/>
          </a:p>
          <a:p>
            <a:pPr indent="0" fontAlgn="auto">
              <a:lnSpc>
                <a:spcPct val="150000"/>
              </a:lnSpc>
            </a:pPr>
            <a:r>
              <a:rPr lang="en-US" altLang="zh-CN"/>
              <a:t>assign Y = A &amp; D1 + (~A) &amp; D0;</a:t>
            </a:r>
            <a:endParaRPr lang="en-US" altLang="zh-CN"/>
          </a:p>
          <a:p>
            <a:pPr indent="0" fontAlgn="auto">
              <a:lnSpc>
                <a:spcPct val="150000"/>
              </a:lnSpc>
            </a:pP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en-US" altLang="zh-CN"/>
              <a:t>4</a:t>
            </a:r>
            <a:r>
              <a:rPr lang="zh-CN" altLang="en-US"/>
              <a:t>位数据选择器</a:t>
            </a:r>
            <a:r>
              <a:rPr lang="zh-CN" altLang="en-US"/>
              <a:t>模块：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en-US" altLang="zh-CN"/>
              <a:t>assign Y = A &amp;&amp; D1 || (~A) &amp;&amp; D0;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en-US" altLang="zh-CN"/>
              <a:t>ALU</a:t>
            </a:r>
            <a:r>
              <a:rPr lang="zh-CN" altLang="en-US"/>
              <a:t>顶层模块：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2695" y="4736465"/>
            <a:ext cx="5282565" cy="8083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2199"/>
          <a:stretch>
            <a:fillRect/>
          </a:stretch>
        </p:blipFill>
        <p:spPr>
          <a:xfrm>
            <a:off x="3161030" y="1708150"/>
            <a:ext cx="1807210" cy="18357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505" y="1708150"/>
            <a:ext cx="2464435" cy="16871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016933" y="970825"/>
            <a:ext cx="615812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/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模块及变量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定义</a:t>
            </a:r>
            <a:endParaRPr lang="en-US" altLang="zh-CN" sz="3200" dirty="0">
              <a:solidFill>
                <a:prstClr val="black"/>
              </a:solidFill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67025" y="3549015"/>
            <a:ext cx="6457950" cy="2621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以上两种定义</a:t>
            </a:r>
            <a:r>
              <a:rPr lang="zh-CN" altLang="en-US"/>
              <a:t>等价。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en-US" altLang="zh-CN"/>
              <a:t>verilog</a:t>
            </a:r>
            <a:r>
              <a:rPr lang="zh-CN" altLang="en-US"/>
              <a:t>有</a:t>
            </a:r>
            <a:r>
              <a:rPr lang="en-US" altLang="zh-CN"/>
              <a:t>wire</a:t>
            </a:r>
            <a:r>
              <a:rPr lang="zh-CN" altLang="en-US"/>
              <a:t>与</a:t>
            </a:r>
            <a:r>
              <a:rPr lang="en-US" altLang="zh-CN"/>
              <a:t>reg</a:t>
            </a:r>
            <a:r>
              <a:rPr lang="zh-CN" altLang="en-US"/>
              <a:t>两种类型，定义输入输出时不写默认为</a:t>
            </a:r>
            <a:r>
              <a:rPr lang="en-US" altLang="zh-CN"/>
              <a:t>wire</a:t>
            </a:r>
            <a:r>
              <a:rPr lang="zh-CN" altLang="en-US"/>
              <a:t>，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要定义</a:t>
            </a:r>
            <a:r>
              <a:rPr lang="en-US" altLang="zh-CN"/>
              <a:t>reg</a:t>
            </a:r>
            <a:r>
              <a:rPr lang="zh-CN" altLang="en-US"/>
              <a:t>写法</a:t>
            </a:r>
            <a:r>
              <a:rPr lang="zh-CN" altLang="en-US"/>
              <a:t>为：</a:t>
            </a:r>
            <a:r>
              <a:rPr lang="en-US" altLang="zh-CN"/>
              <a:t>output reg [3:0] R      </a:t>
            </a:r>
            <a:endParaRPr lang="en-US" altLang="zh-CN"/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sym typeface="+mn-ea"/>
              </a:rPr>
              <a:t>input</a:t>
            </a:r>
            <a:r>
              <a:rPr lang="zh-CN" altLang="en-US">
                <a:sym typeface="+mn-ea"/>
              </a:rPr>
              <a:t>只能是</a:t>
            </a:r>
            <a:r>
              <a:rPr lang="en-US" altLang="zh-CN">
                <a:sym typeface="+mn-ea"/>
              </a:rPr>
              <a:t>wire</a:t>
            </a:r>
            <a:r>
              <a:rPr lang="zh-CN" altLang="en-US">
                <a:sym typeface="+mn-ea"/>
              </a:rPr>
              <a:t>类型，</a:t>
            </a:r>
            <a:r>
              <a:rPr lang="en-US" altLang="zh-CN">
                <a:sym typeface="+mn-ea"/>
              </a:rPr>
              <a:t>output</a:t>
            </a:r>
            <a:r>
              <a:rPr lang="zh-CN" altLang="en-US">
                <a:sym typeface="+mn-ea"/>
              </a:rPr>
              <a:t>可以是</a:t>
            </a:r>
            <a:r>
              <a:rPr lang="en-US" altLang="zh-CN">
                <a:sym typeface="+mn-ea"/>
              </a:rPr>
              <a:t>wire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reg</a:t>
            </a:r>
            <a:r>
              <a:rPr lang="zh-CN" altLang="en-US">
                <a:sym typeface="+mn-ea"/>
              </a:rPr>
              <a:t>。</a:t>
            </a:r>
            <a:endParaRPr lang="en-US" altLang="zh-CN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如果在</a:t>
            </a:r>
            <a:r>
              <a:rPr lang="en-US" altLang="zh-CN"/>
              <a:t>always</a:t>
            </a:r>
            <a:r>
              <a:rPr lang="zh-CN" altLang="en-US"/>
              <a:t>语句中为变量赋值，该变量必须是</a:t>
            </a:r>
            <a:r>
              <a:rPr lang="en-US" altLang="zh-CN"/>
              <a:t>reg</a:t>
            </a:r>
            <a:endParaRPr lang="en-US" altLang="zh-CN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在</a:t>
            </a:r>
            <a:r>
              <a:rPr lang="en-US" altLang="zh-CN"/>
              <a:t>assign</a:t>
            </a:r>
            <a:r>
              <a:rPr lang="zh-CN" altLang="en-US"/>
              <a:t>语句中为变量赋值，该变量必须是</a:t>
            </a:r>
            <a:r>
              <a:rPr lang="en-US" altLang="zh-CN"/>
              <a:t>wire</a:t>
            </a:r>
            <a:endParaRPr lang="en-US" altLang="zh-CN"/>
          </a:p>
          <a:p>
            <a:pPr indent="0" fontAlgn="auto">
              <a:lnSpc>
                <a:spcPct val="150000"/>
              </a:lnSpc>
            </a:pPr>
            <a:endParaRPr lang="zh-CN" altLang="en-US"/>
          </a:p>
          <a:p>
            <a:pPr indent="0" fontAlgn="auto">
              <a:lnSpc>
                <a:spcPct val="150000"/>
              </a:lnSpc>
            </a:pP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8520" y="1628775"/>
            <a:ext cx="5394325" cy="1143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016933" y="970825"/>
            <a:ext cx="615812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/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模块实例化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调用</a:t>
            </a:r>
            <a:endParaRPr lang="zh-CN" altLang="en-US" sz="32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39720" y="2846070"/>
            <a:ext cx="694436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中间变量定义：一定不要忘记位数！任何一个中间变量忘记位数，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都可能导致输出只有</a:t>
            </a:r>
            <a:r>
              <a:rPr lang="zh-CN" altLang="en-US"/>
              <a:t>最后一位。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模块实例化格式：模块名</a:t>
            </a:r>
            <a:r>
              <a:rPr lang="en-US" altLang="zh-CN"/>
              <a:t>  </a:t>
            </a:r>
            <a:r>
              <a:rPr lang="zh-CN" altLang="en-US"/>
              <a:t>实例名</a:t>
            </a:r>
            <a:r>
              <a:rPr lang="en-US" altLang="zh-CN"/>
              <a:t>(.</a:t>
            </a:r>
            <a:r>
              <a:rPr lang="zh-CN" altLang="en-US"/>
              <a:t>模块变量名</a:t>
            </a:r>
            <a:r>
              <a:rPr lang="en-US" altLang="zh-CN"/>
              <a:t>(</a:t>
            </a:r>
            <a:r>
              <a:rPr lang="zh-CN" altLang="en-US"/>
              <a:t>顶层变量名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/>
              <a:t>……)</a:t>
            </a:r>
            <a:r>
              <a:rPr lang="zh-CN" altLang="en-US"/>
              <a:t>；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模块调用出现蓝色，是使用了未定义的变量，通常都是连线出错</a:t>
            </a:r>
            <a:r>
              <a:rPr lang="zh-CN" altLang="en-US"/>
              <a:t>了。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730" y="4627880"/>
            <a:ext cx="5981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7985" y="1554480"/>
            <a:ext cx="5638800" cy="16764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016933" y="970825"/>
            <a:ext cx="615812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/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报错解决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方法</a:t>
            </a:r>
            <a:endParaRPr lang="zh-CN" altLang="en-US" sz="32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83005" y="1494155"/>
            <a:ext cx="4145280" cy="4696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/>
              <a:t>1. </a:t>
            </a:r>
            <a:r>
              <a:rPr lang="zh-CN" altLang="en-US"/>
              <a:t>编译</a:t>
            </a:r>
            <a:r>
              <a:rPr lang="zh-CN" altLang="en-US"/>
              <a:t>报错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在右边会有红色（警告是黄色）横条，鼠标移动到上面即可查看为何报错，按照报错信息去解决</a:t>
            </a:r>
            <a:r>
              <a:rPr lang="zh-CN" altLang="en-US"/>
              <a:t>即可。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en-US" altLang="zh-CN"/>
              <a:t>2. </a:t>
            </a:r>
            <a:r>
              <a:rPr lang="zh-CN" altLang="en-US"/>
              <a:t>运行</a:t>
            </a:r>
            <a:r>
              <a:rPr lang="zh-CN" altLang="en-US"/>
              <a:t>报错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代码界面下方</a:t>
            </a:r>
            <a:r>
              <a:rPr lang="en-US" altLang="zh-CN"/>
              <a:t>Message</a:t>
            </a:r>
            <a:r>
              <a:rPr lang="zh-CN" altLang="en-US"/>
              <a:t>一栏，勾选</a:t>
            </a:r>
            <a:r>
              <a:rPr lang="en-US" altLang="zh-CN"/>
              <a:t>Error</a:t>
            </a:r>
            <a:r>
              <a:rPr lang="zh-CN" altLang="en-US"/>
              <a:t>、</a:t>
            </a:r>
            <a:r>
              <a:rPr lang="en-US" altLang="zh-CN"/>
              <a:t>Critical warning</a:t>
            </a:r>
            <a:r>
              <a:rPr lang="zh-CN" altLang="en-US"/>
              <a:t>、</a:t>
            </a:r>
            <a:r>
              <a:rPr lang="en-US" altLang="zh-CN"/>
              <a:t>Warning</a:t>
            </a:r>
            <a:r>
              <a:rPr lang="zh-CN" altLang="en-US"/>
              <a:t>查看报错信息，点击蓝色处即可跳转到出错的</a:t>
            </a:r>
            <a:r>
              <a:rPr lang="zh-CN" altLang="en-US"/>
              <a:t>代码。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部分报错没有对应的出错代码，可以直接搜索报错信息，网上会提供一些解决方案（尤其是</a:t>
            </a:r>
            <a:r>
              <a:rPr lang="en-US" altLang="zh-CN"/>
              <a:t>CSDN</a:t>
            </a:r>
            <a:r>
              <a:rPr lang="zh-CN" altLang="en-US"/>
              <a:t>、知乎</a:t>
            </a:r>
            <a:r>
              <a:rPr lang="zh-CN" altLang="en-US"/>
              <a:t>等）。</a:t>
            </a:r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0627360" y="2379345"/>
            <a:ext cx="607060" cy="59690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645" y="3281680"/>
            <a:ext cx="5692140" cy="18288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l="3684" t="38216" r="54599"/>
          <a:stretch>
            <a:fillRect/>
          </a:stretch>
        </p:blipFill>
        <p:spPr>
          <a:xfrm>
            <a:off x="5414645" y="5161280"/>
            <a:ext cx="5751195" cy="11087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0025" y="5233670"/>
            <a:ext cx="9444990" cy="8445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025" y="4232275"/>
            <a:ext cx="9456420" cy="11125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3684" t="38216" r="41751"/>
          <a:stretch>
            <a:fillRect/>
          </a:stretch>
        </p:blipFill>
        <p:spPr>
          <a:xfrm>
            <a:off x="1481455" y="2842260"/>
            <a:ext cx="9433560" cy="13900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016933" y="970825"/>
            <a:ext cx="615812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/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报错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类型</a:t>
            </a:r>
            <a:endParaRPr lang="zh-CN" altLang="en-US" sz="32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43050" y="1504315"/>
            <a:ext cx="943419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红色</a:t>
            </a:r>
            <a:r>
              <a:rPr lang="en-US" altLang="zh-CN"/>
              <a:t>error</a:t>
            </a:r>
            <a:r>
              <a:rPr lang="zh-CN" altLang="en-US"/>
              <a:t>：优先解决，不解决无法</a:t>
            </a:r>
            <a:r>
              <a:rPr lang="zh-CN" altLang="en-US"/>
              <a:t>跑通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橙色</a:t>
            </a:r>
            <a:r>
              <a:rPr lang="en-US" altLang="zh-CN"/>
              <a:t>critical warning</a:t>
            </a:r>
            <a:r>
              <a:rPr lang="zh-CN" altLang="en-US"/>
              <a:t>：通常是由代码错误造成的，出现基本代表</a:t>
            </a:r>
            <a:r>
              <a:rPr lang="zh-CN" altLang="en-US"/>
              <a:t>有错误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黄色</a:t>
            </a:r>
            <a:r>
              <a:rPr lang="en-US" altLang="zh-CN"/>
              <a:t>warning</a:t>
            </a:r>
            <a:r>
              <a:rPr lang="zh-CN" altLang="en-US"/>
              <a:t>：问题不大，很多</a:t>
            </a:r>
            <a:r>
              <a:rPr lang="en-US" altLang="zh-CN"/>
              <a:t>warning</a:t>
            </a:r>
            <a:r>
              <a:rPr lang="zh-CN" altLang="en-US"/>
              <a:t>不</a:t>
            </a:r>
            <a:r>
              <a:rPr lang="zh-CN" altLang="en-US"/>
              <a:t>会影响正常</a:t>
            </a:r>
            <a:r>
              <a:rPr lang="zh-CN" altLang="en-US"/>
              <a:t>运行，没有前两种错误时再</a:t>
            </a:r>
            <a:r>
              <a:rPr lang="zh-CN" altLang="en-US"/>
              <a:t>考虑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16933" y="2250350"/>
            <a:ext cx="61581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仿真和</a:t>
            </a:r>
            <a:r>
              <a:rPr lang="en-US" altLang="zh-CN" sz="3200" dirty="0">
                <a:solidFill>
                  <a:prstClr val="black"/>
                </a:solidFill>
                <a:latin typeface="+mj-lt"/>
                <a:ea typeface="楷体" panose="02010609060101010101" pitchFamily="49" charset="-122"/>
              </a:rPr>
              <a:t>Debug</a:t>
            </a:r>
            <a:endParaRPr lang="en-US" altLang="zh-CN" sz="3200" dirty="0">
              <a:solidFill>
                <a:prstClr val="black"/>
              </a:solidFill>
              <a:latin typeface="+mj-lt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415560" y="1279052"/>
            <a:ext cx="20106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仿真必要性</a:t>
            </a:r>
            <a:endParaRPr lang="zh-CN" altLang="en-US" sz="2800" dirty="0"/>
          </a:p>
        </p:txBody>
      </p:sp>
      <p:sp>
        <p:nvSpPr>
          <p:cNvPr id="8" name="文本框 7"/>
          <p:cNvSpPr txBox="1"/>
          <p:nvPr/>
        </p:nvSpPr>
        <p:spPr>
          <a:xfrm>
            <a:off x="4738217" y="2367357"/>
            <a:ext cx="34506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tabLst>
                <a:tab pos="228600" algn="l"/>
                <a:tab pos="457200" algn="l"/>
                <a:tab pos="685800" algn="l"/>
                <a:tab pos="5943600" algn="r"/>
              </a:tabLst>
            </a:pPr>
            <a:r>
              <a:rPr lang="zh-CN" altLang="en-US" sz="200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程序上板子不工作没反应</a:t>
            </a:r>
            <a:endParaRPr lang="zh-CN" altLang="zh-CN" sz="200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83068" y="4011565"/>
            <a:ext cx="31073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tabLst>
                <a:tab pos="228600" algn="l"/>
                <a:tab pos="457200" algn="l"/>
                <a:tab pos="685800" algn="l"/>
                <a:tab pos="5943600" algn="r"/>
              </a:tabLst>
            </a:pPr>
            <a:r>
              <a:rPr lang="en-US" altLang="zh-CN" sz="200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200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、摆脱硬件局限性</a:t>
            </a:r>
            <a:endParaRPr lang="zh-CN" altLang="zh-CN" sz="200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38216" y="2849159"/>
            <a:ext cx="32624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tabLst>
                <a:tab pos="228600" algn="l"/>
                <a:tab pos="457200" algn="l"/>
                <a:tab pos="685800" algn="l"/>
                <a:tab pos="5943600" algn="r"/>
              </a:tabLst>
            </a:pPr>
            <a:r>
              <a:rPr lang="zh-CN" altLang="en-US" sz="200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板子工作但是逻辑不对</a:t>
            </a:r>
            <a:endParaRPr lang="zh-CN" altLang="zh-CN" sz="200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83068" y="3409385"/>
            <a:ext cx="40128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tabLst>
                <a:tab pos="228600" algn="l"/>
                <a:tab pos="457200" algn="l"/>
                <a:tab pos="685800" algn="l"/>
                <a:tab pos="5943600" algn="r"/>
              </a:tabLst>
            </a:pPr>
            <a:r>
              <a:rPr lang="en-US" altLang="zh-CN" sz="200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00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上板前就可以检验代码功能</a:t>
            </a:r>
            <a:endParaRPr lang="zh-CN" altLang="zh-CN" sz="200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246254" y="4791603"/>
            <a:ext cx="62313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仿真（</a:t>
            </a:r>
            <a:r>
              <a:rPr lang="en-US" altLang="zh-CN" sz="2000" dirty="0"/>
              <a:t>simulation</a:t>
            </a:r>
            <a:r>
              <a:rPr lang="zh-CN" altLang="en-US" sz="2000" dirty="0"/>
              <a:t>）是对所设计电路进行功能和时序验证的一种手段。</a:t>
            </a:r>
            <a:endParaRPr lang="zh-CN" altLang="en-US" sz="2000" dirty="0"/>
          </a:p>
        </p:txBody>
      </p:sp>
      <p:sp>
        <p:nvSpPr>
          <p:cNvPr id="2" name="左大括号 1"/>
          <p:cNvSpPr/>
          <p:nvPr/>
        </p:nvSpPr>
        <p:spPr>
          <a:xfrm>
            <a:off x="4478240" y="2576189"/>
            <a:ext cx="259977" cy="523220"/>
          </a:xfrm>
          <a:prstGeom prst="leftBrac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383068" y="2622171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Debug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67418" y="981714"/>
            <a:ext cx="20106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基础设置</a:t>
            </a:r>
            <a:endParaRPr lang="zh-CN" altLang="en-US" sz="2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3183" y="612536"/>
            <a:ext cx="7948905" cy="56329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67418" y="981714"/>
            <a:ext cx="20106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仿真代码</a:t>
            </a:r>
            <a:endParaRPr lang="zh-CN" altLang="en-US" sz="28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5835" y="665225"/>
            <a:ext cx="6500266" cy="226127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835" y="3167466"/>
            <a:ext cx="4041554" cy="15538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835" y="4962292"/>
            <a:ext cx="4026594" cy="102613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3972" y="3167466"/>
            <a:ext cx="2904762" cy="28952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559" y="4285999"/>
            <a:ext cx="2791129" cy="181945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064052" y="2434443"/>
            <a:ext cx="16450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4D4D4D"/>
                </a:solidFill>
                <a:latin typeface="-apple-system"/>
              </a:rPr>
              <a:t>#3.5547968525</a:t>
            </a:r>
            <a:endParaRPr lang="en-US" altLang="zh-CN" dirty="0">
              <a:solidFill>
                <a:srgbClr val="4D4D4D"/>
              </a:solidFill>
              <a:latin typeface="-apple-system"/>
            </a:endParaRPr>
          </a:p>
          <a:p>
            <a:r>
              <a:rPr lang="en-US" altLang="zh-CN" dirty="0">
                <a:solidFill>
                  <a:srgbClr val="4D4D4D"/>
                </a:solidFill>
                <a:latin typeface="-apple-system"/>
              </a:rPr>
              <a:t>	a = 0;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144735" y="3222363"/>
            <a:ext cx="11576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4D4D4D"/>
                </a:solidFill>
                <a:latin typeface="-apple-system"/>
              </a:rPr>
              <a:t>#3.555</a:t>
            </a:r>
            <a:endParaRPr lang="en-US" altLang="zh-CN" dirty="0">
              <a:solidFill>
                <a:srgbClr val="4D4D4D"/>
              </a:solidFill>
              <a:latin typeface="-apple-system"/>
            </a:endParaRPr>
          </a:p>
          <a:p>
            <a:r>
              <a:rPr lang="en-US" altLang="zh-CN" dirty="0">
                <a:solidFill>
                  <a:srgbClr val="4D4D4D"/>
                </a:solidFill>
                <a:latin typeface="-apple-system"/>
              </a:rPr>
              <a:t>	a = 0;</a:t>
            </a:r>
            <a:endParaRPr lang="zh-CN" altLang="en-US" dirty="0"/>
          </a:p>
        </p:txBody>
      </p:sp>
      <p:sp>
        <p:nvSpPr>
          <p:cNvPr id="2" name="矩形: 圆角 1"/>
          <p:cNvSpPr/>
          <p:nvPr/>
        </p:nvSpPr>
        <p:spPr>
          <a:xfrm>
            <a:off x="4240306" y="5360894"/>
            <a:ext cx="313765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" name="直接箭头连接符 4"/>
          <p:cNvCxnSpPr/>
          <p:nvPr/>
        </p:nvCxnSpPr>
        <p:spPr>
          <a:xfrm flipH="1" flipV="1">
            <a:off x="3382788" y="5475358"/>
            <a:ext cx="770965" cy="3793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59798" y="760734"/>
            <a:ext cx="20106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仿真界面</a:t>
            </a:r>
            <a:endParaRPr lang="zh-CN" altLang="en-US" sz="28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1337294"/>
            <a:ext cx="8778240" cy="46314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59798" y="760734"/>
            <a:ext cx="6331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Debug</a:t>
            </a:r>
            <a:r>
              <a:rPr lang="zh-CN" altLang="en-US" sz="2800" dirty="0"/>
              <a:t>：从仿真结果查找代码的错误</a:t>
            </a:r>
            <a:endParaRPr lang="zh-CN" altLang="en-US" sz="2800" dirty="0"/>
          </a:p>
        </p:txBody>
      </p:sp>
      <p:sp>
        <p:nvSpPr>
          <p:cNvPr id="4" name="文本框 3"/>
          <p:cNvSpPr txBox="1"/>
          <p:nvPr/>
        </p:nvSpPr>
        <p:spPr>
          <a:xfrm>
            <a:off x="2881100" y="3028890"/>
            <a:ext cx="609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tabLst>
                <a:tab pos="228600" algn="l"/>
                <a:tab pos="457200" algn="l"/>
                <a:tab pos="685800" algn="l"/>
                <a:tab pos="5943600" algn="r"/>
              </a:tabLst>
            </a:pPr>
            <a:r>
              <a:rPr lang="zh-CN" altLang="en-US" sz="200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从输出有问题的变量开始，按因果关系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逐级往上追溯</a:t>
            </a:r>
            <a:endParaRPr lang="zh-CN" altLang="zh-CN" sz="200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37878" y="859794"/>
            <a:ext cx="6331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电路级代码：</a:t>
            </a:r>
            <a:endParaRPr lang="zh-CN" altLang="en-US" sz="28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5850" y="1646107"/>
            <a:ext cx="4258694" cy="270515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557801" y="4396692"/>
            <a:ext cx="108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tabLst>
                <a:tab pos="228600" algn="l"/>
                <a:tab pos="457200" algn="l"/>
                <a:tab pos="685800" algn="l"/>
                <a:tab pos="5943600" algn="r"/>
              </a:tabLst>
            </a:pPr>
            <a:r>
              <a:rPr lang="zh-CN" altLang="en-US" sz="200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电路图</a:t>
            </a:r>
            <a:endParaRPr lang="zh-CN" altLang="zh-CN" sz="200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00130" y="1472505"/>
            <a:ext cx="108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tabLst>
                <a:tab pos="228600" algn="l"/>
                <a:tab pos="457200" algn="l"/>
                <a:tab pos="685800" algn="l"/>
                <a:tab pos="5943600" algn="r"/>
              </a:tabLst>
            </a:pPr>
            <a:r>
              <a:rPr lang="zh-CN" altLang="en-US" sz="200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与门：</a:t>
            </a:r>
            <a:endParaRPr lang="zh-CN" altLang="zh-CN" sz="200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00130" y="2165925"/>
            <a:ext cx="108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tabLst>
                <a:tab pos="228600" algn="l"/>
                <a:tab pos="457200" algn="l"/>
                <a:tab pos="685800" algn="l"/>
                <a:tab pos="5943600" algn="r"/>
              </a:tabLst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或门</a:t>
            </a:r>
            <a:r>
              <a:rPr lang="zh-CN" altLang="en-US" sz="200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endParaRPr lang="zh-CN" altLang="zh-CN" sz="200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00130" y="2859345"/>
            <a:ext cx="108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tabLst>
                <a:tab pos="228600" algn="l"/>
                <a:tab pos="457200" algn="l"/>
                <a:tab pos="685800" algn="l"/>
                <a:tab pos="5943600" algn="r"/>
              </a:tabLst>
            </a:pPr>
            <a:r>
              <a:rPr lang="zh-CN" altLang="en-US" sz="200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非门：</a:t>
            </a:r>
            <a:endParaRPr lang="zh-CN" altLang="zh-CN" sz="200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400130" y="3552765"/>
            <a:ext cx="108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tabLst>
                <a:tab pos="228600" algn="l"/>
                <a:tab pos="457200" algn="l"/>
                <a:tab pos="685800" algn="l"/>
                <a:tab pos="5943600" algn="r"/>
              </a:tabLst>
            </a:pPr>
            <a:r>
              <a:rPr lang="zh-CN" altLang="en-US" sz="200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异或：</a:t>
            </a:r>
            <a:endParaRPr lang="zh-CN" altLang="zh-CN" sz="200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054555" y="5074979"/>
            <a:ext cx="19118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tabLst>
                <a:tab pos="228600" algn="l"/>
                <a:tab pos="457200" algn="l"/>
                <a:tab pos="685800" algn="l"/>
                <a:tab pos="5943600" algn="r"/>
              </a:tabLst>
            </a:pP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与级联电路写法一致</a:t>
            </a:r>
            <a:endParaRPr lang="zh-CN" altLang="zh-CN" sz="2000" b="1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130" y="4482447"/>
            <a:ext cx="2774475" cy="1444889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8312309" y="1531807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and  a1(out,in1,in2,in3) 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8312309" y="2194449"/>
            <a:ext cx="227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or  o1(out,in1,in2,in3) 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8290956" y="2890123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not  o1(out,in1) 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8259339" y="3585133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xor</a:t>
            </a:r>
            <a:r>
              <a:rPr lang="en-US" altLang="zh-CN" dirty="0"/>
              <a:t>  x1(out,in1,in2) 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81835" y="2206242"/>
            <a:ext cx="802341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1.button_process_unit.v中第二行的sim=0改为sim=1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2.debouncer.v中第八行的counter_n #(.n(sim?32:100000),.counter_bits(sim?5:17))改为	counter_n #(.n(sim?2:100000),.counter_bits(sim?1:17))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3.vivado中setting-simulation时长改为10000ns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GRhMzcyMzEyODlhOWM2Njg5MjExZjU2M2JhNTg5NzEifQ==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自定义 1">
      <a:majorFont>
        <a:latin typeface="Times New Roman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1193</Words>
  <Application>WPS 演示</Application>
  <PresentationFormat>宽屏</PresentationFormat>
  <Paragraphs>106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宋体</vt:lpstr>
      <vt:lpstr>Wingdings</vt:lpstr>
      <vt:lpstr>Arial</vt:lpstr>
      <vt:lpstr>楷体</vt:lpstr>
      <vt:lpstr>仿宋</vt:lpstr>
      <vt:lpstr>-apple-system</vt:lpstr>
      <vt:lpstr>Segoe Print</vt:lpstr>
      <vt:lpstr>Times New Roman</vt:lpstr>
      <vt:lpstr>微软雅黑</vt:lpstr>
      <vt:lpstr>Arial Unicode MS</vt:lpstr>
      <vt:lpstr>华文楷体</vt:lpstr>
      <vt:lpstr>等线</vt:lpstr>
      <vt:lpstr>Calibri</vt:lpstr>
      <vt:lpstr>华文彩云</vt:lpstr>
      <vt:lpstr>环保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卓 若凡</dc:creator>
  <cp:lastModifiedBy>楚佳</cp:lastModifiedBy>
  <cp:revision>103</cp:revision>
  <dcterms:created xsi:type="dcterms:W3CDTF">2020-03-05T07:00:00Z</dcterms:created>
  <dcterms:modified xsi:type="dcterms:W3CDTF">2024-03-13T16:10:55Z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6BB3A73EE63943E482810F2048C19B9A_12</vt:lpwstr>
  </property>
  <property fmtid="{D5CDD505-2E9C-101B-9397-08002B2CF9AE}" pid="3" name="KSOProductBuildVer">
    <vt:lpwstr>2052-12.1.0.16399</vt:lpwstr>
  </property>
</Properties>
</file>