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17"/>
  </p:notesMasterIdLst>
  <p:sldIdLst>
    <p:sldId id="282" r:id="rId2"/>
    <p:sldId id="283" r:id="rId3"/>
    <p:sldId id="312" r:id="rId4"/>
    <p:sldId id="285" r:id="rId5"/>
    <p:sldId id="305" r:id="rId6"/>
    <p:sldId id="316" r:id="rId7"/>
    <p:sldId id="315" r:id="rId8"/>
    <p:sldId id="307" r:id="rId9"/>
    <p:sldId id="314" r:id="rId10"/>
    <p:sldId id="306" r:id="rId11"/>
    <p:sldId id="308" r:id="rId12"/>
    <p:sldId id="294" r:id="rId13"/>
    <p:sldId id="310" r:id="rId14"/>
    <p:sldId id="313" r:id="rId15"/>
    <p:sldId id="29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若凡 卓" initials="若凡" lastIdx="1" clrIdx="0">
    <p:extLst>
      <p:ext uri="{19B8F6BF-5375-455C-9EA6-DF929625EA0E}">
        <p15:presenceInfo xmlns:p15="http://schemas.microsoft.com/office/powerpoint/2012/main" userId="97d3e28fc17ea23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BFBFB"/>
    <a:srgbClr val="FCFCFC"/>
    <a:srgbClr val="CCF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2" autoAdjust="0"/>
    <p:restoredTop sz="94725" autoAdjust="0"/>
  </p:normalViewPr>
  <p:slideViewPr>
    <p:cSldViewPr snapToGrid="0">
      <p:cViewPr varScale="1">
        <p:scale>
          <a:sx n="108" d="100"/>
          <a:sy n="108" d="100"/>
        </p:scale>
        <p:origin x="100" y="1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33B53-E84E-4664-8863-E0D117BCB445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ACA4F-244B-43D4-B65C-9E6B183DB6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36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ACA4F-244B-43D4-B65C-9E6B183DB61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21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ACA4F-244B-43D4-B65C-9E6B183DB6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28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7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62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95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1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64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98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8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05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97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58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282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71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520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414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44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33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B8CCDB-65DA-4F57-BB32-EBA29EB7F3FB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6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36F7DCA-9B08-48E0-931B-FBA89BBD8FB2}"/>
              </a:ext>
            </a:extLst>
          </p:cNvPr>
          <p:cNvSpPr txBox="1"/>
          <p:nvPr/>
        </p:nvSpPr>
        <p:spPr>
          <a:xfrm>
            <a:off x="5261114" y="259800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latin typeface="KaiTi" panose="02010609060101010101" pitchFamily="49" charset="-122"/>
                <a:ea typeface="KaiTi" panose="02010609060101010101" pitchFamily="49" charset="-122"/>
              </a:rPr>
              <a:t>lab7</a:t>
            </a:r>
            <a:endParaRPr lang="zh-CN" altLang="en-US" sz="48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39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6D6B13-22F1-4DD1-AEAE-CC60CCCF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222" y="1020871"/>
            <a:ext cx="8245555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7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3FA97C-AFA4-427D-99B7-846DDFDEA0DB}"/>
              </a:ext>
            </a:extLst>
          </p:cNvPr>
          <p:cNvSpPr txBox="1"/>
          <p:nvPr/>
        </p:nvSpPr>
        <p:spPr>
          <a:xfrm>
            <a:off x="1185334" y="1100667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通用微处理器设计的一般流程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E743CD-8DC3-4494-AF42-39B79D318AA4}"/>
              </a:ext>
            </a:extLst>
          </p:cNvPr>
          <p:cNvSpPr txBox="1"/>
          <p:nvPr/>
        </p:nvSpPr>
        <p:spPr>
          <a:xfrm>
            <a:off x="2032001" y="1837267"/>
            <a:ext cx="7269939" cy="3683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、定义处理器的</a:t>
            </a:r>
            <a:r>
              <a:rPr lang="zh-CN" altLang="en-US" sz="2400" dirty="0">
                <a:solidFill>
                  <a:srgbClr val="FF0000"/>
                </a:solidFill>
              </a:rPr>
              <a:t>指令集</a:t>
            </a:r>
            <a:r>
              <a:rPr lang="zh-CN" altLang="en-US" sz="2400" dirty="0"/>
              <a:t>，即微处理器支持什么操作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、设计出能满足指令集需求的</a:t>
            </a:r>
            <a:r>
              <a:rPr lang="zh-CN" altLang="en-US" sz="2400" dirty="0">
                <a:solidFill>
                  <a:srgbClr val="FF0000"/>
                </a:solidFill>
              </a:rPr>
              <a:t>数据通路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/>
              <a:t>3</a:t>
            </a:r>
            <a:r>
              <a:rPr lang="zh-CN" altLang="en-US" sz="2400" dirty="0"/>
              <a:t>、设计</a:t>
            </a:r>
            <a:r>
              <a:rPr lang="zh-CN" altLang="en-US" sz="2400" dirty="0">
                <a:solidFill>
                  <a:srgbClr val="FF0000"/>
                </a:solidFill>
              </a:rPr>
              <a:t>状态机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控制字</a:t>
            </a:r>
            <a:r>
              <a:rPr lang="zh-CN" altLang="en-US" sz="2400" dirty="0"/>
              <a:t>输出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en-US" altLang="zh-CN" sz="2400" dirty="0"/>
              <a:t>4</a:t>
            </a:r>
            <a:r>
              <a:rPr lang="zh-CN" altLang="en-US" sz="2400" dirty="0"/>
              <a:t>、数据通路</a:t>
            </a:r>
            <a:r>
              <a:rPr lang="en-US" altLang="zh-CN" sz="2400" dirty="0"/>
              <a:t>+</a:t>
            </a:r>
            <a:r>
              <a:rPr lang="zh-CN" altLang="en-US" sz="2400" dirty="0"/>
              <a:t>控制电路形成完整的通用微处理器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en-US" altLang="zh-CN" sz="2400" dirty="0"/>
              <a:t>5</a:t>
            </a:r>
            <a:r>
              <a:rPr lang="zh-CN" altLang="en-US" sz="2400" dirty="0"/>
              <a:t>、把要操作的程序存到指令寄存器（</a:t>
            </a:r>
            <a:r>
              <a:rPr lang="en-US" altLang="zh-CN" sz="2400" dirty="0"/>
              <a:t>ROM</a:t>
            </a:r>
            <a:r>
              <a:rPr lang="zh-CN" altLang="en-US" sz="2400" dirty="0"/>
              <a:t>）里</a:t>
            </a:r>
          </a:p>
        </p:txBody>
      </p:sp>
    </p:spTree>
    <p:extLst>
      <p:ext uri="{BB962C8B-B14F-4D97-AF65-F5344CB8AC3E}">
        <p14:creationId xmlns:p14="http://schemas.microsoft.com/office/powerpoint/2010/main" val="406415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1083734" y="810567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、指令集：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77B125-5F1E-4759-855D-C1FEB0A067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1"/>
          <a:stretch/>
        </p:blipFill>
        <p:spPr>
          <a:xfrm>
            <a:off x="909352" y="1380318"/>
            <a:ext cx="7596228" cy="36095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42A005-DF57-47B9-841A-135DEAF80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28" y="5097929"/>
            <a:ext cx="6990476" cy="8571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5D0B071-32CF-487C-9D65-624DFB875C74}"/>
              </a:ext>
            </a:extLst>
          </p:cNvPr>
          <p:cNvSpPr txBox="1"/>
          <p:nvPr/>
        </p:nvSpPr>
        <p:spPr>
          <a:xfrm>
            <a:off x="8505580" y="2503112"/>
            <a:ext cx="3262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PC</a:t>
            </a:r>
            <a:r>
              <a:rPr lang="zh-CN" altLang="en-US" sz="2400" dirty="0"/>
              <a:t>：程序指针，记录下一条指令所在内存单元的地址</a:t>
            </a:r>
          </a:p>
        </p:txBody>
      </p:sp>
    </p:spTree>
    <p:extLst>
      <p:ext uri="{BB962C8B-B14F-4D97-AF65-F5344CB8AC3E}">
        <p14:creationId xmlns:p14="http://schemas.microsoft.com/office/powerpoint/2010/main" val="67128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9800" y="727544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、数据通路：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882F70-A32C-436A-AD3C-BB3B1CA7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50" y="1392673"/>
            <a:ext cx="7937889" cy="451349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00746FF-D67F-4FC4-B7B7-DBFB7368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680" y="1707623"/>
            <a:ext cx="1085714" cy="211428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AEFB00C-FD72-401E-81E8-2C15E144F370}"/>
              </a:ext>
            </a:extLst>
          </p:cNvPr>
          <p:cNvSpPr/>
          <p:nvPr/>
        </p:nvSpPr>
        <p:spPr>
          <a:xfrm>
            <a:off x="6468533" y="1845733"/>
            <a:ext cx="2328334" cy="4334934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EC9EB-796B-4B08-B206-ACD78F2D6751}"/>
              </a:ext>
            </a:extLst>
          </p:cNvPr>
          <p:cNvSpPr/>
          <p:nvPr/>
        </p:nvSpPr>
        <p:spPr>
          <a:xfrm>
            <a:off x="2633133" y="1261533"/>
            <a:ext cx="3632199" cy="3039534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45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9800" y="727544"/>
            <a:ext cx="5694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、数据通路的一般写法</a:t>
            </a:r>
            <a:r>
              <a:rPr lang="en-US" altLang="zh-CN" sz="2400" dirty="0"/>
              <a:t>——</a:t>
            </a:r>
            <a:r>
              <a:rPr lang="zh-CN" altLang="en-US" sz="2400" dirty="0"/>
              <a:t>模块化调用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660884-0B65-BC58-6738-2494DB805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69" y="1472136"/>
            <a:ext cx="7069401" cy="425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2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9800" y="727544"/>
            <a:ext cx="347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、数据通路的一般写法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572DFA2-61FF-C088-73E2-261A1FA76B39}"/>
              </a:ext>
            </a:extLst>
          </p:cNvPr>
          <p:cNvGrpSpPr/>
          <p:nvPr/>
        </p:nvGrpSpPr>
        <p:grpSpPr>
          <a:xfrm>
            <a:off x="674329" y="1391289"/>
            <a:ext cx="5299448" cy="3284084"/>
            <a:chOff x="1224950" y="1261533"/>
            <a:chExt cx="7937889" cy="4919134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1882F70-A32C-436A-AD3C-BB3B1CA75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950" y="1392673"/>
              <a:ext cx="7937889" cy="4513496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AEFB00C-FD72-401E-81E8-2C15E144F370}"/>
                </a:ext>
              </a:extLst>
            </p:cNvPr>
            <p:cNvSpPr/>
            <p:nvPr/>
          </p:nvSpPr>
          <p:spPr>
            <a:xfrm>
              <a:off x="6468533" y="1845733"/>
              <a:ext cx="2328334" cy="433493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85EC9EB-796B-4B08-B206-ACD78F2D6751}"/>
                </a:ext>
              </a:extLst>
            </p:cNvPr>
            <p:cNvSpPr/>
            <p:nvPr/>
          </p:nvSpPr>
          <p:spPr>
            <a:xfrm>
              <a:off x="2633133" y="1261533"/>
              <a:ext cx="3632199" cy="303953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2A16EA0-6646-EA78-1B19-8A1C0F193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0294" y="3558658"/>
            <a:ext cx="8171074" cy="256952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2F69C23-FE9F-ADC0-D516-C96BDDB233F9}"/>
              </a:ext>
            </a:extLst>
          </p:cNvPr>
          <p:cNvSpPr txBox="1"/>
          <p:nvPr/>
        </p:nvSpPr>
        <p:spPr>
          <a:xfrm>
            <a:off x="5973777" y="952880"/>
            <a:ext cx="5543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模块调用的语法：</a:t>
            </a:r>
            <a:endParaRPr lang="en-US" altLang="zh-CN" dirty="0"/>
          </a:p>
          <a:p>
            <a:r>
              <a:rPr lang="zh-CN" altLang="en-US" dirty="0"/>
              <a:t>模块名 </a:t>
            </a:r>
            <a:r>
              <a:rPr lang="en-US" altLang="zh-CN" dirty="0"/>
              <a:t>#(.</a:t>
            </a:r>
            <a:r>
              <a:rPr lang="zh-CN" altLang="en-US" dirty="0"/>
              <a:t>参数名</a:t>
            </a:r>
            <a:r>
              <a:rPr lang="en-US" altLang="zh-CN" dirty="0"/>
              <a:t>(</a:t>
            </a:r>
            <a:r>
              <a:rPr lang="zh-CN" altLang="en-US" dirty="0"/>
              <a:t>参数值</a:t>
            </a:r>
            <a:r>
              <a:rPr lang="en-US" altLang="zh-CN" dirty="0"/>
              <a:t>)) </a:t>
            </a:r>
            <a:r>
              <a:rPr lang="zh-CN" altLang="en-US" dirty="0"/>
              <a:t>实例名</a:t>
            </a:r>
            <a:r>
              <a:rPr lang="en-US" altLang="zh-CN" dirty="0"/>
              <a:t>(.</a:t>
            </a:r>
            <a:r>
              <a:rPr lang="zh-CN" altLang="en-US" dirty="0"/>
              <a:t>端口名</a:t>
            </a:r>
            <a:r>
              <a:rPr lang="en-US" altLang="zh-CN" dirty="0"/>
              <a:t>(</a:t>
            </a:r>
            <a:r>
              <a:rPr lang="zh-CN" altLang="en-US" dirty="0"/>
              <a:t>变量名</a:t>
            </a:r>
            <a:r>
              <a:rPr lang="en-US" altLang="zh-CN" dirty="0"/>
              <a:t>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366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9800" y="727544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r>
              <a:rPr lang="zh-CN" altLang="en-US" sz="2400" dirty="0"/>
              <a:t>、状态转换：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C24740-7D69-4140-9800-15944DE1C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76" y="2229640"/>
            <a:ext cx="7590476" cy="340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57CFDD8-D46F-4C75-A144-FF31B2DA96B9}"/>
              </a:ext>
            </a:extLst>
          </p:cNvPr>
          <p:cNvSpPr txBox="1"/>
          <p:nvPr/>
        </p:nvSpPr>
        <p:spPr>
          <a:xfrm>
            <a:off x="4218218" y="1647609"/>
            <a:ext cx="307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一条指令的运行周期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B70B6A-A07B-4D93-94AE-0122D9174BB8}"/>
              </a:ext>
            </a:extLst>
          </p:cNvPr>
          <p:cNvSpPr txBox="1"/>
          <p:nvPr/>
        </p:nvSpPr>
        <p:spPr>
          <a:xfrm>
            <a:off x="1599289" y="282786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PC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345AF74-060C-47BB-9D74-2E6CE2DAF362}"/>
              </a:ext>
            </a:extLst>
          </p:cNvPr>
          <p:cNvCxnSpPr>
            <a:cxnSpLocks/>
          </p:cNvCxnSpPr>
          <p:nvPr/>
        </p:nvCxnSpPr>
        <p:spPr>
          <a:xfrm>
            <a:off x="2066083" y="3012532"/>
            <a:ext cx="35538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77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9800" y="727544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r>
              <a:rPr lang="zh-CN" altLang="en-US" sz="2400" dirty="0"/>
              <a:t>、状态转换：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9CBCBF-692B-455F-BBF2-4AF9118F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69" y="1362333"/>
            <a:ext cx="6952381" cy="41333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8C9992-E8A5-46C8-9193-E7F6C858C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967" y="3985504"/>
            <a:ext cx="1085714" cy="2114286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D2030C2-5B10-4180-BAD5-4C856CA5DC1F}"/>
              </a:ext>
            </a:extLst>
          </p:cNvPr>
          <p:cNvSpPr txBox="1">
            <a:spLocks/>
          </p:cNvSpPr>
          <p:nvPr/>
        </p:nvSpPr>
        <p:spPr>
          <a:xfrm>
            <a:off x="8373750" y="927048"/>
            <a:ext cx="3482131" cy="2586984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dirty="0"/>
              <a:t>          IN A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LOOP:OUT A 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          DEC A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          JNZ LOOP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          HALT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38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1333" y="863011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r>
              <a:rPr lang="zh-CN" altLang="en-US" sz="2400" dirty="0"/>
              <a:t>、控制字输出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FF811D-3F89-44A4-B56E-0EB49E00D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927" y="3653198"/>
            <a:ext cx="7790476" cy="24095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D3600F-D6C4-4B23-9280-0FE81D24D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451" y="645277"/>
            <a:ext cx="5290033" cy="300792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4F94C5A-BF7E-4567-9D41-631199B6172B}"/>
              </a:ext>
            </a:extLst>
          </p:cNvPr>
          <p:cNvSpPr/>
          <p:nvPr/>
        </p:nvSpPr>
        <p:spPr>
          <a:xfrm>
            <a:off x="9714682" y="3495885"/>
            <a:ext cx="1190625" cy="272415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5D03E6-D3CE-4B77-82F0-FE1E5C7A29B5}"/>
              </a:ext>
            </a:extLst>
          </p:cNvPr>
          <p:cNvSpPr/>
          <p:nvPr/>
        </p:nvSpPr>
        <p:spPr>
          <a:xfrm>
            <a:off x="2235200" y="3495885"/>
            <a:ext cx="1109133" cy="2499104"/>
          </a:xfrm>
          <a:prstGeom prst="rect">
            <a:avLst/>
          </a:prstGeom>
          <a:solidFill>
            <a:srgbClr val="F9F9F9"/>
          </a:solidFill>
          <a:ln>
            <a:solidFill>
              <a:srgbClr val="FBFB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71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6A0048-C02D-4EB7-BC2B-6C0D49458705}"/>
              </a:ext>
            </a:extLst>
          </p:cNvPr>
          <p:cNvSpPr txBox="1"/>
          <p:nvPr/>
        </p:nvSpPr>
        <p:spPr>
          <a:xfrm>
            <a:off x="931333" y="863011"/>
            <a:ext cx="328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4</a:t>
            </a:r>
            <a:r>
              <a:rPr lang="zh-CN" altLang="en-US" sz="2400" dirty="0"/>
              <a:t>、数据通路</a:t>
            </a:r>
            <a:r>
              <a:rPr lang="en-US" altLang="zh-CN" sz="2400" dirty="0"/>
              <a:t>+</a:t>
            </a:r>
            <a:r>
              <a:rPr lang="zh-CN" altLang="en-US" sz="2400" dirty="0"/>
              <a:t>控制单元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F2A71D-4CB4-420A-9CCF-21BD7A1FE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38" y="1324676"/>
            <a:ext cx="7979576" cy="47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9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8E13F93-DAF8-489E-8774-A3F1728043D8}"/>
              </a:ext>
            </a:extLst>
          </p:cNvPr>
          <p:cNvSpPr txBox="1">
            <a:spLocks/>
          </p:cNvSpPr>
          <p:nvPr/>
        </p:nvSpPr>
        <p:spPr>
          <a:xfrm>
            <a:off x="7337424" y="2135508"/>
            <a:ext cx="3482131" cy="2586984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dirty="0"/>
              <a:t>          IN A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LOOP:OUT A 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          DEC A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          JNZ LOOP</a:t>
            </a:r>
          </a:p>
          <a:p>
            <a:pPr marL="0" indent="0">
              <a:buFont typeface="Arial"/>
              <a:buNone/>
            </a:pPr>
            <a:r>
              <a:rPr lang="en-US" altLang="zh-CN" dirty="0"/>
              <a:t>          HALT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FA2A72-C868-4D06-AEE0-9F1800928D51}"/>
              </a:ext>
            </a:extLst>
          </p:cNvPr>
          <p:cNvSpPr txBox="1"/>
          <p:nvPr/>
        </p:nvSpPr>
        <p:spPr>
          <a:xfrm>
            <a:off x="1067498" y="789233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将要执行的代码存到存储器里：</a:t>
            </a:r>
          </a:p>
        </p:txBody>
      </p:sp>
      <p:pic>
        <p:nvPicPr>
          <p:cNvPr id="5" name="内容占位符 6">
            <a:extLst>
              <a:ext uri="{FF2B5EF4-FFF2-40B4-BE49-F238E27FC236}">
                <a16:creationId xmlns:a16="http://schemas.microsoft.com/office/drawing/2014/main" id="{5A8612CE-5A92-4E5E-A944-A28FDF493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167" y="1763725"/>
            <a:ext cx="1792483" cy="16652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EEB26F7-FA56-42BC-ABC1-73F40A00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89" y="3784600"/>
            <a:ext cx="5559746" cy="207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FA2A72-C868-4D06-AEE0-9F1800928D51}"/>
              </a:ext>
            </a:extLst>
          </p:cNvPr>
          <p:cNvSpPr txBox="1"/>
          <p:nvPr/>
        </p:nvSpPr>
        <p:spPr>
          <a:xfrm>
            <a:off x="1067498" y="78923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顶层代码：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924597C-453C-4407-9A50-BDA912706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851" y="1397980"/>
            <a:ext cx="6616297" cy="43035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C46FA7-D054-4353-171C-FBFC9E9CEB20}"/>
              </a:ext>
            </a:extLst>
          </p:cNvPr>
          <p:cNvSpPr txBox="1"/>
          <p:nvPr/>
        </p:nvSpPr>
        <p:spPr>
          <a:xfrm>
            <a:off x="9543682" y="3499481"/>
            <a:ext cx="18833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这里使用了一个</a:t>
            </a:r>
            <a:r>
              <a:rPr lang="en-US" altLang="zh-CN" dirty="0"/>
              <a:t>2s</a:t>
            </a:r>
            <a:r>
              <a:rPr lang="zh-CN" altLang="en-US" dirty="0"/>
              <a:t>的分频器，目的是</a:t>
            </a:r>
            <a:r>
              <a:rPr lang="zh-CN" altLang="en-US" dirty="0">
                <a:solidFill>
                  <a:srgbClr val="FF0000"/>
                </a:solidFill>
              </a:rPr>
              <a:t>便于上板观察结果</a:t>
            </a:r>
            <a:r>
              <a:rPr lang="zh-CN" altLang="en-US" dirty="0"/>
              <a:t>，仿真时不需要。</a:t>
            </a:r>
          </a:p>
        </p:txBody>
      </p:sp>
    </p:spTree>
    <p:extLst>
      <p:ext uri="{BB962C8B-B14F-4D97-AF65-F5344CB8AC3E}">
        <p14:creationId xmlns:p14="http://schemas.microsoft.com/office/powerpoint/2010/main" val="1812315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FA2A72-C868-4D06-AEE0-9F1800928D51}"/>
              </a:ext>
            </a:extLst>
          </p:cNvPr>
          <p:cNvSpPr txBox="1"/>
          <p:nvPr/>
        </p:nvSpPr>
        <p:spPr>
          <a:xfrm>
            <a:off x="1067498" y="789233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ROM</a:t>
            </a:r>
            <a:r>
              <a:rPr lang="zh-CN" altLang="en-US" sz="2800" dirty="0"/>
              <a:t>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C33B10-9D69-41EF-A79F-4B9C4E30A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73" y="1312453"/>
            <a:ext cx="4719465" cy="3304845"/>
          </a:xfrm>
          <a:prstGeom prst="rect">
            <a:avLst/>
          </a:prstGeom>
        </p:spPr>
      </p:pic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BCCAB5A-2268-4F1D-AA44-73BFE1686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405" y="4374241"/>
            <a:ext cx="1792483" cy="16652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021987-3534-4851-9786-A3C84B3C7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138" y="1312453"/>
            <a:ext cx="5559746" cy="207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3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484831-E333-4433-9231-165ADD895EBB}"/>
              </a:ext>
            </a:extLst>
          </p:cNvPr>
          <p:cNvSpPr txBox="1"/>
          <p:nvPr/>
        </p:nvSpPr>
        <p:spPr>
          <a:xfrm>
            <a:off x="5124450" y="2228671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要求：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验收</a:t>
            </a:r>
            <a:endParaRPr lang="en-US" altLang="zh-CN" dirty="0"/>
          </a:p>
          <a:p>
            <a:r>
              <a:rPr lang="zh-CN" altLang="en-US" dirty="0"/>
              <a:t>实验报告</a:t>
            </a:r>
          </a:p>
        </p:txBody>
      </p:sp>
    </p:spTree>
    <p:extLst>
      <p:ext uri="{BB962C8B-B14F-4D97-AF65-F5344CB8AC3E}">
        <p14:creationId xmlns:p14="http://schemas.microsoft.com/office/powerpoint/2010/main" val="222046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6732</TotalTime>
  <Words>226</Words>
  <Application>Microsoft Office PowerPoint</Application>
  <PresentationFormat>宽屏</PresentationFormat>
  <Paragraphs>40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KaiTi</vt:lpstr>
      <vt:lpstr>Arial</vt:lpstr>
      <vt:lpstr>Times New Roman</vt:lpstr>
      <vt:lpstr>环保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卓 若凡</dc:creator>
  <cp:lastModifiedBy>He Jiadong</cp:lastModifiedBy>
  <cp:revision>151</cp:revision>
  <dcterms:created xsi:type="dcterms:W3CDTF">2020-03-05T07:00:18Z</dcterms:created>
  <dcterms:modified xsi:type="dcterms:W3CDTF">2023-06-09T05:19:01Z</dcterms:modified>
</cp:coreProperties>
</file>