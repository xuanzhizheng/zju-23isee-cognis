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40" r:id="rId1"/>
  </p:sldMasterIdLst>
  <p:notesMasterIdLst>
    <p:notesMasterId r:id="rId40"/>
  </p:notesMasterIdLst>
  <p:handoutMasterIdLst>
    <p:handoutMasterId r:id="rId41"/>
  </p:handoutMasterIdLst>
  <p:sldIdLst>
    <p:sldId id="479" r:id="rId2"/>
    <p:sldId id="433" r:id="rId3"/>
    <p:sldId id="676" r:id="rId4"/>
    <p:sldId id="725" r:id="rId5"/>
    <p:sldId id="726" r:id="rId6"/>
    <p:sldId id="729" r:id="rId7"/>
    <p:sldId id="727" r:id="rId8"/>
    <p:sldId id="728" r:id="rId9"/>
    <p:sldId id="734" r:id="rId10"/>
    <p:sldId id="730" r:id="rId11"/>
    <p:sldId id="731" r:id="rId12"/>
    <p:sldId id="732" r:id="rId13"/>
    <p:sldId id="738" r:id="rId14"/>
    <p:sldId id="739" r:id="rId15"/>
    <p:sldId id="733" r:id="rId16"/>
    <p:sldId id="741" r:id="rId17"/>
    <p:sldId id="735" r:id="rId18"/>
    <p:sldId id="742" r:id="rId19"/>
    <p:sldId id="743" r:id="rId20"/>
    <p:sldId id="744" r:id="rId21"/>
    <p:sldId id="745" r:id="rId22"/>
    <p:sldId id="746" r:id="rId23"/>
    <p:sldId id="747" r:id="rId24"/>
    <p:sldId id="748" r:id="rId25"/>
    <p:sldId id="750" r:id="rId26"/>
    <p:sldId id="749" r:id="rId27"/>
    <p:sldId id="751" r:id="rId28"/>
    <p:sldId id="752" r:id="rId29"/>
    <p:sldId id="753" r:id="rId30"/>
    <p:sldId id="754" r:id="rId31"/>
    <p:sldId id="755" r:id="rId32"/>
    <p:sldId id="756" r:id="rId33"/>
    <p:sldId id="757" r:id="rId34"/>
    <p:sldId id="758" r:id="rId35"/>
    <p:sldId id="759" r:id="rId36"/>
    <p:sldId id="760" r:id="rId37"/>
    <p:sldId id="761" r:id="rId38"/>
    <p:sldId id="762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5C9C"/>
    <a:srgbClr val="595959"/>
    <a:srgbClr val="FF0000"/>
    <a:srgbClr val="0000FF"/>
    <a:srgbClr val="07E9E4"/>
    <a:srgbClr val="9E0000"/>
    <a:srgbClr val="FDD5D5"/>
    <a:srgbClr val="640E00"/>
    <a:srgbClr val="FED5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85" autoAdjust="0"/>
    <p:restoredTop sz="96366" autoAdjust="0"/>
  </p:normalViewPr>
  <p:slideViewPr>
    <p:cSldViewPr snapToGrid="0">
      <p:cViewPr varScale="1">
        <p:scale>
          <a:sx n="83" d="100"/>
          <a:sy n="83" d="100"/>
        </p:scale>
        <p:origin x="400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442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FED03B-8713-423C-851D-50A6C1177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EEF400-8678-4702-8C69-AC0124F6565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8B7A2-AE07-4777-BD5F-9EA6CD7E243A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16B06D-7168-4094-AAF2-34BDECE207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B5E041-D031-4590-9BD2-066A4525684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F77D9D-0B32-498F-BF2A-3621F9DDC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61171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AF2513-D640-4369-B0B6-06CC860D0AC5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D961B-05A6-47CD-9654-EAA20B766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95508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D198D2-E56C-44FC-AC96-0C4FD52F0C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7596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>
            <a:extLst>
              <a:ext uri="{FF2B5EF4-FFF2-40B4-BE49-F238E27FC236}">
                <a16:creationId xmlns:a16="http://schemas.microsoft.com/office/drawing/2014/main" id="{455DA004-0D15-4058-8A43-09282551AA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备注占位符 2">
            <a:extLst>
              <a:ext uri="{FF2B5EF4-FFF2-40B4-BE49-F238E27FC236}">
                <a16:creationId xmlns:a16="http://schemas.microsoft.com/office/drawing/2014/main" id="{01D0303E-169C-42E1-B921-62EDB99704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4580" name="灯片编号占位符 3">
            <a:extLst>
              <a:ext uri="{FF2B5EF4-FFF2-40B4-BE49-F238E27FC236}">
                <a16:creationId xmlns:a16="http://schemas.microsoft.com/office/drawing/2014/main" id="{0D40DD4C-009F-484E-9518-A6A99B1F6D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3D4F19B-6D28-42FD-BFE1-8A4A42D1C8B3}" type="slidenum">
              <a:rPr lang="zh-CN" altLang="en-US" smtClean="0">
                <a:solidFill>
                  <a:srgbClr val="000000"/>
                </a:solidFill>
              </a:rPr>
              <a:pPr/>
              <a:t>3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0470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F4002-767D-938E-F4A7-0F44633F4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>
            <a:extLst>
              <a:ext uri="{FF2B5EF4-FFF2-40B4-BE49-F238E27FC236}">
                <a16:creationId xmlns:a16="http://schemas.microsoft.com/office/drawing/2014/main" id="{53B1BA5E-1CB9-484C-C72C-39D3C2C1BD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备注占位符 2">
            <a:extLst>
              <a:ext uri="{FF2B5EF4-FFF2-40B4-BE49-F238E27FC236}">
                <a16:creationId xmlns:a16="http://schemas.microsoft.com/office/drawing/2014/main" id="{6FF7C02E-8A4E-BB9A-D705-D0F0E50443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4580" name="灯片编号占位符 3">
            <a:extLst>
              <a:ext uri="{FF2B5EF4-FFF2-40B4-BE49-F238E27FC236}">
                <a16:creationId xmlns:a16="http://schemas.microsoft.com/office/drawing/2014/main" id="{E482F436-9E60-C6E3-1F6B-DCEB8C5314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3D4F19B-6D28-42FD-BFE1-8A4A42D1C8B3}" type="slidenum">
              <a:rPr lang="zh-CN" altLang="en-US" smtClean="0">
                <a:solidFill>
                  <a:srgbClr val="000000"/>
                </a:solidFill>
              </a:rPr>
              <a:pPr/>
              <a:t>4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6172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77E75-B45F-06CD-CEE1-754142180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2708FD-C7A8-FA2A-37E3-EA2B6B1D9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596EA49-280D-3E82-F728-AADBDE447A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780886-4A48-B468-A365-9C4AD09DEC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D198D2-E56C-44FC-AC96-0C4FD52F0C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43751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D961B-05A6-47CD-9654-EAA20B76665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475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D5290-F602-A2D4-C0CA-CB3A7FDB2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5DD069-2DB3-65F5-F5D0-1DA71D28BC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94D5517-BCD3-3185-12B0-1A0E79A68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139D0D-BDAC-B3EB-DC55-BF58FD05E7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D198D2-E56C-44FC-AC96-0C4FD52F0C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2312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5382B-2037-B9BF-F08A-C08DB9338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9CEB8AF-36EE-8D1D-BF05-2119FA938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5CFB56D-BFDD-0425-394E-1FD70BA7D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EB754D-D438-9CC9-7D51-017F7C01A2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D198D2-E56C-44FC-AC96-0C4FD52F0C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14105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D72F2-1297-0A25-2F46-9FB33CF01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40A959A-1CBF-3173-575A-523A067DE3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5386F9-02AC-D522-8E60-D3CBC858DF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E436E9-14E8-A2AC-C8F0-E29F9733D8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D198D2-E56C-44FC-AC96-0C4FD52F0C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64499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BC649-59B6-8A23-1590-7552F4743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4855A7-FFCA-90A2-6654-10DC246A18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E99D8CA-F4EC-FD87-3574-53F89C9340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FF781F-1F38-5256-505F-259A70E393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D198D2-E56C-44FC-AC96-0C4FD52F0C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14459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EBB80-46DF-F67C-BE59-49ABAC115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67CF633-9671-5234-B75C-0E50E6F22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543BDB1-D5FE-7382-EF86-81B184165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54E083-1360-7064-F987-3CDA5FCEED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D198D2-E56C-44FC-AC96-0C4FD52F0C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72658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7065B-7940-D20A-7829-74E63F650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1DB3D40-66E9-57C4-4367-6CE29495DC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2091335-2FA3-CD4E-A1C2-DC9130E4EC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B2F92A-AB0A-D6A7-645D-0DF394838B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D198D2-E56C-44FC-AC96-0C4FD52F0C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44001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4E35F-FFF5-E3BE-A939-DEBD840F3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098525-262D-BEAD-5056-FC2741191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10E727-17CB-A5BB-C4AD-7CAFC94D1C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280512-A223-6D26-B939-D685B5652C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D198D2-E56C-44FC-AC96-0C4FD52F0C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6474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FD268-56CF-1896-1731-2A6785EC3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188DC9-143A-D9C0-D42A-2DABFB1413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590D1A7-1443-122A-5A08-03C010A72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07457F-078A-37B0-2A00-048D0362DC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D198D2-E56C-44FC-AC96-0C4FD52F0C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86329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41E84-1BF3-5E4A-E530-304A195BF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DE61708-DEF4-CD86-150F-2F43959C6B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3618557-5135-5666-827E-F43E3FDDB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CDFB4A-214D-5813-71B4-2E5BDF34E5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D198D2-E56C-44FC-AC96-0C4FD52F0C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48517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3A608-BAA1-8218-60B8-71AA30429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2253CDB-A588-7773-9B8D-A2E1FEF532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81A600-5034-B110-2985-F7DA59E1F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B43519-AD97-BD25-B594-7AB252434A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D198D2-E56C-44FC-AC96-0C4FD52F0C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56917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74269-6EE9-D41F-95F2-AE98E0DE2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9388B0-0D0C-CB79-C0C1-2B37BEA634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93ACC32-03CB-FB5E-5E98-9086CB8106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B7548A-8324-1D2F-B053-D1DD139652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D198D2-E56C-44FC-AC96-0C4FD52F0C1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1609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1411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1"/>
            <a:ext cx="12192000" cy="535633"/>
          </a:xfrm>
          <a:prstGeom prst="rect">
            <a:avLst/>
          </a:prstGeom>
          <a:solidFill>
            <a:srgbClr val="255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C3B3D07-DE98-4A79-848C-3F01A14B896D}"/>
              </a:ext>
            </a:extLst>
          </p:cNvPr>
          <p:cNvSpPr txBox="1"/>
          <p:nvPr userDrawn="1"/>
        </p:nvSpPr>
        <p:spPr>
          <a:xfrm>
            <a:off x="9986565" y="6458934"/>
            <a:ext cx="1561146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www.optoelectronicszju.com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11A663B-7EBE-45B8-AE0E-2F7C5D7F5B67}"/>
              </a:ext>
            </a:extLst>
          </p:cNvPr>
          <p:cNvCxnSpPr>
            <a:cxnSpLocks/>
          </p:cNvCxnSpPr>
          <p:nvPr userDrawn="1"/>
        </p:nvCxnSpPr>
        <p:spPr>
          <a:xfrm>
            <a:off x="8884425" y="6466646"/>
            <a:ext cx="2459264" cy="0"/>
          </a:xfrm>
          <a:prstGeom prst="line">
            <a:avLst/>
          </a:prstGeom>
          <a:ln w="9525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5592BF60-DBE3-4254-9B17-1DEF02B8BA93}"/>
              </a:ext>
            </a:extLst>
          </p:cNvPr>
          <p:cNvSpPr txBox="1"/>
          <p:nvPr userDrawn="1"/>
        </p:nvSpPr>
        <p:spPr>
          <a:xfrm>
            <a:off x="8842339" y="6462839"/>
            <a:ext cx="12204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浙江大学光电子研究组</a:t>
            </a:r>
            <a:endParaRPr lang="en-GB" sz="800" b="1" i="0" dirty="0">
              <a:solidFill>
                <a:schemeClr val="tx1">
                  <a:lumMod val="50000"/>
                  <a:lumOff val="50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13" name="Picture 9">
            <a:extLst>
              <a:ext uri="{FF2B5EF4-FFF2-40B4-BE49-F238E27FC236}">
                <a16:creationId xmlns:a16="http://schemas.microsoft.com/office/drawing/2014/main" id="{F9C8C639-B8F3-4AEE-AD86-0557D25C0D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310" y="6410382"/>
            <a:ext cx="1448927" cy="261160"/>
          </a:xfrm>
          <a:prstGeom prst="rect">
            <a:avLst/>
          </a:prstGeom>
        </p:spPr>
      </p:pic>
      <p:sp>
        <p:nvSpPr>
          <p:cNvPr id="14" name="TextBox 1">
            <a:extLst>
              <a:ext uri="{FF2B5EF4-FFF2-40B4-BE49-F238E27FC236}">
                <a16:creationId xmlns:a16="http://schemas.microsoft.com/office/drawing/2014/main" id="{6A9DBC0F-6211-4A77-936A-4B9EB8351525}"/>
              </a:ext>
            </a:extLst>
          </p:cNvPr>
          <p:cNvSpPr txBox="1"/>
          <p:nvPr userDrawn="1"/>
        </p:nvSpPr>
        <p:spPr>
          <a:xfrm>
            <a:off x="11439339" y="6394543"/>
            <a:ext cx="6091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DC27B55-73FB-40DB-940F-0D374B25B093}" type="slidenum">
              <a:rPr lang="en-US" sz="120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12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1502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F9107C2C-9E38-4D6A-9A92-D0CB75B512EE}"/>
              </a:ext>
            </a:extLst>
          </p:cNvPr>
          <p:cNvSpPr txBox="1"/>
          <p:nvPr userDrawn="1"/>
        </p:nvSpPr>
        <p:spPr>
          <a:xfrm>
            <a:off x="9872918" y="6356124"/>
            <a:ext cx="1561146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www.optoelectronicszju.com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0B59480-FA11-4B1D-95FB-643A2C19B69A}"/>
              </a:ext>
            </a:extLst>
          </p:cNvPr>
          <p:cNvCxnSpPr>
            <a:cxnSpLocks/>
          </p:cNvCxnSpPr>
          <p:nvPr userDrawn="1"/>
        </p:nvCxnSpPr>
        <p:spPr>
          <a:xfrm>
            <a:off x="8770778" y="6363836"/>
            <a:ext cx="2459264" cy="0"/>
          </a:xfrm>
          <a:prstGeom prst="line">
            <a:avLst/>
          </a:prstGeom>
          <a:ln w="9525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95E23833-61C7-4672-BDEB-9BB405CB43EC}"/>
              </a:ext>
            </a:extLst>
          </p:cNvPr>
          <p:cNvSpPr txBox="1"/>
          <p:nvPr userDrawn="1"/>
        </p:nvSpPr>
        <p:spPr>
          <a:xfrm>
            <a:off x="8728692" y="6360029"/>
            <a:ext cx="12204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浙江大学光电子研究组</a:t>
            </a:r>
            <a:endParaRPr lang="en-GB" sz="800" b="1" i="0" dirty="0">
              <a:solidFill>
                <a:schemeClr val="tx1">
                  <a:lumMod val="50000"/>
                  <a:lumOff val="50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14" name="Picture 9">
            <a:extLst>
              <a:ext uri="{FF2B5EF4-FFF2-40B4-BE49-F238E27FC236}">
                <a16:creationId xmlns:a16="http://schemas.microsoft.com/office/drawing/2014/main" id="{21F6C709-D5BC-463E-A618-44D4EA0095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8663" y="6307572"/>
            <a:ext cx="1448927" cy="261160"/>
          </a:xfrm>
          <a:prstGeom prst="rect">
            <a:avLst/>
          </a:prstGeom>
        </p:spPr>
      </p:pic>
      <p:pic>
        <p:nvPicPr>
          <p:cNvPr id="15" name="Picture 10">
            <a:extLst>
              <a:ext uri="{FF2B5EF4-FFF2-40B4-BE49-F238E27FC236}">
                <a16:creationId xmlns:a16="http://schemas.microsoft.com/office/drawing/2014/main" id="{204E347C-0249-4497-A424-3B4FCC59E8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5027" y="6152735"/>
            <a:ext cx="528933" cy="52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831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786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39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1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5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26.png"/><Relationship Id="rId5" Type="http://schemas.openxmlformats.org/officeDocument/2006/relationships/image" Target="../media/image13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2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t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t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5.png"/><Relationship Id="rId7" Type="http://schemas.openxmlformats.org/officeDocument/2006/relationships/image" Target="../media/image56.png"/><Relationship Id="rId17" Type="http://schemas.openxmlformats.org/officeDocument/2006/relationships/image" Target="../media/image5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15" Type="http://schemas.openxmlformats.org/officeDocument/2006/relationships/image" Target="../media/image30.png"/><Relationship Id="rId4" Type="http://schemas.openxmlformats.org/officeDocument/2006/relationships/image" Target="../media/image53.png"/><Relationship Id="rId9" Type="http://schemas.openxmlformats.org/officeDocument/2006/relationships/image" Target="../media/image28.png"/><Relationship Id="rId1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28681D-1331-4A4D-B3D4-917B209F5B6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68" b="9757"/>
          <a:stretch/>
        </p:blipFill>
        <p:spPr>
          <a:xfrm>
            <a:off x="0" y="1199552"/>
            <a:ext cx="12192000" cy="13721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E37FF98-0CEF-4B09-ADEE-D9C3C08E8F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1220" y="367393"/>
            <a:ext cx="1803065" cy="5151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6DB705-7990-41D0-9679-E670917E46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957" y="420003"/>
            <a:ext cx="2274358" cy="4099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4E147A-888D-490B-BAAB-C04675B56B0C}"/>
              </a:ext>
            </a:extLst>
          </p:cNvPr>
          <p:cNvSpPr txBox="1"/>
          <p:nvPr/>
        </p:nvSpPr>
        <p:spPr>
          <a:xfrm>
            <a:off x="5232301" y="5747953"/>
            <a:ext cx="18787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0"/>
              </a:rPr>
              <a:t>2024-2025-2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0"/>
              </a:rPr>
              <a:t> </a:t>
            </a:r>
            <a:endParaRPr lang="en-US" sz="1600" dirty="0"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7D84DD68-DA40-4669-8F41-E077D801D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352" y="3060691"/>
            <a:ext cx="10099295" cy="2882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/>
            <a:r>
              <a:rPr lang="en-US" altLang="zh-CN" sz="4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0"/>
              </a:rPr>
              <a:t>Fundamentals of Optoelectronics</a:t>
            </a:r>
          </a:p>
          <a:p>
            <a:pPr algn="ctr"/>
            <a:r>
              <a:rPr lang="zh-CN" altLang="en-US" sz="4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0"/>
              </a:rPr>
              <a:t>（光电子学基础）</a:t>
            </a:r>
            <a:endParaRPr lang="en-US" altLang="zh-CN" sz="4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 charset="0"/>
            </a:endParaRPr>
          </a:p>
          <a:p>
            <a:pPr algn="ctr"/>
            <a:endParaRPr lang="en-US" altLang="zh-CN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Encoding for Spectrometers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spcBef>
                <a:spcPts val="1651"/>
              </a:spcBef>
            </a:pPr>
            <a:endParaRPr lang="en-US" altLang="zh-CN" sz="2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876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2">
            <a:extLst>
              <a:ext uri="{FF2B5EF4-FFF2-40B4-BE49-F238E27FC236}">
                <a16:creationId xmlns:a16="http://schemas.microsoft.com/office/drawing/2014/main" id="{35F2D01A-1C08-4ACD-B5AA-B79E5F6D91B9}"/>
              </a:ext>
            </a:extLst>
          </p:cNvPr>
          <p:cNvSpPr txBox="1">
            <a:spLocks/>
          </p:cNvSpPr>
          <p:nvPr/>
        </p:nvSpPr>
        <p:spPr>
          <a:xfrm>
            <a:off x="1524000" y="75088"/>
            <a:ext cx="9144000" cy="43854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Outline</a:t>
            </a:r>
            <a:endParaRPr lang="en-GB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A7E7F9F-8838-4EEA-8B48-A9F419E27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337" y="1086169"/>
            <a:ext cx="5927325" cy="4197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marL="457200" indent="-457200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0"/>
              </a:rPr>
              <a:t>Computational spectrometers</a:t>
            </a:r>
          </a:p>
          <a:p>
            <a:pPr marL="800100" lvl="1" indent="-342900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0"/>
              </a:rPr>
              <a:t> Encoding</a:t>
            </a:r>
          </a:p>
          <a:p>
            <a:pPr marL="457200" indent="-457200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US" altLang="zh-CN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Metasurface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Computational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electromagnetics</a:t>
            </a:r>
          </a:p>
          <a:p>
            <a:pPr marL="800100" lvl="1" indent="-342900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FDTD</a:t>
            </a:r>
            <a:endParaRPr lang="en-GB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9123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0F4B8B0-6F39-4990-A955-0D2C4D434C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9" t="45609" r="53877"/>
          <a:stretch/>
        </p:blipFill>
        <p:spPr>
          <a:xfrm>
            <a:off x="5633734" y="2221194"/>
            <a:ext cx="5479169" cy="3697369"/>
          </a:xfrm>
          <a:prstGeom prst="rect">
            <a:avLst/>
          </a:prstGeom>
        </p:spPr>
      </p:pic>
      <p:sp>
        <p:nvSpPr>
          <p:cNvPr id="6" name="Rectangle 11">
            <a:extLst>
              <a:ext uri="{FF2B5EF4-FFF2-40B4-BE49-F238E27FC236}">
                <a16:creationId xmlns:a16="http://schemas.microsoft.com/office/drawing/2014/main" id="{8A5AB3E5-B97C-4FE3-BCF5-09ED938D3C34}"/>
              </a:ext>
            </a:extLst>
          </p:cNvPr>
          <p:cNvSpPr/>
          <p:nvPr/>
        </p:nvSpPr>
        <p:spPr>
          <a:xfrm>
            <a:off x="308945" y="5899688"/>
            <a:ext cx="370139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Z. Y. Yang </a:t>
            </a:r>
            <a:r>
              <a:rPr lang="en-GB" sz="1200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GB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GB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200" b="1" i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Science</a:t>
            </a:r>
            <a:r>
              <a:rPr lang="en-US" altLang="zh-CN" sz="12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371, eabe0722 (2021) </a:t>
            </a:r>
            <a:endParaRPr lang="en-GB" sz="1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D53305D-8F57-4B30-8A07-17C500AD2CC2}"/>
              </a:ext>
            </a:extLst>
          </p:cNvPr>
          <p:cNvSpPr txBox="1"/>
          <p:nvPr/>
        </p:nvSpPr>
        <p:spPr>
          <a:xfrm>
            <a:off x="1948261" y="528700"/>
            <a:ext cx="8426023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Computational spectrometers involving two processes: 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encoding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and 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decoding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14" name="标题 2">
            <a:extLst>
              <a:ext uri="{FF2B5EF4-FFF2-40B4-BE49-F238E27FC236}">
                <a16:creationId xmlns:a16="http://schemas.microsoft.com/office/drawing/2014/main" id="{5370C59F-1E6D-74C7-4E13-1D660BE1911F}"/>
              </a:ext>
            </a:extLst>
          </p:cNvPr>
          <p:cNvSpPr txBox="1">
            <a:spLocks/>
          </p:cNvSpPr>
          <p:nvPr/>
        </p:nvSpPr>
        <p:spPr>
          <a:xfrm>
            <a:off x="1524000" y="75088"/>
            <a:ext cx="9144000" cy="43854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4400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Computational spectrometers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F64D6D6-4F83-6766-68E6-2848E9C2854F}"/>
              </a:ext>
            </a:extLst>
          </p:cNvPr>
          <p:cNvSpPr txBox="1"/>
          <p:nvPr/>
        </p:nvSpPr>
        <p:spPr>
          <a:xfrm>
            <a:off x="9548695" y="1488649"/>
            <a:ext cx="1315892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Decoding</a:t>
            </a:r>
            <a:endParaRPr lang="zh-CN" altLang="en-US" b="1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7A646A8-3DDA-D4D5-D92D-D4E9E4812B7A}"/>
              </a:ext>
            </a:extLst>
          </p:cNvPr>
          <p:cNvSpPr txBox="1"/>
          <p:nvPr/>
        </p:nvSpPr>
        <p:spPr>
          <a:xfrm>
            <a:off x="3895864" y="1488649"/>
            <a:ext cx="2495964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Encoding strategies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86D1A82-A94C-010B-CAC0-EB28B6DDE503}"/>
              </a:ext>
            </a:extLst>
          </p:cNvPr>
          <p:cNvSpPr txBox="1"/>
          <p:nvPr/>
        </p:nvSpPr>
        <p:spPr>
          <a:xfrm>
            <a:off x="409296" y="3509321"/>
            <a:ext cx="26968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Spectral response: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Converse spectrum into multiplexing signals</a:t>
            </a:r>
            <a:endParaRPr lang="zh-CN" altLang="en-US" dirty="0"/>
          </a:p>
        </p:txBody>
      </p:sp>
      <p:sp>
        <p:nvSpPr>
          <p:cNvPr id="22" name="左大括号 21">
            <a:extLst>
              <a:ext uri="{FF2B5EF4-FFF2-40B4-BE49-F238E27FC236}">
                <a16:creationId xmlns:a16="http://schemas.microsoft.com/office/drawing/2014/main" id="{7BE45490-4A0F-E2E1-C617-C6EBE585D90D}"/>
              </a:ext>
            </a:extLst>
          </p:cNvPr>
          <p:cNvSpPr/>
          <p:nvPr/>
        </p:nvSpPr>
        <p:spPr>
          <a:xfrm>
            <a:off x="2998013" y="3464124"/>
            <a:ext cx="216364" cy="1013725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Rectangle 17">
            <a:extLst>
              <a:ext uri="{FF2B5EF4-FFF2-40B4-BE49-F238E27FC236}">
                <a16:creationId xmlns:a16="http://schemas.microsoft.com/office/drawing/2014/main" id="{CA9855FE-EFD1-EB8F-8133-81A42D8F5782}"/>
              </a:ext>
            </a:extLst>
          </p:cNvPr>
          <p:cNvSpPr/>
          <p:nvPr/>
        </p:nvSpPr>
        <p:spPr>
          <a:xfrm>
            <a:off x="409296" y="1944706"/>
            <a:ext cx="8465992" cy="4250346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angle 17">
            <a:extLst>
              <a:ext uri="{FF2B5EF4-FFF2-40B4-BE49-F238E27FC236}">
                <a16:creationId xmlns:a16="http://schemas.microsoft.com/office/drawing/2014/main" id="{69221375-AF95-1437-AFAB-C8F2A3B7D3BD}"/>
              </a:ext>
            </a:extLst>
          </p:cNvPr>
          <p:cNvSpPr/>
          <p:nvPr/>
        </p:nvSpPr>
        <p:spPr>
          <a:xfrm>
            <a:off x="8976879" y="1945526"/>
            <a:ext cx="2283719" cy="4249525"/>
          </a:xfrm>
          <a:prstGeom prst="rect">
            <a:avLst/>
          </a:prstGeom>
          <a:noFill/>
          <a:ln w="1270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0B242D-2678-380B-4974-474CA0D35ED6}"/>
              </a:ext>
            </a:extLst>
          </p:cNvPr>
          <p:cNvSpPr txBox="1"/>
          <p:nvPr/>
        </p:nvSpPr>
        <p:spPr>
          <a:xfrm>
            <a:off x="3859401" y="940600"/>
            <a:ext cx="4603741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计算光谱主要分为光谱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编码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解码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两个过程。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C2AC88-DE92-0376-5387-1BF08E79A79D}"/>
              </a:ext>
            </a:extLst>
          </p:cNvPr>
          <p:cNvSpPr txBox="1"/>
          <p:nvPr/>
        </p:nvSpPr>
        <p:spPr>
          <a:xfrm>
            <a:off x="3191978" y="3997307"/>
            <a:ext cx="2329552" cy="87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探测器编码同时完成探测和编码功能。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D84436A-86C5-CDE7-36DF-FC653714F356}"/>
              </a:ext>
            </a:extLst>
          </p:cNvPr>
          <p:cNvSpPr txBox="1"/>
          <p:nvPr/>
        </p:nvSpPr>
        <p:spPr>
          <a:xfrm>
            <a:off x="193733" y="2932508"/>
            <a:ext cx="2323141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光谱响应编码：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AC41CC9-C364-D5A6-8713-6885BC33672F}"/>
              </a:ext>
            </a:extLst>
          </p:cNvPr>
          <p:cNvSpPr txBox="1"/>
          <p:nvPr/>
        </p:nvSpPr>
        <p:spPr>
          <a:xfrm>
            <a:off x="3227906" y="2938007"/>
            <a:ext cx="2019001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滤光编码分别需要滤光片和探测器。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CA9D62F-E22B-CC62-3C13-9CE314A48132}"/>
              </a:ext>
            </a:extLst>
          </p:cNvPr>
          <p:cNvSpPr txBox="1"/>
          <p:nvPr/>
        </p:nvSpPr>
        <p:spPr>
          <a:xfrm>
            <a:off x="409296" y="6320686"/>
            <a:ext cx="70921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光谱响应编码又分为滤光片编码、探测器响应编码、照明编码</a:t>
            </a:r>
          </a:p>
        </p:txBody>
      </p:sp>
    </p:spTree>
    <p:extLst>
      <p:ext uri="{BB962C8B-B14F-4D97-AF65-F5344CB8AC3E}">
        <p14:creationId xmlns:p14="http://schemas.microsoft.com/office/powerpoint/2010/main" val="128189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 animBg="1"/>
      <p:bldP spid="4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402AD-A450-BFE8-7CCE-AA7E119A2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2">
            <a:extLst>
              <a:ext uri="{FF2B5EF4-FFF2-40B4-BE49-F238E27FC236}">
                <a16:creationId xmlns:a16="http://schemas.microsoft.com/office/drawing/2014/main" id="{7ABD9413-4B84-E87B-34DC-1C58D5D81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74613"/>
            <a:ext cx="9144000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Computational spectrometers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1EEF0FC-F809-8009-9447-6C5D9A8C33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96" t="49258"/>
          <a:stretch/>
        </p:blipFill>
        <p:spPr>
          <a:xfrm>
            <a:off x="2330413" y="1102017"/>
            <a:ext cx="10013987" cy="413726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9F88787-035B-BCAA-611A-22D7D1E19F5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59" t="48431" r="83885" b="29717"/>
          <a:stretch/>
        </p:blipFill>
        <p:spPr>
          <a:xfrm rot="5400000">
            <a:off x="306422" y="2233929"/>
            <a:ext cx="1342043" cy="17081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608A890-CF53-C67F-504F-A75E8A8B5813}"/>
                  </a:ext>
                </a:extLst>
              </p:cNvPr>
              <p:cNvSpPr txBox="1"/>
              <p:nvPr/>
            </p:nvSpPr>
            <p:spPr>
              <a:xfrm>
                <a:off x="628178" y="2047670"/>
                <a:ext cx="68897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608A890-CF53-C67F-504F-A75E8A8B5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178" y="2047670"/>
                <a:ext cx="688971" cy="369332"/>
              </a:xfrm>
              <a:prstGeom prst="rect">
                <a:avLst/>
              </a:prstGeom>
              <a:blipFill>
                <a:blip r:embed="rId5"/>
                <a:stretch>
                  <a:fillRect l="-9735" r="-15929" b="-3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1C853BD-45B4-9111-E257-ADA2F3B594EC}"/>
                  </a:ext>
                </a:extLst>
              </p:cNvPr>
              <p:cNvSpPr txBox="1"/>
              <p:nvPr/>
            </p:nvSpPr>
            <p:spPr>
              <a:xfrm>
                <a:off x="1636604" y="2775919"/>
                <a:ext cx="84215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1C853BD-45B4-9111-E257-ADA2F3B59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6604" y="2775919"/>
                <a:ext cx="842154" cy="369332"/>
              </a:xfrm>
              <a:prstGeom prst="rect">
                <a:avLst/>
              </a:prstGeom>
              <a:blipFill>
                <a:blip r:embed="rId6"/>
                <a:stretch>
                  <a:fillRect l="-7914" r="-12230" b="-34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B187B55-F7C3-705D-F8D2-D1AD55EDA91B}"/>
                  </a:ext>
                </a:extLst>
              </p:cNvPr>
              <p:cNvSpPr txBox="1"/>
              <p:nvPr/>
            </p:nvSpPr>
            <p:spPr>
              <a:xfrm>
                <a:off x="123349" y="3759045"/>
                <a:ext cx="30341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B187B55-F7C3-705D-F8D2-D1AD55EDA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49" y="3759045"/>
                <a:ext cx="303416" cy="369332"/>
              </a:xfrm>
              <a:prstGeom prst="rect">
                <a:avLst/>
              </a:prstGeom>
              <a:blipFill>
                <a:blip r:embed="rId7"/>
                <a:stretch>
                  <a:fillRect l="-22000" r="-8000"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0D741DC-2EAF-A597-FF4E-F8DC318AFD31}"/>
                  </a:ext>
                </a:extLst>
              </p:cNvPr>
              <p:cNvSpPr txBox="1"/>
              <p:nvPr/>
            </p:nvSpPr>
            <p:spPr>
              <a:xfrm>
                <a:off x="1358794" y="3748630"/>
                <a:ext cx="3304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0D741DC-2EAF-A597-FF4E-F8DC318AF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794" y="3748630"/>
                <a:ext cx="330411" cy="369332"/>
              </a:xfrm>
              <a:prstGeom prst="rect">
                <a:avLst/>
              </a:prstGeom>
              <a:blipFill>
                <a:blip r:embed="rId8"/>
                <a:stretch>
                  <a:fillRect l="-22222" r="-1852" b="-81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9070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8243C103-986A-0983-4FB7-04102BFE0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74613"/>
            <a:ext cx="9144000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Computational spectrometers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03E5ABC-D792-DFCA-4B8C-7E7E711849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59" t="48431" r="83885" b="29717"/>
          <a:stretch/>
        </p:blipFill>
        <p:spPr>
          <a:xfrm rot="5400000">
            <a:off x="360336" y="1358073"/>
            <a:ext cx="1342043" cy="17081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E4105C9-3658-4FEE-E0DE-F1DAFEF228A3}"/>
                  </a:ext>
                </a:extLst>
              </p:cNvPr>
              <p:cNvSpPr txBox="1"/>
              <p:nvPr/>
            </p:nvSpPr>
            <p:spPr>
              <a:xfrm>
                <a:off x="682092" y="1171814"/>
                <a:ext cx="68897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E4105C9-3658-4FEE-E0DE-F1DAFEF22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092" y="1171814"/>
                <a:ext cx="688971" cy="369332"/>
              </a:xfrm>
              <a:prstGeom prst="rect">
                <a:avLst/>
              </a:prstGeom>
              <a:blipFill>
                <a:blip r:embed="rId3"/>
                <a:stretch>
                  <a:fillRect l="-10619" r="-15044" b="-34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DEA5CDC-14CB-F8E5-A23E-22CCEFCE8621}"/>
                  </a:ext>
                </a:extLst>
              </p:cNvPr>
              <p:cNvSpPr txBox="1"/>
              <p:nvPr/>
            </p:nvSpPr>
            <p:spPr>
              <a:xfrm>
                <a:off x="1755819" y="1921590"/>
                <a:ext cx="92134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DEA5CDC-14CB-F8E5-A23E-22CCEFCE8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819" y="1921590"/>
                <a:ext cx="921341" cy="369332"/>
              </a:xfrm>
              <a:prstGeom prst="rect">
                <a:avLst/>
              </a:prstGeom>
              <a:blipFill>
                <a:blip r:embed="rId4"/>
                <a:stretch>
                  <a:fillRect l="-7285" r="-8609" b="-9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B7B1A77-3124-981A-F007-37AB5DFFF7B6}"/>
                  </a:ext>
                </a:extLst>
              </p:cNvPr>
              <p:cNvSpPr txBox="1"/>
              <p:nvPr/>
            </p:nvSpPr>
            <p:spPr>
              <a:xfrm>
                <a:off x="177263" y="2883189"/>
                <a:ext cx="30341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B7B1A77-3124-981A-F007-37AB5DFFF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63" y="2883189"/>
                <a:ext cx="303416" cy="369332"/>
              </a:xfrm>
              <a:prstGeom prst="rect">
                <a:avLst/>
              </a:prstGeom>
              <a:blipFill>
                <a:blip r:embed="rId5"/>
                <a:stretch>
                  <a:fillRect l="-22000" r="-8000"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91E6F7E-3FEC-D716-2E28-614CE1561F5D}"/>
                  </a:ext>
                </a:extLst>
              </p:cNvPr>
              <p:cNvSpPr txBox="1"/>
              <p:nvPr/>
            </p:nvSpPr>
            <p:spPr>
              <a:xfrm>
                <a:off x="1412708" y="2872774"/>
                <a:ext cx="3304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91E6F7E-3FEC-D716-2E28-614CE1561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708" y="2872774"/>
                <a:ext cx="330411" cy="369332"/>
              </a:xfrm>
              <a:prstGeom prst="rect">
                <a:avLst/>
              </a:prstGeom>
              <a:blipFill>
                <a:blip r:embed="rId6"/>
                <a:stretch>
                  <a:fillRect l="-22222" r="-1852" b="-9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ED55BFC0-CDB8-8FA3-293C-8D1BC449660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91866"/>
          <a:stretch/>
        </p:blipFill>
        <p:spPr>
          <a:xfrm>
            <a:off x="1990034" y="4121283"/>
            <a:ext cx="5742514" cy="27042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1414A0C9-EEB8-4C49-CF9F-E72EEEF8972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55852"/>
          <a:stretch/>
        </p:blipFill>
        <p:spPr>
          <a:xfrm>
            <a:off x="6986651" y="1499258"/>
            <a:ext cx="1589403" cy="97186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30E057A1-A9FD-57A6-5CA5-23E9992B098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52802"/>
          <a:stretch/>
        </p:blipFill>
        <p:spPr>
          <a:xfrm>
            <a:off x="6986651" y="2830723"/>
            <a:ext cx="1589403" cy="10390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D1E43DB-5285-5653-4489-57FD61DD7279}"/>
                  </a:ext>
                </a:extLst>
              </p:cNvPr>
              <p:cNvSpPr txBox="1"/>
              <p:nvPr/>
            </p:nvSpPr>
            <p:spPr>
              <a:xfrm>
                <a:off x="9277221" y="1443037"/>
                <a:ext cx="1962397" cy="876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r>
                                <a:rPr lang="zh-CN" altLang="en-US" sz="28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D1E43DB-5285-5653-4489-57FD61DD7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221" y="1443037"/>
                <a:ext cx="1962397" cy="8768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18B8CB4C-3743-1924-83E2-B4DFAF3CB037}"/>
                  </a:ext>
                </a:extLst>
              </p:cNvPr>
              <p:cNvSpPr txBox="1"/>
              <p:nvPr/>
            </p:nvSpPr>
            <p:spPr>
              <a:xfrm>
                <a:off x="10579206" y="2808510"/>
                <a:ext cx="9144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18B8CB4C-3743-1924-83E2-B4DFAF3CB0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9206" y="2808510"/>
                <a:ext cx="914400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4147BA90-CB11-3432-9E26-7E0ED2FC97E2}"/>
                  </a:ext>
                </a:extLst>
              </p:cNvPr>
              <p:cNvSpPr txBox="1"/>
              <p:nvPr/>
            </p:nvSpPr>
            <p:spPr>
              <a:xfrm>
                <a:off x="9312540" y="2808510"/>
                <a:ext cx="9398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4147BA90-CB11-3432-9E26-7E0ED2FC9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2540" y="2808510"/>
                <a:ext cx="939800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9AFB478-9E07-ADCA-01D3-2B4BCAE34951}"/>
                  </a:ext>
                </a:extLst>
              </p:cNvPr>
              <p:cNvSpPr txBox="1"/>
              <p:nvPr/>
            </p:nvSpPr>
            <p:spPr>
              <a:xfrm>
                <a:off x="9741006" y="3968251"/>
                <a:ext cx="12954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𝜂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9AFB478-9E07-ADCA-01D3-2B4BCAE34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1006" y="3968251"/>
                <a:ext cx="1295400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箭头: 下 30">
            <a:extLst>
              <a:ext uri="{FF2B5EF4-FFF2-40B4-BE49-F238E27FC236}">
                <a16:creationId xmlns:a16="http://schemas.microsoft.com/office/drawing/2014/main" id="{4BBCB41E-D66E-E2EC-C5AE-6A533BCEED7B}"/>
              </a:ext>
            </a:extLst>
          </p:cNvPr>
          <p:cNvSpPr/>
          <p:nvPr/>
        </p:nvSpPr>
        <p:spPr>
          <a:xfrm>
            <a:off x="10123725" y="3503769"/>
            <a:ext cx="529961" cy="3659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箭头: 下 31">
            <a:extLst>
              <a:ext uri="{FF2B5EF4-FFF2-40B4-BE49-F238E27FC236}">
                <a16:creationId xmlns:a16="http://schemas.microsoft.com/office/drawing/2014/main" id="{8E858284-61E9-7B47-6552-125B9245FD61}"/>
              </a:ext>
            </a:extLst>
          </p:cNvPr>
          <p:cNvSpPr/>
          <p:nvPr/>
        </p:nvSpPr>
        <p:spPr>
          <a:xfrm>
            <a:off x="10166984" y="4625194"/>
            <a:ext cx="529961" cy="3659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37B1EEEA-4B00-00CF-2D26-E8B403181FED}"/>
                  </a:ext>
                </a:extLst>
              </p:cNvPr>
              <p:cNvSpPr txBox="1"/>
              <p:nvPr/>
            </p:nvSpPr>
            <p:spPr>
              <a:xfrm>
                <a:off x="10035477" y="5174246"/>
                <a:ext cx="79297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37B1EEEA-4B00-00CF-2D26-E8B403181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5477" y="5174246"/>
                <a:ext cx="792974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660DCD4B-13E8-4BD9-BB9C-EFCC25CFCB1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49032" b="10637"/>
          <a:stretch/>
        </p:blipFill>
        <p:spPr>
          <a:xfrm>
            <a:off x="3120897" y="743433"/>
            <a:ext cx="3303251" cy="33532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45FE7CE-3F16-9ED5-B79C-DA0503BDE8B7}"/>
                  </a:ext>
                </a:extLst>
              </p:cNvPr>
              <p:cNvSpPr txBox="1"/>
              <p:nvPr/>
            </p:nvSpPr>
            <p:spPr>
              <a:xfrm>
                <a:off x="3804011" y="4690542"/>
                <a:ext cx="2380652" cy="8794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45FE7CE-3F16-9ED5-B79C-DA0503BDE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4011" y="4690542"/>
                <a:ext cx="2380652" cy="87940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661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6" grpId="0"/>
      <p:bldP spid="28" grpId="0"/>
      <p:bldP spid="30" grpId="0"/>
      <p:bldP spid="31" grpId="0" animBg="1"/>
      <p:bldP spid="32" grpId="0" animBg="1"/>
      <p:bldP spid="33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330DE-B976-16A7-7212-BACE4F7FC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95D59941-5633-8E74-F2E4-0697C4EC0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74613"/>
            <a:ext cx="9144000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Computational spectrometers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07D4580-7D9D-5A00-DC97-F7508BF10F8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59" t="48431" r="83885" b="29717"/>
          <a:stretch/>
        </p:blipFill>
        <p:spPr>
          <a:xfrm rot="5400000">
            <a:off x="360336" y="1358073"/>
            <a:ext cx="1342043" cy="17081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882AAB8-0B4A-4BDA-40F5-ED1A020047B2}"/>
                  </a:ext>
                </a:extLst>
              </p:cNvPr>
              <p:cNvSpPr txBox="1"/>
              <p:nvPr/>
            </p:nvSpPr>
            <p:spPr>
              <a:xfrm>
                <a:off x="682092" y="1171814"/>
                <a:ext cx="68897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882AAB8-0B4A-4BDA-40F5-ED1A02004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092" y="1171814"/>
                <a:ext cx="688971" cy="369332"/>
              </a:xfrm>
              <a:prstGeom prst="rect">
                <a:avLst/>
              </a:prstGeom>
              <a:blipFill>
                <a:blip r:embed="rId3"/>
                <a:stretch>
                  <a:fillRect l="-10619" r="-15044" b="-34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B5C024C-6481-FFB8-00C1-2176C19B2B4E}"/>
                  </a:ext>
                </a:extLst>
              </p:cNvPr>
              <p:cNvSpPr txBox="1"/>
              <p:nvPr/>
            </p:nvSpPr>
            <p:spPr>
              <a:xfrm>
                <a:off x="1755819" y="1921590"/>
                <a:ext cx="92134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B5C024C-6481-FFB8-00C1-2176C19B2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819" y="1921590"/>
                <a:ext cx="921341" cy="369332"/>
              </a:xfrm>
              <a:prstGeom prst="rect">
                <a:avLst/>
              </a:prstGeom>
              <a:blipFill>
                <a:blip r:embed="rId4"/>
                <a:stretch>
                  <a:fillRect l="-7285" r="-8609" b="-9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B88C043-F62B-318B-A614-C4B94BD2ABAA}"/>
                  </a:ext>
                </a:extLst>
              </p:cNvPr>
              <p:cNvSpPr txBox="1"/>
              <p:nvPr/>
            </p:nvSpPr>
            <p:spPr>
              <a:xfrm>
                <a:off x="177263" y="2883189"/>
                <a:ext cx="30341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B88C043-F62B-318B-A614-C4B94BD2A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63" y="2883189"/>
                <a:ext cx="303416" cy="369332"/>
              </a:xfrm>
              <a:prstGeom prst="rect">
                <a:avLst/>
              </a:prstGeom>
              <a:blipFill>
                <a:blip r:embed="rId5"/>
                <a:stretch>
                  <a:fillRect l="-22000" r="-8000"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6150D72-283B-7425-AF5E-2A070B9355EB}"/>
                  </a:ext>
                </a:extLst>
              </p:cNvPr>
              <p:cNvSpPr txBox="1"/>
              <p:nvPr/>
            </p:nvSpPr>
            <p:spPr>
              <a:xfrm>
                <a:off x="1412708" y="2872774"/>
                <a:ext cx="3304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6150D72-283B-7425-AF5E-2A070B935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708" y="2872774"/>
                <a:ext cx="330411" cy="369332"/>
              </a:xfrm>
              <a:prstGeom prst="rect">
                <a:avLst/>
              </a:prstGeom>
              <a:blipFill>
                <a:blip r:embed="rId6"/>
                <a:stretch>
                  <a:fillRect l="-22222" r="-1852" b="-9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2313870-3540-5AE5-696C-FE25EC0F1027}"/>
                  </a:ext>
                </a:extLst>
              </p:cNvPr>
              <p:cNvSpPr txBox="1"/>
              <p:nvPr/>
            </p:nvSpPr>
            <p:spPr>
              <a:xfrm>
                <a:off x="10764946" y="2680933"/>
                <a:ext cx="9144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2313870-3540-5AE5-696C-FE25EC0F10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4946" y="2680933"/>
                <a:ext cx="91440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B113E2DB-9110-3501-3DCF-5282D678053A}"/>
                  </a:ext>
                </a:extLst>
              </p:cNvPr>
              <p:cNvSpPr txBox="1"/>
              <p:nvPr/>
            </p:nvSpPr>
            <p:spPr>
              <a:xfrm>
                <a:off x="9498280" y="2680933"/>
                <a:ext cx="9398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B113E2DB-9110-3501-3DCF-5282D6780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8280" y="2680933"/>
                <a:ext cx="939800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5BF532D-69CF-FDDA-A1F8-B0ECC71F6C22}"/>
                  </a:ext>
                </a:extLst>
              </p:cNvPr>
              <p:cNvSpPr txBox="1"/>
              <p:nvPr/>
            </p:nvSpPr>
            <p:spPr>
              <a:xfrm>
                <a:off x="9926746" y="3840674"/>
                <a:ext cx="12954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𝜂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5BF532D-69CF-FDDA-A1F8-B0ECC71F6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6746" y="3840674"/>
                <a:ext cx="1295400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箭头: 下 30">
            <a:extLst>
              <a:ext uri="{FF2B5EF4-FFF2-40B4-BE49-F238E27FC236}">
                <a16:creationId xmlns:a16="http://schemas.microsoft.com/office/drawing/2014/main" id="{69006F41-F423-E6A3-B21F-42874B02CD6B}"/>
              </a:ext>
            </a:extLst>
          </p:cNvPr>
          <p:cNvSpPr/>
          <p:nvPr/>
        </p:nvSpPr>
        <p:spPr>
          <a:xfrm>
            <a:off x="10309465" y="3376192"/>
            <a:ext cx="529961" cy="3659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箭头: 下 31">
            <a:extLst>
              <a:ext uri="{FF2B5EF4-FFF2-40B4-BE49-F238E27FC236}">
                <a16:creationId xmlns:a16="http://schemas.microsoft.com/office/drawing/2014/main" id="{37A5A4CD-1699-DB48-221C-2BCB2C8E4997}"/>
              </a:ext>
            </a:extLst>
          </p:cNvPr>
          <p:cNvSpPr/>
          <p:nvPr/>
        </p:nvSpPr>
        <p:spPr>
          <a:xfrm>
            <a:off x="10352724" y="4497617"/>
            <a:ext cx="529961" cy="3659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35BDCF5-D4BE-B02F-6A21-1EFDA03A2990}"/>
                  </a:ext>
                </a:extLst>
              </p:cNvPr>
              <p:cNvSpPr txBox="1"/>
              <p:nvPr/>
            </p:nvSpPr>
            <p:spPr>
              <a:xfrm>
                <a:off x="10221217" y="5046669"/>
                <a:ext cx="79297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35BDCF5-D4BE-B02F-6A21-1EFDA03A29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1217" y="5046669"/>
                <a:ext cx="792974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B11CDF04-DC5D-C003-2106-484A4F2F2C0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86075" y="910167"/>
            <a:ext cx="3209925" cy="381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2D4D6F8-81A8-FBA0-96E6-523DBD76EAB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1671" y="767485"/>
            <a:ext cx="2058682" cy="2485036"/>
          </a:xfrm>
          <a:prstGeom prst="rect">
            <a:avLst/>
          </a:prstGeom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0C7F0DAB-452E-34AA-1AED-D44BE76D14DF}"/>
              </a:ext>
            </a:extLst>
          </p:cNvPr>
          <p:cNvGrpSpPr/>
          <p:nvPr/>
        </p:nvGrpSpPr>
        <p:grpSpPr>
          <a:xfrm>
            <a:off x="64158" y="3447269"/>
            <a:ext cx="3642588" cy="1999564"/>
            <a:chOff x="855866" y="3776203"/>
            <a:chExt cx="3642588" cy="1999564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7E3BF1E9-9BA0-329F-E017-CCD0A05257A5}"/>
                </a:ext>
              </a:extLst>
            </p:cNvPr>
            <p:cNvSpPr txBox="1"/>
            <p:nvPr/>
          </p:nvSpPr>
          <p:spPr>
            <a:xfrm>
              <a:off x="855866" y="3776203"/>
              <a:ext cx="364258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2800" b="0" i="0" dirty="0">
                  <a:solidFill>
                    <a:srgbClr val="101418"/>
                  </a:solidFill>
                  <a:effectLst/>
                  <a:latin typeface="Linux Libertine"/>
                </a:rPr>
                <a:t>Constitutive equation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22D868E7-BDD5-9D53-C8BC-51C0D4462FD3}"/>
                    </a:ext>
                  </a:extLst>
                </p:cNvPr>
                <p:cNvSpPr txBox="1"/>
                <p:nvPr/>
              </p:nvSpPr>
              <p:spPr>
                <a:xfrm>
                  <a:off x="1750536" y="4483105"/>
                  <a:ext cx="1289584" cy="12926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800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oMath>
                    </m:oMathPara>
                  </a14:m>
                  <a:endParaRPr lang="en-US" altLang="zh-CN" sz="2800" b="1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oMath>
                    </m:oMathPara>
                  </a14:m>
                  <a:endParaRPr lang="en-US" altLang="zh-CN" sz="2800" b="1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𝑱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oMath>
                    </m:oMathPara>
                  </a14:m>
                  <a:endParaRPr lang="zh-CN" altLang="en-US" sz="28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22D868E7-BDD5-9D53-C8BC-51C0D4462F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0536" y="4483105"/>
                  <a:ext cx="1289584" cy="129266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F31E7289-A9D1-EB98-CB03-F71F338F4AB5}"/>
              </a:ext>
            </a:extLst>
          </p:cNvPr>
          <p:cNvGrpSpPr/>
          <p:nvPr/>
        </p:nvGrpSpPr>
        <p:grpSpPr>
          <a:xfrm>
            <a:off x="3991129" y="3447269"/>
            <a:ext cx="5601006" cy="2626458"/>
            <a:chOff x="3991129" y="3447269"/>
            <a:chExt cx="5601006" cy="2626458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B84103F-B088-BF31-A228-F2E98A86F34A}"/>
                </a:ext>
              </a:extLst>
            </p:cNvPr>
            <p:cNvSpPr txBox="1"/>
            <p:nvPr/>
          </p:nvSpPr>
          <p:spPr>
            <a:xfrm>
              <a:off x="4970338" y="3447269"/>
              <a:ext cx="364258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2800" b="0" i="0" dirty="0">
                  <a:solidFill>
                    <a:srgbClr val="101418"/>
                  </a:solidFill>
                  <a:effectLst/>
                  <a:latin typeface="Linux Libertine"/>
                </a:rPr>
                <a:t>Boundary conditions</a:t>
              </a:r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B0B981C2-E5CC-F3FA-C62C-F4B6C2EBADF4}"/>
                </a:ext>
              </a:extLst>
            </p:cNvPr>
            <p:cNvGrpSpPr/>
            <p:nvPr/>
          </p:nvGrpSpPr>
          <p:grpSpPr>
            <a:xfrm>
              <a:off x="3991129" y="3952220"/>
              <a:ext cx="5601006" cy="2121507"/>
              <a:chOff x="3528955" y="3882735"/>
              <a:chExt cx="5601006" cy="2121507"/>
            </a:xfrm>
          </p:grpSpPr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F78B3FE9-1DDA-AE53-339D-BC5ED74EDF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487373" y="3882735"/>
                <a:ext cx="3642588" cy="2121507"/>
              </a:xfrm>
              <a:prstGeom prst="rect">
                <a:avLst/>
              </a:prstGeom>
            </p:spPr>
          </p:pic>
          <p:pic>
            <p:nvPicPr>
              <p:cNvPr id="27" name="图片 26">
                <a:extLst>
                  <a:ext uri="{FF2B5EF4-FFF2-40B4-BE49-F238E27FC236}">
                    <a16:creationId xmlns:a16="http://schemas.microsoft.com/office/drawing/2014/main" id="{EC57B0F2-B100-0377-1F78-EDD73AE6D9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rcRect l="58112" t="2006" r="8290" b="24744"/>
              <a:stretch/>
            </p:blipFill>
            <p:spPr>
              <a:xfrm>
                <a:off x="3528955" y="3931740"/>
                <a:ext cx="1958418" cy="2048141"/>
              </a:xfrm>
              <a:prstGeom prst="rect">
                <a:avLst/>
              </a:prstGeom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D17B0BA-A334-5843-0E75-4D612BB4F98A}"/>
                  </a:ext>
                </a:extLst>
              </p:cNvPr>
              <p:cNvSpPr txBox="1"/>
              <p:nvPr/>
            </p:nvSpPr>
            <p:spPr>
              <a:xfrm>
                <a:off x="9277221" y="1443037"/>
                <a:ext cx="1962397" cy="876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r>
                                <a:rPr lang="zh-CN" altLang="en-US" sz="28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D17B0BA-A334-5843-0E75-4D612BB4F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221" y="1443037"/>
                <a:ext cx="1962397" cy="87684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2184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  <p:bldP spid="30" grpId="0"/>
      <p:bldP spid="31" grpId="0" animBg="1"/>
      <p:bldP spid="32" grpId="0" animBg="1"/>
      <p:bldP spid="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710DA-FA13-8371-084B-C05D287D3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2">
            <a:extLst>
              <a:ext uri="{FF2B5EF4-FFF2-40B4-BE49-F238E27FC236}">
                <a16:creationId xmlns:a16="http://schemas.microsoft.com/office/drawing/2014/main" id="{0EF2A860-2F48-39B5-0E8C-72D8EC24F16C}"/>
              </a:ext>
            </a:extLst>
          </p:cNvPr>
          <p:cNvSpPr txBox="1">
            <a:spLocks/>
          </p:cNvSpPr>
          <p:nvPr/>
        </p:nvSpPr>
        <p:spPr>
          <a:xfrm>
            <a:off x="1524000" y="75088"/>
            <a:ext cx="9144000" cy="43854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Outline</a:t>
            </a:r>
            <a:endParaRPr lang="en-GB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FC8CD39-3716-3998-0C09-899CD9C443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337" y="1086169"/>
            <a:ext cx="5927325" cy="4197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marL="457200" indent="-457200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0"/>
              </a:rPr>
              <a:t>Computational spectrometers</a:t>
            </a:r>
          </a:p>
          <a:p>
            <a:pPr marL="800100" lvl="1" indent="-342900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0"/>
              </a:rPr>
              <a:t> Encoding</a:t>
            </a:r>
          </a:p>
          <a:p>
            <a:pPr marL="457200" indent="-457200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US" altLang="zh-CN" sz="24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Metasurface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Computational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electromagnetics</a:t>
            </a:r>
          </a:p>
          <a:p>
            <a:pPr marL="800100" lvl="1" indent="-342900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FDTD</a:t>
            </a:r>
            <a:endParaRPr lang="en-GB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1420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B4EC0F28-E1E7-B468-B36B-9564D080A2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74613"/>
            <a:ext cx="9144000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Metasurface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C04AD66-AEA4-26AB-5D49-1CA9DED96E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0732" r="29896"/>
          <a:stretch/>
        </p:blipFill>
        <p:spPr>
          <a:xfrm>
            <a:off x="486326" y="3843024"/>
            <a:ext cx="7470265" cy="224443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53BA7E8-C8A0-3D7C-2A94-A11F132B1E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7267"/>
          <a:stretch/>
        </p:blipFill>
        <p:spPr>
          <a:xfrm>
            <a:off x="486326" y="770540"/>
            <a:ext cx="4188692" cy="281559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5B43B8A-96A6-6BF6-C8D7-98D5D072F5B6}"/>
              </a:ext>
            </a:extLst>
          </p:cNvPr>
          <p:cNvSpPr txBox="1"/>
          <p:nvPr/>
        </p:nvSpPr>
        <p:spPr>
          <a:xfrm>
            <a:off x="5052460" y="1260649"/>
            <a:ext cx="640052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The effective permeability (</a:t>
            </a:r>
            <a:r>
              <a:rPr lang="el-GR" altLang="zh-CN" sz="2800" i="1" dirty="0"/>
              <a:t>μ</a:t>
            </a:r>
            <a:r>
              <a:rPr lang="el-GR" altLang="zh-CN" sz="2800" dirty="0"/>
              <a:t>) </a:t>
            </a:r>
            <a:r>
              <a:rPr lang="en-US" altLang="zh-CN" sz="2800" dirty="0"/>
              <a:t>and permittivity (</a:t>
            </a:r>
            <a:r>
              <a:rPr lang="el-GR" altLang="zh-CN" sz="2800" i="1" dirty="0"/>
              <a:t>ε</a:t>
            </a:r>
            <a:r>
              <a:rPr lang="el-GR" altLang="zh-CN" sz="2800" dirty="0"/>
              <a:t>) </a:t>
            </a:r>
            <a:r>
              <a:rPr lang="en-US" altLang="zh-CN" sz="2800" dirty="0"/>
              <a:t>are governed by different aspects of the shape of metallic unit cells.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FCCA33-81FF-E9EC-7679-31F90F252E0E}"/>
              </a:ext>
            </a:extLst>
          </p:cNvPr>
          <p:cNvSpPr/>
          <p:nvPr/>
        </p:nvSpPr>
        <p:spPr>
          <a:xfrm>
            <a:off x="8396986" y="4924358"/>
            <a:ext cx="25824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Light phase is modulated.</a:t>
            </a:r>
            <a:endParaRPr lang="zh-CN" altLang="en-US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BE683A4-AA68-64FF-D8FA-F678666961A3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7138467" y="4648840"/>
            <a:ext cx="1258519" cy="460184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6488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77936-DDF9-9309-5D05-87A4C7117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79011AB6-93BA-9D23-DB60-B443139501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74613"/>
            <a:ext cx="9144000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Metasurface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401022-F76E-44C7-C807-571EA48B4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52" y="2026920"/>
            <a:ext cx="11740896" cy="280416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44A8519-71D5-9B0C-99A7-FF65933CDA57}"/>
              </a:ext>
            </a:extLst>
          </p:cNvPr>
          <p:cNvSpPr txBox="1"/>
          <p:nvPr/>
        </p:nvSpPr>
        <p:spPr>
          <a:xfrm>
            <a:off x="0" y="5974318"/>
            <a:ext cx="11553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(a)(Novotny 2007)(b)</a:t>
            </a:r>
            <a:r>
              <a:rPr lang="da-DK" dirty="0"/>
              <a:t>(Yu, Genevet et al. 2011)(</a:t>
            </a:r>
            <a:r>
              <a:rPr lang="en-US" dirty="0"/>
              <a:t>c)</a:t>
            </a:r>
            <a:r>
              <a:rPr lang="de-DE" dirty="0"/>
              <a:t>(Zheng, Mühlenbernd et al. 2015)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37670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EAB86-1F34-95E5-19CB-2C2D926E9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129CD607-AD91-DCDC-CFF5-62867EB90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74613"/>
            <a:ext cx="9144000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Metasurface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D630F96-90A2-11AC-EFE3-BDE3E40864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01" y="914400"/>
            <a:ext cx="11234928" cy="50292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5DEFCFC-901C-17AA-EEB3-374BA4A992B2}"/>
              </a:ext>
            </a:extLst>
          </p:cNvPr>
          <p:cNvSpPr txBox="1"/>
          <p:nvPr/>
        </p:nvSpPr>
        <p:spPr>
          <a:xfrm>
            <a:off x="143838" y="6083822"/>
            <a:ext cx="9785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(a</a:t>
            </a:r>
            <a:r>
              <a:rPr lang="da-DK" dirty="0"/>
              <a:t>)(Kruk and Kivshar 2017)</a:t>
            </a:r>
            <a:r>
              <a:rPr lang="en-SG" dirty="0"/>
              <a:t>(b)(Li, </a:t>
            </a:r>
            <a:r>
              <a:rPr lang="en-SG" dirty="0" err="1"/>
              <a:t>Verellen</a:t>
            </a:r>
            <a:r>
              <a:rPr lang="en-SG" dirty="0"/>
              <a:t> et al. 2016)(c)</a:t>
            </a:r>
            <a:r>
              <a:rPr lang="da-DK" dirty="0"/>
              <a:t>(Koshelev, Bogdanov et al. 2018)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55889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71DFB-45C3-8335-5BD8-A6B78B99D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D8AFD3B2-EEAB-6B09-A1D2-42339244E3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74613"/>
            <a:ext cx="9144000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Metasurface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3BE2CBB-2045-1A93-9358-C88C5DF91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061" y="873761"/>
            <a:ext cx="9809768" cy="511047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A082713-651B-2084-83E5-388C8057491D}"/>
              </a:ext>
            </a:extLst>
          </p:cNvPr>
          <p:cNvSpPr txBox="1"/>
          <p:nvPr/>
        </p:nvSpPr>
        <p:spPr>
          <a:xfrm>
            <a:off x="982980" y="6343649"/>
            <a:ext cx="2448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Photonics Insight (2024)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7135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A99D3-2E37-D493-0B77-59C89168A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257F95C0-FA5C-F8ED-3962-2962A194B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74613"/>
            <a:ext cx="9144000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Metasurface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 Metallic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820B2E3-0225-7286-8BC9-FF5DC5CA1D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3346"/>
          <a:stretch/>
        </p:blipFill>
        <p:spPr>
          <a:xfrm>
            <a:off x="1524000" y="720082"/>
            <a:ext cx="9809768" cy="238426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8A441F7-D0DE-CB79-B4C3-F0D52DFE1540}"/>
              </a:ext>
            </a:extLst>
          </p:cNvPr>
          <p:cNvSpPr txBox="1"/>
          <p:nvPr/>
        </p:nvSpPr>
        <p:spPr>
          <a:xfrm>
            <a:off x="8144500" y="665148"/>
            <a:ext cx="2448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Photonics Insight (2024)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51DE89E-8FFD-1345-ED7E-D49DF921EC23}"/>
              </a:ext>
            </a:extLst>
          </p:cNvPr>
          <p:cNvSpPr/>
          <p:nvPr/>
        </p:nvSpPr>
        <p:spPr>
          <a:xfrm>
            <a:off x="2650992" y="665148"/>
            <a:ext cx="1705855" cy="2500674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10C2545-29E0-3D4D-43D7-FB79B1E1A1FB}"/>
              </a:ext>
            </a:extLst>
          </p:cNvPr>
          <p:cNvSpPr txBox="1"/>
          <p:nvPr/>
        </p:nvSpPr>
        <p:spPr>
          <a:xfrm>
            <a:off x="789598" y="6414055"/>
            <a:ext cx="331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altLang="zh-CN" dirty="0"/>
              <a:t>ACS Nano 2017, 11, 5, 4419-4427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3376BB9-E540-F7EA-93D6-9F686B563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615" y="3341488"/>
            <a:ext cx="3642232" cy="285136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B5BF630-320D-E2D1-9C61-DE791373A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163" y="3348502"/>
            <a:ext cx="3739928" cy="285136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0BFCFC7-51C4-72D2-807C-9F80218EBE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091" y="3494371"/>
            <a:ext cx="1729635" cy="264354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6B08EE5-723F-458C-F939-7A54900385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4244" y="4910652"/>
            <a:ext cx="1544013" cy="128921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552BAC5-8DED-AB79-3C31-3A11EDEB04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9539" y="3429000"/>
            <a:ext cx="1697548" cy="1377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345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E6F58-8EA8-2D2C-A2E6-64A8F524A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A90C02F2-5198-9BC5-31FD-7BA9BC824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74613"/>
            <a:ext cx="9144000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Metasurface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 Metallic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5F2AA20-C2C2-C9D1-2FC2-C136C833F7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3346"/>
          <a:stretch/>
        </p:blipFill>
        <p:spPr>
          <a:xfrm>
            <a:off x="1524000" y="720082"/>
            <a:ext cx="9809768" cy="238426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C5B694D-D8EB-EF95-9E76-15643E0D2C12}"/>
              </a:ext>
            </a:extLst>
          </p:cNvPr>
          <p:cNvSpPr txBox="1"/>
          <p:nvPr/>
        </p:nvSpPr>
        <p:spPr>
          <a:xfrm>
            <a:off x="8144500" y="665148"/>
            <a:ext cx="2448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Photonics Insight (2024)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7ED7E78-B01C-FCE0-51E6-A6C74A9260EA}"/>
              </a:ext>
            </a:extLst>
          </p:cNvPr>
          <p:cNvSpPr/>
          <p:nvPr/>
        </p:nvSpPr>
        <p:spPr>
          <a:xfrm>
            <a:off x="4602736" y="720082"/>
            <a:ext cx="2228370" cy="2500674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7C10669-9947-833B-DCC0-3C6593187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460" y="3584567"/>
            <a:ext cx="4084180" cy="240183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9B5B171-6D34-5B0B-35D7-E60A741AC6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6816" y="3592194"/>
            <a:ext cx="4501563" cy="239420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6A7E5CD-D80B-BDDC-046F-7A992BB9D3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0556" y="3647150"/>
            <a:ext cx="2376968" cy="234688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FEC5D84E-1372-FB08-D806-0B7CF0B7776C}"/>
              </a:ext>
            </a:extLst>
          </p:cNvPr>
          <p:cNvSpPr txBox="1"/>
          <p:nvPr/>
        </p:nvSpPr>
        <p:spPr>
          <a:xfrm>
            <a:off x="640317" y="6346762"/>
            <a:ext cx="6097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dirty="0"/>
              <a:t>Nature Nanotechnology 7, 557–561 (2012)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3588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FC017-9A4A-9637-4CC9-65EDE3F75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D80FBBCC-CA56-8898-2E86-FAC578690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74613"/>
            <a:ext cx="9144000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Metasurface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- Metallic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7B8810E-F202-D142-E36B-3A376374DD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3346"/>
          <a:stretch/>
        </p:blipFill>
        <p:spPr>
          <a:xfrm>
            <a:off x="1524000" y="720082"/>
            <a:ext cx="9809768" cy="238426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612476A-0ED9-D2F9-622E-D45FE96AF509}"/>
              </a:ext>
            </a:extLst>
          </p:cNvPr>
          <p:cNvSpPr txBox="1"/>
          <p:nvPr/>
        </p:nvSpPr>
        <p:spPr>
          <a:xfrm>
            <a:off x="8144500" y="665148"/>
            <a:ext cx="2448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Photonics Insight (2024)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79D13F-2078-5D1E-7A21-CA71886F348C}"/>
              </a:ext>
            </a:extLst>
          </p:cNvPr>
          <p:cNvSpPr/>
          <p:nvPr/>
        </p:nvSpPr>
        <p:spPr>
          <a:xfrm>
            <a:off x="7207623" y="1089414"/>
            <a:ext cx="3696021" cy="2014937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FEFC34D-B629-F416-8CE2-DAA82F35A785}"/>
              </a:ext>
            </a:extLst>
          </p:cNvPr>
          <p:cNvSpPr txBox="1"/>
          <p:nvPr/>
        </p:nvSpPr>
        <p:spPr>
          <a:xfrm>
            <a:off x="1045029" y="6108807"/>
            <a:ext cx="2506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Nano Letters 16,5 (2016)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5F7CA6E-5EAF-AD88-26F6-97DABCE21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53650"/>
            <a:ext cx="4797340" cy="200649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FA0678A-DDC2-0094-47A5-38FB442EA8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2423"/>
          <a:stretch/>
        </p:blipFill>
        <p:spPr>
          <a:xfrm>
            <a:off x="4797340" y="3951186"/>
            <a:ext cx="2481361" cy="187331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3C661D8-7E67-0EFC-15CA-B4AF2F4680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0708" y="3809030"/>
            <a:ext cx="4827944" cy="215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576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79320-BBFE-69AB-A934-4FEE07FA1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292153AA-BAD4-569C-109C-0A284A32D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74613"/>
            <a:ext cx="9144000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Metasurface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-Dielectric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D4231B-4915-F14D-F825-98AF07DF1C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000"/>
          <a:stretch/>
        </p:blipFill>
        <p:spPr>
          <a:xfrm>
            <a:off x="1119797" y="739588"/>
            <a:ext cx="9809768" cy="255523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2B40AE9-A397-3688-76D3-2A724F052BE3}"/>
              </a:ext>
            </a:extLst>
          </p:cNvPr>
          <p:cNvSpPr txBox="1"/>
          <p:nvPr/>
        </p:nvSpPr>
        <p:spPr>
          <a:xfrm>
            <a:off x="8136816" y="619044"/>
            <a:ext cx="2448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Photonics Insight (2024)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96650F1-CB64-D2E1-A244-5684A1C88ABA}"/>
              </a:ext>
            </a:extLst>
          </p:cNvPr>
          <p:cNvSpPr/>
          <p:nvPr/>
        </p:nvSpPr>
        <p:spPr>
          <a:xfrm>
            <a:off x="2297526" y="638733"/>
            <a:ext cx="5432612" cy="2659932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F88E46F-56FC-4794-4A83-558AB723D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23" y="3496256"/>
            <a:ext cx="4687263" cy="253139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1E9C3E9-A72D-E31A-B9C7-55A1E31A20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675" y="3520064"/>
            <a:ext cx="2766252" cy="254043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4268A55-D02F-651F-977D-FD9A50F13AB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2115"/>
          <a:stretch/>
        </p:blipFill>
        <p:spPr>
          <a:xfrm>
            <a:off x="7837716" y="3651903"/>
            <a:ext cx="3854826" cy="2466509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66E09C37-150B-1F87-A42B-1CB39F8A888A}"/>
              </a:ext>
            </a:extLst>
          </p:cNvPr>
          <p:cNvSpPr txBox="1"/>
          <p:nvPr/>
        </p:nvSpPr>
        <p:spPr>
          <a:xfrm>
            <a:off x="167128" y="6283819"/>
            <a:ext cx="6097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dirty="0"/>
              <a:t>Nature Communications 11, 1864 (2020)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64159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4B9CA-D839-28F4-D930-E2C2EBA8A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B6988657-C205-DF91-EEEF-A1749D7ED7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74613"/>
            <a:ext cx="9144000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Metasurface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-Dielectric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8C39DF0-E66D-B52E-162D-F96D98DDEC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000"/>
          <a:stretch/>
        </p:blipFill>
        <p:spPr>
          <a:xfrm>
            <a:off x="1119797" y="739588"/>
            <a:ext cx="9809768" cy="255523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14CC80D-0331-2396-B663-68783EBC88A8}"/>
              </a:ext>
            </a:extLst>
          </p:cNvPr>
          <p:cNvSpPr txBox="1"/>
          <p:nvPr/>
        </p:nvSpPr>
        <p:spPr>
          <a:xfrm>
            <a:off x="8136816" y="619044"/>
            <a:ext cx="2448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Photonics Insight (2024)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0B70181-5A37-F379-F4E0-034B49CBD7B2}"/>
              </a:ext>
            </a:extLst>
          </p:cNvPr>
          <p:cNvSpPr/>
          <p:nvPr/>
        </p:nvSpPr>
        <p:spPr>
          <a:xfrm>
            <a:off x="8136816" y="988376"/>
            <a:ext cx="2531184" cy="2238918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F10F3EB-9204-CDB0-9A8E-1E1DAB8637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535" r="50567" b="23194"/>
          <a:stretch/>
        </p:blipFill>
        <p:spPr>
          <a:xfrm>
            <a:off x="485678" y="3727455"/>
            <a:ext cx="5945359" cy="249871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40FD3FD-E7AE-2DD9-BCDE-8D0FBA5CB5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994" t="53535"/>
          <a:stretch/>
        </p:blipFill>
        <p:spPr>
          <a:xfrm>
            <a:off x="6738399" y="3727455"/>
            <a:ext cx="1626663" cy="249871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7CC86BA-27B0-D99B-EDA3-64043CA082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" t="77667" r="78368"/>
          <a:stretch/>
        </p:blipFill>
        <p:spPr>
          <a:xfrm>
            <a:off x="8672424" y="3727455"/>
            <a:ext cx="2592369" cy="239095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7E1868B-5A62-47E6-99D0-9010634694D8}"/>
              </a:ext>
            </a:extLst>
          </p:cNvPr>
          <p:cNvSpPr txBox="1"/>
          <p:nvPr/>
        </p:nvSpPr>
        <p:spPr>
          <a:xfrm>
            <a:off x="724762" y="6226171"/>
            <a:ext cx="2994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Science Advances, 2022, 8, 8 </a:t>
            </a:r>
          </a:p>
        </p:txBody>
      </p:sp>
    </p:spTree>
    <p:extLst>
      <p:ext uri="{BB962C8B-B14F-4D97-AF65-F5344CB8AC3E}">
        <p14:creationId xmlns:p14="http://schemas.microsoft.com/office/powerpoint/2010/main" val="13685348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83D79-D30E-7749-F55F-98ECFED5E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FC30ED62-5B07-B4A1-985F-B0C3BF6793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74613"/>
            <a:ext cx="9144000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Metasurface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-grating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E0457E2-3B83-2BC1-D5B7-28CADAA660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" r="39654" b="49993"/>
          <a:stretch/>
        </p:blipFill>
        <p:spPr bwMode="auto">
          <a:xfrm>
            <a:off x="196432" y="1944510"/>
            <a:ext cx="5792787" cy="2845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F1089BC-A901-B3BD-D6F9-CD54F9A228A8}"/>
              </a:ext>
            </a:extLst>
          </p:cNvPr>
          <p:cNvSpPr/>
          <p:nvPr/>
        </p:nvSpPr>
        <p:spPr>
          <a:xfrm>
            <a:off x="8821272" y="4402951"/>
            <a:ext cx="583986" cy="16443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5A1BFC3-4A5C-70CB-FB96-86F731101311}"/>
              </a:ext>
            </a:extLst>
          </p:cNvPr>
          <p:cNvSpPr txBox="1"/>
          <p:nvPr/>
        </p:nvSpPr>
        <p:spPr>
          <a:xfrm>
            <a:off x="652767" y="6414055"/>
            <a:ext cx="1673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Nanoscale 2015</a:t>
            </a:r>
            <a:endParaRPr lang="zh-CN" alt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366851B5-7053-3E98-7F9E-0DFFD30981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993" r="41319"/>
          <a:stretch/>
        </p:blipFill>
        <p:spPr bwMode="auto">
          <a:xfrm>
            <a:off x="6202782" y="2006173"/>
            <a:ext cx="5640387" cy="2845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4850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A3CFC-D529-852D-979E-F5DDC9B68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2">
            <a:extLst>
              <a:ext uri="{FF2B5EF4-FFF2-40B4-BE49-F238E27FC236}">
                <a16:creationId xmlns:a16="http://schemas.microsoft.com/office/drawing/2014/main" id="{C8B4BC66-8FD9-A0FA-0D6F-085DB1BF33C9}"/>
              </a:ext>
            </a:extLst>
          </p:cNvPr>
          <p:cNvSpPr txBox="1">
            <a:spLocks/>
          </p:cNvSpPr>
          <p:nvPr/>
        </p:nvSpPr>
        <p:spPr>
          <a:xfrm>
            <a:off x="1524000" y="75088"/>
            <a:ext cx="9144000" cy="43854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Outline</a:t>
            </a:r>
            <a:endParaRPr lang="en-GB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0023169-1BC7-5F7D-3C38-51CE7AE5C0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337" y="1086169"/>
            <a:ext cx="5927325" cy="4197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1125538" algn="l"/>
              </a:tabLs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marL="457200" indent="-457200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0"/>
              </a:rPr>
              <a:t>Computational spectrometers</a:t>
            </a:r>
          </a:p>
          <a:p>
            <a:pPr marL="800100" lvl="1" indent="-342900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0"/>
              </a:rPr>
              <a:t> Encoding</a:t>
            </a:r>
          </a:p>
          <a:p>
            <a:pPr marL="457200" indent="-457200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US" altLang="zh-CN" sz="2400" b="1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Metasurface</a:t>
            </a:r>
            <a:endParaRPr lang="en-US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Computational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electromagnetics</a:t>
            </a:r>
          </a:p>
          <a:p>
            <a:pPr marL="800100" lvl="1" indent="-342900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FDTD</a:t>
            </a:r>
            <a:endParaRPr lang="en-GB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3729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9DFE7-DDA6-7DBB-3BE3-8DE55929A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2">
            <a:extLst>
              <a:ext uri="{FF2B5EF4-FFF2-40B4-BE49-F238E27FC236}">
                <a16:creationId xmlns:a16="http://schemas.microsoft.com/office/drawing/2014/main" id="{24E94400-AF46-873B-4E77-60DA9A016F49}"/>
              </a:ext>
            </a:extLst>
          </p:cNvPr>
          <p:cNvSpPr txBox="1">
            <a:spLocks/>
          </p:cNvSpPr>
          <p:nvPr/>
        </p:nvSpPr>
        <p:spPr>
          <a:xfrm>
            <a:off x="1524000" y="75088"/>
            <a:ext cx="9144000" cy="43854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Computational electromagnetics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EF388EB8-C78A-2ED7-D064-88701B329CED}"/>
              </a:ext>
            </a:extLst>
          </p:cNvPr>
          <p:cNvGrpSpPr/>
          <p:nvPr/>
        </p:nvGrpSpPr>
        <p:grpSpPr>
          <a:xfrm>
            <a:off x="745882" y="836641"/>
            <a:ext cx="2499897" cy="2080707"/>
            <a:chOff x="1452813" y="1240970"/>
            <a:chExt cx="2499897" cy="2080707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25D58764-2C37-2724-27D2-C6D7168158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59" t="48431" r="83885" b="29717"/>
            <a:stretch/>
          </p:blipFill>
          <p:spPr>
            <a:xfrm rot="5400000">
              <a:off x="1635886" y="1427229"/>
              <a:ext cx="1342043" cy="170818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17E5ACA9-C891-00E0-C26A-D8AD986A5441}"/>
                    </a:ext>
                  </a:extLst>
                </p:cNvPr>
                <p:cNvSpPr txBox="1"/>
                <p:nvPr/>
              </p:nvSpPr>
              <p:spPr>
                <a:xfrm>
                  <a:off x="1957642" y="1240970"/>
                  <a:ext cx="68897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17E5ACA9-C891-00E0-C26A-D8AD986A54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7642" y="1240970"/>
                  <a:ext cx="688971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9735" r="-15929" b="-344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B32A98CB-56E2-40E3-F686-F1F04394351C}"/>
                    </a:ext>
                  </a:extLst>
                </p:cNvPr>
                <p:cNvSpPr txBox="1"/>
                <p:nvPr/>
              </p:nvSpPr>
              <p:spPr>
                <a:xfrm>
                  <a:off x="3031369" y="1990746"/>
                  <a:ext cx="92134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d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?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B32A98CB-56E2-40E3-F686-F1F0439435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1369" y="1990746"/>
                  <a:ext cx="921341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7285" r="-8609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5C7D4595-547B-EC69-203B-98F86F9D7824}"/>
                    </a:ext>
                  </a:extLst>
                </p:cNvPr>
                <p:cNvSpPr txBox="1"/>
                <p:nvPr/>
              </p:nvSpPr>
              <p:spPr>
                <a:xfrm>
                  <a:off x="1452813" y="2952345"/>
                  <a:ext cx="303416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5C7D4595-547B-EC69-203B-98F86F9D78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2813" y="2952345"/>
                  <a:ext cx="303416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22000" r="-8000"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B3AC2387-709C-1E17-7C0E-4605BECD9934}"/>
                    </a:ext>
                  </a:extLst>
                </p:cNvPr>
                <p:cNvSpPr txBox="1"/>
                <p:nvPr/>
              </p:nvSpPr>
              <p:spPr>
                <a:xfrm>
                  <a:off x="2688258" y="2941930"/>
                  <a:ext cx="33041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B3AC2387-709C-1E17-7C0E-4605BECD99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8258" y="2941930"/>
                  <a:ext cx="330411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20370" r="-3704" b="-98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6478242C-EA9B-E011-3AE3-1143E883FD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1625" y="979323"/>
            <a:ext cx="3209925" cy="3810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65F08B10-6970-38AB-CCAB-4332977139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79249" y="836641"/>
            <a:ext cx="2058682" cy="2485036"/>
          </a:xfrm>
          <a:prstGeom prst="rect">
            <a:avLst/>
          </a:prstGeom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DB0E589B-A0F2-54E1-5FEE-271E86F5580C}"/>
              </a:ext>
            </a:extLst>
          </p:cNvPr>
          <p:cNvGrpSpPr/>
          <p:nvPr/>
        </p:nvGrpSpPr>
        <p:grpSpPr>
          <a:xfrm>
            <a:off x="631461" y="3321677"/>
            <a:ext cx="3642588" cy="1999564"/>
            <a:chOff x="855866" y="3776203"/>
            <a:chExt cx="3642588" cy="1999564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7E92278-C983-A71D-01A7-0824DA78EEDC}"/>
                </a:ext>
              </a:extLst>
            </p:cNvPr>
            <p:cNvSpPr txBox="1"/>
            <p:nvPr/>
          </p:nvSpPr>
          <p:spPr>
            <a:xfrm>
              <a:off x="855866" y="3776203"/>
              <a:ext cx="364258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2800" b="0" i="0" dirty="0">
                  <a:solidFill>
                    <a:srgbClr val="101418"/>
                  </a:solidFill>
                  <a:effectLst/>
                  <a:latin typeface="Linux Libertine"/>
                </a:rPr>
                <a:t>Constitutive equation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CC429BCE-8841-A9AD-6C40-0745ADB8337C}"/>
                    </a:ext>
                  </a:extLst>
                </p:cNvPr>
                <p:cNvSpPr txBox="1"/>
                <p:nvPr/>
              </p:nvSpPr>
              <p:spPr>
                <a:xfrm>
                  <a:off x="1750536" y="4483105"/>
                  <a:ext cx="1289584" cy="12926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800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oMath>
                    </m:oMathPara>
                  </a14:m>
                  <a:endParaRPr lang="en-US" altLang="zh-CN" sz="2800" b="1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oMath>
                    </m:oMathPara>
                  </a14:m>
                  <a:endParaRPr lang="en-US" altLang="zh-CN" sz="2800" b="1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𝑱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oMath>
                    </m:oMathPara>
                  </a14:m>
                  <a:endParaRPr lang="zh-CN" altLang="en-US" sz="28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22D868E7-BDD5-9D53-C8BC-51C0D4462F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0536" y="4483105"/>
                  <a:ext cx="1289584" cy="129266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A53388F-EF21-83BA-2844-E9B1FE4BEFF8}"/>
              </a:ext>
            </a:extLst>
          </p:cNvPr>
          <p:cNvGrpSpPr/>
          <p:nvPr/>
        </p:nvGrpSpPr>
        <p:grpSpPr>
          <a:xfrm>
            <a:off x="5116134" y="3321677"/>
            <a:ext cx="5601006" cy="2626458"/>
            <a:chOff x="3991129" y="3447269"/>
            <a:chExt cx="5601006" cy="2626458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C90C0D76-400E-98BD-3E5C-F8E557FBB4A7}"/>
                </a:ext>
              </a:extLst>
            </p:cNvPr>
            <p:cNvSpPr txBox="1"/>
            <p:nvPr/>
          </p:nvSpPr>
          <p:spPr>
            <a:xfrm>
              <a:off x="4970338" y="3447269"/>
              <a:ext cx="364258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2800" b="0" i="0" dirty="0">
                  <a:solidFill>
                    <a:srgbClr val="101418"/>
                  </a:solidFill>
                  <a:effectLst/>
                  <a:latin typeface="Linux Libertine"/>
                </a:rPr>
                <a:t>Boundary conditions</a:t>
              </a:r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33EAA8BE-ADA5-D16C-E17D-68C9723BEE4E}"/>
                </a:ext>
              </a:extLst>
            </p:cNvPr>
            <p:cNvGrpSpPr/>
            <p:nvPr/>
          </p:nvGrpSpPr>
          <p:grpSpPr>
            <a:xfrm>
              <a:off x="3991129" y="3952220"/>
              <a:ext cx="5601006" cy="2121507"/>
              <a:chOff x="3528955" y="3882735"/>
              <a:chExt cx="5601006" cy="2121507"/>
            </a:xfrm>
          </p:grpSpPr>
          <p:pic>
            <p:nvPicPr>
              <p:cNvPr id="23" name="图片 22">
                <a:extLst>
                  <a:ext uri="{FF2B5EF4-FFF2-40B4-BE49-F238E27FC236}">
                    <a16:creationId xmlns:a16="http://schemas.microsoft.com/office/drawing/2014/main" id="{0ED20955-6FB3-483E-DF3A-8E0889DCAC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487373" y="3882735"/>
                <a:ext cx="3642588" cy="2121507"/>
              </a:xfrm>
              <a:prstGeom prst="rect">
                <a:avLst/>
              </a:prstGeom>
            </p:spPr>
          </p:pic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5D56A52D-9E2F-E902-FA35-4194E0434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rcRect l="58112" t="2006" r="8290" b="24744"/>
              <a:stretch/>
            </p:blipFill>
            <p:spPr>
              <a:xfrm>
                <a:off x="3528955" y="3931740"/>
                <a:ext cx="1958418" cy="2048141"/>
              </a:xfrm>
              <a:prstGeom prst="rect">
                <a:avLst/>
              </a:prstGeom>
            </p:spPr>
          </p:pic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61BC997A-0DDB-AC85-C7C3-9D3F92FA700C}"/>
              </a:ext>
            </a:extLst>
          </p:cNvPr>
          <p:cNvSpPr txBox="1"/>
          <p:nvPr/>
        </p:nvSpPr>
        <p:spPr>
          <a:xfrm>
            <a:off x="449691" y="6198137"/>
            <a:ext cx="78818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C000"/>
                </a:solidFill>
              </a:rPr>
              <a:t>Computational electromagnetics (CEM)</a:t>
            </a:r>
            <a:r>
              <a:rPr lang="zh-CN" altLang="en-US" sz="3200" b="1" dirty="0">
                <a:solidFill>
                  <a:srgbClr val="FFC000"/>
                </a:solidFill>
              </a:rPr>
              <a:t>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86CE00F-4487-B249-2FE7-F8EB787D0154}"/>
                  </a:ext>
                </a:extLst>
              </p:cNvPr>
              <p:cNvSpPr txBox="1"/>
              <p:nvPr/>
            </p:nvSpPr>
            <p:spPr>
              <a:xfrm>
                <a:off x="2633204" y="2231845"/>
                <a:ext cx="2036776" cy="753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86CE00F-4487-B249-2FE7-F8EB787D0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204" y="2231845"/>
                <a:ext cx="2036776" cy="75386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640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9E364-68FB-E322-7023-D7EF303FC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2">
            <a:extLst>
              <a:ext uri="{FF2B5EF4-FFF2-40B4-BE49-F238E27FC236}">
                <a16:creationId xmlns:a16="http://schemas.microsoft.com/office/drawing/2014/main" id="{81C70812-D1A9-DD18-21F4-CAD4A804A9CC}"/>
              </a:ext>
            </a:extLst>
          </p:cNvPr>
          <p:cNvSpPr txBox="1">
            <a:spLocks/>
          </p:cNvSpPr>
          <p:nvPr/>
        </p:nvSpPr>
        <p:spPr>
          <a:xfrm>
            <a:off x="1524000" y="75088"/>
            <a:ext cx="9144000" cy="43854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Computational electromagnetics (CEM)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A7B8B46-611D-68B2-893C-4683B07A160D}"/>
              </a:ext>
            </a:extLst>
          </p:cNvPr>
          <p:cNvSpPr txBox="1"/>
          <p:nvPr/>
        </p:nvSpPr>
        <p:spPr>
          <a:xfrm>
            <a:off x="322729" y="591671"/>
            <a:ext cx="10826803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What is CEM?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400" dirty="0"/>
              <a:t>Computational electromagnetics (CEM) is a procedure to model and simulate the behavior of electromagnetic waves and fields in an object of interest in a given space.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400" dirty="0"/>
              <a:t>It deals with the art and science of solving Maxwell’s equations numerically using modern electronic computers.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400" dirty="0"/>
              <a:t>It implies using numerical techniques to solve Maxwell’s equations instead of obtaining analytical solutions.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400" dirty="0"/>
              <a:t>Key issues of CEM: computational cost and memory requirement.</a:t>
            </a:r>
          </a:p>
          <a:p>
            <a:r>
              <a:rPr lang="en-US" altLang="zh-CN" sz="2800" b="1" dirty="0"/>
              <a:t>Why is CEM needed?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400" dirty="0"/>
              <a:t>To understand what we do not know.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400" dirty="0"/>
              <a:t>To speed up design process.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400" dirty="0"/>
              <a:t>To explore new idea.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400" dirty="0"/>
              <a:t>To save money…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400" dirty="0"/>
              <a:t>…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031201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DF95B-2345-D09E-1A73-A39BDF388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2">
            <a:extLst>
              <a:ext uri="{FF2B5EF4-FFF2-40B4-BE49-F238E27FC236}">
                <a16:creationId xmlns:a16="http://schemas.microsoft.com/office/drawing/2014/main" id="{D4770852-ECBB-D25B-9498-83C926147858}"/>
              </a:ext>
            </a:extLst>
          </p:cNvPr>
          <p:cNvSpPr txBox="1">
            <a:spLocks/>
          </p:cNvSpPr>
          <p:nvPr/>
        </p:nvSpPr>
        <p:spPr>
          <a:xfrm>
            <a:off x="1524000" y="75088"/>
            <a:ext cx="9144000" cy="43854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Computational electromagnetics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145F56D-D789-7BD2-7FC8-4A2F9D534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252" y="925326"/>
            <a:ext cx="7058025" cy="511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C435996-4FB7-FD99-E635-C0307545E241}"/>
              </a:ext>
            </a:extLst>
          </p:cNvPr>
          <p:cNvSpPr txBox="1"/>
          <p:nvPr/>
        </p:nvSpPr>
        <p:spPr>
          <a:xfrm>
            <a:off x="6096000" y="936252"/>
            <a:ext cx="51278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FEM: Finite Element Method</a:t>
            </a:r>
          </a:p>
          <a:p>
            <a:r>
              <a:rPr lang="en-US" altLang="zh-CN" sz="2400" dirty="0"/>
              <a:t>FDTD: Finite-Different Time-Domain</a:t>
            </a:r>
          </a:p>
          <a:p>
            <a:r>
              <a:rPr lang="en-US" altLang="zh-CN" sz="2400" dirty="0"/>
              <a:t>RCWA: Rigorous Coupled-Wave Analysis</a:t>
            </a:r>
            <a:endParaRPr lang="zh-CN" altLang="en-US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2251064-E299-47C2-1A69-04A3A99F5C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3342"/>
          <a:stretch/>
        </p:blipFill>
        <p:spPr>
          <a:xfrm>
            <a:off x="7235277" y="3840852"/>
            <a:ext cx="4345571" cy="106899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93965C7-B395-8894-A606-8CD69FF0A870}"/>
              </a:ext>
            </a:extLst>
          </p:cNvPr>
          <p:cNvSpPr txBox="1"/>
          <p:nvPr/>
        </p:nvSpPr>
        <p:spPr>
          <a:xfrm>
            <a:off x="6886934" y="2579112"/>
            <a:ext cx="51278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Text Book: Jian Ming Jin, Theory and Computation of Electromagnetic Fields , John Wiley &amp; Sons, 2010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292017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AFE7A-8FDE-8431-6F45-8A4A2B3B2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2">
            <a:extLst>
              <a:ext uri="{FF2B5EF4-FFF2-40B4-BE49-F238E27FC236}">
                <a16:creationId xmlns:a16="http://schemas.microsoft.com/office/drawing/2014/main" id="{1A3EE3A0-010C-C0F7-0DEB-54463A5FEC45}"/>
              </a:ext>
            </a:extLst>
          </p:cNvPr>
          <p:cNvSpPr txBox="1">
            <a:spLocks/>
          </p:cNvSpPr>
          <p:nvPr/>
        </p:nvSpPr>
        <p:spPr>
          <a:xfrm>
            <a:off x="1524000" y="75088"/>
            <a:ext cx="9144000" cy="43854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Computational electromagnetics-FDTD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7E49976-538C-6401-BDAF-A2E4257394FD}"/>
              </a:ext>
            </a:extLst>
          </p:cNvPr>
          <p:cNvSpPr txBox="1"/>
          <p:nvPr/>
        </p:nvSpPr>
        <p:spPr>
          <a:xfrm>
            <a:off x="473564" y="1562279"/>
            <a:ext cx="31473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Maxwell’s equations</a:t>
            </a:r>
            <a:endParaRPr lang="zh-CN" altLang="en-US" sz="28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0341788-C85A-37D3-7038-A3C74F721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64" y="2133524"/>
            <a:ext cx="3678151" cy="2011315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98AEC21F-AB12-F53F-EC4C-E4CC420ACB7B}"/>
              </a:ext>
            </a:extLst>
          </p:cNvPr>
          <p:cNvGrpSpPr/>
          <p:nvPr/>
        </p:nvGrpSpPr>
        <p:grpSpPr>
          <a:xfrm>
            <a:off x="4404344" y="1562279"/>
            <a:ext cx="7410956" cy="3361790"/>
            <a:chOff x="4268878" y="1037345"/>
            <a:chExt cx="7410956" cy="3361790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CE42BF78-07A5-5A72-B639-2F1F18842D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50000"/>
            <a:stretch/>
          </p:blipFill>
          <p:spPr>
            <a:xfrm>
              <a:off x="7974356" y="1608590"/>
              <a:ext cx="3705478" cy="2790545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744EEE0-B22D-5691-D580-2AB85ACB2E9B}"/>
                </a:ext>
              </a:extLst>
            </p:cNvPr>
            <p:cNvSpPr txBox="1"/>
            <p:nvPr/>
          </p:nvSpPr>
          <p:spPr>
            <a:xfrm>
              <a:off x="4268878" y="1037345"/>
              <a:ext cx="314733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800" dirty="0"/>
                <a:t>six scalar equations </a:t>
              </a:r>
              <a:endParaRPr lang="zh-CN" altLang="en-US" sz="2800" dirty="0"/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2C820999-1EBA-2623-8455-45CE430C9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50000"/>
            <a:stretch/>
          </p:blipFill>
          <p:spPr>
            <a:xfrm>
              <a:off x="4268878" y="1608590"/>
              <a:ext cx="3705478" cy="27905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99585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7657D-6CDD-579D-E221-F23C84880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2">
            <a:extLst>
              <a:ext uri="{FF2B5EF4-FFF2-40B4-BE49-F238E27FC236}">
                <a16:creationId xmlns:a16="http://schemas.microsoft.com/office/drawing/2014/main" id="{217DD1EE-1866-C4CE-F853-1347154EB762}"/>
              </a:ext>
            </a:extLst>
          </p:cNvPr>
          <p:cNvSpPr txBox="1">
            <a:spLocks/>
          </p:cNvSpPr>
          <p:nvPr/>
        </p:nvSpPr>
        <p:spPr>
          <a:xfrm>
            <a:off x="1524000" y="75088"/>
            <a:ext cx="9144000" cy="43854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Computational electromagnetics-FDTD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49DF829-7691-A908-3149-104AA7DE9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306" y="984250"/>
            <a:ext cx="9449387" cy="506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883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FDB27-E5FF-703F-2080-5E428F1B5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2">
            <a:extLst>
              <a:ext uri="{FF2B5EF4-FFF2-40B4-BE49-F238E27FC236}">
                <a16:creationId xmlns:a16="http://schemas.microsoft.com/office/drawing/2014/main" id="{86609AAB-65CF-7CBD-BD1F-4CEA156AFF7C}"/>
              </a:ext>
            </a:extLst>
          </p:cNvPr>
          <p:cNvSpPr txBox="1">
            <a:spLocks/>
          </p:cNvSpPr>
          <p:nvPr/>
        </p:nvSpPr>
        <p:spPr>
          <a:xfrm>
            <a:off x="1524000" y="75088"/>
            <a:ext cx="9144000" cy="43854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Computational electromagnetics-FDTD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715D69F-630D-EB27-B352-1FADB16D591F}"/>
                  </a:ext>
                </a:extLst>
              </p:cNvPr>
              <p:cNvSpPr txBox="1"/>
              <p:nvPr/>
            </p:nvSpPr>
            <p:spPr>
              <a:xfrm>
                <a:off x="5011197" y="1381070"/>
                <a:ext cx="2837380" cy="7754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𝜇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715D69F-630D-EB27-B352-1FADB16D5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1197" y="1381070"/>
                <a:ext cx="2837380" cy="7754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D08D86FF-03EE-BC05-7EF1-838D31195BB5}"/>
              </a:ext>
            </a:extLst>
          </p:cNvPr>
          <p:cNvSpPr txBox="1"/>
          <p:nvPr/>
        </p:nvSpPr>
        <p:spPr>
          <a:xfrm>
            <a:off x="4943464" y="760826"/>
            <a:ext cx="3176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0" u="none" strike="noStrike" baseline="0" dirty="0">
                <a:solidFill>
                  <a:srgbClr val="255C9C"/>
                </a:solidFill>
                <a:latin typeface="Times New Roman" panose="02020603050405020304" pitchFamily="18" charset="0"/>
              </a:rPr>
              <a:t>FDTD discretization: </a:t>
            </a:r>
            <a:endParaRPr lang="zh-CN" altLang="en-US" sz="2400" dirty="0">
              <a:solidFill>
                <a:srgbClr val="255C9C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3436E1F-06DA-890B-31D6-D66F89E70A10}"/>
                  </a:ext>
                </a:extLst>
              </p:cNvPr>
              <p:cNvSpPr txBox="1"/>
              <p:nvPr/>
            </p:nvSpPr>
            <p:spPr>
              <a:xfrm>
                <a:off x="4943464" y="2751667"/>
                <a:ext cx="6968067" cy="31622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+1,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bSup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bSup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3436E1F-06DA-890B-31D6-D66F89E70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464" y="2751667"/>
                <a:ext cx="6968067" cy="31622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5556DFA7-32C1-677A-F6E6-33BA212D521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491" b="19573"/>
          <a:stretch/>
        </p:blipFill>
        <p:spPr>
          <a:xfrm>
            <a:off x="407469" y="1973130"/>
            <a:ext cx="4239300" cy="347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968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93A21-877A-AC4F-5A34-029D79B3B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2">
            <a:extLst>
              <a:ext uri="{FF2B5EF4-FFF2-40B4-BE49-F238E27FC236}">
                <a16:creationId xmlns:a16="http://schemas.microsoft.com/office/drawing/2014/main" id="{7A12347D-75D3-B5B0-8F56-EFCDB1C4D9CF}"/>
              </a:ext>
            </a:extLst>
          </p:cNvPr>
          <p:cNvSpPr txBox="1">
            <a:spLocks/>
          </p:cNvSpPr>
          <p:nvPr/>
        </p:nvSpPr>
        <p:spPr>
          <a:xfrm>
            <a:off x="1524000" y="75088"/>
            <a:ext cx="9144000" cy="43854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Computational electromagnetics-FDTD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9E5503B-AFE7-8552-B431-D645A764E1AE}"/>
              </a:ext>
            </a:extLst>
          </p:cNvPr>
          <p:cNvSpPr txBox="1"/>
          <p:nvPr/>
        </p:nvSpPr>
        <p:spPr>
          <a:xfrm>
            <a:off x="219064" y="693380"/>
            <a:ext cx="3176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0" u="none" strike="noStrike" baseline="0" dirty="0">
                <a:solidFill>
                  <a:srgbClr val="255C9C"/>
                </a:solidFill>
                <a:latin typeface="Times New Roman" panose="02020603050405020304" pitchFamily="18" charset="0"/>
              </a:rPr>
              <a:t>FDTD discretization: </a:t>
            </a:r>
            <a:endParaRPr lang="zh-CN" altLang="en-US" sz="2400" dirty="0">
              <a:solidFill>
                <a:srgbClr val="255C9C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A344031-A1F0-4097-75C8-736815B48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64" y="1155045"/>
            <a:ext cx="4258732" cy="562786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27B5685-162E-E62E-DE66-7500455E60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7520" y="1185000"/>
            <a:ext cx="6119813" cy="354480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FD9F429-B61B-1D75-2293-6A328F6B54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7520" y="5184225"/>
            <a:ext cx="1963209" cy="4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5238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251E9-5CCA-B662-6EDB-E90178086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2">
            <a:extLst>
              <a:ext uri="{FF2B5EF4-FFF2-40B4-BE49-F238E27FC236}">
                <a16:creationId xmlns:a16="http://schemas.microsoft.com/office/drawing/2014/main" id="{7E96B596-50A9-4405-8876-3E9C1CD3F2CC}"/>
              </a:ext>
            </a:extLst>
          </p:cNvPr>
          <p:cNvSpPr txBox="1">
            <a:spLocks/>
          </p:cNvSpPr>
          <p:nvPr/>
        </p:nvSpPr>
        <p:spPr>
          <a:xfrm>
            <a:off x="1524000" y="75088"/>
            <a:ext cx="9144000" cy="43854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Computational electromagnetics-FDTD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E4FA53D-298D-98EB-BBDA-F76DE6B953D3}"/>
              </a:ext>
            </a:extLst>
          </p:cNvPr>
          <p:cNvSpPr txBox="1"/>
          <p:nvPr/>
        </p:nvSpPr>
        <p:spPr>
          <a:xfrm>
            <a:off x="219064" y="693380"/>
            <a:ext cx="39804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0" u="none" strike="noStrike" baseline="0" dirty="0">
                <a:solidFill>
                  <a:srgbClr val="255C9C"/>
                </a:solidFill>
                <a:latin typeface="Times New Roman" panose="02020603050405020304" pitchFamily="18" charset="0"/>
              </a:rPr>
              <a:t>Numerical Implementation:</a:t>
            </a:r>
            <a:endParaRPr lang="zh-CN" altLang="en-US" sz="2400" dirty="0">
              <a:solidFill>
                <a:srgbClr val="255C9C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881D480-E91E-D855-24BF-08F91C0E2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667" y="1258590"/>
            <a:ext cx="8261879" cy="510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5019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AF6C9-0A38-FFB0-92F8-D8F5A51BE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2">
            <a:extLst>
              <a:ext uri="{FF2B5EF4-FFF2-40B4-BE49-F238E27FC236}">
                <a16:creationId xmlns:a16="http://schemas.microsoft.com/office/drawing/2014/main" id="{90559C87-9295-36FA-06EC-FBF27E37F951}"/>
              </a:ext>
            </a:extLst>
          </p:cNvPr>
          <p:cNvSpPr txBox="1">
            <a:spLocks/>
          </p:cNvSpPr>
          <p:nvPr/>
        </p:nvSpPr>
        <p:spPr>
          <a:xfrm>
            <a:off x="1524000" y="75088"/>
            <a:ext cx="9144000" cy="43854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Computational electromagnetics-FDTD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AC8E5AB-BAD8-FC08-B471-5848505732F0}"/>
              </a:ext>
            </a:extLst>
          </p:cNvPr>
          <p:cNvSpPr txBox="1"/>
          <p:nvPr/>
        </p:nvSpPr>
        <p:spPr>
          <a:xfrm>
            <a:off x="769398" y="971045"/>
            <a:ext cx="39804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0" u="none" strike="noStrike" baseline="0" dirty="0">
                <a:solidFill>
                  <a:srgbClr val="255C9C"/>
                </a:solidFill>
                <a:latin typeface="Times New Roman" panose="02020603050405020304" pitchFamily="18" charset="0"/>
              </a:rPr>
              <a:t>Stability criterion:</a:t>
            </a:r>
            <a:endParaRPr lang="zh-CN" altLang="en-US" sz="2400" dirty="0">
              <a:solidFill>
                <a:srgbClr val="255C9C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B2C85C9-B53A-4635-7FAE-B68F76B19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684" y="1499586"/>
            <a:ext cx="5067300" cy="1628775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1B66E36B-BB5B-DE5D-ED17-05277E994FEB}"/>
              </a:ext>
            </a:extLst>
          </p:cNvPr>
          <p:cNvGrpSpPr/>
          <p:nvPr/>
        </p:nvGrpSpPr>
        <p:grpSpPr>
          <a:xfrm>
            <a:off x="769398" y="3466964"/>
            <a:ext cx="10630968" cy="1891450"/>
            <a:chOff x="769398" y="3348430"/>
            <a:chExt cx="10630968" cy="189145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93EDC17-A0F7-A2A3-ABB0-A3AD393D8A31}"/>
                </a:ext>
              </a:extLst>
            </p:cNvPr>
            <p:cNvSpPr txBox="1"/>
            <p:nvPr/>
          </p:nvSpPr>
          <p:spPr>
            <a:xfrm>
              <a:off x="769398" y="3348430"/>
              <a:ext cx="398040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i="0" u="none" strike="noStrike" baseline="0" dirty="0">
                  <a:solidFill>
                    <a:srgbClr val="255C9C"/>
                  </a:solidFill>
                  <a:latin typeface="Times New Roman" panose="02020603050405020304" pitchFamily="18" charset="0"/>
                </a:rPr>
                <a:t>Numerical dispersion:</a:t>
              </a:r>
              <a:endParaRPr lang="zh-CN" altLang="en-US" sz="2400" dirty="0">
                <a:solidFill>
                  <a:srgbClr val="255C9C"/>
                </a:solidFill>
              </a:endParaRPr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7C75B059-428B-B732-DB63-77D737A81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1633" y="4283728"/>
              <a:ext cx="10608733" cy="9561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86277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7EC27-F9E9-2DBF-77EC-8C22D816D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2">
            <a:extLst>
              <a:ext uri="{FF2B5EF4-FFF2-40B4-BE49-F238E27FC236}">
                <a16:creationId xmlns:a16="http://schemas.microsoft.com/office/drawing/2014/main" id="{035E9FD5-7053-A5A3-C62B-7B75A0F3736B}"/>
              </a:ext>
            </a:extLst>
          </p:cNvPr>
          <p:cNvSpPr txBox="1">
            <a:spLocks/>
          </p:cNvSpPr>
          <p:nvPr/>
        </p:nvSpPr>
        <p:spPr>
          <a:xfrm>
            <a:off x="1524000" y="75088"/>
            <a:ext cx="9144000" cy="43854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Computational electromagnetics-FDTD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A3107F0-B699-23BA-536C-78F0C2F81C4F}"/>
              </a:ext>
            </a:extLst>
          </p:cNvPr>
          <p:cNvSpPr txBox="1"/>
          <p:nvPr/>
        </p:nvSpPr>
        <p:spPr>
          <a:xfrm>
            <a:off x="634999" y="10938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https://www.ansys.com/zh-cn/academic/students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4B890D7-FF2B-F6D1-C00A-E5309BB14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332" y="1535299"/>
            <a:ext cx="8796867" cy="475030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0E3FDC2A-A111-A062-A41C-A409AA780827}"/>
              </a:ext>
            </a:extLst>
          </p:cNvPr>
          <p:cNvSpPr txBox="1"/>
          <p:nvPr/>
        </p:nvSpPr>
        <p:spPr>
          <a:xfrm>
            <a:off x="634999" y="65230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Know </a:t>
            </a:r>
            <a:r>
              <a:rPr lang="en-US" altLang="zh-CN" dirty="0" err="1"/>
              <a:t>Lumerical</a:t>
            </a:r>
            <a:r>
              <a:rPr lang="en-US" altLang="zh-CN" dirty="0"/>
              <a:t> FDTD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66411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45612473-1E9A-BFE4-61A3-64D183370ED0}"/>
              </a:ext>
            </a:extLst>
          </p:cNvPr>
          <p:cNvSpPr txBox="1">
            <a:spLocks/>
          </p:cNvSpPr>
          <p:nvPr/>
        </p:nvSpPr>
        <p:spPr>
          <a:xfrm>
            <a:off x="1524000" y="75088"/>
            <a:ext cx="9144000" cy="43854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Computational electromagnetics-FDTD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12E78699-8E75-857A-4B84-6EF94FB3A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3" y="801952"/>
            <a:ext cx="55578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514350" indent="-51435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9pPr>
          </a:lstStyle>
          <a:p>
            <a:pPr marL="0" indent="0"/>
            <a:r>
              <a:rPr lang="en-US" altLang="en-US" sz="2400" dirty="0"/>
              <a:t>Introduction of </a:t>
            </a:r>
            <a:r>
              <a:rPr lang="en-US" altLang="en-US" sz="2400" dirty="0" err="1"/>
              <a:t>Lumerical</a:t>
            </a:r>
            <a:r>
              <a:rPr lang="en-US" altLang="en-US" sz="2400" dirty="0"/>
              <a:t> FDTD </a:t>
            </a:r>
          </a:p>
        </p:txBody>
      </p:sp>
      <p:pic>
        <p:nvPicPr>
          <p:cNvPr id="4" name="Picture 13" descr="null">
            <a:extLst>
              <a:ext uri="{FF2B5EF4-FFF2-40B4-BE49-F238E27FC236}">
                <a16:creationId xmlns:a16="http://schemas.microsoft.com/office/drawing/2014/main" id="{6E885AC8-9E5F-8170-7247-D3196D6B39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0" y="1490550"/>
            <a:ext cx="5705209" cy="3876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7C34B97F-829D-71B2-5F8B-A8A41D3D6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4439" y="1490550"/>
            <a:ext cx="4511866" cy="2945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74464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26F57-7F40-8B3D-BDD5-421EC2064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807CE094-1618-CA8E-A4D6-DF07B3425207}"/>
              </a:ext>
            </a:extLst>
          </p:cNvPr>
          <p:cNvSpPr txBox="1">
            <a:spLocks/>
          </p:cNvSpPr>
          <p:nvPr/>
        </p:nvSpPr>
        <p:spPr>
          <a:xfrm>
            <a:off x="1524000" y="75088"/>
            <a:ext cx="9144000" cy="43854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Computational electromagnetics-FDTD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81A81726-5F8A-B641-2FFB-51EB432A3A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3" y="801952"/>
            <a:ext cx="55578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514350" indent="-51435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9pPr>
          </a:lstStyle>
          <a:p>
            <a:pPr marL="0" indent="0"/>
            <a:r>
              <a:rPr lang="en-US" altLang="en-US" sz="2400" dirty="0"/>
              <a:t>Introduction of </a:t>
            </a:r>
            <a:r>
              <a:rPr lang="en-US" altLang="en-US" sz="2400" dirty="0" err="1"/>
              <a:t>Lumerical</a:t>
            </a:r>
            <a:r>
              <a:rPr lang="en-US" altLang="en-US" sz="2400" dirty="0"/>
              <a:t> FDTD </a:t>
            </a:r>
          </a:p>
        </p:txBody>
      </p:sp>
      <p:grpSp>
        <p:nvGrpSpPr>
          <p:cNvPr id="6" name="Group 14">
            <a:extLst>
              <a:ext uri="{FF2B5EF4-FFF2-40B4-BE49-F238E27FC236}">
                <a16:creationId xmlns:a16="http://schemas.microsoft.com/office/drawing/2014/main" id="{3D0E26CC-A5FA-BE35-77E3-4331B28D59A8}"/>
              </a:ext>
            </a:extLst>
          </p:cNvPr>
          <p:cNvGrpSpPr>
            <a:grpSpLocks/>
          </p:cNvGrpSpPr>
          <p:nvPr/>
        </p:nvGrpSpPr>
        <p:grpSpPr bwMode="auto">
          <a:xfrm>
            <a:off x="34044" y="1216922"/>
            <a:ext cx="10529530" cy="5097438"/>
            <a:chOff x="-1220463" y="304743"/>
            <a:chExt cx="10971843" cy="5854014"/>
          </a:xfrm>
        </p:grpSpPr>
        <p:grpSp>
          <p:nvGrpSpPr>
            <p:cNvPr id="7" name="Group 9">
              <a:extLst>
                <a:ext uri="{FF2B5EF4-FFF2-40B4-BE49-F238E27FC236}">
                  <a16:creationId xmlns:a16="http://schemas.microsoft.com/office/drawing/2014/main" id="{3BC02341-CDF9-A71D-D7F0-C1A6D42C63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1220463" y="317931"/>
              <a:ext cx="10971843" cy="5840826"/>
              <a:chOff x="-1220463" y="317931"/>
              <a:chExt cx="10971843" cy="5840826"/>
            </a:xfrm>
          </p:grpSpPr>
          <p:pic>
            <p:nvPicPr>
              <p:cNvPr id="12" name="Picture 1">
                <a:extLst>
                  <a:ext uri="{FF2B5EF4-FFF2-40B4-BE49-F238E27FC236}">
                    <a16:creationId xmlns:a16="http://schemas.microsoft.com/office/drawing/2014/main" id="{C55404F5-B8F3-C3AC-C21A-9E44BF5502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4619" y="699243"/>
                <a:ext cx="9596761" cy="54595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" name="Rectangle 2">
                <a:extLst>
                  <a:ext uri="{FF2B5EF4-FFF2-40B4-BE49-F238E27FC236}">
                    <a16:creationId xmlns:a16="http://schemas.microsoft.com/office/drawing/2014/main" id="{9B1E9081-FC49-B681-BC50-8AEBD3A639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619" y="790113"/>
                <a:ext cx="3784921" cy="257452"/>
              </a:xfrm>
              <a:prstGeom prst="rect">
                <a:avLst/>
              </a:prstGeom>
              <a:noFill/>
              <a:ln w="28575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1pPr>
                <a:lvl2pPr marL="742950" indent="-28575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2pPr>
                <a:lvl3pPr marL="1143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3pPr>
                <a:lvl4pPr marL="1600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4pPr>
                <a:lvl5pPr marL="20574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5pPr>
                <a:lvl6pPr marL="25146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6pPr>
                <a:lvl7pPr marL="29718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7pPr>
                <a:lvl8pPr marL="34290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8pPr>
                <a:lvl9pPr marL="38862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" name="TextBox 3">
                <a:extLst>
                  <a:ext uri="{FF2B5EF4-FFF2-40B4-BE49-F238E27FC236}">
                    <a16:creationId xmlns:a16="http://schemas.microsoft.com/office/drawing/2014/main" id="{08EB7154-0D8A-68A2-7A71-F9C1DFA0FF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65124" y="317931"/>
                <a:ext cx="3586578" cy="4001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1pPr>
                <a:lvl2pPr marL="742950" indent="-28575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2pPr>
                <a:lvl3pPr marL="1143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3pPr>
                <a:lvl4pPr marL="1600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4pPr>
                <a:lvl5pPr marL="20574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5pPr>
                <a:lvl6pPr marL="25146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6pPr>
                <a:lvl7pPr marL="29718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7pPr>
                <a:lvl8pPr marL="34290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8pPr>
                <a:lvl9pPr marL="38862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9pPr>
              </a:lstStyle>
              <a:p>
                <a:r>
                  <a:rPr lang="en-US" altLang="en-US" sz="2000" b="1" dirty="0">
                    <a:solidFill>
                      <a:srgbClr val="FF0000"/>
                    </a:solidFill>
                  </a:rPr>
                  <a:t>Main toolbar</a:t>
                </a:r>
              </a:p>
            </p:txBody>
          </p:sp>
          <p:sp>
            <p:nvSpPr>
              <p:cNvPr id="15" name="Rectangle 4">
                <a:extLst>
                  <a:ext uri="{FF2B5EF4-FFF2-40B4-BE49-F238E27FC236}">
                    <a16:creationId xmlns:a16="http://schemas.microsoft.com/office/drawing/2014/main" id="{1E690EF9-B969-2DDA-C361-AF722039A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619" y="1138435"/>
                <a:ext cx="164977" cy="770264"/>
              </a:xfrm>
              <a:prstGeom prst="rect">
                <a:avLst/>
              </a:prstGeom>
              <a:noFill/>
              <a:ln w="28575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1pPr>
                <a:lvl2pPr marL="742950" indent="-28575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2pPr>
                <a:lvl3pPr marL="1143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3pPr>
                <a:lvl4pPr marL="1600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4pPr>
                <a:lvl5pPr marL="20574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5pPr>
                <a:lvl6pPr marL="25146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6pPr>
                <a:lvl7pPr marL="29718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7pPr>
                <a:lvl8pPr marL="34290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8pPr>
                <a:lvl9pPr marL="38862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6" name="TextBox 5">
                <a:extLst>
                  <a:ext uri="{FF2B5EF4-FFF2-40B4-BE49-F238E27FC236}">
                    <a16:creationId xmlns:a16="http://schemas.microsoft.com/office/drawing/2014/main" id="{EFFA4A3C-E6BA-5AF5-4C66-5D4F5A93D5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536394" y="1247021"/>
                <a:ext cx="781235" cy="4001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1pPr>
                <a:lvl2pPr marL="742950" indent="-28575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2pPr>
                <a:lvl3pPr marL="1143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3pPr>
                <a:lvl4pPr marL="1600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4pPr>
                <a:lvl5pPr marL="20574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5pPr>
                <a:lvl6pPr marL="25146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6pPr>
                <a:lvl7pPr marL="29718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7pPr>
                <a:lvl8pPr marL="34290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8pPr>
                <a:lvl9pPr marL="38862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9pPr>
              </a:lstStyle>
              <a:p>
                <a:r>
                  <a:rPr lang="en-US" altLang="en-US" sz="2000" b="1" dirty="0">
                    <a:solidFill>
                      <a:srgbClr val="FF0000"/>
                    </a:solidFill>
                  </a:rPr>
                  <a:t>Edit</a:t>
                </a:r>
              </a:p>
            </p:txBody>
          </p:sp>
          <p:sp>
            <p:nvSpPr>
              <p:cNvPr id="17" name="TextBox 18">
                <a:extLst>
                  <a:ext uri="{FF2B5EF4-FFF2-40B4-BE49-F238E27FC236}">
                    <a16:creationId xmlns:a16="http://schemas.microsoft.com/office/drawing/2014/main" id="{5C4D076A-18F6-4AC5-B1F4-32F64F2D6D62}"/>
                  </a:ext>
                </a:extLst>
              </p:cNvPr>
              <p:cNvSpPr txBox="1"/>
              <p:nvPr/>
            </p:nvSpPr>
            <p:spPr>
              <a:xfrm>
                <a:off x="-749501" y="1827501"/>
                <a:ext cx="1031753" cy="81295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9pPr>
              </a:lstStyle>
              <a:p>
                <a:pPr>
                  <a:defRPr/>
                </a:pPr>
                <a:r>
                  <a:rPr lang="en-US" sz="2000" b="1" dirty="0">
                    <a:solidFill>
                      <a:srgbClr val="255C9C"/>
                    </a:solidFill>
                  </a:rPr>
                  <a:t>Mouse Mode</a:t>
                </a:r>
              </a:p>
            </p:txBody>
          </p:sp>
          <p:sp>
            <p:nvSpPr>
              <p:cNvPr id="18" name="Rectangle 6">
                <a:extLst>
                  <a:ext uri="{FF2B5EF4-FFF2-40B4-BE49-F238E27FC236}">
                    <a16:creationId xmlns:a16="http://schemas.microsoft.com/office/drawing/2014/main" id="{459763E7-0EC6-4D23-A041-FFF44A4480ED}"/>
                  </a:ext>
                </a:extLst>
              </p:cNvPr>
              <p:cNvSpPr/>
              <p:nvPr/>
            </p:nvSpPr>
            <p:spPr bwMode="auto">
              <a:xfrm>
                <a:off x="154382" y="1936501"/>
                <a:ext cx="165081" cy="647624"/>
              </a:xfrm>
              <a:prstGeom prst="rect">
                <a:avLst/>
              </a:prstGeom>
              <a:noFill/>
              <a:ln w="28575" cap="flat" cmpd="sng" algn="ctr">
                <a:solidFill>
                  <a:schemeClr val="accent1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lIns="0" tIns="0" rIns="0" bIns="0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19" name="TextBox 21">
                <a:extLst>
                  <a:ext uri="{FF2B5EF4-FFF2-40B4-BE49-F238E27FC236}">
                    <a16:creationId xmlns:a16="http://schemas.microsoft.com/office/drawing/2014/main" id="{A16D7972-823A-0AE6-19B4-32CAAA5CE4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749501" y="2762001"/>
                <a:ext cx="781235" cy="4001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1pPr>
                <a:lvl2pPr marL="742950" indent="-28575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2pPr>
                <a:lvl3pPr marL="1143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3pPr>
                <a:lvl4pPr marL="1600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4pPr>
                <a:lvl5pPr marL="20574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5pPr>
                <a:lvl6pPr marL="25146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6pPr>
                <a:lvl7pPr marL="29718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7pPr>
                <a:lvl8pPr marL="34290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8pPr>
                <a:lvl9pPr marL="38862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9pPr>
              </a:lstStyle>
              <a:p>
                <a:r>
                  <a:rPr lang="en-US" altLang="en-US" sz="2000" b="1" dirty="0">
                    <a:solidFill>
                      <a:srgbClr val="FF0000"/>
                    </a:solidFill>
                  </a:rPr>
                  <a:t>View</a:t>
                </a:r>
              </a:p>
            </p:txBody>
          </p:sp>
          <p:sp>
            <p:nvSpPr>
              <p:cNvPr id="20" name="Rectangle 7">
                <a:extLst>
                  <a:ext uri="{FF2B5EF4-FFF2-40B4-BE49-F238E27FC236}">
                    <a16:creationId xmlns:a16="http://schemas.microsoft.com/office/drawing/2014/main" id="{FFBAD0D4-FD0B-6564-1D2F-B4976E9446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619" y="2651760"/>
                <a:ext cx="164977" cy="620594"/>
              </a:xfrm>
              <a:prstGeom prst="rect">
                <a:avLst/>
              </a:prstGeom>
              <a:noFill/>
              <a:ln w="28575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1pPr>
                <a:lvl2pPr marL="742950" indent="-28575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2pPr>
                <a:lvl3pPr marL="1143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3pPr>
                <a:lvl4pPr marL="1600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4pPr>
                <a:lvl5pPr marL="20574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5pPr>
                <a:lvl6pPr marL="25146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6pPr>
                <a:lvl7pPr marL="29718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7pPr>
                <a:lvl8pPr marL="34290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8pPr>
                <a:lvl9pPr marL="38862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1" name="Rectangle 8">
                <a:extLst>
                  <a:ext uri="{FF2B5EF4-FFF2-40B4-BE49-F238E27FC236}">
                    <a16:creationId xmlns:a16="http://schemas.microsoft.com/office/drawing/2014/main" id="{96AF2E03-EF05-495E-B023-5057C4F3043C}"/>
                  </a:ext>
                </a:extLst>
              </p:cNvPr>
              <p:cNvSpPr/>
              <p:nvPr/>
            </p:nvSpPr>
            <p:spPr bwMode="auto">
              <a:xfrm>
                <a:off x="111524" y="3273019"/>
                <a:ext cx="207938" cy="979374"/>
              </a:xfrm>
              <a:prstGeom prst="rect">
                <a:avLst/>
              </a:prstGeom>
              <a:noFill/>
              <a:ln w="28575" cap="flat" cmpd="sng" algn="ctr">
                <a:solidFill>
                  <a:schemeClr val="accent1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lIns="0" tIns="0" rIns="0" bIns="0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22" name="TextBox 24">
                <a:extLst>
                  <a:ext uri="{FF2B5EF4-FFF2-40B4-BE49-F238E27FC236}">
                    <a16:creationId xmlns:a16="http://schemas.microsoft.com/office/drawing/2014/main" id="{4F38AFE8-51D8-47B2-8490-7279A8D7D2E1}"/>
                  </a:ext>
                </a:extLst>
              </p:cNvPr>
              <p:cNvSpPr txBox="1"/>
              <p:nvPr/>
            </p:nvSpPr>
            <p:spPr>
              <a:xfrm>
                <a:off x="-1220463" y="3483651"/>
                <a:ext cx="1846044" cy="459495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9pPr>
              </a:lstStyle>
              <a:p>
                <a:pPr>
                  <a:defRPr/>
                </a:pPr>
                <a:r>
                  <a:rPr lang="en-US" sz="2000" b="1" dirty="0">
                    <a:solidFill>
                      <a:srgbClr val="255C9C"/>
                    </a:solidFill>
                  </a:rPr>
                  <a:t>Alignment</a:t>
                </a:r>
              </a:p>
            </p:txBody>
          </p:sp>
          <p:sp>
            <p:nvSpPr>
              <p:cNvPr id="23" name="TextBox 25">
                <a:extLst>
                  <a:ext uri="{FF2B5EF4-FFF2-40B4-BE49-F238E27FC236}">
                    <a16:creationId xmlns:a16="http://schemas.microsoft.com/office/drawing/2014/main" id="{ECCA3291-0781-D46C-235D-3C1B359A54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4012" y="1456472"/>
                <a:ext cx="1426013" cy="8129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1pPr>
                <a:lvl2pPr marL="742950" indent="-28575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2pPr>
                <a:lvl3pPr marL="1143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3pPr>
                <a:lvl4pPr marL="1600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4pPr>
                <a:lvl5pPr marL="20574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5pPr>
                <a:lvl6pPr marL="25146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6pPr>
                <a:lvl7pPr marL="29718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7pPr>
                <a:lvl8pPr marL="34290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8pPr>
                <a:lvl9pPr marL="38862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9pPr>
              </a:lstStyle>
              <a:p>
                <a:r>
                  <a:rPr lang="en-US" altLang="en-US" sz="2000" b="1" dirty="0">
                    <a:solidFill>
                      <a:srgbClr val="255C9C"/>
                    </a:solidFill>
                  </a:rPr>
                  <a:t>Object </a:t>
                </a:r>
                <a:r>
                  <a:rPr lang="en-US" altLang="zh-CN" sz="2000" b="1" dirty="0">
                    <a:solidFill>
                      <a:srgbClr val="255C9C"/>
                    </a:solidFill>
                  </a:rPr>
                  <a:t>Tree</a:t>
                </a:r>
                <a:endParaRPr lang="en-US" altLang="en-US" sz="2000" b="1" dirty="0">
                  <a:solidFill>
                    <a:srgbClr val="255C9C"/>
                  </a:solidFill>
                </a:endParaRPr>
              </a:p>
            </p:txBody>
          </p:sp>
          <p:sp>
            <p:nvSpPr>
              <p:cNvPr id="24" name="TextBox 27">
                <a:extLst>
                  <a:ext uri="{FF2B5EF4-FFF2-40B4-BE49-F238E27FC236}">
                    <a16:creationId xmlns:a16="http://schemas.microsoft.com/office/drawing/2014/main" id="{F7A6005F-F724-446C-9848-BFB1F31B567B}"/>
                  </a:ext>
                </a:extLst>
              </p:cNvPr>
              <p:cNvSpPr txBox="1"/>
              <p:nvPr/>
            </p:nvSpPr>
            <p:spPr>
              <a:xfrm>
                <a:off x="2444081" y="1253988"/>
                <a:ext cx="1541280" cy="459495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9pPr>
              </a:lstStyle>
              <a:p>
                <a:pPr>
                  <a:defRPr/>
                </a:pPr>
                <a:r>
                  <a:rPr lang="en-US" sz="2000" b="1" dirty="0">
                    <a:solidFill>
                      <a:srgbClr val="FFFF00"/>
                    </a:solidFill>
                  </a:rPr>
                  <a:t>Alignment</a:t>
                </a:r>
              </a:p>
            </p:txBody>
          </p:sp>
        </p:grpSp>
        <p:sp>
          <p:nvSpPr>
            <p:cNvPr id="8" name="Rectangle 11">
              <a:extLst>
                <a:ext uri="{FF2B5EF4-FFF2-40B4-BE49-F238E27FC236}">
                  <a16:creationId xmlns:a16="http://schemas.microsoft.com/office/drawing/2014/main" id="{5F13D3FF-02DB-CF4B-CB48-B5A5AB1F4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4850" y="790113"/>
              <a:ext cx="630315" cy="309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1pPr>
              <a:lvl2pPr marL="742950" indent="-28575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2pPr>
              <a:lvl3pPr marL="1143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3pPr>
              <a:lvl4pPr marL="1600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4pPr>
              <a:lvl5pPr marL="20574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5pPr>
              <a:lvl6pPr marL="25146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6pPr>
              <a:lvl7pPr marL="29718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7pPr>
              <a:lvl8pPr marL="34290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8pPr>
              <a:lvl9pPr marL="38862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" name="Rectangle 12">
              <a:extLst>
                <a:ext uri="{FF2B5EF4-FFF2-40B4-BE49-F238E27FC236}">
                  <a16:creationId xmlns:a16="http://schemas.microsoft.com/office/drawing/2014/main" id="{7AA842B8-9F90-4B25-93EB-3379C7753623}"/>
                </a:ext>
              </a:extLst>
            </p:cNvPr>
            <p:cNvSpPr/>
            <p:nvPr/>
          </p:nvSpPr>
          <p:spPr bwMode="auto">
            <a:xfrm>
              <a:off x="3975044" y="763476"/>
              <a:ext cx="780958" cy="309526"/>
            </a:xfrm>
            <a:prstGeom prst="rect">
              <a:avLst/>
            </a:prstGeom>
            <a:noFill/>
            <a:ln w="28575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9pPr>
            </a:lstStyle>
            <a:p>
              <a:pPr>
                <a:defRPr/>
              </a:pPr>
              <a:endParaRPr lang="en-US"/>
            </a:p>
          </p:txBody>
        </p:sp>
        <p:sp>
          <p:nvSpPr>
            <p:cNvPr id="10" name="TextBox 32">
              <a:extLst>
                <a:ext uri="{FF2B5EF4-FFF2-40B4-BE49-F238E27FC236}">
                  <a16:creationId xmlns:a16="http://schemas.microsoft.com/office/drawing/2014/main" id="{B18FB7C8-2908-40F6-B6AD-6AE0E80E3DA3}"/>
                </a:ext>
              </a:extLst>
            </p:cNvPr>
            <p:cNvSpPr txBox="1"/>
            <p:nvPr/>
          </p:nvSpPr>
          <p:spPr>
            <a:xfrm>
              <a:off x="3985362" y="304743"/>
              <a:ext cx="1541280" cy="459495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1pPr>
              <a:lvl2pPr marL="742950" indent="-28575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2pPr>
              <a:lvl3pPr marL="1143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3pPr>
              <a:lvl4pPr marL="1600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4pPr>
              <a:lvl5pPr marL="20574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5pPr>
              <a:lvl6pPr marL="25146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6pPr>
              <a:lvl7pPr marL="29718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7pPr>
              <a:lvl8pPr marL="34290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8pPr>
              <a:lvl9pPr marL="38862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9pPr>
            </a:lstStyle>
            <a:p>
              <a:r>
                <a:rPr lang="en-US" altLang="zh-CN" sz="2000" b="1" dirty="0">
                  <a:solidFill>
                    <a:srgbClr val="255C9C"/>
                  </a:solidFill>
                </a:rPr>
                <a:t>Simulation</a:t>
              </a:r>
            </a:p>
          </p:txBody>
        </p:sp>
        <p:sp>
          <p:nvSpPr>
            <p:cNvPr id="11" name="TextBox 33">
              <a:extLst>
                <a:ext uri="{FF2B5EF4-FFF2-40B4-BE49-F238E27FC236}">
                  <a16:creationId xmlns:a16="http://schemas.microsoft.com/office/drawing/2014/main" id="{92F537DB-4C6D-4DD2-9777-E44DA1CFF1B8}"/>
                </a:ext>
              </a:extLst>
            </p:cNvPr>
            <p:cNvSpPr txBox="1"/>
            <p:nvPr/>
          </p:nvSpPr>
          <p:spPr>
            <a:xfrm>
              <a:off x="8099203" y="1456472"/>
              <a:ext cx="1619059" cy="812954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1pPr>
              <a:lvl2pPr marL="742950" indent="-28575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2pPr>
              <a:lvl3pPr marL="1143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3pPr>
              <a:lvl4pPr marL="1600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4pPr>
              <a:lvl5pPr marL="20574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5pPr>
              <a:lvl6pPr marL="25146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6pPr>
              <a:lvl7pPr marL="29718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7pPr>
              <a:lvl8pPr marL="34290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8pPr>
              <a:lvl9pPr marL="3886200" indent="-2286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PMingLiU" panose="02020500000000000000" pitchFamily="18" charset="-120"/>
                </a:defRPr>
              </a:lvl9pPr>
            </a:lstStyle>
            <a:p>
              <a:r>
                <a:rPr lang="en-US" altLang="zh-CN" sz="2000" b="1" dirty="0">
                  <a:solidFill>
                    <a:srgbClr val="255C9C"/>
                  </a:solidFill>
                </a:rPr>
                <a:t>Sweep and optimization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62157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40805-C71B-70F2-3D56-655B4977C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0E608B55-FCEC-5CA9-7725-08435356A880}"/>
              </a:ext>
            </a:extLst>
          </p:cNvPr>
          <p:cNvSpPr txBox="1">
            <a:spLocks/>
          </p:cNvSpPr>
          <p:nvPr/>
        </p:nvSpPr>
        <p:spPr>
          <a:xfrm>
            <a:off x="1524000" y="75088"/>
            <a:ext cx="9144000" cy="43854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Computational electromagnetics-FDTD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55B812A1-BFB7-D029-6E07-3059DD8037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3" y="886619"/>
            <a:ext cx="55578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514350" indent="-51435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9pPr>
          </a:lstStyle>
          <a:p>
            <a:pPr marL="0" indent="0"/>
            <a:r>
              <a:rPr lang="en-US" altLang="en-US" sz="2400" dirty="0"/>
              <a:t>Workflow of building simulation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2FD1E830-664D-4C59-2701-C55557CF24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8550" y="1402077"/>
            <a:ext cx="7454900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9pPr>
          </a:lstStyle>
          <a:p>
            <a:r>
              <a:rPr lang="en-US" altLang="en-US" sz="2000" dirty="0"/>
              <a:t>Step 1: define your structures and materials</a:t>
            </a:r>
          </a:p>
          <a:p>
            <a:r>
              <a:rPr lang="en-US" altLang="en-US" sz="2000" dirty="0"/>
              <a:t>Step 2: define your simulation regions, boundary conditions and mesh</a:t>
            </a:r>
          </a:p>
          <a:p>
            <a:r>
              <a:rPr lang="en-US" altLang="en-US" sz="2000" dirty="0"/>
              <a:t>Step 3: define your source</a:t>
            </a:r>
          </a:p>
          <a:p>
            <a:r>
              <a:rPr lang="en-US" altLang="en-US" sz="2000" dirty="0"/>
              <a:t>Step 4: define the monitor you are interested</a:t>
            </a:r>
          </a:p>
          <a:p>
            <a:r>
              <a:rPr lang="en-US" altLang="en-US" sz="2000" dirty="0"/>
              <a:t>Step 5: check your simulation and run it</a:t>
            </a:r>
          </a:p>
          <a:p>
            <a:r>
              <a:rPr lang="en-US" altLang="en-US" sz="2000" dirty="0"/>
              <a:t>Step 6: result analysis</a:t>
            </a:r>
          </a:p>
        </p:txBody>
      </p:sp>
      <p:grpSp>
        <p:nvGrpSpPr>
          <p:cNvPr id="5" name="Group 19">
            <a:extLst>
              <a:ext uri="{FF2B5EF4-FFF2-40B4-BE49-F238E27FC236}">
                <a16:creationId xmlns:a16="http://schemas.microsoft.com/office/drawing/2014/main" id="{FA7563E6-91C7-69A4-A133-F1C4F5BBFED2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3429000"/>
            <a:ext cx="8553452" cy="3076572"/>
            <a:chOff x="288079" y="2967077"/>
            <a:chExt cx="8552989" cy="3076243"/>
          </a:xfrm>
        </p:grpSpPr>
        <p:pic>
          <p:nvPicPr>
            <p:cNvPr id="6" name="Picture 11">
              <a:extLst>
                <a:ext uri="{FF2B5EF4-FFF2-40B4-BE49-F238E27FC236}">
                  <a16:creationId xmlns:a16="http://schemas.microsoft.com/office/drawing/2014/main" id="{80CF917D-4E62-DA1A-8F30-386BFBC48C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7543" y="3374669"/>
              <a:ext cx="1533525" cy="485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7" name="Group 10">
              <a:extLst>
                <a:ext uri="{FF2B5EF4-FFF2-40B4-BE49-F238E27FC236}">
                  <a16:creationId xmlns:a16="http://schemas.microsoft.com/office/drawing/2014/main" id="{834394E3-89B7-2BBF-5F9F-882529E39C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79" y="2967077"/>
              <a:ext cx="8552989" cy="3076243"/>
              <a:chOff x="1065319" y="3062010"/>
              <a:chExt cx="8552989" cy="3076243"/>
            </a:xfrm>
          </p:grpSpPr>
          <p:pic>
            <p:nvPicPr>
              <p:cNvPr id="9" name="Picture 2">
                <a:extLst>
                  <a:ext uri="{FF2B5EF4-FFF2-40B4-BE49-F238E27FC236}">
                    <a16:creationId xmlns:a16="http://schemas.microsoft.com/office/drawing/2014/main" id="{326F0ED8-202D-F9D2-84E1-6E6902BE20F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5319" y="3495795"/>
                <a:ext cx="6972300" cy="485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" name="Rectangle 3">
                <a:extLst>
                  <a:ext uri="{FF2B5EF4-FFF2-40B4-BE49-F238E27FC236}">
                    <a16:creationId xmlns:a16="http://schemas.microsoft.com/office/drawing/2014/main" id="{D1BAF3D3-444F-7D9F-B9CF-7BEB96CAFA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5319" y="3495795"/>
                <a:ext cx="3462292" cy="485775"/>
              </a:xfrm>
              <a:prstGeom prst="rect">
                <a:avLst/>
              </a:prstGeom>
              <a:noFill/>
              <a:ln w="1905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1pPr>
                <a:lvl2pPr marL="742950" indent="-28575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2pPr>
                <a:lvl3pPr marL="1143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3pPr>
                <a:lvl4pPr marL="1600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4pPr>
                <a:lvl5pPr marL="20574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5pPr>
                <a:lvl6pPr marL="25146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6pPr>
                <a:lvl7pPr marL="29718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7pPr>
                <a:lvl8pPr marL="34290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8pPr>
                <a:lvl9pPr marL="38862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1" name="TextBox 6">
                <a:extLst>
                  <a:ext uri="{FF2B5EF4-FFF2-40B4-BE49-F238E27FC236}">
                    <a16:creationId xmlns:a16="http://schemas.microsoft.com/office/drawing/2014/main" id="{022963A9-6E63-398E-5969-E7B1CDB0E3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1410" y="3062010"/>
                <a:ext cx="122955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1pPr>
                <a:lvl2pPr marL="742950" indent="-28575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2pPr>
                <a:lvl3pPr marL="1143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3pPr>
                <a:lvl4pPr marL="1600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4pPr>
                <a:lvl5pPr marL="20574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5pPr>
                <a:lvl6pPr marL="25146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6pPr>
                <a:lvl7pPr marL="29718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7pPr>
                <a:lvl8pPr marL="34290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8pPr>
                <a:lvl9pPr marL="38862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9pPr>
              </a:lstStyle>
              <a:p>
                <a:r>
                  <a:rPr lang="en-US" altLang="en-US" sz="1800" b="1">
                    <a:solidFill>
                      <a:srgbClr val="FF0000"/>
                    </a:solidFill>
                  </a:rPr>
                  <a:t>Step 1</a:t>
                </a:r>
              </a:p>
            </p:txBody>
          </p:sp>
          <p:pic>
            <p:nvPicPr>
              <p:cNvPr id="12" name="Picture 7">
                <a:extLst>
                  <a:ext uri="{FF2B5EF4-FFF2-40B4-BE49-F238E27FC236}">
                    <a16:creationId xmlns:a16="http://schemas.microsoft.com/office/drawing/2014/main" id="{7A2C57F5-F99A-0ACD-6A78-8E099EA53C5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0847" y="4046023"/>
                <a:ext cx="800564" cy="2092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" name="Picture 8">
                <a:extLst>
                  <a:ext uri="{FF2B5EF4-FFF2-40B4-BE49-F238E27FC236}">
                    <a16:creationId xmlns:a16="http://schemas.microsoft.com/office/drawing/2014/main" id="{FEDE3508-A6B3-E1C6-1C01-780B9392DD5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051" t="3981" r="88911" b="75507"/>
              <a:stretch>
                <a:fillRect/>
              </a:stretch>
            </p:blipFill>
            <p:spPr bwMode="auto">
              <a:xfrm>
                <a:off x="2796465" y="4046023"/>
                <a:ext cx="746009" cy="10657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" name="Picture 9">
                <a:extLst>
                  <a:ext uri="{FF2B5EF4-FFF2-40B4-BE49-F238E27FC236}">
                    <a16:creationId xmlns:a16="http://schemas.microsoft.com/office/drawing/2014/main" id="{4E60A683-F35D-19C1-3246-F94D5F08507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30968" y="4033323"/>
                <a:ext cx="896644" cy="819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" name="Rectangle 13">
                <a:extLst>
                  <a:ext uri="{FF2B5EF4-FFF2-40B4-BE49-F238E27FC236}">
                    <a16:creationId xmlns:a16="http://schemas.microsoft.com/office/drawing/2014/main" id="{809FAACB-7054-4773-F9D9-E6B25975C7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7611" y="3495794"/>
                <a:ext cx="653989" cy="485775"/>
              </a:xfrm>
              <a:prstGeom prst="rect">
                <a:avLst/>
              </a:prstGeom>
              <a:noFill/>
              <a:ln w="1905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1pPr>
                <a:lvl2pPr marL="742950" indent="-28575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2pPr>
                <a:lvl3pPr marL="1143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3pPr>
                <a:lvl4pPr marL="1600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4pPr>
                <a:lvl5pPr marL="20574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5pPr>
                <a:lvl6pPr marL="25146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6pPr>
                <a:lvl7pPr marL="29718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7pPr>
                <a:lvl8pPr marL="34290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8pPr>
                <a:lvl9pPr marL="38862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6" name="TextBox 14">
                <a:extLst>
                  <a:ext uri="{FF2B5EF4-FFF2-40B4-BE49-F238E27FC236}">
                    <a16:creationId xmlns:a16="http://schemas.microsoft.com/office/drawing/2014/main" id="{7EE4AAFC-C19D-2B29-809A-32E0AF00E8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39760" y="3062010"/>
                <a:ext cx="86375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1pPr>
                <a:lvl2pPr marL="742950" indent="-28575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2pPr>
                <a:lvl3pPr marL="1143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3pPr>
                <a:lvl4pPr marL="1600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4pPr>
                <a:lvl5pPr marL="20574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5pPr>
                <a:lvl6pPr marL="25146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6pPr>
                <a:lvl7pPr marL="29718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7pPr>
                <a:lvl8pPr marL="34290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8pPr>
                <a:lvl9pPr marL="38862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9pPr>
              </a:lstStyle>
              <a:p>
                <a:r>
                  <a:rPr lang="en-US" altLang="en-US" sz="1800" b="1">
                    <a:solidFill>
                      <a:srgbClr val="FF0000"/>
                    </a:solidFill>
                  </a:rPr>
                  <a:t>Step 2</a:t>
                </a:r>
              </a:p>
            </p:txBody>
          </p:sp>
          <p:sp>
            <p:nvSpPr>
              <p:cNvPr id="17" name="TextBox 15">
                <a:extLst>
                  <a:ext uri="{FF2B5EF4-FFF2-40B4-BE49-F238E27FC236}">
                    <a16:creationId xmlns:a16="http://schemas.microsoft.com/office/drawing/2014/main" id="{C8EFE23C-8E66-5742-0E7A-B06073921D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95280" y="3062010"/>
                <a:ext cx="86375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1pPr>
                <a:lvl2pPr marL="742950" indent="-28575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2pPr>
                <a:lvl3pPr marL="1143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3pPr>
                <a:lvl4pPr marL="1600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4pPr>
                <a:lvl5pPr marL="20574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5pPr>
                <a:lvl6pPr marL="25146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6pPr>
                <a:lvl7pPr marL="29718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7pPr>
                <a:lvl8pPr marL="34290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8pPr>
                <a:lvl9pPr marL="38862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9pPr>
              </a:lstStyle>
              <a:p>
                <a:r>
                  <a:rPr lang="en-US" altLang="en-US" sz="1800" b="1">
                    <a:solidFill>
                      <a:srgbClr val="FF0000"/>
                    </a:solidFill>
                  </a:rPr>
                  <a:t>Step 3</a:t>
                </a:r>
              </a:p>
            </p:txBody>
          </p:sp>
          <p:sp>
            <p:nvSpPr>
              <p:cNvPr id="18" name="Rectangle 16">
                <a:extLst>
                  <a:ext uri="{FF2B5EF4-FFF2-40B4-BE49-F238E27FC236}">
                    <a16:creationId xmlns:a16="http://schemas.microsoft.com/office/drawing/2014/main" id="{2CC5D1C5-AF99-DD0F-D3DC-1CEB478BA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2171" y="3495794"/>
                <a:ext cx="653989" cy="485775"/>
              </a:xfrm>
              <a:prstGeom prst="rect">
                <a:avLst/>
              </a:prstGeom>
              <a:noFill/>
              <a:ln w="1905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1pPr>
                <a:lvl2pPr marL="742950" indent="-28575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2pPr>
                <a:lvl3pPr marL="1143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3pPr>
                <a:lvl4pPr marL="1600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4pPr>
                <a:lvl5pPr marL="20574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5pPr>
                <a:lvl6pPr marL="25146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6pPr>
                <a:lvl7pPr marL="29718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7pPr>
                <a:lvl8pPr marL="34290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8pPr>
                <a:lvl9pPr marL="38862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9" name="Rectangle 17">
                <a:extLst>
                  <a:ext uri="{FF2B5EF4-FFF2-40B4-BE49-F238E27FC236}">
                    <a16:creationId xmlns:a16="http://schemas.microsoft.com/office/drawing/2014/main" id="{9A8991B7-1D61-45F7-ABC2-E63525E327E3}"/>
                  </a:ext>
                </a:extLst>
              </p:cNvPr>
              <p:cNvSpPr/>
              <p:nvPr/>
            </p:nvSpPr>
            <p:spPr bwMode="auto">
              <a:xfrm>
                <a:off x="7392753" y="3495350"/>
                <a:ext cx="654015" cy="485723"/>
              </a:xfrm>
              <a:prstGeom prst="rect">
                <a:avLst/>
              </a:prstGeom>
              <a:noFill/>
              <a:ln w="19050" cap="flat" cmpd="sng" algn="ctr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lIns="0" tIns="0" rIns="0" bIns="0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20" name="Rectangle 22">
                <a:extLst>
                  <a:ext uri="{FF2B5EF4-FFF2-40B4-BE49-F238E27FC236}">
                    <a16:creationId xmlns:a16="http://schemas.microsoft.com/office/drawing/2014/main" id="{86892304-926D-FE01-B4AD-9EEAC40E7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7111" y="3495794"/>
                <a:ext cx="1471197" cy="485775"/>
              </a:xfrm>
              <a:prstGeom prst="rect">
                <a:avLst/>
              </a:prstGeom>
              <a:noFill/>
              <a:ln w="1905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1pPr>
                <a:lvl2pPr marL="742950" indent="-28575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2pPr>
                <a:lvl3pPr marL="1143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3pPr>
                <a:lvl4pPr marL="1600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4pPr>
                <a:lvl5pPr marL="20574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5pPr>
                <a:lvl6pPr marL="25146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6pPr>
                <a:lvl7pPr marL="29718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7pPr>
                <a:lvl8pPr marL="34290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8pPr>
                <a:lvl9pPr marL="38862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1" name="TextBox 23">
                <a:extLst>
                  <a:ext uri="{FF2B5EF4-FFF2-40B4-BE49-F238E27FC236}">
                    <a16:creationId xmlns:a16="http://schemas.microsoft.com/office/drawing/2014/main" id="{B247F8C7-8E97-442D-8F7B-11D7A970BEB0}"/>
                  </a:ext>
                </a:extLst>
              </p:cNvPr>
              <p:cNvSpPr txBox="1"/>
              <p:nvPr/>
            </p:nvSpPr>
            <p:spPr>
              <a:xfrm>
                <a:off x="7343543" y="3062010"/>
                <a:ext cx="863553" cy="3698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9pPr>
              </a:lstStyle>
              <a:p>
                <a:pPr>
                  <a:defRPr/>
                </a:pPr>
                <a:r>
                  <a:rPr lang="en-US" sz="1800" b="1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Step 4</a:t>
                </a:r>
              </a:p>
            </p:txBody>
          </p:sp>
          <p:sp>
            <p:nvSpPr>
              <p:cNvPr id="22" name="Rectangle 24">
                <a:extLst>
                  <a:ext uri="{FF2B5EF4-FFF2-40B4-BE49-F238E27FC236}">
                    <a16:creationId xmlns:a16="http://schemas.microsoft.com/office/drawing/2014/main" id="{D17B3C96-3481-4F14-BC23-1D9C4D6DFD2A}"/>
                  </a:ext>
                </a:extLst>
              </p:cNvPr>
              <p:cNvSpPr/>
              <p:nvPr/>
            </p:nvSpPr>
            <p:spPr bwMode="auto">
              <a:xfrm>
                <a:off x="5198946" y="3495350"/>
                <a:ext cx="652427" cy="485723"/>
              </a:xfrm>
              <a:prstGeom prst="rect">
                <a:avLst/>
              </a:prstGeom>
              <a:noFill/>
              <a:ln w="19050" cap="flat" cmpd="sng" algn="ctr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lIns="0" tIns="0" rIns="0" bIns="0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9pPr>
              </a:lstStyle>
              <a:p>
                <a:pPr>
                  <a:defRPr/>
                </a:pPr>
                <a:endParaRPr lang="en-US"/>
              </a:p>
            </p:txBody>
          </p:sp>
          <p:sp>
            <p:nvSpPr>
              <p:cNvPr id="23" name="TextBox 25">
                <a:extLst>
                  <a:ext uri="{FF2B5EF4-FFF2-40B4-BE49-F238E27FC236}">
                    <a16:creationId xmlns:a16="http://schemas.microsoft.com/office/drawing/2014/main" id="{61A77D05-252B-42C3-9BD2-87523087F66C}"/>
                  </a:ext>
                </a:extLst>
              </p:cNvPr>
              <p:cNvSpPr txBox="1"/>
              <p:nvPr/>
            </p:nvSpPr>
            <p:spPr>
              <a:xfrm>
                <a:off x="5178309" y="3062010"/>
                <a:ext cx="865141" cy="3698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9pPr>
              </a:lstStyle>
              <a:p>
                <a:pPr>
                  <a:defRPr/>
                </a:pPr>
                <a:r>
                  <a:rPr lang="en-US" sz="1800" b="1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Step 4</a:t>
                </a:r>
              </a:p>
            </p:txBody>
          </p:sp>
          <p:sp>
            <p:nvSpPr>
              <p:cNvPr id="24" name="TextBox 26">
                <a:extLst>
                  <a:ext uri="{FF2B5EF4-FFF2-40B4-BE49-F238E27FC236}">
                    <a16:creationId xmlns:a16="http://schemas.microsoft.com/office/drawing/2014/main" id="{16184101-D0E0-1153-DF8A-CC54BCE2CF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30760" y="3062010"/>
                <a:ext cx="86375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1pPr>
                <a:lvl2pPr marL="742950" indent="-28575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2pPr>
                <a:lvl3pPr marL="1143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3pPr>
                <a:lvl4pPr marL="1600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4pPr>
                <a:lvl5pPr marL="20574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5pPr>
                <a:lvl6pPr marL="25146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6pPr>
                <a:lvl7pPr marL="29718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7pPr>
                <a:lvl8pPr marL="34290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8pPr>
                <a:lvl9pPr marL="38862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9pPr>
              </a:lstStyle>
              <a:p>
                <a:r>
                  <a:rPr lang="en-US" altLang="en-US" sz="1800" b="1">
                    <a:solidFill>
                      <a:srgbClr val="FF0000"/>
                    </a:solidFill>
                  </a:rPr>
                  <a:t>Step 5</a:t>
                </a:r>
              </a:p>
            </p:txBody>
          </p:sp>
          <p:sp>
            <p:nvSpPr>
              <p:cNvPr id="25" name="Rectangle 28">
                <a:extLst>
                  <a:ext uri="{FF2B5EF4-FFF2-40B4-BE49-F238E27FC236}">
                    <a16:creationId xmlns:a16="http://schemas.microsoft.com/office/drawing/2014/main" id="{6AFB70AA-3E66-CCD9-A67E-7BC1B25A3E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62126" y="4578886"/>
                <a:ext cx="2974247" cy="1315482"/>
              </a:xfrm>
              <a:prstGeom prst="rect">
                <a:avLst/>
              </a:prstGeom>
              <a:noFill/>
              <a:ln w="1905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1pPr>
                <a:lvl2pPr marL="742950" indent="-28575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2pPr>
                <a:lvl3pPr marL="1143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3pPr>
                <a:lvl4pPr marL="1600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4pPr>
                <a:lvl5pPr marL="20574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5pPr>
                <a:lvl6pPr marL="25146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6pPr>
                <a:lvl7pPr marL="29718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7pPr>
                <a:lvl8pPr marL="34290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8pPr>
                <a:lvl9pPr marL="38862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6" name="TextBox 29">
                <a:extLst>
                  <a:ext uri="{FF2B5EF4-FFF2-40B4-BE49-F238E27FC236}">
                    <a16:creationId xmlns:a16="http://schemas.microsoft.com/office/drawing/2014/main" id="{E39F2406-05FB-EB4C-AB7D-BF1935640A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47264" y="4235567"/>
                <a:ext cx="86375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1pPr>
                <a:lvl2pPr marL="742950" indent="-28575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2pPr>
                <a:lvl3pPr marL="1143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3pPr>
                <a:lvl4pPr marL="1600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4pPr>
                <a:lvl5pPr marL="20574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5pPr>
                <a:lvl6pPr marL="25146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6pPr>
                <a:lvl7pPr marL="29718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7pPr>
                <a:lvl8pPr marL="34290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8pPr>
                <a:lvl9pPr marL="3886200" indent="-22860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PMingLiU" panose="02020500000000000000" pitchFamily="18" charset="-120"/>
                    <a:cs typeface="PMingLiU" panose="02020500000000000000" pitchFamily="18" charset="-120"/>
                  </a:defRPr>
                </a:lvl9pPr>
              </a:lstStyle>
              <a:p>
                <a:r>
                  <a:rPr lang="en-US" altLang="en-US" sz="1800" b="1">
                    <a:solidFill>
                      <a:srgbClr val="FF0000"/>
                    </a:solidFill>
                  </a:rPr>
                  <a:t>Step 6</a:t>
                </a:r>
              </a:p>
            </p:txBody>
          </p:sp>
        </p:grpSp>
        <p:pic>
          <p:nvPicPr>
            <p:cNvPr id="8" name="Picture 12">
              <a:extLst>
                <a:ext uri="{FF2B5EF4-FFF2-40B4-BE49-F238E27FC236}">
                  <a16:creationId xmlns:a16="http://schemas.microsoft.com/office/drawing/2014/main" id="{B30CA850-14ED-B211-9F22-9C114E2F15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87333" y="4492883"/>
              <a:ext cx="2971800" cy="12016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521370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0BB86-1BE0-445C-996D-5EDD5D3FA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1A3B5949-4D02-AF0B-3292-4A1DFDC1B7E4}"/>
              </a:ext>
            </a:extLst>
          </p:cNvPr>
          <p:cNvSpPr txBox="1">
            <a:spLocks/>
          </p:cNvSpPr>
          <p:nvPr/>
        </p:nvSpPr>
        <p:spPr>
          <a:xfrm>
            <a:off x="1524000" y="75088"/>
            <a:ext cx="9144000" cy="43854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Computational electromagnetics-FDTD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7BE8CA6-71D5-3DFE-1E77-1D5A6B523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3" y="801952"/>
            <a:ext cx="55578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514350" indent="-51435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9pPr>
          </a:lstStyle>
          <a:p>
            <a:pPr marL="0" indent="0"/>
            <a:r>
              <a:rPr lang="en-US" altLang="en-US" sz="2400" dirty="0"/>
              <a:t>Case Study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8A3C34A-A21B-6398-54B8-9D2A33DC3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67" y="1485835"/>
            <a:ext cx="7789334" cy="223410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788C447-6A1B-E232-7A78-33D8BF796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866" y="3831797"/>
            <a:ext cx="3031067" cy="257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0965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49AD9-1B44-9475-6355-98CD2D1FB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8A51CD06-3C80-ACF2-1EE0-F9C5B13EA5DA}"/>
              </a:ext>
            </a:extLst>
          </p:cNvPr>
          <p:cNvSpPr txBox="1">
            <a:spLocks/>
          </p:cNvSpPr>
          <p:nvPr/>
        </p:nvSpPr>
        <p:spPr>
          <a:xfrm>
            <a:off x="1524000" y="75088"/>
            <a:ext cx="9144000" cy="43854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Computational electromagnetics-FDTD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2D227DCD-F39D-6704-CD1F-3347A4366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3" y="801952"/>
            <a:ext cx="738663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514350" indent="-51435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9pPr>
          </a:lstStyle>
          <a:p>
            <a:pPr marL="0" indent="0"/>
            <a:r>
              <a:rPr lang="en-US" altLang="en-US" sz="2400" dirty="0"/>
              <a:t>Case Study: </a:t>
            </a:r>
          </a:p>
          <a:p>
            <a:pPr marL="0" indent="0"/>
            <a:r>
              <a:rPr lang="en-US" altLang="en-US" sz="2400" dirty="0"/>
              <a:t>Step 1: define your structures and materials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4BD7F92-214A-3C65-1908-011F6E9D5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86" y="1907924"/>
            <a:ext cx="3031067" cy="257846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23A24FB-3CD4-95AC-55D6-92CFF129FF54}"/>
              </a:ext>
            </a:extLst>
          </p:cNvPr>
          <p:cNvSpPr txBox="1"/>
          <p:nvPr/>
        </p:nvSpPr>
        <p:spPr>
          <a:xfrm>
            <a:off x="57986" y="4486388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/>
              <a:t>Structures: width = 90 nm</a:t>
            </a:r>
          </a:p>
          <a:p>
            <a:r>
              <a:rPr lang="en-US" altLang="en-US" sz="2400" dirty="0"/>
              <a:t>			height = 20 nm</a:t>
            </a:r>
          </a:p>
          <a:p>
            <a:r>
              <a:rPr lang="en-US" altLang="en-US" sz="2400" dirty="0"/>
              <a:t>			period = 220 nm</a:t>
            </a:r>
          </a:p>
          <a:p>
            <a:r>
              <a:rPr lang="en-US" altLang="zh-CN" sz="2400" dirty="0"/>
              <a:t>Materials: Ag and SiO2</a:t>
            </a:r>
            <a:endParaRPr lang="zh-CN" altLang="en-US" sz="2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686B182-4A0F-40A8-4CB0-9C4823A23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584" y="2277256"/>
            <a:ext cx="1953247" cy="266712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D7138C9-3E53-9ADE-FA23-2A21C3D40A1B}"/>
              </a:ext>
            </a:extLst>
          </p:cNvPr>
          <p:cNvSpPr txBox="1"/>
          <p:nvPr/>
        </p:nvSpPr>
        <p:spPr>
          <a:xfrm>
            <a:off x="3497583" y="1907924"/>
            <a:ext cx="19886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schemeClr val="accent2">
                    <a:lumMod val="75000"/>
                  </a:schemeClr>
                </a:solidFill>
              </a:rPr>
              <a:t>1) Choose shape 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AA5C397-3CA2-A993-A55D-848E7CC9A82D}"/>
              </a:ext>
            </a:extLst>
          </p:cNvPr>
          <p:cNvSpPr txBox="1"/>
          <p:nvPr/>
        </p:nvSpPr>
        <p:spPr>
          <a:xfrm>
            <a:off x="5493637" y="1907923"/>
            <a:ext cx="25402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schemeClr val="accent2">
                    <a:lumMod val="75000"/>
                  </a:schemeClr>
                </a:solidFill>
              </a:rPr>
              <a:t>2) Define Geometries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001981A-3794-C063-3406-99FCC0CCC3D0}"/>
              </a:ext>
            </a:extLst>
          </p:cNvPr>
          <p:cNvSpPr txBox="1"/>
          <p:nvPr/>
        </p:nvSpPr>
        <p:spPr>
          <a:xfrm>
            <a:off x="8809994" y="1907923"/>
            <a:ext cx="22643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schemeClr val="accent2">
                    <a:lumMod val="75000"/>
                  </a:schemeClr>
                </a:solidFill>
              </a:rPr>
              <a:t>3) Define Material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169B3B0B-11F9-09F3-B15B-BB5FD1E5E2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3637" y="2277256"/>
            <a:ext cx="3316357" cy="263634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103C94DF-C76B-1954-12F1-4AEEA6CE4E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1243" y="2317191"/>
            <a:ext cx="3312771" cy="262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408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317A1-3B1D-570C-4F90-87987B841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69E50755-9520-39B5-81D0-20AF73263898}"/>
              </a:ext>
            </a:extLst>
          </p:cNvPr>
          <p:cNvSpPr txBox="1">
            <a:spLocks/>
          </p:cNvSpPr>
          <p:nvPr/>
        </p:nvSpPr>
        <p:spPr>
          <a:xfrm>
            <a:off x="1524000" y="75088"/>
            <a:ext cx="9144000" cy="43854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Computational electromagnetics-FDTD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B112CD2-C46B-8C73-238A-DAC66BB0E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3" y="801952"/>
            <a:ext cx="904610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514350" indent="-51435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9pPr>
          </a:lstStyle>
          <a:p>
            <a:pPr marL="0" indent="0"/>
            <a:r>
              <a:rPr lang="en-US" altLang="en-US" sz="2400" dirty="0"/>
              <a:t>Case Study:</a:t>
            </a:r>
          </a:p>
          <a:p>
            <a:pPr marL="0" indent="0"/>
            <a:r>
              <a:rPr lang="en-US" altLang="en-US" sz="2400" dirty="0"/>
              <a:t> Step 2: define your simulation regions, boundary conditions and mesh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F8AC660-A3EA-C23C-3817-5E9F67D09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151" y="1871638"/>
            <a:ext cx="1866049" cy="20721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ACEA751-5A8E-1DAE-1950-0226BD8877BA}"/>
              </a:ext>
            </a:extLst>
          </p:cNvPr>
          <p:cNvSpPr txBox="1"/>
          <p:nvPr/>
        </p:nvSpPr>
        <p:spPr>
          <a:xfrm>
            <a:off x="466517" y="1721211"/>
            <a:ext cx="19886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schemeClr val="accent2">
                    <a:lumMod val="75000"/>
                  </a:schemeClr>
                </a:solidFill>
              </a:rPr>
              <a:t>1) Add FDTD 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0830F86-8C64-5E44-1717-17157C4575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279"/>
          <a:stretch/>
        </p:blipFill>
        <p:spPr>
          <a:xfrm>
            <a:off x="101608" y="4094181"/>
            <a:ext cx="3310033" cy="158585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950551E-F152-A49B-98D4-75815D0130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1641" y="2084015"/>
            <a:ext cx="4449233" cy="2447078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44A17764-72EB-3606-A758-BA924BB389C1}"/>
              </a:ext>
            </a:extLst>
          </p:cNvPr>
          <p:cNvSpPr txBox="1"/>
          <p:nvPr/>
        </p:nvSpPr>
        <p:spPr>
          <a:xfrm>
            <a:off x="3343907" y="1684410"/>
            <a:ext cx="19886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schemeClr val="accent2">
                    <a:lumMod val="75000"/>
                  </a:schemeClr>
                </a:solidFill>
              </a:rPr>
              <a:t>2) Define regions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7BDF6EE-4567-1EE4-A376-313F0D6FC7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4013" y="2084015"/>
            <a:ext cx="4184120" cy="2595667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A0C7A1FA-C95C-F5A1-169A-0B9C181B3DFC}"/>
              </a:ext>
            </a:extLst>
          </p:cNvPr>
          <p:cNvSpPr txBox="1"/>
          <p:nvPr/>
        </p:nvSpPr>
        <p:spPr>
          <a:xfrm>
            <a:off x="7974013" y="1687189"/>
            <a:ext cx="35829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schemeClr val="accent2">
                    <a:lumMod val="75000"/>
                  </a:schemeClr>
                </a:solidFill>
              </a:rPr>
              <a:t>3) Define boundary conditions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A378DAA-33EC-A61E-70B1-43D41068C3D1}"/>
              </a:ext>
            </a:extLst>
          </p:cNvPr>
          <p:cNvSpPr txBox="1"/>
          <p:nvPr/>
        </p:nvSpPr>
        <p:spPr>
          <a:xfrm>
            <a:off x="3411641" y="4531093"/>
            <a:ext cx="35829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schemeClr val="accent2">
                    <a:lumMod val="75000"/>
                  </a:schemeClr>
                </a:solidFill>
              </a:rPr>
              <a:t>4) Define mesh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B6E455F8-9CEC-0297-7EE6-8848109CF6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1334" y="4891888"/>
            <a:ext cx="4038599" cy="171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5954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D3383-7131-9A9E-F58A-10761DE41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3AC73908-C44B-9AA0-13AE-4E72F0BA31B8}"/>
              </a:ext>
            </a:extLst>
          </p:cNvPr>
          <p:cNvSpPr txBox="1">
            <a:spLocks/>
          </p:cNvSpPr>
          <p:nvPr/>
        </p:nvSpPr>
        <p:spPr>
          <a:xfrm>
            <a:off x="1524000" y="75088"/>
            <a:ext cx="9144000" cy="43854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Computational electromagnetics-FDTD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A0B0DEB5-CE85-046E-BD42-9EDAA5689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3" y="801952"/>
            <a:ext cx="555783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514350" indent="-51435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9pPr>
          </a:lstStyle>
          <a:p>
            <a:pPr marL="0" indent="0"/>
            <a:r>
              <a:rPr lang="en-US" altLang="en-US" sz="2400" dirty="0"/>
              <a:t>Case Study</a:t>
            </a:r>
          </a:p>
          <a:p>
            <a:pPr marL="0" indent="0"/>
            <a:r>
              <a:rPr lang="en-US" altLang="en-US" sz="2400" dirty="0"/>
              <a:t>Step 3: define your source 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CAC61B8-C9D2-6F7F-23F2-11F1DCF03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56" y="2121321"/>
            <a:ext cx="2752725" cy="303847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C09E1C7-1DBD-3297-1B53-564930AF6CD7}"/>
              </a:ext>
            </a:extLst>
          </p:cNvPr>
          <p:cNvSpPr txBox="1"/>
          <p:nvPr/>
        </p:nvSpPr>
        <p:spPr>
          <a:xfrm>
            <a:off x="466517" y="1721211"/>
            <a:ext cx="19886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schemeClr val="accent2">
                    <a:lumMod val="75000"/>
                  </a:schemeClr>
                </a:solidFill>
              </a:rPr>
              <a:t>1) Add Source 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E80DE8C-FA45-8FA4-74F7-4E590311C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4921" y="2224228"/>
            <a:ext cx="3661210" cy="223770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70337382-5CCE-88B4-3076-CC399FB83B4D}"/>
              </a:ext>
            </a:extLst>
          </p:cNvPr>
          <p:cNvSpPr txBox="1"/>
          <p:nvPr/>
        </p:nvSpPr>
        <p:spPr>
          <a:xfrm>
            <a:off x="3317081" y="1718746"/>
            <a:ext cx="24148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schemeClr val="accent2">
                    <a:lumMod val="75000"/>
                  </a:schemeClr>
                </a:solidFill>
              </a:rPr>
              <a:t>2) Define geometries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F0D61C9-C486-FFE2-8335-9E802FC109B7}"/>
              </a:ext>
            </a:extLst>
          </p:cNvPr>
          <p:cNvSpPr txBox="1"/>
          <p:nvPr/>
        </p:nvSpPr>
        <p:spPr>
          <a:xfrm>
            <a:off x="7652015" y="1718746"/>
            <a:ext cx="24148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schemeClr val="accent2">
                    <a:lumMod val="75000"/>
                  </a:schemeClr>
                </a:solidFill>
              </a:rPr>
              <a:t>3) Define 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</a:rPr>
              <a:t>wavelength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6C5B81C3-7C04-B4B6-AB29-D3EA940F1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7482" y="2191660"/>
            <a:ext cx="3411690" cy="260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5161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B9013-6DC1-A1A6-1973-90BA16E90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B1510D80-15F7-70D8-6BA5-23F334F7DE88}"/>
              </a:ext>
            </a:extLst>
          </p:cNvPr>
          <p:cNvSpPr txBox="1">
            <a:spLocks/>
          </p:cNvSpPr>
          <p:nvPr/>
        </p:nvSpPr>
        <p:spPr>
          <a:xfrm>
            <a:off x="1524000" y="75088"/>
            <a:ext cx="9144000" cy="43854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Computational electromagnetics-FDTD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BFF688E-1A5A-AE02-782A-45BC902CD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3" y="801952"/>
            <a:ext cx="590497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514350" indent="-51435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9pPr>
          </a:lstStyle>
          <a:p>
            <a:pPr marL="0" indent="0"/>
            <a:r>
              <a:rPr lang="en-US" altLang="en-US" sz="2400" dirty="0"/>
              <a:t>Case Study:</a:t>
            </a:r>
          </a:p>
          <a:p>
            <a:pPr marL="0" indent="0"/>
            <a:r>
              <a:rPr lang="en-US" altLang="en-US" sz="2400" dirty="0"/>
              <a:t>Step 4: define the monitor you are interested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AFEACC9-3B3B-97F9-9A85-8C52783D0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6715" y="2179444"/>
            <a:ext cx="2667122" cy="1906811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4CB21FED-84F0-2A6F-5C19-27739FC6F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1777" y="4135492"/>
            <a:ext cx="2667123" cy="1916995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532E90B5-6FB5-93EC-CE98-90BAA3D453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314" y="2182813"/>
            <a:ext cx="3571875" cy="3009900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80A7F3E1-76CF-3E4C-AAC2-858BA23F49FA}"/>
              </a:ext>
            </a:extLst>
          </p:cNvPr>
          <p:cNvSpPr txBox="1"/>
          <p:nvPr/>
        </p:nvSpPr>
        <p:spPr>
          <a:xfrm>
            <a:off x="4058973" y="3735382"/>
            <a:ext cx="4768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schemeClr val="accent2">
                    <a:lumMod val="75000"/>
                  </a:schemeClr>
                </a:solidFill>
              </a:rPr>
              <a:t>1) Add reflection and transmission monitor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BD59034-CE11-7F51-BEF2-D7B49D0F0036}"/>
              </a:ext>
            </a:extLst>
          </p:cNvPr>
          <p:cNvSpPr txBox="1"/>
          <p:nvPr/>
        </p:nvSpPr>
        <p:spPr>
          <a:xfrm>
            <a:off x="2927880" y="4731042"/>
            <a:ext cx="4768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schemeClr val="accent2">
                    <a:lumMod val="75000"/>
                  </a:schemeClr>
                </a:solidFill>
              </a:rPr>
              <a:t>2) Define global properties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D264C189-CD64-1BAC-5C3D-FD9E76DAF8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5182" y="4487452"/>
            <a:ext cx="2835126" cy="180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2388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BF2FB-CAF5-98C9-AE82-752ECC1F7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2A37C8F2-840A-099A-E2D5-21D862965E54}"/>
              </a:ext>
            </a:extLst>
          </p:cNvPr>
          <p:cNvSpPr txBox="1">
            <a:spLocks/>
          </p:cNvSpPr>
          <p:nvPr/>
        </p:nvSpPr>
        <p:spPr>
          <a:xfrm>
            <a:off x="1524000" y="75088"/>
            <a:ext cx="9144000" cy="43854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Computational electromagnetics-FDTD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7BDA2403-ABA6-2DF8-B742-FC699FF32E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3" y="801952"/>
            <a:ext cx="590497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514350" indent="-51435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9pPr>
          </a:lstStyle>
          <a:p>
            <a:pPr marL="0" indent="0"/>
            <a:r>
              <a:rPr lang="en-US" altLang="en-US" sz="2400" dirty="0"/>
              <a:t>Case Study:</a:t>
            </a:r>
          </a:p>
          <a:p>
            <a:pPr marL="0" indent="0"/>
            <a:r>
              <a:rPr lang="en-US" altLang="en-US" sz="2400" dirty="0"/>
              <a:t>Step 5: check your simulation and run it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68F6AAC-84B7-9B4B-E890-EBF7965F6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29" y="1803400"/>
            <a:ext cx="4181475" cy="13716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CC21786-48E2-4B32-D4E1-8E4A29F4F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5972" y="1921266"/>
            <a:ext cx="5757331" cy="290671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FBB0771-171E-CE6A-B34C-28793DEDE173}"/>
              </a:ext>
            </a:extLst>
          </p:cNvPr>
          <p:cNvSpPr txBox="1"/>
          <p:nvPr/>
        </p:nvSpPr>
        <p:spPr>
          <a:xfrm>
            <a:off x="5367337" y="1535710"/>
            <a:ext cx="4768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schemeClr val="accent2">
                    <a:lumMod val="75000"/>
                  </a:schemeClr>
                </a:solidFill>
              </a:rPr>
              <a:t>1) Check material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54586A7-9ED2-3EED-38BE-59E6ABF5674C}"/>
              </a:ext>
            </a:extLst>
          </p:cNvPr>
          <p:cNvSpPr txBox="1"/>
          <p:nvPr/>
        </p:nvSpPr>
        <p:spPr>
          <a:xfrm>
            <a:off x="538163" y="3274425"/>
            <a:ext cx="4768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schemeClr val="accent2">
                    <a:lumMod val="75000"/>
                  </a:schemeClr>
                </a:solidFill>
              </a:rPr>
              <a:t>2) Check memory requirements 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63B953A-D087-6654-2D67-B171CB64C0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697" y="3773960"/>
            <a:ext cx="2798446" cy="263530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8B17DAF-D319-B4B2-D681-1495481EFC3B}"/>
              </a:ext>
            </a:extLst>
          </p:cNvPr>
          <p:cNvSpPr txBox="1"/>
          <p:nvPr/>
        </p:nvSpPr>
        <p:spPr>
          <a:xfrm>
            <a:off x="5367337" y="5091614"/>
            <a:ext cx="4768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schemeClr val="accent2">
                    <a:lumMod val="75000"/>
                  </a:schemeClr>
                </a:solidFill>
              </a:rPr>
              <a:t>3) Run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93875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FB84B-07D2-3385-6D63-7F38B530C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3D45E339-E4B1-D544-1A41-EBC6ECFE5922}"/>
              </a:ext>
            </a:extLst>
          </p:cNvPr>
          <p:cNvSpPr txBox="1">
            <a:spLocks/>
          </p:cNvSpPr>
          <p:nvPr/>
        </p:nvSpPr>
        <p:spPr>
          <a:xfrm>
            <a:off x="1524000" y="75088"/>
            <a:ext cx="9144000" cy="43854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Computational electromagnetics-FDTD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7D1CB0CC-9E4E-0107-EE94-BC2C154DDE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3" y="801952"/>
            <a:ext cx="590497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514350" indent="-51435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PMingLiU" panose="02020500000000000000" pitchFamily="18" charset="-120"/>
              </a:defRPr>
            </a:lvl9pPr>
          </a:lstStyle>
          <a:p>
            <a:pPr marL="0" indent="0"/>
            <a:r>
              <a:rPr lang="en-US" altLang="en-US" sz="2400" dirty="0"/>
              <a:t>Case Study:</a:t>
            </a:r>
          </a:p>
          <a:p>
            <a:r>
              <a:rPr lang="en-US" altLang="en-US" sz="2400" dirty="0"/>
              <a:t>Step 6: result analysis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5679362-E283-DA0A-8F6C-039C9E0B2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50" y="2300650"/>
            <a:ext cx="2784998" cy="254456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18A1361-FC7D-972A-D143-B0EF3148B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03" y="1617560"/>
            <a:ext cx="3987798" cy="2273779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CE2AD01-C28D-BB5C-5742-D810F64F026F}"/>
              </a:ext>
            </a:extLst>
          </p:cNvPr>
          <p:cNvSpPr txBox="1"/>
          <p:nvPr/>
        </p:nvSpPr>
        <p:spPr>
          <a:xfrm>
            <a:off x="4566973" y="1217450"/>
            <a:ext cx="4768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schemeClr val="accent2">
                    <a:lumMod val="75000"/>
                  </a:schemeClr>
                </a:solidFill>
              </a:rPr>
              <a:t>1) Reflection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5302C7F-AED5-F169-A9A4-26CD1F3F6FFE}"/>
              </a:ext>
            </a:extLst>
          </p:cNvPr>
          <p:cNvSpPr txBox="1"/>
          <p:nvPr/>
        </p:nvSpPr>
        <p:spPr>
          <a:xfrm>
            <a:off x="4490773" y="3903377"/>
            <a:ext cx="4768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schemeClr val="accent2">
                    <a:lumMod val="75000"/>
                  </a:schemeClr>
                </a:solidFill>
              </a:rPr>
              <a:t>2) Transmission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98CD2B21-2CF6-BE6F-9A7B-878E9CDB76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603" y="4315525"/>
            <a:ext cx="3987798" cy="197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50033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12549</TotalTime>
  <Words>996</Words>
  <Application>Microsoft Office PowerPoint</Application>
  <PresentationFormat>宽屏</PresentationFormat>
  <Paragraphs>223</Paragraphs>
  <Slides>38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7" baseType="lpstr">
      <vt:lpstr>Linux Libertine</vt:lpstr>
      <vt:lpstr>微软雅黑</vt:lpstr>
      <vt:lpstr>幼圆</vt:lpstr>
      <vt:lpstr>Arial</vt:lpstr>
      <vt:lpstr>Calibri</vt:lpstr>
      <vt:lpstr>Cambria Math</vt:lpstr>
      <vt:lpstr>Times New Roman</vt:lpstr>
      <vt:lpstr>Wingdings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Zongyin Yang</dc:creator>
  <cp:lastModifiedBy>J L</cp:lastModifiedBy>
  <cp:revision>773</cp:revision>
  <dcterms:created xsi:type="dcterms:W3CDTF">2020-10-30T01:47:51Z</dcterms:created>
  <dcterms:modified xsi:type="dcterms:W3CDTF">2025-04-16T02:02:14Z</dcterms:modified>
</cp:coreProperties>
</file>