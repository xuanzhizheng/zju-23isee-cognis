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5"/>
  </p:notesMasterIdLst>
  <p:sldIdLst>
    <p:sldId id="256" r:id="rId2"/>
    <p:sldId id="257" r:id="rId3"/>
    <p:sldId id="29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349" r:id="rId12"/>
    <p:sldId id="350" r:id="rId13"/>
    <p:sldId id="351" r:id="rId14"/>
    <p:sldId id="352" r:id="rId15"/>
    <p:sldId id="353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96" r:id="rId24"/>
    <p:sldId id="297" r:id="rId25"/>
    <p:sldId id="298" r:id="rId26"/>
    <p:sldId id="299" r:id="rId27"/>
    <p:sldId id="300" r:id="rId28"/>
    <p:sldId id="301" r:id="rId29"/>
    <p:sldId id="302" r:id="rId30"/>
    <p:sldId id="303" r:id="rId31"/>
    <p:sldId id="304" r:id="rId32"/>
    <p:sldId id="305" r:id="rId33"/>
    <p:sldId id="306" r:id="rId34"/>
    <p:sldId id="307" r:id="rId35"/>
    <p:sldId id="308" r:id="rId36"/>
    <p:sldId id="309" r:id="rId37"/>
    <p:sldId id="310" r:id="rId38"/>
    <p:sldId id="311" r:id="rId39"/>
    <p:sldId id="312" r:id="rId40"/>
    <p:sldId id="313" r:id="rId41"/>
    <p:sldId id="314" r:id="rId42"/>
    <p:sldId id="315" r:id="rId43"/>
    <p:sldId id="316" r:id="rId44"/>
    <p:sldId id="317" r:id="rId45"/>
    <p:sldId id="318" r:id="rId46"/>
    <p:sldId id="319" r:id="rId47"/>
    <p:sldId id="320" r:id="rId48"/>
    <p:sldId id="321" r:id="rId49"/>
    <p:sldId id="322" r:id="rId50"/>
    <p:sldId id="323" r:id="rId51"/>
    <p:sldId id="324" r:id="rId52"/>
    <p:sldId id="325" r:id="rId53"/>
    <p:sldId id="326" r:id="rId54"/>
    <p:sldId id="327" r:id="rId55"/>
    <p:sldId id="328" r:id="rId56"/>
    <p:sldId id="329" r:id="rId57"/>
    <p:sldId id="330" r:id="rId58"/>
    <p:sldId id="331" r:id="rId59"/>
    <p:sldId id="332" r:id="rId60"/>
    <p:sldId id="333" r:id="rId61"/>
    <p:sldId id="334" r:id="rId62"/>
    <p:sldId id="335" r:id="rId63"/>
    <p:sldId id="336" r:id="rId64"/>
    <p:sldId id="337" r:id="rId65"/>
    <p:sldId id="338" r:id="rId66"/>
    <p:sldId id="339" r:id="rId67"/>
    <p:sldId id="340" r:id="rId68"/>
    <p:sldId id="341" r:id="rId69"/>
    <p:sldId id="342" r:id="rId70"/>
    <p:sldId id="343" r:id="rId71"/>
    <p:sldId id="344" r:id="rId72"/>
    <p:sldId id="345" r:id="rId73"/>
    <p:sldId id="346" r:id="rId74"/>
    <p:sldId id="347" r:id="rId75"/>
    <p:sldId id="348" r:id="rId76"/>
    <p:sldId id="272" r:id="rId77"/>
    <p:sldId id="273" r:id="rId78"/>
    <p:sldId id="274" r:id="rId79"/>
    <p:sldId id="275" r:id="rId80"/>
    <p:sldId id="276" r:id="rId81"/>
    <p:sldId id="277" r:id="rId82"/>
    <p:sldId id="278" r:id="rId83"/>
    <p:sldId id="279" r:id="rId84"/>
    <p:sldId id="280" r:id="rId85"/>
    <p:sldId id="281" r:id="rId86"/>
    <p:sldId id="282" r:id="rId87"/>
    <p:sldId id="283" r:id="rId88"/>
    <p:sldId id="284" r:id="rId89"/>
    <p:sldId id="286" r:id="rId90"/>
    <p:sldId id="354" r:id="rId91"/>
    <p:sldId id="287" r:id="rId92"/>
    <p:sldId id="288" r:id="rId93"/>
    <p:sldId id="289" r:id="rId9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54" y="28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0E014C-B9CA-4C50-A0E8-BF34F840CA11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D66F52-6359-4B34-A211-67EAD2899C2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429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FC5E6-1251-4400-AA5F-B2C0B7E5F1DD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5D0D4F-96EA-4695-8C99-A6707618D11F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19545-60F1-4B33-8264-3B80DAA3B1A5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368A09-6342-4DA8-9A66-853CCFB11749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41A88C-9A01-4921-A80A-3EA7EF13F44C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C677F7-B3E8-46F8-A3B2-C64716F699FA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2D87E7-8B3F-4EB2-8DFE-478F44F3D80A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B8171-2ECE-4288-8819-35ACED13EFD8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A66302-B361-498A-83CE-1E1864EFA907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5FB16D-E714-42AC-8253-290A722E5C11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F374-1111-43E7-878F-CACA787065AA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50000" y="1600200"/>
            <a:ext cx="53340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257F2C-6D4E-44B0-97A2-8DB8F252721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628474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7933" y="228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812800" y="1600200"/>
            <a:ext cx="5334000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6350000" y="1600200"/>
            <a:ext cx="5334000" cy="21732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6350000" y="3925889"/>
            <a:ext cx="5334000" cy="217328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250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25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252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6C4ACE-9BCB-4A15-B543-9CA7349C7EB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55375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DFFD87-AD8F-48DD-8C01-BA67B35A22C0}" type="datetime1">
              <a:rPr lang="en-US" altLang="zh-CN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ansys.com/academic/students/ansys-electronics-desktop-student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3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33841" y="1525651"/>
            <a:ext cx="5943600" cy="208597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>
              <a:lnSpc>
                <a:spcPct val="114999"/>
              </a:lnSpc>
            </a:pPr>
            <a:r>
              <a:rPr lang="en-US" sz="54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hfss_半波偶极子天线设计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52891" y="5416866"/>
            <a:ext cx="3371850" cy="5048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2025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2025-09-25</a:t>
            </a:r>
            <a:endParaRPr lang="en-US" sz="2025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52891" y="45720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王康    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10231063@zju.edu.cn    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行政楼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224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0133188" y="544293"/>
            <a:ext cx="1764635" cy="9772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rmAutofit/>
          </a:bodyPr>
          <a:lstStyle/>
          <a:p>
            <a:pPr algn="r">
              <a:lnSpc>
                <a:spcPct val="100000"/>
              </a:lnSpc>
              <a:spcBef>
                <a:spcPts val="375"/>
              </a:spcBef>
            </a:pPr>
            <a:r>
              <a:rPr lang="en-US" sz="54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090658" y="726095"/>
            <a:ext cx="4070350" cy="76688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r">
              <a:lnSpc>
                <a:spcPct val="120000"/>
              </a:lnSpc>
            </a:pPr>
            <a:r>
              <a:rPr lang="en-US" sz="2700">
                <a:solidFill>
                  <a:srgbClr val="232323">
                    <a:alpha val="86667"/>
                    <a:alpha val="87000"/>
                  </a:srgbClr>
                </a:solidFill>
                <a:latin typeface="Microsoft Yahei"/>
                <a:ea typeface="Microsoft Yahei"/>
                <a:cs typeface="Microsoft Yahei"/>
              </a:rPr>
              <a:t>CATALOGUE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56520" y="1521558"/>
            <a:ext cx="6733634" cy="5121354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zh-CN" altLang="en-US" sz="2400" dirty="0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正版</a:t>
            </a:r>
            <a:r>
              <a:rPr lang="en-US" altLang="zh-CN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Ansys</a:t>
            </a:r>
            <a:r>
              <a:rPr lang="en-US" altLang="zh-CN" sz="2400" dirty="0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n-US" altLang="zh-CN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hfss</a:t>
            </a:r>
            <a:r>
              <a:rPr lang="zh-CN" altLang="en-US" sz="2400" dirty="0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下载安装链接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引言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天线理论基础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hfss软件介绍与操作指南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b="1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半波偶极子天线设计与仿真</a:t>
            </a:r>
            <a:endParaRPr lang="en-US" sz="2400" b="1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性能评估与优化策略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en-US" sz="24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实验验证与测试结果分析</a:t>
            </a:r>
            <a:endParaRPr lang="en-US" sz="24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  <a:p>
            <a:pPr marL="203200" lvl="0" indent="-203200" algn="l">
              <a:lnSpc>
                <a:spcPct val="140000"/>
              </a:lnSpc>
              <a:spcBef>
                <a:spcPts val="375"/>
              </a:spcBef>
              <a:buFont typeface="Arial"/>
              <a:buChar char="•"/>
            </a:pPr>
            <a:r>
              <a:rPr lang="zh-CN" altLang="en-US" sz="2400" b="1" dirty="0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作业打分注意事项</a:t>
            </a:r>
            <a:endParaRPr lang="en-US" sz="2400" b="1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143000" y="685800"/>
            <a:ext cx="102108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官方下载链接 </a:t>
            </a:r>
            <a:r>
              <a:rPr lang="en-US" altLang="zh-CN" sz="3200" dirty="0"/>
              <a:t>:  https://www.ansys.com/zh-tw/academic/students/ansys-electronics-desktop-student</a:t>
            </a:r>
            <a:endParaRPr lang="en-US" altLang="zh-CN" sz="3200" dirty="0">
              <a:hlinkClick r:id="rId2"/>
            </a:endParaRPr>
          </a:p>
          <a:p>
            <a:r>
              <a:rPr lang="zh-CN" altLang="en-US" sz="3200" dirty="0"/>
              <a:t>请尽快下载</a:t>
            </a:r>
            <a:r>
              <a:rPr lang="zh-CN" altLang="en-US" sz="3200"/>
              <a:t>安装！！！</a:t>
            </a:r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endParaRPr lang="en-US" altLang="zh-CN" sz="3200" dirty="0"/>
          </a:p>
          <a:p>
            <a:r>
              <a:rPr lang="en-US" altLang="zh-CN" sz="2400" dirty="0"/>
              <a:t>HFSS</a:t>
            </a:r>
            <a:r>
              <a:rPr lang="zh-CN" altLang="en-US" sz="2400" dirty="0"/>
              <a:t>天线设计参考书籍：</a:t>
            </a:r>
            <a:endParaRPr lang="en-US" altLang="zh-CN" sz="2400" dirty="0"/>
          </a:p>
          <a:p>
            <a:r>
              <a:rPr lang="en-US" altLang="zh-CN" sz="2400" dirty="0"/>
              <a:t>[1]</a:t>
            </a:r>
            <a:r>
              <a:rPr lang="zh-CN" altLang="en-US" sz="2400" dirty="0"/>
              <a:t>李明洋</a:t>
            </a:r>
            <a:r>
              <a:rPr lang="en-US" altLang="zh-CN" sz="2400" dirty="0"/>
              <a:t>, </a:t>
            </a:r>
            <a:r>
              <a:rPr lang="zh-CN" altLang="en-US" sz="2400" dirty="0"/>
              <a:t>刘敏</a:t>
            </a:r>
            <a:r>
              <a:rPr lang="en-US" altLang="zh-CN" sz="2400" dirty="0"/>
              <a:t>. HFSS</a:t>
            </a:r>
            <a:r>
              <a:rPr lang="zh-CN" altLang="en-US" sz="2400" dirty="0"/>
              <a:t>天线设计</a:t>
            </a:r>
            <a:r>
              <a:rPr lang="en-US" altLang="zh-CN" sz="2400" dirty="0"/>
              <a:t>.</a:t>
            </a:r>
            <a:r>
              <a:rPr lang="zh-CN" altLang="en-US" sz="2400" dirty="0"/>
              <a:t>第</a:t>
            </a:r>
            <a:r>
              <a:rPr lang="en-US" altLang="zh-CN" sz="2400" dirty="0"/>
              <a:t>2</a:t>
            </a:r>
            <a:r>
              <a:rPr lang="zh-CN" altLang="en-US" sz="2400" dirty="0"/>
              <a:t>版</a:t>
            </a:r>
            <a:r>
              <a:rPr lang="en-US" altLang="zh-CN" sz="2400" dirty="0"/>
              <a:t>[M]. </a:t>
            </a:r>
            <a:r>
              <a:rPr lang="zh-CN" altLang="en-US" sz="2400" dirty="0"/>
              <a:t>电子工业出版社</a:t>
            </a:r>
            <a:r>
              <a:rPr lang="en-US" altLang="zh-CN" sz="2400" dirty="0"/>
              <a:t>, 2014.</a:t>
            </a:r>
          </a:p>
          <a:p>
            <a:r>
              <a:rPr lang="en-US" altLang="zh-CN" sz="2400" dirty="0"/>
              <a:t>[2]</a:t>
            </a:r>
            <a:r>
              <a:rPr lang="zh-CN" altLang="en-US" sz="2400" dirty="0"/>
              <a:t>李明洋</a:t>
            </a:r>
            <a:r>
              <a:rPr lang="en-US" altLang="zh-CN" sz="2400" dirty="0"/>
              <a:t>. HFSS</a:t>
            </a:r>
            <a:r>
              <a:rPr lang="zh-CN" altLang="en-US" sz="2400" dirty="0"/>
              <a:t>电磁仿真设计应用详解</a:t>
            </a:r>
            <a:r>
              <a:rPr lang="en-US" altLang="zh-CN" sz="2400" dirty="0"/>
              <a:t>[M]. </a:t>
            </a:r>
            <a:r>
              <a:rPr lang="zh-CN" altLang="en-US" sz="2400" dirty="0"/>
              <a:t>人民邮电出版社</a:t>
            </a:r>
            <a:r>
              <a:rPr lang="en-US" altLang="zh-CN" sz="2400" dirty="0"/>
              <a:t>, 2010.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6800" y="2169196"/>
            <a:ext cx="3962400" cy="3092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074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596" y="2976755"/>
            <a:ext cx="10484808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引言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33355" y="2120356"/>
            <a:ext cx="7382690" cy="153140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半波偶极子天线作为一种经典的对称阵子天线，广泛应用于通信、雷达、导航等领域。随着无线通信技术的快速发展，对天线性能的要求也日益提高，因此，通过HFSS（High Frequency Structure Simulator）等仿真工具对天线进行精确设计和优化显得尤为重要。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733355" y="1579345"/>
            <a:ext cx="738269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33355" y="4698953"/>
            <a:ext cx="7382690" cy="153140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本设计旨在利用HFSS仿真软件，对半波偶极子天线进行详细的建模、仿真和分析，以了解其辐射特性、阻抗匹配、驻波比等关键参数，为实际工程应用提供理论依据和技术支持。同时，通过本设计实践，加深对HFSS软件使用方法的理解，掌握天线设计与仿真的基本流程和方法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33355" y="4157942"/>
            <a:ext cx="738269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目的</a:t>
            </a:r>
          </a:p>
        </p:txBody>
      </p:sp>
      <p:sp>
        <p:nvSpPr>
          <p:cNvPr id="6" name="AutoShape 6"/>
          <p:cNvSpPr/>
          <p:nvPr/>
        </p:nvSpPr>
        <p:spPr>
          <a:xfrm>
            <a:off x="1587997" y="4238210"/>
            <a:ext cx="939495" cy="93949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1587997" y="1592132"/>
            <a:ext cx="939495" cy="93949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Freeform 8"/>
          <p:cNvSpPr/>
          <p:nvPr/>
        </p:nvSpPr>
        <p:spPr>
          <a:xfrm>
            <a:off x="1794154" y="4444368"/>
            <a:ext cx="527181" cy="527181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71155"/>
                </a:moveTo>
                <a:lnTo>
                  <a:pt x="304800" y="133055"/>
                </a:lnTo>
                <a:lnTo>
                  <a:pt x="259261" y="114081"/>
                </a:lnTo>
                <a:cubicBezTo>
                  <a:pt x="257994" y="110509"/>
                  <a:pt x="256661" y="107051"/>
                  <a:pt x="255022" y="103661"/>
                </a:cubicBezTo>
                <a:lnTo>
                  <a:pt x="273406" y="57893"/>
                </a:lnTo>
                <a:lnTo>
                  <a:pt x="246459" y="30956"/>
                </a:lnTo>
                <a:lnTo>
                  <a:pt x="201101" y="49635"/>
                </a:lnTo>
                <a:cubicBezTo>
                  <a:pt x="197644" y="47958"/>
                  <a:pt x="194110" y="46549"/>
                  <a:pt x="190462" y="45244"/>
                </a:cubicBezTo>
                <a:lnTo>
                  <a:pt x="171155" y="0"/>
                </a:lnTo>
                <a:lnTo>
                  <a:pt x="133055" y="0"/>
                </a:lnTo>
                <a:lnTo>
                  <a:pt x="114224" y="45091"/>
                </a:lnTo>
                <a:cubicBezTo>
                  <a:pt x="110433" y="46434"/>
                  <a:pt x="106785" y="47844"/>
                  <a:pt x="103175" y="49559"/>
                </a:cubicBezTo>
                <a:lnTo>
                  <a:pt x="57893" y="31366"/>
                </a:lnTo>
                <a:lnTo>
                  <a:pt x="30956" y="58303"/>
                </a:lnTo>
                <a:lnTo>
                  <a:pt x="49416" y="103175"/>
                </a:lnTo>
                <a:cubicBezTo>
                  <a:pt x="47625" y="106861"/>
                  <a:pt x="46177" y="110614"/>
                  <a:pt x="44796" y="114491"/>
                </a:cubicBezTo>
                <a:lnTo>
                  <a:pt x="0" y="133645"/>
                </a:lnTo>
                <a:lnTo>
                  <a:pt x="0" y="171745"/>
                </a:lnTo>
                <a:lnTo>
                  <a:pt x="44834" y="190424"/>
                </a:lnTo>
                <a:cubicBezTo>
                  <a:pt x="46215" y="194291"/>
                  <a:pt x="47701" y="198053"/>
                  <a:pt x="49482" y="201740"/>
                </a:cubicBezTo>
                <a:lnTo>
                  <a:pt x="31366" y="246907"/>
                </a:lnTo>
                <a:lnTo>
                  <a:pt x="58303" y="273844"/>
                </a:lnTo>
                <a:lnTo>
                  <a:pt x="103289" y="255318"/>
                </a:lnTo>
                <a:cubicBezTo>
                  <a:pt x="106899" y="257032"/>
                  <a:pt x="110585" y="258404"/>
                  <a:pt x="114376" y="259709"/>
                </a:cubicBezTo>
                <a:lnTo>
                  <a:pt x="133645" y="304800"/>
                </a:lnTo>
                <a:lnTo>
                  <a:pt x="171745" y="304800"/>
                </a:lnTo>
                <a:lnTo>
                  <a:pt x="190605" y="259480"/>
                </a:lnTo>
                <a:cubicBezTo>
                  <a:pt x="194215" y="258137"/>
                  <a:pt x="197787" y="256727"/>
                  <a:pt x="201206" y="255089"/>
                </a:cubicBezTo>
                <a:lnTo>
                  <a:pt x="246898" y="273396"/>
                </a:lnTo>
                <a:lnTo>
                  <a:pt x="273834" y="246459"/>
                </a:lnTo>
                <a:lnTo>
                  <a:pt x="255079" y="200997"/>
                </a:lnTo>
                <a:cubicBezTo>
                  <a:pt x="256680" y="197577"/>
                  <a:pt x="257985" y="194110"/>
                  <a:pt x="259251" y="190576"/>
                </a:cubicBezTo>
                <a:lnTo>
                  <a:pt x="304800" y="171155"/>
                </a:lnTo>
                <a:close/>
                <a:moveTo>
                  <a:pt x="152105" y="209550"/>
                </a:moveTo>
                <a:cubicBezTo>
                  <a:pt x="120558" y="209550"/>
                  <a:pt x="94955" y="183947"/>
                  <a:pt x="94955" y="152400"/>
                </a:cubicBezTo>
                <a:cubicBezTo>
                  <a:pt x="94955" y="120853"/>
                  <a:pt x="120558" y="95250"/>
                  <a:pt x="152105" y="95250"/>
                </a:cubicBezTo>
                <a:cubicBezTo>
                  <a:pt x="183652" y="95250"/>
                  <a:pt x="209255" y="120853"/>
                  <a:pt x="209255" y="152400"/>
                </a:cubicBezTo>
                <a:cubicBezTo>
                  <a:pt x="209255" y="183947"/>
                  <a:pt x="183652" y="209550"/>
                  <a:pt x="152105" y="209550"/>
                </a:cubicBez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9" name="Freeform 9"/>
          <p:cNvSpPr/>
          <p:nvPr/>
        </p:nvSpPr>
        <p:spPr>
          <a:xfrm>
            <a:off x="1853309" y="1857445"/>
            <a:ext cx="408870" cy="40887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rgbClr val="FDFCFC">
              <a:alpha val="100000"/>
            </a:srgb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背景与目的</a:t>
            </a:r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0913" y="1312852"/>
            <a:ext cx="7804501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1197254" y="5988003"/>
            <a:ext cx="10998321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4"/>
          <p:cNvSpPr txBox="1"/>
          <p:nvPr/>
        </p:nvSpPr>
        <p:spPr>
          <a:xfrm>
            <a:off x="3560913" y="1927072"/>
            <a:ext cx="7804501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设计一个中心频率为3GHz的半波偶极子天线，包括天线模型的建立、边界条件的设置、激励方式的选择、求解参数的设置等。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473" y="3943665"/>
            <a:ext cx="7806355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设计要求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3473" y="4571667"/>
            <a:ext cx="7806355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天线应具有良好的辐射特性，如较宽的辐射带宽、稳定的辐射方向图等；同时，天线的阻抗匹配应良好，以确保信号的有效传输。此外，设计过程中需充分考虑天线的实际应用场景，如安装环境、馈电方式等因素对天线性能的影响。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574694" y="3297546"/>
            <a:ext cx="861421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设计任务与要求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85766" y="1751287"/>
            <a:ext cx="5242663" cy="4234459"/>
          </a:xfrm>
          <a:prstGeom prst="round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763571" y="1751287"/>
            <a:ext cx="5242663" cy="4234459"/>
          </a:xfrm>
          <a:prstGeom prst="round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4680215" y="2439766"/>
            <a:ext cx="2857500" cy="2857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775465" y="2535016"/>
            <a:ext cx="2667000" cy="2667000"/>
          </a:xfrm>
          <a:prstGeom prst="ellipse">
            <a:avLst/>
          </a:prstGeom>
          <a:solidFill>
            <a:schemeClr val="l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4980253" y="2835054"/>
            <a:ext cx="2257425" cy="20669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1290581" y="2855191"/>
            <a:ext cx="2856056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1085072" y="3008094"/>
            <a:ext cx="3267075" cy="26479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首先明确设计目标和要求，然后利用HFSS软件进行天线模型的建立；接着设置求解类型、边界条件、激励方式等仿真参数；最后运行仿真分析，查看求解结果并进行优化调整。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7683" y="1990828"/>
            <a:ext cx="3286425" cy="7239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设计工具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8032867" y="2855191"/>
            <a:ext cx="2856056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1"/>
          <p:cNvSpPr txBox="1"/>
          <p:nvPr/>
        </p:nvSpPr>
        <p:spPr>
          <a:xfrm>
            <a:off x="7817833" y="3008094"/>
            <a:ext cx="3286125" cy="26479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主要采用HFSS仿真软件进行天线的设计与仿真。HFSS是一款强大的高频电磁仿真软件，可用于各种天线、微波电路、光学器件等的设计和仿真。在设计过程中，还需利用截图软件等辅助工具对仿真结果进行记录和分析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5072" y="1990828"/>
            <a:ext cx="3267075" cy="7239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设计流程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设计流程与工具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596" y="2976755"/>
            <a:ext cx="10484808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天线理论基础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电磁波传播原理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4058877" y="1949322"/>
            <a:ext cx="4074247" cy="4442100"/>
            <a:chOff x="4058877" y="1949322"/>
            <a:chExt cx="4074247" cy="4442100"/>
          </a:xfrm>
        </p:grpSpPr>
        <p:sp>
          <p:nvSpPr>
            <p:cNvPr id="4" name="Freeform 4"/>
            <p:cNvSpPr/>
            <p:nvPr/>
          </p:nvSpPr>
          <p:spPr>
            <a:xfrm>
              <a:off x="5529939" y="1949322"/>
              <a:ext cx="1132122" cy="1234337"/>
            </a:xfrm>
            <a:custGeom>
              <a:avLst/>
              <a:gdLst/>
              <a:ahLst/>
              <a:cxnLst/>
              <a:rect l="l" t="t" r="r" b="b"/>
              <a:pathLst>
                <a:path w="1774574" h="1097009">
                  <a:moveTo>
                    <a:pt x="887287" y="0"/>
                  </a:moveTo>
                  <a:lnTo>
                    <a:pt x="1774574" y="1097009"/>
                  </a:lnTo>
                  <a:lnTo>
                    <a:pt x="0" y="1097009"/>
                  </a:lnTo>
                  <a:lnTo>
                    <a:pt x="887287" y="0"/>
                  </a:lnTo>
                  <a:close/>
                </a:path>
              </a:pathLst>
            </a:custGeom>
            <a:solidFill>
              <a:schemeClr val="accent1">
                <a:alpha val="40000"/>
              </a:schemeClr>
            </a:solidFill>
            <a:ln/>
          </p:spPr>
        </p:sp>
        <p:sp>
          <p:nvSpPr>
            <p:cNvPr id="5" name="Freeform 5"/>
            <p:cNvSpPr/>
            <p:nvPr/>
          </p:nvSpPr>
          <p:spPr>
            <a:xfrm>
              <a:off x="5060509" y="3336599"/>
              <a:ext cx="2070982" cy="870688"/>
            </a:xfrm>
            <a:custGeom>
              <a:avLst/>
              <a:gdLst/>
              <a:ahLst/>
              <a:cxnLst/>
              <a:rect l="l" t="t" r="r" b="b"/>
              <a:pathLst>
                <a:path w="3246216" h="773818">
                  <a:moveTo>
                    <a:pt x="625883" y="0"/>
                  </a:moveTo>
                  <a:lnTo>
                    <a:pt x="2620333" y="0"/>
                  </a:lnTo>
                  <a:lnTo>
                    <a:pt x="3246216" y="773818"/>
                  </a:lnTo>
                  <a:lnTo>
                    <a:pt x="0" y="773818"/>
                  </a:lnTo>
                  <a:lnTo>
                    <a:pt x="625883" y="0"/>
                  </a:lnTo>
                  <a:close/>
                </a:path>
              </a:pathLst>
            </a:custGeom>
            <a:solidFill>
              <a:schemeClr val="accent1">
                <a:alpha val="60000"/>
              </a:schemeClr>
            </a:solidFill>
            <a:ln/>
          </p:spPr>
        </p:sp>
        <p:sp>
          <p:nvSpPr>
            <p:cNvPr id="6" name="Freeform 6"/>
            <p:cNvSpPr/>
            <p:nvPr/>
          </p:nvSpPr>
          <p:spPr>
            <a:xfrm>
              <a:off x="4591079" y="4360226"/>
              <a:ext cx="3009842" cy="870686"/>
            </a:xfrm>
            <a:custGeom>
              <a:avLst/>
              <a:gdLst/>
              <a:ahLst/>
              <a:cxnLst/>
              <a:rect l="l" t="t" r="r" b="b"/>
              <a:pathLst>
                <a:path w="4717856" h="773817">
                  <a:moveTo>
                    <a:pt x="625882" y="0"/>
                  </a:moveTo>
                  <a:lnTo>
                    <a:pt x="4091974" y="0"/>
                  </a:lnTo>
                  <a:lnTo>
                    <a:pt x="4717856" y="773817"/>
                  </a:lnTo>
                  <a:lnTo>
                    <a:pt x="0" y="773817"/>
                  </a:lnTo>
                  <a:lnTo>
                    <a:pt x="625882" y="0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/>
          </p:spPr>
        </p:sp>
        <p:sp>
          <p:nvSpPr>
            <p:cNvPr id="7" name="Freeform 7"/>
            <p:cNvSpPr/>
            <p:nvPr/>
          </p:nvSpPr>
          <p:spPr>
            <a:xfrm>
              <a:off x="4058877" y="5383852"/>
              <a:ext cx="4074247" cy="1007570"/>
            </a:xfrm>
            <a:custGeom>
              <a:avLst/>
              <a:gdLst/>
              <a:ahLst/>
              <a:cxnLst/>
              <a:rect l="l" t="t" r="r" b="b"/>
              <a:pathLst>
                <a:path w="6386287" h="895470">
                  <a:moveTo>
                    <a:pt x="724278" y="0"/>
                  </a:moveTo>
                  <a:lnTo>
                    <a:pt x="5662010" y="0"/>
                  </a:lnTo>
                  <a:lnTo>
                    <a:pt x="6386287" y="895470"/>
                  </a:lnTo>
                  <a:lnTo>
                    <a:pt x="0" y="895470"/>
                  </a:lnTo>
                  <a:lnTo>
                    <a:pt x="724278" y="0"/>
                  </a:ln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8" name="AutoShape 8"/>
            <p:cNvSpPr/>
            <p:nvPr/>
          </p:nvSpPr>
          <p:spPr>
            <a:xfrm>
              <a:off x="5529939" y="2523642"/>
              <a:ext cx="1132122" cy="549447"/>
            </a:xfrm>
            <a:prstGeom prst="rect">
              <a:avLst/>
            </a:prstGeom>
            <a:noFill/>
            <a:ln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  <a:endParaRPr lang="en-US" sz="1100"/>
            </a:p>
          </p:txBody>
        </p:sp>
        <p:sp>
          <p:nvSpPr>
            <p:cNvPr id="9" name="AutoShape 9"/>
            <p:cNvSpPr/>
            <p:nvPr/>
          </p:nvSpPr>
          <p:spPr>
            <a:xfrm>
              <a:off x="5281657" y="3501423"/>
              <a:ext cx="1628684" cy="549447"/>
            </a:xfrm>
            <a:prstGeom prst="rect">
              <a:avLst/>
            </a:prstGeom>
            <a:noFill/>
            <a:ln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  <a:endParaRPr lang="en-US" sz="1100"/>
            </a:p>
          </p:txBody>
        </p:sp>
        <p:sp>
          <p:nvSpPr>
            <p:cNvPr id="10" name="AutoShape 10"/>
            <p:cNvSpPr/>
            <p:nvPr/>
          </p:nvSpPr>
          <p:spPr>
            <a:xfrm>
              <a:off x="5281657" y="4515653"/>
              <a:ext cx="1628684" cy="549447"/>
            </a:xfrm>
            <a:prstGeom prst="rect">
              <a:avLst/>
            </a:prstGeom>
            <a:noFill/>
            <a:ln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FFFFF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  <a:endParaRPr lang="en-US" sz="1100"/>
            </a:p>
          </p:txBody>
        </p:sp>
        <p:sp>
          <p:nvSpPr>
            <p:cNvPr id="11" name="AutoShape 11"/>
            <p:cNvSpPr/>
            <p:nvPr/>
          </p:nvSpPr>
          <p:spPr>
            <a:xfrm>
              <a:off x="5281657" y="5607405"/>
              <a:ext cx="1628684" cy="549447"/>
            </a:xfrm>
            <a:prstGeom prst="rect">
              <a:avLst/>
            </a:prstGeom>
            <a:noFill/>
            <a:ln/>
          </p:spPr>
          <p:txBody>
            <a:bodyPr vert="horz" wrap="square" lIns="114300" tIns="57150" rIns="114300" bIns="57150" rtlCol="0" anchor="ctr" anchorCtr="0">
              <a:noAutofit/>
            </a:bodyPr>
            <a:lstStyle/>
            <a:p>
              <a:pPr algn="ctr">
                <a:lnSpc>
                  <a:spcPct val="90000"/>
                </a:lnSpc>
                <a:defRPr/>
              </a:pPr>
              <a:r>
                <a:rPr lang="en-US" sz="2775" b="1">
                  <a:solidFill>
                    <a:srgbClr val="FDFDFD">
                      <a:alpha val="100000"/>
                    </a:srgbClr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  <a:endParaRPr lang="en-US" sz="1100"/>
            </a:p>
          </p:txBody>
        </p:sp>
      </p:grpSp>
      <p:sp>
        <p:nvSpPr>
          <p:cNvPr id="12" name="AutoShape 12"/>
          <p:cNvSpPr/>
          <p:nvPr/>
        </p:nvSpPr>
        <p:spPr>
          <a:xfrm>
            <a:off x="8395621" y="1621438"/>
            <a:ext cx="2877312" cy="648216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电磁波分类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395621" y="2223674"/>
            <a:ext cx="2877312" cy="1463040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电磁波根据频率的不同，可以分为无线电波、微波、红外线、可见光、紫外线、X射线和伽马射线等多种类型。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95621" y="4127254"/>
            <a:ext cx="2877312" cy="618268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l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电磁波特性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95621" y="4699541"/>
            <a:ext cx="2877312" cy="1463040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l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电磁波具有波粒二象性，即既表现出波动性质（如干涉、衍射），又表现出粒子性质（如光电效应）。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95242" y="1621438"/>
            <a:ext cx="2877312" cy="648216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r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电磁波定义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95242" y="2223674"/>
            <a:ext cx="2877312" cy="1463040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4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电磁波是由电场和磁场相互作用产生的一种波动现象，能够在真空中或介质中传播，传播速度为光速。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95242" y="4127254"/>
            <a:ext cx="2877312" cy="618268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b" anchorCtr="0">
            <a:noAutofit/>
          </a:bodyPr>
          <a:lstStyle/>
          <a:p>
            <a:pPr algn="r">
              <a:lnSpc>
                <a:spcPct val="120000"/>
              </a:lnSpc>
              <a:spcBef>
                <a:spcPts val="375"/>
              </a:spcBef>
              <a:defRPr/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电磁波传播方式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95242" y="4699541"/>
            <a:ext cx="2877312" cy="1463040"/>
          </a:xfrm>
          <a:prstGeom prst="rect">
            <a:avLst/>
          </a:prstGeom>
          <a:noFill/>
          <a:ln/>
        </p:spPr>
        <p:txBody>
          <a:bodyPr vert="horz" wrap="square" lIns="95250" tIns="95250" rIns="47625" bIns="95250" rtlCol="0" anchor="t" anchorCtr="0">
            <a:noAutofit/>
          </a:bodyPr>
          <a:lstStyle/>
          <a:p>
            <a:pPr algn="r">
              <a:lnSpc>
                <a:spcPct val="150000"/>
              </a:lnSpc>
              <a:spcBef>
                <a:spcPts val="375"/>
              </a:spcBef>
              <a:defRPr/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电磁波可以通过自由空间传播、介质传播、谐振腔传播、波导传播和辐射传播等多种方式进行传播。</a:t>
            </a:r>
            <a:endParaRPr lang="en-US" sz="1100"/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79391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914135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79391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914135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6360328" y="1631119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7" name="AutoShape 7"/>
          <p:cNvSpPr/>
          <p:nvPr/>
        </p:nvSpPr>
        <p:spPr>
          <a:xfrm>
            <a:off x="6495073" y="1765863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6360328" y="3993147"/>
            <a:ext cx="638131" cy="638131"/>
          </a:xfrm>
          <a:prstGeom prst="ellipse">
            <a:avLst/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6495073" y="4127891"/>
            <a:ext cx="368642" cy="36864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TextBox 10"/>
          <p:cNvSpPr txBox="1"/>
          <p:nvPr/>
        </p:nvSpPr>
        <p:spPr>
          <a:xfrm>
            <a:off x="1588687" y="1602522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偶极子天线定义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88687" y="2078224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偶极子天线是一种基本的线性天线，由两个长度相等、直径很小的导体棒组成，中间馈电，两臂与馈电点等距，振子轴线与波的传播方向垂直。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574907" y="3964550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偶极子天线类型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4907" y="4495320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常见的偶极天线类型包括半波偶极天线、全波偶极天线、折叠偶极天线等。它们的结构可以在空间中产生振荡电流，并通过辐射场将电磁波发送或接收到外部。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37966" y="3964550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偶极子天线应用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37966" y="4495320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偶极子天线广泛应用于通信、雷达、导航等领域，是无线传输系统中不可或缺的关键部件。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59955" y="1602522"/>
            <a:ext cx="390525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偶极子天线工作原理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259955" y="2078224"/>
            <a:ext cx="3905250" cy="15335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偶极子天线的工作原理基于偶极子理论，当偶极子天线受到变化的电场激励时，会辐射出电磁波。同时，偶极子天线也能够接收到入射的电磁波并将其转换为电流。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偶极子天线原理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52600" y="0"/>
            <a:ext cx="7092950" cy="1143000"/>
          </a:xfrm>
        </p:spPr>
        <p:txBody>
          <a:bodyPr/>
          <a:lstStyle/>
          <a:p>
            <a:pPr eaLnBrk="1" hangingPunct="1"/>
            <a:r>
              <a:rPr lang="en-US" altLang="zh-CN" b="1">
                <a:latin typeface="华文行楷" panose="02010800040101010101" pitchFamily="2" charset="-122"/>
                <a:ea typeface="华文行楷" panose="02010800040101010101" pitchFamily="2" charset="-122"/>
              </a:rPr>
              <a:t>      </a:t>
            </a:r>
            <a:r>
              <a:rPr lang="zh-CN" altLang="en-US" b="1">
                <a:latin typeface="华文行楷" panose="02010800040101010101" pitchFamily="2" charset="-122"/>
                <a:ea typeface="华文行楷" panose="02010800040101010101" pitchFamily="2" charset="-122"/>
              </a:rPr>
              <a:t>半波偶极子天线</a:t>
            </a:r>
          </a:p>
        </p:txBody>
      </p:sp>
      <p:sp>
        <p:nvSpPr>
          <p:cNvPr id="40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838200"/>
            <a:ext cx="9144000" cy="6019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33CC"/>
                </a:solidFill>
              </a:rPr>
              <a:t>1.</a:t>
            </a:r>
            <a:r>
              <a:rPr lang="zh-CN" altLang="en-US" b="1">
                <a:solidFill>
                  <a:srgbClr val="0033CC"/>
                </a:solidFill>
              </a:rPr>
              <a:t>电流分布</a:t>
            </a:r>
          </a:p>
          <a:p>
            <a:pPr eaLnBrk="1" hangingPunct="1"/>
            <a:r>
              <a:rPr lang="zh-CN" altLang="en-US" sz="2800" b="1"/>
              <a:t>对于从中心馈电的偶极子，其两端开路，故电流为零。工程上通常将其电流分布近似为正弦分布。</a:t>
            </a:r>
          </a:p>
          <a:p>
            <a:pPr eaLnBrk="1" hangingPunct="1"/>
            <a:r>
              <a:rPr lang="zh-CN" altLang="en-US" sz="2800" b="1"/>
              <a:t>假设天线沿</a:t>
            </a:r>
            <a:r>
              <a:rPr lang="en-US" altLang="zh-CN" sz="2800" b="1"/>
              <a:t>z</a:t>
            </a:r>
            <a:r>
              <a:rPr lang="zh-CN" altLang="en-US" sz="2800" b="1"/>
              <a:t>轴放置，其中心坐标位于坐标原点，如图所示，则长度为</a:t>
            </a:r>
            <a:r>
              <a:rPr lang="en-US" altLang="zh-CN" sz="2800" b="1"/>
              <a:t>l</a:t>
            </a:r>
            <a:r>
              <a:rPr lang="zh-CN" altLang="en-US" sz="2800" b="1"/>
              <a:t>的偶极子天线的电流分布为：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</a:t>
            </a:r>
            <a:r>
              <a:rPr lang="en-US" altLang="zh-CN" sz="2800" b="1"/>
              <a:t>I(z)=I</a:t>
            </a:r>
            <a:r>
              <a:rPr lang="en-US" altLang="zh-CN" sz="2800" b="1" baseline="-25000"/>
              <a:t>m</a:t>
            </a:r>
            <a:r>
              <a:rPr lang="en-US" altLang="zh-CN" sz="2800" b="1"/>
              <a:t>sink(l-|z|)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Im</a:t>
            </a:r>
            <a:r>
              <a:rPr lang="zh-CN" altLang="en-US" sz="2800" b="1"/>
              <a:t>是波腹电流，</a:t>
            </a:r>
            <a:r>
              <a:rPr lang="en-US" altLang="zh-CN" sz="2800" b="1"/>
              <a:t>k</a:t>
            </a:r>
            <a:r>
              <a:rPr lang="zh-CN" altLang="en-US" sz="2800" b="1"/>
              <a:t>波数。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对半波偶极子而言</a:t>
            </a:r>
            <a:r>
              <a:rPr lang="en-US" altLang="zh-CN" sz="2800" b="1"/>
              <a:t>l=</a:t>
            </a:r>
            <a:r>
              <a:rPr lang="el-GR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λ</a:t>
            </a:r>
            <a:r>
              <a:rPr lang="en-US" altLang="zh-CN" sz="2800" b="1">
                <a:latin typeface="Courier New" panose="02070309020205020404" pitchFamily="49" charset="0"/>
                <a:cs typeface="Courier New" panose="02070309020205020404" pitchFamily="49" charset="0"/>
              </a:rPr>
              <a:t>/4.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则半波偶极子的电流分布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latin typeface="Courier New" panose="02070309020205020404" pitchFamily="49" charset="0"/>
                <a:cs typeface="Courier New" panose="02070309020205020404" pitchFamily="49" charset="0"/>
              </a:rPr>
              <a:t>可以写成：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I(z)=I</a:t>
            </a:r>
            <a:r>
              <a:rPr lang="en-US" altLang="zh-CN" sz="2800" b="1" baseline="-25000"/>
              <a:t>m</a:t>
            </a:r>
            <a:r>
              <a:rPr lang="en-US" altLang="zh-CN" sz="2800" b="1"/>
              <a:t>sin</a:t>
            </a:r>
            <a:r>
              <a:rPr lang="zh-CN" altLang="en-US" sz="2800" b="1"/>
              <a:t>（</a:t>
            </a:r>
            <a:r>
              <a:rPr lang="en-US" altLang="zh-CN" sz="2800" b="1"/>
              <a:t>π/2-kz</a:t>
            </a:r>
            <a:r>
              <a:rPr lang="zh-CN" altLang="en-US" sz="2800" b="1"/>
              <a:t>）</a:t>
            </a:r>
            <a:r>
              <a:rPr lang="en-US" altLang="zh-CN" sz="2800" b="1"/>
              <a:t>=I</a:t>
            </a:r>
            <a:r>
              <a:rPr lang="en-US" altLang="zh-CN" sz="1800" b="1"/>
              <a:t>m</a:t>
            </a:r>
            <a:r>
              <a:rPr lang="en-US" altLang="zh-CN" sz="2800" b="1"/>
              <a:t>cos</a:t>
            </a:r>
            <a:r>
              <a:rPr lang="zh-CN" altLang="en-US" sz="2800" b="1"/>
              <a:t>（</a:t>
            </a:r>
            <a:r>
              <a:rPr lang="en-US" altLang="zh-CN" sz="2800" b="1"/>
              <a:t>kz</a:t>
            </a:r>
            <a:r>
              <a:rPr lang="zh-CN" altLang="en-US" sz="2800" b="1"/>
              <a:t>）</a:t>
            </a:r>
            <a:endParaRPr lang="zh-CN" altLang="el-GR" sz="2800" b="1"/>
          </a:p>
        </p:txBody>
      </p:sp>
      <p:grpSp>
        <p:nvGrpSpPr>
          <p:cNvPr id="2" name="Group 22"/>
          <p:cNvGrpSpPr>
            <a:grpSpLocks/>
          </p:cNvGrpSpPr>
          <p:nvPr/>
        </p:nvGrpSpPr>
        <p:grpSpPr bwMode="auto">
          <a:xfrm>
            <a:off x="7031038" y="3324226"/>
            <a:ext cx="3636962" cy="3533775"/>
            <a:chOff x="2984" y="657"/>
            <a:chExt cx="2589" cy="1937"/>
          </a:xfrm>
        </p:grpSpPr>
        <p:pic>
          <p:nvPicPr>
            <p:cNvPr id="4101" name="Picture 2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84" y="657"/>
              <a:ext cx="2589" cy="1937"/>
            </a:xfrm>
            <a:prstGeom prst="rect">
              <a:avLst/>
            </a:prstGeom>
            <a:solidFill>
              <a:srgbClr val="D1FF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02" name="Line 24"/>
            <p:cNvSpPr>
              <a:spLocks noChangeShapeType="1"/>
            </p:cNvSpPr>
            <p:nvPr/>
          </p:nvSpPr>
          <p:spPr bwMode="auto">
            <a:xfrm>
              <a:off x="3872" y="1023"/>
              <a:ext cx="0" cy="683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4103" name="Line 25"/>
            <p:cNvSpPr>
              <a:spLocks noChangeShapeType="1"/>
            </p:cNvSpPr>
            <p:nvPr/>
          </p:nvSpPr>
          <p:spPr bwMode="auto">
            <a:xfrm>
              <a:off x="3872" y="1877"/>
              <a:ext cx="0" cy="683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75335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0"/>
            <a:ext cx="3810000" cy="9144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0033CC"/>
                </a:solidFill>
              </a:rPr>
              <a:t>2.</a:t>
            </a:r>
            <a:r>
              <a:rPr lang="zh-CN" altLang="en-US" sz="2800" b="1">
                <a:solidFill>
                  <a:srgbClr val="0033CC"/>
                </a:solidFill>
              </a:rPr>
              <a:t>辐射场和方向图</a:t>
            </a:r>
          </a:p>
        </p:txBody>
      </p:sp>
      <p:sp>
        <p:nvSpPr>
          <p:cNvPr id="5123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0" y="685800"/>
            <a:ext cx="8229600" cy="16002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已知半波偶极子天线上的电流分布，可以利用叠加原理来计算半波偶极子天线的辐射场。上次课已经求解得：</a:t>
            </a:r>
          </a:p>
          <a:p>
            <a:pPr eaLnBrk="1" hangingPunct="1"/>
            <a:endParaRPr lang="en-US" altLang="zh-CN" sz="2800"/>
          </a:p>
        </p:txBody>
      </p:sp>
      <p:graphicFrame>
        <p:nvGraphicFramePr>
          <p:cNvPr id="5124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828800" y="1905000"/>
          <a:ext cx="8839200" cy="4953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441700" imgH="2578100" progId="Equation.3">
                  <p:embed/>
                </p:oleObj>
              </mc:Choice>
              <mc:Fallback>
                <p:oleObj name="公式" r:id="rId2" imgW="3441700" imgH="2578100" progId="Equation.3">
                  <p:embed/>
                  <p:pic>
                    <p:nvPicPr>
                      <p:cNvPr id="512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905000"/>
                        <a:ext cx="8839200" cy="4953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37014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sz="2800" b="1">
                <a:solidFill>
                  <a:srgbClr val="0033CC"/>
                </a:solidFill>
              </a:rPr>
              <a:t>3.</a:t>
            </a:r>
            <a:r>
              <a:rPr lang="zh-CN" altLang="en-US" sz="2800" b="1">
                <a:solidFill>
                  <a:srgbClr val="0033CC"/>
                </a:solidFill>
              </a:rPr>
              <a:t>方向性系数</a:t>
            </a:r>
          </a:p>
        </p:txBody>
      </p:sp>
      <p:sp>
        <p:nvSpPr>
          <p:cNvPr id="6147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0" y="1219201"/>
            <a:ext cx="8534400" cy="4498975"/>
          </a:xfrm>
        </p:spPr>
        <p:txBody>
          <a:bodyPr/>
          <a:lstStyle/>
          <a:p>
            <a:pPr eaLnBrk="1" hangingPunct="1"/>
            <a:r>
              <a:rPr lang="zh-CN" altLang="en-US" sz="2800" b="1"/>
              <a:t>根据公式可计算出半波偶极子天线的方向性系数为：</a:t>
            </a:r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endParaRPr lang="zh-CN" altLang="en-US" sz="2800"/>
          </a:p>
          <a:p>
            <a:pPr eaLnBrk="1" hangingPunct="1"/>
            <a:r>
              <a:rPr lang="zh-CN" altLang="en-US" sz="2800" b="1"/>
              <a:t>若以分贝表示为</a:t>
            </a:r>
            <a:r>
              <a:rPr lang="zh-CN" altLang="en-US" sz="2800"/>
              <a:t>：</a:t>
            </a:r>
          </a:p>
          <a:p>
            <a:pPr eaLnBrk="1" hangingPunct="1"/>
            <a:endParaRPr lang="en-US" altLang="zh-CN" sz="2800"/>
          </a:p>
        </p:txBody>
      </p:sp>
      <p:graphicFrame>
        <p:nvGraphicFramePr>
          <p:cNvPr id="6148" name="Object 5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438400" y="1981200"/>
          <a:ext cx="6934200" cy="205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933700" imgH="800100" progId="Equation.3">
                  <p:embed/>
                </p:oleObj>
              </mc:Choice>
              <mc:Fallback>
                <p:oleObj name="公式" r:id="rId2" imgW="2933700" imgH="800100" progId="Equation.3">
                  <p:embed/>
                  <p:pic>
                    <p:nvPicPr>
                      <p:cNvPr id="6148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81200"/>
                        <a:ext cx="6934200" cy="205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9" name="Text Box 4"/>
          <p:cNvSpPr txBox="1">
            <a:spLocks noChangeArrowheads="1"/>
          </p:cNvSpPr>
          <p:nvPr/>
        </p:nvSpPr>
        <p:spPr bwMode="auto">
          <a:xfrm>
            <a:off x="2362200" y="5715001"/>
            <a:ext cx="6705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zh-CN" altLang="zh-CN"/>
          </a:p>
        </p:txBody>
      </p:sp>
      <p:graphicFrame>
        <p:nvGraphicFramePr>
          <p:cNvPr id="6150" name="Object 7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09800" y="4953001"/>
          <a:ext cx="7924800" cy="1108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638300" imgH="228600" progId="Equation.3">
                  <p:embed/>
                </p:oleObj>
              </mc:Choice>
              <mc:Fallback>
                <p:oleObj name="公式" r:id="rId4" imgW="1638300" imgH="228600" progId="Equation.3">
                  <p:embed/>
                  <p:pic>
                    <p:nvPicPr>
                      <p:cNvPr id="615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953001"/>
                        <a:ext cx="7924800" cy="1108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41494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3511550" cy="609600"/>
          </a:xfrm>
        </p:spPr>
        <p:txBody>
          <a:bodyPr/>
          <a:lstStyle/>
          <a:p>
            <a:pPr algn="l" eaLnBrk="1" hangingPunct="1"/>
            <a:r>
              <a:rPr lang="en-US" altLang="zh-CN" sz="2800" b="1">
                <a:solidFill>
                  <a:srgbClr val="0033CC"/>
                </a:solidFill>
              </a:rPr>
              <a:t>4.</a:t>
            </a:r>
            <a:r>
              <a:rPr lang="zh-CN" altLang="en-US" sz="2800" b="1">
                <a:solidFill>
                  <a:srgbClr val="0033CC"/>
                </a:solidFill>
              </a:rPr>
              <a:t>辐射电阻</a:t>
            </a:r>
          </a:p>
        </p:txBody>
      </p:sp>
      <p:sp>
        <p:nvSpPr>
          <p:cNvPr id="7171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0" y="990600"/>
            <a:ext cx="8534400" cy="7620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zh-CN" altLang="en-US" sz="2800" b="1"/>
              <a:t>天线的评价功率密度可以用平均坡印亭矢量来表示：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800" b="1"/>
              <a:t>   </a:t>
            </a:r>
          </a:p>
          <a:p>
            <a:pPr eaLnBrk="1" hangingPunct="1">
              <a:lnSpc>
                <a:spcPct val="80000"/>
              </a:lnSpc>
            </a:pPr>
            <a:endParaRPr lang="en-US" altLang="zh-CN" sz="1800" b="1"/>
          </a:p>
        </p:txBody>
      </p:sp>
      <p:graphicFrame>
        <p:nvGraphicFramePr>
          <p:cNvPr id="7172" name="Object 4"/>
          <p:cNvGraphicFramePr>
            <a:graphicFrameLocks noGrp="1" noChangeAspect="1"/>
          </p:cNvGraphicFramePr>
          <p:nvPr>
            <p:ph sz="half" idx="2"/>
          </p:nvPr>
        </p:nvGraphicFramePr>
        <p:xfrm>
          <a:off x="1752600" y="1447800"/>
          <a:ext cx="8686800" cy="5353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873500" imgH="2387600" progId="Equation.3">
                  <p:embed/>
                </p:oleObj>
              </mc:Choice>
              <mc:Fallback>
                <p:oleObj name="公式" r:id="rId2" imgW="3873500" imgH="2387600" progId="Equation.3">
                  <p:embed/>
                  <p:pic>
                    <p:nvPicPr>
                      <p:cNvPr id="71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1447800"/>
                        <a:ext cx="8686800" cy="5353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418092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3587750" cy="609600"/>
          </a:xfrm>
        </p:spPr>
        <p:txBody>
          <a:bodyPr/>
          <a:lstStyle/>
          <a:p>
            <a:pPr eaLnBrk="1" hangingPunct="1"/>
            <a:r>
              <a:rPr lang="en-US" altLang="zh-CN" sz="3200" b="1">
                <a:solidFill>
                  <a:srgbClr val="0033CC"/>
                </a:solidFill>
              </a:rPr>
              <a:t>5.</a:t>
            </a:r>
            <a:r>
              <a:rPr lang="zh-CN" altLang="en-US" sz="3200" b="1">
                <a:solidFill>
                  <a:srgbClr val="0033CC"/>
                </a:solidFill>
              </a:rPr>
              <a:t>输入阻抗</a:t>
            </a:r>
          </a:p>
        </p:txBody>
      </p:sp>
      <p:sp>
        <p:nvSpPr>
          <p:cNvPr id="81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838200"/>
            <a:ext cx="9144000" cy="60198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根据基本的传输线理论，输入阻抗一般同时包含实部和虚部两部分，即为：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</a:t>
            </a:r>
            <a:r>
              <a:rPr lang="en-US" altLang="zh-CN" sz="2800" b="1"/>
              <a:t>Zin=Rin+jXin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</a:t>
            </a:r>
            <a:r>
              <a:rPr lang="zh-CN" altLang="en-US" sz="2800" b="1"/>
              <a:t>实部电阻包含辐射电阻和导体损耗所产生的导体电阻，对于良导体而言，导体电阻可以忽略，此时实部仅包含辐射电阻</a:t>
            </a:r>
            <a:r>
              <a:rPr lang="en-US" altLang="zh-CN" sz="2800" b="1"/>
              <a:t>Rin=Rr</a:t>
            </a:r>
            <a:r>
              <a:rPr lang="zh-CN" altLang="en-US" sz="2800" b="1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虚部电抗为零。</a:t>
            </a:r>
          </a:p>
          <a:p>
            <a:pPr eaLnBrk="1" hangingPunct="1"/>
            <a:r>
              <a:rPr lang="zh-CN" altLang="en-US" sz="2800" b="1"/>
              <a:t>对于半波偶极子天线而言，输入阻抗近似看为辐射电阻</a:t>
            </a:r>
            <a:r>
              <a:rPr lang="en-US" altLang="zh-CN" sz="2800" b="1"/>
              <a:t>73.2</a:t>
            </a:r>
            <a:r>
              <a:rPr lang="zh-CN" altLang="en-US" sz="2800" b="1"/>
              <a:t>欧姆。</a:t>
            </a:r>
          </a:p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可见，半波偶极子天线的输入阻抗是纯电阻，易于和馈线匹配，这也是它被较多采用的原因之一。</a:t>
            </a:r>
          </a:p>
        </p:txBody>
      </p:sp>
    </p:spTree>
    <p:extLst>
      <p:ext uri="{BB962C8B-B14F-4D97-AF65-F5344CB8AC3E}">
        <p14:creationId xmlns:p14="http://schemas.microsoft.com/office/powerpoint/2010/main" val="5625313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2480" r="12480"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半波偶极子天线特点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宽频带特性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半波偶极子天线具有较宽的频带特性，在设定频段范围内能够提供较好的性能，适用于不同频率的无线通信系统。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高辐射效率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半波偶极子天线的辐射效率较高，能够将传输的能量有效地转化为电磁波，使得信号传播距离更远。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结构简单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半波偶极子天线由一个导体构成，其中中央的直线部分称为驻波馈电处，两端有一个弯曲部分形成互补的驻波端，这种简单的结构使得制造和安装相对容易。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88511" y="2014308"/>
            <a:ext cx="2987778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方向性辐射特性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5556" y="2589176"/>
            <a:ext cx="5429250" cy="106663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半波偶极子天线的辐射特性呈现出较为明显的方向性，其主矢量辐射方向与驻波馈电处的延伸线相一致，有利于在特定方向上实现更好的接收和发送性能。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732228" y="4509502"/>
            <a:ext cx="2987778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b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优良的阻抗匹配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半波偶极子天线特点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209273" y="5048803"/>
            <a:ext cx="5429250" cy="1066632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半波偶极子天线通常与50欧姆的传输线匹配，这可以有效地减少反射和驻波现象，提高信号传输的质量。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265556" y="1929773"/>
            <a:ext cx="649757" cy="659403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209273" y="4435534"/>
            <a:ext cx="670891" cy="638269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l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AutoShape 9"/>
          <p:cNvSpPr/>
          <p:nvPr/>
        </p:nvSpPr>
        <p:spPr>
          <a:xfrm>
            <a:off x="565061" y="2098842"/>
            <a:ext cx="1498612" cy="149861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0" name="Freeform 10"/>
          <p:cNvSpPr/>
          <p:nvPr/>
        </p:nvSpPr>
        <p:spPr>
          <a:xfrm>
            <a:off x="1028447" y="2543179"/>
            <a:ext cx="571839" cy="57183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1920" y="28651"/>
                </a:moveTo>
                <a:lnTo>
                  <a:pt x="121920" y="0"/>
                </a:lnTo>
                <a:lnTo>
                  <a:pt x="152400" y="0"/>
                </a:lnTo>
                <a:lnTo>
                  <a:pt x="152400" y="243840"/>
                </a:lnTo>
                <a:lnTo>
                  <a:pt x="304800" y="243840"/>
                </a:lnTo>
                <a:lnTo>
                  <a:pt x="243840" y="304800"/>
                </a:lnTo>
                <a:lnTo>
                  <a:pt x="30480" y="304800"/>
                </a:lnTo>
                <a:lnTo>
                  <a:pt x="0" y="243840"/>
                </a:lnTo>
                <a:lnTo>
                  <a:pt x="121920" y="243840"/>
                </a:lnTo>
                <a:lnTo>
                  <a:pt x="121920" y="213360"/>
                </a:lnTo>
                <a:lnTo>
                  <a:pt x="0" y="213360"/>
                </a:lnTo>
                <a:lnTo>
                  <a:pt x="0" y="209398"/>
                </a:lnTo>
                <a:cubicBezTo>
                  <a:pt x="56940" y="163544"/>
                  <a:pt x="99498" y="101956"/>
                  <a:pt x="121234" y="31242"/>
                </a:cubicBezTo>
                <a:lnTo>
                  <a:pt x="121920" y="28651"/>
                </a:lnTo>
                <a:close/>
                <a:moveTo>
                  <a:pt x="304343" y="213360"/>
                </a:moveTo>
                <a:lnTo>
                  <a:pt x="152400" y="213360"/>
                </a:lnTo>
                <a:lnTo>
                  <a:pt x="152400" y="207874"/>
                </a:lnTo>
                <a:cubicBezTo>
                  <a:pt x="171650" y="179451"/>
                  <a:pt x="183137" y="144409"/>
                  <a:pt x="183137" y="106680"/>
                </a:cubicBezTo>
                <a:cubicBezTo>
                  <a:pt x="183137" y="68951"/>
                  <a:pt x="171660" y="33909"/>
                  <a:pt x="151990" y="4848"/>
                </a:cubicBezTo>
                <a:lnTo>
                  <a:pt x="152400" y="5486"/>
                </a:lnTo>
                <a:lnTo>
                  <a:pt x="152400" y="2438"/>
                </a:lnTo>
                <a:cubicBezTo>
                  <a:pt x="237877" y="37719"/>
                  <a:pt x="298180" y="117796"/>
                  <a:pt x="304305" y="212646"/>
                </a:cubicBezTo>
                <a:lnTo>
                  <a:pt x="304343" y="21336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1" name="AutoShape 11"/>
          <p:cNvSpPr/>
          <p:nvPr/>
        </p:nvSpPr>
        <p:spPr>
          <a:xfrm>
            <a:off x="4230875" y="4583470"/>
            <a:ext cx="1498612" cy="1498612"/>
          </a:xfrm>
          <a:prstGeom prst="ellipse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12" name="Freeform 12"/>
          <p:cNvSpPr/>
          <p:nvPr/>
        </p:nvSpPr>
        <p:spPr>
          <a:xfrm>
            <a:off x="4713980" y="5062314"/>
            <a:ext cx="532402" cy="502824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91440"/>
                </a:moveTo>
                <a:lnTo>
                  <a:pt x="152400" y="0"/>
                </a:lnTo>
                <a:lnTo>
                  <a:pt x="304800" y="91440"/>
                </a:lnTo>
                <a:lnTo>
                  <a:pt x="304800" y="121920"/>
                </a:lnTo>
                <a:lnTo>
                  <a:pt x="0" y="121920"/>
                </a:lnTo>
                <a:lnTo>
                  <a:pt x="0" y="91440"/>
                </a:lnTo>
                <a:close/>
                <a:moveTo>
                  <a:pt x="0" y="274320"/>
                </a:moveTo>
                <a:lnTo>
                  <a:pt x="304800" y="274320"/>
                </a:lnTo>
                <a:lnTo>
                  <a:pt x="304800" y="304800"/>
                </a:lnTo>
                <a:lnTo>
                  <a:pt x="0" y="304800"/>
                </a:lnTo>
                <a:lnTo>
                  <a:pt x="0" y="274320"/>
                </a:lnTo>
                <a:close/>
                <a:moveTo>
                  <a:pt x="30480" y="243840"/>
                </a:moveTo>
                <a:lnTo>
                  <a:pt x="274320" y="243840"/>
                </a:lnTo>
                <a:lnTo>
                  <a:pt x="274320" y="274320"/>
                </a:lnTo>
                <a:lnTo>
                  <a:pt x="30480" y="274320"/>
                </a:lnTo>
                <a:lnTo>
                  <a:pt x="30480" y="243840"/>
                </a:lnTo>
                <a:close/>
                <a:moveTo>
                  <a:pt x="30480" y="121920"/>
                </a:moveTo>
                <a:lnTo>
                  <a:pt x="91440" y="121920"/>
                </a:lnTo>
                <a:lnTo>
                  <a:pt x="91440" y="243840"/>
                </a:lnTo>
                <a:lnTo>
                  <a:pt x="30480" y="243840"/>
                </a:lnTo>
                <a:lnTo>
                  <a:pt x="30480" y="121920"/>
                </a:lnTo>
                <a:close/>
                <a:moveTo>
                  <a:pt x="121920" y="121920"/>
                </a:moveTo>
                <a:lnTo>
                  <a:pt x="182880" y="121920"/>
                </a:lnTo>
                <a:lnTo>
                  <a:pt x="182880" y="243840"/>
                </a:lnTo>
                <a:lnTo>
                  <a:pt x="121920" y="243840"/>
                </a:lnTo>
                <a:lnTo>
                  <a:pt x="121920" y="121920"/>
                </a:lnTo>
                <a:close/>
                <a:moveTo>
                  <a:pt x="213360" y="121920"/>
                </a:moveTo>
                <a:lnTo>
                  <a:pt x="274320" y="121920"/>
                </a:lnTo>
                <a:lnTo>
                  <a:pt x="274320" y="243840"/>
                </a:lnTo>
                <a:lnTo>
                  <a:pt x="213360" y="243840"/>
                </a:lnTo>
                <a:lnTo>
                  <a:pt x="213360" y="12192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 dirty="0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52400" y="674610"/>
            <a:ext cx="4724400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500" b="1" dirty="0" err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hfss软件介绍与操作指南</a:t>
            </a:r>
            <a:endParaRPr lang="en-US" sz="4500" b="1" dirty="0">
              <a:solidFill>
                <a:srgbClr val="208BD9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918359"/>
            <a:ext cx="5879784" cy="295334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605983"/>
            <a:ext cx="4061776" cy="35780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5901" y="1362476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高频结构仿真器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5901" y="2024509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HFSS（High Frequency Structure Simulator）是由Ansoft公司开发后被ANSYS收购的三维电磁仿真软件，是业界公认的三维电磁场设计和分析的工业标准。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hfss软件简介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598" y="1564792"/>
            <a:ext cx="353467" cy="353467"/>
            <a:chOff x="838598" y="1564792"/>
            <a:chExt cx="353467" cy="353467"/>
          </a:xfrm>
        </p:grpSpPr>
        <p:sp>
          <p:nvSpPr>
            <p:cNvPr id="6" name="AutoShape 6"/>
            <p:cNvSpPr/>
            <p:nvPr/>
          </p:nvSpPr>
          <p:spPr>
            <a:xfrm>
              <a:off x="920082" y="1646276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AutoShape 7"/>
            <p:cNvSpPr/>
            <p:nvPr/>
          </p:nvSpPr>
          <p:spPr>
            <a:xfrm>
              <a:off x="838598" y="1564792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8" name="TextBox 8"/>
          <p:cNvSpPr txBox="1"/>
          <p:nvPr/>
        </p:nvSpPr>
        <p:spPr>
          <a:xfrm>
            <a:off x="1685901" y="3189254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应用领域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01" y="3851288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HFSS广泛应用于无线和有线通信、雷达、卫星、航空航天、电子、半导体、计算机、网络等领域，帮助工程师们高效地设计各种高频结构和程序。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598" y="3391571"/>
            <a:ext cx="353467" cy="353467"/>
            <a:chOff x="838598" y="3391571"/>
            <a:chExt cx="353467" cy="353467"/>
          </a:xfrm>
        </p:grpSpPr>
        <p:sp>
          <p:nvSpPr>
            <p:cNvPr id="11" name="AutoShape 11"/>
            <p:cNvSpPr/>
            <p:nvPr/>
          </p:nvSpPr>
          <p:spPr>
            <a:xfrm>
              <a:off x="920082" y="3473055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838598" y="3391571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13" name="TextBox 13"/>
          <p:cNvSpPr txBox="1"/>
          <p:nvPr/>
        </p:nvSpPr>
        <p:spPr>
          <a:xfrm>
            <a:off x="1685901" y="4975292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核心功能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901" y="5637325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HFSS提供精确的电磁场仿真能力，包括S参数计算、天线增益、方向性、远场方向图等性能分析，支持从系统到部件级的设计。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8598" y="5177608"/>
            <a:ext cx="353467" cy="353467"/>
            <a:chOff x="838598" y="5177608"/>
            <a:chExt cx="353467" cy="353467"/>
          </a:xfrm>
        </p:grpSpPr>
        <p:sp>
          <p:nvSpPr>
            <p:cNvPr id="16" name="AutoShape 16"/>
            <p:cNvSpPr/>
            <p:nvPr/>
          </p:nvSpPr>
          <p:spPr>
            <a:xfrm>
              <a:off x="920082" y="5259092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838598" y="5177608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cxnSp>
        <p:nvCxnSpPr>
          <p:cNvPr id="18" name="Connector 18"/>
          <p:cNvCxnSpPr/>
          <p:nvPr/>
        </p:nvCxnSpPr>
        <p:spPr>
          <a:xfrm>
            <a:off x="1015332" y="1728028"/>
            <a:ext cx="0" cy="5214957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5279" y="2314941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575279" y="1272958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575279" y="3187184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主菜单与工具栏：HFSS采用标准的Windows系统菜单栏，包含所有操作命令，工具栏列出常用操作命令，方便用户快速访问。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057123" y="1834920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1150548" y="2128502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utoShape 7"/>
          <p:cNvSpPr/>
          <p:nvPr/>
        </p:nvSpPr>
        <p:spPr>
          <a:xfrm>
            <a:off x="2836339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2836339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2836339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项目管理窗口：显示所有打开的HFSS工程设计文件名称，便于管理和切换项目。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18182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2857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TextBox 11"/>
          <p:cNvSpPr txBox="1"/>
          <p:nvPr/>
        </p:nvSpPr>
        <p:spPr>
          <a:xfrm>
            <a:off x="3411608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100132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5100132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5100132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属性窗口与信息管理窗口：属性窗口显示选中设计或物体的属性信息，信息管理窗口则显示设计过程中的详细信息及错误警告。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581975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TextBox 16"/>
          <p:cNvSpPr txBox="1"/>
          <p:nvPr/>
        </p:nvSpPr>
        <p:spPr>
          <a:xfrm>
            <a:off x="5675401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392501" y="2351674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7392501" y="1309691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7392501" y="3223917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三维模型窗口：用于编辑和显示模型，支持直观的视窗操作和高级的分析控制。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874344" y="1871653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21" name="TextBox 21"/>
          <p:cNvSpPr txBox="1"/>
          <p:nvPr/>
        </p:nvSpPr>
        <p:spPr>
          <a:xfrm>
            <a:off x="7967769" y="2165235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656294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23" name="AutoShape 23"/>
          <p:cNvSpPr/>
          <p:nvPr/>
        </p:nvSpPr>
        <p:spPr>
          <a:xfrm>
            <a:off x="9656294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24" name="TextBox 24"/>
          <p:cNvSpPr txBox="1"/>
          <p:nvPr/>
        </p:nvSpPr>
        <p:spPr>
          <a:xfrm>
            <a:off x="9656294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进程窗口：显示当前设计的仿真运算过程，包括仿真进度和状态。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0138137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26" name="TextBox 26"/>
          <p:cNvSpPr txBox="1"/>
          <p:nvPr/>
        </p:nvSpPr>
        <p:spPr>
          <a:xfrm>
            <a:off x="10231563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hfss操作界面及功能</a:t>
            </a: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75279" y="2314941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575279" y="1272958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TextBox 4"/>
          <p:cNvSpPr txBox="1"/>
          <p:nvPr/>
        </p:nvSpPr>
        <p:spPr>
          <a:xfrm>
            <a:off x="575279" y="3187184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创建几何模型：在HFSS中新建模型，根据设计要求创建天线的几何结构，包括形状、大小、材料等参数。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1057123" y="1834920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1150548" y="2128502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AutoShape 7"/>
          <p:cNvSpPr/>
          <p:nvPr/>
        </p:nvSpPr>
        <p:spPr>
          <a:xfrm>
            <a:off x="2836339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8" name="AutoShape 8"/>
          <p:cNvSpPr/>
          <p:nvPr/>
        </p:nvSpPr>
        <p:spPr>
          <a:xfrm>
            <a:off x="2836339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9" name="TextBox 9"/>
          <p:cNvSpPr txBox="1"/>
          <p:nvPr/>
        </p:nvSpPr>
        <p:spPr>
          <a:xfrm>
            <a:off x="2836339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设置边界条件和激励源：根据天线的实际工作环境设置合适的边界条件，如完美电导体（PEC）、完美磁导体（PMC）等，并定义天线的输入端口和激励信号的频率、功率等参数。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318182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 w="28575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1" name="TextBox 11"/>
          <p:cNvSpPr txBox="1"/>
          <p:nvPr/>
        </p:nvSpPr>
        <p:spPr>
          <a:xfrm>
            <a:off x="3411608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100132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3" name="AutoShape 13"/>
          <p:cNvSpPr/>
          <p:nvPr/>
        </p:nvSpPr>
        <p:spPr>
          <a:xfrm>
            <a:off x="5100132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4" name="TextBox 14"/>
          <p:cNvSpPr txBox="1"/>
          <p:nvPr/>
        </p:nvSpPr>
        <p:spPr>
          <a:xfrm>
            <a:off x="5100132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网格剖分与求解设置：利用HFSS的自适应网格剖分技术，对模型进行网格剖分，并设置求解类型、频率范围、收敛标准等求解参数。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5581975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TextBox 16"/>
          <p:cNvSpPr txBox="1"/>
          <p:nvPr/>
        </p:nvSpPr>
        <p:spPr>
          <a:xfrm>
            <a:off x="5675401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AutoShape 17"/>
          <p:cNvSpPr/>
          <p:nvPr/>
        </p:nvSpPr>
        <p:spPr>
          <a:xfrm>
            <a:off x="7392501" y="2351674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7392501" y="1309691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7392501" y="3223917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仿真计算与结果分析：运行仿真计算，得到天线的S参数、阻抗匹配、辐射特性等结果，并通过后处理器生成详细的报告和图表进行分析。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7874344" y="1871653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21" name="TextBox 21"/>
          <p:cNvSpPr txBox="1"/>
          <p:nvPr/>
        </p:nvSpPr>
        <p:spPr>
          <a:xfrm>
            <a:off x="7967769" y="2165235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AutoShape 22"/>
          <p:cNvSpPr/>
          <p:nvPr/>
        </p:nvSpPr>
        <p:spPr>
          <a:xfrm>
            <a:off x="9656294" y="2322416"/>
            <a:ext cx="2019230" cy="4086159"/>
          </a:xfrm>
          <a:prstGeom prst="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23" name="AutoShape 23"/>
          <p:cNvSpPr/>
          <p:nvPr/>
        </p:nvSpPr>
        <p:spPr>
          <a:xfrm>
            <a:off x="9656294" y="1280432"/>
            <a:ext cx="2019230" cy="2019230"/>
          </a:xfrm>
          <a:prstGeom prst="ellipse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24" name="TextBox 24"/>
          <p:cNvSpPr txBox="1"/>
          <p:nvPr/>
        </p:nvSpPr>
        <p:spPr>
          <a:xfrm>
            <a:off x="9656294" y="3194659"/>
            <a:ext cx="2019300" cy="2914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  <a:spcBef>
                <a:spcPct val="0"/>
              </a:spcBef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优化设计：根据仿真结果，对天线的结构和参数进行优化设计，以提高性能并满足设计要求。</a:t>
            </a:r>
          </a:p>
        </p:txBody>
      </p:sp>
      <p:sp>
        <p:nvSpPr>
          <p:cNvPr id="25" name="AutoShape 25"/>
          <p:cNvSpPr/>
          <p:nvPr/>
        </p:nvSpPr>
        <p:spPr>
          <a:xfrm>
            <a:off x="10138137" y="1842394"/>
            <a:ext cx="1036482" cy="1036482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26" name="TextBox 26"/>
          <p:cNvSpPr txBox="1"/>
          <p:nvPr/>
        </p:nvSpPr>
        <p:spPr>
          <a:xfrm>
            <a:off x="10231563" y="2135977"/>
            <a:ext cx="84963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300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天线建模与仿真流程</a:t>
            </a:r>
          </a:p>
        </p:txBody>
      </p:sp>
      <p:sp>
        <p:nvSpPr>
          <p:cNvPr id="28" name="灯片编号占位符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596" y="2976755"/>
            <a:ext cx="10484808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 fontScale="77500" lnSpcReduction="20000"/>
          </a:bodyPr>
          <a:lstStyle/>
          <a:p>
            <a:pPr algn="ctr">
              <a:lnSpc>
                <a:spcPct val="120000"/>
              </a:lnSpc>
            </a:pPr>
            <a:r>
              <a:rPr 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半波偶极子天线设计与仿真</a:t>
            </a:r>
          </a:p>
          <a:p>
            <a:pPr algn="ctr">
              <a:lnSpc>
                <a:spcPct val="120000"/>
              </a:lnSpc>
            </a:pPr>
            <a:r>
              <a:rPr lang="zh-CN" alt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建模</a:t>
            </a:r>
            <a:r>
              <a:rPr lang="en-US" altLang="zh-CN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lang="zh-CN" alt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设置边界条件</a:t>
            </a:r>
            <a:r>
              <a:rPr lang="en-US" altLang="zh-CN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+</a:t>
            </a:r>
            <a:r>
              <a:rPr lang="zh-CN" alt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数据后处理（查看仿真结果）</a:t>
            </a:r>
            <a:endParaRPr lang="en-US" sz="4500" b="1">
              <a:solidFill>
                <a:srgbClr val="208BD9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0"/>
            <a:ext cx="4273550" cy="685800"/>
          </a:xfrm>
        </p:spPr>
        <p:txBody>
          <a:bodyPr/>
          <a:lstStyle/>
          <a:p>
            <a:pPr eaLnBrk="1" hangingPunct="1"/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3.2 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半波偶极子天线设计</a:t>
            </a:r>
          </a:p>
        </p:txBody>
      </p:sp>
      <p:sp>
        <p:nvSpPr>
          <p:cNvPr id="9219" name="Rectangle 3"/>
          <p:cNvSpPr>
            <a:spLocks noGrp="1" noRot="1" noChangeArrowheads="1"/>
          </p:cNvSpPr>
          <p:nvPr>
            <p:ph type="body" sz="half" idx="1"/>
          </p:nvPr>
        </p:nvSpPr>
        <p:spPr>
          <a:xfrm>
            <a:off x="1524000" y="1219200"/>
            <a:ext cx="4000500" cy="5638800"/>
          </a:xfrm>
        </p:spPr>
        <p:txBody>
          <a:bodyPr/>
          <a:lstStyle/>
          <a:p>
            <a:pPr eaLnBrk="1" hangingPunct="1"/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这里要求设计一个中心频率为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3GHz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的半波偶极子天线，天线沿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z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轴放置，中心位于坐标原点，天线材质使用理想导体，总长度为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</a:rPr>
              <a:t>0.48</a:t>
            </a:r>
            <a:r>
              <a:rPr lang="el-GR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λ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，半径为</a:t>
            </a:r>
            <a:r>
              <a:rPr lang="el-GR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λ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/200.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天线的馈电采用集总端口激励方式，端口距离为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0.24mm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，辐射边界和天线的距离为</a:t>
            </a:r>
            <a:r>
              <a:rPr lang="el-GR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λ</a:t>
            </a:r>
            <a:r>
              <a:rPr lang="en-US" altLang="zh-CN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/4</a:t>
            </a:r>
            <a:r>
              <a:rPr lang="zh-CN" altLang="en-US" sz="2400" b="1">
                <a:latin typeface="华文新魏" panose="02010800040101010101" pitchFamily="2" charset="-122"/>
                <a:ea typeface="华文新魏" panose="02010800040101010101" pitchFamily="2" charset="-122"/>
                <a:cs typeface="Arial" panose="020B0604020202020204" pitchFamily="34" charset="0"/>
              </a:rPr>
              <a:t>。</a:t>
            </a:r>
            <a:endParaRPr lang="zh-CN" altLang="el-GR" sz="2400" b="1">
              <a:latin typeface="华文新魏" panose="02010800040101010101" pitchFamily="2" charset="-122"/>
              <a:ea typeface="华文新魏" panose="02010800040101010101" pitchFamily="2" charset="-122"/>
              <a:cs typeface="Arial" panose="020B0604020202020204" pitchFamily="34" charset="0"/>
            </a:endParaRPr>
          </a:p>
        </p:txBody>
      </p:sp>
      <p:graphicFrame>
        <p:nvGraphicFramePr>
          <p:cNvPr id="97334" name="Group 54"/>
          <p:cNvGraphicFramePr>
            <a:graphicFrameLocks noGrp="1"/>
          </p:cNvGraphicFramePr>
          <p:nvPr>
            <p:ph sz="half" idx="2"/>
          </p:nvPr>
        </p:nvGraphicFramePr>
        <p:xfrm>
          <a:off x="5715000" y="0"/>
          <a:ext cx="4953000" cy="6794602"/>
        </p:xfrm>
        <a:graphic>
          <a:graphicData uri="http://schemas.openxmlformats.org/drawingml/2006/table">
            <a:tbl>
              <a:tblPr/>
              <a:tblGrid>
                <a:gridCol w="165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变量定义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变量名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变量单位（</a:t>
                      </a: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mm</a:t>
                      </a: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）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349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工作波长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  <a:cs typeface="Arial" charset="0"/>
                        </a:rPr>
                        <a:t>lambda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100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天线总长度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length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0.48*lambda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0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端口距离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gap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0.24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单个极子长度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dip_length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Length/2-gap/2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3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天线半径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dip_radius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Lambda/200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8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辐射边界圆柱体半径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rad_radius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Dip_radius+lambda/4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8868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新魏" pitchFamily="2" charset="-122"/>
                          <a:ea typeface="华文新魏" pitchFamily="2" charset="-122"/>
                        </a:rPr>
                        <a:t>辐射边界圆柱体高度</a:t>
                      </a:r>
                    </a:p>
                  </a:txBody>
                  <a:tcPr marT="45714" marB="45714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rad_height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华文新魏" pitchFamily="2" charset="-122"/>
                        </a:rPr>
                        <a:t>Dip_length+gap/2+lambda/10</a:t>
                      </a:r>
                    </a:p>
                  </a:txBody>
                  <a:tcPr marT="45714" marB="45714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8137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华文行楷" panose="02010800040101010101" pitchFamily="2" charset="-122"/>
                <a:ea typeface="华文行楷" panose="02010800040101010101" pitchFamily="2" charset="-122"/>
              </a:rPr>
              <a:t>3.3 HFSS</a:t>
            </a:r>
            <a:r>
              <a:rPr lang="zh-CN" altLang="en-US" b="1">
                <a:latin typeface="华文行楷" panose="02010800040101010101" pitchFamily="2" charset="-122"/>
                <a:ea typeface="华文行楷" panose="02010800040101010101" pitchFamily="2" charset="-122"/>
              </a:rPr>
              <a:t>天线设计流程</a:t>
            </a:r>
          </a:p>
        </p:txBody>
      </p:sp>
      <p:sp>
        <p:nvSpPr>
          <p:cNvPr id="102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52600" y="1524001"/>
            <a:ext cx="8534400" cy="449897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设置求解类型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：模式驱动（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driven model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）、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终端驱动（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driven Terminal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）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创建天线的结构模型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：根据天线的初始尺寸和结构，在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HFSS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窗口中创建出天线的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HFSS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参数化设计模型。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设置边界条件：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在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HFSS 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中，与背景接触的表面都被默认设置为理想导体边界（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Perfect E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）；为了模拟无限大的自由空间，必须把与背景相接触的表面设置为辐射边界条件或者理想匹配层（</a:t>
            </a:r>
            <a:r>
              <a:rPr lang="en-US" altLang="zh-CN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PML</a:t>
            </a:r>
            <a:r>
              <a:rPr lang="zh-CN" altLang="en-US" sz="2800" b="1">
                <a:latin typeface="华文新魏" panose="02010800040101010101" pitchFamily="2" charset="-122"/>
                <a:ea typeface="华文新魏" panose="02010800040101010101" pitchFamily="2" charset="-122"/>
              </a:rPr>
              <a:t>），这样才能计算出远区辐射场。</a:t>
            </a:r>
          </a:p>
        </p:txBody>
      </p:sp>
    </p:spTree>
    <p:extLst>
      <p:ext uri="{BB962C8B-B14F-4D97-AF65-F5344CB8AC3E}">
        <p14:creationId xmlns:p14="http://schemas.microsoft.com/office/powerpoint/2010/main" val="1774775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609600"/>
            <a:ext cx="8153400" cy="5715000"/>
          </a:xfrm>
        </p:spPr>
        <p:txBody>
          <a:bodyPr/>
          <a:lstStyle/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设置激励方式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。天线必须通过传输线或波导传输信号，天线与传输线或者波导连接处即为馈电面或激励端口。有两种激励方式：</a:t>
            </a:r>
            <a:r>
              <a:rPr lang="zh-CN" altLang="en-US" sz="2800" b="1">
                <a:solidFill>
                  <a:srgbClr val="00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波端口激励（</a:t>
            </a:r>
            <a:r>
              <a:rPr lang="en-US" altLang="zh-CN" sz="2800" b="1">
                <a:solidFill>
                  <a:srgbClr val="00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wave port</a:t>
            </a:r>
            <a:r>
              <a:rPr lang="zh-CN" altLang="en-US" sz="2800" b="1">
                <a:solidFill>
                  <a:srgbClr val="00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）和集总端口激励（</a:t>
            </a:r>
            <a:r>
              <a:rPr lang="en-US" altLang="zh-CN" sz="2800" b="1">
                <a:solidFill>
                  <a:srgbClr val="00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Lumped port</a:t>
            </a:r>
            <a:r>
              <a:rPr lang="zh-CN" altLang="en-US" sz="2800" b="1">
                <a:solidFill>
                  <a:srgbClr val="0033CC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）。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通常在与背景相接触的馈电面的激励方式使用波端口激励，在模型内部的馈电面的激励方式使用集总端口激励。</a:t>
            </a:r>
          </a:p>
          <a:p>
            <a:pPr eaLnBrk="1" hangingPunct="1"/>
            <a:r>
              <a:rPr lang="zh-CN" altLang="en-US" sz="2800" b="1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设置参数求解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，包括设定求解频率和扫频次数，求解频率通常设定为天线的工作频率。</a:t>
            </a:r>
          </a:p>
          <a:p>
            <a:pPr eaLnBrk="1" hangingPunct="1"/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运行求解分析。</a:t>
            </a:r>
          </a:p>
          <a:p>
            <a:pPr eaLnBrk="1" hangingPunct="1"/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查看求解结果。</a:t>
            </a:r>
          </a:p>
          <a:p>
            <a:pPr eaLnBrk="1" hangingPunct="1"/>
            <a:r>
              <a:rPr lang="en-US" altLang="zh-CN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Optimertrics</a:t>
            </a:r>
            <a:r>
              <a:rPr lang="zh-CN" altLang="en-US" sz="2800" b="1">
                <a:latin typeface="华文行楷" panose="02010800040101010101" pitchFamily="2" charset="-122"/>
                <a:ea typeface="华文行楷" panose="02010800040101010101" pitchFamily="2" charset="-122"/>
              </a:rPr>
              <a:t>优化设计。</a:t>
            </a:r>
          </a:p>
        </p:txBody>
      </p:sp>
    </p:spTree>
    <p:extLst>
      <p:ext uri="{BB962C8B-B14F-4D97-AF65-F5344CB8AC3E}">
        <p14:creationId xmlns:p14="http://schemas.microsoft.com/office/powerpoint/2010/main" val="28171679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>
                <a:latin typeface="华文新魏" panose="02010800040101010101" pitchFamily="2" charset="-122"/>
                <a:ea typeface="华文新魏" panose="02010800040101010101" pitchFamily="2" charset="-122"/>
              </a:rPr>
              <a:t>3.4</a:t>
            </a: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天线的</a:t>
            </a:r>
            <a:r>
              <a:rPr lang="en-US" altLang="zh-CN" b="1">
                <a:latin typeface="华文新魏" panose="02010800040101010101" pitchFamily="2" charset="-122"/>
                <a:ea typeface="华文新魏" panose="02010800040101010101" pitchFamily="2" charset="-122"/>
              </a:rPr>
              <a:t>HFSS</a:t>
            </a:r>
            <a:r>
              <a:rPr lang="zh-CN" altLang="en-US" b="1">
                <a:latin typeface="华文新魏" panose="02010800040101010101" pitchFamily="2" charset="-122"/>
                <a:ea typeface="华文新魏" panose="02010800040101010101" pitchFamily="2" charset="-122"/>
              </a:rPr>
              <a:t>仿真设计</a:t>
            </a:r>
          </a:p>
        </p:txBody>
      </p:sp>
      <p:sp>
        <p:nvSpPr>
          <p:cNvPr id="12291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381000" y="1143000"/>
            <a:ext cx="9525000" cy="4114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 dirty="0">
                <a:solidFill>
                  <a:srgbClr val="FF0000"/>
                </a:solidFill>
              </a:rPr>
              <a:t>1.</a:t>
            </a:r>
            <a:r>
              <a:rPr lang="zh-CN" altLang="en-US" sz="2800" b="1" dirty="0">
                <a:solidFill>
                  <a:srgbClr val="FF0000"/>
                </a:solidFill>
              </a:rPr>
              <a:t>新建设计工程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33CC"/>
                </a:solidFill>
              </a:rPr>
              <a:t>（</a:t>
            </a:r>
            <a:r>
              <a:rPr lang="en-US" altLang="zh-CN" sz="2800" b="1" dirty="0">
                <a:solidFill>
                  <a:srgbClr val="0033CC"/>
                </a:solidFill>
              </a:rPr>
              <a:t>1</a:t>
            </a:r>
            <a:r>
              <a:rPr lang="zh-CN" altLang="en-US" sz="2800" b="1" dirty="0">
                <a:solidFill>
                  <a:srgbClr val="0033CC"/>
                </a:solidFill>
              </a:rPr>
              <a:t>）运行</a:t>
            </a:r>
            <a:r>
              <a:rPr lang="en-US" altLang="zh-CN" sz="2800" b="1" dirty="0">
                <a:solidFill>
                  <a:srgbClr val="0033CC"/>
                </a:solidFill>
              </a:rPr>
              <a:t>HFSS</a:t>
            </a:r>
            <a:r>
              <a:rPr lang="zh-CN" altLang="en-US" sz="2800" b="1" dirty="0">
                <a:solidFill>
                  <a:srgbClr val="0033CC"/>
                </a:solidFill>
              </a:rPr>
              <a:t>并新建工程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启动</a:t>
            </a:r>
            <a:r>
              <a:rPr lang="en-US" altLang="zh-CN" sz="2800" b="1" dirty="0"/>
              <a:t>HFSS</a:t>
            </a:r>
            <a:r>
              <a:rPr lang="zh-CN" altLang="en-US" sz="2800" b="1" dirty="0"/>
              <a:t>软件，新建一个工程文件，把工程文件</a:t>
            </a:r>
            <a:endParaRPr lang="en-US" altLang="zh-CN" sz="2800" b="1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另存为</a:t>
            </a:r>
            <a:r>
              <a:rPr lang="en-US" altLang="zh-CN" sz="2800" b="1" dirty="0" err="1"/>
              <a:t>dipole.hfss</a:t>
            </a:r>
            <a:r>
              <a:rPr lang="zh-CN" altLang="en-US" sz="2800" b="1" dirty="0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33CC"/>
                </a:solidFill>
              </a:rPr>
              <a:t>（</a:t>
            </a:r>
            <a:r>
              <a:rPr lang="en-US" altLang="zh-CN" sz="2800" b="1" dirty="0">
                <a:solidFill>
                  <a:srgbClr val="0033CC"/>
                </a:solidFill>
              </a:rPr>
              <a:t>2</a:t>
            </a:r>
            <a:r>
              <a:rPr lang="zh-CN" altLang="en-US" sz="2800" b="1" dirty="0">
                <a:solidFill>
                  <a:srgbClr val="0033CC"/>
                </a:solidFill>
              </a:rPr>
              <a:t>）设置求解类型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 dirty="0"/>
              <a:t>在主菜单栏中选择</a:t>
            </a:r>
            <a:r>
              <a:rPr lang="en-US" altLang="zh-CN" sz="2800" b="1" dirty="0"/>
              <a:t>HFSS----Solution Type</a:t>
            </a:r>
            <a:r>
              <a:rPr lang="zh-CN" altLang="en-US" sz="2800" b="1" dirty="0"/>
              <a:t>，选中</a:t>
            </a:r>
            <a:r>
              <a:rPr lang="en-US" altLang="zh-CN" sz="2800" b="1" dirty="0"/>
              <a:t>Driven Mode</a:t>
            </a:r>
            <a:r>
              <a:rPr lang="zh-CN" altLang="en-US" sz="2800" b="1" dirty="0"/>
              <a:t>单选按钮，然后单击</a:t>
            </a:r>
            <a:r>
              <a:rPr lang="en-US" altLang="zh-CN" sz="2800" b="1" dirty="0"/>
              <a:t>ok</a:t>
            </a:r>
            <a:r>
              <a:rPr lang="zh-CN" altLang="en-US" sz="2800" b="1" dirty="0"/>
              <a:t>按钮，完成设置。</a:t>
            </a:r>
          </a:p>
        </p:txBody>
      </p:sp>
      <p:pic>
        <p:nvPicPr>
          <p:cNvPr id="1229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9055" y="4648201"/>
            <a:ext cx="3324225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5272" y="381000"/>
            <a:ext cx="3316728" cy="2959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693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3"/>
          <p:cNvSpPr txBox="1">
            <a:spLocks noRot="1" noChangeArrowheads="1"/>
          </p:cNvSpPr>
          <p:nvPr/>
        </p:nvSpPr>
        <p:spPr bwMode="auto">
          <a:xfrm>
            <a:off x="1981200" y="228600"/>
            <a:ext cx="81534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33CC"/>
                </a:solidFill>
              </a:rPr>
              <a:t>（</a:t>
            </a:r>
            <a:r>
              <a:rPr lang="en-US" altLang="zh-CN" sz="2800" b="1">
                <a:solidFill>
                  <a:srgbClr val="0033CC"/>
                </a:solidFill>
              </a:rPr>
              <a:t>3</a:t>
            </a:r>
            <a:r>
              <a:rPr lang="zh-CN" altLang="en-US" sz="2800" b="1">
                <a:solidFill>
                  <a:srgbClr val="0033CC"/>
                </a:solidFill>
              </a:rPr>
              <a:t>）设置模型长度单位</a:t>
            </a:r>
          </a:p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在主菜单栏中选择</a:t>
            </a:r>
            <a:r>
              <a:rPr lang="en-US" altLang="zh-CN" sz="2800" b="1"/>
              <a:t>Modeler----units</a:t>
            </a:r>
            <a:r>
              <a:rPr lang="zh-CN" altLang="en-US" sz="2800" b="1"/>
              <a:t>，选择</a:t>
            </a:r>
            <a:r>
              <a:rPr lang="en-US" altLang="zh-CN" sz="2800" b="1"/>
              <a:t>mm</a:t>
            </a:r>
            <a:r>
              <a:rPr lang="zh-CN" altLang="en-US" sz="2800" b="1"/>
              <a:t>。</a:t>
            </a:r>
          </a:p>
        </p:txBody>
      </p:sp>
      <p:sp>
        <p:nvSpPr>
          <p:cNvPr id="13315" name="Rectangle 3"/>
          <p:cNvSpPr txBox="1">
            <a:spLocks noRot="1" noChangeArrowheads="1"/>
          </p:cNvSpPr>
          <p:nvPr/>
        </p:nvSpPr>
        <p:spPr bwMode="auto">
          <a:xfrm>
            <a:off x="1968500" y="1295400"/>
            <a:ext cx="81534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2.</a:t>
            </a:r>
            <a:r>
              <a:rPr lang="zh-CN" altLang="en-US" sz="2800" b="1">
                <a:solidFill>
                  <a:srgbClr val="FF0000"/>
                </a:solidFill>
              </a:rPr>
              <a:t>添加和定义设计变量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在</a:t>
            </a:r>
            <a:r>
              <a:rPr lang="en-US" altLang="zh-CN" sz="2800" b="1"/>
              <a:t>HFSS</a:t>
            </a:r>
            <a:r>
              <a:rPr lang="zh-CN" altLang="en-US" sz="2800" b="1"/>
              <a:t>中定义和添加如图</a:t>
            </a:r>
            <a:r>
              <a:rPr lang="en-US" altLang="zh-CN" sz="2800" b="1"/>
              <a:t>1</a:t>
            </a:r>
            <a:r>
              <a:rPr lang="zh-CN" altLang="en-US" sz="2800" b="1"/>
              <a:t>所示的变量。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在</a:t>
            </a:r>
            <a:r>
              <a:rPr lang="en-US" altLang="zh-CN" sz="2800" b="1"/>
              <a:t>HFSS</a:t>
            </a:r>
            <a:r>
              <a:rPr lang="zh-CN" altLang="en-US" sz="2800" b="1"/>
              <a:t>主菜单栏中选择</a:t>
            </a:r>
            <a:r>
              <a:rPr lang="en-US" altLang="zh-CN" sz="2800" b="1"/>
              <a:t>HFSS----Design Properties</a:t>
            </a:r>
            <a:r>
              <a:rPr lang="zh-CN" altLang="en-US" sz="2800" b="1"/>
              <a:t>命令，打开设计属性对话框，单击</a:t>
            </a:r>
            <a:r>
              <a:rPr lang="en-US" altLang="zh-CN" sz="2800" b="1"/>
              <a:t>ADD</a:t>
            </a:r>
            <a:r>
              <a:rPr lang="zh-CN" altLang="en-US" sz="2800" b="1"/>
              <a:t>按钮，打开</a:t>
            </a:r>
            <a:r>
              <a:rPr lang="en-US" altLang="zh-CN" sz="2800" b="1"/>
              <a:t>add property</a:t>
            </a:r>
            <a:r>
              <a:rPr lang="zh-CN" altLang="en-US" sz="2800" b="1"/>
              <a:t>对话框，在</a:t>
            </a:r>
            <a:r>
              <a:rPr lang="en-US" altLang="zh-CN" sz="2800" b="1"/>
              <a:t>add property</a:t>
            </a:r>
            <a:r>
              <a:rPr lang="zh-CN" altLang="en-US" sz="2800" b="1"/>
              <a:t>对话框中的</a:t>
            </a:r>
            <a:r>
              <a:rPr lang="en-US" altLang="zh-CN" sz="2800" b="1"/>
              <a:t>name</a:t>
            </a:r>
            <a:r>
              <a:rPr lang="zh-CN" altLang="en-US" sz="2800" b="1"/>
              <a:t>输入</a:t>
            </a:r>
            <a:r>
              <a:rPr lang="en-US" altLang="zh-CN" sz="2800" b="1"/>
              <a:t>lambda</a:t>
            </a:r>
            <a:r>
              <a:rPr lang="zh-CN" altLang="en-US" sz="2800" b="1"/>
              <a:t>，初始值</a:t>
            </a:r>
            <a:r>
              <a:rPr lang="en-US" altLang="zh-CN" sz="2800" b="1"/>
              <a:t>100mm</a:t>
            </a:r>
            <a:r>
              <a:rPr lang="zh-CN" altLang="en-US" sz="2800" b="1"/>
              <a:t>，然后单击</a:t>
            </a:r>
            <a:r>
              <a:rPr lang="en-US" altLang="zh-CN" sz="2800" b="1"/>
              <a:t>ok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/>
              <a:t>依次定义变量</a:t>
            </a:r>
            <a:r>
              <a:rPr lang="en-US" altLang="zh-CN" sz="2800" b="1">
                <a:solidFill>
                  <a:srgbClr val="0033CC"/>
                </a:solidFill>
              </a:rPr>
              <a:t>length</a:t>
            </a:r>
            <a:r>
              <a:rPr lang="zh-CN" altLang="en-US" sz="2800" b="1"/>
              <a:t>，初始值</a:t>
            </a:r>
            <a:r>
              <a:rPr lang="en-US" altLang="zh-CN" sz="2800" b="1"/>
              <a:t>0.48*lambda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gap</a:t>
            </a:r>
            <a:r>
              <a:rPr lang="zh-CN" altLang="en-US" sz="2800" b="1"/>
              <a:t>，初始值</a:t>
            </a:r>
            <a:r>
              <a:rPr lang="en-US" altLang="zh-CN" sz="2800" b="1"/>
              <a:t>0.24mm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dip_length</a:t>
            </a:r>
            <a:r>
              <a:rPr lang="zh-CN" altLang="en-US" sz="2800" b="1"/>
              <a:t>，初始值</a:t>
            </a:r>
            <a:r>
              <a:rPr lang="en-US" altLang="zh-CN" sz="2800" b="1"/>
              <a:t>length/2-gap/2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dip_radius</a:t>
            </a:r>
            <a:r>
              <a:rPr lang="zh-CN" altLang="en-US" sz="2800" b="1"/>
              <a:t>，初始值</a:t>
            </a:r>
            <a:r>
              <a:rPr lang="en-US" altLang="zh-CN" sz="2800" b="1"/>
              <a:t>lambda/200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rad_radius</a:t>
            </a:r>
            <a:r>
              <a:rPr lang="zh-CN" altLang="en-US" sz="2800" b="1"/>
              <a:t>，初始值</a:t>
            </a:r>
            <a:r>
              <a:rPr lang="en-US" altLang="zh-CN" sz="2800" b="1"/>
              <a:t>dip_radius+lambda/4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rad_height</a:t>
            </a:r>
            <a:r>
              <a:rPr lang="zh-CN" altLang="en-US" sz="2800" b="1"/>
              <a:t>，初始值</a:t>
            </a:r>
            <a:r>
              <a:rPr lang="en-US" altLang="zh-CN" sz="2800" b="1"/>
              <a:t>dip_length+gap/2+lambda/10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80000"/>
              </a:lnSpc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最后点确定按钮。</a:t>
            </a:r>
          </a:p>
        </p:txBody>
      </p:sp>
    </p:spTree>
    <p:extLst>
      <p:ext uri="{BB962C8B-B14F-4D97-AF65-F5344CB8AC3E}">
        <p14:creationId xmlns:p14="http://schemas.microsoft.com/office/powerpoint/2010/main" val="24395503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33600" y="381000"/>
            <a:ext cx="8153400" cy="6172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FF0000"/>
                </a:solidFill>
              </a:rPr>
              <a:t>2.</a:t>
            </a:r>
            <a:r>
              <a:rPr lang="zh-CN" altLang="en-US" sz="2800" b="1">
                <a:solidFill>
                  <a:srgbClr val="FF0000"/>
                </a:solidFill>
              </a:rPr>
              <a:t>添加和定义设计变量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在</a:t>
            </a:r>
            <a:r>
              <a:rPr lang="en-US" altLang="zh-CN" sz="2800" b="1"/>
              <a:t>HFSS</a:t>
            </a:r>
            <a:r>
              <a:rPr lang="zh-CN" altLang="en-US" sz="2800" b="1"/>
              <a:t>中定义和添加如图</a:t>
            </a:r>
            <a:r>
              <a:rPr lang="en-US" altLang="zh-CN" sz="2800" b="1"/>
              <a:t>1</a:t>
            </a:r>
            <a:r>
              <a:rPr lang="zh-CN" altLang="en-US" sz="2800" b="1"/>
              <a:t>所示的变量。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在</a:t>
            </a:r>
            <a:r>
              <a:rPr lang="en-US" altLang="zh-CN" sz="2800" b="1"/>
              <a:t>HFSS</a:t>
            </a:r>
            <a:r>
              <a:rPr lang="zh-CN" altLang="en-US" sz="2800" b="1"/>
              <a:t>主菜单栏中选择</a:t>
            </a:r>
            <a:r>
              <a:rPr lang="en-US" altLang="zh-CN" sz="2800" b="1"/>
              <a:t>HFSS----Design Properties</a:t>
            </a:r>
            <a:r>
              <a:rPr lang="zh-CN" altLang="en-US" sz="2800" b="1"/>
              <a:t>命令，打开设计属性对话框，单击</a:t>
            </a:r>
            <a:r>
              <a:rPr lang="en-US" altLang="zh-CN" sz="2800" b="1"/>
              <a:t>ADD</a:t>
            </a:r>
            <a:r>
              <a:rPr lang="zh-CN" altLang="en-US" sz="2800" b="1"/>
              <a:t>按钮，打开</a:t>
            </a:r>
            <a:r>
              <a:rPr lang="en-US" altLang="zh-CN" sz="2800" b="1"/>
              <a:t>add property</a:t>
            </a:r>
            <a:r>
              <a:rPr lang="zh-CN" altLang="en-US" sz="2800" b="1"/>
              <a:t>对话框，在</a:t>
            </a:r>
            <a:r>
              <a:rPr lang="en-US" altLang="zh-CN" sz="2800" b="1"/>
              <a:t>add property</a:t>
            </a:r>
            <a:r>
              <a:rPr lang="zh-CN" altLang="en-US" sz="2800" b="1"/>
              <a:t>对话框中的</a:t>
            </a:r>
            <a:r>
              <a:rPr lang="en-US" altLang="zh-CN" sz="2800" b="1"/>
              <a:t>name</a:t>
            </a:r>
            <a:r>
              <a:rPr lang="zh-CN" altLang="en-US" sz="2800" b="1"/>
              <a:t>输入</a:t>
            </a:r>
            <a:r>
              <a:rPr lang="en-US" altLang="zh-CN" sz="2800" b="1"/>
              <a:t>lambda</a:t>
            </a:r>
            <a:r>
              <a:rPr lang="zh-CN" altLang="en-US" sz="2800" b="1"/>
              <a:t>，初始值</a:t>
            </a:r>
            <a:r>
              <a:rPr lang="en-US" altLang="zh-CN" sz="2800" b="1"/>
              <a:t>100mm</a:t>
            </a:r>
            <a:r>
              <a:rPr lang="zh-CN" altLang="en-US" sz="2800" b="1"/>
              <a:t>，然后单击</a:t>
            </a:r>
            <a:r>
              <a:rPr lang="en-US" altLang="zh-CN" sz="2800" b="1"/>
              <a:t>ok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/>
              <a:t>依次定义变量</a:t>
            </a:r>
            <a:r>
              <a:rPr lang="en-US" altLang="zh-CN" sz="2800" b="1">
                <a:solidFill>
                  <a:srgbClr val="0033CC"/>
                </a:solidFill>
              </a:rPr>
              <a:t>length</a:t>
            </a:r>
            <a:r>
              <a:rPr lang="zh-CN" altLang="en-US" sz="2800" b="1"/>
              <a:t>，初始值</a:t>
            </a:r>
            <a:r>
              <a:rPr lang="en-US" altLang="zh-CN" sz="2800" b="1"/>
              <a:t>0.48*lambda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gap</a:t>
            </a:r>
            <a:r>
              <a:rPr lang="zh-CN" altLang="en-US" sz="2800" b="1"/>
              <a:t>，初始值</a:t>
            </a:r>
            <a:r>
              <a:rPr lang="en-US" altLang="zh-CN" sz="2800" b="1"/>
              <a:t>0.24mm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dip_length</a:t>
            </a:r>
            <a:r>
              <a:rPr lang="zh-CN" altLang="en-US" sz="2800" b="1"/>
              <a:t>，初始值</a:t>
            </a:r>
            <a:r>
              <a:rPr lang="en-US" altLang="zh-CN" sz="2800" b="1"/>
              <a:t>length/2-gap/2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dip_radius</a:t>
            </a:r>
            <a:r>
              <a:rPr lang="zh-CN" altLang="en-US" sz="2800" b="1"/>
              <a:t>，初始值</a:t>
            </a:r>
            <a:r>
              <a:rPr lang="en-US" altLang="zh-CN" sz="2800" b="1"/>
              <a:t>lambda/200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rad_radius</a:t>
            </a:r>
            <a:r>
              <a:rPr lang="zh-CN" altLang="en-US" sz="2800" b="1"/>
              <a:t>，初始值</a:t>
            </a:r>
            <a:r>
              <a:rPr lang="en-US" altLang="zh-CN" sz="2800" b="1"/>
              <a:t>dip_radius+lambda/4</a:t>
            </a:r>
            <a:r>
              <a:rPr lang="zh-CN" altLang="en-US" sz="2800" b="1"/>
              <a:t>；定义变量</a:t>
            </a:r>
            <a:r>
              <a:rPr lang="en-US" altLang="zh-CN" sz="2800" b="1">
                <a:solidFill>
                  <a:srgbClr val="0033CC"/>
                </a:solidFill>
              </a:rPr>
              <a:t>rad_height</a:t>
            </a:r>
            <a:r>
              <a:rPr lang="zh-CN" altLang="en-US" sz="2800" b="1"/>
              <a:t>，初始值</a:t>
            </a:r>
            <a:r>
              <a:rPr lang="en-US" altLang="zh-CN" sz="2800" b="1"/>
              <a:t>dip_length+gap/2+lambda/10</a:t>
            </a:r>
            <a:r>
              <a:rPr lang="zh-CN" altLang="en-US" sz="2800" b="1"/>
              <a:t>。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最后点确定按钮。</a:t>
            </a:r>
          </a:p>
        </p:txBody>
      </p:sp>
    </p:spTree>
    <p:extLst>
      <p:ext uri="{BB962C8B-B14F-4D97-AF65-F5344CB8AC3E}">
        <p14:creationId xmlns:p14="http://schemas.microsoft.com/office/powerpoint/2010/main" val="186812235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90600"/>
            <a:ext cx="89566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3511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 b="1"/>
              <a:t>3.</a:t>
            </a:r>
            <a:r>
              <a:rPr lang="zh-CN" altLang="en-US" b="1"/>
              <a:t>设计建模</a:t>
            </a:r>
          </a:p>
        </p:txBody>
      </p:sp>
      <p:sp>
        <p:nvSpPr>
          <p:cNvPr id="16387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FF0000"/>
                </a:solidFill>
              </a:rPr>
              <a:t>（</a:t>
            </a:r>
            <a:r>
              <a:rPr lang="en-US" altLang="zh-CN" b="1">
                <a:solidFill>
                  <a:srgbClr val="FF0000"/>
                </a:solidFill>
              </a:rPr>
              <a:t>1</a:t>
            </a:r>
            <a:r>
              <a:rPr lang="zh-CN" altLang="en-US" b="1">
                <a:solidFill>
                  <a:srgbClr val="FF0000"/>
                </a:solidFill>
              </a:rPr>
              <a:t>）创建偶极子天线模型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在主菜单栏中选择</a:t>
            </a:r>
            <a:r>
              <a:rPr lang="en-US" altLang="zh-CN" b="1"/>
              <a:t>draw----cylinder</a:t>
            </a:r>
            <a:r>
              <a:rPr lang="zh-CN" altLang="en-US" b="1"/>
              <a:t>或单击工具栏上的圆柱体按钮，进入创建圆柱体的状态。新建的圆柱体会添加到操作历史树的</a:t>
            </a:r>
            <a:r>
              <a:rPr lang="en-US" altLang="zh-CN" b="1"/>
              <a:t>solids</a:t>
            </a:r>
            <a:r>
              <a:rPr lang="zh-CN" altLang="en-US" b="1"/>
              <a:t>节点下，默认名</a:t>
            </a:r>
            <a:r>
              <a:rPr lang="en-US" altLang="zh-CN" b="1"/>
              <a:t>cylinder</a:t>
            </a:r>
            <a:r>
              <a:rPr lang="zh-CN" altLang="en-US" b="1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双击操作历史树中的</a:t>
            </a:r>
            <a:r>
              <a:rPr lang="en-US" altLang="zh-CN" b="1"/>
              <a:t>solids</a:t>
            </a:r>
            <a:r>
              <a:rPr lang="zh-CN" altLang="en-US" b="1"/>
              <a:t>下的</a:t>
            </a:r>
            <a:r>
              <a:rPr lang="en-US" altLang="zh-CN" b="1"/>
              <a:t>cylinder</a:t>
            </a:r>
            <a:r>
              <a:rPr lang="zh-CN" altLang="en-US" b="1"/>
              <a:t>节点，打开如下对话框。把圆柱体名称设置为</a:t>
            </a:r>
            <a:r>
              <a:rPr lang="en-US" altLang="zh-CN" b="1"/>
              <a:t>Dipole</a:t>
            </a:r>
            <a:r>
              <a:rPr lang="zh-CN" altLang="en-US" b="1"/>
              <a:t>，</a:t>
            </a:r>
            <a:r>
              <a:rPr lang="zh-CN" altLang="en-US" b="1">
                <a:solidFill>
                  <a:srgbClr val="0033CC"/>
                </a:solidFill>
              </a:rPr>
              <a:t>其材质为</a:t>
            </a:r>
            <a:r>
              <a:rPr lang="en-US" altLang="zh-CN" b="1">
                <a:solidFill>
                  <a:srgbClr val="0033CC"/>
                </a:solidFill>
              </a:rPr>
              <a:t>pec</a:t>
            </a:r>
            <a:r>
              <a:rPr lang="zh-CN" altLang="en-US" b="1"/>
              <a:t>。如图所示。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3124200"/>
            <a:ext cx="3214006" cy="28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70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14400"/>
            <a:ext cx="89566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365038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28800" y="304801"/>
            <a:ext cx="8458200" cy="57943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双击操作历史树中的</a:t>
            </a:r>
            <a:r>
              <a:rPr lang="en-US" altLang="zh-CN" b="1"/>
              <a:t>Dipole</a:t>
            </a:r>
            <a:r>
              <a:rPr lang="zh-CN" altLang="en-US" b="1"/>
              <a:t>下的</a:t>
            </a:r>
            <a:r>
              <a:rPr lang="en-US" altLang="zh-CN" b="1"/>
              <a:t>createcylinder</a:t>
            </a:r>
            <a:r>
              <a:rPr lang="zh-CN" altLang="en-US" b="1"/>
              <a:t>节点，打开新建圆柱体属性对话框的</a:t>
            </a:r>
            <a:r>
              <a:rPr lang="en-US" altLang="zh-CN" b="1"/>
              <a:t>command</a:t>
            </a:r>
            <a:r>
              <a:rPr lang="zh-CN" altLang="en-US" b="1"/>
              <a:t>选项卡，在该选项卡中设置圆柱体的底面圆心坐标、半径和长度。在</a:t>
            </a:r>
            <a:r>
              <a:rPr lang="en-US" altLang="zh-CN" b="1"/>
              <a:t>center Position</a:t>
            </a:r>
            <a:r>
              <a:rPr lang="zh-CN" altLang="en-US" b="1"/>
              <a:t>文本框中输入底面圆心坐标（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gap	/2</a:t>
            </a:r>
            <a:r>
              <a:rPr lang="zh-CN" altLang="en-US" b="1"/>
              <a:t>）</a:t>
            </a:r>
            <a:r>
              <a:rPr lang="en-US" altLang="zh-CN" b="1"/>
              <a:t>,</a:t>
            </a:r>
            <a:r>
              <a:rPr lang="zh-CN" altLang="en-US" b="1"/>
              <a:t>在</a:t>
            </a:r>
            <a:r>
              <a:rPr lang="en-US" altLang="zh-CN" b="1"/>
              <a:t>Radius</a:t>
            </a:r>
            <a:r>
              <a:rPr lang="zh-CN" altLang="en-US" b="1"/>
              <a:t>文本框中输入半径值</a:t>
            </a:r>
            <a:r>
              <a:rPr lang="en-US" altLang="zh-CN" b="1"/>
              <a:t>dip_radius</a:t>
            </a:r>
            <a:r>
              <a:rPr lang="zh-CN" altLang="en-US" b="1"/>
              <a:t>，在</a:t>
            </a:r>
            <a:r>
              <a:rPr lang="en-US" altLang="zh-CN" b="1"/>
              <a:t>height</a:t>
            </a:r>
            <a:r>
              <a:rPr lang="zh-CN" altLang="en-US" b="1"/>
              <a:t>文本框中输入长度值</a:t>
            </a:r>
            <a:r>
              <a:rPr lang="en-US" altLang="zh-CN" b="1"/>
              <a:t>dip_length</a:t>
            </a:r>
            <a:r>
              <a:rPr lang="zh-CN" altLang="en-US" b="1"/>
              <a:t>，如下图所示。然后单击确定按钮，完成圆柱体</a:t>
            </a:r>
            <a:r>
              <a:rPr lang="en-US" altLang="zh-CN" b="1"/>
              <a:t>Dipole</a:t>
            </a:r>
            <a:r>
              <a:rPr lang="zh-CN" altLang="en-US" b="1"/>
              <a:t>的创建。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到此为止创建好了名称为</a:t>
            </a:r>
            <a:r>
              <a:rPr lang="en-US" altLang="zh-CN" b="1">
                <a:solidFill>
                  <a:srgbClr val="0033CC"/>
                </a:solidFill>
              </a:rPr>
              <a:t>Dipole</a:t>
            </a:r>
            <a:r>
              <a:rPr lang="zh-CN" altLang="en-US" b="1">
                <a:solidFill>
                  <a:srgbClr val="0033CC"/>
                </a:solidFill>
              </a:rPr>
              <a:t>的理想导体细圆柱体模型，按快捷键</a:t>
            </a:r>
            <a:r>
              <a:rPr lang="en-US" altLang="zh-CN" b="1">
                <a:solidFill>
                  <a:srgbClr val="0033CC"/>
                </a:solidFill>
              </a:rPr>
              <a:t>ctrl+D</a:t>
            </a:r>
            <a:r>
              <a:rPr lang="zh-CN" altLang="en-US" b="1">
                <a:solidFill>
                  <a:srgbClr val="0033CC"/>
                </a:solidFill>
              </a:rPr>
              <a:t>全屏显示。</a:t>
            </a:r>
          </a:p>
        </p:txBody>
      </p:sp>
    </p:spTree>
    <p:extLst>
      <p:ext uri="{BB962C8B-B14F-4D97-AF65-F5344CB8AC3E}">
        <p14:creationId xmlns:p14="http://schemas.microsoft.com/office/powerpoint/2010/main" val="1284770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295400"/>
            <a:ext cx="89566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236576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87630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接下来生成偶极子天线的另一个臂。</a:t>
            </a:r>
          </a:p>
          <a:p>
            <a:pPr eaLnBrk="1" hangingPunct="1"/>
            <a:r>
              <a:rPr lang="zh-CN" altLang="en-US" sz="2800" b="1"/>
              <a:t>选中创建的圆柱体模型</a:t>
            </a:r>
            <a:r>
              <a:rPr lang="en-US" altLang="zh-CN" sz="2800" b="1"/>
              <a:t>Dipole</a:t>
            </a:r>
            <a:r>
              <a:rPr lang="zh-CN" altLang="en-US" sz="2800" b="1"/>
              <a:t>，然后从主菜单栏中选择</a:t>
            </a:r>
            <a:r>
              <a:rPr lang="en-US" altLang="zh-CN" sz="2800" b="1"/>
              <a:t>edit----duplicate----around axis</a:t>
            </a:r>
            <a:r>
              <a:rPr lang="zh-CN" altLang="en-US" sz="2800" b="1"/>
              <a:t>，执行沿坐标轴的复制。会打开一个对话框。</a:t>
            </a:r>
          </a:p>
          <a:p>
            <a:pPr eaLnBrk="1" hangingPunct="1"/>
            <a:r>
              <a:rPr lang="zh-CN" altLang="en-US" sz="2800" b="1"/>
              <a:t>在所打开的对话框中</a:t>
            </a:r>
          </a:p>
          <a:p>
            <a:pPr eaLnBrk="1" hangingPunct="1"/>
            <a:r>
              <a:rPr lang="zh-CN" altLang="en-US" sz="2800" b="1"/>
              <a:t>将</a:t>
            </a:r>
            <a:r>
              <a:rPr lang="en-US" altLang="zh-CN" sz="2800" b="1"/>
              <a:t>Axis</a:t>
            </a:r>
            <a:r>
              <a:rPr lang="zh-CN" altLang="en-US" sz="2800" b="1"/>
              <a:t>设置为</a:t>
            </a:r>
            <a:r>
              <a:rPr lang="en-US" altLang="zh-CN" sz="2800" b="1"/>
              <a:t>x</a:t>
            </a:r>
            <a:r>
              <a:rPr lang="zh-CN" altLang="en-US" sz="2800" b="1"/>
              <a:t>轴，</a:t>
            </a:r>
          </a:p>
          <a:p>
            <a:pPr eaLnBrk="1" hangingPunct="1"/>
            <a:r>
              <a:rPr lang="zh-CN" altLang="en-US" sz="2800" b="1"/>
              <a:t>将</a:t>
            </a:r>
            <a:r>
              <a:rPr lang="en-US" altLang="zh-CN" sz="2800" b="1"/>
              <a:t>Angle</a:t>
            </a:r>
            <a:r>
              <a:rPr lang="zh-CN" altLang="en-US" sz="2800" b="1"/>
              <a:t>选项设置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为</a:t>
            </a:r>
            <a:r>
              <a:rPr lang="en-US" altLang="zh-CN" sz="2800" b="1"/>
              <a:t>180deg</a:t>
            </a:r>
            <a:r>
              <a:rPr lang="zh-CN" altLang="en-US" sz="2800" b="1"/>
              <a:t>，</a:t>
            </a:r>
          </a:p>
          <a:p>
            <a:pPr eaLnBrk="1" hangingPunct="1"/>
            <a:r>
              <a:rPr lang="zh-CN" altLang="en-US" sz="2800" b="1"/>
              <a:t>并在</a:t>
            </a:r>
            <a:r>
              <a:rPr lang="en-US" altLang="zh-CN" sz="2800" b="1"/>
              <a:t>total number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数值框中输入</a:t>
            </a:r>
            <a:r>
              <a:rPr lang="en-US" altLang="zh-CN" sz="2800" b="1"/>
              <a:t>2</a:t>
            </a:r>
            <a:r>
              <a:rPr lang="zh-CN" altLang="en-US" sz="2800" b="1"/>
              <a:t>，</a:t>
            </a:r>
          </a:p>
          <a:p>
            <a:pPr eaLnBrk="1" hangingPunct="1"/>
            <a:r>
              <a:rPr lang="zh-CN" altLang="en-US" sz="2800" b="1"/>
              <a:t>单击</a:t>
            </a:r>
            <a:r>
              <a:rPr lang="en-US" altLang="zh-CN" sz="2800" b="1"/>
              <a:t>ok</a:t>
            </a:r>
            <a:r>
              <a:rPr lang="zh-CN" altLang="en-US" sz="2800" b="1"/>
              <a:t>按钮。</a:t>
            </a:r>
          </a:p>
        </p:txBody>
      </p:sp>
      <p:pic>
        <p:nvPicPr>
          <p:cNvPr id="204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2514600"/>
            <a:ext cx="4191000" cy="377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2398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304800"/>
            <a:ext cx="9144000" cy="65532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（</a:t>
            </a:r>
            <a:r>
              <a:rPr lang="en-US" altLang="zh-CN" b="1">
                <a:solidFill>
                  <a:srgbClr val="0033CC"/>
                </a:solidFill>
              </a:rPr>
              <a:t>2</a:t>
            </a:r>
            <a:r>
              <a:rPr lang="zh-CN" altLang="en-US" b="1">
                <a:solidFill>
                  <a:srgbClr val="0033CC"/>
                </a:solidFill>
              </a:rPr>
              <a:t>）设置端口激励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</a:t>
            </a:r>
            <a:r>
              <a:rPr lang="zh-CN" altLang="en-US" sz="2800" b="1"/>
              <a:t>半波偶极子天线由中心位置馈电。在偶极子中心位置创建一个平行于</a:t>
            </a:r>
            <a:r>
              <a:rPr lang="en-US" altLang="zh-CN" sz="2800" b="1"/>
              <a:t>yz</a:t>
            </a:r>
            <a:r>
              <a:rPr lang="zh-CN" altLang="en-US" sz="2800" b="1"/>
              <a:t>面矩形面作为激励端口平面，并设置端口平面的激励方式为集总端口激励。该矩形面需要把偶极子天线的两个臂连接起来。因此其顶点坐标为（</a:t>
            </a:r>
            <a:r>
              <a:rPr lang="en-US" altLang="zh-CN" sz="2800" b="1"/>
              <a:t>0</a:t>
            </a:r>
            <a:r>
              <a:rPr lang="zh-CN" altLang="en-US" sz="2800" b="1"/>
              <a:t>，</a:t>
            </a:r>
            <a:r>
              <a:rPr lang="en-US" altLang="zh-CN" sz="2800" b="1"/>
              <a:t>-dip_radius</a:t>
            </a:r>
            <a:r>
              <a:rPr lang="zh-CN" altLang="en-US" sz="2800" b="1"/>
              <a:t>，</a:t>
            </a:r>
            <a:r>
              <a:rPr lang="en-US" altLang="zh-CN" sz="2800" b="1"/>
              <a:t>-gap/2</a:t>
            </a:r>
            <a:r>
              <a:rPr lang="zh-CN" altLang="en-US" sz="2800" b="1"/>
              <a:t>），长度和宽度分别为</a:t>
            </a:r>
            <a:r>
              <a:rPr lang="en-US" altLang="zh-CN" sz="2800" b="1"/>
              <a:t>2*dip_radius</a:t>
            </a:r>
            <a:r>
              <a:rPr lang="zh-CN" altLang="en-US" sz="2800" b="1"/>
              <a:t>和</a:t>
            </a:r>
            <a:r>
              <a:rPr lang="en-US" altLang="zh-CN" sz="2800" b="1"/>
              <a:t>gap</a:t>
            </a:r>
            <a:r>
              <a:rPr lang="zh-CN" altLang="en-US" sz="2800" b="1"/>
              <a:t>。</a:t>
            </a:r>
          </a:p>
          <a:p>
            <a:pPr eaLnBrk="1" hangingPunct="1"/>
            <a:r>
              <a:rPr lang="zh-CN" altLang="en-US" sz="2800" b="1"/>
              <a:t>单击工具栏上的</a:t>
            </a:r>
            <a:r>
              <a:rPr lang="en-US" altLang="zh-CN" sz="2800" b="1"/>
              <a:t>xy</a:t>
            </a:r>
            <a:r>
              <a:rPr lang="zh-CN" altLang="en-US" sz="2800" b="1"/>
              <a:t>下拉菜单列表框，选择</a:t>
            </a:r>
            <a:r>
              <a:rPr lang="en-US" altLang="zh-CN" sz="2800" b="1"/>
              <a:t>yz</a:t>
            </a:r>
            <a:r>
              <a:rPr lang="zh-CN" altLang="en-US" sz="2800" b="1"/>
              <a:t>选项，把当前工作面设置为</a:t>
            </a:r>
            <a:r>
              <a:rPr lang="en-US" altLang="zh-CN" sz="2800" b="1"/>
              <a:t>yz</a:t>
            </a:r>
            <a:r>
              <a:rPr lang="zh-CN" altLang="en-US" sz="2800" b="1"/>
              <a:t>平面；然后从主菜单栏中选择</a:t>
            </a:r>
            <a:r>
              <a:rPr lang="en-US" altLang="zh-CN" sz="2800" b="1"/>
              <a:t>draw----rectangle</a:t>
            </a:r>
            <a:r>
              <a:rPr lang="zh-CN" altLang="en-US" sz="2800" b="1"/>
              <a:t>。新建的矩形面会添加到操作历史树的</a:t>
            </a:r>
            <a:r>
              <a:rPr lang="en-US" altLang="zh-CN" sz="2800" b="1"/>
              <a:t>sheets</a:t>
            </a:r>
            <a:r>
              <a:rPr lang="zh-CN" altLang="en-US" sz="2800" b="1"/>
              <a:t>节点下，其默认的名称是</a:t>
            </a:r>
            <a:r>
              <a:rPr lang="en-US" altLang="zh-CN" sz="2800" b="1"/>
              <a:t>rectangle1.</a:t>
            </a:r>
          </a:p>
          <a:p>
            <a:pPr eaLnBrk="1" hangingPunct="1"/>
            <a:r>
              <a:rPr lang="zh-CN" altLang="en-US" sz="2800" b="1"/>
              <a:t>双击操作历史树中的</a:t>
            </a:r>
            <a:r>
              <a:rPr lang="en-US" altLang="zh-CN" sz="2800" b="1"/>
              <a:t>sheets</a:t>
            </a:r>
            <a:r>
              <a:rPr lang="zh-CN" altLang="en-US" sz="2800" b="1"/>
              <a:t>下的</a:t>
            </a:r>
            <a:r>
              <a:rPr lang="en-US" altLang="zh-CN" sz="2800" b="1"/>
              <a:t>rectangle1</a:t>
            </a:r>
            <a:r>
              <a:rPr lang="zh-CN" altLang="en-US" sz="2800" b="1"/>
              <a:t>节点，打开新建矩形面属性对话框，把矩形面的名称设置为</a:t>
            </a:r>
            <a:r>
              <a:rPr lang="en-US" altLang="zh-CN" sz="2800" b="1"/>
              <a:t>Port</a:t>
            </a:r>
            <a:r>
              <a:rPr lang="zh-CN" altLang="en-US" sz="2800" b="1"/>
              <a:t>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800" b="1"/>
          </a:p>
        </p:txBody>
      </p:sp>
    </p:spTree>
    <p:extLst>
      <p:ext uri="{BB962C8B-B14F-4D97-AF65-F5344CB8AC3E}">
        <p14:creationId xmlns:p14="http://schemas.microsoft.com/office/powerpoint/2010/main" val="13620758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990600"/>
            <a:ext cx="8802688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020432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33600" y="228601"/>
            <a:ext cx="8153400" cy="5870575"/>
          </a:xfrm>
        </p:spPr>
        <p:txBody>
          <a:bodyPr/>
          <a:lstStyle/>
          <a:p>
            <a:pPr eaLnBrk="1" hangingPunct="1"/>
            <a:r>
              <a:rPr lang="zh-CN" altLang="en-US" b="1"/>
              <a:t>双击操作历史树中</a:t>
            </a:r>
            <a:r>
              <a:rPr lang="en-US" altLang="zh-CN" b="1"/>
              <a:t>port</a:t>
            </a:r>
            <a:r>
              <a:rPr lang="zh-CN" altLang="en-US" b="1"/>
              <a:t>下的</a:t>
            </a:r>
            <a:r>
              <a:rPr lang="en-US" altLang="zh-CN" b="1"/>
              <a:t>creatrectangle</a:t>
            </a:r>
            <a:r>
              <a:rPr lang="zh-CN" altLang="en-US" b="1"/>
              <a:t>节点，打开新建矩形面属性对话框的</a:t>
            </a:r>
            <a:r>
              <a:rPr lang="en-US" altLang="zh-CN" b="1"/>
              <a:t>command</a:t>
            </a:r>
            <a:r>
              <a:rPr lang="zh-CN" altLang="en-US" b="1"/>
              <a:t>选项卡，在该选项卡中设置矩形面的顶点坐标和大小。</a:t>
            </a:r>
          </a:p>
          <a:p>
            <a:pPr eaLnBrk="1" hangingPunct="1"/>
            <a:r>
              <a:rPr lang="zh-CN" altLang="en-US" b="1"/>
              <a:t>在</a:t>
            </a:r>
            <a:r>
              <a:rPr lang="en-US" altLang="zh-CN" b="1"/>
              <a:t>position</a:t>
            </a:r>
            <a:r>
              <a:rPr lang="zh-CN" altLang="en-US" b="1"/>
              <a:t>文本框中输入顶点坐标（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-dip_radius</a:t>
            </a:r>
            <a:r>
              <a:rPr lang="zh-CN" altLang="en-US" b="1"/>
              <a:t>，</a:t>
            </a:r>
            <a:r>
              <a:rPr lang="en-US" altLang="zh-CN" b="1"/>
              <a:t>-gap/2</a:t>
            </a:r>
            <a:r>
              <a:rPr lang="zh-CN" altLang="en-US" b="1"/>
              <a:t>），在</a:t>
            </a:r>
            <a:r>
              <a:rPr lang="en-US" altLang="zh-CN" b="1"/>
              <a:t>Ysize</a:t>
            </a:r>
            <a:r>
              <a:rPr lang="zh-CN" altLang="en-US" b="1"/>
              <a:t>和</a:t>
            </a:r>
            <a:r>
              <a:rPr lang="en-US" altLang="zh-CN" b="1"/>
              <a:t>Zsize</a:t>
            </a:r>
            <a:r>
              <a:rPr lang="zh-CN" altLang="en-US" b="1"/>
              <a:t>文本框中分别输入矩形面的长和宽为</a:t>
            </a:r>
            <a:r>
              <a:rPr lang="en-US" altLang="zh-CN" b="1"/>
              <a:t>2*dip_radius</a:t>
            </a:r>
            <a:r>
              <a:rPr lang="zh-CN" altLang="en-US" b="1"/>
              <a:t>和</a:t>
            </a:r>
            <a:r>
              <a:rPr lang="en-US" altLang="zh-CN" b="1"/>
              <a:t>gap</a:t>
            </a:r>
            <a:r>
              <a:rPr lang="zh-CN" altLang="en-US" b="1"/>
              <a:t>，如下图所示。</a:t>
            </a:r>
          </a:p>
          <a:p>
            <a:pPr eaLnBrk="1" hangingPunct="1"/>
            <a:r>
              <a:rPr lang="zh-CN" altLang="en-US" b="1"/>
              <a:t>最后按</a:t>
            </a:r>
            <a:r>
              <a:rPr lang="en-US" altLang="zh-CN" b="1"/>
              <a:t>ok</a:t>
            </a:r>
            <a:r>
              <a:rPr lang="zh-CN" altLang="en-US" b="1"/>
              <a:t>按钮。</a:t>
            </a:r>
          </a:p>
          <a:p>
            <a:pPr eaLnBrk="1" hangingPunct="1"/>
            <a:r>
              <a:rPr lang="zh-CN" altLang="en-US" b="1">
                <a:solidFill>
                  <a:srgbClr val="0033CC"/>
                </a:solidFill>
              </a:rPr>
              <a:t>接下来要设置该矩形面的激励方式为集总端口激励，具体操作方法如下：</a:t>
            </a:r>
          </a:p>
        </p:txBody>
      </p:sp>
    </p:spTree>
    <p:extLst>
      <p:ext uri="{BB962C8B-B14F-4D97-AF65-F5344CB8AC3E}">
        <p14:creationId xmlns:p14="http://schemas.microsoft.com/office/powerpoint/2010/main" val="3825205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457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64" y="1219200"/>
            <a:ext cx="8956675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7463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600200" y="12700"/>
            <a:ext cx="8763000" cy="6477000"/>
          </a:xfrm>
        </p:spPr>
        <p:txBody>
          <a:bodyPr/>
          <a:lstStyle/>
          <a:p>
            <a:pPr eaLnBrk="1" hangingPunct="1"/>
            <a:r>
              <a:rPr lang="zh-CN" altLang="en-US" sz="2900" b="1"/>
              <a:t>在操作历史树中的</a:t>
            </a:r>
            <a:r>
              <a:rPr lang="en-US" altLang="zh-CN" sz="2900" b="1"/>
              <a:t>sheets</a:t>
            </a:r>
            <a:r>
              <a:rPr lang="zh-CN" altLang="en-US" sz="2900" b="1"/>
              <a:t>节点下选中该矩形面。然后在其上单击鼠标右键，在弹出的快捷菜单中选择</a:t>
            </a:r>
            <a:r>
              <a:rPr lang="en-US" altLang="zh-CN" sz="2900" b="1"/>
              <a:t>assign excitation----lumped port</a:t>
            </a:r>
            <a:r>
              <a:rPr lang="zh-CN" altLang="en-US" sz="2900" b="1"/>
              <a:t>，在打开的集总参数设置对话框中，将</a:t>
            </a:r>
            <a:r>
              <a:rPr lang="en-US" altLang="zh-CN" sz="2900" b="1"/>
              <a:t>resistance</a:t>
            </a:r>
            <a:r>
              <a:rPr lang="zh-CN" altLang="en-US" sz="2900" b="1"/>
              <a:t>设为</a:t>
            </a:r>
            <a:r>
              <a:rPr lang="en-US" altLang="zh-CN" sz="2900" b="1"/>
              <a:t>73.2</a:t>
            </a:r>
            <a:r>
              <a:rPr lang="zh-CN" altLang="en-US" sz="2900" b="1"/>
              <a:t>欧姆，将</a:t>
            </a:r>
            <a:r>
              <a:rPr lang="en-US" altLang="zh-CN" sz="2900" b="1"/>
              <a:t>reactance</a:t>
            </a:r>
            <a:r>
              <a:rPr lang="zh-CN" altLang="en-US" sz="2900" b="1"/>
              <a:t>设为</a:t>
            </a:r>
            <a:r>
              <a:rPr lang="en-US" altLang="zh-CN" sz="2900" b="1"/>
              <a:t>0ohm</a:t>
            </a:r>
            <a:r>
              <a:rPr lang="zh-CN" altLang="en-US" sz="2900" b="1"/>
              <a:t>，然后单击下一步；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2393950"/>
            <a:ext cx="4200525" cy="421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5510526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 txBox="1">
            <a:spLocks noRot="1" noChangeArrowheads="1"/>
          </p:cNvSpPr>
          <p:nvPr/>
        </p:nvSpPr>
        <p:spPr bwMode="auto">
          <a:xfrm>
            <a:off x="1524000" y="0"/>
            <a:ext cx="8763000" cy="647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§"/>
            </a:pPr>
            <a:r>
              <a:rPr lang="zh-CN" altLang="en-US" sz="2900" b="1"/>
              <a:t>打开</a:t>
            </a:r>
            <a:r>
              <a:rPr lang="en-US" altLang="zh-CN" sz="2900" b="1"/>
              <a:t>modes</a:t>
            </a:r>
            <a:r>
              <a:rPr lang="zh-CN" altLang="en-US" sz="2900" b="1"/>
              <a:t>对话框，在对话框中单击</a:t>
            </a:r>
            <a:r>
              <a:rPr lang="en-US" altLang="zh-CN" sz="2900" b="1"/>
              <a:t>Integration Line</a:t>
            </a:r>
            <a:r>
              <a:rPr lang="zh-CN" altLang="en-US" sz="2900" b="1"/>
              <a:t>列下的</a:t>
            </a:r>
            <a:r>
              <a:rPr lang="en-US" altLang="zh-CN" sz="2900" b="1"/>
              <a:t>none</a:t>
            </a:r>
            <a:r>
              <a:rPr lang="zh-CN" altLang="en-US" sz="2900" b="1"/>
              <a:t>，从下拉菜单中选择</a:t>
            </a:r>
            <a:r>
              <a:rPr lang="en-US" altLang="zh-CN" sz="2900" b="1"/>
              <a:t>new line</a:t>
            </a:r>
            <a:r>
              <a:rPr lang="zh-CN" altLang="en-US" sz="2900" b="1"/>
              <a:t>选项，此时会进入三维模型窗口进行端口积分线的设置。</a:t>
            </a:r>
          </a:p>
        </p:txBody>
      </p:sp>
      <p:pic>
        <p:nvPicPr>
          <p:cNvPr id="26627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0538" y="1447801"/>
            <a:ext cx="5199062" cy="5211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996953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2100" y="1090614"/>
            <a:ext cx="9067800" cy="4676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378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（</a:t>
            </a:r>
            <a:r>
              <a:rPr lang="en-US" altLang="zh-CN" b="1"/>
              <a:t>3</a:t>
            </a:r>
            <a:r>
              <a:rPr lang="zh-CN" altLang="en-US" b="1"/>
              <a:t>）设置辐射边界条件</a:t>
            </a:r>
          </a:p>
        </p:txBody>
      </p:sp>
      <p:sp>
        <p:nvSpPr>
          <p:cNvPr id="2867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1524001"/>
            <a:ext cx="8839200" cy="44989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要在</a:t>
            </a:r>
            <a:r>
              <a:rPr lang="en-US" altLang="zh-CN" b="1"/>
              <a:t>HFSS</a:t>
            </a:r>
            <a:r>
              <a:rPr lang="zh-CN" altLang="en-US" b="1"/>
              <a:t>中计算分析天线的辐射场，则必须设置辐射边界条件或</a:t>
            </a:r>
            <a:r>
              <a:rPr lang="en-US" altLang="zh-CN" b="1"/>
              <a:t>PML</a:t>
            </a:r>
            <a:r>
              <a:rPr lang="zh-CN" altLang="en-US" b="1"/>
              <a:t>边界条件。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当前设计中我们使用辐射边界条件，辐射边界和天线之间的距离为</a:t>
            </a:r>
            <a:r>
              <a:rPr lang="en-US" altLang="zh-CN" b="1"/>
              <a:t>1/4</a:t>
            </a:r>
            <a:r>
              <a:rPr lang="zh-CN" altLang="en-US" b="1"/>
              <a:t>个工作波长。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b="1"/>
              <a:t>这里，我们要先创建一个沿着</a:t>
            </a:r>
            <a:r>
              <a:rPr lang="en-US" altLang="zh-CN" b="1"/>
              <a:t>z</a:t>
            </a:r>
            <a:r>
              <a:rPr lang="zh-CN" altLang="en-US" b="1"/>
              <a:t>轴放置的圆柱体模型，其材质为空气（</a:t>
            </a:r>
            <a:r>
              <a:rPr lang="en-US" altLang="zh-CN" b="1"/>
              <a:t>air</a:t>
            </a:r>
            <a:r>
              <a:rPr lang="zh-CN" altLang="en-US" b="1"/>
              <a:t>），底面圆心坐标为（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-rad_height</a:t>
            </a:r>
            <a:r>
              <a:rPr lang="zh-CN" altLang="en-US" b="1"/>
              <a:t>），半径为</a:t>
            </a:r>
            <a:r>
              <a:rPr lang="en-US" altLang="zh-CN" b="1"/>
              <a:t>rad_radius</a:t>
            </a:r>
            <a:r>
              <a:rPr lang="zh-CN" altLang="en-US" b="1"/>
              <a:t>，高度为</a:t>
            </a:r>
            <a:r>
              <a:rPr lang="en-US" altLang="zh-CN" b="1"/>
              <a:t>2*rad_height</a:t>
            </a:r>
            <a:r>
              <a:rPr lang="zh-CN" altLang="en-US" b="1"/>
              <a:t>，然后把该圆柱体的表面设置为辐射边界条件。</a:t>
            </a:r>
          </a:p>
        </p:txBody>
      </p:sp>
    </p:spTree>
    <p:extLst>
      <p:ext uri="{BB962C8B-B14F-4D97-AF65-F5344CB8AC3E}">
        <p14:creationId xmlns:p14="http://schemas.microsoft.com/office/powerpoint/2010/main" val="994231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828800" y="0"/>
            <a:ext cx="8458200" cy="6629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33CC"/>
                </a:solidFill>
              </a:rPr>
              <a:t>A</a:t>
            </a:r>
            <a:r>
              <a:rPr lang="zh-CN" altLang="en-US" b="1">
                <a:solidFill>
                  <a:srgbClr val="0033CC"/>
                </a:solidFill>
              </a:rPr>
              <a:t>。创建辐射边界的圆柱体</a:t>
            </a:r>
          </a:p>
          <a:p>
            <a:pPr eaLnBrk="1" hangingPunct="1"/>
            <a:r>
              <a:rPr lang="zh-CN" altLang="en-US" b="1"/>
              <a:t>单击工具栏上的</a:t>
            </a:r>
            <a:r>
              <a:rPr lang="en-US" altLang="zh-CN" b="1"/>
              <a:t>YZ</a:t>
            </a:r>
            <a:r>
              <a:rPr lang="zh-CN" altLang="en-US" b="1"/>
              <a:t>下拉列表框，从其下拉列表中选择</a:t>
            </a:r>
            <a:r>
              <a:rPr lang="en-US" altLang="zh-CN" b="1"/>
              <a:t>XY</a:t>
            </a:r>
            <a:r>
              <a:rPr lang="zh-CN" altLang="en-US" b="1"/>
              <a:t>项，把当前工作平面设置为</a:t>
            </a:r>
            <a:r>
              <a:rPr lang="en-US" altLang="zh-CN" b="1"/>
              <a:t>xy</a:t>
            </a:r>
            <a:r>
              <a:rPr lang="zh-CN" altLang="en-US" b="1"/>
              <a:t>平面；</a:t>
            </a:r>
          </a:p>
          <a:p>
            <a:pPr eaLnBrk="1" hangingPunct="1"/>
            <a:r>
              <a:rPr lang="en-US" altLang="zh-CN" b="1"/>
              <a:t>Draw----cylinder</a:t>
            </a:r>
            <a:r>
              <a:rPr lang="zh-CN" altLang="en-US" b="1"/>
              <a:t>创建圆柱体，新建的圆柱体添加在操作历史树的</a:t>
            </a:r>
            <a:r>
              <a:rPr lang="en-US" altLang="zh-CN" b="1"/>
              <a:t>solids</a:t>
            </a:r>
            <a:r>
              <a:rPr lang="zh-CN" altLang="en-US" b="1"/>
              <a:t>节点下，默认为</a:t>
            </a:r>
            <a:r>
              <a:rPr lang="en-US" altLang="zh-CN" b="1"/>
              <a:t>cylinder1</a:t>
            </a:r>
            <a:r>
              <a:rPr lang="zh-CN" altLang="en-US" b="1"/>
              <a:t>；</a:t>
            </a:r>
          </a:p>
          <a:p>
            <a:pPr eaLnBrk="1" hangingPunct="1"/>
            <a:r>
              <a:rPr lang="zh-CN" altLang="en-US" b="1"/>
              <a:t>双击操作历史树下</a:t>
            </a:r>
            <a:r>
              <a:rPr lang="en-US" altLang="zh-CN" b="1"/>
              <a:t>cylinder1</a:t>
            </a:r>
            <a:r>
              <a:rPr lang="zh-CN" altLang="en-US" b="1"/>
              <a:t>，打开属性对话框，把圆柱体名称改为</a:t>
            </a:r>
            <a:r>
              <a:rPr lang="en-US" altLang="zh-CN" b="1"/>
              <a:t>Rad_air</a:t>
            </a:r>
            <a:r>
              <a:rPr lang="zh-CN" altLang="en-US" b="1"/>
              <a:t>，设置材质为</a:t>
            </a:r>
            <a:r>
              <a:rPr lang="en-US" altLang="zh-CN" b="1"/>
              <a:t>air</a:t>
            </a:r>
            <a:r>
              <a:rPr lang="zh-CN" altLang="en-US" b="1"/>
              <a:t>，其透明度为</a:t>
            </a:r>
            <a:r>
              <a:rPr lang="en-US" altLang="zh-CN" b="1"/>
              <a:t>0.8.</a:t>
            </a:r>
            <a:r>
              <a:rPr lang="zh-CN" altLang="en-US" b="1"/>
              <a:t>如下图所示。</a:t>
            </a:r>
          </a:p>
          <a:p>
            <a:pPr eaLnBrk="1" hangingPunct="1"/>
            <a:r>
              <a:rPr lang="zh-CN" altLang="en-US" b="1"/>
              <a:t>最后单击确定按钮。</a:t>
            </a:r>
          </a:p>
        </p:txBody>
      </p:sp>
    </p:spTree>
    <p:extLst>
      <p:ext uri="{BB962C8B-B14F-4D97-AF65-F5344CB8AC3E}">
        <p14:creationId xmlns:p14="http://schemas.microsoft.com/office/powerpoint/2010/main" val="375326798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762001"/>
            <a:ext cx="9043988" cy="446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1303762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33600" y="381001"/>
            <a:ext cx="8153400" cy="5718175"/>
          </a:xfrm>
        </p:spPr>
        <p:txBody>
          <a:bodyPr/>
          <a:lstStyle/>
          <a:p>
            <a:pPr eaLnBrk="1" hangingPunct="1"/>
            <a:r>
              <a:rPr lang="zh-CN" altLang="en-US" b="1"/>
              <a:t>双击操作历史树中的</a:t>
            </a:r>
            <a:r>
              <a:rPr lang="en-US" altLang="zh-CN" b="1"/>
              <a:t>rad_air</a:t>
            </a:r>
            <a:r>
              <a:rPr lang="zh-CN" altLang="en-US" b="1"/>
              <a:t>下的</a:t>
            </a:r>
            <a:r>
              <a:rPr lang="en-US" altLang="zh-CN" b="1"/>
              <a:t>createcylinder</a:t>
            </a:r>
            <a:r>
              <a:rPr lang="zh-CN" altLang="en-US" b="1"/>
              <a:t>节点，打开属性对话框，在该选项卡中设置圆柱体的底面圆心坐标、半径和长度。</a:t>
            </a:r>
          </a:p>
          <a:p>
            <a:pPr eaLnBrk="1" hangingPunct="1"/>
            <a:r>
              <a:rPr lang="en-US" altLang="zh-CN" b="1"/>
              <a:t>Center position</a:t>
            </a:r>
            <a:r>
              <a:rPr lang="zh-CN" altLang="en-US" b="1"/>
              <a:t>设为（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0</a:t>
            </a:r>
            <a:r>
              <a:rPr lang="zh-CN" altLang="en-US" b="1"/>
              <a:t>，</a:t>
            </a:r>
            <a:r>
              <a:rPr lang="en-US" altLang="zh-CN" b="1"/>
              <a:t>-rad_height</a:t>
            </a:r>
            <a:r>
              <a:rPr lang="zh-CN" altLang="en-US" b="1"/>
              <a:t>）</a:t>
            </a:r>
          </a:p>
          <a:p>
            <a:pPr eaLnBrk="1" hangingPunct="1"/>
            <a:r>
              <a:rPr lang="en-US" altLang="zh-CN" b="1"/>
              <a:t>Radius</a:t>
            </a:r>
            <a:r>
              <a:rPr lang="zh-CN" altLang="en-US" b="1"/>
              <a:t>输入半径值</a:t>
            </a:r>
            <a:r>
              <a:rPr lang="en-US" altLang="zh-CN" b="1"/>
              <a:t>rad_radius</a:t>
            </a:r>
            <a:r>
              <a:rPr lang="zh-CN" altLang="en-US" b="1"/>
              <a:t>；</a:t>
            </a:r>
          </a:p>
          <a:p>
            <a:pPr eaLnBrk="1" hangingPunct="1"/>
            <a:r>
              <a:rPr lang="en-US" altLang="zh-CN" b="1"/>
              <a:t>Height</a:t>
            </a:r>
            <a:r>
              <a:rPr lang="zh-CN" altLang="en-US" b="1"/>
              <a:t>文本框中输入长度值</a:t>
            </a:r>
            <a:r>
              <a:rPr lang="en-US" altLang="zh-CN" b="1"/>
              <a:t>2*rad_height</a:t>
            </a:r>
            <a:r>
              <a:rPr lang="zh-CN" altLang="en-US" b="1"/>
              <a:t>。</a:t>
            </a:r>
          </a:p>
          <a:p>
            <a:pPr eaLnBrk="1" hangingPunct="1"/>
            <a:r>
              <a:rPr lang="zh-CN" altLang="en-US" b="1"/>
              <a:t>最后单击确定按钮。</a:t>
            </a:r>
          </a:p>
          <a:p>
            <a:pPr eaLnBrk="1" hangingPunct="1"/>
            <a:r>
              <a:rPr lang="zh-CN" altLang="en-US" b="1"/>
              <a:t>完成圆柱体</a:t>
            </a:r>
            <a:r>
              <a:rPr lang="en-US" altLang="zh-CN" b="1"/>
              <a:t>rad_air</a:t>
            </a:r>
            <a:r>
              <a:rPr lang="zh-CN" altLang="en-US" b="1"/>
              <a:t>的创建。如下如所示。</a:t>
            </a:r>
          </a:p>
        </p:txBody>
      </p:sp>
    </p:spTree>
    <p:extLst>
      <p:ext uri="{BB962C8B-B14F-4D97-AF65-F5344CB8AC3E}">
        <p14:creationId xmlns:p14="http://schemas.microsoft.com/office/powerpoint/2010/main" val="20709743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327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914400"/>
            <a:ext cx="9110663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517903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33600" y="304801"/>
            <a:ext cx="8153400" cy="57943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>
                <a:solidFill>
                  <a:srgbClr val="0033CC"/>
                </a:solidFill>
              </a:rPr>
              <a:t>B</a:t>
            </a:r>
            <a:r>
              <a:rPr lang="zh-CN" altLang="en-US" b="1">
                <a:solidFill>
                  <a:srgbClr val="0033CC"/>
                </a:solidFill>
              </a:rPr>
              <a:t>。设置辐射边界条件</a:t>
            </a:r>
          </a:p>
          <a:p>
            <a:pPr eaLnBrk="1" hangingPunct="1"/>
            <a:r>
              <a:rPr lang="zh-CN" altLang="en-US" b="1"/>
              <a:t>在操作历史树下单击</a:t>
            </a:r>
            <a:r>
              <a:rPr lang="en-US" altLang="zh-CN" b="1"/>
              <a:t>rad_air</a:t>
            </a:r>
            <a:r>
              <a:rPr lang="zh-CN" altLang="en-US" b="1"/>
              <a:t>节点，选中该圆柱体模型。</a:t>
            </a:r>
          </a:p>
          <a:p>
            <a:pPr eaLnBrk="1" hangingPunct="1"/>
            <a:r>
              <a:rPr lang="zh-CN" altLang="en-US" b="1"/>
              <a:t>然后在其上单击鼠标右键，在弹出的快捷菜单中选择</a:t>
            </a:r>
            <a:r>
              <a:rPr lang="en-US" altLang="zh-CN" b="1"/>
              <a:t>assign boundary----radiation</a:t>
            </a:r>
            <a:r>
              <a:rPr lang="zh-CN" altLang="en-US" b="1"/>
              <a:t>，打开辐射边界条件设置对话框，如下图所示。</a:t>
            </a:r>
          </a:p>
          <a:p>
            <a:pPr eaLnBrk="1" hangingPunct="1"/>
            <a:r>
              <a:rPr lang="zh-CN" altLang="en-US" b="1"/>
              <a:t>在改对话框中保留默认设置，直接单击</a:t>
            </a:r>
            <a:r>
              <a:rPr lang="en-US" altLang="zh-CN" b="1"/>
              <a:t>ok</a:t>
            </a:r>
            <a:r>
              <a:rPr lang="zh-CN" altLang="en-US" b="1"/>
              <a:t>按钮，把圆柱体模型</a:t>
            </a:r>
            <a:r>
              <a:rPr lang="en-US" altLang="zh-CN" b="1"/>
              <a:t>rad_air</a:t>
            </a:r>
            <a:r>
              <a:rPr lang="zh-CN" altLang="en-US" b="1"/>
              <a:t>的表面设置为辐射边界条件。</a:t>
            </a:r>
          </a:p>
        </p:txBody>
      </p:sp>
    </p:spTree>
    <p:extLst>
      <p:ext uri="{BB962C8B-B14F-4D97-AF65-F5344CB8AC3E}">
        <p14:creationId xmlns:p14="http://schemas.microsoft.com/office/powerpoint/2010/main" val="19006576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762001"/>
            <a:ext cx="7086600" cy="5978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23182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8540750" cy="609600"/>
          </a:xfrm>
        </p:spPr>
        <p:txBody>
          <a:bodyPr/>
          <a:lstStyle/>
          <a:p>
            <a:pPr eaLnBrk="1" hangingPunct="1"/>
            <a:r>
              <a:rPr lang="en-US" altLang="zh-CN" sz="3200" b="1"/>
              <a:t>4.</a:t>
            </a:r>
            <a:r>
              <a:rPr lang="zh-CN" altLang="en-US" sz="3200" b="1"/>
              <a:t>求解设置</a:t>
            </a:r>
          </a:p>
        </p:txBody>
      </p:sp>
      <p:sp>
        <p:nvSpPr>
          <p:cNvPr id="3584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05000" y="762000"/>
            <a:ext cx="8153400" cy="6096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</a:t>
            </a:r>
            <a:r>
              <a:rPr lang="zh-CN" altLang="en-US" sz="2800" b="1"/>
              <a:t>分析的半波偶极子天线的中心频率在</a:t>
            </a:r>
            <a:r>
              <a:rPr lang="en-US" altLang="zh-CN" sz="2800" b="1"/>
              <a:t>3GHz</a:t>
            </a:r>
            <a:r>
              <a:rPr lang="zh-CN" altLang="en-US" sz="2800" b="1"/>
              <a:t>附近，因此求解频率设置为</a:t>
            </a:r>
            <a:r>
              <a:rPr lang="en-US" altLang="zh-CN" sz="2800" b="1"/>
              <a:t>3GHz</a:t>
            </a:r>
            <a:r>
              <a:rPr lang="zh-CN" altLang="en-US" sz="2800" b="1"/>
              <a:t>。同时添加</a:t>
            </a:r>
            <a:r>
              <a:rPr lang="en-US" altLang="zh-CN" sz="2800" b="1"/>
              <a:t>2.5GHz~3.5GHz</a:t>
            </a:r>
            <a:r>
              <a:rPr lang="zh-CN" altLang="en-US" sz="2800" b="1"/>
              <a:t>的扫频设置，扫频类型选择快速扫频（</a:t>
            </a:r>
            <a:r>
              <a:rPr lang="en-US" altLang="zh-CN" sz="2800" b="1"/>
              <a:t>Fast</a:t>
            </a:r>
            <a:r>
              <a:rPr lang="zh-CN" altLang="en-US" sz="2800" b="1"/>
              <a:t>），分析天线在</a:t>
            </a:r>
            <a:r>
              <a:rPr lang="en-US" altLang="zh-CN" sz="2800" b="1"/>
              <a:t>2.5~3.5GHz</a:t>
            </a:r>
            <a:r>
              <a:rPr lang="zh-CN" altLang="en-US" sz="2800" b="1"/>
              <a:t>频段内的回波损耗和电压驻波比。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33CC"/>
                </a:solidFill>
              </a:rPr>
              <a:t>（</a:t>
            </a:r>
            <a:r>
              <a:rPr lang="en-US" altLang="zh-CN" sz="2800" b="1">
                <a:solidFill>
                  <a:srgbClr val="0033CC"/>
                </a:solidFill>
              </a:rPr>
              <a:t>1</a:t>
            </a:r>
            <a:r>
              <a:rPr lang="zh-CN" altLang="en-US" sz="2800" b="1">
                <a:solidFill>
                  <a:srgbClr val="0033CC"/>
                </a:solidFill>
              </a:rPr>
              <a:t>）求解频率和网格剖分设置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设置求解频率</a:t>
            </a:r>
            <a:r>
              <a:rPr lang="en-US" altLang="zh-CN" sz="2800" b="1"/>
              <a:t>3GHz</a:t>
            </a:r>
            <a:r>
              <a:rPr lang="zh-CN" altLang="en-US" sz="2800" b="1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自适应网格剖分的最大迭代次数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为</a:t>
            </a:r>
            <a:r>
              <a:rPr lang="en-US" altLang="zh-CN" sz="2800" b="1"/>
              <a:t>20</a:t>
            </a:r>
            <a:r>
              <a:rPr lang="zh-CN" altLang="en-US" sz="2800" b="1"/>
              <a:t>，收敛误差为</a:t>
            </a:r>
            <a:r>
              <a:rPr lang="en-US" altLang="zh-CN" sz="2800" b="1"/>
              <a:t>0.02.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右键单击工程树下的</a:t>
            </a:r>
            <a:r>
              <a:rPr lang="en-US" altLang="zh-CN" sz="2800" b="1"/>
              <a:t>analysis</a:t>
            </a:r>
            <a:r>
              <a:rPr lang="zh-CN" altLang="en-US" sz="2800" b="1"/>
              <a:t>，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在弹出的对话框中选中</a:t>
            </a:r>
            <a:r>
              <a:rPr lang="en-US" altLang="zh-CN" sz="2800" b="1"/>
              <a:t>add solution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Setup</a:t>
            </a:r>
            <a:r>
              <a:rPr lang="zh-CN" altLang="en-US" sz="2800" b="1"/>
              <a:t>，完成设置。</a:t>
            </a:r>
          </a:p>
        </p:txBody>
      </p:sp>
      <p:pic>
        <p:nvPicPr>
          <p:cNvPr id="3584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601" r="73828" b="12601"/>
          <a:stretch>
            <a:fillRect/>
          </a:stretch>
        </p:blipFill>
        <p:spPr bwMode="auto">
          <a:xfrm>
            <a:off x="7620000" y="2584450"/>
            <a:ext cx="2552700" cy="427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6873840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6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152400"/>
            <a:ext cx="5943600" cy="671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1276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8153400" cy="6629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（</a:t>
            </a:r>
            <a:r>
              <a:rPr lang="en-US" altLang="zh-CN" b="1">
                <a:solidFill>
                  <a:srgbClr val="0033CC"/>
                </a:solidFill>
              </a:rPr>
              <a:t>2</a:t>
            </a:r>
            <a:r>
              <a:rPr lang="zh-CN" altLang="en-US" b="1">
                <a:solidFill>
                  <a:srgbClr val="0033CC"/>
                </a:solidFill>
              </a:rPr>
              <a:t>）扫频设置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        扫频类型选择快速扫频，扫频范围为</a:t>
            </a:r>
            <a:r>
              <a:rPr lang="en-US" altLang="zh-CN" b="1"/>
              <a:t>2.5GHz~3.5GHz</a:t>
            </a:r>
            <a:r>
              <a:rPr lang="zh-CN" altLang="en-US" b="1"/>
              <a:t>，频率步进为</a:t>
            </a:r>
            <a:r>
              <a:rPr lang="en-US" altLang="zh-CN" b="1"/>
              <a:t>0.001GHz</a:t>
            </a:r>
            <a:r>
              <a:rPr lang="zh-CN" altLang="en-US" b="1"/>
              <a:t>。</a:t>
            </a:r>
          </a:p>
          <a:p>
            <a:pPr eaLnBrk="1" hangingPunct="1"/>
            <a:r>
              <a:rPr lang="zh-CN" altLang="en-US" b="1"/>
              <a:t>展开工程树下的</a:t>
            </a:r>
            <a:r>
              <a:rPr lang="en-US" altLang="zh-CN" b="1"/>
              <a:t>analysis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 </a:t>
            </a:r>
            <a:r>
              <a:rPr lang="zh-CN" altLang="en-US" b="1"/>
              <a:t>节点，右键单击前面添加的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 求解设置项</a:t>
            </a:r>
            <a:r>
              <a:rPr lang="en-US" altLang="zh-CN" b="1"/>
              <a:t>Setup1</a:t>
            </a:r>
            <a:r>
              <a:rPr lang="zh-CN" altLang="en-US" b="1"/>
              <a:t>；</a:t>
            </a:r>
          </a:p>
          <a:p>
            <a:pPr eaLnBrk="1" hangingPunct="1"/>
            <a:r>
              <a:rPr lang="zh-CN" altLang="en-US" b="1"/>
              <a:t>在弹出的对话框中选择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b="1"/>
              <a:t>Add frequency sweep</a:t>
            </a:r>
            <a:r>
              <a:rPr lang="zh-CN" altLang="en-US" b="1"/>
              <a:t>；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/>
              <a:t>打开</a:t>
            </a:r>
            <a:r>
              <a:rPr lang="en-US" altLang="zh-CN" b="1"/>
              <a:t>edit sweep</a:t>
            </a:r>
            <a:r>
              <a:rPr lang="zh-CN" altLang="en-US" b="1"/>
              <a:t>对话框</a:t>
            </a:r>
          </a:p>
          <a:p>
            <a:pPr eaLnBrk="1" hangingPunct="1"/>
            <a:r>
              <a:rPr lang="zh-CN" altLang="en-US" b="1"/>
              <a:t>完成设置。</a:t>
            </a:r>
          </a:p>
        </p:txBody>
      </p:sp>
      <p:pic>
        <p:nvPicPr>
          <p:cNvPr id="3789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0" r="66446"/>
          <a:stretch>
            <a:fillRect/>
          </a:stretch>
        </p:blipFill>
        <p:spPr bwMode="auto">
          <a:xfrm>
            <a:off x="7162801" y="1600200"/>
            <a:ext cx="3273425" cy="463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4991907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6350" y="17463"/>
            <a:ext cx="6553200" cy="6761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4521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752600" y="0"/>
            <a:ext cx="8540750" cy="1143000"/>
          </a:xfrm>
        </p:spPr>
        <p:txBody>
          <a:bodyPr/>
          <a:lstStyle/>
          <a:p>
            <a:pPr eaLnBrk="1" hangingPunct="1"/>
            <a:r>
              <a:rPr lang="en-US" altLang="zh-CN" sz="2800" b="1"/>
              <a:t>5.</a:t>
            </a:r>
            <a:r>
              <a:rPr lang="zh-CN" altLang="en-US" sz="2800" b="1"/>
              <a:t>设计检查和运行仿真运算</a:t>
            </a:r>
          </a:p>
        </p:txBody>
      </p:sp>
      <p:sp>
        <p:nvSpPr>
          <p:cNvPr id="3993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981200" y="1143000"/>
            <a:ext cx="8153400" cy="5334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前面已经完成了偶极子天线模型的创建和求解设置；接下来就运行仿真计算并查看分析结果。但在计算前要进行设计检查。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1"/>
              <a:t>从主菜单</a:t>
            </a:r>
            <a:r>
              <a:rPr lang="en-US" altLang="zh-CN" sz="2400" b="1"/>
              <a:t>HFSS----Validation check</a:t>
            </a:r>
            <a:r>
              <a:rPr lang="zh-CN" altLang="en-US" sz="2400" b="1"/>
              <a:t>，得到如下对话框。</a:t>
            </a:r>
          </a:p>
        </p:txBody>
      </p:sp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7" t="18900" r="11075" b="18900"/>
          <a:stretch>
            <a:fillRect/>
          </a:stretch>
        </p:blipFill>
        <p:spPr bwMode="auto">
          <a:xfrm>
            <a:off x="1905000" y="3048001"/>
            <a:ext cx="8382000" cy="355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730177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8540750" cy="838200"/>
          </a:xfrm>
        </p:spPr>
        <p:txBody>
          <a:bodyPr/>
          <a:lstStyle/>
          <a:p>
            <a:pPr eaLnBrk="1" hangingPunct="1"/>
            <a:r>
              <a:rPr lang="en-US" altLang="zh-CN" sz="3600" b="1"/>
              <a:t>6.HFSS</a:t>
            </a:r>
            <a:r>
              <a:rPr lang="zh-CN" altLang="en-US" sz="3600" b="1"/>
              <a:t>天线问题的数据后处理</a:t>
            </a:r>
          </a:p>
        </p:txBody>
      </p:sp>
      <p:sp>
        <p:nvSpPr>
          <p:cNvPr id="40963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1066800"/>
            <a:ext cx="8763000" cy="5486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           HFSS</a:t>
            </a:r>
            <a:r>
              <a:rPr lang="zh-CN" altLang="en-US" sz="2800" b="1"/>
              <a:t>拥有强大的数据后处理功能，仿真分析完成后，在数据后处理部分能够给出天线的各项性能参数的仿真分析结果。如回波损耗、驻波比、</a:t>
            </a:r>
            <a:r>
              <a:rPr lang="en-US" altLang="zh-CN" sz="2800" b="1"/>
              <a:t>Smith</a:t>
            </a:r>
            <a:r>
              <a:rPr lang="zh-CN" altLang="en-US" sz="2800" b="1"/>
              <a:t>圆图、输入阻抗和方向图。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>
                <a:solidFill>
                  <a:srgbClr val="0033CC"/>
                </a:solidFill>
              </a:rPr>
              <a:t>（</a:t>
            </a:r>
            <a:r>
              <a:rPr lang="en-US" altLang="zh-CN" sz="2800" b="1">
                <a:solidFill>
                  <a:srgbClr val="0033CC"/>
                </a:solidFill>
              </a:rPr>
              <a:t>1</a:t>
            </a:r>
            <a:r>
              <a:rPr lang="zh-CN" altLang="en-US" sz="2800" b="1">
                <a:solidFill>
                  <a:srgbClr val="0033CC"/>
                </a:solidFill>
              </a:rPr>
              <a:t>）回波损耗</a:t>
            </a:r>
          </a:p>
          <a:p>
            <a:pPr eaLnBrk="1" hangingPunct="1"/>
            <a:r>
              <a:rPr lang="zh-CN" altLang="en-US" sz="2800" b="1"/>
              <a:t>     右键单击工程树下的</a:t>
            </a:r>
            <a:r>
              <a:rPr lang="en-US" altLang="zh-CN" sz="2800" b="1"/>
              <a:t>results</a:t>
            </a:r>
            <a:r>
              <a:rPr lang="zh-CN" altLang="en-US" sz="2800" b="1"/>
              <a:t>节点，在弹出的菜单中选择</a:t>
            </a:r>
            <a:r>
              <a:rPr lang="en-US" altLang="zh-CN" sz="2800" b="1"/>
              <a:t>create model solution data report----rectangle plot </a:t>
            </a:r>
            <a:r>
              <a:rPr lang="zh-CN" altLang="en-US" sz="2800" b="1"/>
              <a:t>命令，打开报告设置对话框，如下图所示。</a:t>
            </a:r>
          </a:p>
          <a:p>
            <a:pPr eaLnBrk="1" hangingPunct="1"/>
            <a:r>
              <a:rPr lang="zh-CN" altLang="en-US" sz="2800" b="1"/>
              <a:t>然后单击</a:t>
            </a:r>
            <a:r>
              <a:rPr lang="en-US" altLang="zh-CN" sz="2800" b="1"/>
              <a:t>new report</a:t>
            </a:r>
            <a:r>
              <a:rPr lang="zh-CN" altLang="en-US" sz="2800" b="1"/>
              <a:t>按钮，再单击</a:t>
            </a:r>
            <a:r>
              <a:rPr lang="en-US" altLang="zh-CN" sz="2800" b="1"/>
              <a:t>close</a:t>
            </a:r>
            <a:r>
              <a:rPr lang="zh-CN" altLang="en-US" sz="2800" b="1"/>
              <a:t>按钮关闭对话框，此时可以生成在</a:t>
            </a:r>
            <a:r>
              <a:rPr lang="en-US" altLang="zh-CN" sz="2800" b="1"/>
              <a:t>2.5~3.5GHz</a:t>
            </a:r>
            <a:r>
              <a:rPr lang="zh-CN" altLang="en-US" sz="2800" b="1"/>
              <a:t>频段内的回波损耗</a:t>
            </a:r>
            <a:r>
              <a:rPr lang="en-US" altLang="zh-CN" sz="2800" b="1"/>
              <a:t>S</a:t>
            </a:r>
            <a:r>
              <a:rPr lang="en-US" altLang="zh-CN" sz="1800" b="1"/>
              <a:t>11</a:t>
            </a:r>
            <a:r>
              <a:rPr lang="zh-CN" altLang="en-US" sz="2800" b="1"/>
              <a:t>分析结果。</a:t>
            </a:r>
          </a:p>
        </p:txBody>
      </p:sp>
    </p:spTree>
    <p:extLst>
      <p:ext uri="{BB962C8B-B14F-4D97-AF65-F5344CB8AC3E}">
        <p14:creationId xmlns:p14="http://schemas.microsoft.com/office/powerpoint/2010/main" val="2685651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8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0513" y="641350"/>
            <a:ext cx="8426450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027153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143000"/>
            <a:ext cx="9144000" cy="5429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6013427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8839200" cy="66294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（</a:t>
            </a:r>
            <a:r>
              <a:rPr lang="en-US" altLang="zh-CN" b="1">
                <a:solidFill>
                  <a:srgbClr val="0033CC"/>
                </a:solidFill>
              </a:rPr>
              <a:t>2</a:t>
            </a:r>
            <a:r>
              <a:rPr lang="zh-CN" altLang="en-US" b="1">
                <a:solidFill>
                  <a:srgbClr val="0033CC"/>
                </a:solidFill>
              </a:rPr>
              <a:t>）电压驻波比</a:t>
            </a:r>
          </a:p>
          <a:p>
            <a:pPr eaLnBrk="1" hangingPunct="1"/>
            <a:r>
              <a:rPr lang="zh-CN" altLang="en-US" sz="2400" b="1"/>
              <a:t>查看天线驻波比的操作和查看回波损耗</a:t>
            </a:r>
            <a:r>
              <a:rPr lang="en-US" altLang="zh-CN" sz="2400" b="1"/>
              <a:t>S11</a:t>
            </a:r>
            <a:r>
              <a:rPr lang="zh-CN" altLang="en-US" sz="2400" b="1"/>
              <a:t>类似，同样右键单击工程树下的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modal solution data report----rectangle plot</a:t>
            </a:r>
            <a:r>
              <a:rPr lang="zh-CN" altLang="en-US" sz="2400" b="1"/>
              <a:t>；</a:t>
            </a:r>
          </a:p>
          <a:p>
            <a:pPr eaLnBrk="1" hangingPunct="1"/>
            <a:r>
              <a:rPr lang="zh-CN" altLang="en-US" sz="2400" b="1"/>
              <a:t>再按照如下图表进行设置，最后单击</a:t>
            </a:r>
            <a:r>
              <a:rPr lang="en-US" altLang="zh-CN" sz="2400" b="1"/>
              <a:t>new report</a:t>
            </a:r>
            <a:r>
              <a:rPr lang="zh-CN" altLang="en-US" sz="2400" b="1"/>
              <a:t>，单击</a:t>
            </a:r>
            <a:r>
              <a:rPr lang="en-US" altLang="zh-CN" sz="2400" b="1"/>
              <a:t>close</a:t>
            </a:r>
            <a:r>
              <a:rPr lang="zh-CN" altLang="en-US" sz="2400" b="1"/>
              <a:t>，得到天线的驻波比分析结果。</a:t>
            </a:r>
          </a:p>
          <a:p>
            <a:pPr eaLnBrk="1" hangingPunct="1"/>
            <a:endParaRPr lang="en-US" altLang="zh-CN" sz="2400" b="1"/>
          </a:p>
        </p:txBody>
      </p:sp>
      <p:pic>
        <p:nvPicPr>
          <p:cNvPr id="4403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2" t="12601" r="7382" b="12601"/>
          <a:stretch>
            <a:fillRect/>
          </a:stretch>
        </p:blipFill>
        <p:spPr bwMode="auto">
          <a:xfrm>
            <a:off x="1828800" y="2584450"/>
            <a:ext cx="8312150" cy="427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0870099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05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63" y="762000"/>
            <a:ext cx="9112250" cy="541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582449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87630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（</a:t>
            </a:r>
            <a:r>
              <a:rPr lang="en-US" altLang="zh-CN" b="1">
                <a:solidFill>
                  <a:srgbClr val="0033CC"/>
                </a:solidFill>
              </a:rPr>
              <a:t>3</a:t>
            </a:r>
            <a:r>
              <a:rPr lang="zh-CN" altLang="en-US" b="1">
                <a:solidFill>
                  <a:srgbClr val="0033CC"/>
                </a:solidFill>
              </a:rPr>
              <a:t>）</a:t>
            </a:r>
            <a:r>
              <a:rPr lang="en-US" altLang="zh-CN" b="1">
                <a:solidFill>
                  <a:srgbClr val="0033CC"/>
                </a:solidFill>
              </a:rPr>
              <a:t>Smith</a:t>
            </a:r>
            <a:r>
              <a:rPr lang="zh-CN" altLang="en-US" b="1">
                <a:solidFill>
                  <a:srgbClr val="0033CC"/>
                </a:solidFill>
              </a:rPr>
              <a:t>圆图</a:t>
            </a:r>
          </a:p>
          <a:p>
            <a:pPr eaLnBrk="1" hangingPunct="1"/>
            <a:r>
              <a:rPr lang="zh-CN" altLang="en-US" sz="2400" b="1"/>
              <a:t>在天线的设计中，</a:t>
            </a:r>
            <a:r>
              <a:rPr lang="en-US" altLang="zh-CN" sz="2400" b="1"/>
              <a:t>smith</a:t>
            </a:r>
            <a:r>
              <a:rPr lang="zh-CN" altLang="en-US" sz="2400" b="1"/>
              <a:t>圆图是一个很有用的工具，借助圆图可以方便地分析阻抗匹配、驻波比、归一化输入阻抗。</a:t>
            </a:r>
          </a:p>
          <a:p>
            <a:pPr eaLnBrk="1" hangingPunct="1"/>
            <a:r>
              <a:rPr lang="zh-CN" altLang="en-US" sz="2400" b="1"/>
              <a:t>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modal solution data report----Smith chart</a:t>
            </a:r>
            <a:r>
              <a:rPr lang="zh-CN" altLang="en-US" sz="2400" b="1"/>
              <a:t>，打开如下对话框，进行设置。</a:t>
            </a:r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75" t="9450" r="11075" b="18900"/>
          <a:stretch>
            <a:fillRect/>
          </a:stretch>
        </p:blipFill>
        <p:spPr bwMode="auto">
          <a:xfrm>
            <a:off x="1905000" y="2438400"/>
            <a:ext cx="8305800" cy="441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939156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10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988" y="1063626"/>
            <a:ext cx="9117012" cy="541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664530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52600" y="0"/>
            <a:ext cx="89154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(4)</a:t>
            </a:r>
            <a:r>
              <a:rPr lang="zh-CN" altLang="en-US" sz="2800" b="1">
                <a:solidFill>
                  <a:srgbClr val="0033CC"/>
                </a:solidFill>
              </a:rPr>
              <a:t>输入阻抗</a:t>
            </a:r>
          </a:p>
          <a:p>
            <a:pPr eaLnBrk="1" hangingPunct="1"/>
            <a:r>
              <a:rPr lang="zh-CN" altLang="en-US" sz="2400" b="1"/>
              <a:t>输入阻抗是天线的一个重要性能参数。</a:t>
            </a:r>
          </a:p>
          <a:p>
            <a:pPr eaLnBrk="1" hangingPunct="1"/>
            <a:r>
              <a:rPr lang="zh-CN" altLang="en-US" sz="2400" b="1"/>
              <a:t>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modal solution data report----rectangle plot </a:t>
            </a:r>
            <a:r>
              <a:rPr lang="zh-CN" altLang="en-US" sz="2400" b="1"/>
              <a:t>，打开报告对话框，进行如下图设置。</a:t>
            </a:r>
          </a:p>
        </p:txBody>
      </p:sp>
      <p:pic>
        <p:nvPicPr>
          <p:cNvPr id="4813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766" t="6300" r="14766" b="18900"/>
          <a:stretch>
            <a:fillRect/>
          </a:stretch>
        </p:blipFill>
        <p:spPr bwMode="auto">
          <a:xfrm>
            <a:off x="1524000" y="2209800"/>
            <a:ext cx="8915400" cy="464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756846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9144000" cy="6858000"/>
          </a:xfrm>
        </p:spPr>
        <p:txBody>
          <a:bodyPr/>
          <a:lstStyle/>
          <a:p>
            <a:pPr eaLnBrk="1" hangingPunct="1"/>
            <a:r>
              <a:rPr lang="zh-CN" altLang="en-US" sz="2400" b="1"/>
              <a:t>点击</a:t>
            </a:r>
            <a:r>
              <a:rPr lang="en-US" altLang="zh-CN" sz="2400" b="1"/>
              <a:t>new report</a:t>
            </a:r>
            <a:r>
              <a:rPr lang="zh-CN" altLang="en-US" sz="2400" b="1"/>
              <a:t>按钮，再单击</a:t>
            </a:r>
            <a:r>
              <a:rPr lang="en-US" altLang="zh-CN" sz="2400" b="1"/>
              <a:t>close</a:t>
            </a:r>
            <a:r>
              <a:rPr lang="zh-CN" altLang="en-US" sz="2400" b="1"/>
              <a:t>按钮关闭对话框，此时得到天线的输入阻抗结果报告。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zh-CN" sz="2400" b="1"/>
          </a:p>
        </p:txBody>
      </p:sp>
      <p:pic>
        <p:nvPicPr>
          <p:cNvPr id="49155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0350" y="1281114"/>
            <a:ext cx="9137650" cy="542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306430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1"/>
            <a:ext cx="9144000" cy="663257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（</a:t>
            </a:r>
            <a:r>
              <a:rPr lang="en-US" altLang="zh-CN" b="1">
                <a:solidFill>
                  <a:srgbClr val="0033CC"/>
                </a:solidFill>
              </a:rPr>
              <a:t>5</a:t>
            </a:r>
            <a:r>
              <a:rPr lang="zh-CN" altLang="en-US" b="1">
                <a:solidFill>
                  <a:srgbClr val="0033CC"/>
                </a:solidFill>
              </a:rPr>
              <a:t>）方向图</a:t>
            </a:r>
          </a:p>
          <a:p>
            <a:pPr eaLnBrk="1" hangingPunct="1"/>
            <a:r>
              <a:rPr lang="zh-CN" altLang="en-US" b="1"/>
              <a:t>方向图是方向性函数的图形表示，它可以形象地描绘天线辐射特性随着空间方向坐标变化的关系，是衡量天线性能的重要图形。</a:t>
            </a:r>
          </a:p>
          <a:p>
            <a:pPr eaLnBrk="1" hangingPunct="1"/>
            <a:r>
              <a:rPr lang="zh-CN" altLang="en-US" b="1"/>
              <a:t>在</a:t>
            </a:r>
            <a:r>
              <a:rPr lang="en-US" altLang="zh-CN" b="1"/>
              <a:t>HFSS</a:t>
            </a:r>
            <a:r>
              <a:rPr lang="zh-CN" altLang="en-US" b="1"/>
              <a:t>后处理部分可以方便绘制出天线的平面方向图和立体方向图。</a:t>
            </a:r>
          </a:p>
          <a:p>
            <a:pPr eaLnBrk="1" hangingPunct="1"/>
            <a:r>
              <a:rPr lang="zh-CN" altLang="en-US" b="1"/>
              <a:t>方向图是在远区场确定的，要查看天线的远区场辐射结果。首先要设立辐射表面。</a:t>
            </a:r>
          </a:p>
          <a:p>
            <a:pPr eaLnBrk="1" hangingPunct="1"/>
            <a:r>
              <a:rPr lang="zh-CN" altLang="en-US" b="1"/>
              <a:t>接下来分析半波偶极子天线在</a:t>
            </a:r>
            <a:r>
              <a:rPr lang="en-US" altLang="zh-CN" b="1"/>
              <a:t>xz</a:t>
            </a:r>
            <a:r>
              <a:rPr lang="zh-CN" altLang="en-US" b="1"/>
              <a:t>平面和</a:t>
            </a:r>
            <a:r>
              <a:rPr lang="en-US" altLang="zh-CN" b="1"/>
              <a:t>xy</a:t>
            </a:r>
            <a:r>
              <a:rPr lang="zh-CN" altLang="en-US" b="1"/>
              <a:t>平面的增益方向图，以及查看半波偶极子天线三维立体增益方向图的具体操作。</a:t>
            </a:r>
          </a:p>
        </p:txBody>
      </p:sp>
    </p:spTree>
    <p:extLst>
      <p:ext uri="{BB962C8B-B14F-4D97-AF65-F5344CB8AC3E}">
        <p14:creationId xmlns:p14="http://schemas.microsoft.com/office/powerpoint/2010/main" val="348472328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752600" y="228600"/>
            <a:ext cx="8534400" cy="6324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>
                <a:solidFill>
                  <a:srgbClr val="0033CC"/>
                </a:solidFill>
              </a:rPr>
              <a:t>A</a:t>
            </a:r>
            <a:r>
              <a:rPr lang="zh-CN" altLang="en-US" sz="2800" b="1">
                <a:solidFill>
                  <a:srgbClr val="0033CC"/>
                </a:solidFill>
              </a:rPr>
              <a:t>。定义辐射表面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          辐射表面是基于球坐标系定义的。</a:t>
            </a:r>
            <a:r>
              <a:rPr lang="en-US" altLang="zh-CN" sz="2800" b="1"/>
              <a:t>Xz</a:t>
            </a:r>
            <a:r>
              <a:rPr lang="zh-CN" altLang="en-US" sz="2800" b="1"/>
              <a:t>平面即球坐标系下</a:t>
            </a:r>
            <a:r>
              <a:rPr lang="el-GR" altLang="zh-CN" sz="2800" b="1">
                <a:cs typeface="Arial" panose="020B0604020202020204" pitchFamily="34" charset="0"/>
              </a:rPr>
              <a:t>φ</a:t>
            </a:r>
            <a:r>
              <a:rPr lang="en-US" altLang="zh-CN" sz="2800" b="1">
                <a:cs typeface="Arial" panose="020B0604020202020204" pitchFamily="34" charset="0"/>
              </a:rPr>
              <a:t>=0°</a:t>
            </a:r>
            <a:r>
              <a:rPr lang="zh-CN" altLang="en-US" sz="2800" b="1">
                <a:cs typeface="Arial" panose="020B0604020202020204" pitchFamily="34" charset="0"/>
              </a:rPr>
              <a:t>的平面，</a:t>
            </a:r>
            <a:r>
              <a:rPr lang="en-US" altLang="zh-CN" sz="2800" b="1">
                <a:cs typeface="Arial" panose="020B0604020202020204" pitchFamily="34" charset="0"/>
              </a:rPr>
              <a:t>xy</a:t>
            </a:r>
            <a:r>
              <a:rPr lang="zh-CN" altLang="en-US" sz="2800" b="1">
                <a:cs typeface="Arial" panose="020B0604020202020204" pitchFamily="34" charset="0"/>
              </a:rPr>
              <a:t>平面即球坐标系下</a:t>
            </a:r>
            <a:r>
              <a:rPr lang="el-GR" altLang="zh-CN" sz="2800" b="1">
                <a:cs typeface="Arial" panose="020B0604020202020204" pitchFamily="34" charset="0"/>
              </a:rPr>
              <a:t>θ</a:t>
            </a:r>
            <a:r>
              <a:rPr lang="en-US" altLang="zh-CN" sz="2800" b="1">
                <a:cs typeface="Arial" panose="020B0604020202020204" pitchFamily="34" charset="0"/>
              </a:rPr>
              <a:t>=90°</a:t>
            </a:r>
            <a:r>
              <a:rPr lang="zh-CN" altLang="en-US" sz="2800" b="1">
                <a:cs typeface="Arial" panose="020B0604020202020204" pitchFamily="34" charset="0"/>
              </a:rPr>
              <a:t>的平面，而三维立体球面在球坐标下则表示为</a:t>
            </a:r>
            <a:r>
              <a:rPr lang="en-US" altLang="zh-CN" sz="2800" b="1">
                <a:cs typeface="Arial" panose="020B0604020202020204" pitchFamily="34" charset="0"/>
              </a:rPr>
              <a:t>0</a:t>
            </a:r>
            <a:r>
              <a:rPr lang="el-GR" altLang="zh-CN" sz="2800" b="1"/>
              <a:t>≦ </a:t>
            </a:r>
            <a:r>
              <a:rPr lang="el-GR" altLang="zh-CN" sz="2800" b="1">
                <a:cs typeface="Arial" panose="020B0604020202020204" pitchFamily="34" charset="0"/>
              </a:rPr>
              <a:t>θ </a:t>
            </a:r>
            <a:r>
              <a:rPr lang="el-GR" altLang="zh-CN" sz="2800" b="1"/>
              <a:t>≦</a:t>
            </a:r>
            <a:r>
              <a:rPr lang="en-US" altLang="zh-CN" sz="2800" b="1"/>
              <a:t>180°</a:t>
            </a:r>
            <a:r>
              <a:rPr lang="zh-CN" altLang="en-US" sz="2800" b="1"/>
              <a:t>，</a:t>
            </a:r>
            <a:r>
              <a:rPr lang="en-US" altLang="zh-CN" sz="2800" b="1"/>
              <a:t>0 </a:t>
            </a:r>
            <a:r>
              <a:rPr lang="el-GR" altLang="zh-CN" sz="2800" b="1"/>
              <a:t>≦ </a:t>
            </a:r>
            <a:r>
              <a:rPr lang="el-GR" altLang="zh-CN" sz="2800" b="1">
                <a:cs typeface="Arial" panose="020B0604020202020204" pitchFamily="34" charset="0"/>
              </a:rPr>
              <a:t>φ</a:t>
            </a:r>
            <a:r>
              <a:rPr lang="el-GR" altLang="zh-CN" sz="2800" b="1"/>
              <a:t> ≦</a:t>
            </a:r>
            <a:r>
              <a:rPr lang="en-US" altLang="zh-CN" sz="2800" b="1"/>
              <a:t>360°</a:t>
            </a:r>
            <a:r>
              <a:rPr lang="zh-CN" altLang="en-US" sz="2800" b="1"/>
              <a:t>。</a:t>
            </a:r>
          </a:p>
          <a:p>
            <a:pPr eaLnBrk="1" hangingPunct="1"/>
            <a:r>
              <a:rPr lang="zh-CN" altLang="en-US" sz="2800" b="1">
                <a:solidFill>
                  <a:srgbClr val="FF0000"/>
                </a:solidFill>
              </a:rPr>
              <a:t>定义</a:t>
            </a:r>
            <a:r>
              <a:rPr lang="en-US" altLang="zh-CN" sz="2800" b="1">
                <a:solidFill>
                  <a:srgbClr val="FF0000"/>
                </a:solidFill>
              </a:rPr>
              <a:t>xz</a:t>
            </a:r>
            <a:r>
              <a:rPr lang="zh-CN" altLang="en-US" sz="2800" b="1">
                <a:solidFill>
                  <a:srgbClr val="FF0000"/>
                </a:solidFill>
              </a:rPr>
              <a:t>平面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 右键单击工程树下的</a:t>
            </a:r>
            <a:r>
              <a:rPr lang="en-US" altLang="zh-CN" sz="2800" b="1"/>
              <a:t>radiation</a:t>
            </a:r>
            <a:r>
              <a:rPr lang="zh-CN" altLang="en-US" sz="2800" b="1"/>
              <a:t>节点，在弹出的快捷菜单中选择</a:t>
            </a:r>
            <a:r>
              <a:rPr lang="en-US" altLang="zh-CN" sz="2800" b="1"/>
              <a:t>insert far field setup----infinite sphere</a:t>
            </a:r>
            <a:r>
              <a:rPr lang="zh-CN" altLang="en-US" sz="2800" b="1"/>
              <a:t>，打开</a:t>
            </a:r>
            <a:r>
              <a:rPr lang="en-US" altLang="zh-CN" sz="2800" b="1"/>
              <a:t>far radiation sphere setup</a:t>
            </a:r>
            <a:r>
              <a:rPr lang="zh-CN" altLang="en-US" sz="2800" b="1"/>
              <a:t>完成如下设置。</a:t>
            </a:r>
          </a:p>
          <a:p>
            <a:pPr eaLnBrk="1" hangingPunct="1"/>
            <a:r>
              <a:rPr lang="zh-CN" altLang="en-US" sz="2800" b="1"/>
              <a:t>然后单击确定按钮，完成设置。此时定义的辐射表面的名称</a:t>
            </a:r>
            <a:r>
              <a:rPr lang="en-US" altLang="zh-CN" sz="2800" b="1"/>
              <a:t>E__Plane</a:t>
            </a:r>
            <a:r>
              <a:rPr lang="zh-CN" altLang="en-US" sz="2800" b="1"/>
              <a:t>会添加到工程树的</a:t>
            </a:r>
            <a:r>
              <a:rPr lang="en-US" altLang="zh-CN" sz="2800" b="1"/>
              <a:t>Radiation</a:t>
            </a:r>
            <a:r>
              <a:rPr lang="zh-CN" altLang="en-US" sz="2800" b="1"/>
              <a:t>节点下。</a:t>
            </a:r>
            <a:endParaRPr lang="zh-CN" altLang="el-GR"/>
          </a:p>
        </p:txBody>
      </p:sp>
    </p:spTree>
    <p:extLst>
      <p:ext uri="{BB962C8B-B14F-4D97-AF65-F5344CB8AC3E}">
        <p14:creationId xmlns:p14="http://schemas.microsoft.com/office/powerpoint/2010/main" val="198916743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92089"/>
            <a:ext cx="4953000" cy="630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278066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2133600" y="304801"/>
            <a:ext cx="8153400" cy="57943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>
                <a:solidFill>
                  <a:srgbClr val="FF0000"/>
                </a:solidFill>
              </a:rPr>
              <a:t>定义</a:t>
            </a:r>
            <a:r>
              <a:rPr lang="en-US" altLang="zh-CN" sz="2600" b="1">
                <a:solidFill>
                  <a:srgbClr val="FF0000"/>
                </a:solidFill>
              </a:rPr>
              <a:t>xy</a:t>
            </a:r>
            <a:r>
              <a:rPr lang="zh-CN" altLang="en-US" sz="2600" b="1">
                <a:solidFill>
                  <a:srgbClr val="FF0000"/>
                </a:solidFill>
              </a:rPr>
              <a:t>平面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b="1"/>
              <a:t> 右键单击工程树下的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/>
              <a:t>radiation</a:t>
            </a:r>
            <a:r>
              <a:rPr lang="zh-CN" altLang="en-US" sz="2600" b="1"/>
              <a:t>节点，在弹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出的快捷菜单中选择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/>
              <a:t>insert far field setup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/>
              <a:t>----infinite sphere</a:t>
            </a:r>
            <a:r>
              <a:rPr lang="zh-CN" altLang="en-US" sz="2600" b="1"/>
              <a:t>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打开</a:t>
            </a:r>
            <a:r>
              <a:rPr lang="en-US" altLang="zh-CN" sz="2600" b="1"/>
              <a:t>far radiation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600" b="1"/>
              <a:t>sphere setup</a:t>
            </a:r>
            <a:r>
              <a:rPr lang="zh-CN" altLang="en-US" sz="2600" b="1"/>
              <a:t>完成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如下设置。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b="1"/>
              <a:t>然后单击确定按钮，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完成设置。</a:t>
            </a:r>
          </a:p>
          <a:p>
            <a:pPr eaLnBrk="1" hangingPunct="1">
              <a:lnSpc>
                <a:spcPct val="90000"/>
              </a:lnSpc>
            </a:pPr>
            <a:r>
              <a:rPr lang="zh-CN" altLang="en-US" sz="2600" b="1"/>
              <a:t>此时定义的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600" b="1"/>
              <a:t>辐射表面的名称</a:t>
            </a:r>
            <a:r>
              <a:rPr lang="en-US" altLang="zh-CN" sz="2600" b="1"/>
              <a:t>H__Plane</a:t>
            </a:r>
            <a:r>
              <a:rPr lang="zh-CN" altLang="en-US" sz="2600" b="1"/>
              <a:t>会添加到工程树的</a:t>
            </a:r>
            <a:r>
              <a:rPr lang="en-US" altLang="zh-CN" sz="2600" b="1"/>
              <a:t>Radiation</a:t>
            </a:r>
            <a:r>
              <a:rPr lang="zh-CN" altLang="en-US" sz="2600" b="1"/>
              <a:t>节点下。</a:t>
            </a:r>
            <a:endParaRPr lang="zh-CN" altLang="en-US" sz="2600"/>
          </a:p>
        </p:txBody>
      </p:sp>
      <p:pic>
        <p:nvPicPr>
          <p:cNvPr id="532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32" r="29532" b="12601"/>
          <a:stretch>
            <a:fillRect/>
          </a:stretch>
        </p:blipFill>
        <p:spPr bwMode="auto">
          <a:xfrm>
            <a:off x="5638801" y="457201"/>
            <a:ext cx="4676775" cy="4994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53252" name="Group 7"/>
          <p:cNvGrpSpPr>
            <a:grpSpLocks/>
          </p:cNvGrpSpPr>
          <p:nvPr/>
        </p:nvGrpSpPr>
        <p:grpSpPr bwMode="auto">
          <a:xfrm>
            <a:off x="7010400" y="1676400"/>
            <a:ext cx="838200" cy="2286000"/>
            <a:chOff x="3456" y="1056"/>
            <a:chExt cx="528" cy="1440"/>
          </a:xfrm>
        </p:grpSpPr>
        <p:sp>
          <p:nvSpPr>
            <p:cNvPr id="53253" name="Oval 5"/>
            <p:cNvSpPr>
              <a:spLocks noChangeArrowheads="1"/>
            </p:cNvSpPr>
            <p:nvPr/>
          </p:nvSpPr>
          <p:spPr bwMode="auto">
            <a:xfrm>
              <a:off x="3504" y="1056"/>
              <a:ext cx="48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3254" name="Oval 6"/>
            <p:cNvSpPr>
              <a:spLocks noChangeArrowheads="1"/>
            </p:cNvSpPr>
            <p:nvPr/>
          </p:nvSpPr>
          <p:spPr bwMode="auto">
            <a:xfrm>
              <a:off x="3456" y="1872"/>
              <a:ext cx="480" cy="62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9334158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0"/>
            <a:ext cx="8153400" cy="68580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b="1">
                <a:solidFill>
                  <a:srgbClr val="0033CC"/>
                </a:solidFill>
              </a:rPr>
              <a:t>定义三维立体球面</a:t>
            </a:r>
          </a:p>
          <a:p>
            <a:pPr eaLnBrk="1" hangingPunct="1"/>
            <a:r>
              <a:rPr lang="zh-CN" altLang="en-US" sz="2800" b="1"/>
              <a:t>右键单击工程树下的</a:t>
            </a:r>
            <a:r>
              <a:rPr lang="en-US" altLang="zh-CN" sz="2800" b="1"/>
              <a:t>radiation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节点，在弹出的快捷菜单中选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择</a:t>
            </a:r>
            <a:r>
              <a:rPr lang="en-US" altLang="zh-CN" sz="2800" b="1"/>
              <a:t>insert far field setup----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infinite sphere</a:t>
            </a:r>
            <a:r>
              <a:rPr lang="zh-CN" altLang="en-US" sz="2800" b="1"/>
              <a:t>，打开</a:t>
            </a:r>
            <a:r>
              <a:rPr lang="en-US" altLang="zh-CN" sz="2800" b="1"/>
              <a:t>far field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radiation sphere setup</a:t>
            </a:r>
            <a:r>
              <a:rPr lang="zh-CN" altLang="en-US" sz="2800" b="1"/>
              <a:t>完成如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下设置。</a:t>
            </a:r>
          </a:p>
          <a:p>
            <a:pPr eaLnBrk="1" hangingPunct="1"/>
            <a:r>
              <a:rPr lang="zh-CN" altLang="en-US" sz="2800" b="1"/>
              <a:t>然后单击确定按钮，完成设置。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此时定义的辐射表面的名称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800" b="1"/>
              <a:t>3D__Sphere</a:t>
            </a:r>
            <a:r>
              <a:rPr lang="zh-CN" altLang="en-US" sz="2800" b="1"/>
              <a:t>会添加到工程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800" b="1"/>
              <a:t>树的</a:t>
            </a:r>
            <a:r>
              <a:rPr lang="en-US" altLang="zh-CN" sz="2800" b="1"/>
              <a:t>Radiation</a:t>
            </a:r>
            <a:r>
              <a:rPr lang="zh-CN" altLang="en-US" sz="2800" b="1"/>
              <a:t>节点下。</a:t>
            </a:r>
            <a:endParaRPr lang="zh-CN" altLang="en-US" sz="2800"/>
          </a:p>
        </p:txBody>
      </p:sp>
      <p:grpSp>
        <p:nvGrpSpPr>
          <p:cNvPr id="54275" name="Group 7"/>
          <p:cNvGrpSpPr>
            <a:grpSpLocks/>
          </p:cNvGrpSpPr>
          <p:nvPr/>
        </p:nvGrpSpPr>
        <p:grpSpPr bwMode="auto">
          <a:xfrm>
            <a:off x="6400801" y="304800"/>
            <a:ext cx="3992563" cy="5715000"/>
            <a:chOff x="3072" y="192"/>
            <a:chExt cx="2515" cy="3600"/>
          </a:xfrm>
        </p:grpSpPr>
        <p:pic>
          <p:nvPicPr>
            <p:cNvPr id="54276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532" r="29532"/>
            <a:stretch>
              <a:fillRect/>
            </a:stretch>
          </p:blipFill>
          <p:spPr bwMode="auto">
            <a:xfrm>
              <a:off x="3072" y="192"/>
              <a:ext cx="2515" cy="36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4277" name="Oval 5"/>
            <p:cNvSpPr>
              <a:spLocks noChangeArrowheads="1"/>
            </p:cNvSpPr>
            <p:nvPr/>
          </p:nvSpPr>
          <p:spPr bwMode="auto">
            <a:xfrm>
              <a:off x="3888" y="2016"/>
              <a:ext cx="480" cy="110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4278" name="Oval 6"/>
            <p:cNvSpPr>
              <a:spLocks noChangeArrowheads="1"/>
            </p:cNvSpPr>
            <p:nvPr/>
          </p:nvSpPr>
          <p:spPr bwMode="auto">
            <a:xfrm>
              <a:off x="3840" y="816"/>
              <a:ext cx="480" cy="110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999540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524000" y="0"/>
            <a:ext cx="4959350" cy="762000"/>
          </a:xfrm>
        </p:spPr>
        <p:txBody>
          <a:bodyPr/>
          <a:lstStyle/>
          <a:p>
            <a:pPr eaLnBrk="1" hangingPunct="1"/>
            <a:r>
              <a:rPr lang="en-US" altLang="zh-CN" sz="3200" b="1"/>
              <a:t>B.</a:t>
            </a:r>
            <a:r>
              <a:rPr lang="zh-CN" altLang="en-US" sz="3200" b="1"/>
              <a:t>查看</a:t>
            </a:r>
            <a:r>
              <a:rPr lang="en-US" altLang="zh-CN" sz="3200" b="1"/>
              <a:t>xz</a:t>
            </a:r>
            <a:r>
              <a:rPr lang="zh-CN" altLang="en-US" sz="3200" b="1"/>
              <a:t>面的增益方向图</a:t>
            </a:r>
          </a:p>
        </p:txBody>
      </p:sp>
      <p:sp>
        <p:nvSpPr>
          <p:cNvPr id="55299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685800"/>
            <a:ext cx="9144000" cy="59436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    </a:t>
            </a:r>
            <a:r>
              <a:rPr lang="zh-CN" altLang="en-US" sz="2400" b="1"/>
              <a:t>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far fields report----radiation pattern</a:t>
            </a:r>
            <a:r>
              <a:rPr lang="zh-CN" altLang="en-US" sz="2400" b="1"/>
              <a:t>命令，打开报告设置对话框，如下图所示。</a:t>
            </a:r>
          </a:p>
        </p:txBody>
      </p:sp>
      <p:pic>
        <p:nvPicPr>
          <p:cNvPr id="5530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4" y="1835150"/>
            <a:ext cx="7915275" cy="5010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0670559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1"/>
            <a:ext cx="8153400" cy="4498975"/>
          </a:xfrm>
        </p:spPr>
        <p:txBody>
          <a:bodyPr/>
          <a:lstStyle/>
          <a:p>
            <a:pPr eaLnBrk="1" hangingPunct="1"/>
            <a:r>
              <a:rPr lang="zh-CN" altLang="en-US" sz="2800" b="1"/>
              <a:t>点击</a:t>
            </a:r>
            <a:r>
              <a:rPr lang="en-US" altLang="zh-CN" sz="2800" b="1"/>
              <a:t>new report</a:t>
            </a:r>
            <a:r>
              <a:rPr lang="zh-CN" altLang="en-US" sz="2800" b="1"/>
              <a:t>按钮，生成极坐标系下天线的</a:t>
            </a:r>
            <a:r>
              <a:rPr lang="en-US" altLang="zh-CN" sz="2800" b="1"/>
              <a:t>xz</a:t>
            </a:r>
            <a:r>
              <a:rPr lang="zh-CN" altLang="en-US" sz="2800" b="1"/>
              <a:t>面增益方向图。如下图所示。</a:t>
            </a:r>
          </a:p>
        </p:txBody>
      </p:sp>
      <p:pic>
        <p:nvPicPr>
          <p:cNvPr id="5632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1143000"/>
            <a:ext cx="8855075" cy="525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651721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5568950" cy="685800"/>
          </a:xfrm>
        </p:spPr>
        <p:txBody>
          <a:bodyPr/>
          <a:lstStyle/>
          <a:p>
            <a:pPr eaLnBrk="1" hangingPunct="1"/>
            <a:r>
              <a:rPr lang="en-US" altLang="zh-CN" sz="3200" b="1"/>
              <a:t>C .</a:t>
            </a:r>
            <a:r>
              <a:rPr lang="zh-CN" altLang="en-US" sz="3200" b="1"/>
              <a:t>查看</a:t>
            </a:r>
            <a:r>
              <a:rPr lang="en-US" altLang="zh-CN" sz="3200" b="1"/>
              <a:t>xy</a:t>
            </a:r>
            <a:r>
              <a:rPr lang="zh-CN" altLang="en-US" sz="3200" b="1"/>
              <a:t>面的增益方向图</a:t>
            </a:r>
          </a:p>
        </p:txBody>
      </p:sp>
      <p:sp>
        <p:nvSpPr>
          <p:cNvPr id="57347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838200"/>
            <a:ext cx="9144000" cy="6019800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zh-CN" sz="2400" b="1"/>
              <a:t>           </a:t>
            </a:r>
            <a:r>
              <a:rPr lang="zh-CN" altLang="en-US" sz="2400" b="1"/>
              <a:t>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far fields report----radiation pattern</a:t>
            </a:r>
            <a:r>
              <a:rPr lang="zh-CN" altLang="en-US" sz="2400" b="1"/>
              <a:t>命令，打开报告设置对话框，如下图所示。</a:t>
            </a:r>
          </a:p>
          <a:p>
            <a:pPr eaLnBrk="1" hangingPunct="1"/>
            <a:endParaRPr lang="en-US" altLang="zh-CN"/>
          </a:p>
        </p:txBody>
      </p:sp>
      <p:grpSp>
        <p:nvGrpSpPr>
          <p:cNvPr id="57348" name="Group 10"/>
          <p:cNvGrpSpPr>
            <a:grpSpLocks/>
          </p:cNvGrpSpPr>
          <p:nvPr/>
        </p:nvGrpSpPr>
        <p:grpSpPr bwMode="auto">
          <a:xfrm>
            <a:off x="1752600" y="2070100"/>
            <a:ext cx="8686800" cy="4800600"/>
            <a:chOff x="0" y="1296"/>
            <a:chExt cx="5472" cy="3024"/>
          </a:xfrm>
        </p:grpSpPr>
        <p:pic>
          <p:nvPicPr>
            <p:cNvPr id="57349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57" t="18900" r="11075" b="18900"/>
            <a:stretch>
              <a:fillRect/>
            </a:stretch>
          </p:blipFill>
          <p:spPr bwMode="auto">
            <a:xfrm>
              <a:off x="0" y="1296"/>
              <a:ext cx="5472" cy="30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7350" name="Oval 5"/>
            <p:cNvSpPr>
              <a:spLocks noChangeArrowheads="1"/>
            </p:cNvSpPr>
            <p:nvPr/>
          </p:nvSpPr>
          <p:spPr bwMode="auto">
            <a:xfrm>
              <a:off x="480" y="1776"/>
              <a:ext cx="1536" cy="33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51" name="Oval 6"/>
            <p:cNvSpPr>
              <a:spLocks noChangeArrowheads="1"/>
            </p:cNvSpPr>
            <p:nvPr/>
          </p:nvSpPr>
          <p:spPr bwMode="auto">
            <a:xfrm>
              <a:off x="2016" y="2928"/>
              <a:ext cx="1152" cy="38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52" name="Oval 7"/>
            <p:cNvSpPr>
              <a:spLocks noChangeArrowheads="1"/>
            </p:cNvSpPr>
            <p:nvPr/>
          </p:nvSpPr>
          <p:spPr bwMode="auto">
            <a:xfrm>
              <a:off x="2544" y="1536"/>
              <a:ext cx="1152" cy="38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53" name="Oval 8"/>
            <p:cNvSpPr>
              <a:spLocks noChangeArrowheads="1"/>
            </p:cNvSpPr>
            <p:nvPr/>
          </p:nvSpPr>
          <p:spPr bwMode="auto">
            <a:xfrm>
              <a:off x="3072" y="2592"/>
              <a:ext cx="1152" cy="38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7354" name="Oval 9"/>
            <p:cNvSpPr>
              <a:spLocks noChangeArrowheads="1"/>
            </p:cNvSpPr>
            <p:nvPr/>
          </p:nvSpPr>
          <p:spPr bwMode="auto">
            <a:xfrm>
              <a:off x="3984" y="2880"/>
              <a:ext cx="1152" cy="384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50777591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8083550" cy="8382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点击</a:t>
            </a:r>
            <a:r>
              <a:rPr lang="en-US" altLang="zh-CN" sz="2800" b="1"/>
              <a:t>new report</a:t>
            </a:r>
            <a:r>
              <a:rPr lang="zh-CN" altLang="en-US" sz="2800" b="1"/>
              <a:t>按钮，单击</a:t>
            </a:r>
            <a:r>
              <a:rPr lang="en-US" altLang="zh-CN" sz="2800" b="1"/>
              <a:t>close</a:t>
            </a:r>
            <a:r>
              <a:rPr lang="zh-CN" altLang="en-US" sz="2800" b="1"/>
              <a:t>，生成如下结果。</a:t>
            </a:r>
          </a:p>
        </p:txBody>
      </p:sp>
      <p:pic>
        <p:nvPicPr>
          <p:cNvPr id="5837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1219200"/>
            <a:ext cx="8983663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722596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5264150" cy="685800"/>
          </a:xfrm>
        </p:spPr>
        <p:txBody>
          <a:bodyPr/>
          <a:lstStyle/>
          <a:p>
            <a:pPr eaLnBrk="1" hangingPunct="1"/>
            <a:r>
              <a:rPr lang="en-US" altLang="zh-CN" sz="2800" b="1"/>
              <a:t>D</a:t>
            </a:r>
            <a:r>
              <a:rPr lang="zh-CN" altLang="en-US" sz="2800" b="1"/>
              <a:t>。查看三维增益方向图</a:t>
            </a:r>
          </a:p>
        </p:txBody>
      </p:sp>
      <p:sp>
        <p:nvSpPr>
          <p:cNvPr id="59395" name="Rectangle 3"/>
          <p:cNvSpPr>
            <a:spLocks noGrp="1" noRot="1" noChangeArrowheads="1"/>
          </p:cNvSpPr>
          <p:nvPr>
            <p:ph type="body" idx="1"/>
          </p:nvPr>
        </p:nvSpPr>
        <p:spPr>
          <a:xfrm>
            <a:off x="1524000" y="838201"/>
            <a:ext cx="9144000" cy="4498975"/>
          </a:xfrm>
        </p:spPr>
        <p:txBody>
          <a:bodyPr/>
          <a:lstStyle/>
          <a:p>
            <a:pPr eaLnBrk="1" hangingPunct="1"/>
            <a:r>
              <a:rPr lang="zh-CN" altLang="en-US" sz="2400" b="1"/>
              <a:t>右键单击工程树下的</a:t>
            </a:r>
            <a:r>
              <a:rPr lang="en-US" altLang="zh-CN" sz="2400" b="1"/>
              <a:t>results</a:t>
            </a:r>
            <a:r>
              <a:rPr lang="zh-CN" altLang="en-US" sz="2400" b="1"/>
              <a:t>节点，在弹出的快捷菜单中选择</a:t>
            </a:r>
            <a:r>
              <a:rPr lang="en-US" altLang="zh-CN" sz="2400" b="1"/>
              <a:t>create far fields report----3D Polar Plot</a:t>
            </a:r>
            <a:r>
              <a:rPr lang="zh-CN" altLang="en-US" sz="2400" b="1"/>
              <a:t>命令，打开报告设置对话框，如下图所示。</a:t>
            </a:r>
          </a:p>
        </p:txBody>
      </p:sp>
      <p:grpSp>
        <p:nvGrpSpPr>
          <p:cNvPr id="59396" name="Group 9"/>
          <p:cNvGrpSpPr>
            <a:grpSpLocks/>
          </p:cNvGrpSpPr>
          <p:nvPr/>
        </p:nvGrpSpPr>
        <p:grpSpPr bwMode="auto">
          <a:xfrm>
            <a:off x="1524000" y="1981200"/>
            <a:ext cx="9144000" cy="4876800"/>
            <a:chOff x="0" y="1248"/>
            <a:chExt cx="5760" cy="3072"/>
          </a:xfrm>
        </p:grpSpPr>
        <p:pic>
          <p:nvPicPr>
            <p:cNvPr id="59397" name="Picture 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457" t="31500" r="14766" b="6300"/>
            <a:stretch>
              <a:fillRect/>
            </a:stretch>
          </p:blipFill>
          <p:spPr bwMode="auto">
            <a:xfrm>
              <a:off x="0" y="1248"/>
              <a:ext cx="5760" cy="307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59398" name="Oval 5"/>
            <p:cNvSpPr>
              <a:spLocks noChangeArrowheads="1"/>
            </p:cNvSpPr>
            <p:nvPr/>
          </p:nvSpPr>
          <p:spPr bwMode="auto">
            <a:xfrm>
              <a:off x="288" y="1680"/>
              <a:ext cx="1872" cy="432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399" name="Oval 6"/>
            <p:cNvSpPr>
              <a:spLocks noChangeArrowheads="1"/>
            </p:cNvSpPr>
            <p:nvPr/>
          </p:nvSpPr>
          <p:spPr bwMode="auto">
            <a:xfrm>
              <a:off x="2064" y="3216"/>
              <a:ext cx="1200" cy="33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400" name="Oval 7"/>
            <p:cNvSpPr>
              <a:spLocks noChangeArrowheads="1"/>
            </p:cNvSpPr>
            <p:nvPr/>
          </p:nvSpPr>
          <p:spPr bwMode="auto">
            <a:xfrm>
              <a:off x="3264" y="3072"/>
              <a:ext cx="1200" cy="33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59401" name="Oval 8"/>
            <p:cNvSpPr>
              <a:spLocks noChangeArrowheads="1"/>
            </p:cNvSpPr>
            <p:nvPr/>
          </p:nvSpPr>
          <p:spPr bwMode="auto">
            <a:xfrm>
              <a:off x="4320" y="3312"/>
              <a:ext cx="1200" cy="336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9979575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1822450" y="228600"/>
            <a:ext cx="8235950" cy="685800"/>
          </a:xfrm>
        </p:spPr>
        <p:txBody>
          <a:bodyPr/>
          <a:lstStyle/>
          <a:p>
            <a:pPr eaLnBrk="1" hangingPunct="1"/>
            <a:r>
              <a:rPr lang="zh-CN" altLang="en-US" sz="2800" b="1"/>
              <a:t>点击</a:t>
            </a:r>
            <a:r>
              <a:rPr lang="en-US" altLang="zh-CN" sz="2800" b="1"/>
              <a:t>new report</a:t>
            </a:r>
            <a:r>
              <a:rPr lang="zh-CN" altLang="en-US" sz="2800" b="1"/>
              <a:t>按钮，单击</a:t>
            </a:r>
            <a:r>
              <a:rPr lang="en-US" altLang="zh-CN" sz="2800" b="1"/>
              <a:t>close</a:t>
            </a:r>
            <a:r>
              <a:rPr lang="zh-CN" altLang="en-US" sz="2800" b="1"/>
              <a:t>，生成如下结果。</a:t>
            </a:r>
          </a:p>
        </p:txBody>
      </p:sp>
      <p:pic>
        <p:nvPicPr>
          <p:cNvPr id="60419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1" y="944564"/>
            <a:ext cx="8804275" cy="522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527952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CN"/>
              <a:t>(6)</a:t>
            </a:r>
            <a:r>
              <a:rPr lang="zh-CN" altLang="en-US"/>
              <a:t>其他参数</a:t>
            </a:r>
          </a:p>
        </p:txBody>
      </p:sp>
      <p:sp>
        <p:nvSpPr>
          <p:cNvPr id="61443" name="Rectangle 3"/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 b="1"/>
              <a:t>展开工程树下的</a:t>
            </a:r>
            <a:r>
              <a:rPr lang="en-US" altLang="zh-CN" b="1"/>
              <a:t>radiation</a:t>
            </a:r>
            <a:r>
              <a:rPr lang="zh-CN" altLang="en-US" b="1"/>
              <a:t>节点，右键单击相应辐射表面的名称，这里右键单击</a:t>
            </a:r>
            <a:r>
              <a:rPr lang="en-US" altLang="zh-CN" b="1"/>
              <a:t>3D_Sphere</a:t>
            </a:r>
            <a:r>
              <a:rPr lang="zh-CN" altLang="en-US" b="1"/>
              <a:t>，在弹出的菜单中选择</a:t>
            </a:r>
            <a:r>
              <a:rPr lang="en-US" altLang="zh-CN" b="1"/>
              <a:t>compute antenna parameters</a:t>
            </a:r>
            <a:r>
              <a:rPr lang="zh-CN" altLang="en-US" b="1"/>
              <a:t>命令，打开</a:t>
            </a:r>
            <a:r>
              <a:rPr lang="en-US" altLang="zh-CN" b="1"/>
              <a:t>antenna parameters</a:t>
            </a:r>
            <a:r>
              <a:rPr lang="zh-CN" altLang="en-US" b="1"/>
              <a:t>对话框，然后单击对话框中的</a:t>
            </a:r>
            <a:r>
              <a:rPr lang="en-US" altLang="zh-CN" b="1"/>
              <a:t>ok</a:t>
            </a:r>
            <a:r>
              <a:rPr lang="zh-CN" altLang="en-US" b="1"/>
              <a:t>按钮，此时可以给出天线在该</a:t>
            </a:r>
            <a:r>
              <a:rPr lang="zh-CN" altLang="en-US" b="1">
                <a:solidFill>
                  <a:srgbClr val="0033CC"/>
                </a:solidFill>
              </a:rPr>
              <a:t>辐射表面上的最大辐射强度、方向性系数、最大场强及其所在方向</a:t>
            </a:r>
            <a:r>
              <a:rPr lang="zh-CN" altLang="en-US" b="1"/>
              <a:t>等参数。</a:t>
            </a:r>
          </a:p>
        </p:txBody>
      </p:sp>
    </p:spTree>
    <p:extLst>
      <p:ext uri="{BB962C8B-B14F-4D97-AF65-F5344CB8AC3E}">
        <p14:creationId xmlns:p14="http://schemas.microsoft.com/office/powerpoint/2010/main" val="164124940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-30163"/>
            <a:ext cx="4648200" cy="6900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16169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303259" y="139481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6303259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715856" y="3911005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715856" y="1378942"/>
            <a:ext cx="5242560" cy="2194560"/>
          </a:xfrm>
          <a:prstGeom prst="roundRect">
            <a:avLst/>
          </a:prstGeom>
          <a:solidFill>
            <a:schemeClr val="lt2">
              <a:alpha val="8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6703007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介质材料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703007" y="470528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考虑天线周围介质的电磁特性，如介电常数、磁导率等，这些参数会影响天线的辐射场分布和传播特性。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98702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长度与波长关系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8702" y="218909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确定天线的总长度L，使其等于半个波长λ/2，这是半波偶极子天线的基本定义，直接影响天线的工作频率和辐射效率。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686105" y="161018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导线半径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86105" y="218909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选择适当的导线半径a，以平衡天线的结构强度、导电性能及辐射特性。半径过小可能导致电阻增大，过大则可能影响辐射场分布。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8702" y="4126373"/>
            <a:ext cx="4295775" cy="6286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馈电点位置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98702" y="4705286"/>
            <a:ext cx="4476750" cy="12096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确定馈电点的具体位置，通常位于天线中心，以保证两臂电流分布均匀，提高天线的匹配性能和辐射方向性。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设计参数确定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25000" r="25000"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建模过程展示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复制与对称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利用HFSS的坐标轴复制功能，快速生成天线的另一个臂，确保两臂关于中心点对称。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设置激励端口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在天线中心位置创建一个平行于YZ面的矩形面作为激励端口平面，用于模拟实际馈电情况。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创建基础模型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在HFSS软件中新建项目，设置求解类型为DrivenModel，并设置适当的长度单位（如毫米）。根据设计参数，创建半波偶极子天线的基础几何模型，包括两臂的圆柱形结构。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185766" y="1751287"/>
            <a:ext cx="5242663" cy="4234459"/>
          </a:xfrm>
          <a:prstGeom prst="round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3" name="AutoShape 3"/>
          <p:cNvSpPr/>
          <p:nvPr/>
        </p:nvSpPr>
        <p:spPr>
          <a:xfrm>
            <a:off x="763571" y="1751287"/>
            <a:ext cx="5242663" cy="4234459"/>
          </a:xfrm>
          <a:prstGeom prst="roundRect">
            <a:avLst/>
          </a:prstGeom>
          <a:solidFill>
            <a:schemeClr val="lt2">
              <a:alpha val="100000"/>
            </a:schemeClr>
          </a:solidFill>
          <a:ln/>
        </p:spPr>
      </p:sp>
      <p:sp>
        <p:nvSpPr>
          <p:cNvPr id="4" name="AutoShape 4"/>
          <p:cNvSpPr/>
          <p:nvPr/>
        </p:nvSpPr>
        <p:spPr>
          <a:xfrm>
            <a:off x="4680215" y="2439766"/>
            <a:ext cx="2857500" cy="2857500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775465" y="2535016"/>
            <a:ext cx="2667000" cy="2667000"/>
          </a:xfrm>
          <a:prstGeom prst="ellipse">
            <a:avLst/>
          </a:prstGeom>
          <a:solidFill>
            <a:schemeClr val="l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4980253" y="2835054"/>
            <a:ext cx="2257425" cy="20669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765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1290581" y="2855191"/>
            <a:ext cx="2856056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1085072" y="3008094"/>
            <a:ext cx="3267075" cy="26479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创建一个沿Z轴放置的圆柱模型作为辐射边界条件，材质设定为空气，以模拟无限大自由空间中的辐射场分布。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817683" y="1990828"/>
            <a:ext cx="3286425" cy="7239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材料与属性赋值</a:t>
            </a:r>
          </a:p>
        </p:txBody>
      </p:sp>
      <p:cxnSp>
        <p:nvCxnSpPr>
          <p:cNvPr id="10" name="Connector 10"/>
          <p:cNvCxnSpPr/>
          <p:nvPr/>
        </p:nvCxnSpPr>
        <p:spPr>
          <a:xfrm>
            <a:off x="8032867" y="2855191"/>
            <a:ext cx="2856056" cy="0"/>
          </a:xfrm>
          <a:prstGeom prst="line">
            <a:avLst/>
          </a:prstGeom>
          <a:ln w="9525">
            <a:solidFill>
              <a:schemeClr val="accent1"/>
            </a:solidFill>
            <a:prstDash val="solid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1" name="TextBox 11"/>
          <p:cNvSpPr txBox="1"/>
          <p:nvPr/>
        </p:nvSpPr>
        <p:spPr>
          <a:xfrm>
            <a:off x="7817833" y="3008094"/>
            <a:ext cx="3286125" cy="264795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为天线模型分配适当的材料属性，如金属导体的电导率等，并设置求解频率范围及扫频类型（如快速扫频）。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5072" y="1990828"/>
            <a:ext cx="3267075" cy="7239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设定辐射边界条件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建模过程展示</a:t>
            </a:r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74338" y="2648113"/>
            <a:ext cx="295275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回波损耗分析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85045" y="3257437"/>
            <a:ext cx="2931336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观察并分析S11参数（回波损耗），评估天线在设定频段内的阻抗匹配性能。理想的匹配状态下，S11应小于-10dB。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620260" y="1505440"/>
            <a:ext cx="295275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电压驻波比分析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620260" y="2100548"/>
            <a:ext cx="2931336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 lnSpcReduction="10000"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计算并绘制电压驻波比（VSWR）曲线，了解天线在不同频率点的传输特性。VSWR越接近于1，表示传输特性越接近行波状态，性能越理想。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38939" y="2656858"/>
            <a:ext cx="2952750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史密斯圆图分析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549646" y="3257437"/>
            <a:ext cx="2931336" cy="1654845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rm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利用史密斯圆图直观展示天线端口的归一化阻抗随频率变化的轨迹，进一步分析阻抗匹配情况。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004471" y="4620981"/>
            <a:ext cx="2875883" cy="1437894"/>
          </a:xfrm>
          <a:prstGeom prst="diamond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9" name="AutoShape 9"/>
          <p:cNvSpPr/>
          <p:nvPr/>
        </p:nvSpPr>
        <p:spPr>
          <a:xfrm>
            <a:off x="4658106" y="3758206"/>
            <a:ext cx="2875883" cy="1437894"/>
          </a:xfrm>
          <a:prstGeom prst="diamond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0" name="AutoShape 10"/>
          <p:cNvSpPr/>
          <p:nvPr/>
        </p:nvSpPr>
        <p:spPr>
          <a:xfrm>
            <a:off x="6311646" y="4620981"/>
            <a:ext cx="2875883" cy="1437894"/>
          </a:xfrm>
          <a:prstGeom prst="diamond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1" name="TextBox 11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仿真结果分析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005974" y="4896780"/>
            <a:ext cx="872877" cy="88629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rgbClr val="FFFF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660196" y="4025987"/>
            <a:ext cx="872877" cy="88629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rgbClr val="FFFF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313150" y="4912282"/>
            <a:ext cx="872877" cy="88629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050" b="1">
                <a:solidFill>
                  <a:srgbClr val="FFFFFE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0913" y="1312852"/>
            <a:ext cx="7804501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辐射特性分析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1197254" y="5988003"/>
            <a:ext cx="10998321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4"/>
          <p:cNvSpPr txBox="1"/>
          <p:nvPr/>
        </p:nvSpPr>
        <p:spPr>
          <a:xfrm>
            <a:off x="3560913" y="1927072"/>
            <a:ext cx="7804501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分析天线的辐射方向图（包括二维和三维增益图）、极化特性等，评估天线的辐射效率和方向性。重点关注电场和磁场在XOY平面上的辐射均匀性及沿Z轴方向的衰减情况。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473" y="3943665"/>
            <a:ext cx="7806355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敏感性分析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3473" y="4571667"/>
            <a:ext cx="7806355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调整天线的设计参数（如长度、宽度、高度等），观察并分析这些变化对天线性能的影响，以确定最优设计方案。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574694" y="3297546"/>
            <a:ext cx="861421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仿真结果分析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80</a:t>
            </a:fld>
            <a:endParaRPr 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596" y="2976755"/>
            <a:ext cx="10484808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性能评估与优化策略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81</a:t>
            </a:fld>
            <a:endParaRPr 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l="16667" r="16667"/>
          <a:stretch>
            <a:fillRect/>
          </a:stretch>
        </p:blipFill>
        <p:spPr>
          <a:xfrm>
            <a:off x="476023" y="1726817"/>
            <a:ext cx="4434840" cy="4434841"/>
          </a:xfrm>
          <a:prstGeom prst="round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5562187" y="4881292"/>
            <a:ext cx="6000750" cy="711336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极化特性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67801" y="5523753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评估天线辐射电场的极化方式，包括线极化、圆极化等，以及极化纯度和交叉极化比等参数，以了解天线的极化特性对通信质量的影响。</a:t>
            </a:r>
          </a:p>
        </p:txBody>
      </p:sp>
      <p:sp>
        <p:nvSpPr>
          <p:cNvPr id="5" name="AutoShape 5"/>
          <p:cNvSpPr/>
          <p:nvPr/>
        </p:nvSpPr>
        <p:spPr>
          <a:xfrm>
            <a:off x="5267801" y="1835975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TextBox 6"/>
          <p:cNvSpPr txBox="1"/>
          <p:nvPr/>
        </p:nvSpPr>
        <p:spPr>
          <a:xfrm>
            <a:off x="5562187" y="1621998"/>
            <a:ext cx="6000750" cy="666079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辐射方向图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267801" y="2234038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评估天线在不同方向上的辐射强度分布，包括主瓣宽度、副瓣电平、前后比等参数，以了解天线的辐射特性。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62187" y="3262274"/>
            <a:ext cx="6000750" cy="69755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增益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67801" y="3896612"/>
            <a:ext cx="6477000" cy="91440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衡量天线在特定方向上收发信号的能力，增益越高，表示天线在该方向上的辐射或接收效率越高。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辐射性能评估指标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267801" y="3491989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2" name="AutoShape 12"/>
          <p:cNvSpPr/>
          <p:nvPr/>
        </p:nvSpPr>
        <p:spPr>
          <a:xfrm>
            <a:off x="5267801" y="5117897"/>
            <a:ext cx="238125" cy="238125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82</a:t>
            </a:fld>
            <a:endParaRPr 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2500" r="12500"/>
          <a:stretch>
            <a:fillRect/>
          </a:stretch>
        </p:blipFill>
        <p:spPr>
          <a:xfrm>
            <a:off x="4462463" y="2088071"/>
            <a:ext cx="3267075" cy="3267075"/>
          </a:xfrm>
          <a:prstGeom prst="ellipse">
            <a:avLst/>
          </a:prstGeom>
          <a:ln w="57150">
            <a:solidFill>
              <a:schemeClr val="accent1"/>
            </a:solidFill>
            <a:prstDash val="solid"/>
          </a:ln>
        </p:spPr>
      </p:pic>
      <p:sp>
        <p:nvSpPr>
          <p:cNvPr id="3" name="TextBox 3"/>
          <p:cNvSpPr txBox="1"/>
          <p:nvPr/>
        </p:nvSpPr>
        <p:spPr>
          <a:xfrm>
            <a:off x="539110" y="2972036"/>
            <a:ext cx="3314231" cy="64799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调整馈电点位置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059848" y="1716027"/>
            <a:ext cx="3314231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在天线与馈线之间添加匹配网络，如L型、T型、π型等匹配电路，以补偿天线输入阻抗与馈线特性阻抗之间的差异，实现阻抗匹配。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059848" y="1097369"/>
            <a:ext cx="3314231" cy="62295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>
              <a:lnSpc>
                <a:spcPct val="96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添加匹配网络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59848" y="4019931"/>
            <a:ext cx="3314231" cy="54783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优化天线结构参数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059848" y="4565142"/>
            <a:ext cx="3314231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通过调整天线的长度、宽度、高度等结构参数，可以改变天线的电流分布和辐射特性，从而优化天线的输入阻抗和匹配性能。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39110" y="3620031"/>
            <a:ext cx="3314231" cy="1580007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通过改变馈电点在天线上的位置，可以优化天线的输入阻抗，使其与馈线特性阻抗更好地匹配，减少反射损耗。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阻抗匹配优化方法</a:t>
            </a:r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83</a:t>
            </a:fld>
            <a:endParaRPr 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结构调整对性能影响</a:t>
            </a:r>
          </a:p>
        </p:txBody>
      </p:sp>
      <p:sp>
        <p:nvSpPr>
          <p:cNvPr id="3" name="AutoShape 3"/>
          <p:cNvSpPr/>
          <p:nvPr/>
        </p:nvSpPr>
        <p:spPr>
          <a:xfrm>
            <a:off x="8195884" y="1659500"/>
            <a:ext cx="3370667" cy="4373333"/>
          </a:xfrm>
          <a:prstGeom prst="roundRect">
            <a:avLst>
              <a:gd name="adj" fmla="val 7173"/>
            </a:avLst>
          </a:prstGeom>
          <a:solidFill>
            <a:schemeClr val="lt2">
              <a:alpha val="80000"/>
            </a:schemeClr>
          </a:solidFill>
          <a:ln/>
        </p:spPr>
      </p:sp>
      <p:cxnSp>
        <p:nvCxnSpPr>
          <p:cNvPr id="4" name="Connector 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5" name="TextBox 5"/>
          <p:cNvSpPr txBox="1"/>
          <p:nvPr/>
        </p:nvSpPr>
        <p:spPr>
          <a:xfrm>
            <a:off x="8309592" y="1899496"/>
            <a:ext cx="3143250" cy="6858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馈电方式优化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381030" y="2813949"/>
            <a:ext cx="3000375" cy="2835411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不同的馈电方式会影响天线的电流分布和辐射特性。例如，采用平衡馈电方式可以减少馈线上的共模电流，降低交叉极化比和反射损耗。同时，优化馈电点的位置和馈电网络的结构也可以进一步提高天线的性能。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410667" y="1659500"/>
            <a:ext cx="3370667" cy="4373333"/>
          </a:xfrm>
          <a:prstGeom prst="roundRect">
            <a:avLst>
              <a:gd name="adj" fmla="val 7173"/>
            </a:avLst>
          </a:prstGeom>
          <a:solidFill>
            <a:schemeClr val="lt2">
              <a:alpha val="80000"/>
            </a:schemeClr>
          </a:solidFill>
          <a:ln/>
        </p:spPr>
      </p:sp>
      <p:cxnSp>
        <p:nvCxnSpPr>
          <p:cNvPr id="8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9" name="TextBox 9"/>
          <p:cNvSpPr txBox="1"/>
          <p:nvPr/>
        </p:nvSpPr>
        <p:spPr>
          <a:xfrm>
            <a:off x="4524375" y="1899496"/>
            <a:ext cx="3143250" cy="685800"/>
          </a:xfrm>
          <a:prstGeom prst="rect">
            <a:avLst/>
          </a:prstGeom>
          <a:ln/>
        </p:spPr>
        <p:txBody>
          <a:bodyPr vert="horz" wrap="square" lIns="0" tIns="0" rIns="0" bIns="0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宽度调整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595813" y="2813949"/>
            <a:ext cx="3000375" cy="2835411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调整天线的宽度可以改变其辐射方向图的形状和副瓣电平。较宽的天线往往具有较宽的主瓣宽度和较低的副瓣电平。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625449" y="1659500"/>
            <a:ext cx="3370667" cy="4373333"/>
          </a:xfrm>
          <a:prstGeom prst="roundRect">
            <a:avLst>
              <a:gd name="adj" fmla="val 7173"/>
            </a:avLst>
          </a:prstGeom>
          <a:solidFill>
            <a:schemeClr val="lt2">
              <a:alpha val="80000"/>
            </a:schemeClr>
          </a:solidFill>
          <a:ln/>
        </p:spPr>
      </p:sp>
      <p:cxnSp>
        <p:nvCxnSpPr>
          <p:cNvPr id="12" name="Connector 1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9525">
            <a:solidFill>
              <a:srgbClr val="000000"/>
            </a:solidFill>
          </a:ln>
        </p:spPr>
      </p:cxnSp>
      <p:sp>
        <p:nvSpPr>
          <p:cNvPr id="13" name="TextBox 13"/>
          <p:cNvSpPr txBox="1"/>
          <p:nvPr/>
        </p:nvSpPr>
        <p:spPr>
          <a:xfrm>
            <a:off x="739158" y="1899496"/>
            <a:ext cx="3143250" cy="6858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长度调整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0595" y="2813949"/>
            <a:ext cx="3000375" cy="2835411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改变天线的长度会直接影响其工作频率和辐射特性。一般来说，天线长度增加会使工作频率降低，但也会增加辐射阻抗和增益。</a:t>
            </a:r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84</a:t>
            </a:fld>
            <a:endParaRPr lang="en-US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05150" y="874173"/>
            <a:ext cx="5981700" cy="13716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6600" b="1">
                <a:solidFill>
                  <a:schemeClr val="l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129868" y="201587"/>
            <a:ext cx="1932265" cy="1009086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  <a:spcBef>
                <a:spcPts val="450"/>
              </a:spcBef>
            </a:pPr>
            <a:r>
              <a:rPr lang="en-US" sz="3600">
                <a:solidFill>
                  <a:srgbClr val="FFFFFF">
                    <a:alpha val="30980"/>
                    <a:alpha val="31000"/>
                  </a:srgbClr>
                </a:solidFill>
                <a:latin typeface="Microsoft Yahei"/>
                <a:ea typeface="Microsoft Yahei"/>
                <a:cs typeface="Microsoft Yahei"/>
              </a:rPr>
              <a:t>PART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53596" y="2976755"/>
            <a:ext cx="10484808" cy="1798058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sz="4500" b="1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实验验证与测试结果分析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85</a:t>
            </a:fld>
            <a:endParaRPr 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85901" y="1362476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实验装置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685901" y="2024509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采用高精度信号发生器、矢量网络分析仪、远场天线测试系统等设备，确保测试数据的准确性和可靠性。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实验装置及测试方法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838598" y="1564792"/>
            <a:ext cx="353467" cy="353467"/>
            <a:chOff x="838598" y="1564792"/>
            <a:chExt cx="353467" cy="353467"/>
          </a:xfrm>
        </p:grpSpPr>
        <p:sp>
          <p:nvSpPr>
            <p:cNvPr id="6" name="AutoShape 6"/>
            <p:cNvSpPr/>
            <p:nvPr/>
          </p:nvSpPr>
          <p:spPr>
            <a:xfrm>
              <a:off x="920082" y="1646276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7" name="AutoShape 7"/>
            <p:cNvSpPr/>
            <p:nvPr/>
          </p:nvSpPr>
          <p:spPr>
            <a:xfrm>
              <a:off x="838598" y="1564792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8" name="TextBox 8"/>
          <p:cNvSpPr txBox="1"/>
          <p:nvPr/>
        </p:nvSpPr>
        <p:spPr>
          <a:xfrm>
            <a:off x="1685901" y="3189254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测试环境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85901" y="3851288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在无遮挡、无电磁干扰的开阔场地进行测试，确保测试环境的一致性和可重复性。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838598" y="3391571"/>
            <a:ext cx="353467" cy="353467"/>
            <a:chOff x="838598" y="3391571"/>
            <a:chExt cx="353467" cy="353467"/>
          </a:xfrm>
        </p:grpSpPr>
        <p:sp>
          <p:nvSpPr>
            <p:cNvPr id="11" name="AutoShape 11"/>
            <p:cNvSpPr/>
            <p:nvPr/>
          </p:nvSpPr>
          <p:spPr>
            <a:xfrm>
              <a:off x="920082" y="3473055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2" name="AutoShape 12"/>
            <p:cNvSpPr/>
            <p:nvPr/>
          </p:nvSpPr>
          <p:spPr>
            <a:xfrm>
              <a:off x="838598" y="3391571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sp>
        <p:nvSpPr>
          <p:cNvPr id="13" name="TextBox 13"/>
          <p:cNvSpPr txBox="1"/>
          <p:nvPr/>
        </p:nvSpPr>
        <p:spPr>
          <a:xfrm>
            <a:off x="1685901" y="4975292"/>
            <a:ext cx="8946338" cy="555784"/>
          </a:xfrm>
          <a:prstGeom prst="rect">
            <a:avLst/>
          </a:prstGeom>
          <a:ln/>
        </p:spPr>
        <p:txBody>
          <a:bodyPr vert="horz" wrap="square" lIns="0" tIns="0" rIns="0" bIns="0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测试方法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85901" y="5637325"/>
            <a:ext cx="8972550" cy="763780"/>
          </a:xfrm>
          <a:prstGeom prst="rect">
            <a:avLst/>
          </a:prstGeom>
          <a:ln/>
        </p:spPr>
        <p:txBody>
          <a:bodyPr vert="horz" wrap="square" lIns="0" tIns="0" rIns="0" bIns="0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通过矢量网络分析仪测量天线的回波损耗、驻波比等参数，利用远场天线测试系统测量天线的辐射方向图、增益等辐射特性。同时，与仿真结果进行对比分析，验证设计的准确性和可靠性。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838598" y="5177608"/>
            <a:ext cx="353467" cy="353467"/>
            <a:chOff x="838598" y="5177608"/>
            <a:chExt cx="353467" cy="353467"/>
          </a:xfrm>
        </p:grpSpPr>
        <p:sp>
          <p:nvSpPr>
            <p:cNvPr id="16" name="AutoShape 16"/>
            <p:cNvSpPr/>
            <p:nvPr/>
          </p:nvSpPr>
          <p:spPr>
            <a:xfrm>
              <a:off x="920082" y="5259092"/>
              <a:ext cx="190500" cy="190500"/>
            </a:xfrm>
            <a:prstGeom prst="ellipse">
              <a:avLst/>
            </a:prstGeom>
            <a:solidFill>
              <a:schemeClr val="accent1">
                <a:alpha val="100000"/>
              </a:schemeClr>
            </a:solidFill>
            <a:ln/>
          </p:spPr>
        </p:sp>
        <p:sp>
          <p:nvSpPr>
            <p:cNvPr id="17" name="AutoShape 17"/>
            <p:cNvSpPr/>
            <p:nvPr/>
          </p:nvSpPr>
          <p:spPr>
            <a:xfrm>
              <a:off x="838598" y="5177608"/>
              <a:ext cx="353467" cy="353467"/>
            </a:xfrm>
            <a:prstGeom prst="ellipse">
              <a:avLst/>
            </a:prstGeom>
            <a:solidFill>
              <a:schemeClr val="accent1">
                <a:alpha val="16000"/>
              </a:schemeClr>
            </a:solidFill>
            <a:ln/>
          </p:spPr>
        </p:sp>
      </p:grpSp>
      <p:cxnSp>
        <p:nvCxnSpPr>
          <p:cNvPr id="18" name="Connector 18"/>
          <p:cNvCxnSpPr/>
          <p:nvPr/>
        </p:nvCxnSpPr>
        <p:spPr>
          <a:xfrm>
            <a:off x="1015332" y="1728028"/>
            <a:ext cx="0" cy="5214957"/>
          </a:xfrm>
          <a:prstGeom prst="line">
            <a:avLst/>
          </a:prstGeom>
          <a:ln w="19050">
            <a:solidFill>
              <a:schemeClr val="accent1"/>
            </a:solidFill>
            <a:prstDash val="dash"/>
            <a:headEnd type="none"/>
            <a:tailEnd type="triangl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86</a:t>
            </a:fld>
            <a:endParaRPr 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14204" y="1693475"/>
            <a:ext cx="3000375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回波损耗对比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14204" y="2171158"/>
            <a:ext cx="3000375" cy="15522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实测回波损耗曲线与仿真结果基本一致，验证了天线设计在阻抗匹配方面的有效性。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14204" y="4384206"/>
            <a:ext cx="3000375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r">
              <a:lnSpc>
                <a:spcPct val="15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辐射方向图对比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7985" y="4852503"/>
            <a:ext cx="3000375" cy="15522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r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实测辐射方向图与仿真结果基本一致，验证了天线在辐射特性方面的设计准确性。同时，通过对比不同频率下的辐射方向图，可以评估天线的频带宽度和辐射稳定性。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108705" y="1693475"/>
            <a:ext cx="300074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驻波比对比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108705" y="2109711"/>
            <a:ext cx="3000749" cy="15522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实测驻波比与仿真结果吻合良好，表明天线在传输过程中的能量损耗较小，传输特性稳定。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108705" y="4384206"/>
            <a:ext cx="3000749" cy="490334"/>
          </a:xfrm>
          <a:prstGeom prst="rect">
            <a:avLst/>
          </a:prstGeom>
          <a:ln/>
        </p:spPr>
        <p:txBody>
          <a:bodyPr vert="horz" wrap="square" lIns="66008" tIns="33052" rIns="66008" bIns="33052" rtlCol="0" anchor="ctr" anchorCtr="0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增益对比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22486" y="4852503"/>
            <a:ext cx="3000749" cy="1552257"/>
          </a:xfrm>
          <a:prstGeom prst="rect">
            <a:avLst/>
          </a:prstGeom>
          <a:ln/>
        </p:spPr>
        <p:txBody>
          <a:bodyPr vert="horz" wrap="square" lIns="66008" tIns="33052" rIns="66008" bIns="33052" rtlCol="0" anchor="t" anchorCtr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en-US" sz="14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实测增益与仿真结果相近，表明天线在辐射强度方面达到了预期目标。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测试结果与仿真对比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3381475" y="1147015"/>
            <a:ext cx="5406235" cy="5406235"/>
            <a:chOff x="3381475" y="1147015"/>
            <a:chExt cx="5406235" cy="5406235"/>
          </a:xfrm>
        </p:grpSpPr>
        <p:sp>
          <p:nvSpPr>
            <p:cNvPr id="12" name="AutoShape 12"/>
            <p:cNvSpPr/>
            <p:nvPr/>
          </p:nvSpPr>
          <p:spPr>
            <a:xfrm>
              <a:off x="3384818" y="3851804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30000"/>
                </a:schemeClr>
              </a:solidFill>
              <a:prstDash val="solid"/>
            </a:ln>
          </p:spPr>
        </p:sp>
        <p:sp>
          <p:nvSpPr>
            <p:cNvPr id="13" name="AutoShape 13"/>
            <p:cNvSpPr/>
            <p:nvPr/>
          </p:nvSpPr>
          <p:spPr>
            <a:xfrm flipH="1">
              <a:off x="6086264" y="3851804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100000"/>
                </a:schemeClr>
              </a:solidFill>
              <a:prstDash val="solid"/>
            </a:ln>
          </p:spPr>
        </p:sp>
        <p:sp>
          <p:nvSpPr>
            <p:cNvPr id="14" name="AutoShape 14"/>
            <p:cNvSpPr/>
            <p:nvPr/>
          </p:nvSpPr>
          <p:spPr>
            <a:xfrm flipV="1">
              <a:off x="3381475" y="1147015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100000"/>
                </a:schemeClr>
              </a:solidFill>
              <a:prstDash val="solid"/>
            </a:ln>
          </p:spPr>
        </p:sp>
        <p:sp>
          <p:nvSpPr>
            <p:cNvPr id="15" name="AutoShape 15"/>
            <p:cNvSpPr/>
            <p:nvPr/>
          </p:nvSpPr>
          <p:spPr>
            <a:xfrm flipH="1" flipV="1">
              <a:off x="6082921" y="1147015"/>
              <a:ext cx="2701446" cy="270144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254032">
              <a:solidFill>
                <a:schemeClr val="accent1">
                  <a:alpha val="30000"/>
                </a:schemeClr>
              </a:solidFill>
              <a:prstDash val="solid"/>
            </a:ln>
          </p:spPr>
        </p:sp>
      </p:grpSp>
      <p:sp>
        <p:nvSpPr>
          <p:cNvPr id="16" name="Freeform 16"/>
          <p:cNvSpPr/>
          <p:nvPr/>
        </p:nvSpPr>
        <p:spPr>
          <a:xfrm>
            <a:off x="5878869" y="3640582"/>
            <a:ext cx="433809" cy="433809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67640" y="0"/>
                </a:moveTo>
                <a:lnTo>
                  <a:pt x="182880" y="0"/>
                </a:lnTo>
                <a:lnTo>
                  <a:pt x="182880" y="45720"/>
                </a:lnTo>
                <a:lnTo>
                  <a:pt x="228600" y="152400"/>
                </a:lnTo>
                <a:lnTo>
                  <a:pt x="228600" y="274320"/>
                </a:lnTo>
                <a:cubicBezTo>
                  <a:pt x="228600" y="291151"/>
                  <a:pt x="214951" y="304800"/>
                  <a:pt x="198120" y="304800"/>
                </a:cubicBezTo>
                <a:lnTo>
                  <a:pt x="198120" y="304800"/>
                </a:lnTo>
                <a:lnTo>
                  <a:pt x="76200" y="304800"/>
                </a:lnTo>
                <a:cubicBezTo>
                  <a:pt x="59436" y="304800"/>
                  <a:pt x="40996" y="291998"/>
                  <a:pt x="35052" y="276149"/>
                </a:cubicBezTo>
                <a:lnTo>
                  <a:pt x="0" y="182880"/>
                </a:lnTo>
                <a:lnTo>
                  <a:pt x="0" y="152400"/>
                </a:lnTo>
                <a:cubicBezTo>
                  <a:pt x="0" y="135569"/>
                  <a:pt x="13649" y="121920"/>
                  <a:pt x="30480" y="121920"/>
                </a:cubicBezTo>
                <a:lnTo>
                  <a:pt x="30480" y="121920"/>
                </a:lnTo>
                <a:lnTo>
                  <a:pt x="137160" y="121920"/>
                </a:lnTo>
                <a:lnTo>
                  <a:pt x="137160" y="30480"/>
                </a:lnTo>
                <a:cubicBezTo>
                  <a:pt x="137160" y="13649"/>
                  <a:pt x="150809" y="0"/>
                  <a:pt x="167640" y="0"/>
                </a:cubicBezTo>
                <a:lnTo>
                  <a:pt x="167640" y="0"/>
                </a:lnTo>
                <a:close/>
                <a:moveTo>
                  <a:pt x="259080" y="152400"/>
                </a:moveTo>
                <a:lnTo>
                  <a:pt x="304800" y="152400"/>
                </a:lnTo>
                <a:lnTo>
                  <a:pt x="304800" y="304800"/>
                </a:lnTo>
                <a:lnTo>
                  <a:pt x="259080" y="304800"/>
                </a:lnTo>
                <a:lnTo>
                  <a:pt x="259080" y="152400"/>
                </a:lnTo>
                <a:close/>
              </a:path>
            </a:pathLst>
          </a:custGeom>
          <a:solidFill>
            <a:schemeClr val="accent1">
              <a:alpha val="100000"/>
            </a:schemeClr>
          </a:solidFill>
          <a:ln/>
        </p:spPr>
      </p:sp>
      <p:sp>
        <p:nvSpPr>
          <p:cNvPr id="17" name="灯片编号占位符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560913" y="1312852"/>
            <a:ext cx="7804501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问题诊断</a:t>
            </a:r>
          </a:p>
        </p:txBody>
      </p:sp>
      <p:cxnSp>
        <p:nvCxnSpPr>
          <p:cNvPr id="3" name="Connector 3"/>
          <p:cNvCxnSpPr/>
          <p:nvPr/>
        </p:nvCxnSpPr>
        <p:spPr>
          <a:xfrm>
            <a:off x="1197254" y="5988003"/>
            <a:ext cx="10998321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" name="TextBox 4"/>
          <p:cNvSpPr txBox="1"/>
          <p:nvPr/>
        </p:nvSpPr>
        <p:spPr>
          <a:xfrm>
            <a:off x="3560913" y="1927072"/>
            <a:ext cx="7804501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针对实测结果与仿真结果之间的差异，进行问题诊断。可能的原因包括加工误差、装配误差、测试环境干扰等。通过逐一排查和验证，确定问题的具体原因。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83473" y="3943665"/>
            <a:ext cx="7806355" cy="7620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b" anchorCtr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83473" y="4571667"/>
            <a:ext cx="7806355" cy="120396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针对发现的问题，提出相应的改进措施。例如，优化加工工艺和装配流程，提高天线的加工精度和装配质量；改进测试方法，减少测试环境的干扰；调整天线设计参数，进一步优化天线的性能。同时，总结实验经验，为后续的天线设计提供参考和借鉴。</a:t>
            </a:r>
          </a:p>
        </p:txBody>
      </p:sp>
      <p:cxnSp>
        <p:nvCxnSpPr>
          <p:cNvPr id="7" name="Connector 7"/>
          <p:cNvCxnSpPr/>
          <p:nvPr/>
        </p:nvCxnSpPr>
        <p:spPr>
          <a:xfrm>
            <a:off x="3574694" y="3297546"/>
            <a:ext cx="8614217" cy="0"/>
          </a:xfrm>
          <a:prstGeom prst="line">
            <a:avLst/>
          </a:prstGeom>
          <a:ln w="14288">
            <a:solidFill>
              <a:schemeClr val="accent1"/>
            </a:solidFill>
            <a:prstDash val="dash"/>
            <a:headEnd type="none"/>
            <a:tailEnd type="none"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8" name="TextBox 8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问题诊断及改进方向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88</a:t>
            </a:fld>
            <a:endParaRPr lang="en-US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895707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3" name="AutoShape 3"/>
          <p:cNvSpPr/>
          <p:nvPr/>
        </p:nvSpPr>
        <p:spPr>
          <a:xfrm>
            <a:off x="1098227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4" name="AutoShape 4"/>
          <p:cNvSpPr/>
          <p:nvPr/>
        </p:nvSpPr>
        <p:spPr>
          <a:xfrm>
            <a:off x="9427244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5" name="AutoShape 5"/>
          <p:cNvSpPr/>
          <p:nvPr/>
        </p:nvSpPr>
        <p:spPr>
          <a:xfrm>
            <a:off x="6661475" y="1677544"/>
            <a:ext cx="1609344" cy="1609344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dash"/>
          </a:ln>
        </p:spPr>
      </p:sp>
      <p:sp>
        <p:nvSpPr>
          <p:cNvPr id="6" name="TextBox 6"/>
          <p:cNvSpPr txBox="1"/>
          <p:nvPr/>
        </p:nvSpPr>
        <p:spPr>
          <a:xfrm>
            <a:off x="661799" y="3662013"/>
            <a:ext cx="2482200" cy="5142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天线模型构建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59887" y="4195392"/>
            <a:ext cx="2486025" cy="21812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 dirty="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成功利用HFSS软件构建了半波偶极子天线的精确模型，包括天线长度、宽度、高度等关键参数的精确设定，确保了模型与实际情况的高度一致。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7366" y="4195392"/>
            <a:ext cx="2486025" cy="21717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通过HFSS软件对天线模型进行了详细的电磁仿真分析，包括辐射方向图、驻波比、输入阻抗等关键参数的仿真，验证了天线设计的有效性和可行性。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23135" y="4195392"/>
            <a:ext cx="2486025" cy="21717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针对天线性能进行了多轮参数优化，包括天线长度、宽度、高度等参数的调整，以及辐射单元布局的优化，显著提升了天线的辐射效率和频带宽度。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88903" y="4195392"/>
            <a:ext cx="2486025" cy="21717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Autofit/>
          </a:bodyPr>
          <a:lstStyle/>
          <a:p>
            <a:pPr algn="ct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将优化后的天线模型应用于实际通信系统中，验证了天线在实际工作环境中的稳定性和可靠性，满足了系统对天线性能的需求。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59279" y="3662013"/>
            <a:ext cx="2482200" cy="5142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电磁仿真分析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225047" y="3662013"/>
            <a:ext cx="2482200" cy="5142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参数优化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990816" y="3662013"/>
            <a:ext cx="2482200" cy="514233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20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实际应用验证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项目成果总结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78080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075560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841328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07097" y="1894928"/>
            <a:ext cx="1249638" cy="1174576"/>
          </a:xfrm>
          <a:prstGeom prst="rect">
            <a:avLst/>
          </a:prstGeom>
          <a:noFill/>
          <a:ln>
            <a:prstDash val="dash"/>
          </a:ln>
        </p:spPr>
        <p:txBody>
          <a:bodyPr vert="horz" wrap="none" lIns="0" tIns="0" rIns="0" bIns="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ct val="0"/>
              </a:spcBef>
            </a:pPr>
            <a:r>
              <a:rPr lang="en-US" sz="4950">
                <a:solidFill>
                  <a:schemeClr val="accent1">
                    <a:alpha val="100000"/>
                  </a:schemeClr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89</a:t>
            </a:fld>
            <a:endParaRPr lang="en-US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90</a:t>
            </a:fld>
            <a:endParaRPr lang="en-US"/>
          </a:p>
        </p:txBody>
      </p:sp>
      <p:sp>
        <p:nvSpPr>
          <p:cNvPr id="3" name="文本框 2"/>
          <p:cNvSpPr txBox="1"/>
          <p:nvPr/>
        </p:nvSpPr>
        <p:spPr>
          <a:xfrm>
            <a:off x="609600" y="1295400"/>
            <a:ext cx="111252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作业打分注意事项（</a:t>
            </a:r>
            <a:r>
              <a:rPr lang="zh-CN" altLang="en-US" sz="2800" b="1" dirty="0">
                <a:latin typeface="+mj-ea"/>
                <a:ea typeface="+mj-ea"/>
              </a:rPr>
              <a:t>不会故意克扣分数</a:t>
            </a:r>
            <a:r>
              <a:rPr lang="zh-CN" altLang="en-US" sz="2800" dirty="0">
                <a:latin typeface="+mj-ea"/>
                <a:ea typeface="+mj-ea"/>
              </a:rPr>
              <a:t>）但是请注意：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1</a:t>
            </a:r>
            <a:r>
              <a:rPr lang="zh-CN" altLang="en-US" sz="2800" dirty="0">
                <a:latin typeface="+mj-ea"/>
                <a:ea typeface="+mj-ea"/>
              </a:rPr>
              <a:t>，</a:t>
            </a:r>
            <a:r>
              <a:rPr lang="zh-CN" altLang="en-US" sz="2800" b="1" dirty="0">
                <a:latin typeface="+mj-ea"/>
                <a:ea typeface="+mj-ea"/>
              </a:rPr>
              <a:t>最终 完整</a:t>
            </a:r>
            <a:r>
              <a:rPr lang="zh-CN" altLang="en-US" sz="2800" dirty="0">
                <a:latin typeface="+mj-ea"/>
                <a:ea typeface="+mj-ea"/>
              </a:rPr>
              <a:t>的作业</a:t>
            </a:r>
            <a:r>
              <a:rPr lang="zh-CN" altLang="en-US" sz="2800" b="1" dirty="0">
                <a:latin typeface="+mj-ea"/>
                <a:ea typeface="+mj-ea"/>
              </a:rPr>
              <a:t>一次性提交</a:t>
            </a:r>
            <a:r>
              <a:rPr lang="zh-CN" altLang="en-US" sz="2800" dirty="0">
                <a:latin typeface="+mj-ea"/>
                <a:ea typeface="+mj-ea"/>
              </a:rPr>
              <a:t>在</a:t>
            </a:r>
            <a:r>
              <a:rPr lang="en-US" altLang="zh-CN" sz="2800" dirty="0">
                <a:latin typeface="+mj-ea"/>
                <a:ea typeface="+mj-ea"/>
              </a:rPr>
              <a:t>《</a:t>
            </a:r>
            <a:r>
              <a:rPr lang="zh-CN" altLang="en-US" sz="2800" dirty="0">
                <a:latin typeface="+mj-ea"/>
                <a:ea typeface="+mj-ea"/>
              </a:rPr>
              <a:t>学在浙大</a:t>
            </a:r>
            <a:r>
              <a:rPr lang="en-US" altLang="zh-CN" sz="2800" dirty="0">
                <a:latin typeface="+mj-ea"/>
                <a:ea typeface="+mj-ea"/>
              </a:rPr>
              <a:t>》</a:t>
            </a:r>
            <a:r>
              <a:rPr lang="zh-CN" altLang="en-US" sz="2800" dirty="0">
                <a:latin typeface="+mj-ea"/>
                <a:ea typeface="+mj-ea"/>
              </a:rPr>
              <a:t>系统上（学在浙大系统可以多次覆盖性提交作业）；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2</a:t>
            </a:r>
            <a:r>
              <a:rPr lang="zh-CN" altLang="en-US" sz="2800" dirty="0">
                <a:latin typeface="+mj-ea"/>
                <a:ea typeface="+mj-ea"/>
              </a:rPr>
              <a:t>，评分标准：解答的完整性，书写的清晰度，答案的正确性；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3</a:t>
            </a:r>
            <a:r>
              <a:rPr lang="zh-CN" altLang="en-US" sz="2800" dirty="0">
                <a:latin typeface="+mj-ea"/>
                <a:ea typeface="+mj-ea"/>
              </a:rPr>
              <a:t>，作业成绩不能评定后进行修改，最终提交前请务必检查；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4</a:t>
            </a:r>
            <a:r>
              <a:rPr lang="zh-CN" altLang="en-US" sz="2800" dirty="0">
                <a:latin typeface="+mj-ea"/>
                <a:ea typeface="+mj-ea"/>
              </a:rPr>
              <a:t>，在系统上评定成绩前，会反复多次核对同学们的成绩，尤其是单次成绩不及格的同学或者未交作业的同学；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5</a:t>
            </a:r>
            <a:r>
              <a:rPr lang="zh-CN" altLang="en-US" sz="2800" dirty="0">
                <a:latin typeface="+mj-ea"/>
                <a:ea typeface="+mj-ea"/>
              </a:rPr>
              <a:t>，钉钉上联系同学，请务必回复下，尤其是关于成绩的和作业的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6</a:t>
            </a:r>
            <a:r>
              <a:rPr lang="zh-CN" altLang="en-US" sz="2800" dirty="0">
                <a:latin typeface="+mj-ea"/>
                <a:ea typeface="+mj-ea"/>
              </a:rPr>
              <a:t>，会</a:t>
            </a:r>
            <a:r>
              <a:rPr lang="en-US" altLang="zh-CN" sz="2800" dirty="0" err="1">
                <a:latin typeface="+mj-ea"/>
                <a:ea typeface="+mj-ea"/>
              </a:rPr>
              <a:t>cst</a:t>
            </a:r>
            <a:r>
              <a:rPr lang="en-US" altLang="zh-CN" sz="2800" dirty="0">
                <a:latin typeface="+mj-ea"/>
                <a:ea typeface="+mj-ea"/>
              </a:rPr>
              <a:t> studio suite</a:t>
            </a:r>
            <a:r>
              <a:rPr lang="zh-CN" altLang="en-US" sz="2800" dirty="0">
                <a:latin typeface="+mj-ea"/>
                <a:ea typeface="+mj-ea"/>
              </a:rPr>
              <a:t>（上过场波课的）可以直接进行仿真和作业提交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7</a:t>
            </a:r>
            <a:r>
              <a:rPr lang="zh-CN" altLang="en-US" sz="2800" dirty="0">
                <a:latin typeface="+mj-ea"/>
                <a:ea typeface="+mj-ea"/>
              </a:rPr>
              <a:t>，主观题的评定不会完全一样（同宿舍或者同班）</a:t>
            </a:r>
            <a:endParaRPr lang="en-US" altLang="zh-CN" sz="2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958025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/>
          </a:blip>
          <a:srcRect t="5729" b="5729"/>
          <a:stretch>
            <a:fillRect/>
          </a:stretch>
        </p:blipFill>
        <p:spPr>
          <a:xfrm>
            <a:off x="640619" y="1239230"/>
            <a:ext cx="3783578" cy="504477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存在问题及解决方案</a:t>
            </a:r>
          </a:p>
        </p:txBody>
      </p:sp>
      <p:sp>
        <p:nvSpPr>
          <p:cNvPr id="4" name="AutoShape 4"/>
          <p:cNvSpPr/>
          <p:nvPr/>
        </p:nvSpPr>
        <p:spPr>
          <a:xfrm>
            <a:off x="4195024" y="478701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5" name="AutoShape 5"/>
          <p:cNvSpPr/>
          <p:nvPr/>
        </p:nvSpPr>
        <p:spPr>
          <a:xfrm>
            <a:off x="4195024" y="3018088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6" name="AutoShape 6"/>
          <p:cNvSpPr/>
          <p:nvPr/>
        </p:nvSpPr>
        <p:spPr>
          <a:xfrm>
            <a:off x="4195024" y="1237957"/>
            <a:ext cx="701468" cy="550104"/>
          </a:xfrm>
          <a:prstGeom prst="rect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7" name="TextBox 7"/>
          <p:cNvSpPr txBox="1"/>
          <p:nvPr/>
        </p:nvSpPr>
        <p:spPr>
          <a:xfrm>
            <a:off x="5259845" y="294547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参数设置误差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259845" y="3472246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在仿真过程中发现参数设置存在微小误差，导致仿真结果与实际情况存在一定偏差。通过多次仿真验证和参数微调，最终确保了仿真结果的准确性和可靠性。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272199" y="4714408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加工精度问题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272199" y="5252378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在天线加工过程中发现加工精度对天线性能有一定影响。通过与加工厂家沟通协商，制定了严格的加工精度标准，并加强了加工过程中的质量控制，确保了天线加工精度的稳定性和可靠性。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272221" y="1165346"/>
            <a:ext cx="6286500" cy="69532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ctr" anchorCtr="0">
            <a:noAutofit/>
          </a:bodyPr>
          <a:lstStyle/>
          <a:p>
            <a:pPr>
              <a:lnSpc>
                <a:spcPct val="140000"/>
              </a:lnSpc>
            </a:pPr>
            <a:r>
              <a:rPr lang="en-US" sz="24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电磁干扰问题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272221" y="1692114"/>
            <a:ext cx="6124575" cy="1247775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在仿真过程中发现天线在特定频段内存在电磁干扰问题，通过调整天线的布局和增加屏蔽措施，有效降低了电磁干扰对天线性能的影响。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4629608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4" name="AutoShape 14"/>
          <p:cNvSpPr/>
          <p:nvPr/>
        </p:nvSpPr>
        <p:spPr>
          <a:xfrm>
            <a:off x="3911804" y="478701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5" name="AutoShape 15"/>
          <p:cNvSpPr/>
          <p:nvPr/>
        </p:nvSpPr>
        <p:spPr>
          <a:xfrm>
            <a:off x="4629608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6" name="AutoShape 16"/>
          <p:cNvSpPr/>
          <p:nvPr/>
        </p:nvSpPr>
        <p:spPr>
          <a:xfrm>
            <a:off x="3911804" y="3018088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7" name="AutoShape 17"/>
          <p:cNvSpPr/>
          <p:nvPr/>
        </p:nvSpPr>
        <p:spPr>
          <a:xfrm>
            <a:off x="4629608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8" name="AutoShape 18"/>
          <p:cNvSpPr/>
          <p:nvPr/>
        </p:nvSpPr>
        <p:spPr>
          <a:xfrm>
            <a:off x="3911804" y="1237957"/>
            <a:ext cx="550104" cy="550104"/>
          </a:xfrm>
          <a:prstGeom prst="ellipse">
            <a:avLst/>
          </a:prstGeom>
          <a:solidFill>
            <a:schemeClr val="accent1">
              <a:alpha val="100000"/>
            </a:schemeClr>
          </a:solidFill>
          <a:ln/>
        </p:spPr>
      </p:sp>
      <p:sp>
        <p:nvSpPr>
          <p:cNvPr id="19" name="TextBox 19"/>
          <p:cNvSpPr txBox="1"/>
          <p:nvPr/>
        </p:nvSpPr>
        <p:spPr>
          <a:xfrm>
            <a:off x="4162763" y="482585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62763" y="3056920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62763" y="1276789"/>
            <a:ext cx="765990" cy="472440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325" b="1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灯片编号占位符 2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91</a:t>
            </a:fld>
            <a:endParaRPr lang="en-US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16667" r="16667"/>
          <a:stretch>
            <a:fillRect/>
          </a:stretch>
        </p:blipFill>
        <p:spPr>
          <a:xfrm>
            <a:off x="4070039" y="1545914"/>
            <a:ext cx="3861422" cy="3861422"/>
          </a:xfrm>
          <a:prstGeom prst="diamond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476023" y="265328"/>
            <a:ext cx="11239500" cy="914400"/>
          </a:xfrm>
          <a:prstGeom prst="rect">
            <a:avLst/>
          </a:prstGeom>
          <a:ln/>
        </p:spPr>
        <p:txBody>
          <a:bodyPr vert="horz" wrap="square" lIns="123825" tIns="123825" rIns="57150" bIns="123825" rtlCol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en-US" sz="3000" b="1">
                <a:solidFill>
                  <a:schemeClr val="dk2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未来研究方向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16800" y="2235958"/>
            <a:ext cx="3905833" cy="1129392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针对未来通信系统的需求，研究多频带半波偶极子天线的设计方法，实现天线在不同频段内的良好匹配和高效辐射。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6800" y="1629875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多频带天线设计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027972" y="2207383"/>
            <a:ext cx="3905833" cy="1129392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研究宽带半波偶极子天线的设计方法，提高天线的工作带宽和频率适应性，满足未来宽带通信系统的需求。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88535" y="5255554"/>
            <a:ext cx="3905833" cy="114317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针对现代通信设备对天线体积和重量的要求，研究小型化半波偶极子天线的设计方法，实现天线体积和重量的显著减小。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88535" y="1629875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宽带天线设计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56774" y="5284129"/>
            <a:ext cx="3905833" cy="1143173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normAutofit/>
          </a:bodyPr>
          <a:lstStyle/>
          <a:p>
            <a:pPr algn="r">
              <a:lnSpc>
                <a:spcPct val="140000"/>
              </a:lnSpc>
            </a:pPr>
            <a:r>
              <a:rPr lang="en-US" sz="1500">
                <a:solidFill>
                  <a:schemeClr val="dk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结合人工智能和机器学习技术，研究智能化半波偶极子天线的设计方法，实现天线性能的自适应优化和智能调节。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362" y="4706621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r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智能化天线设计</a:t>
            </a:r>
          </a:p>
        </p:txBody>
      </p:sp>
      <p:sp>
        <p:nvSpPr>
          <p:cNvPr id="11" name="AutoShape 11"/>
          <p:cNvSpPr/>
          <p:nvPr/>
        </p:nvSpPr>
        <p:spPr>
          <a:xfrm>
            <a:off x="4364358" y="1629875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2" name="TextBox 12"/>
          <p:cNvSpPr txBox="1"/>
          <p:nvPr/>
        </p:nvSpPr>
        <p:spPr>
          <a:xfrm>
            <a:off x="4170154" y="1730269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178908" y="1629875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4" name="TextBox 14"/>
          <p:cNvSpPr txBox="1"/>
          <p:nvPr/>
        </p:nvSpPr>
        <p:spPr>
          <a:xfrm>
            <a:off x="6984704" y="1730269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139471" y="4678046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6" name="TextBox 16"/>
          <p:cNvSpPr txBox="1"/>
          <p:nvPr/>
        </p:nvSpPr>
        <p:spPr>
          <a:xfrm>
            <a:off x="6945267" y="4778440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324921" y="4678046"/>
            <a:ext cx="682752" cy="682752"/>
          </a:xfrm>
          <a:prstGeom prst="ellipse">
            <a:avLst/>
          </a:prstGeom>
          <a:noFill/>
          <a:ln w="19050">
            <a:solidFill>
              <a:schemeClr val="accent1">
                <a:alpha val="100000"/>
              </a:schemeClr>
            </a:solidFill>
            <a:prstDash val="solid"/>
          </a:ln>
        </p:spPr>
      </p:sp>
      <p:sp>
        <p:nvSpPr>
          <p:cNvPr id="18" name="TextBox 18"/>
          <p:cNvSpPr txBox="1"/>
          <p:nvPr/>
        </p:nvSpPr>
        <p:spPr>
          <a:xfrm>
            <a:off x="4130717" y="4778440"/>
            <a:ext cx="1059180" cy="481965"/>
          </a:xfrm>
          <a:prstGeom prst="rect">
            <a:avLst/>
          </a:prstGeom>
          <a:ln/>
        </p:spPr>
        <p:txBody>
          <a:bodyPr vert="horz" wrap="square" lIns="91440" tIns="45720" rIns="91440" bIns="45720" rtlCol="0" anchor="ctr" anchorCtr="0">
            <a:spAutoFit/>
          </a:bodyPr>
          <a:lstStyle/>
          <a:p>
            <a:pPr algn="ctr">
              <a:lnSpc>
                <a:spcPct val="100000"/>
              </a:lnSpc>
              <a:spcBef>
                <a:spcPts val="375"/>
              </a:spcBef>
            </a:pPr>
            <a:r>
              <a:rPr lang="en-US" sz="2400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988535" y="4801871"/>
            <a:ext cx="3905833" cy="502799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ctr" anchorCtr="0">
            <a:noAutofit/>
          </a:bodyPr>
          <a:lstStyle/>
          <a:p>
            <a:pPr algn="l">
              <a:lnSpc>
                <a:spcPct val="120000"/>
              </a:lnSpc>
            </a:pPr>
            <a:r>
              <a:rPr lang="en-US" sz="2100" b="1">
                <a:solidFill>
                  <a:schemeClr val="accent1">
                    <a:alpha val="100000"/>
                  </a:schemeClr>
                </a:solidFill>
                <a:latin typeface="Microsoft Yahei"/>
                <a:ea typeface="Microsoft Yahei"/>
                <a:cs typeface="Microsoft Yahei"/>
              </a:rPr>
              <a:t>小型化天线设计</a:t>
            </a:r>
          </a:p>
        </p:txBody>
      </p:sp>
      <p:sp>
        <p:nvSpPr>
          <p:cNvPr id="20" name="灯片编号占位符 1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92</a:t>
            </a:fld>
            <a:endParaRPr lang="en-US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04589" y="1394597"/>
            <a:ext cx="7924800" cy="1876425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225" b="1" dirty="0">
                <a:solidFill>
                  <a:srgbClr val="208BD9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THANKS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237599" y="3103344"/>
            <a:ext cx="4943475" cy="495300"/>
          </a:xfrm>
          <a:prstGeom prst="rect">
            <a:avLst/>
          </a:prstGeom>
          <a:ln/>
        </p:spPr>
        <p:txBody>
          <a:bodyPr vert="horz" wrap="square" lIns="114300" tIns="57150" rIns="114300" bIns="57150" rtlCol="0" anchor="t" anchorCtr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000" dirty="0" err="1">
                <a:solidFill>
                  <a:srgbClr val="232323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感谢观看</a:t>
            </a:r>
            <a:endParaRPr lang="en-US" sz="2000" dirty="0">
              <a:solidFill>
                <a:srgbClr val="232323">
                  <a:alpha val="100000"/>
                </a:srgbClr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222222"/>
      </a:dk1>
      <a:lt1>
        <a:srgbClr val="FFFFFF"/>
      </a:lt1>
      <a:dk2>
        <a:srgbClr val="222222"/>
      </a:dk2>
      <a:lt2>
        <a:srgbClr val="E7E7E7"/>
      </a:lt2>
      <a:accent1>
        <a:srgbClr val="208BD9"/>
      </a:accent1>
      <a:accent2>
        <a:srgbClr val="208BD9"/>
      </a:accent2>
      <a:accent3>
        <a:srgbClr val="1B96DB"/>
      </a:accent3>
      <a:accent4>
        <a:srgbClr val="1B96DB"/>
      </a:accent4>
      <a:accent5>
        <a:srgbClr val="0688D0"/>
      </a:accent5>
      <a:accent6>
        <a:srgbClr val="15B9F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4495</Words>
  <Application>Microsoft Office PowerPoint</Application>
  <PresentationFormat>宽屏</PresentationFormat>
  <Paragraphs>500</Paragraphs>
  <Slides>93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93</vt:i4>
      </vt:variant>
    </vt:vector>
  </HeadingPairs>
  <TitlesOfParts>
    <vt:vector size="105" baseType="lpstr">
      <vt:lpstr>等线</vt:lpstr>
      <vt:lpstr>华文新魏</vt:lpstr>
      <vt:lpstr>华文行楷</vt:lpstr>
      <vt:lpstr>Microsoft Yahei</vt:lpstr>
      <vt:lpstr>Microsoft Yahei</vt:lpstr>
      <vt:lpstr>Arial</vt:lpstr>
      <vt:lpstr>Calibri</vt:lpstr>
      <vt:lpstr>Courier New</vt:lpstr>
      <vt:lpstr>Times New Roman</vt:lpstr>
      <vt:lpstr>Wingdings</vt:lpstr>
      <vt:lpstr>Office Theme</vt:lpstr>
      <vt:lpstr>公式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 半波偶极子天线</vt:lpstr>
      <vt:lpstr>2.辐射场和方向图</vt:lpstr>
      <vt:lpstr>3.方向性系数</vt:lpstr>
      <vt:lpstr>4.辐射电阻</vt:lpstr>
      <vt:lpstr>5.输入阻抗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3.2 半波偶极子天线设计</vt:lpstr>
      <vt:lpstr>3.3 HFSS天线设计流程</vt:lpstr>
      <vt:lpstr>PowerPoint 演示文稿</vt:lpstr>
      <vt:lpstr>3.4天线的HFSS仿真设计</vt:lpstr>
      <vt:lpstr>PowerPoint 演示文稿</vt:lpstr>
      <vt:lpstr>PowerPoint 演示文稿</vt:lpstr>
      <vt:lpstr>PowerPoint 演示文稿</vt:lpstr>
      <vt:lpstr>3.设计建模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（3）设置辐射边界条件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4.求解设置</vt:lpstr>
      <vt:lpstr>PowerPoint 演示文稿</vt:lpstr>
      <vt:lpstr>PowerPoint 演示文稿</vt:lpstr>
      <vt:lpstr>PowerPoint 演示文稿</vt:lpstr>
      <vt:lpstr>5.设计检查和运行仿真运算</vt:lpstr>
      <vt:lpstr>6.HFSS天线问题的数据后处理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B.查看xz面的增益方向图</vt:lpstr>
      <vt:lpstr>PowerPoint 演示文稿</vt:lpstr>
      <vt:lpstr>C .查看xy面的增益方向图</vt:lpstr>
      <vt:lpstr>点击new report按钮，单击close，生成如下结果。</vt:lpstr>
      <vt:lpstr>D。查看三维增益方向图</vt:lpstr>
      <vt:lpstr>点击new report按钮，单击close，生成如下结果。</vt:lpstr>
      <vt:lpstr>(6)其他参数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lastModifiedBy>xzz_xuanzhizheng@qq.com</cp:lastModifiedBy>
  <cp:revision>22</cp:revision>
  <dcterms:created xsi:type="dcterms:W3CDTF">2006-08-16T00:00:00Z</dcterms:created>
  <dcterms:modified xsi:type="dcterms:W3CDTF">2025-09-30T08:49:40Z</dcterms:modified>
</cp:coreProperties>
</file>